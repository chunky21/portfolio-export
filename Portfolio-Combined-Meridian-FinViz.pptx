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445" r:id="rId3"/>
    <p:sldId id="336" r:id="rId4"/>
    <p:sldId id="337" r:id="rId5"/>
    <p:sldId id="339" r:id="rId6"/>
    <p:sldId id="341" r:id="rId7"/>
    <p:sldId id="342" r:id="rId8"/>
    <p:sldId id="343" r:id="rId9"/>
    <p:sldId id="443" r:id="rId10"/>
    <p:sldId id="344" r:id="rId11"/>
    <p:sldId id="346" r:id="rId12"/>
    <p:sldId id="464" r:id="rId94"/>
    <p:sldId id="348" r:id="rId13"/>
    <p:sldId id="351" r:id="rId14"/>
    <p:sldId id="453" r:id="rId15"/>
    <p:sldId id="352" r:id="rId16"/>
    <p:sldId id="355" r:id="rId17"/>
    <p:sldId id="454" r:id="rId18"/>
    <p:sldId id="357" r:id="rId19"/>
    <p:sldId id="359" r:id="rId20"/>
    <p:sldId id="455" r:id="rId21"/>
    <p:sldId id="361" r:id="rId22"/>
    <p:sldId id="363" r:id="rId23"/>
    <p:sldId id="456" r:id="rId24"/>
    <p:sldId id="457" r:id="rId25"/>
    <p:sldId id="367" r:id="rId26"/>
    <p:sldId id="368" r:id="rId27"/>
    <p:sldId id="369" r:id="rId28"/>
    <p:sldId id="370" r:id="rId29"/>
    <p:sldId id="446" r:id="rId30"/>
    <p:sldId id="374" r:id="rId31"/>
    <p:sldId id="465" r:id="rId95"/>
    <p:sldId id="377" r:id="rId32"/>
    <p:sldId id="378" r:id="rId33"/>
    <p:sldId id="379" r:id="rId34"/>
    <p:sldId id="380" r:id="rId35"/>
    <p:sldId id="447" r:id="rId36"/>
    <p:sldId id="313" r:id="rId37"/>
    <p:sldId id="314" r:id="rId38"/>
    <p:sldId id="315" r:id="rId39"/>
    <p:sldId id="316" r:id="rId40"/>
    <p:sldId id="317" r:id="rId41"/>
    <p:sldId id="318" r:id="rId42"/>
    <p:sldId id="321" r:id="rId43"/>
    <p:sldId id="322" r:id="rId44"/>
    <p:sldId id="323" r:id="rId45"/>
    <p:sldId id="458" r:id="rId46"/>
    <p:sldId id="324" r:id="rId47"/>
    <p:sldId id="326" r:id="rId48"/>
    <p:sldId id="328" r:id="rId49"/>
    <p:sldId id="330" r:id="rId50"/>
    <p:sldId id="332" r:id="rId51"/>
    <p:sldId id="334" r:id="rId52"/>
    <p:sldId id="448" r:id="rId53"/>
    <p:sldId id="451" r:id="rId54"/>
    <p:sldId id="459" r:id="rId55"/>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 id="292" r:id="rId72"/>
    <p:sldId id="293" r:id="rId73"/>
    <p:sldId id="294" r:id="rId74"/>
    <p:sldId id="295" r:id="rId75"/>
    <p:sldId id="297" r:id="rId76"/>
    <p:sldId id="298" r:id="rId77"/>
    <p:sldId id="301" r:id="rId78"/>
    <p:sldId id="302" r:id="rId79"/>
    <p:sldId id="305" r:id="rId80"/>
    <p:sldId id="306" r:id="rId81"/>
    <p:sldId id="310" r:id="rId82"/>
    <p:sldId id="462" r:id="rId83"/>
    <p:sldId id="450" r:id="rId84"/>
    <p:sldId id="312" r:id="rId85"/>
    <p:sldId id="463" r:id="rId86"/>
    <p:sldId id="466" r:id="rId96"/>
    <p:sldId id="467" r:id="rId97"/>
    <p:sldId id="468" r:id="rId98"/>
    <p:sldId id="469" r:id="rId99"/>
    <p:sldId id="470" r:id="rId100"/>
    <p:sldId id="471" r:id="rId101"/>
    <p:sldId id="472" r:id="rId102"/>
    <p:sldId id="473" r:id="rId103"/>
    <p:sldId id="474" r:id="rId104"/>
    <p:sldId id="475" r:id="rId105"/>
    <p:sldId id="476" r:id="rId106"/>
    <p:sldId id="477" r:id="rId107"/>
    <p:sldId id="478" r:id="rId108"/>
    <p:sldId id="479" r:id="rId109"/>
    <p:sldId id="480" r:id="rId110"/>
    <p:sldId id="481" r:id="rId111"/>
    <p:sldId id="482" r:id="rId112"/>
    <p:sldId id="483" r:id="rId113"/>
    <p:sldId id="484" r:id="rId114"/>
    <p:sldId id="485" r:id="rId115"/>
    <p:sldId id="486" r:id="rId116"/>
    <p:sldId id="487" r:id="rId117"/>
    <p:sldId id="488" r:id="rId118"/>
    <p:sldId id="489" r:id="rId119"/>
    <p:sldId id="490" r:id="rId120"/>
    <p:sldId id="491" r:id="rId121"/>
    <p:sldId id="492" r:id="rId122"/>
    <p:sldId id="493" r:id="rId123"/>
    <p:sldId id="494" r:id="rId124"/>
    <p:sldId id="495" r:id="rId125"/>
    <p:sldId id="496" r:id="rId126"/>
    <p:sldId id="497" r:id="rId127"/>
    <p:sldId id="498" r:id="rId128"/>
    <p:sldId id="499" r:id="rId129"/>
    <p:sldId id="500" r:id="rId130"/>
    <p:sldId id="501" r:id="rId131"/>
    <p:sldId id="502" r:id="rId132"/>
    <p:sldId id="503" r:id="rId133"/>
    <p:sldId id="504" r:id="rId134"/>
    <p:sldId id="505" r:id="rId135"/>
    <p:sldId id="506" r:id="rId136"/>
    <p:sldId id="507" r:id="rId137"/>
    <p:sldId id="508" r:id="rId138"/>
    <p:sldId id="509" r:id="rId139"/>
    <p:sldId id="510" r:id="rId140"/>
    <p:sldId id="511" r:id="rId141"/>
    <p:sldId id="512" r:id="rId142"/>
    <p:sldId id="513" r:id="rId143"/>
    <p:sldId id="514" r:id="rId144"/>
    <p:sldId id="515" r:id="rId145"/>
    <p:sldId id="516" r:id="rId146"/>
    <p:sldId id="444" r:id="rId87"/>
    <p:sldId id="335" r:id="rId8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CFFF"/>
    <a:srgbClr val="FF6600"/>
    <a:srgbClr val="99C9FF"/>
    <a:srgbClr val="41587E"/>
    <a:srgbClr val="2F7D72"/>
    <a:srgbClr val="483176"/>
    <a:srgbClr val="78202A"/>
    <a:srgbClr val="703596"/>
    <a:srgbClr val="397D72"/>
    <a:srgbClr val="8020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22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69" Type="http://schemas.openxmlformats.org/officeDocument/2006/relationships/slide" Target="slides/slide70.xml"/><Relationship Id="rId70" Type="http://schemas.openxmlformats.org/officeDocument/2006/relationships/slide" Target="slides/slide71.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79.xml"/><Relationship Id="rId79" Type="http://schemas.openxmlformats.org/officeDocument/2006/relationships/slide" Target="slides/slide80.xml"/><Relationship Id="rId80" Type="http://schemas.openxmlformats.org/officeDocument/2006/relationships/slide" Target="slides/slide81.xml"/><Relationship Id="rId81" Type="http://schemas.openxmlformats.org/officeDocument/2006/relationships/slide" Target="slides/slide82.xml"/><Relationship Id="rId82" Type="http://schemas.openxmlformats.org/officeDocument/2006/relationships/slide" Target="slides/slide83.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13.xml"/><Relationship Id="rId88" Type="http://schemas.openxmlformats.org/officeDocument/2006/relationships/slide" Target="slides/slide114.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12.xml"/><Relationship Id="rId95" Type="http://schemas.openxmlformats.org/officeDocument/2006/relationships/slide" Target="slides/slide32.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10/13/26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43</a:t>
            </a:fld>
            <a:endParaRPr lang="en-US" dirty="0"/>
          </a:p>
        </p:txBody>
      </p:sp>
    </p:spTree>
    <p:extLst>
      <p:ext uri="{BB962C8B-B14F-4D97-AF65-F5344CB8AC3E}">
        <p14:creationId xmlns:p14="http://schemas.microsoft.com/office/powerpoint/2010/main" val="25326779"/>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pain register (03c), P1, P9, P5, P3, P2, P10, P13: 27 pains in total, scored urgency ×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p>
            <a:r>
              <a:t>This is what changes when FinViz keeps watch for him.</a:t>
            </a:r>
          </a:p>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p>
            <a:r>
              <a:t>[4 After the close · DB3] Technology is 46% of the portfolio, six points above his 40% target and outside his band; the cause is RMBS +18.4% this month. FinViz explains where he differs from his own plan; it doesn't rebalance or turn that into a trade instruction.</a:t>
            </a:r>
          </a:p>
          <a:p/>
          <a:p>
            <a:r>
              <a:t>[5 Advisor · DB4] Mike manages 54 portfolios: 6 crossed one of his limits, 48 are within them. He starts with an exception queue; each shows evidence and when it appeared; uncertainty stays visible. Acknowledging records review, not resolution.</a:t>
            </a:r>
          </a:p>
          <a:p/>
          <a:p>
            <a:r>
              <a:t>[6 Personalization · DB5] FinViz notices habits and offers to pin or hide cards, says why, and asks. "No thanks" is remembered; changes are reversible.</a:t>
            </a:r>
          </a:p>
          <a:p/>
          <a:p>
            <a:r>
              <a:t>[Closing] AI has three jobs: notice relevant changes, explain them with evidence, keep a focused workflow. Sources, timestamps, uncertainty and approval are part of the experience. The user stays in control of criteria, attention and decisions.</a:t>
            </a:r>
          </a:p>
          <a:p/>
          <a:p>
            <a:r>
              <a:t>Before presenting: conceptual screens with synthetic data; reliability labels describe the evidence, not investment performance; the "Ask about…" entry points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p>
            <a:r>
              <a:t>[OW2] He opens his saved screen. The new names are at the top, and every row shows which of his criteria it meets, or how close it came. The "why it matched" comes from real values, never a score.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[OW3] He pins three names. His reasons come with them, his own note too, and he drags an "out if" line straight onto the chart. The product remembers why he picked each one.</a:t>
            </a:r>
          </a:p>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Crimson = design lead checkpoints; violet = AI. The workflow I ran for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reflection; edit to match how I'd say it in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hyperlink" Target="https://www.figma.com/proto/gTuTyjGjDyFzJLoKJIhtpo?node-id=63-1252&amp;starting-point-node-id=63%3A1252&amp;page-id=54%3A722&amp;scaling=scale-down" TargetMode="External"/><Relationship Id="rId2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gTuTyjGjDyFzJLoKJIhtpo?node-id=63-1252&amp;starting-point-node-id=63%3A1252&amp;page-id=54%3A722&amp;scaling=scale-down" TargetMode="Externa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www.figma.com/proto/gTuTyjGjDyFzJLoKJIhtpo?node-id=152-1444&amp;starting-point-node-id=152%3A1444&amp;page-id=54%3A722&amp;scaling=scale-dow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 Id="rId11" Type="http://schemas.openxmlformats.org/officeDocument/2006/relationships/image" Target="../media/image39.jpg"/><Relationship Id="rId12" Type="http://schemas.openxmlformats.org/officeDocument/2006/relationships/image" Target="../media/image40.jpg"/><Relationship Id="rId13" Type="http://schemas.openxmlformats.org/officeDocument/2006/relationships/image" Target="../media/image41.jpg"/><Relationship Id="rId14" Type="http://schemas.openxmlformats.org/officeDocument/2006/relationships/image" Target="../media/image42.jpg"/><Relationship Id="rId15" Type="http://schemas.openxmlformats.org/officeDocument/2006/relationships/image" Target="../media/image43.jpg"/><Relationship Id="rId16" Type="http://schemas.openxmlformats.org/officeDocument/2006/relationships/hyperlink" Target="https://www.figma.com/proto/vZrnrHgaWOOgf1fIzX9sBy?node-id=1-2&amp;starting-point-node-id=1%3A2&amp;page-id=0%3A1&amp;scaling=scale-down" TargetMode="External"/><Relationship Id="rId17"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2&amp;starting-point-node-id=1%3A2&amp;page-id=0%3A1&amp;scaling=scale-down" TargetMode="External"/><Relationship Id="rId3" Type="http://schemas.openxmlformats.org/officeDocument/2006/relationships/image" Target="../media/image30.jpg"/><Relationship Id="rId4" Type="http://schemas.openxmlformats.org/officeDocument/2006/relationships/image" Target="../media/image2.png"/><Relationship Id="rId5" Type="http://schemas.openxmlformats.org/officeDocument/2006/relationships/hyperlink" Target="https://www.figma.com/proto/vZrnrHgaWOOgf1fIzX9sBy?node-id=5-2&amp;starting-point-node-id=5%3A2&amp;page-id=0%3A1&amp;scaling=scale-dow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4.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6.jpg"/><Relationship Id="rId3" Type="http://schemas.openxmlformats.org/officeDocument/2006/relationships/image" Target="../media/image107.jpg"/><Relationship Id="rId4" Type="http://schemas.openxmlformats.org/officeDocument/2006/relationships/image" Target="../media/image108.jpg"/><Relationship Id="rId5" Type="http://schemas.openxmlformats.org/officeDocument/2006/relationships/image" Target="../media/image109.jpg"/><Relationship Id="rId6" Type="http://schemas.openxmlformats.org/officeDocument/2006/relationships/image" Target="../media/image110.jpg"/><Relationship Id="rId7" Type="http://schemas.openxmlformats.org/officeDocument/2006/relationships/image" Target="../media/image111.jpg"/><Relationship Id="rId8" Type="http://schemas.openxmlformats.org/officeDocument/2006/relationships/image" Target="../media/image112.jpg"/><Relationship Id="rId9" Type="http://schemas.openxmlformats.org/officeDocument/2006/relationships/image" Target="../media/image113.jpg"/><Relationship Id="rId10" Type="http://schemas.openxmlformats.org/officeDocument/2006/relationships/image" Target="../media/image114.jpg"/><Relationship Id="rId11" Type="http://schemas.openxmlformats.org/officeDocument/2006/relationships/image" Target="../media/image115.jpg"/><Relationship Id="rId12" Type="http://schemas.openxmlformats.org/officeDocument/2006/relationships/image" Target="../media/image116.jpg"/><Relationship Id="rId13" Type="http://schemas.openxmlformats.org/officeDocument/2006/relationships/hyperlink" Target="https://www.figma.com/proto/vZrnrHgaWOOgf1fIzX9sBy?node-id=1-70&amp;starting-point-node-id=1%3A70&amp;page-id=1%3A69&amp;scaling=scale-down" TargetMode="External"/><Relationship Id="rId1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70&amp;starting-point-node-id=1%3A70&amp;page-id=1%3A69&amp;scaling=scale-down" TargetMode="External"/><Relationship Id="rId3" Type="http://schemas.openxmlformats.org/officeDocument/2006/relationships/image" Target="../media/image116.jpg"/><Relationship Id="rId4" Type="http://schemas.openxmlformats.org/officeDocument/2006/relationships/image" Target="../media/image2.png"/><Relationship Id="rId5" Type="http://schemas.openxmlformats.org/officeDocument/2006/relationships/hyperlink" Target="https://www.figma.com/proto/vZrnrHgaWOOgf1fIzX9sBy?node-id=6-2&amp;starting-point-node-id=6%3A2&amp;page-id=1%3A69&amp;scaling=scale-down"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png"/><Relationship Id="rId21" Type="http://schemas.openxmlformats.org/officeDocument/2006/relationships/image" Target="../media/image23.png"/><Relationship Id="rId22"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 Id="rId6" Type="http://schemas.openxmlformats.org/officeDocument/2006/relationships/image" Target="../media/image127.png"/><Relationship Id="rId7" Type="http://schemas.openxmlformats.org/officeDocument/2006/relationships/image" Target="../media/image128.png"/><Relationship Id="rId8" Type="http://schemas.openxmlformats.org/officeDocument/2006/relationships/image" Target="../media/image129.png"/><Relationship Id="rId9" Type="http://schemas.openxmlformats.org/officeDocument/2006/relationships/notesSlide" Target="../notesSlides/notesSlide2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3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8" name="TextBox 7"/>
          <p:cNvSpPr txBox="1"/>
          <p:nvPr/>
        </p:nvSpPr>
        <p:spPr>
          <a:xfrm>
            <a:off x="7651893" y="1904602"/>
            <a:ext cx="4414624" cy="1082438"/>
          </a:xfrm>
          <a:prstGeom prst="rect">
            <a:avLst/>
          </a:prstGeom>
          <a:noFill/>
        </p:spPr>
        <p:txBody>
          <a:bodyPr wrap="none" lIns="0" tIns="0" rIns="0" bIns="0">
            <a:noAutofit/>
          </a:bodyPr>
          <a:lstStyle/>
          <a:p>
            <a:pPr>
              <a:lnSpc>
                <a:spcPct val="150000"/>
              </a:lnSpc>
            </a:pPr>
            <a:r>
              <a:rPr lang="en-US" sz="1400" dirty="0">
                <a:solidFill>
                  <a:srgbClr val="404040"/>
                </a:solidFill>
                <a:latin typeface="Helvetica Neue Light"/>
              </a:rPr>
              <a:t>Lead UX designer for AI products. </a:t>
            </a:r>
          </a:p>
          <a:p>
            <a:pPr>
              <a:lnSpc>
                <a:spcPct val="150000"/>
              </a:lnSpc>
            </a:pPr>
            <a:r>
              <a:rPr lang="en-US" sz="1400" dirty="0">
                <a:solidFill>
                  <a:srgbClr val="404040"/>
                </a:solidFill>
                <a:latin typeface="Helvetica Neue Light"/>
              </a:rPr>
              <a:t>Four case studies, each with the calls I made, </a:t>
            </a:r>
            <a:br>
              <a:rPr lang="en-US" sz="1400" dirty="0">
                <a:solidFill>
                  <a:srgbClr val="404040"/>
                </a:solidFill>
                <a:latin typeface="Helvetica Neue Light"/>
              </a:rPr>
            </a:br>
            <a:r>
              <a:rPr sz="1400" dirty="0">
                <a:solidFill>
                  <a:srgbClr val="404040"/>
                </a:solidFill>
                <a:latin typeface="Helvetica Neue Light"/>
              </a:rPr>
              <a:t>how I led the team, and what came of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pPr>
            <a:r>
              <a:rPr lang="en-US" sz="1200" spc="300" dirty="0">
                <a:solidFill>
                  <a:srgbClr val="E98C64"/>
                </a:solidFill>
                <a:latin typeface="Helvetica Neue Medium"/>
                <a:cs typeface="Helvetica Neue Medium"/>
              </a:rPr>
              <a:t>POINT OF VIEW</a:t>
            </a:r>
          </a:p>
        </p:txBody>
      </p:sp>
      <p:sp>
        <p:nvSpPr>
          <p:cNvPr id="102" name="Headline"/>
          <p:cNvSpPr txBox="1"/>
          <p:nvPr/>
        </p:nvSpPr>
        <p:spPr>
          <a:xfrm>
            <a:off x="822960" y="1371600"/>
            <a:ext cx="11358880" cy="2103120"/>
          </a:xfrm>
          <a:prstGeom prst="rect">
            <a:avLst/>
          </a:prstGeom>
          <a:noFill/>
        </p:spPr>
        <p:txBody>
          <a:bodyPr wrap="square" lIns="0" tIns="0" rIns="0" bIns="0" anchor="t">
            <a:noAutofit/>
          </a:bodyPr>
          <a:lstStyle/>
          <a:p>
            <a:pPr algn="l">
              <a:lnSpc>
                <a:spcPct val="92000"/>
              </a:lnSpc>
            </a:pPr>
            <a:r>
              <a:rPr lang="en-US" sz="5400" spc="-50" dirty="0">
                <a:solidFill>
                  <a:srgbClr val="F5F5F7"/>
                </a:solidFill>
                <a:latin typeface="Helvetica Neue Medium"/>
                <a:cs typeface="Helvetica Neue Medium"/>
              </a:rPr>
              <a:t>I design </a:t>
            </a:r>
            <a:r>
              <a:rPr lang="en-US" sz="5400" spc="-50" dirty="0">
                <a:solidFill>
                  <a:srgbClr val="E98C64"/>
                </a:solidFill>
                <a:latin typeface="Helvetica Neue Medium"/>
                <a:cs typeface="Helvetica Neue Medium"/>
              </a:rPr>
              <a:t>trust</a:t>
            </a:r>
            <a:r>
              <a:rPr lang="en-US" sz="5400" spc="-50" dirty="0">
                <a:solidFill>
                  <a:srgbClr val="F5F5F7"/>
                </a:solidFill>
                <a:latin typeface="Helvetica Neue Medium"/>
                <a:cs typeface="Helvetica Neue Medium"/>
              </a:rPr>
              <a:t> into </a:t>
            </a:r>
            <a:r>
              <a:rPr lang="en-US" sz="5400" spc="-50">
                <a:solidFill>
                  <a:srgbClr val="F5F5F7"/>
                </a:solidFill>
                <a:latin typeface="Helvetica Neue Medium"/>
                <a:cs typeface="Helvetica Neue Medium"/>
              </a:rPr>
              <a:t>high-stakes business decisions</a:t>
            </a:r>
            <a:r>
              <a:rPr lang="en-US" sz="5400" spc="-50" dirty="0">
                <a:solidFill>
                  <a:srgbClr val="F5F5F7"/>
                </a:solidFill>
                <a:latin typeface="Helvetica Neue Medium"/>
                <a:cs typeface="Helvetica Neue Medium"/>
              </a:rPr>
              <a:t>.</a:t>
            </a:r>
          </a:p>
        </p:txBody>
      </p:sp>
      <p:sp>
        <p:nvSpPr>
          <p:cNvPr id="103" name="Principle 1 title"/>
          <p:cNvSpPr txBox="1"/>
          <p:nvPr/>
        </p:nvSpPr>
        <p:spPr>
          <a:xfrm>
            <a:off x="8229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AI verifies; the person decides</a:t>
            </a:r>
          </a:p>
        </p:txBody>
      </p:sp>
      <p:sp>
        <p:nvSpPr>
          <p:cNvPr id="104" name="Principle 1 body"/>
          <p:cNvSpPr txBox="1"/>
          <p:nvPr/>
        </p:nvSpPr>
        <p:spPr>
          <a:xfrm>
            <a:off x="8229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AI translates, explains and checks the user’s own criteria. It never recommends, predicts or places orders.</a:t>
            </a:r>
          </a:p>
        </p:txBody>
      </p:sp>
      <p:sp>
        <p:nvSpPr>
          <p:cNvPr id="105" name="Principle 2 title"/>
          <p:cNvSpPr txBox="1"/>
          <p:nvPr/>
        </p:nvSpPr>
        <p:spPr>
          <a:xfrm>
            <a:off x="67538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Measurements, not confidence scores</a:t>
            </a:r>
          </a:p>
        </p:txBody>
      </p:sp>
      <p:sp>
        <p:nvSpPr>
          <p:cNvPr id="106" name="Principle 2 body"/>
          <p:cNvSpPr txBox="1"/>
          <p:nvPr/>
        </p:nvSpPr>
        <p:spPr>
          <a:xfrm>
            <a:off x="67538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Show what was measured and how often it held, with sample sizes. Abstain when the data isn’t there.</a:t>
            </a:r>
          </a:p>
        </p:txBody>
      </p:sp>
      <p:sp>
        <p:nvSpPr>
          <p:cNvPr id="107" name="Principle 3 title"/>
          <p:cNvSpPr txBox="1"/>
          <p:nvPr/>
        </p:nvSpPr>
        <p:spPr>
          <a:xfrm>
            <a:off x="8229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Consequences before commitment</a:t>
            </a:r>
          </a:p>
        </p:txBody>
      </p:sp>
      <p:sp>
        <p:nvSpPr>
          <p:cNvPr id="108" name="Principle 3 body"/>
          <p:cNvSpPr txBox="1"/>
          <p:nvPr/>
        </p:nvSpPr>
        <p:spPr>
          <a:xfrm>
            <a:off x="8229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Rules are replayed on recent history before they’re saved. Every change is logged, with Undo.</a:t>
            </a:r>
          </a:p>
        </p:txBody>
      </p:sp>
      <p:sp>
        <p:nvSpPr>
          <p:cNvPr id="109" name="Principle 4 title"/>
          <p:cNvSpPr txBox="1"/>
          <p:nvPr/>
        </p:nvSpPr>
        <p:spPr>
          <a:xfrm>
            <a:off x="67538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Guidance that fits the frequency</a:t>
            </a:r>
          </a:p>
        </p:txBody>
      </p:sp>
      <p:sp>
        <p:nvSpPr>
          <p:cNvPr id="110" name="Principle 4 body"/>
          <p:cNvSpPr txBox="1"/>
          <p:nvPr/>
        </p:nvSpPr>
        <p:spPr>
          <a:xfrm>
            <a:off x="67538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Daily users get help that fades with fluency. Rare tasks, like OBI and MOCA, get a short guided path.</a:t>
            </a:r>
          </a:p>
        </p:txBody>
      </p:sp>
      <p:sp>
        <p:nvSpPr>
          <p:cNvPr id="111" name="Thread"/>
          <p:cNvSpPr txBox="1"/>
          <p:nvPr/>
        </p:nvSpPr>
        <p:spPr>
          <a:xfrm>
            <a:off x="822960" y="8503920"/>
            <a:ext cx="11358880" cy="274320"/>
          </a:xfrm>
          <a:prstGeom prst="rect">
            <a:avLst/>
          </a:prstGeom>
          <a:noFill/>
        </p:spPr>
        <p:txBody>
          <a:bodyPr wrap="square" lIns="0" tIns="0" rIns="0" bIns="0" anchor="t">
            <a:noAutofit/>
          </a:bodyPr>
          <a:lstStyle/>
          <a:p>
            <a:pPr algn="l">
              <a:lnSpc>
                <a:spcPct val="100000"/>
              </a:lnSpc>
            </a:pPr>
            <a:r>
              <a:rPr lang="en-US" sz="1200" spc="200" dirty="0">
                <a:solidFill>
                  <a:srgbClr val="6E7380"/>
                </a:solidFill>
                <a:latin typeface="Helvetica Neue Medium"/>
                <a:cs typeface="Helvetica Neue Medium"/>
              </a:rPr>
              <a:t>CREDIT SUISSE   ·   WELLS FARGO   ·   AMEX   ·   FINVIZ</a:t>
            </a:r>
          </a:p>
        </p:txBody>
      </p:sp>
      <p:pic>
        <p:nvPicPr>
          <p:cNvPr id="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01 · AI PRODUCT · CONCEPT</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FinViz</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AI Screener: The Trading Day</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Getting new traders to a screen they trust in their first session, then watching it for them. Goal: cut sign-up to Elite from 42 to 21 days.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 four design reviewers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Research to hi-fi: 19 screens, design system, live prototype</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Concept.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“Alerts are everything. Once you close FinViz, you get nothing.”</a:t>
            </a:r>
          </a:p>
        </p:txBody>
      </p:sp>
      <p:pic>
        <p:nvPicPr>
          <p:cNvPr id="119" name="Picture 8" descr="image.png"/>
          <p:cNvPicPr>
            <a:picLocks noChangeAspect="1"/>
          </p:cNvPicPr>
          <p:nvPr/>
        </p:nvPicPr>
        <p:blipFill>
          <a:blip r:embed="rId3"/>
          <a:stretch>
            <a:fillRect/>
          </a:stretch>
        </p:blipFill>
        <p:spPr>
          <a:xfrm>
            <a:off x="6720840" y="1972845"/>
            <a:ext cx="5458968" cy="5015428"/>
          </a:xfrm>
          <a:prstGeom prst="rect">
            <a:avLst/>
          </a:prstGeom>
          <a:ln w="9525">
            <a:solidFill>
              <a:srgbClr val="3A3E49"/>
            </a:solidFill>
          </a:ln>
        </p:spPr>
      </p:pic>
      <p:pic>
        <p:nvPicPr>
          <p:cNvPr id="12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Trading Day: FinViz keeps watch while you work</a:t>
            </a:r>
          </a:p>
        </p:txBody>
      </p:sp>
      <p:pic>
        <p:nvPicPr>
          <p:cNvPr id="103" name="Picture 4" descr="09-DB1-insight-board-pre-market.png"/>
          <p:cNvPicPr>
            <a:picLocks noChangeAspect="1"/>
          </p:cNvPicPr>
          <p:nvPr/>
        </p:nvPicPr>
        <p:blipFill>
          <a:blip r:embed="rId3"/>
          <a:stretch>
            <a:fillRect/>
          </a:stretch>
        </p:blipFill>
        <p:spPr>
          <a:xfrm>
            <a:off x="822960" y="2011680"/>
            <a:ext cx="6170644" cy="5669280"/>
          </a:xfrm>
          <a:prstGeom prst="rect">
            <a:avLst/>
          </a:prstGeom>
          <a:ln w="9525">
            <a:solidFill>
              <a:srgbClr val="D3D6DC"/>
            </a:solidFill>
          </a:ln>
        </p:spPr>
      </p:pic>
      <p:sp>
        <p:nvSpPr>
          <p:cNvPr id="104" name="Hero caption"/>
          <p:cNvSpPr txBox="1"/>
          <p:nvPr/>
        </p:nvSpPr>
        <p:spPr>
          <a:xfrm>
            <a:off x="822960" y="7818120"/>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The Insight Board at 7:45 AM: three sourced findings about his own names, on the FinViz Home he already knows.</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for the FinViz stock screener.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Swing traders with day jobs build a screen at night, can’t watch the market 9:30–4, and miss the moment their setup happens. New users take 42 days to see why Elite is worth paying for.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AI turns the stocks he already likes into a working screen, remembers why he picked each one, watches it on his schedule and explains every finding with its evidence. It verifies; he decides.</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research, strategy, AI UX principles, concept, low-fi to hi-fi, design system. AI agents for drafting; every call mine.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19 hi-fi screens · one trade · Monday evening to Sunday · FinViz design system v1.0 · personas and data are synthetic</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An AI layer that turns what a trader already has into a working screen, and </a:t>
            </a:r>
            <a:r>
              <a:rPr lang="en-US" sz="3800" spc="-40" dirty="0">
                <a:solidFill>
                  <a:srgbClr val="B5531F"/>
                </a:solidFill>
                <a:latin typeface="Helvetica Neue Medium"/>
                <a:cs typeface="Helvetica Neue Medium"/>
              </a:rPr>
              <a:t>watches it through the day</a:t>
            </a:r>
            <a:r>
              <a:rPr lang="en-US" sz="3800" spc="-40" dirty="0">
                <a:solidFill>
                  <a:srgbClr val="14161D"/>
                </a:solidFill>
                <a:latin typeface="Helvetica Neue Medium"/>
                <a:cs typeface="Helvetica Neue Medium"/>
              </a:rPr>
              <a:t>.</a:t>
            </a:r>
          </a:p>
        </p:txBody>
      </p:sp>
      <p:sp>
        <p:nvSpPr>
          <p:cNvPr id="103"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Swing traders with a day job</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Day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Value investors</a:t>
            </a:r>
          </a:p>
        </p:txBody>
      </p:sp>
      <p:sp>
        <p:nvSpPr>
          <p:cNvPr id="104"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Ideas don’t become a working, watched screen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FinViz is nearly absent during market hours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89 filters in preset buckets; exact values are Elite-only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Results show no reason why a stock matched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New users stall before Elite’s value is obvious</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 project from a design-course brief. I led it, with AI agents for drafting and four design reviewers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ran discovery, research, strategy, the AI design principles and the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and FigJam, ran the design review, and made and recorded the key calls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an AI layer for the </a:t>
            </a:r>
            <a:r>
              <a:rPr lang="en-US" sz="4000" spc="-40" dirty="0">
                <a:solidFill>
                  <a:srgbClr val="B5531F"/>
                </a:solidFill>
                <a:latin typeface="Helvetica Neue Medium"/>
                <a:cs typeface="Helvetica Neue Medium"/>
              </a:rPr>
              <a:t>screener</a:t>
            </a:r>
            <a:r>
              <a:rPr lang="en-US" sz="4000" spc="-40" dirty="0">
                <a:solidFill>
                  <a:srgbClr val="14161D"/>
                </a:solidFill>
                <a:latin typeface="Helvetica Neue Medium"/>
                <a:cs typeface="Helvetica Neue Medium"/>
              </a:rPr>
              <a:t>?</a:t>
            </a:r>
          </a:p>
        </p:txBody>
      </p:sp>
      <p:sp>
        <p:nvSpPr>
          <p:cNvPr id="3001"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42 → 21</a:t>
            </a:r>
          </a:p>
        </p:txBody>
      </p:sp>
      <p:sp>
        <p:nvSpPr>
          <p:cNvPr id="104" name="Label"/>
          <p:cNvSpPr txBox="1"/>
          <p:nvPr/>
        </p:nvSpPr>
        <p:spPr>
          <a:xfrm>
            <a:off x="1097280" y="4053840"/>
            <a:ext cx="45720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days from sign-up to Elite: the business goal</a:t>
            </a:r>
          </a:p>
        </p:txBody>
      </p:sp>
      <p:sp>
        <p:nvSpPr>
          <p:cNvPr id="105" name="Bar label"/>
          <p:cNvSpPr txBox="1"/>
          <p:nvPr/>
        </p:nvSpPr>
        <p:spPr>
          <a:xfrm>
            <a:off x="1097280" y="5321808"/>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Today: 42 days</a:t>
            </a:r>
          </a:p>
        </p:txBody>
      </p:sp>
      <p:sp>
        <p:nvSpPr>
          <p:cNvPr id="3002" name="Tile"/>
          <p:cNvSpPr/>
          <p:nvPr/>
        </p:nvSpPr>
        <p:spPr>
          <a:xfrm>
            <a:off x="1097280" y="5541264"/>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3" name="Tile"/>
          <p:cNvSpPr/>
          <p:nvPr/>
        </p:nvSpPr>
        <p:spPr>
          <a:xfrm>
            <a:off x="1097280" y="5541264"/>
            <a:ext cx="4572000"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5705856"/>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Goal: 21 days</a:t>
            </a:r>
          </a:p>
        </p:txBody>
      </p:sp>
      <p:sp>
        <p:nvSpPr>
          <p:cNvPr id="3004" name="Tile"/>
          <p:cNvSpPr/>
          <p:nvPr/>
        </p:nvSpPr>
        <p:spPr>
          <a:xfrm>
            <a:off x="1097280" y="5925312"/>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5" name="Tile"/>
          <p:cNvSpPr/>
          <p:nvPr/>
        </p:nvSpPr>
        <p:spPr>
          <a:xfrm>
            <a:off x="1097280" y="5925312"/>
            <a:ext cx="2286000" cy="146304"/>
          </a:xfrm>
          <a:prstGeom prst="roundRect">
            <a:avLst>
              <a:gd name="adj" fmla="val 37500"/>
            </a:avLst>
          </a:prstGeom>
          <a:solidFill>
            <a:srgbClr val="7ACFFF"/>
          </a:solidFill>
          <a:ln>
            <a:noFill/>
          </a:ln>
        </p:spPr>
        <p:txBody>
          <a:bodyPr/>
          <a:lstStyle/>
          <a:p>
            <a:endParaRPr lang="en-US"/>
          </a:p>
        </p:txBody>
      </p:sp>
      <p:sp>
        <p:nvSpPr>
          <p:cNvPr id="3006" name="Tile"/>
          <p:cNvSpPr/>
          <p:nvPr/>
        </p:nvSpPr>
        <p:spPr>
          <a:xfrm>
            <a:off x="6126480" y="2606040"/>
            <a:ext cx="6053328" cy="1161288"/>
          </a:xfrm>
          <a:prstGeom prst="roundRect">
            <a:avLst>
              <a:gd name="adj" fmla="val 11023"/>
            </a:avLst>
          </a:prstGeom>
          <a:solidFill>
            <a:srgbClr val="1B1D24"/>
          </a:solidFill>
          <a:ln>
            <a:noFill/>
          </a:ln>
        </p:spPr>
        <p:txBody>
          <a:bodyPr/>
          <a:lstStyle/>
          <a:p>
            <a:endParaRPr lang="en-US"/>
          </a:p>
        </p:txBody>
      </p:sp>
      <p:sp>
        <p:nvSpPr>
          <p:cNvPr id="107" name="Number"/>
          <p:cNvSpPr txBox="1"/>
          <p:nvPr/>
        </p:nvSpPr>
        <p:spPr>
          <a:xfrm>
            <a:off x="6400800" y="2606040"/>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89</a:t>
            </a:r>
          </a:p>
        </p:txBody>
      </p:sp>
      <p:sp>
        <p:nvSpPr>
          <p:cNvPr id="108" name="Label"/>
          <p:cNvSpPr txBox="1"/>
          <p:nvPr/>
        </p:nvSpPr>
        <p:spPr>
          <a:xfrm>
            <a:off x="7315200" y="2606040"/>
            <a:ext cx="45902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filter dropdowns, most in preset buckets</a:t>
            </a:r>
          </a:p>
        </p:txBody>
      </p:sp>
      <p:sp>
        <p:nvSpPr>
          <p:cNvPr id="3007" name="Tile"/>
          <p:cNvSpPr/>
          <p:nvPr/>
        </p:nvSpPr>
        <p:spPr>
          <a:xfrm>
            <a:off x="6126480" y="3945636"/>
            <a:ext cx="6053328" cy="1161288"/>
          </a:xfrm>
          <a:prstGeom prst="roundRect">
            <a:avLst>
              <a:gd name="adj" fmla="val 11023"/>
            </a:avLst>
          </a:prstGeom>
          <a:solidFill>
            <a:srgbClr val="F1F2F5"/>
          </a:solidFill>
          <a:ln>
            <a:noFill/>
          </a:ln>
        </p:spPr>
        <p:txBody>
          <a:bodyPr/>
          <a:lstStyle/>
          <a:p>
            <a:endParaRPr lang="en-US"/>
          </a:p>
        </p:txBody>
      </p:sp>
      <p:sp>
        <p:nvSpPr>
          <p:cNvPr id="109" name="Number"/>
          <p:cNvSpPr txBox="1"/>
          <p:nvPr/>
        </p:nvSpPr>
        <p:spPr>
          <a:xfrm>
            <a:off x="6400800" y="3945636"/>
            <a:ext cx="2542397" cy="1161288"/>
          </a:xfrm>
          <a:prstGeom prst="rect">
            <a:avLst/>
          </a:prstGeom>
          <a:noFill/>
        </p:spPr>
        <p:txBody>
          <a:bodyPr wrap="square" lIns="0" tIns="0" rIns="0" bIns="0" anchor="ctr">
            <a:noAutofit/>
          </a:bodyPr>
          <a:lstStyle/>
          <a:p>
            <a:pPr algn="l">
              <a:lnSpc>
                <a:spcPct val="90000"/>
              </a:lnSpc>
              <a:spcAft>
                <a:spcPts val="300"/>
              </a:spcAft>
            </a:pPr>
            <a:r>
              <a:rPr lang="en-US" sz="4400" spc="-40" dirty="0">
                <a:solidFill>
                  <a:srgbClr val="14161D"/>
                </a:solidFill>
                <a:latin typeface="Helvetica Neue Medium"/>
                <a:cs typeface="Helvetica Neue Medium"/>
              </a:rPr>
              <a:t>87 of 89</a:t>
            </a:r>
          </a:p>
        </p:txBody>
      </p:sp>
      <p:sp>
        <p:nvSpPr>
          <p:cNvPr id="110" name="Label"/>
          <p:cNvSpPr txBox="1"/>
          <p:nvPr/>
        </p:nvSpPr>
        <p:spPr>
          <a:xfrm>
            <a:off x="8534400" y="3945636"/>
            <a:ext cx="33710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filters need Elite for an exact value</a:t>
            </a:r>
          </a:p>
        </p:txBody>
      </p:sp>
      <p:sp>
        <p:nvSpPr>
          <p:cNvPr id="3008" name="Tile"/>
          <p:cNvSpPr/>
          <p:nvPr/>
        </p:nvSpPr>
        <p:spPr>
          <a:xfrm>
            <a:off x="6126480" y="5285232"/>
            <a:ext cx="6053328" cy="1161288"/>
          </a:xfrm>
          <a:prstGeom prst="roundRect">
            <a:avLst>
              <a:gd name="adj" fmla="val 11023"/>
            </a:avLst>
          </a:prstGeom>
          <a:solidFill>
            <a:srgbClr val="1B1D24"/>
          </a:solidFill>
          <a:ln>
            <a:noFill/>
          </a:ln>
        </p:spPr>
        <p:txBody>
          <a:bodyPr/>
          <a:lstStyle/>
          <a:p>
            <a:endParaRPr lang="en-US"/>
          </a:p>
        </p:txBody>
      </p:sp>
      <p:sp>
        <p:nvSpPr>
          <p:cNvPr id="111" name="Number"/>
          <p:cNvSpPr txBox="1"/>
          <p:nvPr/>
        </p:nvSpPr>
        <p:spPr>
          <a:xfrm>
            <a:off x="6400800" y="5285232"/>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0</a:t>
            </a:r>
          </a:p>
        </p:txBody>
      </p:sp>
      <p:sp>
        <p:nvSpPr>
          <p:cNvPr id="112" name="Label"/>
          <p:cNvSpPr txBox="1"/>
          <p:nvPr/>
        </p:nvSpPr>
        <p:spPr>
          <a:xfrm>
            <a:off x="6949440" y="5285232"/>
            <a:ext cx="49560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AI features in the FinViz screener today</a:t>
            </a:r>
          </a:p>
        </p:txBody>
      </p:sp>
      <p:sp>
        <p:nvSpPr>
          <p:cNvPr id="3009" name="Tile"/>
          <p:cNvSpPr/>
          <p:nvPr/>
        </p:nvSpPr>
        <p:spPr>
          <a:xfrm>
            <a:off x="822960" y="6629400"/>
            <a:ext cx="11356848" cy="1600200"/>
          </a:xfrm>
          <a:prstGeom prst="roundRect">
            <a:avLst>
              <a:gd name="adj" fmla="val 8000"/>
            </a:avLst>
          </a:prstGeom>
          <a:solidFill>
            <a:srgbClr val="F1F2F5"/>
          </a:solidFill>
          <a:ln>
            <a:noFill/>
          </a:ln>
        </p:spPr>
        <p:txBody>
          <a:bodyPr/>
          <a:lstStyle/>
          <a:p>
            <a:endParaRPr lang="en-US"/>
          </a:p>
        </p:txBody>
      </p:sp>
      <p:sp>
        <p:nvSpPr>
          <p:cNvPr id="113"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“Too many filters, and no filter literacy. And a chat box is not the answer.”</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FinViz today: tour-led onboarding, AI only on the news</a:t>
            </a:r>
          </a:p>
        </p:txBody>
      </p:sp>
      <p:pic>
        <p:nvPicPr>
          <p:cNvPr id="103" name="FinViz home, top (Oct 4 2026)" descr="finviz-home-2026-10-04-2.png"/>
          <p:cNvPicPr>
            <a:picLocks noChangeAspect="1"/>
          </p:cNvPicPr>
          <p:nvPr/>
        </p:nvPicPr>
        <p:blipFill>
          <a:blip r:embed="rId3"/>
          <a:stretch>
            <a:fillRect/>
          </a:stretch>
        </p:blipFill>
        <p:spPr>
          <a:xfrm>
            <a:off x="822960" y="2011680"/>
            <a:ext cx="5720257" cy="3251965"/>
          </a:xfrm>
          <a:prstGeom prst="rect">
            <a:avLst/>
          </a:prstGeom>
          <a:ln w="9525">
            <a:solidFill>
              <a:srgbClr val="D3D6DC"/>
            </a:solidFill>
          </a:ln>
        </p:spPr>
      </p:pic>
      <p:pic>
        <p:nvPicPr>
          <p:cNvPr id="104" name="FinViz home, lower (Oct 4 2026)" descr="finviz-home-2026-10-04-1.png"/>
          <p:cNvPicPr>
            <a:picLocks noChangeAspect="1"/>
          </p:cNvPicPr>
          <p:nvPr/>
        </p:nvPicPr>
        <p:blipFill>
          <a:blip r:embed="rId4"/>
          <a:stretch>
            <a:fillRect/>
          </a:stretch>
        </p:blipFill>
        <p:spPr>
          <a:xfrm>
            <a:off x="822960" y="5435254"/>
            <a:ext cx="5720257" cy="2794345"/>
          </a:xfrm>
          <a:prstGeom prst="rect">
            <a:avLst/>
          </a:prstGeom>
          <a:ln w="9525">
            <a:solidFill>
              <a:srgbClr val="D3D6DC"/>
            </a:solidFill>
          </a:ln>
        </p:spPr>
      </p:pic>
      <p:sp>
        <p:nvSpPr>
          <p:cNvPr id="105" name="Marker"/>
          <p:cNvSpPr txBox="1"/>
          <p:nvPr/>
        </p:nvSpPr>
        <p:spPr>
          <a:xfrm>
            <a:off x="1166173" y="2466954"/>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2</a:t>
            </a:r>
          </a:p>
        </p:txBody>
      </p:sp>
      <p:sp>
        <p:nvSpPr>
          <p:cNvPr id="106" name="Marker"/>
          <p:cNvSpPr txBox="1"/>
          <p:nvPr/>
        </p:nvSpPr>
        <p:spPr>
          <a:xfrm>
            <a:off x="2195820" y="4027898"/>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3</a:t>
            </a:r>
          </a:p>
        </p:txBody>
      </p:sp>
      <p:sp>
        <p:nvSpPr>
          <p:cNvPr id="107" name="Marker"/>
          <p:cNvSpPr txBox="1"/>
          <p:nvPr/>
        </p:nvSpPr>
        <p:spPr>
          <a:xfrm>
            <a:off x="3111062" y="7782503"/>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1</a:t>
            </a:r>
          </a:p>
        </p:txBody>
      </p:sp>
      <p:sp>
        <p:nvSpPr>
          <p:cNvPr id="108" name="No"/>
          <p:cNvSpPr txBox="1"/>
          <p:nvPr/>
        </p:nvSpPr>
        <p:spPr>
          <a:xfrm>
            <a:off x="7863840" y="210312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9" name="The guided-tour prompt"/>
          <p:cNvSpPr txBox="1"/>
          <p:nvPr/>
        </p:nvSpPr>
        <p:spPr>
          <a:xfrm>
            <a:off x="8412480" y="214883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The guided-tour prompt</a:t>
            </a:r>
          </a:p>
          <a:p>
            <a:pPr algn="l">
              <a:lnSpc>
                <a:spcPct val="125000"/>
              </a:lnSpc>
              <a:spcAft>
                <a:spcPts val="250"/>
              </a:spcAft>
            </a:pPr>
            <a:r>
              <a:rPr lang="en-US" sz="1550" spc="0" dirty="0">
                <a:solidFill>
                  <a:srgbClr val="565C6B"/>
                </a:solidFill>
                <a:latin typeface="Helvetica Neue Light"/>
                <a:cs typeface="Helvetica Neue Light"/>
              </a:rPr>
              <a:t>“First Time Here? Watch the Guided Tour”: FinViz’s answer to first use is still a tour, now promoted on the home page.</a:t>
            </a:r>
          </a:p>
        </p:txBody>
      </p:sp>
      <p:sp>
        <p:nvSpPr>
          <p:cNvPr id="110" name="No"/>
          <p:cNvSpPr txBox="1"/>
          <p:nvPr/>
        </p:nvSpPr>
        <p:spPr>
          <a:xfrm>
            <a:off x="7863840" y="4069079"/>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1" name="“Weekend Brief”"/>
          <p:cNvSpPr txBox="1"/>
          <p:nvPr/>
        </p:nvSpPr>
        <p:spPr>
          <a:xfrm>
            <a:off x="8412480" y="411479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“Weekend Brief”</a:t>
            </a:r>
          </a:p>
          <a:p>
            <a:pPr algn="l">
              <a:lnSpc>
                <a:spcPct val="125000"/>
              </a:lnSpc>
              <a:spcAft>
                <a:spcPts val="250"/>
              </a:spcAft>
            </a:pPr>
            <a:r>
              <a:rPr lang="en-US" sz="1550" spc="0" dirty="0">
                <a:solidFill>
                  <a:srgbClr val="565C6B"/>
                </a:solidFill>
                <a:latin typeface="Helvetica Neue Light"/>
                <a:cs typeface="Helvetica Neue Light"/>
              </a:rPr>
              <a:t>A news summary that appears AI-generated, with 👍/👎, but isn’t labelled as AI. Nothing like it in the screener.</a:t>
            </a:r>
          </a:p>
        </p:txBody>
      </p:sp>
      <p:sp>
        <p:nvSpPr>
          <p:cNvPr id="112" name="No"/>
          <p:cNvSpPr txBox="1"/>
          <p:nvPr/>
        </p:nvSpPr>
        <p:spPr>
          <a:xfrm>
            <a:off x="7863840" y="603504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3" name="A dense dashboard"/>
          <p:cNvSpPr txBox="1"/>
          <p:nvPr/>
        </p:nvSpPr>
        <p:spPr>
          <a:xfrm>
            <a:off x="8412480" y="608075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dense dashboard</a:t>
            </a:r>
          </a:p>
          <a:p>
            <a:pPr algn="l">
              <a:lnSpc>
                <a:spcPct val="125000"/>
              </a:lnSpc>
              <a:spcAft>
                <a:spcPts val="250"/>
              </a:spcAft>
            </a:pPr>
            <a:r>
              <a:rPr lang="en-US" sz="1550" spc="0" dirty="0">
                <a:solidFill>
                  <a:srgbClr val="565C6B"/>
                </a:solidFill>
                <a:latin typeface="Helvetica Neue Light"/>
                <a:cs typeface="Helvetica Neue Light"/>
              </a:rPr>
              <a:t>Rule-based signals, insider tables, futures, a heat map and heavy ads: what a newcomer meets first.</a:t>
            </a:r>
          </a:p>
        </p:txBody>
      </p:sp>
      <p:sp>
        <p:nvSpPr>
          <p:cNvPr id="114"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finviz.com home page, Oct 4 2026</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 AND CONSTRAINTS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environment the AI had to fit</a:t>
            </a:r>
          </a:p>
        </p:txBody>
      </p:sp>
      <p:sp>
        <p:nvSpPr>
          <p:cNvPr id="103" name="BUSINESS CHALLENGE"/>
          <p:cNvSpPr txBox="1"/>
          <p:nvPr/>
        </p:nvSpPr>
        <p:spPr>
          <a:xfrm>
            <a:off x="8229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BUSINESS CHALLENGE</a:t>
            </a:r>
          </a:p>
          <a:p>
            <a:pPr algn="l">
              <a:lnSpc>
                <a:spcPct val="125000"/>
              </a:lnSpc>
              <a:spcAft>
                <a:spcPts val="500"/>
              </a:spcAft>
            </a:pPr>
            <a:r>
              <a:rPr lang="en-US" sz="1550" spc="0" dirty="0">
                <a:solidFill>
                  <a:srgbClr val="565C6B"/>
                </a:solidFill>
                <a:latin typeface="Helvetica Neue Light"/>
                <a:cs typeface="Helvetica Neue Light"/>
              </a:rPr>
              <a:t>Halve the time from free to Elite, 42 → 21 days, without annoying users (course brief, OKR 1). Elite sells persistence: alerts, real-time data, backtests. A user without a working screen has no reason to pay.</a:t>
            </a:r>
          </a:p>
        </p:txBody>
      </p:sp>
      <p:sp>
        <p:nvSpPr>
          <p:cNvPr id="104" name="STAKEHOLDERS"/>
          <p:cNvSpPr txBox="1"/>
          <p:nvPr/>
        </p:nvSpPr>
        <p:spPr>
          <a:xfrm>
            <a:off x="67538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STAKEHOLDERS</a:t>
            </a:r>
          </a:p>
          <a:p>
            <a:pPr algn="l">
              <a:lnSpc>
                <a:spcPct val="125000"/>
              </a:lnSpc>
              <a:spcAft>
                <a:spcPts val="500"/>
              </a:spcAft>
            </a:pPr>
            <a:r>
              <a:rPr lang="en-US" sz="1550" spc="0" dirty="0">
                <a:solidFill>
                  <a:srgbClr val="565C6B"/>
                </a:solidFill>
                <a:latin typeface="Helvetica Neue Light"/>
                <a:cs typeface="Helvetica Neue Light"/>
              </a:rPr>
              <a:t>Traders: Growth Gary (primary), Fast Frank, Value Vivian, Multi Mike. FinViz growth (Elite conversion), compliance (the advice line), engineering (screener, alerts, data feeds).</a:t>
            </a:r>
          </a:p>
        </p:txBody>
      </p:sp>
      <p:sp>
        <p:nvSpPr>
          <p:cNvPr id="105" name="SUCCESS CRITERIA"/>
          <p:cNvSpPr txBox="1"/>
          <p:nvPr/>
        </p:nvSpPr>
        <p:spPr>
          <a:xfrm>
            <a:off x="8229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SUCCESS CRITERIA</a:t>
            </a:r>
          </a:p>
          <a:p>
            <a:pPr algn="l">
              <a:lnSpc>
                <a:spcPct val="125000"/>
              </a:lnSpc>
              <a:spcAft>
                <a:spcPts val="500"/>
              </a:spcAft>
            </a:pPr>
            <a:r>
              <a:rPr lang="en-US" sz="1550" spc="0" dirty="0">
                <a:solidFill>
                  <a:srgbClr val="565C6B"/>
                </a:solidFill>
                <a:latin typeface="Helvetica Neue Light"/>
                <a:cs typeface="Helvetica Neue Light"/>
              </a:rPr>
              <a:t>Time to first success: an insight that is actionable, timely and relevant to his own holdings, in the first session. Then a habit: a saved screen re-run 3+ days a week (North Star).</a:t>
            </a:r>
          </a:p>
        </p:txBody>
      </p:sp>
      <p:sp>
        <p:nvSpPr>
          <p:cNvPr id="106" name="TECHNICAL CONSTRAINTS"/>
          <p:cNvSpPr txBox="1"/>
          <p:nvPr/>
        </p:nvSpPr>
        <p:spPr>
          <a:xfrm>
            <a:off x="67538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TECHNICAL CONSTRAINTS</a:t>
            </a:r>
          </a:p>
          <a:p>
            <a:pPr algn="l">
              <a:lnSpc>
                <a:spcPct val="125000"/>
              </a:lnSpc>
              <a:spcAft>
                <a:spcPts val="500"/>
              </a:spcAft>
            </a:pPr>
            <a:r>
              <a:rPr lang="en-US" sz="1550" spc="0" dirty="0">
                <a:solidFill>
                  <a:srgbClr val="565C6B"/>
                </a:solidFill>
                <a:latin typeface="Helvetica Neue Light"/>
                <a:cs typeface="Helvetica Neue Light"/>
              </a:rPr>
              <a:t>No AI in FinViz’s screener today. 89 filters; Free uses preset buckets. Free quotes 1-min delayed; pre-market is Elite. LLMs can invent: output must map to real filters. No AI-originated advice, predictions or confidence %. Desktop only.</a:t>
            </a:r>
          </a:p>
        </p:txBody>
      </p:sp>
      <p:cxnSp>
        <p:nvCxnSpPr>
          <p:cNvPr id="107" name="Divider"/>
          <p:cNvCxnSpPr/>
          <p:nvPr/>
        </p:nvCxnSpPr>
        <p:spPr>
          <a:xfrm>
            <a:off x="822960" y="5989320"/>
            <a:ext cx="11358880" cy="0"/>
          </a:xfrm>
          <a:prstGeom prst="line">
            <a:avLst/>
          </a:prstGeom>
          <a:ln w="9525">
            <a:solidFill>
              <a:srgbClr val="858A97"/>
            </a:solidFill>
          </a:ln>
        </p:spPr>
      </p:cxnSp>
      <p:sp>
        <p:nvSpPr>
          <p:cNvPr id="108" name="Meant"/>
          <p:cNvSpPr txBox="1"/>
          <p:nvPr/>
        </p:nvSpPr>
        <p:spPr>
          <a:xfrm>
            <a:off x="822960" y="617220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THIS MEANT FOR THE DESIGN</a:t>
            </a:r>
          </a:p>
        </p:txBody>
      </p:sp>
      <p:cxnSp>
        <p:nvCxnSpPr>
          <p:cNvPr id="109" name="Divider"/>
          <p:cNvCxnSpPr/>
          <p:nvPr/>
        </p:nvCxnSpPr>
        <p:spPr>
          <a:xfrm>
            <a:off x="822960" y="6583680"/>
            <a:ext cx="3542453" cy="0"/>
          </a:xfrm>
          <a:prstGeom prst="line">
            <a:avLst/>
          </a:prstGeom>
          <a:ln w="9525">
            <a:solidFill>
              <a:srgbClr val="E1E3E8"/>
            </a:solidFill>
          </a:ln>
        </p:spPr>
      </p:cxnSp>
      <p:sp>
        <p:nvSpPr>
          <p:cNvPr id="110" name="Free builds and previews; Elite watches title"/>
          <p:cNvSpPr txBox="1"/>
          <p:nvPr/>
        </p:nvSpPr>
        <p:spPr>
          <a:xfrm>
            <a:off x="822960"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Free builds and previews; Elite watches</a:t>
            </a:r>
          </a:p>
        </p:txBody>
      </p:sp>
      <p:sp>
        <p:nvSpPr>
          <p:cNvPr id="111" name="Free builds and previews; Elite watches body"/>
          <p:cNvSpPr txBox="1"/>
          <p:nvPr/>
        </p:nvSpPr>
        <p:spPr>
          <a:xfrm>
            <a:off x="822960"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paywall sits where the value is felt: live alerts on his own names.</a:t>
            </a:r>
          </a:p>
        </p:txBody>
      </p:sp>
      <p:cxnSp>
        <p:nvCxnSpPr>
          <p:cNvPr id="112" name="Divider"/>
          <p:cNvCxnSpPr/>
          <p:nvPr/>
        </p:nvCxnSpPr>
        <p:spPr>
          <a:xfrm>
            <a:off x="4731173" y="6583680"/>
            <a:ext cx="3542453" cy="0"/>
          </a:xfrm>
          <a:prstGeom prst="line">
            <a:avLst/>
          </a:prstGeom>
          <a:ln w="9525">
            <a:solidFill>
              <a:srgbClr val="E1E3E8"/>
            </a:solidFill>
          </a:ln>
        </p:spPr>
      </p:cxnSp>
      <p:sp>
        <p:nvSpPr>
          <p:cNvPr id="113" name="Every AI output maps to something real title"/>
          <p:cNvSpPr txBox="1"/>
          <p:nvPr/>
        </p:nvSpPr>
        <p:spPr>
          <a:xfrm>
            <a:off x="4731173"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Every AI output maps to something real</a:t>
            </a:r>
          </a:p>
        </p:txBody>
      </p:sp>
      <p:sp>
        <p:nvSpPr>
          <p:cNvPr id="114" name="Every AI output maps to something real body"/>
          <p:cNvSpPr txBox="1"/>
          <p:nvPr/>
        </p:nvSpPr>
        <p:spPr>
          <a:xfrm>
            <a:off x="4731173"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A FinViz filter, a measured value or a cited source, or it says it can’t tell.</a:t>
            </a:r>
          </a:p>
        </p:txBody>
      </p:sp>
      <p:cxnSp>
        <p:nvCxnSpPr>
          <p:cNvPr id="115" name="Divider"/>
          <p:cNvCxnSpPr/>
          <p:nvPr/>
        </p:nvCxnSpPr>
        <p:spPr>
          <a:xfrm>
            <a:off x="8639386" y="6583680"/>
            <a:ext cx="3542453" cy="0"/>
          </a:xfrm>
          <a:prstGeom prst="line">
            <a:avLst/>
          </a:prstGeom>
          <a:ln w="9525">
            <a:solidFill>
              <a:srgbClr val="E1E3E8"/>
            </a:solidFill>
          </a:ln>
        </p:spPr>
      </p:cxnSp>
      <p:sp>
        <p:nvSpPr>
          <p:cNvPr id="116" name="Verification, not advice title"/>
          <p:cNvSpPr txBox="1"/>
          <p:nvPr/>
        </p:nvSpPr>
        <p:spPr>
          <a:xfrm>
            <a:off x="8639386"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Verification, not advice</a:t>
            </a:r>
          </a:p>
        </p:txBody>
      </p:sp>
      <p:sp>
        <p:nvSpPr>
          <p:cNvPr id="117" name="Verification, not advice body"/>
          <p:cNvSpPr txBox="1"/>
          <p:nvPr/>
        </p:nvSpPr>
        <p:spPr>
          <a:xfrm>
            <a:off x="8639386"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AI checks his own criteria; decisions end in his broker.</a:t>
            </a:r>
          </a:p>
        </p:txBody>
      </p:sp>
      <p:pic>
        <p:nvPicPr>
          <p:cNvPr id="118"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B5531F"/>
                </a:solidFill>
                <a:latin typeface="Helvetica Neue Medium"/>
                <a:cs typeface="Helvetica Neue Medium"/>
              </a:rPr>
              <a:t>FINVIZ AI SCREENER · COMPETITIVE LANDSCAPE</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400" spc="-40" dirty="0">
                <a:solidFill>
                  <a:srgbClr val="14161D"/>
                </a:solidFill>
                <a:latin typeface="Helvetica Neue Medium"/>
                <a:cs typeface="Helvetica Neue Medium"/>
              </a:rPr>
              <a:t>FinViz stays the fastest place to find ideas. The AI layer </a:t>
            </a:r>
            <a:r>
              <a:rPr lang="en-US" sz="4400" spc="-40" dirty="0">
                <a:solidFill>
                  <a:srgbClr val="B5531F"/>
                </a:solidFill>
                <a:latin typeface="Helvetica Neue Medium"/>
                <a:cs typeface="Helvetica Neue Medium"/>
              </a:rPr>
              <a:t>explains</a:t>
            </a:r>
            <a:r>
              <a:rPr lang="en-US" sz="4400" spc="-40" dirty="0">
                <a:solidFill>
                  <a:srgbClr val="14161D"/>
                </a:solidFill>
                <a:latin typeface="Helvetica Neue Medium"/>
                <a:cs typeface="Helvetica Neue Medium"/>
              </a:rPr>
              <a:t> them.</a:t>
            </a:r>
          </a:p>
        </p:txBody>
      </p:sp>
      <p:sp>
        <p:nvSpPr>
          <p:cNvPr id="103" name="Column label"/>
          <p:cNvSpPr txBox="1"/>
          <p:nvPr/>
        </p:nvSpPr>
        <p:spPr>
          <a:xfrm>
            <a:off x="4023360" y="3886200"/>
            <a:ext cx="3749039"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IT IS STRONG</a:t>
            </a:r>
          </a:p>
        </p:txBody>
      </p:sp>
      <p:sp>
        <p:nvSpPr>
          <p:cNvPr id="104" name="Column label"/>
          <p:cNvSpPr txBox="1"/>
          <p:nvPr/>
        </p:nvSpPr>
        <p:spPr>
          <a:xfrm>
            <a:off x="8138159" y="3886200"/>
            <a:ext cx="4043681"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THE AI LAYER FITS</a:t>
            </a:r>
          </a:p>
        </p:txBody>
      </p:sp>
      <p:cxnSp>
        <p:nvCxnSpPr>
          <p:cNvPr id="105" name="Row divider"/>
          <p:cNvCxnSpPr/>
          <p:nvPr/>
        </p:nvCxnSpPr>
        <p:spPr>
          <a:xfrm>
            <a:off x="822960" y="4297680"/>
            <a:ext cx="11358880" cy="0"/>
          </a:xfrm>
          <a:prstGeom prst="line">
            <a:avLst/>
          </a:prstGeom>
          <a:ln w="9525">
            <a:solidFill>
              <a:srgbClr val="E1E3E8"/>
            </a:solidFill>
          </a:ln>
        </p:spPr>
      </p:cxnSp>
      <p:sp>
        <p:nvSpPr>
          <p:cNvPr id="106" name="TradingView"/>
          <p:cNvSpPr txBox="1"/>
          <p:nvPr/>
        </p:nvSpPr>
        <p:spPr>
          <a:xfrm>
            <a:off x="822960" y="452628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TradingView</a:t>
            </a:r>
          </a:p>
        </p:txBody>
      </p:sp>
      <p:sp>
        <p:nvSpPr>
          <p:cNvPr id="107" name="TradingView strength"/>
          <p:cNvSpPr txBox="1"/>
          <p:nvPr/>
        </p:nvSpPr>
        <p:spPr>
          <a:xfrm>
            <a:off x="4023360" y="454456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Charting and community. Ships AI document and news summaries, and a Chart Copilot (beta) that sets alerts in plain English.</a:t>
            </a:r>
          </a:p>
        </p:txBody>
      </p:sp>
      <p:sp>
        <p:nvSpPr>
          <p:cNvPr id="108" name="TradingView fit"/>
          <p:cNvSpPr txBox="1"/>
          <p:nvPr/>
        </p:nvSpPr>
        <p:spPr>
          <a:xfrm>
            <a:off x="8138159" y="454456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Explains the trader’s own screen and keeps his reasons. FinViz stays the fastest place to find ideas.</a:t>
            </a:r>
          </a:p>
        </p:txBody>
      </p:sp>
      <p:cxnSp>
        <p:nvCxnSpPr>
          <p:cNvPr id="109" name="Row divider"/>
          <p:cNvCxnSpPr/>
          <p:nvPr/>
        </p:nvCxnSpPr>
        <p:spPr>
          <a:xfrm>
            <a:off x="822960" y="5577840"/>
            <a:ext cx="11358880" cy="0"/>
          </a:xfrm>
          <a:prstGeom prst="line">
            <a:avLst/>
          </a:prstGeom>
          <a:ln w="9525">
            <a:solidFill>
              <a:srgbClr val="E1E3E8"/>
            </a:solidFill>
          </a:ln>
        </p:spPr>
      </p:cxnSp>
      <p:sp>
        <p:nvSpPr>
          <p:cNvPr id="110" name="Trade Ideas"/>
          <p:cNvSpPr txBox="1"/>
          <p:nvPr/>
        </p:nvSpPr>
        <p:spPr>
          <a:xfrm>
            <a:off x="822960" y="580644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Trade Ideas</a:t>
            </a:r>
          </a:p>
        </p:txBody>
      </p:sp>
      <p:sp>
        <p:nvSpPr>
          <p:cNvPr id="111" name="Trade Ideas strength"/>
          <p:cNvSpPr txBox="1"/>
          <p:nvPr/>
        </p:nvSpPr>
        <p:spPr>
          <a:xfrm>
            <a:off x="4023360" y="582472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Real-time scanning at tick speed. Holly AI posts trade ideas with entry, stop and target; a plain-English scan builder.</a:t>
            </a:r>
          </a:p>
        </p:txBody>
      </p:sp>
      <p:sp>
        <p:nvSpPr>
          <p:cNvPr id="112" name="Trade Ideas fit"/>
          <p:cNvSpPr txBox="1"/>
          <p:nvPr/>
        </p:nvSpPr>
        <p:spPr>
          <a:xfrm>
            <a:off x="8138159" y="582472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FinViz never originates trades or confidence scores. It checks the trader’s own criteria and watches his saved screen.</a:t>
            </a:r>
          </a:p>
        </p:txBody>
      </p:sp>
      <p:cxnSp>
        <p:nvCxnSpPr>
          <p:cNvPr id="113" name="Row divider"/>
          <p:cNvCxnSpPr/>
          <p:nvPr/>
        </p:nvCxnSpPr>
        <p:spPr>
          <a:xfrm>
            <a:off x="822960" y="6858000"/>
            <a:ext cx="11358880" cy="0"/>
          </a:xfrm>
          <a:prstGeom prst="line">
            <a:avLst/>
          </a:prstGeom>
          <a:ln w="9525">
            <a:solidFill>
              <a:srgbClr val="E1E3E8"/>
            </a:solidFill>
          </a:ln>
        </p:spPr>
      </p:cxnSp>
      <p:sp>
        <p:nvSpPr>
          <p:cNvPr id="114" name="Bloomberg Terminal"/>
          <p:cNvSpPr txBox="1"/>
          <p:nvPr/>
        </p:nvSpPr>
        <p:spPr>
          <a:xfrm>
            <a:off x="822960" y="708660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Bloomberg Terminal</a:t>
            </a:r>
          </a:p>
        </p:txBody>
      </p:sp>
      <p:sp>
        <p:nvSpPr>
          <p:cNvPr id="115" name="Bloomberg Terminal strength"/>
          <p:cNvSpPr txBox="1"/>
          <p:nvPr/>
        </p:nvSpPr>
        <p:spPr>
          <a:xfrm>
            <a:off x="4023360" y="710488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Market data and news for professionals, with AI document search and news summaries.</a:t>
            </a:r>
          </a:p>
        </p:txBody>
      </p:sp>
      <p:sp>
        <p:nvSpPr>
          <p:cNvPr id="116" name="Bloomberg Terminal fit"/>
          <p:cNvSpPr txBox="1"/>
          <p:nvPr/>
        </p:nvSpPr>
        <p:spPr>
          <a:xfrm>
            <a:off x="8138159" y="710488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Cost and complexity. FinViz’s job is discovery for individual traders.</a:t>
            </a:r>
          </a:p>
        </p:txBody>
      </p:sp>
      <p:cxnSp>
        <p:nvCxnSpPr>
          <p:cNvPr id="117" name="Row divider"/>
          <p:cNvCxnSpPr/>
          <p:nvPr/>
        </p:nvCxnSpPr>
        <p:spPr>
          <a:xfrm>
            <a:off x="822960" y="8138160"/>
            <a:ext cx="11358880" cy="0"/>
          </a:xfrm>
          <a:prstGeom prst="line">
            <a:avLst/>
          </a:prstGeom>
          <a:ln w="9525">
            <a:solidFill>
              <a:srgbClr val="E1E3E8"/>
            </a:solidFill>
          </a:ln>
        </p:spPr>
      </p:cxnSp>
      <p:sp>
        <p:nvSpPr>
          <p:cNvPr id="11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pPr>
            <a:r>
              <a:rPr lang="en-US" sz="1100" spc="0" dirty="0">
                <a:solidFill>
                  <a:srgbClr val="858A97"/>
                </a:solidFill>
                <a:latin typeface="Helvetica Neue Light"/>
                <a:cs typeface="Helvetica Neue Light"/>
              </a:rPr>
              <a:t>Source: competitor product pages and reviews, checked October 2026. Competitor features change quickly.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THE PROBLEM</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Two problems, defined separately, so the AI only does </a:t>
            </a:r>
            <a:r>
              <a:rPr lang="en-US" sz="4000" spc="-40" dirty="0">
                <a:solidFill>
                  <a:srgbClr val="B5531F"/>
                </a:solidFill>
                <a:latin typeface="Helvetica Neue Medium"/>
                <a:cs typeface="Helvetica Neue Medium"/>
              </a:rPr>
              <a:t>what a rule can’t</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429000"/>
            <a:ext cx="3511973" cy="0"/>
          </a:xfrm>
          <a:prstGeom prst="line">
            <a:avLst/>
          </a:prstGeom>
          <a:ln w="9525">
            <a:solidFill>
              <a:srgbClr val="E1E3E8"/>
            </a:solidFill>
          </a:ln>
        </p:spPr>
      </p:cxnSp>
      <p:sp>
        <p:nvSpPr>
          <p:cNvPr id="104" name="User problem title"/>
          <p:cNvSpPr txBox="1"/>
          <p:nvPr/>
        </p:nvSpPr>
        <p:spPr>
          <a:xfrm>
            <a:off x="822960"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User problem</a:t>
            </a:r>
          </a:p>
        </p:txBody>
      </p:sp>
      <p:sp>
        <p:nvSpPr>
          <p:cNvPr id="105" name="User problem body"/>
          <p:cNvSpPr txBox="1"/>
          <p:nvPr/>
        </p:nvSpPr>
        <p:spPr>
          <a:xfrm>
            <a:off x="822960"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Gary can find ideas but can’t hold on to them. 89 filters with no explanation; a list that forgets why he picked each stock; nothing reaches him at work; the decision to hold or exit happens in his head.</a:t>
            </a:r>
          </a:p>
        </p:txBody>
      </p:sp>
      <p:cxnSp>
        <p:nvCxnSpPr>
          <p:cNvPr id="106" name="Divider"/>
          <p:cNvCxnSpPr/>
          <p:nvPr/>
        </p:nvCxnSpPr>
        <p:spPr>
          <a:xfrm>
            <a:off x="4746413" y="3429000"/>
            <a:ext cx="3511973" cy="0"/>
          </a:xfrm>
          <a:prstGeom prst="line">
            <a:avLst/>
          </a:prstGeom>
          <a:ln w="9525">
            <a:solidFill>
              <a:srgbClr val="E1E3E8"/>
            </a:solidFill>
          </a:ln>
        </p:spPr>
      </p:cxnSp>
      <p:sp>
        <p:nvSpPr>
          <p:cNvPr id="107" name="AI problem title"/>
          <p:cNvSpPr txBox="1"/>
          <p:nvPr/>
        </p:nvSpPr>
        <p:spPr>
          <a:xfrm>
            <a:off x="4746413"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AI problem</a:t>
            </a:r>
          </a:p>
        </p:txBody>
      </p:sp>
      <p:sp>
        <p:nvSpPr>
          <p:cNvPr id="108" name="AI problem body"/>
          <p:cNvSpPr txBox="1"/>
          <p:nvPr/>
        </p:nvSpPr>
        <p:spPr>
          <a:xfrm>
            <a:off x="4746413"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Infer a screen from 3 example tickers · explain why each row matched from real values · re-check his reasons against fresh data 3× a day · detect chart patterns with measurable criteria · summarize overnight news on his names, with sources · turn corrections into proposed rule changes.</a:t>
            </a:r>
          </a:p>
        </p:txBody>
      </p:sp>
      <p:cxnSp>
        <p:nvCxnSpPr>
          <p:cNvPr id="109" name="Divider"/>
          <p:cNvCxnSpPr/>
          <p:nvPr/>
        </p:nvCxnSpPr>
        <p:spPr>
          <a:xfrm>
            <a:off x="8669866" y="3429000"/>
            <a:ext cx="3511973" cy="0"/>
          </a:xfrm>
          <a:prstGeom prst="line">
            <a:avLst/>
          </a:prstGeom>
          <a:ln w="9525">
            <a:solidFill>
              <a:srgbClr val="E1E3E8"/>
            </a:solidFill>
          </a:ln>
        </p:spPr>
      </p:cxnSp>
      <p:sp>
        <p:nvSpPr>
          <p:cNvPr id="110" name="Why AI is appropriate title"/>
          <p:cNvSpPr txBox="1"/>
          <p:nvPr/>
        </p:nvSpPr>
        <p:spPr>
          <a:xfrm>
            <a:off x="8669866"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Why AI is appropriate</a:t>
            </a:r>
          </a:p>
        </p:txBody>
      </p:sp>
      <p:sp>
        <p:nvSpPr>
          <p:cNvPr id="111" name="Why AI is appropriate body"/>
          <p:cNvSpPr txBox="1"/>
          <p:nvPr/>
        </p:nvSpPr>
        <p:spPr>
          <a:xfrm>
            <a:off x="8669866"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Translating examples and plain English into 89 filters, and summarizing many sources, are language tasks. Scanning 30 charts for the same setup is repetitive perception. Where a rule is enough we used a rule: the since-last-night diff, exit lines, quiet hours and the activity log are not AI.</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E98C64"/>
                </a:solidFill>
                <a:latin typeface="Helvetica Neue Medium"/>
                <a:cs typeface="Helvetica Neue Medium"/>
              </a:rPr>
              <a:t>FINVIZ AI SCREENER · THE PROBLEM</a:t>
            </a:r>
          </a:p>
        </p:txBody>
      </p:sp>
      <p:sp>
        <p:nvSpPr>
          <p:cNvPr id="102" name="Quot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000" spc="-40" dirty="0">
                <a:solidFill>
                  <a:srgbClr val="F5F5F7"/>
                </a:solidFill>
                <a:latin typeface="Helvetica Neue Medium"/>
                <a:cs typeface="Helvetica Neue Medium"/>
              </a:rPr>
              <a:t>“Once you close FinViz </a:t>
            </a:r>
            <a:r>
              <a:rPr lang="en-US" sz="4000" spc="-40" dirty="0">
                <a:solidFill>
                  <a:srgbClr val="E98C64"/>
                </a:solidFill>
                <a:latin typeface="Helvetica Neue Medium"/>
                <a:cs typeface="Helvetica Neue Medium"/>
              </a:rPr>
              <a:t>you get nothing</a:t>
            </a:r>
            <a:r>
              <a:rPr lang="en-US" sz="4000" spc="-40" dirty="0">
                <a:solidFill>
                  <a:srgbClr val="F5F5F7"/>
                </a:solidFill>
                <a:latin typeface="Helvetica Neue Medium"/>
                <a:cs typeface="Helvetica Neue Medium"/>
              </a:rPr>
              <a:t>, and setting up alerts today is quirky.”</a:t>
            </a:r>
          </a:p>
        </p:txBody>
      </p:sp>
      <p:sp>
        <p:nvSpPr>
          <p:cNvPr id="103" name="Attribution"/>
          <p:cNvSpPr txBox="1"/>
          <p:nvPr/>
        </p:nvSpPr>
        <p:spPr>
          <a:xfrm>
            <a:off x="822960" y="2788920"/>
            <a:ext cx="11358880" cy="274320"/>
          </a:xfrm>
          <a:prstGeom prst="rect">
            <a:avLst/>
          </a:prstGeom>
          <a:noFill/>
        </p:spPr>
        <p:txBody>
          <a:bodyPr wrap="square" lIns="0" tIns="0" rIns="0" bIns="0">
            <a:noAutofit/>
          </a:bodyPr>
          <a:lstStyle/>
          <a:p>
            <a:pPr algn="l">
              <a:lnSpc>
                <a:spcPct val="100000"/>
              </a:lnSpc>
            </a:pPr>
            <a:r>
              <a:rPr lang="en-US" sz="1300" spc="0" dirty="0">
                <a:solidFill>
                  <a:srgbClr val="A3A8B4"/>
                </a:solidFill>
                <a:latin typeface="Helvetica Neue Light"/>
                <a:cs typeface="Helvetica Neue Light"/>
              </a:rPr>
              <a:t>Design review feedback, Sept 30</a:t>
            </a:r>
          </a:p>
        </p:txBody>
      </p:sp>
      <p:sp>
        <p:nvSpPr>
          <p:cNvPr id="104" name="List label"/>
          <p:cNvSpPr txBox="1"/>
          <p:nvPr/>
        </p:nvSpPr>
        <p:spPr>
          <a:xfrm>
            <a:off x="822960" y="3703320"/>
            <a:ext cx="11358880" cy="274320"/>
          </a:xfrm>
          <a:prstGeom prst="rect">
            <a:avLst/>
          </a:prstGeom>
          <a:noFill/>
        </p:spPr>
        <p:txBody>
          <a:bodyPr wrap="square" lIns="0" tIns="0" rIns="0" bIns="0">
            <a:noAutofit/>
          </a:bodyPr>
          <a:lstStyle/>
          <a:p>
            <a:pPr algn="l">
              <a:lnSpc>
                <a:spcPct val="100000"/>
              </a:lnSpc>
            </a:pPr>
            <a:r>
              <a:rPr lang="en-US" sz="1100" spc="200" dirty="0">
                <a:solidFill>
                  <a:srgbClr val="6E7380"/>
                </a:solidFill>
                <a:latin typeface="Helvetica Neue Medium"/>
                <a:cs typeface="Helvetica Neue Medium"/>
              </a:rPr>
              <a:t>SEVEN PAINS, RANKED BY USER AND BUSINESS IMPACT</a:t>
            </a:r>
          </a:p>
        </p:txBody>
      </p:sp>
      <p:cxnSp>
        <p:nvCxnSpPr>
          <p:cNvPr id="105" name="Row 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Ideas can’t become a working, watched screen</a:t>
            </a:r>
          </a:p>
        </p:txBody>
      </p:sp>
      <p:cxnSp>
        <p:nvCxnSpPr>
          <p:cNvPr id="108" name="Row divider"/>
          <p:cNvCxnSpPr/>
          <p:nvPr/>
        </p:nvCxnSpPr>
        <p:spPr>
          <a:xfrm>
            <a:off x="822960" y="5102352"/>
            <a:ext cx="5427980" cy="0"/>
          </a:xfrm>
          <a:prstGeom prst="line">
            <a:avLst/>
          </a:prstGeom>
          <a:ln w="9525">
            <a:solidFill>
              <a:srgbClr val="2C2F38"/>
            </a:solidFill>
          </a:ln>
        </p:spPr>
      </p:cxnSp>
      <p:sp>
        <p:nvSpPr>
          <p:cNvPr id="109" name="Rank 2"/>
          <p:cNvSpPr txBox="1"/>
          <p:nvPr/>
        </p:nvSpPr>
        <p:spPr>
          <a:xfrm>
            <a:off x="8229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02</a:t>
            </a:r>
          </a:p>
        </p:txBody>
      </p:sp>
      <p:sp>
        <p:nvSpPr>
          <p:cNvPr id="110" name="Pain 2"/>
          <p:cNvSpPr txBox="1"/>
          <p:nvPr/>
        </p:nvSpPr>
        <p:spPr>
          <a:xfrm>
            <a:off x="13716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Blind during market hours</a:t>
            </a:r>
          </a:p>
        </p:txBody>
      </p:sp>
      <p:cxnSp>
        <p:nvCxnSpPr>
          <p:cNvPr id="111" name="Row divider"/>
          <p:cNvCxnSpPr/>
          <p:nvPr/>
        </p:nvCxnSpPr>
        <p:spPr>
          <a:xfrm>
            <a:off x="822960" y="6089904"/>
            <a:ext cx="5427980" cy="0"/>
          </a:xfrm>
          <a:prstGeom prst="line">
            <a:avLst/>
          </a:prstGeom>
          <a:ln w="9525">
            <a:solidFill>
              <a:srgbClr val="2C2F38"/>
            </a:solidFill>
          </a:ln>
        </p:spPr>
      </p:cxnSp>
      <p:sp>
        <p:nvSpPr>
          <p:cNvPr id="112" name="Rank 3"/>
          <p:cNvSpPr txBox="1"/>
          <p:nvPr/>
        </p:nvSpPr>
        <p:spPr>
          <a:xfrm>
            <a:off x="8229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03</a:t>
            </a:r>
          </a:p>
        </p:txBody>
      </p:sp>
      <p:sp>
        <p:nvSpPr>
          <p:cNvPr id="113" name="Pain 3"/>
          <p:cNvSpPr txBox="1"/>
          <p:nvPr/>
        </p:nvSpPr>
        <p:spPr>
          <a:xfrm>
            <a:off x="13716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Too many results, and no reason why they matched</a:t>
            </a:r>
          </a:p>
        </p:txBody>
      </p:sp>
      <p:cxnSp>
        <p:nvCxnSpPr>
          <p:cNvPr id="114" name="Row divider"/>
          <p:cNvCxnSpPr/>
          <p:nvPr/>
        </p:nvCxnSpPr>
        <p:spPr>
          <a:xfrm>
            <a:off x="822960" y="7077456"/>
            <a:ext cx="5427980" cy="0"/>
          </a:xfrm>
          <a:prstGeom prst="line">
            <a:avLst/>
          </a:prstGeom>
          <a:ln w="9525">
            <a:solidFill>
              <a:srgbClr val="2C2F38"/>
            </a:solidFill>
          </a:ln>
        </p:spPr>
      </p:cxnSp>
      <p:sp>
        <p:nvSpPr>
          <p:cNvPr id="115" name="Rank 4"/>
          <p:cNvSpPr txBox="1"/>
          <p:nvPr/>
        </p:nvSpPr>
        <p:spPr>
          <a:xfrm>
            <a:off x="822960" y="7260336"/>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04</a:t>
            </a:r>
          </a:p>
        </p:txBody>
      </p:sp>
      <p:sp>
        <p:nvSpPr>
          <p:cNvPr id="116" name="Pain 4"/>
          <p:cNvSpPr txBox="1"/>
          <p:nvPr/>
        </p:nvSpPr>
        <p:spPr>
          <a:xfrm>
            <a:off x="1371600" y="7260336"/>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Which metric matters, and what counts as good?</a:t>
            </a:r>
          </a:p>
        </p:txBody>
      </p:sp>
      <p:cxnSp>
        <p:nvCxnSpPr>
          <p:cNvPr id="117" name="Row divider"/>
          <p:cNvCxnSpPr/>
          <p:nvPr/>
        </p:nvCxnSpPr>
        <p:spPr>
          <a:xfrm>
            <a:off x="6753860" y="4114800"/>
            <a:ext cx="5427980" cy="0"/>
          </a:xfrm>
          <a:prstGeom prst="line">
            <a:avLst/>
          </a:prstGeom>
          <a:ln w="9525">
            <a:solidFill>
              <a:srgbClr val="2C2F38"/>
            </a:solidFill>
          </a:ln>
        </p:spPr>
      </p:cxnSp>
      <p:sp>
        <p:nvSpPr>
          <p:cNvPr id="118" name="Rank 5"/>
          <p:cNvSpPr txBox="1"/>
          <p:nvPr/>
        </p:nvSpPr>
        <p:spPr>
          <a:xfrm>
            <a:off x="67538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05</a:t>
            </a:r>
          </a:p>
        </p:txBody>
      </p:sp>
      <p:sp>
        <p:nvSpPr>
          <p:cNvPr id="119" name="Pain 5"/>
          <p:cNvSpPr txBox="1"/>
          <p:nvPr/>
        </p:nvSpPr>
        <p:spPr>
          <a:xfrm>
            <a:off x="73025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Filters in fixed buckets; exact values are Elite</a:t>
            </a:r>
          </a:p>
        </p:txBody>
      </p:sp>
      <p:cxnSp>
        <p:nvCxnSpPr>
          <p:cNvPr id="120" name="Row divider"/>
          <p:cNvCxnSpPr/>
          <p:nvPr/>
        </p:nvCxnSpPr>
        <p:spPr>
          <a:xfrm>
            <a:off x="6753860" y="5102352"/>
            <a:ext cx="5427980" cy="0"/>
          </a:xfrm>
          <a:prstGeom prst="line">
            <a:avLst/>
          </a:prstGeom>
          <a:ln w="9525">
            <a:solidFill>
              <a:srgbClr val="2C2F38"/>
            </a:solidFill>
          </a:ln>
        </p:spPr>
      </p:cxnSp>
      <p:sp>
        <p:nvSpPr>
          <p:cNvPr id="121" name="Rank 6"/>
          <p:cNvSpPr txBox="1"/>
          <p:nvPr/>
        </p:nvSpPr>
        <p:spPr>
          <a:xfrm>
            <a:off x="67538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06</a:t>
            </a:r>
          </a:p>
        </p:txBody>
      </p:sp>
      <p:sp>
        <p:nvSpPr>
          <p:cNvPr id="122" name="Pain 6"/>
          <p:cNvSpPr txBox="1"/>
          <p:nvPr/>
        </p:nvSpPr>
        <p:spPr>
          <a:xfrm>
            <a:off x="73025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Alert noise</a:t>
            </a:r>
          </a:p>
        </p:txBody>
      </p:sp>
      <p:cxnSp>
        <p:nvCxnSpPr>
          <p:cNvPr id="123" name="Row divider"/>
          <p:cNvCxnSpPr/>
          <p:nvPr/>
        </p:nvCxnSpPr>
        <p:spPr>
          <a:xfrm>
            <a:off x="6753860" y="6089904"/>
            <a:ext cx="5427980" cy="0"/>
          </a:xfrm>
          <a:prstGeom prst="line">
            <a:avLst/>
          </a:prstGeom>
          <a:ln w="9525">
            <a:solidFill>
              <a:srgbClr val="2C2F38"/>
            </a:solidFill>
          </a:ln>
        </p:spPr>
      </p:cxnSp>
      <p:sp>
        <p:nvSpPr>
          <p:cNvPr id="124" name="Rank 7"/>
          <p:cNvSpPr txBox="1"/>
          <p:nvPr/>
        </p:nvSpPr>
        <p:spPr>
          <a:xfrm>
            <a:off x="67538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07</a:t>
            </a:r>
          </a:p>
        </p:txBody>
      </p:sp>
      <p:sp>
        <p:nvSpPr>
          <p:cNvPr id="125" name="Pain 7"/>
          <p:cNvSpPr txBox="1"/>
          <p:nvPr/>
        </p:nvSpPr>
        <p:spPr>
          <a:xfrm>
            <a:off x="73025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Catalysts scattered across pages</a:t>
            </a:r>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DATA FOUNDATION</a:t>
            </a:r>
          </a:p>
        </p:txBody>
      </p:sp>
      <p:sp>
        <p:nvSpPr>
          <p:cNvPr id="3" name="Headline"/>
          <p:cNvSpPr txBox="1"/>
          <p:nvPr/>
        </p:nvSpPr>
        <p:spPr>
          <a:xfrm>
            <a:off x="822960" y="1371600"/>
            <a:ext cx="11358880" cy="8229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Designed for </a:t>
            </a:r>
            <a:r>
              <a:rPr lang="en-US" sz="4400" spc="-40" dirty="0">
                <a:solidFill>
                  <a:srgbClr val="B5531F"/>
                </a:solidFill>
                <a:latin typeface="Helvetica Neue Medium"/>
                <a:cs typeface="Helvetica Neue Medium"/>
              </a:rPr>
              <a:t>what the data supports</a:t>
            </a:r>
            <a:r>
              <a:rPr lang="en-US" sz="4400" spc="-40" dirty="0">
                <a:solidFill>
                  <a:srgbClr val="14161D"/>
                </a:solidFill>
                <a:latin typeface="Helvetica Neue Medium"/>
                <a:cs typeface="Helvetica Neue Medium"/>
              </a:rPr>
              <a:t>.</a:t>
            </a:r>
          </a:p>
        </p:txBody>
      </p:sp>
      <p:sp>
        <p:nvSpPr>
          <p:cNvPr id="4" name="Column label"/>
          <p:cNvSpPr txBox="1"/>
          <p:nvPr/>
        </p:nvSpPr>
        <p:spPr>
          <a:xfrm>
            <a:off x="822960" y="278892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DATA SOURCE</a:t>
            </a:r>
          </a:p>
        </p:txBody>
      </p:sp>
      <p:sp>
        <p:nvSpPr>
          <p:cNvPr id="5" name="Column label"/>
          <p:cNvSpPr txBox="1"/>
          <p:nvPr/>
        </p:nvSpPr>
        <p:spPr>
          <a:xfrm>
            <a:off x="3931920" y="2788920"/>
            <a:ext cx="27432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USED FOR</a:t>
            </a:r>
          </a:p>
        </p:txBody>
      </p:sp>
      <p:sp>
        <p:nvSpPr>
          <p:cNvPr id="6" name="Column label"/>
          <p:cNvSpPr txBox="1"/>
          <p:nvPr/>
        </p:nvSpPr>
        <p:spPr>
          <a:xfrm>
            <a:off x="6903720" y="2788920"/>
            <a:ext cx="20574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VOLUME</a:t>
            </a:r>
          </a:p>
        </p:txBody>
      </p:sp>
      <p:sp>
        <p:nvSpPr>
          <p:cNvPr id="7" name="Column label"/>
          <p:cNvSpPr txBox="1"/>
          <p:nvPr/>
        </p:nvSpPr>
        <p:spPr>
          <a:xfrm>
            <a:off x="9235440" y="2788920"/>
            <a:ext cx="2944368"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QUALITY AND CONSTRAINTS</a:t>
            </a:r>
          </a:p>
        </p:txBody>
      </p:sp>
      <p:cxnSp>
        <p:nvCxnSpPr>
          <p:cNvPr id="8" name="Divider"/>
          <p:cNvCxnSpPr/>
          <p:nvPr/>
        </p:nvCxnSpPr>
        <p:spPr>
          <a:xfrm>
            <a:off x="822960" y="3127248"/>
            <a:ext cx="11356848" cy="0"/>
          </a:xfrm>
          <a:prstGeom prst="line">
            <a:avLst/>
          </a:prstGeom>
          <a:ln w="9525">
            <a:solidFill>
              <a:srgbClr val="E1E3E8"/>
            </a:solidFill>
          </a:ln>
        </p:spPr>
      </p:cxnSp>
      <p:sp>
        <p:nvSpPr>
          <p:cNvPr id="9" name="Data row 1"/>
          <p:cNvSpPr txBox="1"/>
          <p:nvPr/>
        </p:nvSpPr>
        <p:spPr>
          <a:xfrm>
            <a:off x="822960" y="3273552"/>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Screener data</a:t>
            </a:r>
          </a:p>
          <a:p>
            <a:pPr algn="l">
              <a:lnSpc>
                <a:spcPct val="110000"/>
              </a:lnSpc>
              <a:spcAft>
                <a:spcPts val="300"/>
              </a:spcAft>
            </a:pPr>
            <a:r>
              <a:rPr lang="en-US" sz="1300" spc="0" dirty="0">
                <a:solidFill>
                  <a:srgbClr val="565C6B"/>
                </a:solidFill>
                <a:latin typeface="Helvetica Neue Light"/>
                <a:cs typeface="Helvetica Neue Light"/>
              </a:rPr>
              <a:t>89 filters, ~11,700 tickers</a:t>
            </a:r>
          </a:p>
        </p:txBody>
      </p:sp>
      <p:sp>
        <p:nvSpPr>
          <p:cNvPr id="10" name="Data row 1 col 2"/>
          <p:cNvSpPr txBox="1"/>
          <p:nvPr/>
        </p:nvSpPr>
        <p:spPr>
          <a:xfrm>
            <a:off x="3931920" y="3273552"/>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Examples → filters; why it matched; lenses</a:t>
            </a:r>
          </a:p>
        </p:txBody>
      </p:sp>
      <p:sp>
        <p:nvSpPr>
          <p:cNvPr id="11" name="Data row 1 col 3"/>
          <p:cNvSpPr txBox="1"/>
          <p:nvPr/>
        </p:nvSpPr>
        <p:spPr>
          <a:xfrm>
            <a:off x="6903720" y="3273552"/>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~11.7k tickers × 89 fields, daily; intraday on Elite</a:t>
            </a:r>
          </a:p>
        </p:txBody>
      </p:sp>
      <p:sp>
        <p:nvSpPr>
          <p:cNvPr id="12" name="Data row 1 col 4"/>
          <p:cNvSpPr txBox="1"/>
          <p:nvPr/>
        </p:nvSpPr>
        <p:spPr>
          <a:xfrm>
            <a:off x="9235440" y="3273552"/>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Free maps to preset buckets (marked ≈); exact values on Elite</a:t>
            </a:r>
          </a:p>
        </p:txBody>
      </p:sp>
      <p:cxnSp>
        <p:nvCxnSpPr>
          <p:cNvPr id="13" name="Divider"/>
          <p:cNvCxnSpPr/>
          <p:nvPr/>
        </p:nvCxnSpPr>
        <p:spPr>
          <a:xfrm>
            <a:off x="822960" y="4215384"/>
            <a:ext cx="11356848" cy="0"/>
          </a:xfrm>
          <a:prstGeom prst="line">
            <a:avLst/>
          </a:prstGeom>
          <a:ln w="9525">
            <a:solidFill>
              <a:srgbClr val="E1E3E8"/>
            </a:solidFill>
          </a:ln>
        </p:spPr>
      </p:cxnSp>
      <p:sp>
        <p:nvSpPr>
          <p:cNvPr id="14" name="Data row 2"/>
          <p:cNvSpPr txBox="1"/>
          <p:nvPr/>
        </p:nvSpPr>
        <p:spPr>
          <a:xfrm>
            <a:off x="822960" y="4343400"/>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Price and volume bars</a:t>
            </a:r>
          </a:p>
          <a:p>
            <a:pPr algn="l">
              <a:lnSpc>
                <a:spcPct val="110000"/>
              </a:lnSpc>
              <a:spcAft>
                <a:spcPts val="300"/>
              </a:spcAft>
            </a:pPr>
            <a:r>
              <a:rPr lang="en-US" sz="1300" spc="0" dirty="0">
                <a:solidFill>
                  <a:srgbClr val="565C6B"/>
                </a:solidFill>
                <a:latin typeface="Helvetica Neue Light"/>
                <a:cs typeface="Helvetica Neue Light"/>
              </a:rPr>
              <a:t>Daily bars per ticker</a:t>
            </a:r>
          </a:p>
        </p:txBody>
      </p:sp>
      <p:sp>
        <p:nvSpPr>
          <p:cNvPr id="15" name="Data row 2 col 2"/>
          <p:cNvSpPr txBox="1"/>
          <p:nvPr/>
        </p:nvSpPr>
        <p:spPr>
          <a:xfrm>
            <a:off x="3931920" y="4343400"/>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Pattern detection; 30-day replay; reasons checks</a:t>
            </a:r>
          </a:p>
        </p:txBody>
      </p:sp>
      <p:sp>
        <p:nvSpPr>
          <p:cNvPr id="16" name="Data row 2 col 3"/>
          <p:cNvSpPr txBox="1"/>
          <p:nvPr/>
        </p:nvSpPr>
        <p:spPr>
          <a:xfrm>
            <a:off x="6903720" y="4343400"/>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3+ years of daily bars per ticker</a:t>
            </a:r>
          </a:p>
        </p:txBody>
      </p:sp>
      <p:sp>
        <p:nvSpPr>
          <p:cNvPr id="17" name="Data row 2 col 4"/>
          <p:cNvSpPr txBox="1"/>
          <p:nvPr/>
        </p:nvSpPr>
        <p:spPr>
          <a:xfrm>
            <a:off x="9235440" y="4343400"/>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Gaps and splits: the detector says “not enough data” instead of guessing</a:t>
            </a:r>
          </a:p>
        </p:txBody>
      </p:sp>
      <p:cxnSp>
        <p:nvCxnSpPr>
          <p:cNvPr id="18" name="Divider"/>
          <p:cNvCxnSpPr/>
          <p:nvPr/>
        </p:nvCxnSpPr>
        <p:spPr>
          <a:xfrm>
            <a:off x="822960" y="5285232"/>
            <a:ext cx="11356848" cy="0"/>
          </a:xfrm>
          <a:prstGeom prst="line">
            <a:avLst/>
          </a:prstGeom>
          <a:ln w="9525">
            <a:solidFill>
              <a:srgbClr val="E1E3E8"/>
            </a:solidFill>
          </a:ln>
        </p:spPr>
      </p:cxnSp>
      <p:sp>
        <p:nvSpPr>
          <p:cNvPr id="19" name="Data row 3"/>
          <p:cNvSpPr txBox="1"/>
          <p:nvPr/>
        </p:nvSpPr>
        <p:spPr>
          <a:xfrm>
            <a:off x="822960" y="5413248"/>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Calendar, news, analysts</a:t>
            </a:r>
          </a:p>
          <a:p>
            <a:pPr algn="l">
              <a:lnSpc>
                <a:spcPct val="110000"/>
              </a:lnSpc>
              <a:spcAft>
                <a:spcPts val="300"/>
              </a:spcAft>
            </a:pPr>
            <a:r>
              <a:rPr lang="en-US" sz="1300" spc="0" dirty="0">
                <a:solidFill>
                  <a:srgbClr val="565C6B"/>
                </a:solidFill>
                <a:latin typeface="Helvetica Neue Light"/>
                <a:cs typeface="Helvetica Neue Light"/>
              </a:rPr>
              <a:t>Third-party feeds</a:t>
            </a:r>
          </a:p>
        </p:txBody>
      </p:sp>
      <p:sp>
        <p:nvSpPr>
          <p:cNvPr id="20" name="Data row 3 col 2"/>
          <p:cNvSpPr txBox="1"/>
          <p:nvPr/>
        </p:nvSpPr>
        <p:spPr>
          <a:xfrm>
            <a:off x="3931920" y="5413248"/>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Morning glance; insight cards; map notes</a:t>
            </a:r>
          </a:p>
        </p:txBody>
      </p:sp>
      <p:sp>
        <p:nvSpPr>
          <p:cNvPr id="21" name="Data row 3 col 3"/>
          <p:cNvSpPr txBox="1"/>
          <p:nvPr/>
        </p:nvSpPr>
        <p:spPr>
          <a:xfrm>
            <a:off x="6903720" y="5413248"/>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Dozens of sources a day</a:t>
            </a:r>
          </a:p>
        </p:txBody>
      </p:sp>
      <p:sp>
        <p:nvSpPr>
          <p:cNvPr id="22" name="Data row 3 col 4"/>
          <p:cNvSpPr txBox="1"/>
          <p:nvPr/>
        </p:nvSpPr>
        <p:spPr>
          <a:xfrm>
            <a:off x="9235440" y="5413248"/>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Every claim cites source and time; no cause inferred without a source</a:t>
            </a:r>
          </a:p>
        </p:txBody>
      </p:sp>
      <p:cxnSp>
        <p:nvCxnSpPr>
          <p:cNvPr id="23" name="Divider"/>
          <p:cNvCxnSpPr/>
          <p:nvPr/>
        </p:nvCxnSpPr>
        <p:spPr>
          <a:xfrm>
            <a:off x="822960" y="6355080"/>
            <a:ext cx="11356848" cy="0"/>
          </a:xfrm>
          <a:prstGeom prst="line">
            <a:avLst/>
          </a:prstGeom>
          <a:ln w="9525">
            <a:solidFill>
              <a:srgbClr val="E1E3E8"/>
            </a:solidFill>
          </a:ln>
        </p:spPr>
      </p:cxnSp>
      <p:sp>
        <p:nvSpPr>
          <p:cNvPr id="24" name="Data row 4"/>
          <p:cNvSpPr txBox="1"/>
          <p:nvPr/>
        </p:nvSpPr>
        <p:spPr>
          <a:xfrm>
            <a:off x="822960" y="6483096"/>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His data, opt-in</a:t>
            </a:r>
          </a:p>
          <a:p>
            <a:pPr algn="l">
              <a:lnSpc>
                <a:spcPct val="110000"/>
              </a:lnSpc>
              <a:spcAft>
                <a:spcPts val="300"/>
              </a:spcAft>
            </a:pPr>
            <a:r>
              <a:rPr lang="en-US" sz="1300" spc="0" dirty="0">
                <a:solidFill>
                  <a:srgbClr val="565C6B"/>
                </a:solidFill>
                <a:latin typeface="Helvetica Neue Light"/>
                <a:cs typeface="Helvetica Neue Light"/>
              </a:rPr>
              <a:t>Screens, reasons, notes, exit lines</a:t>
            </a:r>
          </a:p>
        </p:txBody>
      </p:sp>
      <p:sp>
        <p:nvSpPr>
          <p:cNvPr id="25" name="Data row 4 col 2"/>
          <p:cNvSpPr txBox="1"/>
          <p:nvPr/>
        </p:nvSpPr>
        <p:spPr>
          <a:xfrm>
            <a:off x="3931920" y="6483096"/>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Personal rules; what to watch and when</a:t>
            </a:r>
          </a:p>
        </p:txBody>
      </p:sp>
      <p:sp>
        <p:nvSpPr>
          <p:cNvPr id="26" name="Data row 4 col 3"/>
          <p:cNvSpPr txBox="1"/>
          <p:nvPr/>
        </p:nvSpPr>
        <p:spPr>
          <a:xfrm>
            <a:off x="6903720" y="6483096"/>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Small, per user</a:t>
            </a:r>
          </a:p>
        </p:txBody>
      </p:sp>
      <p:sp>
        <p:nvSpPr>
          <p:cNvPr id="27" name="Data row 4 col 4"/>
          <p:cNvSpPr txBox="1"/>
          <p:nvPr/>
        </p:nvSpPr>
        <p:spPr>
          <a:xfrm>
            <a:off x="9235440" y="6483096"/>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Visible, editable, deletable; never turned into recommendations</a:t>
            </a:r>
          </a:p>
        </p:txBody>
      </p:sp>
      <p:cxnSp>
        <p:nvCxnSpPr>
          <p:cNvPr id="28" name="Divider"/>
          <p:cNvCxnSpPr/>
          <p:nvPr/>
        </p:nvCxnSpPr>
        <p:spPr>
          <a:xfrm>
            <a:off x="822960" y="7424927"/>
            <a:ext cx="11356848" cy="0"/>
          </a:xfrm>
          <a:prstGeom prst="line">
            <a:avLst/>
          </a:prstGeom>
          <a:ln w="9525">
            <a:solidFill>
              <a:srgbClr val="E1E3E8"/>
            </a:solidFill>
          </a:ln>
        </p:spPr>
      </p:cxnSp>
      <p:sp>
        <p:nvSpPr>
          <p:cNvPr id="29" name="Data row 5"/>
          <p:cNvSpPr txBox="1"/>
          <p:nvPr/>
        </p:nvSpPr>
        <p:spPr>
          <a:xfrm>
            <a:off x="822960" y="7552944"/>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Labels</a:t>
            </a:r>
          </a:p>
          <a:p>
            <a:pPr algn="l">
              <a:lnSpc>
                <a:spcPct val="110000"/>
              </a:lnSpc>
              <a:spcAft>
                <a:spcPts val="300"/>
              </a:spcAft>
            </a:pPr>
            <a:r>
              <a:rPr lang="en-US" sz="1300" spc="0" dirty="0">
                <a:solidFill>
                  <a:srgbClr val="565C6B"/>
                </a:solidFill>
                <a:latin typeface="Helvetica Neue Light"/>
                <a:cs typeface="Helvetica Neue Light"/>
              </a:rPr>
              <a:t>His corrections + weekly audits</a:t>
            </a:r>
          </a:p>
        </p:txBody>
      </p:sp>
      <p:sp>
        <p:nvSpPr>
          <p:cNvPr id="30" name="Data row 5 col 2"/>
          <p:cNvSpPr txBox="1"/>
          <p:nvPr/>
        </p:nvSpPr>
        <p:spPr>
          <a:xfrm>
            <a:off x="3931920" y="7552944"/>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Evaluate and tune detection and alerts</a:t>
            </a:r>
          </a:p>
        </p:txBody>
      </p:sp>
      <p:sp>
        <p:nvSpPr>
          <p:cNvPr id="31" name="Data row 5 col 3"/>
          <p:cNvSpPr txBox="1"/>
          <p:nvPr/>
        </p:nvSpPr>
        <p:spPr>
          <a:xfrm>
            <a:off x="6903720" y="7552944"/>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Grows with use; 50 detections audited a week</a:t>
            </a:r>
          </a:p>
        </p:txBody>
      </p:sp>
      <p:sp>
        <p:nvSpPr>
          <p:cNvPr id="32" name="Data row 5 col 4"/>
          <p:cNvSpPr txBox="1"/>
          <p:nvPr/>
        </p:nvSpPr>
        <p:spPr>
          <a:xfrm>
            <a:off x="9235440" y="7552944"/>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Corrections skew toward noise; sampled audits keep the error rate fair</a:t>
            </a:r>
          </a:p>
        </p:txBody>
      </p:sp>
      <p:cxnSp>
        <p:nvCxnSpPr>
          <p:cNvPr id="33" name="Divider"/>
          <p:cNvCxnSpPr/>
          <p:nvPr/>
        </p:nvCxnSpPr>
        <p:spPr>
          <a:xfrm>
            <a:off x="822960" y="8494776"/>
            <a:ext cx="11356848" cy="0"/>
          </a:xfrm>
          <a:prstGeom prst="line">
            <a:avLst/>
          </a:prstGeom>
          <a:ln w="9525">
            <a:solidFill>
              <a:srgbClr val="E1E3E8"/>
            </a:solidFill>
          </a:ln>
        </p:spPr>
      </p:cxnSp>
      <p:sp>
        <p:nvSpPr>
          <p:cNvPr id="34" name="Source"/>
          <p:cNvSpPr txBox="1"/>
          <p:nvPr/>
        </p:nvSpPr>
        <p:spPr>
          <a:xfrm>
            <a:off x="822960" y="864108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Volumes are design estimates to validate with FinViz engineering. Every AI output shows the data behind it and its time; when data is missing, the product says so.</a:t>
            </a:r>
          </a:p>
        </p:txBody>
      </p:sp>
      <p:pic>
        <p:nvPicPr>
          <p:cNvPr id="3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One trade, </a:t>
            </a:r>
            <a:r>
              <a:rPr lang="en-US" sz="6000" spc="-40" dirty="0">
                <a:solidFill>
                  <a:srgbClr val="E98C64"/>
                </a:solidFill>
                <a:latin typeface="Helvetica Neue Medium"/>
                <a:cs typeface="Helvetica Neue Medium"/>
              </a:rPr>
              <a:t>one trading day</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first: one trade followed through one trading day, Monday evening to Sunday. 19 screens designed in the FinViz dark theme, built only from the design system’s tokens. Purple marks AI and nothing else.</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trade, followed through </a:t>
            </a:r>
            <a:r>
              <a:rPr lang="en-US" sz="4000" spc="-40" dirty="0">
                <a:solidFill>
                  <a:srgbClr val="B5531F"/>
                </a:solidFill>
                <a:latin typeface="Helvetica Neue Medium"/>
                <a:cs typeface="Helvetica Neue Medium"/>
              </a:rPr>
              <a:t>one trading day</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Growth Gary, a swing trader with a day job, finds an idea at night, checks it before work, gets one alert while he’s busy, and decides after the close whether his reasons still hold. FinViz watches and explains at the right moment; Gary makes every decision, in his own broker.</a:t>
            </a:r>
          </a:p>
        </p:txBody>
      </p:sp>
      <p:cxnSp>
        <p:nvCxnSpPr>
          <p:cNvPr id="104" name="Divider"/>
          <p:cNvCxnSpPr/>
          <p:nvPr/>
        </p:nvCxnSpPr>
        <p:spPr>
          <a:xfrm>
            <a:off x="822960" y="4892040"/>
            <a:ext cx="11358880" cy="0"/>
          </a:xfrm>
          <a:prstGeom prst="line">
            <a:avLst/>
          </a:prstGeom>
          <a:ln w="28575">
            <a:solidFill>
              <a:srgbClr val="B5531F"/>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8–10 PM</a:t>
            </a:r>
          </a:p>
          <a:p>
            <a:pPr algn="l">
              <a:lnSpc>
                <a:spcPct val="105000"/>
              </a:lnSpc>
              <a:spcAft>
                <a:spcPts val="350"/>
              </a:spcAft>
            </a:pPr>
            <a:r>
              <a:rPr lang="en-US" sz="1700" spc="0" dirty="0">
                <a:solidFill>
                  <a:srgbClr val="14161D"/>
                </a:solidFill>
                <a:latin typeface="Helvetica Neue Medium"/>
                <a:cs typeface="Helvetica Neue Medium"/>
              </a:rPr>
              <a:t>Evening</a:t>
            </a:r>
          </a:p>
          <a:p>
            <a:pPr algn="l">
              <a:lnSpc>
                <a:spcPct val="125000"/>
              </a:lnSpc>
              <a:spcAft>
                <a:spcPts val="350"/>
              </a:spcAft>
            </a:pPr>
            <a:r>
              <a:rPr lang="en-US" sz="1550" spc="0" dirty="0">
                <a:solidFill>
                  <a:srgbClr val="565C6B"/>
                </a:solidFill>
                <a:latin typeface="Helvetica Neue Light"/>
                <a:cs typeface="Helvetica Neue Light"/>
              </a:rPr>
              <a:t>Reviews what’s new, pins 3–5 names, taps “Watch these for me”</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WHILE HE SLEEPS</a:t>
            </a:r>
          </a:p>
          <a:p>
            <a:pPr algn="l">
              <a:lnSpc>
                <a:spcPct val="105000"/>
              </a:lnSpc>
              <a:spcAft>
                <a:spcPts val="350"/>
              </a:spcAft>
            </a:pPr>
            <a:r>
              <a:rPr lang="en-US" sz="1700" spc="0" dirty="0">
                <a:solidFill>
                  <a:srgbClr val="14161D"/>
                </a:solidFill>
                <a:latin typeface="Helvetica Neue Medium"/>
                <a:cs typeface="Helvetica Neue Medium"/>
              </a:rPr>
              <a:t>Overnight</a:t>
            </a:r>
          </a:p>
          <a:p>
            <a:pPr algn="l">
              <a:lnSpc>
                <a:spcPct val="125000"/>
              </a:lnSpc>
              <a:spcAft>
                <a:spcPts val="350"/>
              </a:spcAft>
            </a:pPr>
            <a:r>
              <a:rPr lang="en-US" sz="1550" spc="0" dirty="0">
                <a:solidFill>
                  <a:srgbClr val="565C6B"/>
                </a:solidFill>
                <a:latin typeface="Helvetica Neue Light"/>
                <a:cs typeface="Helvetica Neue Light"/>
              </a:rPr>
              <a:t>Nothing to do; a bounded agent re-checks his names</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7:30 AM</a:t>
            </a:r>
          </a:p>
          <a:p>
            <a:pPr algn="l">
              <a:lnSpc>
                <a:spcPct val="105000"/>
              </a:lnSpc>
              <a:spcAft>
                <a:spcPts val="350"/>
              </a:spcAft>
            </a:pPr>
            <a:r>
              <a:rPr lang="en-US" sz="1700" spc="0" dirty="0">
                <a:solidFill>
                  <a:srgbClr val="14161D"/>
                </a:solidFill>
                <a:latin typeface="Helvetica Neue Medium"/>
                <a:cs typeface="Helvetica Neue Medium"/>
              </a:rPr>
              <a:t>Before work</a:t>
            </a:r>
          </a:p>
          <a:p>
            <a:pPr algn="l">
              <a:lnSpc>
                <a:spcPct val="125000"/>
              </a:lnSpc>
              <a:spcAft>
                <a:spcPts val="350"/>
              </a:spcAft>
            </a:pPr>
            <a:r>
              <a:rPr lang="en-US" sz="1550" spc="0" dirty="0">
                <a:solidFill>
                  <a:srgbClr val="565C6B"/>
                </a:solidFill>
                <a:latin typeface="Helvetica Neue Light"/>
                <a:cs typeface="Helvetica Neue Light"/>
              </a:rPr>
              <a:t>Reads one short note</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9:30 AM–4 PM</a:t>
            </a:r>
          </a:p>
          <a:p>
            <a:pPr algn="l">
              <a:lnSpc>
                <a:spcPct val="105000"/>
              </a:lnSpc>
              <a:spcAft>
                <a:spcPts val="350"/>
              </a:spcAft>
            </a:pPr>
            <a:r>
              <a:rPr lang="en-US" sz="1700" spc="0" dirty="0">
                <a:solidFill>
                  <a:srgbClr val="14161D"/>
                </a:solidFill>
                <a:latin typeface="Helvetica Neue Medium"/>
                <a:cs typeface="Helvetica Neue Medium"/>
              </a:rPr>
              <a:t>During work</a:t>
            </a:r>
          </a:p>
          <a:p>
            <a:pPr algn="l">
              <a:lnSpc>
                <a:spcPct val="125000"/>
              </a:lnSpc>
              <a:spcAft>
                <a:spcPts val="350"/>
              </a:spcAft>
            </a:pPr>
            <a:r>
              <a:rPr lang="en-US" sz="1550" spc="0" dirty="0">
                <a:solidFill>
                  <a:srgbClr val="565C6B"/>
                </a:solidFill>
                <a:latin typeface="Helvetica Neue Light"/>
                <a:cs typeface="Helvetica Neue Light"/>
              </a:rPr>
              <a:t>Taps one alert, if it comes</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4:30 PM</a:t>
            </a:r>
          </a:p>
          <a:p>
            <a:pPr algn="l">
              <a:lnSpc>
                <a:spcPct val="105000"/>
              </a:lnSpc>
              <a:spcAft>
                <a:spcPts val="350"/>
              </a:spcAft>
            </a:pPr>
            <a:r>
              <a:rPr lang="en-US" sz="1700" spc="0" dirty="0">
                <a:solidFill>
                  <a:srgbClr val="14161D"/>
                </a:solidFill>
                <a:latin typeface="Helvetica Neue Medium"/>
                <a:cs typeface="Helvetica Neue Medium"/>
              </a:rPr>
              <a:t>After the close</a:t>
            </a:r>
          </a:p>
          <a:p>
            <a:pPr algn="l">
              <a:lnSpc>
                <a:spcPct val="125000"/>
              </a:lnSpc>
              <a:spcAft>
                <a:spcPts val="350"/>
              </a:spcAft>
            </a:pPr>
            <a:r>
              <a:rPr lang="en-US" sz="1550" spc="0" dirty="0">
                <a:solidFill>
                  <a:srgbClr val="565C6B"/>
                </a:solidFill>
                <a:latin typeface="Helvetica Neue Light"/>
                <a:cs typeface="Helvetica Neue Light"/>
              </a:rPr>
              <a:t>Decides: hold, or exit in his own broker</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whole trading day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trade, Monday evening to Sunday. Every screen is designed in hi-fi and linked as a clickable prototype.</a:t>
            </a:r>
          </a:p>
        </p:txBody>
      </p:sp>
      <p:pic>
        <p:nvPicPr>
          <p:cNvPr id="104" name="Hi-fi screen"/>
          <p:cNvPicPr>
            <a:picLocks noChangeAspect="1"/>
          </p:cNvPicPr>
          <p:nvPr/>
        </p:nvPicPr>
        <p:blipFill>
          <a:blip r:embed="rId2"/>
          <a:srcRect b="10598"/>
          <a:stretch>
            <a:fillRect/>
          </a:stretch>
        </p:blipFill>
        <p:spPr>
          <a:xfrm>
            <a:off x="822960" y="2011680"/>
            <a:ext cx="2140102" cy="1097488"/>
          </a:xfrm>
          <a:prstGeom prst="rect">
            <a:avLst/>
          </a:prstGeom>
          <a:ln w="9525">
            <a:solidFill>
              <a:srgbClr val="D3D6DC"/>
            </a:solidFill>
          </a:ln>
        </p:spPr>
      </p:pic>
      <p:sp>
        <p:nvSpPr>
          <p:cNvPr id="105" name="Cap 1"/>
          <p:cNvSpPr txBox="1"/>
          <p:nvPr/>
        </p:nvSpPr>
        <p:spPr>
          <a:xfrm>
            <a:off x="822960"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Show It</a:t>
            </a:r>
          </a:p>
          <a:p>
            <a:pPr algn="l">
              <a:lnSpc>
                <a:spcPct val="100000"/>
              </a:lnSpc>
              <a:spcAft>
                <a:spcPts val="0"/>
              </a:spcAft>
            </a:pPr>
            <a:r>
              <a:rPr lang="en-US" sz="950" spc="0" dirty="0">
                <a:solidFill>
                  <a:srgbClr val="858A97"/>
                </a:solidFill>
                <a:latin typeface="Helvetica Neue Light"/>
                <a:cs typeface="Helvetica Neue Light"/>
              </a:rPr>
              <a:t>Mon 8:05 PM</a:t>
            </a:r>
          </a:p>
        </p:txBody>
      </p:sp>
      <p:pic>
        <p:nvPicPr>
          <p:cNvPr id="106" name="Hi-fi screen"/>
          <p:cNvPicPr>
            <a:picLocks noChangeAspect="1"/>
          </p:cNvPicPr>
          <p:nvPr/>
        </p:nvPicPr>
        <p:blipFill>
          <a:blip r:embed="rId3"/>
          <a:stretch>
            <a:fillRect/>
          </a:stretch>
        </p:blipFill>
        <p:spPr>
          <a:xfrm>
            <a:off x="3127654" y="2011680"/>
            <a:ext cx="2140102" cy="1097488"/>
          </a:xfrm>
          <a:prstGeom prst="rect">
            <a:avLst/>
          </a:prstGeom>
          <a:ln w="9525">
            <a:solidFill>
              <a:srgbClr val="D3D6DC"/>
            </a:solidFill>
          </a:ln>
        </p:spPr>
      </p:pic>
      <p:sp>
        <p:nvSpPr>
          <p:cNvPr id="107" name="Cap 2"/>
          <p:cNvSpPr txBox="1"/>
          <p:nvPr/>
        </p:nvSpPr>
        <p:spPr>
          <a:xfrm>
            <a:off x="3127654"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Since last night</a:t>
            </a:r>
          </a:p>
          <a:p>
            <a:pPr algn="l">
              <a:lnSpc>
                <a:spcPct val="100000"/>
              </a:lnSpc>
              <a:spcAft>
                <a:spcPts val="0"/>
              </a:spcAft>
            </a:pPr>
            <a:r>
              <a:rPr lang="en-US" sz="950" spc="0" dirty="0">
                <a:solidFill>
                  <a:srgbClr val="858A97"/>
                </a:solidFill>
                <a:latin typeface="Helvetica Neue Light"/>
                <a:cs typeface="Helvetica Neue Light"/>
              </a:rPr>
              <a:t>Mon 8:10 PM</a:t>
            </a:r>
          </a:p>
        </p:txBody>
      </p:sp>
      <p:pic>
        <p:nvPicPr>
          <p:cNvPr id="108" name="Hi-fi screen"/>
          <p:cNvPicPr>
            <a:picLocks noChangeAspect="1"/>
          </p:cNvPicPr>
          <p:nvPr/>
        </p:nvPicPr>
        <p:blipFill>
          <a:blip r:embed="rId4"/>
          <a:srcRect b="13020"/>
          <a:stretch>
            <a:fillRect/>
          </a:stretch>
        </p:blipFill>
        <p:spPr>
          <a:xfrm>
            <a:off x="5432348" y="2011680"/>
            <a:ext cx="2140102" cy="1097488"/>
          </a:xfrm>
          <a:prstGeom prst="rect">
            <a:avLst/>
          </a:prstGeom>
          <a:ln w="9525">
            <a:solidFill>
              <a:srgbClr val="D3D6DC"/>
            </a:solidFill>
          </a:ln>
        </p:spPr>
      </p:pic>
      <p:sp>
        <p:nvSpPr>
          <p:cNvPr id="109" name="Cap 3"/>
          <p:cNvSpPr txBox="1"/>
          <p:nvPr/>
        </p:nvSpPr>
        <p:spPr>
          <a:xfrm>
            <a:off x="5432348"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Lens grid</a:t>
            </a:r>
          </a:p>
          <a:p>
            <a:pPr algn="l">
              <a:lnSpc>
                <a:spcPct val="100000"/>
              </a:lnSpc>
              <a:spcAft>
                <a:spcPts val="0"/>
              </a:spcAft>
            </a:pPr>
            <a:r>
              <a:rPr lang="en-US" sz="950" spc="0" dirty="0">
                <a:solidFill>
                  <a:srgbClr val="858A97"/>
                </a:solidFill>
                <a:latin typeface="Helvetica Neue Light"/>
                <a:cs typeface="Helvetica Neue Light"/>
              </a:rPr>
              <a:t>Mon 8:20 PM</a:t>
            </a:r>
          </a:p>
        </p:txBody>
      </p:sp>
      <p:pic>
        <p:nvPicPr>
          <p:cNvPr id="110" name="Hi-fi screen"/>
          <p:cNvPicPr>
            <a:picLocks noChangeAspect="1"/>
          </p:cNvPicPr>
          <p:nvPr/>
        </p:nvPicPr>
        <p:blipFill>
          <a:blip r:embed="rId5"/>
          <a:srcRect b="14629"/>
          <a:stretch>
            <a:fillRect/>
          </a:stretch>
        </p:blipFill>
        <p:spPr>
          <a:xfrm>
            <a:off x="7737043" y="2011680"/>
            <a:ext cx="2140102" cy="1097488"/>
          </a:xfrm>
          <a:prstGeom prst="rect">
            <a:avLst/>
          </a:prstGeom>
          <a:ln w="9525">
            <a:solidFill>
              <a:srgbClr val="D3D6DC"/>
            </a:solidFill>
          </a:ln>
        </p:spPr>
      </p:pic>
      <p:sp>
        <p:nvSpPr>
          <p:cNvPr id="111" name="Cap 4"/>
          <p:cNvSpPr txBox="1"/>
          <p:nvPr/>
        </p:nvSpPr>
        <p:spPr>
          <a:xfrm>
            <a:off x="7737043"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Linked compare</a:t>
            </a:r>
          </a:p>
          <a:p>
            <a:pPr algn="l">
              <a:lnSpc>
                <a:spcPct val="100000"/>
              </a:lnSpc>
              <a:spcAft>
                <a:spcPts val="0"/>
              </a:spcAft>
            </a:pPr>
            <a:r>
              <a:rPr lang="en-US" sz="950" spc="0" dirty="0">
                <a:solidFill>
                  <a:srgbClr val="858A97"/>
                </a:solidFill>
                <a:latin typeface="Helvetica Neue Light"/>
                <a:cs typeface="Helvetica Neue Light"/>
              </a:rPr>
              <a:t>Mon 8:26 PM</a:t>
            </a:r>
          </a:p>
        </p:txBody>
      </p:sp>
      <p:pic>
        <p:nvPicPr>
          <p:cNvPr id="112" name="Hi-fi screen"/>
          <p:cNvPicPr>
            <a:picLocks noChangeAspect="1"/>
          </p:cNvPicPr>
          <p:nvPr/>
        </p:nvPicPr>
        <p:blipFill>
          <a:blip r:embed="rId6"/>
          <a:srcRect b="16558"/>
          <a:stretch>
            <a:fillRect/>
          </a:stretch>
        </p:blipFill>
        <p:spPr>
          <a:xfrm>
            <a:off x="10041737" y="2011680"/>
            <a:ext cx="2140102" cy="1097488"/>
          </a:xfrm>
          <a:prstGeom prst="rect">
            <a:avLst/>
          </a:prstGeom>
          <a:ln w="9525">
            <a:solidFill>
              <a:srgbClr val="D3D6DC"/>
            </a:solidFill>
          </a:ln>
        </p:spPr>
      </p:pic>
      <p:sp>
        <p:nvSpPr>
          <p:cNvPr id="113" name="Cap 5"/>
          <p:cNvSpPr txBox="1"/>
          <p:nvPr/>
        </p:nvSpPr>
        <p:spPr>
          <a:xfrm>
            <a:off x="10041737"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Reasons ledger</a:t>
            </a:r>
          </a:p>
          <a:p>
            <a:pPr algn="l">
              <a:lnSpc>
                <a:spcPct val="100000"/>
              </a:lnSpc>
              <a:spcAft>
                <a:spcPts val="0"/>
              </a:spcAft>
            </a:pPr>
            <a:r>
              <a:rPr lang="en-US" sz="950" spc="0" dirty="0">
                <a:solidFill>
                  <a:srgbClr val="858A97"/>
                </a:solidFill>
                <a:latin typeface="Helvetica Neue Light"/>
                <a:cs typeface="Helvetica Neue Light"/>
              </a:rPr>
              <a:t>Mon 8:32 PM</a:t>
            </a:r>
          </a:p>
        </p:txBody>
      </p:sp>
      <p:pic>
        <p:nvPicPr>
          <p:cNvPr id="114" name="Hi-fi screen"/>
          <p:cNvPicPr>
            <a:picLocks noChangeAspect="1"/>
          </p:cNvPicPr>
          <p:nvPr/>
        </p:nvPicPr>
        <p:blipFill>
          <a:blip r:embed="rId7"/>
          <a:srcRect b="12088"/>
          <a:stretch>
            <a:fillRect/>
          </a:stretch>
        </p:blipFill>
        <p:spPr>
          <a:xfrm>
            <a:off x="822960" y="3602944"/>
            <a:ext cx="2140102" cy="1097488"/>
          </a:xfrm>
          <a:prstGeom prst="rect">
            <a:avLst/>
          </a:prstGeom>
          <a:ln w="9525">
            <a:solidFill>
              <a:srgbClr val="D3D6DC"/>
            </a:solidFill>
          </a:ln>
        </p:spPr>
      </p:pic>
      <p:sp>
        <p:nvSpPr>
          <p:cNvPr id="115" name="Cap 6"/>
          <p:cNvSpPr txBox="1"/>
          <p:nvPr/>
        </p:nvSpPr>
        <p:spPr>
          <a:xfrm>
            <a:off x="822960"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Watch these for me</a:t>
            </a:r>
          </a:p>
          <a:p>
            <a:pPr algn="l">
              <a:lnSpc>
                <a:spcPct val="100000"/>
              </a:lnSpc>
              <a:spcAft>
                <a:spcPts val="0"/>
              </a:spcAft>
            </a:pPr>
            <a:r>
              <a:rPr lang="en-US" sz="950" spc="0" dirty="0">
                <a:solidFill>
                  <a:srgbClr val="858A97"/>
                </a:solidFill>
                <a:latin typeface="Helvetica Neue Light"/>
                <a:cs typeface="Helvetica Neue Light"/>
              </a:rPr>
              <a:t>Mon 8:40 PM</a:t>
            </a:r>
          </a:p>
        </p:txBody>
      </p:sp>
      <p:pic>
        <p:nvPicPr>
          <p:cNvPr id="116" name="Hi-fi screen"/>
          <p:cNvPicPr>
            <a:picLocks noChangeAspect="1"/>
          </p:cNvPicPr>
          <p:nvPr/>
        </p:nvPicPr>
        <p:blipFill>
          <a:blip r:embed="rId8"/>
          <a:srcRect b="25932"/>
          <a:stretch>
            <a:fillRect/>
          </a:stretch>
        </p:blipFill>
        <p:spPr>
          <a:xfrm>
            <a:off x="3127654" y="3602944"/>
            <a:ext cx="2140102" cy="1097488"/>
          </a:xfrm>
          <a:prstGeom prst="rect">
            <a:avLst/>
          </a:prstGeom>
          <a:ln w="9525">
            <a:solidFill>
              <a:srgbClr val="D3D6DC"/>
            </a:solidFill>
          </a:ln>
        </p:spPr>
      </p:pic>
      <p:sp>
        <p:nvSpPr>
          <p:cNvPr id="117" name="Cap 7"/>
          <p:cNvSpPr txBox="1"/>
          <p:nvPr/>
        </p:nvSpPr>
        <p:spPr>
          <a:xfrm>
            <a:off x="3127654"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Morning glance</a:t>
            </a:r>
          </a:p>
          <a:p>
            <a:pPr algn="l">
              <a:lnSpc>
                <a:spcPct val="100000"/>
              </a:lnSpc>
              <a:spcAft>
                <a:spcPts val="0"/>
              </a:spcAft>
            </a:pPr>
            <a:r>
              <a:rPr lang="en-US" sz="950" spc="0" dirty="0">
                <a:solidFill>
                  <a:srgbClr val="858A97"/>
                </a:solidFill>
                <a:latin typeface="Helvetica Neue Light"/>
                <a:cs typeface="Helvetica Neue Light"/>
              </a:rPr>
              <a:t>Tue 7:30 AM</a:t>
            </a:r>
          </a:p>
        </p:txBody>
      </p:sp>
      <p:pic>
        <p:nvPicPr>
          <p:cNvPr id="118" name="Hi-fi screen"/>
          <p:cNvPicPr>
            <a:picLocks noChangeAspect="1"/>
          </p:cNvPicPr>
          <p:nvPr/>
        </p:nvPicPr>
        <p:blipFill>
          <a:blip r:embed="rId9"/>
          <a:srcRect b="16369"/>
          <a:stretch>
            <a:fillRect/>
          </a:stretch>
        </p:blipFill>
        <p:spPr>
          <a:xfrm>
            <a:off x="5432348" y="3602944"/>
            <a:ext cx="2140102" cy="1097488"/>
          </a:xfrm>
          <a:prstGeom prst="rect">
            <a:avLst/>
          </a:prstGeom>
          <a:ln w="9525">
            <a:solidFill>
              <a:srgbClr val="D3D6DC"/>
            </a:solidFill>
          </a:ln>
        </p:spPr>
      </p:pic>
      <p:sp>
        <p:nvSpPr>
          <p:cNvPr id="119" name="Cap 8"/>
          <p:cNvSpPr txBox="1"/>
          <p:nvPr/>
        </p:nvSpPr>
        <p:spPr>
          <a:xfrm>
            <a:off x="5432348"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Why marked</a:t>
            </a:r>
          </a:p>
          <a:p>
            <a:pPr algn="l">
              <a:lnSpc>
                <a:spcPct val="100000"/>
              </a:lnSpc>
              <a:spcAft>
                <a:spcPts val="0"/>
              </a:spcAft>
            </a:pPr>
            <a:r>
              <a:rPr lang="en-US" sz="950" spc="0" dirty="0">
                <a:solidFill>
                  <a:srgbClr val="858A97"/>
                </a:solidFill>
                <a:latin typeface="Helvetica Neue Light"/>
                <a:cs typeface="Helvetica Neue Light"/>
              </a:rPr>
              <a:t>Tue 7:40 AM</a:t>
            </a:r>
          </a:p>
        </p:txBody>
      </p:sp>
      <p:pic>
        <p:nvPicPr>
          <p:cNvPr id="120" name="Hi-fi screen"/>
          <p:cNvPicPr>
            <a:picLocks noChangeAspect="1"/>
          </p:cNvPicPr>
          <p:nvPr/>
        </p:nvPicPr>
        <p:blipFill>
          <a:blip r:embed="rId10"/>
          <a:srcRect b="44183"/>
          <a:stretch>
            <a:fillRect/>
          </a:stretch>
        </p:blipFill>
        <p:spPr>
          <a:xfrm>
            <a:off x="7737043" y="3602944"/>
            <a:ext cx="2140102" cy="1097488"/>
          </a:xfrm>
          <a:prstGeom prst="rect">
            <a:avLst/>
          </a:prstGeom>
          <a:ln w="9525">
            <a:solidFill>
              <a:srgbClr val="D3D6DC"/>
            </a:solidFill>
          </a:ln>
        </p:spPr>
      </p:pic>
      <p:sp>
        <p:nvSpPr>
          <p:cNvPr id="121" name="Cap 9"/>
          <p:cNvSpPr txBox="1"/>
          <p:nvPr/>
        </p:nvSpPr>
        <p:spPr>
          <a:xfrm>
            <a:off x="7737043"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Insight Board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2" name="Hi-fi screen"/>
          <p:cNvPicPr>
            <a:picLocks noChangeAspect="1"/>
          </p:cNvPicPr>
          <p:nvPr/>
        </p:nvPicPr>
        <p:blipFill>
          <a:blip r:embed="rId11"/>
          <a:srcRect b="44183"/>
          <a:stretch>
            <a:fillRect/>
          </a:stretch>
        </p:blipFill>
        <p:spPr>
          <a:xfrm>
            <a:off x="10041737" y="3602944"/>
            <a:ext cx="2140102" cy="1097488"/>
          </a:xfrm>
          <a:prstGeom prst="rect">
            <a:avLst/>
          </a:prstGeom>
          <a:ln w="9525">
            <a:solidFill>
              <a:srgbClr val="D3D6DC"/>
            </a:solidFill>
          </a:ln>
        </p:spPr>
      </p:pic>
      <p:sp>
        <p:nvSpPr>
          <p:cNvPr id="123" name="Cap 10"/>
          <p:cNvSpPr txBox="1"/>
          <p:nvPr/>
        </p:nvSpPr>
        <p:spPr>
          <a:xfrm>
            <a:off x="10041737"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Insight, opened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4" name="Hi-fi screen"/>
          <p:cNvPicPr>
            <a:picLocks noChangeAspect="1"/>
          </p:cNvPicPr>
          <p:nvPr/>
        </p:nvPicPr>
        <p:blipFill>
          <a:blip r:embed="rId12"/>
          <a:stretch>
            <a:fillRect/>
          </a:stretch>
        </p:blipFill>
        <p:spPr>
          <a:xfrm>
            <a:off x="822960" y="5194208"/>
            <a:ext cx="2140102" cy="1097488"/>
          </a:xfrm>
          <a:prstGeom prst="rect">
            <a:avLst/>
          </a:prstGeom>
          <a:ln w="9525">
            <a:solidFill>
              <a:srgbClr val="D3D6DC"/>
            </a:solidFill>
          </a:ln>
        </p:spPr>
      </p:pic>
      <p:sp>
        <p:nvSpPr>
          <p:cNvPr id="125" name="Cap 11"/>
          <p:cNvSpPr txBox="1"/>
          <p:nvPr/>
        </p:nvSpPr>
        <p:spPr>
          <a:xfrm>
            <a:off x="822960"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Quiet hours, one alert</a:t>
            </a:r>
          </a:p>
          <a:p>
            <a:pPr algn="l">
              <a:lnSpc>
                <a:spcPct val="100000"/>
              </a:lnSpc>
              <a:spcAft>
                <a:spcPts val="0"/>
              </a:spcAft>
            </a:pPr>
            <a:r>
              <a:rPr lang="en-US" sz="950" spc="0" dirty="0">
                <a:solidFill>
                  <a:srgbClr val="858A97"/>
                </a:solidFill>
                <a:latin typeface="Helvetica Neue Light"/>
                <a:cs typeface="Helvetica Neue Light"/>
              </a:rPr>
              <a:t>Tue 10:14 AM</a:t>
            </a:r>
          </a:p>
        </p:txBody>
      </p:sp>
      <p:pic>
        <p:nvPicPr>
          <p:cNvPr id="126" name="Hi-fi screen"/>
          <p:cNvPicPr>
            <a:picLocks noChangeAspect="1"/>
          </p:cNvPicPr>
          <p:nvPr/>
        </p:nvPicPr>
        <p:blipFill>
          <a:blip r:embed="rId13"/>
          <a:srcRect b="12088"/>
          <a:stretch>
            <a:fillRect/>
          </a:stretch>
        </p:blipFill>
        <p:spPr>
          <a:xfrm>
            <a:off x="3127654" y="5194208"/>
            <a:ext cx="2140102" cy="1097488"/>
          </a:xfrm>
          <a:prstGeom prst="rect">
            <a:avLst/>
          </a:prstGeom>
          <a:ln w="9525">
            <a:solidFill>
              <a:srgbClr val="D3D6DC"/>
            </a:solidFill>
          </a:ln>
        </p:spPr>
      </p:pic>
      <p:sp>
        <p:nvSpPr>
          <p:cNvPr id="127" name="Cap 12"/>
          <p:cNvSpPr txBox="1"/>
          <p:nvPr/>
        </p:nvSpPr>
        <p:spPr>
          <a:xfrm>
            <a:off x="3127654"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This was wrong</a:t>
            </a:r>
          </a:p>
          <a:p>
            <a:pPr algn="l">
              <a:lnSpc>
                <a:spcPct val="100000"/>
              </a:lnSpc>
              <a:spcAft>
                <a:spcPts val="0"/>
              </a:spcAft>
            </a:pPr>
            <a:r>
              <a:rPr lang="en-US" sz="950" spc="0" dirty="0">
                <a:solidFill>
                  <a:srgbClr val="858A97"/>
                </a:solidFill>
                <a:latin typeface="Helvetica Neue Light"/>
                <a:cs typeface="Helvetica Neue Light"/>
              </a:rPr>
              <a:t>Tue 10:31 AM</a:t>
            </a:r>
          </a:p>
        </p:txBody>
      </p:sp>
      <p:pic>
        <p:nvPicPr>
          <p:cNvPr id="128" name="Hi-fi screen"/>
          <p:cNvPicPr>
            <a:picLocks noChangeAspect="1"/>
          </p:cNvPicPr>
          <p:nvPr/>
        </p:nvPicPr>
        <p:blipFill>
          <a:blip r:embed="rId14"/>
          <a:srcRect b="24570"/>
          <a:stretch>
            <a:fillRect/>
          </a:stretch>
        </p:blipFill>
        <p:spPr>
          <a:xfrm>
            <a:off x="5432348" y="5194208"/>
            <a:ext cx="2140102" cy="1097488"/>
          </a:xfrm>
          <a:prstGeom prst="rect">
            <a:avLst/>
          </a:prstGeom>
          <a:ln w="9525">
            <a:solidFill>
              <a:srgbClr val="D3D6DC"/>
            </a:solidFill>
          </a:ln>
        </p:spPr>
      </p:pic>
      <p:sp>
        <p:nvSpPr>
          <p:cNvPr id="129" name="Cap 13"/>
          <p:cNvSpPr txBox="1"/>
          <p:nvPr/>
        </p:nvSpPr>
        <p:spPr>
          <a:xfrm>
            <a:off x="5432348"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Board at lunch</a:t>
            </a:r>
          </a:p>
          <a:p>
            <a:pPr algn="l">
              <a:lnSpc>
                <a:spcPct val="100000"/>
              </a:lnSpc>
              <a:spcAft>
                <a:spcPts val="0"/>
              </a:spcAft>
            </a:pPr>
            <a:r>
              <a:rPr lang="en-US" sz="950" spc="0" dirty="0">
                <a:solidFill>
                  <a:srgbClr val="858A97"/>
                </a:solidFill>
                <a:latin typeface="Helvetica Neue Light"/>
                <a:cs typeface="Helvetica Neue Light"/>
              </a:rPr>
              <a:t>Tue 12:30 PM</a:t>
            </a:r>
          </a:p>
        </p:txBody>
      </p:sp>
      <p:pic>
        <p:nvPicPr>
          <p:cNvPr id="130" name="Hi-fi screen"/>
          <p:cNvPicPr>
            <a:picLocks noChangeAspect="1"/>
          </p:cNvPicPr>
          <p:nvPr/>
        </p:nvPicPr>
        <p:blipFill>
          <a:blip r:embed="rId15"/>
          <a:srcRect b="17027"/>
          <a:stretch>
            <a:fillRect/>
          </a:stretch>
        </p:blipFill>
        <p:spPr>
          <a:xfrm>
            <a:off x="7737043" y="5194208"/>
            <a:ext cx="2140102" cy="1097488"/>
          </a:xfrm>
          <a:prstGeom prst="rect">
            <a:avLst/>
          </a:prstGeom>
          <a:ln w="9525">
            <a:solidFill>
              <a:srgbClr val="D3D6DC"/>
            </a:solidFill>
          </a:ln>
        </p:spPr>
      </p:pic>
      <p:sp>
        <p:nvSpPr>
          <p:cNvPr id="131" name="Cap 14"/>
          <p:cNvSpPr txBox="1"/>
          <p:nvPr/>
        </p:nvSpPr>
        <p:spPr>
          <a:xfrm>
            <a:off x="7737043"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Reasons still hold?</a:t>
            </a:r>
          </a:p>
          <a:p>
            <a:pPr algn="l">
              <a:lnSpc>
                <a:spcPct val="100000"/>
              </a:lnSpc>
              <a:spcAft>
                <a:spcPts val="0"/>
              </a:spcAft>
            </a:pPr>
            <a:r>
              <a:rPr lang="en-US" sz="950" spc="0" dirty="0">
                <a:solidFill>
                  <a:srgbClr val="858A97"/>
                </a:solidFill>
                <a:latin typeface="Helvetica Neue Light"/>
                <a:cs typeface="Helvetica Neue Light"/>
              </a:rPr>
              <a:t>Tue 4:30 PM</a:t>
            </a:r>
          </a:p>
        </p:txBody>
      </p:sp>
      <p:pic>
        <p:nvPicPr>
          <p:cNvPr id="132" name="Hi-fi screen"/>
          <p:cNvPicPr>
            <a:picLocks noChangeAspect="1"/>
          </p:cNvPicPr>
          <p:nvPr/>
        </p:nvPicPr>
        <p:blipFill>
          <a:blip r:embed="rId16"/>
          <a:srcRect b="31497"/>
          <a:stretch>
            <a:fillRect/>
          </a:stretch>
        </p:blipFill>
        <p:spPr>
          <a:xfrm>
            <a:off x="10041737" y="5194208"/>
            <a:ext cx="2140102" cy="1097488"/>
          </a:xfrm>
          <a:prstGeom prst="rect">
            <a:avLst/>
          </a:prstGeom>
          <a:ln w="9525">
            <a:solidFill>
              <a:srgbClr val="D3D6DC"/>
            </a:solidFill>
          </a:ln>
        </p:spPr>
      </p:pic>
      <p:sp>
        <p:nvSpPr>
          <p:cNvPr id="133" name="Cap 15"/>
          <p:cNvSpPr txBox="1"/>
          <p:nvPr/>
        </p:nvSpPr>
        <p:spPr>
          <a:xfrm>
            <a:off x="10041737"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15  </a:t>
            </a:r>
            <a:r>
              <a:rPr lang="en-US" sz="1050" spc="0" dirty="0">
                <a:solidFill>
                  <a:srgbClr val="14161D"/>
                </a:solidFill>
                <a:latin typeface="Helvetica Neue Medium"/>
                <a:cs typeface="Helvetica Neue Medium"/>
              </a:rPr>
              <a:t>Portfolio vs plan</a:t>
            </a:r>
          </a:p>
          <a:p>
            <a:pPr algn="l">
              <a:lnSpc>
                <a:spcPct val="100000"/>
              </a:lnSpc>
              <a:spcAft>
                <a:spcPts val="0"/>
              </a:spcAft>
            </a:pPr>
            <a:r>
              <a:rPr lang="en-US" sz="950" spc="0" dirty="0">
                <a:solidFill>
                  <a:srgbClr val="858A97"/>
                </a:solidFill>
                <a:latin typeface="Helvetica Neue Light"/>
                <a:cs typeface="Helvetica Neue Light"/>
              </a:rPr>
              <a:t>Tue 4:45 PM</a:t>
            </a:r>
          </a:p>
        </p:txBody>
      </p:sp>
      <p:pic>
        <p:nvPicPr>
          <p:cNvPr id="134" name="Hi-fi screen"/>
          <p:cNvPicPr>
            <a:picLocks noChangeAspect="1"/>
          </p:cNvPicPr>
          <p:nvPr/>
        </p:nvPicPr>
        <p:blipFill>
          <a:blip r:embed="rId17"/>
          <a:stretch>
            <a:fillRect/>
          </a:stretch>
        </p:blipFill>
        <p:spPr>
          <a:xfrm>
            <a:off x="822960" y="6785473"/>
            <a:ext cx="2140102" cy="1097488"/>
          </a:xfrm>
          <a:prstGeom prst="rect">
            <a:avLst/>
          </a:prstGeom>
          <a:ln w="9525">
            <a:solidFill>
              <a:srgbClr val="D3D6DC"/>
            </a:solidFill>
          </a:ln>
        </p:spPr>
      </p:pic>
      <p:sp>
        <p:nvSpPr>
          <p:cNvPr id="135" name="Cap 16"/>
          <p:cNvSpPr txBox="1"/>
          <p:nvPr/>
        </p:nvSpPr>
        <p:spPr>
          <a:xfrm>
            <a:off x="822960"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16  </a:t>
            </a:r>
            <a:r>
              <a:rPr lang="en-US" sz="1050" spc="0" dirty="0">
                <a:solidFill>
                  <a:srgbClr val="14161D"/>
                </a:solidFill>
                <a:latin typeface="Helvetica Neue Medium"/>
                <a:cs typeface="Helvetica Neue Medium"/>
              </a:rPr>
              <a:t>Lens on portfolio</a:t>
            </a:r>
          </a:p>
          <a:p>
            <a:pPr algn="l">
              <a:lnSpc>
                <a:spcPct val="100000"/>
              </a:lnSpc>
              <a:spcAft>
                <a:spcPts val="0"/>
              </a:spcAft>
            </a:pPr>
            <a:r>
              <a:rPr lang="en-US" sz="950" spc="0" dirty="0">
                <a:solidFill>
                  <a:srgbClr val="858A97"/>
                </a:solidFill>
                <a:latin typeface="Helvetica Neue Light"/>
                <a:cs typeface="Helvetica Neue Light"/>
              </a:rPr>
              <a:t>Tue 4:50 PM</a:t>
            </a:r>
          </a:p>
        </p:txBody>
      </p:sp>
      <p:pic>
        <p:nvPicPr>
          <p:cNvPr id="136" name="Hi-fi screen"/>
          <p:cNvPicPr>
            <a:picLocks noChangeAspect="1"/>
          </p:cNvPicPr>
          <p:nvPr/>
        </p:nvPicPr>
        <p:blipFill>
          <a:blip r:embed="rId18"/>
          <a:srcRect b="22185"/>
          <a:stretch>
            <a:fillRect/>
          </a:stretch>
        </p:blipFill>
        <p:spPr>
          <a:xfrm>
            <a:off x="3127654" y="6785473"/>
            <a:ext cx="2140102" cy="1097488"/>
          </a:xfrm>
          <a:prstGeom prst="rect">
            <a:avLst/>
          </a:prstGeom>
          <a:ln w="9525">
            <a:solidFill>
              <a:srgbClr val="D3D6DC"/>
            </a:solidFill>
          </a:ln>
        </p:spPr>
      </p:pic>
      <p:sp>
        <p:nvSpPr>
          <p:cNvPr id="137" name="Cap 17"/>
          <p:cNvSpPr txBox="1"/>
          <p:nvPr/>
        </p:nvSpPr>
        <p:spPr>
          <a:xfrm>
            <a:off x="3127654"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17  </a:t>
            </a:r>
            <a:r>
              <a:rPr lang="en-US" sz="1050" spc="0" dirty="0">
                <a:solidFill>
                  <a:srgbClr val="14161D"/>
                </a:solidFill>
                <a:latin typeface="Helvetica Neue Medium"/>
                <a:cs typeface="Helvetica Neue Medium"/>
              </a:rPr>
              <a:t>Activity log + Undo</a:t>
            </a:r>
          </a:p>
          <a:p>
            <a:pPr algn="l">
              <a:lnSpc>
                <a:spcPct val="100000"/>
              </a:lnSpc>
              <a:spcAft>
                <a:spcPts val="0"/>
              </a:spcAft>
            </a:pPr>
            <a:r>
              <a:rPr lang="en-US" sz="950" spc="0" dirty="0">
                <a:solidFill>
                  <a:srgbClr val="858A97"/>
                </a:solidFill>
                <a:latin typeface="Helvetica Neue Light"/>
                <a:cs typeface="Helvetica Neue Light"/>
              </a:rPr>
              <a:t>Tue 5:15 PM</a:t>
            </a:r>
          </a:p>
        </p:txBody>
      </p:sp>
      <p:pic>
        <p:nvPicPr>
          <p:cNvPr id="138" name="Hi-fi screen"/>
          <p:cNvPicPr>
            <a:picLocks noChangeAspect="1"/>
          </p:cNvPicPr>
          <p:nvPr/>
        </p:nvPicPr>
        <p:blipFill>
          <a:blip r:embed="rId19"/>
          <a:stretch>
            <a:fillRect/>
          </a:stretch>
        </p:blipFill>
        <p:spPr>
          <a:xfrm>
            <a:off x="5432348" y="6785473"/>
            <a:ext cx="2140102" cy="1097488"/>
          </a:xfrm>
          <a:prstGeom prst="rect">
            <a:avLst/>
          </a:prstGeom>
          <a:ln w="9525">
            <a:solidFill>
              <a:srgbClr val="D3D6DC"/>
            </a:solidFill>
          </a:ln>
        </p:spPr>
      </p:pic>
      <p:sp>
        <p:nvSpPr>
          <p:cNvPr id="139" name="Cap 18"/>
          <p:cNvSpPr txBox="1"/>
          <p:nvPr/>
        </p:nvSpPr>
        <p:spPr>
          <a:xfrm>
            <a:off x="5432348"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18  </a:t>
            </a:r>
            <a:r>
              <a:rPr lang="en-US" sz="1050" spc="0" dirty="0">
                <a:solidFill>
                  <a:srgbClr val="14161D"/>
                </a:solidFill>
                <a:latin typeface="Helvetica Neue Medium"/>
                <a:cs typeface="Helvetica Neue Medium"/>
              </a:rPr>
              <a:t>Weekly review</a:t>
            </a:r>
          </a:p>
          <a:p>
            <a:pPr algn="l">
              <a:lnSpc>
                <a:spcPct val="100000"/>
              </a:lnSpc>
              <a:spcAft>
                <a:spcPts val="0"/>
              </a:spcAft>
            </a:pPr>
            <a:r>
              <a:rPr lang="en-US" sz="950" spc="0" dirty="0">
                <a:solidFill>
                  <a:srgbClr val="858A97"/>
                </a:solidFill>
                <a:latin typeface="Helvetica Neue Light"/>
                <a:cs typeface="Helvetica Neue Light"/>
              </a:rPr>
              <a:t>Sun 7 PM</a:t>
            </a:r>
          </a:p>
        </p:txBody>
      </p:sp>
      <p:pic>
        <p:nvPicPr>
          <p:cNvPr id="140" name="Hi-fi screen"/>
          <p:cNvPicPr>
            <a:picLocks noChangeAspect="1"/>
          </p:cNvPicPr>
          <p:nvPr/>
        </p:nvPicPr>
        <p:blipFill>
          <a:blip r:embed="rId20"/>
          <a:srcRect b="33110"/>
          <a:stretch>
            <a:fillRect/>
          </a:stretch>
        </p:blipFill>
        <p:spPr>
          <a:xfrm>
            <a:off x="7737043" y="6785473"/>
            <a:ext cx="2140102" cy="1097488"/>
          </a:xfrm>
          <a:prstGeom prst="rect">
            <a:avLst/>
          </a:prstGeom>
          <a:ln w="9525">
            <a:solidFill>
              <a:srgbClr val="D3D6DC"/>
            </a:solidFill>
          </a:ln>
        </p:spPr>
      </p:pic>
      <p:sp>
        <p:nvSpPr>
          <p:cNvPr id="141" name="Cap 19"/>
          <p:cNvSpPr txBox="1"/>
          <p:nvPr/>
        </p:nvSpPr>
        <p:spPr>
          <a:xfrm>
            <a:off x="7737043"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19  </a:t>
            </a:r>
            <a:r>
              <a:rPr lang="en-US" sz="1050" spc="0" dirty="0">
                <a:solidFill>
                  <a:srgbClr val="14161D"/>
                </a:solidFill>
                <a:latin typeface="Helvetica Neue Medium"/>
                <a:cs typeface="Helvetica Neue Medium"/>
              </a:rPr>
              <a:t>Build the board</a:t>
            </a:r>
          </a:p>
          <a:p>
            <a:pPr algn="l">
              <a:lnSpc>
                <a:spcPct val="100000"/>
              </a:lnSpc>
              <a:spcAft>
                <a:spcPts val="0"/>
              </a:spcAft>
            </a:pPr>
            <a:r>
              <a:rPr lang="en-US" sz="950" spc="0" dirty="0">
                <a:solidFill>
                  <a:srgbClr val="858A97"/>
                </a:solidFill>
                <a:latin typeface="Helvetica Neue Light"/>
                <a:cs typeface="Helvetica Neue Light"/>
              </a:rPr>
              <a:t>Sunday</a:t>
            </a:r>
          </a:p>
        </p:txBody>
      </p:sp>
      <p:sp>
        <p:nvSpPr>
          <p:cNvPr id="142" name="Prototype tile">
            <a:hlinkClick r:id="rId21"/>
          </p:cNvPr>
          <p:cNvSpPr txBox="1"/>
          <p:nvPr/>
        </p:nvSpPr>
        <p:spPr>
          <a:xfrm>
            <a:off x="10041737" y="6922633"/>
            <a:ext cx="2140102" cy="1097488"/>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21"/>
              </a:rPr>
              <a:t>Open the clickable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step 1 in Figma</a:t>
            </a:r>
          </a:p>
        </p:txBody>
      </p:sp>
      <p:cxnSp>
        <p:nvCxnSpPr>
          <p:cNvPr id="143" name="Divider"/>
          <p:cNvCxnSpPr/>
          <p:nvPr/>
        </p:nvCxnSpPr>
        <p:spPr>
          <a:xfrm>
            <a:off x="10041737" y="6785473"/>
            <a:ext cx="2140102" cy="0"/>
          </a:xfrm>
          <a:prstGeom prst="line">
            <a:avLst/>
          </a:prstGeom>
          <a:ln w="28575">
            <a:solidFill>
              <a:srgbClr val="B5531F"/>
            </a:solidFill>
          </a:ln>
        </p:spPr>
      </p:cxnSp>
      <p:pic>
        <p:nvPicPr>
          <p:cNvPr id="144" name="gradient strip" descr="gradient strip"/>
          <p:cNvPicPr>
            <a:picLocks noChangeAspect="1"/>
          </p:cNvPicPr>
          <p:nvPr/>
        </p:nvPicPr>
        <p:blipFill>
          <a:blip r:embed="rId22"/>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STEPS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Show It + Since Last Night: an idea becomes a screen he trusts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Oct 5, 8 PM, after Monday’s close. Free account.</a:t>
            </a:r>
          </a:p>
        </p:txBody>
      </p:sp>
      <p:pic>
        <p:nvPicPr>
          <p:cNvPr id="104" name="Picture 6" descr="02-OW2-since-last-night.png"/>
          <p:cNvPicPr>
            <a:picLocks noChangeAspect="1"/>
          </p:cNvPicPr>
          <p:nvPr/>
        </p:nvPicPr>
        <p:blipFill>
          <a:blip r:embed="rId3"/>
          <a:stretch>
            <a:fillRect/>
          </a:stretch>
        </p:blipFill>
        <p:spPr>
          <a:xfrm>
            <a:off x="6614773" y="2963629"/>
            <a:ext cx="5565034" cy="2249200"/>
          </a:xfrm>
          <a:prstGeom prst="rect">
            <a:avLst/>
          </a:prstGeom>
          <a:ln w="9525">
            <a:solidFill>
              <a:srgbClr val="D3D6DC"/>
            </a:solidFill>
          </a:ln>
        </p:spPr>
      </p:pic>
      <p:pic>
        <p:nvPicPr>
          <p:cNvPr id="105" name="Picture 11" descr="01-OW1-show-it.png">
            <a:extLst>
              <a:ext uri="{FF2B5EF4-FFF2-40B4-BE49-F238E27FC236}">
                <a16:creationId xmlns:a16="http://schemas.microsoft.com/office/drawing/2014/main" id="{44331A70-B34A-7301-D75D-715504856CAD}"/>
              </a:ext>
            </a:extLst>
          </p:cNvPr>
          <p:cNvPicPr>
            <a:picLocks noChangeAspect="1"/>
          </p:cNvPicPr>
          <p:nvPr/>
        </p:nvPicPr>
        <p:blipFill>
          <a:blip r:embed="rId4"/>
          <a:stretch>
            <a:fillRect/>
          </a:stretch>
        </p:blipFill>
        <p:spPr>
          <a:xfrm>
            <a:off x="822960" y="3498202"/>
            <a:ext cx="5791813" cy="3322248"/>
          </a:xfrm>
          <a:prstGeom prst="rect">
            <a:avLst/>
          </a:prstGeom>
          <a:ln w="9525">
            <a:solidFill>
              <a:srgbClr val="D3D6DC"/>
            </a:solidFill>
          </a:ln>
        </p:spPr>
      </p:pic>
      <p:sp>
        <p:nvSpPr>
          <p:cNvPr id="106" name="Caption"/>
          <p:cNvSpPr txBox="1"/>
          <p:nvPr/>
        </p:nvSpPr>
        <p:spPr>
          <a:xfrm>
            <a:off x="1095412" y="7029940"/>
            <a:ext cx="5240448"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1 · OW1  Pastes 3 tickers; AI writes what they share as editable filter chips</a:t>
            </a:r>
          </a:p>
        </p:txBody>
      </p:sp>
      <p:sp>
        <p:nvSpPr>
          <p:cNvPr id="107" name="Caption"/>
          <p:cNvSpPr txBox="1"/>
          <p:nvPr/>
        </p:nvSpPr>
        <p:spPr>
          <a:xfrm>
            <a:off x="7141261" y="5458648"/>
            <a:ext cx="4321597"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2 · OW2  New, dropped and near-miss rows first, each with which of his criteria it meets</a:t>
            </a:r>
          </a:p>
        </p:txBody>
      </p:sp>
      <p:sp>
        <p:nvSpPr>
          <p:cNvPr id="108"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9"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Where the story starts: Monday after the close, on a free account.</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Programming by example: three tickers become editable filter chips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Constrained to FinViz’s real filters; nothing invented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Decision point: he keeps or drops each chip (Tab / Esc)</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6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Watch These For Me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8:40 PM. The one earned Elite moment.</a:t>
            </a:r>
          </a:p>
        </p:txBody>
      </p:sp>
      <p:pic>
        <p:nvPicPr>
          <p:cNvPr id="104" name="Picture 5" descr="image.png"/>
          <p:cNvPicPr>
            <a:picLocks noChangeAspect="1"/>
          </p:cNvPicPr>
          <p:nvPr/>
        </p:nvPicPr>
        <p:blipFill>
          <a:blip r:embed="rId3"/>
          <a:stretch>
            <a:fillRect/>
          </a:stretch>
        </p:blipFill>
        <p:spPr>
          <a:xfrm>
            <a:off x="2294484" y="2606040"/>
            <a:ext cx="8413799"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he checks his charts (steps 3–4) and pins 3 names with reasons (5).</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Replay before commitment: his criteria “would have fired 4 times in the last 30 days”</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noise dial redraws history live as he drags it (9 → 4 → 2 a month)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7-day Elite trial starts here, where the value is obvious, not at sign-up</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Morning glance: one note before work</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Oct 6, 7:30 AM. An email, readable in 30 seconds.</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Overnight, a bounded agent re-checked his 3 names only; there is nothing to log in to.</a:t>
            </a:r>
          </a:p>
        </p:txBody>
      </p:sp>
      <p:pic>
        <p:nvPicPr>
          <p:cNvPr id="106" name="Hi-fi screen"/>
          <p:cNvPicPr>
            <a:picLocks noChangeAspect="1"/>
          </p:cNvPicPr>
          <p:nvPr/>
        </p:nvPicPr>
        <p:blipFill>
          <a:blip r:embed="rId2"/>
          <a:stretch>
            <a:fillRect/>
          </a:stretch>
        </p:blipFill>
        <p:spPr>
          <a:xfrm>
            <a:off x="3199638" y="2606040"/>
            <a:ext cx="6603490"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bounded agent on his names only: sourced news, earnings and his reasons, re-checked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DOCN: 1 of 3 reasons at risk, with its source and time</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Only clear lens hits reach the inbox; borderline ones wait in the grid</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8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Chart Lens: why FinViz marked this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7:40 AM. Opened from “Why marked?” in the morning glance.</a:t>
            </a:r>
          </a:p>
        </p:txBody>
      </p:sp>
      <p:pic>
        <p:nvPicPr>
          <p:cNvPr id="104" name="Picture 5" descr="image.png"/>
          <p:cNvPicPr>
            <a:picLocks noChangeAspect="1"/>
          </p:cNvPicPr>
          <p:nvPr/>
        </p:nvPicPr>
        <p:blipFill>
          <a:blip r:embed="rId3"/>
          <a:stretch>
            <a:fillRect/>
          </a:stretch>
        </p:blipFill>
        <p:spPr>
          <a:xfrm>
            <a:off x="2773365" y="2606040"/>
            <a:ext cx="745603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“Why marked?” in the 7:30 AM morning glance (step 7).</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Measurements, not a confidence score: wick 2.6× body, at support, volume 2.4× its norm</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Clear, borderline or not enough data; only clear findings reach his inbox</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History with its sample size (38 matches in 3 years) and a visible track record</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9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Board, pre-market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7:45 AM. FinViz Home, upgraded.</a:t>
            </a:r>
          </a:p>
        </p:txBody>
      </p:sp>
      <p:pic>
        <p:nvPicPr>
          <p:cNvPr id="104" name="Picture 5" descr="image.png"/>
          <p:cNvPicPr>
            <a:picLocks noChangeAspect="1"/>
          </p:cNvPicPr>
          <p:nvPr/>
        </p:nvPicPr>
        <p:blipFill>
          <a:blip r:embed="rId3"/>
          <a:stretch>
            <a:fillRect/>
          </a:stretch>
        </p:blipFill>
        <p:spPr>
          <a:xfrm>
            <a:off x="4013220" y="2606040"/>
            <a:ext cx="497632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Then: he opens one finding to see its evidence and source (step 10).</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findings that need him today, each sourced and labelled Clear</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familiar parts stay: index row, breadth bars, S&amp;P 500 map, now with AI notes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Pre-market prices on his own names are the Elite moment</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11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Quiet hours, one alert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10:14 AM. At work; a browser push that leads with the reason.</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He painted quiet hours once (9:30 AM–4 PM); only his own criteria can interrupt.</a:t>
            </a:r>
          </a:p>
        </p:txBody>
      </p:sp>
      <p:pic>
        <p:nvPicPr>
          <p:cNvPr id="106" name="Hi-fi screen"/>
          <p:cNvPicPr>
            <a:picLocks noChangeAspect="1"/>
          </p:cNvPicPr>
          <p:nvPr/>
        </p:nvPicPr>
        <p:blipFill>
          <a:blip r:embed="rId2"/>
          <a:stretch>
            <a:fillRect/>
          </a:stretch>
        </p:blipFill>
        <p:spPr>
          <a:xfrm>
            <a:off x="822960" y="2699537"/>
            <a:ext cx="11356848" cy="4385005"/>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Quiet 9:30–4 unless his own criteria are met</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One push, reason first: Rel Vol 2.9 (your &gt; 1.5), crossed its 20-day high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choices: open the chart, say it was wrong, or mute the name</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Alert correction: “this was wrong” becomes a proposed fix</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10:31 AM. The alert opened on the RMBS quote page.</a:t>
            </a:r>
          </a:p>
        </p:txBody>
      </p:sp>
      <p:pic>
        <p:nvPicPr>
          <p:cNvPr id="104" name="Picture 5" descr="image.png"/>
          <p:cNvPicPr>
            <a:picLocks noChangeAspect="1"/>
          </p:cNvPicPr>
          <p:nvPr/>
        </p:nvPicPr>
        <p:blipFill>
          <a:blip r:embed="rId3"/>
          <a:stretch>
            <a:fillRect/>
          </a:stretch>
        </p:blipFill>
        <p:spPr>
          <a:xfrm>
            <a:off x="2582527" y="2606040"/>
            <a:ext cx="783771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Straight from the 10:14 AM alert (step 11): he tapped “This was wrong”.</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 reason (“too early”) becomes a specific change to his own rule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Before/after replay: 4 → 2 alerts in 30 days, both acted-on alerts kept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until he applies it; every change is logged with Undo</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14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Reasons Still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4:30 PM. DOCN closes below its SMA50: a reason breaks.</a:t>
            </a:r>
          </a:p>
        </p:txBody>
      </p:sp>
      <p:pic>
        <p:nvPicPr>
          <p:cNvPr id="104" name="Picture 5" descr="image.png"/>
          <p:cNvPicPr>
            <a:picLocks noChangeAspect="1"/>
          </p:cNvPicPr>
          <p:nvPr/>
        </p:nvPicPr>
        <p:blipFill>
          <a:blip r:embed="rId3"/>
          <a:stretch>
            <a:fillRect/>
          </a:stretch>
        </p:blipFill>
        <p:spPr>
          <a:xfrm>
            <a:off x="2802687" y="2606040"/>
            <a:ext cx="739739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at lunch the board showed alerts sent and held back (step 13).</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checklist that ticks itself against today’s close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changed and when, on the chart; his exit line ($34.00) not met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Hold or exit is his call, in his own broker; FinViz never places orders</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Activity log: everything, with Undo</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5:15 PM. Every send and change, who did it, and why.</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day’s record: every alert FinViz sent and every rule that changed, by FinViz or by him.</a:t>
            </a:r>
          </a:p>
        </p:txBody>
      </p:sp>
      <p:pic>
        <p:nvPicPr>
          <p:cNvPr id="106" name="Hi-fi screen"/>
          <p:cNvPicPr>
            <a:picLocks noChangeAspect="1"/>
          </p:cNvPicPr>
          <p:nvPr/>
        </p:nvPicPr>
        <p:blipFill>
          <a:blip r:embed="rId2"/>
          <a:stretch>
            <a:fillRect/>
          </a:stretch>
        </p:blipFill>
        <p:spPr>
          <a:xfrm>
            <a:off x="3032637" y="2606040"/>
            <a:ext cx="6937492"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 marks what FinViz did; a dot marks what he did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change shows its reason and effect, with Undo for 30 days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silently; sent messages can’t be unsent, so they have no Undo</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whole day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19 linked hi-fi screens in Figma, starting at step 1. Each screen moves forward through its real button: Save screen, Charts, Compare selected, Watch these 3 for me… through Save layout on Sunday.</a:t>
            </a:r>
          </a:p>
        </p:txBody>
      </p:sp>
      <p:sp>
        <p:nvSpPr>
          <p:cNvPr id="104" name="Link">
            <a:hlinkClick r:id="rId2"/>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prototype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HTML version with the narrative for every step and a full link map: The-Trading-Day-Prototype.html.</a:t>
            </a:r>
          </a:p>
        </p:txBody>
      </p:sp>
      <p:pic>
        <p:nvPicPr>
          <p:cNvPr id="108" name="Hi-fi screen"/>
          <p:cNvPicPr>
            <a:picLocks noChangeAspect="1"/>
          </p:cNvPicPr>
          <p:nvPr/>
        </p:nvPicPr>
        <p:blipFill>
          <a:blip r:embed="rId3"/>
          <a:stretch>
            <a:fillRect/>
          </a:stretch>
        </p:blipFill>
        <p:spPr>
          <a:xfrm>
            <a:off x="6400800" y="3069336"/>
            <a:ext cx="5779008" cy="3371088"/>
          </a:xfrm>
          <a:prstGeom prst="rect">
            <a:avLst/>
          </a:prstGeom>
          <a:ln w="9525">
            <a:solidFill>
              <a:srgbClr val="3A3E49"/>
            </a:solidFill>
          </a:ln>
        </p:spPr>
      </p:pic>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10" name="Workflow map link">
            <a:hlinkClick r:id="rId5"/>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Trade-offs and rejected alternatives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section that matters most: why the AI behaves the way it does.</a:t>
            </a:r>
          </a:p>
        </p:txBody>
      </p:sp>
      <p:sp>
        <p:nvSpPr>
          <p:cNvPr id="104" name="Column label"/>
          <p:cNvSpPr txBox="1"/>
          <p:nvPr/>
        </p:nvSpPr>
        <p:spPr>
          <a:xfrm>
            <a:off x="822960" y="201168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CHOSE</a:t>
            </a:r>
          </a:p>
        </p:txBody>
      </p:sp>
      <p:sp>
        <p:nvSpPr>
          <p:cNvPr id="105" name="Column label"/>
          <p:cNvSpPr txBox="1"/>
          <p:nvPr/>
        </p:nvSpPr>
        <p:spPr>
          <a:xfrm>
            <a:off x="4663440" y="2011680"/>
            <a:ext cx="3108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REJECTED</a:t>
            </a:r>
          </a:p>
        </p:txBody>
      </p:sp>
      <p:sp>
        <p:nvSpPr>
          <p:cNvPr id="106" name="Column label"/>
          <p:cNvSpPr txBox="1"/>
          <p:nvPr/>
        </p:nvSpPr>
        <p:spPr>
          <a:xfrm>
            <a:off x="8046720" y="2011680"/>
            <a:ext cx="41351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a:t>
            </a:r>
          </a:p>
        </p:txBody>
      </p:sp>
      <p:cxnSp>
        <p:nvCxnSpPr>
          <p:cNvPr id="107" name="Divider"/>
          <p:cNvCxnSpPr/>
          <p:nvPr/>
        </p:nvCxnSpPr>
        <p:spPr>
          <a:xfrm>
            <a:off x="822960" y="2395728"/>
            <a:ext cx="11358880" cy="0"/>
          </a:xfrm>
          <a:prstGeom prst="line">
            <a:avLst/>
          </a:prstGeom>
          <a:ln w="9525">
            <a:solidFill>
              <a:srgbClr val="E1E3E8"/>
            </a:solidFill>
          </a:ln>
        </p:spPr>
      </p:cxnSp>
      <p:sp>
        <p:nvSpPr>
          <p:cNvPr id="108" name="Cell 1.1"/>
          <p:cNvSpPr txBox="1"/>
          <p:nvPr/>
        </p:nvSpPr>
        <p:spPr>
          <a:xfrm>
            <a:off x="822960" y="254203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Examples → editable filter chips</a:t>
            </a:r>
          </a:p>
        </p:txBody>
      </p:sp>
      <p:sp>
        <p:nvSpPr>
          <p:cNvPr id="109" name="Cell 1.2"/>
          <p:cNvSpPr txBox="1"/>
          <p:nvPr/>
        </p:nvSpPr>
        <p:spPr>
          <a:xfrm>
            <a:off x="4663440" y="254203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chat box as the main way in</a:t>
            </a:r>
          </a:p>
        </p:txBody>
      </p:sp>
      <p:sp>
        <p:nvSpPr>
          <p:cNvPr id="110" name="Cell 1.3"/>
          <p:cNvSpPr txBox="1"/>
          <p:nvPr/>
        </p:nvSpPr>
        <p:spPr>
          <a:xfrm>
            <a:off x="8046720" y="254203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Real tasks are ambiguous; chips can be inspected, edited and saved</a:t>
            </a:r>
          </a:p>
        </p:txBody>
      </p:sp>
      <p:cxnSp>
        <p:nvCxnSpPr>
          <p:cNvPr id="111" name="Divider"/>
          <p:cNvCxnSpPr/>
          <p:nvPr/>
        </p:nvCxnSpPr>
        <p:spPr>
          <a:xfrm>
            <a:off x="822960" y="3118104"/>
            <a:ext cx="11358880" cy="0"/>
          </a:xfrm>
          <a:prstGeom prst="line">
            <a:avLst/>
          </a:prstGeom>
          <a:ln w="9525">
            <a:solidFill>
              <a:srgbClr val="E1E3E8"/>
            </a:solidFill>
          </a:ln>
        </p:spPr>
      </p:cxnSp>
      <p:sp>
        <p:nvSpPr>
          <p:cNvPr id="112" name="Cell 2.1"/>
          <p:cNvSpPr txBox="1"/>
          <p:nvPr/>
        </p:nvSpPr>
        <p:spPr>
          <a:xfrm>
            <a:off x="822960" y="326440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Measurements; clear / borderline / abstain</a:t>
            </a:r>
          </a:p>
        </p:txBody>
      </p:sp>
      <p:sp>
        <p:nvSpPr>
          <p:cNvPr id="113" name="Cell 2.2"/>
          <p:cNvSpPr txBox="1"/>
          <p:nvPr/>
        </p:nvSpPr>
        <p:spPr>
          <a:xfrm>
            <a:off x="4663440" y="326440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confidence % on each detection</a:t>
            </a:r>
          </a:p>
        </p:txBody>
      </p:sp>
      <p:sp>
        <p:nvSpPr>
          <p:cNvPr id="114" name="Cell 2.3"/>
          <p:cNvSpPr txBox="1"/>
          <p:nvPr/>
        </p:nvSpPr>
        <p:spPr>
          <a:xfrm>
            <a:off x="8046720" y="326440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number implies precision we can’t guarantee; measurements can be checked</a:t>
            </a:r>
          </a:p>
        </p:txBody>
      </p:sp>
      <p:cxnSp>
        <p:nvCxnSpPr>
          <p:cNvPr id="115" name="Divider"/>
          <p:cNvCxnSpPr/>
          <p:nvPr/>
        </p:nvCxnSpPr>
        <p:spPr>
          <a:xfrm>
            <a:off x="822960" y="3840480"/>
            <a:ext cx="11358880" cy="0"/>
          </a:xfrm>
          <a:prstGeom prst="line">
            <a:avLst/>
          </a:prstGeom>
          <a:ln w="9525">
            <a:solidFill>
              <a:srgbClr val="E1E3E8"/>
            </a:solidFill>
          </a:ln>
        </p:spPr>
      </p:cxnSp>
      <p:sp>
        <p:nvSpPr>
          <p:cNvPr id="116" name="Cell 3.1"/>
          <p:cNvSpPr txBox="1"/>
          <p:nvPr/>
        </p:nvSpPr>
        <p:spPr>
          <a:xfrm>
            <a:off x="822960" y="398678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Verify the trader’s own reasons</a:t>
            </a:r>
          </a:p>
        </p:txBody>
      </p:sp>
      <p:sp>
        <p:nvSpPr>
          <p:cNvPr id="117" name="Cell 3.2"/>
          <p:cNvSpPr txBox="1"/>
          <p:nvPr/>
        </p:nvSpPr>
        <p:spPr>
          <a:xfrm>
            <a:off x="4663440" y="398678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AI buy/sell calls, “top picks”, scores</a:t>
            </a:r>
          </a:p>
        </p:txBody>
      </p:sp>
      <p:sp>
        <p:nvSpPr>
          <p:cNvPr id="118" name="Cell 3.3"/>
          <p:cNvSpPr txBox="1"/>
          <p:nvPr/>
        </p:nvSpPr>
        <p:spPr>
          <a:xfrm>
            <a:off x="8046720" y="398678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Compliance and trust; attributed third-party views only, pending compliance review</a:t>
            </a:r>
          </a:p>
        </p:txBody>
      </p:sp>
      <p:cxnSp>
        <p:nvCxnSpPr>
          <p:cNvPr id="119" name="Divider"/>
          <p:cNvCxnSpPr/>
          <p:nvPr/>
        </p:nvCxnSpPr>
        <p:spPr>
          <a:xfrm>
            <a:off x="822960" y="4562856"/>
            <a:ext cx="11358880" cy="0"/>
          </a:xfrm>
          <a:prstGeom prst="line">
            <a:avLst/>
          </a:prstGeom>
          <a:ln w="9525">
            <a:solidFill>
              <a:srgbClr val="E1E3E8"/>
            </a:solidFill>
          </a:ln>
        </p:spPr>
      </p:cxnSp>
      <p:sp>
        <p:nvSpPr>
          <p:cNvPr id="120" name="Cell 4.1"/>
          <p:cNvSpPr txBox="1"/>
          <p:nvPr/>
        </p:nvSpPr>
        <p:spPr>
          <a:xfrm>
            <a:off x="822960" y="4709160"/>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One reason-first alert in quiet hours</a:t>
            </a:r>
          </a:p>
        </p:txBody>
      </p:sp>
      <p:sp>
        <p:nvSpPr>
          <p:cNvPr id="121" name="Cell 4.2"/>
          <p:cNvSpPr txBox="1"/>
          <p:nvPr/>
        </p:nvSpPr>
        <p:spPr>
          <a:xfrm>
            <a:off x="4663440" y="4709160"/>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live stream of every signal</a:t>
            </a:r>
          </a:p>
        </p:txBody>
      </p:sp>
      <p:sp>
        <p:nvSpPr>
          <p:cNvPr id="122" name="Cell 4.3"/>
          <p:cNvSpPr txBox="1"/>
          <p:nvPr/>
        </p:nvSpPr>
        <p:spPr>
          <a:xfrm>
            <a:off x="8046720" y="4709160"/>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Alert fatigue kills the habit; replay shows the cost first</a:t>
            </a:r>
          </a:p>
        </p:txBody>
      </p:sp>
      <p:cxnSp>
        <p:nvCxnSpPr>
          <p:cNvPr id="123" name="Divider"/>
          <p:cNvCxnSpPr/>
          <p:nvPr/>
        </p:nvCxnSpPr>
        <p:spPr>
          <a:xfrm>
            <a:off x="822960" y="5285232"/>
            <a:ext cx="11358880" cy="0"/>
          </a:xfrm>
          <a:prstGeom prst="line">
            <a:avLst/>
          </a:prstGeom>
          <a:ln w="9525">
            <a:solidFill>
              <a:srgbClr val="E1E3E8"/>
            </a:solidFill>
          </a:ln>
        </p:spPr>
      </p:cxnSp>
      <p:sp>
        <p:nvSpPr>
          <p:cNvPr id="124" name="Cell 5.1"/>
          <p:cNvSpPr txBox="1"/>
          <p:nvPr/>
        </p:nvSpPr>
        <p:spPr>
          <a:xfrm>
            <a:off x="822960" y="5431536"/>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Propose rule changes; apply on accept</a:t>
            </a:r>
          </a:p>
        </p:txBody>
      </p:sp>
      <p:sp>
        <p:nvSpPr>
          <p:cNvPr id="125" name="Cell 5.2"/>
          <p:cNvSpPr txBox="1"/>
          <p:nvPr/>
        </p:nvSpPr>
        <p:spPr>
          <a:xfrm>
            <a:off x="4663440" y="5431536"/>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Silent auto-tuning</a:t>
            </a:r>
          </a:p>
        </p:txBody>
      </p:sp>
      <p:sp>
        <p:nvSpPr>
          <p:cNvPr id="126" name="Cell 5.3"/>
          <p:cNvSpPr txBox="1"/>
          <p:nvPr/>
        </p:nvSpPr>
        <p:spPr>
          <a:xfrm>
            <a:off x="8046720" y="5431536"/>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He keeps control; every change announced, with Undo</a:t>
            </a:r>
          </a:p>
        </p:txBody>
      </p:sp>
      <p:cxnSp>
        <p:nvCxnSpPr>
          <p:cNvPr id="127" name="Divider"/>
          <p:cNvCxnSpPr/>
          <p:nvPr/>
        </p:nvCxnSpPr>
        <p:spPr>
          <a:xfrm>
            <a:off x="822960" y="6007608"/>
            <a:ext cx="11358880" cy="0"/>
          </a:xfrm>
          <a:prstGeom prst="line">
            <a:avLst/>
          </a:prstGeom>
          <a:ln w="9525">
            <a:solidFill>
              <a:srgbClr val="E1E3E8"/>
            </a:solidFill>
          </a:ln>
        </p:spPr>
      </p:cxnSp>
      <p:sp>
        <p:nvSpPr>
          <p:cNvPr id="128" name="Cell 6.1"/>
          <p:cNvSpPr txBox="1"/>
          <p:nvPr/>
        </p:nvSpPr>
        <p:spPr>
          <a:xfrm>
            <a:off x="822960" y="615391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A bounded agent on his names only</a:t>
            </a:r>
          </a:p>
        </p:txBody>
      </p:sp>
      <p:sp>
        <p:nvSpPr>
          <p:cNvPr id="129" name="Cell 6.2"/>
          <p:cNvSpPr txBox="1"/>
          <p:nvPr/>
        </p:nvSpPr>
        <p:spPr>
          <a:xfrm>
            <a:off x="4663440" y="615391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An open-ended research agent</a:t>
            </a:r>
          </a:p>
        </p:txBody>
      </p:sp>
      <p:sp>
        <p:nvSpPr>
          <p:cNvPr id="130" name="Cell 6.3"/>
          <p:cNvSpPr txBox="1"/>
          <p:nvPr/>
        </p:nvSpPr>
        <p:spPr>
          <a:xfrm>
            <a:off x="8046720" y="615391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Limits cost, hallucination surface and privacy exposure</a:t>
            </a:r>
          </a:p>
        </p:txBody>
      </p:sp>
      <p:cxnSp>
        <p:nvCxnSpPr>
          <p:cNvPr id="131" name="Divider"/>
          <p:cNvCxnSpPr/>
          <p:nvPr/>
        </p:nvCxnSpPr>
        <p:spPr>
          <a:xfrm>
            <a:off x="822960" y="6729984"/>
            <a:ext cx="11358880" cy="0"/>
          </a:xfrm>
          <a:prstGeom prst="line">
            <a:avLst/>
          </a:prstGeom>
          <a:ln w="9525">
            <a:solidFill>
              <a:srgbClr val="E1E3E8"/>
            </a:solidFill>
          </a:ln>
        </p:spPr>
      </p:cxnSp>
      <p:sp>
        <p:nvSpPr>
          <p:cNvPr id="132" name="Cell 7.1"/>
          <p:cNvSpPr txBox="1"/>
          <p:nvPr/>
        </p:nvSpPr>
        <p:spPr>
          <a:xfrm>
            <a:off x="822960" y="687628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Neutral “Clear”, amber “Borderline”</a:t>
            </a:r>
          </a:p>
        </p:txBody>
      </p:sp>
      <p:sp>
        <p:nvSpPr>
          <p:cNvPr id="133" name="Cell 7.2"/>
          <p:cNvSpPr txBox="1"/>
          <p:nvPr/>
        </p:nvSpPr>
        <p:spPr>
          <a:xfrm>
            <a:off x="4663440" y="687628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for “Clear”</a:t>
            </a:r>
          </a:p>
        </p:txBody>
      </p:sp>
      <p:sp>
        <p:nvSpPr>
          <p:cNvPr id="134" name="Cell 7.3"/>
          <p:cNvSpPr txBox="1"/>
          <p:nvPr/>
        </p:nvSpPr>
        <p:spPr>
          <a:xfrm>
            <a:off x="8046720" y="687628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means price up, nothing else</a:t>
            </a:r>
          </a:p>
        </p:txBody>
      </p:sp>
      <p:cxnSp>
        <p:nvCxnSpPr>
          <p:cNvPr id="135" name="Divider"/>
          <p:cNvCxnSpPr/>
          <p:nvPr/>
        </p:nvCxnSpPr>
        <p:spPr>
          <a:xfrm>
            <a:off x="822960" y="7452360"/>
            <a:ext cx="11358880" cy="0"/>
          </a:xfrm>
          <a:prstGeom prst="line">
            <a:avLst/>
          </a:prstGeom>
          <a:ln w="9525">
            <a:solidFill>
              <a:srgbClr val="E1E3E8"/>
            </a:solidFill>
          </a:ln>
        </p:spPr>
      </p:cxnSp>
      <p:sp>
        <p:nvSpPr>
          <p:cNvPr id="136" name="Cell 8.1"/>
          <p:cNvSpPr txBox="1"/>
          <p:nvPr/>
        </p:nvSpPr>
        <p:spPr>
          <a:xfrm>
            <a:off x="822960" y="759866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Desktop first</a:t>
            </a:r>
          </a:p>
        </p:txBody>
      </p:sp>
      <p:sp>
        <p:nvSpPr>
          <p:cNvPr id="137" name="Cell 8.2"/>
          <p:cNvSpPr txBox="1"/>
          <p:nvPr/>
        </p:nvSpPr>
        <p:spPr>
          <a:xfrm>
            <a:off x="4663440" y="759866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Mobile in release 1</a:t>
            </a:r>
          </a:p>
        </p:txBody>
      </p:sp>
      <p:sp>
        <p:nvSpPr>
          <p:cNvPr id="138" name="Cell 8.3"/>
          <p:cNvSpPr txBox="1"/>
          <p:nvPr/>
        </p:nvSpPr>
        <p:spPr>
          <a:xfrm>
            <a:off x="8046720" y="759866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The screener lives on desktop; mobile deferred, not dropped</a:t>
            </a:r>
          </a:p>
        </p:txBody>
      </p:sp>
      <p:cxnSp>
        <p:nvCxnSpPr>
          <p:cNvPr id="139" name="Divider"/>
          <p:cNvCxnSpPr/>
          <p:nvPr/>
        </p:nvCxnSpPr>
        <p:spPr>
          <a:xfrm>
            <a:off x="822960" y="8174736"/>
            <a:ext cx="11358880" cy="0"/>
          </a:xfrm>
          <a:prstGeom prst="line">
            <a:avLst/>
          </a:prstGeom>
          <a:ln w="9525">
            <a:solidFill>
              <a:srgbClr val="E1E3E8"/>
            </a:solidFill>
          </a:ln>
        </p:spPr>
      </p:cxnSp>
      <p:sp>
        <p:nvSpPr>
          <p:cNvPr id="140" name="Accuracy"/>
          <p:cNvSpPr txBox="1"/>
          <p:nvPr/>
        </p:nvSpPr>
        <p:spPr>
          <a:xfrm>
            <a:off x="822960" y="8339327"/>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ACCURACY VS CONTROL   </a:t>
            </a:r>
            <a:r>
              <a:rPr lang="en-US" sz="1150" spc="0" dirty="0">
                <a:solidFill>
                  <a:srgbClr val="565C6B"/>
                </a:solidFill>
                <a:latin typeface="Helvetica Neue Light"/>
                <a:cs typeface="Helvetica Neue Light"/>
              </a:rPr>
              <a:t>When the model is unsure, the product shows less and asks more. Borderline findings stay visible but never interrupt.</a:t>
            </a:r>
          </a:p>
        </p:txBody>
      </p:sp>
      <p:pic>
        <p:nvPicPr>
          <p:cNvPr id="141"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Eight design calls that changed the work</a:t>
            </a:r>
          </a:p>
        </p:txBody>
      </p:sp>
      <p:cxnSp>
        <p:nvCxnSpPr>
          <p:cNvPr id="103" name="Divider"/>
          <p:cNvCxnSpPr/>
          <p:nvPr/>
        </p:nvCxnSpPr>
        <p:spPr>
          <a:xfrm>
            <a:off x="822960" y="2103120"/>
            <a:ext cx="2599690" cy="0"/>
          </a:xfrm>
          <a:prstGeom prst="line">
            <a:avLst/>
          </a:prstGeom>
          <a:ln w="9525">
            <a:solidFill>
              <a:srgbClr val="E1E3E8"/>
            </a:solidFill>
          </a:ln>
        </p:spPr>
      </p:cxnSp>
      <p:sp>
        <p:nvSpPr>
          <p:cNvPr id="104" name="Call 1"/>
          <p:cNvSpPr txBox="1"/>
          <p:nvPr/>
        </p:nvSpPr>
        <p:spPr>
          <a:xfrm>
            <a:off x="82296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Map today’s onboarding before designing</a:t>
            </a:r>
          </a:p>
        </p:txBody>
      </p:sp>
      <p:cxnSp>
        <p:nvCxnSpPr>
          <p:cNvPr id="105" name="Divider"/>
          <p:cNvCxnSpPr/>
          <p:nvPr/>
        </p:nvCxnSpPr>
        <p:spPr>
          <a:xfrm>
            <a:off x="3742690" y="2103120"/>
            <a:ext cx="2599690" cy="0"/>
          </a:xfrm>
          <a:prstGeom prst="line">
            <a:avLst/>
          </a:prstGeom>
          <a:ln w="9525">
            <a:solidFill>
              <a:srgbClr val="E1E3E8"/>
            </a:solidFill>
          </a:ln>
        </p:spPr>
      </p:cxnSp>
      <p:sp>
        <p:nvSpPr>
          <p:cNvPr id="106" name="Call 2"/>
          <p:cNvSpPr txBox="1"/>
          <p:nvPr/>
        </p:nvSpPr>
        <p:spPr>
          <a:xfrm>
            <a:off x="374269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Desktop only, for now</a:t>
            </a:r>
          </a:p>
        </p:txBody>
      </p:sp>
      <p:cxnSp>
        <p:nvCxnSpPr>
          <p:cNvPr id="107" name="Divider"/>
          <p:cNvCxnSpPr/>
          <p:nvPr/>
        </p:nvCxnSpPr>
        <p:spPr>
          <a:xfrm>
            <a:off x="6662420" y="2103120"/>
            <a:ext cx="2599690" cy="0"/>
          </a:xfrm>
          <a:prstGeom prst="line">
            <a:avLst/>
          </a:prstGeom>
          <a:ln w="9525">
            <a:solidFill>
              <a:srgbClr val="E1E3E8"/>
            </a:solidFill>
          </a:ln>
        </p:spPr>
      </p:cxnSp>
      <p:sp>
        <p:nvSpPr>
          <p:cNvPr id="108" name="Call 3"/>
          <p:cNvSpPr txBox="1"/>
          <p:nvPr/>
        </p:nvSpPr>
        <p:spPr>
          <a:xfrm>
            <a:off x="666242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One design for first-time and repeat users</a:t>
            </a:r>
          </a:p>
        </p:txBody>
      </p:sp>
      <p:cxnSp>
        <p:nvCxnSpPr>
          <p:cNvPr id="109" name="Divider"/>
          <p:cNvCxnSpPr/>
          <p:nvPr/>
        </p:nvCxnSpPr>
        <p:spPr>
          <a:xfrm>
            <a:off x="9582150" y="2103120"/>
            <a:ext cx="2599690" cy="0"/>
          </a:xfrm>
          <a:prstGeom prst="line">
            <a:avLst/>
          </a:prstGeom>
          <a:ln w="9525">
            <a:solidFill>
              <a:srgbClr val="E1E3E8"/>
            </a:solidFill>
          </a:ln>
        </p:spPr>
      </p:cxnSp>
      <p:sp>
        <p:nvSpPr>
          <p:cNvPr id="110" name="Call 4"/>
          <p:cNvSpPr txBox="1"/>
          <p:nvPr/>
        </p:nvSpPr>
        <p:spPr>
          <a:xfrm>
            <a:off x="958215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24</a:t>
            </a:r>
          </a:p>
          <a:p>
            <a:pPr algn="l">
              <a:lnSpc>
                <a:spcPct val="105000"/>
              </a:lnSpc>
              <a:spcAft>
                <a:spcPts val="350"/>
              </a:spcAft>
            </a:pPr>
            <a:r>
              <a:rPr lang="en-US" sz="2100" spc="0" dirty="0">
                <a:solidFill>
                  <a:srgbClr val="14161D"/>
                </a:solidFill>
                <a:latin typeface="Helvetica Neue Medium"/>
                <a:cs typeface="Helvetica Neue Medium"/>
              </a:rPr>
              <a:t>Remove real frictions with new AI models</a:t>
            </a:r>
          </a:p>
        </p:txBody>
      </p:sp>
      <p:cxnSp>
        <p:nvCxnSpPr>
          <p:cNvPr id="111" name="Divider"/>
          <p:cNvCxnSpPr/>
          <p:nvPr/>
        </p:nvCxnSpPr>
        <p:spPr>
          <a:xfrm>
            <a:off x="822960" y="5120640"/>
            <a:ext cx="2599690" cy="0"/>
          </a:xfrm>
          <a:prstGeom prst="line">
            <a:avLst/>
          </a:prstGeom>
          <a:ln w="28575">
            <a:solidFill>
              <a:srgbClr val="B5531F"/>
            </a:solidFill>
          </a:ln>
        </p:spPr>
      </p:cxnSp>
      <p:sp>
        <p:nvSpPr>
          <p:cNvPr id="112" name="Call 5"/>
          <p:cNvSpPr txBox="1"/>
          <p:nvPr/>
        </p:nvSpPr>
        <p:spPr>
          <a:xfrm>
            <a:off x="82296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Optimize time to first success; no chat box first</a:t>
            </a:r>
          </a:p>
        </p:txBody>
      </p:sp>
      <p:cxnSp>
        <p:nvCxnSpPr>
          <p:cNvPr id="113" name="Divider"/>
          <p:cNvCxnSpPr/>
          <p:nvPr/>
        </p:nvCxnSpPr>
        <p:spPr>
          <a:xfrm>
            <a:off x="3742690" y="5120640"/>
            <a:ext cx="2599690" cy="0"/>
          </a:xfrm>
          <a:prstGeom prst="line">
            <a:avLst/>
          </a:prstGeom>
          <a:ln w="9525">
            <a:solidFill>
              <a:srgbClr val="E1E3E8"/>
            </a:solidFill>
          </a:ln>
        </p:spPr>
      </p:cxnSp>
      <p:sp>
        <p:nvSpPr>
          <p:cNvPr id="114" name="Call 6"/>
          <p:cNvSpPr txBox="1"/>
          <p:nvPr/>
        </p:nvSpPr>
        <p:spPr>
          <a:xfrm>
            <a:off x="374269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06</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Set the advice line, pending compliance</a:t>
            </a:r>
          </a:p>
        </p:txBody>
      </p:sp>
      <p:cxnSp>
        <p:nvCxnSpPr>
          <p:cNvPr id="115" name="Divider"/>
          <p:cNvCxnSpPr/>
          <p:nvPr/>
        </p:nvCxnSpPr>
        <p:spPr>
          <a:xfrm>
            <a:off x="6662420" y="5120640"/>
            <a:ext cx="2599690" cy="0"/>
          </a:xfrm>
          <a:prstGeom prst="line">
            <a:avLst/>
          </a:prstGeom>
          <a:ln w="28575">
            <a:solidFill>
              <a:srgbClr val="B5531F"/>
            </a:solidFill>
          </a:ln>
        </p:spPr>
      </p:cxnSp>
      <p:sp>
        <p:nvSpPr>
          <p:cNvPr id="116" name="Call 7"/>
          <p:cNvSpPr txBox="1"/>
          <p:nvPr/>
        </p:nvSpPr>
        <p:spPr>
          <a:xfrm>
            <a:off x="666242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07</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Lead with the swing trader’s trading day</a:t>
            </a:r>
          </a:p>
        </p:txBody>
      </p:sp>
      <p:cxnSp>
        <p:nvCxnSpPr>
          <p:cNvPr id="117" name="Divider"/>
          <p:cNvCxnSpPr/>
          <p:nvPr/>
        </p:nvCxnSpPr>
        <p:spPr>
          <a:xfrm>
            <a:off x="9582150" y="5120640"/>
            <a:ext cx="2599690" cy="0"/>
          </a:xfrm>
          <a:prstGeom prst="line">
            <a:avLst/>
          </a:prstGeom>
          <a:ln w="9525">
            <a:solidFill>
              <a:srgbClr val="E1E3E8"/>
            </a:solidFill>
          </a:ln>
        </p:spPr>
      </p:cxnSp>
      <p:sp>
        <p:nvSpPr>
          <p:cNvPr id="118" name="Call 8"/>
          <p:cNvSpPr txBox="1"/>
          <p:nvPr/>
        </p:nvSpPr>
        <p:spPr>
          <a:xfrm>
            <a:off x="958215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08</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OCT 1</a:t>
            </a:r>
          </a:p>
          <a:p>
            <a:pPr algn="l">
              <a:lnSpc>
                <a:spcPct val="105000"/>
              </a:lnSpc>
              <a:spcAft>
                <a:spcPts val="350"/>
              </a:spcAft>
            </a:pPr>
            <a:r>
              <a:rPr lang="en-US" sz="2100" spc="0" dirty="0">
                <a:solidFill>
                  <a:srgbClr val="14161D"/>
                </a:solidFill>
                <a:latin typeface="Helvetica Neue Medium"/>
                <a:cs typeface="Helvetica Neue Medium"/>
              </a:rPr>
              <a:t>Bring teammates’ screens in line with the rules</a:t>
            </a:r>
          </a:p>
        </p:txBody>
      </p:sp>
      <p:sp>
        <p:nvSpPr>
          <p:cNvPr id="119"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The two orange rules mark the calls that reset the project: time to first success, and leading with the trading day.</a:t>
            </a:r>
          </a:p>
        </p:txBody>
      </p:sp>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(1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01  </a:t>
            </a:r>
            <a:r>
              <a:rPr lang="en-US" sz="1700" spc="0" dirty="0">
                <a:solidFill>
                  <a:srgbClr val="14161D"/>
                </a:solidFill>
                <a:latin typeface="Helvetica Neue Medium"/>
                <a:cs typeface="Helvetica Neue Medium"/>
              </a:rPr>
              <a:t>Map today’s onboarding before designing</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The docs assumed there was no trial and that slow free quotes were a big pain</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 live-site walk found the existing 7-day trial and 1-minute-delayed quotes; the trial now starts from the first saved screen</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02  </a:t>
            </a:r>
            <a:r>
              <a:rPr lang="en-US" sz="1700" spc="0" dirty="0">
                <a:solidFill>
                  <a:srgbClr val="14161D"/>
                </a:solidFill>
                <a:latin typeface="Helvetica Neue Medium"/>
                <a:cs typeface="Helvetica Neue Medium"/>
              </a:rPr>
              <a:t>Desktop only, for now</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No native app; two form factors would split the effort</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screen scoped to 1440px desktop; mobile deferred</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03  </a:t>
            </a:r>
            <a:r>
              <a:rPr lang="en-US" sz="1700" spc="0" dirty="0">
                <a:solidFill>
                  <a:srgbClr val="14161D"/>
                </a:solidFill>
                <a:latin typeface="Helvetica Neue Medium"/>
                <a:cs typeface="Helvetica Neue Medium"/>
              </a:rPr>
              <a:t>One design for first-time and repeat users</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Onboarding gates fail repeat users, who keep meeting new filters and decisions</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“Onboarding is not a phase”: help fades per concept; no wizard, no tour</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04  </a:t>
            </a:r>
            <a:r>
              <a:rPr lang="en-US" sz="1700" spc="0" dirty="0">
                <a:solidFill>
                  <a:srgbClr val="14161D"/>
                </a:solidFill>
                <a:latin typeface="Helvetica Neue Medium"/>
                <a:cs typeface="Helvetica Neue Medium"/>
              </a:rPr>
              <a:t>Remove real frictions with new AI models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24</a:t>
            </a:r>
          </a:p>
          <a:p>
            <a:pPr algn="l">
              <a:lnSpc>
                <a:spcPct val="125000"/>
              </a:lnSpc>
              <a:spcAft>
                <a:spcPts val="200"/>
              </a:spcAft>
            </a:pPr>
            <a:r>
              <a:rPr lang="en-US" sz="1550" spc="0" dirty="0">
                <a:solidFill>
                  <a:srgbClr val="565C6B"/>
                </a:solidFill>
                <a:latin typeface="Helvetica Neue Light"/>
                <a:cs typeface="Helvetica Neue Light"/>
              </a:rPr>
              <a:t>The first concepts were generic AI features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mechanic names the friction it removes and the AI advance it uses</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(2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05  </a:t>
            </a:r>
            <a:r>
              <a:rPr lang="en-US" sz="1700" spc="0" dirty="0">
                <a:solidFill>
                  <a:srgbClr val="14161D"/>
                </a:solidFill>
                <a:latin typeface="Helvetica Neue Medium"/>
                <a:cs typeface="Helvetica Neue Medium"/>
              </a:rPr>
              <a:t>Optimize time to first success; no chat box first</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Text-to-filters assumed traders can state ambiguous intent precisely</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Imports and examples lead; success must be timely, relevant and actionable</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06  </a:t>
            </a:r>
            <a:r>
              <a:rPr lang="en-US" sz="1700" spc="0" dirty="0">
                <a:solidFill>
                  <a:srgbClr val="14161D"/>
                </a:solidFill>
                <a:latin typeface="Helvetica Neue Medium"/>
                <a:cs typeface="Helvetica Neue Medium"/>
              </a:rPr>
              <a:t>Set the advice line, pending compliance</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Buy or sell advice is a legal line</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AI never originates advice; attributed analyst views behind a flag</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07  </a:t>
            </a:r>
            <a:r>
              <a:rPr lang="en-US" sz="1700" spc="0" dirty="0">
                <a:solidFill>
                  <a:srgbClr val="14161D"/>
                </a:solidFill>
                <a:latin typeface="Helvetica Neue Medium"/>
                <a:cs typeface="Helvetica Neue Medium"/>
              </a:rPr>
              <a:t>Lead with the swing trader’s trading day</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Three concepts competed; none followed the real routine</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The Trading Day became the lead concept</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08  </a:t>
            </a:r>
            <a:r>
              <a:rPr lang="en-US" sz="1700" spc="0" dirty="0">
                <a:solidFill>
                  <a:srgbClr val="14161D"/>
                </a:solidFill>
                <a:latin typeface="Helvetica Neue Medium"/>
                <a:cs typeface="Helvetica Neue Medium"/>
              </a:rPr>
              <a:t>Bring teammates’ screens in line with the rules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OCT 1</a:t>
            </a:r>
          </a:p>
          <a:p>
            <a:pPr algn="l">
              <a:lnSpc>
                <a:spcPct val="125000"/>
              </a:lnSpc>
              <a:spcAft>
                <a:spcPts val="200"/>
              </a:spcAft>
            </a:pPr>
            <a:r>
              <a:rPr lang="en-US" sz="1550" spc="0" dirty="0">
                <a:solidFill>
                  <a:srgbClr val="565C6B"/>
                </a:solidFill>
                <a:latin typeface="Helvetica Neue Light"/>
                <a:cs typeface="Helvetica Neue Light"/>
              </a:rPr>
              <a:t>Frames drafted orders, showed confidence % and fit scores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flow ends at the trader’s decision and “Open in your broker”</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Scope, evidence, approval, undo: </a:t>
            </a:r>
            <a:r>
              <a:rPr lang="en-US" sz="4000" spc="-40" dirty="0">
                <a:solidFill>
                  <a:srgbClr val="B5531F"/>
                </a:solidFill>
                <a:latin typeface="Helvetica Neue Medium"/>
                <a:cs typeface="Helvetica Neue Medium"/>
              </a:rPr>
              <a:t>the agent trust pattern</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cop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Scope</a:t>
            </a:r>
          </a:p>
        </p:txBody>
      </p:sp>
      <p:sp>
        <p:nvSpPr>
          <p:cNvPr id="105" name="Scop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overnight agent works on his names only, in one batch at 6 AM. It reports; it never acts.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Evide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Evidence</a:t>
            </a:r>
          </a:p>
        </p:txBody>
      </p:sp>
      <p:sp>
        <p:nvSpPr>
          <p:cNvPr id="108" name="Evide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line cites a value or a source and its time: clear, borderline or “not enough data”, never a guess.</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pproval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Approval</a:t>
            </a:r>
          </a:p>
        </p:txBody>
      </p:sp>
      <p:sp>
        <p:nvSpPr>
          <p:cNvPr id="111" name="Approval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Corrections become proposed rule changes with a before/after replay. Nothing changes until he applies it.</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Ledger and Und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Ledger and Undo</a:t>
            </a:r>
          </a:p>
        </p:txBody>
      </p:sp>
      <p:sp>
        <p:nvSpPr>
          <p:cNvPr id="114" name="Ledger and Und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send and change is logged with who did it, why and when. Any of it can be undone.</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METHODOLOGY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AI drafts. </a:t>
            </a:r>
            <a:r>
              <a:rPr lang="en-US" sz="4400" spc="-40" dirty="0">
                <a:solidFill>
                  <a:srgbClr val="B5531F"/>
                </a:solidFill>
                <a:latin typeface="Helvetica Neue Medium"/>
                <a:cs typeface="Helvetica Neue Medium"/>
              </a:rPr>
              <a:t>The design lead decides</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4023360"/>
            <a:ext cx="2052320" cy="0"/>
          </a:xfrm>
          <a:prstGeom prst="line">
            <a:avLst/>
          </a:prstGeom>
          <a:ln w="28575">
            <a:solidFill>
              <a:srgbClr val="B5531F"/>
            </a:solidFill>
          </a:ln>
        </p:spPr>
      </p:cxnSp>
      <p:sp>
        <p:nvSpPr>
          <p:cNvPr id="104" name="Frame"/>
          <p:cNvSpPr txBox="1"/>
          <p:nvPr/>
        </p:nvSpPr>
        <p:spPr>
          <a:xfrm>
            <a:off x="82296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Aft>
                <a:spcPts val="350"/>
              </a:spcAft>
            </a:pPr>
            <a:r>
              <a:rPr lang="en-US" sz="2100" spc="0" dirty="0">
                <a:solidFill>
                  <a:srgbClr val="14161D"/>
                </a:solidFill>
                <a:latin typeface="Helvetica Neue Medium"/>
                <a:cs typeface="Helvetica Neue Medium"/>
              </a:rPr>
              <a:t>Frame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Sets the question, audience, scope and rules: desktop only, no advice, purple means AI</a:t>
            </a:r>
          </a:p>
        </p:txBody>
      </p:sp>
      <p:cxnSp>
        <p:nvCxnSpPr>
          <p:cNvPr id="105" name="Divider"/>
          <p:cNvCxnSpPr/>
          <p:nvPr/>
        </p:nvCxnSpPr>
        <p:spPr>
          <a:xfrm>
            <a:off x="3149600" y="4023360"/>
            <a:ext cx="2052320" cy="0"/>
          </a:xfrm>
          <a:prstGeom prst="line">
            <a:avLst/>
          </a:prstGeom>
          <a:ln w="9525">
            <a:solidFill>
              <a:srgbClr val="E1E3E8"/>
            </a:solidFill>
          </a:ln>
        </p:spPr>
      </p:cxnSp>
      <p:sp>
        <p:nvSpPr>
          <p:cNvPr id="106" name="Draft"/>
          <p:cNvSpPr txBox="1"/>
          <p:nvPr/>
        </p:nvSpPr>
        <p:spPr>
          <a:xfrm>
            <a:off x="314960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Aft>
                <a:spcPts val="350"/>
              </a:spcAft>
            </a:pPr>
            <a:r>
              <a:rPr lang="en-US" sz="2100" spc="0" dirty="0">
                <a:solidFill>
                  <a:srgbClr val="14161D"/>
                </a:solidFill>
                <a:latin typeface="Helvetica Neue Medium"/>
                <a:cs typeface="Helvetica Neue Medium"/>
              </a:rPr>
              <a:t>Draft</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Research, docs, FigJam boards and Figma screens, drafted against those rules</a:t>
            </a:r>
          </a:p>
        </p:txBody>
      </p:sp>
      <p:cxnSp>
        <p:nvCxnSpPr>
          <p:cNvPr id="107" name="Divider"/>
          <p:cNvCxnSpPr/>
          <p:nvPr/>
        </p:nvCxnSpPr>
        <p:spPr>
          <a:xfrm>
            <a:off x="5476240" y="4023360"/>
            <a:ext cx="2052320" cy="0"/>
          </a:xfrm>
          <a:prstGeom prst="line">
            <a:avLst/>
          </a:prstGeom>
          <a:ln w="9525">
            <a:solidFill>
              <a:srgbClr val="E1E3E8"/>
            </a:solidFill>
          </a:ln>
        </p:spPr>
      </p:cxnSp>
      <p:sp>
        <p:nvSpPr>
          <p:cNvPr id="108" name="Review"/>
          <p:cNvSpPr txBox="1"/>
          <p:nvPr/>
        </p:nvSpPr>
        <p:spPr>
          <a:xfrm>
            <a:off x="547624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Aft>
                <a:spcPts val="350"/>
              </a:spcAft>
            </a:pPr>
            <a:r>
              <a:rPr lang="en-US" sz="2100" spc="0" dirty="0">
                <a:solidFill>
                  <a:srgbClr val="14161D"/>
                </a:solidFill>
                <a:latin typeface="Helvetica Neue Medium"/>
                <a:cs typeface="Helvetica Neue Medium"/>
              </a:rPr>
              <a:t>Review</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LEAD + TEAM</a:t>
            </a:r>
          </a:p>
          <a:p>
            <a:pPr algn="l">
              <a:lnSpc>
                <a:spcPct val="125000"/>
              </a:lnSpc>
              <a:spcAft>
                <a:spcPts val="350"/>
              </a:spcAft>
            </a:pPr>
            <a:r>
              <a:rPr lang="en-US" sz="1550" spc="0" dirty="0">
                <a:solidFill>
                  <a:srgbClr val="565C6B"/>
                </a:solidFill>
                <a:latin typeface="Helvetica Neue Light"/>
                <a:cs typeface="Helvetica Neue Light"/>
              </a:rPr>
              <a:t>Fact checks on the live site; critique with the team; rule breaks caught</a:t>
            </a:r>
          </a:p>
        </p:txBody>
      </p:sp>
      <p:cxnSp>
        <p:nvCxnSpPr>
          <p:cNvPr id="109" name="Divider"/>
          <p:cNvCxnSpPr/>
          <p:nvPr/>
        </p:nvCxnSpPr>
        <p:spPr>
          <a:xfrm>
            <a:off x="7802880" y="4023360"/>
            <a:ext cx="2052320" cy="0"/>
          </a:xfrm>
          <a:prstGeom prst="line">
            <a:avLst/>
          </a:prstGeom>
          <a:ln w="28575">
            <a:solidFill>
              <a:srgbClr val="B5531F"/>
            </a:solidFill>
          </a:ln>
        </p:spPr>
      </p:cxnSp>
      <p:sp>
        <p:nvSpPr>
          <p:cNvPr id="110" name="Decide"/>
          <p:cNvSpPr txBox="1"/>
          <p:nvPr/>
        </p:nvSpPr>
        <p:spPr>
          <a:xfrm>
            <a:off x="780288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Aft>
                <a:spcPts val="350"/>
              </a:spcAft>
            </a:pPr>
            <a:r>
              <a:rPr lang="en-US" sz="2100" spc="0" dirty="0">
                <a:solidFill>
                  <a:srgbClr val="14161D"/>
                </a:solidFill>
                <a:latin typeface="Helvetica Neue Medium"/>
                <a:cs typeface="Helvetica Neue Medium"/>
              </a:rPr>
              <a:t>Decide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What to adopt, rename, cut or lead with, and why</a:t>
            </a:r>
          </a:p>
        </p:txBody>
      </p:sp>
      <p:cxnSp>
        <p:nvCxnSpPr>
          <p:cNvPr id="111" name="Divider"/>
          <p:cNvCxnSpPr/>
          <p:nvPr/>
        </p:nvCxnSpPr>
        <p:spPr>
          <a:xfrm>
            <a:off x="10129520" y="4023360"/>
            <a:ext cx="2052320" cy="0"/>
          </a:xfrm>
          <a:prstGeom prst="line">
            <a:avLst/>
          </a:prstGeom>
          <a:ln w="9525">
            <a:solidFill>
              <a:srgbClr val="E1E3E8"/>
            </a:solidFill>
          </a:ln>
        </p:spPr>
      </p:cxnSp>
      <p:sp>
        <p:nvSpPr>
          <p:cNvPr id="112" name="Propagate"/>
          <p:cNvSpPr txBox="1"/>
          <p:nvPr/>
        </p:nvSpPr>
        <p:spPr>
          <a:xfrm>
            <a:off x="1012952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Aft>
                <a:spcPts val="350"/>
              </a:spcAft>
            </a:pPr>
            <a:r>
              <a:rPr lang="en-US" sz="2100" spc="0" dirty="0">
                <a:solidFill>
                  <a:srgbClr val="14161D"/>
                </a:solidFill>
                <a:latin typeface="Helvetica Neue Medium"/>
                <a:cs typeface="Helvetica Neue Medium"/>
              </a:rPr>
              <a:t>Propagate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Each decision applied across every doc, board and screen</a:t>
            </a:r>
          </a:p>
        </p:txBody>
      </p:sp>
      <p:sp>
        <p:nvSpPr>
          <p:cNvPr id="113" name="Note"/>
          <p:cNvSpPr txBox="1"/>
          <p:nvPr/>
        </p:nvSpPr>
        <p:spPr>
          <a:xfrm>
            <a:off x="822960" y="7726679"/>
            <a:ext cx="11358880" cy="64008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Repeated in every phase: research → principles → concepts → screens. Rules set by the lead live in the project brief, so every AI draft starts from them.</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IMPLEMENTATION</a:t>
            </a:r>
          </a:p>
        </p:txBody>
      </p:sp>
      <p:sp>
        <p:nvSpPr>
          <p:cNvPr id="3"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Built mostly on what FinViz already runs, plus </a:t>
            </a:r>
            <a:r>
              <a:rPr lang="en-US" sz="3800" spc="-40" dirty="0">
                <a:solidFill>
                  <a:srgbClr val="B5531F"/>
                </a:solidFill>
                <a:latin typeface="Helvetica Neue Medium"/>
                <a:cs typeface="Helvetica Neue Medium"/>
              </a:rPr>
              <a:t>a few small services</a:t>
            </a:r>
            <a:r>
              <a:rPr lang="en-US" sz="3800" spc="-40" dirty="0">
                <a:solidFill>
                  <a:srgbClr val="14161D"/>
                </a:solidFill>
                <a:latin typeface="Helvetica Neue Medium"/>
                <a:cs typeface="Helvetica Neue Medium"/>
              </a:rPr>
              <a:t>.</a:t>
            </a:r>
          </a:p>
        </p:txBody>
      </p:sp>
      <p:sp>
        <p:nvSpPr>
          <p:cNvPr id="4"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ALREADY IN FINVIZ</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Screener and its URL filter engine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Rule-based pattern signals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Elite alerts and the 7-day trial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Earnings calendar and news feeds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Portfolio and Maps</a:t>
            </a:r>
          </a:p>
        </p:txBody>
      </p:sp>
      <p:sp>
        <p:nvSpPr>
          <p:cNvPr id="5"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NEW SERVICES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Translation: LLM + filter-schema validator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Reasons engine: checks at 7:30, 12:00 and 4:30</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Replay service for alert previews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one batch at 6 AM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Quiet-hours scheduler + activity log</a:t>
            </a:r>
          </a:p>
        </p:txBody>
      </p:sp>
      <p:sp>
        <p:nvSpPr>
          <p:cNvPr id="6"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INTEGRATION CHALLENGES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LLM latency vs an instant screener: stream chips, cache common screens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Free (delayed) vs Elite (real-time) data paths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cost per user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Compliance gate and feature flag for attributed views</a:t>
            </a:r>
          </a:p>
        </p:txBody>
      </p:sp>
      <p:sp>
        <p:nvSpPr>
          <p:cNvPr id="7" name="Source"/>
          <p:cNvSpPr txBox="1"/>
          <p:nvPr/>
        </p:nvSpPr>
        <p:spPr>
          <a:xfrm>
            <a:off x="822960" y="8275320"/>
            <a:ext cx="11358880" cy="54864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Proposed, not built: a plan to agree with FinViz engineering. One token library (Figma variables matched to FinViz CSS variables), KPI events defined with analytics, compliance pre-review.</a:t>
            </a:r>
          </a:p>
        </p:txBody>
      </p:sp>
      <p:pic>
        <p:nvPicPr>
          <p:cNvPr id="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WHAT WE SAW</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FinViz has 89 filters and </a:t>
            </a:r>
            <a:r>
              <a:rPr lang="en-US" sz="3600" spc="-40" dirty="0">
                <a:solidFill>
                  <a:srgbClr val="B5531F"/>
                </a:solidFill>
                <a:latin typeface="Helvetica Neue Medium"/>
                <a:cs typeface="Helvetica Neue Medium"/>
              </a:rPr>
              <a:t>no AI in the screener</a:t>
            </a:r>
            <a:r>
              <a:rPr lang="en-US" sz="3600" spc="-40" dirty="0">
                <a:solidFill>
                  <a:srgbClr val="14161D"/>
                </a:solidFill>
                <a:latin typeface="Helvetica Neue Medium"/>
                <a:cs typeface="Helvetica Neue Medium"/>
              </a:rPr>
              <a:t>. New users still get a tour.</a:t>
            </a:r>
          </a:p>
        </p:txBody>
      </p:sp>
      <p:sp>
        <p:nvSpPr>
          <p:cNvPr id="3010" name="Tile"/>
          <p:cNvSpPr/>
          <p:nvPr/>
        </p:nvSpPr>
        <p:spPr>
          <a:xfrm>
            <a:off x="822960" y="3063240"/>
            <a:ext cx="3383280" cy="3474720"/>
          </a:xfrm>
          <a:prstGeom prst="roundRect">
            <a:avLst>
              <a:gd name="adj" fmla="val 3783"/>
            </a:avLst>
          </a:prstGeom>
          <a:solidFill>
            <a:srgbClr val="B5531F"/>
          </a:solidFill>
          <a:ln>
            <a:noFill/>
          </a:ln>
        </p:spPr>
        <p:txBody>
          <a:bodyPr/>
          <a:lstStyle/>
          <a:p>
            <a:endParaRPr lang="en-US"/>
          </a:p>
        </p:txBody>
      </p:sp>
      <p:sp>
        <p:nvSpPr>
          <p:cNvPr id="103" name="Number"/>
          <p:cNvSpPr txBox="1"/>
          <p:nvPr/>
        </p:nvSpPr>
        <p:spPr>
          <a:xfrm>
            <a:off x="1097280" y="3264408"/>
            <a:ext cx="2834640" cy="2133600"/>
          </a:xfrm>
          <a:prstGeom prst="rect">
            <a:avLst/>
          </a:prstGeom>
          <a:noFill/>
        </p:spPr>
        <p:txBody>
          <a:bodyPr wrap="square" lIns="0" tIns="0" rIns="0" bIns="0" anchor="t">
            <a:noAutofit/>
          </a:bodyPr>
          <a:lstStyle/>
          <a:p>
            <a:pPr algn="l">
              <a:lnSpc>
                <a:spcPct val="88000"/>
              </a:lnSpc>
              <a:spcAft>
                <a:spcPts val="300"/>
              </a:spcAft>
            </a:pPr>
            <a:r>
              <a:rPr lang="en-US" sz="16000" spc="-60" dirty="0">
                <a:solidFill>
                  <a:srgbClr val="FFFFFF"/>
                </a:solidFill>
                <a:latin typeface="Helvetica Neue Medium"/>
                <a:cs typeface="Helvetica Neue Medium"/>
              </a:rPr>
              <a:t>0</a:t>
            </a:r>
          </a:p>
        </p:txBody>
      </p:sp>
      <p:sp>
        <p:nvSpPr>
          <p:cNvPr id="104" name="Label"/>
          <p:cNvSpPr txBox="1"/>
          <p:nvPr/>
        </p:nvSpPr>
        <p:spPr>
          <a:xfrm>
            <a:off x="1097280" y="5471160"/>
            <a:ext cx="28346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AI features in the screener; AI appears only on the news</a:t>
            </a:r>
          </a:p>
        </p:txBody>
      </p:sp>
      <p:sp>
        <p:nvSpPr>
          <p:cNvPr id="3011" name="Tile"/>
          <p:cNvSpPr/>
          <p:nvPr/>
        </p:nvSpPr>
        <p:spPr>
          <a:xfrm>
            <a:off x="4389120" y="3063240"/>
            <a:ext cx="2474976" cy="3474720"/>
          </a:xfrm>
          <a:prstGeom prst="roundRect">
            <a:avLst>
              <a:gd name="adj" fmla="val 5172"/>
            </a:avLst>
          </a:prstGeom>
          <a:solidFill>
            <a:srgbClr val="1B1D24"/>
          </a:solidFill>
          <a:ln>
            <a:noFill/>
          </a:ln>
        </p:spPr>
        <p:txBody>
          <a:bodyPr/>
          <a:lstStyle/>
          <a:p>
            <a:endParaRPr lang="en-US"/>
          </a:p>
        </p:txBody>
      </p:sp>
      <p:sp>
        <p:nvSpPr>
          <p:cNvPr id="105" name="Number"/>
          <p:cNvSpPr txBox="1"/>
          <p:nvPr/>
        </p:nvSpPr>
        <p:spPr>
          <a:xfrm>
            <a:off x="4663440" y="3264408"/>
            <a:ext cx="1926336" cy="960120"/>
          </a:xfrm>
          <a:prstGeom prst="rect">
            <a:avLst/>
          </a:prstGeom>
          <a:noFill/>
        </p:spPr>
        <p:txBody>
          <a:bodyPr wrap="square" lIns="0" tIns="0" rIns="0" bIns="0" anchor="t">
            <a:noAutofit/>
          </a:bodyPr>
          <a:lstStyle/>
          <a:p>
            <a:pPr algn="l">
              <a:lnSpc>
                <a:spcPct val="88000"/>
              </a:lnSpc>
              <a:spcAft>
                <a:spcPts val="300"/>
              </a:spcAft>
            </a:pPr>
            <a:r>
              <a:rPr lang="en-US" sz="7200" spc="-60" dirty="0">
                <a:solidFill>
                  <a:srgbClr val="F5F5F7"/>
                </a:solidFill>
                <a:latin typeface="Helvetica Neue Medium"/>
                <a:cs typeface="Helvetica Neue Medium"/>
              </a:rPr>
              <a:t>89</a:t>
            </a:r>
          </a:p>
        </p:txBody>
      </p:sp>
      <p:sp>
        <p:nvSpPr>
          <p:cNvPr id="106" name="Label"/>
          <p:cNvSpPr txBox="1"/>
          <p:nvPr/>
        </p:nvSpPr>
        <p:spPr>
          <a:xfrm>
            <a:off x="4663440" y="429768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filter dropdowns, most in preset buckets</a:t>
            </a:r>
          </a:p>
        </p:txBody>
      </p:sp>
      <p:sp>
        <p:nvSpPr>
          <p:cNvPr id="3012" name="Tile"/>
          <p:cNvSpPr/>
          <p:nvPr/>
        </p:nvSpPr>
        <p:spPr>
          <a:xfrm>
            <a:off x="7046975" y="3063240"/>
            <a:ext cx="2474976" cy="3474720"/>
          </a:xfrm>
          <a:prstGeom prst="roundRect">
            <a:avLst>
              <a:gd name="adj" fmla="val 5172"/>
            </a:avLst>
          </a:prstGeom>
          <a:solidFill>
            <a:srgbClr val="F1F2F5"/>
          </a:solidFill>
          <a:ln>
            <a:noFill/>
          </a:ln>
        </p:spPr>
        <p:txBody>
          <a:bodyPr/>
          <a:lstStyle/>
          <a:p>
            <a:endParaRPr lang="en-US"/>
          </a:p>
        </p:txBody>
      </p:sp>
      <p:sp>
        <p:nvSpPr>
          <p:cNvPr id="107" name="Number"/>
          <p:cNvSpPr txBox="1"/>
          <p:nvPr/>
        </p:nvSpPr>
        <p:spPr>
          <a:xfrm>
            <a:off x="7321295" y="3264408"/>
            <a:ext cx="1926336"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87/89</a:t>
            </a:r>
          </a:p>
        </p:txBody>
      </p:sp>
      <p:sp>
        <p:nvSpPr>
          <p:cNvPr id="108" name="Label"/>
          <p:cNvSpPr txBox="1"/>
          <p:nvPr/>
        </p:nvSpPr>
        <p:spPr>
          <a:xfrm>
            <a:off x="7321295" y="400431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filters need Elite for an exact value</a:t>
            </a:r>
          </a:p>
        </p:txBody>
      </p:sp>
      <p:sp>
        <p:nvSpPr>
          <p:cNvPr id="3013" name="Tile"/>
          <p:cNvSpPr/>
          <p:nvPr/>
        </p:nvSpPr>
        <p:spPr>
          <a:xfrm>
            <a:off x="7321295" y="6153912"/>
            <a:ext cx="1926336" cy="100584"/>
          </a:xfrm>
          <a:prstGeom prst="roundRect">
            <a:avLst>
              <a:gd name="adj" fmla="val 45454"/>
            </a:avLst>
          </a:prstGeom>
          <a:solidFill>
            <a:srgbClr val="DDE0E6"/>
          </a:solidFill>
          <a:ln>
            <a:noFill/>
          </a:ln>
        </p:spPr>
        <p:txBody>
          <a:bodyPr/>
          <a:lstStyle/>
          <a:p>
            <a:endParaRPr lang="en-US"/>
          </a:p>
        </p:txBody>
      </p:sp>
      <p:sp>
        <p:nvSpPr>
          <p:cNvPr id="3014" name="Tile"/>
          <p:cNvSpPr/>
          <p:nvPr/>
        </p:nvSpPr>
        <p:spPr>
          <a:xfrm>
            <a:off x="7321295" y="6153912"/>
            <a:ext cx="1883047" cy="100584"/>
          </a:xfrm>
          <a:prstGeom prst="roundRect">
            <a:avLst>
              <a:gd name="adj" fmla="val 45454"/>
            </a:avLst>
          </a:prstGeom>
          <a:solidFill>
            <a:srgbClr val="FF6600"/>
          </a:solidFill>
          <a:ln>
            <a:noFill/>
          </a:ln>
        </p:spPr>
        <p:txBody>
          <a:bodyPr/>
          <a:lstStyle/>
          <a:p>
            <a:endParaRPr lang="en-US"/>
          </a:p>
        </p:txBody>
      </p:sp>
      <p:sp>
        <p:nvSpPr>
          <p:cNvPr id="3015" name="Tile"/>
          <p:cNvSpPr/>
          <p:nvPr/>
        </p:nvSpPr>
        <p:spPr>
          <a:xfrm>
            <a:off x="9704832" y="3063240"/>
            <a:ext cx="2474976" cy="3474720"/>
          </a:xfrm>
          <a:prstGeom prst="roundRect">
            <a:avLst>
              <a:gd name="adj" fmla="val 5172"/>
            </a:avLst>
          </a:prstGeom>
          <a:solidFill>
            <a:srgbClr val="1B1D24"/>
          </a:solidFill>
          <a:ln>
            <a:noFill/>
          </a:ln>
        </p:spPr>
        <p:txBody>
          <a:bodyPr/>
          <a:lstStyle/>
          <a:p>
            <a:endParaRPr lang="en-US"/>
          </a:p>
        </p:txBody>
      </p:sp>
      <p:sp>
        <p:nvSpPr>
          <p:cNvPr id="109" name="Number"/>
          <p:cNvSpPr txBox="1"/>
          <p:nvPr/>
        </p:nvSpPr>
        <p:spPr>
          <a:xfrm>
            <a:off x="9979152" y="3264408"/>
            <a:ext cx="1926336" cy="586740"/>
          </a:xfrm>
          <a:prstGeom prst="rect">
            <a:avLst/>
          </a:prstGeom>
          <a:noFill/>
        </p:spPr>
        <p:txBody>
          <a:bodyPr wrap="square" lIns="0" tIns="0" rIns="0" bIns="0" anchor="t">
            <a:noAutofit/>
          </a:bodyPr>
          <a:lstStyle/>
          <a:p>
            <a:pPr algn="l">
              <a:lnSpc>
                <a:spcPct val="88000"/>
              </a:lnSpc>
              <a:spcAft>
                <a:spcPts val="300"/>
              </a:spcAft>
            </a:pPr>
            <a:r>
              <a:rPr lang="en-US" sz="4400" spc="-60" dirty="0">
                <a:solidFill>
                  <a:srgbClr val="F5F5F7"/>
                </a:solidFill>
                <a:latin typeface="Helvetica Neue Medium"/>
                <a:cs typeface="Helvetica Neue Medium"/>
              </a:rPr>
              <a:t>7 days</a:t>
            </a:r>
          </a:p>
        </p:txBody>
      </p:sp>
      <p:sp>
        <p:nvSpPr>
          <p:cNvPr id="110" name="Label"/>
          <p:cNvSpPr txBox="1"/>
          <p:nvPr/>
        </p:nvSpPr>
        <p:spPr>
          <a:xfrm>
            <a:off x="9979152" y="392430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Elite trial, card required, offered at sign-up, before any value</a:t>
            </a:r>
          </a:p>
        </p:txBody>
      </p:sp>
      <p:sp>
        <p:nvSpPr>
          <p:cNvPr id="3016"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600" spc="0" dirty="0">
                <a:solidFill>
                  <a:srgbClr val="14161D"/>
                </a:solidFill>
                <a:latin typeface="Helvetica Neue Light"/>
                <a:cs typeface="Helvetica Neue Light"/>
              </a:rPr>
              <a:t>A four-person design review (Sept 30, 31 points) changed the goal: time to a first success, an insight that is actionable, timely and relevant to the trader’s own stocks. Then a habit.</a:t>
            </a:r>
          </a:p>
          <a:p>
            <a:pPr algn="l">
              <a:lnSpc>
                <a:spcPct val="115000"/>
              </a:lnSpc>
              <a:spcAft>
                <a:spcPts val="300"/>
              </a:spcAft>
            </a:pPr>
            <a:r>
              <a:rPr lang="en-US" sz="1150" spc="0" dirty="0">
                <a:solidFill>
                  <a:srgbClr val="565C6B"/>
                </a:solidFill>
                <a:latin typeface="Helvetica Neue Light"/>
                <a:cs typeface="Helvetica Neue Light"/>
              </a:rPr>
              <a:t>Sources: live-site audit of finviz.com, Oct 4 2026; design review, Sept 30. Desk evidence, not yet confirmed with FinViz users.</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AFTER TESTING</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Four tests are set, each with a bar to pass. </a:t>
            </a:r>
            <a:r>
              <a:rPr lang="en-US" sz="4400" spc="-40" dirty="0">
                <a:solidFill>
                  <a:srgbClr val="B5531F"/>
                </a:solidFill>
                <a:latin typeface="Helvetica Neue Medium"/>
                <a:cs typeface="Helvetica Neue Medium"/>
              </a:rPr>
              <a:t>Nothing is measured yet.</a:t>
            </a:r>
          </a:p>
        </p:txBody>
      </p:sp>
      <p:sp>
        <p:nvSpPr>
          <p:cNvPr id="103" name="Column label"/>
          <p:cNvSpPr txBox="1"/>
          <p:nvPr/>
        </p:nvSpPr>
        <p:spPr>
          <a:xfrm>
            <a:off x="822960" y="365760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TEST</a:t>
            </a:r>
          </a:p>
        </p:txBody>
      </p:sp>
      <p:sp>
        <p:nvSpPr>
          <p:cNvPr id="104" name="Column label"/>
          <p:cNvSpPr txBox="1"/>
          <p:nvPr/>
        </p:nvSpPr>
        <p:spPr>
          <a:xfrm>
            <a:off x="3931920" y="3657600"/>
            <a:ext cx="338328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WHAT IT MEASURES</a:t>
            </a:r>
          </a:p>
        </p:txBody>
      </p:sp>
      <p:sp>
        <p:nvSpPr>
          <p:cNvPr id="105" name="Column label"/>
          <p:cNvSpPr txBox="1"/>
          <p:nvPr/>
        </p:nvSpPr>
        <p:spPr>
          <a:xfrm>
            <a:off x="7589520" y="3657600"/>
            <a:ext cx="26060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BAR TO PASS</a:t>
            </a:r>
          </a:p>
        </p:txBody>
      </p:sp>
      <p:sp>
        <p:nvSpPr>
          <p:cNvPr id="106" name="Column label"/>
          <p:cNvSpPr txBox="1"/>
          <p:nvPr/>
        </p:nvSpPr>
        <p:spPr>
          <a:xfrm>
            <a:off x="10469880" y="3657600"/>
            <a:ext cx="171196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RESULT</a:t>
            </a:r>
          </a:p>
        </p:txBody>
      </p:sp>
      <p:cxnSp>
        <p:nvCxnSpPr>
          <p:cNvPr id="107" name="Divider"/>
          <p:cNvCxnSpPr/>
          <p:nvPr/>
        </p:nvCxnSpPr>
        <p:spPr>
          <a:xfrm>
            <a:off x="822960" y="4023360"/>
            <a:ext cx="11358880" cy="0"/>
          </a:xfrm>
          <a:prstGeom prst="line">
            <a:avLst/>
          </a:prstGeom>
          <a:ln w="9525">
            <a:solidFill>
              <a:srgbClr val="E1E3E8"/>
            </a:solidFill>
          </a:ln>
        </p:spPr>
      </p:cxnSp>
      <p:sp>
        <p:nvSpPr>
          <p:cNvPr id="108" name="Show It eval"/>
          <p:cNvSpPr txBox="1"/>
          <p:nvPr/>
        </p:nvSpPr>
        <p:spPr>
          <a:xfrm>
            <a:off x="822960" y="422452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Show It eval</a:t>
            </a:r>
          </a:p>
          <a:p>
            <a:pPr algn="l">
              <a:lnSpc>
                <a:spcPct val="110000"/>
              </a:lnSpc>
              <a:spcAft>
                <a:spcPts val="300"/>
              </a:spcAft>
            </a:pPr>
            <a:r>
              <a:rPr lang="en-US" sz="1300" spc="0" dirty="0">
                <a:solidFill>
                  <a:srgbClr val="565C6B"/>
                </a:solidFill>
                <a:latin typeface="Helvetica Neue Light"/>
                <a:cs typeface="Helvetica Neue Light"/>
              </a:rPr>
              <a:t>40 fixed requests on the live prototype</a:t>
            </a:r>
          </a:p>
        </p:txBody>
      </p:sp>
      <p:sp>
        <p:nvSpPr>
          <p:cNvPr id="109" name="Show It eval measures"/>
          <p:cNvSpPr txBox="1"/>
          <p:nvPr/>
        </p:nvSpPr>
        <p:spPr>
          <a:xfrm>
            <a:off x="3931920" y="422452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Right filters, invented codes stopped, asks when vague, refuses to predict</a:t>
            </a:r>
          </a:p>
        </p:txBody>
      </p:sp>
      <p:sp>
        <p:nvSpPr>
          <p:cNvPr id="110" name="Show It eval bar"/>
          <p:cNvSpPr txBox="1"/>
          <p:nvPr/>
        </p:nvSpPr>
        <p:spPr>
          <a:xfrm>
            <a:off x="7589520" y="422452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&lt; 2% wrong translations</a:t>
            </a:r>
          </a:p>
        </p:txBody>
      </p:sp>
      <p:sp>
        <p:nvSpPr>
          <p:cNvPr id="111" name="Show It eval result"/>
          <p:cNvSpPr txBox="1"/>
          <p:nvPr/>
        </p:nvSpPr>
        <p:spPr>
          <a:xfrm>
            <a:off x="10469880" y="422452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Ready to run</a:t>
            </a:r>
          </a:p>
        </p:txBody>
      </p:sp>
      <p:cxnSp>
        <p:nvCxnSpPr>
          <p:cNvPr id="112" name="Divider"/>
          <p:cNvCxnSpPr/>
          <p:nvPr/>
        </p:nvCxnSpPr>
        <p:spPr>
          <a:xfrm>
            <a:off x="822960" y="5074920"/>
            <a:ext cx="11358880" cy="0"/>
          </a:xfrm>
          <a:prstGeom prst="line">
            <a:avLst/>
          </a:prstGeom>
          <a:ln w="9525">
            <a:solidFill>
              <a:srgbClr val="E1E3E8"/>
            </a:solidFill>
          </a:ln>
        </p:spPr>
      </p:cxnSp>
      <p:sp>
        <p:nvSpPr>
          <p:cNvPr id="113" name="Trader sessions"/>
          <p:cNvSpPr txBox="1"/>
          <p:nvPr/>
        </p:nvSpPr>
        <p:spPr>
          <a:xfrm>
            <a:off x="822960" y="527608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Trader sessions</a:t>
            </a:r>
          </a:p>
          <a:p>
            <a:pPr algn="l">
              <a:lnSpc>
                <a:spcPct val="110000"/>
              </a:lnSpc>
              <a:spcAft>
                <a:spcPts val="300"/>
              </a:spcAft>
            </a:pPr>
            <a:r>
              <a:rPr lang="en-US" sz="1300" spc="0" dirty="0">
                <a:solidFill>
                  <a:srgbClr val="565C6B"/>
                </a:solidFill>
                <a:latin typeface="Helvetica Neue Light"/>
                <a:cs typeface="Helvetica Neue Light"/>
              </a:rPr>
              <a:t>5 swing traders, think-aloud</a:t>
            </a:r>
          </a:p>
        </p:txBody>
      </p:sp>
      <p:sp>
        <p:nvSpPr>
          <p:cNvPr id="114" name="Trader sessions measures"/>
          <p:cNvSpPr txBox="1"/>
          <p:nvPr/>
        </p:nvSpPr>
        <p:spPr>
          <a:xfrm>
            <a:off x="3931920" y="527608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Time to a first saved screen; trust; whether the replay is understood</a:t>
            </a:r>
          </a:p>
        </p:txBody>
      </p:sp>
      <p:sp>
        <p:nvSpPr>
          <p:cNvPr id="115" name="Trader sessions bar"/>
          <p:cNvSpPr txBox="1"/>
          <p:nvPr/>
        </p:nvSpPr>
        <p:spPr>
          <a:xfrm>
            <a:off x="7589520" y="527608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Under 5 min · trust 5+ of 7 · 4 of 5 explain the replay</a:t>
            </a:r>
          </a:p>
        </p:txBody>
      </p:sp>
      <p:sp>
        <p:nvSpPr>
          <p:cNvPr id="116" name="Trader sessions result"/>
          <p:cNvSpPr txBox="1"/>
          <p:nvPr/>
        </p:nvSpPr>
        <p:spPr>
          <a:xfrm>
            <a:off x="10469880" y="527608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Kit ready</a:t>
            </a:r>
          </a:p>
        </p:txBody>
      </p:sp>
      <p:cxnSp>
        <p:nvCxnSpPr>
          <p:cNvPr id="117" name="Divider"/>
          <p:cNvCxnSpPr/>
          <p:nvPr/>
        </p:nvCxnSpPr>
        <p:spPr>
          <a:xfrm>
            <a:off x="822960" y="6126480"/>
            <a:ext cx="11358880" cy="0"/>
          </a:xfrm>
          <a:prstGeom prst="line">
            <a:avLst/>
          </a:prstGeom>
          <a:ln w="9525">
            <a:solidFill>
              <a:srgbClr val="E1E3E8"/>
            </a:solidFill>
          </a:ln>
        </p:spPr>
      </p:cxnSp>
      <p:sp>
        <p:nvSpPr>
          <p:cNvPr id="118" name="Alert diary"/>
          <p:cNvSpPr txBox="1"/>
          <p:nvPr/>
        </p:nvSpPr>
        <p:spPr>
          <a:xfrm>
            <a:off x="822960" y="632764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Alert diary</a:t>
            </a:r>
          </a:p>
          <a:p>
            <a:pPr algn="l">
              <a:lnSpc>
                <a:spcPct val="110000"/>
              </a:lnSpc>
              <a:spcAft>
                <a:spcPts val="300"/>
              </a:spcAft>
            </a:pPr>
            <a:r>
              <a:rPr lang="en-US" sz="1300" spc="0" dirty="0">
                <a:solidFill>
                  <a:srgbClr val="565C6B"/>
                </a:solidFill>
                <a:latin typeface="Helvetica Neue Light"/>
                <a:cs typeface="Helvetica Neue Light"/>
              </a:rPr>
              <a:t>2 weeks with alerts on</a:t>
            </a:r>
          </a:p>
        </p:txBody>
      </p:sp>
      <p:sp>
        <p:nvSpPr>
          <p:cNvPr id="119" name="Alert diary measures"/>
          <p:cNvSpPr txBox="1"/>
          <p:nvPr/>
        </p:nvSpPr>
        <p:spPr>
          <a:xfrm>
            <a:off x="3931920" y="632764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Alerts that lead to an action; alerts muted</a:t>
            </a:r>
          </a:p>
        </p:txBody>
      </p:sp>
      <p:sp>
        <p:nvSpPr>
          <p:cNvPr id="120" name="Alert diary bar"/>
          <p:cNvSpPr txBox="1"/>
          <p:nvPr/>
        </p:nvSpPr>
        <p:spPr>
          <a:xfrm>
            <a:off x="7589520" y="632764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Over 40% acted on · under 10% muted</a:t>
            </a:r>
          </a:p>
        </p:txBody>
      </p:sp>
      <p:sp>
        <p:nvSpPr>
          <p:cNvPr id="121" name="Alert diary result"/>
          <p:cNvSpPr txBox="1"/>
          <p:nvPr/>
        </p:nvSpPr>
        <p:spPr>
          <a:xfrm>
            <a:off x="10469880" y="632764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After sessions</a:t>
            </a:r>
          </a:p>
        </p:txBody>
      </p:sp>
      <p:cxnSp>
        <p:nvCxnSpPr>
          <p:cNvPr id="122" name="Divider"/>
          <p:cNvCxnSpPr/>
          <p:nvPr/>
        </p:nvCxnSpPr>
        <p:spPr>
          <a:xfrm>
            <a:off x="822960" y="7178040"/>
            <a:ext cx="11358880" cy="0"/>
          </a:xfrm>
          <a:prstGeom prst="line">
            <a:avLst/>
          </a:prstGeom>
          <a:ln w="9525">
            <a:solidFill>
              <a:srgbClr val="E1E3E8"/>
            </a:solidFill>
          </a:ln>
        </p:spPr>
      </p:cxnSp>
      <p:sp>
        <p:nvSpPr>
          <p:cNvPr id="123" name="Days to Elite"/>
          <p:cNvSpPr txBox="1"/>
          <p:nvPr/>
        </p:nvSpPr>
        <p:spPr>
          <a:xfrm>
            <a:off x="822960" y="737920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Days to Elite</a:t>
            </a:r>
          </a:p>
          <a:p>
            <a:pPr algn="l">
              <a:lnSpc>
                <a:spcPct val="110000"/>
              </a:lnSpc>
              <a:spcAft>
                <a:spcPts val="300"/>
              </a:spcAft>
            </a:pPr>
            <a:r>
              <a:rPr lang="en-US" sz="1300" spc="0" dirty="0">
                <a:solidFill>
                  <a:srgbClr val="565C6B"/>
                </a:solidFill>
                <a:latin typeface="Helvetica Neue Light"/>
                <a:cs typeface="Helvetica Neue Light"/>
              </a:rPr>
              <a:t>A/B against today’s sign-up trial</a:t>
            </a:r>
          </a:p>
        </p:txBody>
      </p:sp>
      <p:sp>
        <p:nvSpPr>
          <p:cNvPr id="124" name="Days to Elite measures"/>
          <p:cNvSpPr txBox="1"/>
          <p:nvPr/>
        </p:nvSpPr>
        <p:spPr>
          <a:xfrm>
            <a:off x="3931920" y="737920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Days from sign-up to Elite</a:t>
            </a:r>
          </a:p>
        </p:txBody>
      </p:sp>
      <p:sp>
        <p:nvSpPr>
          <p:cNvPr id="125" name="Days to Elite bar"/>
          <p:cNvSpPr txBox="1"/>
          <p:nvPr/>
        </p:nvSpPr>
        <p:spPr>
          <a:xfrm>
            <a:off x="7589520" y="737920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42 → 21 days</a:t>
            </a:r>
          </a:p>
        </p:txBody>
      </p:sp>
      <p:sp>
        <p:nvSpPr>
          <p:cNvPr id="126" name="Days to Elite result"/>
          <p:cNvSpPr txBox="1"/>
          <p:nvPr/>
        </p:nvSpPr>
        <p:spPr>
          <a:xfrm>
            <a:off x="10469880" y="737920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Needs FinViz data</a:t>
            </a:r>
          </a:p>
        </p:txBody>
      </p:sp>
      <p:cxnSp>
        <p:nvCxnSpPr>
          <p:cNvPr id="127" name="Divider"/>
          <p:cNvCxnSpPr/>
          <p:nvPr/>
        </p:nvCxnSpPr>
        <p:spPr>
          <a:xfrm>
            <a:off x="822960" y="8229600"/>
            <a:ext cx="11358880" cy="0"/>
          </a:xfrm>
          <a:prstGeom prst="line">
            <a:avLst/>
          </a:prstGeom>
          <a:ln w="9525">
            <a:solidFill>
              <a:srgbClr val="E1E3E8"/>
            </a:solidFill>
          </a:ln>
        </p:spPr>
      </p:cxnSp>
      <p:sp>
        <p:nvSpPr>
          <p:cNvPr id="12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Each PLANNED result is replaced with the measured number when its test runs. Bars come from the KPI framework and the validation kit.</a:t>
            </a:r>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LEARNINGS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What leading with AI </a:t>
            </a:r>
            <a:r>
              <a:rPr lang="en-US" sz="4400" spc="-40" dirty="0">
                <a:solidFill>
                  <a:srgbClr val="B5531F"/>
                </a:solidFill>
                <a:latin typeface="Helvetica Neue Medium"/>
                <a:cs typeface="Helvetica Neue Medium"/>
              </a:rPr>
              <a:t>taught me</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The bottleneck moves to judgmen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The bottleneck moves to judgment</a:t>
            </a:r>
          </a:p>
        </p:txBody>
      </p:sp>
      <p:sp>
        <p:nvSpPr>
          <p:cNvPr id="105" name="The bottleneck moves to judgmen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Drafts take minutes. The lead’s value is framing, checking facts and deciding what to keep.</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Write the rules down o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Write the rules down once</a:t>
            </a:r>
          </a:p>
        </p:txBody>
      </p:sp>
      <p:sp>
        <p:nvSpPr>
          <p:cNvPr id="108" name="Write the rules down o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Rules in the project brief made every AI draft start compliant.</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Check the live product, not the doc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Check the live product, not the docs</a:t>
            </a:r>
          </a:p>
        </p:txBody>
      </p:sp>
      <p:sp>
        <p:nvSpPr>
          <p:cNvPr id="111" name="Check the live product, not the doc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live-site walk overturned two assumptions.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Reconcile, don’t overwrit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Reconcile, don’t overwrite</a:t>
            </a:r>
          </a:p>
        </p:txBody>
      </p:sp>
      <p:sp>
        <p:nvSpPr>
          <p:cNvPr id="114" name="Reconcile, don’t overwrit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Teammates’ screens kept their best ideas and lost only what broke the rules.</a:t>
            </a:r>
          </a:p>
        </p:txBody>
      </p:sp>
      <p:pic>
        <p:nvPicPr>
          <p:cNvPr id="1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 STEPS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Before launch: what to validate next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Nothing has launched, so these replace post-launch learnings: the riskiest assumptions, and how to test them.</a:t>
            </a:r>
          </a:p>
        </p:txBody>
      </p:sp>
      <p:sp>
        <p:nvSpPr>
          <p:cNvPr id="104" name="Column label"/>
          <p:cNvSpPr txBox="1"/>
          <p:nvPr/>
        </p:nvSpPr>
        <p:spPr>
          <a:xfrm>
            <a:off x="822960" y="2194560"/>
            <a:ext cx="48463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RISKY ASSUMPTION</a:t>
            </a:r>
          </a:p>
        </p:txBody>
      </p:sp>
      <p:sp>
        <p:nvSpPr>
          <p:cNvPr id="105" name="Column label"/>
          <p:cNvSpPr txBox="1"/>
          <p:nvPr/>
        </p:nvSpPr>
        <p:spPr>
          <a:xfrm>
            <a:off x="5943600" y="2194560"/>
            <a:ext cx="623824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HOW WE TEST IT</a:t>
            </a:r>
          </a:p>
        </p:txBody>
      </p:sp>
      <p:cxnSp>
        <p:nvCxnSpPr>
          <p:cNvPr id="106" name="Divider"/>
          <p:cNvCxnSpPr/>
          <p:nvPr/>
        </p:nvCxnSpPr>
        <p:spPr>
          <a:xfrm>
            <a:off x="822960" y="2578608"/>
            <a:ext cx="11358880" cy="0"/>
          </a:xfrm>
          <a:prstGeom prst="line">
            <a:avLst/>
          </a:prstGeom>
          <a:ln w="9525">
            <a:solidFill>
              <a:srgbClr val="E1E3E8"/>
            </a:solidFill>
          </a:ln>
        </p:spPr>
      </p:cxnSp>
      <p:sp>
        <p:nvSpPr>
          <p:cNvPr id="107" name="Cell 1.1"/>
          <p:cNvSpPr txBox="1"/>
          <p:nvPr/>
        </p:nvSpPr>
        <p:spPr>
          <a:xfrm>
            <a:off x="822960" y="272491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Will traders trust AI-detected patterns?</a:t>
            </a:r>
          </a:p>
        </p:txBody>
      </p:sp>
      <p:sp>
        <p:nvSpPr>
          <p:cNvPr id="108" name="Cell 1.2"/>
          <p:cNvSpPr txBox="1"/>
          <p:nvPr/>
        </p:nvSpPr>
        <p:spPr>
          <a:xfrm>
            <a:off x="5943600" y="272491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Offline audit of 500 labeled charts; track the “not a real hammer” rate; test clear vs borderline wording.</a:t>
            </a:r>
          </a:p>
        </p:txBody>
      </p:sp>
      <p:cxnSp>
        <p:nvCxnSpPr>
          <p:cNvPr id="109" name="Divider"/>
          <p:cNvCxnSpPr/>
          <p:nvPr/>
        </p:nvCxnSpPr>
        <p:spPr>
          <a:xfrm>
            <a:off x="822960" y="3675888"/>
            <a:ext cx="11358880" cy="0"/>
          </a:xfrm>
          <a:prstGeom prst="line">
            <a:avLst/>
          </a:prstGeom>
          <a:ln w="9525">
            <a:solidFill>
              <a:srgbClr val="E1E3E8"/>
            </a:solidFill>
          </a:ln>
        </p:spPr>
      </p:cxnSp>
      <p:sp>
        <p:nvSpPr>
          <p:cNvPr id="110" name="Cell 2.1"/>
          <p:cNvSpPr txBox="1"/>
          <p:nvPr/>
        </p:nvSpPr>
        <p:spPr>
          <a:xfrm>
            <a:off x="822960" y="382219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Does free AI screen-building speed up Elite or replace it?</a:t>
            </a:r>
          </a:p>
        </p:txBody>
      </p:sp>
      <p:sp>
        <p:nvSpPr>
          <p:cNvPr id="111" name="Cell 2.2"/>
          <p:cNvSpPr txBox="1"/>
          <p:nvPr/>
        </p:nvSpPr>
        <p:spPr>
          <a:xfrm>
            <a:off x="5943600" y="382219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A/B the earned Elite moment (step 6) against today’s sign-up trial; measure days to Elite.</a:t>
            </a:r>
          </a:p>
        </p:txBody>
      </p:sp>
      <p:cxnSp>
        <p:nvCxnSpPr>
          <p:cNvPr id="112" name="Divider"/>
          <p:cNvCxnSpPr/>
          <p:nvPr/>
        </p:nvCxnSpPr>
        <p:spPr>
          <a:xfrm>
            <a:off x="822960" y="4773168"/>
            <a:ext cx="11358880" cy="0"/>
          </a:xfrm>
          <a:prstGeom prst="line">
            <a:avLst/>
          </a:prstGeom>
          <a:ln w="9525">
            <a:solidFill>
              <a:srgbClr val="E1E3E8"/>
            </a:solidFill>
          </a:ln>
        </p:spPr>
      </p:cxnSp>
      <p:sp>
        <p:nvSpPr>
          <p:cNvPr id="113" name="Cell 3.1"/>
          <p:cNvSpPr txBox="1"/>
          <p:nvPr/>
        </p:nvSpPr>
        <p:spPr>
          <a:xfrm>
            <a:off x="822960" y="491947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one alert a day the right amount?</a:t>
            </a:r>
          </a:p>
        </p:txBody>
      </p:sp>
      <p:sp>
        <p:nvSpPr>
          <p:cNvPr id="114" name="Cell 3.2"/>
          <p:cNvSpPr txBox="1"/>
          <p:nvPr/>
        </p:nvSpPr>
        <p:spPr>
          <a:xfrm>
            <a:off x="5943600" y="491947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2-week diary study: alert-to-action over 40%, muted under 10%.</a:t>
            </a:r>
          </a:p>
        </p:txBody>
      </p:sp>
      <p:cxnSp>
        <p:nvCxnSpPr>
          <p:cNvPr id="115" name="Divider"/>
          <p:cNvCxnSpPr/>
          <p:nvPr/>
        </p:nvCxnSpPr>
        <p:spPr>
          <a:xfrm>
            <a:off x="822960" y="5870448"/>
            <a:ext cx="11358880" cy="0"/>
          </a:xfrm>
          <a:prstGeom prst="line">
            <a:avLst/>
          </a:prstGeom>
          <a:ln w="9525">
            <a:solidFill>
              <a:srgbClr val="E1E3E8"/>
            </a:solidFill>
          </a:ln>
        </p:spPr>
      </p:cxnSp>
      <p:sp>
        <p:nvSpPr>
          <p:cNvPr id="116" name="Cell 4.1"/>
          <p:cNvSpPr txBox="1"/>
          <p:nvPr/>
        </p:nvSpPr>
        <p:spPr>
          <a:xfrm>
            <a:off x="822960" y="601675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Can the overnight agent pay for itself?</a:t>
            </a:r>
          </a:p>
        </p:txBody>
      </p:sp>
      <p:sp>
        <p:nvSpPr>
          <p:cNvPr id="117" name="Cell 4.2"/>
          <p:cNvSpPr txBox="1"/>
          <p:nvPr/>
        </p:nvSpPr>
        <p:spPr>
          <a:xfrm>
            <a:off x="5943600" y="601675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Cost per user per morning vs conversion lift; batch and cache by ticker.</a:t>
            </a:r>
          </a:p>
        </p:txBody>
      </p:sp>
      <p:cxnSp>
        <p:nvCxnSpPr>
          <p:cNvPr id="118" name="Divider"/>
          <p:cNvCxnSpPr/>
          <p:nvPr/>
        </p:nvCxnSpPr>
        <p:spPr>
          <a:xfrm>
            <a:off x="822960" y="6967728"/>
            <a:ext cx="11358880" cy="0"/>
          </a:xfrm>
          <a:prstGeom prst="line">
            <a:avLst/>
          </a:prstGeom>
          <a:ln w="9525">
            <a:solidFill>
              <a:srgbClr val="E1E3E8"/>
            </a:solidFill>
          </a:ln>
        </p:spPr>
      </p:cxnSp>
      <p:sp>
        <p:nvSpPr>
          <p:cNvPr id="119" name="Cell 5.1"/>
          <p:cNvSpPr txBox="1"/>
          <p:nvPr/>
        </p:nvSpPr>
        <p:spPr>
          <a:xfrm>
            <a:off x="822960" y="711403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the advice line clear enough for compliance?</a:t>
            </a:r>
          </a:p>
        </p:txBody>
      </p:sp>
      <p:sp>
        <p:nvSpPr>
          <p:cNvPr id="120" name="Cell 5.2"/>
          <p:cNvSpPr txBox="1"/>
          <p:nvPr/>
        </p:nvSpPr>
        <p:spPr>
          <a:xfrm>
            <a:off x="5943600" y="711403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Legal review of every AI string; attributed views stay behind a flag until cleared.</a:t>
            </a:r>
          </a:p>
        </p:txBody>
      </p:sp>
      <p:cxnSp>
        <p:nvCxnSpPr>
          <p:cNvPr id="121" name="Divider"/>
          <p:cNvCxnSpPr/>
          <p:nvPr/>
        </p:nvCxnSpPr>
        <p:spPr>
          <a:xfrm>
            <a:off x="822960" y="8065008"/>
            <a:ext cx="11358880" cy="0"/>
          </a:xfrm>
          <a:prstGeom prst="line">
            <a:avLst/>
          </a:prstGeom>
          <a:ln w="9525">
            <a:solidFill>
              <a:srgbClr val="E1E3E8"/>
            </a:solidFill>
          </a:ln>
        </p:spPr>
      </p:cxnSp>
      <p:pic>
        <p:nvPicPr>
          <p:cNvPr id="12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Point and say: a watch without a form</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Lo-fi concept (PS1). Gary points at the line he drew and says what to watch.</a:t>
            </a:r>
          </a:p>
        </p:txBody>
      </p:sp>
      <p:pic>
        <p:nvPicPr>
          <p:cNvPr id="104" name="Picture 5" descr="image.png"/>
          <p:cNvPicPr>
            <a:picLocks noChangeAspect="1"/>
          </p:cNvPicPr>
          <p:nvPr/>
        </p:nvPicPr>
        <p:blipFill>
          <a:blip r:embed="rId2"/>
          <a:stretch>
            <a:fillRect/>
          </a:stretch>
        </p:blipFill>
        <p:spPr>
          <a:xfrm>
            <a:off x="2251388" y="2103120"/>
            <a:ext cx="8499991" cy="5029200"/>
          </a:xfrm>
          <a:prstGeom prst="rect">
            <a:avLst/>
          </a:prstGeom>
          <a:ln w="9525">
            <a:solidFill>
              <a:srgbClr val="D3D6DC"/>
            </a:solidFill>
          </a:ln>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IT’S NEW</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Pointer + voice + screen become one editable rule; no alert form</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Vague words shown as read; one question where it matters</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Previewed on 30 days before saving; voice off by default</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02 · ENTERPRISE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Credit Suisse</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Outside Business Interests (OBI)</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Saving money by reducing friction, educating employees and removing risk from pre-clearance for outside activities.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 and a content designer</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to delivery: 33 Agile sprints, usability testing every week</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All employees and managers, reviewers, and Risk &amp; Compliance managers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too limited in its functionality to be of use for an Approver. Too much time is wasted trying to do more complex tasks.”</a:t>
            </a:r>
          </a:p>
        </p:txBody>
      </p:sp>
      <p:pic>
        <p:nvPicPr>
          <p:cNvPr id="119" name="Picture 1" descr="image.png"/>
          <p:cNvPicPr>
            <a:picLocks noChangeAspect="1"/>
          </p:cNvPicPr>
          <p:nvPr/>
        </p:nvPicPr>
        <p:blipFill>
          <a:blip r:embed="rId2"/>
          <a:stretch>
            <a:fillRect/>
          </a:stretch>
        </p:blipFill>
        <p:spPr>
          <a:xfrm>
            <a:off x="6720840" y="2170237"/>
            <a:ext cx="5458968" cy="4620645"/>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browser-based tool that gives employees </a:t>
            </a:r>
            <a:r>
              <a:rPr lang="en-US" sz="3600" spc="-40" dirty="0">
                <a:solidFill>
                  <a:srgbClr val="B5531F"/>
                </a:solidFill>
                <a:latin typeface="Helvetica Neue Medium"/>
                <a:cs typeface="Helvetica Neue Medium"/>
              </a:rPr>
              <a:t>pre-clearance for outside activities</a:t>
            </a:r>
            <a:r>
              <a:rPr lang="en-US" sz="3600" spc="-40" dirty="0">
                <a:solidFill>
                  <a:srgbClr val="14161D"/>
                </a:solidFill>
                <a:latin typeface="Helvetica Neue Medium"/>
                <a:cs typeface="Helvetica Neue Medium"/>
              </a:rPr>
              <a:t>, reviewed by two lines of defense.</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and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employees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managers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status tracking isn’t clear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Lines of responsibility aren’t transparent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Navigation is hard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don’t know why and when to submit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mobile access for Risk &amp;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submission process, with no education</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 and a content designer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Where we started: the original application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tool employees used to request pre-clearance before the redesign.</a:t>
            </a:r>
          </a:p>
        </p:txBody>
      </p:sp>
      <p:pic>
        <p:nvPicPr>
          <p:cNvPr id="104" name="Background" descr="image.png"/>
          <p:cNvPicPr>
            <a:picLocks noChangeAspect="1"/>
          </p:cNvPicPr>
          <p:nvPr/>
        </p:nvPicPr>
        <p:blipFill>
          <a:blip r:embed="rId2"/>
          <a:srcRect l="4000" t="15000" r="4000" b="34500"/>
          <a:stretch>
            <a:fillRect/>
          </a:stretch>
        </p:blipFill>
        <p:spPr>
          <a:xfrm>
            <a:off x="822960" y="2828639"/>
            <a:ext cx="11356848" cy="4675441"/>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a:t>
            </a:r>
            <a:r>
              <a:rPr lang="en-US" sz="4000" spc="-40" dirty="0">
                <a:solidFill>
                  <a:srgbClr val="B5531F"/>
                </a:solidFill>
                <a:latin typeface="Helvetica Neue Medium"/>
                <a:cs typeface="Helvetica Neue Medium"/>
              </a:rPr>
              <a:t>OBI</a:t>
            </a:r>
            <a:r>
              <a:rPr lang="en-US" sz="4000" spc="-40" dirty="0">
                <a:solidFill>
                  <a:srgbClr val="14161D"/>
                </a:solidFill>
                <a:latin typeface="Helvetica Neue Medium"/>
                <a:cs typeface="Helvetica Neue Medium"/>
              </a:rPr>
              <a:t>?</a:t>
            </a:r>
          </a:p>
        </p:txBody>
      </p:sp>
      <p:sp>
        <p:nvSpPr>
          <p:cNvPr id="3017" name="Tile"/>
          <p:cNvSpPr/>
          <p:nvPr/>
        </p:nvSpPr>
        <p:spPr>
          <a:xfrm>
            <a:off x="822960" y="2606040"/>
            <a:ext cx="3840480" cy="562356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329184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475</a:t>
            </a:r>
          </a:p>
        </p:txBody>
      </p:sp>
      <p:sp>
        <p:nvSpPr>
          <p:cNvPr id="104" name="Label"/>
          <p:cNvSpPr txBox="1"/>
          <p:nvPr/>
        </p:nvSpPr>
        <p:spPr>
          <a:xfrm>
            <a:off x="1097280" y="4613910"/>
            <a:ext cx="32918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returned submissions missing required information, every year</a:t>
            </a:r>
          </a:p>
        </p:txBody>
      </p:sp>
      <p:sp>
        <p:nvSpPr>
          <p:cNvPr id="3018" name="Tile"/>
          <p:cNvSpPr/>
          <p:nvPr/>
        </p:nvSpPr>
        <p:spPr>
          <a:xfrm>
            <a:off x="4846320" y="2606040"/>
            <a:ext cx="3575303" cy="2743200"/>
          </a:xfrm>
          <a:prstGeom prst="roundRect">
            <a:avLst>
              <a:gd name="adj" fmla="val 4666"/>
            </a:avLst>
          </a:prstGeom>
          <a:solidFill>
            <a:srgbClr val="1B1D24"/>
          </a:solidFill>
          <a:ln>
            <a:noFill/>
          </a:ln>
        </p:spPr>
        <p:txBody>
          <a:bodyPr/>
          <a:lstStyle/>
          <a:p>
            <a:endParaRPr lang="en-US"/>
          </a:p>
        </p:txBody>
      </p:sp>
      <p:sp>
        <p:nvSpPr>
          <p:cNvPr id="105" name="Number"/>
          <p:cNvSpPr txBox="1"/>
          <p:nvPr/>
        </p:nvSpPr>
        <p:spPr>
          <a:xfrm>
            <a:off x="5120640"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F5F5F7"/>
                </a:solidFill>
                <a:latin typeface="Helvetica Neue Medium"/>
                <a:cs typeface="Helvetica Neue Medium"/>
              </a:rPr>
              <a:t>22 min</a:t>
            </a:r>
          </a:p>
        </p:txBody>
      </p:sp>
      <p:sp>
        <p:nvSpPr>
          <p:cNvPr id="106" name="Label"/>
          <p:cNvSpPr txBox="1"/>
          <p:nvPr/>
        </p:nvSpPr>
        <p:spPr>
          <a:xfrm>
            <a:off x="5120640"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time employees need to resubmit</a:t>
            </a:r>
          </a:p>
        </p:txBody>
      </p:sp>
      <p:sp>
        <p:nvSpPr>
          <p:cNvPr id="3019" name="Tile"/>
          <p:cNvSpPr/>
          <p:nvPr/>
        </p:nvSpPr>
        <p:spPr>
          <a:xfrm>
            <a:off x="8604503" y="2606040"/>
            <a:ext cx="3575303" cy="2743200"/>
          </a:xfrm>
          <a:prstGeom prst="roundRect">
            <a:avLst>
              <a:gd name="adj" fmla="val 4666"/>
            </a:avLst>
          </a:prstGeom>
          <a:solidFill>
            <a:srgbClr val="F1F2F5"/>
          </a:solidFill>
          <a:ln>
            <a:noFill/>
          </a:ln>
        </p:spPr>
        <p:txBody>
          <a:bodyPr/>
          <a:lstStyle/>
          <a:p>
            <a:endParaRPr lang="en-US"/>
          </a:p>
        </p:txBody>
      </p:sp>
      <p:sp>
        <p:nvSpPr>
          <p:cNvPr id="107" name="Number"/>
          <p:cNvSpPr txBox="1"/>
          <p:nvPr/>
        </p:nvSpPr>
        <p:spPr>
          <a:xfrm>
            <a:off x="8878823"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14161D"/>
                </a:solidFill>
                <a:latin typeface="Helvetica Neue Medium"/>
                <a:cs typeface="Helvetica Neue Medium"/>
              </a:rPr>
              <a:t>58%</a:t>
            </a:r>
          </a:p>
        </p:txBody>
      </p:sp>
      <p:sp>
        <p:nvSpPr>
          <p:cNvPr id="108" name="Label"/>
          <p:cNvSpPr txBox="1"/>
          <p:nvPr/>
        </p:nvSpPr>
        <p:spPr>
          <a:xfrm>
            <a:off x="8878823"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Risk &amp; Compliance managers</a:t>
            </a:r>
          </a:p>
        </p:txBody>
      </p:sp>
      <p:sp>
        <p:nvSpPr>
          <p:cNvPr id="3020" name="Tile"/>
          <p:cNvSpPr/>
          <p:nvPr/>
        </p:nvSpPr>
        <p:spPr>
          <a:xfrm>
            <a:off x="8878823" y="4965192"/>
            <a:ext cx="3026663" cy="100584"/>
          </a:xfrm>
          <a:prstGeom prst="roundRect">
            <a:avLst>
              <a:gd name="adj" fmla="val 45454"/>
            </a:avLst>
          </a:prstGeom>
          <a:solidFill>
            <a:srgbClr val="DDE0E6"/>
          </a:solidFill>
          <a:ln>
            <a:noFill/>
          </a:ln>
        </p:spPr>
        <p:txBody>
          <a:bodyPr/>
          <a:lstStyle/>
          <a:p>
            <a:endParaRPr lang="en-US"/>
          </a:p>
        </p:txBody>
      </p:sp>
      <p:sp>
        <p:nvSpPr>
          <p:cNvPr id="3021" name="Tile"/>
          <p:cNvSpPr/>
          <p:nvPr/>
        </p:nvSpPr>
        <p:spPr>
          <a:xfrm>
            <a:off x="8878823" y="4965192"/>
            <a:ext cx="1755465" cy="100584"/>
          </a:xfrm>
          <a:prstGeom prst="roundRect">
            <a:avLst>
              <a:gd name="adj" fmla="val 45454"/>
            </a:avLst>
          </a:prstGeom>
          <a:solidFill>
            <a:srgbClr val="FF6600"/>
          </a:solidFill>
          <a:ln>
            <a:noFill/>
          </a:ln>
        </p:spPr>
        <p:txBody>
          <a:bodyPr/>
          <a:lstStyle/>
          <a:p>
            <a:endParaRPr lang="en-US"/>
          </a:p>
        </p:txBody>
      </p:sp>
      <p:sp>
        <p:nvSpPr>
          <p:cNvPr id="3022" name="Tile"/>
          <p:cNvSpPr/>
          <p:nvPr/>
        </p:nvSpPr>
        <p:spPr>
          <a:xfrm>
            <a:off x="4846320" y="5532120"/>
            <a:ext cx="2322575" cy="2697480"/>
          </a:xfrm>
          <a:prstGeom prst="roundRect">
            <a:avLst>
              <a:gd name="adj" fmla="val 5511"/>
            </a:avLst>
          </a:prstGeom>
          <a:solidFill>
            <a:srgbClr val="1B1D24"/>
          </a:solidFill>
          <a:ln>
            <a:noFill/>
          </a:ln>
        </p:spPr>
        <p:txBody>
          <a:bodyPr/>
          <a:lstStyle/>
          <a:p>
            <a:endParaRPr lang="en-US"/>
          </a:p>
        </p:txBody>
      </p:sp>
      <p:sp>
        <p:nvSpPr>
          <p:cNvPr id="109" name="Number"/>
          <p:cNvSpPr txBox="1"/>
          <p:nvPr/>
        </p:nvSpPr>
        <p:spPr>
          <a:xfrm>
            <a:off x="5120640"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5.4%</a:t>
            </a:r>
          </a:p>
        </p:txBody>
      </p:sp>
      <p:sp>
        <p:nvSpPr>
          <p:cNvPr id="110" name="Label"/>
          <p:cNvSpPr txBox="1"/>
          <p:nvPr/>
        </p:nvSpPr>
        <p:spPr>
          <a:xfrm>
            <a:off x="5120640"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Outside Business Activities forms</a:t>
            </a:r>
          </a:p>
        </p:txBody>
      </p:sp>
      <p:sp>
        <p:nvSpPr>
          <p:cNvPr id="3023" name="Tile"/>
          <p:cNvSpPr/>
          <p:nvPr/>
        </p:nvSpPr>
        <p:spPr>
          <a:xfrm>
            <a:off x="7351775" y="5532120"/>
            <a:ext cx="2322575" cy="2697480"/>
          </a:xfrm>
          <a:prstGeom prst="roundRect">
            <a:avLst>
              <a:gd name="adj" fmla="val 5511"/>
            </a:avLst>
          </a:prstGeom>
          <a:solidFill>
            <a:srgbClr val="1B1D24"/>
          </a:solidFill>
          <a:ln>
            <a:noFill/>
          </a:ln>
        </p:spPr>
        <p:txBody>
          <a:bodyPr/>
          <a:lstStyle/>
          <a:p>
            <a:endParaRPr lang="en-US"/>
          </a:p>
        </p:txBody>
      </p:sp>
      <p:sp>
        <p:nvSpPr>
          <p:cNvPr id="111" name="Number"/>
          <p:cNvSpPr txBox="1"/>
          <p:nvPr/>
        </p:nvSpPr>
        <p:spPr>
          <a:xfrm>
            <a:off x="7626095"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6.1%</a:t>
            </a:r>
          </a:p>
        </p:txBody>
      </p:sp>
      <p:sp>
        <p:nvSpPr>
          <p:cNvPr id="112" name="Label"/>
          <p:cNvSpPr txBox="1"/>
          <p:nvPr/>
        </p:nvSpPr>
        <p:spPr>
          <a:xfrm>
            <a:off x="7626095"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Private Investments forms</a:t>
            </a:r>
          </a:p>
        </p:txBody>
      </p:sp>
      <p:sp>
        <p:nvSpPr>
          <p:cNvPr id="3024" name="Tile"/>
          <p:cNvSpPr/>
          <p:nvPr/>
        </p:nvSpPr>
        <p:spPr>
          <a:xfrm>
            <a:off x="9857232" y="5532120"/>
            <a:ext cx="2322575" cy="2697480"/>
          </a:xfrm>
          <a:prstGeom prst="roundRect">
            <a:avLst>
              <a:gd name="adj" fmla="val 5511"/>
            </a:avLst>
          </a:prstGeom>
          <a:solidFill>
            <a:srgbClr val="F1F2F5"/>
          </a:solidFill>
          <a:ln>
            <a:noFill/>
          </a:ln>
        </p:spPr>
        <p:txBody>
          <a:bodyPr/>
          <a:lstStyle/>
          <a:p>
            <a:endParaRPr lang="en-US"/>
          </a:p>
        </p:txBody>
      </p:sp>
      <p:sp>
        <p:nvSpPr>
          <p:cNvPr id="113" name="Number"/>
          <p:cNvSpPr txBox="1"/>
          <p:nvPr/>
        </p:nvSpPr>
        <p:spPr>
          <a:xfrm>
            <a:off x="10131552"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61%</a:t>
            </a:r>
          </a:p>
        </p:txBody>
      </p:sp>
      <p:sp>
        <p:nvSpPr>
          <p:cNvPr id="114" name="Label"/>
          <p:cNvSpPr txBox="1"/>
          <p:nvPr/>
        </p:nvSpPr>
        <p:spPr>
          <a:xfrm>
            <a:off x="10131552"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employees</a:t>
            </a:r>
          </a:p>
        </p:txBody>
      </p:sp>
      <p:sp>
        <p:nvSpPr>
          <p:cNvPr id="3025" name="Tile"/>
          <p:cNvSpPr/>
          <p:nvPr/>
        </p:nvSpPr>
        <p:spPr>
          <a:xfrm>
            <a:off x="10131552" y="7845552"/>
            <a:ext cx="1773935" cy="100584"/>
          </a:xfrm>
          <a:prstGeom prst="roundRect">
            <a:avLst>
              <a:gd name="adj" fmla="val 45454"/>
            </a:avLst>
          </a:prstGeom>
          <a:solidFill>
            <a:srgbClr val="DDE0E6"/>
          </a:solidFill>
          <a:ln>
            <a:noFill/>
          </a:ln>
        </p:spPr>
        <p:txBody>
          <a:bodyPr/>
          <a:lstStyle/>
          <a:p>
            <a:endParaRPr lang="en-US"/>
          </a:p>
        </p:txBody>
      </p:sp>
      <p:sp>
        <p:nvSpPr>
          <p:cNvPr id="3026" name="Tile"/>
          <p:cNvSpPr/>
          <p:nvPr/>
        </p:nvSpPr>
        <p:spPr>
          <a:xfrm>
            <a:off x="10131552" y="7845552"/>
            <a:ext cx="1082100" cy="100584"/>
          </a:xfrm>
          <a:prstGeom prst="roundRect">
            <a:avLst>
              <a:gd name="adj" fmla="val 45454"/>
            </a:avLst>
          </a:prstGeom>
          <a:solidFill>
            <a:srgbClr val="FF6600"/>
          </a:solidFill>
          <a:ln>
            <a:noFill/>
          </a:ln>
        </p:spPr>
        <p:txBody>
          <a:bodyPr/>
          <a:lstStyle/>
          <a:p>
            <a:endParaRPr lang="en-US"/>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reviewers, Risk &amp; Compliance managers and their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Research synthesis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Design thinking exercises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part of the iComply ecosystem of Employee Compliance, users need an interactive, web-based pre-clearance application for outside activities, where requests flow through an integrated, pre-defined workflow for review by first-line Reviewers and second-line Risk &amp; Compliance Managers.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we heard: major themes from the interviews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Reviewers, Risk &amp; Compliance managers and their managers</a:t>
            </a:r>
          </a:p>
        </p:txBody>
      </p:sp>
      <p:pic>
        <p:nvPicPr>
          <p:cNvPr id="104" name="Picture 2" descr="image.png"/>
          <p:cNvPicPr>
            <a:picLocks noChangeAspect="1"/>
          </p:cNvPicPr>
          <p:nvPr/>
        </p:nvPicPr>
        <p:blipFill>
          <a:blip r:embed="rId2"/>
          <a:stretch>
            <a:fillRect/>
          </a:stretch>
        </p:blipFill>
        <p:spPr>
          <a:xfrm>
            <a:off x="4846320" y="3673402"/>
            <a:ext cx="3123144" cy="2985914"/>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289504" y="3673402"/>
            <a:ext cx="3872015" cy="2985914"/>
          </a:xfrm>
          <a:prstGeom prst="rect">
            <a:avLst/>
          </a:prstGeom>
          <a:ln w="9525">
            <a:solidFill>
              <a:srgbClr val="D3D6DC"/>
            </a:solidFill>
          </a:ln>
        </p:spPr>
      </p:pic>
      <p:sp>
        <p:nvSpPr>
          <p:cNvPr id="106" name="Themes"/>
          <p:cNvSpPr txBox="1"/>
          <p:nvPr/>
        </p:nvSpPr>
        <p:spPr>
          <a:xfrm>
            <a:off x="822960" y="2194560"/>
            <a:ext cx="3749039" cy="60350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MAJOR THEMES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Integration with other systems on the platform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Shadowing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Everyone understanding the policies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Mobile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workflow</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awareness</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Design thinking: 5 concepts with 30 participants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Concepts for the dashboard, reporting and submission, for every type of end user</a:t>
            </a:r>
          </a:p>
        </p:txBody>
      </p:sp>
      <p:pic>
        <p:nvPicPr>
          <p:cNvPr id="104" name="Background" descr="image.png"/>
          <p:cNvPicPr>
            <a:picLocks noChangeAspect="1"/>
          </p:cNvPicPr>
          <p:nvPr/>
        </p:nvPicPr>
        <p:blipFill>
          <a:blip r:embed="rId2"/>
          <a:srcRect l="3500" t="27000"/>
          <a:stretch>
            <a:fillRect/>
          </a:stretch>
        </p:blipFill>
        <p:spPr>
          <a:xfrm>
            <a:off x="822960" y="2857736"/>
            <a:ext cx="8138160" cy="4617246"/>
          </a:xfrm>
          <a:prstGeom prst="rect">
            <a:avLst/>
          </a:prstGeom>
          <a:ln w="9525">
            <a:solidFill>
              <a:srgbClr val="D3D6DC"/>
            </a:solidFill>
          </a:ln>
        </p:spPr>
      </p:pic>
      <p:sp>
        <p:nvSpPr>
          <p:cNvPr id="105" name="Format"/>
          <p:cNvSpPr txBox="1"/>
          <p:nvPr/>
        </p:nvSpPr>
        <p:spPr>
          <a:xfrm>
            <a:off x="9418320" y="2286000"/>
            <a:ext cx="2763520" cy="54864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SESSION FORMAT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Ice breaker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What would the headlines say?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How do we…?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Concepts and interfaces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Voting</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Integration with other systems on the platform</a:t>
            </a:r>
          </a:p>
          <a:p>
            <a:pPr algn="l">
              <a:lnSpc>
                <a:spcPct val="115000"/>
              </a:lnSpc>
              <a:spcAft>
                <a:spcPts val="900"/>
              </a:spcAft>
            </a:pPr>
            <a:r>
              <a:rPr lang="en-US" sz="1700" spc="0" dirty="0">
                <a:solidFill>
                  <a:srgbClr val="565C6B"/>
                </a:solidFill>
                <a:latin typeface="Helvetica Neue Light"/>
                <a:cs typeface="Helvetica Neue Light"/>
              </a:rPr>
              <a:t>Navigation</a:t>
            </a:r>
          </a:p>
          <a:p>
            <a:pPr algn="l">
              <a:lnSpc>
                <a:spcPct val="115000"/>
              </a:lnSpc>
              <a:spcAft>
                <a:spcPts val="900"/>
              </a:spcAft>
            </a:pPr>
            <a:r>
              <a:rPr lang="en-US" sz="1700" spc="0" dirty="0">
                <a:solidFill>
                  <a:srgbClr val="565C6B"/>
                </a:solidFill>
                <a:latin typeface="Helvetica Neue Light"/>
                <a:cs typeface="Helvetica Neue Light"/>
              </a:rPr>
              <a:t>Clear workflows</a:t>
            </a:r>
          </a:p>
          <a:p>
            <a:pPr algn="l">
              <a:lnSpc>
                <a:spcPct val="115000"/>
              </a:lnSpc>
              <a:spcAft>
                <a:spcPts val="900"/>
              </a:spcAft>
            </a:pPr>
            <a:r>
              <a:rPr lang="en-US" sz="1700" spc="0" dirty="0">
                <a:solidFill>
                  <a:srgbClr val="565C6B"/>
                </a:solidFill>
                <a:latin typeface="Helvetica Neue Light"/>
                <a:cs typeface="Helvetica Neue Light"/>
              </a:rPr>
              <a:t>Status awareness</a:t>
            </a:r>
          </a:p>
          <a:p>
            <a:pPr algn="l">
              <a:lnSpc>
                <a:spcPct val="115000"/>
              </a:lnSpc>
              <a:spcAft>
                <a:spcPts val="900"/>
              </a:spcAft>
            </a:pPr>
            <a:r>
              <a:rPr lang="en-US" sz="1700" spc="0" dirty="0">
                <a:solidFill>
                  <a:srgbClr val="565C6B"/>
                </a:solidFill>
                <a:latin typeface="Helvetica Neue Light"/>
                <a:cs typeface="Helvetica Neue Light"/>
              </a:rPr>
              <a:t>Lack of features</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Functionality parity</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Mobile</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Integrations with other systems on the platform</a:t>
            </a:r>
          </a:p>
          <a:p>
            <a:pPr algn="l">
              <a:lnSpc>
                <a:spcPct val="115000"/>
              </a:lnSpc>
              <a:spcAft>
                <a:spcPts val="900"/>
              </a:spcAft>
            </a:pPr>
            <a:r>
              <a:rPr lang="en-US" sz="1700" spc="0" dirty="0">
                <a:solidFill>
                  <a:srgbClr val="565C6B"/>
                </a:solidFill>
                <a:latin typeface="Helvetica Neue Light"/>
                <a:cs typeface="Helvetica Neue Light"/>
              </a:rPr>
              <a:t>Everyone understanding the policies</a:t>
            </a:r>
          </a:p>
          <a:p>
            <a:pPr algn="l">
              <a:lnSpc>
                <a:spcPct val="115000"/>
              </a:lnSpc>
              <a:spcAft>
                <a:spcPts val="900"/>
              </a:spcAft>
            </a:pPr>
            <a:r>
              <a:rPr lang="en-US" sz="1700" spc="0" dirty="0">
                <a:solidFill>
                  <a:srgbClr val="565C6B"/>
                </a:solidFill>
                <a:latin typeface="Helvetica Neue Light"/>
                <a:cs typeface="Helvetica Neue Light"/>
              </a:rPr>
              <a:t>Access for all in the platform</a:t>
            </a:r>
          </a:p>
          <a:p>
            <a:pPr algn="l">
              <a:lnSpc>
                <a:spcPct val="115000"/>
              </a:lnSpc>
              <a:spcAft>
                <a:spcPts val="900"/>
              </a:spcAft>
            </a:pPr>
            <a:r>
              <a:rPr lang="en-US" sz="1700" spc="0" dirty="0">
                <a:solidFill>
                  <a:srgbClr val="565C6B"/>
                </a:solidFill>
                <a:latin typeface="Helvetica Neue Light"/>
                <a:cs typeface="Helvetica Neue Light"/>
              </a:rPr>
              <a:t>Mobile</a:t>
            </a:r>
          </a:p>
          <a:p>
            <a:pPr algn="l">
              <a:lnSpc>
                <a:spcPct val="115000"/>
              </a:lnSpc>
              <a:spcAft>
                <a:spcPts val="900"/>
              </a:spcAft>
            </a:pPr>
            <a:r>
              <a:rPr lang="en-US" sz="1700" spc="0" dirty="0">
                <a:solidFill>
                  <a:srgbClr val="565C6B"/>
                </a:solidFill>
                <a:latin typeface="Helvetica Neue Light"/>
                <a:cs typeface="Helvetica Neue Light"/>
              </a:rPr>
              <a:t>Clear navigation</a:t>
            </a:r>
          </a:p>
          <a:p>
            <a:pPr algn="l">
              <a:lnSpc>
                <a:spcPct val="115000"/>
              </a:lnSpc>
              <a:spcAft>
                <a:spcPts val="900"/>
              </a:spcAft>
            </a:pPr>
            <a:r>
              <a:rPr lang="en-US" sz="1700" spc="0" dirty="0">
                <a:solidFill>
                  <a:srgbClr val="565C6B"/>
                </a:solidFill>
                <a:latin typeface="Helvetica Neue Light"/>
                <a:cs typeface="Helvetica Neue Light"/>
              </a:rPr>
              <a:t>Clear workflows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Search</a:t>
            </a:r>
          </a:p>
          <a:p>
            <a:pPr algn="l">
              <a:lnSpc>
                <a:spcPct val="115000"/>
              </a:lnSpc>
              <a:spcAft>
                <a:spcPts val="900"/>
              </a:spcAft>
            </a:pPr>
            <a:r>
              <a:rPr lang="en-US" sz="1700" spc="0" dirty="0">
                <a:solidFill>
                  <a:srgbClr val="14161D"/>
                </a:solidFill>
                <a:latin typeface="Helvetica Neue Light"/>
                <a:cs typeface="Helvetica Neue Light"/>
              </a:rPr>
              <a:t>Reporting</a:t>
            </a:r>
          </a:p>
          <a:p>
            <a:pPr algn="l">
              <a:lnSpc>
                <a:spcPct val="115000"/>
              </a:lnSpc>
              <a:spcAft>
                <a:spcPts val="900"/>
              </a:spcAft>
            </a:pPr>
            <a:r>
              <a:rPr lang="en-US" sz="1700" spc="0" dirty="0">
                <a:solidFill>
                  <a:srgbClr val="14161D"/>
                </a:solidFill>
                <a:latin typeface="Helvetica Neue Light"/>
                <a:cs typeface="Helvetica Neue Light"/>
              </a:rPr>
              <a:t>Shadowing</a:t>
            </a:r>
          </a:p>
          <a:p>
            <a:pPr algn="l">
              <a:lnSpc>
                <a:spcPct val="115000"/>
              </a:lnSpc>
              <a:spcAft>
                <a:spcPts val="900"/>
              </a:spcAft>
            </a:pPr>
            <a:r>
              <a:rPr lang="en-US" sz="1700" spc="0" dirty="0">
                <a:solidFill>
                  <a:srgbClr val="14161D"/>
                </a:solidFill>
                <a:latin typeface="Helvetica Neue Light"/>
                <a:cs typeface="Helvetica Neue Light"/>
              </a:rPr>
              <a:t>Proxies</a:t>
            </a:r>
          </a:p>
          <a:p>
            <a:pPr algn="l">
              <a:lnSpc>
                <a:spcPct val="115000"/>
              </a:lnSpc>
              <a:spcAft>
                <a:spcPts val="900"/>
              </a:spcAft>
            </a:pPr>
            <a:r>
              <a:rPr lang="en-US" sz="1700" spc="0" dirty="0">
                <a:solidFill>
                  <a:srgbClr val="14161D"/>
                </a:solidFill>
                <a:latin typeface="Helvetica Neue Light"/>
                <a:cs typeface="Helvetica Neue Light"/>
              </a:rPr>
              <a:t>Queries</a:t>
            </a:r>
          </a:p>
          <a:p>
            <a:pPr algn="l">
              <a:lnSpc>
                <a:spcPct val="115000"/>
              </a:lnSpc>
              <a:spcAft>
                <a:spcPts val="900"/>
              </a:spcAft>
            </a:pPr>
            <a:r>
              <a:rPr lang="en-US" sz="1700" spc="0" dirty="0">
                <a:solidFill>
                  <a:srgbClr val="14161D"/>
                </a:solidFill>
                <a:latin typeface="Helvetica Neue Light"/>
                <a:cs typeface="Helvetica Neue Light"/>
              </a:rPr>
              <a:t>Mobile</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One dashboard for </a:t>
            </a:r>
            <a:r>
              <a:rPr lang="en-US" sz="3800" spc="-40" dirty="0">
                <a:solidFill>
                  <a:srgbClr val="B5531F"/>
                </a:solidFill>
                <a:latin typeface="Helvetica Neue Medium"/>
                <a:cs typeface="Helvetica Neue Medium"/>
              </a:rPr>
              <a:t>Submitters, Reviewers and Risk &amp; Compliance Managers</a:t>
            </a:r>
            <a:r>
              <a:rPr lang="en-US" sz="3800" spc="-40" dirty="0">
                <a:solidFill>
                  <a:srgbClr val="14161D"/>
                </a:solidFill>
                <a:latin typeface="Helvetica Neue Medium"/>
                <a:cs typeface="Helvetica Neue Medium"/>
              </a:rPr>
              <a:t>.</a:t>
            </a:r>
          </a:p>
        </p:txBody>
      </p:sp>
      <p:sp>
        <p:nvSpPr>
          <p:cNvPr id="103" name="Body"/>
          <p:cNvSpPr txBox="1"/>
          <p:nvPr/>
        </p:nvSpPr>
        <p:spPr>
          <a:xfrm>
            <a:off x="822960" y="3611880"/>
            <a:ext cx="5427980" cy="411480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The dashboard was the main starting point for all three user types, so it got the most attention. It went through many iterations shaped by company goals, line-of-business goals, UX strategy, legal, risk and ADA requirements, and the design system.</a:t>
            </a:r>
          </a:p>
        </p:txBody>
      </p:sp>
      <p:sp>
        <p:nvSpPr>
          <p:cNvPr id="104" name="Process"/>
          <p:cNvSpPr txBox="1"/>
          <p:nvPr/>
        </p:nvSpPr>
        <p:spPr>
          <a:xfrm>
            <a:off x="6753860" y="3611880"/>
            <a:ext cx="5427980"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HOW WE DELIVERED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Feature refinement and road map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33 Agile sprints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Usability testing every week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Demos and QA</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delivered app, one request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employee submits, the manager reviews, Compliance decides. Screens from the OBI Training Guide.</a:t>
            </a:r>
          </a:p>
        </p:txBody>
      </p:sp>
      <p:pic>
        <p:nvPicPr>
          <p:cNvPr id="104" name="Hi-fi screen"/>
          <p:cNvPicPr>
            <a:picLocks noChangeAspect="1"/>
          </p:cNvPicPr>
          <p:nvPr/>
        </p:nvPicPr>
        <p:blipFill>
          <a:blip r:embed="rId2"/>
          <a:srcRect b="8685"/>
          <a:stretch>
            <a:fillRect/>
          </a:stretch>
        </p:blipFill>
        <p:spPr>
          <a:xfrm>
            <a:off x="822960" y="2057400"/>
            <a:ext cx="2140102" cy="1337563"/>
          </a:xfrm>
          <a:prstGeom prst="rect">
            <a:avLst/>
          </a:prstGeom>
          <a:ln w="9525">
            <a:solidFill>
              <a:srgbClr val="D3D6DC"/>
            </a:solidFill>
          </a:ln>
        </p:spPr>
      </p:pic>
      <p:sp>
        <p:nvSpPr>
          <p:cNvPr id="105" name="Cap 1"/>
          <p:cNvSpPr txBox="1"/>
          <p:nvPr/>
        </p:nvSpPr>
        <p:spPr>
          <a:xfrm>
            <a:off x="822960"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Welcome and wizard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6" name="Hi-fi screen"/>
          <p:cNvPicPr>
            <a:picLocks noChangeAspect="1"/>
          </p:cNvPicPr>
          <p:nvPr/>
        </p:nvPicPr>
        <p:blipFill>
          <a:blip r:embed="rId3"/>
          <a:srcRect b="1918"/>
          <a:stretch>
            <a:fillRect/>
          </a:stretch>
        </p:blipFill>
        <p:spPr>
          <a:xfrm>
            <a:off x="3127654" y="2057400"/>
            <a:ext cx="2140102" cy="1337563"/>
          </a:xfrm>
          <a:prstGeom prst="rect">
            <a:avLst/>
          </a:prstGeom>
          <a:ln w="9525">
            <a:solidFill>
              <a:srgbClr val="D3D6DC"/>
            </a:solidFill>
          </a:ln>
        </p:spPr>
      </p:pic>
      <p:sp>
        <p:nvSpPr>
          <p:cNvPr id="107" name="Cap 2"/>
          <p:cNvSpPr txBox="1"/>
          <p:nvPr/>
        </p:nvSpPr>
        <p:spPr>
          <a:xfrm>
            <a:off x="3127654"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Create request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8" name="Hi-fi screen"/>
          <p:cNvPicPr>
            <a:picLocks noChangeAspect="1"/>
          </p:cNvPicPr>
          <p:nvPr/>
        </p:nvPicPr>
        <p:blipFill>
          <a:blip r:embed="rId4"/>
          <a:srcRect b="8685"/>
          <a:stretch>
            <a:fillRect/>
          </a:stretch>
        </p:blipFill>
        <p:spPr>
          <a:xfrm>
            <a:off x="5432348" y="2057400"/>
            <a:ext cx="2140102" cy="1337563"/>
          </a:xfrm>
          <a:prstGeom prst="rect">
            <a:avLst/>
          </a:prstGeom>
          <a:ln w="9525">
            <a:solidFill>
              <a:srgbClr val="D3D6DC"/>
            </a:solidFill>
          </a:ln>
        </p:spPr>
      </p:pic>
      <p:sp>
        <p:nvSpPr>
          <p:cNvPr id="109" name="Cap 3"/>
          <p:cNvSpPr txBox="1"/>
          <p:nvPr/>
        </p:nvSpPr>
        <p:spPr>
          <a:xfrm>
            <a:off x="5432348"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Certify and submit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0" name="Hi-fi screen"/>
          <p:cNvPicPr>
            <a:picLocks noChangeAspect="1"/>
          </p:cNvPicPr>
          <p:nvPr/>
        </p:nvPicPr>
        <p:blipFill>
          <a:blip r:embed="rId5"/>
          <a:srcRect b="8685"/>
          <a:stretch>
            <a:fillRect/>
          </a:stretch>
        </p:blipFill>
        <p:spPr>
          <a:xfrm>
            <a:off x="7737043" y="2057400"/>
            <a:ext cx="2140102" cy="1337563"/>
          </a:xfrm>
          <a:prstGeom prst="rect">
            <a:avLst/>
          </a:prstGeom>
          <a:ln w="9525">
            <a:solidFill>
              <a:srgbClr val="D3D6DC"/>
            </a:solidFill>
          </a:ln>
        </p:spPr>
      </p:pic>
      <p:sp>
        <p:nvSpPr>
          <p:cNvPr id="111" name="Cap 4"/>
          <p:cNvSpPr txBox="1"/>
          <p:nvPr/>
        </p:nvSpPr>
        <p:spPr>
          <a:xfrm>
            <a:off x="7737043"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Submitted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2" name="Hi-fi screen"/>
          <p:cNvPicPr>
            <a:picLocks noChangeAspect="1"/>
          </p:cNvPicPr>
          <p:nvPr/>
        </p:nvPicPr>
        <p:blipFill>
          <a:blip r:embed="rId6"/>
          <a:srcRect b="25497"/>
          <a:stretch>
            <a:fillRect/>
          </a:stretch>
        </p:blipFill>
        <p:spPr>
          <a:xfrm>
            <a:off x="10041737" y="2057400"/>
            <a:ext cx="2140102" cy="1337563"/>
          </a:xfrm>
          <a:prstGeom prst="rect">
            <a:avLst/>
          </a:prstGeom>
          <a:ln w="9525">
            <a:solidFill>
              <a:srgbClr val="D3D6DC"/>
            </a:solidFill>
          </a:ln>
        </p:spPr>
      </p:pic>
      <p:sp>
        <p:nvSpPr>
          <p:cNvPr id="113" name="Cap 5"/>
          <p:cNvSpPr txBox="1"/>
          <p:nvPr/>
        </p:nvSpPr>
        <p:spPr>
          <a:xfrm>
            <a:off x="10041737"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Manager notified</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4" name="Hi-fi screen"/>
          <p:cNvPicPr>
            <a:picLocks noChangeAspect="1"/>
          </p:cNvPicPr>
          <p:nvPr/>
        </p:nvPicPr>
        <p:blipFill>
          <a:blip r:embed="rId7"/>
          <a:srcRect b="8685"/>
          <a:stretch>
            <a:fillRect/>
          </a:stretch>
        </p:blipFill>
        <p:spPr>
          <a:xfrm>
            <a:off x="822960" y="3961892"/>
            <a:ext cx="2140102" cy="1337563"/>
          </a:xfrm>
          <a:prstGeom prst="rect">
            <a:avLst/>
          </a:prstGeom>
          <a:ln w="9525">
            <a:solidFill>
              <a:srgbClr val="D3D6DC"/>
            </a:solidFill>
          </a:ln>
        </p:spPr>
      </p:pic>
      <p:sp>
        <p:nvSpPr>
          <p:cNvPr id="115" name="Cap 6"/>
          <p:cNvSpPr txBox="1"/>
          <p:nvPr/>
        </p:nvSpPr>
        <p:spPr>
          <a:xfrm>
            <a:off x="822960"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Pending my review</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6" name="Hi-fi screen"/>
          <p:cNvPicPr>
            <a:picLocks noChangeAspect="1"/>
          </p:cNvPicPr>
          <p:nvPr/>
        </p:nvPicPr>
        <p:blipFill>
          <a:blip r:embed="rId8"/>
          <a:srcRect b="8685"/>
          <a:stretch>
            <a:fillRect/>
          </a:stretch>
        </p:blipFill>
        <p:spPr>
          <a:xfrm>
            <a:off x="3127654" y="3961892"/>
            <a:ext cx="2140102" cy="1337563"/>
          </a:xfrm>
          <a:prstGeom prst="rect">
            <a:avLst/>
          </a:prstGeom>
          <a:ln w="9525">
            <a:solidFill>
              <a:srgbClr val="D3D6DC"/>
            </a:solidFill>
          </a:ln>
        </p:spPr>
      </p:pic>
      <p:sp>
        <p:nvSpPr>
          <p:cNvPr id="117" name="Cap 7"/>
          <p:cNvSpPr txBox="1"/>
          <p:nvPr/>
        </p:nvSpPr>
        <p:spPr>
          <a:xfrm>
            <a:off x="3127654"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Read-only request</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8" name="Hi-fi screen"/>
          <p:cNvPicPr>
            <a:picLocks noChangeAspect="1"/>
          </p:cNvPicPr>
          <p:nvPr/>
        </p:nvPicPr>
        <p:blipFill>
          <a:blip r:embed="rId9"/>
          <a:srcRect b="8685"/>
          <a:stretch>
            <a:fillRect/>
          </a:stretch>
        </p:blipFill>
        <p:spPr>
          <a:xfrm>
            <a:off x="5432348" y="3961892"/>
            <a:ext cx="2140102" cy="1337563"/>
          </a:xfrm>
          <a:prstGeom prst="rect">
            <a:avLst/>
          </a:prstGeom>
          <a:ln w="9525">
            <a:solidFill>
              <a:srgbClr val="D3D6DC"/>
            </a:solidFill>
          </a:ln>
        </p:spPr>
      </p:pic>
      <p:sp>
        <p:nvSpPr>
          <p:cNvPr id="119" name="Cap 8"/>
          <p:cNvSpPr txBox="1"/>
          <p:nvPr/>
        </p:nvSpPr>
        <p:spPr>
          <a:xfrm>
            <a:off x="5432348"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Workflow history</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20" name="Hi-fi screen"/>
          <p:cNvPicPr>
            <a:picLocks noChangeAspect="1"/>
          </p:cNvPicPr>
          <p:nvPr/>
        </p:nvPicPr>
        <p:blipFill>
          <a:blip r:embed="rId10"/>
          <a:srcRect b="8759"/>
          <a:stretch>
            <a:fillRect/>
          </a:stretch>
        </p:blipFill>
        <p:spPr>
          <a:xfrm>
            <a:off x="7737043" y="3961892"/>
            <a:ext cx="2140102" cy="1337563"/>
          </a:xfrm>
          <a:prstGeom prst="rect">
            <a:avLst/>
          </a:prstGeom>
          <a:ln w="9525">
            <a:solidFill>
              <a:srgbClr val="D3D6DC"/>
            </a:solidFill>
          </a:ln>
        </p:spPr>
      </p:pic>
      <p:sp>
        <p:nvSpPr>
          <p:cNvPr id="121" name="Cap 9"/>
          <p:cNvSpPr txBox="1"/>
          <p:nvPr/>
        </p:nvSpPr>
        <p:spPr>
          <a:xfrm>
            <a:off x="7737043"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Compliance digest</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2" name="Hi-fi screen"/>
          <p:cNvPicPr>
            <a:picLocks noChangeAspect="1"/>
          </p:cNvPicPr>
          <p:nvPr/>
        </p:nvPicPr>
        <p:blipFill>
          <a:blip r:embed="rId11"/>
          <a:srcRect b="8685"/>
          <a:stretch>
            <a:fillRect/>
          </a:stretch>
        </p:blipFill>
        <p:spPr>
          <a:xfrm>
            <a:off x="10041737" y="3961892"/>
            <a:ext cx="2140102" cy="1337563"/>
          </a:xfrm>
          <a:prstGeom prst="rect">
            <a:avLst/>
          </a:prstGeom>
          <a:ln w="9525">
            <a:solidFill>
              <a:srgbClr val="D3D6DC"/>
            </a:solidFill>
          </a:ln>
        </p:spPr>
      </p:pic>
      <p:sp>
        <p:nvSpPr>
          <p:cNvPr id="123" name="Cap 10"/>
          <p:cNvSpPr txBox="1"/>
          <p:nvPr/>
        </p:nvSpPr>
        <p:spPr>
          <a:xfrm>
            <a:off x="10041737"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Pending queue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4" name="Hi-fi screen"/>
          <p:cNvPicPr>
            <a:picLocks noChangeAspect="1"/>
          </p:cNvPicPr>
          <p:nvPr/>
        </p:nvPicPr>
        <p:blipFill>
          <a:blip r:embed="rId12"/>
          <a:srcRect b="8685"/>
          <a:stretch>
            <a:fillRect/>
          </a:stretch>
        </p:blipFill>
        <p:spPr>
          <a:xfrm>
            <a:off x="822960" y="5866384"/>
            <a:ext cx="2140102" cy="1337563"/>
          </a:xfrm>
          <a:prstGeom prst="rect">
            <a:avLst/>
          </a:prstGeom>
          <a:ln w="9525">
            <a:solidFill>
              <a:srgbClr val="D3D6DC"/>
            </a:solidFill>
          </a:ln>
        </p:spPr>
      </p:pic>
      <p:sp>
        <p:nvSpPr>
          <p:cNvPr id="125" name="Cap 11"/>
          <p:cNvSpPr txBox="1"/>
          <p:nvPr/>
        </p:nvSpPr>
        <p:spPr>
          <a:xfrm>
            <a:off x="822960"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Pipeline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6" name="Hi-fi screen"/>
          <p:cNvPicPr>
            <a:picLocks noChangeAspect="1"/>
          </p:cNvPicPr>
          <p:nvPr/>
        </p:nvPicPr>
        <p:blipFill>
          <a:blip r:embed="rId13"/>
          <a:srcRect b="8685"/>
          <a:stretch>
            <a:fillRect/>
          </a:stretch>
        </p:blipFill>
        <p:spPr>
          <a:xfrm>
            <a:off x="3127654" y="5866384"/>
            <a:ext cx="2140102" cy="1337563"/>
          </a:xfrm>
          <a:prstGeom prst="rect">
            <a:avLst/>
          </a:prstGeom>
          <a:ln w="9525">
            <a:solidFill>
              <a:srgbClr val="D3D6DC"/>
            </a:solidFill>
          </a:ln>
        </p:spPr>
      </p:pic>
      <p:sp>
        <p:nvSpPr>
          <p:cNvPr id="127" name="Cap 12"/>
          <p:cNvSpPr txBox="1"/>
          <p:nvPr/>
        </p:nvSpPr>
        <p:spPr>
          <a:xfrm>
            <a:off x="3127654"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Reporting search</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8" name="Hi-fi screen"/>
          <p:cNvPicPr>
            <a:picLocks noChangeAspect="1"/>
          </p:cNvPicPr>
          <p:nvPr/>
        </p:nvPicPr>
        <p:blipFill>
          <a:blip r:embed="rId14"/>
          <a:srcRect b="8685"/>
          <a:stretch>
            <a:fillRect/>
          </a:stretch>
        </p:blipFill>
        <p:spPr>
          <a:xfrm>
            <a:off x="5432348" y="5866384"/>
            <a:ext cx="2140102" cy="1337563"/>
          </a:xfrm>
          <a:prstGeom prst="rect">
            <a:avLst/>
          </a:prstGeom>
          <a:ln w="9525">
            <a:solidFill>
              <a:srgbClr val="D3D6DC"/>
            </a:solidFill>
          </a:ln>
        </p:spPr>
      </p:pic>
      <p:sp>
        <p:nvSpPr>
          <p:cNvPr id="129" name="Cap 13"/>
          <p:cNvSpPr txBox="1"/>
          <p:nvPr/>
        </p:nvSpPr>
        <p:spPr>
          <a:xfrm>
            <a:off x="5432348"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Reporting results</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30" name="Hi-fi screen"/>
          <p:cNvPicPr>
            <a:picLocks noChangeAspect="1"/>
          </p:cNvPicPr>
          <p:nvPr/>
        </p:nvPicPr>
        <p:blipFill>
          <a:blip r:embed="rId15"/>
          <a:srcRect b="22521"/>
          <a:stretch>
            <a:fillRect/>
          </a:stretch>
        </p:blipFill>
        <p:spPr>
          <a:xfrm>
            <a:off x="7737043" y="5866384"/>
            <a:ext cx="2140102" cy="1337563"/>
          </a:xfrm>
          <a:prstGeom prst="rect">
            <a:avLst/>
          </a:prstGeom>
          <a:ln w="9525">
            <a:solidFill>
              <a:srgbClr val="D3D6DC"/>
            </a:solidFill>
          </a:ln>
        </p:spPr>
      </p:pic>
      <p:sp>
        <p:nvSpPr>
          <p:cNvPr id="131" name="Cap 14"/>
          <p:cNvSpPr txBox="1"/>
          <p:nvPr/>
        </p:nvSpPr>
        <p:spPr>
          <a:xfrm>
            <a:off x="7737043"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Decision email</a:t>
            </a:r>
          </a:p>
          <a:p>
            <a:pPr algn="l">
              <a:lnSpc>
                <a:spcPct val="100000"/>
              </a:lnSpc>
              <a:spcAft>
                <a:spcPts val="0"/>
              </a:spcAft>
            </a:pPr>
            <a:r>
              <a:rPr lang="en-US" sz="950" spc="0" dirty="0">
                <a:solidFill>
                  <a:srgbClr val="858A97"/>
                </a:solidFill>
                <a:latin typeface="Helvetica Neue Light"/>
                <a:cs typeface="Helvetica Neue Light"/>
              </a:rPr>
              <a:t>Employee</a:t>
            </a:r>
          </a:p>
        </p:txBody>
      </p:sp>
      <p:cxnSp>
        <p:nvCxnSpPr>
          <p:cNvPr id="132" name="Divider"/>
          <p:cNvCxnSpPr/>
          <p:nvPr/>
        </p:nvCxnSpPr>
        <p:spPr>
          <a:xfrm>
            <a:off x="10041737" y="5866384"/>
            <a:ext cx="2140102" cy="0"/>
          </a:xfrm>
          <a:prstGeom prst="line">
            <a:avLst/>
          </a:prstGeom>
          <a:ln w="28575">
            <a:solidFill>
              <a:srgbClr val="B5531F"/>
            </a:solidFill>
          </a:ln>
        </p:spPr>
      </p:cxnSp>
      <p:sp>
        <p:nvSpPr>
          <p:cNvPr id="133" name="Prototype tile">
            <a:hlinkClick r:id="rId16"/>
          </p:cNvPr>
          <p:cNvSpPr txBox="1"/>
          <p:nvPr/>
        </p:nvSpPr>
        <p:spPr>
          <a:xfrm>
            <a:off x="10041737" y="600354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welcome screen</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strategy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Based on POC 2 from the design thinking process, and thumbnail sketches.</a:t>
            </a:r>
          </a:p>
        </p:txBody>
      </p:sp>
      <p:pic>
        <p:nvPicPr>
          <p:cNvPr id="104" name="Picture 1" descr="image.png"/>
          <p:cNvPicPr>
            <a:picLocks noChangeAspect="1"/>
          </p:cNvPicPr>
          <p:nvPr/>
        </p:nvPicPr>
        <p:blipFill>
          <a:blip r:embed="rId2"/>
          <a:stretch>
            <a:fillRect/>
          </a:stretch>
        </p:blipFill>
        <p:spPr>
          <a:xfrm>
            <a:off x="9423711" y="2011680"/>
            <a:ext cx="2756095" cy="3580347"/>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746880" y="5263566"/>
            <a:ext cx="2030375" cy="1830035"/>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8169826" y="3234501"/>
            <a:ext cx="1688382" cy="181519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7524314" y="5409122"/>
            <a:ext cx="2453369" cy="2911917"/>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44447" y="6877758"/>
            <a:ext cx="1835360" cy="1442637"/>
          </a:xfrm>
          <a:prstGeom prst="rect">
            <a:avLst/>
          </a:prstGeom>
          <a:ln w="9525">
            <a:solidFill>
              <a:srgbClr val="D3D6DC"/>
            </a:solidFill>
          </a:ln>
        </p:spPr>
      </p:pic>
      <p:sp>
        <p:nvSpPr>
          <p:cNvPr id="109" name="Learned"/>
          <p:cNvSpPr txBox="1"/>
          <p:nvPr/>
        </p:nvSpPr>
        <p:spPr>
          <a:xfrm>
            <a:off x="822960" y="2194560"/>
            <a:ext cx="49377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&amp; Compliance managers need a dashboard to understand and filter request statuses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 and other major functions, with sharing and alerts to second-line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Employees were often confused about which form they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education on why, how and when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to know what to expect when they came back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central place to see every submitted request</a:t>
            </a:r>
          </a:p>
        </p:txBody>
      </p:sp>
      <p:pic>
        <p:nvPicPr>
          <p:cNvPr id="110"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second iteration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first iterations put education front and center. Testing showed newer users needed it, but not all.</a:t>
            </a:r>
          </a:p>
        </p:txBody>
      </p:sp>
      <p:pic>
        <p:nvPicPr>
          <p:cNvPr id="104" name="Picture 1" descr="image.png"/>
          <p:cNvPicPr>
            <a:picLocks noChangeAspect="1"/>
          </p:cNvPicPr>
          <p:nvPr/>
        </p:nvPicPr>
        <p:blipFill>
          <a:blip r:embed="rId2"/>
          <a:stretch>
            <a:fillRect/>
          </a:stretch>
        </p:blipFill>
        <p:spPr>
          <a:xfrm>
            <a:off x="8611720" y="2103120"/>
            <a:ext cx="3568087" cy="6217920"/>
          </a:xfrm>
          <a:prstGeom prst="rect">
            <a:avLst/>
          </a:prstGeom>
          <a:ln w="9525">
            <a:solidFill>
              <a:srgbClr val="D3D6DC"/>
            </a:solidFill>
          </a:ln>
        </p:spPr>
      </p:pic>
      <p:sp>
        <p:nvSpPr>
          <p:cNvPr id="105" name="Learned"/>
          <p:cNvSpPr txBox="1"/>
          <p:nvPr/>
        </p:nvSpPr>
        <p:spPr>
          <a:xfrm>
            <a:off x="822960" y="2194560"/>
            <a:ext cx="48463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responded to friendlier copy that described the situations they might be in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Content for Swiss users could be surfaced by user ID and location</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final version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Submitters reach a wizard that asks only 2 questions to find the right form.</a:t>
            </a:r>
          </a:p>
        </p:txBody>
      </p:sp>
      <p:pic>
        <p:nvPicPr>
          <p:cNvPr id="104" name="Picture 1" descr="image.png"/>
          <p:cNvPicPr>
            <a:picLocks noChangeAspect="1"/>
          </p:cNvPicPr>
          <p:nvPr/>
        </p:nvPicPr>
        <p:blipFill>
          <a:blip r:embed="rId2"/>
          <a:stretch>
            <a:fillRect/>
          </a:stretch>
        </p:blipFill>
        <p:spPr>
          <a:xfrm>
            <a:off x="5120640" y="3121472"/>
            <a:ext cx="4414870" cy="405663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7564392" y="5696941"/>
            <a:ext cx="4615415" cy="1605746"/>
          </a:xfrm>
          <a:prstGeom prst="rect">
            <a:avLst/>
          </a:prstGeom>
          <a:ln w="9525">
            <a:solidFill>
              <a:srgbClr val="D3D6DC"/>
            </a:solidFill>
          </a:ln>
        </p:spPr>
      </p:pic>
      <p:sp>
        <p:nvSpPr>
          <p:cNvPr id="106" name="Caption"/>
          <p:cNvSpPr txBox="1"/>
          <p:nvPr/>
        </p:nvSpPr>
        <p:spPr>
          <a:xfrm>
            <a:off x="9740212" y="3106415"/>
            <a:ext cx="1463040"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Final Version</a:t>
            </a:r>
          </a:p>
        </p:txBody>
      </p:sp>
      <p:sp>
        <p:nvSpPr>
          <p:cNvPr id="107"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Easy access to education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quick way to start a request</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Landing page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Legacy requests from the previous system, OIRS, were migrated into OBI.</a:t>
            </a:r>
          </a:p>
        </p:txBody>
      </p:sp>
      <p:pic>
        <p:nvPicPr>
          <p:cNvPr id="104" name="Picture 1" descr="image.png"/>
          <p:cNvPicPr>
            <a:picLocks noChangeAspect="1"/>
          </p:cNvPicPr>
          <p:nvPr/>
        </p:nvPicPr>
        <p:blipFill>
          <a:blip r:embed="rId2"/>
          <a:stretch>
            <a:fillRect/>
          </a:stretch>
        </p:blipFill>
        <p:spPr>
          <a:xfrm>
            <a:off x="4572000" y="2692708"/>
            <a:ext cx="7607808" cy="5038742"/>
          </a:xfrm>
          <a:prstGeom prst="rect">
            <a:avLst/>
          </a:prstGeom>
          <a:ln w="9525">
            <a:solidFill>
              <a:srgbClr val="D3D6DC"/>
            </a:solidFill>
          </a:ln>
        </p:spPr>
      </p:pic>
      <p:sp>
        <p:nvSpPr>
          <p:cNvPr id="105" name="Learned"/>
          <p:cNvSpPr txBox="1"/>
          <p:nvPr/>
        </p:nvSpPr>
        <p:spPr>
          <a:xfrm>
            <a:off x="822960" y="2194560"/>
            <a:ext cx="33832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YOUR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Opens by default on the requester dashboard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Drafts saved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Pending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Completed requests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
        <p:nvSpPr>
          <p:cNvPr id="901" name="Callout text"/>
          <p:cNvSpPr txBox="1"/>
          <p:nvPr/>
        </p:nvSpPr>
        <p:spPr>
          <a:xfrm>
            <a:off x="9893808" y="6053328"/>
            <a:ext cx="2148840" cy="1627632"/>
          </a:xfrm>
          <a:prstGeom prst="rect">
            <a:avLst/>
          </a:prstGeom>
          <a:noFill/>
        </p:spPr>
        <p:txBody>
          <a:bodyPr wrap="square" lIns="45720" tIns="45720" rIns="45720" bIns="45720" anchor="ctr">
            <a:noAutofit/>
          </a:bodyPr>
          <a:lstStyle/>
          <a:p>
            <a:pPr>
              <a:lnSpc>
                <a:spcPct val="110000"/>
              </a:lnSpc>
              <a:spcAft>
                <a:spcPts val="200"/>
              </a:spcAft>
            </a:pPr>
            <a:r>
              <a:rPr lang="en-US" sz="1050" dirty="0">
                <a:solidFill>
                  <a:srgbClr val="FFFFFF"/>
                </a:solidFill>
                <a:latin typeface="Helvetica Neue Light"/>
                <a:cs typeface="Helvetica Neue Light"/>
              </a:rPr>
              <a:t>The landing page shows the requester dashboard. “Your Requests” opens by default, in three sections:</a:t>
            </a:r>
          </a:p>
          <a:p>
            <a:pPr>
              <a:lnSpc>
                <a:spcPct val="110000"/>
              </a:lnSpc>
              <a:spcAft>
                <a:spcPts val="200"/>
              </a:spcAft>
            </a:pPr>
            <a:r>
              <a:rPr lang="en-US" sz="1050" dirty="0">
                <a:solidFill>
                  <a:srgbClr val="FFFFFF"/>
                </a:solidFill>
                <a:latin typeface="Helvetica Neue Light"/>
                <a:cs typeface="Helvetica Neue Light"/>
              </a:rPr>
              <a:t>1. Drafts saved</a:t>
            </a:r>
          </a:p>
          <a:p>
            <a:pPr>
              <a:lnSpc>
                <a:spcPct val="110000"/>
              </a:lnSpc>
              <a:spcAft>
                <a:spcPts val="200"/>
              </a:spcAft>
            </a:pPr>
            <a:r>
              <a:rPr lang="en-US" sz="1050" dirty="0">
                <a:solidFill>
                  <a:srgbClr val="FFFFFF"/>
                </a:solidFill>
                <a:latin typeface="Helvetica Neue Light"/>
                <a:cs typeface="Helvetica Neue Light"/>
              </a:rPr>
              <a:t>2. Pending requests</a:t>
            </a:r>
          </a:p>
          <a:p>
            <a:pPr>
              <a:lnSpc>
                <a:spcPct val="110000"/>
              </a:lnSpc>
              <a:spcAft>
                <a:spcPts val="200"/>
              </a:spcAft>
            </a:pPr>
            <a:r>
              <a:rPr lang="en-US" sz="1050" dirty="0">
                <a:solidFill>
                  <a:srgbClr val="FFFFFF"/>
                </a:solidFill>
                <a:latin typeface="Helvetica Neue Light"/>
                <a:cs typeface="Helvetica Neue Light"/>
              </a:rPr>
              <a:t>3. Completed requests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Proxy request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For people who can’t access OBI to make the disclosures they need to.</a:t>
            </a:r>
          </a:p>
        </p:txBody>
      </p:sp>
      <p:pic>
        <p:nvPicPr>
          <p:cNvPr id="104" name="Picture 2" descr="image.png"/>
          <p:cNvPicPr>
            <a:picLocks noChangeAspect="1"/>
          </p:cNvPicPr>
          <p:nvPr/>
        </p:nvPicPr>
        <p:blipFill>
          <a:blip r:embed="rId2"/>
          <a:stretch>
            <a:fillRect/>
          </a:stretch>
        </p:blipFill>
        <p:spPr>
          <a:xfrm>
            <a:off x="822960" y="2286000"/>
            <a:ext cx="6949440" cy="4594929"/>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8993220" y="4301231"/>
            <a:ext cx="2285806" cy="2579697"/>
          </a:xfrm>
          <a:prstGeom prst="rect">
            <a:avLst/>
          </a:prstGeom>
          <a:ln w="9525">
            <a:solidFill>
              <a:srgbClr val="D3D6DC"/>
            </a:solidFill>
          </a:ln>
        </p:spPr>
      </p:pic>
      <p:pic>
        <p:nvPicPr>
          <p:cNvPr id="106" name="Picture 1" descr="image.png"/>
          <p:cNvPicPr>
            <a:picLocks noChangeAspect="1"/>
          </p:cNvPicPr>
          <p:nvPr/>
        </p:nvPicPr>
        <p:blipFill>
          <a:blip r:embed="rId4"/>
          <a:stretch>
            <a:fillRect/>
          </a:stretch>
        </p:blipFill>
        <p:spPr>
          <a:xfrm>
            <a:off x="8993220" y="2286000"/>
            <a:ext cx="2285806" cy="1832351"/>
          </a:xfrm>
          <a:prstGeom prst="rect">
            <a:avLst/>
          </a:prstGeom>
          <a:ln w="9525">
            <a:solidFill>
              <a:srgbClr val="D3D6DC"/>
            </a:solidFill>
          </a:ln>
        </p:spPr>
      </p:pic>
      <p:pic>
        <p:nvPicPr>
          <p:cNvPr id="108"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902" name="Callout text"/>
          <p:cNvSpPr txBox="1"/>
          <p:nvPr/>
        </p:nvSpPr>
        <p:spPr>
          <a:xfrm>
            <a:off x="4890924" y="3387740"/>
            <a:ext cx="2542478" cy="677994"/>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For people who can’t access OBI themselves to make the disclosures they need to, OBI has proxy functions.</a:t>
            </a:r>
          </a:p>
        </p:txBody>
      </p:sp>
      <p:sp>
        <p:nvSpPr>
          <p:cNvPr id="903" name="Callout text"/>
          <p:cNvSpPr txBox="1"/>
          <p:nvPr/>
        </p:nvSpPr>
        <p:spPr>
          <a:xfrm>
            <a:off x="1161957" y="6014967"/>
            <a:ext cx="2542478" cy="847492"/>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Staff can name colleagues to act as proxies. A proxy can submit requests on behalf of anyone who has given them permission.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Reporting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Risk &amp; Compliance managers find any request and export the results.</a:t>
            </a:r>
          </a:p>
        </p:txBody>
      </p:sp>
      <p:pic>
        <p:nvPicPr>
          <p:cNvPr id="104" name="Picture 1" descr="image.png"/>
          <p:cNvPicPr>
            <a:picLocks noChangeAspect="1"/>
          </p:cNvPicPr>
          <p:nvPr/>
        </p:nvPicPr>
        <p:blipFill>
          <a:blip r:embed="rId2"/>
          <a:stretch>
            <a:fillRect/>
          </a:stretch>
        </p:blipFill>
        <p:spPr>
          <a:xfrm>
            <a:off x="6902266" y="2011680"/>
            <a:ext cx="5277541" cy="6309360"/>
          </a:xfrm>
          <a:prstGeom prst="rect">
            <a:avLst/>
          </a:prstGeom>
          <a:ln w="9525">
            <a:solidFill>
              <a:srgbClr val="D3D6DC"/>
            </a:solidFill>
          </a:ln>
        </p:spPr>
      </p:pic>
      <p:sp>
        <p:nvSpPr>
          <p:cNvPr id="105"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SEARCH BY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Request ID and requester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and type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Company and office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Export to Excel or PDF</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a:t>
            </a:r>
            <a:r>
              <a:rPr lang="en-US" sz="4400" spc="-40" dirty="0">
                <a:solidFill>
                  <a:srgbClr val="B5531F"/>
                </a:solidFill>
                <a:latin typeface="Helvetica Neue Medium"/>
                <a:cs typeface="Helvetica Neue Medium"/>
              </a:rPr>
              <a:t>shaped OBI</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separate dashboard for submitters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separate dashboard for submitters</a:t>
            </a:r>
          </a:p>
        </p:txBody>
      </p:sp>
      <p:sp>
        <p:nvSpPr>
          <p:cNvPr id="105" name="A separate dashboard for submitters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Testing showed submitters needed their own starting point, with forms that reveal one step at a time.</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Two questions pick the form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Two questions pick the form</a:t>
            </a:r>
          </a:p>
        </p:txBody>
      </p:sp>
      <p:sp>
        <p:nvSpPr>
          <p:cNvPr id="108" name="Two questions pick the form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Employees didn’t know which form applied. A short wizard asks two questions and opens the right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Education written as scenario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Education written as scenarios</a:t>
            </a:r>
          </a:p>
        </p:txBody>
      </p:sp>
      <p:sp>
        <p:nvSpPr>
          <p:cNvPr id="111" name="Education written as scenario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user group asked for education. Copy built around real situations tested best, after three iterations.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Tools for approvers to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Tools for approvers too</a:t>
            </a:r>
          </a:p>
        </p:txBody>
      </p:sp>
      <p:sp>
        <p:nvSpPr>
          <p:cNvPr id="114" name="Tools for approvers to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Proxy submissions for people who can’t access OBI, and reporting by ID, status, office and date, exported to Excel or PDF.</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place to submit, review and report, </a:t>
            </a:r>
            <a:r>
              <a:rPr lang="en-US" sz="3800" spc="-40" dirty="0">
                <a:solidFill>
                  <a:srgbClr val="B5531F"/>
                </a:solidFill>
                <a:latin typeface="Helvetica Neue Medium"/>
                <a:cs typeface="Helvetica Neue Medium"/>
              </a:rPr>
              <a:t>with education built in</a:t>
            </a:r>
            <a:r>
              <a:rPr lang="en-US" sz="3800" spc="-40" dirty="0">
                <a:solidFill>
                  <a:srgbClr val="14161D"/>
                </a:solidFill>
                <a:latin typeface="Helvetica Neue Medium"/>
                <a:cs typeface="Helvetica Neue Medium"/>
              </a:rPr>
              <a:t>.</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submitter dashboard with a 2-question wizard that opens the right 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Your Requests: drafts, pending and completed, with legacy OIRS requests migrated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Proxy submissions for people who can’t access OBI themselves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Reporting by ID, requester, status, type, dates, company and office, exported to Excel or PDF</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to every user, but only newer users need it front and center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Copy that describes real situations works better than policy language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 and a quick start beat more options on the dashboard</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CREDIT SUISSE OBI · PROTOTYPE</a:t>
            </a:r>
          </a:p>
        </p:txBody>
      </p:sp>
      <p:sp>
        <p:nvSpPr>
          <p:cNvPr id="102" name="Headline"/>
          <p:cNvSpPr txBox="1"/>
          <p:nvPr/>
        </p:nvSpPr>
        <p:spPr>
          <a:xfrm>
            <a:off x="822960" y="1371600"/>
            <a:ext cx="1175004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Follow 1 request through </a:t>
            </a:r>
            <a:r>
              <a:rPr lang="en-US" sz="4400" spc="-40" dirty="0">
                <a:solidFill>
                  <a:srgbClr val="E98C64"/>
                </a:solidFill>
                <a:latin typeface="Helvetica Neue Medium"/>
                <a:cs typeface="Helvetica Neue Medium"/>
              </a:rPr>
              <a:t>the delivered app</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screens from the OBI Training Guide, linked in order: the employee submits, the manager reviews, Compliance decides, and the employee hears back.</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OBI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OBI-Request-Prototype.html.</a:t>
            </a:r>
          </a:p>
        </p:txBody>
      </p:sp>
      <p:pic>
        <p:nvPicPr>
          <p:cNvPr id="107" name="Hi-fi screen"/>
          <p:cNvPicPr>
            <a:picLocks noChangeAspect="1"/>
          </p:cNvPicPr>
          <p:nvPr/>
        </p:nvPicPr>
        <p:blipFill>
          <a:blip r:embed="rId3"/>
          <a:stretch>
            <a:fillRect/>
          </a:stretch>
        </p:blipFill>
        <p:spPr>
          <a:xfrm>
            <a:off x="6400800" y="2777175"/>
            <a:ext cx="5779008" cy="3955409"/>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7AC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8763715" y="2634234"/>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8058409" y="2634234"/>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9463698" y="2634233"/>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0168134" y="2629355"/>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9613971" y="7313645"/>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0333805" y="7313646"/>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8200097" y="7313646"/>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8931900" y="7313646"/>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8392854" y="4878833"/>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9089420" y="4886589"/>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978981" y="4886589"/>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710783" y="4886589"/>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502400" y="3078233"/>
            <a:ext cx="2647896" cy="5603690"/>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9607496" y="3078233"/>
            <a:ext cx="2585393" cy="5603690"/>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Account switching would serve most experienced traders and 60% of novice users, and fit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6"/>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7705736" y="2491696"/>
            <a:ext cx="3044606" cy="6599007"/>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04 · B2B DESKTOP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4600" spc="-40" dirty="0">
                <a:solidFill>
                  <a:srgbClr val="F5F5F7"/>
                </a:solidFill>
                <a:latin typeface="Helvetica Neue Medium"/>
                <a:cs typeface="Helvetica Neue Medium"/>
              </a:rPr>
              <a:t>American Express</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MOCA</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helping advertisers and marketers decide their advertising budgets with AMEX sales partners.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discovery and all design deliverables</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Partnered with AMEX data scientists, who built the projection and optimization engines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Wizard, scenario builder and data visualizer for a desktop app</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RESULT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RESULTS</a:t>
            </a:r>
          </a:p>
        </p:txBody>
      </p:sp>
      <p:sp>
        <p:nvSpPr>
          <p:cNvPr id="116" name="RESULT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 approval 58% → 88%; average client budget $1.34M → $1.8M</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“Comparing budgets and then optimizing it would allow me to have the confidence to increase the budget.”</a:t>
            </a:r>
          </a:p>
        </p:txBody>
      </p:sp>
      <p:pic>
        <p:nvPicPr>
          <p:cNvPr id="119" name="Picture 1" descr="image.png"/>
          <p:cNvPicPr>
            <a:picLocks noChangeAspect="1"/>
          </p:cNvPicPr>
          <p:nvPr/>
        </p:nvPicPr>
        <p:blipFill>
          <a:blip r:embed="rId2"/>
          <a:stretch>
            <a:fillRect/>
          </a:stretch>
        </p:blipFill>
        <p:spPr>
          <a:xfrm>
            <a:off x="6720840" y="2395180"/>
            <a:ext cx="6283960" cy="4801068"/>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desktop app that projects a marketer’s budget and </a:t>
            </a:r>
            <a:r>
              <a:rPr lang="en-US" sz="3600" spc="-40" dirty="0">
                <a:solidFill>
                  <a:srgbClr val="B5531F"/>
                </a:solidFill>
                <a:latin typeface="Helvetica Neue Medium"/>
                <a:cs typeface="Helvetica Neue Medium"/>
              </a:rPr>
              <a:t>compares built and optimized scenarios</a:t>
            </a:r>
            <a:r>
              <a:rPr lang="en-US" sz="3600" spc="-40" dirty="0">
                <a:solidFill>
                  <a:srgbClr val="14161D"/>
                </a:solidFill>
                <a:latin typeface="Helvetica Neue Medium"/>
                <a:cs typeface="Helvetica Neue Medium"/>
              </a:rPr>
              <a: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advisors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partners had no effective tool for clients to budget their AMEX advertising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compare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understand how well an investment works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Need for a more customizable, predictive app using nascent AI technology</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partnered with AMEX data scientists, who built the projection and optimization engines; I designed how partners build, compare and trust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t>
            </a:r>
            <a:r>
              <a:rPr lang="en-US" sz="4000" spc="-40" dirty="0">
                <a:solidFill>
                  <a:srgbClr val="B5531F"/>
                </a:solidFill>
                <a:latin typeface="Helvetica Neue Medium"/>
                <a:cs typeface="Helvetica Neue Medium"/>
              </a:rPr>
              <a:t>MOCA</a:t>
            </a:r>
            <a:r>
              <a:rPr lang="en-US" sz="4000" spc="-40" dirty="0">
                <a:solidFill>
                  <a:srgbClr val="14161D"/>
                </a:solidFill>
                <a:latin typeface="Helvetica Neue Medium"/>
                <a:cs typeface="Helvetica Neue Medium"/>
              </a:rPr>
              <a:t>?</a:t>
            </a:r>
          </a:p>
        </p:txBody>
      </p:sp>
      <p:sp>
        <p:nvSpPr>
          <p:cNvPr id="3034" name="Tile"/>
          <p:cNvSpPr/>
          <p:nvPr/>
        </p:nvSpPr>
        <p:spPr>
          <a:xfrm>
            <a:off x="822960" y="2606040"/>
            <a:ext cx="5577840" cy="5623560"/>
          </a:xfrm>
          <a:prstGeom prst="roundRect">
            <a:avLst>
              <a:gd name="adj" fmla="val 2295"/>
            </a:avLst>
          </a:prstGeom>
          <a:solidFill>
            <a:srgbClr val="B5531F"/>
          </a:solidFill>
          <a:ln>
            <a:noFill/>
          </a:ln>
        </p:spPr>
        <p:txBody>
          <a:bodyPr/>
          <a:lstStyle/>
          <a:p>
            <a:endParaRPr lang="en-US"/>
          </a:p>
        </p:txBody>
      </p:sp>
      <p:sp>
        <p:nvSpPr>
          <p:cNvPr id="103" name="Number"/>
          <p:cNvSpPr txBox="1"/>
          <p:nvPr/>
        </p:nvSpPr>
        <p:spPr>
          <a:xfrm>
            <a:off x="1097280" y="2807208"/>
            <a:ext cx="5029200" cy="1466850"/>
          </a:xfrm>
          <a:prstGeom prst="rect">
            <a:avLst/>
          </a:prstGeom>
          <a:noFill/>
        </p:spPr>
        <p:txBody>
          <a:bodyPr wrap="square" lIns="0" tIns="0" rIns="0" bIns="0" anchor="t">
            <a:noAutofit/>
          </a:bodyPr>
          <a:lstStyle/>
          <a:p>
            <a:pPr algn="l">
              <a:lnSpc>
                <a:spcPct val="88000"/>
              </a:lnSpc>
              <a:spcAft>
                <a:spcPts val="300"/>
              </a:spcAft>
            </a:pPr>
            <a:r>
              <a:rPr lang="en-US" sz="11000" spc="-60" dirty="0">
                <a:solidFill>
                  <a:srgbClr val="FFFFFF"/>
                </a:solidFill>
                <a:latin typeface="Helvetica Neue Medium"/>
                <a:cs typeface="Helvetica Neue Medium"/>
              </a:rPr>
              <a:t>$1.34M</a:t>
            </a:r>
          </a:p>
        </p:txBody>
      </p:sp>
      <p:sp>
        <p:nvSpPr>
          <p:cNvPr id="104" name="Label"/>
          <p:cNvSpPr txBox="1"/>
          <p:nvPr/>
        </p:nvSpPr>
        <p:spPr>
          <a:xfrm>
            <a:off x="1097280" y="4347210"/>
            <a:ext cx="50292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average client budget, before MOCA</a:t>
            </a:r>
          </a:p>
        </p:txBody>
      </p:sp>
      <p:sp>
        <p:nvSpPr>
          <p:cNvPr id="105" name="Bar label"/>
          <p:cNvSpPr txBox="1"/>
          <p:nvPr/>
        </p:nvSpPr>
        <p:spPr>
          <a:xfrm>
            <a:off x="1097280" y="7104888"/>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Before MOCA: $1.34M</a:t>
            </a:r>
          </a:p>
        </p:txBody>
      </p:sp>
      <p:sp>
        <p:nvSpPr>
          <p:cNvPr id="3035" name="Tile"/>
          <p:cNvSpPr/>
          <p:nvPr/>
        </p:nvSpPr>
        <p:spPr>
          <a:xfrm>
            <a:off x="1097280" y="7324344"/>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6" name="Tile"/>
          <p:cNvSpPr/>
          <p:nvPr/>
        </p:nvSpPr>
        <p:spPr>
          <a:xfrm>
            <a:off x="1097280" y="7324344"/>
            <a:ext cx="3743960" cy="146304"/>
          </a:xfrm>
          <a:prstGeom prst="roundRect">
            <a:avLst>
              <a:gd name="adj" fmla="val 37500"/>
            </a:avLst>
          </a:prstGeom>
          <a:solidFill>
            <a:srgbClr val="7ACFFF"/>
          </a:solidFill>
          <a:ln>
            <a:noFill/>
          </a:ln>
        </p:spPr>
        <p:txBody>
          <a:bodyPr/>
          <a:lstStyle/>
          <a:p>
            <a:endParaRPr lang="en-US"/>
          </a:p>
        </p:txBody>
      </p:sp>
      <p:sp>
        <p:nvSpPr>
          <p:cNvPr id="106" name="Bar label"/>
          <p:cNvSpPr txBox="1"/>
          <p:nvPr/>
        </p:nvSpPr>
        <p:spPr>
          <a:xfrm>
            <a:off x="1097280" y="7488936"/>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After launch: $1.8M (see Results)</a:t>
            </a:r>
          </a:p>
        </p:txBody>
      </p:sp>
      <p:sp>
        <p:nvSpPr>
          <p:cNvPr id="3037" name="Tile"/>
          <p:cNvSpPr/>
          <p:nvPr/>
        </p:nvSpPr>
        <p:spPr>
          <a:xfrm>
            <a:off x="1097280" y="7708392"/>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8" name="Tile"/>
          <p:cNvSpPr/>
          <p:nvPr/>
        </p:nvSpPr>
        <p:spPr>
          <a:xfrm>
            <a:off x="1097280" y="7708392"/>
            <a:ext cx="5029200" cy="146304"/>
          </a:xfrm>
          <a:prstGeom prst="roundRect">
            <a:avLst>
              <a:gd name="adj" fmla="val 37500"/>
            </a:avLst>
          </a:prstGeom>
          <a:solidFill>
            <a:srgbClr val="FFFFFF">
              <a:alpha val="60000"/>
            </a:srgbClr>
          </a:solidFill>
          <a:ln>
            <a:noFill/>
          </a:ln>
        </p:spPr>
        <p:txBody>
          <a:bodyPr/>
          <a:lstStyle/>
          <a:p>
            <a:endParaRPr lang="en-US"/>
          </a:p>
        </p:txBody>
      </p:sp>
      <p:sp>
        <p:nvSpPr>
          <p:cNvPr id="3039" name="Tile"/>
          <p:cNvSpPr/>
          <p:nvPr/>
        </p:nvSpPr>
        <p:spPr>
          <a:xfrm>
            <a:off x="6583680" y="2606040"/>
            <a:ext cx="5596128" cy="1752600"/>
          </a:xfrm>
          <a:prstGeom prst="roundRect">
            <a:avLst>
              <a:gd name="adj" fmla="val 7304"/>
            </a:avLst>
          </a:prstGeom>
          <a:solidFill>
            <a:srgbClr val="F1F2F5"/>
          </a:solidFill>
          <a:ln>
            <a:noFill/>
          </a:ln>
        </p:spPr>
        <p:txBody>
          <a:bodyPr/>
          <a:lstStyle/>
          <a:p>
            <a:endParaRPr lang="en-US"/>
          </a:p>
        </p:txBody>
      </p:sp>
      <p:sp>
        <p:nvSpPr>
          <p:cNvPr id="107" name="Number"/>
          <p:cNvSpPr txBox="1"/>
          <p:nvPr/>
        </p:nvSpPr>
        <p:spPr>
          <a:xfrm>
            <a:off x="6858000" y="260604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14161D"/>
                </a:solidFill>
                <a:latin typeface="Helvetica Neue Medium"/>
                <a:cs typeface="Helvetica Neue Medium"/>
              </a:rPr>
              <a:t>58%</a:t>
            </a:r>
          </a:p>
        </p:txBody>
      </p:sp>
      <p:sp>
        <p:nvSpPr>
          <p:cNvPr id="108" name="Label"/>
          <p:cNvSpPr txBox="1"/>
          <p:nvPr/>
        </p:nvSpPr>
        <p:spPr>
          <a:xfrm>
            <a:off x="8473440" y="2606040"/>
            <a:ext cx="343204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approval from internal business partners</a:t>
            </a:r>
          </a:p>
        </p:txBody>
      </p:sp>
      <p:sp>
        <p:nvSpPr>
          <p:cNvPr id="3040" name="Tile"/>
          <p:cNvSpPr/>
          <p:nvPr/>
        </p:nvSpPr>
        <p:spPr>
          <a:xfrm>
            <a:off x="6583680" y="4541520"/>
            <a:ext cx="5596128" cy="1752600"/>
          </a:xfrm>
          <a:prstGeom prst="roundRect">
            <a:avLst>
              <a:gd name="adj" fmla="val 7304"/>
            </a:avLst>
          </a:prstGeom>
          <a:solidFill>
            <a:srgbClr val="1B1D24"/>
          </a:solidFill>
          <a:ln>
            <a:noFill/>
          </a:ln>
        </p:spPr>
        <p:txBody>
          <a:bodyPr/>
          <a:lstStyle/>
          <a:p>
            <a:endParaRPr lang="en-US"/>
          </a:p>
        </p:txBody>
      </p:sp>
      <p:sp>
        <p:nvSpPr>
          <p:cNvPr id="109" name="Number"/>
          <p:cNvSpPr txBox="1"/>
          <p:nvPr/>
        </p:nvSpPr>
        <p:spPr>
          <a:xfrm>
            <a:off x="6858000" y="454152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12 min</a:t>
            </a:r>
          </a:p>
        </p:txBody>
      </p:sp>
      <p:sp>
        <p:nvSpPr>
          <p:cNvPr id="110" name="Label"/>
          <p:cNvSpPr txBox="1"/>
          <p:nvPr/>
        </p:nvSpPr>
        <p:spPr>
          <a:xfrm>
            <a:off x="9208373" y="4541520"/>
            <a:ext cx="2697114"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average time for partners to complete a budget</a:t>
            </a:r>
          </a:p>
        </p:txBody>
      </p:sp>
      <p:sp>
        <p:nvSpPr>
          <p:cNvPr id="3041" name="Tile"/>
          <p:cNvSpPr/>
          <p:nvPr/>
        </p:nvSpPr>
        <p:spPr>
          <a:xfrm>
            <a:off x="6583680" y="6477000"/>
            <a:ext cx="5596128" cy="1752600"/>
          </a:xfrm>
          <a:prstGeom prst="roundRect">
            <a:avLst>
              <a:gd name="adj" fmla="val 7304"/>
            </a:avLst>
          </a:prstGeom>
          <a:solidFill>
            <a:srgbClr val="1B1D24"/>
          </a:solidFill>
          <a:ln>
            <a:noFill/>
          </a:ln>
        </p:spPr>
        <p:txBody>
          <a:bodyPr/>
          <a:lstStyle/>
          <a:p>
            <a:endParaRPr lang="en-US"/>
          </a:p>
        </p:txBody>
      </p:sp>
      <p:sp>
        <p:nvSpPr>
          <p:cNvPr id="111" name="Number"/>
          <p:cNvSpPr txBox="1"/>
          <p:nvPr/>
        </p:nvSpPr>
        <p:spPr>
          <a:xfrm>
            <a:off x="6858000" y="647700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5.4%</a:t>
            </a:r>
          </a:p>
        </p:txBody>
      </p:sp>
      <p:sp>
        <p:nvSpPr>
          <p:cNvPr id="112" name="Label"/>
          <p:cNvSpPr txBox="1"/>
          <p:nvPr/>
        </p:nvSpPr>
        <p:spPr>
          <a:xfrm>
            <a:off x="8717280" y="6477000"/>
            <a:ext cx="318820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the current budget process</a:t>
            </a:r>
          </a:p>
        </p:txBody>
      </p:sp>
      <p:pic>
        <p:nvPicPr>
          <p:cNvPr id="113"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internal stakeholders, SMEs and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managers and sales advisors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Co-design sessions with data scientists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Internal business partners have no tool to help their clients budget AMEX advertising dollars effectively. Users need an application to allocate marketing budgets across the AMEX product lines.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Comparison</a:t>
            </a:r>
          </a:p>
          <a:p>
            <a:pPr algn="l">
              <a:lnSpc>
                <a:spcPct val="115000"/>
              </a:lnSpc>
              <a:spcAft>
                <a:spcPts val="900"/>
              </a:spcAft>
            </a:pPr>
            <a:r>
              <a:rPr lang="en-US" sz="1700" spc="0" dirty="0">
                <a:solidFill>
                  <a:srgbClr val="565C6B"/>
                </a:solidFill>
                <a:latin typeface="Helvetica Neue Light"/>
                <a:cs typeface="Helvetica Neue Light"/>
              </a:rPr>
              <a:t>Importing data sets from Excel</a:t>
            </a:r>
          </a:p>
          <a:p>
            <a:pPr algn="l">
              <a:lnSpc>
                <a:spcPct val="115000"/>
              </a:lnSpc>
              <a:spcAft>
                <a:spcPts val="900"/>
              </a:spcAft>
            </a:pPr>
            <a:r>
              <a:rPr lang="en-US" sz="1700" spc="0" dirty="0">
                <a:solidFill>
                  <a:srgbClr val="565C6B"/>
                </a:solidFill>
                <a:latin typeface="Helvetica Neue Light"/>
                <a:cs typeface="Helvetica Neue Light"/>
              </a:rPr>
              <a:t>Changing each allocation by channel or product</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Walk-through wizard</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Import data sets</a:t>
            </a:r>
          </a:p>
          <a:p>
            <a:pPr algn="l">
              <a:lnSpc>
                <a:spcPct val="115000"/>
              </a:lnSpc>
              <a:spcAft>
                <a:spcPts val="900"/>
              </a:spcAft>
            </a:pPr>
            <a:r>
              <a:rPr lang="en-US" sz="1700" spc="0" dirty="0">
                <a:solidFill>
                  <a:srgbClr val="565C6B"/>
                </a:solidFill>
                <a:latin typeface="Helvetica Neue Light"/>
                <a:cs typeface="Helvetica Neue Light"/>
              </a:rPr>
              <a:t>Channel and product allocation</a:t>
            </a:r>
          </a:p>
          <a:p>
            <a:pPr algn="l">
              <a:lnSpc>
                <a:spcPct val="115000"/>
              </a:lnSpc>
              <a:spcAft>
                <a:spcPts val="900"/>
              </a:spcAft>
            </a:pPr>
            <a:r>
              <a:rPr lang="en-US" sz="1700" spc="0" dirty="0">
                <a:solidFill>
                  <a:srgbClr val="565C6B"/>
                </a:solidFill>
                <a:latin typeface="Helvetica Neue Light"/>
                <a:cs typeface="Helvetica Neue Light"/>
              </a:rPr>
              <a:t>Optimization budget tool</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Walk-through wizard</a:t>
            </a:r>
          </a:p>
          <a:p>
            <a:pPr algn="l">
              <a:lnSpc>
                <a:spcPct val="115000"/>
              </a:lnSpc>
              <a:spcAft>
                <a:spcPts val="900"/>
              </a:spcAft>
            </a:pPr>
            <a:r>
              <a:rPr lang="en-US" sz="1700" spc="0" dirty="0">
                <a:solidFill>
                  <a:srgbClr val="14161D"/>
                </a:solidFill>
                <a:latin typeface="Helvetica Neue Light"/>
                <a:cs typeface="Helvetica Neue Light"/>
              </a:rPr>
              <a:t>Scenario builder</a:t>
            </a:r>
          </a:p>
          <a:p>
            <a:pPr algn="l">
              <a:lnSpc>
                <a:spcPct val="115000"/>
              </a:lnSpc>
              <a:spcAft>
                <a:spcPts val="900"/>
              </a:spcAft>
            </a:pPr>
            <a:r>
              <a:rPr lang="en-US" sz="1700" spc="0" dirty="0">
                <a:solidFill>
                  <a:srgbClr val="14161D"/>
                </a:solidFill>
                <a:latin typeface="Helvetica Neue Light"/>
                <a:cs typeface="Helvetica Neue Light"/>
              </a:rPr>
              <a:t>Data visualizer</a:t>
            </a:r>
          </a:p>
          <a:p>
            <a:pPr algn="l">
              <a:lnSpc>
                <a:spcPct val="115000"/>
              </a:lnSpc>
              <a:spcAft>
                <a:spcPts val="900"/>
              </a:spcAft>
            </a:pPr>
            <a:r>
              <a:rPr lang="en-US" sz="1700" spc="0" dirty="0">
                <a:solidFill>
                  <a:srgbClr val="14161D"/>
                </a:solidFill>
                <a:latin typeface="Helvetica Neue Light"/>
                <a:cs typeface="Helvetica Neue Light"/>
              </a:rPr>
              <a:t>Comparison</a:t>
            </a:r>
          </a:p>
          <a:p>
            <a:pPr algn="l">
              <a:lnSpc>
                <a:spcPct val="115000"/>
              </a:lnSpc>
              <a:spcAft>
                <a:spcPts val="900"/>
              </a:spcAft>
            </a:pPr>
            <a:r>
              <a:rPr lang="en-US" sz="1700" spc="0" dirty="0">
                <a:solidFill>
                  <a:srgbClr val="14161D"/>
                </a:solidFill>
                <a:latin typeface="Helvetica Neue Light"/>
                <a:cs typeface="Helvetica Neue Light"/>
              </a:rPr>
              <a:t>Import data sets</a:t>
            </a:r>
          </a:p>
          <a:p>
            <a:pPr algn="l">
              <a:lnSpc>
                <a:spcPct val="115000"/>
              </a:lnSpc>
              <a:spcAft>
                <a:spcPts val="900"/>
              </a:spcAft>
            </a:pPr>
            <a:r>
              <a:rPr lang="en-US" sz="1700" spc="0" dirty="0">
                <a:solidFill>
                  <a:srgbClr val="14161D"/>
                </a:solidFill>
                <a:latin typeface="Helvetica Neue Light"/>
                <a:cs typeface="Helvetica Neue Light"/>
              </a:rPr>
              <a:t>Channel and product allocation</a:t>
            </a:r>
          </a:p>
          <a:p>
            <a:pPr algn="l">
              <a:lnSpc>
                <a:spcPct val="115000"/>
              </a:lnSpc>
              <a:spcAft>
                <a:spcPts val="900"/>
              </a:spcAft>
            </a:pPr>
            <a:r>
              <a:rPr lang="en-US" sz="1700" spc="0" dirty="0">
                <a:solidFill>
                  <a:srgbClr val="14161D"/>
                </a:solidFill>
                <a:latin typeface="Helvetica Neue Light"/>
                <a:cs typeface="Helvetica Neue Light"/>
              </a:rPr>
              <a:t>Optimization budget tool</a:t>
            </a:r>
          </a:p>
          <a:p>
            <a:pPr algn="l">
              <a:lnSpc>
                <a:spcPct val="115000"/>
              </a:lnSpc>
              <a:spcAft>
                <a:spcPts val="900"/>
              </a:spcAft>
            </a:pPr>
            <a:r>
              <a:rPr lang="en-US" sz="1700" spc="0" dirty="0">
                <a:solidFill>
                  <a:srgbClr val="14161D"/>
                </a:solidFill>
                <a:latin typeface="Helvetica Neue Light"/>
                <a:cs typeface="Helvetica Neue Light"/>
              </a:rPr>
              <a:t>Integration with internal systems</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journey, distilled into 3 steps</a:t>
            </a:r>
          </a:p>
        </p:txBody>
      </p:sp>
      <p:pic>
        <p:nvPicPr>
          <p:cNvPr id="103" name="Picture 1" descr="image.png"/>
          <p:cNvPicPr>
            <a:picLocks noChangeAspect="1"/>
          </p:cNvPicPr>
          <p:nvPr/>
        </p:nvPicPr>
        <p:blipFill>
          <a:blip r:embed="rId2"/>
          <a:stretch>
            <a:fillRect/>
          </a:stretch>
        </p:blipFill>
        <p:spPr>
          <a:xfrm>
            <a:off x="2686468" y="4572000"/>
            <a:ext cx="7629831" cy="3703320"/>
          </a:xfrm>
          <a:prstGeom prst="rect">
            <a:avLst/>
          </a:prstGeom>
          <a:ln w="9525">
            <a:solidFill>
              <a:srgbClr val="D3D6DC"/>
            </a:solidFill>
          </a:ln>
        </p:spPr>
      </p:pic>
      <p:cxnSp>
        <p:nvCxnSpPr>
          <p:cNvPr id="104" name="Divider"/>
          <p:cNvCxnSpPr/>
          <p:nvPr/>
        </p:nvCxnSpPr>
        <p:spPr>
          <a:xfrm>
            <a:off x="822960" y="2057400"/>
            <a:ext cx="3542453" cy="0"/>
          </a:xfrm>
          <a:prstGeom prst="line">
            <a:avLst/>
          </a:prstGeom>
          <a:ln w="28575">
            <a:solidFill>
              <a:srgbClr val="B5531F"/>
            </a:solidFill>
          </a:ln>
        </p:spPr>
      </p:cxnSp>
      <p:sp>
        <p:nvSpPr>
          <p:cNvPr id="105" name="Walk-through wizard"/>
          <p:cNvSpPr txBox="1"/>
          <p:nvPr/>
        </p:nvSpPr>
        <p:spPr>
          <a:xfrm>
            <a:off x="822960"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1</a:t>
            </a:r>
          </a:p>
          <a:p>
            <a:pPr algn="l">
              <a:lnSpc>
                <a:spcPct val="105000"/>
              </a:lnSpc>
              <a:spcAft>
                <a:spcPts val="250"/>
              </a:spcAft>
            </a:pPr>
            <a:r>
              <a:rPr lang="en-US" sz="1700" spc="0" dirty="0">
                <a:solidFill>
                  <a:srgbClr val="14161D"/>
                </a:solidFill>
                <a:latin typeface="Helvetica Neue Medium"/>
                <a:cs typeface="Helvetica Neue Medium"/>
              </a:rPr>
              <a:t>Walk-through wizard</a:t>
            </a:r>
          </a:p>
          <a:p>
            <a:pPr algn="l">
              <a:lnSpc>
                <a:spcPct val="125000"/>
              </a:lnSpc>
              <a:spcAft>
                <a:spcPts val="250"/>
              </a:spcAft>
            </a:pPr>
            <a:r>
              <a:rPr lang="en-US" sz="1550" spc="0" dirty="0">
                <a:solidFill>
                  <a:srgbClr val="565C6B"/>
                </a:solidFill>
                <a:latin typeface="Helvetica Neue Light"/>
                <a:cs typeface="Helvetica Neue Light"/>
              </a:rPr>
              <a:t>Guides users through the budget projection: import data, set dates, adjust each allocation by channel and product.</a:t>
            </a:r>
          </a:p>
        </p:txBody>
      </p:sp>
      <p:cxnSp>
        <p:nvCxnSpPr>
          <p:cNvPr id="106" name="Divider"/>
          <p:cNvCxnSpPr/>
          <p:nvPr/>
        </p:nvCxnSpPr>
        <p:spPr>
          <a:xfrm>
            <a:off x="4731173" y="2057400"/>
            <a:ext cx="3542453" cy="0"/>
          </a:xfrm>
          <a:prstGeom prst="line">
            <a:avLst/>
          </a:prstGeom>
          <a:ln w="28575">
            <a:solidFill>
              <a:srgbClr val="B5531F"/>
            </a:solidFill>
          </a:ln>
        </p:spPr>
      </p:cxnSp>
      <p:sp>
        <p:nvSpPr>
          <p:cNvPr id="107" name="Scenario builder"/>
          <p:cNvSpPr txBox="1"/>
          <p:nvPr/>
        </p:nvSpPr>
        <p:spPr>
          <a:xfrm>
            <a:off x="4731173"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2</a:t>
            </a:r>
          </a:p>
          <a:p>
            <a:pPr algn="l">
              <a:lnSpc>
                <a:spcPct val="105000"/>
              </a:lnSpc>
              <a:spcAft>
                <a:spcPts val="250"/>
              </a:spcAft>
            </a:pPr>
            <a:r>
              <a:rPr lang="en-US" sz="1700" spc="0" dirty="0">
                <a:solidFill>
                  <a:srgbClr val="14161D"/>
                </a:solidFill>
                <a:latin typeface="Helvetica Neue Medium"/>
                <a:cs typeface="Helvetica Neue Medium"/>
              </a:rPr>
              <a:t>Scenario builder</a:t>
            </a:r>
          </a:p>
          <a:p>
            <a:pPr algn="l">
              <a:lnSpc>
                <a:spcPct val="125000"/>
              </a:lnSpc>
              <a:spcAft>
                <a:spcPts val="250"/>
              </a:spcAft>
            </a:pPr>
            <a:r>
              <a:rPr lang="en-US" sz="1550" spc="0" dirty="0">
                <a:solidFill>
                  <a:srgbClr val="565C6B"/>
                </a:solidFill>
                <a:latin typeface="Helvetica Neue Light"/>
                <a:cs typeface="Helvetica Neue Light"/>
              </a:rPr>
              <a:t>Build separate scenarios, compare them, and optimize a selected budget using the tool’s business intelligence and data.</a:t>
            </a:r>
          </a:p>
        </p:txBody>
      </p:sp>
      <p:cxnSp>
        <p:nvCxnSpPr>
          <p:cNvPr id="108" name="Divider"/>
          <p:cNvCxnSpPr/>
          <p:nvPr/>
        </p:nvCxnSpPr>
        <p:spPr>
          <a:xfrm>
            <a:off x="8639386" y="2057400"/>
            <a:ext cx="3542453" cy="0"/>
          </a:xfrm>
          <a:prstGeom prst="line">
            <a:avLst/>
          </a:prstGeom>
          <a:ln w="28575">
            <a:solidFill>
              <a:srgbClr val="B5531F"/>
            </a:solidFill>
          </a:ln>
        </p:spPr>
      </p:cxnSp>
      <p:sp>
        <p:nvSpPr>
          <p:cNvPr id="109" name="Data visualizer"/>
          <p:cNvSpPr txBox="1"/>
          <p:nvPr/>
        </p:nvSpPr>
        <p:spPr>
          <a:xfrm>
            <a:off x="8639386"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3</a:t>
            </a:r>
          </a:p>
          <a:p>
            <a:pPr algn="l">
              <a:lnSpc>
                <a:spcPct val="105000"/>
              </a:lnSpc>
              <a:spcAft>
                <a:spcPts val="250"/>
              </a:spcAft>
            </a:pPr>
            <a:r>
              <a:rPr lang="en-US" sz="1700" spc="0" dirty="0">
                <a:solidFill>
                  <a:srgbClr val="14161D"/>
                </a:solidFill>
                <a:latin typeface="Helvetica Neue Medium"/>
                <a:cs typeface="Helvetica Neue Medium"/>
              </a:rPr>
              <a:t>Data visualizer</a:t>
            </a:r>
          </a:p>
          <a:p>
            <a:pPr algn="l">
              <a:lnSpc>
                <a:spcPct val="125000"/>
              </a:lnSpc>
              <a:spcAft>
                <a:spcPts val="250"/>
              </a:spcAft>
            </a:pPr>
            <a:r>
              <a:rPr lang="en-US" sz="1550" spc="0" dirty="0">
                <a:solidFill>
                  <a:srgbClr val="565C6B"/>
                </a:solidFill>
                <a:latin typeface="Helvetica Neue Light"/>
                <a:cs typeface="Helvetica Neue Light"/>
              </a:rPr>
              <a:t>Visualizations show how each plan breaks down and how the plans compare.</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sprint: start from a past budget</a:t>
            </a:r>
          </a:p>
        </p:txBody>
      </p:sp>
      <p:pic>
        <p:nvPicPr>
          <p:cNvPr id="103" name="Picture 1" descr="image.png"/>
          <p:cNvPicPr>
            <a:picLocks noChangeAspect="1"/>
          </p:cNvPicPr>
          <p:nvPr/>
        </p:nvPicPr>
        <p:blipFill>
          <a:blip r:embed="rId2"/>
          <a:stretch>
            <a:fillRect/>
          </a:stretch>
        </p:blipFill>
        <p:spPr>
          <a:xfrm>
            <a:off x="5029199" y="2643512"/>
            <a:ext cx="7480841" cy="4991728"/>
          </a:xfrm>
          <a:prstGeom prst="rect">
            <a:avLst/>
          </a:prstGeom>
          <a:ln w="9525">
            <a:solidFill>
              <a:srgbClr val="D3D6DC"/>
            </a:solidFill>
          </a:ln>
        </p:spPr>
      </p:pic>
      <p:sp>
        <p:nvSpPr>
          <p:cNvPr id="104"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wanted to import one budget and keep it as a template for the next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So a new budget can start from an imported one, by duplicating it</a:t>
            </a:r>
          </a:p>
        </p:txBody>
      </p:sp>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Unexpected challenge: the rest of the desktop</a:t>
            </a:r>
          </a:p>
        </p:txBody>
      </p:sp>
      <p:pic>
        <p:nvPicPr>
          <p:cNvPr id="103" name="Picture 1" descr="image.png"/>
          <p:cNvPicPr>
            <a:picLocks noChangeAspect="1"/>
          </p:cNvPicPr>
          <p:nvPr/>
        </p:nvPicPr>
        <p:blipFill>
          <a:blip r:embed="rId2"/>
          <a:stretch>
            <a:fillRect/>
          </a:stretch>
        </p:blipFill>
        <p:spPr>
          <a:xfrm>
            <a:off x="9510677" y="4945482"/>
            <a:ext cx="3205268" cy="2141118"/>
          </a:xfrm>
          <a:prstGeom prst="rect">
            <a:avLst/>
          </a:prstGeom>
          <a:ln w="9525">
            <a:solidFill>
              <a:srgbClr val="D3D6DC"/>
            </a:solidFill>
          </a:ln>
        </p:spPr>
      </p:pic>
      <p:pic>
        <p:nvPicPr>
          <p:cNvPr id="104" name="Picture 2" descr="image.png"/>
          <p:cNvPicPr>
            <a:picLocks noChangeAspect="1"/>
          </p:cNvPicPr>
          <p:nvPr/>
        </p:nvPicPr>
        <p:blipFill>
          <a:blip r:embed="rId3"/>
          <a:stretch>
            <a:fillRect/>
          </a:stretch>
        </p:blipFill>
        <p:spPr>
          <a:xfrm>
            <a:off x="9467824" y="2567055"/>
            <a:ext cx="3333775" cy="2226961"/>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3279601" y="4206770"/>
            <a:ext cx="6136273" cy="4099030"/>
          </a:xfrm>
          <a:prstGeom prst="rect">
            <a:avLst/>
          </a:prstGeom>
          <a:ln w="9525">
            <a:solidFill>
              <a:srgbClr val="D3D6DC"/>
            </a:solidFill>
          </a:ln>
        </p:spPr>
      </p:pic>
      <p:sp>
        <p:nvSpPr>
          <p:cNvPr id="106"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CHALLENGE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As a desktop app, MOCA had to account for the other applications on the desktop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And how it would connect to them through APIs</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Partners want to compare budget scenarios, </a:t>
            </a:r>
            <a:r>
              <a:rPr lang="en-US" sz="4000" spc="-40" dirty="0">
                <a:solidFill>
                  <a:srgbClr val="B5531F"/>
                </a:solidFill>
                <a:latin typeface="Helvetica Neue Medium"/>
                <a:cs typeface="Helvetica Neue Medium"/>
              </a:rPr>
              <a:t>down to each channel and product</a:t>
            </a:r>
            <a:r>
              <a:rPr lang="en-US" sz="4000" spc="-40" dirty="0">
                <a:solidFill>
                  <a:srgbClr val="14161D"/>
                </a:solidFill>
                <a:latin typeface="Helvetica Neue Medium"/>
                <a:cs typeface="Helvetica Neue Medium"/>
              </a:rPr>
              <a:t>.</a:t>
            </a:r>
          </a:p>
        </p:txBody>
      </p:sp>
      <p:sp>
        <p:nvSpPr>
          <p:cNvPr id="103" name="Body"/>
          <p:cNvSpPr txBox="1"/>
          <p:nvPr/>
        </p:nvSpPr>
        <p:spPr>
          <a:xfrm>
            <a:off x="822960" y="402336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want to see, through data visualizations, how scenarios differ. For a deeper understanding of their allocations, they want to adjust each channel and the products inside it.</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Wizard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short, efficient wizard for budget details and time frame.</a:t>
            </a:r>
          </a:p>
        </p:txBody>
      </p:sp>
      <p:pic>
        <p:nvPicPr>
          <p:cNvPr id="104" name="Picture 2" descr="image.png"/>
          <p:cNvPicPr>
            <a:picLocks noChangeAspect="1"/>
          </p:cNvPicPr>
          <p:nvPr/>
        </p:nvPicPr>
        <p:blipFill>
          <a:blip r:embed="rId2"/>
          <a:stretch>
            <a:fillRect/>
          </a:stretch>
        </p:blipFill>
        <p:spPr>
          <a:xfrm>
            <a:off x="1975874" y="5458161"/>
            <a:ext cx="4322902" cy="2616797"/>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6706026" y="5458160"/>
            <a:ext cx="4202564" cy="2616797"/>
          </a:xfrm>
          <a:prstGeom prst="rect">
            <a:avLst/>
          </a:prstGeom>
          <a:ln w="9525">
            <a:solidFill>
              <a:srgbClr val="D3D6DC"/>
            </a:solidFill>
          </a:ln>
        </p:spPr>
      </p:pic>
      <p:sp>
        <p:nvSpPr>
          <p:cNvPr id="106" name="Learned"/>
          <p:cNvSpPr txBox="1"/>
          <p:nvPr/>
        </p:nvSpPr>
        <p:spPr>
          <a:xfrm>
            <a:off x="822960" y="2194560"/>
            <a:ext cx="3749039"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RESEARCH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Partners use the tool only once every 6–12 months, so many needed more structured guidance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First-time users wanted a friction-free way to start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Scenario comparison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called the channel breakdown vital, and a game changer.</a:t>
            </a:r>
          </a:p>
        </p:txBody>
      </p:sp>
      <p:pic>
        <p:nvPicPr>
          <p:cNvPr id="104" name="Picture 1" descr="image.png"/>
          <p:cNvPicPr>
            <a:picLocks noChangeAspect="1"/>
          </p:cNvPicPr>
          <p:nvPr/>
        </p:nvPicPr>
        <p:blipFill>
          <a:blip r:embed="rId2"/>
          <a:stretch>
            <a:fillRect/>
          </a:stretch>
        </p:blipFill>
        <p:spPr>
          <a:xfrm>
            <a:off x="1703606" y="2103120"/>
            <a:ext cx="10478234" cy="6789896"/>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client budget,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Import, the three-step wizard, the ROI projection, then scenarios, the optimizer and the comparison.</a:t>
            </a:r>
          </a:p>
        </p:txBody>
      </p:sp>
      <p:pic>
        <p:nvPicPr>
          <p:cNvPr id="104" name="Hi-fi screen"/>
          <p:cNvPicPr>
            <a:picLocks noChangeAspect="1"/>
          </p:cNvPicPr>
          <p:nvPr/>
        </p:nvPicPr>
        <p:blipFill>
          <a:blip r:embed="rId2"/>
          <a:srcRect b="18921"/>
          <a:stretch>
            <a:fillRect/>
          </a:stretch>
        </p:blipFill>
        <p:spPr>
          <a:xfrm>
            <a:off x="822960" y="2240280"/>
            <a:ext cx="2140102" cy="1337563"/>
          </a:xfrm>
          <a:prstGeom prst="rect">
            <a:avLst/>
          </a:prstGeom>
          <a:ln w="9525">
            <a:solidFill>
              <a:srgbClr val="D3D6DC"/>
            </a:solidFill>
          </a:ln>
        </p:spPr>
      </p:pic>
      <p:sp>
        <p:nvSpPr>
          <p:cNvPr id="105" name="Cap 1"/>
          <p:cNvSpPr txBox="1"/>
          <p:nvPr/>
        </p:nvSpPr>
        <p:spPr>
          <a:xfrm>
            <a:off x="822960"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Import the budget</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6" name="Hi-fi screen"/>
          <p:cNvPicPr>
            <a:picLocks noChangeAspect="1"/>
          </p:cNvPicPr>
          <p:nvPr/>
        </p:nvPicPr>
        <p:blipFill>
          <a:blip r:embed="rId3"/>
          <a:srcRect b="18921"/>
          <a:stretch>
            <a:fillRect/>
          </a:stretch>
        </p:blipFill>
        <p:spPr>
          <a:xfrm>
            <a:off x="3127654" y="2240280"/>
            <a:ext cx="2140102" cy="1337563"/>
          </a:xfrm>
          <a:prstGeom prst="rect">
            <a:avLst/>
          </a:prstGeom>
          <a:ln w="9525">
            <a:solidFill>
              <a:srgbClr val="D3D6DC"/>
            </a:solidFill>
          </a:ln>
        </p:spPr>
      </p:pic>
      <p:sp>
        <p:nvSpPr>
          <p:cNvPr id="107" name="Cap 2"/>
          <p:cNvSpPr txBox="1"/>
          <p:nvPr/>
        </p:nvSpPr>
        <p:spPr>
          <a:xfrm>
            <a:off x="3127654"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File imported</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8" name="Hi-fi screen"/>
          <p:cNvPicPr>
            <a:picLocks noChangeAspect="1"/>
          </p:cNvPicPr>
          <p:nvPr/>
        </p:nvPicPr>
        <p:blipFill>
          <a:blip r:embed="rId4"/>
          <a:srcRect b="18921"/>
          <a:stretch>
            <a:fillRect/>
          </a:stretch>
        </p:blipFill>
        <p:spPr>
          <a:xfrm>
            <a:off x="5432348" y="2240280"/>
            <a:ext cx="2140102" cy="1337563"/>
          </a:xfrm>
          <a:prstGeom prst="rect">
            <a:avLst/>
          </a:prstGeom>
          <a:ln w="9525">
            <a:solidFill>
              <a:srgbClr val="D3D6DC"/>
            </a:solidFill>
          </a:ln>
        </p:spPr>
      </p:pic>
      <p:sp>
        <p:nvSpPr>
          <p:cNvPr id="109" name="Cap 3"/>
          <p:cNvSpPr txBox="1"/>
          <p:nvPr/>
        </p:nvSpPr>
        <p:spPr>
          <a:xfrm>
            <a:off x="5432348"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Time period</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0" name="Hi-fi screen"/>
          <p:cNvPicPr>
            <a:picLocks noChangeAspect="1"/>
          </p:cNvPicPr>
          <p:nvPr/>
        </p:nvPicPr>
        <p:blipFill>
          <a:blip r:embed="rId5"/>
          <a:srcRect b="18921"/>
          <a:stretch>
            <a:fillRect/>
          </a:stretch>
        </p:blipFill>
        <p:spPr>
          <a:xfrm>
            <a:off x="7737043" y="2240280"/>
            <a:ext cx="2140102" cy="1337563"/>
          </a:xfrm>
          <a:prstGeom prst="rect">
            <a:avLst/>
          </a:prstGeom>
          <a:ln w="9525">
            <a:solidFill>
              <a:srgbClr val="D3D6DC"/>
            </a:solidFill>
          </a:ln>
        </p:spPr>
      </p:pic>
      <p:sp>
        <p:nvSpPr>
          <p:cNvPr id="111" name="Cap 4"/>
          <p:cNvSpPr txBox="1"/>
          <p:nvPr/>
        </p:nvSpPr>
        <p:spPr>
          <a:xfrm>
            <a:off x="7737043"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Dates set</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2" name="Hi-fi screen"/>
          <p:cNvPicPr>
            <a:picLocks noChangeAspect="1"/>
          </p:cNvPicPr>
          <p:nvPr/>
        </p:nvPicPr>
        <p:blipFill>
          <a:blip r:embed="rId6"/>
          <a:srcRect b="18921"/>
          <a:stretch>
            <a:fillRect/>
          </a:stretch>
        </p:blipFill>
        <p:spPr>
          <a:xfrm>
            <a:off x="10041737" y="2240280"/>
            <a:ext cx="2140102" cy="1337563"/>
          </a:xfrm>
          <a:prstGeom prst="rect">
            <a:avLst/>
          </a:prstGeom>
          <a:ln w="9525">
            <a:solidFill>
              <a:srgbClr val="D3D6DC"/>
            </a:solidFill>
          </a:ln>
        </p:spPr>
      </p:pic>
      <p:sp>
        <p:nvSpPr>
          <p:cNvPr id="113" name="Cap 5"/>
          <p:cNvSpPr txBox="1"/>
          <p:nvPr/>
        </p:nvSpPr>
        <p:spPr>
          <a:xfrm>
            <a:off x="10041737"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Allocations</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4" name="Hi-fi screen"/>
          <p:cNvPicPr>
            <a:picLocks noChangeAspect="1"/>
          </p:cNvPicPr>
          <p:nvPr/>
        </p:nvPicPr>
        <p:blipFill>
          <a:blip r:embed="rId7"/>
          <a:srcRect b="18921"/>
          <a:stretch>
            <a:fillRect/>
          </a:stretch>
        </p:blipFill>
        <p:spPr>
          <a:xfrm>
            <a:off x="822960" y="4144772"/>
            <a:ext cx="2140102" cy="1337563"/>
          </a:xfrm>
          <a:prstGeom prst="rect">
            <a:avLst/>
          </a:prstGeom>
          <a:ln w="9525">
            <a:solidFill>
              <a:srgbClr val="D3D6DC"/>
            </a:solidFill>
          </a:ln>
        </p:spPr>
      </p:pic>
      <p:sp>
        <p:nvSpPr>
          <p:cNvPr id="115" name="Cap 6"/>
          <p:cNvSpPr txBox="1"/>
          <p:nvPr/>
        </p:nvSpPr>
        <p:spPr>
          <a:xfrm>
            <a:off x="822960"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Shift and watch the gauge</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6" name="Hi-fi screen"/>
          <p:cNvPicPr>
            <a:picLocks noChangeAspect="1"/>
          </p:cNvPicPr>
          <p:nvPr/>
        </p:nvPicPr>
        <p:blipFill>
          <a:blip r:embed="rId8"/>
          <a:srcRect b="18921"/>
          <a:stretch>
            <a:fillRect/>
          </a:stretch>
        </p:blipFill>
        <p:spPr>
          <a:xfrm>
            <a:off x="3127654" y="4144772"/>
            <a:ext cx="2140102" cy="1337563"/>
          </a:xfrm>
          <a:prstGeom prst="rect">
            <a:avLst/>
          </a:prstGeom>
          <a:ln w="9525">
            <a:solidFill>
              <a:srgbClr val="D3D6DC"/>
            </a:solidFill>
          </a:ln>
        </p:spPr>
      </p:pic>
      <p:sp>
        <p:nvSpPr>
          <p:cNvPr id="117" name="Cap 7"/>
          <p:cNvSpPr txBox="1"/>
          <p:nvPr/>
        </p:nvSpPr>
        <p:spPr>
          <a:xfrm>
            <a:off x="3127654"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ROI projection</a:t>
            </a:r>
          </a:p>
          <a:p>
            <a:pPr algn="l">
              <a:lnSpc>
                <a:spcPct val="100000"/>
              </a:lnSpc>
              <a:spcAft>
                <a:spcPts val="0"/>
              </a:spcAft>
            </a:pPr>
            <a:r>
              <a:rPr lang="en-US" sz="950" spc="0" dirty="0">
                <a:solidFill>
                  <a:srgbClr val="858A97"/>
                </a:solidFill>
                <a:latin typeface="Helvetica Neue Light"/>
                <a:cs typeface="Helvetica Neue Light"/>
              </a:rPr>
              <a:t>Results</a:t>
            </a:r>
          </a:p>
        </p:txBody>
      </p:sp>
      <p:pic>
        <p:nvPicPr>
          <p:cNvPr id="118" name="Hi-fi screen"/>
          <p:cNvPicPr>
            <a:picLocks noChangeAspect="1"/>
          </p:cNvPicPr>
          <p:nvPr/>
        </p:nvPicPr>
        <p:blipFill>
          <a:blip r:embed="rId9"/>
          <a:srcRect b="18921"/>
          <a:stretch>
            <a:fillRect/>
          </a:stretch>
        </p:blipFill>
        <p:spPr>
          <a:xfrm>
            <a:off x="5432348" y="4144772"/>
            <a:ext cx="2140102" cy="1337563"/>
          </a:xfrm>
          <a:prstGeom prst="rect">
            <a:avLst/>
          </a:prstGeom>
          <a:ln w="9525">
            <a:solidFill>
              <a:srgbClr val="D3D6DC"/>
            </a:solidFill>
          </a:ln>
        </p:spPr>
      </p:pic>
      <p:sp>
        <p:nvSpPr>
          <p:cNvPr id="119" name="Cap 8"/>
          <p:cNvSpPr txBox="1"/>
          <p:nvPr/>
        </p:nvSpPr>
        <p:spPr>
          <a:xfrm>
            <a:off x="5432348"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Scenario workspace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0" name="Hi-fi screen"/>
          <p:cNvPicPr>
            <a:picLocks noChangeAspect="1"/>
          </p:cNvPicPr>
          <p:nvPr/>
        </p:nvPicPr>
        <p:blipFill>
          <a:blip r:embed="rId10"/>
          <a:srcRect b="18921"/>
          <a:stretch>
            <a:fillRect/>
          </a:stretch>
        </p:blipFill>
        <p:spPr>
          <a:xfrm>
            <a:off x="7737043" y="4144772"/>
            <a:ext cx="2140102" cy="1337563"/>
          </a:xfrm>
          <a:prstGeom prst="rect">
            <a:avLst/>
          </a:prstGeom>
          <a:ln w="9525">
            <a:solidFill>
              <a:srgbClr val="D3D6DC"/>
            </a:solidFill>
          </a:ln>
        </p:spPr>
      </p:pic>
      <p:sp>
        <p:nvSpPr>
          <p:cNvPr id="121" name="Cap 9"/>
          <p:cNvSpPr txBox="1"/>
          <p:nvPr/>
        </p:nvSpPr>
        <p:spPr>
          <a:xfrm>
            <a:off x="7737043"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Second scenario</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2" name="Hi-fi screen"/>
          <p:cNvPicPr>
            <a:picLocks noChangeAspect="1"/>
          </p:cNvPicPr>
          <p:nvPr/>
        </p:nvPicPr>
        <p:blipFill>
          <a:blip r:embed="rId11"/>
          <a:srcRect b="18921"/>
          <a:stretch>
            <a:fillRect/>
          </a:stretch>
        </p:blipFill>
        <p:spPr>
          <a:xfrm>
            <a:off x="10041737" y="4144772"/>
            <a:ext cx="2140102" cy="1337563"/>
          </a:xfrm>
          <a:prstGeom prst="rect">
            <a:avLst/>
          </a:prstGeom>
          <a:ln w="9525">
            <a:solidFill>
              <a:srgbClr val="D3D6DC"/>
            </a:solidFill>
          </a:ln>
        </p:spPr>
      </p:pic>
      <p:sp>
        <p:nvSpPr>
          <p:cNvPr id="123" name="Cap 10"/>
          <p:cNvSpPr txBox="1"/>
          <p:nvPr/>
        </p:nvSpPr>
        <p:spPr>
          <a:xfrm>
            <a:off x="10041737"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Optimized, still editable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4" name="Hi-fi screen"/>
          <p:cNvPicPr>
            <a:picLocks noChangeAspect="1"/>
          </p:cNvPicPr>
          <p:nvPr/>
        </p:nvPicPr>
        <p:blipFill>
          <a:blip r:embed="rId12"/>
          <a:srcRect b="18921"/>
          <a:stretch>
            <a:fillRect/>
          </a:stretch>
        </p:blipFill>
        <p:spPr>
          <a:xfrm>
            <a:off x="822960" y="6049264"/>
            <a:ext cx="2140102" cy="1337563"/>
          </a:xfrm>
          <a:prstGeom prst="rect">
            <a:avLst/>
          </a:prstGeom>
          <a:ln w="9525">
            <a:solidFill>
              <a:srgbClr val="D3D6DC"/>
            </a:solidFill>
          </a:ln>
        </p:spPr>
      </p:pic>
      <p:sp>
        <p:nvSpPr>
          <p:cNvPr id="125" name="Cap 11"/>
          <p:cNvSpPr txBox="1"/>
          <p:nvPr/>
        </p:nvSpPr>
        <p:spPr>
          <a:xfrm>
            <a:off x="822960" y="744169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Compare all three</a:t>
            </a:r>
          </a:p>
          <a:p>
            <a:pPr algn="l">
              <a:lnSpc>
                <a:spcPct val="100000"/>
              </a:lnSpc>
              <a:spcAft>
                <a:spcPts val="0"/>
              </a:spcAft>
            </a:pPr>
            <a:r>
              <a:rPr lang="en-US" sz="950" spc="0" dirty="0">
                <a:solidFill>
                  <a:srgbClr val="858A97"/>
                </a:solidFill>
                <a:latin typeface="Helvetica Neue Light"/>
                <a:cs typeface="Helvetica Neue Light"/>
              </a:rPr>
              <a:t>Comparison</a:t>
            </a:r>
          </a:p>
        </p:txBody>
      </p:sp>
      <p:cxnSp>
        <p:nvCxnSpPr>
          <p:cNvPr id="126" name="Divider"/>
          <p:cNvCxnSpPr/>
          <p:nvPr/>
        </p:nvCxnSpPr>
        <p:spPr>
          <a:xfrm>
            <a:off x="3127654" y="6049264"/>
            <a:ext cx="2140102" cy="0"/>
          </a:xfrm>
          <a:prstGeom prst="line">
            <a:avLst/>
          </a:prstGeom>
          <a:ln w="28575">
            <a:solidFill>
              <a:srgbClr val="B5531F"/>
            </a:solidFill>
          </a:ln>
        </p:spPr>
      </p:cxnSp>
      <p:sp>
        <p:nvSpPr>
          <p:cNvPr id="127" name="Prototype tile">
            <a:hlinkClick r:id="rId13"/>
          </p:cNvPr>
          <p:cNvSpPr txBox="1"/>
          <p:nvPr/>
        </p:nvSpPr>
        <p:spPr>
          <a:xfrm>
            <a:off x="3127654" y="618642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import step</a:t>
            </a:r>
          </a:p>
        </p:txBody>
      </p:sp>
      <p:pic>
        <p:nvPicPr>
          <p:cNvPr id="128"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MOCA</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wizard, because use is rar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wizard, because use is rare</a:t>
            </a:r>
          </a:p>
        </p:txBody>
      </p:sp>
      <p:sp>
        <p:nvSpPr>
          <p:cNvPr id="105" name="A wizard, because use is rar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Partners plan once every 6–12 months, so a guided wizard walks them through each parameter.</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last year’s budget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last year’s budget</a:t>
            </a:r>
          </a:p>
        </p:txBody>
      </p:sp>
      <p:sp>
        <p:nvSpPr>
          <p:cNvPr id="108" name="Start from last year’s budget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import a budget and duplicate it as the template for the next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llocate down to channel and product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Allocate down to channel and product</a:t>
            </a:r>
          </a:p>
        </p:txBody>
      </p:sp>
      <p:sp>
        <p:nvSpPr>
          <p:cNvPr id="111" name="Allocate down to channel and product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Allocations go down to product line or channel, so partners see which part of the budget works.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Compare scenarios side by sid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Compare scenarios side by side</a:t>
            </a:r>
          </a:p>
        </p:txBody>
      </p:sp>
      <p:sp>
        <p:nvSpPr>
          <p:cNvPr id="114" name="Compare scenarios side by sid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Scenarios are compared visually with switchable chart types; testers called the channel breakdown a game changer.</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RESULTS</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Partner approval rose from 58% to </a:t>
            </a:r>
            <a:r>
              <a:rPr lang="en-US" sz="4000" spc="-40" dirty="0">
                <a:solidFill>
                  <a:srgbClr val="E98C64"/>
                </a:solidFill>
                <a:latin typeface="Helvetica Neue Medium"/>
                <a:cs typeface="Helvetica Neue Medium"/>
              </a:rPr>
              <a:t>88%</a:t>
            </a:r>
            <a:r>
              <a:rPr lang="en-US" sz="4000" spc="-40" dirty="0">
                <a:solidFill>
                  <a:srgbClr val="F5F5F7"/>
                </a:solidFill>
                <a:latin typeface="Helvetica Neue Medium"/>
                <a:cs typeface="Helvetica Neue Medium"/>
              </a:rPr>
              <a:t>, and budgets grew.</a:t>
            </a:r>
          </a:p>
        </p:txBody>
      </p:sp>
      <p:sp>
        <p:nvSpPr>
          <p:cNvPr id="3042" name="Tile"/>
          <p:cNvSpPr/>
          <p:nvPr/>
        </p:nvSpPr>
        <p:spPr>
          <a:xfrm>
            <a:off x="822960" y="3063240"/>
            <a:ext cx="4937760" cy="5166360"/>
          </a:xfrm>
          <a:prstGeom prst="roundRect">
            <a:avLst>
              <a:gd name="adj" fmla="val 2592"/>
            </a:avLst>
          </a:prstGeom>
          <a:solidFill>
            <a:srgbClr val="B5531F"/>
          </a:solidFill>
          <a:ln>
            <a:noFill/>
          </a:ln>
        </p:spPr>
        <p:txBody>
          <a:bodyPr/>
          <a:lstStyle/>
          <a:p>
            <a:endParaRPr lang="en-US"/>
          </a:p>
        </p:txBody>
      </p:sp>
      <p:sp>
        <p:nvSpPr>
          <p:cNvPr id="103" name="Number"/>
          <p:cNvSpPr txBox="1"/>
          <p:nvPr/>
        </p:nvSpPr>
        <p:spPr>
          <a:xfrm>
            <a:off x="1097280" y="3264408"/>
            <a:ext cx="438912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88%</a:t>
            </a:r>
          </a:p>
        </p:txBody>
      </p:sp>
      <p:sp>
        <p:nvSpPr>
          <p:cNvPr id="104" name="Label"/>
          <p:cNvSpPr txBox="1"/>
          <p:nvPr/>
        </p:nvSpPr>
        <p:spPr>
          <a:xfrm>
            <a:off x="1097280" y="5071110"/>
            <a:ext cx="438912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approval from internal business partners</a:t>
            </a:r>
          </a:p>
        </p:txBody>
      </p:sp>
      <p:sp>
        <p:nvSpPr>
          <p:cNvPr id="105" name="Bar label"/>
          <p:cNvSpPr txBox="1"/>
          <p:nvPr/>
        </p:nvSpPr>
        <p:spPr>
          <a:xfrm>
            <a:off x="1097280" y="7104888"/>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Before MOCA: 58%</a:t>
            </a:r>
          </a:p>
        </p:txBody>
      </p:sp>
      <p:sp>
        <p:nvSpPr>
          <p:cNvPr id="3043" name="Tile"/>
          <p:cNvSpPr/>
          <p:nvPr/>
        </p:nvSpPr>
        <p:spPr>
          <a:xfrm>
            <a:off x="1097280" y="7324344"/>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4" name="Tile"/>
          <p:cNvSpPr/>
          <p:nvPr/>
        </p:nvSpPr>
        <p:spPr>
          <a:xfrm>
            <a:off x="1097280" y="7324344"/>
            <a:ext cx="2545689"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7488936"/>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After: 88%  (+30 pts)</a:t>
            </a:r>
          </a:p>
        </p:txBody>
      </p:sp>
      <p:sp>
        <p:nvSpPr>
          <p:cNvPr id="3045" name="Tile"/>
          <p:cNvSpPr/>
          <p:nvPr/>
        </p:nvSpPr>
        <p:spPr>
          <a:xfrm>
            <a:off x="1097280" y="7708392"/>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6" name="Tile"/>
          <p:cNvSpPr/>
          <p:nvPr/>
        </p:nvSpPr>
        <p:spPr>
          <a:xfrm>
            <a:off x="1097280" y="7708392"/>
            <a:ext cx="3862425" cy="146304"/>
          </a:xfrm>
          <a:prstGeom prst="roundRect">
            <a:avLst>
              <a:gd name="adj" fmla="val 37500"/>
            </a:avLst>
          </a:prstGeom>
          <a:solidFill>
            <a:srgbClr val="7ACFFF"/>
          </a:solidFill>
          <a:ln>
            <a:noFill/>
          </a:ln>
        </p:spPr>
        <p:txBody>
          <a:bodyPr/>
          <a:lstStyle/>
          <a:p>
            <a:endParaRPr lang="en-US"/>
          </a:p>
        </p:txBody>
      </p:sp>
      <p:sp>
        <p:nvSpPr>
          <p:cNvPr id="3047" name="Tile"/>
          <p:cNvSpPr/>
          <p:nvPr/>
        </p:nvSpPr>
        <p:spPr>
          <a:xfrm>
            <a:off x="5943600" y="3063240"/>
            <a:ext cx="3026664" cy="2491740"/>
          </a:xfrm>
          <a:prstGeom prst="roundRect">
            <a:avLst>
              <a:gd name="adj" fmla="val 5137"/>
            </a:avLst>
          </a:prstGeom>
          <a:solidFill>
            <a:srgbClr val="262A33"/>
          </a:solidFill>
          <a:ln>
            <a:noFill/>
          </a:ln>
        </p:spPr>
        <p:txBody>
          <a:bodyPr/>
          <a:lstStyle/>
          <a:p>
            <a:endParaRPr lang="en-US"/>
          </a:p>
        </p:txBody>
      </p:sp>
      <p:sp>
        <p:nvSpPr>
          <p:cNvPr id="107" name="Number"/>
          <p:cNvSpPr txBox="1"/>
          <p:nvPr/>
        </p:nvSpPr>
        <p:spPr>
          <a:xfrm>
            <a:off x="6217920"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$1.8M</a:t>
            </a:r>
          </a:p>
        </p:txBody>
      </p:sp>
      <p:sp>
        <p:nvSpPr>
          <p:cNvPr id="108" name="Label"/>
          <p:cNvSpPr txBox="1"/>
          <p:nvPr/>
        </p:nvSpPr>
        <p:spPr>
          <a:xfrm>
            <a:off x="6217920"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client budget</a:t>
            </a:r>
          </a:p>
        </p:txBody>
      </p:sp>
      <p:sp>
        <p:nvSpPr>
          <p:cNvPr id="109" name="Extra"/>
          <p:cNvSpPr txBox="1"/>
          <p:nvPr/>
        </p:nvSpPr>
        <p:spPr>
          <a:xfrm>
            <a:off x="6217920"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Up from $1.34M · +34%</a:t>
            </a:r>
          </a:p>
        </p:txBody>
      </p:sp>
      <p:sp>
        <p:nvSpPr>
          <p:cNvPr id="3048" name="Tile"/>
          <p:cNvSpPr/>
          <p:nvPr/>
        </p:nvSpPr>
        <p:spPr>
          <a:xfrm>
            <a:off x="9153144" y="3063240"/>
            <a:ext cx="3026664" cy="2491740"/>
          </a:xfrm>
          <a:prstGeom prst="roundRect">
            <a:avLst>
              <a:gd name="adj" fmla="val 5137"/>
            </a:avLst>
          </a:prstGeom>
          <a:solidFill>
            <a:srgbClr val="262A33"/>
          </a:solidFill>
          <a:ln>
            <a:noFill/>
          </a:ln>
        </p:spPr>
        <p:txBody>
          <a:bodyPr/>
          <a:lstStyle/>
          <a:p>
            <a:endParaRPr lang="en-US"/>
          </a:p>
        </p:txBody>
      </p:sp>
      <p:sp>
        <p:nvSpPr>
          <p:cNvPr id="110" name="Number"/>
          <p:cNvSpPr txBox="1"/>
          <p:nvPr/>
        </p:nvSpPr>
        <p:spPr>
          <a:xfrm>
            <a:off x="9427464"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3.4%</a:t>
            </a:r>
          </a:p>
        </p:txBody>
      </p:sp>
      <p:sp>
        <p:nvSpPr>
          <p:cNvPr id="111" name="Label"/>
          <p:cNvSpPr txBox="1"/>
          <p:nvPr/>
        </p:nvSpPr>
        <p:spPr>
          <a:xfrm>
            <a:off x="9427464"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the budget process</a:t>
            </a:r>
          </a:p>
        </p:txBody>
      </p:sp>
      <p:sp>
        <p:nvSpPr>
          <p:cNvPr id="112" name="Extra"/>
          <p:cNvSpPr txBox="1"/>
          <p:nvPr/>
        </p:nvSpPr>
        <p:spPr>
          <a:xfrm>
            <a:off x="9427464"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5.4%</a:t>
            </a:r>
          </a:p>
        </p:txBody>
      </p:sp>
      <p:sp>
        <p:nvSpPr>
          <p:cNvPr id="3049" name="Tile"/>
          <p:cNvSpPr/>
          <p:nvPr/>
        </p:nvSpPr>
        <p:spPr>
          <a:xfrm>
            <a:off x="5943600" y="5737860"/>
            <a:ext cx="3026664" cy="2491740"/>
          </a:xfrm>
          <a:prstGeom prst="roundRect">
            <a:avLst>
              <a:gd name="adj" fmla="val 5137"/>
            </a:avLst>
          </a:prstGeom>
          <a:solidFill>
            <a:srgbClr val="262A33"/>
          </a:solidFill>
          <a:ln>
            <a:noFill/>
          </a:ln>
        </p:spPr>
        <p:txBody>
          <a:bodyPr/>
          <a:lstStyle/>
          <a:p>
            <a:endParaRPr lang="en-US"/>
          </a:p>
        </p:txBody>
      </p:sp>
      <p:sp>
        <p:nvSpPr>
          <p:cNvPr id="113" name="Number"/>
          <p:cNvSpPr txBox="1"/>
          <p:nvPr/>
        </p:nvSpPr>
        <p:spPr>
          <a:xfrm>
            <a:off x="6217920"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10 min</a:t>
            </a:r>
          </a:p>
        </p:txBody>
      </p:sp>
      <p:sp>
        <p:nvSpPr>
          <p:cNvPr id="114" name="Label"/>
          <p:cNvSpPr txBox="1"/>
          <p:nvPr/>
        </p:nvSpPr>
        <p:spPr>
          <a:xfrm>
            <a:off x="6217920"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complete a budget</a:t>
            </a:r>
          </a:p>
        </p:txBody>
      </p:sp>
      <p:sp>
        <p:nvSpPr>
          <p:cNvPr id="115" name="Extra"/>
          <p:cNvSpPr txBox="1"/>
          <p:nvPr/>
        </p:nvSpPr>
        <p:spPr>
          <a:xfrm>
            <a:off x="6217920"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12 min</a:t>
            </a:r>
          </a:p>
        </p:txBody>
      </p:sp>
      <p:sp>
        <p:nvSpPr>
          <p:cNvPr id="3050" name="Tile"/>
          <p:cNvSpPr/>
          <p:nvPr/>
        </p:nvSpPr>
        <p:spPr>
          <a:xfrm>
            <a:off x="9153144" y="5737860"/>
            <a:ext cx="3026664" cy="2491740"/>
          </a:xfrm>
          <a:prstGeom prst="roundRect">
            <a:avLst>
              <a:gd name="adj" fmla="val 5137"/>
            </a:avLst>
          </a:prstGeom>
          <a:solidFill>
            <a:srgbClr val="262A33"/>
          </a:solidFill>
          <a:ln>
            <a:noFill/>
          </a:ln>
        </p:spPr>
        <p:txBody>
          <a:bodyPr/>
          <a:lstStyle/>
          <a:p>
            <a:endParaRPr lang="en-US"/>
          </a:p>
        </p:txBody>
      </p:sp>
      <p:sp>
        <p:nvSpPr>
          <p:cNvPr id="116" name="Number"/>
          <p:cNvSpPr txBox="1"/>
          <p:nvPr/>
        </p:nvSpPr>
        <p:spPr>
          <a:xfrm>
            <a:off x="9427464"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5 min</a:t>
            </a:r>
          </a:p>
        </p:txBody>
      </p:sp>
      <p:sp>
        <p:nvSpPr>
          <p:cNvPr id="117" name="Label"/>
          <p:cNvSpPr txBox="1"/>
          <p:nvPr/>
        </p:nvSpPr>
        <p:spPr>
          <a:xfrm>
            <a:off x="9427464"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compare budget scenarios</a:t>
            </a:r>
          </a:p>
        </p:txBody>
      </p:sp>
      <p:sp>
        <p:nvSpPr>
          <p:cNvPr id="118" name="Extra"/>
          <p:cNvSpPr txBox="1"/>
          <p:nvPr/>
        </p:nvSpPr>
        <p:spPr>
          <a:xfrm>
            <a:off x="9427464"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A new capability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Build, project and compare </a:t>
            </a:r>
            <a:r>
              <a:rPr lang="en-US" sz="4400" spc="-40" dirty="0">
                <a:solidFill>
                  <a:srgbClr val="E98C64"/>
                </a:solidFill>
                <a:latin typeface="Helvetica Neue Medium"/>
                <a:cs typeface="Helvetica Neue Medium"/>
              </a:rPr>
              <a:t>a client budget</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11 hi-fi screens linked in order: import the client’s budget, set the period, shape the allocations, see the ROI projection, then add, optimize and compare scenarios.</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MOCA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MOCA-Budget-Prototype.html.</a:t>
            </a:r>
          </a:p>
        </p:txBody>
      </p:sp>
      <p:pic>
        <p:nvPicPr>
          <p:cNvPr id="107" name="Hi-fi screen"/>
          <p:cNvPicPr>
            <a:picLocks noChangeAspect="1"/>
          </p:cNvPicPr>
          <p:nvPr/>
        </p:nvPicPr>
        <p:blipFill>
          <a:blip r:embed="rId3"/>
          <a:stretch>
            <a:fillRect/>
          </a:stretch>
        </p:blipFill>
        <p:spPr>
          <a:xfrm>
            <a:off x="6233160" y="3396177"/>
            <a:ext cx="6467932" cy="4985823"/>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21318"/>
        </a:solidFill>
        <a:effectLst/>
      </p:bgPr>
    </p:bg>
    <p:spTree>
      <p:nvGrpSpPr>
        <p:cNvPr id="1" name=""/>
        <p:cNvGrpSpPr/>
        <p:nvPr/>
      </p:nvGrpSpPr>
      <p:grpSpPr/>
      <p:sp>
        <p:nvSpPr>
          <p:cNvPr id="2" name="TextBox 1"/>
          <p:cNvSpPr txBox="1"/>
          <p:nvPr/>
        </p:nvSpPr>
        <p:spPr>
          <a:xfrm>
            <a:off x="822960" y="822960"/>
            <a:ext cx="5486400" cy="274320"/>
          </a:xfrm>
          <a:prstGeom prst="rect">
            <a:avLst/>
          </a:prstGeom>
          <a:noFill/>
        </p:spPr>
        <p:txBody>
          <a:bodyPr wrap="square" lIns="0" rIns="0" tIns="0" bIns="0">
            <a:spAutoFit/>
          </a:bodyPr>
          <a:lstStyle/>
          <a:p>
            <a:pPr algn="l"/>
            <a:r>
              <a:rPr sz="1200">
                <a:solidFill>
                  <a:srgbClr val="E98C64"/>
                </a:solidFill>
                <a:latin typeface="Helvetica Neue Medium"/>
              </a:rPr>
              <a:t>CASE STUDY 05 · AI PRODUCT · PROTOTYPE</a:t>
            </a:r>
          </a:p>
        </p:txBody>
      </p:sp>
      <p:sp>
        <p:nvSpPr>
          <p:cNvPr id="3" name="TextBox 2"/>
          <p:cNvSpPr txBox="1"/>
          <p:nvPr/>
        </p:nvSpPr>
        <p:spPr>
          <a:xfrm>
            <a:off x="822960" y="1234440"/>
            <a:ext cx="10515600" cy="914400"/>
          </a:xfrm>
          <a:prstGeom prst="rect">
            <a:avLst/>
          </a:prstGeom>
          <a:noFill/>
        </p:spPr>
        <p:txBody>
          <a:bodyPr wrap="square" lIns="0" rIns="0" tIns="0" bIns="0">
            <a:spAutoFit/>
          </a:bodyPr>
          <a:lstStyle/>
          <a:p>
            <a:pPr algn="l"/>
            <a:r>
              <a:rPr sz="5400">
                <a:solidFill>
                  <a:srgbClr val="F5F5F7"/>
                </a:solidFill>
                <a:latin typeface="Helvetica Neue Medium"/>
              </a:rPr>
              <a:t>Meridian Navigator</a:t>
            </a:r>
          </a:p>
        </p:txBody>
      </p:sp>
      <p:sp>
        <p:nvSpPr>
          <p:cNvPr id="4" name="TextBox 3"/>
          <p:cNvSpPr txBox="1"/>
          <p:nvPr/>
        </p:nvSpPr>
        <p:spPr>
          <a:xfrm>
            <a:off x="822960" y="2240280"/>
            <a:ext cx="5486400" cy="548640"/>
          </a:xfrm>
          <a:prstGeom prst="rect">
            <a:avLst/>
          </a:prstGeom>
          <a:noFill/>
        </p:spPr>
        <p:txBody>
          <a:bodyPr wrap="square" lIns="0" rIns="0" tIns="0" bIns="0">
            <a:spAutoFit/>
          </a:bodyPr>
          <a:lstStyle/>
          <a:p>
            <a:pPr algn="l"/>
            <a:r>
              <a:rPr sz="2600">
                <a:solidFill>
                  <a:srgbClr val="E98C64"/>
                </a:solidFill>
                <a:latin typeface="Helvetica Neue Medium"/>
              </a:rPr>
              <a:t>AI-assisted trading prototype</a:t>
            </a:r>
          </a:p>
        </p:txBody>
      </p:sp>
      <p:sp>
        <p:nvSpPr>
          <p:cNvPr id="5" name="TextBox 4"/>
          <p:cNvSpPr txBox="1"/>
          <p:nvPr/>
        </p:nvSpPr>
        <p:spPr>
          <a:xfrm>
            <a:off x="822960" y="2926080"/>
            <a:ext cx="5486400" cy="1280160"/>
          </a:xfrm>
          <a:prstGeom prst="rect">
            <a:avLst/>
          </a:prstGeom>
          <a:noFill/>
        </p:spPr>
        <p:txBody>
          <a:bodyPr wrap="square" lIns="0" rIns="0" tIns="0" bIns="0">
            <a:spAutoFit/>
          </a:bodyPr>
          <a:lstStyle/>
          <a:p>
            <a:pPr algn="l"/>
            <a:r>
              <a:rPr sz="1700">
                <a:solidFill>
                  <a:srgbClr val="A3A8B4"/>
                </a:solidFill>
                <a:latin typeface="Helvetica Neue Light"/>
              </a:rPr>
              <a:t>Retail investors juggle research, orders, and monitoring across separate tools. Does AI insight beside the trade help them decide?</a:t>
            </a:r>
          </a:p>
        </p:txBody>
      </p:sp>
      <p:cxnSp>
        <p:nvCxnSpPr>
          <p:cNvPr id="6" name="Connector 5"/>
          <p:cNvCxnSpPr/>
          <p:nvPr/>
        </p:nvCxnSpPr>
        <p:spPr>
          <a:xfrm>
            <a:off x="822960" y="4343400"/>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4471416"/>
            <a:ext cx="1188720" cy="365760"/>
          </a:xfrm>
          <a:prstGeom prst="rect">
            <a:avLst/>
          </a:prstGeom>
          <a:noFill/>
        </p:spPr>
        <p:txBody>
          <a:bodyPr wrap="square" lIns="0" rIns="0" tIns="0" bIns="0">
            <a:spAutoFit/>
          </a:bodyPr>
          <a:lstStyle/>
          <a:p>
            <a:pPr algn="l"/>
            <a:r>
              <a:rPr sz="1100">
                <a:solidFill>
                  <a:srgbClr val="7A7F8C"/>
                </a:solidFill>
                <a:latin typeface="Helvetica Neue Medium"/>
              </a:rPr>
              <a:t>ROLE</a:t>
            </a:r>
          </a:p>
        </p:txBody>
      </p:sp>
      <p:sp>
        <p:nvSpPr>
          <p:cNvPr id="8" name="TextBox 7"/>
          <p:cNvSpPr txBox="1"/>
          <p:nvPr/>
        </p:nvSpPr>
        <p:spPr>
          <a:xfrm>
            <a:off x="2148840" y="4443984"/>
            <a:ext cx="4160520" cy="822960"/>
          </a:xfrm>
          <a:prstGeom prst="rect">
            <a:avLst/>
          </a:prstGeom>
          <a:noFill/>
        </p:spPr>
        <p:txBody>
          <a:bodyPr wrap="square" lIns="0" rIns="0" tIns="0" bIns="0">
            <a:spAutoFit/>
          </a:bodyPr>
          <a:lstStyle/>
          <a:p>
            <a:pPr algn="l"/>
            <a:r>
              <a:rPr sz="1550">
                <a:solidFill>
                  <a:srgbClr val="F5F5F7"/>
                </a:solidFill>
                <a:latin typeface="Helvetica Neue Light"/>
              </a:rPr>
              <a:t>Lead UX designer</a:t>
            </a:r>
          </a:p>
        </p:txBody>
      </p:sp>
      <p:cxnSp>
        <p:nvCxnSpPr>
          <p:cNvPr id="9" name="Connector 8"/>
          <p:cNvCxnSpPr/>
          <p:nvPr/>
        </p:nvCxnSpPr>
        <p:spPr>
          <a:xfrm>
            <a:off x="822960" y="5367528"/>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5495544"/>
            <a:ext cx="1188720" cy="365760"/>
          </a:xfrm>
          <a:prstGeom prst="rect">
            <a:avLst/>
          </a:prstGeom>
          <a:noFill/>
        </p:spPr>
        <p:txBody>
          <a:bodyPr wrap="square" lIns="0" rIns="0" tIns="0" bIns="0">
            <a:spAutoFit/>
          </a:bodyPr>
          <a:lstStyle/>
          <a:p>
            <a:pPr algn="l"/>
            <a:r>
              <a:rPr sz="1100">
                <a:solidFill>
                  <a:srgbClr val="7A7F8C"/>
                </a:solidFill>
                <a:latin typeface="Helvetica Neue Medium"/>
              </a:rPr>
              <a:t>TEAM</a:t>
            </a:r>
          </a:p>
        </p:txBody>
      </p:sp>
      <p:sp>
        <p:nvSpPr>
          <p:cNvPr id="11" name="TextBox 10"/>
          <p:cNvSpPr txBox="1"/>
          <p:nvPr/>
        </p:nvSpPr>
        <p:spPr>
          <a:xfrm>
            <a:off x="2148840" y="5468112"/>
            <a:ext cx="4160520" cy="822960"/>
          </a:xfrm>
          <a:prstGeom prst="rect">
            <a:avLst/>
          </a:prstGeom>
          <a:noFill/>
        </p:spPr>
        <p:txBody>
          <a:bodyPr wrap="square" lIns="0" rIns="0" tIns="0" bIns="0">
            <a:spAutoFit/>
          </a:bodyPr>
          <a:lstStyle/>
          <a:p>
            <a:pPr algn="l"/>
            <a:r>
              <a:rPr sz="1550">
                <a:solidFill>
                  <a:srgbClr val="F5F5F7"/>
                </a:solidFill>
                <a:latin typeface="Helvetica Neue Light"/>
              </a:rPr>
              <a:t>Solo lead, with AI agents for drafting</a:t>
            </a:r>
          </a:p>
        </p:txBody>
      </p:sp>
      <p:cxnSp>
        <p:nvCxnSpPr>
          <p:cNvPr id="12" name="Connector 11"/>
          <p:cNvCxnSpPr/>
          <p:nvPr/>
        </p:nvCxnSpPr>
        <p:spPr>
          <a:xfrm>
            <a:off x="822960" y="6391656"/>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519672"/>
            <a:ext cx="1188720" cy="365760"/>
          </a:xfrm>
          <a:prstGeom prst="rect">
            <a:avLst/>
          </a:prstGeom>
          <a:noFill/>
        </p:spPr>
        <p:txBody>
          <a:bodyPr wrap="square" lIns="0" rIns="0" tIns="0" bIns="0">
            <a:spAutoFit/>
          </a:bodyPr>
          <a:lstStyle/>
          <a:p>
            <a:pPr algn="l"/>
            <a:r>
              <a:rPr sz="1100">
                <a:solidFill>
                  <a:srgbClr val="7A7F8C"/>
                </a:solidFill>
                <a:latin typeface="Helvetica Neue Medium"/>
              </a:rPr>
              <a:t>SCOPE</a:t>
            </a:r>
          </a:p>
        </p:txBody>
      </p:sp>
      <p:sp>
        <p:nvSpPr>
          <p:cNvPr id="14" name="TextBox 13"/>
          <p:cNvSpPr txBox="1"/>
          <p:nvPr/>
        </p:nvSpPr>
        <p:spPr>
          <a:xfrm>
            <a:off x="2148840" y="6492240"/>
            <a:ext cx="4160520" cy="822960"/>
          </a:xfrm>
          <a:prstGeom prst="rect">
            <a:avLst/>
          </a:prstGeom>
          <a:noFill/>
        </p:spPr>
        <p:txBody>
          <a:bodyPr wrap="square" lIns="0" rIns="0" tIns="0" bIns="0">
            <a:spAutoFit/>
          </a:bodyPr>
          <a:lstStyle/>
          <a:p>
            <a:pPr algn="l"/>
            <a:r>
              <a:rPr sz="1550">
                <a:solidFill>
                  <a:srgbClr val="F5F5F7"/>
                </a:solidFill>
                <a:latin typeface="Helvetica Neue Light"/>
              </a:rPr>
              <a:t>Five screens, two eight-step trade flows, agent concepts, design system</a:t>
            </a:r>
          </a:p>
        </p:txBody>
      </p:sp>
      <p:cxnSp>
        <p:nvCxnSpPr>
          <p:cNvPr id="15" name="Connector 14"/>
          <p:cNvCxnSpPr/>
          <p:nvPr/>
        </p:nvCxnSpPr>
        <p:spPr>
          <a:xfrm>
            <a:off x="822960" y="7415783"/>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7543800"/>
            <a:ext cx="1188720" cy="365760"/>
          </a:xfrm>
          <a:prstGeom prst="rect">
            <a:avLst/>
          </a:prstGeom>
          <a:noFill/>
        </p:spPr>
        <p:txBody>
          <a:bodyPr wrap="square" lIns="0" rIns="0" tIns="0" bIns="0">
            <a:spAutoFit/>
          </a:bodyPr>
          <a:lstStyle/>
          <a:p>
            <a:pPr algn="l"/>
            <a:r>
              <a:rPr sz="1100">
                <a:solidFill>
                  <a:srgbClr val="7A7F8C"/>
                </a:solidFill>
                <a:latin typeface="Helvetica Neue Medium"/>
              </a:rPr>
              <a:t>STATUS</a:t>
            </a:r>
          </a:p>
        </p:txBody>
      </p:sp>
      <p:sp>
        <p:nvSpPr>
          <p:cNvPr id="17" name="TextBox 16"/>
          <p:cNvSpPr txBox="1"/>
          <p:nvPr/>
        </p:nvSpPr>
        <p:spPr>
          <a:xfrm>
            <a:off x="2148840" y="7516367"/>
            <a:ext cx="4160520" cy="822960"/>
          </a:xfrm>
          <a:prstGeom prst="rect">
            <a:avLst/>
          </a:prstGeom>
          <a:noFill/>
        </p:spPr>
        <p:txBody>
          <a:bodyPr wrap="square" lIns="0" rIns="0" tIns="0" bIns="0">
            <a:spAutoFit/>
          </a:bodyPr>
          <a:lstStyle/>
          <a:p>
            <a:pPr algn="l"/>
            <a:r>
              <a:rPr sz="1550">
                <a:solidFill>
                  <a:srgbClr val="F5F5F7"/>
                </a:solidFill>
                <a:latin typeface="Helvetica Neue Light"/>
              </a:rPr>
              <a:t>Prototype. Mock data. Tests are set; none has run yet</a:t>
            </a:r>
          </a:p>
        </p:txBody>
      </p:sp>
      <p:cxnSp>
        <p:nvCxnSpPr>
          <p:cNvPr id="18" name="Connector 17"/>
          <p:cNvCxnSpPr/>
          <p:nvPr/>
        </p:nvCxnSpPr>
        <p:spPr>
          <a:xfrm>
            <a:off x="822960" y="8439912"/>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8503920"/>
            <a:ext cx="11356848" cy="274320"/>
          </a:xfrm>
          <a:prstGeom prst="rect">
            <a:avLst/>
          </a:prstGeom>
          <a:noFill/>
        </p:spPr>
        <p:txBody>
          <a:bodyPr wrap="square" lIns="0" rIns="0" tIns="0" bIns="0">
            <a:spAutoFit/>
          </a:bodyPr>
          <a:lstStyle/>
          <a:p>
            <a:pPr algn="l"/>
            <a:r>
              <a:rPr sz="1200">
                <a:solidFill>
                  <a:srgbClr val="7A7F8C"/>
                </a:solidFill>
                <a:latin typeface="Helvetica Neue Light"/>
              </a:rPr>
              <a:t>Portfolio prototype. Mock data only. Hypotheses until validated.</a:t>
            </a:r>
          </a:p>
        </p:txBody>
      </p:sp>
      <p:pic>
        <p:nvPicPr>
          <p:cNvPr id="20" name="Picture 19" descr="image.png"/>
          <p:cNvPicPr>
            <a:picLocks noChangeAspect="1"/>
          </p:cNvPicPr>
          <p:nvPr/>
        </p:nvPicPr>
        <p:blipFill>
          <a:blip r:embed="rId2"/>
          <a:stretch>
            <a:fillRect/>
          </a:stretch>
        </p:blipFill>
        <p:spPr>
          <a:xfrm>
            <a:off x="0" y="9281160"/>
            <a:ext cx="13004800" cy="466344"/>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OVERVIEW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screens, one trade, one place for AI</a:t>
            </a:r>
          </a:p>
        </p:txBody>
      </p:sp>
      <p:sp>
        <p:nvSpPr>
          <p:cNvPr id="5" name="TextBox 4"/>
          <p:cNvSpPr txBox="1"/>
          <p:nvPr/>
        </p:nvSpPr>
        <p:spPr>
          <a:xfrm>
            <a:off x="822960" y="2011680"/>
            <a:ext cx="6309360" cy="274320"/>
          </a:xfrm>
          <a:prstGeom prst="rect">
            <a:avLst/>
          </a:prstGeom>
          <a:noFill/>
        </p:spPr>
        <p:txBody>
          <a:bodyPr wrap="square" lIns="0" rIns="0" tIns="0" bIns="0">
            <a:spAutoFit/>
          </a:bodyPr>
          <a:lstStyle/>
          <a:p>
            <a:pPr algn="l"/>
            <a:r>
              <a:rPr sz="1100">
                <a:solidFill>
                  <a:srgbClr val="858A97"/>
                </a:solidFill>
                <a:latin typeface="Helvetica Neue Medium"/>
              </a:rPr>
              <a:t>THE FIVE SCREENS, EACH ANSWERING ONE QUESTION</a:t>
            </a:r>
          </a:p>
        </p:txBody>
      </p:sp>
      <p:cxnSp>
        <p:nvCxnSpPr>
          <p:cNvPr id="6" name="Connector 5"/>
          <p:cNvCxnSpPr/>
          <p:nvPr/>
        </p:nvCxnSpPr>
        <p:spPr>
          <a:xfrm>
            <a:off x="822960" y="24688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2651760"/>
            <a:ext cx="2011680" cy="457200"/>
          </a:xfrm>
          <a:prstGeom prst="rect">
            <a:avLst/>
          </a:prstGeom>
          <a:noFill/>
        </p:spPr>
        <p:txBody>
          <a:bodyPr wrap="square" lIns="0" rIns="0" tIns="0" bIns="0">
            <a:spAutoFit/>
          </a:bodyPr>
          <a:lstStyle/>
          <a:p>
            <a:pPr algn="l"/>
            <a:r>
              <a:rPr sz="1700">
                <a:solidFill>
                  <a:srgbClr val="14161D"/>
                </a:solidFill>
                <a:latin typeface="Helvetica Neue Medium"/>
              </a:rPr>
              <a:t>Dashboard</a:t>
            </a:r>
          </a:p>
        </p:txBody>
      </p:sp>
      <p:sp>
        <p:nvSpPr>
          <p:cNvPr id="8" name="TextBox 7"/>
          <p:cNvSpPr txBox="1"/>
          <p:nvPr/>
        </p:nvSpPr>
        <p:spPr>
          <a:xfrm>
            <a:off x="2926080" y="267004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do I own today?</a:t>
            </a:r>
          </a:p>
        </p:txBody>
      </p:sp>
      <p:cxnSp>
        <p:nvCxnSpPr>
          <p:cNvPr id="9" name="Connector 8"/>
          <p:cNvCxnSpPr/>
          <p:nvPr/>
        </p:nvCxnSpPr>
        <p:spPr>
          <a:xfrm>
            <a:off x="822960" y="333756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520440"/>
            <a:ext cx="2011680" cy="457200"/>
          </a:xfrm>
          <a:prstGeom prst="rect">
            <a:avLst/>
          </a:prstGeom>
          <a:noFill/>
        </p:spPr>
        <p:txBody>
          <a:bodyPr wrap="square" lIns="0" rIns="0" tIns="0" bIns="0">
            <a:spAutoFit/>
          </a:bodyPr>
          <a:lstStyle/>
          <a:p>
            <a:pPr algn="l"/>
            <a:r>
              <a:rPr sz="1700">
                <a:solidFill>
                  <a:srgbClr val="14161D"/>
                </a:solidFill>
                <a:latin typeface="Helvetica Neue Medium"/>
              </a:rPr>
              <a:t>Insight</a:t>
            </a:r>
          </a:p>
        </p:txBody>
      </p:sp>
      <p:sp>
        <p:nvSpPr>
          <p:cNvPr id="11" name="TextBox 10"/>
          <p:cNvSpPr txBox="1"/>
          <p:nvPr/>
        </p:nvSpPr>
        <p:spPr>
          <a:xfrm>
            <a:off x="2926080" y="353872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moved, and why?</a:t>
            </a:r>
          </a:p>
        </p:txBody>
      </p:sp>
      <p:cxnSp>
        <p:nvCxnSpPr>
          <p:cNvPr id="12" name="Connector 11"/>
          <p:cNvCxnSpPr/>
          <p:nvPr/>
        </p:nvCxnSpPr>
        <p:spPr>
          <a:xfrm>
            <a:off x="822960" y="420624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389120"/>
            <a:ext cx="2011680" cy="457200"/>
          </a:xfrm>
          <a:prstGeom prst="rect">
            <a:avLst/>
          </a:prstGeom>
          <a:noFill/>
        </p:spPr>
        <p:txBody>
          <a:bodyPr wrap="square" lIns="0" rIns="0" tIns="0" bIns="0">
            <a:spAutoFit/>
          </a:bodyPr>
          <a:lstStyle/>
          <a:p>
            <a:pPr algn="l"/>
            <a:r>
              <a:rPr sz="1700">
                <a:solidFill>
                  <a:srgbClr val="14161D"/>
                </a:solidFill>
                <a:latin typeface="Helvetica Neue Medium"/>
              </a:rPr>
              <a:t>Prospect</a:t>
            </a:r>
          </a:p>
        </p:txBody>
      </p:sp>
      <p:sp>
        <p:nvSpPr>
          <p:cNvPr id="14" name="TextBox 13"/>
          <p:cNvSpPr txBox="1"/>
          <p:nvPr/>
        </p:nvSpPr>
        <p:spPr>
          <a:xfrm>
            <a:off x="2926080" y="440740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might fit my plan?</a:t>
            </a:r>
          </a:p>
        </p:txBody>
      </p:sp>
      <p:cxnSp>
        <p:nvCxnSpPr>
          <p:cNvPr id="15" name="Connector 14"/>
          <p:cNvCxnSpPr/>
          <p:nvPr/>
        </p:nvCxnSpPr>
        <p:spPr>
          <a:xfrm>
            <a:off x="822960" y="507492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257800"/>
            <a:ext cx="2011680" cy="457200"/>
          </a:xfrm>
          <a:prstGeom prst="rect">
            <a:avLst/>
          </a:prstGeom>
          <a:noFill/>
        </p:spPr>
        <p:txBody>
          <a:bodyPr wrap="square" lIns="0" rIns="0" tIns="0" bIns="0">
            <a:spAutoFit/>
          </a:bodyPr>
          <a:lstStyle/>
          <a:p>
            <a:pPr algn="l"/>
            <a:r>
              <a:rPr sz="1700">
                <a:solidFill>
                  <a:srgbClr val="14161D"/>
                </a:solidFill>
                <a:latin typeface="Helvetica Neue Medium"/>
              </a:rPr>
              <a:t>Guard</a:t>
            </a:r>
          </a:p>
        </p:txBody>
      </p:sp>
      <p:sp>
        <p:nvSpPr>
          <p:cNvPr id="17" name="TextBox 16"/>
          <p:cNvSpPr txBox="1"/>
          <p:nvPr/>
        </p:nvSpPr>
        <p:spPr>
          <a:xfrm>
            <a:off x="2926080" y="527608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needs my attention?</a:t>
            </a:r>
          </a:p>
        </p:txBody>
      </p:sp>
      <p:cxnSp>
        <p:nvCxnSpPr>
          <p:cNvPr id="18" name="Connector 17"/>
          <p:cNvCxnSpPr/>
          <p:nvPr/>
        </p:nvCxnSpPr>
        <p:spPr>
          <a:xfrm>
            <a:off x="822960" y="594360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6126480"/>
            <a:ext cx="2011680" cy="457200"/>
          </a:xfrm>
          <a:prstGeom prst="rect">
            <a:avLst/>
          </a:prstGeom>
          <a:noFill/>
        </p:spPr>
        <p:txBody>
          <a:bodyPr wrap="square" lIns="0" rIns="0" tIns="0" bIns="0">
            <a:spAutoFit/>
          </a:bodyPr>
          <a:lstStyle/>
          <a:p>
            <a:pPr algn="l"/>
            <a:r>
              <a:rPr sz="1700">
                <a:solidFill>
                  <a:srgbClr val="14161D"/>
                </a:solidFill>
                <a:latin typeface="Helvetica Neue Medium"/>
              </a:rPr>
              <a:t>Adapt</a:t>
            </a:r>
          </a:p>
        </p:txBody>
      </p:sp>
      <p:sp>
        <p:nvSpPr>
          <p:cNvPr id="20" name="TextBox 19"/>
          <p:cNvSpPr txBox="1"/>
          <p:nvPr/>
        </p:nvSpPr>
        <p:spPr>
          <a:xfrm>
            <a:off x="2926080" y="6144768"/>
            <a:ext cx="4023360" cy="457200"/>
          </a:xfrm>
          <a:prstGeom prst="rect">
            <a:avLst/>
          </a:prstGeom>
          <a:noFill/>
        </p:spPr>
        <p:txBody>
          <a:bodyPr wrap="square" lIns="0" rIns="0" tIns="0" bIns="0">
            <a:spAutoFit/>
          </a:bodyPr>
          <a:lstStyle/>
          <a:p>
            <a:pPr algn="l"/>
            <a:r>
              <a:rPr sz="1600">
                <a:solidFill>
                  <a:srgbClr val="14161D"/>
                </a:solidFill>
                <a:latin typeface="Helvetica Neue Light"/>
              </a:rPr>
              <a:t>Should my mix change?</a:t>
            </a:r>
          </a:p>
        </p:txBody>
      </p:sp>
      <p:cxnSp>
        <p:nvCxnSpPr>
          <p:cNvPr id="21" name="Connector 20"/>
          <p:cNvCxnSpPr/>
          <p:nvPr/>
        </p:nvCxnSpPr>
        <p:spPr>
          <a:xfrm>
            <a:off x="822960" y="68122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43800" y="2011680"/>
            <a:ext cx="4636008" cy="274320"/>
          </a:xfrm>
          <a:prstGeom prst="rect">
            <a:avLst/>
          </a:prstGeom>
          <a:noFill/>
        </p:spPr>
        <p:txBody>
          <a:bodyPr wrap="square" lIns="0" rIns="0" tIns="0" bIns="0">
            <a:spAutoFit/>
          </a:bodyPr>
          <a:lstStyle/>
          <a:p>
            <a:pPr algn="l"/>
            <a:r>
              <a:rPr sz="1100">
                <a:solidFill>
                  <a:srgbClr val="858A97"/>
                </a:solidFill>
                <a:latin typeface="Helvetica Neue Medium"/>
              </a:rPr>
              <a:t>PRODUCT</a:t>
            </a:r>
          </a:p>
        </p:txBody>
      </p:sp>
      <p:sp>
        <p:nvSpPr>
          <p:cNvPr id="23" name="TextBox 22"/>
          <p:cNvSpPr txBox="1"/>
          <p:nvPr/>
        </p:nvSpPr>
        <p:spPr>
          <a:xfrm>
            <a:off x="7543800" y="232257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An AI layer on a trading app, next to the order flow.</a:t>
            </a:r>
          </a:p>
        </p:txBody>
      </p:sp>
      <p:sp>
        <p:nvSpPr>
          <p:cNvPr id="24" name="TextBox 23"/>
          <p:cNvSpPr txBox="1"/>
          <p:nvPr/>
        </p:nvSpPr>
        <p:spPr>
          <a:xfrm>
            <a:off x="7543800" y="3200400"/>
            <a:ext cx="4636008" cy="274320"/>
          </a:xfrm>
          <a:prstGeom prst="rect">
            <a:avLst/>
          </a:prstGeom>
          <a:noFill/>
        </p:spPr>
        <p:txBody>
          <a:bodyPr wrap="square" lIns="0" rIns="0" tIns="0" bIns="0">
            <a:spAutoFit/>
          </a:bodyPr>
          <a:lstStyle/>
          <a:p>
            <a:pPr algn="l"/>
            <a:r>
              <a:rPr sz="1100">
                <a:solidFill>
                  <a:srgbClr val="858A97"/>
                </a:solidFill>
                <a:latin typeface="Helvetica Neue Medium"/>
              </a:rPr>
              <a:t>PROBLEM</a:t>
            </a:r>
          </a:p>
        </p:txBody>
      </p:sp>
      <p:sp>
        <p:nvSpPr>
          <p:cNvPr id="25" name="TextBox 24"/>
          <p:cNvSpPr txBox="1"/>
          <p:nvPr/>
        </p:nvSpPr>
        <p:spPr>
          <a:xfrm>
            <a:off x="7543800" y="35112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Research, order entry, position watching, and rebalancing sit in different places. The hold-or-exit call gets made in the user’s head.</a:t>
            </a:r>
          </a:p>
        </p:txBody>
      </p:sp>
      <p:sp>
        <p:nvSpPr>
          <p:cNvPr id="26" name="TextBox 25"/>
          <p:cNvSpPr txBox="1"/>
          <p:nvPr/>
        </p:nvSpPr>
        <p:spPr>
          <a:xfrm>
            <a:off x="7543800" y="5120640"/>
            <a:ext cx="4636008" cy="274320"/>
          </a:xfrm>
          <a:prstGeom prst="rect">
            <a:avLst/>
          </a:prstGeom>
          <a:noFill/>
        </p:spPr>
        <p:txBody>
          <a:bodyPr wrap="square" lIns="0" rIns="0" tIns="0" bIns="0">
            <a:spAutoFit/>
          </a:bodyPr>
          <a:lstStyle/>
          <a:p>
            <a:pPr algn="l"/>
            <a:r>
              <a:rPr sz="1100">
                <a:solidFill>
                  <a:srgbClr val="858A97"/>
                </a:solidFill>
                <a:latin typeface="Helvetica Neue Medium"/>
              </a:rPr>
              <a:t>AI SOLUTION</a:t>
            </a:r>
          </a:p>
        </p:txBody>
      </p:sp>
      <p:sp>
        <p:nvSpPr>
          <p:cNvPr id="27" name="TextBox 26"/>
          <p:cNvSpPr txBox="1"/>
          <p:nvPr/>
        </p:nvSpPr>
        <p:spPr>
          <a:xfrm>
            <a:off x="7543800" y="543153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Summaries with their source, alerts ranked by severity, and plans the user reviews one step at a time.</a:t>
            </a:r>
          </a:p>
        </p:txBody>
      </p:sp>
      <p:sp>
        <p:nvSpPr>
          <p:cNvPr id="28" name="TextBox 27"/>
          <p:cNvSpPr txBox="1"/>
          <p:nvPr/>
        </p:nvSpPr>
        <p:spPr>
          <a:xfrm>
            <a:off x="7543800" y="6858000"/>
            <a:ext cx="4636008" cy="274320"/>
          </a:xfrm>
          <a:prstGeom prst="rect">
            <a:avLst/>
          </a:prstGeom>
          <a:noFill/>
        </p:spPr>
        <p:txBody>
          <a:bodyPr wrap="square" lIns="0" rIns="0" tIns="0" bIns="0">
            <a:spAutoFit/>
          </a:bodyPr>
          <a:lstStyle/>
          <a:p>
            <a:pPr algn="l"/>
            <a:r>
              <a:rPr sz="1100">
                <a:solidFill>
                  <a:srgbClr val="858A97"/>
                </a:solidFill>
                <a:latin typeface="Helvetica Neue Medium"/>
              </a:rPr>
              <a:t>MY ROLE</a:t>
            </a:r>
          </a:p>
        </p:txBody>
      </p:sp>
      <p:sp>
        <p:nvSpPr>
          <p:cNvPr id="29" name="TextBox 28"/>
          <p:cNvSpPr txBox="1"/>
          <p:nvPr/>
        </p:nvSpPr>
        <p:spPr>
          <a:xfrm>
            <a:off x="7543800" y="71688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Lead UX designer: framed the problem, designed the flows, built the design system, and produced the prototype.</a:t>
            </a:r>
          </a:p>
        </p:txBody>
      </p:sp>
      <p:sp>
        <p:nvSpPr>
          <p:cNvPr id="30" name="TextBox 29"/>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Scope: five screens, two trade flows of eight steps each. Mock data only.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MY ROLE AND APPROACH</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I did, how, why, with whom, and what came of it</a:t>
            </a:r>
          </a:p>
        </p:txBody>
      </p:sp>
      <p:sp>
        <p:nvSpPr>
          <p:cNvPr id="5" name="TextBox 4"/>
          <p:cNvSpPr txBox="1"/>
          <p:nvPr/>
        </p:nvSpPr>
        <p:spPr>
          <a:xfrm>
            <a:off x="8229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 DID</a:t>
            </a:r>
          </a:p>
        </p:txBody>
      </p:sp>
      <p:sp>
        <p:nvSpPr>
          <p:cNvPr id="6" name="TextBox 5"/>
          <p:cNvSpPr txBox="1"/>
          <p:nvPr/>
        </p:nvSpPr>
        <p:spPr>
          <a:xfrm>
            <a:off x="8229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Framed the problem and scope. Designed the trade and AI flows. Built the Figma design system. Produced the SwiftUI prototype.</a:t>
            </a:r>
          </a:p>
        </p:txBody>
      </p:sp>
      <p:sp>
        <p:nvSpPr>
          <p:cNvPr id="7" name="TextBox 6"/>
          <p:cNvSpPr txBox="1"/>
          <p:nvPr/>
        </p:nvSpPr>
        <p:spPr>
          <a:xfrm>
            <a:off x="67665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HOW I DID IT</a:t>
            </a:r>
          </a:p>
        </p:txBody>
      </p:sp>
      <p:sp>
        <p:nvSpPr>
          <p:cNvPr id="8" name="TextBox 7"/>
          <p:cNvSpPr txBox="1"/>
          <p:nvPr/>
        </p:nvSpPr>
        <p:spPr>
          <a:xfrm>
            <a:off x="67665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 hypothesize, map flows, design every state, prototype, then test. Testing is planned, not yet run.</a:t>
            </a:r>
          </a:p>
        </p:txBody>
      </p:sp>
      <p:sp>
        <p:nvSpPr>
          <p:cNvPr id="9" name="TextBox 8"/>
          <p:cNvSpPr txBox="1"/>
          <p:nvPr/>
        </p:nvSpPr>
        <p:spPr>
          <a:xfrm>
            <a:off x="8229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WHY I DID IT</a:t>
            </a:r>
          </a:p>
        </p:txBody>
      </p:sp>
      <p:sp>
        <p:nvSpPr>
          <p:cNvPr id="10" name="TextBox 9"/>
          <p:cNvSpPr txBox="1"/>
          <p:nvPr/>
        </p:nvSpPr>
        <p:spPr>
          <a:xfrm>
            <a:off x="8229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Insight, Prospect, Guard, and Adapt show what the trade needs without making the call. Each decision has a stated trade-off.</a:t>
            </a:r>
          </a:p>
        </p:txBody>
      </p:sp>
      <p:sp>
        <p:nvSpPr>
          <p:cNvPr id="11" name="TextBox 10"/>
          <p:cNvSpPr txBox="1"/>
          <p:nvPr/>
        </p:nvSpPr>
        <p:spPr>
          <a:xfrm>
            <a:off x="67665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WHO WAS INVOLVED</a:t>
            </a:r>
          </a:p>
        </p:txBody>
      </p:sp>
      <p:sp>
        <p:nvSpPr>
          <p:cNvPr id="12" name="TextBox 11"/>
          <p:cNvSpPr txBox="1"/>
          <p:nvPr/>
        </p:nvSpPr>
        <p:spPr>
          <a:xfrm>
            <a:off x="67665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Solo lead designer. AI agents helped with drafting; every call is mine. Personas are drafts for validation, not user research yet.</a:t>
            </a:r>
          </a:p>
        </p:txBody>
      </p:sp>
      <p:sp>
        <p:nvSpPr>
          <p:cNvPr id="13" name="TextBox 12"/>
          <p:cNvSpPr txBox="1"/>
          <p:nvPr/>
        </p:nvSpPr>
        <p:spPr>
          <a:xfrm>
            <a:off x="8229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CAME OF IT</a:t>
            </a:r>
          </a:p>
        </p:txBody>
      </p:sp>
      <p:sp>
        <p:nvSpPr>
          <p:cNvPr id="14" name="TextBox 13"/>
          <p:cNvSpPr txBox="1"/>
          <p:nvPr/>
        </p:nvSpPr>
        <p:spPr>
          <a:xfrm>
            <a:off x="8229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Five screens, two eight-step trade flows, a design system shared with the code, and wireframes for states, agent, and full experience.</a:t>
            </a:r>
          </a:p>
        </p:txBody>
      </p:sp>
      <p:sp>
        <p:nvSpPr>
          <p:cNvPr id="15" name="TextBox 14"/>
          <p:cNvSpPr txBox="1"/>
          <p:nvPr/>
        </p:nvSpPr>
        <p:spPr>
          <a:xfrm>
            <a:off x="67665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RESULT</a:t>
            </a:r>
          </a:p>
        </p:txBody>
      </p:sp>
      <p:sp>
        <p:nvSpPr>
          <p:cNvPr id="16" name="TextBox 15"/>
          <p:cNvSpPr txBox="1"/>
          <p:nvPr/>
        </p:nvSpPr>
        <p:spPr>
          <a:xfrm>
            <a:off x="67665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Not yet measured. The planned measures are listed in the methodology section, with targets set before any test.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CONTEXT AND CONSTRAINTS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Context and constraints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What the prototype has to prove, and what it cannot yet.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BUSINESS CHALLENGE</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Show one complete loop, from noticing a change to placing an order, in a prototype stakeholders can test.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STAKEHOLDERS</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Active traders, busy investors, and first-time investors.</a:t>
            </a:r>
          </a:p>
        </p:txBody>
      </p:sp>
      <p:sp>
        <p:nvSpPr>
          <p:cNvPr id="10" name="TextBox 9"/>
          <p:cNvSpPr txBox="1"/>
          <p:nvPr/>
        </p:nvSpPr>
        <p:spPr>
          <a:xfrm>
            <a:off x="8229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CONSTRAINTS</a:t>
            </a:r>
          </a:p>
        </p:txBody>
      </p:sp>
      <p:sp>
        <p:nvSpPr>
          <p:cNvPr id="11" name="TextBox 10"/>
          <p:cNvSpPr txBox="1"/>
          <p:nvPr/>
        </p:nvSpPr>
        <p:spPr>
          <a:xfrm>
            <a:off x="8229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Mock data and a 0.8-second mock delay. No real market feed, brokerage connection, or authentication backend at this stage.</a:t>
            </a:r>
          </a:p>
        </p:txBody>
      </p:sp>
      <p:sp>
        <p:nvSpPr>
          <p:cNvPr id="12" name="TextBox 11"/>
          <p:cNvSpPr txBox="1"/>
          <p:nvPr/>
        </p:nvSpPr>
        <p:spPr>
          <a:xfrm>
            <a:off x="67665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ADVICE LINE</a:t>
            </a:r>
          </a:p>
        </p:txBody>
      </p:sp>
      <p:sp>
        <p:nvSpPr>
          <p:cNvPr id="13" name="TextBox 12"/>
          <p:cNvSpPr txBox="1"/>
          <p:nvPr/>
        </p:nvSpPr>
        <p:spPr>
          <a:xfrm>
            <a:off x="67665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AI does not originate buy or sell advice. Trade wording needs compliance review before it ships.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PROBLEM</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user problem and the AI problem, defined separately</a:t>
            </a:r>
          </a:p>
        </p:txBody>
      </p:sp>
      <p:sp>
        <p:nvSpPr>
          <p:cNvPr id="5" name="TextBox 4"/>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USER PROBLEM</a:t>
            </a:r>
          </a:p>
        </p:txBody>
      </p:sp>
      <p:sp>
        <p:nvSpPr>
          <p:cNvPr id="6" name="TextBox 5"/>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Research, order entry, watching positions, and rebalancing live in different places. The hold-or-exit call gets made in the user’s head.</a:t>
            </a:r>
          </a:p>
        </p:txBody>
      </p:sp>
      <p:sp>
        <p:nvSpPr>
          <p:cNvPr id="7" name="TextBox 6"/>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AI PROBLEM</a:t>
            </a:r>
          </a:p>
        </p:txBody>
      </p:sp>
      <p:sp>
        <p:nvSpPr>
          <p:cNvPr id="8" name="TextBox 7"/>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Summarize what moved and why, with the source. Rank alerts by how much they need attention. Propose a rebalance the user can review.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Three draft personas to validate before we rely on them</a:t>
            </a:r>
          </a:p>
        </p:txBody>
      </p:sp>
      <p:sp>
        <p:nvSpPr>
          <p:cNvPr id="5" name="TextBox 4"/>
          <p:cNvSpPr txBox="1"/>
          <p:nvPr/>
        </p:nvSpPr>
        <p:spPr>
          <a:xfrm>
            <a:off x="82296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MAYA</a:t>
            </a:r>
          </a:p>
        </p:txBody>
      </p:sp>
      <p:sp>
        <p:nvSpPr>
          <p:cNvPr id="6" name="TextBox 5"/>
          <p:cNvSpPr txBox="1"/>
          <p:nvPr/>
        </p:nvSpPr>
        <p:spPr>
          <a:xfrm>
            <a:off x="82296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Active self-directed trader. Trades several times a week from her phone.</a:t>
            </a:r>
          </a:p>
          <a:p>
            <a:pPr algn="l">
              <a:spcAft>
                <a:spcPts val="600"/>
              </a:spcAft>
            </a:pPr>
            <a:r>
              <a:rPr sz="1400">
                <a:solidFill>
                  <a:srgbClr val="14161D"/>
                </a:solidFill>
                <a:latin typeface="Helvetica Neue Light"/>
              </a:rPr>
              <a:t>Goal: get in and out quickly; spot momentum early.</a:t>
            </a:r>
          </a:p>
          <a:p>
            <a:pPr algn="l">
              <a:spcAft>
                <a:spcPts val="600"/>
              </a:spcAft>
            </a:pPr>
            <a:r>
              <a:rPr sz="1400">
                <a:solidFill>
                  <a:srgbClr val="14161D"/>
                </a:solidFill>
                <a:latin typeface="Helvetica Neue Light"/>
              </a:rPr>
              <a:t>Pain: research is scattered; order entry takes too many taps.</a:t>
            </a:r>
          </a:p>
        </p:txBody>
      </p:sp>
      <p:sp>
        <p:nvSpPr>
          <p:cNvPr id="7" name="TextBox 6"/>
          <p:cNvSpPr txBox="1"/>
          <p:nvPr/>
        </p:nvSpPr>
        <p:spPr>
          <a:xfrm>
            <a:off x="457200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DANIEL</a:t>
            </a:r>
          </a:p>
        </p:txBody>
      </p:sp>
      <p:sp>
        <p:nvSpPr>
          <p:cNvPr id="8" name="TextBox 7"/>
          <p:cNvSpPr txBox="1"/>
          <p:nvPr/>
        </p:nvSpPr>
        <p:spPr>
          <a:xfrm>
            <a:off x="457200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Busy professional investor. Invests a fixed amount each month and checks his portfolio weekly.</a:t>
            </a:r>
          </a:p>
          <a:p>
            <a:pPr algn="l">
              <a:spcAft>
                <a:spcPts val="600"/>
              </a:spcAft>
            </a:pPr>
            <a:r>
              <a:rPr sz="1400">
                <a:solidFill>
                  <a:srgbClr val="14161D"/>
                </a:solidFill>
                <a:latin typeface="Helvetica Neue Light"/>
              </a:rPr>
              <a:t>Goal: grow long-term savings without big mistakes.</a:t>
            </a:r>
          </a:p>
          <a:p>
            <a:pPr algn="l">
              <a:spcAft>
                <a:spcPts val="600"/>
              </a:spcAft>
            </a:pPr>
            <a:r>
              <a:rPr sz="1400">
                <a:solidFill>
                  <a:srgbClr val="14161D"/>
                </a:solidFill>
                <a:latin typeface="Helvetica Neue Light"/>
              </a:rPr>
              <a:t>Pain: no time to research; unsure when to rebalance.</a:t>
            </a:r>
          </a:p>
        </p:txBody>
      </p:sp>
      <p:sp>
        <p:nvSpPr>
          <p:cNvPr id="9" name="TextBox 8"/>
          <p:cNvSpPr txBox="1"/>
          <p:nvPr/>
        </p:nvSpPr>
        <p:spPr>
          <a:xfrm>
            <a:off x="8321040" y="2194560"/>
            <a:ext cx="3840480" cy="274320"/>
          </a:xfrm>
          <a:prstGeom prst="rect">
            <a:avLst/>
          </a:prstGeom>
          <a:noFill/>
        </p:spPr>
        <p:txBody>
          <a:bodyPr wrap="square" lIns="0" rIns="0" tIns="0" bIns="0">
            <a:spAutoFit/>
          </a:bodyPr>
          <a:lstStyle/>
          <a:p>
            <a:pPr algn="l"/>
            <a:r>
              <a:rPr sz="1100">
                <a:solidFill>
                  <a:srgbClr val="858A97"/>
                </a:solidFill>
                <a:latin typeface="Helvetica Neue Medium"/>
              </a:rPr>
              <a:t>DRAFT PERSONA · PRIYA</a:t>
            </a:r>
          </a:p>
        </p:txBody>
      </p:sp>
      <p:sp>
        <p:nvSpPr>
          <p:cNvPr id="10" name="TextBox 9"/>
          <p:cNvSpPr txBox="1"/>
          <p:nvPr/>
        </p:nvSpPr>
        <p:spPr>
          <a:xfrm>
            <a:off x="8321040" y="2505456"/>
            <a:ext cx="38404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First-time investor. Wants to start small and learn while she invests.</a:t>
            </a:r>
          </a:p>
          <a:p>
            <a:pPr algn="l">
              <a:spcAft>
                <a:spcPts val="600"/>
              </a:spcAft>
            </a:pPr>
            <a:r>
              <a:rPr sz="1400">
                <a:solidFill>
                  <a:srgbClr val="14161D"/>
                </a:solidFill>
                <a:latin typeface="Helvetica Neue Light"/>
              </a:rPr>
              <a:t>Goal: learn by doing; avoid a wrong trade.</a:t>
            </a:r>
          </a:p>
          <a:p>
            <a:pPr algn="l">
              <a:spcAft>
                <a:spcPts val="600"/>
              </a:spcAft>
            </a:pPr>
            <a:r>
              <a:rPr sz="1400">
                <a:solidFill>
                  <a:srgbClr val="14161D"/>
                </a:solidFill>
                <a:latin typeface="Helvetica Neue Light"/>
              </a:rPr>
              <a:t>Pain: jargon; fear of ordering the wrong amount.</a:t>
            </a:r>
          </a:p>
        </p:txBody>
      </p:sp>
      <p:sp>
        <p:nvSpPr>
          <p:cNvPr id="11" name="TextBox 1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Hypotheses from the FigJam board. Interviews come before any decision rests on them.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SOLUTION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trade in eight steps, by share quantity or dollar amount</a:t>
            </a:r>
          </a:p>
        </p:txBody>
      </p:sp>
      <p:sp>
        <p:nvSpPr>
          <p:cNvPr id="5" name="Rounded Rectangle 4"/>
          <p:cNvSpPr/>
          <p:nvPr/>
        </p:nvSpPr>
        <p:spPr>
          <a:xfrm>
            <a:off x="82296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1. Trade setup</a:t>
            </a:r>
          </a:p>
        </p:txBody>
      </p:sp>
      <p:sp>
        <p:nvSpPr>
          <p:cNvPr id="7" name="Rounded Rectangle 6"/>
          <p:cNvSpPr/>
          <p:nvPr/>
        </p:nvSpPr>
        <p:spPr>
          <a:xfrm>
            <a:off x="374904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8620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2. Choose action</a:t>
            </a:r>
          </a:p>
        </p:txBody>
      </p:sp>
      <p:sp>
        <p:nvSpPr>
          <p:cNvPr id="9" name="Rounded Rectangle 8"/>
          <p:cNvSpPr/>
          <p:nvPr/>
        </p:nvSpPr>
        <p:spPr>
          <a:xfrm>
            <a:off x="667512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3. Enter quantity or amount</a:t>
            </a:r>
          </a:p>
        </p:txBody>
      </p:sp>
      <p:sp>
        <p:nvSpPr>
          <p:cNvPr id="11" name="Rounded Rectangle 10"/>
          <p:cNvSpPr/>
          <p:nvPr/>
        </p:nvSpPr>
        <p:spPr>
          <a:xfrm>
            <a:off x="960120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3836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4. Confirm quantity or amount</a:t>
            </a:r>
          </a:p>
        </p:txBody>
      </p:sp>
      <p:sp>
        <p:nvSpPr>
          <p:cNvPr id="13" name="Rounded Rectangle 12"/>
          <p:cNvSpPr/>
          <p:nvPr/>
        </p:nvSpPr>
        <p:spPr>
          <a:xfrm>
            <a:off x="82296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5. Choose order type</a:t>
            </a:r>
          </a:p>
        </p:txBody>
      </p:sp>
      <p:sp>
        <p:nvSpPr>
          <p:cNvPr id="15" name="Rounded Rectangle 14"/>
          <p:cNvSpPr/>
          <p:nvPr/>
        </p:nvSpPr>
        <p:spPr>
          <a:xfrm>
            <a:off x="374904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6. Review and approve</a:t>
            </a:r>
          </a:p>
        </p:txBody>
      </p:sp>
      <p:sp>
        <p:nvSpPr>
          <p:cNvPr id="17" name="Rounded Rectangle 16"/>
          <p:cNvSpPr/>
          <p:nvPr/>
        </p:nvSpPr>
        <p:spPr>
          <a:xfrm>
            <a:off x="667512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7. Submission outcome</a:t>
            </a:r>
          </a:p>
        </p:txBody>
      </p:sp>
      <p:sp>
        <p:nvSpPr>
          <p:cNvPr id="19" name="Rounded Rectangle 18"/>
          <p:cNvSpPr/>
          <p:nvPr/>
        </p:nvSpPr>
        <p:spPr>
          <a:xfrm>
            <a:off x="960120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8. Return to dashboard</a:t>
            </a:r>
          </a:p>
        </p:txBody>
      </p:sp>
      <p:sp>
        <p:nvSpPr>
          <p:cNvPr id="21" name="TextBox 2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The dollar flow runs the same eight steps, with Enter Dollar Amount and Confirm Dollar Amount in place of the share steps.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STATES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Designing for the states that mock data hides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The dashboard in four states. The other four screens follow the same pattern.</a:t>
            </a:r>
          </a:p>
        </p:txBody>
      </p:sp>
      <p:sp>
        <p:nvSpPr>
          <p:cNvPr id="6" name="TextBox 5"/>
          <p:cNvSpPr txBox="1"/>
          <p:nvPr/>
        </p:nvSpPr>
        <p:spPr>
          <a:xfrm>
            <a:off x="822960" y="2560320"/>
            <a:ext cx="3017520" cy="274320"/>
          </a:xfrm>
          <a:prstGeom prst="rect">
            <a:avLst/>
          </a:prstGeom>
          <a:noFill/>
        </p:spPr>
        <p:txBody>
          <a:bodyPr wrap="square" lIns="0" rIns="0" tIns="0" bIns="0">
            <a:spAutoFit/>
          </a:bodyPr>
          <a:lstStyle/>
          <a:p>
            <a:pPr algn="l"/>
            <a:r>
              <a:rPr sz="1100">
                <a:solidFill>
                  <a:srgbClr val="858A97"/>
                </a:solidFill>
                <a:latin typeface="Helvetica Neue Medium"/>
              </a:rPr>
              <a:t>STATE</a:t>
            </a:r>
          </a:p>
        </p:txBody>
      </p:sp>
      <p:sp>
        <p:nvSpPr>
          <p:cNvPr id="7" name="TextBox 6"/>
          <p:cNvSpPr txBox="1"/>
          <p:nvPr/>
        </p:nvSpPr>
        <p:spPr>
          <a:xfrm>
            <a:off x="4023360" y="2560320"/>
            <a:ext cx="8522208" cy="274320"/>
          </a:xfrm>
          <a:prstGeom prst="rect">
            <a:avLst/>
          </a:prstGeom>
          <a:noFill/>
        </p:spPr>
        <p:txBody>
          <a:bodyPr wrap="square" lIns="0" rIns="0" tIns="0" bIns="0">
            <a:spAutoFit/>
          </a:bodyPr>
          <a:lstStyle/>
          <a:p>
            <a:pPr algn="l"/>
            <a:r>
              <a:rPr sz="1100">
                <a:solidFill>
                  <a:srgbClr val="858A97"/>
                </a:solidFill>
                <a:latin typeface="Helvetica Neue Medium"/>
              </a:rPr>
              <a:t>WHAT THE USER SEES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2971800" cy="731520"/>
          </a:xfrm>
          <a:prstGeom prst="rect">
            <a:avLst/>
          </a:prstGeom>
          <a:noFill/>
        </p:spPr>
        <p:txBody>
          <a:bodyPr wrap="square" lIns="0" rIns="0" tIns="0" bIns="0">
            <a:spAutoFit/>
          </a:bodyPr>
          <a:lstStyle/>
          <a:p>
            <a:pPr algn="l"/>
            <a:r>
              <a:rPr sz="1400">
                <a:solidFill>
                  <a:srgbClr val="14161D"/>
                </a:solidFill>
                <a:latin typeface="Helvetica Neue Light"/>
              </a:rPr>
              <a:t>Empty</a:t>
            </a:r>
          </a:p>
        </p:txBody>
      </p:sp>
      <p:sp>
        <p:nvSpPr>
          <p:cNvPr id="10" name="TextBox 9"/>
          <p:cNvSpPr txBox="1"/>
          <p:nvPr/>
        </p:nvSpPr>
        <p:spPr>
          <a:xfrm>
            <a:off x="4023360" y="3017520"/>
            <a:ext cx="8476488" cy="731520"/>
          </a:xfrm>
          <a:prstGeom prst="rect">
            <a:avLst/>
          </a:prstGeom>
          <a:noFill/>
        </p:spPr>
        <p:txBody>
          <a:bodyPr wrap="square" lIns="0" rIns="0" tIns="0" bIns="0">
            <a:spAutoFit/>
          </a:bodyPr>
          <a:lstStyle/>
          <a:p>
            <a:pPr algn="l"/>
            <a:r>
              <a:rPr sz="1400">
                <a:solidFill>
                  <a:srgbClr val="14161D"/>
                </a:solidFill>
                <a:latin typeface="Helvetica Neue Light"/>
              </a:rPr>
              <a:t>No holdings yet. One clear next step.</a:t>
            </a:r>
          </a:p>
        </p:txBody>
      </p:sp>
      <p:cxnSp>
        <p:nvCxnSpPr>
          <p:cNvPr id="11" name="Connector 10"/>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40480"/>
            <a:ext cx="2971800" cy="731520"/>
          </a:xfrm>
          <a:prstGeom prst="rect">
            <a:avLst/>
          </a:prstGeom>
          <a:noFill/>
        </p:spPr>
        <p:txBody>
          <a:bodyPr wrap="square" lIns="0" rIns="0" tIns="0" bIns="0">
            <a:spAutoFit/>
          </a:bodyPr>
          <a:lstStyle/>
          <a:p>
            <a:pPr algn="l"/>
            <a:r>
              <a:rPr sz="1400">
                <a:solidFill>
                  <a:srgbClr val="14161D"/>
                </a:solidFill>
                <a:latin typeface="Helvetica Neue Light"/>
              </a:rPr>
              <a:t>Loading</a:t>
            </a:r>
          </a:p>
        </p:txBody>
      </p:sp>
      <p:sp>
        <p:nvSpPr>
          <p:cNvPr id="13" name="TextBox 12"/>
          <p:cNvSpPr txBox="1"/>
          <p:nvPr/>
        </p:nvSpPr>
        <p:spPr>
          <a:xfrm>
            <a:off x="4023360" y="3840480"/>
            <a:ext cx="8476488" cy="731520"/>
          </a:xfrm>
          <a:prstGeom prst="rect">
            <a:avLst/>
          </a:prstGeom>
          <a:noFill/>
        </p:spPr>
        <p:txBody>
          <a:bodyPr wrap="square" lIns="0" rIns="0" tIns="0" bIns="0">
            <a:spAutoFit/>
          </a:bodyPr>
          <a:lstStyle/>
          <a:p>
            <a:pPr algn="l"/>
            <a:r>
              <a:rPr sz="1400">
                <a:solidFill>
                  <a:srgbClr val="14161D"/>
                </a:solidFill>
                <a:latin typeface="Helvetica Neue Light"/>
              </a:rPr>
              <a:t>Skeleton cards hold the layout while data loads.</a:t>
            </a:r>
          </a:p>
        </p:txBody>
      </p:sp>
      <p:cxnSp>
        <p:nvCxnSpPr>
          <p:cNvPr id="14" name="Connector 13"/>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663440"/>
            <a:ext cx="2971800" cy="731520"/>
          </a:xfrm>
          <a:prstGeom prst="rect">
            <a:avLst/>
          </a:prstGeom>
          <a:noFill/>
        </p:spPr>
        <p:txBody>
          <a:bodyPr wrap="square" lIns="0" rIns="0" tIns="0" bIns="0">
            <a:spAutoFit/>
          </a:bodyPr>
          <a:lstStyle/>
          <a:p>
            <a:pPr algn="l"/>
            <a:r>
              <a:rPr sz="1400">
                <a:solidFill>
                  <a:srgbClr val="14161D"/>
                </a:solidFill>
                <a:latin typeface="Helvetica Neue Light"/>
              </a:rPr>
              <a:t>Error</a:t>
            </a:r>
          </a:p>
        </p:txBody>
      </p:sp>
      <p:sp>
        <p:nvSpPr>
          <p:cNvPr id="16" name="TextBox 15"/>
          <p:cNvSpPr txBox="1"/>
          <p:nvPr/>
        </p:nvSpPr>
        <p:spPr>
          <a:xfrm>
            <a:off x="4023360" y="466344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what failed, and offers a retry.</a:t>
            </a:r>
          </a:p>
        </p:txBody>
      </p:sp>
      <p:cxnSp>
        <p:nvCxnSpPr>
          <p:cNvPr id="17" name="Connector 16"/>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486400"/>
            <a:ext cx="2971800" cy="731520"/>
          </a:xfrm>
          <a:prstGeom prst="rect">
            <a:avLst/>
          </a:prstGeom>
          <a:noFill/>
        </p:spPr>
        <p:txBody>
          <a:bodyPr wrap="square" lIns="0" rIns="0" tIns="0" bIns="0">
            <a:spAutoFit/>
          </a:bodyPr>
          <a:lstStyle/>
          <a:p>
            <a:pPr algn="l"/>
            <a:r>
              <a:rPr sz="1400">
                <a:solidFill>
                  <a:srgbClr val="14161D"/>
                </a:solidFill>
                <a:latin typeface="Helvetica Neue Light"/>
              </a:rPr>
              <a:t>Offline</a:t>
            </a:r>
          </a:p>
        </p:txBody>
      </p:sp>
      <p:sp>
        <p:nvSpPr>
          <p:cNvPr id="19" name="TextBox 18"/>
          <p:cNvSpPr txBox="1"/>
          <p:nvPr/>
        </p:nvSpPr>
        <p:spPr>
          <a:xfrm>
            <a:off x="4023360" y="548640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the data is from the last update, with its time.</a:t>
            </a:r>
          </a:p>
        </p:txBody>
      </p:sp>
      <p:cxnSp>
        <p:nvCxnSpPr>
          <p:cNvPr id="20" name="Connector 19"/>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REASONING</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Four calls, and what each one cost</a:t>
            </a:r>
          </a:p>
        </p:txBody>
      </p:sp>
      <p:sp>
        <p:nvSpPr>
          <p:cNvPr id="5" name="TextBox 4"/>
          <p:cNvSpPr txBox="1"/>
          <p:nvPr/>
        </p:nvSpPr>
        <p:spPr>
          <a:xfrm>
            <a:off x="82296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CHOSE</a:t>
            </a:r>
          </a:p>
        </p:txBody>
      </p:sp>
      <p:sp>
        <p:nvSpPr>
          <p:cNvPr id="6" name="TextBox 5"/>
          <p:cNvSpPr txBox="1"/>
          <p:nvPr/>
        </p:nvSpPr>
        <p:spPr>
          <a:xfrm>
            <a:off x="438912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REJECTED</a:t>
            </a:r>
          </a:p>
        </p:txBody>
      </p:sp>
      <p:sp>
        <p:nvSpPr>
          <p:cNvPr id="7" name="TextBox 6"/>
          <p:cNvSpPr txBox="1"/>
          <p:nvPr/>
        </p:nvSpPr>
        <p:spPr>
          <a:xfrm>
            <a:off x="7955279" y="2194560"/>
            <a:ext cx="4590288" cy="274320"/>
          </a:xfrm>
          <a:prstGeom prst="rect">
            <a:avLst/>
          </a:prstGeom>
          <a:noFill/>
        </p:spPr>
        <p:txBody>
          <a:bodyPr wrap="square" lIns="0" rIns="0" tIns="0" bIns="0">
            <a:spAutoFit/>
          </a:bodyPr>
          <a:lstStyle/>
          <a:p>
            <a:pPr algn="l"/>
            <a:r>
              <a:rPr sz="1100">
                <a:solidFill>
                  <a:srgbClr val="858A97"/>
                </a:solidFill>
                <a:latin typeface="Helvetica Neue Medium"/>
              </a:rPr>
              <a:t>WHY, AND THE TRADE-OFF</a:t>
            </a:r>
          </a:p>
        </p:txBody>
      </p:sp>
      <p:cxnSp>
        <p:nvCxnSpPr>
          <p:cNvPr id="8" name="Connector 7"/>
          <p:cNvCxnSpPr/>
          <p:nvPr/>
        </p:nvCxnSpPr>
        <p:spPr>
          <a:xfrm>
            <a:off x="822960" y="2523744"/>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Share and dollar entry in one ticket</a:t>
            </a:r>
          </a:p>
        </p:txBody>
      </p:sp>
      <p:sp>
        <p:nvSpPr>
          <p:cNvPr id="10" name="TextBox 9"/>
          <p:cNvSpPr txBox="1"/>
          <p:nvPr/>
        </p:nvSpPr>
        <p:spPr>
          <a:xfrm>
            <a:off x="438912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One entry model only</a:t>
            </a:r>
          </a:p>
        </p:txBody>
      </p:sp>
      <p:sp>
        <p:nvSpPr>
          <p:cNvPr id="11" name="TextBox 10"/>
          <p:cNvSpPr txBox="1"/>
          <p:nvPr/>
        </p:nvSpPr>
        <p:spPr>
          <a:xfrm>
            <a:off x="7955279" y="2651760"/>
            <a:ext cx="4544568" cy="1005839"/>
          </a:xfrm>
          <a:prstGeom prst="rect">
            <a:avLst/>
          </a:prstGeom>
          <a:noFill/>
        </p:spPr>
        <p:txBody>
          <a:bodyPr wrap="square" lIns="0" rIns="0" tIns="0" bIns="0">
            <a:spAutoFit/>
          </a:bodyPr>
          <a:lstStyle/>
          <a:p>
            <a:pPr algn="l"/>
            <a:r>
              <a:rPr sz="1400">
                <a:solidFill>
                  <a:srgbClr val="14161D"/>
                </a:solidFill>
                <a:latin typeface="Helvetica Neue Light"/>
              </a:rPr>
              <a:t>Unclear which model new investors prefer. Trade-off: two flows to maintain; open question for testing.</a:t>
            </a:r>
          </a:p>
        </p:txBody>
      </p:sp>
      <p:cxnSp>
        <p:nvCxnSpPr>
          <p:cNvPr id="12" name="Connector 11"/>
          <p:cNvCxnSpPr/>
          <p:nvPr/>
        </p:nvCxnSpPr>
        <p:spPr>
          <a:xfrm>
            <a:off x="822960" y="3639311"/>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mock API with a 0.8-second delay</a:t>
            </a:r>
          </a:p>
        </p:txBody>
      </p:sp>
      <p:sp>
        <p:nvSpPr>
          <p:cNvPr id="14" name="TextBox 13"/>
          <p:cNvSpPr txBox="1"/>
          <p:nvPr/>
        </p:nvSpPr>
        <p:spPr>
          <a:xfrm>
            <a:off x="438912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live backend now</a:t>
            </a:r>
          </a:p>
        </p:txBody>
      </p:sp>
      <p:sp>
        <p:nvSpPr>
          <p:cNvPr id="15" name="TextBox 14"/>
          <p:cNvSpPr txBox="1"/>
          <p:nvPr/>
        </p:nvSpPr>
        <p:spPr>
          <a:xfrm>
            <a:off x="7955279" y="3749039"/>
            <a:ext cx="4544568" cy="1005839"/>
          </a:xfrm>
          <a:prstGeom prst="rect">
            <a:avLst/>
          </a:prstGeom>
          <a:noFill/>
        </p:spPr>
        <p:txBody>
          <a:bodyPr wrap="square" lIns="0" rIns="0" tIns="0" bIns="0">
            <a:spAutoFit/>
          </a:bodyPr>
          <a:lstStyle/>
          <a:p>
            <a:pPr algn="l"/>
            <a:r>
              <a:rPr sz="1400">
                <a:solidFill>
                  <a:srgbClr val="14161D"/>
                </a:solidFill>
                <a:latin typeface="Helvetica Neue Light"/>
              </a:rPr>
              <a:t>Tests flows and loading states without a backend. Trade-off: real timing, errors, and data limits stay untested.</a:t>
            </a:r>
          </a:p>
        </p:txBody>
      </p:sp>
      <p:cxnSp>
        <p:nvCxnSpPr>
          <p:cNvPr id="16" name="Connector 15"/>
          <p:cNvCxnSpPr/>
          <p:nvPr/>
        </p:nvCxnSpPr>
        <p:spPr>
          <a:xfrm>
            <a:off x="822960" y="4736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Adapt proposes steps the user can review</a:t>
            </a:r>
          </a:p>
        </p:txBody>
      </p:sp>
      <p:sp>
        <p:nvSpPr>
          <p:cNvPr id="18" name="TextBox 17"/>
          <p:cNvSpPr txBox="1"/>
          <p:nvPr/>
        </p:nvSpPr>
        <p:spPr>
          <a:xfrm>
            <a:off x="438912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 batch the user approves or dismisses</a:t>
            </a:r>
          </a:p>
        </p:txBody>
      </p:sp>
      <p:sp>
        <p:nvSpPr>
          <p:cNvPr id="19" name="TextBox 18"/>
          <p:cNvSpPr txBox="1"/>
          <p:nvPr/>
        </p:nvSpPr>
        <p:spPr>
          <a:xfrm>
            <a:off x="7955279" y="4846320"/>
            <a:ext cx="4544568" cy="1005839"/>
          </a:xfrm>
          <a:prstGeom prst="rect">
            <a:avLst/>
          </a:prstGeom>
          <a:noFill/>
        </p:spPr>
        <p:txBody>
          <a:bodyPr wrap="square" lIns="0" rIns="0" tIns="0" bIns="0">
            <a:spAutoFit/>
          </a:bodyPr>
          <a:lstStyle/>
          <a:p>
            <a:pPr algn="l"/>
            <a:r>
              <a:rPr sz="1400">
                <a:solidFill>
                  <a:srgbClr val="14161D"/>
                </a:solidFill>
                <a:latin typeface="Helvetica Neue Light"/>
              </a:rPr>
              <a:t>It is the screen’s job. Trade-off: trade wording needs compliance review; it may become explanation only.</a:t>
            </a:r>
          </a:p>
        </p:txBody>
      </p:sp>
      <p:cxnSp>
        <p:nvCxnSpPr>
          <p:cNvPr id="20" name="Connector 19"/>
          <p:cNvCxnSpPr/>
          <p:nvPr/>
        </p:nvCxnSpPr>
        <p:spPr>
          <a:xfrm>
            <a:off x="822960" y="58338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Five tabs, one home screen</a:t>
            </a:r>
          </a:p>
        </p:txBody>
      </p:sp>
      <p:sp>
        <p:nvSpPr>
          <p:cNvPr id="22" name="TextBox 21"/>
          <p:cNvSpPr txBox="1"/>
          <p:nvPr/>
        </p:nvSpPr>
        <p:spPr>
          <a:xfrm>
            <a:off x="438912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Trading as a separate app area</a:t>
            </a:r>
          </a:p>
        </p:txBody>
      </p:sp>
      <p:sp>
        <p:nvSpPr>
          <p:cNvPr id="23" name="TextBox 22"/>
          <p:cNvSpPr txBox="1"/>
          <p:nvPr/>
        </p:nvSpPr>
        <p:spPr>
          <a:xfrm>
            <a:off x="7955279" y="5943600"/>
            <a:ext cx="4544568" cy="1005839"/>
          </a:xfrm>
          <a:prstGeom prst="rect">
            <a:avLst/>
          </a:prstGeom>
          <a:noFill/>
        </p:spPr>
        <p:txBody>
          <a:bodyPr wrap="square" lIns="0" rIns="0" tIns="0" bIns="0">
            <a:spAutoFit/>
          </a:bodyPr>
          <a:lstStyle/>
          <a:p>
            <a:pPr algn="l"/>
            <a:r>
              <a:rPr sz="1400">
                <a:solidFill>
                  <a:srgbClr val="14161D"/>
                </a:solidFill>
                <a:latin typeface="Helvetica Neue Light"/>
              </a:rPr>
              <a:t>A scannable set of areas, with trading one tap away. Trade-off: AI screens compete with trade entry; test it.</a:t>
            </a:r>
          </a:p>
        </p:txBody>
      </p:sp>
      <p:cxnSp>
        <p:nvCxnSpPr>
          <p:cNvPr id="24" name="Connector 23"/>
          <p:cNvCxnSpPr/>
          <p:nvPr/>
        </p:nvCxnSpPr>
        <p:spPr>
          <a:xfrm>
            <a:off x="822960" y="6931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Where the AI experience breaks down today</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Five problems, from the current prototype and the design review. Mock data throughout.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1 · OUTPUTS WITHOUT REASONING</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shows sentiment with no source, date, or data behind it.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2 · ALL OR NOTHING</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Adapt offers one batch of proposed steps. The user can approve or dismiss the batch, nothing else.</a:t>
            </a:r>
          </a:p>
        </p:txBody>
      </p:sp>
      <p:sp>
        <p:nvSpPr>
          <p:cNvPr id="10" name="TextBox 9"/>
          <p:cNvSpPr txBox="1"/>
          <p:nvPr/>
        </p:nvSpPr>
        <p:spPr>
          <a:xfrm>
            <a:off x="8229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3 · NO LEARNING LOOP</a:t>
            </a:r>
          </a:p>
        </p:txBody>
      </p:sp>
      <p:sp>
        <p:nvSpPr>
          <p:cNvPr id="11" name="TextBox 10"/>
          <p:cNvSpPr txBox="1"/>
          <p:nvPr/>
        </p:nvSpPr>
        <p:spPr>
          <a:xfrm>
            <a:off x="8229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Dismissing or correcting an insight does not change future output.</a:t>
            </a:r>
          </a:p>
        </p:txBody>
      </p:sp>
      <p:sp>
        <p:nvSpPr>
          <p:cNvPr id="12" name="TextBox 11"/>
          <p:cNvSpPr txBox="1"/>
          <p:nvPr/>
        </p:nvSpPr>
        <p:spPr>
          <a:xfrm>
            <a:off x="67665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4 · ADVICE LINE IN CONFLICT</a:t>
            </a:r>
          </a:p>
        </p:txBody>
      </p:sp>
      <p:sp>
        <p:nvSpPr>
          <p:cNvPr id="13" name="TextBox 12"/>
          <p:cNvSpPr txBox="1"/>
          <p:nvPr/>
        </p:nvSpPr>
        <p:spPr>
          <a:xfrm>
            <a:off x="67665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design rule says the AI never originates buy or sell advice. Adapt wording does. Compliance review is open.</a:t>
            </a:r>
          </a:p>
        </p:txBody>
      </p:sp>
      <p:sp>
        <p:nvSpPr>
          <p:cNvPr id="14" name="TextBox 13"/>
          <p:cNvSpPr txBox="1"/>
          <p:nvPr/>
        </p:nvSpPr>
        <p:spPr>
          <a:xfrm>
            <a:off x="822960" y="7132320"/>
            <a:ext cx="5394960" cy="274320"/>
          </a:xfrm>
          <a:prstGeom prst="rect">
            <a:avLst/>
          </a:prstGeom>
          <a:noFill/>
        </p:spPr>
        <p:txBody>
          <a:bodyPr wrap="square" lIns="0" rIns="0" tIns="0" bIns="0">
            <a:spAutoFit/>
          </a:bodyPr>
          <a:lstStyle/>
          <a:p>
            <a:pPr algn="l"/>
            <a:r>
              <a:rPr sz="1100">
                <a:solidFill>
                  <a:srgbClr val="858A97"/>
                </a:solidFill>
                <a:latin typeface="Helvetica Neue Medium"/>
              </a:rPr>
              <a:t>5 · CONTEXT LOST BETWEEN SCREENS</a:t>
            </a:r>
          </a:p>
        </p:txBody>
      </p:sp>
      <p:sp>
        <p:nvSpPr>
          <p:cNvPr id="15" name="TextBox 14"/>
          <p:cNvSpPr txBox="1"/>
          <p:nvPr/>
        </p:nvSpPr>
        <p:spPr>
          <a:xfrm>
            <a:off x="822960" y="744321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Moving from an insight to an order drops the reason, so the user enters it again.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Four concepts for a bounded agent</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Each concept answers one of the breakdowns above.</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GOAL TO PLAN</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user states a target, such as keep technology under 40%. The agent drafts editable steps and shows the impact of each one.</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AUTONOMY LEVELS</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Observe, suggest, or act within limits. The current level is always visible, with the user-set limits beside it.</a:t>
            </a:r>
          </a:p>
        </p:txBody>
      </p:sp>
      <p:sp>
        <p:nvSpPr>
          <p:cNvPr id="10" name="TextBox 9"/>
          <p:cNvSpPr txBox="1"/>
          <p:nvPr/>
        </p:nvSpPr>
        <p:spPr>
          <a:xfrm>
            <a:off x="8229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EVIDENCE ON EVERY OUTPUT</a:t>
            </a:r>
          </a:p>
        </p:txBody>
      </p:sp>
      <p:sp>
        <p:nvSpPr>
          <p:cNvPr id="11" name="TextBox 10"/>
          <p:cNvSpPr txBox="1"/>
          <p:nvPr/>
        </p:nvSpPr>
        <p:spPr>
          <a:xfrm>
            <a:off x="822960" y="54315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insight links to its source, date, and data. No model-generated confidence percentage.</a:t>
            </a:r>
          </a:p>
        </p:txBody>
      </p:sp>
      <p:sp>
        <p:nvSpPr>
          <p:cNvPr id="12" name="TextBox 11"/>
          <p:cNvSpPr txBox="1"/>
          <p:nvPr/>
        </p:nvSpPr>
        <p:spPr>
          <a:xfrm>
            <a:off x="67665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ORDERS WITH THEIR REASON</a:t>
            </a:r>
          </a:p>
        </p:txBody>
      </p:sp>
      <p:sp>
        <p:nvSpPr>
          <p:cNvPr id="13" name="TextBox 12"/>
          <p:cNvSpPr txBox="1"/>
          <p:nvPr/>
        </p:nvSpPr>
        <p:spPr>
          <a:xfrm>
            <a:off x="6766560" y="54315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 trade started from an insight opens with its reason and the user’s own history, and offers a 48-hour pause.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ADAPT</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Adapt as a plan, not a batch</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Set a goal, review the plan, then approve each step. Nothing runs without approval.</a:t>
            </a:r>
          </a:p>
        </p:txBody>
      </p:sp>
      <p:sp>
        <p:nvSpPr>
          <p:cNvPr id="6" name="TextBox 5"/>
          <p:cNvSpPr txBox="1"/>
          <p:nvPr/>
        </p:nvSpPr>
        <p:spPr>
          <a:xfrm>
            <a:off x="82296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SET A GOAL</a:t>
            </a:r>
          </a:p>
        </p:txBody>
      </p:sp>
      <p:sp>
        <p:nvSpPr>
          <p:cNvPr id="7" name="TextBox 6"/>
          <p:cNvSpPr txBox="1"/>
          <p:nvPr/>
        </p:nvSpPr>
        <p:spPr>
          <a:xfrm>
            <a:off x="82296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user states a target. The agent drafts a plan.</a:t>
            </a:r>
          </a:p>
        </p:txBody>
      </p:sp>
      <p:sp>
        <p:nvSpPr>
          <p:cNvPr id="8" name="TextBox 7"/>
          <p:cNvSpPr txBox="1"/>
          <p:nvPr/>
        </p:nvSpPr>
        <p:spPr>
          <a:xfrm>
            <a:off x="457200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PLAN PREVIEW</a:t>
            </a:r>
          </a:p>
        </p:txBody>
      </p:sp>
      <p:sp>
        <p:nvSpPr>
          <p:cNvPr id="9" name="TextBox 8"/>
          <p:cNvSpPr txBox="1"/>
          <p:nvPr/>
        </p:nvSpPr>
        <p:spPr>
          <a:xfrm>
            <a:off x="457200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proposed step shows its effect on the allocation.</a:t>
            </a:r>
          </a:p>
        </p:txBody>
      </p:sp>
      <p:sp>
        <p:nvSpPr>
          <p:cNvPr id="10" name="TextBox 9"/>
          <p:cNvSpPr txBox="1"/>
          <p:nvPr/>
        </p:nvSpPr>
        <p:spPr>
          <a:xfrm>
            <a:off x="8321040" y="2743200"/>
            <a:ext cx="3840480" cy="274320"/>
          </a:xfrm>
          <a:prstGeom prst="rect">
            <a:avLst/>
          </a:prstGeom>
          <a:noFill/>
        </p:spPr>
        <p:txBody>
          <a:bodyPr wrap="square" lIns="0" rIns="0" tIns="0" bIns="0">
            <a:spAutoFit/>
          </a:bodyPr>
          <a:lstStyle/>
          <a:p>
            <a:pPr algn="l"/>
            <a:r>
              <a:rPr sz="1100">
                <a:solidFill>
                  <a:srgbClr val="858A97"/>
                </a:solidFill>
                <a:latin typeface="Helvetica Neue Medium"/>
              </a:rPr>
              <a:t>STEP REVIEW</a:t>
            </a:r>
          </a:p>
        </p:txBody>
      </p:sp>
      <p:sp>
        <p:nvSpPr>
          <p:cNvPr id="11" name="TextBox 10"/>
          <p:cNvSpPr txBox="1"/>
          <p:nvPr/>
        </p:nvSpPr>
        <p:spPr>
          <a:xfrm>
            <a:off x="8321040" y="3054096"/>
            <a:ext cx="384048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step shows its reason and source. The user approves, edits, or skips it.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METHODOLOGY</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How the AI behaves, and how we will test it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AI BEHAVIOR · DESIGNED, MOCK DATA</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sentiment summaries, with the screen as the source.</a:t>
            </a:r>
          </a:p>
          <a:p>
            <a:pPr algn="l">
              <a:spcAft>
                <a:spcPts val="600"/>
              </a:spcAft>
            </a:pPr>
            <a:r>
              <a:rPr sz="1600">
                <a:solidFill>
                  <a:srgbClr val="14161D"/>
                </a:solidFill>
                <a:latin typeface="Helvetica Neue Light"/>
              </a:rPr>
              <a:t>Prospect: opportunity cards with upside and downside.</a:t>
            </a:r>
          </a:p>
          <a:p>
            <a:pPr algn="l">
              <a:spcAft>
                <a:spcPts val="600"/>
              </a:spcAft>
            </a:pPr>
            <a:r>
              <a:rPr sz="1600">
                <a:solidFill>
                  <a:srgbClr val="14161D"/>
                </a:solidFill>
                <a:latin typeface="Helvetica Neue Light"/>
              </a:rPr>
              <a:t>Guard: alerts ranked by severity; mark as read.</a:t>
            </a:r>
          </a:p>
          <a:p>
            <a:pPr algn="l">
              <a:spcAft>
                <a:spcPts val="600"/>
              </a:spcAft>
            </a:pPr>
            <a:r>
              <a:rPr sz="1600">
                <a:solidFill>
                  <a:srgbClr val="14161D"/>
                </a:solidFill>
                <a:latin typeface="Helvetica Neue Light"/>
              </a:rPr>
              <a:t>Adapt: before and after allocation, and a reviewable list of proposed steps.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VALIDATION · PLANNED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Five-person think-aloud on the share and dollar flows.</a:t>
            </a:r>
          </a:p>
          <a:p>
            <a:pPr algn="l">
              <a:spcAft>
                <a:spcPts val="600"/>
              </a:spcAft>
            </a:pPr>
            <a:r>
              <a:rPr sz="1600">
                <a:solidFill>
                  <a:srgbClr val="14161D"/>
                </a:solidFill>
                <a:latin typeface="Helvetica Neue Light"/>
              </a:rPr>
              <a:t>Comprehension check on the labels for Insight, Prospect, Guard, and Adapt.</a:t>
            </a:r>
          </a:p>
          <a:p>
            <a:pPr algn="l">
              <a:spcAft>
                <a:spcPts val="600"/>
              </a:spcAft>
            </a:pPr>
            <a:r>
              <a:rPr sz="1600">
                <a:solidFill>
                  <a:srgbClr val="14161D"/>
                </a:solidFill>
                <a:latin typeface="Helvetica Neue Light"/>
              </a:rPr>
              <a:t>Card sort on the five tabs.</a:t>
            </a:r>
          </a:p>
          <a:p>
            <a:pPr algn="l">
              <a:spcAft>
                <a:spcPts val="600"/>
              </a:spcAft>
            </a:pPr>
            <a:r>
              <a:rPr sz="1600">
                <a:solidFill>
                  <a:srgbClr val="14161D"/>
                </a:solidFill>
                <a:latin typeface="Helvetica Neue Light"/>
              </a:rPr>
              <a:t>Compliance review of trade and AI copy.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MEASURES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we would measure (planned, not run)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Hypotheses to test before any claim about the agent. None of these has data yet.</a:t>
            </a:r>
          </a:p>
        </p:txBody>
      </p:sp>
      <p:sp>
        <p:nvSpPr>
          <p:cNvPr id="6" name="TextBox 5"/>
          <p:cNvSpPr txBox="1"/>
          <p:nvPr/>
        </p:nvSpPr>
        <p:spPr>
          <a:xfrm>
            <a:off x="822960" y="2560320"/>
            <a:ext cx="4389120" cy="274320"/>
          </a:xfrm>
          <a:prstGeom prst="rect">
            <a:avLst/>
          </a:prstGeom>
          <a:noFill/>
        </p:spPr>
        <p:txBody>
          <a:bodyPr wrap="square" lIns="0" rIns="0" tIns="0" bIns="0">
            <a:spAutoFit/>
          </a:bodyPr>
          <a:lstStyle/>
          <a:p>
            <a:pPr algn="l"/>
            <a:r>
              <a:rPr sz="1100">
                <a:solidFill>
                  <a:srgbClr val="858A97"/>
                </a:solidFill>
                <a:latin typeface="Helvetica Neue Medium"/>
              </a:rPr>
              <a:t>MEASURE</a:t>
            </a:r>
          </a:p>
        </p:txBody>
      </p:sp>
      <p:sp>
        <p:nvSpPr>
          <p:cNvPr id="7" name="TextBox 6"/>
          <p:cNvSpPr txBox="1"/>
          <p:nvPr/>
        </p:nvSpPr>
        <p:spPr>
          <a:xfrm>
            <a:off x="5394960" y="2560320"/>
            <a:ext cx="7150607" cy="274320"/>
          </a:xfrm>
          <a:prstGeom prst="rect">
            <a:avLst/>
          </a:prstGeom>
          <a:noFill/>
        </p:spPr>
        <p:txBody>
          <a:bodyPr wrap="square" lIns="0" rIns="0" tIns="0" bIns="0">
            <a:spAutoFit/>
          </a:bodyPr>
          <a:lstStyle/>
          <a:p>
            <a:pPr algn="l"/>
            <a:r>
              <a:rPr sz="1100">
                <a:solidFill>
                  <a:srgbClr val="858A97"/>
                </a:solidFill>
                <a:latin typeface="Helvetica Neue Medium"/>
              </a:rPr>
              <a:t>QUESTION IT ANSWERS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4343400" cy="777240"/>
          </a:xfrm>
          <a:prstGeom prst="rect">
            <a:avLst/>
          </a:prstGeom>
          <a:noFill/>
        </p:spPr>
        <p:txBody>
          <a:bodyPr wrap="square" lIns="0" rIns="0" tIns="0" bIns="0">
            <a:spAutoFit/>
          </a:bodyPr>
          <a:lstStyle/>
          <a:p>
            <a:pPr algn="l"/>
            <a:r>
              <a:rPr sz="1400">
                <a:solidFill>
                  <a:srgbClr val="14161D"/>
                </a:solidFill>
                <a:latin typeface="Helvetica Neue Light"/>
              </a:rPr>
              <a:t>Time from insight to decision</a:t>
            </a:r>
          </a:p>
        </p:txBody>
      </p:sp>
      <p:sp>
        <p:nvSpPr>
          <p:cNvPr id="10" name="TextBox 9"/>
          <p:cNvSpPr txBox="1"/>
          <p:nvPr/>
        </p:nvSpPr>
        <p:spPr>
          <a:xfrm>
            <a:off x="5394960" y="301752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evidence on the card shorten the decision?</a:t>
            </a:r>
          </a:p>
        </p:txBody>
      </p:sp>
      <p:cxnSp>
        <p:nvCxnSpPr>
          <p:cNvPr id="11" name="Connector 10"/>
          <p:cNvCxnSpPr/>
          <p:nvPr/>
        </p:nvCxnSpPr>
        <p:spPr>
          <a:xfrm>
            <a:off x="822960" y="37764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86200"/>
            <a:ext cx="4343400" cy="777240"/>
          </a:xfrm>
          <a:prstGeom prst="rect">
            <a:avLst/>
          </a:prstGeom>
          <a:noFill/>
        </p:spPr>
        <p:txBody>
          <a:bodyPr wrap="square" lIns="0" rIns="0" tIns="0" bIns="0">
            <a:spAutoFit/>
          </a:bodyPr>
          <a:lstStyle/>
          <a:p>
            <a:pPr algn="l"/>
            <a:r>
              <a:rPr sz="1400">
                <a:solidFill>
                  <a:srgbClr val="14161D"/>
                </a:solidFill>
                <a:latin typeface="Helvetica Neue Light"/>
              </a:rPr>
              <a:t>Edit and reject rate on proposed steps</a:t>
            </a:r>
          </a:p>
        </p:txBody>
      </p:sp>
      <p:sp>
        <p:nvSpPr>
          <p:cNvPr id="13" name="TextBox 12"/>
          <p:cNvSpPr txBox="1"/>
          <p:nvPr/>
        </p:nvSpPr>
        <p:spPr>
          <a:xfrm>
            <a:off x="5394960" y="388620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trust the plan enough to approve it as drafted?</a:t>
            </a:r>
          </a:p>
        </p:txBody>
      </p:sp>
      <p:cxnSp>
        <p:nvCxnSpPr>
          <p:cNvPr id="14" name="Connector 13"/>
          <p:cNvCxnSpPr/>
          <p:nvPr/>
        </p:nvCxnSpPr>
        <p:spPr>
          <a:xfrm>
            <a:off x="822960" y="4645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754880"/>
            <a:ext cx="4343400" cy="777240"/>
          </a:xfrm>
          <a:prstGeom prst="rect">
            <a:avLst/>
          </a:prstGeom>
          <a:noFill/>
        </p:spPr>
        <p:txBody>
          <a:bodyPr wrap="square" lIns="0" rIns="0" tIns="0" bIns="0">
            <a:spAutoFit/>
          </a:bodyPr>
          <a:lstStyle/>
          <a:p>
            <a:pPr algn="l"/>
            <a:r>
              <a:rPr sz="1400">
                <a:solidFill>
                  <a:srgbClr val="14161D"/>
                </a:solidFill>
                <a:latin typeface="Helvetica Neue Light"/>
              </a:rPr>
              <a:t>Reversal rate of agent actions</a:t>
            </a:r>
          </a:p>
        </p:txBody>
      </p:sp>
      <p:sp>
        <p:nvSpPr>
          <p:cNvPr id="16" name="TextBox 15"/>
          <p:cNvSpPr txBox="1"/>
          <p:nvPr/>
        </p:nvSpPr>
        <p:spPr>
          <a:xfrm>
            <a:off x="5394960" y="475488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acting within limits create regret, or stay trusted?</a:t>
            </a:r>
          </a:p>
        </p:txBody>
      </p:sp>
      <p:cxnSp>
        <p:nvCxnSpPr>
          <p:cNvPr id="17" name="Connector 16"/>
          <p:cNvCxnSpPr/>
          <p:nvPr/>
        </p:nvCxnSpPr>
        <p:spPr>
          <a:xfrm>
            <a:off x="822960" y="55138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623560"/>
            <a:ext cx="4343400" cy="777240"/>
          </a:xfrm>
          <a:prstGeom prst="rect">
            <a:avLst/>
          </a:prstGeom>
          <a:noFill/>
        </p:spPr>
        <p:txBody>
          <a:bodyPr wrap="square" lIns="0" rIns="0" tIns="0" bIns="0">
            <a:spAutoFit/>
          </a:bodyPr>
          <a:lstStyle/>
          <a:p>
            <a:pPr algn="l"/>
            <a:r>
              <a:rPr sz="1400">
                <a:solidFill>
                  <a:srgbClr val="14161D"/>
                </a:solidFill>
                <a:latin typeface="Helvetica Neue Light"/>
              </a:rPr>
              <a:t>Learned rules kept or reversed</a:t>
            </a:r>
          </a:p>
        </p:txBody>
      </p:sp>
      <p:sp>
        <p:nvSpPr>
          <p:cNvPr id="19" name="TextBox 18"/>
          <p:cNvSpPr txBox="1"/>
          <p:nvPr/>
        </p:nvSpPr>
        <p:spPr>
          <a:xfrm>
            <a:off x="5394960" y="562356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value the learning loop, or switch it off?</a:t>
            </a:r>
          </a:p>
        </p:txBody>
      </p:sp>
      <p:cxnSp>
        <p:nvCxnSpPr>
          <p:cNvPr id="20" name="Connector 19"/>
          <p:cNvCxnSpPr/>
          <p:nvPr/>
        </p:nvCxnSpPr>
        <p:spPr>
          <a:xfrm>
            <a:off x="822960" y="63825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IMPLEMENTATION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Built on SwiftUI, with tokens shared with Figma</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IS BUILT</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MVVM: one ViewModel per screen.</a:t>
            </a:r>
          </a:p>
          <a:p>
            <a:pPr algn="l">
              <a:spcAft>
                <a:spcPts val="600"/>
              </a:spcAft>
            </a:pPr>
            <a:r>
              <a:rPr sz="1600">
                <a:solidFill>
                  <a:srgbClr val="14161D"/>
                </a:solidFill>
                <a:latin typeface="Helvetica Neue Light"/>
              </a:rPr>
              <a:t>MockAPIService with realistic data and a delay.</a:t>
            </a:r>
          </a:p>
          <a:p>
            <a:pPr algn="l">
              <a:spcAft>
                <a:spcPts val="600"/>
              </a:spcAft>
            </a:pPr>
            <a:r>
              <a:rPr sz="1600">
                <a:solidFill>
                  <a:srgbClr val="14161D"/>
                </a:solidFill>
                <a:latin typeface="Helvetica Neue Light"/>
              </a:rPr>
              <a:t>DesignTokens.swift: colors, type, and spacing.</a:t>
            </a:r>
          </a:p>
          <a:p>
            <a:pPr algn="l">
              <a:spcAft>
                <a:spcPts val="600"/>
              </a:spcAft>
            </a:pPr>
            <a:r>
              <a:rPr sz="1600">
                <a:solidFill>
                  <a:srgbClr val="14161D"/>
                </a:solidFill>
                <a:latin typeface="Helvetica Neue Light"/>
              </a:rPr>
              <a:t>AuthManager: Face ID and Touch ID, with Keychain storage.</a:t>
            </a:r>
          </a:p>
          <a:p>
            <a:pPr algn="l">
              <a:spcAft>
                <a:spcPts val="600"/>
              </a:spcAft>
            </a:pPr>
            <a:r>
              <a:rPr sz="1600">
                <a:solidFill>
                  <a:srgbClr val="14161D"/>
                </a:solidFill>
                <a:latin typeface="Helvetica Neue Light"/>
              </a:rPr>
              <a:t>Figma library mirrors the same tokens.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TO BUILD · PROPOSED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Real market data and quotes behind the mock service.</a:t>
            </a:r>
          </a:p>
          <a:p>
            <a:pPr algn="l">
              <a:spcAft>
                <a:spcPts val="600"/>
              </a:spcAft>
            </a:pPr>
            <a:r>
              <a:rPr sz="1600">
                <a:solidFill>
                  <a:srgbClr val="14161D"/>
                </a:solidFill>
                <a:latin typeface="Helvetica Neue Light"/>
              </a:rPr>
              <a:t>Brokerage connection for order placement.</a:t>
            </a:r>
          </a:p>
          <a:p>
            <a:pPr algn="l">
              <a:spcAft>
                <a:spcPts val="600"/>
              </a:spcAft>
            </a:pPr>
            <a:r>
              <a:rPr sz="1600">
                <a:solidFill>
                  <a:srgbClr val="14161D"/>
                </a:solidFill>
                <a:latin typeface="Helvetica Neue Light"/>
              </a:rPr>
              <a:t>Session and authentication with a real backend.</a:t>
            </a:r>
          </a:p>
          <a:p>
            <a:pPr algn="l">
              <a:spcAft>
                <a:spcPts val="600"/>
              </a:spcAft>
            </a:pPr>
            <a:r>
              <a:rPr sz="1600">
                <a:solidFill>
                  <a:srgbClr val="14161D"/>
                </a:solidFill>
                <a:latin typeface="Helvetica Neue Light"/>
              </a:rPr>
              <a:t>Audit log for trade and AI actions.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RESULTS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exists today, and what we still need to measure</a:t>
            </a:r>
          </a:p>
        </p:txBody>
      </p:sp>
      <p:sp>
        <p:nvSpPr>
          <p:cNvPr id="5" name="TextBox 4"/>
          <p:cNvSpPr txBox="1"/>
          <p:nvPr/>
        </p:nvSpPr>
        <p:spPr>
          <a:xfrm>
            <a:off x="82296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5</a:t>
            </a:r>
          </a:p>
        </p:txBody>
      </p:sp>
      <p:sp>
        <p:nvSpPr>
          <p:cNvPr id="6" name="TextBox 5"/>
          <p:cNvSpPr txBox="1"/>
          <p:nvPr/>
        </p:nvSpPr>
        <p:spPr>
          <a:xfrm>
            <a:off x="82296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core iOS screens, each with a ViewModel</a:t>
            </a:r>
          </a:p>
        </p:txBody>
      </p:sp>
      <p:sp>
        <p:nvSpPr>
          <p:cNvPr id="7" name="TextBox 6"/>
          <p:cNvSpPr txBox="1"/>
          <p:nvPr/>
        </p:nvSpPr>
        <p:spPr>
          <a:xfrm>
            <a:off x="374904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8</a:t>
            </a:r>
          </a:p>
        </p:txBody>
      </p:sp>
      <p:sp>
        <p:nvSpPr>
          <p:cNvPr id="8" name="TextBox 7"/>
          <p:cNvSpPr txBox="1"/>
          <p:nvPr/>
        </p:nvSpPr>
        <p:spPr>
          <a:xfrm>
            <a:off x="374904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steps in each trade flow, share and dollar</a:t>
            </a:r>
          </a:p>
        </p:txBody>
      </p:sp>
      <p:sp>
        <p:nvSpPr>
          <p:cNvPr id="9" name="TextBox 8"/>
          <p:cNvSpPr txBox="1"/>
          <p:nvPr/>
        </p:nvSpPr>
        <p:spPr>
          <a:xfrm>
            <a:off x="667512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0" name="TextBox 9"/>
          <p:cNvSpPr txBox="1"/>
          <p:nvPr/>
        </p:nvSpPr>
        <p:spPr>
          <a:xfrm>
            <a:off x="667512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interactive prototypes published, plus this case study</a:t>
            </a:r>
          </a:p>
        </p:txBody>
      </p:sp>
      <p:sp>
        <p:nvSpPr>
          <p:cNvPr id="11" name="TextBox 10"/>
          <p:cNvSpPr txBox="1"/>
          <p:nvPr/>
        </p:nvSpPr>
        <p:spPr>
          <a:xfrm>
            <a:off x="960120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2" name="TextBox 11"/>
          <p:cNvSpPr txBox="1"/>
          <p:nvPr/>
        </p:nvSpPr>
        <p:spPr>
          <a:xfrm>
            <a:off x="960120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wireframe pages: states, agent, and full experience</a:t>
            </a:r>
          </a:p>
        </p:txBody>
      </p:sp>
      <p:sp>
        <p:nvSpPr>
          <p:cNvPr id="13" name="TextBox 12"/>
          <p:cNvSpPr txBox="1"/>
          <p:nvPr/>
        </p:nvSpPr>
        <p:spPr>
          <a:xfrm>
            <a:off x="822960" y="5760720"/>
            <a:ext cx="11356848" cy="274320"/>
          </a:xfrm>
          <a:prstGeom prst="rect">
            <a:avLst/>
          </a:prstGeom>
          <a:noFill/>
        </p:spPr>
        <p:txBody>
          <a:bodyPr wrap="square" lIns="0" rIns="0" tIns="0" bIns="0">
            <a:spAutoFit/>
          </a:bodyPr>
          <a:lstStyle/>
          <a:p>
            <a:pPr algn="l"/>
            <a:r>
              <a:rPr sz="1100">
                <a:solidFill>
                  <a:srgbClr val="858A97"/>
                </a:solidFill>
                <a:latin typeface="Helvetica Neue Medium"/>
              </a:rPr>
              <a:t>OUTCOMES · NOT YET MEASURED</a:t>
            </a:r>
          </a:p>
        </p:txBody>
      </p:sp>
      <p:sp>
        <p:nvSpPr>
          <p:cNvPr id="14" name="TextBox 13"/>
          <p:cNvSpPr txBox="1"/>
          <p:nvPr/>
        </p:nvSpPr>
        <p:spPr>
          <a:xfrm>
            <a:off x="822960" y="6071616"/>
            <a:ext cx="11356848"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Time to complete a trade, task success, the share of users who open an AI screen in week one, and a usability score. Targets are planned and will be set with stakeholders before the first test.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LEARNINGS AND NEXT STEPS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building this taught me, and what comes next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LEARNINGS</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One token source for Figma and Swift keeps the two in step.</a:t>
            </a:r>
          </a:p>
          <a:p>
            <a:pPr algn="l">
              <a:spcAft>
                <a:spcPts val="600"/>
              </a:spcAft>
            </a:pPr>
            <a:r>
              <a:rPr sz="1600">
                <a:solidFill>
                  <a:srgbClr val="14161D"/>
                </a:solidFill>
                <a:latin typeface="Helvetica Neue Light"/>
              </a:rPr>
              <a:t>Settle AI boundaries before more screens. Proposed-step wording needs compliance review first.</a:t>
            </a:r>
          </a:p>
          <a:p>
            <a:pPr algn="l">
              <a:spcAft>
                <a:spcPts val="600"/>
              </a:spcAft>
            </a:pPr>
            <a:r>
              <a:rPr sz="1600">
                <a:solidFill>
                  <a:srgbClr val="14161D"/>
                </a:solidFill>
                <a:latin typeface="Helvetica Neue Light"/>
              </a:rPr>
              <a:t>Mock data hides timing and error states, so design them explicitly.</a:t>
            </a:r>
          </a:p>
          <a:p>
            <a:pPr algn="l">
              <a:spcAft>
                <a:spcPts val="600"/>
              </a:spcAft>
            </a:pPr>
            <a:r>
              <a:rPr sz="1600">
                <a:solidFill>
                  <a:srgbClr val="14161D"/>
                </a:solidFill>
                <a:latin typeface="Helvetica Neue Light"/>
              </a:rPr>
              <a:t>Keep working documents in one place: the FigJam board.</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STEPS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Validate the three personas with five to eight interviews.</a:t>
            </a:r>
          </a:p>
          <a:p>
            <a:pPr algn="l">
              <a:spcAft>
                <a:spcPts val="600"/>
              </a:spcAft>
            </a:pPr>
            <a:r>
              <a:rPr sz="1600">
                <a:solidFill>
                  <a:srgbClr val="14161D"/>
                </a:solidFill>
                <a:latin typeface="Helvetica Neue Light"/>
              </a:rPr>
              <a:t>Usability-test the share and dollar flows.</a:t>
            </a:r>
          </a:p>
          <a:p>
            <a:pPr algn="l">
              <a:spcAft>
                <a:spcPts val="600"/>
              </a:spcAft>
            </a:pPr>
            <a:r>
              <a:rPr sz="1600">
                <a:solidFill>
                  <a:srgbClr val="14161D"/>
                </a:solidFill>
                <a:latin typeface="Helvetica Neue Light"/>
              </a:rPr>
              <a:t>Review the three wireframe pages with stakeholders.</a:t>
            </a:r>
          </a:p>
          <a:p>
            <a:pPr algn="l">
              <a:spcAft>
                <a:spcPts val="600"/>
              </a:spcAft>
            </a:pPr>
            <a:r>
              <a:rPr sz="1600">
                <a:solidFill>
                  <a:srgbClr val="14161D"/>
                </a:solidFill>
                <a:latin typeface="Helvetica Neue Light"/>
              </a:rPr>
              <a:t>Resolve the open questions on the FigJam board.</a:t>
            </a:r>
          </a:p>
          <a:p>
            <a:pPr algn="l">
              <a:spcAft>
                <a:spcPts val="600"/>
              </a:spcAft>
            </a:pPr>
            <a:r>
              <a:rPr sz="1600">
                <a:solidFill>
                  <a:srgbClr val="14161D"/>
                </a:solidFill>
                <a:latin typeface="Helvetica Neue Light"/>
              </a:rPr>
              <a:t>Set metric targets with stakeholders.</a:t>
            </a:r>
          </a:p>
          <a:p>
            <a:pPr algn="l">
              <a:spcAft>
                <a:spcPts val="600"/>
              </a:spcAft>
            </a:pPr>
            <a:r>
              <a:rPr sz="1600">
                <a:solidFill>
                  <a:srgbClr val="14161D"/>
                </a:solidFill>
                <a:latin typeface="Helvetica Neue Light"/>
              </a:rPr>
              <a:t>Complete compliance review before the screens go further.</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PROTOTYPE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Click through the flows yourself</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TO CLICK</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Start at the Dashboard. Open Insight, then start a share trade and follow it through to the outcome.</a:t>
            </a:r>
          </a:p>
          <a:p>
            <a:pPr algn="l">
              <a:spcAft>
                <a:spcPts val="600"/>
              </a:spcAft>
            </a:pPr>
            <a:r>
              <a:rPr sz="1600">
                <a:solidFill>
                  <a:srgbClr val="14161D"/>
                </a:solidFill>
                <a:latin typeface="Helvetica Neue Light"/>
              </a:rPr>
              <a:t>Then open Adapt and set a goal. Each proposed step can be edited before approval.</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WHERE IT LIVES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Figma wireframes, pages 06, 07, and 08: states, agent flows, and the full experience.</a:t>
            </a:r>
          </a:p>
          <a:p>
            <a:pPr algn="l">
              <a:spcAft>
                <a:spcPts val="600"/>
              </a:spcAft>
            </a:pPr>
            <a:r>
              <a:rPr sz="1600">
                <a:solidFill>
                  <a:srgbClr val="14161D"/>
                </a:solidFill>
                <a:latin typeface="Helvetica Neue Light"/>
              </a:rPr>
              <a:t>Working documents: the FigJam board.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DATA</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Designed for mock data, and labelled as mock everywhere</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No live data is connected. Every value is labelled.</a:t>
            </a:r>
          </a:p>
        </p:txBody>
      </p:sp>
      <p:sp>
        <p:nvSpPr>
          <p:cNvPr id="6" name="TextBox 5"/>
          <p:cNvSpPr txBox="1"/>
          <p:nvPr/>
        </p:nvSpPr>
        <p:spPr>
          <a:xfrm>
            <a:off x="822960" y="2560320"/>
            <a:ext cx="2926079" cy="274320"/>
          </a:xfrm>
          <a:prstGeom prst="rect">
            <a:avLst/>
          </a:prstGeom>
          <a:noFill/>
        </p:spPr>
        <p:txBody>
          <a:bodyPr wrap="square" lIns="0" rIns="0" tIns="0" bIns="0">
            <a:spAutoFit/>
          </a:bodyPr>
          <a:lstStyle/>
          <a:p>
            <a:pPr algn="l"/>
            <a:r>
              <a:rPr sz="1100">
                <a:solidFill>
                  <a:srgbClr val="858A97"/>
                </a:solidFill>
                <a:latin typeface="Helvetica Neue Medium"/>
              </a:rPr>
              <a:t>DATA</a:t>
            </a:r>
          </a:p>
        </p:txBody>
      </p:sp>
      <p:sp>
        <p:nvSpPr>
          <p:cNvPr id="7" name="TextBox 6"/>
          <p:cNvSpPr txBox="1"/>
          <p:nvPr/>
        </p:nvSpPr>
        <p:spPr>
          <a:xfrm>
            <a:off x="3931920" y="2560320"/>
            <a:ext cx="4023359" cy="274320"/>
          </a:xfrm>
          <a:prstGeom prst="rect">
            <a:avLst/>
          </a:prstGeom>
          <a:noFill/>
        </p:spPr>
        <p:txBody>
          <a:bodyPr wrap="square" lIns="0" rIns="0" tIns="0" bIns="0">
            <a:spAutoFit/>
          </a:bodyPr>
          <a:lstStyle/>
          <a:p>
            <a:pPr algn="l"/>
            <a:r>
              <a:rPr sz="1100">
                <a:solidFill>
                  <a:srgbClr val="858A97"/>
                </a:solidFill>
                <a:latin typeface="Helvetica Neue Medium"/>
              </a:rPr>
              <a:t>USED FOR</a:t>
            </a:r>
          </a:p>
        </p:txBody>
      </p:sp>
      <p:sp>
        <p:nvSpPr>
          <p:cNvPr id="8" name="TextBox 7"/>
          <p:cNvSpPr txBox="1"/>
          <p:nvPr/>
        </p:nvSpPr>
        <p:spPr>
          <a:xfrm>
            <a:off x="8138159" y="2560320"/>
            <a:ext cx="4407407" cy="274320"/>
          </a:xfrm>
          <a:prstGeom prst="rect">
            <a:avLst/>
          </a:prstGeom>
          <a:noFill/>
        </p:spPr>
        <p:txBody>
          <a:bodyPr wrap="square" lIns="0" rIns="0" tIns="0" bIns="0">
            <a:spAutoFit/>
          </a:bodyPr>
          <a:lstStyle/>
          <a:p>
            <a:pPr algn="l"/>
            <a:r>
              <a:rPr sz="1100">
                <a:solidFill>
                  <a:srgbClr val="858A97"/>
                </a:solidFill>
                <a:latin typeface="Helvetica Neue Medium"/>
              </a:rPr>
              <a:t>SOURCE IN THIS PROTOTYPE</a:t>
            </a:r>
          </a:p>
        </p:txBody>
      </p:sp>
      <p:cxnSp>
        <p:nvCxnSpPr>
          <p:cNvPr id="9" name="Connector 8"/>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017520"/>
            <a:ext cx="2880360" cy="731520"/>
          </a:xfrm>
          <a:prstGeom prst="rect">
            <a:avLst/>
          </a:prstGeom>
          <a:noFill/>
        </p:spPr>
        <p:txBody>
          <a:bodyPr wrap="square" lIns="0" rIns="0" tIns="0" bIns="0">
            <a:spAutoFit/>
          </a:bodyPr>
          <a:lstStyle/>
          <a:p>
            <a:pPr algn="l"/>
            <a:r>
              <a:rPr sz="1400">
                <a:solidFill>
                  <a:srgbClr val="14161D"/>
                </a:solidFill>
                <a:latin typeface="Helvetica Neue Light"/>
              </a:rPr>
              <a:t>Quotes and holdings</a:t>
            </a:r>
          </a:p>
        </p:txBody>
      </p:sp>
      <p:sp>
        <p:nvSpPr>
          <p:cNvPr id="11" name="TextBox 10"/>
          <p:cNvSpPr txBox="1"/>
          <p:nvPr/>
        </p:nvSpPr>
        <p:spPr>
          <a:xfrm>
            <a:off x="3931920" y="3017520"/>
            <a:ext cx="3977639" cy="731520"/>
          </a:xfrm>
          <a:prstGeom prst="rect">
            <a:avLst/>
          </a:prstGeom>
          <a:noFill/>
        </p:spPr>
        <p:txBody>
          <a:bodyPr wrap="square" lIns="0" rIns="0" tIns="0" bIns="0">
            <a:spAutoFit/>
          </a:bodyPr>
          <a:lstStyle/>
          <a:p>
            <a:pPr algn="l"/>
            <a:r>
              <a:rPr sz="1400">
                <a:solidFill>
                  <a:srgbClr val="14161D"/>
                </a:solidFill>
                <a:latin typeface="Helvetica Neue Light"/>
              </a:rPr>
              <a:t>Dashboard, trade ticket</a:t>
            </a:r>
          </a:p>
        </p:txBody>
      </p:sp>
      <p:sp>
        <p:nvSpPr>
          <p:cNvPr id="12" name="TextBox 11"/>
          <p:cNvSpPr txBox="1"/>
          <p:nvPr/>
        </p:nvSpPr>
        <p:spPr>
          <a:xfrm>
            <a:off x="8138159" y="301752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service, with a 0.8-second delay</a:t>
            </a:r>
          </a:p>
        </p:txBody>
      </p:sp>
      <p:cxnSp>
        <p:nvCxnSpPr>
          <p:cNvPr id="13" name="Connector 12"/>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840480"/>
            <a:ext cx="2880360" cy="731520"/>
          </a:xfrm>
          <a:prstGeom prst="rect">
            <a:avLst/>
          </a:prstGeom>
          <a:noFill/>
        </p:spPr>
        <p:txBody>
          <a:bodyPr wrap="square" lIns="0" rIns="0" tIns="0" bIns="0">
            <a:spAutoFit/>
          </a:bodyPr>
          <a:lstStyle/>
          <a:p>
            <a:pPr algn="l"/>
            <a:r>
              <a:rPr sz="1400">
                <a:solidFill>
                  <a:srgbClr val="14161D"/>
                </a:solidFill>
                <a:latin typeface="Helvetica Neue Light"/>
              </a:rPr>
              <a:t>Insight summaries</a:t>
            </a:r>
          </a:p>
        </p:txBody>
      </p:sp>
      <p:sp>
        <p:nvSpPr>
          <p:cNvPr id="15" name="TextBox 14"/>
          <p:cNvSpPr txBox="1"/>
          <p:nvPr/>
        </p:nvSpPr>
        <p:spPr>
          <a:xfrm>
            <a:off x="3931920" y="3840480"/>
            <a:ext cx="3977639" cy="731520"/>
          </a:xfrm>
          <a:prstGeom prst="rect">
            <a:avLst/>
          </a:prstGeom>
          <a:noFill/>
        </p:spPr>
        <p:txBody>
          <a:bodyPr wrap="square" lIns="0" rIns="0" tIns="0" bIns="0">
            <a:spAutoFit/>
          </a:bodyPr>
          <a:lstStyle/>
          <a:p>
            <a:pPr algn="l"/>
            <a:r>
              <a:rPr sz="1400">
                <a:solidFill>
                  <a:srgbClr val="14161D"/>
                </a:solidFill>
                <a:latin typeface="Helvetica Neue Light"/>
              </a:rPr>
              <a:t>Sentiment and the source line</a:t>
            </a:r>
          </a:p>
        </p:txBody>
      </p:sp>
      <p:sp>
        <p:nvSpPr>
          <p:cNvPr id="16" name="TextBox 15"/>
          <p:cNvSpPr txBox="1"/>
          <p:nvPr/>
        </p:nvSpPr>
        <p:spPr>
          <a:xfrm>
            <a:off x="8138159" y="384048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content with a dated source line</a:t>
            </a:r>
          </a:p>
        </p:txBody>
      </p:sp>
      <p:cxnSp>
        <p:nvCxnSpPr>
          <p:cNvPr id="17" name="Connector 16"/>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663440"/>
            <a:ext cx="2880360" cy="731520"/>
          </a:xfrm>
          <a:prstGeom prst="rect">
            <a:avLst/>
          </a:prstGeom>
          <a:noFill/>
        </p:spPr>
        <p:txBody>
          <a:bodyPr wrap="square" lIns="0" rIns="0" tIns="0" bIns="0">
            <a:spAutoFit/>
          </a:bodyPr>
          <a:lstStyle/>
          <a:p>
            <a:pPr algn="l"/>
            <a:r>
              <a:rPr sz="1400">
                <a:solidFill>
                  <a:srgbClr val="14161D"/>
                </a:solidFill>
                <a:latin typeface="Helvetica Neue Light"/>
              </a:rPr>
              <a:t>Opportunities</a:t>
            </a:r>
          </a:p>
        </p:txBody>
      </p:sp>
      <p:sp>
        <p:nvSpPr>
          <p:cNvPr id="19" name="TextBox 18"/>
          <p:cNvSpPr txBox="1"/>
          <p:nvPr/>
        </p:nvSpPr>
        <p:spPr>
          <a:xfrm>
            <a:off x="3931920" y="4663440"/>
            <a:ext cx="3977639" cy="731520"/>
          </a:xfrm>
          <a:prstGeom prst="rect">
            <a:avLst/>
          </a:prstGeom>
          <a:noFill/>
        </p:spPr>
        <p:txBody>
          <a:bodyPr wrap="square" lIns="0" rIns="0" tIns="0" bIns="0">
            <a:spAutoFit/>
          </a:bodyPr>
          <a:lstStyle/>
          <a:p>
            <a:pPr algn="l"/>
            <a:r>
              <a:rPr sz="1400">
                <a:solidFill>
                  <a:srgbClr val="14161D"/>
                </a:solidFill>
                <a:latin typeface="Helvetica Neue Light"/>
              </a:rPr>
              <a:t>Prospect cards with upside and downside</a:t>
            </a:r>
          </a:p>
        </p:txBody>
      </p:sp>
      <p:sp>
        <p:nvSpPr>
          <p:cNvPr id="20" name="TextBox 19"/>
          <p:cNvSpPr txBox="1"/>
          <p:nvPr/>
        </p:nvSpPr>
        <p:spPr>
          <a:xfrm>
            <a:off x="8138159" y="466344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cards</a:t>
            </a:r>
          </a:p>
        </p:txBody>
      </p:sp>
      <p:cxnSp>
        <p:nvCxnSpPr>
          <p:cNvPr id="21" name="Connector 20"/>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486400"/>
            <a:ext cx="2880360" cy="731520"/>
          </a:xfrm>
          <a:prstGeom prst="rect">
            <a:avLst/>
          </a:prstGeom>
          <a:noFill/>
        </p:spPr>
        <p:txBody>
          <a:bodyPr wrap="square" lIns="0" rIns="0" tIns="0" bIns="0">
            <a:spAutoFit/>
          </a:bodyPr>
          <a:lstStyle/>
          <a:p>
            <a:pPr algn="l"/>
            <a:r>
              <a:rPr sz="1400">
                <a:solidFill>
                  <a:srgbClr val="14161D"/>
                </a:solidFill>
                <a:latin typeface="Helvetica Neue Light"/>
              </a:rPr>
              <a:t>Alerts</a:t>
            </a:r>
          </a:p>
        </p:txBody>
      </p:sp>
      <p:sp>
        <p:nvSpPr>
          <p:cNvPr id="23" name="TextBox 22"/>
          <p:cNvSpPr txBox="1"/>
          <p:nvPr/>
        </p:nvSpPr>
        <p:spPr>
          <a:xfrm>
            <a:off x="3931920" y="5486400"/>
            <a:ext cx="3977639" cy="731520"/>
          </a:xfrm>
          <a:prstGeom prst="rect">
            <a:avLst/>
          </a:prstGeom>
          <a:noFill/>
        </p:spPr>
        <p:txBody>
          <a:bodyPr wrap="square" lIns="0" rIns="0" tIns="0" bIns="0">
            <a:spAutoFit/>
          </a:bodyPr>
          <a:lstStyle/>
          <a:p>
            <a:pPr algn="l"/>
            <a:r>
              <a:rPr sz="1400">
                <a:solidFill>
                  <a:srgbClr val="14161D"/>
                </a:solidFill>
                <a:latin typeface="Helvetica Neue Light"/>
              </a:rPr>
              <a:t>Guard ranking and severity</a:t>
            </a:r>
          </a:p>
        </p:txBody>
      </p:sp>
      <p:sp>
        <p:nvSpPr>
          <p:cNvPr id="24" name="TextBox 23"/>
          <p:cNvSpPr txBox="1"/>
          <p:nvPr/>
        </p:nvSpPr>
        <p:spPr>
          <a:xfrm>
            <a:off x="8138159" y="548640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alerts</a:t>
            </a:r>
          </a:p>
        </p:txBody>
      </p:sp>
      <p:cxnSp>
        <p:nvCxnSpPr>
          <p:cNvPr id="25" name="Connector 24"/>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6309360"/>
            <a:ext cx="2880360" cy="731520"/>
          </a:xfrm>
          <a:prstGeom prst="rect">
            <a:avLst/>
          </a:prstGeom>
          <a:noFill/>
        </p:spPr>
        <p:txBody>
          <a:bodyPr wrap="square" lIns="0" rIns="0" tIns="0" bIns="0">
            <a:spAutoFit/>
          </a:bodyPr>
          <a:lstStyle/>
          <a:p>
            <a:pPr algn="l"/>
            <a:r>
              <a:rPr sz="1400">
                <a:solidFill>
                  <a:srgbClr val="14161D"/>
                </a:solidFill>
                <a:latin typeface="Helvetica Neue Light"/>
              </a:rPr>
              <a:t>Trade submission</a:t>
            </a:r>
          </a:p>
        </p:txBody>
      </p:sp>
      <p:sp>
        <p:nvSpPr>
          <p:cNvPr id="27" name="TextBox 26"/>
          <p:cNvSpPr txBox="1"/>
          <p:nvPr/>
        </p:nvSpPr>
        <p:spPr>
          <a:xfrm>
            <a:off x="3931920" y="6309360"/>
            <a:ext cx="3977639" cy="731520"/>
          </a:xfrm>
          <a:prstGeom prst="rect">
            <a:avLst/>
          </a:prstGeom>
          <a:noFill/>
        </p:spPr>
        <p:txBody>
          <a:bodyPr wrap="square" lIns="0" rIns="0" tIns="0" bIns="0">
            <a:spAutoFit/>
          </a:bodyPr>
          <a:lstStyle/>
          <a:p>
            <a:pPr algn="l"/>
            <a:r>
              <a:rPr sz="1400">
                <a:solidFill>
                  <a:srgbClr val="14161D"/>
                </a:solidFill>
                <a:latin typeface="Helvetica Neue Light"/>
              </a:rPr>
              <a:t>Outcome screen</a:t>
            </a:r>
          </a:p>
        </p:txBody>
      </p:sp>
      <p:sp>
        <p:nvSpPr>
          <p:cNvPr id="28" name="TextBox 27"/>
          <p:cNvSpPr txBox="1"/>
          <p:nvPr/>
        </p:nvSpPr>
        <p:spPr>
          <a:xfrm>
            <a:off x="8138159" y="630936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order result</a:t>
            </a:r>
          </a:p>
        </p:txBody>
      </p:sp>
      <p:cxnSp>
        <p:nvCxnSpPr>
          <p:cNvPr id="29" name="Connector 28"/>
          <p:cNvCxnSpPr/>
          <p:nvPr/>
        </p:nvCxnSpPr>
        <p:spPr>
          <a:xfrm>
            <a:off x="822960" y="7022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Every state designed before the screens</a:t>
            </a:r>
          </a:p>
        </p:txBody>
      </p:sp>
      <p:pic>
        <p:nvPicPr>
          <p:cNvPr id="5" name="Picture 4" descr="states_wires.png"/>
          <p:cNvPicPr>
            <a:picLocks noChangeAspect="1"/>
          </p:cNvPicPr>
          <p:nvPr/>
        </p:nvPicPr>
        <p:blipFill>
          <a:blip r:embed="rId3"/>
          <a:stretch>
            <a:fillRect/>
          </a:stretch>
        </p:blipFill>
        <p:spPr>
          <a:xfrm>
            <a:off x="822960" y="2103120"/>
            <a:ext cx="2190216"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Mock data shows only the happy path. A user who meets an empty or failed screen with no guidance stops trusting the app.</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screen designs five states before the build: empty, loading, error, offline, and the reviewed path. This is design-system rule 10.</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set the states as the review standard, and reviewers judged the hard cases, not only the happy path.</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drawn as bounded steps</a:t>
            </a:r>
          </a:p>
        </p:txBody>
      </p:sp>
      <p:pic>
        <p:nvPicPr>
          <p:cNvPr id="5" name="Picture 4" descr="agent_wires.png"/>
          <p:cNvPicPr>
            <a:picLocks noChangeAspect="1"/>
          </p:cNvPicPr>
          <p:nvPr/>
        </p:nvPicPr>
        <p:blipFill>
          <a:blip r:embed="rId3"/>
          <a:stretch>
            <a:fillRect/>
          </a:stretch>
        </p:blipFill>
        <p:spPr>
          <a:xfrm>
            <a:off x="822960" y="2103120"/>
            <a:ext cx="5486400" cy="555158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All or nothing (breakdown 2). An agent that acts whole or not at all forces the user to trust it blindly or reject it.</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shows a goal, a plan preview, and step review. Each step is a proposed step with its source and its undo. Nothing runs without approval. This is the Plan Editor concept, drawn.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drew the AI rules onto the screens before the prototype, so reviewers tested the rules in place, not in a document.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whole experience, end to end</a:t>
            </a:r>
          </a:p>
        </p:txBody>
      </p:sp>
      <p:pic>
        <p:nvPicPr>
          <p:cNvPr id="5" name="Picture 4" descr="full_experience_wires.png"/>
          <p:cNvPicPr>
            <a:picLocks noChangeAspect="1"/>
          </p:cNvPicPr>
          <p:nvPr/>
        </p:nvPicPr>
        <p:blipFill>
          <a:blip r:embed="rId3"/>
          <a:stretch>
            <a:fillRect/>
          </a:stretch>
        </p:blipFill>
        <p:spPr>
          <a:xfrm>
            <a:off x="822960" y="2103120"/>
            <a:ext cx="1651337"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Context lost between screens (breakdown 5). Approval, undo, and the learning loop each sit on a different screen, so no one sees the whole decision.</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One set of frames: entry, the five tabs, Adapt, the trade flow, the learning loop, and the states. Each trade-off is visible where the decision is made.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designed the whole experience, not separate screens, and checked that the parts agree. Reviewers see one story.</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FigJam board as the working record</a:t>
            </a:r>
          </a:p>
        </p:txBody>
      </p:sp>
      <p:pic>
        <p:nvPicPr>
          <p:cNvPr id="5" name="Picture 4" descr="experience_section_figjam.png"/>
          <p:cNvPicPr>
            <a:picLocks noChangeAspect="1"/>
          </p:cNvPicPr>
          <p:nvPr/>
        </p:nvPicPr>
        <p:blipFill>
          <a:blip r:embed="rId3"/>
          <a:stretch>
            <a:fillRect/>
          </a:stretch>
        </p:blipFill>
        <p:spPr>
          <a:xfrm>
            <a:off x="822960" y="2103120"/>
            <a:ext cx="5486400" cy="270757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No learning loop (breakdown 3). Decisions and their reasons disappear into chat and slides, so the agent cannot learn from them.</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Decisions, reasons, and open questions live on one board, each linked to the breakdown it answers. This is the record the Decision Journal concept builds on.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ran the design in the open, so the team could challenge each call and its trade-off. The record shows who decided what.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Personas, drafted to be validated</a:t>
            </a:r>
          </a:p>
        </p:txBody>
      </p:sp>
      <p:pic>
        <p:nvPicPr>
          <p:cNvPr id="5" name="Picture 4" descr="figjam_personas.png"/>
          <p:cNvPicPr>
            <a:picLocks noChangeAspect="1"/>
          </p:cNvPicPr>
          <p:nvPr/>
        </p:nvPicPr>
        <p:blipFill>
          <a:blip r:embed="rId3"/>
          <a:stretch>
            <a:fillRect/>
          </a:stretch>
        </p:blipFill>
        <p:spPr>
          <a:xfrm>
            <a:off x="822960" y="2103120"/>
            <a:ext cx="5486400" cy="485546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Flows built for users nobody has met. Without evidence, the team designs for its own assumptions.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Three draft personas, each labelled untested, with the features they use. They decide which flows get designed first, and stay hypotheses until five to eight interviews confirm them.</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separated what we know from what we assume, and labelled each one, so the next decision rests on evidence, not confidence.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experience, reasoned on the board</a:t>
            </a:r>
          </a:p>
        </p:txBody>
      </p:sp>
      <p:pic>
        <p:nvPicPr>
          <p:cNvPr id="5" name="Picture 4" descr="figjam_agent.png"/>
          <p:cNvPicPr>
            <a:picLocks noChangeAspect="1"/>
          </p:cNvPicPr>
          <p:nvPr/>
        </p:nvPicPr>
        <p:blipFill>
          <a:blip r:embed="rId3"/>
          <a:stretch>
            <a:fillRect/>
          </a:stretch>
        </p:blipFill>
        <p:spPr>
          <a:xfrm>
            <a:off x="822960" y="2103120"/>
            <a:ext cx="4685590"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Advice in conflict (breakdown 4). Agent wording drifts toward buy and sell, and the advice line breaks. Trade wording belongs in compliance review.</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breakdowns and the concepts sit together. Each concept is traced to the breakdown it answers, and states which side it takes on autonomy against trust.</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design answers a stated problem, so a reviewer can check the reasoning, not only the screen.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MORE WORK</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More work, </a:t>
            </a:r>
            <a:r>
              <a:rPr lang="en-US" sz="4400" spc="-40" dirty="0">
                <a:solidFill>
                  <a:srgbClr val="B5531F"/>
                </a:solidFill>
                <a:latin typeface="Helvetica Neue Medium"/>
                <a:cs typeface="Helvetica Neue Medium"/>
              </a:rPr>
              <a:t>on request</a:t>
            </a:r>
            <a:r>
              <a:rPr lang="en-US" sz="4400" spc="-40" dirty="0">
                <a:solidFill>
                  <a:srgbClr val="14161D"/>
                </a:solidFill>
                <a:latin typeface="Helvetica Neue Medium"/>
                <a:cs typeface="Helvetica Neue Medium"/>
              </a:rPr>
              <a:t>.</a:t>
            </a:r>
          </a:p>
        </p:txBody>
      </p:sp>
      <p:sp>
        <p:nvSpPr>
          <p:cNvPr id="103" name="Column label"/>
          <p:cNvSpPr txBox="1"/>
          <p:nvPr/>
        </p:nvSpPr>
        <p:spPr>
          <a:xfrm>
            <a:off x="822960" y="3566160"/>
            <a:ext cx="3657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PROJECT</a:t>
            </a:r>
          </a:p>
        </p:txBody>
      </p:sp>
      <p:sp>
        <p:nvSpPr>
          <p:cNvPr id="104" name="Column label"/>
          <p:cNvSpPr txBox="1"/>
          <p:nvPr/>
        </p:nvSpPr>
        <p:spPr>
          <a:xfrm>
            <a:off x="4754880" y="3566160"/>
            <a:ext cx="7426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IS</a:t>
            </a:r>
          </a:p>
        </p:txBody>
      </p:sp>
      <p:cxnSp>
        <p:nvCxnSpPr>
          <p:cNvPr id="105" name="Divider"/>
          <p:cNvCxnSpPr/>
          <p:nvPr/>
        </p:nvCxnSpPr>
        <p:spPr>
          <a:xfrm>
            <a:off x="822960" y="3950208"/>
            <a:ext cx="11358880" cy="0"/>
          </a:xfrm>
          <a:prstGeom prst="line">
            <a:avLst/>
          </a:prstGeom>
          <a:ln w="9525">
            <a:solidFill>
              <a:srgbClr val="E1E3E8"/>
            </a:solidFill>
          </a:ln>
        </p:spPr>
      </p:cxnSp>
      <p:sp>
        <p:nvSpPr>
          <p:cNvPr id="106" name="Cell 1.1"/>
          <p:cNvSpPr txBox="1"/>
          <p:nvPr/>
        </p:nvSpPr>
        <p:spPr>
          <a:xfrm>
            <a:off x="822960" y="40965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Wells Fargo mySMALLBUSINESS</a:t>
            </a:r>
          </a:p>
        </p:txBody>
      </p:sp>
      <p:sp>
        <p:nvSpPr>
          <p:cNvPr id="107" name="Cell 1.2"/>
          <p:cNvSpPr txBox="1"/>
          <p:nvPr/>
        </p:nvSpPr>
        <p:spPr>
          <a:xfrm>
            <a:off x="4754880" y="40965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B2B mobile app that helps small business owners track spending and plan</a:t>
            </a:r>
          </a:p>
        </p:txBody>
      </p:sp>
      <p:cxnSp>
        <p:nvCxnSpPr>
          <p:cNvPr id="108" name="Divider"/>
          <p:cNvCxnSpPr/>
          <p:nvPr/>
        </p:nvCxnSpPr>
        <p:spPr>
          <a:xfrm>
            <a:off x="822960" y="4864608"/>
            <a:ext cx="11358880" cy="0"/>
          </a:xfrm>
          <a:prstGeom prst="line">
            <a:avLst/>
          </a:prstGeom>
          <a:ln w="9525">
            <a:solidFill>
              <a:srgbClr val="E1E3E8"/>
            </a:solidFill>
          </a:ln>
        </p:spPr>
      </p:cxnSp>
      <p:sp>
        <p:nvSpPr>
          <p:cNvPr id="109" name="Cell 2.1"/>
          <p:cNvSpPr txBox="1"/>
          <p:nvPr/>
        </p:nvSpPr>
        <p:spPr>
          <a:xfrm>
            <a:off x="822960" y="50109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Meridian Navigator</a:t>
            </a:r>
          </a:p>
        </p:txBody>
      </p:sp>
      <p:sp>
        <p:nvSpPr>
          <p:cNvPr id="110" name="Cell 2.2"/>
          <p:cNvSpPr txBox="1"/>
          <p:nvPr/>
        </p:nvSpPr>
        <p:spPr>
          <a:xfrm>
            <a:off x="4754880" y="50109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An AI trading prototype built in SwiftUI, with a design system shared with Figma</a:t>
            </a:r>
          </a:p>
        </p:txBody>
      </p:sp>
      <p:cxnSp>
        <p:nvCxnSpPr>
          <p:cNvPr id="111" name="Divider"/>
          <p:cNvCxnSpPr/>
          <p:nvPr/>
        </p:nvCxnSpPr>
        <p:spPr>
          <a:xfrm>
            <a:off x="822960" y="5779008"/>
            <a:ext cx="11358880" cy="0"/>
          </a:xfrm>
          <a:prstGeom prst="line">
            <a:avLst/>
          </a:prstGeom>
          <a:ln w="9525">
            <a:solidFill>
              <a:srgbClr val="E1E3E8"/>
            </a:solidFill>
          </a:ln>
        </p:spPr>
      </p:cxnSp>
      <p:sp>
        <p:nvSpPr>
          <p:cNvPr id="112" name="Cell 3.1"/>
          <p:cNvSpPr txBox="1"/>
          <p:nvPr/>
        </p:nvSpPr>
        <p:spPr>
          <a:xfrm>
            <a:off x="822960" y="59253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Show It</a:t>
            </a:r>
          </a:p>
        </p:txBody>
      </p:sp>
      <p:sp>
        <p:nvSpPr>
          <p:cNvPr id="113" name="Cell 3.2"/>
          <p:cNvSpPr txBox="1"/>
          <p:nvPr/>
        </p:nvSpPr>
        <p:spPr>
          <a:xfrm>
            <a:off x="4754880" y="59253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live prototype of FinViz’s hero mechanic, with an eval that scores the AI</a:t>
            </a:r>
          </a:p>
        </p:txBody>
      </p:sp>
      <p:cxnSp>
        <p:nvCxnSpPr>
          <p:cNvPr id="114" name="Divider"/>
          <p:cNvCxnSpPr/>
          <p:nvPr/>
        </p:nvCxnSpPr>
        <p:spPr>
          <a:xfrm>
            <a:off x="822960" y="6693408"/>
            <a:ext cx="11358880" cy="0"/>
          </a:xfrm>
          <a:prstGeom prst="line">
            <a:avLst/>
          </a:prstGeom>
          <a:ln w="9525">
            <a:solidFill>
              <a:srgbClr val="E1E3E8"/>
            </a:solidFill>
          </a:ln>
        </p:spPr>
      </p:cxnSp>
      <p:sp>
        <p:nvSpPr>
          <p:cNvPr id="115"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Full archived case studies at michaeljthibodeau.com</a:t>
            </a:r>
          </a:p>
        </p:txBody>
      </p:sp>
      <p:pic>
        <p:nvPicPr>
          <p:cNvPr id="11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CONTACT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5000" spc="-40" dirty="0">
                <a:solidFill>
                  <a:srgbClr val="F5F5F7"/>
                </a:solidFill>
                <a:latin typeface="Helvetica Neue Medium"/>
                <a:cs typeface="Helvetica Neue Medium"/>
              </a:rPr>
              <a:t>Let’s talk about </a:t>
            </a:r>
            <a:r>
              <a:rPr lang="en-US" sz="5000" spc="-40" dirty="0">
                <a:solidFill>
                  <a:srgbClr val="E98C64"/>
                </a:solidFill>
                <a:latin typeface="Helvetica Neue Medium"/>
                <a:cs typeface="Helvetica Neue Medium"/>
              </a:rPr>
              <a:t>your next product</a:t>
            </a:r>
            <a:r>
              <a:rPr lang="en-US" sz="5000" spc="-40" dirty="0">
                <a:solidFill>
                  <a:srgbClr val="F5F5F7"/>
                </a:solidFill>
                <a:latin typeface="Helvetica Neue Medium"/>
                <a:cs typeface="Helvetica Neue Medium"/>
              </a:rPr>
              <a:t>.</a:t>
            </a:r>
          </a:p>
        </p:txBody>
      </p:sp>
      <p:cxnSp>
        <p:nvCxnSpPr>
          <p:cNvPr id="103" name="Divider"/>
          <p:cNvCxnSpPr/>
          <p:nvPr/>
        </p:nvCxnSpPr>
        <p:spPr>
          <a:xfrm>
            <a:off x="822960" y="4572000"/>
            <a:ext cx="11358880" cy="0"/>
          </a:xfrm>
          <a:prstGeom prst="line">
            <a:avLst/>
          </a:prstGeom>
          <a:ln w="9525">
            <a:solidFill>
              <a:srgbClr val="2C2F38"/>
            </a:solidFill>
          </a:ln>
        </p:spPr>
      </p:cxnSp>
      <p:sp>
        <p:nvSpPr>
          <p:cNvPr id="104" name="Name"/>
          <p:cNvSpPr txBox="1"/>
          <p:nvPr/>
        </p:nvSpPr>
        <p:spPr>
          <a:xfrm>
            <a:off x="822960" y="4846320"/>
            <a:ext cx="11358880" cy="548640"/>
          </a:xfrm>
          <a:prstGeom prst="rect">
            <a:avLst/>
          </a:prstGeom>
          <a:noFill/>
        </p:spPr>
        <p:txBody>
          <a:bodyPr wrap="square" lIns="0" tIns="0" rIns="0" bIns="0" anchor="t">
            <a:noAutofit/>
          </a:bodyPr>
          <a:lstStyle/>
          <a:p>
            <a:pPr algn="l">
              <a:lnSpc>
                <a:spcPct val="115000"/>
              </a:lnSpc>
              <a:spcAft>
                <a:spcPts val="300"/>
              </a:spcAft>
            </a:pPr>
            <a:r>
              <a:rPr lang="en-US" sz="2400" spc="0" dirty="0">
                <a:solidFill>
                  <a:srgbClr val="A3A8B4"/>
                </a:solidFill>
                <a:latin typeface="Helvetica Neue Light"/>
                <a:cs typeface="Helvetica Neue Light"/>
              </a:rPr>
              <a:t>michael</a:t>
            </a:r>
            <a:r>
              <a:rPr lang="en-US" sz="2800" spc="0" dirty="0">
                <a:solidFill>
                  <a:srgbClr val="F5F5F7"/>
                </a:solidFill>
                <a:latin typeface="Helvetica Neue Medium"/>
                <a:cs typeface="Helvetica Neue Medium"/>
              </a:rPr>
              <a:t>thibodea(UX)</a:t>
            </a:r>
          </a:p>
        </p:txBody>
      </p:sp>
      <p:sp>
        <p:nvSpPr>
          <p:cNvPr id="105" name="Details"/>
          <p:cNvSpPr txBox="1"/>
          <p:nvPr/>
        </p:nvSpPr>
        <p:spPr>
          <a:xfrm>
            <a:off x="822960" y="5669280"/>
            <a:ext cx="11358880" cy="146304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F5F5F7"/>
                </a:solidFill>
                <a:latin typeface="Helvetica Neue Light"/>
                <a:cs typeface="Helvetica Neue Light"/>
              </a:rPr>
              <a:t>michaelthbd@yahoo.com</a:t>
            </a:r>
          </a:p>
          <a:p>
            <a:pPr algn="l">
              <a:lnSpc>
                <a:spcPct val="125000"/>
              </a:lnSpc>
              <a:spcAft>
                <a:spcPts val="300"/>
              </a:spcAft>
            </a:pPr>
            <a:r>
              <a:rPr lang="en-US" sz="1550" spc="0" dirty="0">
                <a:solidFill>
                  <a:srgbClr val="F5F5F7"/>
                </a:solidFill>
                <a:latin typeface="Helvetica Neue Light"/>
                <a:cs typeface="Helvetica Neue Light"/>
              </a:rPr>
              <a:t>646 436 2876</a:t>
            </a:r>
          </a:p>
          <a:p>
            <a:pPr algn="l">
              <a:lnSpc>
                <a:spcPct val="125000"/>
              </a:lnSpc>
              <a:spcAft>
                <a:spcPts val="300"/>
              </a:spcAft>
            </a:pPr>
            <a:r>
              <a:rPr lang="en-US" sz="1550" spc="0" dirty="0">
                <a:solidFill>
                  <a:srgbClr val="A3A8B4"/>
                </a:solidFill>
                <a:latin typeface="Helvetica Neue Light"/>
                <a:cs typeface="Helvetica Neue Light"/>
              </a:rPr>
              <a:t>michaeljthibodeau.com</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8" name="Picture 7" descr="image.png"/>
          <p:cNvPicPr>
            <a:picLocks noChangeAspect="1"/>
          </p:cNvPicPr>
          <p:nvPr/>
        </p:nvPicPr>
        <p:blipFill>
          <a:blip r:embed="rId3"/>
          <a:stretch>
            <a:fillRect/>
          </a:stretch>
        </p:blipFill>
        <p:spPr>
          <a:xfrm>
            <a:off x="7201957" y="2122784"/>
            <a:ext cx="5652787" cy="5193499"/>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Picture 6"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2"/>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The whole trading day, in 19 screens</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One trade, Monday evening to Sunday. Every screen is designed in hi-fi and linked as a clickable prototype.</a:t>
            </a:r>
          </a:p>
        </p:txBody>
      </p:sp>
      <p:pic>
        <p:nvPicPr>
          <p:cNvPr id="6" name="Picture 5" descr="image.png"/>
          <p:cNvPicPr>
            <a:picLocks noChangeAspect="1"/>
          </p:cNvPicPr>
          <p:nvPr/>
        </p:nvPicPr>
        <p:blipFill>
          <a:blip r:embed="rId3"/>
          <a:srcRect b="10598"/>
          <a:stretch>
            <a:fillRect/>
          </a:stretch>
        </p:blipFill>
        <p:spPr>
          <a:xfrm>
            <a:off x="457200" y="2103120"/>
            <a:ext cx="2282342" cy="1170432"/>
          </a:xfrm>
          <a:prstGeom prst="rect">
            <a:avLst/>
          </a:prstGeom>
        </p:spPr>
      </p:pic>
      <p:sp>
        <p:nvSpPr>
          <p:cNvPr id="502" name="Caption 1"/>
          <p:cNvSpPr txBox="1"/>
          <p:nvPr/>
        </p:nvSpPr>
        <p:spPr>
          <a:xfrm>
            <a:off x="457200"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01  </a:t>
            </a:r>
            <a:r>
              <a:rPr lang="en-US" sz="1050" dirty="0">
                <a:solidFill>
                  <a:srgbClr val="1F1F1F"/>
                </a:solidFill>
                <a:latin typeface="Helvetica Neue"/>
                <a:cs typeface="Helvetica Neue"/>
              </a:rPr>
              <a:t xml:space="preserve">Show It</a:t>
            </a:r>
          </a:p>
          <a:p>
            <a:pPr>
              <a:lnSpc>
                <a:spcPct val="105000"/>
              </a:lnSpc>
            </a:pPr>
            <a:r>
              <a:rPr lang="en-US" sz="950" dirty="0">
                <a:solidFill>
                  <a:srgbClr val="595959"/>
                </a:solidFill>
                <a:latin typeface="Helvetica Neue Light"/>
                <a:cs typeface="Helvetica Neue Light"/>
              </a:rPr>
              <a:t xml:space="preserve">Mon 8:05 PM</a:t>
            </a:r>
          </a:p>
        </p:txBody>
      </p:sp>
      <p:pic>
        <p:nvPicPr>
          <p:cNvPr id="503" name="Picture 502" descr="image.png"/>
          <p:cNvPicPr>
            <a:picLocks noChangeAspect="1"/>
          </p:cNvPicPr>
          <p:nvPr/>
        </p:nvPicPr>
        <p:blipFill>
          <a:blip r:embed="rId4"/>
          <a:stretch>
            <a:fillRect/>
          </a:stretch>
        </p:blipFill>
        <p:spPr>
          <a:xfrm>
            <a:off x="2904134" y="2103120"/>
            <a:ext cx="2282342" cy="1170432"/>
          </a:xfrm>
          <a:prstGeom prst="rect">
            <a:avLst/>
          </a:prstGeom>
        </p:spPr>
      </p:pic>
      <p:sp>
        <p:nvSpPr>
          <p:cNvPr id="504" name="Caption 2"/>
          <p:cNvSpPr txBox="1"/>
          <p:nvPr/>
        </p:nvSpPr>
        <p:spPr>
          <a:xfrm>
            <a:off x="2904134"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02  </a:t>
            </a:r>
            <a:r>
              <a:rPr lang="en-US" sz="1050" dirty="0">
                <a:solidFill>
                  <a:srgbClr val="1F1F1F"/>
                </a:solidFill>
                <a:latin typeface="Helvetica Neue"/>
                <a:cs typeface="Helvetica Neue"/>
              </a:rPr>
              <a:t xml:space="preserve">Since last night</a:t>
            </a:r>
          </a:p>
          <a:p>
            <a:pPr>
              <a:lnSpc>
                <a:spcPct val="105000"/>
              </a:lnSpc>
            </a:pPr>
            <a:r>
              <a:rPr lang="en-US" sz="950" dirty="0">
                <a:solidFill>
                  <a:srgbClr val="595959"/>
                </a:solidFill>
                <a:latin typeface="Helvetica Neue Light"/>
                <a:cs typeface="Helvetica Neue Light"/>
              </a:rPr>
              <a:t xml:space="preserve">Mon 8:10 PM</a:t>
            </a:r>
          </a:p>
        </p:txBody>
      </p:sp>
      <p:pic>
        <p:nvPicPr>
          <p:cNvPr id="505" name="Picture 504" descr="image.png"/>
          <p:cNvPicPr>
            <a:picLocks noChangeAspect="1"/>
          </p:cNvPicPr>
          <p:nvPr/>
        </p:nvPicPr>
        <p:blipFill>
          <a:blip r:embed="rId5"/>
          <a:srcRect b="13020"/>
          <a:stretch>
            <a:fillRect/>
          </a:stretch>
        </p:blipFill>
        <p:spPr>
          <a:xfrm>
            <a:off x="5351068" y="2103120"/>
            <a:ext cx="2282342" cy="1170432"/>
          </a:xfrm>
          <a:prstGeom prst="rect">
            <a:avLst/>
          </a:prstGeom>
        </p:spPr>
      </p:pic>
      <p:sp>
        <p:nvSpPr>
          <p:cNvPr id="506" name="Caption 3"/>
          <p:cNvSpPr txBox="1"/>
          <p:nvPr/>
        </p:nvSpPr>
        <p:spPr>
          <a:xfrm>
            <a:off x="5351068"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03  </a:t>
            </a:r>
            <a:r>
              <a:rPr lang="en-US" sz="1050" dirty="0">
                <a:solidFill>
                  <a:srgbClr val="1F1F1F"/>
                </a:solidFill>
                <a:latin typeface="Helvetica Neue"/>
                <a:cs typeface="Helvetica Neue"/>
              </a:rPr>
              <a:t xml:space="preserve">Lens grid</a:t>
            </a:r>
          </a:p>
          <a:p>
            <a:pPr>
              <a:lnSpc>
                <a:spcPct val="105000"/>
              </a:lnSpc>
            </a:pPr>
            <a:r>
              <a:rPr lang="en-US" sz="950" dirty="0">
                <a:solidFill>
                  <a:srgbClr val="595959"/>
                </a:solidFill>
                <a:latin typeface="Helvetica Neue Light"/>
                <a:cs typeface="Helvetica Neue Light"/>
              </a:rPr>
              <a:t xml:space="preserve">Mon 8:20 PM</a:t>
            </a:r>
          </a:p>
        </p:txBody>
      </p:sp>
      <p:pic>
        <p:nvPicPr>
          <p:cNvPr id="507" name="Picture 506" descr="image.png"/>
          <p:cNvPicPr>
            <a:picLocks noChangeAspect="1"/>
          </p:cNvPicPr>
          <p:nvPr/>
        </p:nvPicPr>
        <p:blipFill>
          <a:blip r:embed="rId6"/>
          <a:srcRect b="14629"/>
          <a:stretch>
            <a:fillRect/>
          </a:stretch>
        </p:blipFill>
        <p:spPr>
          <a:xfrm>
            <a:off x="7798003" y="2103120"/>
            <a:ext cx="2282342" cy="1170432"/>
          </a:xfrm>
          <a:prstGeom prst="rect">
            <a:avLst/>
          </a:prstGeom>
        </p:spPr>
      </p:pic>
      <p:sp>
        <p:nvSpPr>
          <p:cNvPr id="508" name="Caption 4"/>
          <p:cNvSpPr txBox="1"/>
          <p:nvPr/>
        </p:nvSpPr>
        <p:spPr>
          <a:xfrm>
            <a:off x="7798003"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04  </a:t>
            </a:r>
            <a:r>
              <a:rPr lang="en-US" sz="1050" dirty="0">
                <a:solidFill>
                  <a:srgbClr val="1F1F1F"/>
                </a:solidFill>
                <a:latin typeface="Helvetica Neue"/>
                <a:cs typeface="Helvetica Neue"/>
              </a:rPr>
              <a:t xml:space="preserve">Linked compare</a:t>
            </a:r>
          </a:p>
          <a:p>
            <a:pPr>
              <a:lnSpc>
                <a:spcPct val="105000"/>
              </a:lnSpc>
            </a:pPr>
            <a:r>
              <a:rPr lang="en-US" sz="950" dirty="0">
                <a:solidFill>
                  <a:srgbClr val="595959"/>
                </a:solidFill>
                <a:latin typeface="Helvetica Neue Light"/>
                <a:cs typeface="Helvetica Neue Light"/>
              </a:rPr>
              <a:t xml:space="preserve">Mon 8:26 PM</a:t>
            </a:r>
          </a:p>
        </p:txBody>
      </p:sp>
      <p:pic>
        <p:nvPicPr>
          <p:cNvPr id="509" name="Picture 508" descr="image.png"/>
          <p:cNvPicPr>
            <a:picLocks noChangeAspect="1"/>
          </p:cNvPicPr>
          <p:nvPr/>
        </p:nvPicPr>
        <p:blipFill>
          <a:blip r:embed="rId7"/>
          <a:srcRect b="16558"/>
          <a:stretch>
            <a:fillRect/>
          </a:stretch>
        </p:blipFill>
        <p:spPr>
          <a:xfrm>
            <a:off x="10244937" y="2103120"/>
            <a:ext cx="2282342" cy="1170432"/>
          </a:xfrm>
          <a:prstGeom prst="rect">
            <a:avLst/>
          </a:prstGeom>
        </p:spPr>
      </p:pic>
      <p:sp>
        <p:nvSpPr>
          <p:cNvPr id="510" name="Caption 5"/>
          <p:cNvSpPr txBox="1"/>
          <p:nvPr/>
        </p:nvSpPr>
        <p:spPr>
          <a:xfrm>
            <a:off x="10244937"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05  </a:t>
            </a:r>
            <a:r>
              <a:rPr lang="en-US" sz="1050" dirty="0">
                <a:solidFill>
                  <a:srgbClr val="1F1F1F"/>
                </a:solidFill>
                <a:latin typeface="Helvetica Neue"/>
                <a:cs typeface="Helvetica Neue"/>
              </a:rPr>
              <a:t xml:space="preserve">Reasons ledger</a:t>
            </a:r>
          </a:p>
          <a:p>
            <a:pPr>
              <a:lnSpc>
                <a:spcPct val="105000"/>
              </a:lnSpc>
            </a:pPr>
            <a:r>
              <a:rPr lang="en-US" sz="950" dirty="0">
                <a:solidFill>
                  <a:srgbClr val="595959"/>
                </a:solidFill>
                <a:latin typeface="Helvetica Neue Light"/>
                <a:cs typeface="Helvetica Neue Light"/>
              </a:rPr>
              <a:t xml:space="preserve">Mon 8:32 PM</a:t>
            </a:r>
          </a:p>
        </p:txBody>
      </p:sp>
      <p:pic>
        <p:nvPicPr>
          <p:cNvPr id="511" name="Picture 510" descr="image.png"/>
          <p:cNvPicPr>
            <a:picLocks noChangeAspect="1"/>
          </p:cNvPicPr>
          <p:nvPr/>
        </p:nvPicPr>
        <p:blipFill>
          <a:blip r:embed="rId8"/>
          <a:srcRect b="12088"/>
          <a:stretch>
            <a:fillRect/>
          </a:stretch>
        </p:blipFill>
        <p:spPr>
          <a:xfrm>
            <a:off x="457200" y="3776472"/>
            <a:ext cx="2282342" cy="1170432"/>
          </a:xfrm>
          <a:prstGeom prst="rect">
            <a:avLst/>
          </a:prstGeom>
        </p:spPr>
      </p:pic>
      <p:sp>
        <p:nvSpPr>
          <p:cNvPr id="512" name="Caption 6"/>
          <p:cNvSpPr txBox="1"/>
          <p:nvPr/>
        </p:nvSpPr>
        <p:spPr>
          <a:xfrm>
            <a:off x="457200"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06  </a:t>
            </a:r>
            <a:r>
              <a:rPr lang="en-US" sz="1050" dirty="0">
                <a:solidFill>
                  <a:srgbClr val="1F1F1F"/>
                </a:solidFill>
                <a:latin typeface="Helvetica Neue"/>
                <a:cs typeface="Helvetica Neue"/>
              </a:rPr>
              <a:t xml:space="preserve">Watch these for me</a:t>
            </a:r>
          </a:p>
          <a:p>
            <a:pPr>
              <a:lnSpc>
                <a:spcPct val="105000"/>
              </a:lnSpc>
            </a:pPr>
            <a:r>
              <a:rPr lang="en-US" sz="950" dirty="0">
                <a:solidFill>
                  <a:srgbClr val="595959"/>
                </a:solidFill>
                <a:latin typeface="Helvetica Neue Light"/>
                <a:cs typeface="Helvetica Neue Light"/>
              </a:rPr>
              <a:t xml:space="preserve">Mon 8:40 PM</a:t>
            </a:r>
          </a:p>
        </p:txBody>
      </p:sp>
      <p:pic>
        <p:nvPicPr>
          <p:cNvPr id="513" name="Picture 512" descr="image.png"/>
          <p:cNvPicPr>
            <a:picLocks noChangeAspect="1"/>
          </p:cNvPicPr>
          <p:nvPr/>
        </p:nvPicPr>
        <p:blipFill>
          <a:blip r:embed="rId9"/>
          <a:srcRect b="25932"/>
          <a:stretch>
            <a:fillRect/>
          </a:stretch>
        </p:blipFill>
        <p:spPr>
          <a:xfrm>
            <a:off x="2904134" y="3776472"/>
            <a:ext cx="2282342" cy="1170432"/>
          </a:xfrm>
          <a:prstGeom prst="rect">
            <a:avLst/>
          </a:prstGeom>
        </p:spPr>
      </p:pic>
      <p:sp>
        <p:nvSpPr>
          <p:cNvPr id="514" name="Caption 7"/>
          <p:cNvSpPr txBox="1"/>
          <p:nvPr/>
        </p:nvSpPr>
        <p:spPr>
          <a:xfrm>
            <a:off x="2904134"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07  </a:t>
            </a:r>
            <a:r>
              <a:rPr lang="en-US" sz="1050" dirty="0">
                <a:solidFill>
                  <a:srgbClr val="1F1F1F"/>
                </a:solidFill>
                <a:latin typeface="Helvetica Neue"/>
                <a:cs typeface="Helvetica Neue"/>
              </a:rPr>
              <a:t xml:space="preserve">Morning glance</a:t>
            </a:r>
          </a:p>
          <a:p>
            <a:pPr>
              <a:lnSpc>
                <a:spcPct val="105000"/>
              </a:lnSpc>
            </a:pPr>
            <a:r>
              <a:rPr lang="en-US" sz="950" dirty="0">
                <a:solidFill>
                  <a:srgbClr val="595959"/>
                </a:solidFill>
                <a:latin typeface="Helvetica Neue Light"/>
                <a:cs typeface="Helvetica Neue Light"/>
              </a:rPr>
              <a:t xml:space="preserve">Tue 7:30 AM</a:t>
            </a:r>
          </a:p>
        </p:txBody>
      </p:sp>
      <p:pic>
        <p:nvPicPr>
          <p:cNvPr id="515" name="Picture 514" descr="image.png"/>
          <p:cNvPicPr>
            <a:picLocks noChangeAspect="1"/>
          </p:cNvPicPr>
          <p:nvPr/>
        </p:nvPicPr>
        <p:blipFill>
          <a:blip r:embed="rId10"/>
          <a:srcRect b="16369"/>
          <a:stretch>
            <a:fillRect/>
          </a:stretch>
        </p:blipFill>
        <p:spPr>
          <a:xfrm>
            <a:off x="5351068" y="3776472"/>
            <a:ext cx="2282342" cy="1170432"/>
          </a:xfrm>
          <a:prstGeom prst="rect">
            <a:avLst/>
          </a:prstGeom>
        </p:spPr>
      </p:pic>
      <p:sp>
        <p:nvSpPr>
          <p:cNvPr id="516" name="Caption 8"/>
          <p:cNvSpPr txBox="1"/>
          <p:nvPr/>
        </p:nvSpPr>
        <p:spPr>
          <a:xfrm>
            <a:off x="5351068"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08  </a:t>
            </a:r>
            <a:r>
              <a:rPr lang="en-US" sz="1050" dirty="0">
                <a:solidFill>
                  <a:srgbClr val="1F1F1F"/>
                </a:solidFill>
                <a:latin typeface="Helvetica Neue"/>
                <a:cs typeface="Helvetica Neue"/>
              </a:rPr>
              <a:t xml:space="preserve">Why marked</a:t>
            </a:r>
          </a:p>
          <a:p>
            <a:pPr>
              <a:lnSpc>
                <a:spcPct val="105000"/>
              </a:lnSpc>
            </a:pPr>
            <a:r>
              <a:rPr lang="en-US" sz="950" dirty="0">
                <a:solidFill>
                  <a:srgbClr val="595959"/>
                </a:solidFill>
                <a:latin typeface="Helvetica Neue Light"/>
                <a:cs typeface="Helvetica Neue Light"/>
              </a:rPr>
              <a:t xml:space="preserve">Tue 7:40 AM</a:t>
            </a:r>
          </a:p>
        </p:txBody>
      </p:sp>
      <p:pic>
        <p:nvPicPr>
          <p:cNvPr id="517" name="Picture 516" descr="image.png"/>
          <p:cNvPicPr>
            <a:picLocks noChangeAspect="1"/>
          </p:cNvPicPr>
          <p:nvPr/>
        </p:nvPicPr>
        <p:blipFill>
          <a:blip r:embed="rId11"/>
          <a:srcRect b="44183"/>
          <a:stretch>
            <a:fillRect/>
          </a:stretch>
        </p:blipFill>
        <p:spPr>
          <a:xfrm>
            <a:off x="7798003" y="3776472"/>
            <a:ext cx="2282342" cy="1170432"/>
          </a:xfrm>
          <a:prstGeom prst="rect">
            <a:avLst/>
          </a:prstGeom>
        </p:spPr>
      </p:pic>
      <p:sp>
        <p:nvSpPr>
          <p:cNvPr id="518" name="Caption 9"/>
          <p:cNvSpPr txBox="1"/>
          <p:nvPr/>
        </p:nvSpPr>
        <p:spPr>
          <a:xfrm>
            <a:off x="7798003"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09  </a:t>
            </a:r>
            <a:r>
              <a:rPr lang="en-US" sz="1050" dirty="0">
                <a:solidFill>
                  <a:srgbClr val="1F1F1F"/>
                </a:solidFill>
                <a:latin typeface="Helvetica Neue"/>
                <a:cs typeface="Helvetica Neue"/>
              </a:rPr>
              <a:t xml:space="preserve">Insight Board</a:t>
            </a:r>
          </a:p>
          <a:p>
            <a:pPr>
              <a:lnSpc>
                <a:spcPct val="105000"/>
              </a:lnSpc>
            </a:pPr>
            <a:r>
              <a:rPr lang="en-US" sz="950" dirty="0">
                <a:solidFill>
                  <a:srgbClr val="595959"/>
                </a:solidFill>
                <a:latin typeface="Helvetica Neue Light"/>
                <a:cs typeface="Helvetica Neue Light"/>
              </a:rPr>
              <a:t xml:space="preserve">Tue 7:45 AM</a:t>
            </a:r>
          </a:p>
        </p:txBody>
      </p:sp>
      <p:pic>
        <p:nvPicPr>
          <p:cNvPr id="519" name="Picture 518" descr="image.png"/>
          <p:cNvPicPr>
            <a:picLocks noChangeAspect="1"/>
          </p:cNvPicPr>
          <p:nvPr/>
        </p:nvPicPr>
        <p:blipFill>
          <a:blip r:embed="rId12"/>
          <a:srcRect b="44183"/>
          <a:stretch>
            <a:fillRect/>
          </a:stretch>
        </p:blipFill>
        <p:spPr>
          <a:xfrm>
            <a:off x="10244937" y="3776472"/>
            <a:ext cx="2282342" cy="1170432"/>
          </a:xfrm>
          <a:prstGeom prst="rect">
            <a:avLst/>
          </a:prstGeom>
        </p:spPr>
      </p:pic>
      <p:sp>
        <p:nvSpPr>
          <p:cNvPr id="520" name="Caption 10"/>
          <p:cNvSpPr txBox="1"/>
          <p:nvPr/>
        </p:nvSpPr>
        <p:spPr>
          <a:xfrm>
            <a:off x="10244937"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10  </a:t>
            </a:r>
            <a:r>
              <a:rPr lang="en-US" sz="1050" dirty="0">
                <a:solidFill>
                  <a:srgbClr val="1F1F1F"/>
                </a:solidFill>
                <a:latin typeface="Helvetica Neue"/>
                <a:cs typeface="Helvetica Neue"/>
              </a:rPr>
              <a:t xml:space="preserve">Insight, opened</a:t>
            </a:r>
          </a:p>
          <a:p>
            <a:pPr>
              <a:lnSpc>
                <a:spcPct val="105000"/>
              </a:lnSpc>
            </a:pPr>
            <a:r>
              <a:rPr lang="en-US" sz="950" dirty="0">
                <a:solidFill>
                  <a:srgbClr val="595959"/>
                </a:solidFill>
                <a:latin typeface="Helvetica Neue Light"/>
                <a:cs typeface="Helvetica Neue Light"/>
              </a:rPr>
              <a:t xml:space="preserve">Tue 7:45 AM</a:t>
            </a:r>
          </a:p>
        </p:txBody>
      </p:sp>
      <p:pic>
        <p:nvPicPr>
          <p:cNvPr id="521" name="Picture 520" descr="image.png"/>
          <p:cNvPicPr>
            <a:picLocks noChangeAspect="1"/>
          </p:cNvPicPr>
          <p:nvPr/>
        </p:nvPicPr>
        <p:blipFill>
          <a:blip r:embed="rId13"/>
          <a:stretch>
            <a:fillRect/>
          </a:stretch>
        </p:blipFill>
        <p:spPr>
          <a:xfrm>
            <a:off x="457200" y="5449824"/>
            <a:ext cx="2282342" cy="1170432"/>
          </a:xfrm>
          <a:prstGeom prst="rect">
            <a:avLst/>
          </a:prstGeom>
        </p:spPr>
      </p:pic>
      <p:sp>
        <p:nvSpPr>
          <p:cNvPr id="522" name="Caption 11"/>
          <p:cNvSpPr txBox="1"/>
          <p:nvPr/>
        </p:nvSpPr>
        <p:spPr>
          <a:xfrm>
            <a:off x="457200"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11  </a:t>
            </a:r>
            <a:r>
              <a:rPr lang="en-US" sz="1050" dirty="0">
                <a:solidFill>
                  <a:srgbClr val="1F1F1F"/>
                </a:solidFill>
                <a:latin typeface="Helvetica Neue"/>
                <a:cs typeface="Helvetica Neue"/>
              </a:rPr>
              <a:t xml:space="preserve">Quiet hours, one alert</a:t>
            </a:r>
          </a:p>
          <a:p>
            <a:pPr>
              <a:lnSpc>
                <a:spcPct val="105000"/>
              </a:lnSpc>
            </a:pPr>
            <a:r>
              <a:rPr lang="en-US" sz="950" dirty="0">
                <a:solidFill>
                  <a:srgbClr val="595959"/>
                </a:solidFill>
                <a:latin typeface="Helvetica Neue Light"/>
                <a:cs typeface="Helvetica Neue Light"/>
              </a:rPr>
              <a:t xml:space="preserve">Tue 10:14 AM</a:t>
            </a:r>
          </a:p>
        </p:txBody>
      </p:sp>
      <p:pic>
        <p:nvPicPr>
          <p:cNvPr id="523" name="Picture 522" descr="image.png"/>
          <p:cNvPicPr>
            <a:picLocks noChangeAspect="1"/>
          </p:cNvPicPr>
          <p:nvPr/>
        </p:nvPicPr>
        <p:blipFill>
          <a:blip r:embed="rId14"/>
          <a:srcRect b="12088"/>
          <a:stretch>
            <a:fillRect/>
          </a:stretch>
        </p:blipFill>
        <p:spPr>
          <a:xfrm>
            <a:off x="2904134" y="5449824"/>
            <a:ext cx="2282342" cy="1170432"/>
          </a:xfrm>
          <a:prstGeom prst="rect">
            <a:avLst/>
          </a:prstGeom>
        </p:spPr>
      </p:pic>
      <p:sp>
        <p:nvSpPr>
          <p:cNvPr id="524" name="Caption 12"/>
          <p:cNvSpPr txBox="1"/>
          <p:nvPr/>
        </p:nvSpPr>
        <p:spPr>
          <a:xfrm>
            <a:off x="2904134"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12  </a:t>
            </a:r>
            <a:r>
              <a:rPr lang="en-US" sz="1050" dirty="0">
                <a:solidFill>
                  <a:srgbClr val="1F1F1F"/>
                </a:solidFill>
                <a:latin typeface="Helvetica Neue"/>
                <a:cs typeface="Helvetica Neue"/>
              </a:rPr>
              <a:t xml:space="preserve">This was wrong</a:t>
            </a:r>
          </a:p>
          <a:p>
            <a:pPr>
              <a:lnSpc>
                <a:spcPct val="105000"/>
              </a:lnSpc>
            </a:pPr>
            <a:r>
              <a:rPr lang="en-US" sz="950" dirty="0">
                <a:solidFill>
                  <a:srgbClr val="595959"/>
                </a:solidFill>
                <a:latin typeface="Helvetica Neue Light"/>
                <a:cs typeface="Helvetica Neue Light"/>
              </a:rPr>
              <a:t xml:space="preserve">Tue 10:31 AM</a:t>
            </a:r>
          </a:p>
        </p:txBody>
      </p:sp>
      <p:pic>
        <p:nvPicPr>
          <p:cNvPr id="525" name="Picture 524" descr="image.png"/>
          <p:cNvPicPr>
            <a:picLocks noChangeAspect="1"/>
          </p:cNvPicPr>
          <p:nvPr/>
        </p:nvPicPr>
        <p:blipFill>
          <a:blip r:embed="rId15"/>
          <a:srcRect b="24570"/>
          <a:stretch>
            <a:fillRect/>
          </a:stretch>
        </p:blipFill>
        <p:spPr>
          <a:xfrm>
            <a:off x="5351068" y="5449824"/>
            <a:ext cx="2282342" cy="1170432"/>
          </a:xfrm>
          <a:prstGeom prst="rect">
            <a:avLst/>
          </a:prstGeom>
        </p:spPr>
      </p:pic>
      <p:sp>
        <p:nvSpPr>
          <p:cNvPr id="526" name="Caption 13"/>
          <p:cNvSpPr txBox="1"/>
          <p:nvPr/>
        </p:nvSpPr>
        <p:spPr>
          <a:xfrm>
            <a:off x="5351068"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13  </a:t>
            </a:r>
            <a:r>
              <a:rPr lang="en-US" sz="1050" dirty="0">
                <a:solidFill>
                  <a:srgbClr val="1F1F1F"/>
                </a:solidFill>
                <a:latin typeface="Helvetica Neue"/>
                <a:cs typeface="Helvetica Neue"/>
              </a:rPr>
              <a:t xml:space="preserve">Board at lunch</a:t>
            </a:r>
          </a:p>
          <a:p>
            <a:pPr>
              <a:lnSpc>
                <a:spcPct val="105000"/>
              </a:lnSpc>
            </a:pPr>
            <a:r>
              <a:rPr lang="en-US" sz="950" dirty="0">
                <a:solidFill>
                  <a:srgbClr val="595959"/>
                </a:solidFill>
                <a:latin typeface="Helvetica Neue Light"/>
                <a:cs typeface="Helvetica Neue Light"/>
              </a:rPr>
              <a:t xml:space="preserve">Tue 12:30 PM</a:t>
            </a:r>
          </a:p>
        </p:txBody>
      </p:sp>
      <p:pic>
        <p:nvPicPr>
          <p:cNvPr id="527" name="Picture 526" descr="image.png"/>
          <p:cNvPicPr>
            <a:picLocks noChangeAspect="1"/>
          </p:cNvPicPr>
          <p:nvPr/>
        </p:nvPicPr>
        <p:blipFill>
          <a:blip r:embed="rId16"/>
          <a:srcRect b="17027"/>
          <a:stretch>
            <a:fillRect/>
          </a:stretch>
        </p:blipFill>
        <p:spPr>
          <a:xfrm>
            <a:off x="7798003" y="5449824"/>
            <a:ext cx="2282342" cy="1170432"/>
          </a:xfrm>
          <a:prstGeom prst="rect">
            <a:avLst/>
          </a:prstGeom>
        </p:spPr>
      </p:pic>
      <p:sp>
        <p:nvSpPr>
          <p:cNvPr id="528" name="Caption 14"/>
          <p:cNvSpPr txBox="1"/>
          <p:nvPr/>
        </p:nvSpPr>
        <p:spPr>
          <a:xfrm>
            <a:off x="7798003"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14  </a:t>
            </a:r>
            <a:r>
              <a:rPr lang="en-US" sz="1050" dirty="0">
                <a:solidFill>
                  <a:srgbClr val="1F1F1F"/>
                </a:solidFill>
                <a:latin typeface="Helvetica Neue"/>
                <a:cs typeface="Helvetica Neue"/>
              </a:rPr>
              <a:t xml:space="preserve">Reasons still hold?</a:t>
            </a:r>
          </a:p>
          <a:p>
            <a:pPr>
              <a:lnSpc>
                <a:spcPct val="105000"/>
              </a:lnSpc>
            </a:pPr>
            <a:r>
              <a:rPr lang="en-US" sz="950" dirty="0">
                <a:solidFill>
                  <a:srgbClr val="595959"/>
                </a:solidFill>
                <a:latin typeface="Helvetica Neue Light"/>
                <a:cs typeface="Helvetica Neue Light"/>
              </a:rPr>
              <a:t xml:space="preserve">Tue 4:30 PM</a:t>
            </a:r>
          </a:p>
        </p:txBody>
      </p:sp>
      <p:pic>
        <p:nvPicPr>
          <p:cNvPr id="529" name="Picture 528" descr="image.png"/>
          <p:cNvPicPr>
            <a:picLocks noChangeAspect="1"/>
          </p:cNvPicPr>
          <p:nvPr/>
        </p:nvPicPr>
        <p:blipFill>
          <a:blip r:embed="rId17"/>
          <a:srcRect b="31497"/>
          <a:stretch>
            <a:fillRect/>
          </a:stretch>
        </p:blipFill>
        <p:spPr>
          <a:xfrm>
            <a:off x="10244937" y="5449824"/>
            <a:ext cx="2282342" cy="1170432"/>
          </a:xfrm>
          <a:prstGeom prst="rect">
            <a:avLst/>
          </a:prstGeom>
        </p:spPr>
      </p:pic>
      <p:sp>
        <p:nvSpPr>
          <p:cNvPr id="530" name="Caption 15"/>
          <p:cNvSpPr txBox="1"/>
          <p:nvPr/>
        </p:nvSpPr>
        <p:spPr>
          <a:xfrm>
            <a:off x="10244937"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15  </a:t>
            </a:r>
            <a:r>
              <a:rPr lang="en-US" sz="1050" dirty="0">
                <a:solidFill>
                  <a:srgbClr val="1F1F1F"/>
                </a:solidFill>
                <a:latin typeface="Helvetica Neue"/>
                <a:cs typeface="Helvetica Neue"/>
              </a:rPr>
              <a:t xml:space="preserve">Portfolio vs plan</a:t>
            </a:r>
          </a:p>
          <a:p>
            <a:pPr>
              <a:lnSpc>
                <a:spcPct val="105000"/>
              </a:lnSpc>
            </a:pPr>
            <a:r>
              <a:rPr lang="en-US" sz="950" dirty="0">
                <a:solidFill>
                  <a:srgbClr val="595959"/>
                </a:solidFill>
                <a:latin typeface="Helvetica Neue Light"/>
                <a:cs typeface="Helvetica Neue Light"/>
              </a:rPr>
              <a:t xml:space="preserve">Tue 4:45 PM</a:t>
            </a:r>
          </a:p>
        </p:txBody>
      </p:sp>
      <p:pic>
        <p:nvPicPr>
          <p:cNvPr id="531" name="Picture 530" descr="image.png"/>
          <p:cNvPicPr>
            <a:picLocks noChangeAspect="1"/>
          </p:cNvPicPr>
          <p:nvPr/>
        </p:nvPicPr>
        <p:blipFill>
          <a:blip r:embed="rId18"/>
          <a:stretch>
            <a:fillRect/>
          </a:stretch>
        </p:blipFill>
        <p:spPr>
          <a:xfrm>
            <a:off x="457200" y="7123176"/>
            <a:ext cx="2282342" cy="1170432"/>
          </a:xfrm>
          <a:prstGeom prst="rect">
            <a:avLst/>
          </a:prstGeom>
        </p:spPr>
      </p:pic>
      <p:sp>
        <p:nvSpPr>
          <p:cNvPr id="532" name="Caption 16"/>
          <p:cNvSpPr txBox="1"/>
          <p:nvPr/>
        </p:nvSpPr>
        <p:spPr>
          <a:xfrm>
            <a:off x="457200"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16  </a:t>
            </a:r>
            <a:r>
              <a:rPr lang="en-US" sz="1050" dirty="0">
                <a:solidFill>
                  <a:srgbClr val="1F1F1F"/>
                </a:solidFill>
                <a:latin typeface="Helvetica Neue"/>
                <a:cs typeface="Helvetica Neue"/>
              </a:rPr>
              <a:t xml:space="preserve">Lens on portfolio</a:t>
            </a:r>
          </a:p>
          <a:p>
            <a:pPr>
              <a:lnSpc>
                <a:spcPct val="105000"/>
              </a:lnSpc>
            </a:pPr>
            <a:r>
              <a:rPr lang="en-US" sz="950" dirty="0">
                <a:solidFill>
                  <a:srgbClr val="595959"/>
                </a:solidFill>
                <a:latin typeface="Helvetica Neue Light"/>
                <a:cs typeface="Helvetica Neue Light"/>
              </a:rPr>
              <a:t xml:space="preserve">Tue 4:50 PM</a:t>
            </a:r>
          </a:p>
        </p:txBody>
      </p:sp>
      <p:pic>
        <p:nvPicPr>
          <p:cNvPr id="533" name="Picture 532" descr="image.png"/>
          <p:cNvPicPr>
            <a:picLocks noChangeAspect="1"/>
          </p:cNvPicPr>
          <p:nvPr/>
        </p:nvPicPr>
        <p:blipFill>
          <a:blip r:embed="rId19"/>
          <a:srcRect b="22185"/>
          <a:stretch>
            <a:fillRect/>
          </a:stretch>
        </p:blipFill>
        <p:spPr>
          <a:xfrm>
            <a:off x="2904134" y="7123176"/>
            <a:ext cx="2282342" cy="1170432"/>
          </a:xfrm>
          <a:prstGeom prst="rect">
            <a:avLst/>
          </a:prstGeom>
        </p:spPr>
      </p:pic>
      <p:sp>
        <p:nvSpPr>
          <p:cNvPr id="534" name="Caption 17"/>
          <p:cNvSpPr txBox="1"/>
          <p:nvPr/>
        </p:nvSpPr>
        <p:spPr>
          <a:xfrm>
            <a:off x="2904134"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17  </a:t>
            </a:r>
            <a:r>
              <a:rPr lang="en-US" sz="1050" dirty="0">
                <a:solidFill>
                  <a:srgbClr val="1F1F1F"/>
                </a:solidFill>
                <a:latin typeface="Helvetica Neue"/>
                <a:cs typeface="Helvetica Neue"/>
              </a:rPr>
              <a:t xml:space="preserve">Activity log + Undo</a:t>
            </a:r>
          </a:p>
          <a:p>
            <a:pPr>
              <a:lnSpc>
                <a:spcPct val="105000"/>
              </a:lnSpc>
            </a:pPr>
            <a:r>
              <a:rPr lang="en-US" sz="950" dirty="0">
                <a:solidFill>
                  <a:srgbClr val="595959"/>
                </a:solidFill>
                <a:latin typeface="Helvetica Neue Light"/>
                <a:cs typeface="Helvetica Neue Light"/>
              </a:rPr>
              <a:t xml:space="preserve">Tue 5:15 PM</a:t>
            </a:r>
          </a:p>
        </p:txBody>
      </p:sp>
      <p:pic>
        <p:nvPicPr>
          <p:cNvPr id="535" name="Picture 534" descr="image.png"/>
          <p:cNvPicPr>
            <a:picLocks noChangeAspect="1"/>
          </p:cNvPicPr>
          <p:nvPr/>
        </p:nvPicPr>
        <p:blipFill>
          <a:blip r:embed="rId20"/>
          <a:stretch>
            <a:fillRect/>
          </a:stretch>
        </p:blipFill>
        <p:spPr>
          <a:xfrm>
            <a:off x="5351068" y="7123176"/>
            <a:ext cx="2282342" cy="1170432"/>
          </a:xfrm>
          <a:prstGeom prst="rect">
            <a:avLst/>
          </a:prstGeom>
        </p:spPr>
      </p:pic>
      <p:sp>
        <p:nvSpPr>
          <p:cNvPr id="536" name="Caption 18"/>
          <p:cNvSpPr txBox="1"/>
          <p:nvPr/>
        </p:nvSpPr>
        <p:spPr>
          <a:xfrm>
            <a:off x="5351068"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18  </a:t>
            </a:r>
            <a:r>
              <a:rPr lang="en-US" sz="1050" dirty="0">
                <a:solidFill>
                  <a:srgbClr val="1F1F1F"/>
                </a:solidFill>
                <a:latin typeface="Helvetica Neue"/>
                <a:cs typeface="Helvetica Neue"/>
              </a:rPr>
              <a:t xml:space="preserve">Weekly review</a:t>
            </a:r>
          </a:p>
          <a:p>
            <a:pPr>
              <a:lnSpc>
                <a:spcPct val="105000"/>
              </a:lnSpc>
            </a:pPr>
            <a:r>
              <a:rPr lang="en-US" sz="950" dirty="0">
                <a:solidFill>
                  <a:srgbClr val="595959"/>
                </a:solidFill>
                <a:latin typeface="Helvetica Neue Light"/>
                <a:cs typeface="Helvetica Neue Light"/>
              </a:rPr>
              <a:t xml:space="preserve">Sun 7 PM</a:t>
            </a:r>
          </a:p>
        </p:txBody>
      </p:sp>
      <p:pic>
        <p:nvPicPr>
          <p:cNvPr id="537" name="Picture 536" descr="image.png"/>
          <p:cNvPicPr>
            <a:picLocks noChangeAspect="1"/>
          </p:cNvPicPr>
          <p:nvPr/>
        </p:nvPicPr>
        <p:blipFill>
          <a:blip r:embed="rId21"/>
          <a:srcRect b="33110"/>
          <a:stretch>
            <a:fillRect/>
          </a:stretch>
        </p:blipFill>
        <p:spPr>
          <a:xfrm>
            <a:off x="7798003" y="7123176"/>
            <a:ext cx="2282342" cy="1170432"/>
          </a:xfrm>
          <a:prstGeom prst="rect">
            <a:avLst/>
          </a:prstGeom>
        </p:spPr>
      </p:pic>
      <p:sp>
        <p:nvSpPr>
          <p:cNvPr id="538" name="Caption 19"/>
          <p:cNvSpPr txBox="1"/>
          <p:nvPr/>
        </p:nvSpPr>
        <p:spPr>
          <a:xfrm>
            <a:off x="7798003"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19  </a:t>
            </a:r>
            <a:r>
              <a:rPr lang="en-US" sz="1050" dirty="0">
                <a:solidFill>
                  <a:srgbClr val="1F1F1F"/>
                </a:solidFill>
                <a:latin typeface="Helvetica Neue"/>
                <a:cs typeface="Helvetica Neue"/>
              </a:rPr>
              <a:t xml:space="preserve">Build the board</a:t>
            </a:r>
          </a:p>
          <a:p>
            <a:pPr>
              <a:lnSpc>
                <a:spcPct val="105000"/>
              </a:lnSpc>
            </a:pPr>
            <a:r>
              <a:rPr lang="en-US" sz="950" dirty="0">
                <a:solidFill>
                  <a:srgbClr val="595959"/>
                </a:solidFill>
                <a:latin typeface="Helvetica Neue Light"/>
                <a:cs typeface="Helvetica Neue Light"/>
              </a:rPr>
              <a:t xml:space="preserve">Sunday</a:t>
            </a:r>
          </a:p>
        </p:txBody>
      </p:sp>
      <p:sp>
        <p:nvSpPr>
          <p:cNvPr id="539" name="Prototype link">
            <a:hlinkClick r:id="rId22"/>
          </p:cNvPr>
          <p:cNvSpPr txBox="1"/>
          <p:nvPr/>
        </p:nvSpPr>
        <p:spPr>
          <a:xfrm>
            <a:off x="10244937" y="7214616"/>
            <a:ext cx="2282342" cy="1170432"/>
          </a:xfrm>
          <a:prstGeom prst="rect">
            <a:avLst/>
          </a:prstGeom>
          <a:noFill/>
        </p:spPr>
        <p:txBody>
          <a:bodyPr wrap="square" lIns="0" tIns="0" rIns="0" bIns="0">
            <a:noAutofit/>
          </a:bodyPr>
          <a:lstStyle/>
          <a:p>
            <a:pPr>
              <a:lnSpc>
                <a:spcPct val="105000"/>
              </a:lnSpc>
            </a:pPr>
            <a:r>
              <a:rPr lang="en-US" sz="1050" dirty="0">
                <a:solidFill>
                  <a:srgbClr val="595959"/>
                </a:solidFill>
                <a:latin typeface="Helvetica Neue"/>
                <a:cs typeface="Helvetica Neue"/>
              </a:rPr>
              <a:t xml:space="preserve">TRY IT</a:t>
            </a:r>
          </a:p>
          <a:p>
            <a:pPr>
              <a:lnSpc>
                <a:spcPct val="105000"/>
              </a:lnSpc>
            </a:pPr>
            <a:r>
              <a:rPr lang="en-US" sz="1400" u="sng" dirty="0">
                <a:solidFill>
                  <a:srgbClr val="B5531F"/>
                </a:solidFill>
                <a:latin typeface="Helvetica Neue"/>
                <a:cs typeface="Helvetica Neue"/>
              </a:rPr>
              <a:t xml:space="preserve">Open the clickable prototype →</a:t>
            </a:r>
          </a:p>
          <a:p>
            <a:pPr>
              <a:lnSpc>
                <a:spcPct val="105000"/>
              </a:lnSpc>
            </a:pPr>
            <a:r>
              <a:rPr lang="en-US" sz="1000" dirty="0">
                <a:solidFill>
                  <a:srgbClr val="595959"/>
                </a:solidFill>
                <a:latin typeface="Helvetica Neue Light"/>
                <a:cs typeface="Helvetica Neue Light"/>
              </a:rPr>
              <a:t xml:space="preserve">Starts at step 1 in Figma</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image.png"/>
          <p:cNvPicPr>
            <a:picLocks noChangeAspect="1"/>
          </p:cNvPicPr>
          <p:nvPr/>
        </p:nvPicPr>
        <p:blipFill>
          <a:blip r:embed="rId3"/>
          <a:stretch>
            <a:fillRect/>
          </a:stretch>
        </p:blipFill>
        <p:spPr>
          <a:xfrm>
            <a:off x="455168" y="2210817"/>
            <a:ext cx="3901440" cy="2105152"/>
          </a:xfrm>
          <a:prstGeom prst="rect">
            <a:avLst/>
          </a:prstGeom>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image.png"/>
          <p:cNvPicPr>
            <a:picLocks noChangeAspect="1"/>
          </p:cNvPicPr>
          <p:nvPr/>
        </p:nvPicPr>
        <p:blipFill>
          <a:blip r:embed="rId4"/>
          <a:stretch>
            <a:fillRect/>
          </a:stretch>
        </p:blipFill>
        <p:spPr>
          <a:xfrm>
            <a:off x="4525670" y="2210817"/>
            <a:ext cx="3901440" cy="2102970"/>
          </a:xfrm>
          <a:prstGeom prst="rect">
            <a:avLst/>
          </a:prstGeom>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image.png"/>
          <p:cNvPicPr>
            <a:picLocks noChangeAspect="1"/>
          </p:cNvPicPr>
          <p:nvPr/>
        </p:nvPicPr>
        <p:blipFill>
          <a:blip r:embed="rId5"/>
          <a:stretch>
            <a:fillRect/>
          </a:stretch>
        </p:blipFill>
        <p:spPr>
          <a:xfrm>
            <a:off x="8596171" y="2210816"/>
            <a:ext cx="3901440" cy="2106778"/>
          </a:xfrm>
          <a:prstGeom prst="rect">
            <a:avLst/>
          </a:prstGeom>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image.png"/>
          <p:cNvPicPr>
            <a:picLocks noChangeAspect="1"/>
          </p:cNvPicPr>
          <p:nvPr/>
        </p:nvPicPr>
        <p:blipFill>
          <a:blip r:embed="rId6"/>
          <a:stretch>
            <a:fillRect/>
          </a:stretch>
        </p:blipFill>
        <p:spPr>
          <a:xfrm>
            <a:off x="455168" y="5657087"/>
            <a:ext cx="3901440" cy="2105152"/>
          </a:xfrm>
          <a:prstGeom prst="rect">
            <a:avLst/>
          </a:prstGeom>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image.png"/>
          <p:cNvPicPr>
            <a:picLocks noChangeAspect="1"/>
          </p:cNvPicPr>
          <p:nvPr/>
        </p:nvPicPr>
        <p:blipFill>
          <a:blip r:embed="rId7"/>
          <a:stretch>
            <a:fillRect/>
          </a:stretch>
        </p:blipFill>
        <p:spPr>
          <a:xfrm>
            <a:off x="4525670" y="5657087"/>
            <a:ext cx="3901440" cy="2105152"/>
          </a:xfrm>
          <a:prstGeom prst="rect">
            <a:avLst/>
          </a:prstGeom>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image.png"/>
          <p:cNvPicPr>
            <a:picLocks noChangeAspect="1"/>
          </p:cNvPicPr>
          <p:nvPr/>
        </p:nvPicPr>
        <p:blipFill>
          <a:blip r:embed="rId8"/>
          <a:stretch>
            <a:fillRect/>
          </a:stretch>
        </p:blipFill>
        <p:spPr>
          <a:xfrm>
            <a:off x="8596171" y="5657087"/>
            <a:ext cx="3901440" cy="2105152"/>
          </a:xfrm>
          <a:prstGeom prst="rect">
            <a:avLst/>
          </a:prstGeom>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image.png"/>
          <p:cNvPicPr>
            <a:picLocks noChangeAspect="1"/>
          </p:cNvPicPr>
          <p:nvPr/>
        </p:nvPicPr>
        <p:blipFill>
          <a:blip r:embed="rId3"/>
          <a:stretch>
            <a:fillRect/>
          </a:stretch>
        </p:blipFill>
        <p:spPr>
          <a:xfrm>
            <a:off x="321354" y="2921620"/>
            <a:ext cx="6448980" cy="3699206"/>
          </a:xfrm>
          <a:prstGeom prst="rect">
            <a:avLst/>
          </a:prstGeom>
        </p:spPr>
      </p:pic>
      <p:pic>
        <p:nvPicPr>
          <p:cNvPr id="7" name="Picture 6" descr="image.png"/>
          <p:cNvPicPr>
            <a:picLocks noChangeAspect="1"/>
          </p:cNvPicPr>
          <p:nvPr/>
        </p:nvPicPr>
        <p:blipFill>
          <a:blip r:embed="rId4"/>
          <a:stretch>
            <a:fillRect/>
          </a:stretch>
        </p:blipFill>
        <p:spPr>
          <a:xfrm>
            <a:off x="6808332" y="1942360"/>
            <a:ext cx="5761380" cy="2328557"/>
          </a:xfrm>
          <a:prstGeom prst="rect">
            <a:avLst/>
          </a:prstGeom>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image.png"/>
          <p:cNvPicPr>
            <a:picLocks noChangeAspect="1"/>
          </p:cNvPicPr>
          <p:nvPr/>
        </p:nvPicPr>
        <p:blipFill>
          <a:blip r:embed="rId3"/>
          <a:stretch>
            <a:fillRect/>
          </a:stretch>
        </p:blipFill>
        <p:spPr>
          <a:xfrm>
            <a:off x="455167" y="2117357"/>
            <a:ext cx="6726217" cy="4133820"/>
          </a:xfrm>
          <a:prstGeom prst="rect">
            <a:avLst/>
          </a:prstGeom>
        </p:spPr>
      </p:pic>
      <p:pic>
        <p:nvPicPr>
          <p:cNvPr id="7" name="Picture 6" descr="image.png"/>
          <p:cNvPicPr>
            <a:picLocks noChangeAspect="1"/>
          </p:cNvPicPr>
          <p:nvPr/>
        </p:nvPicPr>
        <p:blipFill>
          <a:blip r:embed="rId4"/>
          <a:stretch>
            <a:fillRect/>
          </a:stretch>
        </p:blipFill>
        <p:spPr>
          <a:xfrm>
            <a:off x="7222044" y="2725806"/>
            <a:ext cx="5532255" cy="3227149"/>
          </a:xfrm>
          <a:prstGeom prst="rect">
            <a:avLst/>
          </a:prstGeom>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3"/>
          <a:stretch>
            <a:fillRect/>
          </a:stretch>
        </p:blipFill>
        <p:spPr>
          <a:xfrm>
            <a:off x="1783558" y="2080768"/>
            <a:ext cx="943768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3"/>
          <a:stretch>
            <a:fillRect/>
          </a:stretch>
        </p:blipFill>
        <p:spPr>
          <a:xfrm>
            <a:off x="455169" y="2080768"/>
            <a:ext cx="7572863" cy="6957568"/>
          </a:xfrm>
          <a:prstGeom prst="rect">
            <a:avLst/>
          </a:prstGeom>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3"/>
          <a:stretch>
            <a:fillRect/>
          </a:stretch>
        </p:blipFill>
        <p:spPr>
          <a:xfrm>
            <a:off x="1541999" y="2080768"/>
            <a:ext cx="9920802"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3"/>
          <a:stretch>
            <a:fillRect/>
          </a:stretch>
        </p:blipFill>
        <p:spPr>
          <a:xfrm>
            <a:off x="1820673" y="2080768"/>
            <a:ext cx="936345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Try it: click through the whole day</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The full trading day is a clickable prototype in Figma, starting at step 1: Show It.</a:t>
            </a:r>
          </a:p>
        </p:txBody>
      </p:sp>
      <p:pic>
        <p:nvPicPr>
          <p:cNvPr id="6" name="Picture 5" descr="image.png"/>
          <p:cNvPicPr>
            <a:picLocks noChangeAspect="1"/>
          </p:cNvPicPr>
          <p:nvPr/>
        </p:nvPicPr>
        <p:blipFill>
          <a:blip r:embed="rId3"/>
          <a:stretch>
            <a:fillRect/>
          </a:stretch>
        </p:blipFill>
        <p:spPr>
          <a:xfrm>
            <a:off x="1457924" y="2080768"/>
            <a:ext cx="10088953"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 xml:space="preserve">PROTOTYPE</a:t>
            </a:r>
          </a:p>
        </p:txBody>
      </p:sp>
      <p:sp>
        <p:nvSpPr>
          <p:cNvPr id="9" name="TextBox 8">
            <a:hlinkClick r:id="rId4"/>
          </p:cNvPr>
          <p:cNvSpPr txBox="1"/>
          <p:nvPr/>
        </p:nvSpPr>
        <p:spPr>
          <a:xfrm>
            <a:off x="650240" y="8414105"/>
            <a:ext cx="3771392" cy="459485"/>
          </a:xfrm>
          <a:prstGeom prst="rect">
            <a:avLst/>
          </a:prstGeom>
          <a:noFill/>
        </p:spPr>
        <p:txBody>
          <a:bodyPr wrap="square" lIns="0" tIns="0" rIns="0" bIns="0">
            <a:spAutoFit/>
          </a:bodyPr>
          <a:lstStyle/>
          <a:p>
            <a:r>
              <a:rPr u="sng" sz="1493">
                <a:solidFill>
                  <a:srgbClr val="B5531F"/>
                </a:solidFill>
                <a:latin typeface="Helvetica Neue Light"/>
              </a:rPr>
              <a:t xml:space="preserve">Open the Figma prototype →</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19 linked hi-fi screens, each moving forward through its real button</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Also available offline, with the narrative for every step: The-Trading-Day-Prototype.html</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Wireframes: the Day Board, drawn before the model</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for logon, afternoon, and end of day. Figma page: Dashboards · The Day Board.</a:t>
            </a:r>
          </a:p>
        </p:txBody>
      </p:sp>
      <p:pic>
        <p:nvPicPr>
          <p:cNvPr id="5" name="Picture 4" descr="image.png"/>
          <p:cNvPicPr>
            <a:picLocks noChangeAspect="1"/>
          </p:cNvPicPr>
          <p:nvPr/>
        </p:nvPicPr>
        <p:blipFill>
          <a:blip r:embed="rId2"/>
          <a:stretch>
            <a:fillRect/>
          </a:stretch>
        </p:blipFill>
        <p:spPr>
          <a:xfrm>
            <a:off x="457200" y="2103120"/>
            <a:ext cx="3601664" cy="6766560"/>
          </a:xfrm>
          <a:prstGeom prst="rect">
            <a:avLst/>
          </a:prstGeom>
        </p:spPr>
      </p:pic>
      <p:sp>
        <p:nvSpPr>
          <p:cNvPr id="6" name="TextBox 5"/>
          <p:cNvSpPr txBox="1"/>
          <p:nvPr/>
        </p:nvSpPr>
        <p:spPr>
          <a:xfrm>
            <a:off x="4937760" y="2194560"/>
            <a:ext cx="75895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4937760" y="2505456"/>
            <a:ext cx="7589520" cy="1371600"/>
          </a:xfrm>
          <a:prstGeom prst="rect">
            <a:avLst/>
          </a:prstGeom>
          <a:noFill/>
        </p:spPr>
        <p:txBody>
          <a:bodyPr wrap="square" lIns="0" rIns="0" tIns="0" bIns="0">
            <a:spAutoFit/>
          </a:bodyPr>
          <a:lstStyle/>
          <a:p>
            <a:r>
              <a:rPr sz="1500">
                <a:solidFill>
                  <a:srgbClr val="1F1F1F"/>
                </a:solidFill>
                <a:latin typeface="Helvetica Neue Light"/>
              </a:rPr>
              <a:t>Onboarding today is a tour, and nothing shows a swing trader what changed since last night. The check is done by hand, across tabs.</a:t>
            </a:r>
          </a:p>
        </p:txBody>
      </p:sp>
      <p:sp>
        <p:nvSpPr>
          <p:cNvPr id="8" name="TextBox 7"/>
          <p:cNvSpPr txBox="1"/>
          <p:nvPr/>
        </p:nvSpPr>
        <p:spPr>
          <a:xfrm>
            <a:off x="4937760" y="4663440"/>
            <a:ext cx="75895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4937760" y="4974336"/>
            <a:ext cx="7589520" cy="1371600"/>
          </a:xfrm>
          <a:prstGeom prst="rect">
            <a:avLst/>
          </a:prstGeom>
          <a:noFill/>
        </p:spPr>
        <p:txBody>
          <a:bodyPr wrap="square" lIns="0" rIns="0" tIns="0" bIns="0">
            <a:spAutoFit/>
          </a:bodyPr>
          <a:lstStyle/>
          <a:p>
            <a:r>
              <a:rPr sz="1500">
                <a:solidFill>
                  <a:srgbClr val="1F1F1F"/>
                </a:solidFill>
                <a:latin typeface="Helvetica Neue Light"/>
              </a:rPr>
              <a:t>The Day Board is drawn for three moments of the day: logon, afternoon, and end of day. One layout, and every card names its source and why it appeared.</a:t>
            </a:r>
          </a:p>
        </p:txBody>
      </p:sp>
      <p:sp>
        <p:nvSpPr>
          <p:cNvPr id="10" name="TextBox 9"/>
          <p:cNvSpPr txBox="1"/>
          <p:nvPr/>
        </p:nvSpPr>
        <p:spPr>
          <a:xfrm>
            <a:off x="4937760" y="7132320"/>
            <a:ext cx="75895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4937760" y="7443216"/>
            <a:ext cx="7589520" cy="1371600"/>
          </a:xfrm>
          <a:prstGeom prst="rect">
            <a:avLst/>
          </a:prstGeom>
          <a:noFill/>
        </p:spPr>
        <p:txBody>
          <a:bodyPr wrap="square" lIns="0" rIns="0" tIns="0" bIns="0">
            <a:spAutoFit/>
          </a:bodyPr>
          <a:lstStyle/>
          <a:p>
            <a:r>
              <a:rPr sz="1500">
                <a:solidFill>
                  <a:srgbClr val="1F1F1F"/>
                </a:solidFill>
                <a:latin typeface="Helvetica Neue Light"/>
              </a:rPr>
              <a:t>I drew the board before the model. The layout was tested against the trader's routine, so the AI fills a structure that already works.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User flow: one trader's morning, in six beats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Each beat asks one question. Three beats shown here; the rest are in the walkthrough page.</a:t>
            </a:r>
          </a:p>
        </p:txBody>
      </p:sp>
      <p:pic>
        <p:nvPicPr>
          <p:cNvPr id="5" name="Picture 4" descr="image.png"/>
          <p:cNvPicPr>
            <a:picLocks noChangeAspect="1"/>
          </p:cNvPicPr>
          <p:nvPr/>
        </p:nvPicPr>
        <p:blipFill>
          <a:blip r:embed="rId2"/>
          <a:stretch>
            <a:fillRect/>
          </a:stretch>
        </p:blipFill>
        <p:spPr>
          <a:xfrm>
            <a:off x="457200" y="2103120"/>
            <a:ext cx="3501569" cy="4114800"/>
          </a:xfrm>
          <a:prstGeom prst="rect">
            <a:avLst/>
          </a:prstGeom>
        </p:spPr>
      </p:pic>
      <p:sp>
        <p:nvSpPr>
          <p:cNvPr id="6" name="TextBox 5"/>
          <p:cNvSpPr txBox="1"/>
          <p:nvPr/>
        </p:nvSpPr>
        <p:spPr>
          <a:xfrm>
            <a:off x="457200" y="6355080"/>
            <a:ext cx="3501569" cy="274320"/>
          </a:xfrm>
          <a:prstGeom prst="rect">
            <a:avLst/>
          </a:prstGeom>
          <a:noFill/>
        </p:spPr>
        <p:txBody>
          <a:bodyPr wrap="square" lIns="0" rIns="0" tIns="0" bIns="0">
            <a:spAutoFit/>
          </a:bodyPr>
          <a:lstStyle/>
          <a:p>
            <a:r>
              <a:rPr sz="1280">
                <a:solidFill>
                  <a:srgbClr val="B5531F"/>
                </a:solidFill>
                <a:latin typeface="Helvetica Neue"/>
              </a:rPr>
              <a:t>BEAT 1 · MORNING</a:t>
            </a:r>
          </a:p>
        </p:txBody>
      </p:sp>
      <p:sp>
        <p:nvSpPr>
          <p:cNvPr id="7" name="TextBox 6"/>
          <p:cNvSpPr txBox="1"/>
          <p:nvPr/>
        </p:nvSpPr>
        <p:spPr>
          <a:xfrm>
            <a:off x="457200" y="6647688"/>
            <a:ext cx="3501569" cy="548640"/>
          </a:xfrm>
          <a:prstGeom prst="rect">
            <a:avLst/>
          </a:prstGeom>
          <a:noFill/>
        </p:spPr>
        <p:txBody>
          <a:bodyPr wrap="square" lIns="0" rIns="0" tIns="0" bIns="0">
            <a:spAutoFit/>
          </a:bodyPr>
          <a:lstStyle/>
          <a:p>
            <a:r>
              <a:rPr sz="1500">
                <a:solidFill>
                  <a:srgbClr val="1F1F1F"/>
                </a:solidFill>
                <a:latin typeface="Helvetica Neue Light"/>
              </a:rPr>
              <a:t>“What needs my attention?”</a:t>
            </a:r>
          </a:p>
        </p:txBody>
      </p:sp>
      <p:pic>
        <p:nvPicPr>
          <p:cNvPr id="8" name="Picture 7" descr="image.png"/>
          <p:cNvPicPr>
            <a:picLocks noChangeAspect="1"/>
          </p:cNvPicPr>
          <p:nvPr/>
        </p:nvPicPr>
        <p:blipFill>
          <a:blip r:embed="rId3"/>
          <a:stretch>
            <a:fillRect/>
          </a:stretch>
        </p:blipFill>
        <p:spPr>
          <a:xfrm>
            <a:off x="4233089" y="2103120"/>
            <a:ext cx="3489968" cy="4114800"/>
          </a:xfrm>
          <a:prstGeom prst="rect">
            <a:avLst/>
          </a:prstGeom>
        </p:spPr>
      </p:pic>
      <p:sp>
        <p:nvSpPr>
          <p:cNvPr id="9" name="TextBox 8"/>
          <p:cNvSpPr txBox="1"/>
          <p:nvPr/>
        </p:nvSpPr>
        <p:spPr>
          <a:xfrm>
            <a:off x="4233089" y="6355080"/>
            <a:ext cx="3489968" cy="274320"/>
          </a:xfrm>
          <a:prstGeom prst="rect">
            <a:avLst/>
          </a:prstGeom>
          <a:noFill/>
        </p:spPr>
        <p:txBody>
          <a:bodyPr wrap="square" lIns="0" rIns="0" tIns="0" bIns="0">
            <a:spAutoFit/>
          </a:bodyPr>
          <a:lstStyle/>
          <a:p>
            <a:r>
              <a:rPr sz="1280">
                <a:solidFill>
                  <a:srgbClr val="B5531F"/>
                </a:solidFill>
                <a:latin typeface="Helvetica Neue"/>
              </a:rPr>
              <a:t>BEAT 2 · INVESTIGATING</a:t>
            </a:r>
          </a:p>
        </p:txBody>
      </p:sp>
      <p:sp>
        <p:nvSpPr>
          <p:cNvPr id="10" name="TextBox 9"/>
          <p:cNvSpPr txBox="1"/>
          <p:nvPr/>
        </p:nvSpPr>
        <p:spPr>
          <a:xfrm>
            <a:off x="4233089" y="6647688"/>
            <a:ext cx="3489968" cy="548640"/>
          </a:xfrm>
          <a:prstGeom prst="rect">
            <a:avLst/>
          </a:prstGeom>
          <a:noFill/>
        </p:spPr>
        <p:txBody>
          <a:bodyPr wrap="square" lIns="0" rIns="0" tIns="0" bIns="0">
            <a:spAutoFit/>
          </a:bodyPr>
          <a:lstStyle/>
          <a:p>
            <a:r>
              <a:rPr sz="1500">
                <a:solidFill>
                  <a:srgbClr val="1F1F1F"/>
                </a:solidFill>
                <a:latin typeface="Helvetica Neue Light"/>
              </a:rPr>
              <a:t>“Show me the evidence.”</a:t>
            </a:r>
          </a:p>
        </p:txBody>
      </p:sp>
      <p:pic>
        <p:nvPicPr>
          <p:cNvPr id="11" name="Picture 10" descr="image.png"/>
          <p:cNvPicPr>
            <a:picLocks noChangeAspect="1"/>
          </p:cNvPicPr>
          <p:nvPr/>
        </p:nvPicPr>
        <p:blipFill>
          <a:blip r:embed="rId4"/>
          <a:stretch>
            <a:fillRect/>
          </a:stretch>
        </p:blipFill>
        <p:spPr>
          <a:xfrm>
            <a:off x="7997377" y="2103120"/>
            <a:ext cx="4158113" cy="4114800"/>
          </a:xfrm>
          <a:prstGeom prst="rect">
            <a:avLst/>
          </a:prstGeom>
        </p:spPr>
      </p:pic>
      <p:sp>
        <p:nvSpPr>
          <p:cNvPr id="12" name="TextBox 11"/>
          <p:cNvSpPr txBox="1"/>
          <p:nvPr/>
        </p:nvSpPr>
        <p:spPr>
          <a:xfrm>
            <a:off x="7997377" y="6355080"/>
            <a:ext cx="4158113" cy="274320"/>
          </a:xfrm>
          <a:prstGeom prst="rect">
            <a:avLst/>
          </a:prstGeom>
          <a:noFill/>
        </p:spPr>
        <p:txBody>
          <a:bodyPr wrap="square" lIns="0" rIns="0" tIns="0" bIns="0">
            <a:spAutoFit/>
          </a:bodyPr>
          <a:lstStyle/>
          <a:p>
            <a:r>
              <a:rPr sz="1280">
                <a:solidFill>
                  <a:srgbClr val="B5531F"/>
                </a:solidFill>
                <a:latin typeface="Helvetica Neue"/>
              </a:rPr>
              <a:t>BEAT 4 · AFTER THE CLOSE</a:t>
            </a:r>
          </a:p>
        </p:txBody>
      </p:sp>
      <p:sp>
        <p:nvSpPr>
          <p:cNvPr id="13" name="TextBox 12"/>
          <p:cNvSpPr txBox="1"/>
          <p:nvPr/>
        </p:nvSpPr>
        <p:spPr>
          <a:xfrm>
            <a:off x="7997377" y="6647688"/>
            <a:ext cx="4158113" cy="548640"/>
          </a:xfrm>
          <a:prstGeom prst="rect">
            <a:avLst/>
          </a:prstGeom>
          <a:noFill/>
        </p:spPr>
        <p:txBody>
          <a:bodyPr wrap="square" lIns="0" rIns="0" tIns="0" bIns="0">
            <a:spAutoFit/>
          </a:bodyPr>
          <a:lstStyle/>
          <a:p>
            <a:r>
              <a:rPr sz="1500">
                <a:solidFill>
                  <a:srgbClr val="1F1F1F"/>
                </a:solidFill>
                <a:latin typeface="Helvetica Neue Light"/>
              </a:rPr>
              <a:t>“How does my portfolio compare with my plan?”</a:t>
            </a:r>
          </a:p>
        </p:txBody>
      </p:sp>
      <p:sp>
        <p:nvSpPr>
          <p:cNvPr id="14" name="TextBox 13"/>
          <p:cNvSpPr txBox="1"/>
          <p:nvPr/>
        </p:nvSpPr>
        <p:spPr>
          <a:xfrm>
            <a:off x="457200" y="7498079"/>
            <a:ext cx="384048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5" name="TextBox 14"/>
          <p:cNvSpPr txBox="1"/>
          <p:nvPr/>
        </p:nvSpPr>
        <p:spPr>
          <a:xfrm>
            <a:off x="457200" y="7808975"/>
            <a:ext cx="3840480" cy="1371600"/>
          </a:xfrm>
          <a:prstGeom prst="rect">
            <a:avLst/>
          </a:prstGeom>
          <a:noFill/>
        </p:spPr>
        <p:txBody>
          <a:bodyPr wrap="square" lIns="0" rIns="0" tIns="0" bIns="0">
            <a:spAutoFit/>
          </a:bodyPr>
          <a:lstStyle/>
          <a:p>
            <a:r>
              <a:rPr sz="1500">
                <a:solidFill>
                  <a:srgbClr val="1F1F1F"/>
                </a:solidFill>
                <a:latin typeface="Helvetica Neue Light"/>
              </a:rPr>
              <a:t>A swing trader cannot read 11,666 tickers each morning. The question is what needs attention, and the answer cannot be a black box.</a:t>
            </a:r>
          </a:p>
        </p:txBody>
      </p:sp>
      <p:sp>
        <p:nvSpPr>
          <p:cNvPr id="16" name="TextBox 15"/>
          <p:cNvSpPr txBox="1"/>
          <p:nvPr/>
        </p:nvSpPr>
        <p:spPr>
          <a:xfrm>
            <a:off x="4572000" y="7498079"/>
            <a:ext cx="384048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7" name="TextBox 16"/>
          <p:cNvSpPr txBox="1"/>
          <p:nvPr/>
        </p:nvSpPr>
        <p:spPr>
          <a:xfrm>
            <a:off x="4572000" y="7808975"/>
            <a:ext cx="3840480" cy="1371600"/>
          </a:xfrm>
          <a:prstGeom prst="rect">
            <a:avLst/>
          </a:prstGeom>
          <a:noFill/>
        </p:spPr>
        <p:txBody>
          <a:bodyPr wrap="square" lIns="0" rIns="0" tIns="0" bIns="0">
            <a:spAutoFit/>
          </a:bodyPr>
          <a:lstStyle/>
          <a:p>
            <a:r>
              <a:rPr sz="1500">
                <a:solidFill>
                  <a:srgbClr val="1F1F1F"/>
                </a:solidFill>
                <a:latin typeface="Helvetica Neue Light"/>
              </a:rPr>
              <a:t>The AI surfaces what changed. Each insight carries its evidence, and the trader decides. Nothing is changed without asking first.</a:t>
            </a:r>
          </a:p>
        </p:txBody>
      </p:sp>
      <p:sp>
        <p:nvSpPr>
          <p:cNvPr id="18" name="TextBox 17"/>
          <p:cNvSpPr txBox="1"/>
          <p:nvPr/>
        </p:nvSpPr>
        <p:spPr>
          <a:xfrm>
            <a:off x="8686800" y="7498079"/>
            <a:ext cx="384048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9" name="TextBox 18"/>
          <p:cNvSpPr txBox="1"/>
          <p:nvPr/>
        </p:nvSpPr>
        <p:spPr>
          <a:xfrm>
            <a:off x="8686800" y="7808975"/>
            <a:ext cx="3840480" cy="1371600"/>
          </a:xfrm>
          <a:prstGeom prst="rect">
            <a:avLst/>
          </a:prstGeom>
          <a:noFill/>
        </p:spPr>
        <p:txBody>
          <a:bodyPr wrap="square" lIns="0" rIns="0" tIns="0" bIns="0">
            <a:spAutoFit/>
          </a:bodyPr>
          <a:lstStyle/>
          <a:p>
            <a:r>
              <a:rPr sz="1500">
                <a:solidFill>
                  <a:srgbClr val="1F1F1F"/>
                </a:solidFill>
                <a:latin typeface="Helvetica Neue Light"/>
              </a:rPr>
              <a:t>I wrote the flow as the questions a trader asks, so reviewers can follow each decision and see the rules on screen.</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FigJam: pain points and KPIs, the record behind the design</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FinViz AI: Swing Trader Workflow board. Sections 10, 11, 14, and 15.</a:t>
            </a:r>
          </a:p>
        </p:txBody>
      </p:sp>
      <p:pic>
        <p:nvPicPr>
          <p:cNvPr id="5" name="Picture 4" descr="image.png"/>
          <p:cNvPicPr>
            <a:picLocks noChangeAspect="1"/>
          </p:cNvPicPr>
          <p:nvPr/>
        </p:nvPicPr>
        <p:blipFill>
          <a:blip r:embed="rId2"/>
          <a:stretch>
            <a:fillRect/>
          </a:stretch>
        </p:blipFill>
        <p:spPr>
          <a:xfrm>
            <a:off x="457200" y="2103120"/>
            <a:ext cx="3337560" cy="1398792"/>
          </a:xfrm>
          <a:prstGeom prst="rect">
            <a:avLst/>
          </a:prstGeom>
        </p:spPr>
      </p:pic>
      <p:pic>
        <p:nvPicPr>
          <p:cNvPr id="6" name="Picture 5" descr="image.png"/>
          <p:cNvPicPr>
            <a:picLocks noChangeAspect="1"/>
          </p:cNvPicPr>
          <p:nvPr/>
        </p:nvPicPr>
        <p:blipFill>
          <a:blip r:embed="rId3"/>
          <a:stretch>
            <a:fillRect/>
          </a:stretch>
        </p:blipFill>
        <p:spPr>
          <a:xfrm>
            <a:off x="3977640" y="2103120"/>
            <a:ext cx="3337560" cy="2640735"/>
          </a:xfrm>
          <a:prstGeom prst="rect">
            <a:avLst/>
          </a:prstGeom>
        </p:spPr>
      </p:pic>
      <p:pic>
        <p:nvPicPr>
          <p:cNvPr id="7" name="Picture 6" descr="image.png"/>
          <p:cNvPicPr>
            <a:picLocks noChangeAspect="1"/>
          </p:cNvPicPr>
          <p:nvPr/>
        </p:nvPicPr>
        <p:blipFill>
          <a:blip r:embed="rId4"/>
          <a:stretch>
            <a:fillRect/>
          </a:stretch>
        </p:blipFill>
        <p:spPr>
          <a:xfrm>
            <a:off x="457200" y="5018175"/>
            <a:ext cx="3337560" cy="2379512"/>
          </a:xfrm>
          <a:prstGeom prst="rect">
            <a:avLst/>
          </a:prstGeom>
        </p:spPr>
      </p:pic>
      <p:pic>
        <p:nvPicPr>
          <p:cNvPr id="8" name="Picture 7" descr="image.png"/>
          <p:cNvPicPr>
            <a:picLocks noChangeAspect="1"/>
          </p:cNvPicPr>
          <p:nvPr/>
        </p:nvPicPr>
        <p:blipFill>
          <a:blip r:embed="rId5"/>
          <a:stretch>
            <a:fillRect/>
          </a:stretch>
        </p:blipFill>
        <p:spPr>
          <a:xfrm>
            <a:off x="3977640" y="5018175"/>
            <a:ext cx="3337560" cy="2234468"/>
          </a:xfrm>
          <a:prstGeom prst="rect">
            <a:avLst/>
          </a:prstGeom>
        </p:spPr>
      </p:pic>
      <p:sp>
        <p:nvSpPr>
          <p:cNvPr id="9" name="TextBox 8"/>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0" name="TextBox 9"/>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reasons for each decision sat in separate documents, so a KPI or a backlog item could drift away from the pain point it answers.</a:t>
            </a:r>
          </a:p>
        </p:txBody>
      </p:sp>
      <p:sp>
        <p:nvSpPr>
          <p:cNvPr id="11" name="TextBox 10"/>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2" name="TextBox 11"/>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Pain points, the pain register, prioritization, and the KPI tree sit on one board. Each KPI traces back to a pain point it is meant to move.</a:t>
            </a:r>
          </a:p>
        </p:txBody>
      </p:sp>
      <p:sp>
        <p:nvSpPr>
          <p:cNvPr id="13" name="TextBox 12"/>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4" name="TextBox 13"/>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working record in the open, so the team could challenge a KPI or a backlog item before it reached a screen.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Picture 37"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Picture 11"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9541</Words>
  <Application>Microsoft Macintosh PowerPoint</Application>
  <PresentationFormat>Custom</PresentationFormat>
  <Paragraphs>1194</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32</cp:revision>
  <dcterms:created xsi:type="dcterms:W3CDTF">2013-01-27T09:14:16Z</dcterms:created>
  <dcterms:modified xsi:type="dcterms:W3CDTF">2026-10-14T01:12:06Z</dcterms:modified>
  <cp:category/>
</cp:coreProperties>
</file>
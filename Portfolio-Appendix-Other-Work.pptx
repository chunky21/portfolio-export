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6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3"/>
  </p:notesMasterIdLst>
  <p:sldIdLst>
    <p:sldId id="257" r:id="rId84"/>
    <p:sldId id="258" r:id="rId85"/>
    <p:sldId id="259" r:id="rId86"/>
    <p:sldId id="260" r:id="rId87"/>
    <p:sldId id="261" r:id="rId88"/>
    <p:sldId id="262" r:id="rId89"/>
    <p:sldId id="263" r:id="rId90"/>
    <p:sldId id="264" r:id="rId91"/>
    <p:sldId id="265" r:id="rId92"/>
    <p:sldId id="266" r:id="rId93"/>
    <p:sldId id="267" r:id="rId94"/>
    <p:sldId id="268" r:id="rId95"/>
    <p:sldId id="269" r:id="rId96"/>
    <p:sldId id="270" r:id="rId97"/>
    <p:sldId id="271" r:id="rId98"/>
    <p:sldId id="272" r:id="rId99"/>
    <p:sldId id="273" r:id="rId100"/>
    <p:sldId id="274" r:id="rId101"/>
    <p:sldId id="275" r:id="rId102"/>
    <p:sldId id="276" r:id="rId103"/>
    <p:sldId id="277" r:id="rId104"/>
    <p:sldId id="278" r:id="rId105"/>
    <p:sldId id="279" r:id="rId106"/>
    <p:sldId id="280" r:id="rId107"/>
    <p:sldId id="281" r:id="rId108"/>
    <p:sldId id="282" r:id="rId109"/>
    <p:sldId id="283" r:id="rId110"/>
    <p:sldId id="284" r:id="rId111"/>
    <p:sldId id="285" r:id="rId112"/>
    <p:sldId id="286" r:id="rId113"/>
    <p:sldId id="287" r:id="rId114"/>
    <p:sldId id="288" r:id="rId115"/>
    <p:sldId id="289" r:id="rId116"/>
    <p:sldId id="290" r:id="rId117"/>
    <p:sldId id="291" r:id="rId11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3"/>
    <p:restoredTop sz="94658"/>
  </p:normalViewPr>
  <p:slideViewPr>
    <p:cSldViewPr snapToGrid="0" snapToObjects="1">
      <p:cViewPr varScale="1">
        <p:scale>
          <a:sx n="84" d="100"/>
          <a:sy n="84" d="100"/>
        </p:scale>
        <p:origin x="205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4" Type="http://schemas.openxmlformats.org/officeDocument/2006/relationships/slide" Target="slides/slide23.xml"/><Relationship Id="rId85" Type="http://schemas.openxmlformats.org/officeDocument/2006/relationships/slide" Target="slides/slide24.xml"/><Relationship Id="rId86" Type="http://schemas.openxmlformats.org/officeDocument/2006/relationships/slide" Target="slides/slide25.xml"/><Relationship Id="rId87" Type="http://schemas.openxmlformats.org/officeDocument/2006/relationships/slide" Target="slides/slide26.xml"/><Relationship Id="rId88" Type="http://schemas.openxmlformats.org/officeDocument/2006/relationships/slide" Target="slides/slide27.xml"/><Relationship Id="rId89" Type="http://schemas.openxmlformats.org/officeDocument/2006/relationships/slide" Target="slides/slide28.xml"/><Relationship Id="rId90" Type="http://schemas.openxmlformats.org/officeDocument/2006/relationships/slide" Target="slides/slide29.xml"/><Relationship Id="rId91" Type="http://schemas.openxmlformats.org/officeDocument/2006/relationships/slide" Target="slides/slide30.xml"/><Relationship Id="rId92" Type="http://schemas.openxmlformats.org/officeDocument/2006/relationships/slide" Target="slides/slide31.xml"/><Relationship Id="rId93" Type="http://schemas.openxmlformats.org/officeDocument/2006/relationships/slide" Target="slides/slide32.xml"/><Relationship Id="rId94" Type="http://schemas.openxmlformats.org/officeDocument/2006/relationships/slide" Target="slides/slide33.xml"/><Relationship Id="rId95" Type="http://schemas.openxmlformats.org/officeDocument/2006/relationships/slide" Target="slides/slide34.xml"/><Relationship Id="rId96" Type="http://schemas.openxmlformats.org/officeDocument/2006/relationships/slide" Target="slides/slide35.xml"/><Relationship Id="rId97" Type="http://schemas.openxmlformats.org/officeDocument/2006/relationships/slide" Target="slides/slide36.xml"/><Relationship Id="rId98" Type="http://schemas.openxmlformats.org/officeDocument/2006/relationships/slide" Target="slides/slide37.xml"/><Relationship Id="rId99" Type="http://schemas.openxmlformats.org/officeDocument/2006/relationships/slide" Target="slides/slide38.xml"/><Relationship Id="rId100" Type="http://schemas.openxmlformats.org/officeDocument/2006/relationships/slide" Target="slides/slide39.xml"/><Relationship Id="rId101" Type="http://schemas.openxmlformats.org/officeDocument/2006/relationships/slide" Target="slides/slide40.xml"/><Relationship Id="rId102" Type="http://schemas.openxmlformats.org/officeDocument/2006/relationships/slide" Target="slides/slide41.xml"/><Relationship Id="rId103" Type="http://schemas.openxmlformats.org/officeDocument/2006/relationships/slide" Target="slides/slide42.xml"/><Relationship Id="rId104" Type="http://schemas.openxmlformats.org/officeDocument/2006/relationships/slide" Target="slides/slide43.xml"/><Relationship Id="rId105" Type="http://schemas.openxmlformats.org/officeDocument/2006/relationships/slide" Target="slides/slide44.xml"/><Relationship Id="rId106" Type="http://schemas.openxmlformats.org/officeDocument/2006/relationships/slide" Target="slides/slide45.xml"/><Relationship Id="rId107" Type="http://schemas.openxmlformats.org/officeDocument/2006/relationships/slide" Target="slides/slide46.xml"/><Relationship Id="rId108" Type="http://schemas.openxmlformats.org/officeDocument/2006/relationships/slide" Target="slides/slide47.xml"/><Relationship Id="rId109" Type="http://schemas.openxmlformats.org/officeDocument/2006/relationships/slide" Target="slides/slide48.xml"/><Relationship Id="rId110" Type="http://schemas.openxmlformats.org/officeDocument/2006/relationships/slide" Target="slides/slide49.xml"/><Relationship Id="rId111" Type="http://schemas.openxmlformats.org/officeDocument/2006/relationships/slide" Target="slides/slide50.xml"/><Relationship Id="rId112" Type="http://schemas.openxmlformats.org/officeDocument/2006/relationships/slide" Target="slides/slide51.xml"/><Relationship Id="rId113" Type="http://schemas.openxmlformats.org/officeDocument/2006/relationships/slide" Target="slides/slide52.xml"/><Relationship Id="rId114" Type="http://schemas.openxmlformats.org/officeDocument/2006/relationships/slide" Target="slides/slide53.xml"/><Relationship Id="rId115" Type="http://schemas.openxmlformats.org/officeDocument/2006/relationships/slide" Target="slides/slide54.xml"/><Relationship Id="rId116" Type="http://schemas.openxmlformats.org/officeDocument/2006/relationships/slide" Target="slides/slide55.xml"/><Relationship Id="rId117" Type="http://schemas.openxmlformats.org/officeDocument/2006/relationships/slide" Target="slides/slide56.xml"/><Relationship Id="rId118" Type="http://schemas.openxmlformats.org/officeDocument/2006/relationships/slide" Target="slides/slide57.xml"/><Relationship Id="rId163" Type="http://schemas.openxmlformats.org/officeDocument/2006/relationships/notesMaster" Target="notesMasters/notesMaster1.xml"/><Relationship Id="rId164" Type="http://schemas.openxmlformats.org/officeDocument/2006/relationships/presProps" Target="presProps.xml"/><Relationship Id="rId165" Type="http://schemas.openxmlformats.org/officeDocument/2006/relationships/viewProps" Target="viewProps.xml"/><Relationship Id="rId166" Type="http://schemas.openxmlformats.org/officeDocument/2006/relationships/theme" Target="theme/theme1.xml"/><Relationship Id="rId16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10/7/26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93</a:t>
            </a:fld>
            <a:endParaRPr lang="en-US" dirty="0"/>
          </a:p>
        </p:txBody>
      </p:sp>
    </p:spTree>
    <p:extLst>
      <p:ext uri="{BB962C8B-B14F-4D97-AF65-F5344CB8AC3E}">
        <p14:creationId xmlns:p14="http://schemas.microsoft.com/office/powerpoint/2010/main" val="109232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 Id="rId9" Type="http://schemas.openxmlformats.org/officeDocument/2006/relationships/image" Target="../media/image91.png"/><Relationship Id="rId10" Type="http://schemas.openxmlformats.org/officeDocument/2006/relationships/image" Target="../media/image92.png"/><Relationship Id="rId11" Type="http://schemas.openxmlformats.org/officeDocument/2006/relationships/image" Target="../media/image93.png"/><Relationship Id="rId12" Type="http://schemas.openxmlformats.org/officeDocument/2006/relationships/image" Target="../media/image94.png"/><Relationship Id="rId13" Type="http://schemas.openxmlformats.org/officeDocument/2006/relationships/image" Target="../media/image95.png"/><Relationship Id="rId14" Type="http://schemas.openxmlformats.org/officeDocument/2006/relationships/image" Target="../media/image9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9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image" Target="../media/image1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 Id="rId6" Type="http://schemas.openxmlformats.org/officeDocument/2006/relationships/image" Target="../media/image131.png"/><Relationship Id="rId7" Type="http://schemas.openxmlformats.org/officeDocument/2006/relationships/image" Target="../media/image1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38.png"/><Relationship Id="rId8" Type="http://schemas.openxmlformats.org/officeDocument/2006/relationships/image" Target="../media/image139.png"/><Relationship Id="rId9" Type="http://schemas.openxmlformats.org/officeDocument/2006/relationships/image" Target="../media/image1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image" Target="../media/image150.png"/><Relationship Id="rId5" Type="http://schemas.openxmlformats.org/officeDocument/2006/relationships/image" Target="../media/image151.png"/><Relationship Id="rId6" Type="http://schemas.openxmlformats.org/officeDocument/2006/relationships/image" Target="../media/image1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image" Target="../media/image16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image" Target="../media/image167.png"/><Relationship Id="rId4" Type="http://schemas.openxmlformats.org/officeDocument/2006/relationships/image" Target="../media/image1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image" Target="../media/image170.png"/><Relationship Id="rId4" Type="http://schemas.openxmlformats.org/officeDocument/2006/relationships/image" Target="../media/image171.png"/><Relationship Id="rId5" Type="http://schemas.openxmlformats.org/officeDocument/2006/relationships/image" Target="../media/image172.png"/><Relationship Id="rId6" Type="http://schemas.openxmlformats.org/officeDocument/2006/relationships/image" Target="../media/image173.png"/><Relationship Id="rId7" Type="http://schemas.openxmlformats.org/officeDocument/2006/relationships/image" Target="../media/image174.png"/></Relationships>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734175" y="3227002"/>
            <a:ext cx="4151041" cy="6526597"/>
          </a:xfrm>
          <a:prstGeom prst="rect">
            <a:avLst/>
          </a:prstGeom>
        </p:spPr>
      </p:pic>
      <p:sp>
        <p:nvSpPr>
          <p:cNvPr id="4" name="TextBox 3"/>
          <p:cNvSpPr txBox="1"/>
          <p:nvPr/>
        </p:nvSpPr>
        <p:spPr>
          <a:xfrm>
            <a:off x="457200" y="738884"/>
            <a:ext cx="10221345" cy="216560"/>
          </a:xfrm>
          <a:prstGeom prst="rect">
            <a:avLst/>
          </a:prstGeom>
          <a:noFill/>
        </p:spPr>
        <p:txBody>
          <a:bodyPr wrap="none" lIns="0" tIns="0" rIns="0" bIns="0">
            <a:noAutofit/>
          </a:bodyPr>
          <a:lstStyle/>
          <a:p>
            <a:pPr algn="l"/>
            <a:r>
              <a:rPr sz="1400" dirty="0">
                <a:solidFill>
                  <a:srgbClr val="000000"/>
                </a:solidFill>
                <a:latin typeface="Helvetica Neue Light"/>
              </a:rPr>
              <a:t>End-to-end design process, including Design Thinking and AI-supported methods, for a trading experience that serves a </a:t>
            </a:r>
          </a:p>
        </p:txBody>
      </p:sp>
      <p:sp>
        <p:nvSpPr>
          <p:cNvPr id="5" name="TextBox 4"/>
          <p:cNvSpPr txBox="1"/>
          <p:nvPr/>
        </p:nvSpPr>
        <p:spPr>
          <a:xfrm>
            <a:off x="457200" y="1056384"/>
            <a:ext cx="7172240" cy="216560"/>
          </a:xfrm>
          <a:prstGeom prst="rect">
            <a:avLst/>
          </a:prstGeom>
          <a:noFill/>
        </p:spPr>
        <p:txBody>
          <a:bodyPr wrap="none" lIns="0" tIns="0" rIns="0" bIns="0">
            <a:noAutofit/>
          </a:bodyPr>
          <a:lstStyle/>
          <a:p>
            <a:pPr algn="l"/>
            <a:r>
              <a:rPr sz="1400" dirty="0">
                <a:solidFill>
                  <a:srgbClr val="000000"/>
                </a:solidFill>
                <a:latin typeface="Helvetica Neue Light"/>
              </a:rPr>
              <a:t>wide variety of Wells Fargo customers and gives them an easier way to trade</a:t>
            </a:r>
          </a:p>
        </p:txBody>
      </p:sp>
      <p:sp>
        <p:nvSpPr>
          <p:cNvPr id="6" name="TextBox 5"/>
          <p:cNvSpPr txBox="1"/>
          <p:nvPr/>
        </p:nvSpPr>
        <p:spPr>
          <a:xfrm>
            <a:off x="457200" y="1675128"/>
            <a:ext cx="3382800" cy="742492"/>
          </a:xfrm>
          <a:prstGeom prst="rect">
            <a:avLst/>
          </a:prstGeom>
          <a:noFill/>
        </p:spPr>
        <p:txBody>
          <a:bodyPr wrap="none" lIns="0" tIns="0" rIns="0" bIns="0">
            <a:noAutofit/>
          </a:bodyPr>
          <a:lstStyle/>
          <a:p>
            <a:pPr algn="l"/>
            <a:r>
              <a:rPr sz="4800" dirty="0">
                <a:solidFill>
                  <a:srgbClr val="000000"/>
                </a:solidFill>
                <a:latin typeface="Helvetica Neue Light"/>
              </a:rPr>
              <a:t>Wells Fargo</a:t>
            </a:r>
          </a:p>
        </p:txBody>
      </p:sp>
      <p:sp>
        <p:nvSpPr>
          <p:cNvPr id="7" name="TextBox 6"/>
          <p:cNvSpPr txBox="1"/>
          <p:nvPr/>
        </p:nvSpPr>
        <p:spPr>
          <a:xfrm>
            <a:off x="457200" y="2654044"/>
            <a:ext cx="3430795" cy="371246"/>
          </a:xfrm>
          <a:prstGeom prst="rect">
            <a:avLst/>
          </a:prstGeom>
          <a:noFill/>
        </p:spPr>
        <p:txBody>
          <a:bodyPr wrap="none" lIns="0" tIns="0" rIns="0" bIns="0">
            <a:noAutofit/>
          </a:bodyPr>
          <a:lstStyle/>
          <a:p>
            <a:pPr algn="l"/>
            <a:r>
              <a:rPr sz="2400" dirty="0">
                <a:solidFill>
                  <a:srgbClr val="000000"/>
                </a:solidFill>
                <a:latin typeface="Helvetica Neue Light"/>
              </a:rPr>
              <a:t>Integrated Trade Ticket </a:t>
            </a:r>
          </a:p>
        </p:txBody>
      </p:sp>
      <p:sp>
        <p:nvSpPr>
          <p:cNvPr id="8" name="TextBox 7"/>
          <p:cNvSpPr txBox="1"/>
          <p:nvPr/>
        </p:nvSpPr>
        <p:spPr>
          <a:xfrm>
            <a:off x="457200" y="4281930"/>
            <a:ext cx="5448485" cy="278434"/>
          </a:xfrm>
          <a:prstGeom prst="rect">
            <a:avLst/>
          </a:prstGeom>
          <a:noFill/>
        </p:spPr>
        <p:txBody>
          <a:bodyPr wrap="none" lIns="0" tIns="0" rIns="0" bIns="0">
            <a:noAutofit/>
          </a:bodyPr>
          <a:lstStyle/>
          <a:p>
            <a:pPr algn="l"/>
            <a:r>
              <a:rPr sz="1800" dirty="0">
                <a:solidFill>
                  <a:srgbClr val="000000"/>
                </a:solidFill>
                <a:latin typeface="Helvetica Neue Light"/>
              </a:rPr>
              <a:t>Helping Wells Fargo increase revenue by allowing </a:t>
            </a:r>
          </a:p>
        </p:txBody>
      </p:sp>
      <p:sp>
        <p:nvSpPr>
          <p:cNvPr id="9" name="TextBox 8"/>
          <p:cNvSpPr txBox="1"/>
          <p:nvPr/>
        </p:nvSpPr>
        <p:spPr>
          <a:xfrm>
            <a:off x="457200" y="4726430"/>
            <a:ext cx="4591317" cy="278434"/>
          </a:xfrm>
          <a:prstGeom prst="rect">
            <a:avLst/>
          </a:prstGeom>
          <a:noFill/>
        </p:spPr>
        <p:txBody>
          <a:bodyPr wrap="none" lIns="0" tIns="0" rIns="0" bIns="0">
            <a:noAutofit/>
          </a:bodyPr>
          <a:lstStyle/>
          <a:p>
            <a:pPr algn="l"/>
            <a:r>
              <a:rPr sz="1800" dirty="0">
                <a:solidFill>
                  <a:srgbClr val="000000"/>
                </a:solidFill>
                <a:latin typeface="Helvetica Neue Light"/>
              </a:rPr>
              <a:t>users to transact by share or dollar amount</a:t>
            </a:r>
          </a:p>
        </p:txBody>
      </p:sp>
      <p:sp>
        <p:nvSpPr>
          <p:cNvPr id="10" name="TextBox 9"/>
          <p:cNvSpPr txBox="1"/>
          <p:nvPr/>
        </p:nvSpPr>
        <p:spPr>
          <a:xfrm>
            <a:off x="1080818" y="6647178"/>
            <a:ext cx="5331102" cy="309372"/>
          </a:xfrm>
          <a:prstGeom prst="rect">
            <a:avLst/>
          </a:prstGeom>
          <a:noFill/>
        </p:spPr>
        <p:txBody>
          <a:bodyPr wrap="none" lIns="0" tIns="0" rIns="0" bIns="0">
            <a:noAutofit/>
          </a:bodyPr>
          <a:lstStyle/>
          <a:p>
            <a:pPr algn="l"/>
            <a:r>
              <a:rPr sz="2000" dirty="0">
                <a:solidFill>
                  <a:srgbClr val="000000"/>
                </a:solidFill>
                <a:latin typeface="Helvetica Neue Light"/>
              </a:rPr>
              <a:t>“It’s a confusing interface, the app’s interface </a:t>
            </a:r>
          </a:p>
        </p:txBody>
      </p:sp>
      <p:sp>
        <p:nvSpPr>
          <p:cNvPr id="11" name="TextBox 10"/>
          <p:cNvSpPr txBox="1"/>
          <p:nvPr/>
        </p:nvSpPr>
        <p:spPr>
          <a:xfrm>
            <a:off x="1089454" y="7040878"/>
            <a:ext cx="5312504" cy="309372"/>
          </a:xfrm>
          <a:prstGeom prst="rect">
            <a:avLst/>
          </a:prstGeom>
          <a:noFill/>
        </p:spPr>
        <p:txBody>
          <a:bodyPr wrap="none" lIns="0" tIns="0" rIns="0" bIns="0">
            <a:noAutofit/>
          </a:bodyPr>
          <a:lstStyle/>
          <a:p>
            <a:pPr algn="l"/>
            <a:r>
              <a:rPr sz="2000" dirty="0">
                <a:solidFill>
                  <a:srgbClr val="000000"/>
                </a:solidFill>
                <a:latin typeface="Helvetica Neue Light"/>
              </a:rPr>
              <a:t>is non-intuitive, making it difficult to navigate </a:t>
            </a:r>
          </a:p>
        </p:txBody>
      </p:sp>
      <p:sp>
        <p:nvSpPr>
          <p:cNvPr id="12" name="TextBox 11"/>
          <p:cNvSpPr txBox="1"/>
          <p:nvPr/>
        </p:nvSpPr>
        <p:spPr>
          <a:xfrm>
            <a:off x="1163233" y="7434578"/>
            <a:ext cx="5153150" cy="309372"/>
          </a:xfrm>
          <a:prstGeom prst="rect">
            <a:avLst/>
          </a:prstGeom>
          <a:noFill/>
        </p:spPr>
        <p:txBody>
          <a:bodyPr wrap="none" lIns="0" tIns="0" rIns="0" bIns="0">
            <a:noAutofit/>
          </a:bodyPr>
          <a:lstStyle/>
          <a:p>
            <a:pPr algn="l"/>
            <a:r>
              <a:rPr sz="2000" dirty="0">
                <a:solidFill>
                  <a:srgbClr val="000000"/>
                </a:solidFill>
                <a:latin typeface="Helvetica Neue Light"/>
              </a:rPr>
              <a:t>and find specific functions or features. This </a:t>
            </a:r>
          </a:p>
        </p:txBody>
      </p:sp>
      <p:sp>
        <p:nvSpPr>
          <p:cNvPr id="13" name="TextBox 12"/>
          <p:cNvSpPr txBox="1"/>
          <p:nvPr/>
        </p:nvSpPr>
        <p:spPr>
          <a:xfrm>
            <a:off x="1071281" y="7828278"/>
            <a:ext cx="5351759" cy="309372"/>
          </a:xfrm>
          <a:prstGeom prst="rect">
            <a:avLst/>
          </a:prstGeom>
          <a:noFill/>
        </p:spPr>
        <p:txBody>
          <a:bodyPr wrap="none" lIns="0" tIns="0" rIns="0" bIns="0">
            <a:noAutofit/>
          </a:bodyPr>
          <a:lstStyle/>
          <a:p>
            <a:pPr algn="l"/>
            <a:r>
              <a:rPr sz="2000" dirty="0">
                <a:solidFill>
                  <a:srgbClr val="000000"/>
                </a:solidFill>
                <a:latin typeface="Helvetica Neue Light"/>
              </a:rPr>
              <a:t>extends to both basic banking functions and </a:t>
            </a:r>
          </a:p>
        </p:txBody>
      </p:sp>
      <p:sp>
        <p:nvSpPr>
          <p:cNvPr id="14" name="TextBox 13"/>
          <p:cNvSpPr txBox="1"/>
          <p:nvPr/>
        </p:nvSpPr>
        <p:spPr>
          <a:xfrm>
            <a:off x="1886997" y="8221978"/>
            <a:ext cx="3518753" cy="309372"/>
          </a:xfrm>
          <a:prstGeom prst="rect">
            <a:avLst/>
          </a:prstGeom>
          <a:noFill/>
        </p:spPr>
        <p:txBody>
          <a:bodyPr wrap="none" lIns="0" tIns="0" rIns="0" bIns="0">
            <a:noAutofit/>
          </a:bodyPr>
          <a:lstStyle/>
          <a:p>
            <a:pPr algn="l"/>
            <a:r>
              <a:rPr sz="2000" dirty="0">
                <a:solidFill>
                  <a:srgbClr val="000000"/>
                </a:solidFill>
                <a:latin typeface="Helvetica Neue Light"/>
              </a:rPr>
              <a:t>the stock trading capabilities.”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5504178"/>
            <a:ext cx="1763653" cy="309371"/>
          </a:xfrm>
          <a:prstGeom prst="rect">
            <a:avLst/>
          </a:prstGeom>
          <a:noFill/>
        </p:spPr>
        <p:txBody>
          <a:bodyPr wrap="none" lIns="0" tIns="0" rIns="0" bIns="0">
            <a:noAutofit/>
          </a:bodyPr>
          <a:lstStyle/>
          <a:p>
            <a:pPr algn="l"/>
            <a:r>
              <a:rPr sz="2000" dirty="0">
                <a:solidFill>
                  <a:srgbClr val="000000"/>
                </a:solidFill>
                <a:latin typeface="Helvetica Neue Light"/>
              </a:rPr>
              <a:t>The problems </a:t>
            </a:r>
          </a:p>
        </p:txBody>
      </p:sp>
      <p:sp>
        <p:nvSpPr>
          <p:cNvPr id="4" name="TextBox 3"/>
          <p:cNvSpPr txBox="1"/>
          <p:nvPr/>
        </p:nvSpPr>
        <p:spPr>
          <a:xfrm>
            <a:off x="457200" y="5911746"/>
            <a:ext cx="6542719" cy="266090"/>
          </a:xfrm>
          <a:prstGeom prst="rect">
            <a:avLst/>
          </a:prstGeom>
          <a:noFill/>
        </p:spPr>
        <p:txBody>
          <a:bodyPr wrap="none" lIns="0" tIns="0" rIns="0" bIns="0">
            <a:noAutofit/>
          </a:bodyPr>
          <a:lstStyle/>
          <a:p>
            <a:pPr algn="l"/>
            <a:r>
              <a:rPr sz="1800" dirty="0">
                <a:solidFill>
                  <a:srgbClr val="000000"/>
                </a:solidFill>
                <a:latin typeface="Helvetica Neue Thin"/>
              </a:rPr>
              <a:t>• WIM investors don’t have a way to trade in both shares and </a:t>
            </a:r>
          </a:p>
        </p:txBody>
      </p:sp>
      <p:sp>
        <p:nvSpPr>
          <p:cNvPr id="5" name="TextBox 4"/>
          <p:cNvSpPr txBox="1"/>
          <p:nvPr/>
        </p:nvSpPr>
        <p:spPr>
          <a:xfrm>
            <a:off x="685800" y="6292746"/>
            <a:ext cx="745049" cy="266090"/>
          </a:xfrm>
          <a:prstGeom prst="rect">
            <a:avLst/>
          </a:prstGeom>
          <a:noFill/>
        </p:spPr>
        <p:txBody>
          <a:bodyPr wrap="none" lIns="0" tIns="0" rIns="0" bIns="0">
            <a:noAutofit/>
          </a:bodyPr>
          <a:lstStyle/>
          <a:p>
            <a:pPr algn="l"/>
            <a:r>
              <a:rPr sz="1800" dirty="0">
                <a:solidFill>
                  <a:srgbClr val="000000"/>
                </a:solidFill>
                <a:latin typeface="Helvetica Neue Thin"/>
              </a:rPr>
              <a:t>dollars</a:t>
            </a:r>
          </a:p>
        </p:txBody>
      </p:sp>
      <p:sp>
        <p:nvSpPr>
          <p:cNvPr id="6" name="TextBox 5"/>
          <p:cNvSpPr txBox="1"/>
          <p:nvPr/>
        </p:nvSpPr>
        <p:spPr>
          <a:xfrm>
            <a:off x="457200" y="6607707"/>
            <a:ext cx="5943322" cy="713129"/>
          </a:xfrm>
          <a:prstGeom prst="rect">
            <a:avLst/>
          </a:prstGeom>
          <a:noFill/>
        </p:spPr>
        <p:txBody>
          <a:bodyPr wrap="square" lIns="0" tIns="0" rIns="0" bIns="0">
            <a:noAutofit/>
          </a:bodyPr>
          <a:lstStyle/>
          <a:p>
            <a:pPr marL="228600" indent="-228600" algn="l">
              <a:lnSpc>
                <a:spcPts val="3000"/>
              </a:lnSpc>
            </a:pPr>
            <a:r>
              <a:rPr sz="1800" dirty="0">
                <a:solidFill>
                  <a:srgbClr val="000000"/>
                </a:solidFill>
                <a:latin typeface="Helvetica Neue Thin"/>
              </a:rPr>
              <a:t>•	Needing a trade ticket that simplifies the current trading pro</a:t>
            </a:r>
            <a:r>
              <a:rPr sz="1800" dirty="0" err="1">
                <a:solidFill>
                  <a:srgbClr val="000000"/>
                </a:solidFill>
                <a:latin typeface="Helvetica Neue Thin"/>
              </a:rPr>
              <a:t>cess in the native mobile app</a:t>
            </a:r>
          </a:p>
        </p:txBody>
      </p:sp>
      <p:sp>
        <p:nvSpPr>
          <p:cNvPr id="8" name="TextBox 7"/>
          <p:cNvSpPr txBox="1"/>
          <p:nvPr/>
        </p:nvSpPr>
        <p:spPr>
          <a:xfrm>
            <a:off x="457200" y="7435747"/>
            <a:ext cx="2332045" cy="266089"/>
          </a:xfrm>
          <a:prstGeom prst="rect">
            <a:avLst/>
          </a:prstGeom>
          <a:noFill/>
        </p:spPr>
        <p:txBody>
          <a:bodyPr wrap="none" lIns="0" tIns="0" rIns="0" bIns="0">
            <a:noAutofit/>
          </a:bodyPr>
          <a:lstStyle/>
          <a:p>
            <a:pPr algn="l"/>
            <a:r>
              <a:rPr sz="1800" dirty="0">
                <a:solidFill>
                  <a:srgbClr val="000000"/>
                </a:solidFill>
                <a:latin typeface="Helvetica Neue Thin"/>
              </a:rPr>
              <a:t>• Confusing Interface</a:t>
            </a:r>
          </a:p>
        </p:txBody>
      </p:sp>
      <p:sp>
        <p:nvSpPr>
          <p:cNvPr id="9" name="TextBox 8"/>
          <p:cNvSpPr txBox="1"/>
          <p:nvPr/>
        </p:nvSpPr>
        <p:spPr>
          <a:xfrm>
            <a:off x="457200" y="7816747"/>
            <a:ext cx="2423147" cy="266089"/>
          </a:xfrm>
          <a:prstGeom prst="rect">
            <a:avLst/>
          </a:prstGeom>
          <a:noFill/>
        </p:spPr>
        <p:txBody>
          <a:bodyPr wrap="none" lIns="0" tIns="0" rIns="0" bIns="0">
            <a:noAutofit/>
          </a:bodyPr>
          <a:lstStyle/>
          <a:p>
            <a:pPr algn="l"/>
            <a:r>
              <a:rPr sz="1800" dirty="0">
                <a:solidFill>
                  <a:srgbClr val="000000"/>
                </a:solidFill>
                <a:latin typeface="Helvetica Neue Thin"/>
              </a:rPr>
              <a:t>• Limited Functionality</a:t>
            </a:r>
          </a:p>
        </p:txBody>
      </p:sp>
      <p:sp>
        <p:nvSpPr>
          <p:cNvPr id="10" name="TextBox 9"/>
          <p:cNvSpPr txBox="1"/>
          <p:nvPr/>
        </p:nvSpPr>
        <p:spPr>
          <a:xfrm>
            <a:off x="457200" y="8197747"/>
            <a:ext cx="1998499" cy="266089"/>
          </a:xfrm>
          <a:prstGeom prst="rect">
            <a:avLst/>
          </a:prstGeom>
          <a:noFill/>
        </p:spPr>
        <p:txBody>
          <a:bodyPr wrap="none" lIns="0" tIns="0" rIns="0" bIns="0">
            <a:noAutofit/>
          </a:bodyPr>
          <a:lstStyle/>
          <a:p>
            <a:pPr algn="l"/>
            <a:r>
              <a:rPr sz="1800" dirty="0">
                <a:solidFill>
                  <a:srgbClr val="000000"/>
                </a:solidFill>
                <a:latin typeface="Helvetica Neue Thin"/>
              </a:rPr>
              <a:t>• Technical Issues</a:t>
            </a:r>
          </a:p>
        </p:txBody>
      </p:sp>
      <p:sp>
        <p:nvSpPr>
          <p:cNvPr id="11" name="TextBox 10"/>
          <p:cNvSpPr txBox="1"/>
          <p:nvPr/>
        </p:nvSpPr>
        <p:spPr>
          <a:xfrm>
            <a:off x="457200" y="8578747"/>
            <a:ext cx="3114902" cy="266089"/>
          </a:xfrm>
          <a:prstGeom prst="rect">
            <a:avLst/>
          </a:prstGeom>
          <a:noFill/>
        </p:spPr>
        <p:txBody>
          <a:bodyPr wrap="none" lIns="0" tIns="0" rIns="0" bIns="0">
            <a:noAutofit/>
          </a:bodyPr>
          <a:lstStyle/>
          <a:p>
            <a:pPr algn="l"/>
            <a:r>
              <a:rPr sz="1800" dirty="0">
                <a:solidFill>
                  <a:srgbClr val="000000"/>
                </a:solidFill>
                <a:latin typeface="Helvetica Neue Thin"/>
              </a:rPr>
              <a:t>• Lack of Real-Time Updates</a:t>
            </a:r>
          </a:p>
        </p:txBody>
      </p:sp>
      <p:sp>
        <p:nvSpPr>
          <p:cNvPr id="12" name="TextBox 11"/>
          <p:cNvSpPr txBox="1"/>
          <p:nvPr/>
        </p:nvSpPr>
        <p:spPr>
          <a:xfrm>
            <a:off x="457200" y="8959747"/>
            <a:ext cx="2763111" cy="266089"/>
          </a:xfrm>
          <a:prstGeom prst="rect">
            <a:avLst/>
          </a:prstGeom>
          <a:noFill/>
        </p:spPr>
        <p:txBody>
          <a:bodyPr wrap="none" lIns="0" tIns="0" rIns="0" bIns="0">
            <a:noAutofit/>
          </a:bodyPr>
          <a:lstStyle/>
          <a:p>
            <a:pPr algn="l"/>
            <a:r>
              <a:rPr sz="1800" dirty="0">
                <a:solidFill>
                  <a:srgbClr val="000000"/>
                </a:solidFill>
                <a:latin typeface="Helvetica Neue Thin"/>
              </a:rPr>
              <a:t>• Poor Customer Support</a:t>
            </a:r>
          </a:p>
        </p:txBody>
      </p:sp>
      <p:sp>
        <p:nvSpPr>
          <p:cNvPr id="13" name="TextBox 12"/>
          <p:cNvSpPr txBox="1"/>
          <p:nvPr/>
        </p:nvSpPr>
        <p:spPr>
          <a:xfrm>
            <a:off x="457200" y="2046476"/>
            <a:ext cx="4722766" cy="340309"/>
          </a:xfrm>
          <a:prstGeom prst="rect">
            <a:avLst/>
          </a:prstGeom>
          <a:noFill/>
        </p:spPr>
        <p:txBody>
          <a:bodyPr wrap="none" lIns="0" tIns="0" rIns="0" bIns="0">
            <a:noAutofit/>
          </a:bodyPr>
          <a:lstStyle/>
          <a:p>
            <a:pPr algn="l"/>
            <a:r>
              <a:rPr sz="2200" dirty="0">
                <a:solidFill>
                  <a:srgbClr val="000000"/>
                </a:solidFill>
                <a:latin typeface="Helvetica Neue Light"/>
              </a:rPr>
              <a:t>What’s the Integrated Trade Ticket? </a:t>
            </a:r>
          </a:p>
        </p:txBody>
      </p:sp>
      <p:sp>
        <p:nvSpPr>
          <p:cNvPr id="14" name="TextBox 13"/>
          <p:cNvSpPr txBox="1"/>
          <p:nvPr/>
        </p:nvSpPr>
        <p:spPr>
          <a:xfrm>
            <a:off x="457200" y="2492500"/>
            <a:ext cx="6339037" cy="295655"/>
          </a:xfrm>
          <a:prstGeom prst="rect">
            <a:avLst/>
          </a:prstGeom>
          <a:noFill/>
        </p:spPr>
        <p:txBody>
          <a:bodyPr wrap="none" lIns="0" tIns="0" rIns="0" bIns="0">
            <a:noAutofit/>
          </a:bodyPr>
          <a:lstStyle/>
          <a:p>
            <a:pPr algn="l"/>
            <a:r>
              <a:rPr sz="2000" dirty="0">
                <a:solidFill>
                  <a:srgbClr val="000000"/>
                </a:solidFill>
                <a:latin typeface="Helvetica Neue Thin"/>
              </a:rPr>
              <a:t>An integrated trade platform that simplifies the trading </a:t>
            </a:r>
          </a:p>
        </p:txBody>
      </p:sp>
      <p:sp>
        <p:nvSpPr>
          <p:cNvPr id="15" name="TextBox 14"/>
          <p:cNvSpPr txBox="1"/>
          <p:nvPr/>
        </p:nvSpPr>
        <p:spPr>
          <a:xfrm>
            <a:off x="457200" y="2911600"/>
            <a:ext cx="6627073" cy="295655"/>
          </a:xfrm>
          <a:prstGeom prst="rect">
            <a:avLst/>
          </a:prstGeom>
          <a:noFill/>
        </p:spPr>
        <p:txBody>
          <a:bodyPr wrap="none" lIns="0" tIns="0" rIns="0" bIns="0">
            <a:noAutofit/>
          </a:bodyPr>
          <a:lstStyle/>
          <a:p>
            <a:pPr algn="l"/>
            <a:r>
              <a:rPr sz="2000" dirty="0">
                <a:solidFill>
                  <a:srgbClr val="000000"/>
                </a:solidFill>
                <a:latin typeface="Helvetica Neue Thin"/>
              </a:rPr>
              <a:t>process, reduces the likelihood of errors, and enhances </a:t>
            </a:r>
          </a:p>
        </p:txBody>
      </p:sp>
      <p:sp>
        <p:nvSpPr>
          <p:cNvPr id="16" name="TextBox 15"/>
          <p:cNvSpPr txBox="1"/>
          <p:nvPr/>
        </p:nvSpPr>
        <p:spPr>
          <a:xfrm>
            <a:off x="457200" y="3330700"/>
            <a:ext cx="6687397" cy="295655"/>
          </a:xfrm>
          <a:prstGeom prst="rect">
            <a:avLst/>
          </a:prstGeom>
          <a:noFill/>
        </p:spPr>
        <p:txBody>
          <a:bodyPr wrap="none" lIns="0" tIns="0" rIns="0" bIns="0">
            <a:noAutofit/>
          </a:bodyPr>
          <a:lstStyle/>
          <a:p>
            <a:pPr algn="l"/>
            <a:r>
              <a:rPr sz="2000" dirty="0">
                <a:solidFill>
                  <a:srgbClr val="000000"/>
                </a:solidFill>
                <a:latin typeface="Helvetica Neue Thin"/>
              </a:rPr>
              <a:t>overall </a:t>
            </a:r>
            <a:r>
              <a:rPr lang="en-US" sz="2000" dirty="0">
                <a:solidFill>
                  <a:srgbClr val="000000"/>
                </a:solidFill>
                <a:latin typeface="Helvetica Neue Thin"/>
              </a:rPr>
              <a:t>efficiency</a:t>
            </a:r>
            <a:r>
              <a:rPr sz="2000" dirty="0">
                <a:solidFill>
                  <a:srgbClr val="000000"/>
                </a:solidFill>
                <a:latin typeface="Helvetica Neue Thin"/>
              </a:rPr>
              <a:t>, while giving users the ability to trade in </a:t>
            </a:r>
          </a:p>
        </p:txBody>
      </p:sp>
      <p:sp>
        <p:nvSpPr>
          <p:cNvPr id="17" name="TextBox 16"/>
          <p:cNvSpPr txBox="1"/>
          <p:nvPr/>
        </p:nvSpPr>
        <p:spPr>
          <a:xfrm>
            <a:off x="457200" y="3749800"/>
            <a:ext cx="6672337" cy="295655"/>
          </a:xfrm>
          <a:prstGeom prst="rect">
            <a:avLst/>
          </a:prstGeom>
          <a:noFill/>
        </p:spPr>
        <p:txBody>
          <a:bodyPr wrap="none" lIns="0" tIns="0" rIns="0" bIns="0">
            <a:noAutofit/>
          </a:bodyPr>
          <a:lstStyle/>
          <a:p>
            <a:pPr algn="l"/>
            <a:r>
              <a:rPr sz="2000" dirty="0">
                <a:solidFill>
                  <a:srgbClr val="000000"/>
                </a:solidFill>
                <a:latin typeface="Helvetica Neue Thin"/>
              </a:rPr>
              <a:t>shares or dollar amounts and all the needs they have for </a:t>
            </a:r>
          </a:p>
        </p:txBody>
      </p:sp>
      <p:sp>
        <p:nvSpPr>
          <p:cNvPr id="18" name="TextBox 17"/>
          <p:cNvSpPr txBox="1"/>
          <p:nvPr/>
        </p:nvSpPr>
        <p:spPr>
          <a:xfrm>
            <a:off x="457200" y="4168900"/>
            <a:ext cx="2499380" cy="295655"/>
          </a:xfrm>
          <a:prstGeom prst="rect">
            <a:avLst/>
          </a:prstGeom>
          <a:noFill/>
        </p:spPr>
        <p:txBody>
          <a:bodyPr wrap="none" lIns="0" tIns="0" rIns="0" bIns="0">
            <a:noAutofit/>
          </a:bodyPr>
          <a:lstStyle/>
          <a:p>
            <a:pPr algn="l"/>
            <a:r>
              <a:rPr sz="2000" dirty="0">
                <a:solidFill>
                  <a:srgbClr val="000000"/>
                </a:solidFill>
                <a:latin typeface="Helvetica Neue Thin"/>
              </a:rPr>
              <a:t>self-directed trading. </a:t>
            </a:r>
          </a:p>
        </p:txBody>
      </p:sp>
      <p:sp>
        <p:nvSpPr>
          <p:cNvPr id="19" name="TextBox 18"/>
          <p:cNvSpPr txBox="1"/>
          <p:nvPr/>
        </p:nvSpPr>
        <p:spPr>
          <a:xfrm>
            <a:off x="8851900" y="21165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20" name="TextBox 19"/>
          <p:cNvSpPr txBox="1"/>
          <p:nvPr/>
        </p:nvSpPr>
        <p:spPr>
          <a:xfrm>
            <a:off x="8763000" y="2526179"/>
            <a:ext cx="2800146" cy="266090"/>
          </a:xfrm>
          <a:prstGeom prst="rect">
            <a:avLst/>
          </a:prstGeom>
          <a:noFill/>
        </p:spPr>
        <p:txBody>
          <a:bodyPr wrap="none" lIns="0" tIns="0" rIns="0" bIns="0">
            <a:noAutofit/>
          </a:bodyPr>
          <a:lstStyle/>
          <a:p>
            <a:pPr algn="l"/>
            <a:r>
              <a:rPr sz="1800" dirty="0">
                <a:solidFill>
                  <a:srgbClr val="FFFFFF"/>
                </a:solidFill>
                <a:latin typeface="Helvetica Neue Thin"/>
              </a:rPr>
              <a:t>•  Experienced consumer </a:t>
            </a:r>
          </a:p>
        </p:txBody>
      </p:sp>
      <p:sp>
        <p:nvSpPr>
          <p:cNvPr id="21" name="TextBox 20"/>
          <p:cNvSpPr txBox="1"/>
          <p:nvPr/>
        </p:nvSpPr>
        <p:spPr>
          <a:xfrm>
            <a:off x="8991600" y="2907179"/>
            <a:ext cx="783809" cy="266090"/>
          </a:xfrm>
          <a:prstGeom prst="rect">
            <a:avLst/>
          </a:prstGeom>
          <a:noFill/>
        </p:spPr>
        <p:txBody>
          <a:bodyPr wrap="none" lIns="0" tIns="0" rIns="0" bIns="0">
            <a:noAutofit/>
          </a:bodyPr>
          <a:lstStyle/>
          <a:p>
            <a:pPr algn="l"/>
            <a:r>
              <a:rPr sz="1800" dirty="0">
                <a:solidFill>
                  <a:srgbClr val="FFFFFF"/>
                </a:solidFill>
                <a:latin typeface="Helvetica Neue Thin"/>
              </a:rPr>
              <a:t>traders</a:t>
            </a:r>
          </a:p>
        </p:txBody>
      </p:sp>
      <p:sp>
        <p:nvSpPr>
          <p:cNvPr id="22" name="TextBox 21"/>
          <p:cNvSpPr txBox="1"/>
          <p:nvPr/>
        </p:nvSpPr>
        <p:spPr>
          <a:xfrm>
            <a:off x="8763000" y="3288181"/>
            <a:ext cx="2271535" cy="266090"/>
          </a:xfrm>
          <a:prstGeom prst="rect">
            <a:avLst/>
          </a:prstGeom>
          <a:noFill/>
        </p:spPr>
        <p:txBody>
          <a:bodyPr wrap="none" lIns="0" tIns="0" rIns="0" bIns="0">
            <a:noAutofit/>
          </a:bodyPr>
          <a:lstStyle/>
          <a:p>
            <a:pPr algn="l"/>
            <a:r>
              <a:rPr sz="1800" dirty="0">
                <a:solidFill>
                  <a:srgbClr val="FFFFFF"/>
                </a:solidFill>
                <a:latin typeface="Helvetica Neue Thin"/>
              </a:rPr>
              <a:t>• Novice consumer  </a:t>
            </a:r>
          </a:p>
        </p:txBody>
      </p:sp>
      <p:sp>
        <p:nvSpPr>
          <p:cNvPr id="23" name="TextBox 22"/>
          <p:cNvSpPr txBox="1"/>
          <p:nvPr/>
        </p:nvSpPr>
        <p:spPr>
          <a:xfrm>
            <a:off x="8991600" y="3669181"/>
            <a:ext cx="783809" cy="266090"/>
          </a:xfrm>
          <a:prstGeom prst="rect">
            <a:avLst/>
          </a:prstGeom>
          <a:noFill/>
        </p:spPr>
        <p:txBody>
          <a:bodyPr wrap="none" lIns="0" tIns="0" rIns="0" bIns="0">
            <a:noAutofit/>
          </a:bodyPr>
          <a:lstStyle/>
          <a:p>
            <a:pPr algn="l"/>
            <a:r>
              <a:rPr sz="1800" dirty="0">
                <a:solidFill>
                  <a:srgbClr val="FFFFFF"/>
                </a:solidFill>
                <a:latin typeface="Helvetica Neue Thin"/>
              </a:rPr>
              <a:t>traders</a:t>
            </a:r>
          </a:p>
        </p:txBody>
      </p:sp>
      <p:sp>
        <p:nvSpPr>
          <p:cNvPr id="24" name="TextBox 23"/>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Wells Fargo Integrated Trade Ticket</a:t>
            </a:r>
          </a:p>
        </p:txBody>
      </p:sp>
      <p:sp>
        <p:nvSpPr>
          <p:cNvPr id="25" name="TextBox 24"/>
          <p:cNvSpPr txBox="1"/>
          <p:nvPr/>
        </p:nvSpPr>
        <p:spPr>
          <a:xfrm>
            <a:off x="7950201" y="5526275"/>
            <a:ext cx="807046" cy="247497"/>
          </a:xfrm>
          <a:prstGeom prst="rect">
            <a:avLst/>
          </a:prstGeom>
          <a:noFill/>
        </p:spPr>
        <p:txBody>
          <a:bodyPr wrap="none" lIns="0" tIns="0" rIns="0" bIns="0">
            <a:noAutofit/>
          </a:bodyPr>
          <a:lstStyle/>
          <a:p>
            <a:pPr algn="l"/>
            <a:r>
              <a:rPr sz="1600" dirty="0">
                <a:solidFill>
                  <a:srgbClr val="000000"/>
                </a:solidFill>
                <a:latin typeface="Helvetica Neue Light"/>
              </a:rPr>
              <a:t>My Role</a:t>
            </a:r>
          </a:p>
        </p:txBody>
      </p:sp>
      <p:sp>
        <p:nvSpPr>
          <p:cNvPr id="26" name="TextBox 25"/>
          <p:cNvSpPr txBox="1"/>
          <p:nvPr/>
        </p:nvSpPr>
        <p:spPr>
          <a:xfrm>
            <a:off x="7950201" y="5856932"/>
            <a:ext cx="4131784" cy="206959"/>
          </a:xfrm>
          <a:prstGeom prst="rect">
            <a:avLst/>
          </a:prstGeom>
          <a:noFill/>
        </p:spPr>
        <p:txBody>
          <a:bodyPr wrap="none" lIns="0" tIns="0" rIns="0" bIns="0">
            <a:noAutofit/>
          </a:bodyPr>
          <a:lstStyle/>
          <a:p>
            <a:pPr algn="l"/>
            <a:r>
              <a:rPr sz="1400" dirty="0">
                <a:solidFill>
                  <a:srgbClr val="000000"/>
                </a:solidFill>
                <a:latin typeface="Helvetica Neue Thin"/>
              </a:rPr>
              <a:t>• I led the project team utilizing the support of 2  </a:t>
            </a:r>
          </a:p>
        </p:txBody>
      </p:sp>
      <p:sp>
        <p:nvSpPr>
          <p:cNvPr id="27" name="TextBox 26"/>
          <p:cNvSpPr txBox="1"/>
          <p:nvPr/>
        </p:nvSpPr>
        <p:spPr>
          <a:xfrm>
            <a:off x="8178801" y="6161732"/>
            <a:ext cx="1201793" cy="206959"/>
          </a:xfrm>
          <a:prstGeom prst="rect">
            <a:avLst/>
          </a:prstGeom>
          <a:noFill/>
        </p:spPr>
        <p:txBody>
          <a:bodyPr wrap="none" lIns="0" tIns="0" rIns="0" bIns="0">
            <a:noAutofit/>
          </a:bodyPr>
          <a:lstStyle/>
          <a:p>
            <a:pPr algn="l"/>
            <a:r>
              <a:rPr sz="1400" dirty="0">
                <a:solidFill>
                  <a:srgbClr val="000000"/>
                </a:solidFill>
                <a:latin typeface="Helvetica Neue Thin"/>
              </a:rPr>
              <a:t>UX designers.</a:t>
            </a:r>
          </a:p>
        </p:txBody>
      </p:sp>
      <p:sp>
        <p:nvSpPr>
          <p:cNvPr id="28" name="TextBox 27"/>
          <p:cNvSpPr txBox="1"/>
          <p:nvPr/>
        </p:nvSpPr>
        <p:spPr>
          <a:xfrm>
            <a:off x="7950201" y="6410652"/>
            <a:ext cx="4057689" cy="11772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was responsible for managing the discovery process, including research, strategy and overall hands-on design of the material and artifacts, supported by AI applications.</a:t>
            </a:r>
          </a:p>
        </p:txBody>
      </p:sp>
      <p:sp>
        <p:nvSpPr>
          <p:cNvPr id="32" name="TextBox 31"/>
          <p:cNvSpPr txBox="1"/>
          <p:nvPr/>
        </p:nvSpPr>
        <p:spPr>
          <a:xfrm>
            <a:off x="7950201" y="7629852"/>
            <a:ext cx="4212451" cy="8724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led the work on all deliverables and artifacts in Figma using Lean UX and usability testing, presenting these to the client and key stakeholders.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47460"/>
            <a:ext cx="13004800" cy="9753600"/>
          </a:xfrm>
          <a:prstGeom prst="rect">
            <a:avLst/>
          </a:prstGeom>
        </p:spPr>
      </p:pic>
      <p:sp>
        <p:nvSpPr>
          <p:cNvPr id="3" name="TextBox 2"/>
          <p:cNvSpPr txBox="1"/>
          <p:nvPr/>
        </p:nvSpPr>
        <p:spPr>
          <a:xfrm>
            <a:off x="457200" y="939800"/>
            <a:ext cx="5626100" cy="476250"/>
          </a:xfrm>
          <a:prstGeom prst="rect">
            <a:avLst/>
          </a:prstGeom>
          <a:noFill/>
        </p:spPr>
        <p:txBody>
          <a:bodyPr wrap="none" lIns="0" tIns="0" rIns="0" bIns="0">
            <a:noAutofit/>
          </a:bodyPr>
          <a:lstStyle/>
          <a:p>
            <a:pPr algn="l"/>
            <a:r>
              <a:rPr sz="3000" dirty="0">
                <a:solidFill>
                  <a:srgbClr val="1F1F1F"/>
                </a:solidFill>
                <a:latin typeface="Helvetica Neue Light"/>
              </a:rPr>
              <a:t>Why redesign the Trade Ticket?</a:t>
            </a:r>
          </a:p>
        </p:txBody>
      </p:sp>
      <p:sp>
        <p:nvSpPr>
          <p:cNvPr id="4" name="TextBox 3"/>
          <p:cNvSpPr txBox="1"/>
          <p:nvPr/>
        </p:nvSpPr>
        <p:spPr>
          <a:xfrm>
            <a:off x="947054" y="2573417"/>
            <a:ext cx="3910695" cy="432674"/>
          </a:xfrm>
          <a:prstGeom prst="rect">
            <a:avLst/>
          </a:prstGeom>
          <a:noFill/>
        </p:spPr>
        <p:txBody>
          <a:bodyPr wrap="square" lIns="0" tIns="0" rIns="0" bIns="0">
            <a:noAutofit/>
          </a:bodyPr>
          <a:lstStyle/>
          <a:p>
            <a:pPr algn="l">
              <a:lnSpc>
                <a:spcPts val="2800"/>
              </a:lnSpc>
            </a:pPr>
            <a:r>
              <a:rPr sz="9200" dirty="0">
                <a:solidFill>
                  <a:srgbClr val="1059FF"/>
                </a:solidFill>
                <a:latin typeface="Helvetica Neue Light"/>
              </a:rPr>
              <a:t>18.3%</a:t>
            </a:r>
          </a:p>
        </p:txBody>
      </p:sp>
      <p:sp>
        <p:nvSpPr>
          <p:cNvPr id="5" name="TextBox 4"/>
          <p:cNvSpPr txBox="1"/>
          <p:nvPr/>
        </p:nvSpPr>
        <p:spPr>
          <a:xfrm>
            <a:off x="6612836" y="3710165"/>
            <a:ext cx="4180786" cy="349260"/>
          </a:xfrm>
          <a:prstGeom prst="rect">
            <a:avLst/>
          </a:prstGeom>
          <a:noFill/>
        </p:spPr>
        <p:txBody>
          <a:bodyPr wrap="square" lIns="0" tIns="0" rIns="0" bIns="0">
            <a:noAutofit/>
          </a:bodyPr>
          <a:lstStyle/>
          <a:p>
            <a:pPr marL="177800" algn="l">
              <a:lnSpc>
                <a:spcPts val="1919"/>
              </a:lnSpc>
            </a:pPr>
            <a:r>
              <a:rPr sz="8600" dirty="0">
                <a:solidFill>
                  <a:srgbClr val="AF00EF"/>
                </a:solidFill>
                <a:latin typeface="Helvetica Neue Light"/>
              </a:rPr>
              <a:t>8.2 </a:t>
            </a:r>
            <a:r>
              <a:rPr sz="5200" dirty="0">
                <a:solidFill>
                  <a:srgbClr val="AF00EF"/>
                </a:solidFill>
                <a:latin typeface="Helvetica Neue Light"/>
              </a:rPr>
              <a:t>mins</a:t>
            </a:r>
          </a:p>
        </p:txBody>
      </p:sp>
      <p:sp>
        <p:nvSpPr>
          <p:cNvPr id="6" name="TextBox 5"/>
          <p:cNvSpPr txBox="1"/>
          <p:nvPr/>
        </p:nvSpPr>
        <p:spPr>
          <a:xfrm>
            <a:off x="2142719" y="5125872"/>
            <a:ext cx="1914639" cy="1175613"/>
          </a:xfrm>
          <a:prstGeom prst="rect">
            <a:avLst/>
          </a:prstGeom>
          <a:noFill/>
        </p:spPr>
        <p:txBody>
          <a:bodyPr wrap="none" lIns="0" tIns="0" rIns="0" bIns="0">
            <a:noAutofit/>
          </a:bodyPr>
          <a:lstStyle/>
          <a:p>
            <a:pPr algn="l"/>
            <a:r>
              <a:rPr sz="7600" dirty="0">
                <a:solidFill>
                  <a:srgbClr val="00BCD9"/>
                </a:solidFill>
                <a:latin typeface="Helvetica Neue Light"/>
              </a:rPr>
              <a:t>1.4%</a:t>
            </a:r>
          </a:p>
        </p:txBody>
      </p:sp>
      <p:sp>
        <p:nvSpPr>
          <p:cNvPr id="7" name="TextBox 6"/>
          <p:cNvSpPr txBox="1"/>
          <p:nvPr/>
        </p:nvSpPr>
        <p:spPr>
          <a:xfrm>
            <a:off x="2209800" y="6140189"/>
            <a:ext cx="2866428" cy="1893875"/>
          </a:xfrm>
          <a:prstGeom prst="rect">
            <a:avLst/>
          </a:prstGeom>
          <a:noFill/>
        </p:spPr>
        <p:txBody>
          <a:bodyPr wrap="square" lIns="0" tIns="0" rIns="0" bIns="0">
            <a:noAutofit/>
          </a:bodyPr>
          <a:lstStyle/>
          <a:p>
            <a:pPr algn="l">
              <a:lnSpc>
                <a:spcPts val="2160"/>
              </a:lnSpc>
            </a:pPr>
            <a:r>
              <a:rPr sz="1800" dirty="0">
                <a:solidFill>
                  <a:srgbClr val="000000"/>
                </a:solidFill>
                <a:latin typeface="Helvetica Neue Light"/>
              </a:rPr>
              <a:t>Error rate on submissions</a:t>
            </a:r>
          </a:p>
          <a:p>
            <a:pPr algn="l">
              <a:lnSpc>
                <a:spcPts val="2160"/>
              </a:lnSpc>
              <a:spcBef>
                <a:spcPts val="6239"/>
              </a:spcBef>
            </a:pPr>
            <a:r>
              <a:rPr sz="7600" dirty="0">
                <a:solidFill>
                  <a:srgbClr val="FF40F4"/>
                </a:solidFill>
                <a:latin typeface="Helvetica Neue Light"/>
              </a:rPr>
              <a:t>6.1%</a:t>
            </a:r>
          </a:p>
          <a:p>
            <a:pPr algn="l">
              <a:lnSpc>
                <a:spcPts val="2160"/>
              </a:lnSpc>
            </a:pPr>
            <a:r>
              <a:rPr sz="1800" dirty="0">
                <a:solidFill>
                  <a:srgbClr val="000000"/>
                </a:solidFill>
                <a:latin typeface="Helvetica Neue Light"/>
              </a:rPr>
              <a:t>drop-off on trades executed through the mobile app</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9" name="TextBox 8"/>
          <p:cNvSpPr txBox="1"/>
          <p:nvPr/>
        </p:nvSpPr>
        <p:spPr>
          <a:xfrm>
            <a:off x="6690517" y="6321804"/>
            <a:ext cx="5117941" cy="884936"/>
          </a:xfrm>
          <a:prstGeom prst="rect">
            <a:avLst/>
          </a:prstGeom>
          <a:noFill/>
        </p:spPr>
        <p:txBody>
          <a:bodyPr wrap="square" lIns="0" tIns="0" rIns="0" bIns="0">
            <a:noAutofit/>
          </a:bodyPr>
          <a:lstStyle/>
          <a:p>
            <a:pPr algn="l">
              <a:lnSpc>
                <a:spcPts val="2400"/>
              </a:lnSpc>
            </a:pPr>
            <a:r>
              <a:rPr sz="2000" dirty="0">
                <a:solidFill>
                  <a:srgbClr val="000000"/>
                </a:solidFill>
                <a:latin typeface="Helvetica Neue Thin"/>
              </a:rPr>
              <a:t>“The app lacks advanced features like drawing tools or technical indicators. Customer support options are limited, with no chat </a:t>
            </a:r>
          </a:p>
        </p:txBody>
      </p:sp>
      <p:sp>
        <p:nvSpPr>
          <p:cNvPr id="12" name="TextBox 11"/>
          <p:cNvSpPr txBox="1"/>
          <p:nvPr/>
        </p:nvSpPr>
        <p:spPr>
          <a:xfrm>
            <a:off x="8069464" y="7215885"/>
            <a:ext cx="2237376" cy="295655"/>
          </a:xfrm>
          <a:prstGeom prst="rect">
            <a:avLst/>
          </a:prstGeom>
          <a:noFill/>
        </p:spPr>
        <p:txBody>
          <a:bodyPr wrap="none" lIns="0" tIns="0" rIns="0" bIns="0">
            <a:noAutofit/>
          </a:bodyPr>
          <a:lstStyle/>
          <a:p>
            <a:pPr algn="l"/>
            <a:r>
              <a:rPr sz="2000" dirty="0">
                <a:solidFill>
                  <a:srgbClr val="000000"/>
                </a:solidFill>
                <a:latin typeface="Helvetica Neue Thin"/>
              </a:rPr>
              <a:t>support available.” </a:t>
            </a:r>
          </a:p>
        </p:txBody>
      </p:sp>
      <p:sp>
        <p:nvSpPr>
          <p:cNvPr id="14" name="TextBox 13">
            <a:extLst>
              <a:ext uri="{FF2B5EF4-FFF2-40B4-BE49-F238E27FC236}">
                <a16:creationId xmlns:a16="http://schemas.microsoft.com/office/drawing/2014/main" id="{F2783627-EC6A-E917-3B5B-7530C9A316FC}"/>
              </a:ext>
            </a:extLst>
          </p:cNvPr>
          <p:cNvSpPr txBox="1"/>
          <p:nvPr/>
        </p:nvSpPr>
        <p:spPr>
          <a:xfrm>
            <a:off x="7016007" y="4121632"/>
            <a:ext cx="2722353" cy="823302"/>
          </a:xfrm>
          <a:prstGeom prst="rect">
            <a:avLst/>
          </a:prstGeom>
          <a:noFill/>
        </p:spPr>
        <p:txBody>
          <a:bodyPr wrap="square">
            <a:spAutoFit/>
          </a:bodyPr>
          <a:lstStyle/>
          <a:p>
            <a:pPr algn="l">
              <a:lnSpc>
                <a:spcPts val="1919"/>
              </a:lnSpc>
            </a:pPr>
            <a:r>
              <a:rPr lang="en-US" sz="1600" dirty="0">
                <a:solidFill>
                  <a:srgbClr val="000000"/>
                </a:solidFill>
                <a:latin typeface="Helvetica Neue Light"/>
              </a:rPr>
              <a:t>Transaction Time: The time taken for a new user to complete their first trade.</a:t>
            </a:r>
          </a:p>
        </p:txBody>
      </p:sp>
      <p:sp>
        <p:nvSpPr>
          <p:cNvPr id="16" name="TextBox 15">
            <a:extLst>
              <a:ext uri="{FF2B5EF4-FFF2-40B4-BE49-F238E27FC236}">
                <a16:creationId xmlns:a16="http://schemas.microsoft.com/office/drawing/2014/main" id="{F33138EB-F50D-4280-847A-3422735C221F}"/>
              </a:ext>
            </a:extLst>
          </p:cNvPr>
          <p:cNvSpPr txBox="1"/>
          <p:nvPr/>
        </p:nvSpPr>
        <p:spPr>
          <a:xfrm>
            <a:off x="1340167" y="2974048"/>
            <a:ext cx="3286125" cy="1169551"/>
          </a:xfrm>
          <a:prstGeom prst="rect">
            <a:avLst/>
          </a:prstGeom>
          <a:noFill/>
        </p:spPr>
        <p:txBody>
          <a:bodyPr wrap="square">
            <a:spAutoFit/>
          </a:bodyPr>
          <a:lstStyle/>
          <a:p>
            <a:pPr algn="l">
              <a:lnSpc>
                <a:spcPts val="2800"/>
              </a:lnSpc>
            </a:pPr>
            <a:r>
              <a:rPr lang="en-US" sz="2400" dirty="0">
                <a:solidFill>
                  <a:srgbClr val="000000"/>
                </a:solidFill>
                <a:latin typeface="Helvetica Neue Light"/>
              </a:rPr>
              <a:t>of users request   </a:t>
            </a:r>
          </a:p>
          <a:p>
            <a:pPr algn="l">
              <a:lnSpc>
                <a:spcPts val="2800"/>
              </a:lnSpc>
            </a:pPr>
            <a:r>
              <a:rPr lang="en-US" sz="2400" dirty="0">
                <a:solidFill>
                  <a:srgbClr val="000000"/>
                </a:solidFill>
                <a:latin typeface="Helvetica Neue Light"/>
              </a:rPr>
              <a:t>trading both shares and dollars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66800" y="8638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4" name="TextBox 3"/>
          <p:cNvSpPr txBox="1"/>
          <p:nvPr/>
        </p:nvSpPr>
        <p:spPr>
          <a:xfrm>
            <a:off x="1066800" y="3638038"/>
            <a:ext cx="5735478" cy="371246"/>
          </a:xfrm>
          <a:prstGeom prst="rect">
            <a:avLst/>
          </a:prstGeom>
          <a:noFill/>
        </p:spPr>
        <p:txBody>
          <a:bodyPr wrap="none" lIns="0" tIns="0" rIns="0" bIns="0">
            <a:noAutofit/>
          </a:bodyPr>
          <a:lstStyle/>
          <a:p>
            <a:pPr algn="l"/>
            <a:r>
              <a:rPr sz="2400" dirty="0">
                <a:solidFill>
                  <a:srgbClr val="FFFFFF"/>
                </a:solidFill>
                <a:latin typeface="Helvetica Neue Light"/>
              </a:rPr>
              <a:t>• Interviews with primary external users, </a:t>
            </a:r>
          </a:p>
        </p:txBody>
      </p:sp>
      <p:sp>
        <p:nvSpPr>
          <p:cNvPr id="5" name="TextBox 4"/>
          <p:cNvSpPr txBox="1"/>
          <p:nvPr/>
        </p:nvSpPr>
        <p:spPr>
          <a:xfrm>
            <a:off x="1254854" y="4120638"/>
            <a:ext cx="4585277" cy="371246"/>
          </a:xfrm>
          <a:prstGeom prst="rect">
            <a:avLst/>
          </a:prstGeom>
          <a:noFill/>
        </p:spPr>
        <p:txBody>
          <a:bodyPr wrap="none" lIns="0" tIns="0" rIns="0" bIns="0">
            <a:noAutofit/>
          </a:bodyPr>
          <a:lstStyle/>
          <a:p>
            <a:pPr algn="l"/>
            <a:r>
              <a:rPr sz="2400" dirty="0">
                <a:solidFill>
                  <a:srgbClr val="FFFFFF"/>
                </a:solidFill>
                <a:latin typeface="Helvetica Neue Light"/>
              </a:rPr>
              <a:t>internal stakeholders, and SMEs</a:t>
            </a:r>
          </a:p>
        </p:txBody>
      </p:sp>
      <p:sp>
        <p:nvSpPr>
          <p:cNvPr id="6" name="TextBox 5"/>
          <p:cNvSpPr txBox="1"/>
          <p:nvPr/>
        </p:nvSpPr>
        <p:spPr>
          <a:xfrm>
            <a:off x="1511289" y="4603238"/>
            <a:ext cx="3377402" cy="371246"/>
          </a:xfrm>
          <a:prstGeom prst="rect">
            <a:avLst/>
          </a:prstGeom>
          <a:noFill/>
        </p:spPr>
        <p:txBody>
          <a:bodyPr wrap="none" lIns="0" tIns="0" rIns="0" bIns="0">
            <a:noAutofit/>
          </a:bodyPr>
          <a:lstStyle/>
          <a:p>
            <a:pPr algn="l"/>
            <a:r>
              <a:rPr sz="2400" dirty="0">
                <a:solidFill>
                  <a:srgbClr val="FFFFFF"/>
                </a:solidFill>
                <a:latin typeface="Helvetica Neue Light"/>
              </a:rPr>
              <a:t> • Experienced Traders  </a:t>
            </a:r>
          </a:p>
        </p:txBody>
      </p:sp>
      <p:sp>
        <p:nvSpPr>
          <p:cNvPr id="7" name="TextBox 6"/>
          <p:cNvSpPr txBox="1"/>
          <p:nvPr/>
        </p:nvSpPr>
        <p:spPr>
          <a:xfrm>
            <a:off x="1524000" y="5085838"/>
            <a:ext cx="2396202" cy="371246"/>
          </a:xfrm>
          <a:prstGeom prst="rect">
            <a:avLst/>
          </a:prstGeom>
          <a:noFill/>
        </p:spPr>
        <p:txBody>
          <a:bodyPr wrap="none" lIns="0" tIns="0" rIns="0" bIns="0">
            <a:noAutofit/>
          </a:bodyPr>
          <a:lstStyle/>
          <a:p>
            <a:pPr algn="l"/>
            <a:r>
              <a:rPr sz="2400" dirty="0">
                <a:solidFill>
                  <a:srgbClr val="FFFFFF"/>
                </a:solidFill>
                <a:latin typeface="Helvetica Neue Light"/>
              </a:rPr>
              <a:t>• Novice Traders</a:t>
            </a:r>
          </a:p>
        </p:txBody>
      </p:sp>
      <p:sp>
        <p:nvSpPr>
          <p:cNvPr id="8" name="TextBox 7"/>
          <p:cNvSpPr txBox="1"/>
          <p:nvPr/>
        </p:nvSpPr>
        <p:spPr>
          <a:xfrm>
            <a:off x="1066800" y="5568438"/>
            <a:ext cx="3467012" cy="371246"/>
          </a:xfrm>
          <a:prstGeom prst="rect">
            <a:avLst/>
          </a:prstGeom>
          <a:noFill/>
        </p:spPr>
        <p:txBody>
          <a:bodyPr wrap="none" lIns="0" tIns="0" rIns="0" bIns="0">
            <a:noAutofit/>
          </a:bodyPr>
          <a:lstStyle/>
          <a:p>
            <a:pPr algn="l"/>
            <a:r>
              <a:rPr sz="2400" dirty="0">
                <a:solidFill>
                  <a:srgbClr val="FFFFFF"/>
                </a:solidFill>
                <a:latin typeface="Helvetica Neue Light"/>
              </a:rPr>
              <a:t>• Persona development </a:t>
            </a:r>
          </a:p>
        </p:txBody>
      </p:sp>
      <p:sp>
        <p:nvSpPr>
          <p:cNvPr id="9" name="TextBox 8"/>
          <p:cNvSpPr txBox="1"/>
          <p:nvPr/>
        </p:nvSpPr>
        <p:spPr>
          <a:xfrm>
            <a:off x="1066800" y="6051038"/>
            <a:ext cx="5122808" cy="371246"/>
          </a:xfrm>
          <a:prstGeom prst="rect">
            <a:avLst/>
          </a:prstGeom>
          <a:noFill/>
        </p:spPr>
        <p:txBody>
          <a:bodyPr wrap="none" lIns="0" tIns="0" rIns="0" bIns="0">
            <a:noAutofit/>
          </a:bodyPr>
          <a:lstStyle/>
          <a:p>
            <a:pPr algn="l"/>
            <a:r>
              <a:rPr sz="2400" dirty="0">
                <a:solidFill>
                  <a:srgbClr val="FFFFFF"/>
                </a:solidFill>
                <a:latin typeface="Helvetica Neue Light"/>
              </a:rPr>
              <a:t>• Google Design Thinking Exercises</a:t>
            </a:r>
          </a:p>
        </p:txBody>
      </p:sp>
      <p:sp>
        <p:nvSpPr>
          <p:cNvPr id="10" name="TextBox 9"/>
          <p:cNvSpPr txBox="1"/>
          <p:nvPr/>
        </p:nvSpPr>
        <p:spPr>
          <a:xfrm>
            <a:off x="1066800" y="6533637"/>
            <a:ext cx="3211953" cy="371246"/>
          </a:xfrm>
          <a:prstGeom prst="rect">
            <a:avLst/>
          </a:prstGeom>
          <a:noFill/>
        </p:spPr>
        <p:txBody>
          <a:bodyPr wrap="none" lIns="0" tIns="0" rIns="0" bIns="0">
            <a:noAutofit/>
          </a:bodyPr>
          <a:lstStyle/>
          <a:p>
            <a:pPr algn="l"/>
            <a:r>
              <a:rPr sz="2400" dirty="0">
                <a:solidFill>
                  <a:srgbClr val="FFFFFF"/>
                </a:solidFill>
                <a:latin typeface="Helvetica Neue Light"/>
              </a:rPr>
              <a:t>• Competitive Analysis</a:t>
            </a:r>
          </a:p>
        </p:txBody>
      </p:sp>
      <p:sp>
        <p:nvSpPr>
          <p:cNvPr id="11" name="TextBox 10"/>
          <p:cNvSpPr txBox="1"/>
          <p:nvPr/>
        </p:nvSpPr>
        <p:spPr>
          <a:xfrm>
            <a:off x="7671394" y="3700778"/>
            <a:ext cx="2280200" cy="309371"/>
          </a:xfrm>
          <a:prstGeom prst="rect">
            <a:avLst/>
          </a:prstGeom>
          <a:noFill/>
        </p:spPr>
        <p:txBody>
          <a:bodyPr wrap="none" lIns="0" tIns="0" rIns="0" bIns="0">
            <a:noAutofit/>
          </a:bodyPr>
          <a:lstStyle/>
          <a:p>
            <a:pPr algn="l"/>
            <a:r>
              <a:rPr sz="2000" dirty="0">
                <a:solidFill>
                  <a:srgbClr val="FFFFFF"/>
                </a:solidFill>
                <a:latin typeface="Helvetica Neue Light"/>
              </a:rPr>
              <a:t>Problem statement</a:t>
            </a:r>
          </a:p>
        </p:txBody>
      </p:sp>
      <p:sp>
        <p:nvSpPr>
          <p:cNvPr id="12" name="TextBox 11"/>
          <p:cNvSpPr txBox="1"/>
          <p:nvPr/>
        </p:nvSpPr>
        <p:spPr>
          <a:xfrm>
            <a:off x="7671394" y="4052314"/>
            <a:ext cx="4651851" cy="2881376"/>
          </a:xfrm>
          <a:prstGeom prst="rect">
            <a:avLst/>
          </a:prstGeom>
          <a:noFill/>
        </p:spPr>
        <p:txBody>
          <a:bodyPr wrap="square" lIns="0" tIns="0" rIns="0" bIns="0">
            <a:noAutofit/>
          </a:bodyPr>
          <a:lstStyle/>
          <a:p>
            <a:pPr algn="l">
              <a:lnSpc>
                <a:spcPts val="3300"/>
              </a:lnSpc>
            </a:pPr>
            <a:r>
              <a:rPr sz="2000" dirty="0">
                <a:solidFill>
                  <a:srgbClr val="FFFFFF"/>
                </a:solidFill>
                <a:latin typeface="Helvetica Neue Thin"/>
              </a:rPr>
              <a:t>As the most important part of the trading experience, experienced and novice users need an integrated trade ticket that simplifies the trading process, reduces the likelihood of errors, and enhances overall efficiency, while giving users the ability to trade in shares or dollar amounts.</a:t>
            </a:r>
          </a:p>
        </p:txBody>
      </p:sp>
      <p:sp>
        <p:nvSpPr>
          <p:cNvPr id="19" name="TextBox 18"/>
          <p:cNvSpPr txBox="1"/>
          <p:nvPr/>
        </p:nvSpPr>
        <p:spPr>
          <a:xfrm>
            <a:off x="5130800" y="608479"/>
            <a:ext cx="7344949"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validate existing assumptions, and generate new ideas.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92200" y="1011931"/>
            <a:ext cx="5465084" cy="897178"/>
          </a:xfrm>
          <a:prstGeom prst="rect">
            <a:avLst/>
          </a:prstGeom>
          <a:noFill/>
        </p:spPr>
        <p:txBody>
          <a:bodyPr wrap="none" lIns="0" tIns="0" rIns="0" bIns="0">
            <a:noAutofit/>
          </a:bodyPr>
          <a:lstStyle/>
          <a:p>
            <a:pPr algn="l"/>
            <a:r>
              <a:rPr sz="5800" dirty="0">
                <a:solidFill>
                  <a:srgbClr val="FFFFFF"/>
                </a:solidFill>
                <a:latin typeface="Helvetica Neue Light"/>
              </a:rPr>
              <a:t>Design Patterns</a:t>
            </a:r>
          </a:p>
        </p:txBody>
      </p:sp>
      <p:sp>
        <p:nvSpPr>
          <p:cNvPr id="4" name="TextBox 3"/>
          <p:cNvSpPr txBox="1"/>
          <p:nvPr/>
        </p:nvSpPr>
        <p:spPr>
          <a:xfrm>
            <a:off x="1092200" y="2684267"/>
            <a:ext cx="521260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Education and NUX: Effective onboarding through upfront and contextual education, using examples like Duolingo and DOT.</a:t>
            </a:r>
          </a:p>
        </p:txBody>
      </p:sp>
      <p:sp>
        <p:nvSpPr>
          <p:cNvPr id="5" name="TextBox 4"/>
          <p:cNvSpPr txBox="1"/>
          <p:nvPr/>
        </p:nvSpPr>
        <p:spPr>
          <a:xfrm>
            <a:off x="1092200" y="3598666"/>
            <a:ext cx="5166682"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Contextual UI: Strategies like inline actions, side panels, and quick actions to offer users more control.</a:t>
            </a:r>
          </a:p>
        </p:txBody>
      </p:sp>
      <p:sp>
        <p:nvSpPr>
          <p:cNvPr id="6" name="TextBox 5"/>
          <p:cNvSpPr txBox="1"/>
          <p:nvPr/>
        </p:nvSpPr>
        <p:spPr>
          <a:xfrm>
            <a:off x="1092200" y="4513066"/>
            <a:ext cx="521115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Addressing the Cold Start Problem: Solutions like icebreakers, templates, and guided input to help users get started.</a:t>
            </a:r>
          </a:p>
        </p:txBody>
      </p:sp>
      <p:sp>
        <p:nvSpPr>
          <p:cNvPr id="7" name="TextBox 6"/>
          <p:cNvSpPr txBox="1"/>
          <p:nvPr/>
        </p:nvSpPr>
        <p:spPr>
          <a:xfrm>
            <a:off x="1092200" y="5427466"/>
            <a:ext cx="522597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Continued Guidance: Providing suggested prompts and contextual assistance to keep users engaged.</a:t>
            </a:r>
          </a:p>
        </p:txBody>
      </p:sp>
      <p:sp>
        <p:nvSpPr>
          <p:cNvPr id="8" name="TextBox 7"/>
          <p:cNvSpPr txBox="1"/>
          <p:nvPr/>
        </p:nvSpPr>
        <p:spPr>
          <a:xfrm>
            <a:off x="1092200" y="6341867"/>
            <a:ext cx="5368647"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Personalization: Customizing user experiences through memory, suggestions, and personal input options.</a:t>
            </a:r>
          </a:p>
        </p:txBody>
      </p:sp>
      <p:sp>
        <p:nvSpPr>
          <p:cNvPr id="9" name="TextBox 8"/>
          <p:cNvSpPr txBox="1"/>
          <p:nvPr/>
        </p:nvSpPr>
        <p:spPr>
          <a:xfrm>
            <a:off x="6680200" y="2593084"/>
            <a:ext cx="557192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Enabling Experimentation: Allowing users to preview, undo, and retrace steps for enhanced control.</a:t>
            </a:r>
          </a:p>
        </p:txBody>
      </p:sp>
      <p:sp>
        <p:nvSpPr>
          <p:cNvPr id="10" name="TextBox 9"/>
          <p:cNvSpPr txBox="1"/>
          <p:nvPr/>
        </p:nvSpPr>
        <p:spPr>
          <a:xfrm>
            <a:off x="6680200" y="3507484"/>
            <a:ext cx="5770360"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Feedback Mechanisms: Implementing thumbs-up/down ratings and regeneration options for better AI refinement.</a:t>
            </a:r>
          </a:p>
        </p:txBody>
      </p:sp>
      <p:sp>
        <p:nvSpPr>
          <p:cNvPr id="11" name="TextBox 10"/>
          <p:cNvSpPr txBox="1"/>
          <p:nvPr/>
        </p:nvSpPr>
        <p:spPr>
          <a:xfrm>
            <a:off x="6680200" y="4421884"/>
            <a:ext cx="5785793"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Providing Controls: Offering users tools like source verification, image editing, and content manipulation for more control over AI outputs.</a:t>
            </a:r>
          </a:p>
        </p:txBody>
      </p:sp>
      <p:sp>
        <p:nvSpPr>
          <p:cNvPr id="12" name="TextBox 11"/>
          <p:cNvSpPr txBox="1"/>
          <p:nvPr/>
        </p:nvSpPr>
        <p:spPr>
          <a:xfrm>
            <a:off x="6680200" y="5336284"/>
            <a:ext cx="5972836"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Transparency: Ensuring trust by watermarking AI content, labeling generated text, and clarifying data usage.</a:t>
            </a:r>
          </a:p>
        </p:txBody>
      </p:sp>
      <p:sp>
        <p:nvSpPr>
          <p:cNvPr id="13" name="TextBox 12"/>
          <p:cNvSpPr txBox="1"/>
          <p:nvPr/>
        </p:nvSpPr>
        <p:spPr>
          <a:xfrm>
            <a:off x="6680200" y="6250684"/>
            <a:ext cx="5796294"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Voice and Streaming: Exploring voice interactions and message streaming patterns to create seamless experiences.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1717447"/>
            <a:ext cx="12316482" cy="278434"/>
          </a:xfrm>
          <a:prstGeom prst="rect">
            <a:avLst/>
          </a:prstGeom>
          <a:noFill/>
        </p:spPr>
        <p:txBody>
          <a:bodyPr wrap="none" lIns="0" tIns="0" rIns="0" bIns="0">
            <a:noAutofit/>
          </a:bodyPr>
          <a:lstStyle/>
          <a:p>
            <a:pPr algn="l"/>
            <a:r>
              <a:rPr sz="1800" dirty="0">
                <a:solidFill>
                  <a:srgbClr val="000000"/>
                </a:solidFill>
                <a:latin typeface="Helvetica Neue Light"/>
              </a:rPr>
              <a:t>I led the interviews of users with more experience trading and less experienced traders. Experienced investors can </a:t>
            </a:r>
          </a:p>
        </p:txBody>
      </p:sp>
      <p:sp>
        <p:nvSpPr>
          <p:cNvPr id="4" name="TextBox 3"/>
          <p:cNvSpPr txBox="1"/>
          <p:nvPr/>
        </p:nvSpPr>
        <p:spPr>
          <a:xfrm>
            <a:off x="457200" y="2085747"/>
            <a:ext cx="12273406" cy="278434"/>
          </a:xfrm>
          <a:prstGeom prst="rect">
            <a:avLst/>
          </a:prstGeom>
          <a:noFill/>
        </p:spPr>
        <p:txBody>
          <a:bodyPr wrap="none" lIns="0" tIns="0" rIns="0" bIns="0">
            <a:noAutofit/>
          </a:bodyPr>
          <a:lstStyle/>
          <a:p>
            <a:pPr algn="l"/>
            <a:r>
              <a:rPr sz="1800" dirty="0">
                <a:solidFill>
                  <a:srgbClr val="000000"/>
                </a:solidFill>
                <a:latin typeface="Helvetica Neue Light"/>
              </a:rPr>
              <a:t>average anywhere from 20 to over 1,000 trades per year depending on their trading style; inexperienced investors </a:t>
            </a:r>
          </a:p>
        </p:txBody>
      </p:sp>
      <p:sp>
        <p:nvSpPr>
          <p:cNvPr id="5" name="TextBox 4"/>
          <p:cNvSpPr txBox="1"/>
          <p:nvPr/>
        </p:nvSpPr>
        <p:spPr>
          <a:xfrm>
            <a:off x="457200" y="2454047"/>
            <a:ext cx="6412977" cy="278434"/>
          </a:xfrm>
          <a:prstGeom prst="rect">
            <a:avLst/>
          </a:prstGeom>
          <a:noFill/>
        </p:spPr>
        <p:txBody>
          <a:bodyPr wrap="none" lIns="0" tIns="0" rIns="0" bIns="0">
            <a:noAutofit/>
          </a:bodyPr>
          <a:lstStyle/>
          <a:p>
            <a:pPr algn="l"/>
            <a:r>
              <a:rPr sz="1800" dirty="0">
                <a:solidFill>
                  <a:srgbClr val="000000"/>
                </a:solidFill>
                <a:latin typeface="Helvetica Neue Light"/>
              </a:rPr>
              <a:t>typically make fewer trades, ranging from 10 to 100 per year.</a:t>
            </a:r>
          </a:p>
        </p:txBody>
      </p:sp>
      <p:sp>
        <p:nvSpPr>
          <p:cNvPr id="6" name="TextBox 5"/>
          <p:cNvSpPr txBox="1"/>
          <p:nvPr/>
        </p:nvSpPr>
        <p:spPr>
          <a:xfrm>
            <a:off x="457200" y="3393063"/>
            <a:ext cx="3351856" cy="247497"/>
          </a:xfrm>
          <a:prstGeom prst="rect">
            <a:avLst/>
          </a:prstGeom>
          <a:noFill/>
        </p:spPr>
        <p:txBody>
          <a:bodyPr wrap="none" lIns="0" tIns="0" rIns="0" bIns="0">
            <a:noAutofit/>
          </a:bodyPr>
          <a:lstStyle/>
          <a:p>
            <a:pPr algn="l"/>
            <a:r>
              <a:rPr sz="1600" dirty="0">
                <a:solidFill>
                  <a:srgbClr val="000000"/>
                </a:solidFill>
                <a:latin typeface="Helvetica Neue Light"/>
              </a:rPr>
              <a:t>Some common complaints include:</a:t>
            </a:r>
          </a:p>
        </p:txBody>
      </p:sp>
      <p:sp>
        <p:nvSpPr>
          <p:cNvPr id="7" name="TextBox 6"/>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8" name="TextBox 7"/>
          <p:cNvSpPr txBox="1"/>
          <p:nvPr/>
        </p:nvSpPr>
        <p:spPr>
          <a:xfrm>
            <a:off x="806616" y="3864332"/>
            <a:ext cx="5221813" cy="717448"/>
          </a:xfrm>
          <a:prstGeom prst="rect">
            <a:avLst/>
          </a:prstGeom>
          <a:noFill/>
        </p:spPr>
        <p:txBody>
          <a:bodyPr wrap="square" lIns="0" tIns="0" rIns="0" bIns="0">
            <a:noAutofit/>
          </a:bodyPr>
          <a:lstStyle/>
          <a:p>
            <a:pPr algn="l">
              <a:lnSpc>
                <a:spcPts val="2000"/>
              </a:lnSpc>
            </a:pPr>
            <a:r>
              <a:rPr sz="1400" dirty="0">
                <a:solidFill>
                  <a:srgbClr val="000000"/>
                </a:solidFill>
                <a:latin typeface="Helvetica Neue Light"/>
              </a:rPr>
              <a:t>Confusing Interface</a:t>
            </a:r>
          </a:p>
          <a:p>
            <a:pPr algn="l">
              <a:lnSpc>
                <a:spcPts val="2000"/>
              </a:lnSpc>
            </a:pPr>
            <a:r>
              <a:rPr sz="1400" dirty="0">
                <a:solidFill>
                  <a:srgbClr val="000000"/>
                </a:solidFill>
                <a:latin typeface="Helvetica Neue Thin"/>
              </a:rPr>
              <a:t>Many users find the app’s interface non-intuitive, making it </a:t>
            </a:r>
            <a:r>
              <a:rPr sz="1400" dirty="0" err="1">
                <a:solidFill>
                  <a:srgbClr val="000000"/>
                </a:solidFill>
                <a:latin typeface="Helvetica Neue Thin"/>
              </a:rPr>
              <a:t>difficult</a:t>
            </a:r>
            <a:r>
              <a:rPr sz="1400" dirty="0">
                <a:solidFill>
                  <a:srgbClr val="000000"/>
                </a:solidFill>
                <a:latin typeface="Helvetica Neue Thin"/>
              </a:rPr>
              <a:t> to navigate and find specific functions or features.</a:t>
            </a:r>
          </a:p>
        </p:txBody>
      </p:sp>
      <p:sp>
        <p:nvSpPr>
          <p:cNvPr id="9" name="TextBox 8"/>
          <p:cNvSpPr txBox="1"/>
          <p:nvPr/>
        </p:nvSpPr>
        <p:spPr>
          <a:xfrm>
            <a:off x="806616" y="5134332"/>
            <a:ext cx="5288833" cy="1479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Limited Functionality</a:t>
            </a:r>
          </a:p>
          <a:p>
            <a:pPr algn="l">
              <a:lnSpc>
                <a:spcPts val="2000"/>
              </a:lnSpc>
            </a:pPr>
            <a:r>
              <a:rPr sz="1400">
                <a:solidFill>
                  <a:srgbClr val="000000"/>
                </a:solidFill>
                <a:latin typeface="Helvetica Neue Thin"/>
              </a:rPr>
              <a:t>Several users have expressed frustration with the limited features available in the trading section of the app. For example, some noted that important functionalities like detailed transaction histories or useful budgeting and spending tools are either buried under unclear tabs or entirely absent.</a:t>
            </a:r>
          </a:p>
        </p:txBody>
      </p:sp>
      <p:sp>
        <p:nvSpPr>
          <p:cNvPr id="10" name="TextBox 9"/>
          <p:cNvSpPr txBox="1"/>
          <p:nvPr/>
        </p:nvSpPr>
        <p:spPr>
          <a:xfrm>
            <a:off x="806616" y="7166332"/>
            <a:ext cx="5305354" cy="1225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Technical Issues</a:t>
            </a:r>
          </a:p>
          <a:p>
            <a:pPr algn="l">
              <a:lnSpc>
                <a:spcPts val="2000"/>
              </a:lnSpc>
            </a:pPr>
            <a:r>
              <a:rPr sz="1400">
                <a:solidFill>
                  <a:srgbClr val="000000"/>
                </a:solidFill>
                <a:latin typeface="Helvetica Neue Thin"/>
              </a:rPr>
              <a:t>There are reports of the app experiencing technical problems during peak trading times, which can delay access and execution of trades. This unreliability during high-demand periods is a significant drawback for active traders. </a:t>
            </a:r>
          </a:p>
        </p:txBody>
      </p:sp>
      <p:sp>
        <p:nvSpPr>
          <p:cNvPr id="11" name="TextBox 10"/>
          <p:cNvSpPr txBox="1"/>
          <p:nvPr/>
        </p:nvSpPr>
        <p:spPr>
          <a:xfrm>
            <a:off x="6413666" y="3864332"/>
            <a:ext cx="5172469" cy="971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Lack of Real-Time Updates</a:t>
            </a:r>
          </a:p>
          <a:p>
            <a:pPr algn="l">
              <a:lnSpc>
                <a:spcPts val="2000"/>
              </a:lnSpc>
            </a:pPr>
            <a:r>
              <a:rPr sz="1400">
                <a:solidFill>
                  <a:srgbClr val="000000"/>
                </a:solidFill>
                <a:latin typeface="Helvetica Neue Thin"/>
              </a:rPr>
              <a:t>Some users have complained about delays in real-time updates for stock prices and portfolio values, which can be critical for making timely trading decisions.</a:t>
            </a:r>
          </a:p>
        </p:txBody>
      </p:sp>
      <p:sp>
        <p:nvSpPr>
          <p:cNvPr id="12" name="TextBox 11"/>
          <p:cNvSpPr txBox="1"/>
          <p:nvPr/>
        </p:nvSpPr>
        <p:spPr>
          <a:xfrm>
            <a:off x="6413666" y="5388332"/>
            <a:ext cx="5258788" cy="971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Poor Customer Support</a:t>
            </a:r>
          </a:p>
          <a:p>
            <a:pPr algn="l">
              <a:lnSpc>
                <a:spcPts val="2000"/>
              </a:lnSpc>
            </a:pPr>
            <a:r>
              <a:rPr sz="1400">
                <a:solidFill>
                  <a:srgbClr val="000000"/>
                </a:solidFill>
                <a:latin typeface="Helvetica Neue Thin"/>
              </a:rPr>
              <a:t>Dissatisfaction with customer service is another common theme. Users have mentioned that getting support through the app is challenging, and responses to issues are often slow or unhelpful.</a:t>
            </a:r>
          </a:p>
        </p:txBody>
      </p:sp>
      <p:sp>
        <p:nvSpPr>
          <p:cNvPr id="13" name="TextBox 12"/>
          <p:cNvSpPr txBox="1"/>
          <p:nvPr/>
        </p:nvSpPr>
        <p:spPr>
          <a:xfrm>
            <a:off x="457200" y="939800"/>
            <a:ext cx="11430000" cy="482600"/>
          </a:xfrm>
          <a:prstGeom prst="rect">
            <a:avLst/>
          </a:prstGeom>
          <a:noFill/>
        </p:spPr>
        <p:txBody>
          <a:bodyPr wrap="none" lIns="0" tIns="0" rIns="0" bIns="0">
            <a:noAutofit/>
          </a:bodyPr>
          <a:lstStyle/>
          <a:p>
            <a:r>
              <a:rPr sz="3000">
                <a:solidFill>
                  <a:srgbClr val="1F1F1F"/>
                </a:solidFill>
                <a:latin typeface="Helvetica Neue Light"/>
              </a:rPr>
              <a:t>Interviews: Experienced and novice traders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Pain points we heard from the interviews</a:t>
            </a:r>
          </a:p>
        </p:txBody>
      </p:sp>
      <p:sp>
        <p:nvSpPr>
          <p:cNvPr id="4" name="TextBox 3"/>
          <p:cNvSpPr txBox="1"/>
          <p:nvPr/>
        </p:nvSpPr>
        <p:spPr>
          <a:xfrm>
            <a:off x="1066800" y="2078479"/>
            <a:ext cx="7790614" cy="278434"/>
          </a:xfrm>
          <a:prstGeom prst="rect">
            <a:avLst/>
          </a:prstGeom>
          <a:noFill/>
        </p:spPr>
        <p:txBody>
          <a:bodyPr wrap="none" lIns="0" tIns="0" rIns="0" bIns="0">
            <a:noAutofit/>
          </a:bodyPr>
          <a:lstStyle/>
          <a:p>
            <a:pPr algn="l"/>
            <a:r>
              <a:rPr sz="1800" dirty="0">
                <a:solidFill>
                  <a:srgbClr val="000000"/>
                </a:solidFill>
                <a:latin typeface="Helvetica Neue Light"/>
              </a:rPr>
              <a:t>1 Can’t trade in both shares and dollar amounts using the mobile platform</a:t>
            </a:r>
          </a:p>
        </p:txBody>
      </p:sp>
      <p:sp>
        <p:nvSpPr>
          <p:cNvPr id="5" name="TextBox 4"/>
          <p:cNvSpPr txBox="1"/>
          <p:nvPr/>
        </p:nvSpPr>
        <p:spPr>
          <a:xfrm>
            <a:off x="1066800" y="2688079"/>
            <a:ext cx="3714815" cy="278434"/>
          </a:xfrm>
          <a:prstGeom prst="rect">
            <a:avLst/>
          </a:prstGeom>
          <a:noFill/>
        </p:spPr>
        <p:txBody>
          <a:bodyPr wrap="none" lIns="0" tIns="0" rIns="0" bIns="0">
            <a:noAutofit/>
          </a:bodyPr>
          <a:lstStyle/>
          <a:p>
            <a:pPr algn="l"/>
            <a:r>
              <a:rPr sz="1800" dirty="0">
                <a:solidFill>
                  <a:srgbClr val="000000"/>
                </a:solidFill>
                <a:latin typeface="Helvetica Neue Light"/>
              </a:rPr>
              <a:t>2 Several interfaces aren’t intuitive</a:t>
            </a:r>
          </a:p>
        </p:txBody>
      </p:sp>
      <p:sp>
        <p:nvSpPr>
          <p:cNvPr id="6" name="TextBox 5"/>
          <p:cNvSpPr txBox="1"/>
          <p:nvPr/>
        </p:nvSpPr>
        <p:spPr>
          <a:xfrm>
            <a:off x="1066800" y="3297680"/>
            <a:ext cx="5473941" cy="278434"/>
          </a:xfrm>
          <a:prstGeom prst="rect">
            <a:avLst/>
          </a:prstGeom>
          <a:noFill/>
        </p:spPr>
        <p:txBody>
          <a:bodyPr wrap="none" lIns="0" tIns="0" rIns="0" bIns="0">
            <a:noAutofit/>
          </a:bodyPr>
          <a:lstStyle/>
          <a:p>
            <a:pPr algn="l"/>
            <a:r>
              <a:rPr sz="1800" dirty="0">
                <a:solidFill>
                  <a:srgbClr val="000000"/>
                </a:solidFill>
                <a:latin typeface="Helvetica Neue Light"/>
              </a:rPr>
              <a:t>3 Need more of the right detailed trade information</a:t>
            </a:r>
          </a:p>
        </p:txBody>
      </p:sp>
      <p:sp>
        <p:nvSpPr>
          <p:cNvPr id="7" name="TextBox 6"/>
          <p:cNvSpPr txBox="1"/>
          <p:nvPr/>
        </p:nvSpPr>
        <p:spPr>
          <a:xfrm>
            <a:off x="1066800" y="3907280"/>
            <a:ext cx="3715851" cy="278434"/>
          </a:xfrm>
          <a:prstGeom prst="rect">
            <a:avLst/>
          </a:prstGeom>
          <a:noFill/>
        </p:spPr>
        <p:txBody>
          <a:bodyPr wrap="none" lIns="0" tIns="0" rIns="0" bIns="0">
            <a:noAutofit/>
          </a:bodyPr>
          <a:lstStyle/>
          <a:p>
            <a:pPr algn="l"/>
            <a:r>
              <a:rPr sz="1800" dirty="0">
                <a:solidFill>
                  <a:srgbClr val="000000"/>
                </a:solidFill>
                <a:latin typeface="Helvetica Neue Light"/>
              </a:rPr>
              <a:t>4 Flexibility needs to be improved </a:t>
            </a:r>
          </a:p>
        </p:txBody>
      </p:sp>
      <p:sp>
        <p:nvSpPr>
          <p:cNvPr id="8" name="TextBox 7"/>
          <p:cNvSpPr txBox="1"/>
          <p:nvPr/>
        </p:nvSpPr>
        <p:spPr>
          <a:xfrm>
            <a:off x="1066800" y="4516880"/>
            <a:ext cx="2472524" cy="278434"/>
          </a:xfrm>
          <a:prstGeom prst="rect">
            <a:avLst/>
          </a:prstGeom>
          <a:noFill/>
        </p:spPr>
        <p:txBody>
          <a:bodyPr wrap="none" lIns="0" tIns="0" rIns="0" bIns="0">
            <a:noAutofit/>
          </a:bodyPr>
          <a:lstStyle/>
          <a:p>
            <a:pPr algn="l"/>
            <a:r>
              <a:rPr sz="1800" dirty="0">
                <a:solidFill>
                  <a:srgbClr val="000000"/>
                </a:solidFill>
                <a:latin typeface="Helvetica Neue Light"/>
              </a:rPr>
              <a:t>5 More trading options</a:t>
            </a:r>
          </a:p>
        </p:txBody>
      </p:sp>
      <p:sp>
        <p:nvSpPr>
          <p:cNvPr id="9" name="TextBox 8"/>
          <p:cNvSpPr txBox="1"/>
          <p:nvPr/>
        </p:nvSpPr>
        <p:spPr>
          <a:xfrm>
            <a:off x="1066800" y="5126480"/>
            <a:ext cx="963298" cy="278434"/>
          </a:xfrm>
          <a:prstGeom prst="rect">
            <a:avLst/>
          </a:prstGeom>
          <a:noFill/>
        </p:spPr>
        <p:txBody>
          <a:bodyPr wrap="none" lIns="0" tIns="0" rIns="0" bIns="0">
            <a:noAutofit/>
          </a:bodyPr>
          <a:lstStyle/>
          <a:p>
            <a:pPr algn="l"/>
            <a:r>
              <a:rPr sz="1800" dirty="0">
                <a:solidFill>
                  <a:srgbClr val="000000"/>
                </a:solidFill>
                <a:latin typeface="Helvetica Neue Light"/>
              </a:rPr>
              <a:t>6 Speed</a:t>
            </a:r>
          </a:p>
        </p:txBody>
      </p:sp>
      <p:sp>
        <p:nvSpPr>
          <p:cNvPr id="10" name="TextBox 9"/>
          <p:cNvSpPr txBox="1"/>
          <p:nvPr/>
        </p:nvSpPr>
        <p:spPr>
          <a:xfrm>
            <a:off x="1066800" y="5736080"/>
            <a:ext cx="1666682" cy="278434"/>
          </a:xfrm>
          <a:prstGeom prst="rect">
            <a:avLst/>
          </a:prstGeom>
          <a:noFill/>
        </p:spPr>
        <p:txBody>
          <a:bodyPr wrap="none" lIns="0" tIns="0" rIns="0" bIns="0">
            <a:noAutofit/>
          </a:bodyPr>
          <a:lstStyle/>
          <a:p>
            <a:pPr algn="l"/>
            <a:r>
              <a:rPr sz="1800" dirty="0">
                <a:solidFill>
                  <a:srgbClr val="000000"/>
                </a:solidFill>
                <a:latin typeface="Helvetica Neue Light"/>
              </a:rPr>
              <a:t>7 Mobile native</a:t>
            </a:r>
          </a:p>
        </p:txBody>
      </p:sp>
      <p:sp>
        <p:nvSpPr>
          <p:cNvPr id="11" name="TextBox 10"/>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12" name="TextBox 11"/>
          <p:cNvSpPr txBox="1"/>
          <p:nvPr/>
        </p:nvSpPr>
        <p:spPr>
          <a:xfrm>
            <a:off x="6512844" y="7171435"/>
            <a:ext cx="5681984" cy="295655"/>
          </a:xfrm>
          <a:prstGeom prst="rect">
            <a:avLst/>
          </a:prstGeom>
          <a:noFill/>
        </p:spPr>
        <p:txBody>
          <a:bodyPr wrap="none" lIns="0" tIns="0" rIns="0" bIns="0">
            <a:noAutofit/>
          </a:bodyPr>
          <a:lstStyle/>
          <a:p>
            <a:pPr algn="l"/>
            <a:r>
              <a:rPr sz="2000" dirty="0">
                <a:solidFill>
                  <a:srgbClr val="000000"/>
                </a:solidFill>
                <a:latin typeface="Helvetica Neue Thin"/>
              </a:rPr>
              <a:t>“...the app’s interface is so non-intuitive, it makes </a:t>
            </a:r>
          </a:p>
        </p:txBody>
      </p:sp>
      <p:sp>
        <p:nvSpPr>
          <p:cNvPr id="13" name="TextBox 12"/>
          <p:cNvSpPr txBox="1"/>
          <p:nvPr/>
        </p:nvSpPr>
        <p:spPr>
          <a:xfrm>
            <a:off x="6672098" y="7476235"/>
            <a:ext cx="5338017" cy="295655"/>
          </a:xfrm>
          <a:prstGeom prst="rect">
            <a:avLst/>
          </a:prstGeom>
          <a:noFill/>
        </p:spPr>
        <p:txBody>
          <a:bodyPr wrap="none" lIns="0" tIns="0" rIns="0" bIns="0">
            <a:noAutofit/>
          </a:bodyPr>
          <a:lstStyle/>
          <a:p>
            <a:pPr algn="l"/>
            <a:r>
              <a:rPr sz="2000" dirty="0">
                <a:solidFill>
                  <a:srgbClr val="000000"/>
                </a:solidFill>
                <a:latin typeface="Helvetica Neue Thin"/>
              </a:rPr>
              <a:t>it hard to navigate, find specific functions and </a:t>
            </a:r>
          </a:p>
        </p:txBody>
      </p:sp>
      <p:sp>
        <p:nvSpPr>
          <p:cNvPr id="14" name="TextBox 13"/>
          <p:cNvSpPr txBox="1"/>
          <p:nvPr/>
        </p:nvSpPr>
        <p:spPr>
          <a:xfrm>
            <a:off x="7795531" y="7781035"/>
            <a:ext cx="2840086" cy="295655"/>
          </a:xfrm>
          <a:prstGeom prst="rect">
            <a:avLst/>
          </a:prstGeom>
          <a:noFill/>
        </p:spPr>
        <p:txBody>
          <a:bodyPr wrap="none" lIns="0" tIns="0" rIns="0" bIns="0">
            <a:noAutofit/>
          </a:bodyPr>
          <a:lstStyle/>
          <a:p>
            <a:pPr algn="l"/>
            <a:r>
              <a:rPr sz="2000" dirty="0">
                <a:solidFill>
                  <a:srgbClr val="000000"/>
                </a:solidFill>
                <a:latin typeface="Helvetica Neue Thin"/>
              </a:rPr>
              <a:t>just make a quick trade”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44478" y="1829795"/>
            <a:ext cx="2351825" cy="1409842"/>
          </a:xfrm>
          <a:prstGeom prst="rect">
            <a:avLst/>
          </a:prstGeom>
        </p:spPr>
      </p:pic>
      <p:pic>
        <p:nvPicPr>
          <p:cNvPr id="4" name="Picture 2" descr="image.png"/>
          <p:cNvPicPr>
            <a:picLocks noChangeAspect="1"/>
          </p:cNvPicPr>
          <p:nvPr/>
        </p:nvPicPr>
        <p:blipFill>
          <a:blip r:embed="rId4"/>
          <a:stretch>
            <a:fillRect/>
          </a:stretch>
        </p:blipFill>
        <p:spPr>
          <a:xfrm>
            <a:off x="6041468" y="5022599"/>
            <a:ext cx="2075680" cy="1381271"/>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6" name="TextBox 5"/>
          <p:cNvSpPr txBox="1"/>
          <p:nvPr/>
        </p:nvSpPr>
        <p:spPr>
          <a:xfrm>
            <a:off x="4820493" y="1786543"/>
            <a:ext cx="702144" cy="152812"/>
          </a:xfrm>
          <a:prstGeom prst="rect">
            <a:avLst/>
          </a:prstGeom>
          <a:noFill/>
        </p:spPr>
        <p:txBody>
          <a:bodyPr wrap="none" lIns="0" tIns="0" rIns="0" bIns="0">
            <a:noAutofit/>
          </a:bodyPr>
          <a:lstStyle/>
          <a:p>
            <a:pPr algn="l"/>
            <a:r>
              <a:rPr sz="1000" dirty="0">
                <a:solidFill>
                  <a:srgbClr val="000000"/>
                </a:solidFill>
                <a:latin typeface="Helvetica Neue Light"/>
              </a:rPr>
              <a:t>Sentiments</a:t>
            </a:r>
          </a:p>
        </p:txBody>
      </p:sp>
      <p:sp>
        <p:nvSpPr>
          <p:cNvPr id="7" name="TextBox 6"/>
          <p:cNvSpPr txBox="1"/>
          <p:nvPr/>
        </p:nvSpPr>
        <p:spPr>
          <a:xfrm>
            <a:off x="4820493" y="2859941"/>
            <a:ext cx="954442" cy="152812"/>
          </a:xfrm>
          <a:prstGeom prst="rect">
            <a:avLst/>
          </a:prstGeom>
          <a:noFill/>
        </p:spPr>
        <p:txBody>
          <a:bodyPr wrap="none" lIns="0" tIns="0" rIns="0" bIns="0">
            <a:noAutofit/>
          </a:bodyPr>
          <a:lstStyle/>
          <a:p>
            <a:pPr algn="l"/>
            <a:r>
              <a:rPr sz="1000" dirty="0">
                <a:solidFill>
                  <a:srgbClr val="000000"/>
                </a:solidFill>
                <a:latin typeface="Helvetica Neue Light"/>
              </a:rPr>
              <a:t>Responsibilities</a:t>
            </a:r>
          </a:p>
        </p:txBody>
      </p:sp>
      <p:sp>
        <p:nvSpPr>
          <p:cNvPr id="8" name="TextBox 7"/>
          <p:cNvSpPr txBox="1"/>
          <p:nvPr/>
        </p:nvSpPr>
        <p:spPr>
          <a:xfrm>
            <a:off x="4820493" y="3779996"/>
            <a:ext cx="2277860" cy="152812"/>
          </a:xfrm>
          <a:prstGeom prst="rect">
            <a:avLst/>
          </a:prstGeom>
          <a:noFill/>
        </p:spPr>
        <p:txBody>
          <a:bodyPr wrap="none" lIns="0" tIns="0" rIns="0" bIns="0">
            <a:noAutofit/>
          </a:bodyPr>
          <a:lstStyle/>
          <a:p>
            <a:pPr algn="l"/>
            <a:r>
              <a:rPr sz="1000" dirty="0">
                <a:solidFill>
                  <a:srgbClr val="000000"/>
                </a:solidFill>
                <a:latin typeface="Helvetica Neue Light"/>
              </a:rPr>
              <a:t>Key Challenges and Areas of Concern</a:t>
            </a:r>
          </a:p>
        </p:txBody>
      </p:sp>
      <p:sp>
        <p:nvSpPr>
          <p:cNvPr id="9" name="TextBox 8"/>
          <p:cNvSpPr txBox="1"/>
          <p:nvPr/>
        </p:nvSpPr>
        <p:spPr>
          <a:xfrm>
            <a:off x="4820494" y="4853395"/>
            <a:ext cx="1186823" cy="152812"/>
          </a:xfrm>
          <a:prstGeom prst="rect">
            <a:avLst/>
          </a:prstGeom>
          <a:noFill/>
        </p:spPr>
        <p:txBody>
          <a:bodyPr wrap="none" lIns="0" tIns="0" rIns="0" bIns="0">
            <a:noAutofit/>
          </a:bodyPr>
          <a:lstStyle/>
          <a:p>
            <a:pPr algn="l"/>
            <a:r>
              <a:rPr sz="1000" dirty="0">
                <a:solidFill>
                  <a:srgbClr val="000000"/>
                </a:solidFill>
                <a:latin typeface="Helvetica Neue Light"/>
              </a:rPr>
              <a:t>Wishlist of Features</a:t>
            </a:r>
          </a:p>
        </p:txBody>
      </p:sp>
      <p:sp>
        <p:nvSpPr>
          <p:cNvPr id="10" name="TextBox 9"/>
          <p:cNvSpPr txBox="1"/>
          <p:nvPr/>
        </p:nvSpPr>
        <p:spPr>
          <a:xfrm>
            <a:off x="708124" y="1270475"/>
            <a:ext cx="1839489" cy="396432"/>
          </a:xfrm>
          <a:prstGeom prst="rect">
            <a:avLst/>
          </a:prstGeom>
          <a:noFill/>
        </p:spPr>
        <p:txBody>
          <a:bodyPr wrap="none" lIns="0" tIns="0" rIns="0" bIns="0">
            <a:noAutofit/>
          </a:bodyPr>
          <a:lstStyle/>
          <a:p>
            <a:pPr algn="l">
              <a:lnSpc>
                <a:spcPts val="1448"/>
              </a:lnSpc>
            </a:pPr>
            <a:r>
              <a:rPr sz="1450" dirty="0">
                <a:solidFill>
                  <a:srgbClr val="000000"/>
                </a:solidFill>
                <a:latin typeface="Helvetica Neue Light"/>
              </a:rPr>
              <a:t>Experienced Investor</a:t>
            </a:r>
          </a:p>
          <a:p>
            <a:pPr algn="l">
              <a:lnSpc>
                <a:spcPts val="1448"/>
              </a:lnSpc>
            </a:pPr>
            <a:r>
              <a:rPr sz="1200" dirty="0">
                <a:solidFill>
                  <a:srgbClr val="000000"/>
                </a:solidFill>
                <a:latin typeface="Helvetica Neue Light"/>
              </a:rPr>
              <a:t>Jordan </a:t>
            </a:r>
          </a:p>
        </p:txBody>
      </p:sp>
      <p:sp>
        <p:nvSpPr>
          <p:cNvPr id="11" name="TextBox 10"/>
          <p:cNvSpPr txBox="1"/>
          <p:nvPr/>
        </p:nvSpPr>
        <p:spPr>
          <a:xfrm>
            <a:off x="708124" y="4023254"/>
            <a:ext cx="1863419" cy="203750"/>
          </a:xfrm>
          <a:prstGeom prst="rect">
            <a:avLst/>
          </a:prstGeom>
          <a:noFill/>
        </p:spPr>
        <p:txBody>
          <a:bodyPr wrap="none" lIns="0" tIns="0" rIns="0" bIns="0">
            <a:noAutofit/>
          </a:bodyPr>
          <a:lstStyle/>
          <a:p>
            <a:pPr algn="l"/>
            <a:r>
              <a:rPr sz="1300" dirty="0">
                <a:solidFill>
                  <a:srgbClr val="000000"/>
                </a:solidFill>
                <a:latin typeface="Helvetica Neue Light"/>
              </a:rPr>
              <a:t>20 to over 1,000 trades</a:t>
            </a:r>
          </a:p>
        </p:txBody>
      </p:sp>
      <p:sp>
        <p:nvSpPr>
          <p:cNvPr id="12" name="TextBox 11"/>
          <p:cNvSpPr txBox="1"/>
          <p:nvPr/>
        </p:nvSpPr>
        <p:spPr>
          <a:xfrm>
            <a:off x="10079934" y="5104272"/>
            <a:ext cx="653657" cy="141437"/>
          </a:xfrm>
          <a:prstGeom prst="rect">
            <a:avLst/>
          </a:prstGeom>
          <a:noFill/>
        </p:spPr>
        <p:txBody>
          <a:bodyPr wrap="none" lIns="0" tIns="0" rIns="0" bIns="0">
            <a:noAutofit/>
          </a:bodyPr>
          <a:lstStyle/>
          <a:p>
            <a:pPr algn="l"/>
            <a:r>
              <a:rPr sz="900" dirty="0">
                <a:solidFill>
                  <a:srgbClr val="000000"/>
                </a:solidFill>
                <a:latin typeface="Helvetica Neue Light"/>
              </a:rPr>
              <a:t>Sentiments</a:t>
            </a:r>
          </a:p>
        </p:txBody>
      </p:sp>
      <p:sp>
        <p:nvSpPr>
          <p:cNvPr id="13" name="TextBox 12"/>
          <p:cNvSpPr txBox="1"/>
          <p:nvPr/>
        </p:nvSpPr>
        <p:spPr>
          <a:xfrm>
            <a:off x="10079934" y="6097759"/>
            <a:ext cx="887175" cy="141437"/>
          </a:xfrm>
          <a:prstGeom prst="rect">
            <a:avLst/>
          </a:prstGeom>
          <a:noFill/>
        </p:spPr>
        <p:txBody>
          <a:bodyPr wrap="none" lIns="0" tIns="0" rIns="0" bIns="0">
            <a:noAutofit/>
          </a:bodyPr>
          <a:lstStyle/>
          <a:p>
            <a:pPr algn="l"/>
            <a:r>
              <a:rPr sz="900" dirty="0">
                <a:solidFill>
                  <a:srgbClr val="000000"/>
                </a:solidFill>
                <a:latin typeface="Helvetica Neue Light"/>
              </a:rPr>
              <a:t>Responsibilities</a:t>
            </a:r>
          </a:p>
        </p:txBody>
      </p:sp>
      <p:sp>
        <p:nvSpPr>
          <p:cNvPr id="14" name="TextBox 13"/>
          <p:cNvSpPr txBox="1"/>
          <p:nvPr/>
        </p:nvSpPr>
        <p:spPr>
          <a:xfrm>
            <a:off x="10079934" y="6949321"/>
            <a:ext cx="2112078" cy="141437"/>
          </a:xfrm>
          <a:prstGeom prst="rect">
            <a:avLst/>
          </a:prstGeom>
          <a:noFill/>
        </p:spPr>
        <p:txBody>
          <a:bodyPr wrap="none" lIns="0" tIns="0" rIns="0" bIns="0">
            <a:noAutofit/>
          </a:bodyPr>
          <a:lstStyle/>
          <a:p>
            <a:pPr algn="l"/>
            <a:r>
              <a:rPr sz="900" dirty="0">
                <a:solidFill>
                  <a:srgbClr val="000000"/>
                </a:solidFill>
                <a:latin typeface="Helvetica Neue Light"/>
              </a:rPr>
              <a:t>Key Challenges and Areas of Concern</a:t>
            </a:r>
          </a:p>
        </p:txBody>
      </p:sp>
      <p:sp>
        <p:nvSpPr>
          <p:cNvPr id="15" name="TextBox 14"/>
          <p:cNvSpPr txBox="1"/>
          <p:nvPr/>
        </p:nvSpPr>
        <p:spPr>
          <a:xfrm>
            <a:off x="10079934" y="7800882"/>
            <a:ext cx="1102257" cy="141437"/>
          </a:xfrm>
          <a:prstGeom prst="rect">
            <a:avLst/>
          </a:prstGeom>
          <a:noFill/>
        </p:spPr>
        <p:txBody>
          <a:bodyPr wrap="none" lIns="0" tIns="0" rIns="0" bIns="0">
            <a:noAutofit/>
          </a:bodyPr>
          <a:lstStyle/>
          <a:p>
            <a:pPr algn="l"/>
            <a:r>
              <a:rPr sz="900" dirty="0">
                <a:solidFill>
                  <a:srgbClr val="000000"/>
                </a:solidFill>
                <a:latin typeface="Helvetica Neue Light"/>
              </a:rPr>
              <a:t>Wishlist of Features</a:t>
            </a:r>
          </a:p>
        </p:txBody>
      </p:sp>
      <p:sp>
        <p:nvSpPr>
          <p:cNvPr id="16" name="TextBox 15"/>
          <p:cNvSpPr txBox="1"/>
          <p:nvPr/>
        </p:nvSpPr>
        <p:spPr>
          <a:xfrm>
            <a:off x="6273713" y="4523404"/>
            <a:ext cx="1267765" cy="366919"/>
          </a:xfrm>
          <a:prstGeom prst="rect">
            <a:avLst/>
          </a:prstGeom>
          <a:noFill/>
        </p:spPr>
        <p:txBody>
          <a:bodyPr wrap="none" lIns="0" tIns="0" rIns="0" bIns="0">
            <a:noAutofit/>
          </a:bodyPr>
          <a:lstStyle/>
          <a:p>
            <a:pPr algn="l">
              <a:lnSpc>
                <a:spcPts val="1341"/>
              </a:lnSpc>
            </a:pPr>
            <a:r>
              <a:rPr sz="1300" dirty="0">
                <a:solidFill>
                  <a:srgbClr val="000000"/>
                </a:solidFill>
                <a:latin typeface="Helvetica Neue Light"/>
              </a:rPr>
              <a:t>Novice Investor</a:t>
            </a:r>
          </a:p>
          <a:p>
            <a:pPr algn="l">
              <a:lnSpc>
                <a:spcPts val="1341"/>
              </a:lnSpc>
            </a:pPr>
            <a:r>
              <a:rPr sz="1100" dirty="0">
                <a:solidFill>
                  <a:srgbClr val="000000"/>
                </a:solidFill>
                <a:latin typeface="Helvetica Neue Light"/>
              </a:rPr>
              <a:t>Taylor </a:t>
            </a:r>
          </a:p>
        </p:txBody>
      </p:sp>
      <p:sp>
        <p:nvSpPr>
          <p:cNvPr id="17" name="TextBox 16"/>
          <p:cNvSpPr txBox="1"/>
          <p:nvPr/>
        </p:nvSpPr>
        <p:spPr>
          <a:xfrm>
            <a:off x="6273712" y="7061056"/>
            <a:ext cx="686888" cy="188582"/>
          </a:xfrm>
          <a:prstGeom prst="rect">
            <a:avLst/>
          </a:prstGeom>
          <a:noFill/>
        </p:spPr>
        <p:txBody>
          <a:bodyPr wrap="none" lIns="0" tIns="0" rIns="0" bIns="0">
            <a:noAutofit/>
          </a:bodyPr>
          <a:lstStyle/>
          <a:p>
            <a:pPr algn="l"/>
            <a:r>
              <a:rPr sz="1200" dirty="0">
                <a:solidFill>
                  <a:srgbClr val="000000"/>
                </a:solidFill>
                <a:latin typeface="Helvetica Neue Light"/>
              </a:rPr>
              <a:t>10 to 100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4" name="TextBox 3"/>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5" name="TextBox 4"/>
          <p:cNvSpPr txBox="1"/>
          <p:nvPr/>
        </p:nvSpPr>
        <p:spPr>
          <a:xfrm>
            <a:off x="659853"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6" name="TextBox 5"/>
          <p:cNvSpPr txBox="1"/>
          <p:nvPr/>
        </p:nvSpPr>
        <p:spPr>
          <a:xfrm>
            <a:off x="642848" y="2931890"/>
            <a:ext cx="2476008" cy="216560"/>
          </a:xfrm>
          <a:prstGeom prst="rect">
            <a:avLst/>
          </a:prstGeom>
          <a:noFill/>
        </p:spPr>
        <p:txBody>
          <a:bodyPr wrap="none" lIns="0" tIns="0" rIns="0" bIns="0">
            <a:noAutofit/>
          </a:bodyPr>
          <a:lstStyle/>
          <a:p>
            <a:pPr algn="l"/>
            <a:r>
              <a:rPr sz="1400" dirty="0">
                <a:solidFill>
                  <a:srgbClr val="FFFFFF"/>
                </a:solidFill>
                <a:latin typeface="Helvetica Neue Light"/>
              </a:rPr>
              <a:t>• Can’t trade in both shares </a:t>
            </a:r>
          </a:p>
        </p:txBody>
      </p:sp>
      <p:sp>
        <p:nvSpPr>
          <p:cNvPr id="7" name="TextBox 6"/>
          <p:cNvSpPr txBox="1"/>
          <p:nvPr/>
        </p:nvSpPr>
        <p:spPr>
          <a:xfrm>
            <a:off x="871448" y="3287490"/>
            <a:ext cx="926045" cy="216560"/>
          </a:xfrm>
          <a:prstGeom prst="rect">
            <a:avLst/>
          </a:prstGeom>
          <a:noFill/>
        </p:spPr>
        <p:txBody>
          <a:bodyPr wrap="none" lIns="0" tIns="0" rIns="0" bIns="0">
            <a:noAutofit/>
          </a:bodyPr>
          <a:lstStyle/>
          <a:p>
            <a:pPr algn="l"/>
            <a:r>
              <a:rPr sz="1400" dirty="0">
                <a:solidFill>
                  <a:srgbClr val="FFFFFF"/>
                </a:solidFill>
                <a:latin typeface="Helvetica Neue Light"/>
              </a:rPr>
              <a:t>and dollar </a:t>
            </a:r>
          </a:p>
        </p:txBody>
      </p:sp>
      <p:sp>
        <p:nvSpPr>
          <p:cNvPr id="8" name="TextBox 7"/>
          <p:cNvSpPr txBox="1"/>
          <p:nvPr/>
        </p:nvSpPr>
        <p:spPr>
          <a:xfrm>
            <a:off x="642848" y="3643090"/>
            <a:ext cx="2314305" cy="216560"/>
          </a:xfrm>
          <a:prstGeom prst="rect">
            <a:avLst/>
          </a:prstGeom>
          <a:noFill/>
        </p:spPr>
        <p:txBody>
          <a:bodyPr wrap="none" lIns="0" tIns="0" rIns="0" bIns="0">
            <a:noAutofit/>
          </a:bodyPr>
          <a:lstStyle/>
          <a:p>
            <a:pPr algn="l"/>
            <a:r>
              <a:rPr sz="1400" dirty="0">
                <a:solidFill>
                  <a:srgbClr val="FFFFFF"/>
                </a:solidFill>
                <a:latin typeface="Helvetica Neue Light"/>
              </a:rPr>
              <a:t>• Interfaces aren’t intuitive</a:t>
            </a:r>
          </a:p>
        </p:txBody>
      </p:sp>
      <p:sp>
        <p:nvSpPr>
          <p:cNvPr id="9" name="TextBox 8"/>
          <p:cNvSpPr txBox="1"/>
          <p:nvPr/>
        </p:nvSpPr>
        <p:spPr>
          <a:xfrm>
            <a:off x="642848" y="3902170"/>
            <a:ext cx="2277050" cy="668680"/>
          </a:xfrm>
          <a:prstGeom prst="rect">
            <a:avLst/>
          </a:prstGeom>
          <a:noFill/>
        </p:spPr>
        <p:txBody>
          <a:bodyPr wrap="square" lIns="0" tIns="0" rIns="0" bIns="0">
            <a:noAutofit/>
          </a:bodyPr>
          <a:lstStyle/>
          <a:p>
            <a:pPr marL="228600" indent="-228600" algn="l">
              <a:lnSpc>
                <a:spcPts val="2800"/>
              </a:lnSpc>
            </a:pPr>
            <a:r>
              <a:rPr sz="1400" dirty="0">
                <a:solidFill>
                  <a:srgbClr val="FFFFFF"/>
                </a:solidFill>
                <a:latin typeface="Helvetica Neue Light"/>
              </a:rPr>
              <a:t>•	Need more of the right detailed trade information</a:t>
            </a:r>
          </a:p>
        </p:txBody>
      </p:sp>
      <p:sp>
        <p:nvSpPr>
          <p:cNvPr id="11" name="TextBox 10"/>
          <p:cNvSpPr txBox="1"/>
          <p:nvPr/>
        </p:nvSpPr>
        <p:spPr>
          <a:xfrm>
            <a:off x="642848" y="4709890"/>
            <a:ext cx="1112638" cy="216560"/>
          </a:xfrm>
          <a:prstGeom prst="rect">
            <a:avLst/>
          </a:prstGeom>
          <a:noFill/>
        </p:spPr>
        <p:txBody>
          <a:bodyPr wrap="none" lIns="0" tIns="0" rIns="0" bIns="0">
            <a:noAutofit/>
          </a:bodyPr>
          <a:lstStyle/>
          <a:p>
            <a:pPr algn="l"/>
            <a:r>
              <a:rPr sz="1400" dirty="0">
                <a:solidFill>
                  <a:srgbClr val="FFFFFF"/>
                </a:solidFill>
                <a:latin typeface="Helvetica Neue Light"/>
              </a:rPr>
              <a:t>• Flexibility </a:t>
            </a:r>
          </a:p>
        </p:txBody>
      </p:sp>
      <p:sp>
        <p:nvSpPr>
          <p:cNvPr id="12" name="TextBox 11"/>
          <p:cNvSpPr txBox="1"/>
          <p:nvPr/>
        </p:nvSpPr>
        <p:spPr>
          <a:xfrm>
            <a:off x="642848" y="5065490"/>
            <a:ext cx="2019759" cy="216560"/>
          </a:xfrm>
          <a:prstGeom prst="rect">
            <a:avLst/>
          </a:prstGeom>
          <a:noFill/>
        </p:spPr>
        <p:txBody>
          <a:bodyPr wrap="none" lIns="0" tIns="0" rIns="0" bIns="0">
            <a:noAutofit/>
          </a:bodyPr>
          <a:lstStyle/>
          <a:p>
            <a:pPr algn="l"/>
            <a:r>
              <a:rPr sz="1400" dirty="0">
                <a:solidFill>
                  <a:srgbClr val="FFFFFF"/>
                </a:solidFill>
                <a:latin typeface="Helvetica Neue Light"/>
              </a:rPr>
              <a:t>• More trading options</a:t>
            </a:r>
          </a:p>
        </p:txBody>
      </p:sp>
      <p:sp>
        <p:nvSpPr>
          <p:cNvPr id="13" name="TextBox 12"/>
          <p:cNvSpPr txBox="1"/>
          <p:nvPr/>
        </p:nvSpPr>
        <p:spPr>
          <a:xfrm>
            <a:off x="642848" y="5421090"/>
            <a:ext cx="1817174" cy="216560"/>
          </a:xfrm>
          <a:prstGeom prst="rect">
            <a:avLst/>
          </a:prstGeom>
          <a:noFill/>
        </p:spPr>
        <p:txBody>
          <a:bodyPr wrap="none" lIns="0" tIns="0" rIns="0" bIns="0">
            <a:noAutofit/>
          </a:bodyPr>
          <a:lstStyle/>
          <a:p>
            <a:pPr algn="l"/>
            <a:r>
              <a:rPr sz="1400" dirty="0">
                <a:solidFill>
                  <a:srgbClr val="FFFFFF"/>
                </a:solidFill>
                <a:latin typeface="Helvetica Neue Light"/>
              </a:rPr>
              <a:t>• Transaction speed</a:t>
            </a:r>
          </a:p>
        </p:txBody>
      </p:sp>
      <p:sp>
        <p:nvSpPr>
          <p:cNvPr id="14" name="TextBox 13"/>
          <p:cNvSpPr txBox="1"/>
          <p:nvPr/>
        </p:nvSpPr>
        <p:spPr>
          <a:xfrm>
            <a:off x="642848" y="5776690"/>
            <a:ext cx="1408354" cy="216560"/>
          </a:xfrm>
          <a:prstGeom prst="rect">
            <a:avLst/>
          </a:prstGeom>
          <a:noFill/>
        </p:spPr>
        <p:txBody>
          <a:bodyPr wrap="none" lIns="0" tIns="0" rIns="0" bIns="0">
            <a:noAutofit/>
          </a:bodyPr>
          <a:lstStyle/>
          <a:p>
            <a:pPr algn="l"/>
            <a:r>
              <a:rPr sz="1400" dirty="0">
                <a:solidFill>
                  <a:srgbClr val="FFFFFF"/>
                </a:solidFill>
                <a:latin typeface="Helvetica Neue Light"/>
              </a:rPr>
              <a:t>• Mobile native</a:t>
            </a:r>
          </a:p>
        </p:txBody>
      </p:sp>
      <p:sp>
        <p:nvSpPr>
          <p:cNvPr id="15" name="TextBox 14"/>
          <p:cNvSpPr txBox="1"/>
          <p:nvPr/>
        </p:nvSpPr>
        <p:spPr>
          <a:xfrm>
            <a:off x="3997043" y="2416525"/>
            <a:ext cx="7999164"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41534" algn="l">
              <a:lnSpc>
                <a:spcPts val="207"/>
              </a:lnSpc>
            </a:pPr>
            <a:r>
              <a:rPr sz="1900" dirty="0">
                <a:solidFill>
                  <a:srgbClr val="FFFFFF"/>
                </a:solidFill>
                <a:latin typeface="Helvetica Neue Light"/>
              </a:rPr>
              <a:t>Feature Set</a:t>
            </a:r>
          </a:p>
        </p:txBody>
      </p:sp>
      <p:sp>
        <p:nvSpPr>
          <p:cNvPr id="16" name="TextBox 15"/>
          <p:cNvSpPr txBox="1"/>
          <p:nvPr/>
        </p:nvSpPr>
        <p:spPr>
          <a:xfrm>
            <a:off x="10121901" y="2931890"/>
            <a:ext cx="1252430" cy="216560"/>
          </a:xfrm>
          <a:prstGeom prst="rect">
            <a:avLst/>
          </a:prstGeom>
          <a:noFill/>
        </p:spPr>
        <p:txBody>
          <a:bodyPr wrap="none" lIns="0" tIns="0" rIns="0" bIns="0">
            <a:noAutofit/>
          </a:bodyPr>
          <a:lstStyle/>
          <a:p>
            <a:pPr algn="l"/>
            <a:r>
              <a:rPr sz="1400" dirty="0">
                <a:solidFill>
                  <a:srgbClr val="FFFFFF"/>
                </a:solidFill>
                <a:latin typeface="Helvetica Neue Light"/>
              </a:rPr>
              <a:t>• Order Entry</a:t>
            </a:r>
          </a:p>
        </p:txBody>
      </p:sp>
      <p:sp>
        <p:nvSpPr>
          <p:cNvPr id="17" name="TextBox 16"/>
          <p:cNvSpPr txBox="1"/>
          <p:nvPr/>
        </p:nvSpPr>
        <p:spPr>
          <a:xfrm>
            <a:off x="10121901" y="3236690"/>
            <a:ext cx="2245577" cy="216560"/>
          </a:xfrm>
          <a:prstGeom prst="rect">
            <a:avLst/>
          </a:prstGeom>
          <a:noFill/>
        </p:spPr>
        <p:txBody>
          <a:bodyPr wrap="none" lIns="0" tIns="0" rIns="0" bIns="0">
            <a:noAutofit/>
          </a:bodyPr>
          <a:lstStyle/>
          <a:p>
            <a:pPr algn="l"/>
            <a:r>
              <a:rPr sz="1400" dirty="0">
                <a:solidFill>
                  <a:srgbClr val="FFFFFF"/>
                </a:solidFill>
                <a:latin typeface="Helvetica Neue Light"/>
              </a:rPr>
              <a:t>• Execution Management</a:t>
            </a:r>
          </a:p>
        </p:txBody>
      </p:sp>
      <p:sp>
        <p:nvSpPr>
          <p:cNvPr id="18" name="TextBox 17"/>
          <p:cNvSpPr txBox="1"/>
          <p:nvPr/>
        </p:nvSpPr>
        <p:spPr>
          <a:xfrm>
            <a:off x="10121901" y="3541490"/>
            <a:ext cx="2001322" cy="216560"/>
          </a:xfrm>
          <a:prstGeom prst="rect">
            <a:avLst/>
          </a:prstGeom>
          <a:noFill/>
        </p:spPr>
        <p:txBody>
          <a:bodyPr wrap="none" lIns="0" tIns="0" rIns="0" bIns="0">
            <a:noAutofit/>
          </a:bodyPr>
          <a:lstStyle/>
          <a:p>
            <a:pPr algn="l"/>
            <a:r>
              <a:rPr sz="1400" dirty="0">
                <a:solidFill>
                  <a:srgbClr val="FFFFFF"/>
                </a:solidFill>
                <a:latin typeface="Helvetica Neue Light"/>
              </a:rPr>
              <a:t>• Real-time Monitoring</a:t>
            </a:r>
          </a:p>
        </p:txBody>
      </p:sp>
      <p:sp>
        <p:nvSpPr>
          <p:cNvPr id="19" name="TextBox 18"/>
          <p:cNvSpPr txBox="1"/>
          <p:nvPr/>
        </p:nvSpPr>
        <p:spPr>
          <a:xfrm>
            <a:off x="10121901" y="3846290"/>
            <a:ext cx="1778383" cy="216560"/>
          </a:xfrm>
          <a:prstGeom prst="rect">
            <a:avLst/>
          </a:prstGeom>
          <a:noFill/>
        </p:spPr>
        <p:txBody>
          <a:bodyPr wrap="none" lIns="0" tIns="0" rIns="0" bIns="0">
            <a:noAutofit/>
          </a:bodyPr>
          <a:lstStyle/>
          <a:p>
            <a:pPr algn="l"/>
            <a:r>
              <a:rPr sz="1400" dirty="0">
                <a:solidFill>
                  <a:srgbClr val="FFFFFF"/>
                </a:solidFill>
                <a:latin typeface="Helvetica Neue Light"/>
              </a:rPr>
              <a:t>• Risk Management</a:t>
            </a:r>
          </a:p>
        </p:txBody>
      </p:sp>
      <p:sp>
        <p:nvSpPr>
          <p:cNvPr id="20" name="TextBox 19"/>
          <p:cNvSpPr txBox="1"/>
          <p:nvPr/>
        </p:nvSpPr>
        <p:spPr>
          <a:xfrm>
            <a:off x="10121901" y="4151090"/>
            <a:ext cx="2109626" cy="216560"/>
          </a:xfrm>
          <a:prstGeom prst="rect">
            <a:avLst/>
          </a:prstGeom>
          <a:noFill/>
        </p:spPr>
        <p:txBody>
          <a:bodyPr wrap="none" lIns="0" tIns="0" rIns="0" bIns="0">
            <a:noAutofit/>
          </a:bodyPr>
          <a:lstStyle/>
          <a:p>
            <a:pPr algn="l"/>
            <a:r>
              <a:rPr sz="1400" dirty="0">
                <a:solidFill>
                  <a:srgbClr val="FFFFFF"/>
                </a:solidFill>
                <a:latin typeface="Helvetica Neue Light"/>
              </a:rPr>
              <a:t>• Post-trade Processing</a:t>
            </a:r>
          </a:p>
        </p:txBody>
      </p:sp>
      <p:sp>
        <p:nvSpPr>
          <p:cNvPr id="21" name="TextBox 20"/>
          <p:cNvSpPr txBox="1"/>
          <p:nvPr/>
        </p:nvSpPr>
        <p:spPr>
          <a:xfrm>
            <a:off x="10121901" y="4455890"/>
            <a:ext cx="2141306" cy="216560"/>
          </a:xfrm>
          <a:prstGeom prst="rect">
            <a:avLst/>
          </a:prstGeom>
          <a:noFill/>
        </p:spPr>
        <p:txBody>
          <a:bodyPr wrap="none" lIns="0" tIns="0" rIns="0" bIns="0">
            <a:noAutofit/>
          </a:bodyPr>
          <a:lstStyle/>
          <a:p>
            <a:pPr algn="l"/>
            <a:r>
              <a:rPr sz="1400" dirty="0">
                <a:solidFill>
                  <a:srgbClr val="FFFFFF"/>
                </a:solidFill>
                <a:latin typeface="Helvetica Neue Light"/>
              </a:rPr>
              <a:t>• Integration with Other </a:t>
            </a:r>
          </a:p>
        </p:txBody>
      </p:sp>
      <p:sp>
        <p:nvSpPr>
          <p:cNvPr id="22" name="TextBox 21"/>
          <p:cNvSpPr txBox="1"/>
          <p:nvPr/>
        </p:nvSpPr>
        <p:spPr>
          <a:xfrm>
            <a:off x="10350501" y="4760690"/>
            <a:ext cx="743622" cy="216560"/>
          </a:xfrm>
          <a:prstGeom prst="rect">
            <a:avLst/>
          </a:prstGeom>
          <a:noFill/>
        </p:spPr>
        <p:txBody>
          <a:bodyPr wrap="none" lIns="0" tIns="0" rIns="0" bIns="0">
            <a:noAutofit/>
          </a:bodyPr>
          <a:lstStyle/>
          <a:p>
            <a:pPr algn="l"/>
            <a:r>
              <a:rPr sz="1400" dirty="0">
                <a:solidFill>
                  <a:srgbClr val="FFFFFF"/>
                </a:solidFill>
                <a:latin typeface="Helvetica Neue Light"/>
              </a:rPr>
              <a:t>Systems</a:t>
            </a:r>
          </a:p>
        </p:txBody>
      </p:sp>
      <p:sp>
        <p:nvSpPr>
          <p:cNvPr id="23" name="TextBox 22"/>
          <p:cNvSpPr txBox="1"/>
          <p:nvPr/>
        </p:nvSpPr>
        <p:spPr>
          <a:xfrm>
            <a:off x="10121901" y="5065490"/>
            <a:ext cx="1743435" cy="216560"/>
          </a:xfrm>
          <a:prstGeom prst="rect">
            <a:avLst/>
          </a:prstGeom>
          <a:noFill/>
        </p:spPr>
        <p:txBody>
          <a:bodyPr wrap="none" lIns="0" tIns="0" rIns="0" bIns="0">
            <a:noAutofit/>
          </a:bodyPr>
          <a:lstStyle/>
          <a:p>
            <a:pPr algn="l"/>
            <a:r>
              <a:rPr sz="1400" dirty="0">
                <a:solidFill>
                  <a:srgbClr val="FFFFFF"/>
                </a:solidFill>
                <a:latin typeface="Helvetica Neue Light"/>
              </a:rPr>
              <a:t>• Shares vs. dollars</a:t>
            </a:r>
          </a:p>
        </p:txBody>
      </p:sp>
      <p:sp>
        <p:nvSpPr>
          <p:cNvPr id="24" name="TextBox 23"/>
          <p:cNvSpPr txBox="1"/>
          <p:nvPr/>
        </p:nvSpPr>
        <p:spPr>
          <a:xfrm>
            <a:off x="10121901" y="5370290"/>
            <a:ext cx="2252470" cy="216560"/>
          </a:xfrm>
          <a:prstGeom prst="rect">
            <a:avLst/>
          </a:prstGeom>
          <a:noFill/>
        </p:spPr>
        <p:txBody>
          <a:bodyPr wrap="none" lIns="0" tIns="0" rIns="0" bIns="0">
            <a:noAutofit/>
          </a:bodyPr>
          <a:lstStyle/>
          <a:p>
            <a:pPr algn="l"/>
            <a:r>
              <a:rPr sz="1400" dirty="0">
                <a:solidFill>
                  <a:srgbClr val="FFFFFF"/>
                </a:solidFill>
                <a:latin typeface="Helvetica Neue Light"/>
              </a:rPr>
              <a:t>• Analytics and Reporting</a:t>
            </a:r>
          </a:p>
        </p:txBody>
      </p:sp>
      <p:sp>
        <p:nvSpPr>
          <p:cNvPr id="25" name="TextBox 24"/>
          <p:cNvSpPr txBox="1"/>
          <p:nvPr/>
        </p:nvSpPr>
        <p:spPr>
          <a:xfrm>
            <a:off x="3932148" y="2934379"/>
            <a:ext cx="843996" cy="206959"/>
          </a:xfrm>
          <a:prstGeom prst="rect">
            <a:avLst/>
          </a:prstGeom>
          <a:noFill/>
        </p:spPr>
        <p:txBody>
          <a:bodyPr wrap="none" lIns="0" tIns="0" rIns="0" bIns="0">
            <a:noAutofit/>
          </a:bodyPr>
          <a:lstStyle/>
          <a:p>
            <a:pPr algn="l"/>
            <a:r>
              <a:rPr sz="1400" dirty="0">
                <a:solidFill>
                  <a:srgbClr val="000000"/>
                </a:solidFill>
                <a:latin typeface="Helvetica Neue Thin"/>
              </a:rPr>
              <a:t>• Speed</a:t>
            </a:r>
          </a:p>
        </p:txBody>
      </p:sp>
      <p:sp>
        <p:nvSpPr>
          <p:cNvPr id="26" name="TextBox 25"/>
          <p:cNvSpPr txBox="1"/>
          <p:nvPr/>
        </p:nvSpPr>
        <p:spPr>
          <a:xfrm>
            <a:off x="3932148" y="3251879"/>
            <a:ext cx="1107070" cy="206959"/>
          </a:xfrm>
          <a:prstGeom prst="rect">
            <a:avLst/>
          </a:prstGeom>
          <a:noFill/>
        </p:spPr>
        <p:txBody>
          <a:bodyPr wrap="none" lIns="0" tIns="0" rIns="0" bIns="0">
            <a:noAutofit/>
          </a:bodyPr>
          <a:lstStyle/>
          <a:p>
            <a:pPr algn="l"/>
            <a:r>
              <a:rPr sz="1400" dirty="0">
                <a:solidFill>
                  <a:srgbClr val="000000"/>
                </a:solidFill>
                <a:latin typeface="Helvetica Neue Thin"/>
              </a:rPr>
              <a:t>• Education</a:t>
            </a:r>
          </a:p>
        </p:txBody>
      </p:sp>
      <p:sp>
        <p:nvSpPr>
          <p:cNvPr id="27" name="TextBox 26"/>
          <p:cNvSpPr txBox="1"/>
          <p:nvPr/>
        </p:nvSpPr>
        <p:spPr>
          <a:xfrm>
            <a:off x="3932148" y="3569379"/>
            <a:ext cx="1497071" cy="206959"/>
          </a:xfrm>
          <a:prstGeom prst="rect">
            <a:avLst/>
          </a:prstGeom>
          <a:noFill/>
        </p:spPr>
        <p:txBody>
          <a:bodyPr wrap="none" lIns="0" tIns="0" rIns="0" bIns="0">
            <a:noAutofit/>
          </a:bodyPr>
          <a:lstStyle/>
          <a:p>
            <a:pPr algn="l"/>
            <a:r>
              <a:rPr sz="1400" dirty="0">
                <a:solidFill>
                  <a:srgbClr val="000000"/>
                </a:solidFill>
                <a:latin typeface="Helvetica Neue Thin"/>
              </a:rPr>
              <a:t>• Platform parity </a:t>
            </a:r>
          </a:p>
        </p:txBody>
      </p:sp>
      <p:sp>
        <p:nvSpPr>
          <p:cNvPr id="28" name="TextBox 27"/>
          <p:cNvSpPr txBox="1"/>
          <p:nvPr/>
        </p:nvSpPr>
        <p:spPr>
          <a:xfrm>
            <a:off x="3932148" y="3886879"/>
            <a:ext cx="1889567" cy="206959"/>
          </a:xfrm>
          <a:prstGeom prst="rect">
            <a:avLst/>
          </a:prstGeom>
          <a:noFill/>
        </p:spPr>
        <p:txBody>
          <a:bodyPr wrap="none" lIns="0" tIns="0" rIns="0" bIns="0">
            <a:noAutofit/>
          </a:bodyPr>
          <a:lstStyle/>
          <a:p>
            <a:pPr algn="l"/>
            <a:r>
              <a:rPr sz="1400" dirty="0">
                <a:solidFill>
                  <a:srgbClr val="000000"/>
                </a:solidFill>
                <a:latin typeface="Helvetica Neue Thin"/>
              </a:rPr>
              <a:t>• Integrated systems </a:t>
            </a:r>
          </a:p>
        </p:txBody>
      </p:sp>
      <p:sp>
        <p:nvSpPr>
          <p:cNvPr id="29" name="TextBox 28"/>
          <p:cNvSpPr txBox="1"/>
          <p:nvPr/>
        </p:nvSpPr>
        <p:spPr>
          <a:xfrm>
            <a:off x="3275991" y="4102315"/>
            <a:ext cx="6898392" cy="695162"/>
          </a:xfrm>
          <a:prstGeom prst="rect">
            <a:avLst/>
          </a:prstGeom>
          <a:noFill/>
        </p:spPr>
        <p:txBody>
          <a:bodyPr wrap="none" lIns="0" tIns="0" rIns="0" bIns="0">
            <a:noAutofit/>
          </a:bodyPr>
          <a:lstStyle/>
          <a:p>
            <a:pPr marL="656157" algn="l">
              <a:lnSpc>
                <a:spcPts val="1052"/>
              </a:lnSpc>
            </a:pPr>
            <a:r>
              <a:rPr sz="1400" dirty="0">
                <a:solidFill>
                  <a:srgbClr val="000000"/>
                </a:solidFill>
                <a:latin typeface="Helvetica Neue Thin"/>
              </a:rPr>
              <a:t/>
            </a:r>
          </a:p>
          <a:p>
            <a:pPr marL="6066348" algn="l">
              <a:lnSpc>
                <a:spcPts val="1052"/>
              </a:lnSpc>
              <a:spcBef>
                <a:spcPts val="877"/>
              </a:spcBef>
            </a:pPr>
            <a:r>
              <a:rPr sz="4350" dirty="0">
                <a:solidFill>
                  <a:srgbClr val="000000"/>
                </a:solidFill>
                <a:latin typeface="Helvetica Neue Light"/>
              </a:rPr>
              <a:t>=</a:t>
            </a:r>
          </a:p>
          <a:p>
            <a:pPr algn="l">
              <a:lnSpc>
                <a:spcPts val="1052"/>
              </a:lnSpc>
            </a:pPr>
            <a:r>
              <a:rPr sz="4350" dirty="0">
                <a:solidFill>
                  <a:srgbClr val="000000"/>
                </a:solidFill>
                <a:latin typeface="Helvetica Neue Light"/>
              </a:rPr>
              <a:t>+</a:t>
            </a:r>
          </a:p>
        </p:txBody>
      </p:sp>
      <p:sp>
        <p:nvSpPr>
          <p:cNvPr id="30" name="TextBox 29"/>
          <p:cNvSpPr txBox="1"/>
          <p:nvPr/>
        </p:nvSpPr>
        <p:spPr>
          <a:xfrm>
            <a:off x="70256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31" name="TextBox 30"/>
          <p:cNvSpPr txBox="1"/>
          <p:nvPr/>
        </p:nvSpPr>
        <p:spPr>
          <a:xfrm>
            <a:off x="6934200" y="2931890"/>
            <a:ext cx="1876699" cy="216560"/>
          </a:xfrm>
          <a:prstGeom prst="rect">
            <a:avLst/>
          </a:prstGeom>
          <a:noFill/>
        </p:spPr>
        <p:txBody>
          <a:bodyPr wrap="none" lIns="0" tIns="0" rIns="0" bIns="0">
            <a:noAutofit/>
          </a:bodyPr>
          <a:lstStyle/>
          <a:p>
            <a:pPr algn="l"/>
            <a:r>
              <a:rPr sz="1400" dirty="0">
                <a:solidFill>
                  <a:srgbClr val="FFFFFF"/>
                </a:solidFill>
                <a:latin typeface="Helvetica Neue Light"/>
              </a:rPr>
              <a:t>• Simplified Interface</a:t>
            </a:r>
          </a:p>
        </p:txBody>
      </p:sp>
      <p:sp>
        <p:nvSpPr>
          <p:cNvPr id="32" name="TextBox 31"/>
          <p:cNvSpPr txBox="1"/>
          <p:nvPr/>
        </p:nvSpPr>
        <p:spPr>
          <a:xfrm>
            <a:off x="6934200" y="3287490"/>
            <a:ext cx="2104824" cy="216560"/>
          </a:xfrm>
          <a:prstGeom prst="rect">
            <a:avLst/>
          </a:prstGeom>
          <a:noFill/>
        </p:spPr>
        <p:txBody>
          <a:bodyPr wrap="none" lIns="0" tIns="0" rIns="0" bIns="0">
            <a:noAutofit/>
          </a:bodyPr>
          <a:lstStyle/>
          <a:p>
            <a:pPr algn="l"/>
            <a:r>
              <a:rPr sz="1400" dirty="0">
                <a:solidFill>
                  <a:srgbClr val="FFFFFF"/>
                </a:solidFill>
                <a:latin typeface="Helvetica Neue Light"/>
              </a:rPr>
              <a:t>• Dynamic Functionality</a:t>
            </a:r>
          </a:p>
        </p:txBody>
      </p:sp>
      <p:sp>
        <p:nvSpPr>
          <p:cNvPr id="33" name="TextBox 32"/>
          <p:cNvSpPr txBox="1"/>
          <p:nvPr/>
        </p:nvSpPr>
        <p:spPr>
          <a:xfrm>
            <a:off x="6934200" y="3643090"/>
            <a:ext cx="1341722" cy="216560"/>
          </a:xfrm>
          <a:prstGeom prst="rect">
            <a:avLst/>
          </a:prstGeom>
          <a:noFill/>
        </p:spPr>
        <p:txBody>
          <a:bodyPr wrap="none" lIns="0" tIns="0" rIns="0" bIns="0">
            <a:noAutofit/>
          </a:bodyPr>
          <a:lstStyle/>
          <a:p>
            <a:pPr algn="l"/>
            <a:r>
              <a:rPr sz="1400" dirty="0">
                <a:solidFill>
                  <a:srgbClr val="FFFFFF"/>
                </a:solidFill>
                <a:latin typeface="Helvetica Neue Light"/>
              </a:rPr>
              <a:t>• Trade speed</a:t>
            </a:r>
          </a:p>
        </p:txBody>
      </p:sp>
      <p:sp>
        <p:nvSpPr>
          <p:cNvPr id="34" name="TextBox 33"/>
          <p:cNvSpPr txBox="1"/>
          <p:nvPr/>
        </p:nvSpPr>
        <p:spPr>
          <a:xfrm>
            <a:off x="6145603" y="3998690"/>
            <a:ext cx="2724928" cy="776509"/>
          </a:xfrm>
          <a:prstGeom prst="rect">
            <a:avLst/>
          </a:prstGeom>
          <a:noFill/>
        </p:spPr>
        <p:txBody>
          <a:bodyPr wrap="none" lIns="0" tIns="0" rIns="0" bIns="0">
            <a:noAutofit/>
          </a:bodyPr>
          <a:lstStyle/>
          <a:p>
            <a:pPr marL="788596" algn="l">
              <a:lnSpc>
                <a:spcPts val="3529"/>
              </a:lnSpc>
            </a:pPr>
            <a:r>
              <a:rPr sz="1400" dirty="0">
                <a:solidFill>
                  <a:srgbClr val="FFFFFF"/>
                </a:solidFill>
                <a:latin typeface="Helvetica Neue Light"/>
              </a:rPr>
              <a:t>• Real-Time Updates</a:t>
            </a:r>
          </a:p>
          <a:p>
            <a:pPr algn="l">
              <a:lnSpc>
                <a:spcPts val="3529"/>
              </a:lnSpc>
            </a:pPr>
            <a:r>
              <a:rPr sz="4350" dirty="0">
                <a:solidFill>
                  <a:srgbClr val="000000"/>
                </a:solidFill>
                <a:latin typeface="Helvetica Neue Light"/>
              </a:rPr>
              <a:t>+</a:t>
            </a:r>
          </a:p>
        </p:txBody>
      </p:sp>
      <p:sp>
        <p:nvSpPr>
          <p:cNvPr id="35" name="TextBox Data"/>
          <p:cNvSpPr txBox="1"/>
          <p:nvPr/>
        </p:nvSpPr>
        <p:spPr>
          <a:xfrm>
            <a:off x="3932148" y="4204379"/>
            <a:ext cx="843996" cy="206959"/>
          </a:xfrm>
          <a:prstGeom prst="rect">
            <a:avLst/>
          </a:prstGeom>
          <a:noFill/>
        </p:spPr>
        <p:txBody>
          <a:bodyPr wrap="none" lIns="0" tIns="0" rIns="0" bIns="0">
            <a:noAutofit/>
          </a:bodyPr>
          <a:lstStyle/>
          <a:p>
            <a:pPr algn="l"/>
            <a:r>
              <a:rPr sz="1400" dirty="0">
                <a:solidFill>
                  <a:srgbClr val="000000"/>
                </a:solidFill>
                <a:latin typeface="Helvetica Neue Thin"/>
              </a:rPr>
              <a:t>• Data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921225" y="1849489"/>
            <a:ext cx="1086529" cy="2030704"/>
          </a:xfrm>
          <a:prstGeom prst="rect">
            <a:avLst/>
          </a:prstGeom>
        </p:spPr>
      </p:pic>
      <p:pic>
        <p:nvPicPr>
          <p:cNvPr id="4" name="Picture 2" descr="image.png"/>
          <p:cNvPicPr>
            <a:picLocks noChangeAspect="1"/>
          </p:cNvPicPr>
          <p:nvPr/>
        </p:nvPicPr>
        <p:blipFill>
          <a:blip r:embed="rId4"/>
          <a:stretch>
            <a:fillRect/>
          </a:stretch>
        </p:blipFill>
        <p:spPr>
          <a:xfrm>
            <a:off x="6766352" y="1849489"/>
            <a:ext cx="1095244" cy="2203561"/>
          </a:xfrm>
          <a:prstGeom prst="rect">
            <a:avLst/>
          </a:prstGeom>
        </p:spPr>
      </p:pic>
      <p:pic>
        <p:nvPicPr>
          <p:cNvPr id="5" name="Picture 3" descr="image.png"/>
          <p:cNvPicPr>
            <a:picLocks noChangeAspect="1"/>
          </p:cNvPicPr>
          <p:nvPr/>
        </p:nvPicPr>
        <p:blipFill>
          <a:blip r:embed="rId5"/>
          <a:stretch>
            <a:fillRect/>
          </a:stretch>
        </p:blipFill>
        <p:spPr>
          <a:xfrm>
            <a:off x="9067380" y="1849488"/>
            <a:ext cx="1086529" cy="2183226"/>
          </a:xfrm>
          <a:prstGeom prst="rect">
            <a:avLst/>
          </a:prstGeom>
        </p:spPr>
      </p:pic>
      <p:pic>
        <p:nvPicPr>
          <p:cNvPr id="6" name="Picture 4" descr="image.png"/>
          <p:cNvPicPr>
            <a:picLocks noChangeAspect="1"/>
          </p:cNvPicPr>
          <p:nvPr/>
        </p:nvPicPr>
        <p:blipFill>
          <a:blip r:embed="rId6"/>
          <a:stretch>
            <a:fillRect/>
          </a:stretch>
        </p:blipFill>
        <p:spPr>
          <a:xfrm>
            <a:off x="10220828" y="1841500"/>
            <a:ext cx="1082171" cy="2219540"/>
          </a:xfrm>
          <a:prstGeom prst="rect">
            <a:avLst/>
          </a:prstGeom>
        </p:spPr>
      </p:pic>
      <p:pic>
        <p:nvPicPr>
          <p:cNvPr id="7" name="Picture 5" descr="image.png"/>
          <p:cNvPicPr>
            <a:picLocks noChangeAspect="1"/>
          </p:cNvPicPr>
          <p:nvPr/>
        </p:nvPicPr>
        <p:blipFill>
          <a:blip r:embed="rId7"/>
          <a:stretch>
            <a:fillRect/>
          </a:stretch>
        </p:blipFill>
        <p:spPr>
          <a:xfrm>
            <a:off x="9156582" y="7193869"/>
            <a:ext cx="1087632" cy="1839021"/>
          </a:xfrm>
          <a:prstGeom prst="rect">
            <a:avLst/>
          </a:prstGeom>
        </p:spPr>
      </p:pic>
      <p:pic>
        <p:nvPicPr>
          <p:cNvPr id="8" name="Picture 6" descr="image.png"/>
          <p:cNvPicPr>
            <a:picLocks noChangeAspect="1"/>
          </p:cNvPicPr>
          <p:nvPr/>
        </p:nvPicPr>
        <p:blipFill>
          <a:blip r:embed="rId8"/>
          <a:stretch>
            <a:fillRect/>
          </a:stretch>
        </p:blipFill>
        <p:spPr>
          <a:xfrm>
            <a:off x="10335242" y="7193870"/>
            <a:ext cx="1075493" cy="1846304"/>
          </a:xfrm>
          <a:prstGeom prst="rect">
            <a:avLst/>
          </a:prstGeom>
        </p:spPr>
      </p:pic>
      <p:pic>
        <p:nvPicPr>
          <p:cNvPr id="9" name="Picture 7" descr="image.png"/>
          <p:cNvPicPr>
            <a:picLocks noChangeAspect="1"/>
          </p:cNvPicPr>
          <p:nvPr/>
        </p:nvPicPr>
        <p:blipFill>
          <a:blip r:embed="rId9"/>
          <a:stretch>
            <a:fillRect/>
          </a:stretch>
        </p:blipFill>
        <p:spPr>
          <a:xfrm>
            <a:off x="6841497" y="7193870"/>
            <a:ext cx="1099480" cy="1865300"/>
          </a:xfrm>
          <a:prstGeom prst="rect">
            <a:avLst/>
          </a:prstGeom>
        </p:spPr>
      </p:pic>
      <p:pic>
        <p:nvPicPr>
          <p:cNvPr id="10" name="Picture 8" descr="image.png"/>
          <p:cNvPicPr>
            <a:picLocks noChangeAspect="1"/>
          </p:cNvPicPr>
          <p:nvPr/>
        </p:nvPicPr>
        <p:blipFill>
          <a:blip r:embed="rId10"/>
          <a:stretch>
            <a:fillRect/>
          </a:stretch>
        </p:blipFill>
        <p:spPr>
          <a:xfrm>
            <a:off x="8039754" y="7193870"/>
            <a:ext cx="1048456" cy="1766003"/>
          </a:xfrm>
          <a:prstGeom prst="rect">
            <a:avLst/>
          </a:prstGeom>
        </p:spPr>
      </p:pic>
      <p:pic>
        <p:nvPicPr>
          <p:cNvPr id="11" name="Picture 9" descr="image.png"/>
          <p:cNvPicPr>
            <a:picLocks noChangeAspect="1"/>
          </p:cNvPicPr>
          <p:nvPr/>
        </p:nvPicPr>
        <p:blipFill>
          <a:blip r:embed="rId11"/>
          <a:stretch>
            <a:fillRect/>
          </a:stretch>
        </p:blipFill>
        <p:spPr>
          <a:xfrm>
            <a:off x="4113515" y="4443628"/>
            <a:ext cx="1087632" cy="1756848"/>
          </a:xfrm>
          <a:prstGeom prst="rect">
            <a:avLst/>
          </a:prstGeom>
        </p:spPr>
      </p:pic>
      <p:pic>
        <p:nvPicPr>
          <p:cNvPr id="12" name="Picture 10" descr="image.png"/>
          <p:cNvPicPr>
            <a:picLocks noChangeAspect="1"/>
          </p:cNvPicPr>
          <p:nvPr/>
        </p:nvPicPr>
        <p:blipFill>
          <a:blip r:embed="rId12"/>
          <a:stretch>
            <a:fillRect/>
          </a:stretch>
        </p:blipFill>
        <p:spPr>
          <a:xfrm>
            <a:off x="5254075" y="4456328"/>
            <a:ext cx="1075493" cy="1859681"/>
          </a:xfrm>
          <a:prstGeom prst="rect">
            <a:avLst/>
          </a:prstGeom>
        </p:spPr>
      </p:pic>
      <p:pic>
        <p:nvPicPr>
          <p:cNvPr id="13" name="Picture 11" descr="image.png"/>
          <p:cNvPicPr>
            <a:picLocks noChangeAspect="1"/>
          </p:cNvPicPr>
          <p:nvPr/>
        </p:nvPicPr>
        <p:blipFill>
          <a:blip r:embed="rId13"/>
          <a:stretch>
            <a:fillRect/>
          </a:stretch>
        </p:blipFill>
        <p:spPr>
          <a:xfrm>
            <a:off x="1798430" y="4456328"/>
            <a:ext cx="1099480" cy="1878383"/>
          </a:xfrm>
          <a:prstGeom prst="rect">
            <a:avLst/>
          </a:prstGeom>
        </p:spPr>
      </p:pic>
      <p:pic>
        <p:nvPicPr>
          <p:cNvPr id="14" name="Picture 12" descr="image.png"/>
          <p:cNvPicPr>
            <a:picLocks noChangeAspect="1"/>
          </p:cNvPicPr>
          <p:nvPr/>
        </p:nvPicPr>
        <p:blipFill>
          <a:blip r:embed="rId14"/>
          <a:stretch>
            <a:fillRect/>
          </a:stretch>
        </p:blipFill>
        <p:spPr>
          <a:xfrm>
            <a:off x="2996688" y="4456328"/>
            <a:ext cx="1048455" cy="1779378"/>
          </a:xfrm>
          <a:prstGeom prst="rect">
            <a:avLst/>
          </a:prstGeom>
        </p:spPr>
      </p:pic>
      <p:sp>
        <p:nvSpPr>
          <p:cNvPr id="15" name="TextBox 14"/>
          <p:cNvSpPr txBox="1"/>
          <p:nvPr/>
        </p:nvSpPr>
        <p:spPr>
          <a:xfrm>
            <a:off x="457200" y="1551684"/>
            <a:ext cx="6169999" cy="233649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Robinhood</a:t>
            </a:r>
          </a:p>
          <a:p>
            <a:pPr marL="228600" indent="-228600" algn="l">
              <a:lnSpc>
                <a:spcPts val="1679"/>
              </a:lnSpc>
            </a:pPr>
            <a:r>
              <a:rPr sz="1200" dirty="0">
                <a:solidFill>
                  <a:srgbClr val="000000"/>
                </a:solidFill>
                <a:latin typeface="Helvetica Neue Thin"/>
              </a:rPr>
              <a:t>•	Shares and Dollar-Based Trading </a:t>
            </a:r>
          </a:p>
          <a:p>
            <a:pPr marL="228600" algn="l">
              <a:lnSpc>
                <a:spcPts val="1679"/>
              </a:lnSpc>
            </a:pPr>
            <a:r>
              <a:rPr sz="1200" dirty="0">
                <a:solidFill>
                  <a:srgbClr val="000000"/>
                </a:solidFill>
                <a:latin typeface="Helvetica Neue Thin"/>
              </a:rPr>
              <a:t>Robinhood allows users to trade both whole shares and fractional shares in dollar amounts, making it accessible for investors with varying budget sizes.</a:t>
            </a:r>
          </a:p>
          <a:p>
            <a:pPr marL="228600" indent="-228600" algn="l">
              <a:lnSpc>
                <a:spcPts val="1679"/>
              </a:lnSpc>
            </a:pPr>
            <a:r>
              <a:rPr sz="1200" dirty="0">
                <a:solidFill>
                  <a:srgbClr val="000000"/>
                </a:solidFill>
                <a:latin typeface="Helvetica Neue Thin"/>
              </a:rPr>
              <a:t>•	User-Friendly Interface </a:t>
            </a:r>
          </a:p>
          <a:p>
            <a:pPr marL="228600" algn="l">
              <a:lnSpc>
                <a:spcPts val="1679"/>
              </a:lnSpc>
            </a:pPr>
            <a:r>
              <a:rPr sz="1200" dirty="0">
                <a:solidFill>
                  <a:srgbClr val="000000"/>
                </a:solidFill>
                <a:latin typeface="Helvetica Neue Thin"/>
              </a:rPr>
              <a:t>The app’s interface is simple and intuitive, making it easy to switch between trading shares and dollar amounts. Trade tickets display all necessary details, including stock name, order type, quantity, and estimated cost.</a:t>
            </a:r>
          </a:p>
          <a:p>
            <a:pPr marL="228600" indent="-228600" algn="l">
              <a:lnSpc>
                <a:spcPts val="1679"/>
              </a:lnSpc>
            </a:pPr>
            <a:r>
              <a:rPr sz="1200" dirty="0">
                <a:solidFill>
                  <a:srgbClr val="000000"/>
                </a:solidFill>
                <a:latin typeface="Helvetica Neue Thin"/>
              </a:rPr>
              <a:t>•	Instant Notifications </a:t>
            </a:r>
          </a:p>
          <a:p>
            <a:pPr marL="228600" algn="l">
              <a:lnSpc>
                <a:spcPts val="1679"/>
              </a:lnSpc>
            </a:pPr>
            <a:r>
              <a:rPr sz="1200" dirty="0">
                <a:solidFill>
                  <a:srgbClr val="000000"/>
                </a:solidFill>
                <a:latin typeface="Helvetica Neue Thin"/>
              </a:rPr>
              <a:t>Users receive immediate in-app notifications once a trade is executed, providing details of the trade.</a:t>
            </a:r>
          </a:p>
        </p:txBody>
      </p:sp>
      <p:sp>
        <p:nvSpPr>
          <p:cNvPr id="16" name="TextBox 1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17" name="TextBox 16"/>
          <p:cNvSpPr txBox="1"/>
          <p:nvPr/>
        </p:nvSpPr>
        <p:spPr>
          <a:xfrm>
            <a:off x="457200" y="939800"/>
            <a:ext cx="3835400" cy="476250"/>
          </a:xfrm>
          <a:prstGeom prst="rect">
            <a:avLst/>
          </a:prstGeom>
          <a:noFill/>
        </p:spPr>
        <p:txBody>
          <a:bodyPr wrap="none" lIns="0" tIns="0" rIns="0" bIns="0">
            <a:noAutofit/>
          </a:bodyPr>
          <a:lstStyle/>
          <a:p>
            <a:pPr algn="l"/>
            <a:r>
              <a:rPr sz="3000" dirty="0">
                <a:solidFill>
                  <a:srgbClr val="1F1F1F"/>
                </a:solidFill>
                <a:latin typeface="Helvetica Neue Light"/>
              </a:rPr>
              <a:t>Competitive Analysis</a:t>
            </a:r>
          </a:p>
        </p:txBody>
      </p:sp>
      <p:sp>
        <p:nvSpPr>
          <p:cNvPr id="18" name="TextBox 17"/>
          <p:cNvSpPr txBox="1"/>
          <p:nvPr/>
        </p:nvSpPr>
        <p:spPr>
          <a:xfrm>
            <a:off x="457200" y="7143767"/>
            <a:ext cx="6062420" cy="212313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Charles Schwab Mobile</a:t>
            </a:r>
          </a:p>
          <a:p>
            <a:pPr marL="228600" indent="-228600" algn="l">
              <a:lnSpc>
                <a:spcPts val="1679"/>
              </a:lnSpc>
            </a:pPr>
            <a:r>
              <a:rPr sz="1200" dirty="0">
                <a:solidFill>
                  <a:srgbClr val="000000"/>
                </a:solidFill>
                <a:latin typeface="Helvetica Neue Thin"/>
              </a:rPr>
              <a:t>•	Fractional Shares </a:t>
            </a:r>
          </a:p>
          <a:p>
            <a:pPr marL="228600" algn="l">
              <a:lnSpc>
                <a:spcPts val="1679"/>
              </a:lnSpc>
            </a:pPr>
            <a:r>
              <a:rPr sz="1200" dirty="0">
                <a:solidFill>
                  <a:srgbClr val="000000"/>
                </a:solidFill>
                <a:latin typeface="Helvetica Neue Thin"/>
              </a:rPr>
              <a:t>Charles Schwab’s mobile app allows users to trade fractional shares through its Stock Slices feature, enabling investments in dollar amounts as low as $5.</a:t>
            </a:r>
          </a:p>
          <a:p>
            <a:pPr marL="228600" indent="-228600" algn="l">
              <a:lnSpc>
                <a:spcPts val="1679"/>
              </a:lnSpc>
            </a:pPr>
            <a:r>
              <a:rPr sz="1200" dirty="0">
                <a:solidFill>
                  <a:srgbClr val="000000"/>
                </a:solidFill>
                <a:latin typeface="Helvetica Neue Thin"/>
              </a:rPr>
              <a:t>•	Detailed Trade Tickets </a:t>
            </a:r>
          </a:p>
          <a:p>
            <a:pPr marL="228600" algn="l">
              <a:lnSpc>
                <a:spcPts val="1679"/>
              </a:lnSpc>
            </a:pPr>
            <a:r>
              <a:rPr sz="1200" dirty="0">
                <a:solidFill>
                  <a:srgbClr val="000000"/>
                </a:solidFill>
                <a:latin typeface="Helvetica Neue Thin"/>
              </a:rPr>
              <a:t>The app provides clear and comprehensive trade tickets, showing all necessary information such as stock symbol, order type, quantity, and price.</a:t>
            </a:r>
          </a:p>
          <a:p>
            <a:pPr marL="228600" indent="-228600" algn="l">
              <a:lnSpc>
                <a:spcPts val="1679"/>
              </a:lnSpc>
            </a:pPr>
            <a:r>
              <a:rPr sz="1200" dirty="0">
                <a:solidFill>
                  <a:srgbClr val="000000"/>
                </a:solidFill>
                <a:latin typeface="Helvetica Neue Thin"/>
              </a:rPr>
              <a:t>•	Intuitive Design </a:t>
            </a:r>
          </a:p>
          <a:p>
            <a:pPr marL="228600" algn="l">
              <a:lnSpc>
                <a:spcPts val="1679"/>
              </a:lnSpc>
            </a:pPr>
            <a:r>
              <a:rPr sz="1200" dirty="0">
                <a:solidFill>
                  <a:srgbClr val="000000"/>
                </a:solidFill>
                <a:latin typeface="Helvetica Neue Thin"/>
              </a:rPr>
              <a:t>The app’s interface is user-friendly, making it easy to place trades and review transaction history.</a:t>
            </a:r>
          </a:p>
        </p:txBody>
      </p:sp>
      <p:sp>
        <p:nvSpPr>
          <p:cNvPr id="19" name="TextBox 18"/>
          <p:cNvSpPr txBox="1"/>
          <p:nvPr/>
        </p:nvSpPr>
        <p:spPr>
          <a:xfrm>
            <a:off x="6677866" y="4431625"/>
            <a:ext cx="5861570" cy="233649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Fidelity Mobile App</a:t>
            </a:r>
          </a:p>
          <a:p>
            <a:pPr marL="228600" indent="-228600" algn="l">
              <a:lnSpc>
                <a:spcPts val="1679"/>
              </a:lnSpc>
            </a:pPr>
            <a:r>
              <a:rPr sz="1200" dirty="0">
                <a:solidFill>
                  <a:srgbClr val="000000"/>
                </a:solidFill>
                <a:latin typeface="Helvetica Neue Thin"/>
              </a:rPr>
              <a:t>•	Flexible Trading Options </a:t>
            </a:r>
          </a:p>
          <a:p>
            <a:pPr marL="228600" algn="l">
              <a:lnSpc>
                <a:spcPts val="1679"/>
              </a:lnSpc>
            </a:pPr>
            <a:r>
              <a:rPr sz="1200" dirty="0">
                <a:solidFill>
                  <a:srgbClr val="000000"/>
                </a:solidFill>
                <a:latin typeface="Helvetica Neue Thin"/>
              </a:rPr>
              <a:t>Fidelity’s mobile app supports trading in both shares and dollar amounts, offering fractional shares for a wide range of stocks and ETFs.</a:t>
            </a:r>
          </a:p>
          <a:p>
            <a:pPr marL="228600" indent="-228600" algn="l">
              <a:lnSpc>
                <a:spcPts val="1679"/>
              </a:lnSpc>
            </a:pPr>
            <a:r>
              <a:rPr sz="1200" dirty="0">
                <a:solidFill>
                  <a:srgbClr val="000000"/>
                </a:solidFill>
                <a:latin typeface="Helvetica Neue Thin"/>
              </a:rPr>
              <a:t>•	Comprehensive Trade Tickets </a:t>
            </a:r>
          </a:p>
          <a:p>
            <a:pPr marL="228600" algn="l">
              <a:lnSpc>
                <a:spcPts val="1679"/>
              </a:lnSpc>
            </a:pPr>
            <a:r>
              <a:rPr sz="1200" dirty="0">
                <a:solidFill>
                  <a:srgbClr val="000000"/>
                </a:solidFill>
                <a:latin typeface="Helvetica Neue Thin"/>
              </a:rPr>
              <a:t>The app provides detailed trade tickets that include the stock symbol, order type, quantity, price, and execution time. Users can easily switch between dollar-based and share-based trades.</a:t>
            </a:r>
          </a:p>
          <a:p>
            <a:pPr marL="228600" indent="-228600" algn="l">
              <a:lnSpc>
                <a:spcPts val="1679"/>
              </a:lnSpc>
            </a:pPr>
            <a:r>
              <a:rPr sz="1200" dirty="0">
                <a:solidFill>
                  <a:srgbClr val="000000"/>
                </a:solidFill>
                <a:latin typeface="Helvetica Neue Thin"/>
              </a:rPr>
              <a:t>•	Easy Navigation </a:t>
            </a:r>
          </a:p>
          <a:p>
            <a:pPr marL="228600" algn="l">
              <a:lnSpc>
                <a:spcPts val="1679"/>
              </a:lnSpc>
            </a:pPr>
            <a:r>
              <a:rPr sz="1200" dirty="0">
                <a:solidFill>
                  <a:srgbClr val="000000"/>
                </a:solidFill>
                <a:latin typeface="Helvetica Neue Thin"/>
              </a:rPr>
              <a:t>The app is designed for ease of use, ensuring that placing trades and reviewing tickets is straightforward.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3004800" cy="9753600"/>
          </a:xfrm>
          <a:prstGeom prst="rect">
            <a:avLst/>
          </a:prstGeom>
        </p:spPr>
      </p:pic>
      <p:sp>
        <p:nvSpPr>
          <p:cNvPr id="3" name="TextBox 2"/>
          <p:cNvSpPr txBox="1"/>
          <p:nvPr/>
        </p:nvSpPr>
        <p:spPr>
          <a:xfrm>
            <a:off x="1244600" y="1063239"/>
            <a:ext cx="2586284" cy="866241"/>
          </a:xfrm>
          <a:prstGeom prst="rect">
            <a:avLst/>
          </a:prstGeom>
          <a:noFill/>
        </p:spPr>
        <p:txBody>
          <a:bodyPr wrap="none" lIns="0" tIns="0" rIns="0" bIns="0">
            <a:noAutofit/>
          </a:bodyPr>
          <a:lstStyle/>
          <a:p>
            <a:pPr algn="l"/>
            <a:r>
              <a:rPr sz="5600" dirty="0">
                <a:solidFill>
                  <a:srgbClr val="FFFFFF"/>
                </a:solidFill>
                <a:latin typeface="Helvetica Neue Light"/>
              </a:rPr>
              <a:t>Design </a:t>
            </a:r>
          </a:p>
        </p:txBody>
      </p:sp>
      <p:sp>
        <p:nvSpPr>
          <p:cNvPr id="4" name="TextBox 3"/>
          <p:cNvSpPr txBox="1"/>
          <p:nvPr/>
        </p:nvSpPr>
        <p:spPr>
          <a:xfrm>
            <a:off x="1244600" y="2705399"/>
            <a:ext cx="4865609" cy="532180"/>
          </a:xfrm>
          <a:prstGeom prst="rect">
            <a:avLst/>
          </a:prstGeom>
          <a:noFill/>
        </p:spPr>
        <p:txBody>
          <a:bodyPr wrap="none" lIns="0" tIns="0" rIns="0" bIns="0">
            <a:noAutofit/>
          </a:bodyPr>
          <a:lstStyle/>
          <a:p>
            <a:pPr algn="l"/>
            <a:r>
              <a:rPr sz="3600" dirty="0">
                <a:solidFill>
                  <a:srgbClr val="FFFFFF"/>
                </a:solidFill>
                <a:latin typeface="Helvetica Neue Thin"/>
              </a:rPr>
              <a:t>The Delivered Solution</a:t>
            </a:r>
          </a:p>
        </p:txBody>
      </p:sp>
      <p:sp>
        <p:nvSpPr>
          <p:cNvPr id="5" name="TextBox 4"/>
          <p:cNvSpPr txBox="1"/>
          <p:nvPr/>
        </p:nvSpPr>
        <p:spPr>
          <a:xfrm>
            <a:off x="7620000" y="1218079"/>
            <a:ext cx="2426602" cy="266090"/>
          </a:xfrm>
          <a:prstGeom prst="rect">
            <a:avLst/>
          </a:prstGeom>
          <a:noFill/>
        </p:spPr>
        <p:txBody>
          <a:bodyPr wrap="none" lIns="0" tIns="0" rIns="0" bIns="0">
            <a:noAutofit/>
          </a:bodyPr>
          <a:lstStyle/>
          <a:p>
            <a:pPr algn="l"/>
            <a:r>
              <a:rPr sz="1800" dirty="0">
                <a:solidFill>
                  <a:srgbClr val="FFFFFF"/>
                </a:solidFill>
                <a:latin typeface="Helvetica Neue Thin"/>
              </a:rPr>
              <a:t>• 6 Agile-based sprints</a:t>
            </a:r>
          </a:p>
        </p:txBody>
      </p:sp>
      <p:sp>
        <p:nvSpPr>
          <p:cNvPr id="6" name="TextBox 5"/>
          <p:cNvSpPr txBox="1"/>
          <p:nvPr/>
        </p:nvSpPr>
        <p:spPr>
          <a:xfrm>
            <a:off x="7620000" y="1573679"/>
            <a:ext cx="3971134" cy="266090"/>
          </a:xfrm>
          <a:prstGeom prst="rect">
            <a:avLst/>
          </a:prstGeom>
          <a:noFill/>
        </p:spPr>
        <p:txBody>
          <a:bodyPr wrap="none" lIns="0" tIns="0" rIns="0" bIns="0">
            <a:noAutofit/>
          </a:bodyPr>
          <a:lstStyle/>
          <a:p>
            <a:pPr algn="l"/>
            <a:r>
              <a:rPr sz="1800" dirty="0">
                <a:solidFill>
                  <a:srgbClr val="FFFFFF"/>
                </a:solidFill>
                <a:latin typeface="Helvetica Neue Thin"/>
              </a:rPr>
              <a:t>• Usability testing on weekly cadence</a:t>
            </a:r>
          </a:p>
        </p:txBody>
      </p:sp>
      <p:sp>
        <p:nvSpPr>
          <p:cNvPr id="7" name="TextBox 6"/>
          <p:cNvSpPr txBox="1"/>
          <p:nvPr/>
        </p:nvSpPr>
        <p:spPr>
          <a:xfrm>
            <a:off x="7620000" y="1929279"/>
            <a:ext cx="1817259" cy="266090"/>
          </a:xfrm>
          <a:prstGeom prst="rect">
            <a:avLst/>
          </a:prstGeom>
          <a:noFill/>
        </p:spPr>
        <p:txBody>
          <a:bodyPr wrap="none" lIns="0" tIns="0" rIns="0" bIns="0">
            <a:noAutofit/>
          </a:bodyPr>
          <a:lstStyle/>
          <a:p>
            <a:pPr algn="l"/>
            <a:r>
              <a:rPr sz="1800" dirty="0">
                <a:solidFill>
                  <a:srgbClr val="FFFFFF"/>
                </a:solidFill>
                <a:latin typeface="Helvetica Neue Thin"/>
              </a:rPr>
              <a:t>• Demos and QA</a:t>
            </a:r>
          </a:p>
        </p:txBody>
      </p:sp>
      <p:sp>
        <p:nvSpPr>
          <p:cNvPr id="8" name="TextBox 7"/>
          <p:cNvSpPr txBox="1"/>
          <p:nvPr/>
        </p:nvSpPr>
        <p:spPr>
          <a:xfrm>
            <a:off x="1244600" y="3681982"/>
            <a:ext cx="2672668" cy="145856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Order Entry</a:t>
            </a:r>
          </a:p>
          <a:p>
            <a:pPr algn="l">
              <a:lnSpc>
                <a:spcPts val="1920"/>
              </a:lnSpc>
            </a:pPr>
            <a:r>
              <a:rPr sz="1600" dirty="0">
                <a:solidFill>
                  <a:srgbClr val="FFFFFF"/>
                </a:solidFill>
                <a:latin typeface="Helvetica Neue Thin"/>
              </a:rPr>
              <a:t>Allows traders to enter orders quickly and </a:t>
            </a:r>
            <a:r>
              <a:rPr lang="en-US" sz="1600" dirty="0">
                <a:solidFill>
                  <a:srgbClr val="FFFFFF"/>
                </a:solidFill>
                <a:latin typeface="Helvetica Neue Thin"/>
              </a:rPr>
              <a:t>efficiently</a:t>
            </a:r>
            <a:r>
              <a:rPr sz="1600" dirty="0">
                <a:solidFill>
                  <a:srgbClr val="FFFFFF"/>
                </a:solidFill>
                <a:latin typeface="Helvetica Neue Thin"/>
              </a:rPr>
              <a:t>, specifying details such as asset type, quantity, price, and order type (market, limit, stop, etc.).</a:t>
            </a:r>
          </a:p>
        </p:txBody>
      </p:sp>
      <p:sp>
        <p:nvSpPr>
          <p:cNvPr id="9" name="TextBox 8"/>
          <p:cNvSpPr txBox="1"/>
          <p:nvPr/>
        </p:nvSpPr>
        <p:spPr>
          <a:xfrm>
            <a:off x="1244600" y="5388862"/>
            <a:ext cx="2712892"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Execution Management</a:t>
            </a:r>
          </a:p>
          <a:p>
            <a:pPr algn="l">
              <a:lnSpc>
                <a:spcPts val="1920"/>
              </a:lnSpc>
            </a:pPr>
            <a:r>
              <a:rPr sz="1600" dirty="0">
                <a:solidFill>
                  <a:srgbClr val="FFFFFF"/>
                </a:solidFill>
                <a:latin typeface="Helvetica Neue Thin"/>
              </a:rPr>
              <a:t>Facilitates the execution of trades across various exchanges and trading venues. It ensures that orders are routed correctly and executed at the best possible prices.</a:t>
            </a:r>
          </a:p>
        </p:txBody>
      </p:sp>
      <p:sp>
        <p:nvSpPr>
          <p:cNvPr id="10" name="TextBox 9"/>
          <p:cNvSpPr txBox="1"/>
          <p:nvPr/>
        </p:nvSpPr>
        <p:spPr>
          <a:xfrm>
            <a:off x="4140200" y="3681982"/>
            <a:ext cx="2687669"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Real-time Monitoring</a:t>
            </a:r>
          </a:p>
          <a:p>
            <a:pPr algn="l">
              <a:lnSpc>
                <a:spcPts val="1920"/>
              </a:lnSpc>
            </a:pPr>
            <a:r>
              <a:rPr sz="1600" dirty="0">
                <a:solidFill>
                  <a:srgbClr val="FFFFFF"/>
                </a:solidFill>
                <a:latin typeface="Helvetica Neue Thin"/>
              </a:rPr>
              <a:t>Provides real-time updates on market conditions, order status, and trade confirmations. This helps traders to make informed decisions and adjust their strategies as needed.</a:t>
            </a:r>
          </a:p>
        </p:txBody>
      </p:sp>
      <p:sp>
        <p:nvSpPr>
          <p:cNvPr id="11" name="TextBox 10"/>
          <p:cNvSpPr txBox="1"/>
          <p:nvPr/>
        </p:nvSpPr>
        <p:spPr>
          <a:xfrm>
            <a:off x="4140200" y="5632702"/>
            <a:ext cx="2681717" cy="194624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Risk Management</a:t>
            </a:r>
          </a:p>
          <a:p>
            <a:pPr algn="l">
              <a:lnSpc>
                <a:spcPts val="1920"/>
              </a:lnSpc>
            </a:pPr>
            <a:r>
              <a:rPr sz="1600" dirty="0">
                <a:solidFill>
                  <a:srgbClr val="FFFFFF"/>
                </a:solidFill>
                <a:latin typeface="Helvetica Neue Thin"/>
              </a:rPr>
              <a:t>Includes tools to assess and manage the risk associated with trades. This might involve setting limits on positions, </a:t>
            </a:r>
          </a:p>
          <a:p>
            <a:pPr algn="l">
              <a:lnSpc>
                <a:spcPts val="1920"/>
              </a:lnSpc>
            </a:pPr>
            <a:r>
              <a:rPr sz="1600" dirty="0">
                <a:solidFill>
                  <a:srgbClr val="FFFFFF"/>
                </a:solidFill>
                <a:latin typeface="Helvetica Neue Thin"/>
              </a:rPr>
              <a:t>monitoring exposure, and ensuring compliance with regulatory requirements.</a:t>
            </a:r>
          </a:p>
        </p:txBody>
      </p:sp>
      <p:sp>
        <p:nvSpPr>
          <p:cNvPr id="12" name="TextBox 11"/>
          <p:cNvSpPr txBox="1"/>
          <p:nvPr/>
        </p:nvSpPr>
        <p:spPr>
          <a:xfrm>
            <a:off x="7035800" y="3681982"/>
            <a:ext cx="2629353"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Post-trade Processing</a:t>
            </a:r>
          </a:p>
          <a:p>
            <a:pPr algn="l">
              <a:lnSpc>
                <a:spcPts val="1920"/>
              </a:lnSpc>
            </a:pPr>
            <a:r>
              <a:rPr sz="1600" dirty="0">
                <a:solidFill>
                  <a:srgbClr val="FFFFFF"/>
                </a:solidFill>
                <a:latin typeface="Helvetica Neue Thin"/>
              </a:rPr>
              <a:t>Streamlines the post-trade process by handling settlement, clearing, and reconciliation. This ensures that trades are correctly recorded and settled in a timely manner.</a:t>
            </a:r>
          </a:p>
        </p:txBody>
      </p:sp>
      <p:sp>
        <p:nvSpPr>
          <p:cNvPr id="13" name="TextBox 12"/>
          <p:cNvSpPr txBox="1"/>
          <p:nvPr/>
        </p:nvSpPr>
        <p:spPr>
          <a:xfrm>
            <a:off x="7035800" y="5877351"/>
            <a:ext cx="2710037" cy="2433120"/>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Integration with Other Systems</a:t>
            </a:r>
          </a:p>
          <a:p>
            <a:pPr algn="l">
              <a:lnSpc>
                <a:spcPts val="1920"/>
              </a:lnSpc>
            </a:pPr>
            <a:r>
              <a:rPr sz="1600" dirty="0">
                <a:solidFill>
                  <a:srgbClr val="FFFFFF"/>
                </a:solidFill>
                <a:latin typeface="Helvetica Neue Thin"/>
              </a:rPr>
              <a:t>Connects with other trad</a:t>
            </a:r>
            <a:r>
              <a:rPr sz="1600" dirty="0" err="1">
                <a:solidFill>
                  <a:srgbClr val="FFFFFF"/>
                </a:solidFill>
                <a:latin typeface="Helvetica Neue Thin"/>
              </a:rPr>
              <a:t>ing</a:t>
            </a:r>
            <a:r>
              <a:rPr sz="1600" dirty="0">
                <a:solidFill>
                  <a:srgbClr val="FFFFFF"/>
                </a:solidFill>
                <a:latin typeface="Helvetica Neue Thin"/>
              </a:rPr>
              <a:t> and back-o</a:t>
            </a:r>
            <a:r>
              <a:rPr lang="en-US" sz="1600" dirty="0">
                <a:solidFill>
                  <a:srgbClr val="FFFFFF"/>
                </a:solidFill>
                <a:latin typeface="Helvetica Neue Thin"/>
              </a:rPr>
              <a:t>ffi</a:t>
            </a:r>
            <a:r>
              <a:rPr sz="1600" dirty="0">
                <a:solidFill>
                  <a:srgbClr val="FFFFFF"/>
                </a:solidFill>
                <a:latin typeface="Helvetica Neue Thin"/>
              </a:rPr>
              <a:t>ce systems, such as portfolio management systems, compliance tools, and accounting systems. This integration helps in maintaining consistency and accuracy across all stages of the trading process.</a:t>
            </a:r>
          </a:p>
        </p:txBody>
      </p:sp>
      <p:sp>
        <p:nvSpPr>
          <p:cNvPr id="14" name="TextBox 13"/>
          <p:cNvSpPr txBox="1"/>
          <p:nvPr/>
        </p:nvSpPr>
        <p:spPr>
          <a:xfrm>
            <a:off x="9931400" y="3681982"/>
            <a:ext cx="2628151"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Analytics and Reporting</a:t>
            </a:r>
          </a:p>
          <a:p>
            <a:pPr algn="l">
              <a:lnSpc>
                <a:spcPts val="1920"/>
              </a:lnSpc>
            </a:pPr>
            <a:r>
              <a:rPr sz="1600" dirty="0">
                <a:solidFill>
                  <a:srgbClr val="FFFFFF"/>
                </a:solidFill>
                <a:latin typeface="Helvetica Neue Thin"/>
              </a:rPr>
              <a:t>Provides analytical tools and reporting features to help </a:t>
            </a:r>
          </a:p>
          <a:p>
            <a:pPr algn="l">
              <a:lnSpc>
                <a:spcPts val="1920"/>
              </a:lnSpc>
            </a:pPr>
            <a:r>
              <a:rPr sz="1600" dirty="0">
                <a:solidFill>
                  <a:srgbClr val="FFFFFF"/>
                </a:solidFill>
                <a:latin typeface="Helvetica Neue Thin"/>
              </a:rPr>
              <a:t>traders review performance, analyze trends, and generate reports for regulatory or internal purposes.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8412312" y="894816"/>
            <a:ext cx="3341273" cy="6491617"/>
          </a:xfrm>
          <a:prstGeom prst="rect">
            <a:avLst/>
          </a:prstGeom>
        </p:spPr>
      </p:pic>
      <p:pic>
        <p:nvPicPr>
          <p:cNvPr id="4" name="Picture 2" descr="image.png"/>
          <p:cNvPicPr>
            <a:picLocks noChangeAspect="1"/>
          </p:cNvPicPr>
          <p:nvPr/>
        </p:nvPicPr>
        <p:blipFill>
          <a:blip r:embed="rId4"/>
          <a:stretch>
            <a:fillRect/>
          </a:stretch>
        </p:blipFill>
        <p:spPr>
          <a:xfrm>
            <a:off x="1818932" y="5090452"/>
            <a:ext cx="2006334" cy="4154570"/>
          </a:xfrm>
          <a:prstGeom prst="rect">
            <a:avLst/>
          </a:prstGeom>
        </p:spPr>
      </p:pic>
      <p:pic>
        <p:nvPicPr>
          <p:cNvPr id="5" name="Picture 3" descr="image.png"/>
          <p:cNvPicPr>
            <a:picLocks noChangeAspect="1"/>
          </p:cNvPicPr>
          <p:nvPr/>
        </p:nvPicPr>
        <p:blipFill>
          <a:blip r:embed="rId5"/>
          <a:stretch>
            <a:fillRect/>
          </a:stretch>
        </p:blipFill>
        <p:spPr>
          <a:xfrm>
            <a:off x="4100897" y="5092860"/>
            <a:ext cx="2007318" cy="4031884"/>
          </a:xfrm>
          <a:prstGeom prst="rect">
            <a:avLst/>
          </a:prstGeom>
        </p:spPr>
      </p:pic>
      <p:sp>
        <p:nvSpPr>
          <p:cNvPr id="6" name="TextBox 5"/>
          <p:cNvSpPr txBox="1"/>
          <p:nvPr/>
        </p:nvSpPr>
        <p:spPr>
          <a:xfrm>
            <a:off x="1181100" y="2259329"/>
            <a:ext cx="6761764" cy="614172"/>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  Users can switch accounts</a:t>
            </a:r>
          </a:p>
          <a:p>
            <a:pPr algn="l">
              <a:lnSpc>
                <a:spcPts val="2400"/>
              </a:lnSpc>
            </a:pPr>
            <a:r>
              <a:rPr sz="2000" dirty="0">
                <a:solidFill>
                  <a:srgbClr val="FFFFFF"/>
                </a:solidFill>
                <a:latin typeface="Helvetica Neue Light"/>
              </a:rPr>
              <a:t>•  Users have view of balances and the stock details in a </a:t>
            </a:r>
          </a:p>
        </p:txBody>
      </p:sp>
      <p:sp>
        <p:nvSpPr>
          <p:cNvPr id="7" name="TextBox 6"/>
          <p:cNvSpPr txBox="1"/>
          <p:nvPr/>
        </p:nvSpPr>
        <p:spPr>
          <a:xfrm>
            <a:off x="1181100" y="2868929"/>
            <a:ext cx="6945630" cy="1592667"/>
          </a:xfrm>
          <a:prstGeom prst="rect">
            <a:avLst/>
          </a:prstGeom>
          <a:noFill/>
        </p:spPr>
        <p:txBody>
          <a:bodyPr wrap="none" lIns="0" tIns="0" rIns="0" bIns="0">
            <a:noAutofit/>
          </a:bodyPr>
          <a:lstStyle/>
          <a:p>
            <a:pPr marL="228600" algn="l">
              <a:lnSpc>
                <a:spcPts val="2399"/>
              </a:lnSpc>
            </a:pPr>
            <a:r>
              <a:rPr sz="2000" dirty="0">
                <a:solidFill>
                  <a:srgbClr val="FFFFFF"/>
                </a:solidFill>
                <a:latin typeface="Helvetica Neue Light"/>
              </a:rPr>
              <a:t>concise configuration</a:t>
            </a:r>
          </a:p>
          <a:p>
            <a:pPr algn="l">
              <a:lnSpc>
                <a:spcPts val="2399"/>
              </a:lnSpc>
            </a:pPr>
            <a:r>
              <a:rPr sz="2000" dirty="0">
                <a:solidFill>
                  <a:srgbClr val="FFFFFF"/>
                </a:solidFill>
                <a:latin typeface="Helvetica Neue Light"/>
              </a:rPr>
              <a:t>• If they have a position the system provides their holdings</a:t>
            </a:r>
          </a:p>
          <a:p>
            <a:pPr>
              <a:lnSpc>
                <a:spcPts val="2399"/>
              </a:lnSpc>
            </a:pPr>
            <a:r>
              <a:rPr sz="2000" dirty="0">
                <a:solidFill>
                  <a:srgbClr val="FFFFFF"/>
                </a:solidFill>
                <a:latin typeface="Helvetica Neue Light"/>
              </a:rPr>
              <a:t>• Users can switch between shares and dollars </a:t>
            </a:r>
            <a:br>
              <a:rPr lang="en-US" sz="2000" dirty="0">
                <a:solidFill>
                  <a:srgbClr val="FFFFFF"/>
                </a:solidFill>
                <a:latin typeface="Helvetica Neue Light"/>
              </a:rPr>
            </a:br>
            <a:r>
              <a:rPr sz="2000" dirty="0">
                <a:solidFill>
                  <a:srgbClr val="FFFFFF"/>
                </a:solidFill>
                <a:latin typeface="Helvetica Neue Light"/>
              </a:rPr>
              <a:t>in a centralized place</a:t>
            </a:r>
          </a:p>
          <a:p>
            <a:pPr algn="l">
              <a:lnSpc>
                <a:spcPts val="2399"/>
              </a:lnSpc>
            </a:pPr>
            <a:endParaRPr sz="2000" dirty="0">
              <a:solidFill>
                <a:srgbClr val="FFFFFF"/>
              </a:solidFill>
              <a:latin typeface="Helvetica Neue Light"/>
            </a:endParaRP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10" name="TextBox 9"/>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11" name="TextBox 10"/>
          <p:cNvSpPr txBox="1"/>
          <p:nvPr/>
        </p:nvSpPr>
        <p:spPr>
          <a:xfrm>
            <a:off x="6855138" y="7781035"/>
            <a:ext cx="5228033"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“While the app is functional for basic trading, it falls short for those seeking more sophisticated </a:t>
            </a:r>
          </a:p>
        </p:txBody>
      </p:sp>
      <p:sp>
        <p:nvSpPr>
          <p:cNvPr id="12" name="TextBox 11"/>
          <p:cNvSpPr txBox="1"/>
          <p:nvPr/>
        </p:nvSpPr>
        <p:spPr>
          <a:xfrm>
            <a:off x="7920246" y="8390635"/>
            <a:ext cx="3325083" cy="295655"/>
          </a:xfrm>
          <a:prstGeom prst="rect">
            <a:avLst/>
          </a:prstGeom>
          <a:noFill/>
        </p:spPr>
        <p:txBody>
          <a:bodyPr wrap="none" lIns="0" tIns="0" rIns="0" bIns="0">
            <a:noAutofit/>
          </a:bodyPr>
          <a:lstStyle/>
          <a:p>
            <a:pPr algn="l"/>
            <a:r>
              <a:rPr sz="2000" dirty="0">
                <a:solidFill>
                  <a:srgbClr val="000000"/>
                </a:solidFill>
                <a:latin typeface="Helvetica Neue Thin"/>
              </a:rPr>
              <a:t>trading tools and resources.”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630654" y="1461754"/>
            <a:ext cx="2782899" cy="5889391"/>
          </a:xfrm>
          <a:prstGeom prst="rect">
            <a:avLst/>
          </a:prstGeom>
        </p:spPr>
      </p:pic>
      <p:pic>
        <p:nvPicPr>
          <p:cNvPr id="4" name="Picture 2" descr="image.png"/>
          <p:cNvPicPr>
            <a:picLocks noChangeAspect="1"/>
          </p:cNvPicPr>
          <p:nvPr/>
        </p:nvPicPr>
        <p:blipFill>
          <a:blip r:embed="rId4"/>
          <a:stretch>
            <a:fillRect/>
          </a:stretch>
        </p:blipFill>
        <p:spPr>
          <a:xfrm>
            <a:off x="2012764" y="5296846"/>
            <a:ext cx="2101088" cy="4446490"/>
          </a:xfrm>
          <a:prstGeom prst="rect">
            <a:avLst/>
          </a:prstGeom>
        </p:spPr>
      </p:pic>
      <p:pic>
        <p:nvPicPr>
          <p:cNvPr id="5" name="Picture 3" descr="image.png"/>
          <p:cNvPicPr>
            <a:picLocks noChangeAspect="1"/>
          </p:cNvPicPr>
          <p:nvPr/>
        </p:nvPicPr>
        <p:blipFill>
          <a:blip r:embed="rId5"/>
          <a:stretch>
            <a:fillRect/>
          </a:stretch>
        </p:blipFill>
        <p:spPr>
          <a:xfrm>
            <a:off x="8643197" y="1412951"/>
            <a:ext cx="3352386" cy="7266101"/>
          </a:xfrm>
          <a:prstGeom prst="rect">
            <a:avLst/>
          </a:prstGeom>
        </p:spPr>
      </p:pic>
      <p:sp>
        <p:nvSpPr>
          <p:cNvPr id="6" name="TextBox 5"/>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7" name="TextBox 6"/>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8" name="TextBox 7"/>
          <p:cNvSpPr txBox="1"/>
          <p:nvPr/>
        </p:nvSpPr>
        <p:spPr>
          <a:xfrm>
            <a:off x="647700" y="2037079"/>
            <a:ext cx="4963537" cy="1010411"/>
          </a:xfrm>
          <a:prstGeom prst="rect">
            <a:avLst/>
          </a:prstGeom>
          <a:noFill/>
        </p:spPr>
        <p:txBody>
          <a:bodyPr wrap="square" lIns="0" tIns="0" rIns="0" bIns="0">
            <a:noAutofit/>
          </a:bodyPr>
          <a:lstStyle/>
          <a:p>
            <a:pPr algn="l">
              <a:lnSpc>
                <a:spcPts val="2800"/>
              </a:lnSpc>
            </a:pPr>
            <a:r>
              <a:rPr sz="2000" dirty="0">
                <a:solidFill>
                  <a:srgbClr val="FFFFFF"/>
                </a:solidFill>
                <a:latin typeface="Helvetica Neue Light"/>
              </a:rPr>
              <a:t>What we learned from discovery and design thinking</a:t>
            </a:r>
          </a:p>
          <a:p>
            <a:pPr algn="l">
              <a:lnSpc>
                <a:spcPts val="2800"/>
              </a:lnSpc>
            </a:pPr>
            <a:r>
              <a:rPr sz="2000" dirty="0">
                <a:solidFill>
                  <a:srgbClr val="FFFFFF"/>
                </a:solidFill>
                <a:latin typeface="Helvetica Neue Thin"/>
              </a:rPr>
              <a:t>• Ability to switch accounts would support the </a:t>
            </a:r>
          </a:p>
        </p:txBody>
      </p:sp>
      <p:sp>
        <p:nvSpPr>
          <p:cNvPr id="9" name="TextBox 8"/>
          <p:cNvSpPr txBox="1"/>
          <p:nvPr/>
        </p:nvSpPr>
        <p:spPr>
          <a:xfrm>
            <a:off x="647700" y="3107434"/>
            <a:ext cx="5152095" cy="1362455"/>
          </a:xfrm>
          <a:prstGeom prst="rect">
            <a:avLst/>
          </a:prstGeom>
          <a:noFill/>
        </p:spPr>
        <p:txBody>
          <a:bodyPr wrap="square" lIns="0" tIns="0" rIns="0" bIns="0">
            <a:noAutofit/>
          </a:bodyPr>
          <a:lstStyle/>
          <a:p>
            <a:pPr marL="228600" algn="l">
              <a:lnSpc>
                <a:spcPts val="2800"/>
              </a:lnSpc>
            </a:pPr>
            <a:r>
              <a:rPr sz="2000" dirty="0">
                <a:solidFill>
                  <a:srgbClr val="FFFFFF"/>
                </a:solidFill>
                <a:latin typeface="Helvetica Neue Thin"/>
              </a:rPr>
              <a:t>majority of experienced traders and 60% of novice users and support new navigation for mobile native</a:t>
            </a:r>
          </a:p>
          <a:p>
            <a:pPr algn="l">
              <a:lnSpc>
                <a:spcPts val="2800"/>
              </a:lnSpc>
            </a:pPr>
            <a:r>
              <a:rPr sz="2000" dirty="0">
                <a:solidFill>
                  <a:srgbClr val="FFFFFF"/>
                </a:solidFill>
                <a:latin typeface="Helvetica Neue Thin"/>
              </a:rPr>
              <a:t>• Dark mode is important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189707" y="2517499"/>
            <a:ext cx="5188409" cy="7236100"/>
          </a:xfrm>
          <a:prstGeom prst="rect">
            <a:avLst/>
          </a:prstGeom>
        </p:spPr>
      </p:pic>
      <p:pic>
        <p:nvPicPr>
          <p:cNvPr id="4" name="Picture 2" descr="image.png"/>
          <p:cNvPicPr>
            <a:picLocks noChangeAspect="1"/>
          </p:cNvPicPr>
          <p:nvPr/>
        </p:nvPicPr>
        <p:blipFill>
          <a:blip r:embed="rId4"/>
          <a:stretch>
            <a:fillRect/>
          </a:stretch>
        </p:blipFill>
        <p:spPr>
          <a:xfrm>
            <a:off x="611187" y="4062158"/>
            <a:ext cx="2733805" cy="5217618"/>
          </a:xfrm>
          <a:prstGeom prst="rect">
            <a:avLst/>
          </a:prstGeom>
        </p:spPr>
      </p:pic>
      <p:sp>
        <p:nvSpPr>
          <p:cNvPr id="5" name="TextBox 4"/>
          <p:cNvSpPr txBox="1"/>
          <p:nvPr/>
        </p:nvSpPr>
        <p:spPr>
          <a:xfrm>
            <a:off x="675154" y="3723384"/>
            <a:ext cx="1118453" cy="216560"/>
          </a:xfrm>
          <a:prstGeom prst="rect">
            <a:avLst/>
          </a:prstGeom>
          <a:noFill/>
        </p:spPr>
        <p:txBody>
          <a:bodyPr wrap="none" lIns="0" tIns="0" rIns="0" bIns="0">
            <a:noAutofit/>
          </a:bodyPr>
          <a:lstStyle/>
          <a:p>
            <a:pPr algn="l"/>
            <a:r>
              <a:rPr sz="1400" dirty="0">
                <a:solidFill>
                  <a:srgbClr val="000000"/>
                </a:solidFill>
                <a:latin typeface="Helvetica Neue Light"/>
              </a:rPr>
              <a:t>First iteration</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7" name="TextBox 6"/>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8" name="TextBox 7"/>
          <p:cNvSpPr txBox="1"/>
          <p:nvPr/>
        </p:nvSpPr>
        <p:spPr>
          <a:xfrm>
            <a:off x="1136650" y="1871979"/>
            <a:ext cx="5917898" cy="309372"/>
          </a:xfrm>
          <a:prstGeom prst="rect">
            <a:avLst/>
          </a:prstGeom>
          <a:noFill/>
        </p:spPr>
        <p:txBody>
          <a:bodyPr wrap="none" lIns="0" tIns="0" rIns="0" bIns="0">
            <a:noAutofit/>
          </a:bodyPr>
          <a:lstStyle/>
          <a:p>
            <a:pPr algn="l"/>
            <a:r>
              <a:rPr sz="2000" dirty="0">
                <a:solidFill>
                  <a:srgbClr val="FFFFFF"/>
                </a:solidFill>
                <a:latin typeface="Helvetica Neue Light"/>
              </a:rPr>
              <a:t>• Asset is held already, so the user is driven right </a:t>
            </a:r>
          </a:p>
        </p:txBody>
      </p:sp>
      <p:sp>
        <p:nvSpPr>
          <p:cNvPr id="9" name="TextBox 8"/>
          <p:cNvSpPr txBox="1"/>
          <p:nvPr/>
        </p:nvSpPr>
        <p:spPr>
          <a:xfrm>
            <a:off x="1136650" y="2176779"/>
            <a:ext cx="5699321" cy="614172"/>
          </a:xfrm>
          <a:prstGeom prst="rect">
            <a:avLst/>
          </a:prstGeom>
          <a:noFill/>
        </p:spPr>
        <p:txBody>
          <a:bodyPr wrap="none" lIns="0" tIns="0" rIns="0" bIns="0">
            <a:noAutofit/>
          </a:bodyPr>
          <a:lstStyle/>
          <a:p>
            <a:pPr marL="228600" algn="l">
              <a:lnSpc>
                <a:spcPts val="2400"/>
              </a:lnSpc>
            </a:pPr>
            <a:r>
              <a:rPr sz="2000" dirty="0">
                <a:solidFill>
                  <a:srgbClr val="FFFFFF"/>
                </a:solidFill>
                <a:latin typeface="Helvetica Neue Light"/>
              </a:rPr>
              <a:t>into the funnel</a:t>
            </a:r>
          </a:p>
          <a:p>
            <a:pPr algn="l">
              <a:lnSpc>
                <a:spcPts val="2400"/>
              </a:lnSpc>
            </a:pPr>
            <a:r>
              <a:rPr sz="2000" dirty="0">
                <a:solidFill>
                  <a:srgbClr val="FFFFFF"/>
                </a:solidFill>
                <a:latin typeface="Helvetica Neue Light"/>
              </a:rPr>
              <a:t>• User can immediately toggle between selling </a:t>
            </a:r>
          </a:p>
        </p:txBody>
      </p:sp>
      <p:sp>
        <p:nvSpPr>
          <p:cNvPr id="10" name="TextBox 9"/>
          <p:cNvSpPr txBox="1"/>
          <p:nvPr/>
        </p:nvSpPr>
        <p:spPr>
          <a:xfrm>
            <a:off x="1365250" y="2786379"/>
            <a:ext cx="3275156" cy="309372"/>
          </a:xfrm>
          <a:prstGeom prst="rect">
            <a:avLst/>
          </a:prstGeom>
          <a:noFill/>
        </p:spPr>
        <p:txBody>
          <a:bodyPr wrap="none" lIns="0" tIns="0" rIns="0" bIns="0">
            <a:noAutofit/>
          </a:bodyPr>
          <a:lstStyle/>
          <a:p>
            <a:pPr algn="l"/>
            <a:r>
              <a:rPr sz="2000" dirty="0">
                <a:solidFill>
                  <a:srgbClr val="FFFFFF"/>
                </a:solidFill>
                <a:latin typeface="Helvetica Neue Light"/>
              </a:rPr>
              <a:t>by dollar amount vs. shares</a:t>
            </a:r>
          </a:p>
        </p:txBody>
      </p:sp>
      <p:sp>
        <p:nvSpPr>
          <p:cNvPr id="11" name="TextBox 10"/>
          <p:cNvSpPr txBox="1"/>
          <p:nvPr/>
        </p:nvSpPr>
        <p:spPr>
          <a:xfrm>
            <a:off x="3657600" y="4443982"/>
            <a:ext cx="2865981" cy="247497"/>
          </a:xfrm>
          <a:prstGeom prst="rect">
            <a:avLst/>
          </a:prstGeom>
          <a:noFill/>
        </p:spPr>
        <p:txBody>
          <a:bodyPr wrap="none" lIns="0" tIns="0" rIns="0" bIns="0">
            <a:noAutofit/>
          </a:bodyPr>
          <a:lstStyle/>
          <a:p>
            <a:pPr algn="l"/>
            <a:r>
              <a:rPr sz="1600" dirty="0">
                <a:solidFill>
                  <a:srgbClr val="000000"/>
                </a:solidFill>
                <a:latin typeface="Helvetica Neue Light"/>
              </a:rPr>
              <a:t>If a user holds an asset they’re </a:t>
            </a:r>
          </a:p>
        </p:txBody>
      </p:sp>
      <p:sp>
        <p:nvSpPr>
          <p:cNvPr id="12" name="TextBox 11"/>
          <p:cNvSpPr txBox="1"/>
          <p:nvPr/>
        </p:nvSpPr>
        <p:spPr>
          <a:xfrm>
            <a:off x="3657600" y="4850382"/>
            <a:ext cx="3285143" cy="247497"/>
          </a:xfrm>
          <a:prstGeom prst="rect">
            <a:avLst/>
          </a:prstGeom>
          <a:noFill/>
        </p:spPr>
        <p:txBody>
          <a:bodyPr wrap="none" lIns="0" tIns="0" rIns="0" bIns="0">
            <a:noAutofit/>
          </a:bodyPr>
          <a:lstStyle/>
          <a:p>
            <a:pPr algn="l"/>
            <a:r>
              <a:rPr sz="1600" dirty="0">
                <a:solidFill>
                  <a:srgbClr val="000000"/>
                </a:solidFill>
                <a:latin typeface="Helvetica Neue Light"/>
              </a:rPr>
              <a:t>driven right into an interface to buy </a:t>
            </a:r>
          </a:p>
        </p:txBody>
      </p:sp>
      <p:sp>
        <p:nvSpPr>
          <p:cNvPr id="13" name="TextBox 12"/>
          <p:cNvSpPr txBox="1"/>
          <p:nvPr/>
        </p:nvSpPr>
        <p:spPr>
          <a:xfrm>
            <a:off x="3657600" y="5256782"/>
            <a:ext cx="3248931" cy="247497"/>
          </a:xfrm>
          <a:prstGeom prst="rect">
            <a:avLst/>
          </a:prstGeom>
          <a:noFill/>
        </p:spPr>
        <p:txBody>
          <a:bodyPr wrap="none" lIns="0" tIns="0" rIns="0" bIns="0">
            <a:noAutofit/>
          </a:bodyPr>
          <a:lstStyle/>
          <a:p>
            <a:pPr algn="l"/>
            <a:r>
              <a:rPr sz="1600" dirty="0">
                <a:solidFill>
                  <a:srgbClr val="000000"/>
                </a:solidFill>
                <a:latin typeface="Helvetica Neue Light"/>
              </a:rPr>
              <a:t>or sell. Next to Actions is the icon </a:t>
            </a:r>
          </a:p>
        </p:txBody>
      </p:sp>
      <p:sp>
        <p:nvSpPr>
          <p:cNvPr id="14" name="TextBox 13"/>
          <p:cNvSpPr txBox="1"/>
          <p:nvPr/>
        </p:nvSpPr>
        <p:spPr>
          <a:xfrm>
            <a:off x="3657600" y="5663182"/>
            <a:ext cx="3089387" cy="247497"/>
          </a:xfrm>
          <a:prstGeom prst="rect">
            <a:avLst/>
          </a:prstGeom>
          <a:noFill/>
        </p:spPr>
        <p:txBody>
          <a:bodyPr wrap="none" lIns="0" tIns="0" rIns="0" bIns="0">
            <a:noAutofit/>
          </a:bodyPr>
          <a:lstStyle/>
          <a:p>
            <a:pPr algn="l"/>
            <a:r>
              <a:rPr sz="1600" dirty="0">
                <a:solidFill>
                  <a:srgbClr val="000000"/>
                </a:solidFill>
                <a:latin typeface="Helvetica Neue Light"/>
              </a:rPr>
              <a:t>to change shares vs. dollars. As </a:t>
            </a:r>
          </a:p>
        </p:txBody>
      </p:sp>
      <p:sp>
        <p:nvSpPr>
          <p:cNvPr id="15" name="TextBox 14"/>
          <p:cNvSpPr txBox="1"/>
          <p:nvPr/>
        </p:nvSpPr>
        <p:spPr>
          <a:xfrm>
            <a:off x="3657600" y="6069582"/>
            <a:ext cx="3079248" cy="247497"/>
          </a:xfrm>
          <a:prstGeom prst="rect">
            <a:avLst/>
          </a:prstGeom>
          <a:noFill/>
        </p:spPr>
        <p:txBody>
          <a:bodyPr wrap="none" lIns="0" tIns="0" rIns="0" bIns="0">
            <a:noAutofit/>
          </a:bodyPr>
          <a:lstStyle/>
          <a:p>
            <a:pPr algn="l"/>
            <a:r>
              <a:rPr sz="1600" dirty="0">
                <a:solidFill>
                  <a:srgbClr val="000000"/>
                </a:solidFill>
                <a:latin typeface="Helvetica Neue Light"/>
              </a:rPr>
              <a:t>a predictive interface, users are </a:t>
            </a:r>
          </a:p>
        </p:txBody>
      </p:sp>
      <p:sp>
        <p:nvSpPr>
          <p:cNvPr id="16" name="TextBox 15"/>
          <p:cNvSpPr txBox="1"/>
          <p:nvPr/>
        </p:nvSpPr>
        <p:spPr>
          <a:xfrm>
            <a:off x="3657600" y="6475982"/>
            <a:ext cx="2889683" cy="247497"/>
          </a:xfrm>
          <a:prstGeom prst="rect">
            <a:avLst/>
          </a:prstGeom>
          <a:noFill/>
        </p:spPr>
        <p:txBody>
          <a:bodyPr wrap="none" lIns="0" tIns="0" rIns="0" bIns="0">
            <a:noAutofit/>
          </a:bodyPr>
          <a:lstStyle/>
          <a:p>
            <a:pPr algn="l"/>
            <a:r>
              <a:rPr sz="1600" dirty="0">
                <a:solidFill>
                  <a:srgbClr val="000000"/>
                </a:solidFill>
                <a:latin typeface="Helvetica Neue Light"/>
              </a:rPr>
              <a:t>never burdened with too many </a:t>
            </a:r>
          </a:p>
        </p:txBody>
      </p:sp>
      <p:sp>
        <p:nvSpPr>
          <p:cNvPr id="17" name="TextBox 16"/>
          <p:cNvSpPr txBox="1"/>
          <p:nvPr/>
        </p:nvSpPr>
        <p:spPr>
          <a:xfrm>
            <a:off x="3657600" y="6882383"/>
            <a:ext cx="2856764" cy="247497"/>
          </a:xfrm>
          <a:prstGeom prst="rect">
            <a:avLst/>
          </a:prstGeom>
          <a:noFill/>
        </p:spPr>
        <p:txBody>
          <a:bodyPr wrap="none" lIns="0" tIns="0" rIns="0" bIns="0">
            <a:noAutofit/>
          </a:bodyPr>
          <a:lstStyle/>
          <a:p>
            <a:pPr algn="l"/>
            <a:r>
              <a:rPr sz="1600" dirty="0">
                <a:solidFill>
                  <a:srgbClr val="000000"/>
                </a:solidFill>
                <a:latin typeface="Helvetica Neue Light"/>
              </a:rPr>
              <a:t>choices, only the appropriate </a:t>
            </a:r>
          </a:p>
        </p:txBody>
      </p:sp>
      <p:sp>
        <p:nvSpPr>
          <p:cNvPr id="18" name="TextBox 17"/>
          <p:cNvSpPr txBox="1"/>
          <p:nvPr/>
        </p:nvSpPr>
        <p:spPr>
          <a:xfrm>
            <a:off x="3657600" y="7288783"/>
            <a:ext cx="567838" cy="247497"/>
          </a:xfrm>
          <a:prstGeom prst="rect">
            <a:avLst/>
          </a:prstGeom>
          <a:noFill/>
        </p:spPr>
        <p:txBody>
          <a:bodyPr wrap="none" lIns="0" tIns="0" rIns="0" bIns="0">
            <a:noAutofit/>
          </a:bodyPr>
          <a:lstStyle/>
          <a:p>
            <a:pPr algn="l"/>
            <a:r>
              <a:rPr sz="1600" dirty="0">
                <a:solidFill>
                  <a:srgbClr val="000000"/>
                </a:solidFill>
                <a:latin typeface="Helvetica Neue Light"/>
              </a:rPr>
              <a:t>ones.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24382"/>
            <a:ext cx="13004800" cy="9753600"/>
          </a:xfrm>
          <a:prstGeom prst="rect">
            <a:avLst/>
          </a:prstGeom>
        </p:spPr>
      </p:pic>
      <p:pic>
        <p:nvPicPr>
          <p:cNvPr id="3" name="Picture 1" descr="image.png"/>
          <p:cNvPicPr>
            <a:picLocks noChangeAspect="1"/>
          </p:cNvPicPr>
          <p:nvPr/>
        </p:nvPicPr>
        <p:blipFill>
          <a:blip r:embed="rId3"/>
          <a:stretch>
            <a:fillRect/>
          </a:stretch>
        </p:blipFill>
        <p:spPr>
          <a:xfrm>
            <a:off x="7685549" y="1194904"/>
            <a:ext cx="4547269" cy="8558695"/>
          </a:xfrm>
          <a:prstGeom prst="rect">
            <a:avLst/>
          </a:prstGeom>
        </p:spPr>
      </p:pic>
      <p:pic>
        <p:nvPicPr>
          <p:cNvPr id="4" name="Picture 2" descr="image.png"/>
          <p:cNvPicPr>
            <a:picLocks noChangeAspect="1"/>
          </p:cNvPicPr>
          <p:nvPr/>
        </p:nvPicPr>
        <p:blipFill>
          <a:blip r:embed="rId4"/>
          <a:stretch>
            <a:fillRect/>
          </a:stretch>
        </p:blipFill>
        <p:spPr>
          <a:xfrm>
            <a:off x="608520" y="3988167"/>
            <a:ext cx="2425192" cy="5038140"/>
          </a:xfrm>
          <a:prstGeom prst="rect">
            <a:avLst/>
          </a:prstGeom>
        </p:spPr>
      </p:pic>
      <p:sp>
        <p:nvSpPr>
          <p:cNvPr id="5" name="TextBox 4"/>
          <p:cNvSpPr txBox="1"/>
          <p:nvPr/>
        </p:nvSpPr>
        <p:spPr>
          <a:xfrm>
            <a:off x="1054100" y="1871979"/>
            <a:ext cx="5032177" cy="604011"/>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What we learned in the testing</a:t>
            </a:r>
          </a:p>
          <a:p>
            <a:pPr algn="l">
              <a:lnSpc>
                <a:spcPts val="2400"/>
              </a:lnSpc>
            </a:pPr>
            <a:r>
              <a:rPr sz="2000" dirty="0">
                <a:solidFill>
                  <a:srgbClr val="FFFFFF"/>
                </a:solidFill>
                <a:latin typeface="Helvetica Neue Thin"/>
              </a:rPr>
              <a:t>• Education was a priority for all users, but </a:t>
            </a:r>
          </a:p>
        </p:txBody>
      </p:sp>
      <p:sp>
        <p:nvSpPr>
          <p:cNvPr id="6" name="TextBox 5"/>
          <p:cNvSpPr txBox="1"/>
          <p:nvPr/>
        </p:nvSpPr>
        <p:spPr>
          <a:xfrm>
            <a:off x="1054100" y="2485135"/>
            <a:ext cx="5432959" cy="905255"/>
          </a:xfrm>
          <a:prstGeom prst="rect">
            <a:avLst/>
          </a:prstGeom>
          <a:noFill/>
        </p:spPr>
        <p:txBody>
          <a:bodyPr wrap="none" lIns="0" tIns="0" rIns="0" bIns="0">
            <a:noAutofit/>
          </a:bodyPr>
          <a:lstStyle/>
          <a:p>
            <a:pPr marL="228600" algn="l">
              <a:lnSpc>
                <a:spcPts val="2399"/>
              </a:lnSpc>
            </a:pPr>
            <a:r>
              <a:rPr sz="2000" dirty="0">
                <a:solidFill>
                  <a:srgbClr val="FFFFFF"/>
                </a:solidFill>
                <a:latin typeface="Helvetica Neue Thin"/>
              </a:rPr>
              <a:t>shouldn’t distract nor impede progress</a:t>
            </a:r>
          </a:p>
          <a:p>
            <a:pPr algn="l">
              <a:lnSpc>
                <a:spcPts val="2399"/>
              </a:lnSpc>
            </a:pPr>
            <a:r>
              <a:rPr sz="2000" dirty="0">
                <a:solidFill>
                  <a:srgbClr val="FFFFFF"/>
                </a:solidFill>
                <a:latin typeface="Helvetica Neue Thin"/>
              </a:rPr>
              <a:t>• Trading in quick amounts is good</a:t>
            </a:r>
          </a:p>
          <a:p>
            <a:pPr algn="l">
              <a:lnSpc>
                <a:spcPts val="2399"/>
              </a:lnSpc>
            </a:pPr>
            <a:r>
              <a:rPr sz="2000" dirty="0">
                <a:solidFill>
                  <a:srgbClr val="FFFFFF"/>
                </a:solidFill>
                <a:latin typeface="Helvetica Neue Thin"/>
              </a:rPr>
              <a:t>• Feedback on share amount valuable as well</a:t>
            </a:r>
          </a:p>
        </p:txBody>
      </p:sp>
      <p:sp>
        <p:nvSpPr>
          <p:cNvPr id="7" name="TextBox 6"/>
          <p:cNvSpPr txBox="1"/>
          <p:nvPr/>
        </p:nvSpPr>
        <p:spPr>
          <a:xfrm>
            <a:off x="1777032" y="9041509"/>
            <a:ext cx="1409754" cy="216560"/>
          </a:xfrm>
          <a:prstGeom prst="rect">
            <a:avLst/>
          </a:prstGeom>
          <a:noFill/>
        </p:spPr>
        <p:txBody>
          <a:bodyPr wrap="none" lIns="0" tIns="0" rIns="0" bIns="0">
            <a:noAutofit/>
          </a:bodyPr>
          <a:lstStyle/>
          <a:p>
            <a:pPr algn="l"/>
            <a:r>
              <a:rPr sz="1400" dirty="0">
                <a:solidFill>
                  <a:srgbClr val="000000"/>
                </a:solidFill>
                <a:latin typeface="Helvetica Neue Light"/>
              </a:rPr>
              <a:t>Second iteration</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9" name="TextBox 8"/>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10" name="TextBox 9"/>
          <p:cNvSpPr txBox="1"/>
          <p:nvPr/>
        </p:nvSpPr>
        <p:spPr>
          <a:xfrm>
            <a:off x="6458911" y="8984359"/>
            <a:ext cx="1195069" cy="216560"/>
          </a:xfrm>
          <a:prstGeom prst="rect">
            <a:avLst/>
          </a:prstGeom>
          <a:noFill/>
        </p:spPr>
        <p:txBody>
          <a:bodyPr wrap="none" lIns="0" tIns="0" rIns="0" bIns="0">
            <a:noAutofit/>
          </a:bodyPr>
          <a:lstStyle/>
          <a:p>
            <a:pPr algn="l"/>
            <a:r>
              <a:rPr sz="1400" dirty="0">
                <a:solidFill>
                  <a:srgbClr val="000000"/>
                </a:solidFill>
                <a:latin typeface="Helvetica Neue Light"/>
              </a:rPr>
              <a:t>Third iteration</a:t>
            </a:r>
          </a:p>
        </p:txBody>
      </p:sp>
      <p:sp>
        <p:nvSpPr>
          <p:cNvPr id="11" name="TextBox 10"/>
          <p:cNvSpPr txBox="1"/>
          <p:nvPr/>
        </p:nvSpPr>
        <p:spPr>
          <a:xfrm>
            <a:off x="3451733" y="4494782"/>
            <a:ext cx="4035397" cy="247497"/>
          </a:xfrm>
          <a:prstGeom prst="rect">
            <a:avLst/>
          </a:prstGeom>
          <a:noFill/>
        </p:spPr>
        <p:txBody>
          <a:bodyPr wrap="none" lIns="0" tIns="0" rIns="0" bIns="0">
            <a:noAutofit/>
          </a:bodyPr>
          <a:lstStyle/>
          <a:p>
            <a:pPr algn="l"/>
            <a:r>
              <a:rPr sz="1600" dirty="0">
                <a:solidFill>
                  <a:srgbClr val="000000"/>
                </a:solidFill>
                <a:latin typeface="Helvetica Neue Light"/>
              </a:rPr>
              <a:t>We designed an interface that was flexible, </a:t>
            </a:r>
          </a:p>
        </p:txBody>
      </p:sp>
      <p:sp>
        <p:nvSpPr>
          <p:cNvPr id="12" name="TextBox 11"/>
          <p:cNvSpPr txBox="1"/>
          <p:nvPr/>
        </p:nvSpPr>
        <p:spPr>
          <a:xfrm>
            <a:off x="3451733" y="4901182"/>
            <a:ext cx="3922442" cy="247497"/>
          </a:xfrm>
          <a:prstGeom prst="rect">
            <a:avLst/>
          </a:prstGeom>
          <a:noFill/>
        </p:spPr>
        <p:txBody>
          <a:bodyPr wrap="none" lIns="0" tIns="0" rIns="0" bIns="0">
            <a:noAutofit/>
          </a:bodyPr>
          <a:lstStyle/>
          <a:p>
            <a:pPr algn="l"/>
            <a:r>
              <a:rPr sz="1600" dirty="0">
                <a:solidFill>
                  <a:srgbClr val="000000"/>
                </a:solidFill>
                <a:latin typeface="Helvetica Neue Light"/>
              </a:rPr>
              <a:t>allowed vision into details of a stock and </a:t>
            </a:r>
          </a:p>
        </p:txBody>
      </p:sp>
      <p:sp>
        <p:nvSpPr>
          <p:cNvPr id="13" name="TextBox 12"/>
          <p:cNvSpPr txBox="1"/>
          <p:nvPr/>
        </p:nvSpPr>
        <p:spPr>
          <a:xfrm>
            <a:off x="3451733" y="5307582"/>
            <a:ext cx="3172716" cy="247497"/>
          </a:xfrm>
          <a:prstGeom prst="rect">
            <a:avLst/>
          </a:prstGeom>
          <a:noFill/>
        </p:spPr>
        <p:txBody>
          <a:bodyPr wrap="none" lIns="0" tIns="0" rIns="0" bIns="0">
            <a:noAutofit/>
          </a:bodyPr>
          <a:lstStyle/>
          <a:p>
            <a:pPr algn="l"/>
            <a:r>
              <a:rPr sz="1600" dirty="0">
                <a:solidFill>
                  <a:srgbClr val="000000"/>
                </a:solidFill>
                <a:latin typeface="Helvetica Neue Light"/>
              </a:rPr>
              <a:t>information into the holding itself.</a:t>
            </a:r>
          </a:p>
        </p:txBody>
      </p:sp>
      <p:sp>
        <p:nvSpPr>
          <p:cNvPr id="14" name="TextBox 13"/>
          <p:cNvSpPr txBox="1"/>
          <p:nvPr/>
        </p:nvSpPr>
        <p:spPr>
          <a:xfrm>
            <a:off x="3451733" y="6008622"/>
            <a:ext cx="3803590" cy="1172058"/>
          </a:xfrm>
          <a:prstGeom prst="rect">
            <a:avLst/>
          </a:prstGeom>
          <a:noFill/>
        </p:spPr>
        <p:txBody>
          <a:bodyPr wrap="square" lIns="0" tIns="0" rIns="0" bIns="0">
            <a:noAutofit/>
          </a:bodyPr>
          <a:lstStyle/>
          <a:p>
            <a:pPr algn="l">
              <a:lnSpc>
                <a:spcPts val="3200"/>
              </a:lnSpc>
            </a:pPr>
            <a:r>
              <a:rPr sz="1600" dirty="0">
                <a:solidFill>
                  <a:srgbClr val="000000"/>
                </a:solidFill>
                <a:latin typeface="Helvetica Neue Light"/>
              </a:rPr>
              <a:t>Using a custom keyboard was part of sev</a:t>
            </a:r>
            <a:r>
              <a:rPr sz="1600" dirty="0" err="1">
                <a:solidFill>
                  <a:srgbClr val="000000"/>
                </a:solidFill>
                <a:latin typeface="Helvetica Neue Light"/>
              </a:rPr>
              <a:t>eral</a:t>
            </a:r>
            <a:r>
              <a:rPr sz="1600" dirty="0">
                <a:solidFill>
                  <a:srgbClr val="000000"/>
                </a:solidFill>
                <a:latin typeface="Helvetica Neue Light"/>
              </a:rPr>
              <a:t> iterations, but was replaced by the system keyboard.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173318" y="696704"/>
            <a:ext cx="1709760" cy="3419520"/>
          </a:xfrm>
          <a:prstGeom prst="rect">
            <a:avLst/>
          </a:prstGeom>
        </p:spPr>
      </p:pic>
      <p:pic>
        <p:nvPicPr>
          <p:cNvPr id="4" name="Picture 2" descr="image.png"/>
          <p:cNvPicPr>
            <a:picLocks noChangeAspect="1"/>
          </p:cNvPicPr>
          <p:nvPr/>
        </p:nvPicPr>
        <p:blipFill>
          <a:blip r:embed="rId4"/>
          <a:stretch>
            <a:fillRect/>
          </a:stretch>
        </p:blipFill>
        <p:spPr>
          <a:xfrm>
            <a:off x="8134135" y="698565"/>
            <a:ext cx="1709759" cy="3419520"/>
          </a:xfrm>
          <a:prstGeom prst="rect">
            <a:avLst/>
          </a:prstGeom>
        </p:spPr>
      </p:pic>
      <p:pic>
        <p:nvPicPr>
          <p:cNvPr id="5" name="Picture 3" descr="image.png"/>
          <p:cNvPicPr>
            <a:picLocks noChangeAspect="1"/>
          </p:cNvPicPr>
          <p:nvPr/>
        </p:nvPicPr>
        <p:blipFill>
          <a:blip r:embed="rId5"/>
          <a:stretch>
            <a:fillRect/>
          </a:stretch>
        </p:blipFill>
        <p:spPr>
          <a:xfrm>
            <a:off x="916495" y="4269020"/>
            <a:ext cx="3440951" cy="5484579"/>
          </a:xfrm>
          <a:prstGeom prst="rect">
            <a:avLst/>
          </a:prstGeom>
        </p:spPr>
      </p:pic>
      <p:pic>
        <p:nvPicPr>
          <p:cNvPr id="6" name="Picture 4" descr="image.png"/>
          <p:cNvPicPr>
            <a:picLocks noChangeAspect="1"/>
          </p:cNvPicPr>
          <p:nvPr/>
        </p:nvPicPr>
        <p:blipFill>
          <a:blip r:embed="rId6"/>
          <a:stretch>
            <a:fillRect/>
          </a:stretch>
        </p:blipFill>
        <p:spPr>
          <a:xfrm>
            <a:off x="8762822" y="2860958"/>
            <a:ext cx="1638786" cy="3551975"/>
          </a:xfrm>
          <a:prstGeom prst="rect">
            <a:avLst/>
          </a:prstGeom>
        </p:spPr>
      </p:pic>
      <p:pic>
        <p:nvPicPr>
          <p:cNvPr id="7" name="Picture 5" descr="image.png"/>
          <p:cNvPicPr>
            <a:picLocks noChangeAspect="1"/>
          </p:cNvPicPr>
          <p:nvPr/>
        </p:nvPicPr>
        <p:blipFill>
          <a:blip r:embed="rId7"/>
          <a:stretch>
            <a:fillRect/>
          </a:stretch>
        </p:blipFill>
        <p:spPr>
          <a:xfrm>
            <a:off x="10631082" y="2860958"/>
            <a:ext cx="1638786" cy="3551975"/>
          </a:xfrm>
          <a:prstGeom prst="rect">
            <a:avLst/>
          </a:prstGeom>
        </p:spPr>
      </p:pic>
      <p:sp>
        <p:nvSpPr>
          <p:cNvPr id="8" name="TextBox 7"/>
          <p:cNvSpPr txBox="1"/>
          <p:nvPr/>
        </p:nvSpPr>
        <p:spPr>
          <a:xfrm>
            <a:off x="7494620" y="6098284"/>
            <a:ext cx="1201215" cy="216560"/>
          </a:xfrm>
          <a:prstGeom prst="rect">
            <a:avLst/>
          </a:prstGeom>
          <a:noFill/>
        </p:spPr>
        <p:txBody>
          <a:bodyPr wrap="none" lIns="0" tIns="0" rIns="0" bIns="0">
            <a:noAutofit/>
          </a:bodyPr>
          <a:lstStyle/>
          <a:p>
            <a:pPr algn="l"/>
            <a:r>
              <a:rPr sz="1400" dirty="0">
                <a:solidFill>
                  <a:srgbClr val="000000"/>
                </a:solidFill>
                <a:latin typeface="Helvetica Neue Light"/>
              </a:rPr>
              <a:t>Test version 2</a:t>
            </a: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10" name="TextBox 9"/>
          <p:cNvSpPr txBox="1"/>
          <p:nvPr/>
        </p:nvSpPr>
        <p:spPr>
          <a:xfrm>
            <a:off x="457200" y="939800"/>
            <a:ext cx="5775325" cy="396875"/>
          </a:xfrm>
          <a:prstGeom prst="rect">
            <a:avLst/>
          </a:prstGeom>
          <a:noFill/>
        </p:spPr>
        <p:txBody>
          <a:bodyPr wrap="none" lIns="0" tIns="0" rIns="0" bIns="0">
            <a:noAutofit/>
          </a:bodyPr>
          <a:lstStyle/>
          <a:p>
            <a:pPr algn="l"/>
            <a:r>
              <a:rPr sz="2500" dirty="0">
                <a:solidFill>
                  <a:srgbClr val="1F1F1F"/>
                </a:solidFill>
                <a:latin typeface="Helvetica Neue Light"/>
              </a:rPr>
              <a:t>Trade Ticket Experience Design Sprint</a:t>
            </a:r>
          </a:p>
        </p:txBody>
      </p:sp>
      <p:sp>
        <p:nvSpPr>
          <p:cNvPr id="11" name="TextBox 10"/>
          <p:cNvSpPr txBox="1"/>
          <p:nvPr/>
        </p:nvSpPr>
        <p:spPr>
          <a:xfrm>
            <a:off x="5157978" y="6901178"/>
            <a:ext cx="6619120" cy="1366011"/>
          </a:xfrm>
          <a:prstGeom prst="rect">
            <a:avLst/>
          </a:prstGeom>
          <a:noFill/>
        </p:spPr>
        <p:txBody>
          <a:bodyPr wrap="none" lIns="0" tIns="0" rIns="0" bIns="0">
            <a:noAutofit/>
          </a:bodyPr>
          <a:lstStyle/>
          <a:p>
            <a:pPr algn="l">
              <a:lnSpc>
                <a:spcPts val="2800"/>
              </a:lnSpc>
            </a:pPr>
            <a:r>
              <a:rPr sz="2000" dirty="0">
                <a:solidFill>
                  <a:srgbClr val="FFFFFF"/>
                </a:solidFill>
                <a:latin typeface="Helvetica Neue Light"/>
              </a:rPr>
              <a:t>What we learned in testing</a:t>
            </a:r>
          </a:p>
          <a:p>
            <a:pPr algn="l">
              <a:lnSpc>
                <a:spcPts val="2800"/>
              </a:lnSpc>
            </a:pPr>
            <a:r>
              <a:rPr sz="2000" dirty="0">
                <a:solidFill>
                  <a:srgbClr val="FFFFFF"/>
                </a:solidFill>
                <a:latin typeface="Helvetica Neue Thin"/>
              </a:rPr>
              <a:t>• Tabs vs. list view: people preferred “list view”</a:t>
            </a:r>
          </a:p>
          <a:p>
            <a:pPr algn="l">
              <a:lnSpc>
                <a:spcPts val="2800"/>
              </a:lnSpc>
            </a:pPr>
            <a:r>
              <a:rPr sz="2000" dirty="0">
                <a:solidFill>
                  <a:srgbClr val="FFFFFF"/>
                </a:solidFill>
                <a:latin typeface="Helvetica Neue Thin"/>
              </a:rPr>
              <a:t>• The icon position next to “Action” scored high</a:t>
            </a:r>
          </a:p>
          <a:p>
            <a:pPr algn="l">
              <a:lnSpc>
                <a:spcPts val="2800"/>
              </a:lnSpc>
            </a:pPr>
            <a:r>
              <a:rPr sz="2000" dirty="0">
                <a:solidFill>
                  <a:srgbClr val="FFFFFF"/>
                </a:solidFill>
                <a:latin typeface="Helvetica Neue Thin"/>
              </a:rPr>
              <a:t>• Conditional appearance of Quantity and Order sheets </a:t>
            </a:r>
          </a:p>
        </p:txBody>
      </p:sp>
      <p:sp>
        <p:nvSpPr>
          <p:cNvPr id="12" name="TextBox 11"/>
          <p:cNvSpPr txBox="1"/>
          <p:nvPr/>
        </p:nvSpPr>
        <p:spPr>
          <a:xfrm>
            <a:off x="5386578" y="8327135"/>
            <a:ext cx="2594296" cy="295655"/>
          </a:xfrm>
          <a:prstGeom prst="rect">
            <a:avLst/>
          </a:prstGeom>
          <a:noFill/>
        </p:spPr>
        <p:txBody>
          <a:bodyPr wrap="none" lIns="0" tIns="0" rIns="0" bIns="0">
            <a:noAutofit/>
          </a:bodyPr>
          <a:lstStyle/>
          <a:p>
            <a:pPr algn="l"/>
            <a:r>
              <a:rPr sz="2000" dirty="0">
                <a:solidFill>
                  <a:srgbClr val="FFFFFF"/>
                </a:solidFill>
                <a:latin typeface="Helvetica Neue Thin"/>
              </a:rPr>
              <a:t>makes sense to many</a:t>
            </a:r>
          </a:p>
        </p:txBody>
      </p:sp>
      <p:sp>
        <p:nvSpPr>
          <p:cNvPr id="13" name="TextBox 12"/>
          <p:cNvSpPr txBox="1"/>
          <p:nvPr/>
        </p:nvSpPr>
        <p:spPr>
          <a:xfrm>
            <a:off x="939335" y="3913884"/>
            <a:ext cx="1148601" cy="216560"/>
          </a:xfrm>
          <a:prstGeom prst="rect">
            <a:avLst/>
          </a:prstGeom>
          <a:noFill/>
        </p:spPr>
        <p:txBody>
          <a:bodyPr wrap="none" lIns="0" tIns="0" rIns="0" bIns="0">
            <a:noAutofit/>
          </a:bodyPr>
          <a:lstStyle/>
          <a:p>
            <a:pPr algn="l"/>
            <a:r>
              <a:rPr sz="1400" dirty="0">
                <a:solidFill>
                  <a:srgbClr val="000000"/>
                </a:solidFill>
                <a:latin typeface="Helvetica Neue Light"/>
              </a:rPr>
              <a:t>Test version 1</a:t>
            </a:r>
          </a:p>
        </p:txBody>
      </p:sp>
      <p:sp>
        <p:nvSpPr>
          <p:cNvPr id="14" name="TextBox 13"/>
          <p:cNvSpPr txBox="1"/>
          <p:nvPr/>
        </p:nvSpPr>
        <p:spPr>
          <a:xfrm>
            <a:off x="457200" y="1716529"/>
            <a:ext cx="6011910" cy="278434"/>
          </a:xfrm>
          <a:prstGeom prst="rect">
            <a:avLst/>
          </a:prstGeom>
          <a:noFill/>
        </p:spPr>
        <p:txBody>
          <a:bodyPr wrap="none" lIns="0" tIns="0" rIns="0" bIns="0">
            <a:noAutofit/>
          </a:bodyPr>
          <a:lstStyle/>
          <a:p>
            <a:pPr algn="l"/>
            <a:r>
              <a:rPr sz="1800" dirty="0">
                <a:solidFill>
                  <a:srgbClr val="000000"/>
                </a:solidFill>
                <a:latin typeface="Helvetica Neue Light"/>
              </a:rPr>
              <a:t>We designed an interface that drove users to be allowed </a:t>
            </a:r>
          </a:p>
        </p:txBody>
      </p:sp>
      <p:sp>
        <p:nvSpPr>
          <p:cNvPr id="15" name="TextBox 14"/>
          <p:cNvSpPr txBox="1"/>
          <p:nvPr/>
        </p:nvSpPr>
        <p:spPr>
          <a:xfrm>
            <a:off x="457200" y="2161029"/>
            <a:ext cx="5695818" cy="278434"/>
          </a:xfrm>
          <a:prstGeom prst="rect">
            <a:avLst/>
          </a:prstGeom>
          <a:noFill/>
        </p:spPr>
        <p:txBody>
          <a:bodyPr wrap="none" lIns="0" tIns="0" rIns="0" bIns="0">
            <a:noAutofit/>
          </a:bodyPr>
          <a:lstStyle/>
          <a:p>
            <a:pPr algn="l"/>
            <a:r>
              <a:rPr sz="1800" dirty="0">
                <a:solidFill>
                  <a:srgbClr val="000000"/>
                </a:solidFill>
                <a:latin typeface="Helvetica Neue Light"/>
              </a:rPr>
              <a:t>to see all the variations or Order Types regardless of </a:t>
            </a:r>
          </a:p>
        </p:txBody>
      </p:sp>
      <p:sp>
        <p:nvSpPr>
          <p:cNvPr id="16" name="TextBox 15"/>
          <p:cNvSpPr txBox="1"/>
          <p:nvPr/>
        </p:nvSpPr>
        <p:spPr>
          <a:xfrm>
            <a:off x="457200" y="2605529"/>
            <a:ext cx="5808176" cy="278434"/>
          </a:xfrm>
          <a:prstGeom prst="rect">
            <a:avLst/>
          </a:prstGeom>
          <a:noFill/>
        </p:spPr>
        <p:txBody>
          <a:bodyPr wrap="none" lIns="0" tIns="0" rIns="0" bIns="0">
            <a:noAutofit/>
          </a:bodyPr>
          <a:lstStyle/>
          <a:p>
            <a:pPr algn="l"/>
            <a:r>
              <a:rPr sz="1800" dirty="0">
                <a:solidFill>
                  <a:srgbClr val="000000"/>
                </a:solidFill>
                <a:latin typeface="Helvetica Neue Light"/>
              </a:rPr>
              <a:t>shares vs. dollars. We tested 2 variations, one as a list </a:t>
            </a:r>
          </a:p>
        </p:txBody>
      </p:sp>
      <p:sp>
        <p:nvSpPr>
          <p:cNvPr id="17" name="TextBox 16"/>
          <p:cNvSpPr txBox="1"/>
          <p:nvPr/>
        </p:nvSpPr>
        <p:spPr>
          <a:xfrm>
            <a:off x="457200" y="3050030"/>
            <a:ext cx="3021356" cy="278434"/>
          </a:xfrm>
          <a:prstGeom prst="rect">
            <a:avLst/>
          </a:prstGeom>
          <a:noFill/>
        </p:spPr>
        <p:txBody>
          <a:bodyPr wrap="none" lIns="0" tIns="0" rIns="0" bIns="0">
            <a:noAutofit/>
          </a:bodyPr>
          <a:lstStyle/>
          <a:p>
            <a:pPr algn="l"/>
            <a:r>
              <a:rPr sz="1800" dirty="0">
                <a:solidFill>
                  <a:srgbClr val="000000"/>
                </a:solidFill>
                <a:latin typeface="Helvetica Neue Light"/>
              </a:rPr>
              <a:t>view and another with tabs.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615495" y="2308797"/>
            <a:ext cx="3440951" cy="7444802"/>
          </a:xfrm>
          <a:prstGeom prst="rect">
            <a:avLst/>
          </a:prstGeom>
        </p:spPr>
      </p:pic>
      <p:pic>
        <p:nvPicPr>
          <p:cNvPr id="4" name="Picture 2" descr="image.png"/>
          <p:cNvPicPr>
            <a:picLocks noChangeAspect="1"/>
          </p:cNvPicPr>
          <p:nvPr/>
        </p:nvPicPr>
        <p:blipFill>
          <a:blip r:embed="rId4"/>
          <a:stretch>
            <a:fillRect/>
          </a:stretch>
        </p:blipFill>
        <p:spPr>
          <a:xfrm>
            <a:off x="9171499" y="1145184"/>
            <a:ext cx="3446802" cy="7470743"/>
          </a:xfrm>
          <a:prstGeom prst="rect">
            <a:avLst/>
          </a:prstGeom>
        </p:spPr>
      </p:pic>
      <p:sp>
        <p:nvSpPr>
          <p:cNvPr id="5" name="TextBox 4"/>
          <p:cNvSpPr txBox="1"/>
          <p:nvPr/>
        </p:nvSpPr>
        <p:spPr>
          <a:xfrm>
            <a:off x="3602362" y="8594002"/>
            <a:ext cx="1971423" cy="216560"/>
          </a:xfrm>
          <a:prstGeom prst="rect">
            <a:avLst/>
          </a:prstGeom>
          <a:noFill/>
        </p:spPr>
        <p:txBody>
          <a:bodyPr wrap="none" lIns="0" tIns="0" rIns="0" bIns="0">
            <a:noAutofit/>
          </a:bodyPr>
          <a:lstStyle/>
          <a:p>
            <a:pPr algn="l"/>
            <a:r>
              <a:rPr sz="1400" dirty="0">
                <a:solidFill>
                  <a:srgbClr val="000000"/>
                </a:solidFill>
                <a:latin typeface="Helvetica Neue Light"/>
              </a:rPr>
              <a:t>Final delivered solution</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7" name="TextBox 6"/>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8" name="TextBox 7"/>
          <p:cNvSpPr txBox="1"/>
          <p:nvPr/>
        </p:nvSpPr>
        <p:spPr>
          <a:xfrm>
            <a:off x="1057349" y="4962522"/>
            <a:ext cx="4081779" cy="2737611"/>
          </a:xfrm>
          <a:prstGeom prst="rect">
            <a:avLst/>
          </a:prstGeom>
          <a:noFill/>
        </p:spPr>
        <p:txBody>
          <a:bodyPr wrap="square" lIns="0" tIns="0" rIns="0" bIns="0">
            <a:noAutofit/>
          </a:bodyPr>
          <a:lstStyle/>
          <a:p>
            <a:pPr algn="l">
              <a:lnSpc>
                <a:spcPts val="2400"/>
              </a:lnSpc>
            </a:pPr>
            <a:r>
              <a:rPr sz="2000" dirty="0">
                <a:solidFill>
                  <a:srgbClr val="FFFFFF"/>
                </a:solidFill>
                <a:latin typeface="Helvetica Neue Light"/>
              </a:rPr>
              <a:t>What we learned in the testing</a:t>
            </a:r>
          </a:p>
          <a:p>
            <a:pPr algn="l">
              <a:lnSpc>
                <a:spcPts val="2400"/>
              </a:lnSpc>
            </a:pPr>
            <a:r>
              <a:rPr sz="2000" dirty="0">
                <a:solidFill>
                  <a:srgbClr val="FFFFFF"/>
                </a:solidFill>
                <a:latin typeface="Helvetica Neue Thin"/>
              </a:rPr>
              <a:t>• Order types are variable</a:t>
            </a:r>
          </a:p>
          <a:p>
            <a:pPr algn="l">
              <a:lnSpc>
                <a:spcPts val="2400"/>
              </a:lnSpc>
            </a:pPr>
            <a:r>
              <a:rPr sz="2000" dirty="0">
                <a:solidFill>
                  <a:srgbClr val="FFFFFF"/>
                </a:solidFill>
                <a:latin typeface="Helvetica Neue Thin"/>
              </a:rPr>
              <a:t>• Change of color and status give users idea of change in status and process</a:t>
            </a:r>
          </a:p>
        </p:txBody>
      </p:sp>
      <p:sp>
        <p:nvSpPr>
          <p:cNvPr id="9" name="TextBox 8"/>
          <p:cNvSpPr txBox="1"/>
          <p:nvPr/>
        </p:nvSpPr>
        <p:spPr>
          <a:xfrm>
            <a:off x="1057349" y="6490078"/>
            <a:ext cx="3801155" cy="1819655"/>
          </a:xfrm>
          <a:prstGeom prst="rect">
            <a:avLst/>
          </a:prstGeom>
          <a:noFill/>
        </p:spPr>
        <p:txBody>
          <a:bodyPr wrap="square" lIns="0" tIns="0" rIns="0" bIns="0">
            <a:noAutofit/>
          </a:bodyPr>
          <a:lstStyle/>
          <a:p>
            <a:pPr algn="l">
              <a:lnSpc>
                <a:spcPts val="2400"/>
              </a:lnSpc>
            </a:pPr>
            <a:r>
              <a:rPr sz="2000" dirty="0">
                <a:solidFill>
                  <a:srgbClr val="FFFFFF"/>
                </a:solidFill>
                <a:latin typeface="Helvetica Neue Thin"/>
              </a:rPr>
              <a:t>• Status immediacy is vital</a:t>
            </a:r>
          </a:p>
          <a:p>
            <a:pPr algn="l">
              <a:lnSpc>
                <a:spcPts val="2400"/>
              </a:lnSpc>
            </a:pPr>
            <a:r>
              <a:rPr sz="2000" dirty="0">
                <a:solidFill>
                  <a:srgbClr val="FFFFFF"/>
                </a:solidFill>
                <a:latin typeface="Helvetica Neue Thin"/>
              </a:rPr>
              <a:t>• Cleaner interface </a:t>
            </a:r>
          </a:p>
          <a:p>
            <a:pPr algn="l">
              <a:lnSpc>
                <a:spcPts val="2400"/>
              </a:lnSpc>
            </a:pPr>
            <a:r>
              <a:rPr sz="2000" dirty="0">
                <a:solidFill>
                  <a:srgbClr val="FFFFFF"/>
                </a:solidFill>
                <a:latin typeface="Helvetica Neue Thin"/>
              </a:rPr>
              <a:t>• Ability to quickly transact</a:t>
            </a:r>
          </a:p>
          <a:p>
            <a:pPr algn="l">
              <a:lnSpc>
                <a:spcPts val="2400"/>
              </a:lnSpc>
            </a:pPr>
            <a:r>
              <a:rPr sz="2000" dirty="0">
                <a:solidFill>
                  <a:srgbClr val="FFFFFF"/>
                </a:solidFill>
                <a:latin typeface="Helvetica Neue Thin"/>
              </a:rPr>
              <a:t>• Watchlist alerts actionable</a:t>
            </a:r>
          </a:p>
        </p:txBody>
      </p:sp>
      <p:sp>
        <p:nvSpPr>
          <p:cNvPr id="10" name="TextBox 9"/>
          <p:cNvSpPr txBox="1"/>
          <p:nvPr/>
        </p:nvSpPr>
        <p:spPr>
          <a:xfrm>
            <a:off x="887804" y="2929379"/>
            <a:ext cx="4411260" cy="278434"/>
          </a:xfrm>
          <a:prstGeom prst="rect">
            <a:avLst/>
          </a:prstGeom>
          <a:noFill/>
        </p:spPr>
        <p:txBody>
          <a:bodyPr wrap="none" lIns="0" tIns="0" rIns="0" bIns="0">
            <a:noAutofit/>
          </a:bodyPr>
          <a:lstStyle/>
          <a:p>
            <a:pPr algn="l"/>
            <a:r>
              <a:rPr sz="1800" dirty="0">
                <a:solidFill>
                  <a:srgbClr val="000000"/>
                </a:solidFill>
                <a:latin typeface="Helvetica Neue Light"/>
              </a:rPr>
              <a:t>If a user needs to edit the order ticket all </a:t>
            </a:r>
          </a:p>
        </p:txBody>
      </p:sp>
      <p:sp>
        <p:nvSpPr>
          <p:cNvPr id="11" name="TextBox 10"/>
          <p:cNvSpPr txBox="1"/>
          <p:nvPr/>
        </p:nvSpPr>
        <p:spPr>
          <a:xfrm>
            <a:off x="887804" y="3373880"/>
            <a:ext cx="3635120" cy="278434"/>
          </a:xfrm>
          <a:prstGeom prst="rect">
            <a:avLst/>
          </a:prstGeom>
          <a:noFill/>
        </p:spPr>
        <p:txBody>
          <a:bodyPr wrap="none" lIns="0" tIns="0" rIns="0" bIns="0">
            <a:noAutofit/>
          </a:bodyPr>
          <a:lstStyle/>
          <a:p>
            <a:pPr algn="l"/>
            <a:r>
              <a:rPr sz="1800" dirty="0">
                <a:solidFill>
                  <a:srgbClr val="000000"/>
                </a:solidFill>
                <a:latin typeface="Helvetica Neue Light"/>
              </a:rPr>
              <a:t>the fields are available for editing.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8065580" y="3386094"/>
            <a:ext cx="3581113" cy="6366423"/>
          </a:xfrm>
          <a:prstGeom prst="rect">
            <a:avLst/>
          </a:prstGeom>
        </p:spPr>
      </p:pic>
      <p:sp>
        <p:nvSpPr>
          <p:cNvPr id="4" name="TextBox 3"/>
          <p:cNvSpPr txBox="1"/>
          <p:nvPr/>
        </p:nvSpPr>
        <p:spPr>
          <a:xfrm>
            <a:off x="457200" y="738884"/>
            <a:ext cx="9479618" cy="216560"/>
          </a:xfrm>
          <a:prstGeom prst="rect">
            <a:avLst/>
          </a:prstGeom>
          <a:noFill/>
        </p:spPr>
        <p:txBody>
          <a:bodyPr wrap="none" lIns="0" tIns="0" rIns="0" bIns="0">
            <a:noAutofit/>
          </a:bodyPr>
          <a:lstStyle/>
          <a:p>
            <a:pPr algn="l"/>
            <a:r>
              <a:rPr sz="1400" dirty="0">
                <a:solidFill>
                  <a:srgbClr val="000000"/>
                </a:solidFill>
                <a:latin typeface="Helvetica Neue Light"/>
              </a:rPr>
              <a:t>End-to-end design process, including Design Thinking for a B2B small business management mobile application</a:t>
            </a:r>
          </a:p>
        </p:txBody>
      </p:sp>
      <p:sp>
        <p:nvSpPr>
          <p:cNvPr id="5" name="TextBox 4"/>
          <p:cNvSpPr txBox="1"/>
          <p:nvPr/>
        </p:nvSpPr>
        <p:spPr>
          <a:xfrm>
            <a:off x="457200" y="1357628"/>
            <a:ext cx="3382800" cy="742492"/>
          </a:xfrm>
          <a:prstGeom prst="rect">
            <a:avLst/>
          </a:prstGeom>
          <a:noFill/>
        </p:spPr>
        <p:txBody>
          <a:bodyPr wrap="none" lIns="0" tIns="0" rIns="0" bIns="0">
            <a:noAutofit/>
          </a:bodyPr>
          <a:lstStyle/>
          <a:p>
            <a:pPr algn="l"/>
            <a:r>
              <a:rPr sz="4800" dirty="0">
                <a:solidFill>
                  <a:srgbClr val="000000"/>
                </a:solidFill>
                <a:latin typeface="Helvetica Neue Light"/>
              </a:rPr>
              <a:t>Wells Fargo</a:t>
            </a:r>
          </a:p>
        </p:txBody>
      </p:sp>
      <p:sp>
        <p:nvSpPr>
          <p:cNvPr id="6" name="TextBox 5"/>
          <p:cNvSpPr txBox="1"/>
          <p:nvPr/>
        </p:nvSpPr>
        <p:spPr>
          <a:xfrm>
            <a:off x="457200" y="2336544"/>
            <a:ext cx="2955848" cy="371246"/>
          </a:xfrm>
          <a:prstGeom prst="rect">
            <a:avLst/>
          </a:prstGeom>
          <a:noFill/>
        </p:spPr>
        <p:txBody>
          <a:bodyPr wrap="none" lIns="0" tIns="0" rIns="0" bIns="0">
            <a:noAutofit/>
          </a:bodyPr>
          <a:lstStyle/>
          <a:p>
            <a:pPr algn="l"/>
            <a:r>
              <a:rPr sz="2400" dirty="0">
                <a:solidFill>
                  <a:srgbClr val="000000"/>
                </a:solidFill>
                <a:latin typeface="Helvetica Neue Light"/>
              </a:rPr>
              <a:t>mySMALLBUSINESS</a:t>
            </a:r>
          </a:p>
        </p:txBody>
      </p:sp>
      <p:sp>
        <p:nvSpPr>
          <p:cNvPr id="7" name="TextBox 6"/>
          <p:cNvSpPr txBox="1"/>
          <p:nvPr/>
        </p:nvSpPr>
        <p:spPr>
          <a:xfrm>
            <a:off x="457200" y="4323841"/>
            <a:ext cx="6376550" cy="1284273"/>
          </a:xfrm>
          <a:prstGeom prst="rect">
            <a:avLst/>
          </a:prstGeom>
          <a:noFill/>
        </p:spPr>
        <p:txBody>
          <a:bodyPr wrap="square" lIns="0" tIns="0" rIns="0" bIns="0">
            <a:noAutofit/>
          </a:bodyPr>
          <a:lstStyle/>
          <a:p>
            <a:pPr algn="l">
              <a:lnSpc>
                <a:spcPts val="3500"/>
              </a:lnSpc>
            </a:pPr>
            <a:r>
              <a:rPr sz="1800" dirty="0">
                <a:solidFill>
                  <a:srgbClr val="000000"/>
                </a:solidFill>
                <a:latin typeface="Helvetica Neue Light"/>
              </a:rPr>
              <a:t>Helping Wells Fargo small business owners save money by reducing inefficiency, educating themselves on optimizing their businesses and removing risk vulnerability in their operations</a:t>
            </a:r>
          </a:p>
        </p:txBody>
      </p:sp>
      <p:sp>
        <p:nvSpPr>
          <p:cNvPr id="10" name="TextBox 9"/>
          <p:cNvSpPr txBox="1"/>
          <p:nvPr/>
        </p:nvSpPr>
        <p:spPr>
          <a:xfrm>
            <a:off x="1800152" y="7044435"/>
            <a:ext cx="4123858"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“I have too much to do, and I’m on the road all the time, so a mobile app </a:t>
            </a:r>
          </a:p>
        </p:txBody>
      </p:sp>
      <p:sp>
        <p:nvSpPr>
          <p:cNvPr id="11" name="TextBox 10"/>
          <p:cNvSpPr txBox="1"/>
          <p:nvPr/>
        </p:nvSpPr>
        <p:spPr>
          <a:xfrm>
            <a:off x="2722637" y="7654035"/>
            <a:ext cx="2511999" cy="295655"/>
          </a:xfrm>
          <a:prstGeom prst="rect">
            <a:avLst/>
          </a:prstGeom>
          <a:noFill/>
        </p:spPr>
        <p:txBody>
          <a:bodyPr wrap="none" lIns="0" tIns="0" rIns="0" bIns="0">
            <a:noAutofit/>
          </a:bodyPr>
          <a:lstStyle/>
          <a:p>
            <a:pPr algn="l"/>
            <a:r>
              <a:rPr sz="2000" dirty="0">
                <a:solidFill>
                  <a:srgbClr val="000000"/>
                </a:solidFill>
                <a:latin typeface="Helvetica Neue Thin"/>
              </a:rPr>
              <a:t>would be awesome”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Wells Fargo mySMALLBUSINESS</a:t>
            </a:r>
          </a:p>
        </p:txBody>
      </p:sp>
      <p:sp>
        <p:nvSpPr>
          <p:cNvPr id="4" name="TextBox 3"/>
          <p:cNvSpPr txBox="1"/>
          <p:nvPr/>
        </p:nvSpPr>
        <p:spPr>
          <a:xfrm>
            <a:off x="457200" y="5570980"/>
            <a:ext cx="1592368" cy="278434"/>
          </a:xfrm>
          <a:prstGeom prst="rect">
            <a:avLst/>
          </a:prstGeom>
          <a:noFill/>
        </p:spPr>
        <p:txBody>
          <a:bodyPr wrap="none" lIns="0" tIns="0" rIns="0" bIns="0">
            <a:noAutofit/>
          </a:bodyPr>
          <a:lstStyle/>
          <a:p>
            <a:pPr algn="l"/>
            <a:r>
              <a:rPr sz="1800" dirty="0">
                <a:solidFill>
                  <a:srgbClr val="000000"/>
                </a:solidFill>
                <a:latin typeface="Helvetica Neue Light"/>
              </a:rPr>
              <a:t>The problems </a:t>
            </a:r>
          </a:p>
        </p:txBody>
      </p:sp>
      <p:sp>
        <p:nvSpPr>
          <p:cNvPr id="5" name="TextBox 4"/>
          <p:cNvSpPr txBox="1"/>
          <p:nvPr/>
        </p:nvSpPr>
        <p:spPr>
          <a:xfrm>
            <a:off x="457200" y="5886753"/>
            <a:ext cx="6594971" cy="1434388"/>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Small business owners who are also bank customers don’t have a dedicated integrated mobile application to better understand their business finances. They need to account for their spending, track business expenses, set budgetary plans and goals, and view their quarterly budgets. </a:t>
            </a:r>
          </a:p>
        </p:txBody>
      </p:sp>
      <p:sp>
        <p:nvSpPr>
          <p:cNvPr id="9" name="TextBox 8"/>
          <p:cNvSpPr txBox="1"/>
          <p:nvPr/>
        </p:nvSpPr>
        <p:spPr>
          <a:xfrm>
            <a:off x="457200" y="2795776"/>
            <a:ext cx="3652210" cy="340309"/>
          </a:xfrm>
          <a:prstGeom prst="rect">
            <a:avLst/>
          </a:prstGeom>
          <a:noFill/>
        </p:spPr>
        <p:txBody>
          <a:bodyPr wrap="none" lIns="0" tIns="0" rIns="0" bIns="0">
            <a:noAutofit/>
          </a:bodyPr>
          <a:lstStyle/>
          <a:p>
            <a:pPr algn="l"/>
            <a:r>
              <a:rPr sz="2200" dirty="0">
                <a:solidFill>
                  <a:srgbClr val="000000"/>
                </a:solidFill>
                <a:latin typeface="Helvetica Neue Light"/>
              </a:rPr>
              <a:t>What’s mySMALLBUSINESS?</a:t>
            </a:r>
          </a:p>
        </p:txBody>
      </p:sp>
      <p:sp>
        <p:nvSpPr>
          <p:cNvPr id="10" name="TextBox 9"/>
          <p:cNvSpPr txBox="1"/>
          <p:nvPr/>
        </p:nvSpPr>
        <p:spPr>
          <a:xfrm>
            <a:off x="457200" y="3168140"/>
            <a:ext cx="6302890" cy="1982215"/>
          </a:xfrm>
          <a:prstGeom prst="rect">
            <a:avLst/>
          </a:prstGeom>
          <a:noFill/>
        </p:spPr>
        <p:txBody>
          <a:bodyPr wrap="square" lIns="0" tIns="0" rIns="0" bIns="0">
            <a:noAutofit/>
          </a:bodyPr>
          <a:lstStyle/>
          <a:p>
            <a:pPr algn="l">
              <a:lnSpc>
                <a:spcPts val="3200"/>
              </a:lnSpc>
            </a:pPr>
            <a:r>
              <a:rPr sz="2000" dirty="0">
                <a:solidFill>
                  <a:srgbClr val="000000"/>
                </a:solidFill>
                <a:latin typeface="Helvetica Neue Thin"/>
              </a:rPr>
              <a:t>An AI-supported guidance-based application that allows small business owners to monitor and track spending and expenses, optimize business plans and if needed, be educated on the subject of small business finances and business operation. </a:t>
            </a:r>
          </a:p>
        </p:txBody>
      </p:sp>
      <p:sp>
        <p:nvSpPr>
          <p:cNvPr id="15" name="TextBox 14"/>
          <p:cNvSpPr txBox="1"/>
          <p:nvPr/>
        </p:nvSpPr>
        <p:spPr>
          <a:xfrm>
            <a:off x="8978900" y="22181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16" name="TextBox 15"/>
          <p:cNvSpPr txBox="1"/>
          <p:nvPr/>
        </p:nvSpPr>
        <p:spPr>
          <a:xfrm>
            <a:off x="8978900" y="2627779"/>
            <a:ext cx="1826410" cy="266090"/>
          </a:xfrm>
          <a:prstGeom prst="rect">
            <a:avLst/>
          </a:prstGeom>
          <a:noFill/>
        </p:spPr>
        <p:txBody>
          <a:bodyPr wrap="none" lIns="0" tIns="0" rIns="0" bIns="0">
            <a:noAutofit/>
          </a:bodyPr>
          <a:lstStyle/>
          <a:p>
            <a:pPr algn="l"/>
            <a:r>
              <a:rPr sz="1800" dirty="0">
                <a:solidFill>
                  <a:srgbClr val="FFFFFF"/>
                </a:solidFill>
                <a:latin typeface="Helvetica Neue Thin"/>
              </a:rPr>
              <a:t>•  Small Business </a:t>
            </a:r>
          </a:p>
        </p:txBody>
      </p:sp>
      <p:sp>
        <p:nvSpPr>
          <p:cNvPr id="17" name="TextBox 16"/>
          <p:cNvSpPr txBox="1"/>
          <p:nvPr/>
        </p:nvSpPr>
        <p:spPr>
          <a:xfrm>
            <a:off x="9120171" y="2907179"/>
            <a:ext cx="871703" cy="266090"/>
          </a:xfrm>
          <a:prstGeom prst="rect">
            <a:avLst/>
          </a:prstGeom>
          <a:noFill/>
        </p:spPr>
        <p:txBody>
          <a:bodyPr wrap="none" lIns="0" tIns="0" rIns="0" bIns="0">
            <a:noAutofit/>
          </a:bodyPr>
          <a:lstStyle/>
          <a:p>
            <a:pPr algn="l"/>
            <a:r>
              <a:rPr sz="1800" dirty="0">
                <a:solidFill>
                  <a:srgbClr val="FFFFFF"/>
                </a:solidFill>
                <a:latin typeface="Helvetica Neue Thin"/>
              </a:rPr>
              <a:t>Owners</a:t>
            </a:r>
          </a:p>
        </p:txBody>
      </p:sp>
      <p:sp>
        <p:nvSpPr>
          <p:cNvPr id="18" name="TextBox 17"/>
          <p:cNvSpPr txBox="1"/>
          <p:nvPr/>
        </p:nvSpPr>
        <p:spPr>
          <a:xfrm>
            <a:off x="8978900" y="3288181"/>
            <a:ext cx="1733585" cy="266090"/>
          </a:xfrm>
          <a:prstGeom prst="rect">
            <a:avLst/>
          </a:prstGeom>
          <a:noFill/>
        </p:spPr>
        <p:txBody>
          <a:bodyPr wrap="none" lIns="0" tIns="0" rIns="0" bIns="0">
            <a:noAutofit/>
          </a:bodyPr>
          <a:lstStyle/>
          <a:p>
            <a:pPr algn="l"/>
            <a:r>
              <a:rPr sz="1800" dirty="0">
                <a:solidFill>
                  <a:srgbClr val="FFFFFF"/>
                </a:solidFill>
                <a:latin typeface="Helvetica Neue Thin"/>
              </a:rPr>
              <a:t>•  Admin support</a:t>
            </a:r>
          </a:p>
        </p:txBody>
      </p:sp>
      <p:sp>
        <p:nvSpPr>
          <p:cNvPr id="19" name="TextBox 18"/>
          <p:cNvSpPr txBox="1"/>
          <p:nvPr/>
        </p:nvSpPr>
        <p:spPr>
          <a:xfrm>
            <a:off x="7874001" y="5589775"/>
            <a:ext cx="807046" cy="247497"/>
          </a:xfrm>
          <a:prstGeom prst="rect">
            <a:avLst/>
          </a:prstGeom>
          <a:noFill/>
        </p:spPr>
        <p:txBody>
          <a:bodyPr wrap="none" lIns="0" tIns="0" rIns="0" bIns="0">
            <a:noAutofit/>
          </a:bodyPr>
          <a:lstStyle/>
          <a:p>
            <a:pPr algn="l"/>
            <a:r>
              <a:rPr sz="1600" dirty="0">
                <a:solidFill>
                  <a:srgbClr val="000000"/>
                </a:solidFill>
                <a:latin typeface="Helvetica Neue Light"/>
              </a:rPr>
              <a:t>My Role</a:t>
            </a:r>
          </a:p>
        </p:txBody>
      </p:sp>
      <p:sp>
        <p:nvSpPr>
          <p:cNvPr id="20" name="TextBox 19"/>
          <p:cNvSpPr txBox="1"/>
          <p:nvPr/>
        </p:nvSpPr>
        <p:spPr>
          <a:xfrm>
            <a:off x="7874001" y="5920432"/>
            <a:ext cx="4131784" cy="206959"/>
          </a:xfrm>
          <a:prstGeom prst="rect">
            <a:avLst/>
          </a:prstGeom>
          <a:noFill/>
        </p:spPr>
        <p:txBody>
          <a:bodyPr wrap="none" lIns="0" tIns="0" rIns="0" bIns="0">
            <a:noAutofit/>
          </a:bodyPr>
          <a:lstStyle/>
          <a:p>
            <a:pPr algn="l"/>
            <a:r>
              <a:rPr sz="1400" dirty="0">
                <a:solidFill>
                  <a:srgbClr val="000000"/>
                </a:solidFill>
                <a:latin typeface="Helvetica Neue Thin"/>
              </a:rPr>
              <a:t>• I led the project team utilizing the support of 2  </a:t>
            </a:r>
          </a:p>
        </p:txBody>
      </p:sp>
      <p:sp>
        <p:nvSpPr>
          <p:cNvPr id="21" name="TextBox 20"/>
          <p:cNvSpPr txBox="1"/>
          <p:nvPr/>
        </p:nvSpPr>
        <p:spPr>
          <a:xfrm>
            <a:off x="8102601" y="6225232"/>
            <a:ext cx="1201793" cy="206959"/>
          </a:xfrm>
          <a:prstGeom prst="rect">
            <a:avLst/>
          </a:prstGeom>
          <a:noFill/>
        </p:spPr>
        <p:txBody>
          <a:bodyPr wrap="none" lIns="0" tIns="0" rIns="0" bIns="0">
            <a:noAutofit/>
          </a:bodyPr>
          <a:lstStyle/>
          <a:p>
            <a:pPr algn="l"/>
            <a:r>
              <a:rPr sz="1400" dirty="0">
                <a:solidFill>
                  <a:srgbClr val="000000"/>
                </a:solidFill>
                <a:latin typeface="Helvetica Neue Thin"/>
              </a:rPr>
              <a:t>UX designers.</a:t>
            </a:r>
          </a:p>
        </p:txBody>
      </p:sp>
      <p:sp>
        <p:nvSpPr>
          <p:cNvPr id="22" name="TextBox 21"/>
          <p:cNvSpPr txBox="1"/>
          <p:nvPr/>
        </p:nvSpPr>
        <p:spPr>
          <a:xfrm>
            <a:off x="7874001" y="6530032"/>
            <a:ext cx="4776650" cy="206959"/>
          </a:xfrm>
          <a:prstGeom prst="rect">
            <a:avLst/>
          </a:prstGeom>
          <a:noFill/>
        </p:spPr>
        <p:txBody>
          <a:bodyPr wrap="none" lIns="0" tIns="0" rIns="0" bIns="0">
            <a:noAutofit/>
          </a:bodyPr>
          <a:lstStyle/>
          <a:p>
            <a:pPr algn="l"/>
            <a:r>
              <a:rPr sz="1400" dirty="0">
                <a:solidFill>
                  <a:srgbClr val="000000"/>
                </a:solidFill>
                <a:latin typeface="Helvetica Neue Thin"/>
              </a:rPr>
              <a:t>• I was responsible for managing the discovery process, </a:t>
            </a:r>
          </a:p>
        </p:txBody>
      </p:sp>
      <p:sp>
        <p:nvSpPr>
          <p:cNvPr id="23" name="TextBox 22"/>
          <p:cNvSpPr txBox="1"/>
          <p:nvPr/>
        </p:nvSpPr>
        <p:spPr>
          <a:xfrm>
            <a:off x="8102601" y="6834832"/>
            <a:ext cx="4715259" cy="206959"/>
          </a:xfrm>
          <a:prstGeom prst="rect">
            <a:avLst/>
          </a:prstGeom>
          <a:noFill/>
        </p:spPr>
        <p:txBody>
          <a:bodyPr wrap="none" lIns="0" tIns="0" rIns="0" bIns="0">
            <a:noAutofit/>
          </a:bodyPr>
          <a:lstStyle/>
          <a:p>
            <a:pPr algn="l"/>
            <a:r>
              <a:rPr sz="1400" dirty="0">
                <a:solidFill>
                  <a:srgbClr val="000000"/>
                </a:solidFill>
                <a:latin typeface="Helvetica Neue Thin"/>
              </a:rPr>
              <a:t>including research, strategy and overall hands-on design </a:t>
            </a:r>
          </a:p>
        </p:txBody>
      </p:sp>
      <p:sp>
        <p:nvSpPr>
          <p:cNvPr id="24" name="TextBox 23"/>
          <p:cNvSpPr txBox="1"/>
          <p:nvPr/>
        </p:nvSpPr>
        <p:spPr>
          <a:xfrm>
            <a:off x="8102601" y="7139632"/>
            <a:ext cx="2328011" cy="206959"/>
          </a:xfrm>
          <a:prstGeom prst="rect">
            <a:avLst/>
          </a:prstGeom>
          <a:noFill/>
        </p:spPr>
        <p:txBody>
          <a:bodyPr wrap="none" lIns="0" tIns="0" rIns="0" bIns="0">
            <a:noAutofit/>
          </a:bodyPr>
          <a:lstStyle/>
          <a:p>
            <a:pPr algn="l"/>
            <a:r>
              <a:rPr sz="1400" dirty="0">
                <a:solidFill>
                  <a:srgbClr val="000000"/>
                </a:solidFill>
                <a:latin typeface="Helvetica Neue Thin"/>
              </a:rPr>
              <a:t>of the material and artifacts. </a:t>
            </a:r>
          </a:p>
        </p:txBody>
      </p:sp>
      <p:sp>
        <p:nvSpPr>
          <p:cNvPr id="25" name="TextBox 24"/>
          <p:cNvSpPr txBox="1"/>
          <p:nvPr/>
        </p:nvSpPr>
        <p:spPr>
          <a:xfrm>
            <a:off x="7874001" y="7444432"/>
            <a:ext cx="4754184" cy="206959"/>
          </a:xfrm>
          <a:prstGeom prst="rect">
            <a:avLst/>
          </a:prstGeom>
          <a:noFill/>
        </p:spPr>
        <p:txBody>
          <a:bodyPr wrap="none" lIns="0" tIns="0" rIns="0" bIns="0">
            <a:noAutofit/>
          </a:bodyPr>
          <a:lstStyle/>
          <a:p>
            <a:pPr algn="l"/>
            <a:r>
              <a:rPr sz="1400" dirty="0">
                <a:solidFill>
                  <a:srgbClr val="000000"/>
                </a:solidFill>
                <a:latin typeface="Helvetica Neue Thin"/>
              </a:rPr>
              <a:t>• I led the work on all deliverables and artifacts in Figma </a:t>
            </a:r>
          </a:p>
        </p:txBody>
      </p:sp>
      <p:sp>
        <p:nvSpPr>
          <p:cNvPr id="26" name="TextBox 25"/>
          <p:cNvSpPr txBox="1"/>
          <p:nvPr/>
        </p:nvSpPr>
        <p:spPr>
          <a:xfrm>
            <a:off x="8102601" y="7749232"/>
            <a:ext cx="4621362" cy="206959"/>
          </a:xfrm>
          <a:prstGeom prst="rect">
            <a:avLst/>
          </a:prstGeom>
          <a:noFill/>
        </p:spPr>
        <p:txBody>
          <a:bodyPr wrap="none" lIns="0" tIns="0" rIns="0" bIns="0">
            <a:noAutofit/>
          </a:bodyPr>
          <a:lstStyle/>
          <a:p>
            <a:pPr algn="l"/>
            <a:r>
              <a:rPr sz="1400" dirty="0">
                <a:solidFill>
                  <a:srgbClr val="000000"/>
                </a:solidFill>
                <a:latin typeface="Helvetica Neue Thin"/>
              </a:rPr>
              <a:t>using Lean UX and usability testing, presenting these to </a:t>
            </a:r>
          </a:p>
        </p:txBody>
      </p:sp>
      <p:sp>
        <p:nvSpPr>
          <p:cNvPr id="27" name="TextBox 26"/>
          <p:cNvSpPr txBox="1"/>
          <p:nvPr/>
        </p:nvSpPr>
        <p:spPr>
          <a:xfrm>
            <a:off x="8102601" y="8054032"/>
            <a:ext cx="2640630" cy="206959"/>
          </a:xfrm>
          <a:prstGeom prst="rect">
            <a:avLst/>
          </a:prstGeom>
          <a:noFill/>
        </p:spPr>
        <p:txBody>
          <a:bodyPr wrap="none" lIns="0" tIns="0" rIns="0" bIns="0">
            <a:noAutofit/>
          </a:bodyPr>
          <a:lstStyle/>
          <a:p>
            <a:pPr algn="l"/>
            <a:r>
              <a:rPr sz="1400" dirty="0">
                <a:solidFill>
                  <a:srgbClr val="000000"/>
                </a:solidFill>
                <a:latin typeface="Helvetica Neue Thin"/>
              </a:rPr>
              <a:t>the client and key stakeholders.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62000" y="633474"/>
            <a:ext cx="6534704" cy="371246"/>
          </a:xfrm>
          <a:prstGeom prst="rect">
            <a:avLst/>
          </a:prstGeom>
          <a:noFill/>
        </p:spPr>
        <p:txBody>
          <a:bodyPr wrap="none" lIns="0" tIns="0" rIns="0" bIns="0">
            <a:noAutofit/>
          </a:bodyPr>
          <a:lstStyle/>
          <a:p>
            <a:pPr algn="l"/>
            <a:r>
              <a:rPr sz="2400" dirty="0">
                <a:solidFill>
                  <a:srgbClr val="FFFFFF"/>
                </a:solidFill>
                <a:latin typeface="Helvetica Neue"/>
              </a:rPr>
              <a:t>How we worked with data scientists using AI </a:t>
            </a:r>
          </a:p>
        </p:txBody>
      </p:sp>
      <p:sp>
        <p:nvSpPr>
          <p:cNvPr id="4" name="TextBox 3"/>
          <p:cNvSpPr txBox="1"/>
          <p:nvPr/>
        </p:nvSpPr>
        <p:spPr>
          <a:xfrm>
            <a:off x="736600" y="1468879"/>
            <a:ext cx="4019524" cy="278434"/>
          </a:xfrm>
          <a:prstGeom prst="rect">
            <a:avLst/>
          </a:prstGeom>
          <a:noFill/>
        </p:spPr>
        <p:txBody>
          <a:bodyPr wrap="none" lIns="0" tIns="0" rIns="0" bIns="0">
            <a:noAutofit/>
          </a:bodyPr>
          <a:lstStyle/>
          <a:p>
            <a:pPr algn="l"/>
            <a:r>
              <a:rPr sz="1800" dirty="0">
                <a:solidFill>
                  <a:srgbClr val="FFFFFF"/>
                </a:solidFill>
                <a:latin typeface="Helvetica Neue"/>
              </a:rPr>
              <a:t>Identifying User Needs and Behavior</a:t>
            </a:r>
          </a:p>
        </p:txBody>
      </p:sp>
      <p:sp>
        <p:nvSpPr>
          <p:cNvPr id="5" name="TextBox 4"/>
          <p:cNvSpPr txBox="1"/>
          <p:nvPr/>
        </p:nvSpPr>
        <p:spPr>
          <a:xfrm>
            <a:off x="736600" y="1891179"/>
            <a:ext cx="5685944" cy="266090"/>
          </a:xfrm>
          <a:prstGeom prst="rect">
            <a:avLst/>
          </a:prstGeom>
          <a:noFill/>
        </p:spPr>
        <p:txBody>
          <a:bodyPr wrap="none" lIns="0" tIns="0" rIns="0" bIns="0">
            <a:noAutofit/>
          </a:bodyPr>
          <a:lstStyle/>
          <a:p>
            <a:pPr algn="l"/>
            <a:r>
              <a:rPr sz="1800" dirty="0">
                <a:solidFill>
                  <a:srgbClr val="FFFFFF"/>
                </a:solidFill>
                <a:latin typeface="Helvetica Neue Thin"/>
              </a:rPr>
              <a:t>• UX Designers: Used AI tools to analyze user behavior, </a:t>
            </a:r>
          </a:p>
        </p:txBody>
      </p:sp>
      <p:sp>
        <p:nvSpPr>
          <p:cNvPr id="6" name="TextBox 5"/>
          <p:cNvSpPr txBox="1"/>
          <p:nvPr/>
        </p:nvSpPr>
        <p:spPr>
          <a:xfrm>
            <a:off x="965200" y="2183279"/>
            <a:ext cx="5576591"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preferences, and feedback. AI-driven sentiment analysis on user reviews provided insights into user satisfaction and pain points.</a:t>
            </a:r>
          </a:p>
        </p:txBody>
      </p:sp>
      <p:sp>
        <p:nvSpPr>
          <p:cNvPr id="7" name="TextBox 6"/>
          <p:cNvSpPr txBox="1"/>
          <p:nvPr/>
        </p:nvSpPr>
        <p:spPr>
          <a:xfrm>
            <a:off x="736600" y="3186581"/>
            <a:ext cx="6099801"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Applied machine learning algorithms to </a:t>
            </a:r>
          </a:p>
        </p:txBody>
      </p:sp>
      <p:sp>
        <p:nvSpPr>
          <p:cNvPr id="8" name="TextBox 7"/>
          <p:cNvSpPr txBox="1"/>
          <p:nvPr/>
        </p:nvSpPr>
        <p:spPr>
          <a:xfrm>
            <a:off x="965200" y="3478681"/>
            <a:ext cx="5372489"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analyze large datasets and uncover patterns or trends that informed UX design. </a:t>
            </a:r>
          </a:p>
        </p:txBody>
      </p:sp>
      <p:sp>
        <p:nvSpPr>
          <p:cNvPr id="9" name="TextBox 8"/>
          <p:cNvSpPr txBox="1"/>
          <p:nvPr/>
        </p:nvSpPr>
        <p:spPr>
          <a:xfrm>
            <a:off x="736600" y="4770880"/>
            <a:ext cx="3993082" cy="278434"/>
          </a:xfrm>
          <a:prstGeom prst="rect">
            <a:avLst/>
          </a:prstGeom>
          <a:noFill/>
        </p:spPr>
        <p:txBody>
          <a:bodyPr wrap="none" lIns="0" tIns="0" rIns="0" bIns="0">
            <a:noAutofit/>
          </a:bodyPr>
          <a:lstStyle/>
          <a:p>
            <a:pPr algn="l"/>
            <a:r>
              <a:rPr sz="1800" dirty="0">
                <a:solidFill>
                  <a:srgbClr val="FFFFFF"/>
                </a:solidFill>
                <a:latin typeface="Helvetica Neue"/>
              </a:rPr>
              <a:t>Designing Personalized Experiences</a:t>
            </a:r>
          </a:p>
        </p:txBody>
      </p:sp>
      <p:sp>
        <p:nvSpPr>
          <p:cNvPr id="10" name="TextBox 9"/>
          <p:cNvSpPr txBox="1"/>
          <p:nvPr/>
        </p:nvSpPr>
        <p:spPr>
          <a:xfrm>
            <a:off x="736600" y="5193181"/>
            <a:ext cx="5934116" cy="266090"/>
          </a:xfrm>
          <a:prstGeom prst="rect">
            <a:avLst/>
          </a:prstGeom>
          <a:noFill/>
        </p:spPr>
        <p:txBody>
          <a:bodyPr wrap="none" lIns="0" tIns="0" rIns="0" bIns="0">
            <a:noAutofit/>
          </a:bodyPr>
          <a:lstStyle/>
          <a:p>
            <a:pPr algn="l"/>
            <a:r>
              <a:rPr sz="1800" dirty="0">
                <a:solidFill>
                  <a:srgbClr val="FFFFFF"/>
                </a:solidFill>
                <a:latin typeface="Helvetica Neue Thin"/>
              </a:rPr>
              <a:t>• UX Designers: Worked with AI to create personalized </a:t>
            </a:r>
          </a:p>
        </p:txBody>
      </p:sp>
      <p:sp>
        <p:nvSpPr>
          <p:cNvPr id="11" name="TextBox 10"/>
          <p:cNvSpPr txBox="1"/>
          <p:nvPr/>
        </p:nvSpPr>
        <p:spPr>
          <a:xfrm>
            <a:off x="965200" y="5485281"/>
            <a:ext cx="5377567"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user experiences. Used AI to tailor content, </a:t>
            </a:r>
          </a:p>
          <a:p>
            <a:pPr algn="l">
              <a:lnSpc>
                <a:spcPts val="2300"/>
              </a:lnSpc>
            </a:pPr>
            <a:r>
              <a:rPr sz="1800" dirty="0">
                <a:solidFill>
                  <a:srgbClr val="FFFFFF"/>
                </a:solidFill>
                <a:latin typeface="Helvetica Neue Thin"/>
              </a:rPr>
              <a:t>recommendations, interfaces based on individual user preferences.</a:t>
            </a:r>
          </a:p>
        </p:txBody>
      </p:sp>
      <p:sp>
        <p:nvSpPr>
          <p:cNvPr id="12" name="TextBox 11"/>
          <p:cNvSpPr txBox="1"/>
          <p:nvPr/>
        </p:nvSpPr>
        <p:spPr>
          <a:xfrm>
            <a:off x="736600" y="6488581"/>
            <a:ext cx="5682562"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Developed personalization models </a:t>
            </a:r>
          </a:p>
        </p:txBody>
      </p:sp>
      <p:sp>
        <p:nvSpPr>
          <p:cNvPr id="13" name="TextBox 12"/>
          <p:cNvSpPr txBox="1"/>
          <p:nvPr/>
        </p:nvSpPr>
        <p:spPr>
          <a:xfrm>
            <a:off x="965200" y="6780681"/>
            <a:ext cx="5294911" cy="850289"/>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that feed into UX design. They provided the data and insights necessary for creating these personalized experiences. </a:t>
            </a:r>
          </a:p>
        </p:txBody>
      </p:sp>
      <p:sp>
        <p:nvSpPr>
          <p:cNvPr id="14" name="TextBox 13"/>
          <p:cNvSpPr txBox="1"/>
          <p:nvPr/>
        </p:nvSpPr>
        <p:spPr>
          <a:xfrm>
            <a:off x="6692900" y="1468879"/>
            <a:ext cx="3180352" cy="278434"/>
          </a:xfrm>
          <a:prstGeom prst="rect">
            <a:avLst/>
          </a:prstGeom>
          <a:noFill/>
        </p:spPr>
        <p:txBody>
          <a:bodyPr wrap="none" lIns="0" tIns="0" rIns="0" bIns="0">
            <a:noAutofit/>
          </a:bodyPr>
          <a:lstStyle/>
          <a:p>
            <a:pPr algn="l"/>
            <a:r>
              <a:rPr sz="1800" dirty="0">
                <a:solidFill>
                  <a:srgbClr val="FFFFFF"/>
                </a:solidFill>
                <a:latin typeface="Helvetica Neue"/>
              </a:rPr>
              <a:t>Enhancing Data Visualization</a:t>
            </a:r>
          </a:p>
        </p:txBody>
      </p:sp>
      <p:sp>
        <p:nvSpPr>
          <p:cNvPr id="15" name="TextBox 14"/>
          <p:cNvSpPr txBox="1"/>
          <p:nvPr/>
        </p:nvSpPr>
        <p:spPr>
          <a:xfrm>
            <a:off x="6692900" y="1891179"/>
            <a:ext cx="5963275" cy="266090"/>
          </a:xfrm>
          <a:prstGeom prst="rect">
            <a:avLst/>
          </a:prstGeom>
          <a:noFill/>
        </p:spPr>
        <p:txBody>
          <a:bodyPr wrap="none" lIns="0" tIns="0" rIns="0" bIns="0">
            <a:noAutofit/>
          </a:bodyPr>
          <a:lstStyle/>
          <a:p>
            <a:pPr algn="l"/>
            <a:r>
              <a:rPr sz="1800" dirty="0">
                <a:solidFill>
                  <a:srgbClr val="FFFFFF"/>
                </a:solidFill>
                <a:latin typeface="Helvetica Neue Thin"/>
              </a:rPr>
              <a:t>• UX Designers: Focused on the usability and aesthetic </a:t>
            </a:r>
          </a:p>
        </p:txBody>
      </p:sp>
      <p:sp>
        <p:nvSpPr>
          <p:cNvPr id="16" name="TextBox 15"/>
          <p:cNvSpPr txBox="1"/>
          <p:nvPr/>
        </p:nvSpPr>
        <p:spPr>
          <a:xfrm>
            <a:off x="6921500" y="2183279"/>
            <a:ext cx="4924340"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aspects of data visualizations, ensuring they were intuitive and engaging for users.</a:t>
            </a:r>
          </a:p>
        </p:txBody>
      </p:sp>
      <p:sp>
        <p:nvSpPr>
          <p:cNvPr id="17" name="TextBox 16"/>
          <p:cNvSpPr txBox="1"/>
          <p:nvPr/>
        </p:nvSpPr>
        <p:spPr>
          <a:xfrm>
            <a:off x="6692900" y="2894479"/>
            <a:ext cx="5534923"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Used AI to generate dynamic and </a:t>
            </a:r>
          </a:p>
        </p:txBody>
      </p:sp>
      <p:sp>
        <p:nvSpPr>
          <p:cNvPr id="18" name="TextBox 17"/>
          <p:cNvSpPr txBox="1"/>
          <p:nvPr/>
        </p:nvSpPr>
        <p:spPr>
          <a:xfrm>
            <a:off x="6921500" y="3186581"/>
            <a:ext cx="2746535" cy="266090"/>
          </a:xfrm>
          <a:prstGeom prst="rect">
            <a:avLst/>
          </a:prstGeom>
          <a:noFill/>
        </p:spPr>
        <p:txBody>
          <a:bodyPr wrap="none" lIns="0" tIns="0" rIns="0" bIns="0">
            <a:noAutofit/>
          </a:bodyPr>
          <a:lstStyle/>
          <a:p>
            <a:pPr algn="l"/>
            <a:r>
              <a:rPr sz="1800" dirty="0">
                <a:solidFill>
                  <a:srgbClr val="FFFFFF"/>
                </a:solidFill>
                <a:latin typeface="Helvetica Neue Thin"/>
              </a:rPr>
              <a:t>interactive visualizations.  </a:t>
            </a:r>
          </a:p>
        </p:txBody>
      </p:sp>
      <p:sp>
        <p:nvSpPr>
          <p:cNvPr id="19" name="TextBox 18"/>
          <p:cNvSpPr txBox="1"/>
          <p:nvPr/>
        </p:nvSpPr>
        <p:spPr>
          <a:xfrm>
            <a:off x="6692900" y="4186680"/>
            <a:ext cx="3023578" cy="278434"/>
          </a:xfrm>
          <a:prstGeom prst="rect">
            <a:avLst/>
          </a:prstGeom>
          <a:noFill/>
        </p:spPr>
        <p:txBody>
          <a:bodyPr wrap="none" lIns="0" tIns="0" rIns="0" bIns="0">
            <a:noAutofit/>
          </a:bodyPr>
          <a:lstStyle/>
          <a:p>
            <a:pPr algn="l"/>
            <a:r>
              <a:rPr sz="1800" dirty="0">
                <a:solidFill>
                  <a:srgbClr val="FFFFFF"/>
                </a:solidFill>
                <a:latin typeface="Helvetica Neue"/>
              </a:rPr>
              <a:t>Improving User Interactions</a:t>
            </a:r>
          </a:p>
        </p:txBody>
      </p:sp>
      <p:sp>
        <p:nvSpPr>
          <p:cNvPr id="20" name="TextBox 19"/>
          <p:cNvSpPr txBox="1"/>
          <p:nvPr/>
        </p:nvSpPr>
        <p:spPr>
          <a:xfrm>
            <a:off x="6692900" y="4608981"/>
            <a:ext cx="6059067" cy="266090"/>
          </a:xfrm>
          <a:prstGeom prst="rect">
            <a:avLst/>
          </a:prstGeom>
          <a:noFill/>
        </p:spPr>
        <p:txBody>
          <a:bodyPr wrap="none" lIns="0" tIns="0" rIns="0" bIns="0">
            <a:noAutofit/>
          </a:bodyPr>
          <a:lstStyle/>
          <a:p>
            <a:pPr algn="l"/>
            <a:r>
              <a:rPr sz="1800" dirty="0">
                <a:solidFill>
                  <a:srgbClr val="FFFFFF"/>
                </a:solidFill>
                <a:latin typeface="Helvetica Neue Thin"/>
              </a:rPr>
              <a:t>• UX Designers: Implemented AI-driven virtual assistants </a:t>
            </a:r>
          </a:p>
        </p:txBody>
      </p:sp>
      <p:sp>
        <p:nvSpPr>
          <p:cNvPr id="21" name="TextBox 20"/>
          <p:cNvSpPr txBox="1"/>
          <p:nvPr/>
        </p:nvSpPr>
        <p:spPr>
          <a:xfrm>
            <a:off x="6921500" y="4901081"/>
            <a:ext cx="4471579" cy="266090"/>
          </a:xfrm>
          <a:prstGeom prst="rect">
            <a:avLst/>
          </a:prstGeom>
          <a:noFill/>
        </p:spPr>
        <p:txBody>
          <a:bodyPr wrap="none" lIns="0" tIns="0" rIns="0" bIns="0">
            <a:noAutofit/>
          </a:bodyPr>
          <a:lstStyle/>
          <a:p>
            <a:pPr algn="l"/>
            <a:r>
              <a:rPr sz="1800" dirty="0">
                <a:solidFill>
                  <a:srgbClr val="FFFFFF"/>
                </a:solidFill>
                <a:latin typeface="Helvetica Neue Thin"/>
              </a:rPr>
              <a:t>to enhance user interactions and support. </a:t>
            </a:r>
          </a:p>
        </p:txBody>
      </p:sp>
      <p:sp>
        <p:nvSpPr>
          <p:cNvPr id="22" name="TextBox 21"/>
          <p:cNvSpPr txBox="1"/>
          <p:nvPr/>
        </p:nvSpPr>
        <p:spPr>
          <a:xfrm>
            <a:off x="6692900" y="5320181"/>
            <a:ext cx="5892417"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Developed and trained AI models for </a:t>
            </a:r>
          </a:p>
        </p:txBody>
      </p:sp>
      <p:sp>
        <p:nvSpPr>
          <p:cNvPr id="23" name="TextBox 22"/>
          <p:cNvSpPr txBox="1"/>
          <p:nvPr/>
        </p:nvSpPr>
        <p:spPr>
          <a:xfrm>
            <a:off x="6921500" y="5612281"/>
            <a:ext cx="4992222"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natural language processing, and other interactive features.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168400" y="3032756"/>
            <a:ext cx="3729430" cy="618744"/>
          </a:xfrm>
          <a:prstGeom prst="rect">
            <a:avLst/>
          </a:prstGeom>
          <a:noFill/>
        </p:spPr>
        <p:txBody>
          <a:bodyPr wrap="none" lIns="0" tIns="0" rIns="0" bIns="0">
            <a:noAutofit/>
          </a:bodyPr>
          <a:lstStyle/>
          <a:p>
            <a:pPr algn="l"/>
            <a:r>
              <a:rPr sz="4000" dirty="0">
                <a:solidFill>
                  <a:srgbClr val="FFFFFF"/>
                </a:solidFill>
                <a:latin typeface="Helvetica Neue Light"/>
              </a:rPr>
              <a:t>Business goals </a:t>
            </a:r>
          </a:p>
        </p:txBody>
      </p:sp>
      <p:sp>
        <p:nvSpPr>
          <p:cNvPr id="4" name="TextBox 3"/>
          <p:cNvSpPr txBox="1"/>
          <p:nvPr/>
        </p:nvSpPr>
        <p:spPr>
          <a:xfrm>
            <a:off x="1168400" y="3633212"/>
            <a:ext cx="5349240" cy="4390135"/>
          </a:xfrm>
          <a:prstGeom prst="rect">
            <a:avLst/>
          </a:prstGeom>
          <a:noFill/>
        </p:spPr>
        <p:txBody>
          <a:bodyPr wrap="square" lIns="0" tIns="0" rIns="0" bIns="0">
            <a:noAutofit/>
          </a:bodyPr>
          <a:lstStyle/>
          <a:p>
            <a:pPr algn="l">
              <a:lnSpc>
                <a:spcPts val="3900"/>
              </a:lnSpc>
            </a:pPr>
            <a:r>
              <a:rPr sz="2000" dirty="0">
                <a:solidFill>
                  <a:srgbClr val="FFFFFF"/>
                </a:solidFill>
                <a:latin typeface="Helvetica Neue Thin"/>
              </a:rPr>
              <a:t>The small business application will see an increase in adoption, use, e</a:t>
            </a:r>
            <a:r>
              <a:rPr lang="en-US" sz="2000" dirty="0">
                <a:solidFill>
                  <a:srgbClr val="FFFFFF"/>
                </a:solidFill>
                <a:latin typeface="Helvetica Neue Thin"/>
              </a:rPr>
              <a:t>fficiency </a:t>
            </a:r>
            <a:r>
              <a:rPr sz="2000" dirty="0">
                <a:solidFill>
                  <a:srgbClr val="FFFFFF"/>
                </a:solidFill>
                <a:latin typeface="Helvetica Neue Thin"/>
              </a:rPr>
              <a:t>of users actions, speed in planning and setting goals, as well as the continual improvement in sales of Wells Fargo for Business products. The increase in usage, education regarding business budgetary planning, increase in sales of supplemental Wells Fargo for Business Products will all add to the net income for the company.</a:t>
            </a:r>
          </a:p>
        </p:txBody>
      </p:sp>
      <p:sp>
        <p:nvSpPr>
          <p:cNvPr id="13" name="TextBox 12"/>
          <p:cNvSpPr txBox="1"/>
          <p:nvPr/>
        </p:nvSpPr>
        <p:spPr>
          <a:xfrm>
            <a:off x="7518400" y="3043316"/>
            <a:ext cx="898418" cy="519807"/>
          </a:xfrm>
          <a:prstGeom prst="rect">
            <a:avLst/>
          </a:prstGeom>
          <a:noFill/>
        </p:spPr>
        <p:txBody>
          <a:bodyPr wrap="none" lIns="0" tIns="0" rIns="0" bIns="0">
            <a:noAutofit/>
          </a:bodyPr>
          <a:lstStyle/>
          <a:p>
            <a:pPr algn="l"/>
            <a:r>
              <a:rPr sz="3350" dirty="0">
                <a:solidFill>
                  <a:srgbClr val="FFFFFF"/>
                </a:solidFill>
                <a:latin typeface="Helvetica Neue Light"/>
              </a:rPr>
              <a:t>KPIs</a:t>
            </a:r>
          </a:p>
        </p:txBody>
      </p:sp>
      <p:sp>
        <p:nvSpPr>
          <p:cNvPr id="14" name="TextBox 13"/>
          <p:cNvSpPr txBox="1"/>
          <p:nvPr/>
        </p:nvSpPr>
        <p:spPr>
          <a:xfrm>
            <a:off x="7518400" y="3608112"/>
            <a:ext cx="1745529" cy="263456"/>
          </a:xfrm>
          <a:prstGeom prst="rect">
            <a:avLst/>
          </a:prstGeom>
          <a:noFill/>
        </p:spPr>
        <p:txBody>
          <a:bodyPr wrap="none" lIns="0" tIns="0" rIns="0" bIns="0">
            <a:noAutofit/>
          </a:bodyPr>
          <a:lstStyle/>
          <a:p>
            <a:pPr algn="l"/>
            <a:r>
              <a:rPr sz="1800" dirty="0">
                <a:solidFill>
                  <a:srgbClr val="FFFFFF"/>
                </a:solidFill>
                <a:latin typeface="Helvetica Neue Thin"/>
              </a:rPr>
              <a:t>• adoption rate </a:t>
            </a:r>
          </a:p>
        </p:txBody>
      </p:sp>
      <p:sp>
        <p:nvSpPr>
          <p:cNvPr id="15" name="TextBox 14"/>
          <p:cNvSpPr txBox="1"/>
          <p:nvPr/>
        </p:nvSpPr>
        <p:spPr>
          <a:xfrm>
            <a:off x="7518400" y="3985340"/>
            <a:ext cx="1505729" cy="263456"/>
          </a:xfrm>
          <a:prstGeom prst="rect">
            <a:avLst/>
          </a:prstGeom>
          <a:noFill/>
        </p:spPr>
        <p:txBody>
          <a:bodyPr wrap="none" lIns="0" tIns="0" rIns="0" bIns="0">
            <a:noAutofit/>
          </a:bodyPr>
          <a:lstStyle/>
          <a:p>
            <a:pPr algn="l"/>
            <a:r>
              <a:rPr sz="1800" dirty="0">
                <a:solidFill>
                  <a:srgbClr val="FFFFFF"/>
                </a:solidFill>
                <a:latin typeface="Helvetica Neue Thin"/>
              </a:rPr>
              <a:t>• usage time </a:t>
            </a:r>
          </a:p>
        </p:txBody>
      </p:sp>
      <p:sp>
        <p:nvSpPr>
          <p:cNvPr id="16" name="TextBox 15"/>
          <p:cNvSpPr txBox="1"/>
          <p:nvPr/>
        </p:nvSpPr>
        <p:spPr>
          <a:xfrm>
            <a:off x="7518400" y="4362567"/>
            <a:ext cx="4074344" cy="263456"/>
          </a:xfrm>
          <a:prstGeom prst="rect">
            <a:avLst/>
          </a:prstGeom>
          <a:noFill/>
        </p:spPr>
        <p:txBody>
          <a:bodyPr wrap="none" lIns="0" tIns="0" rIns="0" bIns="0">
            <a:noAutofit/>
          </a:bodyPr>
          <a:lstStyle/>
          <a:p>
            <a:pPr algn="l"/>
            <a:r>
              <a:rPr sz="1800" dirty="0">
                <a:solidFill>
                  <a:srgbClr val="FFFFFF"/>
                </a:solidFill>
                <a:latin typeface="Helvetica Neue Thin"/>
              </a:rPr>
              <a:t>• time on task especially primary tasks</a:t>
            </a:r>
          </a:p>
        </p:txBody>
      </p:sp>
      <p:sp>
        <p:nvSpPr>
          <p:cNvPr id="17" name="TextBox 16"/>
          <p:cNvSpPr txBox="1"/>
          <p:nvPr/>
        </p:nvSpPr>
        <p:spPr>
          <a:xfrm>
            <a:off x="7518400" y="4739795"/>
            <a:ext cx="3497701" cy="263456"/>
          </a:xfrm>
          <a:prstGeom prst="rect">
            <a:avLst/>
          </a:prstGeom>
          <a:noFill/>
        </p:spPr>
        <p:txBody>
          <a:bodyPr wrap="none" lIns="0" tIns="0" rIns="0" bIns="0">
            <a:noAutofit/>
          </a:bodyPr>
          <a:lstStyle/>
          <a:p>
            <a:pPr algn="l"/>
            <a:r>
              <a:rPr sz="1800" dirty="0">
                <a:solidFill>
                  <a:srgbClr val="FFFFFF"/>
                </a:solidFill>
                <a:latin typeface="Helvetica Neue Thin"/>
              </a:rPr>
              <a:t>• continual improvement in sales</a:t>
            </a:r>
          </a:p>
        </p:txBody>
      </p:sp>
      <p:sp>
        <p:nvSpPr>
          <p:cNvPr id="18" name="TextBox 17"/>
          <p:cNvSpPr txBox="1"/>
          <p:nvPr/>
        </p:nvSpPr>
        <p:spPr>
          <a:xfrm>
            <a:off x="7518400" y="5054002"/>
            <a:ext cx="4437260" cy="703704"/>
          </a:xfrm>
          <a:prstGeom prst="rect">
            <a:avLst/>
          </a:prstGeom>
          <a:noFill/>
        </p:spPr>
        <p:txBody>
          <a:bodyPr wrap="square" lIns="0" tIns="0" rIns="0" bIns="0">
            <a:noAutofit/>
          </a:bodyPr>
          <a:lstStyle/>
          <a:p>
            <a:pPr marL="226336" indent="-226336" algn="l">
              <a:lnSpc>
                <a:spcPts val="2970"/>
              </a:lnSpc>
            </a:pPr>
            <a:r>
              <a:rPr sz="1800" dirty="0">
                <a:solidFill>
                  <a:srgbClr val="FFFFFF"/>
                </a:solidFill>
                <a:latin typeface="Helvetica Neue Thin"/>
              </a:rPr>
              <a:t>•	increase in use of education regarding business budgetary planning </a:t>
            </a:r>
          </a:p>
        </p:txBody>
      </p:sp>
      <p:sp>
        <p:nvSpPr>
          <p:cNvPr id="20" name="TextBox 19"/>
          <p:cNvSpPr txBox="1"/>
          <p:nvPr/>
        </p:nvSpPr>
        <p:spPr>
          <a:xfrm>
            <a:off x="7518400" y="5808456"/>
            <a:ext cx="4707987" cy="1080933"/>
          </a:xfrm>
          <a:prstGeom prst="rect">
            <a:avLst/>
          </a:prstGeom>
          <a:noFill/>
        </p:spPr>
        <p:txBody>
          <a:bodyPr wrap="square" lIns="0" tIns="0" rIns="0" bIns="0">
            <a:noAutofit/>
          </a:bodyPr>
          <a:lstStyle/>
          <a:p>
            <a:pPr marL="226336" indent="-226336" algn="l">
              <a:lnSpc>
                <a:spcPts val="2970"/>
              </a:lnSpc>
            </a:pPr>
            <a:r>
              <a:rPr sz="1800" dirty="0">
                <a:solidFill>
                  <a:srgbClr val="FFFFFF"/>
                </a:solidFill>
                <a:latin typeface="Helvetica Neue Thin"/>
              </a:rPr>
              <a:t>•	increase in sales of supplemental Wells Fargo for Business Products will all add to the net income for the company.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536598" y="3393640"/>
            <a:ext cx="4358501" cy="2183586"/>
          </a:xfrm>
          <a:prstGeom prst="rect">
            <a:avLst/>
          </a:prstGeom>
          <a:noFill/>
        </p:spPr>
        <p:txBody>
          <a:bodyPr wrap="none" lIns="0" tIns="0" rIns="0" bIns="0">
            <a:noAutofit/>
          </a:bodyPr>
          <a:lstStyle/>
          <a:p>
            <a:pPr algn="l">
              <a:lnSpc>
                <a:spcPts val="3600"/>
              </a:lnSpc>
            </a:pPr>
            <a:r>
              <a:rPr sz="2400" dirty="0">
                <a:solidFill>
                  <a:srgbClr val="FFFFFF"/>
                </a:solidFill>
                <a:latin typeface="Helvetica Neue Thin"/>
              </a:rPr>
              <a:t>•  Interviews with external users</a:t>
            </a:r>
          </a:p>
          <a:p>
            <a:pPr marL="470001" algn="l">
              <a:lnSpc>
                <a:spcPts val="3600"/>
              </a:lnSpc>
            </a:pPr>
            <a:r>
              <a:rPr sz="2400" dirty="0">
                <a:solidFill>
                  <a:srgbClr val="FFFFFF"/>
                </a:solidFill>
                <a:latin typeface="Helvetica Neue Thin"/>
              </a:rPr>
              <a:t>• Small business owners </a:t>
            </a:r>
          </a:p>
          <a:p>
            <a:pPr marL="470001" algn="l">
              <a:lnSpc>
                <a:spcPts val="3600"/>
              </a:lnSpc>
            </a:pPr>
            <a:r>
              <a:rPr sz="2400" dirty="0">
                <a:solidFill>
                  <a:srgbClr val="FFFFFF"/>
                </a:solidFill>
                <a:latin typeface="Helvetica Neue Thin"/>
              </a:rPr>
              <a:t>• Support staff</a:t>
            </a:r>
          </a:p>
          <a:p>
            <a:pPr marL="12801" algn="l">
              <a:lnSpc>
                <a:spcPts val="3600"/>
              </a:lnSpc>
            </a:pPr>
            <a:r>
              <a:rPr sz="2400" dirty="0">
                <a:solidFill>
                  <a:srgbClr val="FFFFFF"/>
                </a:solidFill>
                <a:latin typeface="Helvetica Neue Thin"/>
              </a:rPr>
              <a:t>• Persona development</a:t>
            </a:r>
          </a:p>
          <a:p>
            <a:pPr marL="12801" algn="l">
              <a:lnSpc>
                <a:spcPts val="3600"/>
              </a:lnSpc>
            </a:pPr>
            <a:r>
              <a:rPr sz="2400" dirty="0">
                <a:solidFill>
                  <a:srgbClr val="FFFFFF"/>
                </a:solidFill>
                <a:latin typeface="Helvetica Neue Thin"/>
              </a:rPr>
              <a:t>• Design Thinking Exercises</a:t>
            </a:r>
          </a:p>
        </p:txBody>
      </p:sp>
      <p:sp>
        <p:nvSpPr>
          <p:cNvPr id="4" name="TextBox 3"/>
          <p:cNvSpPr txBox="1"/>
          <p:nvPr/>
        </p:nvSpPr>
        <p:spPr>
          <a:xfrm>
            <a:off x="6756400" y="3341249"/>
            <a:ext cx="2544269" cy="346187"/>
          </a:xfrm>
          <a:prstGeom prst="rect">
            <a:avLst/>
          </a:prstGeom>
          <a:noFill/>
        </p:spPr>
        <p:txBody>
          <a:bodyPr wrap="none" lIns="0" tIns="0" rIns="0" bIns="0">
            <a:noAutofit/>
          </a:bodyPr>
          <a:lstStyle/>
          <a:p>
            <a:pPr algn="l"/>
            <a:r>
              <a:rPr sz="2250" dirty="0">
                <a:solidFill>
                  <a:srgbClr val="FFFFFF"/>
                </a:solidFill>
                <a:latin typeface="Helvetica Neue Light"/>
              </a:rPr>
              <a:t>Problem statement</a:t>
            </a:r>
          </a:p>
        </p:txBody>
      </p:sp>
      <p:sp>
        <p:nvSpPr>
          <p:cNvPr id="5" name="TextBox 4"/>
          <p:cNvSpPr txBox="1"/>
          <p:nvPr/>
        </p:nvSpPr>
        <p:spPr>
          <a:xfrm>
            <a:off x="6756400" y="3737658"/>
            <a:ext cx="5965209" cy="2834009"/>
          </a:xfrm>
          <a:prstGeom prst="rect">
            <a:avLst/>
          </a:prstGeom>
          <a:noFill/>
        </p:spPr>
        <p:txBody>
          <a:bodyPr wrap="square" lIns="0" tIns="0" rIns="0" bIns="0">
            <a:noAutofit/>
          </a:bodyPr>
          <a:lstStyle/>
          <a:p>
            <a:pPr algn="l">
              <a:lnSpc>
                <a:spcPts val="3800"/>
              </a:lnSpc>
            </a:pPr>
            <a:r>
              <a:rPr sz="2250" dirty="0">
                <a:solidFill>
                  <a:srgbClr val="FFFFFF"/>
                </a:solidFill>
                <a:latin typeface="Helvetica Neue Thin"/>
              </a:rPr>
              <a:t>Small business owners don’t have a place to monitor their spending, track expenses, set budgetary goals, and view their current budget plans. They will achieve their goal of better understanding of their small business finances through use of this mobile application.</a:t>
            </a:r>
          </a:p>
        </p:txBody>
      </p:sp>
      <p:sp>
        <p:nvSpPr>
          <p:cNvPr id="11" name="TextBox 10"/>
          <p:cNvSpPr txBox="1"/>
          <p:nvPr/>
        </p:nvSpPr>
        <p:spPr>
          <a:xfrm>
            <a:off x="1219200" y="9781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12" name="TextBox 11"/>
          <p:cNvSpPr txBox="1"/>
          <p:nvPr/>
        </p:nvSpPr>
        <p:spPr>
          <a:xfrm>
            <a:off x="5130800" y="608479"/>
            <a:ext cx="7358964"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explore new opportunities, validate existing assumptions, and generate new ideas.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Pain points we heard from the interviews</a:t>
            </a:r>
          </a:p>
        </p:txBody>
      </p:sp>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5" name="TextBox 4"/>
          <p:cNvSpPr txBox="1"/>
          <p:nvPr/>
        </p:nvSpPr>
        <p:spPr>
          <a:xfrm>
            <a:off x="812800" y="2100579"/>
            <a:ext cx="2691404" cy="309372"/>
          </a:xfrm>
          <a:prstGeom prst="rect">
            <a:avLst/>
          </a:prstGeom>
          <a:noFill/>
        </p:spPr>
        <p:txBody>
          <a:bodyPr wrap="none" lIns="0" tIns="0" rIns="0" bIns="0">
            <a:noAutofit/>
          </a:bodyPr>
          <a:lstStyle/>
          <a:p>
            <a:pPr algn="l"/>
            <a:r>
              <a:rPr sz="2000" dirty="0">
                <a:solidFill>
                  <a:srgbClr val="000000"/>
                </a:solidFill>
                <a:latin typeface="Helvetica Neue Light"/>
              </a:rPr>
              <a:t>1 Can’t track expenses</a:t>
            </a:r>
          </a:p>
        </p:txBody>
      </p:sp>
      <p:sp>
        <p:nvSpPr>
          <p:cNvPr id="6" name="TextBox 5"/>
          <p:cNvSpPr txBox="1"/>
          <p:nvPr/>
        </p:nvSpPr>
        <p:spPr>
          <a:xfrm>
            <a:off x="812800" y="2633979"/>
            <a:ext cx="3335782" cy="309372"/>
          </a:xfrm>
          <a:prstGeom prst="rect">
            <a:avLst/>
          </a:prstGeom>
          <a:noFill/>
        </p:spPr>
        <p:txBody>
          <a:bodyPr wrap="none" lIns="0" tIns="0" rIns="0" bIns="0">
            <a:noAutofit/>
          </a:bodyPr>
          <a:lstStyle/>
          <a:p>
            <a:pPr algn="l"/>
            <a:r>
              <a:rPr sz="2000" dirty="0">
                <a:solidFill>
                  <a:srgbClr val="000000"/>
                </a:solidFill>
                <a:latin typeface="Helvetica Neue Light"/>
              </a:rPr>
              <a:t>2 Limited planning methods</a:t>
            </a:r>
          </a:p>
        </p:txBody>
      </p:sp>
      <p:sp>
        <p:nvSpPr>
          <p:cNvPr id="7" name="TextBox 6"/>
          <p:cNvSpPr txBox="1"/>
          <p:nvPr/>
        </p:nvSpPr>
        <p:spPr>
          <a:xfrm>
            <a:off x="812800" y="3167378"/>
            <a:ext cx="6582057" cy="309371"/>
          </a:xfrm>
          <a:prstGeom prst="rect">
            <a:avLst/>
          </a:prstGeom>
          <a:noFill/>
        </p:spPr>
        <p:txBody>
          <a:bodyPr wrap="none" lIns="0" tIns="0" rIns="0" bIns="0">
            <a:noAutofit/>
          </a:bodyPr>
          <a:lstStyle/>
          <a:p>
            <a:pPr algn="l"/>
            <a:r>
              <a:rPr sz="2000" dirty="0">
                <a:solidFill>
                  <a:srgbClr val="000000"/>
                </a:solidFill>
                <a:latin typeface="Helvetica Neue Light"/>
              </a:rPr>
              <a:t>3 Need Photo Receipt and Check Capture functionality</a:t>
            </a:r>
          </a:p>
        </p:txBody>
      </p:sp>
      <p:sp>
        <p:nvSpPr>
          <p:cNvPr id="8" name="TextBox 7"/>
          <p:cNvSpPr txBox="1"/>
          <p:nvPr/>
        </p:nvSpPr>
        <p:spPr>
          <a:xfrm>
            <a:off x="812800" y="3700778"/>
            <a:ext cx="8588433" cy="309371"/>
          </a:xfrm>
          <a:prstGeom prst="rect">
            <a:avLst/>
          </a:prstGeom>
          <a:noFill/>
        </p:spPr>
        <p:txBody>
          <a:bodyPr wrap="none" lIns="0" tIns="0" rIns="0" bIns="0">
            <a:noAutofit/>
          </a:bodyPr>
          <a:lstStyle/>
          <a:p>
            <a:pPr algn="l"/>
            <a:r>
              <a:rPr sz="2000" dirty="0">
                <a:solidFill>
                  <a:srgbClr val="000000"/>
                </a:solidFill>
                <a:latin typeface="Helvetica Neue Light"/>
              </a:rPr>
              <a:t>4 Auto bill pay, expense and spending overrun alerts and contingencies</a:t>
            </a:r>
          </a:p>
        </p:txBody>
      </p:sp>
      <p:sp>
        <p:nvSpPr>
          <p:cNvPr id="9" name="TextBox 8"/>
          <p:cNvSpPr txBox="1"/>
          <p:nvPr/>
        </p:nvSpPr>
        <p:spPr>
          <a:xfrm>
            <a:off x="812800" y="4234178"/>
            <a:ext cx="3617233" cy="309371"/>
          </a:xfrm>
          <a:prstGeom prst="rect">
            <a:avLst/>
          </a:prstGeom>
          <a:noFill/>
        </p:spPr>
        <p:txBody>
          <a:bodyPr wrap="none" lIns="0" tIns="0" rIns="0" bIns="0">
            <a:noAutofit/>
          </a:bodyPr>
          <a:lstStyle/>
          <a:p>
            <a:pPr algn="l"/>
            <a:r>
              <a:rPr sz="2000" dirty="0">
                <a:solidFill>
                  <a:srgbClr val="000000"/>
                </a:solidFill>
                <a:latin typeface="Helvetica Neue Light"/>
              </a:rPr>
              <a:t>5 No automation of processes</a:t>
            </a:r>
          </a:p>
        </p:txBody>
      </p:sp>
      <p:sp>
        <p:nvSpPr>
          <p:cNvPr id="10" name="TextBox 9"/>
          <p:cNvSpPr txBox="1"/>
          <p:nvPr/>
        </p:nvSpPr>
        <p:spPr>
          <a:xfrm>
            <a:off x="812800" y="4767578"/>
            <a:ext cx="2965971" cy="309371"/>
          </a:xfrm>
          <a:prstGeom prst="rect">
            <a:avLst/>
          </a:prstGeom>
          <a:noFill/>
        </p:spPr>
        <p:txBody>
          <a:bodyPr wrap="none" lIns="0" tIns="0" rIns="0" bIns="0">
            <a:noAutofit/>
          </a:bodyPr>
          <a:lstStyle/>
          <a:p>
            <a:pPr algn="l"/>
            <a:r>
              <a:rPr sz="2000" dirty="0">
                <a:solidFill>
                  <a:srgbClr val="000000"/>
                </a:solidFill>
                <a:latin typeface="Helvetica Neue Light"/>
              </a:rPr>
              <a:t>6 Limited status updates</a:t>
            </a:r>
          </a:p>
        </p:txBody>
      </p:sp>
      <p:sp>
        <p:nvSpPr>
          <p:cNvPr id="11" name="TextBox 10"/>
          <p:cNvSpPr txBox="1"/>
          <p:nvPr/>
        </p:nvSpPr>
        <p:spPr>
          <a:xfrm>
            <a:off x="812800" y="5300978"/>
            <a:ext cx="5421381" cy="309371"/>
          </a:xfrm>
          <a:prstGeom prst="rect">
            <a:avLst/>
          </a:prstGeom>
          <a:noFill/>
        </p:spPr>
        <p:txBody>
          <a:bodyPr wrap="none" lIns="0" tIns="0" rIns="0" bIns="0">
            <a:noAutofit/>
          </a:bodyPr>
          <a:lstStyle/>
          <a:p>
            <a:pPr algn="l"/>
            <a:r>
              <a:rPr sz="2000" dirty="0">
                <a:solidFill>
                  <a:srgbClr val="000000"/>
                </a:solidFill>
                <a:latin typeface="Helvetica Neue Light"/>
              </a:rPr>
              <a:t>7 Limited up-sell to new Wells Fargo products</a:t>
            </a:r>
          </a:p>
        </p:txBody>
      </p:sp>
      <p:sp>
        <p:nvSpPr>
          <p:cNvPr id="12" name="TextBox 11"/>
          <p:cNvSpPr txBox="1"/>
          <p:nvPr/>
        </p:nvSpPr>
        <p:spPr>
          <a:xfrm>
            <a:off x="6644671" y="6619902"/>
            <a:ext cx="5328717" cy="295655"/>
          </a:xfrm>
          <a:prstGeom prst="rect">
            <a:avLst/>
          </a:prstGeom>
          <a:noFill/>
        </p:spPr>
        <p:txBody>
          <a:bodyPr wrap="none" lIns="0" tIns="0" rIns="0" bIns="0">
            <a:noAutofit/>
          </a:bodyPr>
          <a:lstStyle/>
          <a:p>
            <a:pPr algn="l"/>
            <a:r>
              <a:rPr sz="2000" dirty="0">
                <a:solidFill>
                  <a:srgbClr val="000000"/>
                </a:solidFill>
                <a:latin typeface="Helvetica Neue Thin"/>
              </a:rPr>
              <a:t>“I’d like to have a better understanding of my </a:t>
            </a:r>
          </a:p>
        </p:txBody>
      </p:sp>
      <p:sp>
        <p:nvSpPr>
          <p:cNvPr id="13" name="TextBox 12"/>
          <p:cNvSpPr txBox="1"/>
          <p:nvPr/>
        </p:nvSpPr>
        <p:spPr>
          <a:xfrm>
            <a:off x="6475540" y="6924702"/>
            <a:ext cx="5225210"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spending, and easily be able to track my expenses. Being able to set goals would be even </a:t>
            </a:r>
          </a:p>
        </p:txBody>
      </p:sp>
      <p:sp>
        <p:nvSpPr>
          <p:cNvPr id="14" name="TextBox 13"/>
          <p:cNvSpPr txBox="1"/>
          <p:nvPr/>
        </p:nvSpPr>
        <p:spPr>
          <a:xfrm>
            <a:off x="7019691" y="7534302"/>
            <a:ext cx="4447271" cy="295655"/>
          </a:xfrm>
          <a:prstGeom prst="rect">
            <a:avLst/>
          </a:prstGeom>
          <a:noFill/>
        </p:spPr>
        <p:txBody>
          <a:bodyPr wrap="none" lIns="0" tIns="0" rIns="0" bIns="0">
            <a:noAutofit/>
          </a:bodyPr>
          <a:lstStyle/>
          <a:p>
            <a:pPr algn="l"/>
            <a:r>
              <a:rPr sz="2000" dirty="0">
                <a:solidFill>
                  <a:srgbClr val="000000"/>
                </a:solidFill>
                <a:latin typeface="Helvetica Neue Thin"/>
              </a:rPr>
              <a:t>better, and view my budgets anytime.”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9661527" y="5407527"/>
            <a:ext cx="2423882" cy="2168484"/>
          </a:xfrm>
          <a:prstGeom prst="rect">
            <a:avLst/>
          </a:prstGeom>
        </p:spPr>
      </p:pic>
      <p:pic>
        <p:nvPicPr>
          <p:cNvPr id="4" name="Picture 2" descr="image.png"/>
          <p:cNvPicPr>
            <a:picLocks noChangeAspect="1"/>
          </p:cNvPicPr>
          <p:nvPr/>
        </p:nvPicPr>
        <p:blipFill>
          <a:blip r:embed="rId4"/>
          <a:stretch>
            <a:fillRect/>
          </a:stretch>
        </p:blipFill>
        <p:spPr>
          <a:xfrm>
            <a:off x="9675655" y="1866882"/>
            <a:ext cx="2437060" cy="2020643"/>
          </a:xfrm>
          <a:prstGeom prst="rect">
            <a:avLst/>
          </a:prstGeom>
        </p:spPr>
      </p:pic>
      <p:pic>
        <p:nvPicPr>
          <p:cNvPr id="5" name="Picture 3" descr="image.png"/>
          <p:cNvPicPr>
            <a:picLocks noChangeAspect="1"/>
          </p:cNvPicPr>
          <p:nvPr/>
        </p:nvPicPr>
        <p:blipFill>
          <a:blip r:embed="rId5"/>
          <a:stretch>
            <a:fillRect/>
          </a:stretch>
        </p:blipFill>
        <p:spPr>
          <a:xfrm>
            <a:off x="530708" y="3186216"/>
            <a:ext cx="1316008" cy="940005"/>
          </a:xfrm>
          <a:prstGeom prst="rect">
            <a:avLst/>
          </a:prstGeom>
        </p:spPr>
      </p:pic>
      <p:pic>
        <p:nvPicPr>
          <p:cNvPr id="6" name="Picture 4" descr="image.png"/>
          <p:cNvPicPr>
            <a:picLocks noChangeAspect="1"/>
          </p:cNvPicPr>
          <p:nvPr/>
        </p:nvPicPr>
        <p:blipFill>
          <a:blip r:embed="rId6"/>
          <a:stretch>
            <a:fillRect/>
          </a:stretch>
        </p:blipFill>
        <p:spPr>
          <a:xfrm>
            <a:off x="9661525" y="7559695"/>
            <a:ext cx="2433840" cy="1086536"/>
          </a:xfrm>
          <a:prstGeom prst="rect">
            <a:avLst/>
          </a:prstGeom>
        </p:spPr>
      </p:pic>
      <p:pic>
        <p:nvPicPr>
          <p:cNvPr id="7" name="Picture 5" descr="image.png"/>
          <p:cNvPicPr>
            <a:picLocks noChangeAspect="1"/>
          </p:cNvPicPr>
          <p:nvPr/>
        </p:nvPicPr>
        <p:blipFill>
          <a:blip r:embed="rId7"/>
          <a:stretch>
            <a:fillRect/>
          </a:stretch>
        </p:blipFill>
        <p:spPr>
          <a:xfrm>
            <a:off x="9664172" y="3551211"/>
            <a:ext cx="2436304" cy="1866900"/>
          </a:xfrm>
          <a:prstGeom prst="rect">
            <a:avLst/>
          </a:prstGeom>
        </p:spPr>
      </p:pic>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9" name="TextBox 8"/>
          <p:cNvSpPr txBox="1"/>
          <p:nvPr/>
        </p:nvSpPr>
        <p:spPr>
          <a:xfrm>
            <a:off x="704783" y="2732500"/>
            <a:ext cx="2959393" cy="271948"/>
          </a:xfrm>
          <a:prstGeom prst="rect">
            <a:avLst/>
          </a:prstGeom>
          <a:noFill/>
        </p:spPr>
        <p:txBody>
          <a:bodyPr wrap="none" lIns="0" tIns="0" rIns="0" bIns="0">
            <a:noAutofit/>
          </a:bodyPr>
          <a:lstStyle/>
          <a:p>
            <a:pPr algn="l"/>
            <a:r>
              <a:rPr sz="1750" dirty="0">
                <a:solidFill>
                  <a:srgbClr val="000000"/>
                </a:solidFill>
                <a:latin typeface="Helvetica Neue Light"/>
              </a:rPr>
              <a:t>Small BizOwner Power User</a:t>
            </a:r>
          </a:p>
        </p:txBody>
      </p:sp>
      <p:sp>
        <p:nvSpPr>
          <p:cNvPr id="10" name="TextBox 9"/>
          <p:cNvSpPr txBox="1"/>
          <p:nvPr/>
        </p:nvSpPr>
        <p:spPr>
          <a:xfrm>
            <a:off x="1009989" y="4395899"/>
            <a:ext cx="2082698"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Pain points in current system</a:t>
            </a:r>
          </a:p>
          <a:p>
            <a:pPr algn="l">
              <a:lnSpc>
                <a:spcPts val="1763"/>
              </a:lnSpc>
            </a:pPr>
            <a:r>
              <a:rPr sz="1200" dirty="0">
                <a:solidFill>
                  <a:srgbClr val="000000"/>
                </a:solidFill>
                <a:latin typeface="Helvetica Neue Light"/>
              </a:rPr>
              <a:t>• No spending tracking</a:t>
            </a:r>
          </a:p>
        </p:txBody>
      </p:sp>
      <p:sp>
        <p:nvSpPr>
          <p:cNvPr id="11" name="TextBox 10"/>
          <p:cNvSpPr txBox="1"/>
          <p:nvPr/>
        </p:nvSpPr>
        <p:spPr>
          <a:xfrm>
            <a:off x="1009989" y="4843955"/>
            <a:ext cx="4036686"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No single place to see current business plans and goals</a:t>
            </a:r>
          </a:p>
          <a:p>
            <a:pPr algn="l">
              <a:lnSpc>
                <a:spcPts val="1763"/>
              </a:lnSpc>
            </a:pPr>
            <a:r>
              <a:rPr sz="1200" dirty="0">
                <a:solidFill>
                  <a:srgbClr val="000000"/>
                </a:solidFill>
                <a:latin typeface="Helvetica Neue Light"/>
              </a:rPr>
              <a:t>• No alerts system when a bill is past due or not paid</a:t>
            </a:r>
          </a:p>
        </p:txBody>
      </p:sp>
      <p:sp>
        <p:nvSpPr>
          <p:cNvPr id="12" name="TextBox 11"/>
          <p:cNvSpPr txBox="1"/>
          <p:nvPr/>
        </p:nvSpPr>
        <p:spPr>
          <a:xfrm>
            <a:off x="1009989" y="5292011"/>
            <a:ext cx="3125342" cy="181910"/>
          </a:xfrm>
          <a:prstGeom prst="rect">
            <a:avLst/>
          </a:prstGeom>
          <a:noFill/>
        </p:spPr>
        <p:txBody>
          <a:bodyPr wrap="none" lIns="0" tIns="0" rIns="0" bIns="0">
            <a:noAutofit/>
          </a:bodyPr>
          <a:lstStyle/>
          <a:p>
            <a:pPr algn="l"/>
            <a:r>
              <a:rPr sz="1200" dirty="0">
                <a:solidFill>
                  <a:srgbClr val="000000"/>
                </a:solidFill>
                <a:latin typeface="Helvetica Neue Light"/>
              </a:rPr>
              <a:t>• No place to optimize business budget plan</a:t>
            </a:r>
          </a:p>
        </p:txBody>
      </p:sp>
      <p:sp>
        <p:nvSpPr>
          <p:cNvPr id="13" name="TextBox 12"/>
          <p:cNvSpPr txBox="1"/>
          <p:nvPr/>
        </p:nvSpPr>
        <p:spPr>
          <a:xfrm>
            <a:off x="1009989" y="5516039"/>
            <a:ext cx="3966521"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No place for planning and monitoring budgets </a:t>
            </a:r>
          </a:p>
          <a:p>
            <a:pPr algn="l">
              <a:lnSpc>
                <a:spcPts val="1763"/>
              </a:lnSpc>
            </a:pPr>
            <a:r>
              <a:rPr sz="1200" dirty="0">
                <a:solidFill>
                  <a:srgbClr val="000000"/>
                </a:solidFill>
                <a:latin typeface="Helvetica Neue Light"/>
              </a:rPr>
              <a:t>• No way to understand and build business for the future</a:t>
            </a:r>
          </a:p>
        </p:txBody>
      </p:sp>
      <p:sp>
        <p:nvSpPr>
          <p:cNvPr id="14" name="TextBox 13"/>
          <p:cNvSpPr txBox="1"/>
          <p:nvPr/>
        </p:nvSpPr>
        <p:spPr>
          <a:xfrm>
            <a:off x="1009989" y="5964095"/>
            <a:ext cx="3953779" cy="181910"/>
          </a:xfrm>
          <a:prstGeom prst="rect">
            <a:avLst/>
          </a:prstGeom>
          <a:noFill/>
        </p:spPr>
        <p:txBody>
          <a:bodyPr wrap="none" lIns="0" tIns="0" rIns="0" bIns="0">
            <a:noAutofit/>
          </a:bodyPr>
          <a:lstStyle/>
          <a:p>
            <a:pPr algn="l"/>
            <a:r>
              <a:rPr sz="1200" dirty="0">
                <a:solidFill>
                  <a:srgbClr val="000000"/>
                </a:solidFill>
                <a:latin typeface="Helvetica Neue Light"/>
              </a:rPr>
              <a:t>• Fractured touch points, no single space for all activities</a:t>
            </a:r>
          </a:p>
        </p:txBody>
      </p:sp>
      <p:sp>
        <p:nvSpPr>
          <p:cNvPr id="15" name="TextBox 14"/>
          <p:cNvSpPr txBox="1"/>
          <p:nvPr/>
        </p:nvSpPr>
        <p:spPr>
          <a:xfrm>
            <a:off x="1758782" y="3284846"/>
            <a:ext cx="2749489" cy="737375"/>
          </a:xfrm>
          <a:prstGeom prst="rect">
            <a:avLst/>
          </a:prstGeom>
          <a:noFill/>
        </p:spPr>
        <p:txBody>
          <a:bodyPr wrap="square" lIns="0" tIns="0" rIns="0" bIns="0">
            <a:noAutofit/>
          </a:bodyPr>
          <a:lstStyle/>
          <a:p>
            <a:pPr algn="l">
              <a:lnSpc>
                <a:spcPts val="1405"/>
              </a:lnSpc>
            </a:pPr>
            <a:r>
              <a:rPr sz="1400" dirty="0">
                <a:solidFill>
                  <a:srgbClr val="000000"/>
                </a:solidFill>
                <a:latin typeface="Helvetica Neue Light"/>
              </a:rPr>
              <a:t>Kunal Power User</a:t>
            </a:r>
          </a:p>
          <a:p>
            <a:pPr algn="l">
              <a:lnSpc>
                <a:spcPts val="1405"/>
              </a:lnSpc>
            </a:pPr>
            <a:r>
              <a:rPr sz="1000" dirty="0">
                <a:solidFill>
                  <a:srgbClr val="000000"/>
                </a:solidFill>
                <a:latin typeface="Helvetica Neue Light"/>
              </a:rPr>
              <a:t>General Contractor and Technophile  </a:t>
            </a:r>
          </a:p>
          <a:p>
            <a:pPr algn="l">
              <a:lnSpc>
                <a:spcPts val="1405"/>
              </a:lnSpc>
            </a:pPr>
            <a:r>
              <a:rPr sz="1000" dirty="0">
                <a:solidFill>
                  <a:srgbClr val="000000"/>
                </a:solidFill>
                <a:latin typeface="Helvetica Neue Light"/>
              </a:rPr>
              <a:t>12 years as a General Contracting small business  owner, wants to grow and expand HI-TECH, INC</a:t>
            </a:r>
          </a:p>
        </p:txBody>
      </p:sp>
      <p:sp>
        <p:nvSpPr>
          <p:cNvPr id="16" name="TextBox 15"/>
          <p:cNvSpPr txBox="1"/>
          <p:nvPr/>
        </p:nvSpPr>
        <p:spPr>
          <a:xfrm>
            <a:off x="5845995" y="3352989"/>
            <a:ext cx="3494987" cy="869694"/>
          </a:xfrm>
          <a:prstGeom prst="rect">
            <a:avLst/>
          </a:prstGeom>
          <a:noFill/>
        </p:spPr>
        <p:txBody>
          <a:bodyPr wrap="square" lIns="0" tIns="0" rIns="0" bIns="0">
            <a:noAutofit/>
          </a:bodyPr>
          <a:lstStyle/>
          <a:p>
            <a:pPr algn="l">
              <a:lnSpc>
                <a:spcPts val="1411"/>
              </a:lnSpc>
            </a:pPr>
            <a:r>
              <a:rPr sz="1000" dirty="0">
                <a:solidFill>
                  <a:srgbClr val="000000"/>
                </a:solidFill>
                <a:latin typeface="Helvetica Neue Light"/>
              </a:rPr>
              <a:t>I spend most of my time trying to understand my finances, trying to track my expenses, I don’t have enough time to plan, or even put out the financial fires, let alone find new ways to save, or connect with other owners and find new products to help me expand.</a:t>
            </a:r>
          </a:p>
        </p:txBody>
      </p:sp>
      <p:sp>
        <p:nvSpPr>
          <p:cNvPr id="17" name="TextBox 16"/>
          <p:cNvSpPr txBox="1"/>
          <p:nvPr/>
        </p:nvSpPr>
        <p:spPr>
          <a:xfrm>
            <a:off x="5473937" y="6637523"/>
            <a:ext cx="1072135" cy="181910"/>
          </a:xfrm>
          <a:prstGeom prst="rect">
            <a:avLst/>
          </a:prstGeom>
          <a:noFill/>
        </p:spPr>
        <p:txBody>
          <a:bodyPr wrap="none" lIns="0" tIns="0" rIns="0" bIns="0">
            <a:noAutofit/>
          </a:bodyPr>
          <a:lstStyle/>
          <a:p>
            <a:pPr algn="l"/>
            <a:r>
              <a:rPr sz="1200" dirty="0">
                <a:solidFill>
                  <a:srgbClr val="000000"/>
                </a:solidFill>
                <a:latin typeface="Helvetica Neue Light"/>
              </a:rPr>
              <a:t>Tools for Tasks</a:t>
            </a:r>
          </a:p>
        </p:txBody>
      </p:sp>
      <p:sp>
        <p:nvSpPr>
          <p:cNvPr id="18" name="TextBox 17"/>
          <p:cNvSpPr txBox="1"/>
          <p:nvPr/>
        </p:nvSpPr>
        <p:spPr>
          <a:xfrm>
            <a:off x="5473937" y="6861551"/>
            <a:ext cx="973275" cy="181910"/>
          </a:xfrm>
          <a:prstGeom prst="rect">
            <a:avLst/>
          </a:prstGeom>
          <a:noFill/>
        </p:spPr>
        <p:txBody>
          <a:bodyPr wrap="none" lIns="0" tIns="0" rIns="0" bIns="0">
            <a:noAutofit/>
          </a:bodyPr>
          <a:lstStyle/>
          <a:p>
            <a:pPr algn="l"/>
            <a:r>
              <a:rPr sz="1200" dirty="0">
                <a:solidFill>
                  <a:srgbClr val="000000"/>
                </a:solidFill>
                <a:latin typeface="Helvetica Neue Light"/>
              </a:rPr>
              <a:t>• Freshbooks</a:t>
            </a:r>
          </a:p>
        </p:txBody>
      </p:sp>
      <p:sp>
        <p:nvSpPr>
          <p:cNvPr id="19" name="TextBox 18"/>
          <p:cNvSpPr txBox="1"/>
          <p:nvPr/>
        </p:nvSpPr>
        <p:spPr>
          <a:xfrm>
            <a:off x="5473937" y="7085579"/>
            <a:ext cx="1073281" cy="181910"/>
          </a:xfrm>
          <a:prstGeom prst="rect">
            <a:avLst/>
          </a:prstGeom>
          <a:noFill/>
        </p:spPr>
        <p:txBody>
          <a:bodyPr wrap="none" lIns="0" tIns="0" rIns="0" bIns="0">
            <a:noAutofit/>
          </a:bodyPr>
          <a:lstStyle/>
          <a:p>
            <a:pPr algn="l"/>
            <a:r>
              <a:rPr sz="1200" dirty="0">
                <a:solidFill>
                  <a:srgbClr val="000000"/>
                </a:solidFill>
                <a:latin typeface="Helvetica Neue Light"/>
              </a:rPr>
              <a:t>• Square (POS)</a:t>
            </a:r>
          </a:p>
        </p:txBody>
      </p:sp>
      <p:sp>
        <p:nvSpPr>
          <p:cNvPr id="20" name="TextBox 19"/>
          <p:cNvSpPr txBox="1"/>
          <p:nvPr/>
        </p:nvSpPr>
        <p:spPr>
          <a:xfrm>
            <a:off x="5473937" y="7309608"/>
            <a:ext cx="1990755" cy="181910"/>
          </a:xfrm>
          <a:prstGeom prst="rect">
            <a:avLst/>
          </a:prstGeom>
          <a:noFill/>
        </p:spPr>
        <p:txBody>
          <a:bodyPr wrap="none" lIns="0" tIns="0" rIns="0" bIns="0">
            <a:noAutofit/>
          </a:bodyPr>
          <a:lstStyle/>
          <a:p>
            <a:pPr algn="l"/>
            <a:r>
              <a:rPr sz="1200" dirty="0">
                <a:solidFill>
                  <a:srgbClr val="000000"/>
                </a:solidFill>
                <a:latin typeface="Helvetica Neue Light"/>
              </a:rPr>
              <a:t>• MailChimp, SurveyMonkey</a:t>
            </a:r>
          </a:p>
        </p:txBody>
      </p:sp>
      <p:sp>
        <p:nvSpPr>
          <p:cNvPr id="21" name="TextBox 20"/>
          <p:cNvSpPr txBox="1"/>
          <p:nvPr/>
        </p:nvSpPr>
        <p:spPr>
          <a:xfrm>
            <a:off x="5473937" y="7533636"/>
            <a:ext cx="991824" cy="181910"/>
          </a:xfrm>
          <a:prstGeom prst="rect">
            <a:avLst/>
          </a:prstGeom>
          <a:noFill/>
        </p:spPr>
        <p:txBody>
          <a:bodyPr wrap="none" lIns="0" tIns="0" rIns="0" bIns="0">
            <a:noAutofit/>
          </a:bodyPr>
          <a:lstStyle/>
          <a:p>
            <a:pPr algn="l"/>
            <a:r>
              <a:rPr sz="1200" dirty="0">
                <a:solidFill>
                  <a:srgbClr val="000000"/>
                </a:solidFill>
                <a:latin typeface="Helvetica Neue Light"/>
              </a:rPr>
              <a:t>• ZipRecruiter</a:t>
            </a:r>
          </a:p>
        </p:txBody>
      </p:sp>
      <p:sp>
        <p:nvSpPr>
          <p:cNvPr id="22" name="TextBox 21"/>
          <p:cNvSpPr txBox="1"/>
          <p:nvPr/>
        </p:nvSpPr>
        <p:spPr>
          <a:xfrm>
            <a:off x="5473937" y="7757664"/>
            <a:ext cx="3950876"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LegalZoom </a:t>
            </a:r>
          </a:p>
          <a:p>
            <a:pPr algn="l">
              <a:lnSpc>
                <a:spcPts val="1763"/>
              </a:lnSpc>
            </a:pPr>
            <a:r>
              <a:rPr sz="1200" dirty="0">
                <a:solidFill>
                  <a:srgbClr val="000000"/>
                </a:solidFill>
                <a:latin typeface="Helvetica Neue Light"/>
              </a:rPr>
              <a:t>• Social Networking sites, i.e., Instagram, Yelp, Facebook</a:t>
            </a:r>
          </a:p>
        </p:txBody>
      </p:sp>
      <p:sp>
        <p:nvSpPr>
          <p:cNvPr id="23" name="TextBox 22"/>
          <p:cNvSpPr txBox="1"/>
          <p:nvPr/>
        </p:nvSpPr>
        <p:spPr>
          <a:xfrm>
            <a:off x="5473937" y="8205720"/>
            <a:ext cx="1069893" cy="181910"/>
          </a:xfrm>
          <a:prstGeom prst="rect">
            <a:avLst/>
          </a:prstGeom>
          <a:noFill/>
        </p:spPr>
        <p:txBody>
          <a:bodyPr wrap="none" lIns="0" tIns="0" rIns="0" bIns="0">
            <a:noAutofit/>
          </a:bodyPr>
          <a:lstStyle/>
          <a:p>
            <a:pPr algn="l"/>
            <a:r>
              <a:rPr sz="1200" dirty="0">
                <a:solidFill>
                  <a:srgbClr val="000000"/>
                </a:solidFill>
                <a:latin typeface="Helvetica Neue Light"/>
              </a:rPr>
              <a:t>• Squarespace</a:t>
            </a:r>
          </a:p>
        </p:txBody>
      </p:sp>
      <p:sp>
        <p:nvSpPr>
          <p:cNvPr id="24" name="TextBox 23"/>
          <p:cNvSpPr txBox="1"/>
          <p:nvPr/>
        </p:nvSpPr>
        <p:spPr>
          <a:xfrm>
            <a:off x="5473937" y="4395899"/>
            <a:ext cx="1718965"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Tasks in role</a:t>
            </a:r>
          </a:p>
          <a:p>
            <a:pPr algn="l">
              <a:lnSpc>
                <a:spcPts val="1763"/>
              </a:lnSpc>
            </a:pPr>
            <a:r>
              <a:rPr sz="1200" dirty="0">
                <a:solidFill>
                  <a:srgbClr val="000000"/>
                </a:solidFill>
                <a:latin typeface="Helvetica Neue Light"/>
              </a:rPr>
              <a:t>• Find leads, meet leads</a:t>
            </a:r>
          </a:p>
        </p:txBody>
      </p:sp>
      <p:sp>
        <p:nvSpPr>
          <p:cNvPr id="25" name="TextBox 24"/>
          <p:cNvSpPr txBox="1"/>
          <p:nvPr/>
        </p:nvSpPr>
        <p:spPr>
          <a:xfrm>
            <a:off x="5473937" y="4843955"/>
            <a:ext cx="2159798"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Make proposals for new jobs</a:t>
            </a:r>
          </a:p>
          <a:p>
            <a:pPr algn="l">
              <a:lnSpc>
                <a:spcPts val="1763"/>
              </a:lnSpc>
            </a:pPr>
            <a:r>
              <a:rPr sz="1200" dirty="0">
                <a:solidFill>
                  <a:srgbClr val="000000"/>
                </a:solidFill>
                <a:latin typeface="Helvetica Neue Light"/>
              </a:rPr>
              <a:t>• Manage crews on jobs</a:t>
            </a:r>
          </a:p>
        </p:txBody>
      </p:sp>
      <p:sp>
        <p:nvSpPr>
          <p:cNvPr id="26" name="TextBox 25"/>
          <p:cNvSpPr txBox="1"/>
          <p:nvPr/>
        </p:nvSpPr>
        <p:spPr>
          <a:xfrm>
            <a:off x="5473937" y="5292011"/>
            <a:ext cx="2028661" cy="181910"/>
          </a:xfrm>
          <a:prstGeom prst="rect">
            <a:avLst/>
          </a:prstGeom>
          <a:noFill/>
        </p:spPr>
        <p:txBody>
          <a:bodyPr wrap="none" lIns="0" tIns="0" rIns="0" bIns="0">
            <a:noAutofit/>
          </a:bodyPr>
          <a:lstStyle/>
          <a:p>
            <a:pPr algn="l"/>
            <a:r>
              <a:rPr sz="1200" dirty="0">
                <a:solidFill>
                  <a:srgbClr val="000000"/>
                </a:solidFill>
                <a:latin typeface="Helvetica Neue Light"/>
              </a:rPr>
              <a:t>• Build timelines for projects</a:t>
            </a:r>
          </a:p>
        </p:txBody>
      </p:sp>
      <p:sp>
        <p:nvSpPr>
          <p:cNvPr id="27" name="TextBox 26"/>
          <p:cNvSpPr txBox="1"/>
          <p:nvPr/>
        </p:nvSpPr>
        <p:spPr>
          <a:xfrm>
            <a:off x="5473937" y="5516039"/>
            <a:ext cx="2718217"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Budget expenses for work</a:t>
            </a:r>
          </a:p>
          <a:p>
            <a:pPr algn="l">
              <a:lnSpc>
                <a:spcPts val="1763"/>
              </a:lnSpc>
            </a:pPr>
            <a:r>
              <a:rPr sz="1200" dirty="0">
                <a:solidFill>
                  <a:srgbClr val="000000"/>
                </a:solidFill>
                <a:latin typeface="Helvetica Neue Light"/>
              </a:rPr>
              <a:t>• Business expenses, general upkeep</a:t>
            </a:r>
          </a:p>
        </p:txBody>
      </p:sp>
      <p:sp>
        <p:nvSpPr>
          <p:cNvPr id="28" name="TextBox 27"/>
          <p:cNvSpPr txBox="1"/>
          <p:nvPr/>
        </p:nvSpPr>
        <p:spPr>
          <a:xfrm>
            <a:off x="1009989" y="5964095"/>
            <a:ext cx="7136034" cy="814694"/>
          </a:xfrm>
          <a:prstGeom prst="rect">
            <a:avLst/>
          </a:prstGeom>
          <a:noFill/>
        </p:spPr>
        <p:txBody>
          <a:bodyPr wrap="none" lIns="0" tIns="0" rIns="0" bIns="0">
            <a:noAutofit/>
          </a:bodyPr>
          <a:lstStyle/>
          <a:p>
            <a:pPr marL="4463948" algn="l">
              <a:lnSpc>
                <a:spcPts val="1763"/>
              </a:lnSpc>
            </a:pPr>
            <a:r>
              <a:rPr sz="1200" dirty="0">
                <a:solidFill>
                  <a:srgbClr val="000000"/>
                </a:solidFill>
                <a:latin typeface="Helvetica Neue Light"/>
              </a:rPr>
              <a:t>• Promotion of business </a:t>
            </a:r>
          </a:p>
          <a:p>
            <a:pPr marL="4463948" algn="l">
              <a:lnSpc>
                <a:spcPts val="1763"/>
              </a:lnSpc>
            </a:pPr>
            <a:r>
              <a:rPr sz="1200" dirty="0">
                <a:solidFill>
                  <a:srgbClr val="000000"/>
                </a:solidFill>
                <a:latin typeface="Helvetica Neue Light"/>
              </a:rPr>
              <a:t>• Research on new opportunities</a:t>
            </a:r>
          </a:p>
          <a:p>
            <a:pPr algn="l">
              <a:lnSpc>
                <a:spcPts val="1763"/>
              </a:lnSpc>
            </a:pPr>
            <a:r>
              <a:rPr sz="1200" dirty="0">
                <a:solidFill>
                  <a:srgbClr val="000000"/>
                </a:solidFill>
                <a:latin typeface="Helvetica Neue Light"/>
              </a:rPr>
              <a:t>Expectations of System</a:t>
            </a:r>
          </a:p>
          <a:p>
            <a:pPr algn="l">
              <a:lnSpc>
                <a:spcPts val="1763"/>
              </a:lnSpc>
            </a:pPr>
            <a:r>
              <a:rPr sz="1200" dirty="0">
                <a:solidFill>
                  <a:srgbClr val="000000"/>
                </a:solidFill>
                <a:latin typeface="Helvetica Neue Light"/>
              </a:rPr>
              <a:t>• Be able to monitor specific spending</a:t>
            </a:r>
          </a:p>
        </p:txBody>
      </p:sp>
      <p:sp>
        <p:nvSpPr>
          <p:cNvPr id="29" name="TextBox 28"/>
          <p:cNvSpPr txBox="1"/>
          <p:nvPr/>
        </p:nvSpPr>
        <p:spPr>
          <a:xfrm>
            <a:off x="1009989" y="6820906"/>
            <a:ext cx="3154698" cy="181910"/>
          </a:xfrm>
          <a:prstGeom prst="rect">
            <a:avLst/>
          </a:prstGeom>
          <a:noFill/>
        </p:spPr>
        <p:txBody>
          <a:bodyPr wrap="none" lIns="0" tIns="0" rIns="0" bIns="0">
            <a:noAutofit/>
          </a:bodyPr>
          <a:lstStyle/>
          <a:p>
            <a:pPr algn="l"/>
            <a:r>
              <a:rPr sz="1200" dirty="0">
                <a:solidFill>
                  <a:srgbClr val="000000"/>
                </a:solidFill>
                <a:latin typeface="Helvetica Neue Light"/>
              </a:rPr>
              <a:t>• Get predictive recommendations and alerts</a:t>
            </a:r>
          </a:p>
        </p:txBody>
      </p:sp>
      <p:sp>
        <p:nvSpPr>
          <p:cNvPr id="30" name="TextBox 29"/>
          <p:cNvSpPr txBox="1"/>
          <p:nvPr/>
        </p:nvSpPr>
        <p:spPr>
          <a:xfrm>
            <a:off x="1009989" y="7044935"/>
            <a:ext cx="2016242"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Optimize current Budgets</a:t>
            </a:r>
          </a:p>
          <a:p>
            <a:pPr algn="l">
              <a:lnSpc>
                <a:spcPts val="1763"/>
              </a:lnSpc>
            </a:pPr>
            <a:r>
              <a:rPr sz="1200" dirty="0">
                <a:solidFill>
                  <a:srgbClr val="000000"/>
                </a:solidFill>
                <a:latin typeface="Helvetica Neue Light"/>
              </a:rPr>
              <a:t>•  Aid Expansion of business </a:t>
            </a:r>
          </a:p>
        </p:txBody>
      </p:sp>
      <p:sp>
        <p:nvSpPr>
          <p:cNvPr id="31" name="TextBox 30"/>
          <p:cNvSpPr txBox="1"/>
          <p:nvPr/>
        </p:nvSpPr>
        <p:spPr>
          <a:xfrm>
            <a:off x="1009989" y="7492990"/>
            <a:ext cx="4194760" cy="181910"/>
          </a:xfrm>
          <a:prstGeom prst="rect">
            <a:avLst/>
          </a:prstGeom>
          <a:noFill/>
        </p:spPr>
        <p:txBody>
          <a:bodyPr wrap="none" lIns="0" tIns="0" rIns="0" bIns="0">
            <a:noAutofit/>
          </a:bodyPr>
          <a:lstStyle/>
          <a:p>
            <a:pPr algn="l"/>
            <a:r>
              <a:rPr sz="1200" dirty="0">
                <a:solidFill>
                  <a:srgbClr val="000000"/>
                </a:solidFill>
                <a:latin typeface="Helvetica Neue Light"/>
              </a:rPr>
              <a:t>•  Share, socialize, communicate about the Small Businesses</a:t>
            </a:r>
          </a:p>
        </p:txBody>
      </p:sp>
      <p:sp>
        <p:nvSpPr>
          <p:cNvPr id="32" name="TextBox 31"/>
          <p:cNvSpPr txBox="1"/>
          <p:nvPr/>
        </p:nvSpPr>
        <p:spPr>
          <a:xfrm>
            <a:off x="457200" y="939800"/>
            <a:ext cx="5267959" cy="476250"/>
          </a:xfrm>
          <a:prstGeom prst="rect">
            <a:avLst/>
          </a:prstGeom>
          <a:noFill/>
        </p:spPr>
        <p:txBody>
          <a:bodyPr wrap="none" lIns="0" tIns="0" rIns="0" bIns="0">
            <a:noAutofit/>
          </a:bodyPr>
          <a:lstStyle/>
          <a:p>
            <a:pPr algn="l"/>
            <a:r>
              <a:rPr sz="3000" dirty="0">
                <a:solidFill>
                  <a:srgbClr val="1F1F1F"/>
                </a:solidFill>
                <a:latin typeface="Helvetica Neue Light"/>
              </a:rPr>
              <a:t>Small Business Owner Persona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40264" y="2625611"/>
            <a:ext cx="5344370" cy="3536716"/>
          </a:xfrm>
          <a:prstGeom prst="rect">
            <a:avLst/>
          </a:prstGeom>
        </p:spPr>
      </p:pic>
      <p:pic>
        <p:nvPicPr>
          <p:cNvPr id="4" name="Picture 2" descr="image.png"/>
          <p:cNvPicPr>
            <a:picLocks noChangeAspect="1"/>
          </p:cNvPicPr>
          <p:nvPr/>
        </p:nvPicPr>
        <p:blipFill>
          <a:blip r:embed="rId4"/>
          <a:stretch>
            <a:fillRect/>
          </a:stretch>
        </p:blipFill>
        <p:spPr>
          <a:xfrm>
            <a:off x="6622588" y="2645849"/>
            <a:ext cx="2356916" cy="3815189"/>
          </a:xfrm>
          <a:prstGeom prst="rect">
            <a:avLst/>
          </a:prstGeom>
        </p:spPr>
      </p:pic>
      <p:pic>
        <p:nvPicPr>
          <p:cNvPr id="5" name="Picture 3" descr="image.png"/>
          <p:cNvPicPr>
            <a:picLocks noChangeAspect="1"/>
          </p:cNvPicPr>
          <p:nvPr/>
        </p:nvPicPr>
        <p:blipFill>
          <a:blip r:embed="rId5"/>
          <a:stretch>
            <a:fillRect/>
          </a:stretch>
        </p:blipFill>
        <p:spPr>
          <a:xfrm>
            <a:off x="9659865" y="2646117"/>
            <a:ext cx="2505774" cy="4265639"/>
          </a:xfrm>
          <a:prstGeom prst="rect">
            <a:avLst/>
          </a:prstGeom>
        </p:spPr>
      </p:pic>
      <p:pic>
        <p:nvPicPr>
          <p:cNvPr id="6" name="Picture 4" descr="image.png"/>
          <p:cNvPicPr>
            <a:picLocks noChangeAspect="1"/>
          </p:cNvPicPr>
          <p:nvPr/>
        </p:nvPicPr>
        <p:blipFill>
          <a:blip r:embed="rId6"/>
          <a:stretch>
            <a:fillRect/>
          </a:stretch>
        </p:blipFill>
        <p:spPr>
          <a:xfrm>
            <a:off x="2271240" y="5707558"/>
            <a:ext cx="2079698" cy="3766296"/>
          </a:xfrm>
          <a:prstGeom prst="rect">
            <a:avLst/>
          </a:prstGeom>
        </p:spPr>
      </p:pic>
      <p:pic>
        <p:nvPicPr>
          <p:cNvPr id="7" name="Picture 5" descr="image.png"/>
          <p:cNvPicPr>
            <a:picLocks noChangeAspect="1"/>
          </p:cNvPicPr>
          <p:nvPr/>
        </p:nvPicPr>
        <p:blipFill>
          <a:blip r:embed="rId7"/>
          <a:stretch>
            <a:fillRect/>
          </a:stretch>
        </p:blipFill>
        <p:spPr>
          <a:xfrm>
            <a:off x="4594824" y="5180031"/>
            <a:ext cx="2400157" cy="4333933"/>
          </a:xfrm>
          <a:prstGeom prst="rect">
            <a:avLst/>
          </a:prstGeom>
        </p:spPr>
      </p:pic>
      <p:pic>
        <p:nvPicPr>
          <p:cNvPr id="8" name="Picture 6" descr="image.png"/>
          <p:cNvPicPr>
            <a:picLocks noChangeAspect="1"/>
          </p:cNvPicPr>
          <p:nvPr/>
        </p:nvPicPr>
        <p:blipFill>
          <a:blip r:embed="rId8"/>
          <a:stretch>
            <a:fillRect/>
          </a:stretch>
        </p:blipFill>
        <p:spPr>
          <a:xfrm>
            <a:off x="7941986" y="3539611"/>
            <a:ext cx="2285398" cy="3920540"/>
          </a:xfrm>
          <a:prstGeom prst="rect">
            <a:avLst/>
          </a:prstGeom>
        </p:spPr>
      </p:pic>
      <p:pic>
        <p:nvPicPr>
          <p:cNvPr id="9" name="Picture 7" descr="image.png"/>
          <p:cNvPicPr>
            <a:picLocks noChangeAspect="1"/>
          </p:cNvPicPr>
          <p:nvPr/>
        </p:nvPicPr>
        <p:blipFill>
          <a:blip r:embed="rId9"/>
          <a:stretch>
            <a:fillRect/>
          </a:stretch>
        </p:blipFill>
        <p:spPr>
          <a:xfrm>
            <a:off x="8818480" y="4744433"/>
            <a:ext cx="2481174" cy="4427193"/>
          </a:xfrm>
          <a:prstGeom prst="rect">
            <a:avLst/>
          </a:prstGeom>
        </p:spPr>
      </p:pic>
      <p:sp>
        <p:nvSpPr>
          <p:cNvPr id="10" name="TextBox 9"/>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11" name="TextBox 10"/>
          <p:cNvSpPr txBox="1"/>
          <p:nvPr/>
        </p:nvSpPr>
        <p:spPr>
          <a:xfrm>
            <a:off x="457200" y="939800"/>
            <a:ext cx="12090400" cy="1238250"/>
          </a:xfrm>
          <a:prstGeom prst="rect">
            <a:avLst/>
          </a:prstGeom>
          <a:noFill/>
        </p:spPr>
        <p:txBody>
          <a:bodyPr wrap="square" lIns="0" tIns="0" rIns="0" bIns="0">
            <a:noAutofit/>
          </a:bodyPr>
          <a:lstStyle/>
          <a:p>
            <a:pPr algn="l">
              <a:lnSpc>
                <a:spcPts val="2400"/>
              </a:lnSpc>
            </a:pPr>
            <a:r>
              <a:rPr sz="3000" dirty="0">
                <a:solidFill>
                  <a:srgbClr val="1F1F1F"/>
                </a:solidFill>
                <a:latin typeface="Helvetica Neue Light"/>
              </a:rPr>
              <a:t>Design Thinking Exercises </a:t>
            </a:r>
          </a:p>
          <a:p>
            <a:pPr algn="l">
              <a:lnSpc>
                <a:spcPts val="2400"/>
              </a:lnSpc>
            </a:pPr>
            <a:r>
              <a:rPr sz="2000" dirty="0">
                <a:solidFill>
                  <a:srgbClr val="000000"/>
                </a:solidFill>
                <a:latin typeface="Helvetica Neue Thin"/>
              </a:rPr>
              <a:t>Generated concepts for interfaces with 6 participants with 5 concepts for mobile native account views, reporting features and planning processes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4" name="TextBox 3"/>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5" name="TextBox 4"/>
          <p:cNvSpPr txBox="1"/>
          <p:nvPr/>
        </p:nvSpPr>
        <p:spPr>
          <a:xfrm>
            <a:off x="659853"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6" name="TextBox 5"/>
          <p:cNvSpPr txBox="1"/>
          <p:nvPr/>
        </p:nvSpPr>
        <p:spPr>
          <a:xfrm>
            <a:off x="685800" y="2931890"/>
            <a:ext cx="2412448" cy="216560"/>
          </a:xfrm>
          <a:prstGeom prst="rect">
            <a:avLst/>
          </a:prstGeom>
          <a:noFill/>
        </p:spPr>
        <p:txBody>
          <a:bodyPr wrap="none" lIns="0" tIns="0" rIns="0" bIns="0">
            <a:noAutofit/>
          </a:bodyPr>
          <a:lstStyle/>
          <a:p>
            <a:pPr algn="l"/>
            <a:r>
              <a:rPr sz="1400" dirty="0">
                <a:solidFill>
                  <a:srgbClr val="FFFFFF"/>
                </a:solidFill>
                <a:latin typeface="Helvetica Neue Light"/>
              </a:rPr>
              <a:t>• No way to track spending</a:t>
            </a:r>
          </a:p>
        </p:txBody>
      </p:sp>
      <p:sp>
        <p:nvSpPr>
          <p:cNvPr id="7" name="TextBox 6"/>
          <p:cNvSpPr txBox="1"/>
          <p:nvPr/>
        </p:nvSpPr>
        <p:spPr>
          <a:xfrm>
            <a:off x="685800" y="3180810"/>
            <a:ext cx="2556351" cy="577240"/>
          </a:xfrm>
          <a:prstGeom prst="rect">
            <a:avLst/>
          </a:prstGeom>
          <a:noFill/>
        </p:spPr>
        <p:txBody>
          <a:bodyPr wrap="square" lIns="0" tIns="0" rIns="0" bIns="0">
            <a:noAutofit/>
          </a:bodyPr>
          <a:lstStyle/>
          <a:p>
            <a:pPr marL="228600" indent="-228600" algn="l">
              <a:lnSpc>
                <a:spcPts val="2400"/>
              </a:lnSpc>
            </a:pPr>
            <a:r>
              <a:rPr sz="1400" dirty="0">
                <a:solidFill>
                  <a:srgbClr val="FFFFFF"/>
                </a:solidFill>
                <a:latin typeface="Helvetica Neue Light"/>
              </a:rPr>
              <a:t>•	No workspace for monitoring budgets and planning</a:t>
            </a:r>
          </a:p>
        </p:txBody>
      </p:sp>
      <p:sp>
        <p:nvSpPr>
          <p:cNvPr id="9" name="TextBox 8"/>
          <p:cNvSpPr txBox="1"/>
          <p:nvPr/>
        </p:nvSpPr>
        <p:spPr>
          <a:xfrm>
            <a:off x="685800" y="3790410"/>
            <a:ext cx="2279491" cy="577240"/>
          </a:xfrm>
          <a:prstGeom prst="rect">
            <a:avLst/>
          </a:prstGeom>
          <a:noFill/>
        </p:spPr>
        <p:txBody>
          <a:bodyPr wrap="square" lIns="0" tIns="0" rIns="0" bIns="0">
            <a:noAutofit/>
          </a:bodyPr>
          <a:lstStyle/>
          <a:p>
            <a:pPr marL="228600" indent="-228600" algn="l">
              <a:lnSpc>
                <a:spcPts val="2400"/>
              </a:lnSpc>
            </a:pPr>
            <a:r>
              <a:rPr sz="1400" dirty="0">
                <a:solidFill>
                  <a:srgbClr val="FFFFFF"/>
                </a:solidFill>
                <a:latin typeface="Helvetica Neue Light"/>
              </a:rPr>
              <a:t>•	No place to optimize current business finances</a:t>
            </a:r>
          </a:p>
        </p:txBody>
      </p:sp>
      <p:sp>
        <p:nvSpPr>
          <p:cNvPr id="11" name="TextBox 10"/>
          <p:cNvSpPr txBox="1"/>
          <p:nvPr/>
        </p:nvSpPr>
        <p:spPr>
          <a:xfrm>
            <a:off x="685800" y="4455890"/>
            <a:ext cx="2537648" cy="216560"/>
          </a:xfrm>
          <a:prstGeom prst="rect">
            <a:avLst/>
          </a:prstGeom>
          <a:noFill/>
        </p:spPr>
        <p:txBody>
          <a:bodyPr wrap="none" lIns="0" tIns="0" rIns="0" bIns="0">
            <a:noAutofit/>
          </a:bodyPr>
          <a:lstStyle/>
          <a:p>
            <a:pPr algn="l"/>
            <a:r>
              <a:rPr sz="1400" dirty="0">
                <a:solidFill>
                  <a:srgbClr val="FFFFFF"/>
                </a:solidFill>
                <a:latin typeface="Helvetica Neue Light"/>
              </a:rPr>
              <a:t>•  No way to understand and </a:t>
            </a:r>
          </a:p>
        </p:txBody>
      </p:sp>
      <p:sp>
        <p:nvSpPr>
          <p:cNvPr id="12" name="TextBox 11"/>
          <p:cNvSpPr txBox="1"/>
          <p:nvPr/>
        </p:nvSpPr>
        <p:spPr>
          <a:xfrm>
            <a:off x="914400" y="4760690"/>
            <a:ext cx="2353936" cy="216560"/>
          </a:xfrm>
          <a:prstGeom prst="rect">
            <a:avLst/>
          </a:prstGeom>
          <a:noFill/>
        </p:spPr>
        <p:txBody>
          <a:bodyPr wrap="none" lIns="0" tIns="0" rIns="0" bIns="0">
            <a:noAutofit/>
          </a:bodyPr>
          <a:lstStyle/>
          <a:p>
            <a:pPr algn="l"/>
            <a:r>
              <a:rPr sz="1400" dirty="0">
                <a:solidFill>
                  <a:srgbClr val="FFFFFF"/>
                </a:solidFill>
                <a:latin typeface="Helvetica Neue Light"/>
              </a:rPr>
              <a:t>build business for the future</a:t>
            </a:r>
          </a:p>
        </p:txBody>
      </p:sp>
      <p:sp>
        <p:nvSpPr>
          <p:cNvPr id="13" name="TextBox 12"/>
          <p:cNvSpPr txBox="1"/>
          <p:nvPr/>
        </p:nvSpPr>
        <p:spPr>
          <a:xfrm>
            <a:off x="685800" y="5065490"/>
            <a:ext cx="2161857" cy="216560"/>
          </a:xfrm>
          <a:prstGeom prst="rect">
            <a:avLst/>
          </a:prstGeom>
          <a:noFill/>
        </p:spPr>
        <p:txBody>
          <a:bodyPr wrap="none" lIns="0" tIns="0" rIns="0" bIns="0">
            <a:noAutofit/>
          </a:bodyPr>
          <a:lstStyle/>
          <a:p>
            <a:pPr algn="l"/>
            <a:r>
              <a:rPr sz="1400" dirty="0">
                <a:solidFill>
                  <a:srgbClr val="FFFFFF"/>
                </a:solidFill>
                <a:latin typeface="Helvetica Neue Light"/>
              </a:rPr>
              <a:t>• Fractured touch points</a:t>
            </a:r>
          </a:p>
        </p:txBody>
      </p:sp>
      <p:sp>
        <p:nvSpPr>
          <p:cNvPr id="14" name="TextBox 13"/>
          <p:cNvSpPr txBox="1"/>
          <p:nvPr/>
        </p:nvSpPr>
        <p:spPr>
          <a:xfrm>
            <a:off x="685800" y="5370290"/>
            <a:ext cx="1724426" cy="216560"/>
          </a:xfrm>
          <a:prstGeom prst="rect">
            <a:avLst/>
          </a:prstGeom>
          <a:noFill/>
        </p:spPr>
        <p:txBody>
          <a:bodyPr wrap="none" lIns="0" tIns="0" rIns="0" bIns="0">
            <a:noAutofit/>
          </a:bodyPr>
          <a:lstStyle/>
          <a:p>
            <a:pPr algn="l"/>
            <a:r>
              <a:rPr sz="1400" dirty="0">
                <a:solidFill>
                  <a:srgbClr val="FFFFFF"/>
                </a:solidFill>
                <a:latin typeface="Helvetica Neue Light"/>
              </a:rPr>
              <a:t>• No alerts system </a:t>
            </a:r>
          </a:p>
        </p:txBody>
      </p:sp>
      <p:sp>
        <p:nvSpPr>
          <p:cNvPr id="15" name="TextBox 14"/>
          <p:cNvSpPr txBox="1"/>
          <p:nvPr/>
        </p:nvSpPr>
        <p:spPr>
          <a:xfrm>
            <a:off x="3997043" y="2416525"/>
            <a:ext cx="7999164"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41534" algn="l">
              <a:lnSpc>
                <a:spcPts val="207"/>
              </a:lnSpc>
            </a:pPr>
            <a:r>
              <a:rPr sz="1900" dirty="0">
                <a:solidFill>
                  <a:srgbClr val="FFFFFF"/>
                </a:solidFill>
                <a:latin typeface="Helvetica Neue Light"/>
              </a:rPr>
              <a:t>Feature Set</a:t>
            </a:r>
          </a:p>
        </p:txBody>
      </p:sp>
      <p:sp>
        <p:nvSpPr>
          <p:cNvPr id="16" name="TextBox 15"/>
          <p:cNvSpPr txBox="1"/>
          <p:nvPr/>
        </p:nvSpPr>
        <p:spPr>
          <a:xfrm>
            <a:off x="10121900" y="2931890"/>
            <a:ext cx="2268338" cy="216560"/>
          </a:xfrm>
          <a:prstGeom prst="rect">
            <a:avLst/>
          </a:prstGeom>
          <a:noFill/>
        </p:spPr>
        <p:txBody>
          <a:bodyPr wrap="none" lIns="0" tIns="0" rIns="0" bIns="0">
            <a:noAutofit/>
          </a:bodyPr>
          <a:lstStyle/>
          <a:p>
            <a:pPr algn="l"/>
            <a:r>
              <a:rPr sz="1450" dirty="0">
                <a:solidFill>
                  <a:srgbClr val="FFFFFF"/>
                </a:solidFill>
                <a:latin typeface="Helvetica Neue Light"/>
              </a:rPr>
              <a:t>• Expense &amp; Spending </a:t>
            </a:r>
          </a:p>
        </p:txBody>
      </p:sp>
      <p:sp>
        <p:nvSpPr>
          <p:cNvPr id="17" name="TextBox 16"/>
          <p:cNvSpPr txBox="1"/>
          <p:nvPr/>
        </p:nvSpPr>
        <p:spPr>
          <a:xfrm>
            <a:off x="10371073" y="3236690"/>
            <a:ext cx="772905" cy="216560"/>
          </a:xfrm>
          <a:prstGeom prst="rect">
            <a:avLst/>
          </a:prstGeom>
          <a:noFill/>
        </p:spPr>
        <p:txBody>
          <a:bodyPr wrap="none" lIns="0" tIns="0" rIns="0" bIns="0">
            <a:noAutofit/>
          </a:bodyPr>
          <a:lstStyle/>
          <a:p>
            <a:pPr algn="l"/>
            <a:r>
              <a:rPr sz="1450" dirty="0">
                <a:solidFill>
                  <a:srgbClr val="FFFFFF"/>
                </a:solidFill>
                <a:latin typeface="Helvetica Neue Light"/>
              </a:rPr>
              <a:t>Tracker </a:t>
            </a:r>
          </a:p>
        </p:txBody>
      </p:sp>
      <p:sp>
        <p:nvSpPr>
          <p:cNvPr id="18" name="TextBox 17"/>
          <p:cNvSpPr txBox="1"/>
          <p:nvPr/>
        </p:nvSpPr>
        <p:spPr>
          <a:xfrm>
            <a:off x="10121900" y="3491960"/>
            <a:ext cx="2174433" cy="8756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Budget and Goal Planning Wizard and Workspace</a:t>
            </a:r>
          </a:p>
        </p:txBody>
      </p:sp>
      <p:sp>
        <p:nvSpPr>
          <p:cNvPr id="21" name="TextBox 20"/>
          <p:cNvSpPr txBox="1"/>
          <p:nvPr/>
        </p:nvSpPr>
        <p:spPr>
          <a:xfrm>
            <a:off x="10121900" y="4406360"/>
            <a:ext cx="2250712" cy="8756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Business Optimizer and Data Visualization Functionality</a:t>
            </a:r>
          </a:p>
        </p:txBody>
      </p:sp>
      <p:sp>
        <p:nvSpPr>
          <p:cNvPr id="24" name="TextBox 23"/>
          <p:cNvSpPr txBox="1"/>
          <p:nvPr/>
        </p:nvSpPr>
        <p:spPr>
          <a:xfrm>
            <a:off x="10121900" y="5370290"/>
            <a:ext cx="2033075" cy="216560"/>
          </a:xfrm>
          <a:prstGeom prst="rect">
            <a:avLst/>
          </a:prstGeom>
          <a:noFill/>
        </p:spPr>
        <p:txBody>
          <a:bodyPr wrap="none" lIns="0" tIns="0" rIns="0" bIns="0">
            <a:noAutofit/>
          </a:bodyPr>
          <a:lstStyle/>
          <a:p>
            <a:pPr algn="l"/>
            <a:r>
              <a:rPr sz="1450" dirty="0">
                <a:solidFill>
                  <a:srgbClr val="FFFFFF"/>
                </a:solidFill>
                <a:latin typeface="Helvetica Neue Light"/>
              </a:rPr>
              <a:t>• Photo Receipt and </a:t>
            </a:r>
          </a:p>
        </p:txBody>
      </p:sp>
      <p:sp>
        <p:nvSpPr>
          <p:cNvPr id="25" name="TextBox 24"/>
          <p:cNvSpPr txBox="1"/>
          <p:nvPr/>
        </p:nvSpPr>
        <p:spPr>
          <a:xfrm>
            <a:off x="10371073" y="5675090"/>
            <a:ext cx="1464661" cy="216560"/>
          </a:xfrm>
          <a:prstGeom prst="rect">
            <a:avLst/>
          </a:prstGeom>
          <a:noFill/>
        </p:spPr>
        <p:txBody>
          <a:bodyPr wrap="none" lIns="0" tIns="0" rIns="0" bIns="0">
            <a:noAutofit/>
          </a:bodyPr>
          <a:lstStyle/>
          <a:p>
            <a:pPr algn="l"/>
            <a:r>
              <a:rPr sz="1450" dirty="0">
                <a:solidFill>
                  <a:srgbClr val="FFFFFF"/>
                </a:solidFill>
                <a:latin typeface="Helvetica Neue Light"/>
              </a:rPr>
              <a:t>Check Capture </a:t>
            </a:r>
          </a:p>
        </p:txBody>
      </p:sp>
      <p:sp>
        <p:nvSpPr>
          <p:cNvPr id="26" name="TextBox 25"/>
          <p:cNvSpPr txBox="1"/>
          <p:nvPr/>
        </p:nvSpPr>
        <p:spPr>
          <a:xfrm>
            <a:off x="10121900" y="5979890"/>
            <a:ext cx="2086658" cy="216560"/>
          </a:xfrm>
          <a:prstGeom prst="rect">
            <a:avLst/>
          </a:prstGeom>
          <a:noFill/>
        </p:spPr>
        <p:txBody>
          <a:bodyPr wrap="none" lIns="0" tIns="0" rIns="0" bIns="0">
            <a:noAutofit/>
          </a:bodyPr>
          <a:lstStyle/>
          <a:p>
            <a:pPr algn="l"/>
            <a:r>
              <a:rPr sz="1450" dirty="0">
                <a:solidFill>
                  <a:srgbClr val="FFFFFF"/>
                </a:solidFill>
                <a:latin typeface="Helvetica Neue Light"/>
              </a:rPr>
              <a:t>• Alert and Predictive</a:t>
            </a:r>
          </a:p>
        </p:txBody>
      </p:sp>
      <p:sp>
        <p:nvSpPr>
          <p:cNvPr id="27" name="TextBox 26"/>
          <p:cNvSpPr txBox="1"/>
          <p:nvPr/>
        </p:nvSpPr>
        <p:spPr>
          <a:xfrm>
            <a:off x="10121900" y="6284690"/>
            <a:ext cx="1368970" cy="216560"/>
          </a:xfrm>
          <a:prstGeom prst="rect">
            <a:avLst/>
          </a:prstGeom>
          <a:noFill/>
        </p:spPr>
        <p:txBody>
          <a:bodyPr wrap="none" lIns="0" tIns="0" rIns="0" bIns="0">
            <a:noAutofit/>
          </a:bodyPr>
          <a:lstStyle/>
          <a:p>
            <a:pPr algn="l"/>
            <a:r>
              <a:rPr sz="1450" dirty="0">
                <a:solidFill>
                  <a:srgbClr val="FFFFFF"/>
                </a:solidFill>
                <a:latin typeface="Helvetica Neue Light"/>
              </a:rPr>
              <a:t>• Tip System </a:t>
            </a:r>
          </a:p>
        </p:txBody>
      </p:sp>
      <p:sp>
        <p:nvSpPr>
          <p:cNvPr id="28" name="TextBox 27"/>
          <p:cNvSpPr txBox="1"/>
          <p:nvPr/>
        </p:nvSpPr>
        <p:spPr>
          <a:xfrm>
            <a:off x="10121900" y="6589490"/>
            <a:ext cx="2320035" cy="216560"/>
          </a:xfrm>
          <a:prstGeom prst="rect">
            <a:avLst/>
          </a:prstGeom>
          <a:noFill/>
        </p:spPr>
        <p:txBody>
          <a:bodyPr wrap="none" lIns="0" tIns="0" rIns="0" bIns="0">
            <a:noAutofit/>
          </a:bodyPr>
          <a:lstStyle/>
          <a:p>
            <a:pPr algn="l"/>
            <a:r>
              <a:rPr sz="1450" dirty="0">
                <a:solidFill>
                  <a:srgbClr val="FFFFFF"/>
                </a:solidFill>
                <a:latin typeface="Helvetica Neue Light"/>
              </a:rPr>
              <a:t>• Multiple Form Factors </a:t>
            </a:r>
          </a:p>
        </p:txBody>
      </p:sp>
      <p:sp>
        <p:nvSpPr>
          <p:cNvPr id="29" name="TextBox 28"/>
          <p:cNvSpPr txBox="1"/>
          <p:nvPr/>
        </p:nvSpPr>
        <p:spPr>
          <a:xfrm>
            <a:off x="10121900" y="6844760"/>
            <a:ext cx="1878270" cy="5708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Geared to Users lifestyle</a:t>
            </a:r>
          </a:p>
        </p:txBody>
      </p:sp>
      <p:sp>
        <p:nvSpPr>
          <p:cNvPr id="31" name="TextBox 30"/>
          <p:cNvSpPr txBox="1"/>
          <p:nvPr/>
        </p:nvSpPr>
        <p:spPr>
          <a:xfrm>
            <a:off x="10121900" y="7503890"/>
            <a:ext cx="2187753" cy="216560"/>
          </a:xfrm>
          <a:prstGeom prst="rect">
            <a:avLst/>
          </a:prstGeom>
          <a:noFill/>
        </p:spPr>
        <p:txBody>
          <a:bodyPr wrap="none" lIns="0" tIns="0" rIns="0" bIns="0">
            <a:noAutofit/>
          </a:bodyPr>
          <a:lstStyle/>
          <a:p>
            <a:pPr algn="l"/>
            <a:r>
              <a:rPr sz="1400" dirty="0">
                <a:solidFill>
                  <a:srgbClr val="FFFFFF"/>
                </a:solidFill>
                <a:latin typeface="Helvetica Neue Light"/>
              </a:rPr>
              <a:t>• Chatbot, Voice-based  </a:t>
            </a:r>
          </a:p>
        </p:txBody>
      </p:sp>
      <p:sp>
        <p:nvSpPr>
          <p:cNvPr id="32" name="TextBox 31"/>
          <p:cNvSpPr txBox="1"/>
          <p:nvPr/>
        </p:nvSpPr>
        <p:spPr>
          <a:xfrm>
            <a:off x="10350500" y="7808690"/>
            <a:ext cx="1561451" cy="216560"/>
          </a:xfrm>
          <a:prstGeom prst="rect">
            <a:avLst/>
          </a:prstGeom>
          <a:noFill/>
        </p:spPr>
        <p:txBody>
          <a:bodyPr wrap="none" lIns="0" tIns="0" rIns="0" bIns="0">
            <a:noAutofit/>
          </a:bodyPr>
          <a:lstStyle/>
          <a:p>
            <a:pPr algn="l"/>
            <a:r>
              <a:rPr sz="1400" dirty="0">
                <a:solidFill>
                  <a:srgbClr val="FFFFFF"/>
                </a:solidFill>
                <a:latin typeface="Helvetica Neue Light"/>
              </a:rPr>
              <a:t>Customer Support</a:t>
            </a:r>
          </a:p>
        </p:txBody>
      </p:sp>
      <p:sp>
        <p:nvSpPr>
          <p:cNvPr id="33" name="TextBox 32"/>
          <p:cNvSpPr txBox="1"/>
          <p:nvPr/>
        </p:nvSpPr>
        <p:spPr>
          <a:xfrm>
            <a:off x="3937000" y="2931890"/>
            <a:ext cx="2187587" cy="216560"/>
          </a:xfrm>
          <a:prstGeom prst="rect">
            <a:avLst/>
          </a:prstGeom>
          <a:noFill/>
        </p:spPr>
        <p:txBody>
          <a:bodyPr wrap="none" lIns="0" tIns="0" rIns="0" bIns="0">
            <a:noAutofit/>
          </a:bodyPr>
          <a:lstStyle/>
          <a:p>
            <a:pPr algn="l"/>
            <a:r>
              <a:rPr sz="1400" dirty="0">
                <a:solidFill>
                  <a:srgbClr val="000000"/>
                </a:solidFill>
                <a:latin typeface="Helvetica Neue Light"/>
              </a:rPr>
              <a:t>• Integrated applications</a:t>
            </a:r>
          </a:p>
        </p:txBody>
      </p:sp>
      <p:sp>
        <p:nvSpPr>
          <p:cNvPr id="34" name="TextBox 33"/>
          <p:cNvSpPr txBox="1"/>
          <p:nvPr/>
        </p:nvSpPr>
        <p:spPr>
          <a:xfrm>
            <a:off x="3937000" y="3236690"/>
            <a:ext cx="859741" cy="216560"/>
          </a:xfrm>
          <a:prstGeom prst="rect">
            <a:avLst/>
          </a:prstGeom>
          <a:noFill/>
        </p:spPr>
        <p:txBody>
          <a:bodyPr wrap="none" lIns="0" tIns="0" rIns="0" bIns="0">
            <a:noAutofit/>
          </a:bodyPr>
          <a:lstStyle/>
          <a:p>
            <a:pPr algn="l"/>
            <a:r>
              <a:rPr sz="1400" dirty="0">
                <a:solidFill>
                  <a:srgbClr val="000000"/>
                </a:solidFill>
                <a:latin typeface="Helvetica Neue Light"/>
              </a:rPr>
              <a:t>• Mobile</a:t>
            </a:r>
          </a:p>
        </p:txBody>
      </p:sp>
      <p:sp>
        <p:nvSpPr>
          <p:cNvPr id="35" name="TextBox 34"/>
          <p:cNvSpPr txBox="1"/>
          <p:nvPr/>
        </p:nvSpPr>
        <p:spPr>
          <a:xfrm>
            <a:off x="3937000" y="3541490"/>
            <a:ext cx="1841350" cy="216560"/>
          </a:xfrm>
          <a:prstGeom prst="rect">
            <a:avLst/>
          </a:prstGeom>
          <a:noFill/>
        </p:spPr>
        <p:txBody>
          <a:bodyPr wrap="none" lIns="0" tIns="0" rIns="0" bIns="0">
            <a:noAutofit/>
          </a:bodyPr>
          <a:lstStyle/>
          <a:p>
            <a:pPr algn="l"/>
            <a:r>
              <a:rPr sz="1400" dirty="0">
                <a:solidFill>
                  <a:srgbClr val="000000"/>
                </a:solidFill>
                <a:latin typeface="Helvetica Neue Light"/>
              </a:rPr>
              <a:t>• Functionality Parity</a:t>
            </a:r>
          </a:p>
        </p:txBody>
      </p:sp>
      <p:sp>
        <p:nvSpPr>
          <p:cNvPr id="36" name="TextBox 35"/>
          <p:cNvSpPr txBox="1"/>
          <p:nvPr/>
        </p:nvSpPr>
        <p:spPr>
          <a:xfrm>
            <a:off x="3937000" y="3846290"/>
            <a:ext cx="1908576" cy="216560"/>
          </a:xfrm>
          <a:prstGeom prst="rect">
            <a:avLst/>
          </a:prstGeom>
          <a:noFill/>
        </p:spPr>
        <p:txBody>
          <a:bodyPr wrap="none" lIns="0" tIns="0" rIns="0" bIns="0">
            <a:noAutofit/>
          </a:bodyPr>
          <a:lstStyle/>
          <a:p>
            <a:pPr algn="l"/>
            <a:r>
              <a:rPr sz="1400" dirty="0">
                <a:solidFill>
                  <a:srgbClr val="000000"/>
                </a:solidFill>
                <a:latin typeface="Helvetica Neue Light"/>
              </a:rPr>
              <a:t>• Optimize customer </a:t>
            </a:r>
          </a:p>
        </p:txBody>
      </p:sp>
      <p:sp>
        <p:nvSpPr>
          <p:cNvPr id="37" name="TextBox 36"/>
          <p:cNvSpPr txBox="1"/>
          <p:nvPr/>
        </p:nvSpPr>
        <p:spPr>
          <a:xfrm>
            <a:off x="3275991" y="4102315"/>
            <a:ext cx="6898392" cy="695162"/>
          </a:xfrm>
          <a:prstGeom prst="rect">
            <a:avLst/>
          </a:prstGeom>
          <a:noFill/>
        </p:spPr>
        <p:txBody>
          <a:bodyPr wrap="none" lIns="0" tIns="0" rIns="0" bIns="0">
            <a:noAutofit/>
          </a:bodyPr>
          <a:lstStyle/>
          <a:p>
            <a:pPr marL="889608" algn="l">
              <a:lnSpc>
                <a:spcPts val="1202"/>
              </a:lnSpc>
            </a:pPr>
            <a:r>
              <a:rPr sz="1400" dirty="0">
                <a:solidFill>
                  <a:srgbClr val="000000"/>
                </a:solidFill>
                <a:latin typeface="Helvetica Neue Light"/>
              </a:rPr>
              <a:t>service experience</a:t>
            </a:r>
          </a:p>
          <a:p>
            <a:pPr marL="6066348" algn="l">
              <a:lnSpc>
                <a:spcPts val="1202"/>
              </a:lnSpc>
              <a:spcBef>
                <a:spcPts val="1027"/>
              </a:spcBef>
            </a:pPr>
            <a:r>
              <a:rPr sz="4350" dirty="0">
                <a:solidFill>
                  <a:srgbClr val="000000"/>
                </a:solidFill>
                <a:latin typeface="Helvetica Neue Light"/>
              </a:rPr>
              <a:t>=</a:t>
            </a:r>
          </a:p>
          <a:p>
            <a:pPr algn="l">
              <a:lnSpc>
                <a:spcPts val="1202"/>
              </a:lnSpc>
            </a:pPr>
            <a:r>
              <a:rPr sz="4350" dirty="0">
                <a:solidFill>
                  <a:srgbClr val="000000"/>
                </a:solidFill>
                <a:latin typeface="Helvetica Neue Light"/>
              </a:rPr>
              <a:t>+</a:t>
            </a:r>
          </a:p>
        </p:txBody>
      </p:sp>
      <p:sp>
        <p:nvSpPr>
          <p:cNvPr id="38" name="TextBox 37"/>
          <p:cNvSpPr txBox="1"/>
          <p:nvPr/>
        </p:nvSpPr>
        <p:spPr>
          <a:xfrm>
            <a:off x="70256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39" name="TextBox 38"/>
          <p:cNvSpPr txBox="1"/>
          <p:nvPr/>
        </p:nvSpPr>
        <p:spPr>
          <a:xfrm>
            <a:off x="6934200" y="2931890"/>
            <a:ext cx="797525" cy="216560"/>
          </a:xfrm>
          <a:prstGeom prst="rect">
            <a:avLst/>
          </a:prstGeom>
          <a:noFill/>
        </p:spPr>
        <p:txBody>
          <a:bodyPr wrap="none" lIns="0" tIns="0" rIns="0" bIns="0">
            <a:noAutofit/>
          </a:bodyPr>
          <a:lstStyle/>
          <a:p>
            <a:pPr algn="l"/>
            <a:r>
              <a:rPr sz="1400" dirty="0">
                <a:solidFill>
                  <a:srgbClr val="FFFFFF"/>
                </a:solidFill>
                <a:latin typeface="Helvetica Neue Light"/>
              </a:rPr>
              <a:t>• Guide</a:t>
            </a:r>
          </a:p>
        </p:txBody>
      </p:sp>
      <p:sp>
        <p:nvSpPr>
          <p:cNvPr id="40" name="TextBox 39"/>
          <p:cNvSpPr txBox="1"/>
          <p:nvPr/>
        </p:nvSpPr>
        <p:spPr>
          <a:xfrm>
            <a:off x="6934200" y="3236690"/>
            <a:ext cx="975916" cy="216560"/>
          </a:xfrm>
          <a:prstGeom prst="rect">
            <a:avLst/>
          </a:prstGeom>
          <a:noFill/>
        </p:spPr>
        <p:txBody>
          <a:bodyPr wrap="none" lIns="0" tIns="0" rIns="0" bIns="0">
            <a:noAutofit/>
          </a:bodyPr>
          <a:lstStyle/>
          <a:p>
            <a:pPr algn="l"/>
            <a:r>
              <a:rPr sz="1400" dirty="0">
                <a:solidFill>
                  <a:srgbClr val="FFFFFF"/>
                </a:solidFill>
                <a:latin typeface="Helvetica Neue Light"/>
              </a:rPr>
              <a:t>• Educate</a:t>
            </a:r>
          </a:p>
        </p:txBody>
      </p:sp>
      <p:sp>
        <p:nvSpPr>
          <p:cNvPr id="41" name="TextBox 40"/>
          <p:cNvSpPr txBox="1"/>
          <p:nvPr/>
        </p:nvSpPr>
        <p:spPr>
          <a:xfrm>
            <a:off x="6934200" y="3541490"/>
            <a:ext cx="1038706" cy="216560"/>
          </a:xfrm>
          <a:prstGeom prst="rect">
            <a:avLst/>
          </a:prstGeom>
          <a:noFill/>
        </p:spPr>
        <p:txBody>
          <a:bodyPr wrap="none" lIns="0" tIns="0" rIns="0" bIns="0">
            <a:noAutofit/>
          </a:bodyPr>
          <a:lstStyle/>
          <a:p>
            <a:pPr algn="l"/>
            <a:r>
              <a:rPr sz="1400" dirty="0">
                <a:solidFill>
                  <a:srgbClr val="FFFFFF"/>
                </a:solidFill>
                <a:latin typeface="Helvetica Neue Light"/>
              </a:rPr>
              <a:t>• Optimize</a:t>
            </a:r>
          </a:p>
        </p:txBody>
      </p:sp>
      <p:sp>
        <p:nvSpPr>
          <p:cNvPr id="42" name="TextBox 41"/>
          <p:cNvSpPr txBox="1"/>
          <p:nvPr/>
        </p:nvSpPr>
        <p:spPr>
          <a:xfrm>
            <a:off x="6934200" y="3846290"/>
            <a:ext cx="875487" cy="216560"/>
          </a:xfrm>
          <a:prstGeom prst="rect">
            <a:avLst/>
          </a:prstGeom>
          <a:noFill/>
        </p:spPr>
        <p:txBody>
          <a:bodyPr wrap="none" lIns="0" tIns="0" rIns="0" bIns="0">
            <a:noAutofit/>
          </a:bodyPr>
          <a:lstStyle/>
          <a:p>
            <a:pPr algn="l"/>
            <a:r>
              <a:rPr sz="1400" dirty="0">
                <a:solidFill>
                  <a:srgbClr val="FFFFFF"/>
                </a:solidFill>
                <a:latin typeface="Helvetica Neue Light"/>
              </a:rPr>
              <a:t>• Predict</a:t>
            </a:r>
          </a:p>
        </p:txBody>
      </p:sp>
      <p:sp>
        <p:nvSpPr>
          <p:cNvPr id="43" name="TextBox 42"/>
          <p:cNvSpPr txBox="1"/>
          <p:nvPr/>
        </p:nvSpPr>
        <p:spPr>
          <a:xfrm>
            <a:off x="6934200" y="4151090"/>
            <a:ext cx="1444455" cy="216560"/>
          </a:xfrm>
          <a:prstGeom prst="rect">
            <a:avLst/>
          </a:prstGeom>
          <a:noFill/>
        </p:spPr>
        <p:txBody>
          <a:bodyPr wrap="none" lIns="0" tIns="0" rIns="0" bIns="0">
            <a:noAutofit/>
          </a:bodyPr>
          <a:lstStyle/>
          <a:p>
            <a:pPr algn="l"/>
            <a:r>
              <a:rPr sz="1400" dirty="0">
                <a:solidFill>
                  <a:srgbClr val="FFFFFF"/>
                </a:solidFill>
                <a:latin typeface="Helvetica Neue Light"/>
              </a:rPr>
              <a:t>• Communicate</a:t>
            </a:r>
          </a:p>
        </p:txBody>
      </p:sp>
      <p:sp>
        <p:nvSpPr>
          <p:cNvPr id="44" name="TextBox 43"/>
          <p:cNvSpPr txBox="1"/>
          <p:nvPr/>
        </p:nvSpPr>
        <p:spPr>
          <a:xfrm>
            <a:off x="6934200" y="4455890"/>
            <a:ext cx="1099195" cy="216560"/>
          </a:xfrm>
          <a:prstGeom prst="rect">
            <a:avLst/>
          </a:prstGeom>
          <a:noFill/>
        </p:spPr>
        <p:txBody>
          <a:bodyPr wrap="none" lIns="0" tIns="0" rIns="0" bIns="0">
            <a:noAutofit/>
          </a:bodyPr>
          <a:lstStyle/>
          <a:p>
            <a:pPr algn="l"/>
            <a:r>
              <a:rPr sz="1400" dirty="0">
                <a:solidFill>
                  <a:srgbClr val="FFFFFF"/>
                </a:solidFill>
                <a:latin typeface="Helvetica Neue Light"/>
              </a:rPr>
              <a:t>• Automate</a:t>
            </a:r>
          </a:p>
        </p:txBody>
      </p:sp>
      <p:sp>
        <p:nvSpPr>
          <p:cNvPr id="45" name="TextBox 44"/>
          <p:cNvSpPr txBox="1"/>
          <p:nvPr/>
        </p:nvSpPr>
        <p:spPr>
          <a:xfrm>
            <a:off x="6934200" y="4760690"/>
            <a:ext cx="1255695" cy="216560"/>
          </a:xfrm>
          <a:prstGeom prst="rect">
            <a:avLst/>
          </a:prstGeom>
          <a:noFill/>
        </p:spPr>
        <p:txBody>
          <a:bodyPr wrap="none" lIns="0" tIns="0" rIns="0" bIns="0">
            <a:noAutofit/>
          </a:bodyPr>
          <a:lstStyle/>
          <a:p>
            <a:pPr algn="l"/>
            <a:r>
              <a:rPr sz="1400" dirty="0">
                <a:solidFill>
                  <a:srgbClr val="FFFFFF"/>
                </a:solidFill>
                <a:latin typeface="Helvetica Neue Light"/>
              </a:rPr>
              <a:t>• Technology</a:t>
            </a:r>
          </a:p>
        </p:txBody>
      </p:sp>
      <p:sp>
        <p:nvSpPr>
          <p:cNvPr id="46" name="TextBox 45"/>
          <p:cNvSpPr txBox="1"/>
          <p:nvPr/>
        </p:nvSpPr>
        <p:spPr>
          <a:xfrm>
            <a:off x="6934200" y="5065490"/>
            <a:ext cx="1977319" cy="216560"/>
          </a:xfrm>
          <a:prstGeom prst="rect">
            <a:avLst/>
          </a:prstGeom>
          <a:noFill/>
        </p:spPr>
        <p:txBody>
          <a:bodyPr wrap="none" lIns="0" tIns="0" rIns="0" bIns="0">
            <a:noAutofit/>
          </a:bodyPr>
          <a:lstStyle/>
          <a:p>
            <a:pPr algn="l"/>
            <a:r>
              <a:rPr sz="1400" dirty="0">
                <a:solidFill>
                  <a:srgbClr val="FFFFFF"/>
                </a:solidFill>
                <a:latin typeface="Helvetica Neue Light"/>
              </a:rPr>
              <a:t>• Always available  to </a:t>
            </a:r>
          </a:p>
        </p:txBody>
      </p:sp>
      <p:sp>
        <p:nvSpPr>
          <p:cNvPr id="47" name="TextBox 46"/>
          <p:cNvSpPr txBox="1"/>
          <p:nvPr/>
        </p:nvSpPr>
        <p:spPr>
          <a:xfrm>
            <a:off x="7162800" y="5370290"/>
            <a:ext cx="413340" cy="216560"/>
          </a:xfrm>
          <a:prstGeom prst="rect">
            <a:avLst/>
          </a:prstGeom>
          <a:noFill/>
        </p:spPr>
        <p:txBody>
          <a:bodyPr wrap="none" lIns="0" tIns="0" rIns="0" bIns="0">
            <a:noAutofit/>
          </a:bodyPr>
          <a:lstStyle/>
          <a:p>
            <a:pPr algn="l"/>
            <a:r>
              <a:rPr sz="1400" dirty="0">
                <a:solidFill>
                  <a:srgbClr val="FFFFFF"/>
                </a:solidFill>
                <a:latin typeface="Helvetica Neue Light"/>
              </a:rPr>
              <a:t>help</a:t>
            </a:r>
          </a:p>
        </p:txBody>
      </p:sp>
      <p:sp>
        <p:nvSpPr>
          <p:cNvPr id="48" name="TextBox 47"/>
          <p:cNvSpPr txBox="1"/>
          <p:nvPr/>
        </p:nvSpPr>
        <p:spPr>
          <a:xfrm>
            <a:off x="6171003" y="4102315"/>
            <a:ext cx="346736" cy="672884"/>
          </a:xfrm>
          <a:prstGeom prst="rect">
            <a:avLst/>
          </a:prstGeom>
          <a:noFill/>
        </p:spPr>
        <p:txBody>
          <a:bodyPr wrap="none" lIns="0" tIns="0" rIns="0" bIns="0">
            <a:noAutofit/>
          </a:bodyPr>
          <a:lstStyle/>
          <a:p>
            <a:pPr algn="l"/>
            <a:r>
              <a:rPr sz="4350" dirty="0">
                <a:solidFill>
                  <a:srgbClr val="000000"/>
                </a:solidFill>
                <a:latin typeface="Helvetica Neue Light"/>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939800" y="1050539"/>
            <a:ext cx="2586284" cy="866241"/>
          </a:xfrm>
          <a:prstGeom prst="rect">
            <a:avLst/>
          </a:prstGeom>
          <a:noFill/>
        </p:spPr>
        <p:txBody>
          <a:bodyPr wrap="none" lIns="0" tIns="0" rIns="0" bIns="0">
            <a:noAutofit/>
          </a:bodyPr>
          <a:lstStyle/>
          <a:p>
            <a:pPr algn="l"/>
            <a:r>
              <a:rPr sz="5600" dirty="0">
                <a:solidFill>
                  <a:srgbClr val="FFFFFF"/>
                </a:solidFill>
                <a:latin typeface="Helvetica Neue Light"/>
              </a:rPr>
              <a:t>Design </a:t>
            </a:r>
          </a:p>
        </p:txBody>
      </p:sp>
      <p:sp>
        <p:nvSpPr>
          <p:cNvPr id="4" name="TextBox 3"/>
          <p:cNvSpPr txBox="1"/>
          <p:nvPr/>
        </p:nvSpPr>
        <p:spPr>
          <a:xfrm>
            <a:off x="939800" y="2692699"/>
            <a:ext cx="4865609" cy="532180"/>
          </a:xfrm>
          <a:prstGeom prst="rect">
            <a:avLst/>
          </a:prstGeom>
          <a:noFill/>
        </p:spPr>
        <p:txBody>
          <a:bodyPr wrap="none" lIns="0" tIns="0" rIns="0" bIns="0">
            <a:noAutofit/>
          </a:bodyPr>
          <a:lstStyle/>
          <a:p>
            <a:pPr algn="l"/>
            <a:r>
              <a:rPr sz="3600" dirty="0">
                <a:solidFill>
                  <a:srgbClr val="FFFFFF"/>
                </a:solidFill>
                <a:latin typeface="Helvetica Neue Thin"/>
              </a:rPr>
              <a:t>The Delivered Solution</a:t>
            </a:r>
          </a:p>
        </p:txBody>
      </p:sp>
      <p:sp>
        <p:nvSpPr>
          <p:cNvPr id="5" name="TextBox 4"/>
          <p:cNvSpPr txBox="1"/>
          <p:nvPr/>
        </p:nvSpPr>
        <p:spPr>
          <a:xfrm>
            <a:off x="6724650" y="808735"/>
            <a:ext cx="4406725" cy="1362456"/>
          </a:xfrm>
          <a:prstGeom prst="rect">
            <a:avLst/>
          </a:prstGeom>
          <a:noFill/>
        </p:spPr>
        <p:txBody>
          <a:bodyPr wrap="none" lIns="0" tIns="0" rIns="0" bIns="0">
            <a:noAutofit/>
          </a:bodyPr>
          <a:lstStyle/>
          <a:p>
            <a:pPr algn="l">
              <a:lnSpc>
                <a:spcPts val="2800"/>
              </a:lnSpc>
            </a:pPr>
            <a:r>
              <a:rPr sz="2000" dirty="0">
                <a:solidFill>
                  <a:srgbClr val="FFFFFF"/>
                </a:solidFill>
                <a:latin typeface="Helvetica Neue Thin"/>
              </a:rPr>
              <a:t>• Feature refinement and road map </a:t>
            </a:r>
          </a:p>
          <a:p>
            <a:pPr algn="l">
              <a:lnSpc>
                <a:spcPts val="2800"/>
              </a:lnSpc>
            </a:pPr>
            <a:r>
              <a:rPr sz="2000" dirty="0">
                <a:solidFill>
                  <a:srgbClr val="FFFFFF"/>
                </a:solidFill>
                <a:latin typeface="Helvetica Neue Thin"/>
              </a:rPr>
              <a:t>• 22 projected Agile-based sprints</a:t>
            </a:r>
          </a:p>
          <a:p>
            <a:pPr algn="l">
              <a:lnSpc>
                <a:spcPts val="2800"/>
              </a:lnSpc>
            </a:pPr>
            <a:r>
              <a:rPr sz="2000" dirty="0">
                <a:solidFill>
                  <a:srgbClr val="FFFFFF"/>
                </a:solidFill>
                <a:latin typeface="Helvetica Neue Thin"/>
              </a:rPr>
              <a:t>• Usability testing on weekly cadence</a:t>
            </a:r>
          </a:p>
          <a:p>
            <a:pPr algn="l">
              <a:lnSpc>
                <a:spcPts val="2800"/>
              </a:lnSpc>
            </a:pPr>
            <a:r>
              <a:rPr sz="2000" dirty="0">
                <a:solidFill>
                  <a:srgbClr val="FFFFFF"/>
                </a:solidFill>
                <a:latin typeface="Helvetica Neue Thin"/>
              </a:rPr>
              <a:t>• Demos and QA</a:t>
            </a:r>
          </a:p>
        </p:txBody>
      </p:sp>
      <p:sp>
        <p:nvSpPr>
          <p:cNvPr id="6" name="TextBox 5"/>
          <p:cNvSpPr txBox="1"/>
          <p:nvPr/>
        </p:nvSpPr>
        <p:spPr>
          <a:xfrm>
            <a:off x="1028700" y="3344467"/>
            <a:ext cx="10938351" cy="1161084"/>
          </a:xfrm>
          <a:prstGeom prst="rect">
            <a:avLst/>
          </a:prstGeom>
          <a:noFill/>
        </p:spPr>
        <p:txBody>
          <a:bodyPr wrap="square" lIns="0" tIns="0" rIns="0" bIns="0">
            <a:noAutofit/>
          </a:bodyPr>
          <a:lstStyle/>
          <a:p>
            <a:pPr algn="l">
              <a:lnSpc>
                <a:spcPts val="3200"/>
              </a:lnSpc>
            </a:pPr>
            <a:r>
              <a:rPr sz="1600" dirty="0">
                <a:solidFill>
                  <a:srgbClr val="FFFFFF"/>
                </a:solidFill>
                <a:latin typeface="Helvetica Neue Thin"/>
              </a:rPr>
              <a:t>A predictive, guidance-based application that allows small business owners to monitor and track spending and expenses, optimize Financial Plans and if needed, be educated on the subject of small business finances and business operation. Users will be given guided work-flows when they want to:</a:t>
            </a:r>
          </a:p>
        </p:txBody>
      </p:sp>
      <p:sp>
        <p:nvSpPr>
          <p:cNvPr id="9" name="TextBox 8"/>
          <p:cNvSpPr txBox="1"/>
          <p:nvPr/>
        </p:nvSpPr>
        <p:spPr>
          <a:xfrm>
            <a:off x="1403350" y="4961177"/>
            <a:ext cx="2470961" cy="236524"/>
          </a:xfrm>
          <a:prstGeom prst="rect">
            <a:avLst/>
          </a:prstGeom>
          <a:noFill/>
        </p:spPr>
        <p:txBody>
          <a:bodyPr wrap="none" lIns="0" tIns="0" rIns="0" bIns="0">
            <a:noAutofit/>
          </a:bodyPr>
          <a:lstStyle/>
          <a:p>
            <a:pPr algn="l"/>
            <a:r>
              <a:rPr sz="1600" dirty="0">
                <a:solidFill>
                  <a:srgbClr val="FFFFFF"/>
                </a:solidFill>
                <a:latin typeface="Helvetica Neue Thin"/>
              </a:rPr>
              <a:t>• Plan a business budget</a:t>
            </a:r>
          </a:p>
        </p:txBody>
      </p:sp>
      <p:sp>
        <p:nvSpPr>
          <p:cNvPr id="10" name="TextBox 9"/>
          <p:cNvSpPr txBox="1"/>
          <p:nvPr/>
        </p:nvSpPr>
        <p:spPr>
          <a:xfrm>
            <a:off x="1403350" y="5367577"/>
            <a:ext cx="3109797" cy="236524"/>
          </a:xfrm>
          <a:prstGeom prst="rect">
            <a:avLst/>
          </a:prstGeom>
          <a:noFill/>
        </p:spPr>
        <p:txBody>
          <a:bodyPr wrap="none" lIns="0" tIns="0" rIns="0" bIns="0">
            <a:noAutofit/>
          </a:bodyPr>
          <a:lstStyle/>
          <a:p>
            <a:pPr algn="l"/>
            <a:r>
              <a:rPr sz="1600" dirty="0">
                <a:solidFill>
                  <a:srgbClr val="FFFFFF"/>
                </a:solidFill>
                <a:latin typeface="Helvetica Neue Thin"/>
              </a:rPr>
              <a:t>• Track expenses and spending</a:t>
            </a:r>
          </a:p>
        </p:txBody>
      </p:sp>
      <p:sp>
        <p:nvSpPr>
          <p:cNvPr id="11" name="TextBox 10"/>
          <p:cNvSpPr txBox="1"/>
          <p:nvPr/>
        </p:nvSpPr>
        <p:spPr>
          <a:xfrm>
            <a:off x="1403350" y="5773977"/>
            <a:ext cx="4996022" cy="236524"/>
          </a:xfrm>
          <a:prstGeom prst="rect">
            <a:avLst/>
          </a:prstGeom>
          <a:noFill/>
        </p:spPr>
        <p:txBody>
          <a:bodyPr wrap="none" lIns="0" tIns="0" rIns="0" bIns="0">
            <a:noAutofit/>
          </a:bodyPr>
          <a:lstStyle/>
          <a:p>
            <a:pPr algn="l"/>
            <a:r>
              <a:rPr sz="1600" dirty="0">
                <a:solidFill>
                  <a:srgbClr val="FFFFFF"/>
                </a:solidFill>
                <a:latin typeface="Helvetica Neue Thin"/>
              </a:rPr>
              <a:t>•  Get recommendations and tips for optimizing their </a:t>
            </a:r>
          </a:p>
        </p:txBody>
      </p:sp>
      <p:sp>
        <p:nvSpPr>
          <p:cNvPr id="12" name="TextBox 11"/>
          <p:cNvSpPr txBox="1"/>
          <p:nvPr/>
        </p:nvSpPr>
        <p:spPr>
          <a:xfrm>
            <a:off x="1631950" y="6180377"/>
            <a:ext cx="875296" cy="236524"/>
          </a:xfrm>
          <a:prstGeom prst="rect">
            <a:avLst/>
          </a:prstGeom>
          <a:noFill/>
        </p:spPr>
        <p:txBody>
          <a:bodyPr wrap="none" lIns="0" tIns="0" rIns="0" bIns="0">
            <a:noAutofit/>
          </a:bodyPr>
          <a:lstStyle/>
          <a:p>
            <a:pPr algn="l"/>
            <a:r>
              <a:rPr sz="1600" dirty="0">
                <a:solidFill>
                  <a:srgbClr val="FFFFFF"/>
                </a:solidFill>
                <a:latin typeface="Helvetica Neue Thin"/>
              </a:rPr>
              <a:t>business</a:t>
            </a:r>
          </a:p>
        </p:txBody>
      </p:sp>
      <p:sp>
        <p:nvSpPr>
          <p:cNvPr id="13" name="TextBox 12"/>
          <p:cNvSpPr txBox="1"/>
          <p:nvPr/>
        </p:nvSpPr>
        <p:spPr>
          <a:xfrm>
            <a:off x="1403350" y="6586777"/>
            <a:ext cx="3819956" cy="236524"/>
          </a:xfrm>
          <a:prstGeom prst="rect">
            <a:avLst/>
          </a:prstGeom>
          <a:noFill/>
        </p:spPr>
        <p:txBody>
          <a:bodyPr wrap="none" lIns="0" tIns="0" rIns="0" bIns="0">
            <a:noAutofit/>
          </a:bodyPr>
          <a:lstStyle/>
          <a:p>
            <a:pPr algn="l"/>
            <a:r>
              <a:rPr sz="1600" dirty="0">
                <a:solidFill>
                  <a:srgbClr val="FFFFFF"/>
                </a:solidFill>
                <a:latin typeface="Helvetica Neue Thin"/>
              </a:rPr>
              <a:t>• Automate regular business processes</a:t>
            </a:r>
          </a:p>
        </p:txBody>
      </p:sp>
      <p:sp>
        <p:nvSpPr>
          <p:cNvPr id="14" name="TextBox 13"/>
          <p:cNvSpPr txBox="1"/>
          <p:nvPr/>
        </p:nvSpPr>
        <p:spPr>
          <a:xfrm>
            <a:off x="1403350" y="6993177"/>
            <a:ext cx="5293165" cy="236524"/>
          </a:xfrm>
          <a:prstGeom prst="rect">
            <a:avLst/>
          </a:prstGeom>
          <a:noFill/>
        </p:spPr>
        <p:txBody>
          <a:bodyPr wrap="none" lIns="0" tIns="0" rIns="0" bIns="0">
            <a:noAutofit/>
          </a:bodyPr>
          <a:lstStyle/>
          <a:p>
            <a:pPr algn="l"/>
            <a:r>
              <a:rPr sz="1600" dirty="0">
                <a:solidFill>
                  <a:srgbClr val="FFFFFF"/>
                </a:solidFill>
                <a:latin typeface="Helvetica Neue Thin"/>
              </a:rPr>
              <a:t>• Optimize business procedures through analytics, and </a:t>
            </a:r>
          </a:p>
        </p:txBody>
      </p:sp>
      <p:sp>
        <p:nvSpPr>
          <p:cNvPr id="15" name="TextBox 14"/>
          <p:cNvSpPr txBox="1"/>
          <p:nvPr/>
        </p:nvSpPr>
        <p:spPr>
          <a:xfrm>
            <a:off x="1631950" y="7399577"/>
            <a:ext cx="1635052" cy="236524"/>
          </a:xfrm>
          <a:prstGeom prst="rect">
            <a:avLst/>
          </a:prstGeom>
          <a:noFill/>
        </p:spPr>
        <p:txBody>
          <a:bodyPr wrap="none" lIns="0" tIns="0" rIns="0" bIns="0">
            <a:noAutofit/>
          </a:bodyPr>
          <a:lstStyle/>
          <a:p>
            <a:pPr algn="l"/>
            <a:r>
              <a:rPr sz="1600" dirty="0">
                <a:solidFill>
                  <a:srgbClr val="FFFFFF"/>
                </a:solidFill>
                <a:latin typeface="Helvetica Neue Thin"/>
              </a:rPr>
              <a:t>data visualization</a:t>
            </a:r>
          </a:p>
        </p:txBody>
      </p:sp>
      <p:sp>
        <p:nvSpPr>
          <p:cNvPr id="16" name="TextBox 15"/>
          <p:cNvSpPr txBox="1"/>
          <p:nvPr/>
        </p:nvSpPr>
        <p:spPr>
          <a:xfrm>
            <a:off x="1403350" y="7805977"/>
            <a:ext cx="5364224" cy="236524"/>
          </a:xfrm>
          <a:prstGeom prst="rect">
            <a:avLst/>
          </a:prstGeom>
          <a:noFill/>
        </p:spPr>
        <p:txBody>
          <a:bodyPr wrap="none" lIns="0" tIns="0" rIns="0" bIns="0">
            <a:noAutofit/>
          </a:bodyPr>
          <a:lstStyle/>
          <a:p>
            <a:pPr algn="l"/>
            <a:r>
              <a:rPr sz="1600" dirty="0">
                <a:solidFill>
                  <a:srgbClr val="FFFFFF"/>
                </a:solidFill>
                <a:latin typeface="Helvetica Neue Thin"/>
              </a:rPr>
              <a:t>• Set automated procedures, i.e. bill pay, spending overrun </a:t>
            </a:r>
          </a:p>
        </p:txBody>
      </p:sp>
      <p:sp>
        <p:nvSpPr>
          <p:cNvPr id="17" name="TextBox 16"/>
          <p:cNvSpPr txBox="1"/>
          <p:nvPr/>
        </p:nvSpPr>
        <p:spPr>
          <a:xfrm>
            <a:off x="1631950" y="8212377"/>
            <a:ext cx="2511779" cy="236524"/>
          </a:xfrm>
          <a:prstGeom prst="rect">
            <a:avLst/>
          </a:prstGeom>
          <a:noFill/>
        </p:spPr>
        <p:txBody>
          <a:bodyPr wrap="none" lIns="0" tIns="0" rIns="0" bIns="0">
            <a:noAutofit/>
          </a:bodyPr>
          <a:lstStyle/>
          <a:p>
            <a:pPr algn="l"/>
            <a:r>
              <a:rPr sz="1600" dirty="0">
                <a:solidFill>
                  <a:srgbClr val="FFFFFF"/>
                </a:solidFill>
                <a:latin typeface="Helvetica Neue Thin"/>
              </a:rPr>
              <a:t>and contingency plans</a:t>
            </a:r>
          </a:p>
        </p:txBody>
      </p:sp>
      <p:sp>
        <p:nvSpPr>
          <p:cNvPr id="18" name="TextBox 17"/>
          <p:cNvSpPr txBox="1"/>
          <p:nvPr/>
        </p:nvSpPr>
        <p:spPr>
          <a:xfrm>
            <a:off x="6680200" y="4961177"/>
            <a:ext cx="5304575" cy="236524"/>
          </a:xfrm>
          <a:prstGeom prst="rect">
            <a:avLst/>
          </a:prstGeom>
          <a:noFill/>
        </p:spPr>
        <p:txBody>
          <a:bodyPr wrap="none" lIns="0" tIns="0" rIns="0" bIns="0">
            <a:noAutofit/>
          </a:bodyPr>
          <a:lstStyle/>
          <a:p>
            <a:pPr algn="l"/>
            <a:r>
              <a:rPr sz="1600" dirty="0">
                <a:solidFill>
                  <a:srgbClr val="FFFFFF"/>
                </a:solidFill>
                <a:latin typeface="Helvetica Neue Thin"/>
              </a:rPr>
              <a:t>•  Get status updates, badging and gamification to work </a:t>
            </a:r>
          </a:p>
        </p:txBody>
      </p:sp>
      <p:sp>
        <p:nvSpPr>
          <p:cNvPr id="19" name="TextBox 18"/>
          <p:cNvSpPr txBox="1"/>
          <p:nvPr/>
        </p:nvSpPr>
        <p:spPr>
          <a:xfrm>
            <a:off x="6908800" y="5367577"/>
            <a:ext cx="4527458" cy="236524"/>
          </a:xfrm>
          <a:prstGeom prst="rect">
            <a:avLst/>
          </a:prstGeom>
          <a:noFill/>
        </p:spPr>
        <p:txBody>
          <a:bodyPr wrap="none" lIns="0" tIns="0" rIns="0" bIns="0">
            <a:noAutofit/>
          </a:bodyPr>
          <a:lstStyle/>
          <a:p>
            <a:pPr algn="l"/>
            <a:r>
              <a:rPr lang="en-US" sz="1600" dirty="0">
                <a:solidFill>
                  <a:srgbClr val="FFFFFF"/>
                </a:solidFill>
                <a:latin typeface="Helvetica Neue Thin"/>
              </a:rPr>
              <a:t>efficiency </a:t>
            </a:r>
            <a:r>
              <a:rPr sz="1600" dirty="0">
                <a:solidFill>
                  <a:srgbClr val="FFFFFF"/>
                </a:solidFill>
                <a:latin typeface="Helvetica Neue Thin"/>
              </a:rPr>
              <a:t>and access new Wells Fargo products</a:t>
            </a:r>
          </a:p>
        </p:txBody>
      </p:sp>
      <p:sp>
        <p:nvSpPr>
          <p:cNvPr id="20" name="TextBox 19"/>
          <p:cNvSpPr txBox="1"/>
          <p:nvPr/>
        </p:nvSpPr>
        <p:spPr>
          <a:xfrm>
            <a:off x="6680200" y="5773977"/>
            <a:ext cx="5411230" cy="236524"/>
          </a:xfrm>
          <a:prstGeom prst="rect">
            <a:avLst/>
          </a:prstGeom>
          <a:noFill/>
        </p:spPr>
        <p:txBody>
          <a:bodyPr wrap="none" lIns="0" tIns="0" rIns="0" bIns="0">
            <a:noAutofit/>
          </a:bodyPr>
          <a:lstStyle/>
          <a:p>
            <a:pPr algn="l"/>
            <a:r>
              <a:rPr sz="1600" dirty="0">
                <a:solidFill>
                  <a:srgbClr val="FFFFFF"/>
                </a:solidFill>
                <a:latin typeface="Helvetica Neue Thin"/>
              </a:rPr>
              <a:t>•  Automatically be matched with small business buddies </a:t>
            </a:r>
          </a:p>
        </p:txBody>
      </p:sp>
      <p:sp>
        <p:nvSpPr>
          <p:cNvPr id="21" name="TextBox 20"/>
          <p:cNvSpPr txBox="1"/>
          <p:nvPr/>
        </p:nvSpPr>
        <p:spPr>
          <a:xfrm>
            <a:off x="6908800" y="6180377"/>
            <a:ext cx="3083021" cy="236524"/>
          </a:xfrm>
          <a:prstGeom prst="rect">
            <a:avLst/>
          </a:prstGeom>
          <a:noFill/>
        </p:spPr>
        <p:txBody>
          <a:bodyPr wrap="none" lIns="0" tIns="0" rIns="0" bIns="0">
            <a:noAutofit/>
          </a:bodyPr>
          <a:lstStyle/>
          <a:p>
            <a:pPr algn="l"/>
            <a:r>
              <a:rPr sz="1600" dirty="0">
                <a:solidFill>
                  <a:srgbClr val="FFFFFF"/>
                </a:solidFill>
                <a:latin typeface="Helvetica Neue Thin"/>
              </a:rPr>
              <a:t>and social network opportunities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961908" y="5535154"/>
            <a:ext cx="2433186" cy="1875824"/>
          </a:xfrm>
          <a:prstGeom prst="rect">
            <a:avLst/>
          </a:prstGeom>
        </p:spPr>
      </p:pic>
      <p:pic>
        <p:nvPicPr>
          <p:cNvPr id="4" name="Picture 2" descr="image.png"/>
          <p:cNvPicPr>
            <a:picLocks noChangeAspect="1"/>
          </p:cNvPicPr>
          <p:nvPr/>
        </p:nvPicPr>
        <p:blipFill>
          <a:blip r:embed="rId4"/>
          <a:stretch>
            <a:fillRect/>
          </a:stretch>
        </p:blipFill>
        <p:spPr>
          <a:xfrm>
            <a:off x="5316833" y="5485569"/>
            <a:ext cx="2428556" cy="1884503"/>
          </a:xfrm>
          <a:prstGeom prst="rect">
            <a:avLst/>
          </a:prstGeom>
        </p:spPr>
      </p:pic>
      <p:pic>
        <p:nvPicPr>
          <p:cNvPr id="5" name="Picture 3" descr="image.png"/>
          <p:cNvPicPr>
            <a:picLocks noChangeAspect="1"/>
          </p:cNvPicPr>
          <p:nvPr/>
        </p:nvPicPr>
        <p:blipFill>
          <a:blip r:embed="rId5"/>
          <a:stretch>
            <a:fillRect/>
          </a:stretch>
        </p:blipFill>
        <p:spPr>
          <a:xfrm>
            <a:off x="6715414" y="2064109"/>
            <a:ext cx="2420404" cy="1958285"/>
          </a:xfrm>
          <a:prstGeom prst="rect">
            <a:avLst/>
          </a:prstGeom>
        </p:spPr>
      </p:pic>
      <p:pic>
        <p:nvPicPr>
          <p:cNvPr id="6" name="Picture 4" descr="image.png"/>
          <p:cNvPicPr>
            <a:picLocks noChangeAspect="1"/>
          </p:cNvPicPr>
          <p:nvPr/>
        </p:nvPicPr>
        <p:blipFill>
          <a:blip r:embed="rId6"/>
          <a:stretch>
            <a:fillRect/>
          </a:stretch>
        </p:blipFill>
        <p:spPr>
          <a:xfrm>
            <a:off x="9243891" y="5438968"/>
            <a:ext cx="2753647" cy="1903153"/>
          </a:xfrm>
          <a:prstGeom prst="rect">
            <a:avLst/>
          </a:prstGeom>
        </p:spPr>
      </p:pic>
      <p:pic>
        <p:nvPicPr>
          <p:cNvPr id="7" name="Picture 5" descr="image.png"/>
          <p:cNvPicPr>
            <a:picLocks noChangeAspect="1"/>
          </p:cNvPicPr>
          <p:nvPr/>
        </p:nvPicPr>
        <p:blipFill>
          <a:blip r:embed="rId7"/>
          <a:stretch>
            <a:fillRect/>
          </a:stretch>
        </p:blipFill>
        <p:spPr>
          <a:xfrm>
            <a:off x="524800" y="2148726"/>
            <a:ext cx="2425078" cy="1864597"/>
          </a:xfrm>
          <a:prstGeom prst="rect">
            <a:avLst/>
          </a:prstGeom>
        </p:spPr>
      </p:pic>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9" name="TextBox 8"/>
          <p:cNvSpPr txBox="1"/>
          <p:nvPr/>
        </p:nvSpPr>
        <p:spPr>
          <a:xfrm>
            <a:off x="541127" y="4125969"/>
            <a:ext cx="2677205" cy="1145176"/>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Kunal Power User is having breakfast at home with his 2 children Preeti and Aziz. While he helps them make their breakfast he gets a notification on his mobile phone that he has an expense that is scheduled to be automatically paid this morning, through his mySMALLBUSINESS application, but that the company’s account is running low on capital. </a:t>
            </a:r>
          </a:p>
        </p:txBody>
      </p:sp>
      <p:sp>
        <p:nvSpPr>
          <p:cNvPr id="10" name="TextBox 9"/>
          <p:cNvSpPr txBox="1"/>
          <p:nvPr/>
        </p:nvSpPr>
        <p:spPr>
          <a:xfrm>
            <a:off x="457200" y="939800"/>
            <a:ext cx="8491219"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Financial Hub Concept Scenario</a:t>
            </a:r>
          </a:p>
        </p:txBody>
      </p:sp>
      <p:sp>
        <p:nvSpPr>
          <p:cNvPr id="11" name="TextBox 10"/>
          <p:cNvSpPr txBox="1"/>
          <p:nvPr/>
        </p:nvSpPr>
        <p:spPr>
          <a:xfrm>
            <a:off x="3920168" y="2309129"/>
            <a:ext cx="1913739" cy="1145175"/>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About an hour later while he is working at a job site, he receives another notification on his mobile phone that his budget goals are in jeopardy. Because he is interested in this plan, he goes on the application and sees the account dashboard. </a:t>
            </a:r>
          </a:p>
        </p:txBody>
      </p:sp>
      <p:sp>
        <p:nvSpPr>
          <p:cNvPr id="12" name="TextBox 11"/>
          <p:cNvSpPr txBox="1"/>
          <p:nvPr/>
        </p:nvSpPr>
        <p:spPr>
          <a:xfrm>
            <a:off x="6683712" y="4293456"/>
            <a:ext cx="2600013" cy="475225"/>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On the dashboard he gets a visualization of his current  mySMALLBUSINESS Financial Plan, the goals, expenses, debts and assets.  </a:t>
            </a:r>
          </a:p>
        </p:txBody>
      </p:sp>
      <p:sp>
        <p:nvSpPr>
          <p:cNvPr id="13" name="TextBox 12"/>
          <p:cNvSpPr txBox="1"/>
          <p:nvPr/>
        </p:nvSpPr>
        <p:spPr>
          <a:xfrm>
            <a:off x="9829800" y="3035417"/>
            <a:ext cx="2661765" cy="642713"/>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He needs to investigate deeper into a specific expense. He can view an expense and then see its relationship to a Project and the details the expense was part of. </a:t>
            </a:r>
          </a:p>
        </p:txBody>
      </p:sp>
      <p:sp>
        <p:nvSpPr>
          <p:cNvPr id="14" name="TextBox 13"/>
          <p:cNvSpPr txBox="1"/>
          <p:nvPr/>
        </p:nvSpPr>
        <p:spPr>
          <a:xfrm>
            <a:off x="916161" y="7490394"/>
            <a:ext cx="2676193" cy="642711"/>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He sees the expense and knows it is valid, but he wants to monitor it over time, it is a recurring debt. He goes into the monitoring wizard to set up the preferences to monitor the expense.</a:t>
            </a:r>
          </a:p>
        </p:txBody>
      </p:sp>
      <p:sp>
        <p:nvSpPr>
          <p:cNvPr id="15" name="TextBox 14"/>
          <p:cNvSpPr txBox="1"/>
          <p:nvPr/>
        </p:nvSpPr>
        <p:spPr>
          <a:xfrm>
            <a:off x="5236880" y="7490394"/>
            <a:ext cx="2869384" cy="642711"/>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During lunch, after overseeing a project, he gets an alert that his yearly budget has issues with employee pay for this quarter. On his mobile he accesses the quarterly view of his current yearly budget for 2023. </a:t>
            </a:r>
          </a:p>
        </p:txBody>
      </p:sp>
      <p:sp>
        <p:nvSpPr>
          <p:cNvPr id="16" name="TextBox 15"/>
          <p:cNvSpPr txBox="1"/>
          <p:nvPr/>
        </p:nvSpPr>
        <p:spPr>
          <a:xfrm>
            <a:off x="9120747" y="7490393"/>
            <a:ext cx="3202400" cy="810200"/>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When he built his original plan, he used a business budget template that gave him an optimized plan based on his profile and past usage of the application. However, due to an unforeseen increase in business for the quarter, not only did his workload increase, but his expenses did too.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861371" y="1929343"/>
            <a:ext cx="2964482" cy="1925596"/>
          </a:xfrm>
          <a:prstGeom prst="rect">
            <a:avLst/>
          </a:prstGeom>
        </p:spPr>
      </p:pic>
      <p:pic>
        <p:nvPicPr>
          <p:cNvPr id="4" name="Picture 2" descr="image.png"/>
          <p:cNvPicPr>
            <a:picLocks noChangeAspect="1"/>
          </p:cNvPicPr>
          <p:nvPr/>
        </p:nvPicPr>
        <p:blipFill>
          <a:blip r:embed="rId4"/>
          <a:stretch>
            <a:fillRect/>
          </a:stretch>
        </p:blipFill>
        <p:spPr>
          <a:xfrm>
            <a:off x="2415158" y="5380152"/>
            <a:ext cx="2952393" cy="1866997"/>
          </a:xfrm>
          <a:prstGeom prst="rect">
            <a:avLst/>
          </a:prstGeom>
        </p:spPr>
      </p:pic>
      <p:pic>
        <p:nvPicPr>
          <p:cNvPr id="5" name="Picture 3" descr="image.png"/>
          <p:cNvPicPr>
            <a:picLocks noChangeAspect="1"/>
          </p:cNvPicPr>
          <p:nvPr/>
        </p:nvPicPr>
        <p:blipFill>
          <a:blip r:embed="rId5"/>
          <a:stretch>
            <a:fillRect/>
          </a:stretch>
        </p:blipFill>
        <p:spPr>
          <a:xfrm>
            <a:off x="7635192" y="5252908"/>
            <a:ext cx="2990736" cy="2019241"/>
          </a:xfrm>
          <a:prstGeom prst="rect">
            <a:avLst/>
          </a:prstGeom>
        </p:spPr>
      </p:pic>
      <p:pic>
        <p:nvPicPr>
          <p:cNvPr id="6" name="Picture 4" descr="image.png"/>
          <p:cNvPicPr>
            <a:picLocks noChangeAspect="1"/>
          </p:cNvPicPr>
          <p:nvPr/>
        </p:nvPicPr>
        <p:blipFill>
          <a:blip r:embed="rId6"/>
          <a:stretch>
            <a:fillRect/>
          </a:stretch>
        </p:blipFill>
        <p:spPr>
          <a:xfrm>
            <a:off x="9062315" y="1867182"/>
            <a:ext cx="2842460" cy="2030729"/>
          </a:xfrm>
          <a:prstGeom prst="rect">
            <a:avLst/>
          </a:prstGeom>
        </p:spPr>
      </p:pic>
      <p:sp>
        <p:nvSpPr>
          <p:cNvPr id="7" name="TextBox 6"/>
          <p:cNvSpPr txBox="1"/>
          <p:nvPr/>
        </p:nvSpPr>
        <p:spPr>
          <a:xfrm>
            <a:off x="825500" y="2175239"/>
            <a:ext cx="2609016" cy="1424004"/>
          </a:xfrm>
          <a:prstGeom prst="rect">
            <a:avLst/>
          </a:prstGeom>
          <a:noFill/>
        </p:spPr>
        <p:txBody>
          <a:bodyPr wrap="square" lIns="0" tIns="0" rIns="0" bIns="0">
            <a:noAutofit/>
          </a:bodyPr>
          <a:lstStyle/>
          <a:p>
            <a:pPr algn="l">
              <a:lnSpc>
                <a:spcPts val="1600"/>
              </a:lnSpc>
            </a:pPr>
            <a:r>
              <a:rPr sz="1300" dirty="0">
                <a:solidFill>
                  <a:srgbClr val="000000"/>
                </a:solidFill>
                <a:latin typeface="Helvetica Neue Light"/>
              </a:rPr>
              <a:t>The data visualization feature of the app gives him insight into the increase in activity, expenses and lack of revenue received. The plan gives him real time suggestions and tips to help him run his business better and stay on budget. </a:t>
            </a:r>
          </a:p>
        </p:txBody>
      </p:sp>
      <p:sp>
        <p:nvSpPr>
          <p:cNvPr id="8" name="TextBox 7"/>
          <p:cNvSpPr txBox="1"/>
          <p:nvPr/>
        </p:nvSpPr>
        <p:spPr>
          <a:xfrm>
            <a:off x="4347852" y="3966170"/>
            <a:ext cx="3871067" cy="996369"/>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Because this has happened several times the app upsells relevant Wells Fargo Small Business products to Kunal, through the Tips and Recommendation engine. Since the quarter is almost ending, he is encouraged to build a new Business Financial Plan. He can use the existing one as a base and adjust, use a suggested Small Business Plan template auto suggested to him, or start from scratch.</a:t>
            </a:r>
          </a:p>
        </p:txBody>
      </p:sp>
      <p:sp>
        <p:nvSpPr>
          <p:cNvPr id="9" name="TextBox 8"/>
          <p:cNvSpPr txBox="1"/>
          <p:nvPr/>
        </p:nvSpPr>
        <p:spPr>
          <a:xfrm>
            <a:off x="8819760" y="3966170"/>
            <a:ext cx="3430884" cy="825681"/>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 By using a Planning Wizard, he decides to use his current plan as a base. The wizard guides him through the process, asking him simple plain-language questions; he could even build it using Siri or other voice-activated technology. He adjusts his plan projecting an increase of 12% in revenue over the next year. </a:t>
            </a:r>
          </a:p>
        </p:txBody>
      </p:sp>
      <p:sp>
        <p:nvSpPr>
          <p:cNvPr id="10" name="TextBox 9"/>
          <p:cNvSpPr txBox="1"/>
          <p:nvPr/>
        </p:nvSpPr>
        <p:spPr>
          <a:xfrm>
            <a:off x="2427254" y="7349669"/>
            <a:ext cx="3152111" cy="825682"/>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The Wizard algorithmically projects and allocates speculative information and constructs the Plan. He has a new plan to guide him in the new fiscal year. He can also compare past plans to help understand the trends of expenses, debts, spending and revenue. </a:t>
            </a:r>
          </a:p>
        </p:txBody>
      </p:sp>
      <p:sp>
        <p:nvSpPr>
          <p:cNvPr id="11" name="TextBox 10"/>
          <p:cNvSpPr txBox="1"/>
          <p:nvPr/>
        </p:nvSpPr>
        <p:spPr>
          <a:xfrm>
            <a:off x="7523051" y="7349669"/>
            <a:ext cx="3327890" cy="825682"/>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The interactive data visualizations allow deeper insight of past activity, and help him with his plans for business expansion. He decides to approach Wells Fargo for a new small business loan product, the one that was auto suggested when he was building his budget.</a:t>
            </a:r>
          </a:p>
        </p:txBody>
      </p:sp>
      <p:sp>
        <p:nvSpPr>
          <p:cNvPr id="12" name="TextBox 11"/>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13" name="TextBox 12"/>
          <p:cNvSpPr txBox="1"/>
          <p:nvPr/>
        </p:nvSpPr>
        <p:spPr>
          <a:xfrm>
            <a:off x="457200" y="939800"/>
            <a:ext cx="8491219"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Financial Hub Concept Scenario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4" name="TextBox 3"/>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Information Architecture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361488" y="4982649"/>
            <a:ext cx="2356916" cy="3815189"/>
          </a:xfrm>
          <a:prstGeom prst="rect">
            <a:avLst/>
          </a:prstGeom>
        </p:spPr>
      </p:pic>
      <p:pic>
        <p:nvPicPr>
          <p:cNvPr id="4" name="Picture 2" descr="image.png"/>
          <p:cNvPicPr>
            <a:picLocks noChangeAspect="1"/>
          </p:cNvPicPr>
          <p:nvPr/>
        </p:nvPicPr>
        <p:blipFill>
          <a:blip r:embed="rId4"/>
          <a:stretch>
            <a:fillRect/>
          </a:stretch>
        </p:blipFill>
        <p:spPr>
          <a:xfrm>
            <a:off x="10645358" y="381582"/>
            <a:ext cx="1927059" cy="3425884"/>
          </a:xfrm>
          <a:prstGeom prst="rect">
            <a:avLst/>
          </a:prstGeom>
        </p:spPr>
      </p:pic>
      <p:pic>
        <p:nvPicPr>
          <p:cNvPr id="5" name="Picture 3" descr="image.png"/>
          <p:cNvPicPr>
            <a:picLocks noChangeAspect="1"/>
          </p:cNvPicPr>
          <p:nvPr/>
        </p:nvPicPr>
        <p:blipFill>
          <a:blip r:embed="rId5"/>
          <a:stretch>
            <a:fillRect/>
          </a:stretch>
        </p:blipFill>
        <p:spPr>
          <a:xfrm>
            <a:off x="7801028" y="2898841"/>
            <a:ext cx="3483734" cy="6193306"/>
          </a:xfrm>
          <a:prstGeom prst="rect">
            <a:avLst/>
          </a:prstGeom>
        </p:spPr>
      </p:pic>
      <p:sp>
        <p:nvSpPr>
          <p:cNvPr id="6" name="TextBox 5"/>
          <p:cNvSpPr txBox="1"/>
          <p:nvPr/>
        </p:nvSpPr>
        <p:spPr>
          <a:xfrm>
            <a:off x="3099887" y="1678227"/>
            <a:ext cx="3099704" cy="236524"/>
          </a:xfrm>
          <a:prstGeom prst="rect">
            <a:avLst/>
          </a:prstGeom>
          <a:noFill/>
        </p:spPr>
        <p:txBody>
          <a:bodyPr wrap="none" lIns="0" tIns="0" rIns="0" bIns="0">
            <a:noAutofit/>
          </a:bodyPr>
          <a:lstStyle/>
          <a:p>
            <a:pPr algn="l"/>
            <a:r>
              <a:rPr sz="1600" dirty="0">
                <a:solidFill>
                  <a:srgbClr val="000000"/>
                </a:solidFill>
                <a:latin typeface="Helvetica Neue Thin"/>
              </a:rPr>
              <a:t>mySMALLBUSINESS Dashboard </a:t>
            </a:r>
          </a:p>
        </p:txBody>
      </p:sp>
      <p:sp>
        <p:nvSpPr>
          <p:cNvPr id="7" name="TextBox 6"/>
          <p:cNvSpPr txBox="1"/>
          <p:nvPr/>
        </p:nvSpPr>
        <p:spPr>
          <a:xfrm>
            <a:off x="3099887" y="1967787"/>
            <a:ext cx="4381182" cy="2232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On the dashboard he gets an AT A GLANCE understanding of his business. From this dashboard he can see his most important and urgent DEBTS and SPENDING. He’d see any INCOME to be expected. A snapshot of TAXES would be seen from a STATE and FEDERAL level. </a:t>
            </a:r>
          </a:p>
        </p:txBody>
      </p:sp>
      <p:sp>
        <p:nvSpPr>
          <p:cNvPr id="13" name="TextBox 12"/>
          <p:cNvSpPr txBox="1"/>
          <p:nvPr/>
        </p:nvSpPr>
        <p:spPr>
          <a:xfrm>
            <a:off x="3099887" y="4634787"/>
            <a:ext cx="4737060" cy="708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He can access visualizations of his current FINANCIAL PLANS, the GOALS, EXPENSES, DEBTS, </a:t>
            </a:r>
          </a:p>
        </p:txBody>
      </p:sp>
      <p:sp>
        <p:nvSpPr>
          <p:cNvPr id="15" name="TextBox 14"/>
          <p:cNvSpPr txBox="1"/>
          <p:nvPr/>
        </p:nvSpPr>
        <p:spPr>
          <a:xfrm>
            <a:off x="3099887" y="5488227"/>
            <a:ext cx="4340025" cy="236524"/>
          </a:xfrm>
          <a:prstGeom prst="rect">
            <a:avLst/>
          </a:prstGeom>
          <a:noFill/>
        </p:spPr>
        <p:txBody>
          <a:bodyPr wrap="none" lIns="0" tIns="0" rIns="0" bIns="0">
            <a:noAutofit/>
          </a:bodyPr>
          <a:lstStyle/>
          <a:p>
            <a:pPr algn="l"/>
            <a:r>
              <a:rPr sz="1600" dirty="0">
                <a:solidFill>
                  <a:srgbClr val="000000"/>
                </a:solidFill>
                <a:latin typeface="Helvetica Neue Thin"/>
              </a:rPr>
              <a:t>SPENDING, PAYROLL, and ASSETS. He could </a:t>
            </a:r>
          </a:p>
        </p:txBody>
      </p:sp>
      <p:sp>
        <p:nvSpPr>
          <p:cNvPr id="16" name="TextBox 15"/>
          <p:cNvSpPr txBox="1"/>
          <p:nvPr/>
        </p:nvSpPr>
        <p:spPr>
          <a:xfrm>
            <a:off x="3099887" y="5869227"/>
            <a:ext cx="4394272" cy="236524"/>
          </a:xfrm>
          <a:prstGeom prst="rect">
            <a:avLst/>
          </a:prstGeom>
          <a:noFill/>
        </p:spPr>
        <p:txBody>
          <a:bodyPr wrap="none" lIns="0" tIns="0" rIns="0" bIns="0">
            <a:noAutofit/>
          </a:bodyPr>
          <a:lstStyle/>
          <a:p>
            <a:pPr algn="l"/>
            <a:r>
              <a:rPr sz="1600" dirty="0">
                <a:solidFill>
                  <a:srgbClr val="000000"/>
                </a:solidFill>
                <a:latin typeface="Helvetica Neue Thin"/>
              </a:rPr>
              <a:t>capture any checks for his business as well as </a:t>
            </a:r>
          </a:p>
        </p:txBody>
      </p:sp>
      <p:sp>
        <p:nvSpPr>
          <p:cNvPr id="17" name="TextBox 16"/>
          <p:cNvSpPr txBox="1"/>
          <p:nvPr/>
        </p:nvSpPr>
        <p:spPr>
          <a:xfrm>
            <a:off x="3099887" y="6250227"/>
            <a:ext cx="2280231" cy="236524"/>
          </a:xfrm>
          <a:prstGeom prst="rect">
            <a:avLst/>
          </a:prstGeom>
          <a:noFill/>
        </p:spPr>
        <p:txBody>
          <a:bodyPr wrap="none" lIns="0" tIns="0" rIns="0" bIns="0">
            <a:noAutofit/>
          </a:bodyPr>
          <a:lstStyle/>
          <a:p>
            <a:pPr algn="l"/>
            <a:r>
              <a:rPr sz="1600" dirty="0">
                <a:solidFill>
                  <a:srgbClr val="000000"/>
                </a:solidFill>
                <a:latin typeface="Helvetica Neue Thin"/>
              </a:rPr>
              <a:t>transfer any monies too.</a:t>
            </a:r>
          </a:p>
        </p:txBody>
      </p:sp>
      <p:sp>
        <p:nvSpPr>
          <p:cNvPr id="18" name="TextBox 17"/>
          <p:cNvSpPr txBox="1"/>
          <p:nvPr/>
        </p:nvSpPr>
        <p:spPr>
          <a:xfrm>
            <a:off x="3099887" y="7012227"/>
            <a:ext cx="4631942" cy="236524"/>
          </a:xfrm>
          <a:prstGeom prst="rect">
            <a:avLst/>
          </a:prstGeom>
          <a:noFill/>
        </p:spPr>
        <p:txBody>
          <a:bodyPr wrap="none" lIns="0" tIns="0" rIns="0" bIns="0">
            <a:noAutofit/>
          </a:bodyPr>
          <a:lstStyle/>
          <a:p>
            <a:pPr algn="l"/>
            <a:r>
              <a:rPr sz="1600" dirty="0">
                <a:solidFill>
                  <a:srgbClr val="000000"/>
                </a:solidFill>
                <a:latin typeface="Helvetica Neue Thin"/>
              </a:rPr>
              <a:t>From this dash a user could dive deeper into the </a:t>
            </a:r>
          </a:p>
        </p:txBody>
      </p:sp>
      <p:sp>
        <p:nvSpPr>
          <p:cNvPr id="19" name="TextBox 18"/>
          <p:cNvSpPr txBox="1"/>
          <p:nvPr/>
        </p:nvSpPr>
        <p:spPr>
          <a:xfrm>
            <a:off x="3099887" y="7393227"/>
            <a:ext cx="4331904" cy="236524"/>
          </a:xfrm>
          <a:prstGeom prst="rect">
            <a:avLst/>
          </a:prstGeom>
          <a:noFill/>
        </p:spPr>
        <p:txBody>
          <a:bodyPr wrap="none" lIns="0" tIns="0" rIns="0" bIns="0">
            <a:noAutofit/>
          </a:bodyPr>
          <a:lstStyle/>
          <a:p>
            <a:pPr algn="l"/>
            <a:r>
              <a:rPr sz="1600" dirty="0">
                <a:solidFill>
                  <a:srgbClr val="000000"/>
                </a:solidFill>
                <a:latin typeface="Helvetica Neue Thin"/>
              </a:rPr>
              <a:t>users’ profile, preferences, accounts, security. </a:t>
            </a:r>
          </a:p>
        </p:txBody>
      </p:sp>
      <p:sp>
        <p:nvSpPr>
          <p:cNvPr id="20" name="TextBox 19"/>
          <p:cNvSpPr txBox="1"/>
          <p:nvPr/>
        </p:nvSpPr>
        <p:spPr>
          <a:xfrm>
            <a:off x="3099887" y="7774227"/>
            <a:ext cx="4732673" cy="236524"/>
          </a:xfrm>
          <a:prstGeom prst="rect">
            <a:avLst/>
          </a:prstGeom>
          <a:noFill/>
        </p:spPr>
        <p:txBody>
          <a:bodyPr wrap="none" lIns="0" tIns="0" rIns="0" bIns="0">
            <a:noAutofit/>
          </a:bodyPr>
          <a:lstStyle/>
          <a:p>
            <a:pPr algn="l"/>
            <a:r>
              <a:rPr sz="1600" dirty="0">
                <a:solidFill>
                  <a:srgbClr val="000000"/>
                </a:solidFill>
                <a:latin typeface="Helvetica Neue Thin"/>
              </a:rPr>
              <a:t>They’d be able to set any alerts and monitoring of </a:t>
            </a:r>
          </a:p>
        </p:txBody>
      </p:sp>
      <p:sp>
        <p:nvSpPr>
          <p:cNvPr id="21" name="TextBox 20"/>
          <p:cNvSpPr txBox="1"/>
          <p:nvPr/>
        </p:nvSpPr>
        <p:spPr>
          <a:xfrm>
            <a:off x="3099887" y="8155227"/>
            <a:ext cx="4631285" cy="236524"/>
          </a:xfrm>
          <a:prstGeom prst="rect">
            <a:avLst/>
          </a:prstGeom>
          <a:noFill/>
        </p:spPr>
        <p:txBody>
          <a:bodyPr wrap="none" lIns="0" tIns="0" rIns="0" bIns="0">
            <a:noAutofit/>
          </a:bodyPr>
          <a:lstStyle/>
          <a:p>
            <a:pPr algn="l"/>
            <a:r>
              <a:rPr sz="1600" dirty="0">
                <a:solidFill>
                  <a:srgbClr val="000000"/>
                </a:solidFill>
                <a:latin typeface="Helvetica Neue Thin"/>
              </a:rPr>
              <a:t>spending, accounts, projects, employees, payroll.</a:t>
            </a:r>
          </a:p>
        </p:txBody>
      </p:sp>
      <p:sp>
        <p:nvSpPr>
          <p:cNvPr id="22" name="TextBox 21"/>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3" name="TextBox 22"/>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958065" y="1172917"/>
            <a:ext cx="2505774" cy="4265639"/>
          </a:xfrm>
          <a:prstGeom prst="rect">
            <a:avLst/>
          </a:prstGeom>
        </p:spPr>
      </p:pic>
      <p:pic>
        <p:nvPicPr>
          <p:cNvPr id="4" name="Picture 2" descr="image.png"/>
          <p:cNvPicPr>
            <a:picLocks noChangeAspect="1"/>
          </p:cNvPicPr>
          <p:nvPr/>
        </p:nvPicPr>
        <p:blipFill>
          <a:blip r:embed="rId4"/>
          <a:stretch>
            <a:fillRect/>
          </a:stretch>
        </p:blipFill>
        <p:spPr>
          <a:xfrm>
            <a:off x="1474344" y="1791844"/>
            <a:ext cx="3790956" cy="6739478"/>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6" name="TextBox 5"/>
          <p:cNvSpPr txBox="1"/>
          <p:nvPr/>
        </p:nvSpPr>
        <p:spPr>
          <a:xfrm>
            <a:off x="5994400" y="6171182"/>
            <a:ext cx="2167212" cy="247497"/>
          </a:xfrm>
          <a:prstGeom prst="rect">
            <a:avLst/>
          </a:prstGeom>
          <a:noFill/>
        </p:spPr>
        <p:txBody>
          <a:bodyPr wrap="none" lIns="0" tIns="0" rIns="0" bIns="0">
            <a:noAutofit/>
          </a:bodyPr>
          <a:lstStyle/>
          <a:p>
            <a:pPr algn="l"/>
            <a:r>
              <a:rPr sz="1600" dirty="0">
                <a:solidFill>
                  <a:srgbClr val="000000"/>
                </a:solidFill>
                <a:latin typeface="Helvetica Neue Light"/>
              </a:rPr>
              <a:t>Expenses Breakdown </a:t>
            </a:r>
          </a:p>
        </p:txBody>
      </p:sp>
      <p:sp>
        <p:nvSpPr>
          <p:cNvPr id="7" name="TextBox 6"/>
          <p:cNvSpPr txBox="1"/>
          <p:nvPr/>
        </p:nvSpPr>
        <p:spPr>
          <a:xfrm>
            <a:off x="5994400" y="6555027"/>
            <a:ext cx="6813548" cy="236524"/>
          </a:xfrm>
          <a:prstGeom prst="rect">
            <a:avLst/>
          </a:prstGeom>
          <a:noFill/>
        </p:spPr>
        <p:txBody>
          <a:bodyPr wrap="none" lIns="0" tIns="0" rIns="0" bIns="0">
            <a:noAutofit/>
          </a:bodyPr>
          <a:lstStyle/>
          <a:p>
            <a:pPr algn="l"/>
            <a:r>
              <a:rPr sz="1600" dirty="0">
                <a:solidFill>
                  <a:srgbClr val="000000"/>
                </a:solidFill>
                <a:latin typeface="Helvetica Neue Thin"/>
              </a:rPr>
              <a:t>Kunal can view all his SPENDING, then investigate deeper into a specific </a:t>
            </a:r>
          </a:p>
        </p:txBody>
      </p:sp>
      <p:sp>
        <p:nvSpPr>
          <p:cNvPr id="8" name="TextBox 7"/>
          <p:cNvSpPr txBox="1"/>
          <p:nvPr/>
        </p:nvSpPr>
        <p:spPr>
          <a:xfrm>
            <a:off x="5994400" y="6936027"/>
            <a:ext cx="6518590" cy="236524"/>
          </a:xfrm>
          <a:prstGeom prst="rect">
            <a:avLst/>
          </a:prstGeom>
          <a:noFill/>
        </p:spPr>
        <p:txBody>
          <a:bodyPr wrap="none" lIns="0" tIns="0" rIns="0" bIns="0">
            <a:noAutofit/>
          </a:bodyPr>
          <a:lstStyle/>
          <a:p>
            <a:pPr algn="l"/>
            <a:r>
              <a:rPr sz="1600" dirty="0">
                <a:solidFill>
                  <a:srgbClr val="000000"/>
                </a:solidFill>
                <a:latin typeface="Helvetica Neue Thin"/>
              </a:rPr>
              <a:t>EXPENSE. He can view an expense and then see its relationship to a </a:t>
            </a:r>
          </a:p>
        </p:txBody>
      </p:sp>
      <p:sp>
        <p:nvSpPr>
          <p:cNvPr id="9" name="TextBox 8"/>
          <p:cNvSpPr txBox="1"/>
          <p:nvPr/>
        </p:nvSpPr>
        <p:spPr>
          <a:xfrm>
            <a:off x="5994400" y="7317027"/>
            <a:ext cx="6617090" cy="236524"/>
          </a:xfrm>
          <a:prstGeom prst="rect">
            <a:avLst/>
          </a:prstGeom>
          <a:noFill/>
        </p:spPr>
        <p:txBody>
          <a:bodyPr wrap="none" lIns="0" tIns="0" rIns="0" bIns="0">
            <a:noAutofit/>
          </a:bodyPr>
          <a:lstStyle/>
          <a:p>
            <a:pPr algn="l"/>
            <a:r>
              <a:rPr sz="1600" dirty="0">
                <a:solidFill>
                  <a:srgbClr val="000000"/>
                </a:solidFill>
                <a:latin typeface="Helvetica Neue Thin"/>
              </a:rPr>
              <a:t>job and the time frame the expense was part of. He sees the expense </a:t>
            </a:r>
          </a:p>
        </p:txBody>
      </p:sp>
      <p:sp>
        <p:nvSpPr>
          <p:cNvPr id="10" name="TextBox 9"/>
          <p:cNvSpPr txBox="1"/>
          <p:nvPr/>
        </p:nvSpPr>
        <p:spPr>
          <a:xfrm>
            <a:off x="5994400" y="7698027"/>
            <a:ext cx="6443466" cy="236524"/>
          </a:xfrm>
          <a:prstGeom prst="rect">
            <a:avLst/>
          </a:prstGeom>
          <a:noFill/>
        </p:spPr>
        <p:txBody>
          <a:bodyPr wrap="none" lIns="0" tIns="0" rIns="0" bIns="0">
            <a:noAutofit/>
          </a:bodyPr>
          <a:lstStyle/>
          <a:p>
            <a:pPr algn="l"/>
            <a:r>
              <a:rPr sz="1600" dirty="0">
                <a:solidFill>
                  <a:srgbClr val="000000"/>
                </a:solidFill>
                <a:latin typeface="Helvetica Neue Thin"/>
              </a:rPr>
              <a:t>and knows it is valid, but he wants to monitor it over time, as it is a</a:t>
            </a:r>
          </a:p>
        </p:txBody>
      </p:sp>
      <p:sp>
        <p:nvSpPr>
          <p:cNvPr id="11" name="TextBox 10"/>
          <p:cNvSpPr txBox="1"/>
          <p:nvPr/>
        </p:nvSpPr>
        <p:spPr>
          <a:xfrm>
            <a:off x="5994400" y="8079027"/>
            <a:ext cx="6578690" cy="236524"/>
          </a:xfrm>
          <a:prstGeom prst="rect">
            <a:avLst/>
          </a:prstGeom>
          <a:noFill/>
        </p:spPr>
        <p:txBody>
          <a:bodyPr wrap="none" lIns="0" tIns="0" rIns="0" bIns="0">
            <a:noAutofit/>
          </a:bodyPr>
          <a:lstStyle/>
          <a:p>
            <a:pPr algn="l"/>
            <a:r>
              <a:rPr sz="1600" dirty="0">
                <a:solidFill>
                  <a:srgbClr val="000000"/>
                </a:solidFill>
                <a:latin typeface="Helvetica Neue Thin"/>
              </a:rPr>
              <a:t>recurring debt that varies according to the PROJECT it is used on. He </a:t>
            </a:r>
          </a:p>
        </p:txBody>
      </p:sp>
      <p:sp>
        <p:nvSpPr>
          <p:cNvPr id="12" name="TextBox 11"/>
          <p:cNvSpPr txBox="1"/>
          <p:nvPr/>
        </p:nvSpPr>
        <p:spPr>
          <a:xfrm>
            <a:off x="5994400" y="8460027"/>
            <a:ext cx="6812673" cy="236524"/>
          </a:xfrm>
          <a:prstGeom prst="rect">
            <a:avLst/>
          </a:prstGeom>
          <a:noFill/>
        </p:spPr>
        <p:txBody>
          <a:bodyPr wrap="none" lIns="0" tIns="0" rIns="0" bIns="0">
            <a:noAutofit/>
          </a:bodyPr>
          <a:lstStyle/>
          <a:p>
            <a:pPr algn="l"/>
            <a:r>
              <a:rPr sz="1600" dirty="0">
                <a:solidFill>
                  <a:srgbClr val="000000"/>
                </a:solidFill>
                <a:latin typeface="Helvetica Neue Thin"/>
              </a:rPr>
              <a:t>goes into the monitoring wizard to set up the preferences to monitor the </a:t>
            </a:r>
          </a:p>
        </p:txBody>
      </p:sp>
      <p:sp>
        <p:nvSpPr>
          <p:cNvPr id="13" name="TextBox 12"/>
          <p:cNvSpPr txBox="1"/>
          <p:nvPr/>
        </p:nvSpPr>
        <p:spPr>
          <a:xfrm>
            <a:off x="5994400" y="8841027"/>
            <a:ext cx="969661" cy="236524"/>
          </a:xfrm>
          <a:prstGeom prst="rect">
            <a:avLst/>
          </a:prstGeom>
          <a:noFill/>
        </p:spPr>
        <p:txBody>
          <a:bodyPr wrap="none" lIns="0" tIns="0" rIns="0" bIns="0">
            <a:noAutofit/>
          </a:bodyPr>
          <a:lstStyle/>
          <a:p>
            <a:pPr algn="l"/>
            <a:r>
              <a:rPr sz="1600" dirty="0">
                <a:solidFill>
                  <a:srgbClr val="000000"/>
                </a:solidFill>
                <a:latin typeface="Helvetica Neue Thin"/>
              </a:rPr>
              <a:t>expense. </a:t>
            </a:r>
          </a:p>
        </p:txBody>
      </p:sp>
      <p:sp>
        <p:nvSpPr>
          <p:cNvPr id="14" name="TextBox 13"/>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331511" y="1498600"/>
            <a:ext cx="2079698" cy="3766296"/>
          </a:xfrm>
          <a:prstGeom prst="rect">
            <a:avLst/>
          </a:prstGeom>
        </p:spPr>
      </p:pic>
      <p:pic>
        <p:nvPicPr>
          <p:cNvPr id="4" name="Picture 2" descr="image.png"/>
          <p:cNvPicPr>
            <a:picLocks noChangeAspect="1"/>
          </p:cNvPicPr>
          <p:nvPr/>
        </p:nvPicPr>
        <p:blipFill>
          <a:blip r:embed="rId4"/>
          <a:stretch>
            <a:fillRect/>
          </a:stretch>
        </p:blipFill>
        <p:spPr>
          <a:xfrm>
            <a:off x="6706703" y="236772"/>
            <a:ext cx="3652381" cy="6493123"/>
          </a:xfrm>
          <a:prstGeom prst="rect">
            <a:avLst/>
          </a:prstGeom>
        </p:spPr>
      </p:pic>
      <p:pic>
        <p:nvPicPr>
          <p:cNvPr id="5" name="Picture 3" descr="image.png"/>
          <p:cNvPicPr>
            <a:picLocks noChangeAspect="1"/>
          </p:cNvPicPr>
          <p:nvPr/>
        </p:nvPicPr>
        <p:blipFill>
          <a:blip r:embed="rId5"/>
          <a:stretch>
            <a:fillRect/>
          </a:stretch>
        </p:blipFill>
        <p:spPr>
          <a:xfrm>
            <a:off x="10562094" y="5102783"/>
            <a:ext cx="2264222" cy="4025282"/>
          </a:xfrm>
          <a:prstGeom prst="rect">
            <a:avLst/>
          </a:prstGeom>
        </p:spPr>
      </p:pic>
      <p:pic>
        <p:nvPicPr>
          <p:cNvPr id="6" name="Picture 4" descr="image.png"/>
          <p:cNvPicPr>
            <a:picLocks noChangeAspect="1"/>
          </p:cNvPicPr>
          <p:nvPr/>
        </p:nvPicPr>
        <p:blipFill>
          <a:blip r:embed="rId6"/>
          <a:stretch>
            <a:fillRect/>
          </a:stretch>
        </p:blipFill>
        <p:spPr>
          <a:xfrm>
            <a:off x="4222998" y="5588710"/>
            <a:ext cx="2354889" cy="4164889"/>
          </a:xfrm>
          <a:prstGeom prst="rect">
            <a:avLst/>
          </a:prstGeom>
        </p:spPr>
      </p:pic>
      <p:sp>
        <p:nvSpPr>
          <p:cNvPr id="7" name="TextBox 6"/>
          <p:cNvSpPr txBox="1"/>
          <p:nvPr/>
        </p:nvSpPr>
        <p:spPr>
          <a:xfrm>
            <a:off x="457200" y="1712481"/>
            <a:ext cx="1907397" cy="247497"/>
          </a:xfrm>
          <a:prstGeom prst="rect">
            <a:avLst/>
          </a:prstGeom>
          <a:noFill/>
        </p:spPr>
        <p:txBody>
          <a:bodyPr wrap="none" lIns="0" tIns="0" rIns="0" bIns="0">
            <a:noAutofit/>
          </a:bodyPr>
          <a:lstStyle/>
          <a:p>
            <a:pPr algn="l"/>
            <a:r>
              <a:rPr sz="1600" dirty="0">
                <a:solidFill>
                  <a:srgbClr val="000000"/>
                </a:solidFill>
                <a:latin typeface="Helvetica Neue Light"/>
              </a:rPr>
              <a:t>Budget Plan Wizard</a:t>
            </a:r>
          </a:p>
        </p:txBody>
      </p:sp>
      <p:sp>
        <p:nvSpPr>
          <p:cNvPr id="8" name="TextBox 7"/>
          <p:cNvSpPr txBox="1"/>
          <p:nvPr/>
        </p:nvSpPr>
        <p:spPr>
          <a:xfrm>
            <a:off x="457200" y="2096326"/>
            <a:ext cx="3544298" cy="236524"/>
          </a:xfrm>
          <a:prstGeom prst="rect">
            <a:avLst/>
          </a:prstGeom>
          <a:noFill/>
        </p:spPr>
        <p:txBody>
          <a:bodyPr wrap="none" lIns="0" tIns="0" rIns="0" bIns="0">
            <a:noAutofit/>
          </a:bodyPr>
          <a:lstStyle/>
          <a:p>
            <a:pPr algn="l"/>
            <a:r>
              <a:rPr sz="1600" dirty="0">
                <a:solidFill>
                  <a:srgbClr val="000000"/>
                </a:solidFill>
                <a:latin typeface="Helvetica Neue Thin"/>
              </a:rPr>
              <a:t>Using his current plan as a base, the </a:t>
            </a:r>
          </a:p>
        </p:txBody>
      </p:sp>
      <p:sp>
        <p:nvSpPr>
          <p:cNvPr id="9" name="TextBox 8"/>
          <p:cNvSpPr txBox="1"/>
          <p:nvPr/>
        </p:nvSpPr>
        <p:spPr>
          <a:xfrm>
            <a:off x="457200" y="2477326"/>
            <a:ext cx="3771457" cy="236524"/>
          </a:xfrm>
          <a:prstGeom prst="rect">
            <a:avLst/>
          </a:prstGeom>
          <a:noFill/>
        </p:spPr>
        <p:txBody>
          <a:bodyPr wrap="none" lIns="0" tIns="0" rIns="0" bIns="0">
            <a:noAutofit/>
          </a:bodyPr>
          <a:lstStyle/>
          <a:p>
            <a:pPr algn="l"/>
            <a:r>
              <a:rPr sz="1600" dirty="0">
                <a:solidFill>
                  <a:srgbClr val="000000"/>
                </a:solidFill>
                <a:latin typeface="Helvetica Neue Thin"/>
              </a:rPr>
              <a:t>wizard guides him through the process, </a:t>
            </a:r>
          </a:p>
        </p:txBody>
      </p:sp>
      <p:sp>
        <p:nvSpPr>
          <p:cNvPr id="10" name="TextBox 9"/>
          <p:cNvSpPr txBox="1"/>
          <p:nvPr/>
        </p:nvSpPr>
        <p:spPr>
          <a:xfrm>
            <a:off x="457200" y="2858326"/>
            <a:ext cx="3604428" cy="236524"/>
          </a:xfrm>
          <a:prstGeom prst="rect">
            <a:avLst/>
          </a:prstGeom>
          <a:noFill/>
        </p:spPr>
        <p:txBody>
          <a:bodyPr wrap="none" lIns="0" tIns="0" rIns="0" bIns="0">
            <a:noAutofit/>
          </a:bodyPr>
          <a:lstStyle/>
          <a:p>
            <a:pPr algn="l"/>
            <a:r>
              <a:rPr sz="1600" dirty="0">
                <a:solidFill>
                  <a:srgbClr val="000000"/>
                </a:solidFill>
                <a:latin typeface="Helvetica Neue Thin"/>
              </a:rPr>
              <a:t>asking him simple plain-language</a:t>
            </a:r>
          </a:p>
        </p:txBody>
      </p:sp>
      <p:sp>
        <p:nvSpPr>
          <p:cNvPr id="11" name="TextBox 10"/>
          <p:cNvSpPr txBox="1"/>
          <p:nvPr/>
        </p:nvSpPr>
        <p:spPr>
          <a:xfrm>
            <a:off x="457200" y="3239326"/>
            <a:ext cx="3714398" cy="236524"/>
          </a:xfrm>
          <a:prstGeom prst="rect">
            <a:avLst/>
          </a:prstGeom>
          <a:noFill/>
        </p:spPr>
        <p:txBody>
          <a:bodyPr wrap="none" lIns="0" tIns="0" rIns="0" bIns="0">
            <a:noAutofit/>
          </a:bodyPr>
          <a:lstStyle/>
          <a:p>
            <a:pPr algn="l"/>
            <a:r>
              <a:rPr sz="1600" dirty="0">
                <a:solidFill>
                  <a:srgbClr val="000000"/>
                </a:solidFill>
                <a:latin typeface="Helvetica Neue Thin"/>
              </a:rPr>
              <a:t>questions. He could even build </a:t>
            </a:r>
          </a:p>
        </p:txBody>
      </p:sp>
      <p:sp>
        <p:nvSpPr>
          <p:cNvPr id="12" name="TextBox 11"/>
          <p:cNvSpPr txBox="1"/>
          <p:nvPr/>
        </p:nvSpPr>
        <p:spPr>
          <a:xfrm>
            <a:off x="457200" y="3528886"/>
            <a:ext cx="3680221" cy="4518965"/>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it using AI or other voice-activated technology. He adjusts his plan projecting an increase of 12% in revenue over the next year. The Wizard algorithmically projects and allocates speculative information and constructs the Plan. He has a new plan to guide him in the new fiscal year. He can also compare past plans to help understand the trends of expenses, debts, spending and revenue. The interactive data visualizations allow deeper insight of past activity.</a:t>
            </a:r>
          </a:p>
        </p:txBody>
      </p:sp>
      <p:sp>
        <p:nvSpPr>
          <p:cNvPr id="24" name="TextBox 2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5" name="TextBox 24"/>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4</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10158621" y="4457593"/>
            <a:ext cx="2400158" cy="4333933"/>
          </a:xfrm>
          <a:prstGeom prst="rect">
            <a:avLst/>
          </a:prstGeom>
        </p:spPr>
      </p:pic>
      <p:pic>
        <p:nvPicPr>
          <p:cNvPr id="4" name="Picture 2" descr="image.png"/>
          <p:cNvPicPr>
            <a:picLocks noChangeAspect="1"/>
          </p:cNvPicPr>
          <p:nvPr/>
        </p:nvPicPr>
        <p:blipFill>
          <a:blip r:embed="rId4"/>
          <a:stretch>
            <a:fillRect/>
          </a:stretch>
        </p:blipFill>
        <p:spPr>
          <a:xfrm>
            <a:off x="458422" y="1728423"/>
            <a:ext cx="4050188" cy="7200334"/>
          </a:xfrm>
          <a:prstGeom prst="rect">
            <a:avLst/>
          </a:prstGeom>
        </p:spPr>
      </p:pic>
      <p:sp>
        <p:nvSpPr>
          <p:cNvPr id="5" name="TextBox 4"/>
          <p:cNvSpPr txBox="1"/>
          <p:nvPr/>
        </p:nvSpPr>
        <p:spPr>
          <a:xfrm>
            <a:off x="4889500" y="1573782"/>
            <a:ext cx="2085157" cy="247497"/>
          </a:xfrm>
          <a:prstGeom prst="rect">
            <a:avLst/>
          </a:prstGeom>
          <a:noFill/>
        </p:spPr>
        <p:txBody>
          <a:bodyPr wrap="none" lIns="0" tIns="0" rIns="0" bIns="0">
            <a:noAutofit/>
          </a:bodyPr>
          <a:lstStyle/>
          <a:p>
            <a:pPr algn="l"/>
            <a:r>
              <a:rPr sz="1600" dirty="0">
                <a:solidFill>
                  <a:srgbClr val="000000"/>
                </a:solidFill>
                <a:latin typeface="Helvetica Neue Light"/>
              </a:rPr>
              <a:t>Spending Monitoring </a:t>
            </a:r>
          </a:p>
        </p:txBody>
      </p:sp>
      <p:sp>
        <p:nvSpPr>
          <p:cNvPr id="6" name="TextBox 5"/>
          <p:cNvSpPr txBox="1"/>
          <p:nvPr/>
        </p:nvSpPr>
        <p:spPr>
          <a:xfrm>
            <a:off x="4889500" y="1866187"/>
            <a:ext cx="5131891" cy="2232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When he built his original plan, he used a business budget template that gave him an optimized plan based on his profile and past usage of the application. However, due to an unforeseen increase in business for the quarter, not only did his work load increase, but his expenses did too. The data visualization feature of the app gives him insight.</a:t>
            </a:r>
          </a:p>
        </p:txBody>
      </p:sp>
      <p:sp>
        <p:nvSpPr>
          <p:cNvPr id="12" name="TextBox 11"/>
          <p:cNvSpPr txBox="1"/>
          <p:nvPr/>
        </p:nvSpPr>
        <p:spPr>
          <a:xfrm>
            <a:off x="4889500" y="4624627"/>
            <a:ext cx="4395370" cy="236524"/>
          </a:xfrm>
          <a:prstGeom prst="rect">
            <a:avLst/>
          </a:prstGeom>
          <a:noFill/>
        </p:spPr>
        <p:txBody>
          <a:bodyPr wrap="none" lIns="0" tIns="0" rIns="0" bIns="0">
            <a:noAutofit/>
          </a:bodyPr>
          <a:lstStyle/>
          <a:p>
            <a:pPr algn="l"/>
            <a:r>
              <a:rPr sz="1600" dirty="0">
                <a:solidFill>
                  <a:srgbClr val="000000"/>
                </a:solidFill>
                <a:latin typeface="Helvetica Neue Thin"/>
              </a:rPr>
              <a:t>Year to Date Plan Data vs... Quarterly Plan Data</a:t>
            </a:r>
          </a:p>
        </p:txBody>
      </p:sp>
      <p:sp>
        <p:nvSpPr>
          <p:cNvPr id="13" name="TextBox 12"/>
          <p:cNvSpPr txBox="1"/>
          <p:nvPr/>
        </p:nvSpPr>
        <p:spPr>
          <a:xfrm>
            <a:off x="4889500" y="4914187"/>
            <a:ext cx="5190529" cy="3756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A BUDGET PLAN gives Kunal real vision to help him run his business better and stay on budget. On a couple occasions he has received alerts and tips. Because this has happened several times the app upsells relevant Wells Fargo Small Business products to Kunal, through the Tips and Recommendation engine. Since the quarter is almost ending, he is encouraged to build a new Business Financial Plan. He can use the existing one as a base and adjust, use a suggested mySMALLBUSINESS Plan template auto suggested to him, or start from scratch. </a:t>
            </a:r>
          </a:p>
        </p:txBody>
      </p:sp>
      <p:sp>
        <p:nvSpPr>
          <p:cNvPr id="23" name="TextBox 2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4" name="TextBox 23"/>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119473" y="453170"/>
            <a:ext cx="2285398" cy="3920540"/>
          </a:xfrm>
          <a:prstGeom prst="rect">
            <a:avLst/>
          </a:prstGeom>
        </p:spPr>
      </p:pic>
      <p:pic>
        <p:nvPicPr>
          <p:cNvPr id="4" name="Picture 2" descr="image.png"/>
          <p:cNvPicPr>
            <a:picLocks noChangeAspect="1"/>
          </p:cNvPicPr>
          <p:nvPr/>
        </p:nvPicPr>
        <p:blipFill>
          <a:blip r:embed="rId4"/>
          <a:stretch>
            <a:fillRect/>
          </a:stretch>
        </p:blipFill>
        <p:spPr>
          <a:xfrm>
            <a:off x="8283543" y="1245741"/>
            <a:ext cx="3791474" cy="6740397"/>
          </a:xfrm>
          <a:prstGeom prst="rect">
            <a:avLst/>
          </a:prstGeom>
        </p:spPr>
      </p:pic>
      <p:pic>
        <p:nvPicPr>
          <p:cNvPr id="5" name="Picture 3" descr="image.png"/>
          <p:cNvPicPr>
            <a:picLocks noChangeAspect="1"/>
          </p:cNvPicPr>
          <p:nvPr/>
        </p:nvPicPr>
        <p:blipFill>
          <a:blip r:embed="rId5"/>
          <a:stretch>
            <a:fillRect/>
          </a:stretch>
        </p:blipFill>
        <p:spPr>
          <a:xfrm>
            <a:off x="5487967" y="1657992"/>
            <a:ext cx="2481174" cy="4427193"/>
          </a:xfrm>
          <a:prstGeom prst="rect">
            <a:avLst/>
          </a:prstGeom>
        </p:spPr>
      </p:pic>
      <p:pic>
        <p:nvPicPr>
          <p:cNvPr id="6" name="Picture 4" descr="image.png"/>
          <p:cNvPicPr>
            <a:picLocks noChangeAspect="1"/>
          </p:cNvPicPr>
          <p:nvPr/>
        </p:nvPicPr>
        <p:blipFill>
          <a:blip r:embed="rId6"/>
          <a:stretch>
            <a:fillRect/>
          </a:stretch>
        </p:blipFill>
        <p:spPr>
          <a:xfrm>
            <a:off x="1459687" y="5847404"/>
            <a:ext cx="2530406" cy="3906195"/>
          </a:xfrm>
          <a:prstGeom prst="rect">
            <a:avLst/>
          </a:prstGeom>
        </p:spPr>
      </p:pic>
      <p:pic>
        <p:nvPicPr>
          <p:cNvPr id="7" name="Picture 5" descr="image.png"/>
          <p:cNvPicPr>
            <a:picLocks noChangeAspect="1"/>
          </p:cNvPicPr>
          <p:nvPr/>
        </p:nvPicPr>
        <p:blipFill>
          <a:blip r:embed="rId7"/>
          <a:stretch>
            <a:fillRect/>
          </a:stretch>
        </p:blipFill>
        <p:spPr>
          <a:xfrm>
            <a:off x="4344325" y="5080926"/>
            <a:ext cx="3068911" cy="4672673"/>
          </a:xfrm>
          <a:prstGeom prst="rect">
            <a:avLst/>
          </a:prstGeom>
        </p:spPr>
      </p:pic>
      <p:sp>
        <p:nvSpPr>
          <p:cNvPr id="8" name="TextBox 7"/>
          <p:cNvSpPr txBox="1"/>
          <p:nvPr/>
        </p:nvSpPr>
        <p:spPr>
          <a:xfrm>
            <a:off x="457200" y="1764282"/>
            <a:ext cx="2085157" cy="247497"/>
          </a:xfrm>
          <a:prstGeom prst="rect">
            <a:avLst/>
          </a:prstGeom>
          <a:noFill/>
        </p:spPr>
        <p:txBody>
          <a:bodyPr wrap="none" lIns="0" tIns="0" rIns="0" bIns="0">
            <a:noAutofit/>
          </a:bodyPr>
          <a:lstStyle/>
          <a:p>
            <a:pPr algn="l"/>
            <a:r>
              <a:rPr sz="1600" dirty="0">
                <a:solidFill>
                  <a:srgbClr val="000000"/>
                </a:solidFill>
                <a:latin typeface="Helvetica Neue Light"/>
              </a:rPr>
              <a:t>Spending Monitoring </a:t>
            </a:r>
          </a:p>
        </p:txBody>
      </p:sp>
      <p:sp>
        <p:nvSpPr>
          <p:cNvPr id="9" name="TextBox 8"/>
          <p:cNvSpPr txBox="1"/>
          <p:nvPr/>
        </p:nvSpPr>
        <p:spPr>
          <a:xfrm>
            <a:off x="457200" y="2056687"/>
            <a:ext cx="3667660" cy="3375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When he built his original plan, he used a business budget template that gave him an optimized plan based on his profile and past usage of the application. However, due to an unforeseen increase in business for the quarter, not only did his work load increase, but his expenses did too. The data visualization feature of the app gives him insight.</a:t>
            </a:r>
          </a:p>
        </p:txBody>
      </p:sp>
      <p:sp>
        <p:nvSpPr>
          <p:cNvPr id="18" name="TextBox 1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19" name="TextBox 18"/>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24023</Words>
  <Application>Microsoft Macintosh PowerPoint</Application>
  <PresentationFormat>Custom</PresentationFormat>
  <Paragraphs>2417</Paragraphs>
  <Slides>161</Slides>
  <Notes>67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161</vt:i4>
      </vt:variant>
    </vt:vector>
  </HeadingPairs>
  <TitlesOfParts>
    <vt:vector size="170" baseType="lpstr">
      <vt:lpstr>Aptos</vt:lpstr>
      <vt:lpstr>Arial</vt:lpstr>
      <vt:lpstr>Calibri</vt:lpstr>
      <vt:lpstr>Helvetica</vt:lpstr>
      <vt:lpstr>Helvetica Neue</vt:lpstr>
      <vt:lpstr>HELVETICA NEUE LIGHT</vt:lpstr>
      <vt:lpstr>HELVETICA NEUE LIGHT</vt:lpstr>
      <vt:lpstr>Helvetica Neue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19</cp:revision>
  <dcterms:created xsi:type="dcterms:W3CDTF">2013-01-27T09:14:16Z</dcterms:created>
  <dcterms:modified xsi:type="dcterms:W3CDTF">2026-10-08T01:28:10Z</dcterms:modified>
  <cp:category/>
</cp:coreProperties>
</file>
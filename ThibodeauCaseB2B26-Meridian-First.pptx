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9"/>
  </p:notesMasterIdLst>
  <p:sldIdLst>
    <p:sldId id="256" r:id="rId2"/>
    <p:sldId id="445" r:id="rId3"/>
    <p:sldId id="466" r:id="rId96"/>
    <p:sldId id="467" r:id="rId97"/>
    <p:sldId id="468" r:id="rId98"/>
    <p:sldId id="469" r:id="rId99"/>
    <p:sldId id="470" r:id="rId100"/>
    <p:sldId id="471" r:id="rId101"/>
    <p:sldId id="472" r:id="rId102"/>
    <p:sldId id="473" r:id="rId103"/>
    <p:sldId id="474" r:id="rId104"/>
    <p:sldId id="475" r:id="rId105"/>
    <p:sldId id="542" r:id="rId172"/>
    <p:sldId id="543" r:id="rId173"/>
    <p:sldId id="546" r:id="rId164"/>
    <p:sldId id="547" r:id="rId165"/>
    <p:sldId id="548" r:id="rId166"/>
    <p:sldId id="549" r:id="rId167"/>
    <p:sldId id="550" r:id="rId168"/>
    <p:sldId id="477" r:id="rId107"/>
    <p:sldId id="478" r:id="rId108"/>
    <p:sldId id="479" r:id="rId109"/>
    <p:sldId id="480" r:id="rId110"/>
    <p:sldId id="481" r:id="rId111"/>
    <p:sldId id="482" r:id="rId112"/>
    <p:sldId id="483" r:id="rId113"/>
    <p:sldId id="484" r:id="rId114"/>
    <p:sldId id="485" r:id="rId115"/>
    <p:sldId id="486" r:id="rId116"/>
    <p:sldId id="487" r:id="rId117"/>
    <p:sldId id="544" r:id="rId162"/>
    <p:sldId id="545" r:id="rId163"/>
    <p:sldId id="488" r:id="rId118"/>
    <p:sldId id="489" r:id="rId119"/>
    <p:sldId id="490" r:id="rId120"/>
    <p:sldId id="491" r:id="rId121"/>
    <p:sldId id="336" r:id="rId4"/>
    <p:sldId id="337" r:id="rId5"/>
    <p:sldId id="339" r:id="rId6"/>
    <p:sldId id="341" r:id="rId7"/>
    <p:sldId id="342" r:id="rId8"/>
    <p:sldId id="343" r:id="rId9"/>
    <p:sldId id="443" r:id="rId10"/>
    <p:sldId id="344" r:id="rId11"/>
    <p:sldId id="346" r:id="rId12"/>
    <p:sldId id="464" r:id="rId94"/>
    <p:sldId id="348" r:id="rId13"/>
    <p:sldId id="351" r:id="rId14"/>
    <p:sldId id="453" r:id="rId15"/>
    <p:sldId id="352" r:id="rId16"/>
    <p:sldId id="355" r:id="rId17"/>
    <p:sldId id="454" r:id="rId18"/>
    <p:sldId id="357" r:id="rId19"/>
    <p:sldId id="359" r:id="rId20"/>
    <p:sldId id="455" r:id="rId21"/>
    <p:sldId id="361" r:id="rId22"/>
    <p:sldId id="363" r:id="rId23"/>
    <p:sldId id="456" r:id="rId24"/>
    <p:sldId id="457" r:id="rId25"/>
    <p:sldId id="367" r:id="rId26"/>
    <p:sldId id="368" r:id="rId27"/>
    <p:sldId id="369" r:id="rId28"/>
    <p:sldId id="370" r:id="rId29"/>
    <p:sldId id="446" r:id="rId30"/>
    <p:sldId id="374" r:id="rId31"/>
    <p:sldId id="465" r:id="rId95"/>
    <p:sldId id="377" r:id="rId32"/>
    <p:sldId id="378" r:id="rId33"/>
    <p:sldId id="379" r:id="rId34"/>
    <p:sldId id="380" r:id="rId35"/>
    <p:sldId id="447" r:id="rId36"/>
    <p:sldId id="313" r:id="rId37"/>
    <p:sldId id="314" r:id="rId38"/>
    <p:sldId id="315" r:id="rId39"/>
    <p:sldId id="316" r:id="rId40"/>
    <p:sldId id="317" r:id="rId41"/>
    <p:sldId id="318" r:id="rId42"/>
    <p:sldId id="321" r:id="rId43"/>
    <p:sldId id="322" r:id="rId44"/>
    <p:sldId id="323" r:id="rId45"/>
    <p:sldId id="458" r:id="rId46"/>
    <p:sldId id="324" r:id="rId47"/>
    <p:sldId id="326" r:id="rId48"/>
    <p:sldId id="328" r:id="rId49"/>
    <p:sldId id="330" r:id="rId50"/>
    <p:sldId id="332" r:id="rId51"/>
    <p:sldId id="334" r:id="rId52"/>
    <p:sldId id="448" r:id="rId53"/>
    <p:sldId id="451" r:id="rId54"/>
    <p:sldId id="459" r:id="rId55"/>
    <p:sldId id="257" r:id="rId56"/>
    <p:sldId id="258" r:id="rId57"/>
    <p:sldId id="259" r:id="rId58"/>
    <p:sldId id="260" r:id="rId59"/>
    <p:sldId id="263" r:id="rId60"/>
    <p:sldId id="265" r:id="rId61"/>
    <p:sldId id="266" r:id="rId62"/>
    <p:sldId id="269" r:id="rId63"/>
    <p:sldId id="270" r:id="rId64"/>
    <p:sldId id="271" r:id="rId65"/>
    <p:sldId id="272" r:id="rId66"/>
    <p:sldId id="273" r:id="rId67"/>
    <p:sldId id="460" r:id="rId68"/>
    <p:sldId id="449" r:id="rId69"/>
    <p:sldId id="452" r:id="rId70"/>
    <p:sldId id="461" r:id="rId71"/>
    <p:sldId id="292" r:id="rId72"/>
    <p:sldId id="293" r:id="rId73"/>
    <p:sldId id="294" r:id="rId74"/>
    <p:sldId id="295" r:id="rId75"/>
    <p:sldId id="297" r:id="rId76"/>
    <p:sldId id="298" r:id="rId77"/>
    <p:sldId id="301" r:id="rId78"/>
    <p:sldId id="302" r:id="rId79"/>
    <p:sldId id="305" r:id="rId80"/>
    <p:sldId id="306" r:id="rId81"/>
    <p:sldId id="310" r:id="rId82"/>
    <p:sldId id="462" r:id="rId83"/>
    <p:sldId id="450" r:id="rId84"/>
    <p:sldId id="312" r:id="rId85"/>
    <p:sldId id="463" r:id="rId86"/>
    <p:sldId id="492" r:id="rId122"/>
    <p:sldId id="493" r:id="rId123"/>
    <p:sldId id="494" r:id="rId124"/>
    <p:sldId id="495" r:id="rId125"/>
    <p:sldId id="496" r:id="rId126"/>
    <p:sldId id="497" r:id="rId127"/>
    <p:sldId id="498" r:id="rId128"/>
    <p:sldId id="499" r:id="rId129"/>
    <p:sldId id="500" r:id="rId130"/>
    <p:sldId id="501" r:id="rId131"/>
    <p:sldId id="502" r:id="rId132"/>
    <p:sldId id="503" r:id="rId133"/>
    <p:sldId id="504" r:id="rId134"/>
    <p:sldId id="505" r:id="rId135"/>
    <p:sldId id="506" r:id="rId136"/>
    <p:sldId id="507" r:id="rId137"/>
    <p:sldId id="508" r:id="rId138"/>
    <p:sldId id="509" r:id="rId139"/>
    <p:sldId id="510" r:id="rId140"/>
    <p:sldId id="511" r:id="rId141"/>
    <p:sldId id="512" r:id="rId142"/>
    <p:sldId id="513" r:id="rId143"/>
    <p:sldId id="514" r:id="rId144"/>
    <p:sldId id="515" r:id="rId145"/>
    <p:sldId id="516" r:id="rId146"/>
    <p:sldId id="517" r:id="rId147"/>
    <p:sldId id="518" r:id="rId148"/>
    <p:sldId id="519" r:id="rId149"/>
    <p:sldId id="520" r:id="rId150"/>
    <p:sldId id="521" r:id="rId151"/>
    <p:sldId id="522" r:id="rId152"/>
    <p:sldId id="523" r:id="rId153"/>
    <p:sldId id="524" r:id="rId154"/>
    <p:sldId id="525" r:id="rId155"/>
    <p:sldId id="526" r:id="rId156"/>
    <p:sldId id="527" r:id="rId157"/>
    <p:sldId id="528" r:id="rId158"/>
    <p:sldId id="529" r:id="rId159"/>
    <p:sldId id="530" r:id="rId160"/>
    <p:sldId id="444" r:id="rId87"/>
    <p:sldId id="335" r:id="rId88"/>
  </p:sldIdLst>
  <p:sldSz cx="13004800" cy="9753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ACFFF"/>
    <a:srgbClr val="FF6600"/>
    <a:srgbClr val="99C9FF"/>
    <a:srgbClr val="41587E"/>
    <a:srgbClr val="2F7D72"/>
    <a:srgbClr val="483176"/>
    <a:srgbClr val="78202A"/>
    <a:srgbClr val="703596"/>
    <a:srgbClr val="397D72"/>
    <a:srgbClr val="80202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731"/>
    <p:restoredTop sz="94658"/>
  </p:normalViewPr>
  <p:slideViewPr>
    <p:cSldViewPr snapToGrid="0" snapToObjects="1">
      <p:cViewPr varScale="1">
        <p:scale>
          <a:sx n="84" d="100"/>
          <a:sy n="84" d="100"/>
        </p:scale>
        <p:origin x="2224"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3.xml"/><Relationship Id="rId33" Type="http://schemas.openxmlformats.org/officeDocument/2006/relationships/slide" Target="slides/slide34.xml"/><Relationship Id="rId34" Type="http://schemas.openxmlformats.org/officeDocument/2006/relationships/slide" Target="slides/slide35.xml"/><Relationship Id="rId35" Type="http://schemas.openxmlformats.org/officeDocument/2006/relationships/slide" Target="slides/slide36.xml"/><Relationship Id="rId36" Type="http://schemas.openxmlformats.org/officeDocument/2006/relationships/slide" Target="slides/slide37.xml"/><Relationship Id="rId37" Type="http://schemas.openxmlformats.org/officeDocument/2006/relationships/slide" Target="slides/slide38.xml"/><Relationship Id="rId38" Type="http://schemas.openxmlformats.org/officeDocument/2006/relationships/slide" Target="slides/slide39.xml"/><Relationship Id="rId39" Type="http://schemas.openxmlformats.org/officeDocument/2006/relationships/slide" Target="slides/slide40.xml"/><Relationship Id="rId40" Type="http://schemas.openxmlformats.org/officeDocument/2006/relationships/slide" Target="slides/slide41.xml"/><Relationship Id="rId41" Type="http://schemas.openxmlformats.org/officeDocument/2006/relationships/slide" Target="slides/slide42.xml"/><Relationship Id="rId42" Type="http://schemas.openxmlformats.org/officeDocument/2006/relationships/slide" Target="slides/slide43.xml"/><Relationship Id="rId43" Type="http://schemas.openxmlformats.org/officeDocument/2006/relationships/slide" Target="slides/slide44.xml"/><Relationship Id="rId44" Type="http://schemas.openxmlformats.org/officeDocument/2006/relationships/slide" Target="slides/slide45.xml"/><Relationship Id="rId45" Type="http://schemas.openxmlformats.org/officeDocument/2006/relationships/slide" Target="slides/slide46.xml"/><Relationship Id="rId46" Type="http://schemas.openxmlformats.org/officeDocument/2006/relationships/slide" Target="slides/slide47.xml"/><Relationship Id="rId47" Type="http://schemas.openxmlformats.org/officeDocument/2006/relationships/slide" Target="slides/slide48.xml"/><Relationship Id="rId48" Type="http://schemas.openxmlformats.org/officeDocument/2006/relationships/slide" Target="slides/slide49.xml"/><Relationship Id="rId49" Type="http://schemas.openxmlformats.org/officeDocument/2006/relationships/slide" Target="slides/slide50.xml"/><Relationship Id="rId50" Type="http://schemas.openxmlformats.org/officeDocument/2006/relationships/slide" Target="slides/slide51.xml"/><Relationship Id="rId51" Type="http://schemas.openxmlformats.org/officeDocument/2006/relationships/slide" Target="slides/slide52.xml"/><Relationship Id="rId52" Type="http://schemas.openxmlformats.org/officeDocument/2006/relationships/slide" Target="slides/slide53.xml"/><Relationship Id="rId53" Type="http://schemas.openxmlformats.org/officeDocument/2006/relationships/slide" Target="slides/slide54.xml"/><Relationship Id="rId54" Type="http://schemas.openxmlformats.org/officeDocument/2006/relationships/slide" Target="slides/slide55.xml"/><Relationship Id="rId55" Type="http://schemas.openxmlformats.org/officeDocument/2006/relationships/slide" Target="slides/slide56.xml"/><Relationship Id="rId56" Type="http://schemas.openxmlformats.org/officeDocument/2006/relationships/slide" Target="slides/slide57.xml"/><Relationship Id="rId57" Type="http://schemas.openxmlformats.org/officeDocument/2006/relationships/slide" Target="slides/slide58.xml"/><Relationship Id="rId58" Type="http://schemas.openxmlformats.org/officeDocument/2006/relationships/slide" Target="slides/slide59.xml"/><Relationship Id="rId59" Type="http://schemas.openxmlformats.org/officeDocument/2006/relationships/slide" Target="slides/slide60.xml"/><Relationship Id="rId60" Type="http://schemas.openxmlformats.org/officeDocument/2006/relationships/slide" Target="slides/slide61.xml"/><Relationship Id="rId61" Type="http://schemas.openxmlformats.org/officeDocument/2006/relationships/slide" Target="slides/slide62.xml"/><Relationship Id="rId62" Type="http://schemas.openxmlformats.org/officeDocument/2006/relationships/slide" Target="slides/slide63.xml"/><Relationship Id="rId63" Type="http://schemas.openxmlformats.org/officeDocument/2006/relationships/slide" Target="slides/slide64.xml"/><Relationship Id="rId64" Type="http://schemas.openxmlformats.org/officeDocument/2006/relationships/slide" Target="slides/slide65.xml"/><Relationship Id="rId65" Type="http://schemas.openxmlformats.org/officeDocument/2006/relationships/slide" Target="slides/slide66.xml"/><Relationship Id="rId66" Type="http://schemas.openxmlformats.org/officeDocument/2006/relationships/slide" Target="slides/slide67.xml"/><Relationship Id="rId67" Type="http://schemas.openxmlformats.org/officeDocument/2006/relationships/slide" Target="slides/slide68.xml"/><Relationship Id="rId68" Type="http://schemas.openxmlformats.org/officeDocument/2006/relationships/slide" Target="slides/slide69.xml"/><Relationship Id="rId69" Type="http://schemas.openxmlformats.org/officeDocument/2006/relationships/slide" Target="slides/slide70.xml"/><Relationship Id="rId70" Type="http://schemas.openxmlformats.org/officeDocument/2006/relationships/slide" Target="slides/slide71.xml"/><Relationship Id="rId71" Type="http://schemas.openxmlformats.org/officeDocument/2006/relationships/slide" Target="slides/slide72.xml"/><Relationship Id="rId72" Type="http://schemas.openxmlformats.org/officeDocument/2006/relationships/slide" Target="slides/slide73.xml"/><Relationship Id="rId73" Type="http://schemas.openxmlformats.org/officeDocument/2006/relationships/slide" Target="slides/slide74.xml"/><Relationship Id="rId74" Type="http://schemas.openxmlformats.org/officeDocument/2006/relationships/slide" Target="slides/slide75.xml"/><Relationship Id="rId75" Type="http://schemas.openxmlformats.org/officeDocument/2006/relationships/slide" Target="slides/slide76.xml"/><Relationship Id="rId76" Type="http://schemas.openxmlformats.org/officeDocument/2006/relationships/slide" Target="slides/slide77.xml"/><Relationship Id="rId77" Type="http://schemas.openxmlformats.org/officeDocument/2006/relationships/slide" Target="slides/slide78.xml"/><Relationship Id="rId78" Type="http://schemas.openxmlformats.org/officeDocument/2006/relationships/slide" Target="slides/slide79.xml"/><Relationship Id="rId79" Type="http://schemas.openxmlformats.org/officeDocument/2006/relationships/slide" Target="slides/slide80.xml"/><Relationship Id="rId80" Type="http://schemas.openxmlformats.org/officeDocument/2006/relationships/slide" Target="slides/slide81.xml"/><Relationship Id="rId81" Type="http://schemas.openxmlformats.org/officeDocument/2006/relationships/slide" Target="slides/slide82.xml"/><Relationship Id="rId82" Type="http://schemas.openxmlformats.org/officeDocument/2006/relationships/slide" Target="slides/slide83.xml"/><Relationship Id="rId83" Type="http://schemas.openxmlformats.org/officeDocument/2006/relationships/slide" Target="slides/slide84.xml"/><Relationship Id="rId84" Type="http://schemas.openxmlformats.org/officeDocument/2006/relationships/slide" Target="slides/slide85.xml"/><Relationship Id="rId85" Type="http://schemas.openxmlformats.org/officeDocument/2006/relationships/slide" Target="slides/slide86.xml"/><Relationship Id="rId86" Type="http://schemas.openxmlformats.org/officeDocument/2006/relationships/slide" Target="slides/slide87.xml"/><Relationship Id="rId87" Type="http://schemas.openxmlformats.org/officeDocument/2006/relationships/slide" Target="slides/slide157.xml"/><Relationship Id="rId88" Type="http://schemas.openxmlformats.org/officeDocument/2006/relationships/slide" Target="slides/slide158.xml"/><Relationship Id="rId89" Type="http://schemas.openxmlformats.org/officeDocument/2006/relationships/notesMaster" Target="notesMasters/notesMaster1.xml"/><Relationship Id="rId90" Type="http://schemas.openxmlformats.org/officeDocument/2006/relationships/presProps" Target="presProps.xml"/><Relationship Id="rId91" Type="http://schemas.openxmlformats.org/officeDocument/2006/relationships/viewProps" Target="viewProps.xml"/><Relationship Id="rId92" Type="http://schemas.openxmlformats.org/officeDocument/2006/relationships/theme" Target="theme/theme1.xml"/><Relationship Id="rId93" Type="http://schemas.openxmlformats.org/officeDocument/2006/relationships/tableStyles" Target="tableStyles.xml"/><Relationship Id="rId94" Type="http://schemas.openxmlformats.org/officeDocument/2006/relationships/slide" Target="slides/slide12.xml"/><Relationship Id="rId95" Type="http://schemas.openxmlformats.org/officeDocument/2006/relationships/slide" Target="slides/slide32.xml"/><Relationship Id="rId96" Type="http://schemas.openxmlformats.org/officeDocument/2006/relationships/slide" Target="slides/slide88.xml"/><Relationship Id="rId97" Type="http://schemas.openxmlformats.org/officeDocument/2006/relationships/slide" Target="slides/slide89.xml"/><Relationship Id="rId98" Type="http://schemas.openxmlformats.org/officeDocument/2006/relationships/slide" Target="slides/slide90.xml"/><Relationship Id="rId99" Type="http://schemas.openxmlformats.org/officeDocument/2006/relationships/slide" Target="slides/slide91.xml"/><Relationship Id="rId100" Type="http://schemas.openxmlformats.org/officeDocument/2006/relationships/slide" Target="slides/slide92.xml"/><Relationship Id="rId101" Type="http://schemas.openxmlformats.org/officeDocument/2006/relationships/slide" Target="slides/slide93.xml"/><Relationship Id="rId102" Type="http://schemas.openxmlformats.org/officeDocument/2006/relationships/slide" Target="slides/slide94.xml"/><Relationship Id="rId103" Type="http://schemas.openxmlformats.org/officeDocument/2006/relationships/slide" Target="slides/slide95.xml"/><Relationship Id="rId104" Type="http://schemas.openxmlformats.org/officeDocument/2006/relationships/slide" Target="slides/slide96.xml"/><Relationship Id="rId105" Type="http://schemas.openxmlformats.org/officeDocument/2006/relationships/slide" Target="slides/slide97.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4.xml"/><Relationship Id="rId119" Type="http://schemas.openxmlformats.org/officeDocument/2006/relationships/slide" Target="slides/slide115.xml"/><Relationship Id="rId120" Type="http://schemas.openxmlformats.org/officeDocument/2006/relationships/slide" Target="slides/slide116.xml"/><Relationship Id="rId121" Type="http://schemas.openxmlformats.org/officeDocument/2006/relationships/slide" Target="slides/slide117.xml"/><Relationship Id="rId122" Type="http://schemas.openxmlformats.org/officeDocument/2006/relationships/slide" Target="slides/slide118.xml"/><Relationship Id="rId123" Type="http://schemas.openxmlformats.org/officeDocument/2006/relationships/slide" Target="slides/slide119.xml"/><Relationship Id="rId124" Type="http://schemas.openxmlformats.org/officeDocument/2006/relationships/slide" Target="slides/slide120.xml"/><Relationship Id="rId125" Type="http://schemas.openxmlformats.org/officeDocument/2006/relationships/slide" Target="slides/slide121.xml"/><Relationship Id="rId126" Type="http://schemas.openxmlformats.org/officeDocument/2006/relationships/slide" Target="slides/slide122.xml"/><Relationship Id="rId127" Type="http://schemas.openxmlformats.org/officeDocument/2006/relationships/slide" Target="slides/slide123.xml"/><Relationship Id="rId128" Type="http://schemas.openxmlformats.org/officeDocument/2006/relationships/slide" Target="slides/slide124.xml"/><Relationship Id="rId129" Type="http://schemas.openxmlformats.org/officeDocument/2006/relationships/slide" Target="slides/slide125.xml"/><Relationship Id="rId130" Type="http://schemas.openxmlformats.org/officeDocument/2006/relationships/slide" Target="slides/slide126.xml"/><Relationship Id="rId131" Type="http://schemas.openxmlformats.org/officeDocument/2006/relationships/slide" Target="slides/slide127.xml"/><Relationship Id="rId132" Type="http://schemas.openxmlformats.org/officeDocument/2006/relationships/slide" Target="slides/slide128.xml"/><Relationship Id="rId133" Type="http://schemas.openxmlformats.org/officeDocument/2006/relationships/slide" Target="slides/slide129.xml"/><Relationship Id="rId134" Type="http://schemas.openxmlformats.org/officeDocument/2006/relationships/slide" Target="slides/slide130.xml"/><Relationship Id="rId135" Type="http://schemas.openxmlformats.org/officeDocument/2006/relationships/slide" Target="slides/slide131.xml"/><Relationship Id="rId136" Type="http://schemas.openxmlformats.org/officeDocument/2006/relationships/slide" Target="slides/slide132.xml"/><Relationship Id="rId137" Type="http://schemas.openxmlformats.org/officeDocument/2006/relationships/slide" Target="slides/slide133.xml"/><Relationship Id="rId138" Type="http://schemas.openxmlformats.org/officeDocument/2006/relationships/slide" Target="slides/slide134.xml"/><Relationship Id="rId139" Type="http://schemas.openxmlformats.org/officeDocument/2006/relationships/slide" Target="slides/slide135.xml"/><Relationship Id="rId140" Type="http://schemas.openxmlformats.org/officeDocument/2006/relationships/slide" Target="slides/slide136.xml"/><Relationship Id="rId141" Type="http://schemas.openxmlformats.org/officeDocument/2006/relationships/slide" Target="slides/slide137.xml"/><Relationship Id="rId142" Type="http://schemas.openxmlformats.org/officeDocument/2006/relationships/slide" Target="slides/slide138.xml"/><Relationship Id="rId143" Type="http://schemas.openxmlformats.org/officeDocument/2006/relationships/slide" Target="slides/slide139.xml"/><Relationship Id="rId144" Type="http://schemas.openxmlformats.org/officeDocument/2006/relationships/slide" Target="slides/slide140.xml"/><Relationship Id="rId145" Type="http://schemas.openxmlformats.org/officeDocument/2006/relationships/slide" Target="slides/slide141.xml"/><Relationship Id="rId146" Type="http://schemas.openxmlformats.org/officeDocument/2006/relationships/slide" Target="slides/slide142.xml"/><Relationship Id="rId147" Type="http://schemas.openxmlformats.org/officeDocument/2006/relationships/slide" Target="slides/slide143.xml"/><Relationship Id="rId148" Type="http://schemas.openxmlformats.org/officeDocument/2006/relationships/slide" Target="slides/slide144.xml"/><Relationship Id="rId149" Type="http://schemas.openxmlformats.org/officeDocument/2006/relationships/slide" Target="slides/slide145.xml"/><Relationship Id="rId150" Type="http://schemas.openxmlformats.org/officeDocument/2006/relationships/slide" Target="slides/slide146.xml"/><Relationship Id="rId151" Type="http://schemas.openxmlformats.org/officeDocument/2006/relationships/slide" Target="slides/slide147.xml"/><Relationship Id="rId152" Type="http://schemas.openxmlformats.org/officeDocument/2006/relationships/slide" Target="slides/slide148.xml"/><Relationship Id="rId153" Type="http://schemas.openxmlformats.org/officeDocument/2006/relationships/slide" Target="slides/slide149.xml"/><Relationship Id="rId154" Type="http://schemas.openxmlformats.org/officeDocument/2006/relationships/slide" Target="slides/slide150.xml"/><Relationship Id="rId155" Type="http://schemas.openxmlformats.org/officeDocument/2006/relationships/slide" Target="slides/slide151.xml"/><Relationship Id="rId156" Type="http://schemas.openxmlformats.org/officeDocument/2006/relationships/slide" Target="slides/slide152.xml"/><Relationship Id="rId157" Type="http://schemas.openxmlformats.org/officeDocument/2006/relationships/slide" Target="slides/slide153.xml"/><Relationship Id="rId158" Type="http://schemas.openxmlformats.org/officeDocument/2006/relationships/slide" Target="slides/slide154.xml"/><Relationship Id="rId159" Type="http://schemas.openxmlformats.org/officeDocument/2006/relationships/slide" Target="slides/slide155.xml"/><Relationship Id="rId160" Type="http://schemas.openxmlformats.org/officeDocument/2006/relationships/slide" Target="slides/slide156.xml"/><Relationship Id="rId162" Type="http://schemas.openxmlformats.org/officeDocument/2006/relationships/slide" Target="slides/slide112.xml"/><Relationship Id="rId163" Type="http://schemas.openxmlformats.org/officeDocument/2006/relationships/slide" Target="slides/slide113.xml"/><Relationship Id="rId164" Type="http://schemas.openxmlformats.org/officeDocument/2006/relationships/slide" Target="slides/slide100.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72" Type="http://schemas.openxmlformats.org/officeDocument/2006/relationships/slide" Target="slides/slide98.xml"/><Relationship Id="rId173" Type="http://schemas.openxmlformats.org/officeDocument/2006/relationships/slide" Target="slides/slide9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B164DF-5A26-5349-97CB-5F6E935D3C02}" type="datetimeFigureOut">
              <a:rPr lang="en-US" smtClean="0"/>
              <a:t>10/13/26</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8DF791-86A3-344B-9231-BE94FBB68C8C}" type="slidenum">
              <a:rPr lang="en-US" smtClean="0"/>
              <a:t>‹#›</a:t>
            </a:fld>
            <a:endParaRPr lang="en-US" dirty="0"/>
          </a:p>
        </p:txBody>
      </p:sp>
    </p:spTree>
    <p:extLst>
      <p:ext uri="{BB962C8B-B14F-4D97-AF65-F5344CB8AC3E}">
        <p14:creationId xmlns:p14="http://schemas.microsoft.com/office/powerpoint/2010/main" val="1940441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Opener in the portfolio format. Concept-stage work; screens are illustrative with fictional tickers. The quote paraphrases reviewer point R3 from the 30 Sept design review.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[open] Meet Gary. He swing trades, and he has a day job. He finds ideas at night, can't watch the market from 9:30 to 4, and too often misses the moment a stock does exactly what he was waiting for. Today, a FinViz screen is something he visits. By morning, it's forgotten.</a:t>
            </a:r>
          </a:p>
          <a:p>
            <a:endParaRPr/>
          </a:p>
          <a:p>
            <a:r>
              <a:t>This is what changes when FinViz keeps watch for him.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from FINVIZ-CONTEXT (verified on the live site): 89 filter dropdowns, 87 with Custom as Elite-only, no generative AI. 42 → 21 days is the case-brief goal. Quote paraphrases reviewer point R5.</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Current state, from screenshots taken Oct 4 2026. The Weekend Brief appears AI-generated but is not labelled as AI.</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pain register (03c), P1, P9, P5, P3, P2, P10, P13: 27 pains in total, scored urgency × business impact.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a:t>
            </a:r>
          </a:p>
          <a:p>
            <a:r>
              <a:t>[open] Meet Gary. He swing trades, and he has a day job. He finds ideas at night, can't watch the market from 9:30 to 4, and too often misses the moment a stock does exactly what he was waiting for. Today, a FinViz screen is something he visits. By morning, it's forgotten.</a:t>
            </a:r>
          </a:p>
          <a:p>
            <a:endParaRPr/>
          </a:p>
          <a:p>
            <a:r>
              <a:t>This is what changes when FinViz keeps watch for him.</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[OW1] Gary doesn't start with 89 dropdowns or a chat box. He pastes three stocks he already likes. FinViz's AI works out what they have in common, and the result is real filter chips he can edit, with a live count. AI learns from his examples. It doesn't make him write a query.</a:t>
            </a:r>
          </a:p>
          <a:p>
            <a:endParaRPr/>
          </a:p>
          <a:p>
            <a:r>
              <a:t>[OW2] He opens his saved screen. The new names are at the top, and every row shows which of his criteria it meets, or how close it came. The "why it matched" comes from real values, never a score.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[OW4] One tap. Before he commits, FinViz replays the last 30 days: "Your criteria would have fired 4 times." He drags the noise dial and the timeline redraws. He sees what he'll get before he signs up for it. His 7-day Elite trial starts here, because this is the moment the value is obvious.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[CL4] His chart setups show up too, but only the clear ones. Tap "Why?" and he sees what FinViz measured: wick 2.6 times the body, at support, volume 2.4 times its norm. When it isn't sure, it says so. Reliable by design: measurements, not confidence scores.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[DB1] When Gary sits down, the board he keeps open isn't a page of data. At the top are three findings that need him, each one sourced: a DOCN reason at risk, QLYS reports tonight, and semis are down after NVDA's results, with RMBS in that group. Insights, not widgets.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[AN7] It came too early, so he taps "This was wrong" and gives the reason. FinViz proposes a tighter rule and shows him the replay: 4 alerts become 2, and the ones he acted on are kept. Nothing changes until he applies it. The AI learns from his corrections, in the open.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[OW7] After the close, a checklist that ticks itself. RMBS and QLYS: all reasons hold. DOCN: two of three. FinViz shows what changed and when. It checks his reasons. It doesn't give advice. Hold or exit is Gary's call, made in his own broker. FinViz never places a trade.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Crimson = design lead checkpoints; violet = AI. The workflow I ran for this project.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8DF791-86A3-344B-9231-BE94FBB68C8C}" type="slidenum">
              <a:rPr lang="en-US" smtClean="0"/>
              <a:t>43</a:t>
            </a:fld>
            <a:endParaRPr lang="en-US" dirty="0"/>
          </a:p>
        </p:txBody>
      </p:sp>
    </p:spTree>
    <p:extLst>
      <p:ext uri="{BB962C8B-B14F-4D97-AF65-F5344CB8AC3E}">
        <p14:creationId xmlns:p14="http://schemas.microsoft.com/office/powerpoint/2010/main" val="25326779"/>
      </p:ext>
    </p:extLst>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Opener in the portfolio format. Concept-stage work; screens are illustrative with fictional tickers. The quote paraphrases reviewer point R3 from the 30 Sept design review.</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 brief summarized in Research-Notes/Course-Design-Brief.md (all 🔶 case-brief facts). Live-site facts win for the real product, e.g. 7-day card trial vs the brief’s 30-day money-back.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pain register (03c), P1, P9, P5, P3, P2, P10, P13: 27 pains in total, scored urgency × business impact.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[open] Meet Gary. He swing trades, and he has a day job. He finds ideas at night, can't watch the market from 9:30 to 4, and too often misses the moment a stock does exactly what he was waiting for. Today, a FinViz screen is something he visits. By morning, it's forgotten.</a:t>
            </a:r>
          </a:p>
          <a:p/>
          <a:p>
            <a:r>
              <a:t>This is what changes when FinViz keeps watch for him.</a:t>
            </a:r>
          </a:p>
          <a:p/>
          <a:p>
            <a:r>
              <a:t>— Production notes —</a:t>
            </a:r>
          </a:p>
          <a:p>
            <a:r>
              <a:t>The one workflow this case study showcases: The Trading Day. Everything else in the deck either explains why (research), how it was led (leadership) or how it works (design).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WALKTHROUGH (5–7 min) · From market noise to a focused next step</a:t>
            </a:r>
          </a:p>
          <a:p>
            <a:r>
              <a:t>Positioning: AI is a contextual research and monitoring assistant, not a chat window. Monitoring and explanation are automatic; changes to preferences or layouts need approval; trading stays outside the agent's role.</a:t>
            </a:r>
          </a:p>
          <a:p/>
          <a:p>
            <a:r>
              <a:t>[1 Morning · DB1] It's 7:45. Gary doesn't need another feed of headlines; he needs to know what changed for the names he follows. FinViz keeps the familiar context (futures, breadth, heatmap) but puts three findings first: DOCN is trading below its 50-day moving average before the open, so one of his saved reasons is at risk; QLYS reports after the close; semiconductor weakness may matter because RMBS is on his shortlist. Each has a source, a reliability label and somewhere to investigate.</a:t>
            </a:r>
          </a:p>
          <a:p/>
          <a:p>
            <a:r>
              <a:t>[2 Investigating · DB2] He opens the semiconductor finding: measured moves, number of stocks, quote time, the Reuters report. His exposure is separated from the industry move: RMBS is up 1.1% on its own news while the industry falls 2.1%. FinViz measures the move; it attributes a cause only when a source supports it, otherwise "No reported cause". Research support, not a prediction or a trade recommendation.</a:t>
            </a:r>
          </a:p>
          <a:p/>
          <a:p>
            <a:r>
              <a:t>[3 Refining · DB2] The move is too small to be useful to him. FinViz asks why and previews a change (only industry moves &gt; 3%; about two fewer cards a week). He applies or cancels. Borderline signals stay on the board without pushing. Reduce interruption, don't manufacture urgency.</a:t>
            </a:r>
          </a:p>
          <a:p/>
          <a:p>
            <a:r>
              <a:t>[4 After the close · DB3] Technology is 46% of the portfolio, six points above his 40% target and outside his band; the cause is RMBS +18.4% this month. FinViz explains where he differs from his own plan; it doesn't rebalance or turn that into a trade instruction.</a:t>
            </a:r>
          </a:p>
          <a:p/>
          <a:p>
            <a:r>
              <a:t>[5 Advisor · DB4] Mike manages 54 portfolios: 6 crossed one of his limits, 48 are within them. He starts with an exception queue; each shows evidence and when it appeared; uncertainty stays visible. Acknowledging records review, not resolution.</a:t>
            </a:r>
          </a:p>
          <a:p/>
          <a:p>
            <a:r>
              <a:t>[6 Personalization · DB5] FinViz notices habits and offers to pin or hide cards, says why, and asks. "No thanks" is remembered; changes are reversible.</a:t>
            </a:r>
          </a:p>
          <a:p/>
          <a:p>
            <a:r>
              <a:t>[Closing] AI has three jobs: notice relevant changes, explain them with evidence, keep a focused workflow. Sources, timestamps, uncertainty and approval are part of the experience. The user stays in control of criteria, attention and decisions.</a:t>
            </a:r>
          </a:p>
          <a:p/>
          <a:p>
            <a:r>
              <a:t>Before presenting: conceptual screens with synthetic data; reliability labels describe the evidence, not investment performance; the "Ask about…" entry points are proposed.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[OW1] Gary doesn't start with 89 dropdowns or a chat box. He pastes three stocks he already likes. FinViz's AI works out what they have in common, and the result is real filter chips he can edit, with a live count. AI learns from his examples. It doesn't make him write a query.</a:t>
            </a:r>
          </a:p>
          <a:p/>
          <a:p>
            <a:r>
              <a:t>[OW2] He opens his saved screen. The new names are at the top, and every row shows which of his criteria it meets, or how close it came. The "why it matched" comes from real values, never a score.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[OW3] He pins three names. His reasons come with them, his own note too, and he drags an "out if" line straight onto the chart. The product remembers why he picked each one.</a:t>
            </a:r>
          </a:p>
          <a:p/>
          <a:p>
            <a:r>
              <a:t>[OW4] One tap. Before he commits, FinViz replays the last 30 days: "Your criteria would have fired 4 times." He drags the noise dial and the timeline redraws. He sees what he'll get before he signs up for it. His 7-day Elite trial starts here, because this is the moment the value is obvious.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[CL4] His chart setups show up too, but only the clear ones. Tap "Why?" and he sees what FinViz measured: wick 2.6 times the body, at support, volume 2.4 times its norm. When it isn't sure, it says so. Reliable by design: measurements, not confidence scores.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[DB1] When Gary sits down, the board he keeps open isn't a page of data. At the top are three findings that need him, each one sourced: a DOCN reason at risk, QLYS reports tonight, and semis are down after NVDA's results, with RMBS in that group. Insights, not widgets.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[AN7] It came too early, so he taps "This was wrong" and gives the reason. FinViz proposes a tighter rule and shows him the replay: 4 alerts become 2, and the ones he acted on are kept. Nothing changes until he applies it. The AI learns from his corrections, in the open.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[OW7] After the close, a checklist that ticks itself. RMBS and QLYS: all reasons hold. DOCN: two of three. FinViz shows what changed and when. It checks his reasons. It doesn't give advice. Hold or exit is Gary's call, made in his own broker. FinViz never places a trade.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Crimson = design lead checkpoints; violet = AI. The workflow I ran for this project.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reflection; edit to match how I'd say it in an interview.</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Page">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49944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ivider">
    <p:bg>
      <p:bgPr>
        <a:solidFill>
          <a:srgbClr val="C45A3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39989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3.png"/><Relationship Id="rId11" Type="http://schemas.openxmlformats.org/officeDocument/2006/relationships/image" Target="../media/image14.png"/><Relationship Id="rId12" Type="http://schemas.openxmlformats.org/officeDocument/2006/relationships/image" Target="../media/image15.png"/><Relationship Id="rId13" Type="http://schemas.openxmlformats.org/officeDocument/2006/relationships/image" Target="../media/image16.png"/><Relationship Id="rId14" Type="http://schemas.openxmlformats.org/officeDocument/2006/relationships/image" Target="../media/image17.png"/><Relationship Id="rId15" Type="http://schemas.openxmlformats.org/officeDocument/2006/relationships/image" Target="../media/image18.png"/><Relationship Id="rId16" Type="http://schemas.openxmlformats.org/officeDocument/2006/relationships/image" Target="../media/image19.png"/><Relationship Id="rId17" Type="http://schemas.openxmlformats.org/officeDocument/2006/relationships/image" Target="../media/image20.png"/><Relationship Id="rId18" Type="http://schemas.openxmlformats.org/officeDocument/2006/relationships/image" Target="../media/image21.png"/><Relationship Id="rId19" Type="http://schemas.openxmlformats.org/officeDocument/2006/relationships/image" Target="../media/image22.png"/><Relationship Id="rId20" Type="http://schemas.openxmlformats.org/officeDocument/2006/relationships/image" Target="../media/image23.png"/><Relationship Id="rId21" Type="http://schemas.openxmlformats.org/officeDocument/2006/relationships/hyperlink" Target="https://www.figma.com/proto/gTuTyjGjDyFzJLoKJIhtpo?node-id=63-1252&amp;starting-point-node-id=63%3A1252&amp;page-id=54%3A722&amp;scaling=scale-down" TargetMode="External"/><Relationship Id="rId2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2.png"/><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5.png"/><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1.png"/><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hyperlink" Target="https://www.figma.com/proto/gTuTyjGjDyFzJLoKJIhtpo?node-id=63-1252&amp;starting-point-node-id=63%3A1252&amp;page-id=54%3A722&amp;scaling=scale-down" TargetMode="External"/><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hyperlink" Target="https://www.figma.com/proto/gTuTyjGjDyFzJLoKJIhtpo?node-id=152-1444&amp;starting-point-node-id=152%3A1444&amp;page-id=54%3A722&amp;scaling=scale-down"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4.png"/><Relationship Id="rId3"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0.jpg"/><Relationship Id="rId3" Type="http://schemas.openxmlformats.org/officeDocument/2006/relationships/image" Target="../media/image31.jpg"/><Relationship Id="rId4" Type="http://schemas.openxmlformats.org/officeDocument/2006/relationships/image" Target="../media/image32.jpg"/><Relationship Id="rId5" Type="http://schemas.openxmlformats.org/officeDocument/2006/relationships/image" Target="../media/image33.jpg"/><Relationship Id="rId6" Type="http://schemas.openxmlformats.org/officeDocument/2006/relationships/image" Target="../media/image34.jpg"/><Relationship Id="rId7" Type="http://schemas.openxmlformats.org/officeDocument/2006/relationships/image" Target="../media/image35.jpg"/><Relationship Id="rId8" Type="http://schemas.openxmlformats.org/officeDocument/2006/relationships/image" Target="../media/image36.jpg"/><Relationship Id="rId9" Type="http://schemas.openxmlformats.org/officeDocument/2006/relationships/image" Target="../media/image37.jpg"/><Relationship Id="rId10" Type="http://schemas.openxmlformats.org/officeDocument/2006/relationships/image" Target="../media/image38.jpg"/><Relationship Id="rId11" Type="http://schemas.openxmlformats.org/officeDocument/2006/relationships/image" Target="../media/image39.jpg"/><Relationship Id="rId12" Type="http://schemas.openxmlformats.org/officeDocument/2006/relationships/image" Target="../media/image40.jpg"/><Relationship Id="rId13" Type="http://schemas.openxmlformats.org/officeDocument/2006/relationships/image" Target="../media/image41.jpg"/><Relationship Id="rId14" Type="http://schemas.openxmlformats.org/officeDocument/2006/relationships/image" Target="../media/image42.jpg"/><Relationship Id="rId15" Type="http://schemas.openxmlformats.org/officeDocument/2006/relationships/image" Target="../media/image43.jpg"/><Relationship Id="rId16" Type="http://schemas.openxmlformats.org/officeDocument/2006/relationships/hyperlink" Target="https://www.figma.com/proto/vZrnrHgaWOOgf1fIzX9sBy?node-id=1-2&amp;starting-point-node-id=1%3A2&amp;page-id=0%3A1&amp;scaling=scale-down" TargetMode="External"/><Relationship Id="rId17"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 Id="rId7"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hyperlink" Target="https://www.figma.com/proto/vZrnrHgaWOOgf1fIzX9sBy?node-id=1-2&amp;starting-point-node-id=1%3A2&amp;page-id=0%3A1&amp;scaling=scale-down" TargetMode="External"/><Relationship Id="rId3" Type="http://schemas.openxmlformats.org/officeDocument/2006/relationships/image" Target="../media/image30.jpg"/><Relationship Id="rId4" Type="http://schemas.openxmlformats.org/officeDocument/2006/relationships/image" Target="../media/image2.png"/><Relationship Id="rId5" Type="http://schemas.openxmlformats.org/officeDocument/2006/relationships/hyperlink" Target="https://www.figma.com/proto/vZrnrHgaWOOgf1fIzX9sBy?node-id=5-2&amp;starting-point-node-id=5%3A2&amp;page-id=0%3A1&amp;scaling=scale-down"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image" Target="../media/image59.png"/><Relationship Id="rId4" Type="http://schemas.openxmlformats.org/officeDocument/2006/relationships/image" Target="../media/image60.png"/><Relationship Id="rId5" Type="http://schemas.openxmlformats.org/officeDocument/2006/relationships/image" Target="../media/image61.png"/><Relationship Id="rId6" Type="http://schemas.openxmlformats.org/officeDocument/2006/relationships/image" Target="../media/image62.png"/><Relationship Id="rId7" Type="http://schemas.openxmlformats.org/officeDocument/2006/relationships/image" Target="../media/image63.png"/><Relationship Id="rId8" Type="http://schemas.openxmlformats.org/officeDocument/2006/relationships/image" Target="../media/image64.png"/><Relationship Id="rId9" Type="http://schemas.openxmlformats.org/officeDocument/2006/relationships/image" Target="../media/image65.png"/><Relationship Id="rId10" Type="http://schemas.openxmlformats.org/officeDocument/2006/relationships/image" Target="../media/image66.png"/><Relationship Id="rId11" Type="http://schemas.openxmlformats.org/officeDocument/2006/relationships/image" Target="../media/image67.png"/><Relationship Id="rId12" Type="http://schemas.openxmlformats.org/officeDocument/2006/relationships/image" Target="../media/image68.png"/><Relationship Id="rId13" Type="http://schemas.openxmlformats.org/officeDocument/2006/relationships/image" Target="../media/image69.png"/><Relationship Id="rId14" Type="http://schemas.openxmlformats.org/officeDocument/2006/relationships/image" Target="../media/image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image" Target="../media/image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 Id="rId3" Type="http://schemas.openxmlformats.org/officeDocument/2006/relationships/image" Target="../media/image75.png"/><Relationship Id="rId4" Type="http://schemas.openxmlformats.org/officeDocument/2006/relationships/image" Target="../media/image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 Id="rId3" Type="http://schemas.openxmlformats.org/officeDocument/2006/relationships/image" Target="../media/image77.png"/><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80.png"/><Relationship Id="rId7" Type="http://schemas.openxmlformats.org/officeDocument/2006/relationships/image" Target="../media/image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3.png"/><Relationship Id="rId3" Type="http://schemas.openxmlformats.org/officeDocument/2006/relationships/image" Target="../media/image84.png"/><Relationship Id="rId4" Type="http://schemas.openxmlformats.org/officeDocument/2006/relationships/image" Target="../media/image85.png"/><Relationship Id="rId5" Type="http://schemas.openxmlformats.org/officeDocument/2006/relationships/image" Target="../media/image86.png"/><Relationship Id="rId6" Type="http://schemas.openxmlformats.org/officeDocument/2006/relationships/image" Target="../media/image87.png"/><Relationship Id="rId7" Type="http://schemas.openxmlformats.org/officeDocument/2006/relationships/image" Target="../media/image88.png"/><Relationship Id="rId8" Type="http://schemas.openxmlformats.org/officeDocument/2006/relationships/image" Target="../media/image89.png"/><Relationship Id="rId9" Type="http://schemas.openxmlformats.org/officeDocument/2006/relationships/image" Target="../media/image90.png"/><Relationship Id="rId10" Type="http://schemas.openxmlformats.org/officeDocument/2006/relationships/image" Target="../media/image91.png"/><Relationship Id="rId11" Type="http://schemas.openxmlformats.org/officeDocument/2006/relationships/image" Target="../media/image92.png"/><Relationship Id="rId12" Type="http://schemas.openxmlformats.org/officeDocument/2006/relationships/image" Target="../media/image93.png"/><Relationship Id="rId13" Type="http://schemas.openxmlformats.org/officeDocument/2006/relationships/image" Target="../media/image94.png"/><Relationship Id="rId14" Type="http://schemas.openxmlformats.org/officeDocument/2006/relationships/image" Target="../media/image95.png"/><Relationship Id="rId15" Type="http://schemas.openxmlformats.org/officeDocument/2006/relationships/image" Target="../media/image96.png"/><Relationship Id="rId16" Type="http://schemas.openxmlformats.org/officeDocument/2006/relationships/hyperlink" Target="https://www.figma.com/proto/vZrnrHgaWOOgf1fIzX9sBy?node-id=1-120&amp;starting-point-node-id=1%3A120&amp;page-id=1%3A119&amp;scaling=scale-down" TargetMode="External"/><Relationship Id="rId17" Type="http://schemas.openxmlformats.org/officeDocument/2006/relationships/image" Target="../media/image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hyperlink" Target="https://www.figma.com/proto/vZrnrHgaWOOgf1fIzX9sBy?node-id=1-120&amp;starting-point-node-id=1%3A120&amp;page-id=1%3A119&amp;scaling=scale-down" TargetMode="External"/><Relationship Id="rId3" Type="http://schemas.openxmlformats.org/officeDocument/2006/relationships/hyperlink" Target="https://www.figma.com/proto/w9xAlgyQeXToR54UPbv7wG/New-Trading-Desk?node-id=470-1889&amp;starting-point-node-id=470%3A1889" TargetMode="External"/><Relationship Id="rId4" Type="http://schemas.openxmlformats.org/officeDocument/2006/relationships/image" Target="../media/image94.png"/><Relationship Id="rId5" Type="http://schemas.openxmlformats.org/officeDocument/2006/relationships/image" Target="../media/image2.png"/><Relationship Id="rId6" Type="http://schemas.openxmlformats.org/officeDocument/2006/relationships/hyperlink" Target="https://www.figma.com/proto/vZrnrHgaWOOgf1fIzX9sBy?node-id=6-145&amp;starting-point-node-id=6%3A145&amp;page-id=1%3A119&amp;scaling=scale-down"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png"/><Relationship Id="rId3" Type="http://schemas.openxmlformats.org/officeDocument/2006/relationships/image" Target="../media/image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png"/><Relationship Id="rId3" Type="http://schemas.openxmlformats.org/officeDocument/2006/relationships/image" Target="../media/image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9.png"/><Relationship Id="rId3" Type="http://schemas.openxmlformats.org/officeDocument/2006/relationships/image" Target="../media/image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png"/><Relationship Id="rId3" Type="http://schemas.openxmlformats.org/officeDocument/2006/relationships/image" Target="../media/image101.png"/><Relationship Id="rId4" Type="http://schemas.openxmlformats.org/officeDocument/2006/relationships/image" Target="../media/image102.png"/><Relationship Id="rId5" Type="http://schemas.openxmlformats.org/officeDocument/2006/relationships/image" Target="../media/image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 Id="rId3" Type="http://schemas.openxmlformats.org/officeDocument/2006/relationships/image" Target="../media/image104.png"/><Relationship Id="rId4" Type="http://schemas.openxmlformats.org/officeDocument/2006/relationships/image" Target="../media/image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5.png"/><Relationship Id="rId3" Type="http://schemas.openxmlformats.org/officeDocument/2006/relationships/image" Target="../media/image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06.jpg"/><Relationship Id="rId3" Type="http://schemas.openxmlformats.org/officeDocument/2006/relationships/image" Target="../media/image107.jpg"/><Relationship Id="rId4" Type="http://schemas.openxmlformats.org/officeDocument/2006/relationships/image" Target="../media/image108.jpg"/><Relationship Id="rId5" Type="http://schemas.openxmlformats.org/officeDocument/2006/relationships/image" Target="../media/image109.jpg"/><Relationship Id="rId6" Type="http://schemas.openxmlformats.org/officeDocument/2006/relationships/image" Target="../media/image110.jpg"/><Relationship Id="rId7" Type="http://schemas.openxmlformats.org/officeDocument/2006/relationships/image" Target="../media/image111.jpg"/><Relationship Id="rId8" Type="http://schemas.openxmlformats.org/officeDocument/2006/relationships/image" Target="../media/image112.jpg"/><Relationship Id="rId9" Type="http://schemas.openxmlformats.org/officeDocument/2006/relationships/image" Target="../media/image113.jpg"/><Relationship Id="rId10" Type="http://schemas.openxmlformats.org/officeDocument/2006/relationships/image" Target="../media/image114.jpg"/><Relationship Id="rId11" Type="http://schemas.openxmlformats.org/officeDocument/2006/relationships/image" Target="../media/image115.jpg"/><Relationship Id="rId12" Type="http://schemas.openxmlformats.org/officeDocument/2006/relationships/image" Target="../media/image116.jpg"/><Relationship Id="rId13" Type="http://schemas.openxmlformats.org/officeDocument/2006/relationships/hyperlink" Target="https://www.figma.com/proto/vZrnrHgaWOOgf1fIzX9sBy?node-id=1-70&amp;starting-point-node-id=1%3A70&amp;page-id=1%3A69&amp;scaling=scale-down" TargetMode="External"/><Relationship Id="rId14" Type="http://schemas.openxmlformats.org/officeDocument/2006/relationships/image" Target="../media/image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hyperlink" Target="https://www.figma.com/proto/vZrnrHgaWOOgf1fIzX9sBy?node-id=1-70&amp;starting-point-node-id=1%3A70&amp;page-id=1%3A69&amp;scaling=scale-down" TargetMode="External"/><Relationship Id="rId3" Type="http://schemas.openxmlformats.org/officeDocument/2006/relationships/image" Target="../media/image116.jpg"/><Relationship Id="rId4" Type="http://schemas.openxmlformats.org/officeDocument/2006/relationships/image" Target="../media/image2.png"/><Relationship Id="rId5" Type="http://schemas.openxmlformats.org/officeDocument/2006/relationships/hyperlink" Target="https://www.figma.com/proto/vZrnrHgaWOOgf1fIzX9sBy?node-id=6-2&amp;starting-point-node-id=6%3A2&amp;page-id=1%3A69&amp;scaling=scale-down"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4.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17.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18.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19.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4.png"/><Relationship Id="rId3" Type="http://schemas.openxmlformats.org/officeDocument/2006/relationships/image" Target="../media/image155.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4.png"/><Relationship Id="rId3" Type="http://schemas.openxmlformats.org/officeDocument/2006/relationships/image" Target="../media/image156.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20.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21.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22.png"/><Relationship Id="rId4" Type="http://schemas.openxmlformats.org/officeDocument/2006/relationships/image" Target="../media/image152.png"/><Relationship Id="rId5" Type="http://schemas.openxmlformats.org/officeDocument/2006/relationships/image" Target="../media/image153.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 Id="rId3" Type="http://schemas.openxmlformats.org/officeDocument/2006/relationships/image" Target="../media/image123.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4.png"/><Relationship Id="rId3" Type="http://schemas.openxmlformats.org/officeDocument/2006/relationships/image" Target="../media/image3.png"/><Relationship Id="rId4" Type="http://schemas.openxmlformats.org/officeDocument/2006/relationships/notesSlide" Target="../notesSlides/notesSlide2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5.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3.png"/><Relationship Id="rId12" Type="http://schemas.openxmlformats.org/officeDocument/2006/relationships/image" Target="../media/image14.png"/><Relationship Id="rId13" Type="http://schemas.openxmlformats.org/officeDocument/2006/relationships/image" Target="../media/image15.png"/><Relationship Id="rId14" Type="http://schemas.openxmlformats.org/officeDocument/2006/relationships/image" Target="../media/image16.png"/><Relationship Id="rId15" Type="http://schemas.openxmlformats.org/officeDocument/2006/relationships/image" Target="../media/image17.png"/><Relationship Id="rId16" Type="http://schemas.openxmlformats.org/officeDocument/2006/relationships/image" Target="../media/image18.png"/><Relationship Id="rId17" Type="http://schemas.openxmlformats.org/officeDocument/2006/relationships/image" Target="../media/image19.png"/><Relationship Id="rId18" Type="http://schemas.openxmlformats.org/officeDocument/2006/relationships/image" Target="../media/image20.png"/><Relationship Id="rId19" Type="http://schemas.openxmlformats.org/officeDocument/2006/relationships/image" Target="../media/image21.png"/><Relationship Id="rId20" Type="http://schemas.openxmlformats.org/officeDocument/2006/relationships/image" Target="../media/image22.png"/><Relationship Id="rId21" Type="http://schemas.openxmlformats.org/officeDocument/2006/relationships/image" Target="../media/image23.png"/><Relationship Id="rId22" Type="http://schemas.openxmlformats.org/officeDocument/2006/relationships/hyperlink" Target="https://www.figma.com/proto/gTuTyjGjDyFzJLoKJIhtpo/FinViz-AI--Onboarding---Filter-Setup-Wireframes?node-id=63-1252&amp;starting-point-node-id=63%3A1252&amp;page-id=54%3A722" TargetMode="Externa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25.png"/><Relationship Id="rId4" Type="http://schemas.openxmlformats.org/officeDocument/2006/relationships/image" Target="../media/image126.png"/><Relationship Id="rId5" Type="http://schemas.openxmlformats.org/officeDocument/2006/relationships/image" Target="../media/image127.png"/><Relationship Id="rId6" Type="http://schemas.openxmlformats.org/officeDocument/2006/relationships/image" Target="../media/image128.png"/><Relationship Id="rId7" Type="http://schemas.openxmlformats.org/officeDocument/2006/relationships/image" Target="../media/image129.png"/><Relationship Id="rId8" Type="http://schemas.openxmlformats.org/officeDocument/2006/relationships/image" Target="../media/image130.png"/><Relationship Id="rId9" Type="http://schemas.openxmlformats.org/officeDocument/2006/relationships/notesSlide" Target="../notesSlides/notesSlide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notesSlide" Target="../notesSlides/notesSlide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6.png"/><Relationship Id="rId4" Type="http://schemas.openxmlformats.org/officeDocument/2006/relationships/notesSlide" Target="../notesSlides/notesSlide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8.png"/><Relationship Id="rId4" Type="http://schemas.openxmlformats.org/officeDocument/2006/relationships/notesSlide" Target="../notesSlides/notesSlide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hyperlink" Target="https://www.figma.com/proto/gTuTyjGjDyFzJLoKJIhtpo/FinViz-AI--Onboarding---Filter-Setup-Wireframes?node-id=63-1252&amp;starting-point-node-id=63%3A1252&amp;page-id=54%3A722" TargetMode="Externa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1.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png"/><Relationship Id="rId3" Type="http://schemas.openxmlformats.org/officeDocument/2006/relationships/image" Target="../media/image136.png"/><Relationship Id="rId4" Type="http://schemas.openxmlformats.org/officeDocument/2006/relationships/image" Target="../media/image137.png"/><Relationship Id="rId5" Type="http://schemas.openxmlformats.org/officeDocument/2006/relationships/image" Target="../media/image138.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9.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0.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2.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3.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4.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5.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6.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7.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8.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9.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0.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1.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4.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5.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6.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8.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9.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4.png"/><Relationship Id="rId3" Type="http://schemas.openxmlformats.org/officeDocument/2006/relationships/image" Target="../media/image157.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4.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4.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7569200" y="947022"/>
            <a:ext cx="4272714" cy="884192"/>
          </a:xfrm>
          <a:prstGeom prst="rect">
            <a:avLst/>
          </a:prstGeom>
          <a:noFill/>
        </p:spPr>
        <p:txBody>
          <a:bodyPr wrap="none" lIns="0" tIns="0" rIns="0" bIns="0">
            <a:noAutofit/>
          </a:bodyPr>
          <a:lstStyle/>
          <a:p>
            <a:pPr algn="l"/>
            <a:r>
              <a:rPr sz="5700" dirty="0">
                <a:solidFill>
                  <a:srgbClr val="E98C64"/>
                </a:solidFill>
                <a:latin typeface="Helvetica Neue Light"/>
              </a:rPr>
              <a:t>case studies</a:t>
            </a:r>
          </a:p>
        </p:txBody>
      </p:sp>
      <p:sp>
        <p:nvSpPr>
          <p:cNvPr id="4" name="TextBox 3"/>
          <p:cNvSpPr txBox="1"/>
          <p:nvPr/>
        </p:nvSpPr>
        <p:spPr>
          <a:xfrm>
            <a:off x="8349995" y="5285528"/>
            <a:ext cx="2645070" cy="391219"/>
          </a:xfrm>
          <a:prstGeom prst="rect">
            <a:avLst/>
          </a:prstGeom>
          <a:noFill/>
        </p:spPr>
        <p:txBody>
          <a:bodyPr wrap="none" lIns="0" tIns="0" rIns="0" bIns="0">
            <a:noAutofit/>
          </a:bodyPr>
          <a:lstStyle/>
          <a:p>
            <a:pPr algn="l"/>
            <a:r>
              <a:rPr sz="1400" dirty="0">
                <a:solidFill>
                  <a:srgbClr val="404040"/>
                </a:solidFill>
                <a:latin typeface="Helvetica Neue Light"/>
              </a:rPr>
              <a:t>michael</a:t>
            </a:r>
            <a:r>
              <a:rPr sz="2550" dirty="0">
                <a:solidFill>
                  <a:srgbClr val="404040"/>
                </a:solidFill>
                <a:latin typeface="Helvetica Neue Light"/>
              </a:rPr>
              <a:t>thibodea(UX)</a:t>
            </a:r>
          </a:p>
        </p:txBody>
      </p:sp>
      <p:sp>
        <p:nvSpPr>
          <p:cNvPr id="5" name="TextBox 4"/>
          <p:cNvSpPr txBox="1"/>
          <p:nvPr/>
        </p:nvSpPr>
        <p:spPr>
          <a:xfrm>
            <a:off x="8495044" y="5689279"/>
            <a:ext cx="2435347" cy="218353"/>
          </a:xfrm>
          <a:prstGeom prst="rect">
            <a:avLst/>
          </a:prstGeom>
          <a:noFill/>
        </p:spPr>
        <p:txBody>
          <a:bodyPr wrap="none" lIns="0" tIns="0" rIns="0" bIns="0">
            <a:noAutofit/>
          </a:bodyPr>
          <a:lstStyle/>
          <a:p>
            <a:pPr algn="l"/>
            <a:r>
              <a:rPr sz="1400" dirty="0">
                <a:solidFill>
                  <a:srgbClr val="404040"/>
                </a:solidFill>
                <a:latin typeface="Helvetica Neue Light"/>
              </a:rPr>
              <a:t>www.michaeljthibodeau.com</a:t>
            </a:r>
          </a:p>
        </p:txBody>
      </p:sp>
      <p:sp>
        <p:nvSpPr>
          <p:cNvPr id="6" name="TextBox 5"/>
          <p:cNvSpPr txBox="1"/>
          <p:nvPr/>
        </p:nvSpPr>
        <p:spPr>
          <a:xfrm>
            <a:off x="7651892" y="1945422"/>
            <a:ext cx="4202677" cy="216217"/>
          </a:xfrm>
          <a:prstGeom prst="rect">
            <a:avLst/>
          </a:prstGeom>
          <a:noFill/>
        </p:spPr>
        <p:txBody>
          <a:bodyPr wrap="none" lIns="0" tIns="0" rIns="0" bIns="0">
            <a:noAutofit/>
          </a:bodyPr>
          <a:lstStyle/>
          <a:p>
            <a:pPr algn="l"/>
            <a:endParaRPr sz="1400" dirty="0">
              <a:solidFill>
                <a:srgbClr val="404040"/>
              </a:solidFill>
              <a:latin typeface="Helvetica Neue Light"/>
            </a:endParaRPr>
          </a:p>
        </p:txBody>
      </p:sp>
      <p:sp>
        <p:nvSpPr>
          <p:cNvPr id="7" name="TextBox 6"/>
          <p:cNvSpPr txBox="1"/>
          <p:nvPr/>
        </p:nvSpPr>
        <p:spPr>
          <a:xfrm>
            <a:off x="7604677" y="2262922"/>
            <a:ext cx="4304674" cy="216217"/>
          </a:xfrm>
          <a:prstGeom prst="rect">
            <a:avLst/>
          </a:prstGeom>
          <a:noFill/>
        </p:spPr>
        <p:txBody>
          <a:bodyPr wrap="none" lIns="0" tIns="0" rIns="0" bIns="0">
            <a:noAutofit/>
          </a:bodyPr>
          <a:lstStyle/>
          <a:p>
            <a:pPr algn="l"/>
            <a:endParaRPr sz="1400" dirty="0">
              <a:solidFill>
                <a:srgbClr val="404040"/>
              </a:solidFill>
              <a:latin typeface="Helvetica Neue Light"/>
            </a:endParaRPr>
          </a:p>
        </p:txBody>
      </p:sp>
      <p:sp>
        <p:nvSpPr>
          <p:cNvPr id="8" name="TextBox 7"/>
          <p:cNvSpPr txBox="1"/>
          <p:nvPr/>
        </p:nvSpPr>
        <p:spPr>
          <a:xfrm>
            <a:off x="7651893" y="1904602"/>
            <a:ext cx="4414624" cy="1082438"/>
          </a:xfrm>
          <a:prstGeom prst="rect">
            <a:avLst/>
          </a:prstGeom>
          <a:noFill/>
        </p:spPr>
        <p:txBody>
          <a:bodyPr wrap="none" lIns="0" tIns="0" rIns="0" bIns="0">
            <a:noAutofit/>
          </a:bodyPr>
          <a:lstStyle/>
          <a:p>
            <a:pPr>
              <a:lnSpc>
                <a:spcPct val="150000"/>
              </a:lnSpc>
            </a:pPr>
            <a:r>
              <a:rPr lang="en-US" sz="1400" dirty="0">
                <a:solidFill>
                  <a:srgbClr val="404040"/>
                </a:solidFill>
                <a:latin typeface="Helvetica Neue Light"/>
              </a:rPr>
              <a:t>Lead UX designer for AI products. </a:t>
            </a:r>
          </a:p>
          <a:p>
            <a:pPr>
              <a:lnSpc>
                <a:spcPct val="150000"/>
              </a:lnSpc>
            </a:pPr>
            <a:r>
              <a:rPr lang="en-US" sz="1400" dirty="0">
                <a:solidFill>
                  <a:srgbClr val="404040"/>
                </a:solidFill>
                <a:latin typeface="Helvetica Neue Light"/>
              </a:rPr>
              <a:t>Five case studies, each with the calls I made, </a:t>
            </a:r>
            <a:br>
              <a:rPr lang="en-US" sz="1400" dirty="0">
                <a:solidFill>
                  <a:srgbClr val="404040"/>
                </a:solidFill>
                <a:latin typeface="Helvetica Neue Light"/>
              </a:rPr>
            </a:br>
            <a:r>
              <a:rPr sz="1400" dirty="0">
                <a:solidFill>
                  <a:srgbClr val="404040"/>
                </a:solidFill>
                <a:latin typeface="Helvetica Neue Light"/>
              </a:rPr>
              <a:t>how I led the team, and what came of them.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320040"/>
          </a:xfrm>
          <a:prstGeom prst="rect">
            <a:avLst/>
          </a:prstGeom>
          <a:noFill/>
        </p:spPr>
        <p:txBody>
          <a:bodyPr wrap="square" lIns="0" tIns="0" rIns="0" bIns="0" anchor="t">
            <a:noAutofit/>
          </a:bodyPr>
          <a:lstStyle/>
          <a:p>
            <a:pPr algn="l">
              <a:lnSpc>
                <a:spcPct val="100000"/>
              </a:lnSpc>
            </a:pPr>
            <a:r>
              <a:rPr lang="en-US" sz="1200" spc="300" dirty="0">
                <a:solidFill>
                  <a:srgbClr val="E98C64"/>
                </a:solidFill>
                <a:latin typeface="Helvetica Neue Medium"/>
                <a:cs typeface="Helvetica Neue Medium"/>
              </a:rPr>
              <a:t>POINT OF VIEW</a:t>
            </a:r>
          </a:p>
        </p:txBody>
      </p:sp>
      <p:sp>
        <p:nvSpPr>
          <p:cNvPr id="102" name="Headline"/>
          <p:cNvSpPr txBox="1"/>
          <p:nvPr/>
        </p:nvSpPr>
        <p:spPr>
          <a:xfrm>
            <a:off x="822960" y="1371600"/>
            <a:ext cx="11358880" cy="2103120"/>
          </a:xfrm>
          <a:prstGeom prst="rect">
            <a:avLst/>
          </a:prstGeom>
          <a:noFill/>
        </p:spPr>
        <p:txBody>
          <a:bodyPr wrap="square" lIns="0" tIns="0" rIns="0" bIns="0" anchor="t">
            <a:noAutofit/>
          </a:bodyPr>
          <a:lstStyle/>
          <a:p>
            <a:pPr algn="l">
              <a:lnSpc>
                <a:spcPct val="92000"/>
              </a:lnSpc>
            </a:pPr>
            <a:r>
              <a:rPr lang="en-US" sz="5400" spc="-50" dirty="0">
                <a:solidFill>
                  <a:srgbClr val="F5F5F7"/>
                </a:solidFill>
                <a:latin typeface="Helvetica Neue Medium"/>
                <a:cs typeface="Helvetica Neue Medium"/>
              </a:rPr>
              <a:t>I design </a:t>
            </a:r>
            <a:r>
              <a:rPr lang="en-US" sz="5400" spc="-50" dirty="0">
                <a:solidFill>
                  <a:srgbClr val="E98C64"/>
                </a:solidFill>
                <a:latin typeface="Helvetica Neue Medium"/>
                <a:cs typeface="Helvetica Neue Medium"/>
              </a:rPr>
              <a:t>trust</a:t>
            </a:r>
            <a:r>
              <a:rPr lang="en-US" sz="5400" spc="-50" dirty="0">
                <a:solidFill>
                  <a:srgbClr val="F5F5F7"/>
                </a:solidFill>
                <a:latin typeface="Helvetica Neue Medium"/>
                <a:cs typeface="Helvetica Neue Medium"/>
              </a:rPr>
              <a:t> into </a:t>
            </a:r>
            <a:r>
              <a:rPr lang="en-US" sz="5400" spc="-50">
                <a:solidFill>
                  <a:srgbClr val="F5F5F7"/>
                </a:solidFill>
                <a:latin typeface="Helvetica Neue Medium"/>
                <a:cs typeface="Helvetica Neue Medium"/>
              </a:rPr>
              <a:t>high-stakes business decisions</a:t>
            </a:r>
            <a:r>
              <a:rPr lang="en-US" sz="5400" spc="-50" dirty="0">
                <a:solidFill>
                  <a:srgbClr val="F5F5F7"/>
                </a:solidFill>
                <a:latin typeface="Helvetica Neue Medium"/>
                <a:cs typeface="Helvetica Neue Medium"/>
              </a:rPr>
              <a:t>.</a:t>
            </a:r>
          </a:p>
        </p:txBody>
      </p:sp>
      <p:sp>
        <p:nvSpPr>
          <p:cNvPr id="103" name="Principle 1 title"/>
          <p:cNvSpPr txBox="1"/>
          <p:nvPr/>
        </p:nvSpPr>
        <p:spPr>
          <a:xfrm>
            <a:off x="822960" y="4480560"/>
            <a:ext cx="5427980" cy="411480"/>
          </a:xfrm>
          <a:prstGeom prst="rect">
            <a:avLst/>
          </a:prstGeom>
          <a:noFill/>
        </p:spPr>
        <p:txBody>
          <a:bodyPr wrap="square" lIns="0" tIns="0" rIns="0" bIns="0" anchor="t">
            <a:noAutofit/>
          </a:bodyPr>
          <a:lstStyle/>
          <a:p>
            <a:pPr algn="l">
              <a:lnSpc>
                <a:spcPct val="100000"/>
              </a:lnSpc>
            </a:pPr>
            <a:r>
              <a:rPr lang="en-US" sz="2200" spc="0" dirty="0">
                <a:solidFill>
                  <a:srgbClr val="F5F5F7"/>
                </a:solidFill>
                <a:latin typeface="Helvetica Neue Medium"/>
                <a:cs typeface="Helvetica Neue Medium"/>
              </a:rPr>
              <a:t>AI verifies; the person decides</a:t>
            </a:r>
          </a:p>
        </p:txBody>
      </p:sp>
      <p:sp>
        <p:nvSpPr>
          <p:cNvPr id="104" name="Principle 1 body"/>
          <p:cNvSpPr txBox="1"/>
          <p:nvPr/>
        </p:nvSpPr>
        <p:spPr>
          <a:xfrm>
            <a:off x="822960" y="4983480"/>
            <a:ext cx="5427980" cy="1097280"/>
          </a:xfrm>
          <a:prstGeom prst="rect">
            <a:avLst/>
          </a:prstGeom>
          <a:noFill/>
        </p:spPr>
        <p:txBody>
          <a:bodyPr wrap="square" lIns="0" tIns="0" rIns="0" bIns="0" anchor="t">
            <a:noAutofit/>
          </a:bodyPr>
          <a:lstStyle/>
          <a:p>
            <a:pPr algn="l">
              <a:lnSpc>
                <a:spcPct val="120000"/>
              </a:lnSpc>
            </a:pPr>
            <a:r>
              <a:rPr lang="en-US" sz="1500" spc="0" dirty="0">
                <a:solidFill>
                  <a:srgbClr val="A3A8B4"/>
                </a:solidFill>
                <a:latin typeface="Helvetica Neue Light"/>
                <a:cs typeface="Helvetica Neue Light"/>
              </a:rPr>
              <a:t>AI translates, explains and checks the user’s own criteria. It never recommends, predicts or places orders.</a:t>
            </a:r>
          </a:p>
        </p:txBody>
      </p:sp>
      <p:sp>
        <p:nvSpPr>
          <p:cNvPr id="105" name="Principle 2 title"/>
          <p:cNvSpPr txBox="1"/>
          <p:nvPr/>
        </p:nvSpPr>
        <p:spPr>
          <a:xfrm>
            <a:off x="6753860" y="4480560"/>
            <a:ext cx="5427980" cy="411480"/>
          </a:xfrm>
          <a:prstGeom prst="rect">
            <a:avLst/>
          </a:prstGeom>
          <a:noFill/>
        </p:spPr>
        <p:txBody>
          <a:bodyPr wrap="square" lIns="0" tIns="0" rIns="0" bIns="0" anchor="t">
            <a:noAutofit/>
          </a:bodyPr>
          <a:lstStyle/>
          <a:p>
            <a:pPr algn="l">
              <a:lnSpc>
                <a:spcPct val="100000"/>
              </a:lnSpc>
            </a:pPr>
            <a:r>
              <a:rPr lang="en-US" sz="2200" spc="0" dirty="0">
                <a:solidFill>
                  <a:srgbClr val="F5F5F7"/>
                </a:solidFill>
                <a:latin typeface="Helvetica Neue Medium"/>
                <a:cs typeface="Helvetica Neue Medium"/>
              </a:rPr>
              <a:t>Measurements, not confidence scores</a:t>
            </a:r>
          </a:p>
        </p:txBody>
      </p:sp>
      <p:sp>
        <p:nvSpPr>
          <p:cNvPr id="106" name="Principle 2 body"/>
          <p:cNvSpPr txBox="1"/>
          <p:nvPr/>
        </p:nvSpPr>
        <p:spPr>
          <a:xfrm>
            <a:off x="6753860" y="4983480"/>
            <a:ext cx="5427980" cy="1097280"/>
          </a:xfrm>
          <a:prstGeom prst="rect">
            <a:avLst/>
          </a:prstGeom>
          <a:noFill/>
        </p:spPr>
        <p:txBody>
          <a:bodyPr wrap="square" lIns="0" tIns="0" rIns="0" bIns="0" anchor="t">
            <a:noAutofit/>
          </a:bodyPr>
          <a:lstStyle/>
          <a:p>
            <a:pPr algn="l">
              <a:lnSpc>
                <a:spcPct val="120000"/>
              </a:lnSpc>
            </a:pPr>
            <a:r>
              <a:rPr lang="en-US" sz="1500" spc="0" dirty="0">
                <a:solidFill>
                  <a:srgbClr val="A3A8B4"/>
                </a:solidFill>
                <a:latin typeface="Helvetica Neue Light"/>
                <a:cs typeface="Helvetica Neue Light"/>
              </a:rPr>
              <a:t>Show what was measured and how often it held, with sample sizes. Abstain when the data isn’t there.</a:t>
            </a:r>
          </a:p>
        </p:txBody>
      </p:sp>
      <p:sp>
        <p:nvSpPr>
          <p:cNvPr id="107" name="Principle 3 title"/>
          <p:cNvSpPr txBox="1"/>
          <p:nvPr/>
        </p:nvSpPr>
        <p:spPr>
          <a:xfrm>
            <a:off x="822960" y="6355080"/>
            <a:ext cx="5427980" cy="411480"/>
          </a:xfrm>
          <a:prstGeom prst="rect">
            <a:avLst/>
          </a:prstGeom>
          <a:noFill/>
        </p:spPr>
        <p:txBody>
          <a:bodyPr wrap="square" lIns="0" tIns="0" rIns="0" bIns="0" anchor="t">
            <a:noAutofit/>
          </a:bodyPr>
          <a:lstStyle/>
          <a:p>
            <a:pPr algn="l">
              <a:lnSpc>
                <a:spcPct val="100000"/>
              </a:lnSpc>
            </a:pPr>
            <a:r>
              <a:rPr lang="en-US" sz="2200" spc="0" dirty="0">
                <a:solidFill>
                  <a:srgbClr val="F5F5F7"/>
                </a:solidFill>
                <a:latin typeface="Helvetica Neue Medium"/>
                <a:cs typeface="Helvetica Neue Medium"/>
              </a:rPr>
              <a:t>Consequences before commitment</a:t>
            </a:r>
          </a:p>
        </p:txBody>
      </p:sp>
      <p:sp>
        <p:nvSpPr>
          <p:cNvPr id="108" name="Principle 3 body"/>
          <p:cNvSpPr txBox="1"/>
          <p:nvPr/>
        </p:nvSpPr>
        <p:spPr>
          <a:xfrm>
            <a:off x="822960" y="6858000"/>
            <a:ext cx="5427980" cy="1097280"/>
          </a:xfrm>
          <a:prstGeom prst="rect">
            <a:avLst/>
          </a:prstGeom>
          <a:noFill/>
        </p:spPr>
        <p:txBody>
          <a:bodyPr wrap="square" lIns="0" tIns="0" rIns="0" bIns="0" anchor="t">
            <a:noAutofit/>
          </a:bodyPr>
          <a:lstStyle/>
          <a:p>
            <a:pPr algn="l">
              <a:lnSpc>
                <a:spcPct val="120000"/>
              </a:lnSpc>
            </a:pPr>
            <a:r>
              <a:rPr lang="en-US" sz="1500" spc="0" dirty="0">
                <a:solidFill>
                  <a:srgbClr val="A3A8B4"/>
                </a:solidFill>
                <a:latin typeface="Helvetica Neue Light"/>
                <a:cs typeface="Helvetica Neue Light"/>
              </a:rPr>
              <a:t>Rules are replayed on recent history before they’re saved. Every change is logged, with Undo.</a:t>
            </a:r>
          </a:p>
        </p:txBody>
      </p:sp>
      <p:sp>
        <p:nvSpPr>
          <p:cNvPr id="109" name="Principle 4 title"/>
          <p:cNvSpPr txBox="1"/>
          <p:nvPr/>
        </p:nvSpPr>
        <p:spPr>
          <a:xfrm>
            <a:off x="6753860" y="6355080"/>
            <a:ext cx="5427980" cy="411480"/>
          </a:xfrm>
          <a:prstGeom prst="rect">
            <a:avLst/>
          </a:prstGeom>
          <a:noFill/>
        </p:spPr>
        <p:txBody>
          <a:bodyPr wrap="square" lIns="0" tIns="0" rIns="0" bIns="0" anchor="t">
            <a:noAutofit/>
          </a:bodyPr>
          <a:lstStyle/>
          <a:p>
            <a:pPr algn="l">
              <a:lnSpc>
                <a:spcPct val="100000"/>
              </a:lnSpc>
            </a:pPr>
            <a:r>
              <a:rPr lang="en-US" sz="2200" spc="0" dirty="0">
                <a:solidFill>
                  <a:srgbClr val="F5F5F7"/>
                </a:solidFill>
                <a:latin typeface="Helvetica Neue Medium"/>
                <a:cs typeface="Helvetica Neue Medium"/>
              </a:rPr>
              <a:t>Guidance that fits the frequency</a:t>
            </a:r>
          </a:p>
        </p:txBody>
      </p:sp>
      <p:sp>
        <p:nvSpPr>
          <p:cNvPr id="110" name="Principle 4 body"/>
          <p:cNvSpPr txBox="1"/>
          <p:nvPr/>
        </p:nvSpPr>
        <p:spPr>
          <a:xfrm>
            <a:off x="6753860" y="6858000"/>
            <a:ext cx="5427980" cy="1097280"/>
          </a:xfrm>
          <a:prstGeom prst="rect">
            <a:avLst/>
          </a:prstGeom>
          <a:noFill/>
        </p:spPr>
        <p:txBody>
          <a:bodyPr wrap="square" lIns="0" tIns="0" rIns="0" bIns="0" anchor="t">
            <a:noAutofit/>
          </a:bodyPr>
          <a:lstStyle/>
          <a:p>
            <a:pPr algn="l">
              <a:lnSpc>
                <a:spcPct val="120000"/>
              </a:lnSpc>
            </a:pPr>
            <a:r>
              <a:rPr lang="en-US" sz="1500" spc="0" dirty="0">
                <a:solidFill>
                  <a:srgbClr val="A3A8B4"/>
                </a:solidFill>
                <a:latin typeface="Helvetica Neue Light"/>
                <a:cs typeface="Helvetica Neue Light"/>
              </a:rPr>
              <a:t>Daily users get help that fades with fluency. Rare tasks, like OBI and MOCA, get a short guided path.</a:t>
            </a:r>
          </a:p>
        </p:txBody>
      </p:sp>
      <p:sp>
        <p:nvSpPr>
          <p:cNvPr id="111" name="Thread"/>
          <p:cNvSpPr txBox="1"/>
          <p:nvPr/>
        </p:nvSpPr>
        <p:spPr>
          <a:xfrm>
            <a:off x="822960" y="8503920"/>
            <a:ext cx="11358880" cy="274320"/>
          </a:xfrm>
          <a:prstGeom prst="rect">
            <a:avLst/>
          </a:prstGeom>
          <a:noFill/>
        </p:spPr>
        <p:txBody>
          <a:bodyPr wrap="square" lIns="0" tIns="0" rIns="0" bIns="0" anchor="t">
            <a:noAutofit/>
          </a:bodyPr>
          <a:lstStyle/>
          <a:p>
            <a:pPr algn="l">
              <a:lnSpc>
                <a:spcPct val="100000"/>
              </a:lnSpc>
            </a:pPr>
            <a:r>
              <a:rPr lang="en-US" sz="1200" spc="200" dirty="0">
                <a:solidFill>
                  <a:srgbClr val="6E7380"/>
                </a:solidFill>
                <a:latin typeface="Helvetica Neue Medium"/>
                <a:cs typeface="Helvetica Neue Medium"/>
              </a:rPr>
              <a:t>MERIDIAN   ·   FINVIZ   ·   CREDIT SUISSE   ·   WELLS FARGO   ·   AMEX</a:t>
            </a:r>
          </a:p>
        </p:txBody>
      </p:sp>
      <p:pic>
        <p:nvPicPr>
          <p:cNvPr id="12"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822960"/>
            <a:ext cx="548640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CASE STUDY 02 · AI PRODUCT · CONCEPT</a:t>
            </a:r>
          </a:p>
        </p:txBody>
      </p:sp>
      <p:sp>
        <p:nvSpPr>
          <p:cNvPr id="102" name="Company"/>
          <p:cNvSpPr txBox="1"/>
          <p:nvPr/>
        </p:nvSpPr>
        <p:spPr>
          <a:xfrm>
            <a:off x="822960" y="1234440"/>
            <a:ext cx="5486400" cy="914400"/>
          </a:xfrm>
          <a:prstGeom prst="rect">
            <a:avLst/>
          </a:prstGeom>
          <a:noFill/>
        </p:spPr>
        <p:txBody>
          <a:bodyPr wrap="square" lIns="0" tIns="0" rIns="0" bIns="0" anchor="t">
            <a:noAutofit/>
          </a:bodyPr>
          <a:lstStyle/>
          <a:p>
            <a:pPr algn="l">
              <a:lnSpc>
                <a:spcPct val="90000"/>
              </a:lnSpc>
              <a:spcAft>
                <a:spcPts val="300"/>
              </a:spcAft>
            </a:pPr>
            <a:r>
              <a:rPr lang="en-US" sz="5400" spc="-40" dirty="0">
                <a:solidFill>
                  <a:srgbClr val="F5F5F7"/>
                </a:solidFill>
                <a:latin typeface="Helvetica Neue Medium"/>
                <a:cs typeface="Helvetica Neue Medium"/>
              </a:rPr>
              <a:t>FinViz</a:t>
            </a:r>
          </a:p>
        </p:txBody>
      </p:sp>
      <p:sp>
        <p:nvSpPr>
          <p:cNvPr id="103" name="Project"/>
          <p:cNvSpPr txBox="1"/>
          <p:nvPr/>
        </p:nvSpPr>
        <p:spPr>
          <a:xfrm>
            <a:off x="822960" y="2240280"/>
            <a:ext cx="5486400" cy="548640"/>
          </a:xfrm>
          <a:prstGeom prst="rect">
            <a:avLst/>
          </a:prstGeom>
          <a:noFill/>
        </p:spPr>
        <p:txBody>
          <a:bodyPr wrap="square" lIns="0" tIns="0" rIns="0" bIns="0" anchor="t">
            <a:noAutofit/>
          </a:bodyPr>
          <a:lstStyle/>
          <a:p>
            <a:pPr algn="l">
              <a:lnSpc>
                <a:spcPct val="115000"/>
              </a:lnSpc>
              <a:spcAft>
                <a:spcPts val="300"/>
              </a:spcAft>
            </a:pPr>
            <a:r>
              <a:rPr lang="en-US" sz="2600" spc="0" dirty="0">
                <a:solidFill>
                  <a:srgbClr val="E98C64"/>
                </a:solidFill>
                <a:latin typeface="Helvetica Neue Medium"/>
                <a:cs typeface="Helvetica Neue Medium"/>
              </a:rPr>
              <a:t>AI Screener: The Trading Day</a:t>
            </a:r>
          </a:p>
        </p:txBody>
      </p:sp>
      <p:sp>
        <p:nvSpPr>
          <p:cNvPr id="104" name="Hook"/>
          <p:cNvSpPr txBox="1"/>
          <p:nvPr/>
        </p:nvSpPr>
        <p:spPr>
          <a:xfrm>
            <a:off x="822960" y="2926080"/>
            <a:ext cx="5486400" cy="128016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Getting new traders to a screen they trust in their first session, then watching it for them. Goal: cut sign-up to Elite from 42 to 21 days.</a:t>
            </a:r>
          </a:p>
        </p:txBody>
      </p:sp>
      <p:cxnSp>
        <p:nvCxnSpPr>
          <p:cNvPr id="105" name="Divider"/>
          <p:cNvCxnSpPr/>
          <p:nvPr/>
        </p:nvCxnSpPr>
        <p:spPr>
          <a:xfrm>
            <a:off x="822960" y="4343400"/>
            <a:ext cx="5486400" cy="0"/>
          </a:xfrm>
          <a:prstGeom prst="line">
            <a:avLst/>
          </a:prstGeom>
          <a:ln w="9525">
            <a:solidFill>
              <a:srgbClr val="2C2F38"/>
            </a:solidFill>
          </a:ln>
        </p:spPr>
      </p:cxnSp>
      <p:sp>
        <p:nvSpPr>
          <p:cNvPr id="106" name="ROLE"/>
          <p:cNvSpPr txBox="1"/>
          <p:nvPr/>
        </p:nvSpPr>
        <p:spPr>
          <a:xfrm>
            <a:off x="822960" y="4471416"/>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ROLE</a:t>
            </a:r>
          </a:p>
        </p:txBody>
      </p:sp>
      <p:sp>
        <p:nvSpPr>
          <p:cNvPr id="107" name="ROLE value"/>
          <p:cNvSpPr txBox="1"/>
          <p:nvPr/>
        </p:nvSpPr>
        <p:spPr>
          <a:xfrm>
            <a:off x="2148840" y="4443984"/>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Lead UX designer</a:t>
            </a:r>
          </a:p>
        </p:txBody>
      </p:sp>
      <p:cxnSp>
        <p:nvCxnSpPr>
          <p:cNvPr id="108" name="Divider"/>
          <p:cNvCxnSpPr/>
          <p:nvPr/>
        </p:nvCxnSpPr>
        <p:spPr>
          <a:xfrm>
            <a:off x="822960" y="5056632"/>
            <a:ext cx="5486400" cy="0"/>
          </a:xfrm>
          <a:prstGeom prst="line">
            <a:avLst/>
          </a:prstGeom>
          <a:ln w="9525">
            <a:solidFill>
              <a:srgbClr val="2C2F38"/>
            </a:solidFill>
          </a:ln>
        </p:spPr>
      </p:cxnSp>
      <p:sp>
        <p:nvSpPr>
          <p:cNvPr id="109" name="TEAM"/>
          <p:cNvSpPr txBox="1"/>
          <p:nvPr/>
        </p:nvSpPr>
        <p:spPr>
          <a:xfrm>
            <a:off x="822960" y="5184648"/>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TEAM</a:t>
            </a:r>
          </a:p>
        </p:txBody>
      </p:sp>
      <p:sp>
        <p:nvSpPr>
          <p:cNvPr id="110" name="TEAM value"/>
          <p:cNvSpPr txBox="1"/>
          <p:nvPr/>
        </p:nvSpPr>
        <p:spPr>
          <a:xfrm>
            <a:off x="2148840" y="5157216"/>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Solo lead with AI agents for drafting; four design reviewers</a:t>
            </a:r>
          </a:p>
        </p:txBody>
      </p:sp>
      <p:cxnSp>
        <p:nvCxnSpPr>
          <p:cNvPr id="111" name="Divider"/>
          <p:cNvCxnSpPr/>
          <p:nvPr/>
        </p:nvCxnSpPr>
        <p:spPr>
          <a:xfrm>
            <a:off x="822960" y="5769864"/>
            <a:ext cx="5486400" cy="0"/>
          </a:xfrm>
          <a:prstGeom prst="line">
            <a:avLst/>
          </a:prstGeom>
          <a:ln w="9525">
            <a:solidFill>
              <a:srgbClr val="2C2F38"/>
            </a:solidFill>
          </a:ln>
        </p:spPr>
      </p:cxnSp>
      <p:sp>
        <p:nvSpPr>
          <p:cNvPr id="112" name="SCOPE"/>
          <p:cNvSpPr txBox="1"/>
          <p:nvPr/>
        </p:nvSpPr>
        <p:spPr>
          <a:xfrm>
            <a:off x="822960" y="5897880"/>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SCOPE</a:t>
            </a:r>
          </a:p>
        </p:txBody>
      </p:sp>
      <p:sp>
        <p:nvSpPr>
          <p:cNvPr id="113" name="SCOPE value"/>
          <p:cNvSpPr txBox="1"/>
          <p:nvPr/>
        </p:nvSpPr>
        <p:spPr>
          <a:xfrm>
            <a:off x="2148840" y="5870448"/>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Research to hi-fi: 19 screens, design system, live prototype</a:t>
            </a:r>
          </a:p>
        </p:txBody>
      </p:sp>
      <p:cxnSp>
        <p:nvCxnSpPr>
          <p:cNvPr id="114" name="Divider"/>
          <p:cNvCxnSpPr/>
          <p:nvPr/>
        </p:nvCxnSpPr>
        <p:spPr>
          <a:xfrm>
            <a:off x="822960" y="6483096"/>
            <a:ext cx="5486400" cy="0"/>
          </a:xfrm>
          <a:prstGeom prst="line">
            <a:avLst/>
          </a:prstGeom>
          <a:ln w="9525">
            <a:solidFill>
              <a:srgbClr val="2C2F38"/>
            </a:solidFill>
          </a:ln>
        </p:spPr>
      </p:cxnSp>
      <p:sp>
        <p:nvSpPr>
          <p:cNvPr id="115" name="STATUS"/>
          <p:cNvSpPr txBox="1"/>
          <p:nvPr/>
        </p:nvSpPr>
        <p:spPr>
          <a:xfrm>
            <a:off x="822960" y="6611112"/>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STATUS</a:t>
            </a:r>
          </a:p>
        </p:txBody>
      </p:sp>
      <p:sp>
        <p:nvSpPr>
          <p:cNvPr id="116" name="STATUS value"/>
          <p:cNvSpPr txBox="1"/>
          <p:nvPr/>
        </p:nvSpPr>
        <p:spPr>
          <a:xfrm>
            <a:off x="2148840" y="6583680"/>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Concept. Tests are set; none has run yet</a:t>
            </a:r>
          </a:p>
        </p:txBody>
      </p:sp>
      <p:cxnSp>
        <p:nvCxnSpPr>
          <p:cNvPr id="117" name="Divider"/>
          <p:cNvCxnSpPr/>
          <p:nvPr/>
        </p:nvCxnSpPr>
        <p:spPr>
          <a:xfrm>
            <a:off x="822960" y="7196328"/>
            <a:ext cx="5486400" cy="0"/>
          </a:xfrm>
          <a:prstGeom prst="line">
            <a:avLst/>
          </a:prstGeom>
          <a:ln w="9525">
            <a:solidFill>
              <a:srgbClr val="2C2F38"/>
            </a:solidFill>
          </a:ln>
        </p:spPr>
      </p:cxnSp>
      <p:sp>
        <p:nvSpPr>
          <p:cNvPr id="118" name="Quote"/>
          <p:cNvSpPr txBox="1"/>
          <p:nvPr/>
        </p:nvSpPr>
        <p:spPr>
          <a:xfrm>
            <a:off x="822960" y="7516368"/>
            <a:ext cx="5486400" cy="1188720"/>
          </a:xfrm>
          <a:prstGeom prst="rect">
            <a:avLst/>
          </a:prstGeom>
          <a:noFill/>
        </p:spPr>
        <p:txBody>
          <a:bodyPr wrap="square" lIns="0" tIns="0" rIns="0" bIns="0" anchor="t">
            <a:noAutofit/>
          </a:bodyPr>
          <a:lstStyle/>
          <a:p>
            <a:pPr algn="l">
              <a:lnSpc>
                <a:spcPct val="115000"/>
              </a:lnSpc>
              <a:spcAft>
                <a:spcPts val="300"/>
              </a:spcAft>
            </a:pPr>
            <a:r>
              <a:rPr lang="en-US" sz="1500" spc="0" dirty="0">
                <a:solidFill>
                  <a:srgbClr val="F5F5F7"/>
                </a:solidFill>
                <a:latin typeface="Helvetica Neue Light"/>
                <a:cs typeface="Helvetica Neue Light"/>
              </a:rPr>
              <a:t>“Alerts are everything. Once you close FinViz, you get nothing.”</a:t>
            </a:r>
          </a:p>
        </p:txBody>
      </p:sp>
      <p:pic>
        <p:nvPicPr>
          <p:cNvPr id="119" name="Picture 8" descr="image.png"/>
          <p:cNvPicPr>
            <a:picLocks noChangeAspect="1"/>
          </p:cNvPicPr>
          <p:nvPr/>
        </p:nvPicPr>
        <p:blipFill>
          <a:blip r:embed="rId3"/>
          <a:stretch>
            <a:fillRect/>
          </a:stretch>
        </p:blipFill>
        <p:spPr>
          <a:xfrm>
            <a:off x="6720840" y="1972845"/>
            <a:ext cx="5458968" cy="5015428"/>
          </a:xfrm>
          <a:prstGeom prst="rect">
            <a:avLst/>
          </a:prstGeom>
          <a:ln w="9525">
            <a:solidFill>
              <a:srgbClr val="3A3E49"/>
            </a:solidFill>
          </a:ln>
        </p:spPr>
      </p:pic>
      <p:pic>
        <p:nvPicPr>
          <p:cNvPr id="120"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OVERVIEW</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The Trading Day: FinViz keeps watch while you work</a:t>
            </a:r>
          </a:p>
        </p:txBody>
      </p:sp>
      <p:pic>
        <p:nvPicPr>
          <p:cNvPr id="103" name="Picture 4" descr="09-DB1-insight-board-pre-market.png"/>
          <p:cNvPicPr>
            <a:picLocks noChangeAspect="1"/>
          </p:cNvPicPr>
          <p:nvPr/>
        </p:nvPicPr>
        <p:blipFill>
          <a:blip r:embed="rId3"/>
          <a:stretch>
            <a:fillRect/>
          </a:stretch>
        </p:blipFill>
        <p:spPr>
          <a:xfrm>
            <a:off x="822960" y="2011680"/>
            <a:ext cx="6170644" cy="5669280"/>
          </a:xfrm>
          <a:prstGeom prst="rect">
            <a:avLst/>
          </a:prstGeom>
          <a:ln w="9525">
            <a:solidFill>
              <a:srgbClr val="D3D6DC"/>
            </a:solidFill>
          </a:ln>
        </p:spPr>
      </p:pic>
      <p:sp>
        <p:nvSpPr>
          <p:cNvPr id="104" name="Hero caption"/>
          <p:cNvSpPr txBox="1"/>
          <p:nvPr/>
        </p:nvSpPr>
        <p:spPr>
          <a:xfrm>
            <a:off x="822960" y="7818120"/>
            <a:ext cx="6309360" cy="54864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HERO  </a:t>
            </a:r>
            <a:r>
              <a:rPr lang="en-US" sz="1150" spc="0" dirty="0">
                <a:solidFill>
                  <a:srgbClr val="565C6B"/>
                </a:solidFill>
                <a:latin typeface="Helvetica Neue Light"/>
                <a:cs typeface="Helvetica Neue Light"/>
              </a:rPr>
              <a:t>The Insight Board at 7:45 AM: three sourced findings about his own names, on the FinViz Home he already knows.</a:t>
            </a:r>
          </a:p>
        </p:txBody>
      </p:sp>
      <p:sp>
        <p:nvSpPr>
          <p:cNvPr id="105" name="Overview"/>
          <p:cNvSpPr txBox="1"/>
          <p:nvPr/>
        </p:nvSpPr>
        <p:spPr>
          <a:xfrm>
            <a:off x="7543800" y="2011680"/>
            <a:ext cx="4638040" cy="621792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PRODUCT</a:t>
            </a:r>
          </a:p>
          <a:p>
            <a:pPr algn="l">
              <a:lnSpc>
                <a:spcPct val="125000"/>
              </a:lnSpc>
              <a:spcAft>
                <a:spcPts val="500"/>
              </a:spcAft>
            </a:pPr>
            <a:r>
              <a:rPr lang="en-US" sz="1550" spc="0" dirty="0">
                <a:solidFill>
                  <a:srgbClr val="565C6B"/>
                </a:solidFill>
                <a:latin typeface="Helvetica Neue Light"/>
                <a:cs typeface="Helvetica Neue Light"/>
              </a:rPr>
              <a:t>An AI layer for the FinViz stock screener.</a:t>
            </a:r>
          </a:p>
          <a:p>
            <a:pPr algn="l">
              <a:lnSpc>
                <a:spcPct val="105000"/>
              </a:lnSpc>
              <a:spcBef>
                <a:spcPts val="1400"/>
              </a:spcBef>
              <a:spcAft>
                <a:spcPts val="500"/>
              </a:spcAft>
            </a:pPr>
            <a:r>
              <a:rPr lang="en-US" sz="1100" spc="200" dirty="0">
                <a:solidFill>
                  <a:srgbClr val="858A97"/>
                </a:solidFill>
                <a:latin typeface="Helvetica Neue Medium"/>
                <a:cs typeface="Helvetica Neue Medium"/>
              </a:rPr>
              <a:t>PROBLEM</a:t>
            </a:r>
          </a:p>
          <a:p>
            <a:pPr algn="l">
              <a:lnSpc>
                <a:spcPct val="125000"/>
              </a:lnSpc>
              <a:spcAft>
                <a:spcPts val="500"/>
              </a:spcAft>
            </a:pPr>
            <a:r>
              <a:rPr lang="en-US" sz="1550" spc="0" dirty="0">
                <a:solidFill>
                  <a:srgbClr val="565C6B"/>
                </a:solidFill>
                <a:latin typeface="Helvetica Neue Light"/>
                <a:cs typeface="Helvetica Neue Light"/>
              </a:rPr>
              <a:t>Swing traders with day jobs build a screen at night, can’t watch the market 9:30–4, and miss the moment their setup happens. New users take 42 days to see why Elite is worth paying for.</a:t>
            </a:r>
          </a:p>
          <a:p>
            <a:pPr algn="l">
              <a:lnSpc>
                <a:spcPct val="105000"/>
              </a:lnSpc>
              <a:spcBef>
                <a:spcPts val="1400"/>
              </a:spcBef>
              <a:spcAft>
                <a:spcPts val="500"/>
              </a:spcAft>
            </a:pPr>
            <a:r>
              <a:rPr lang="en-US" sz="1100" spc="200" dirty="0">
                <a:solidFill>
                  <a:srgbClr val="858A97"/>
                </a:solidFill>
                <a:latin typeface="Helvetica Neue Medium"/>
                <a:cs typeface="Helvetica Neue Medium"/>
              </a:rPr>
              <a:t>AI SOLUTION</a:t>
            </a:r>
          </a:p>
          <a:p>
            <a:pPr algn="l">
              <a:lnSpc>
                <a:spcPct val="125000"/>
              </a:lnSpc>
              <a:spcAft>
                <a:spcPts val="500"/>
              </a:spcAft>
            </a:pPr>
            <a:r>
              <a:rPr lang="en-US" sz="1550" spc="0" dirty="0">
                <a:solidFill>
                  <a:srgbClr val="565C6B"/>
                </a:solidFill>
                <a:latin typeface="Helvetica Neue Light"/>
                <a:cs typeface="Helvetica Neue Light"/>
              </a:rPr>
              <a:t>AI turns the stocks he already likes into a working screen, remembers why he picked each one, watches it on his schedule and explains every finding with its evidence. It verifies; he decides.</a:t>
            </a:r>
          </a:p>
          <a:p>
            <a:pPr algn="l">
              <a:lnSpc>
                <a:spcPct val="105000"/>
              </a:lnSpc>
              <a:spcBef>
                <a:spcPts val="1400"/>
              </a:spcBef>
              <a:spcAft>
                <a:spcPts val="500"/>
              </a:spcAft>
            </a:pPr>
            <a:r>
              <a:rPr lang="en-US" sz="1100" spc="200" dirty="0">
                <a:solidFill>
                  <a:srgbClr val="858A97"/>
                </a:solidFill>
                <a:latin typeface="Helvetica Neue Medium"/>
                <a:cs typeface="Helvetica Neue Medium"/>
              </a:rPr>
              <a:t>MY ROLE</a:t>
            </a:r>
          </a:p>
          <a:p>
            <a:pPr algn="l">
              <a:lnSpc>
                <a:spcPct val="125000"/>
              </a:lnSpc>
              <a:spcAft>
                <a:spcPts val="500"/>
              </a:spcAft>
            </a:pPr>
            <a:r>
              <a:rPr lang="en-US" sz="1550" spc="0" dirty="0">
                <a:solidFill>
                  <a:srgbClr val="565C6B"/>
                </a:solidFill>
                <a:latin typeface="Helvetica Neue Light"/>
                <a:cs typeface="Helvetica Neue Light"/>
              </a:rPr>
              <a:t>Lead UX designer: research, strategy, AI UX principles, concept, low-fi to hi-fi, design system. AI agents for drafting; every call mine.</a:t>
            </a:r>
          </a:p>
        </p:txBody>
      </p:sp>
      <p:sp>
        <p:nvSpPr>
          <p:cNvPr id="106" name="Source"/>
          <p:cNvSpPr txBox="1"/>
          <p:nvPr/>
        </p:nvSpPr>
        <p:spPr>
          <a:xfrm>
            <a:off x="822960" y="8503920"/>
            <a:ext cx="11358880" cy="274320"/>
          </a:xfrm>
          <a:prstGeom prst="rect">
            <a:avLst/>
          </a:prstGeom>
          <a:noFill/>
        </p:spPr>
        <p:txBody>
          <a:bodyPr wrap="square" lIns="0" tIns="0" rIns="0" bIns="0" anchor="t">
            <a:noAutofit/>
          </a:bodyPr>
          <a:lstStyle/>
          <a:p>
            <a:pPr algn="l">
              <a:lnSpc>
                <a:spcPct val="105000"/>
              </a:lnSpc>
              <a:spcAft>
                <a:spcPts val="300"/>
              </a:spcAft>
            </a:pPr>
            <a:r>
              <a:rPr lang="en-US" sz="1200" spc="0" dirty="0">
                <a:solidFill>
                  <a:srgbClr val="858A97"/>
                </a:solidFill>
                <a:latin typeface="Helvetica Neue Light"/>
                <a:cs typeface="Helvetica Neue Light"/>
              </a:rPr>
              <a:t>19 hi-fi screens · one trade · Monday evening to Sunday · FinViz design system v1.0 · personas and data are synthetic</a:t>
            </a:r>
          </a:p>
        </p:txBody>
      </p:sp>
      <p:pic>
        <p:nvPicPr>
          <p:cNvPr id="107"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CONTEXT</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800" spc="-40" dirty="0">
                <a:solidFill>
                  <a:srgbClr val="14161D"/>
                </a:solidFill>
                <a:latin typeface="Helvetica Neue Medium"/>
                <a:cs typeface="Helvetica Neue Medium"/>
              </a:rPr>
              <a:t>An AI layer that turns what a trader already has into a working screen, and </a:t>
            </a:r>
            <a:r>
              <a:rPr lang="en-US" sz="3800" spc="-40" dirty="0">
                <a:solidFill>
                  <a:srgbClr val="B5531F"/>
                </a:solidFill>
                <a:latin typeface="Helvetica Neue Medium"/>
                <a:cs typeface="Helvetica Neue Medium"/>
              </a:rPr>
              <a:t>watches it through the day</a:t>
            </a:r>
            <a:r>
              <a:rPr lang="en-US" sz="3800" spc="-40" dirty="0">
                <a:solidFill>
                  <a:srgbClr val="14161D"/>
                </a:solidFill>
                <a:latin typeface="Helvetica Neue Medium"/>
                <a:cs typeface="Helvetica Neue Medium"/>
              </a:rPr>
              <a:t>.</a:t>
            </a:r>
          </a:p>
        </p:txBody>
      </p:sp>
      <p:sp>
        <p:nvSpPr>
          <p:cNvPr id="103" name="Audience"/>
          <p:cNvSpPr txBox="1"/>
          <p:nvPr/>
        </p:nvSpPr>
        <p:spPr>
          <a:xfrm>
            <a:off x="822960" y="3611880"/>
            <a:ext cx="3511973" cy="41148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TARGET AUDIENCE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Swing traders with a day job</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Day traders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Value investors</a:t>
            </a:r>
          </a:p>
        </p:txBody>
      </p:sp>
      <p:sp>
        <p:nvSpPr>
          <p:cNvPr id="104" name="Problems"/>
          <p:cNvSpPr txBox="1"/>
          <p:nvPr/>
        </p:nvSpPr>
        <p:spPr>
          <a:xfrm>
            <a:off x="4746413" y="3611880"/>
            <a:ext cx="3511973" cy="41148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THE PROBLEMS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Ideas don’t become a working, watched screen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FinViz is nearly absent during market hours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89 filters in preset buckets; exact values are Elite-only</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Results show no reason why a stock matched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New users stall before Elite’s value is obvious</a:t>
            </a:r>
          </a:p>
        </p:txBody>
      </p:sp>
      <p:sp>
        <p:nvSpPr>
          <p:cNvPr id="105" name="Team"/>
          <p:cNvSpPr txBox="1"/>
          <p:nvPr/>
        </p:nvSpPr>
        <p:spPr>
          <a:xfrm>
            <a:off x="8669866"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TEAM AND MY PART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Concept project from a design-course brief. I led it, with AI agents for drafting and four design reviewers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ran discovery, research, strategy, the AI design principles and the hands-on design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led every deliverable in Figma and FigJam, ran the design review, and made and recorded the key calls</a:t>
            </a:r>
          </a:p>
        </p:txBody>
      </p:sp>
      <p:pic>
        <p:nvPicPr>
          <p:cNvPr id="106"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WHY</a:t>
            </a:r>
          </a:p>
        </p:txBody>
      </p:sp>
      <p:sp>
        <p:nvSpPr>
          <p:cNvPr id="102" name="Headline"/>
          <p:cNvSpPr txBox="1"/>
          <p:nvPr/>
        </p:nvSpPr>
        <p:spPr>
          <a:xfrm>
            <a:off x="822960" y="1371600"/>
            <a:ext cx="11358880" cy="9144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Why design an AI layer for the </a:t>
            </a:r>
            <a:r>
              <a:rPr lang="en-US" sz="4000" spc="-40" dirty="0">
                <a:solidFill>
                  <a:srgbClr val="B5531F"/>
                </a:solidFill>
                <a:latin typeface="Helvetica Neue Medium"/>
                <a:cs typeface="Helvetica Neue Medium"/>
              </a:rPr>
              <a:t>screener</a:t>
            </a:r>
            <a:r>
              <a:rPr lang="en-US" sz="4000" spc="-40" dirty="0">
                <a:solidFill>
                  <a:srgbClr val="14161D"/>
                </a:solidFill>
                <a:latin typeface="Helvetica Neue Medium"/>
                <a:cs typeface="Helvetica Neue Medium"/>
              </a:rPr>
              <a:t>?</a:t>
            </a:r>
          </a:p>
        </p:txBody>
      </p:sp>
      <p:sp>
        <p:nvSpPr>
          <p:cNvPr id="3001" name="Tile"/>
          <p:cNvSpPr/>
          <p:nvPr/>
        </p:nvSpPr>
        <p:spPr>
          <a:xfrm>
            <a:off x="822960" y="2606040"/>
            <a:ext cx="5120640" cy="3840480"/>
          </a:xfrm>
          <a:prstGeom prst="roundRect">
            <a:avLst>
              <a:gd name="adj" fmla="val 3333"/>
            </a:avLst>
          </a:prstGeom>
          <a:solidFill>
            <a:srgbClr val="B5531F"/>
          </a:solidFill>
          <a:ln>
            <a:noFill/>
          </a:ln>
        </p:spPr>
        <p:txBody>
          <a:bodyPr/>
          <a:lstStyle/>
          <a:p>
            <a:endParaRPr lang="en-US"/>
          </a:p>
        </p:txBody>
      </p:sp>
      <p:sp>
        <p:nvSpPr>
          <p:cNvPr id="103" name="Number"/>
          <p:cNvSpPr txBox="1"/>
          <p:nvPr/>
        </p:nvSpPr>
        <p:spPr>
          <a:xfrm>
            <a:off x="1097280" y="2807208"/>
            <a:ext cx="4572000" cy="1173480"/>
          </a:xfrm>
          <a:prstGeom prst="rect">
            <a:avLst/>
          </a:prstGeom>
          <a:noFill/>
        </p:spPr>
        <p:txBody>
          <a:bodyPr wrap="square" lIns="0" tIns="0" rIns="0" bIns="0" anchor="t">
            <a:noAutofit/>
          </a:bodyPr>
          <a:lstStyle/>
          <a:p>
            <a:pPr algn="l">
              <a:lnSpc>
                <a:spcPct val="88000"/>
              </a:lnSpc>
              <a:spcAft>
                <a:spcPts val="300"/>
              </a:spcAft>
            </a:pPr>
            <a:r>
              <a:rPr lang="en-US" sz="8800" spc="-60" dirty="0">
                <a:solidFill>
                  <a:srgbClr val="FFFFFF"/>
                </a:solidFill>
                <a:latin typeface="Helvetica Neue Medium"/>
                <a:cs typeface="Helvetica Neue Medium"/>
              </a:rPr>
              <a:t>42 → 21</a:t>
            </a:r>
          </a:p>
        </p:txBody>
      </p:sp>
      <p:sp>
        <p:nvSpPr>
          <p:cNvPr id="104" name="Label"/>
          <p:cNvSpPr txBox="1"/>
          <p:nvPr/>
        </p:nvSpPr>
        <p:spPr>
          <a:xfrm>
            <a:off x="1097280" y="4053840"/>
            <a:ext cx="4572000" cy="914400"/>
          </a:xfrm>
          <a:prstGeom prst="rect">
            <a:avLst/>
          </a:prstGeom>
          <a:noFill/>
        </p:spPr>
        <p:txBody>
          <a:bodyPr wrap="square" lIns="0" tIns="0" rIns="0" bIns="0" anchor="t">
            <a:noAutofit/>
          </a:bodyPr>
          <a:lstStyle/>
          <a:p>
            <a:pPr algn="l">
              <a:lnSpc>
                <a:spcPct val="115000"/>
              </a:lnSpc>
              <a:spcAft>
                <a:spcPts val="300"/>
              </a:spcAft>
            </a:pPr>
            <a:r>
              <a:rPr lang="en-US" sz="1600" spc="0" dirty="0">
                <a:solidFill>
                  <a:srgbClr val="FBE3D8"/>
                </a:solidFill>
                <a:latin typeface="Helvetica Neue Light"/>
                <a:cs typeface="Helvetica Neue Light"/>
              </a:rPr>
              <a:t>days from sign-up to Elite: the business goal</a:t>
            </a:r>
          </a:p>
        </p:txBody>
      </p:sp>
      <p:sp>
        <p:nvSpPr>
          <p:cNvPr id="105" name="Bar label"/>
          <p:cNvSpPr txBox="1"/>
          <p:nvPr/>
        </p:nvSpPr>
        <p:spPr>
          <a:xfrm>
            <a:off x="1097280" y="5321808"/>
            <a:ext cx="4572000" cy="201168"/>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FBE3D8"/>
                </a:solidFill>
                <a:latin typeface="Helvetica Neue Light"/>
                <a:cs typeface="Helvetica Neue Light"/>
              </a:rPr>
              <a:t>Today: 42 days</a:t>
            </a:r>
          </a:p>
        </p:txBody>
      </p:sp>
      <p:sp>
        <p:nvSpPr>
          <p:cNvPr id="3002" name="Tile"/>
          <p:cNvSpPr/>
          <p:nvPr/>
        </p:nvSpPr>
        <p:spPr>
          <a:xfrm>
            <a:off x="1097280" y="5541264"/>
            <a:ext cx="4572000" cy="146304"/>
          </a:xfrm>
          <a:prstGeom prst="roundRect">
            <a:avLst>
              <a:gd name="adj" fmla="val 37500"/>
            </a:avLst>
          </a:prstGeom>
          <a:solidFill>
            <a:srgbClr val="FFFFFF">
              <a:alpha val="30000"/>
            </a:srgbClr>
          </a:solidFill>
          <a:ln>
            <a:noFill/>
          </a:ln>
        </p:spPr>
        <p:txBody>
          <a:bodyPr/>
          <a:lstStyle/>
          <a:p>
            <a:endParaRPr lang="en-US"/>
          </a:p>
        </p:txBody>
      </p:sp>
      <p:sp>
        <p:nvSpPr>
          <p:cNvPr id="3003" name="Tile"/>
          <p:cNvSpPr/>
          <p:nvPr/>
        </p:nvSpPr>
        <p:spPr>
          <a:xfrm>
            <a:off x="1097280" y="5541264"/>
            <a:ext cx="4572000" cy="146304"/>
          </a:xfrm>
          <a:prstGeom prst="roundRect">
            <a:avLst>
              <a:gd name="adj" fmla="val 37500"/>
            </a:avLst>
          </a:prstGeom>
          <a:solidFill>
            <a:srgbClr val="FFFFFF">
              <a:alpha val="60000"/>
            </a:srgbClr>
          </a:solidFill>
          <a:ln>
            <a:noFill/>
          </a:ln>
        </p:spPr>
        <p:txBody>
          <a:bodyPr/>
          <a:lstStyle/>
          <a:p>
            <a:endParaRPr lang="en-US"/>
          </a:p>
        </p:txBody>
      </p:sp>
      <p:sp>
        <p:nvSpPr>
          <p:cNvPr id="106" name="Bar label"/>
          <p:cNvSpPr txBox="1"/>
          <p:nvPr/>
        </p:nvSpPr>
        <p:spPr>
          <a:xfrm>
            <a:off x="1097280" y="5705856"/>
            <a:ext cx="4572000" cy="201168"/>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FFFFFF"/>
                </a:solidFill>
                <a:latin typeface="Helvetica Neue Medium"/>
                <a:cs typeface="Helvetica Neue Medium"/>
              </a:rPr>
              <a:t>Goal: 21 days</a:t>
            </a:r>
          </a:p>
        </p:txBody>
      </p:sp>
      <p:sp>
        <p:nvSpPr>
          <p:cNvPr id="3004" name="Tile"/>
          <p:cNvSpPr/>
          <p:nvPr/>
        </p:nvSpPr>
        <p:spPr>
          <a:xfrm>
            <a:off x="1097280" y="5925312"/>
            <a:ext cx="4572000" cy="146304"/>
          </a:xfrm>
          <a:prstGeom prst="roundRect">
            <a:avLst>
              <a:gd name="adj" fmla="val 37500"/>
            </a:avLst>
          </a:prstGeom>
          <a:solidFill>
            <a:srgbClr val="FFFFFF">
              <a:alpha val="30000"/>
            </a:srgbClr>
          </a:solidFill>
          <a:ln>
            <a:noFill/>
          </a:ln>
        </p:spPr>
        <p:txBody>
          <a:bodyPr/>
          <a:lstStyle/>
          <a:p>
            <a:endParaRPr lang="en-US"/>
          </a:p>
        </p:txBody>
      </p:sp>
      <p:sp>
        <p:nvSpPr>
          <p:cNvPr id="3005" name="Tile"/>
          <p:cNvSpPr/>
          <p:nvPr/>
        </p:nvSpPr>
        <p:spPr>
          <a:xfrm>
            <a:off x="1097280" y="5925312"/>
            <a:ext cx="2286000" cy="146304"/>
          </a:xfrm>
          <a:prstGeom prst="roundRect">
            <a:avLst>
              <a:gd name="adj" fmla="val 37500"/>
            </a:avLst>
          </a:prstGeom>
          <a:solidFill>
            <a:srgbClr val="7ACFFF"/>
          </a:solidFill>
          <a:ln>
            <a:noFill/>
          </a:ln>
        </p:spPr>
        <p:txBody>
          <a:bodyPr/>
          <a:lstStyle/>
          <a:p>
            <a:endParaRPr lang="en-US"/>
          </a:p>
        </p:txBody>
      </p:sp>
      <p:sp>
        <p:nvSpPr>
          <p:cNvPr id="3006" name="Tile"/>
          <p:cNvSpPr/>
          <p:nvPr/>
        </p:nvSpPr>
        <p:spPr>
          <a:xfrm>
            <a:off x="6126480" y="2606040"/>
            <a:ext cx="6053328" cy="1161288"/>
          </a:xfrm>
          <a:prstGeom prst="roundRect">
            <a:avLst>
              <a:gd name="adj" fmla="val 11023"/>
            </a:avLst>
          </a:prstGeom>
          <a:solidFill>
            <a:srgbClr val="1B1D24"/>
          </a:solidFill>
          <a:ln>
            <a:noFill/>
          </a:ln>
        </p:spPr>
        <p:txBody>
          <a:bodyPr/>
          <a:lstStyle/>
          <a:p>
            <a:endParaRPr lang="en-US"/>
          </a:p>
        </p:txBody>
      </p:sp>
      <p:sp>
        <p:nvSpPr>
          <p:cNvPr id="107" name="Number"/>
          <p:cNvSpPr txBox="1"/>
          <p:nvPr/>
        </p:nvSpPr>
        <p:spPr>
          <a:xfrm>
            <a:off x="6400800" y="2606040"/>
            <a:ext cx="2542397" cy="1161288"/>
          </a:xfrm>
          <a:prstGeom prst="rect">
            <a:avLst/>
          </a:prstGeom>
          <a:noFill/>
        </p:spPr>
        <p:txBody>
          <a:bodyPr wrap="square" lIns="0" tIns="0" rIns="0" bIns="0" anchor="ctr">
            <a:noAutofit/>
          </a:bodyPr>
          <a:lstStyle/>
          <a:p>
            <a:pPr algn="l">
              <a:lnSpc>
                <a:spcPct val="90000"/>
              </a:lnSpc>
              <a:spcAft>
                <a:spcPts val="300"/>
              </a:spcAft>
            </a:pPr>
            <a:r>
              <a:rPr lang="en-US" sz="5400" spc="-40" dirty="0">
                <a:solidFill>
                  <a:srgbClr val="F5F5F7"/>
                </a:solidFill>
                <a:latin typeface="Helvetica Neue Medium"/>
                <a:cs typeface="Helvetica Neue Medium"/>
              </a:rPr>
              <a:t>89</a:t>
            </a:r>
          </a:p>
        </p:txBody>
      </p:sp>
      <p:sp>
        <p:nvSpPr>
          <p:cNvPr id="108" name="Label"/>
          <p:cNvSpPr txBox="1"/>
          <p:nvPr/>
        </p:nvSpPr>
        <p:spPr>
          <a:xfrm>
            <a:off x="7315200" y="2606040"/>
            <a:ext cx="4590287" cy="1161288"/>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filter dropdowns, most in preset buckets</a:t>
            </a:r>
          </a:p>
        </p:txBody>
      </p:sp>
      <p:sp>
        <p:nvSpPr>
          <p:cNvPr id="3007" name="Tile"/>
          <p:cNvSpPr/>
          <p:nvPr/>
        </p:nvSpPr>
        <p:spPr>
          <a:xfrm>
            <a:off x="6126480" y="3945636"/>
            <a:ext cx="6053328" cy="1161288"/>
          </a:xfrm>
          <a:prstGeom prst="roundRect">
            <a:avLst>
              <a:gd name="adj" fmla="val 11023"/>
            </a:avLst>
          </a:prstGeom>
          <a:solidFill>
            <a:srgbClr val="F1F2F5"/>
          </a:solidFill>
          <a:ln>
            <a:noFill/>
          </a:ln>
        </p:spPr>
        <p:txBody>
          <a:bodyPr/>
          <a:lstStyle/>
          <a:p>
            <a:endParaRPr lang="en-US"/>
          </a:p>
        </p:txBody>
      </p:sp>
      <p:sp>
        <p:nvSpPr>
          <p:cNvPr id="109" name="Number"/>
          <p:cNvSpPr txBox="1"/>
          <p:nvPr/>
        </p:nvSpPr>
        <p:spPr>
          <a:xfrm>
            <a:off x="6400800" y="3945636"/>
            <a:ext cx="2542397" cy="1161288"/>
          </a:xfrm>
          <a:prstGeom prst="rect">
            <a:avLst/>
          </a:prstGeom>
          <a:noFill/>
        </p:spPr>
        <p:txBody>
          <a:bodyPr wrap="square" lIns="0" tIns="0" rIns="0" bIns="0" anchor="ctr">
            <a:noAutofit/>
          </a:bodyPr>
          <a:lstStyle/>
          <a:p>
            <a:pPr algn="l">
              <a:lnSpc>
                <a:spcPct val="90000"/>
              </a:lnSpc>
              <a:spcAft>
                <a:spcPts val="300"/>
              </a:spcAft>
            </a:pPr>
            <a:r>
              <a:rPr lang="en-US" sz="4400" spc="-40" dirty="0">
                <a:solidFill>
                  <a:srgbClr val="14161D"/>
                </a:solidFill>
                <a:latin typeface="Helvetica Neue Medium"/>
                <a:cs typeface="Helvetica Neue Medium"/>
              </a:rPr>
              <a:t>87 of 89</a:t>
            </a:r>
          </a:p>
        </p:txBody>
      </p:sp>
      <p:sp>
        <p:nvSpPr>
          <p:cNvPr id="110" name="Label"/>
          <p:cNvSpPr txBox="1"/>
          <p:nvPr/>
        </p:nvSpPr>
        <p:spPr>
          <a:xfrm>
            <a:off x="8534400" y="3945636"/>
            <a:ext cx="3371087" cy="1161288"/>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565C6B"/>
                </a:solidFill>
                <a:latin typeface="Helvetica Neue Light"/>
                <a:cs typeface="Helvetica Neue Light"/>
              </a:rPr>
              <a:t>filters need Elite for an exact value</a:t>
            </a:r>
          </a:p>
        </p:txBody>
      </p:sp>
      <p:sp>
        <p:nvSpPr>
          <p:cNvPr id="3008" name="Tile"/>
          <p:cNvSpPr/>
          <p:nvPr/>
        </p:nvSpPr>
        <p:spPr>
          <a:xfrm>
            <a:off x="6126480" y="5285232"/>
            <a:ext cx="6053328" cy="1161288"/>
          </a:xfrm>
          <a:prstGeom prst="roundRect">
            <a:avLst>
              <a:gd name="adj" fmla="val 11023"/>
            </a:avLst>
          </a:prstGeom>
          <a:solidFill>
            <a:srgbClr val="1B1D24"/>
          </a:solidFill>
          <a:ln>
            <a:noFill/>
          </a:ln>
        </p:spPr>
        <p:txBody>
          <a:bodyPr/>
          <a:lstStyle/>
          <a:p>
            <a:endParaRPr lang="en-US"/>
          </a:p>
        </p:txBody>
      </p:sp>
      <p:sp>
        <p:nvSpPr>
          <p:cNvPr id="111" name="Number"/>
          <p:cNvSpPr txBox="1"/>
          <p:nvPr/>
        </p:nvSpPr>
        <p:spPr>
          <a:xfrm>
            <a:off x="6400800" y="5285232"/>
            <a:ext cx="2542397" cy="1161288"/>
          </a:xfrm>
          <a:prstGeom prst="rect">
            <a:avLst/>
          </a:prstGeom>
          <a:noFill/>
        </p:spPr>
        <p:txBody>
          <a:bodyPr wrap="square" lIns="0" tIns="0" rIns="0" bIns="0" anchor="ctr">
            <a:noAutofit/>
          </a:bodyPr>
          <a:lstStyle/>
          <a:p>
            <a:pPr algn="l">
              <a:lnSpc>
                <a:spcPct val="90000"/>
              </a:lnSpc>
              <a:spcAft>
                <a:spcPts val="300"/>
              </a:spcAft>
            </a:pPr>
            <a:r>
              <a:rPr lang="en-US" sz="5400" spc="-40" dirty="0">
                <a:solidFill>
                  <a:srgbClr val="F5F5F7"/>
                </a:solidFill>
                <a:latin typeface="Helvetica Neue Medium"/>
                <a:cs typeface="Helvetica Neue Medium"/>
              </a:rPr>
              <a:t>0</a:t>
            </a:r>
          </a:p>
        </p:txBody>
      </p:sp>
      <p:sp>
        <p:nvSpPr>
          <p:cNvPr id="112" name="Label"/>
          <p:cNvSpPr txBox="1"/>
          <p:nvPr/>
        </p:nvSpPr>
        <p:spPr>
          <a:xfrm>
            <a:off x="6949440" y="5285232"/>
            <a:ext cx="4956047" cy="1161288"/>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AI features in the FinViz screener today</a:t>
            </a:r>
          </a:p>
        </p:txBody>
      </p:sp>
      <p:sp>
        <p:nvSpPr>
          <p:cNvPr id="3009" name="Tile"/>
          <p:cNvSpPr/>
          <p:nvPr/>
        </p:nvSpPr>
        <p:spPr>
          <a:xfrm>
            <a:off x="822960" y="6629400"/>
            <a:ext cx="11356848" cy="1600200"/>
          </a:xfrm>
          <a:prstGeom prst="roundRect">
            <a:avLst>
              <a:gd name="adj" fmla="val 8000"/>
            </a:avLst>
          </a:prstGeom>
          <a:solidFill>
            <a:srgbClr val="F1F2F5"/>
          </a:solidFill>
          <a:ln>
            <a:noFill/>
          </a:ln>
        </p:spPr>
        <p:txBody>
          <a:bodyPr/>
          <a:lstStyle/>
          <a:p>
            <a:endParaRPr lang="en-US"/>
          </a:p>
        </p:txBody>
      </p:sp>
      <p:sp>
        <p:nvSpPr>
          <p:cNvPr id="113" name="Band"/>
          <p:cNvSpPr txBox="1"/>
          <p:nvPr/>
        </p:nvSpPr>
        <p:spPr>
          <a:xfrm>
            <a:off x="1143000" y="6629400"/>
            <a:ext cx="10716768" cy="1600200"/>
          </a:xfrm>
          <a:prstGeom prst="rect">
            <a:avLst/>
          </a:prstGeom>
          <a:noFill/>
        </p:spPr>
        <p:txBody>
          <a:bodyPr wrap="square" lIns="0" tIns="0" rIns="0" bIns="0" anchor="ctr">
            <a:noAutofit/>
          </a:bodyPr>
          <a:lstStyle/>
          <a:p>
            <a:pPr algn="l">
              <a:lnSpc>
                <a:spcPct val="115000"/>
              </a:lnSpc>
              <a:spcAft>
                <a:spcPts val="300"/>
              </a:spcAft>
            </a:pPr>
            <a:r>
              <a:rPr lang="en-US" sz="2200" spc="0" dirty="0">
                <a:solidFill>
                  <a:srgbClr val="14161D"/>
                </a:solidFill>
                <a:latin typeface="Helvetica Neue Light"/>
                <a:cs typeface="Helvetica Neue Light"/>
              </a:rPr>
              <a:t>“Too many filters, and no filter literacy. And a chat box is not the answer.”</a:t>
            </a:r>
          </a:p>
        </p:txBody>
      </p:sp>
      <p:pic>
        <p:nvPicPr>
          <p:cNvPr id="114"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CONTEXT</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FinViz today: tour-led onboarding, AI only on the news</a:t>
            </a:r>
          </a:p>
        </p:txBody>
      </p:sp>
      <p:pic>
        <p:nvPicPr>
          <p:cNvPr id="103" name="FinViz home, top (Oct 4 2026)" descr="finviz-home-2026-10-04-2.png"/>
          <p:cNvPicPr>
            <a:picLocks noChangeAspect="1"/>
          </p:cNvPicPr>
          <p:nvPr/>
        </p:nvPicPr>
        <p:blipFill>
          <a:blip r:embed="rId3"/>
          <a:stretch>
            <a:fillRect/>
          </a:stretch>
        </p:blipFill>
        <p:spPr>
          <a:xfrm>
            <a:off x="822960" y="2011680"/>
            <a:ext cx="5720257" cy="3251965"/>
          </a:xfrm>
          <a:prstGeom prst="rect">
            <a:avLst/>
          </a:prstGeom>
          <a:ln w="9525">
            <a:solidFill>
              <a:srgbClr val="D3D6DC"/>
            </a:solidFill>
          </a:ln>
        </p:spPr>
      </p:pic>
      <p:pic>
        <p:nvPicPr>
          <p:cNvPr id="104" name="FinViz home, lower (Oct 4 2026)" descr="finviz-home-2026-10-04-1.png"/>
          <p:cNvPicPr>
            <a:picLocks noChangeAspect="1"/>
          </p:cNvPicPr>
          <p:nvPr/>
        </p:nvPicPr>
        <p:blipFill>
          <a:blip r:embed="rId4"/>
          <a:stretch>
            <a:fillRect/>
          </a:stretch>
        </p:blipFill>
        <p:spPr>
          <a:xfrm>
            <a:off x="822960" y="5435254"/>
            <a:ext cx="5720257" cy="2794345"/>
          </a:xfrm>
          <a:prstGeom prst="rect">
            <a:avLst/>
          </a:prstGeom>
          <a:ln w="9525">
            <a:solidFill>
              <a:srgbClr val="D3D6DC"/>
            </a:solidFill>
          </a:ln>
        </p:spPr>
      </p:pic>
      <p:sp>
        <p:nvSpPr>
          <p:cNvPr id="105" name="Marker"/>
          <p:cNvSpPr txBox="1"/>
          <p:nvPr/>
        </p:nvSpPr>
        <p:spPr>
          <a:xfrm>
            <a:off x="1166173" y="2466954"/>
            <a:ext cx="457200" cy="457200"/>
          </a:xfrm>
          <a:prstGeom prst="rect">
            <a:avLst/>
          </a:prstGeom>
          <a:noFill/>
        </p:spPr>
        <p:txBody>
          <a:bodyPr wrap="square" lIns="0" tIns="0" rIns="0" bIns="0" anchor="t">
            <a:noAutofit/>
          </a:bodyPr>
          <a:lstStyle/>
          <a:p>
            <a:pPr algn="l">
              <a:lnSpc>
                <a:spcPct val="115000"/>
              </a:lnSpc>
              <a:spcAft>
                <a:spcPts val="300"/>
              </a:spcAft>
            </a:pPr>
            <a:r>
              <a:rPr lang="en-US" sz="2000" spc="0" dirty="0">
                <a:solidFill>
                  <a:srgbClr val="B5531F"/>
                </a:solidFill>
                <a:latin typeface="Helvetica Neue Medium"/>
                <a:cs typeface="Helvetica Neue Medium"/>
              </a:rPr>
              <a:t>2</a:t>
            </a:r>
          </a:p>
        </p:txBody>
      </p:sp>
      <p:sp>
        <p:nvSpPr>
          <p:cNvPr id="106" name="Marker"/>
          <p:cNvSpPr txBox="1"/>
          <p:nvPr/>
        </p:nvSpPr>
        <p:spPr>
          <a:xfrm>
            <a:off x="2195820" y="4027898"/>
            <a:ext cx="457200" cy="457200"/>
          </a:xfrm>
          <a:prstGeom prst="rect">
            <a:avLst/>
          </a:prstGeom>
          <a:noFill/>
        </p:spPr>
        <p:txBody>
          <a:bodyPr wrap="square" lIns="0" tIns="0" rIns="0" bIns="0" anchor="t">
            <a:noAutofit/>
          </a:bodyPr>
          <a:lstStyle/>
          <a:p>
            <a:pPr algn="l">
              <a:lnSpc>
                <a:spcPct val="115000"/>
              </a:lnSpc>
              <a:spcAft>
                <a:spcPts val="300"/>
              </a:spcAft>
            </a:pPr>
            <a:r>
              <a:rPr lang="en-US" sz="2000" spc="0" dirty="0">
                <a:solidFill>
                  <a:srgbClr val="B5531F"/>
                </a:solidFill>
                <a:latin typeface="Helvetica Neue Medium"/>
                <a:cs typeface="Helvetica Neue Medium"/>
              </a:rPr>
              <a:t>3</a:t>
            </a:r>
          </a:p>
        </p:txBody>
      </p:sp>
      <p:sp>
        <p:nvSpPr>
          <p:cNvPr id="107" name="Marker"/>
          <p:cNvSpPr txBox="1"/>
          <p:nvPr/>
        </p:nvSpPr>
        <p:spPr>
          <a:xfrm>
            <a:off x="3111062" y="7782503"/>
            <a:ext cx="457200" cy="457200"/>
          </a:xfrm>
          <a:prstGeom prst="rect">
            <a:avLst/>
          </a:prstGeom>
          <a:noFill/>
        </p:spPr>
        <p:txBody>
          <a:bodyPr wrap="square" lIns="0" tIns="0" rIns="0" bIns="0" anchor="t">
            <a:noAutofit/>
          </a:bodyPr>
          <a:lstStyle/>
          <a:p>
            <a:pPr algn="l">
              <a:lnSpc>
                <a:spcPct val="115000"/>
              </a:lnSpc>
              <a:spcAft>
                <a:spcPts val="300"/>
              </a:spcAft>
            </a:pPr>
            <a:r>
              <a:rPr lang="en-US" sz="2000" spc="0" dirty="0">
                <a:solidFill>
                  <a:srgbClr val="B5531F"/>
                </a:solidFill>
                <a:latin typeface="Helvetica Neue Medium"/>
                <a:cs typeface="Helvetica Neue Medium"/>
              </a:rPr>
              <a:t>1</a:t>
            </a:r>
          </a:p>
        </p:txBody>
      </p:sp>
      <p:sp>
        <p:nvSpPr>
          <p:cNvPr id="108" name="No"/>
          <p:cNvSpPr txBox="1"/>
          <p:nvPr/>
        </p:nvSpPr>
        <p:spPr>
          <a:xfrm>
            <a:off x="7863840" y="2103120"/>
            <a:ext cx="457200" cy="457200"/>
          </a:xfrm>
          <a:prstGeom prst="rect">
            <a:avLst/>
          </a:prstGeom>
          <a:noFill/>
        </p:spPr>
        <p:txBody>
          <a:bodyPr wrap="square" lIns="0" tIns="0" rIns="0" bIns="0" anchor="t">
            <a:noAutofit/>
          </a:bodyPr>
          <a:lstStyle/>
          <a:p>
            <a:pPr algn="l">
              <a:lnSpc>
                <a:spcPct val="105000"/>
              </a:lnSpc>
              <a:spcAft>
                <a:spcPts val="300"/>
              </a:spcAft>
            </a:pPr>
            <a:r>
              <a:rPr lang="en-US" sz="2400" spc="0" dirty="0">
                <a:solidFill>
                  <a:srgbClr val="B5531F"/>
                </a:solidFill>
                <a:latin typeface="Helvetica Neue Medium"/>
                <a:cs typeface="Helvetica Neue Medium"/>
              </a:rPr>
              <a:t>1</a:t>
            </a:r>
          </a:p>
        </p:txBody>
      </p:sp>
      <p:sp>
        <p:nvSpPr>
          <p:cNvPr id="109" name="The guided-tour prompt"/>
          <p:cNvSpPr txBox="1"/>
          <p:nvPr/>
        </p:nvSpPr>
        <p:spPr>
          <a:xfrm>
            <a:off x="8412480" y="2148839"/>
            <a:ext cx="3769360" cy="1828800"/>
          </a:xfrm>
          <a:prstGeom prst="rect">
            <a:avLst/>
          </a:prstGeom>
          <a:noFill/>
        </p:spPr>
        <p:txBody>
          <a:bodyPr wrap="square" lIns="0" tIns="0" rIns="0" bIns="0" anchor="t">
            <a:noAutofit/>
          </a:bodyPr>
          <a:lstStyle/>
          <a:p>
            <a:pPr algn="l">
              <a:lnSpc>
                <a:spcPct val="105000"/>
              </a:lnSpc>
              <a:spcAft>
                <a:spcPts val="250"/>
              </a:spcAft>
            </a:pPr>
            <a:r>
              <a:rPr lang="en-US" sz="1700" spc="0" dirty="0">
                <a:solidFill>
                  <a:srgbClr val="14161D"/>
                </a:solidFill>
                <a:latin typeface="Helvetica Neue Medium"/>
                <a:cs typeface="Helvetica Neue Medium"/>
              </a:rPr>
              <a:t>The guided-tour prompt</a:t>
            </a:r>
          </a:p>
          <a:p>
            <a:pPr algn="l">
              <a:lnSpc>
                <a:spcPct val="125000"/>
              </a:lnSpc>
              <a:spcAft>
                <a:spcPts val="250"/>
              </a:spcAft>
            </a:pPr>
            <a:r>
              <a:rPr lang="en-US" sz="1550" spc="0" dirty="0">
                <a:solidFill>
                  <a:srgbClr val="565C6B"/>
                </a:solidFill>
                <a:latin typeface="Helvetica Neue Light"/>
                <a:cs typeface="Helvetica Neue Light"/>
              </a:rPr>
              <a:t>“First Time Here? Watch the Guided Tour”: FinViz’s answer to first use is still a tour, now promoted on the home page.</a:t>
            </a:r>
          </a:p>
        </p:txBody>
      </p:sp>
      <p:sp>
        <p:nvSpPr>
          <p:cNvPr id="110" name="No"/>
          <p:cNvSpPr txBox="1"/>
          <p:nvPr/>
        </p:nvSpPr>
        <p:spPr>
          <a:xfrm>
            <a:off x="7863840" y="4069079"/>
            <a:ext cx="457200" cy="457200"/>
          </a:xfrm>
          <a:prstGeom prst="rect">
            <a:avLst/>
          </a:prstGeom>
          <a:noFill/>
        </p:spPr>
        <p:txBody>
          <a:bodyPr wrap="square" lIns="0" tIns="0" rIns="0" bIns="0" anchor="t">
            <a:noAutofit/>
          </a:bodyPr>
          <a:lstStyle/>
          <a:p>
            <a:pPr algn="l">
              <a:lnSpc>
                <a:spcPct val="105000"/>
              </a:lnSpc>
              <a:spcAft>
                <a:spcPts val="300"/>
              </a:spcAft>
            </a:pPr>
            <a:r>
              <a:rPr lang="en-US" sz="2400" spc="0" dirty="0">
                <a:solidFill>
                  <a:srgbClr val="B5531F"/>
                </a:solidFill>
                <a:latin typeface="Helvetica Neue Medium"/>
                <a:cs typeface="Helvetica Neue Medium"/>
              </a:rPr>
              <a:t>2</a:t>
            </a:r>
          </a:p>
        </p:txBody>
      </p:sp>
      <p:sp>
        <p:nvSpPr>
          <p:cNvPr id="111" name="“Weekend Brief”"/>
          <p:cNvSpPr txBox="1"/>
          <p:nvPr/>
        </p:nvSpPr>
        <p:spPr>
          <a:xfrm>
            <a:off x="8412480" y="4114799"/>
            <a:ext cx="3769360" cy="1828800"/>
          </a:xfrm>
          <a:prstGeom prst="rect">
            <a:avLst/>
          </a:prstGeom>
          <a:noFill/>
        </p:spPr>
        <p:txBody>
          <a:bodyPr wrap="square" lIns="0" tIns="0" rIns="0" bIns="0" anchor="t">
            <a:noAutofit/>
          </a:bodyPr>
          <a:lstStyle/>
          <a:p>
            <a:pPr algn="l">
              <a:lnSpc>
                <a:spcPct val="105000"/>
              </a:lnSpc>
              <a:spcAft>
                <a:spcPts val="250"/>
              </a:spcAft>
            </a:pPr>
            <a:r>
              <a:rPr lang="en-US" sz="1700" spc="0" dirty="0">
                <a:solidFill>
                  <a:srgbClr val="14161D"/>
                </a:solidFill>
                <a:latin typeface="Helvetica Neue Medium"/>
                <a:cs typeface="Helvetica Neue Medium"/>
              </a:rPr>
              <a:t>“Weekend Brief”</a:t>
            </a:r>
          </a:p>
          <a:p>
            <a:pPr algn="l">
              <a:lnSpc>
                <a:spcPct val="125000"/>
              </a:lnSpc>
              <a:spcAft>
                <a:spcPts val="250"/>
              </a:spcAft>
            </a:pPr>
            <a:r>
              <a:rPr lang="en-US" sz="1550" spc="0" dirty="0">
                <a:solidFill>
                  <a:srgbClr val="565C6B"/>
                </a:solidFill>
                <a:latin typeface="Helvetica Neue Light"/>
                <a:cs typeface="Helvetica Neue Light"/>
              </a:rPr>
              <a:t>A news summary that appears AI-generated, with 👍/👎, but isn’t labelled as AI. Nothing like it in the screener.</a:t>
            </a:r>
          </a:p>
        </p:txBody>
      </p:sp>
      <p:sp>
        <p:nvSpPr>
          <p:cNvPr id="112" name="No"/>
          <p:cNvSpPr txBox="1"/>
          <p:nvPr/>
        </p:nvSpPr>
        <p:spPr>
          <a:xfrm>
            <a:off x="7863840" y="6035040"/>
            <a:ext cx="457200" cy="457200"/>
          </a:xfrm>
          <a:prstGeom prst="rect">
            <a:avLst/>
          </a:prstGeom>
          <a:noFill/>
        </p:spPr>
        <p:txBody>
          <a:bodyPr wrap="square" lIns="0" tIns="0" rIns="0" bIns="0" anchor="t">
            <a:noAutofit/>
          </a:bodyPr>
          <a:lstStyle/>
          <a:p>
            <a:pPr algn="l">
              <a:lnSpc>
                <a:spcPct val="105000"/>
              </a:lnSpc>
              <a:spcAft>
                <a:spcPts val="300"/>
              </a:spcAft>
            </a:pPr>
            <a:r>
              <a:rPr lang="en-US" sz="2400" spc="0" dirty="0">
                <a:solidFill>
                  <a:srgbClr val="B5531F"/>
                </a:solidFill>
                <a:latin typeface="Helvetica Neue Medium"/>
                <a:cs typeface="Helvetica Neue Medium"/>
              </a:rPr>
              <a:t>3</a:t>
            </a:r>
          </a:p>
        </p:txBody>
      </p:sp>
      <p:sp>
        <p:nvSpPr>
          <p:cNvPr id="113" name="A dense dashboard"/>
          <p:cNvSpPr txBox="1"/>
          <p:nvPr/>
        </p:nvSpPr>
        <p:spPr>
          <a:xfrm>
            <a:off x="8412480" y="6080759"/>
            <a:ext cx="3769360" cy="1828800"/>
          </a:xfrm>
          <a:prstGeom prst="rect">
            <a:avLst/>
          </a:prstGeom>
          <a:noFill/>
        </p:spPr>
        <p:txBody>
          <a:bodyPr wrap="square" lIns="0" tIns="0" rIns="0" bIns="0" anchor="t">
            <a:noAutofit/>
          </a:bodyPr>
          <a:lstStyle/>
          <a:p>
            <a:pPr algn="l">
              <a:lnSpc>
                <a:spcPct val="105000"/>
              </a:lnSpc>
              <a:spcAft>
                <a:spcPts val="250"/>
              </a:spcAft>
            </a:pPr>
            <a:r>
              <a:rPr lang="en-US" sz="1700" spc="0" dirty="0">
                <a:solidFill>
                  <a:srgbClr val="14161D"/>
                </a:solidFill>
                <a:latin typeface="Helvetica Neue Medium"/>
                <a:cs typeface="Helvetica Neue Medium"/>
              </a:rPr>
              <a:t>A dense dashboard</a:t>
            </a:r>
          </a:p>
          <a:p>
            <a:pPr algn="l">
              <a:lnSpc>
                <a:spcPct val="125000"/>
              </a:lnSpc>
              <a:spcAft>
                <a:spcPts val="250"/>
              </a:spcAft>
            </a:pPr>
            <a:r>
              <a:rPr lang="en-US" sz="1550" spc="0" dirty="0">
                <a:solidFill>
                  <a:srgbClr val="565C6B"/>
                </a:solidFill>
                <a:latin typeface="Helvetica Neue Light"/>
                <a:cs typeface="Helvetica Neue Light"/>
              </a:rPr>
              <a:t>Rule-based signals, insider tables, futures, a heat map and heavy ads: what a newcomer meets first.</a:t>
            </a:r>
          </a:p>
        </p:txBody>
      </p:sp>
      <p:sp>
        <p:nvSpPr>
          <p:cNvPr id="114" name="Source"/>
          <p:cNvSpPr txBox="1"/>
          <p:nvPr/>
        </p:nvSpPr>
        <p:spPr>
          <a:xfrm>
            <a:off x="822960" y="8503920"/>
            <a:ext cx="11358880" cy="274320"/>
          </a:xfrm>
          <a:prstGeom prst="rect">
            <a:avLst/>
          </a:prstGeom>
          <a:noFill/>
        </p:spPr>
        <p:txBody>
          <a:bodyPr wrap="square" lIns="0" tIns="0" rIns="0" bIns="0" anchor="t">
            <a:noAutofit/>
          </a:bodyPr>
          <a:lstStyle/>
          <a:p>
            <a:pPr algn="l">
              <a:lnSpc>
                <a:spcPct val="105000"/>
              </a:lnSpc>
              <a:spcAft>
                <a:spcPts val="300"/>
              </a:spcAft>
            </a:pPr>
            <a:r>
              <a:rPr lang="en-US" sz="1200" spc="0" dirty="0">
                <a:solidFill>
                  <a:srgbClr val="858A97"/>
                </a:solidFill>
                <a:latin typeface="Helvetica Neue Light"/>
                <a:cs typeface="Helvetica Neue Light"/>
              </a:rPr>
              <a:t>finviz.com home page, Oct 4 2026</a:t>
            </a:r>
          </a:p>
        </p:txBody>
      </p:sp>
      <p:pic>
        <p:nvPicPr>
          <p:cNvPr id="115" name="gradient strip" descr="gradient strip"/>
          <p:cNvPicPr>
            <a:picLocks noChangeAspect="1"/>
          </p:cNvPicPr>
          <p:nvPr/>
        </p:nvPicPr>
        <p:blipFill>
          <a:blip r:embed="rId5"/>
          <a:stretch>
            <a:fillRect/>
          </a:stretch>
        </p:blipFill>
        <p:spPr>
          <a:xfrm>
            <a:off x="0" y="9285427"/>
            <a:ext cx="13004800" cy="46817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CONTEXT AND CONSTRAINTS</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The environment the AI had to fit</a:t>
            </a:r>
          </a:p>
        </p:txBody>
      </p:sp>
      <p:sp>
        <p:nvSpPr>
          <p:cNvPr id="103" name="BUSINESS CHALLENGE"/>
          <p:cNvSpPr txBox="1"/>
          <p:nvPr/>
        </p:nvSpPr>
        <p:spPr>
          <a:xfrm>
            <a:off x="822960" y="2103120"/>
            <a:ext cx="5427980" cy="182880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BUSINESS CHALLENGE</a:t>
            </a:r>
          </a:p>
          <a:p>
            <a:pPr algn="l">
              <a:lnSpc>
                <a:spcPct val="125000"/>
              </a:lnSpc>
              <a:spcAft>
                <a:spcPts val="500"/>
              </a:spcAft>
            </a:pPr>
            <a:r>
              <a:rPr lang="en-US" sz="1550" spc="0" dirty="0">
                <a:solidFill>
                  <a:srgbClr val="565C6B"/>
                </a:solidFill>
                <a:latin typeface="Helvetica Neue Light"/>
                <a:cs typeface="Helvetica Neue Light"/>
              </a:rPr>
              <a:t>Halve the time from free to Elite, 42 → 21 days, without annoying users (course brief, OKR 1). Elite sells persistence: alerts, real-time data, backtests. A user without a working screen has no reason to pay.</a:t>
            </a:r>
          </a:p>
        </p:txBody>
      </p:sp>
      <p:sp>
        <p:nvSpPr>
          <p:cNvPr id="104" name="STAKEHOLDERS"/>
          <p:cNvSpPr txBox="1"/>
          <p:nvPr/>
        </p:nvSpPr>
        <p:spPr>
          <a:xfrm>
            <a:off x="6753860" y="2103120"/>
            <a:ext cx="5427980" cy="182880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STAKEHOLDERS</a:t>
            </a:r>
          </a:p>
          <a:p>
            <a:pPr algn="l">
              <a:lnSpc>
                <a:spcPct val="125000"/>
              </a:lnSpc>
              <a:spcAft>
                <a:spcPts val="500"/>
              </a:spcAft>
            </a:pPr>
            <a:r>
              <a:rPr lang="en-US" sz="1550" spc="0" dirty="0">
                <a:solidFill>
                  <a:srgbClr val="565C6B"/>
                </a:solidFill>
                <a:latin typeface="Helvetica Neue Light"/>
                <a:cs typeface="Helvetica Neue Light"/>
              </a:rPr>
              <a:t>Traders: Growth Gary (primary), Fast Frank, Value Vivian, Multi Mike. FinViz growth (Elite conversion), compliance (the advice line), engineering (screener, alerts, data feeds).</a:t>
            </a:r>
          </a:p>
        </p:txBody>
      </p:sp>
      <p:sp>
        <p:nvSpPr>
          <p:cNvPr id="105" name="SUCCESS CRITERIA"/>
          <p:cNvSpPr txBox="1"/>
          <p:nvPr/>
        </p:nvSpPr>
        <p:spPr>
          <a:xfrm>
            <a:off x="822960" y="4069079"/>
            <a:ext cx="5427980" cy="182880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SUCCESS CRITERIA</a:t>
            </a:r>
          </a:p>
          <a:p>
            <a:pPr algn="l">
              <a:lnSpc>
                <a:spcPct val="125000"/>
              </a:lnSpc>
              <a:spcAft>
                <a:spcPts val="500"/>
              </a:spcAft>
            </a:pPr>
            <a:r>
              <a:rPr lang="en-US" sz="1550" spc="0" dirty="0">
                <a:solidFill>
                  <a:srgbClr val="565C6B"/>
                </a:solidFill>
                <a:latin typeface="Helvetica Neue Light"/>
                <a:cs typeface="Helvetica Neue Light"/>
              </a:rPr>
              <a:t>Time to first success: an insight that is actionable, timely and relevant to his own holdings, in the first session. Then a habit: a saved screen re-run 3+ days a week (North Star).</a:t>
            </a:r>
          </a:p>
        </p:txBody>
      </p:sp>
      <p:sp>
        <p:nvSpPr>
          <p:cNvPr id="106" name="TECHNICAL CONSTRAINTS"/>
          <p:cNvSpPr txBox="1"/>
          <p:nvPr/>
        </p:nvSpPr>
        <p:spPr>
          <a:xfrm>
            <a:off x="6753860" y="4069079"/>
            <a:ext cx="5427980" cy="182880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TECHNICAL CONSTRAINTS</a:t>
            </a:r>
          </a:p>
          <a:p>
            <a:pPr algn="l">
              <a:lnSpc>
                <a:spcPct val="125000"/>
              </a:lnSpc>
              <a:spcAft>
                <a:spcPts val="500"/>
              </a:spcAft>
            </a:pPr>
            <a:r>
              <a:rPr lang="en-US" sz="1550" spc="0" dirty="0">
                <a:solidFill>
                  <a:srgbClr val="565C6B"/>
                </a:solidFill>
                <a:latin typeface="Helvetica Neue Light"/>
                <a:cs typeface="Helvetica Neue Light"/>
              </a:rPr>
              <a:t>No AI in FinViz’s screener today. 89 filters; Free uses preset buckets. Free quotes 1-min delayed; pre-market is Elite. LLMs can invent: output must map to real filters. No AI-originated advice, predictions or confidence %. Desktop only.</a:t>
            </a:r>
          </a:p>
        </p:txBody>
      </p:sp>
      <p:cxnSp>
        <p:nvCxnSpPr>
          <p:cNvPr id="107" name="Divider"/>
          <p:cNvCxnSpPr/>
          <p:nvPr/>
        </p:nvCxnSpPr>
        <p:spPr>
          <a:xfrm>
            <a:off x="822960" y="5989320"/>
            <a:ext cx="11358880" cy="0"/>
          </a:xfrm>
          <a:prstGeom prst="line">
            <a:avLst/>
          </a:prstGeom>
          <a:ln w="9525">
            <a:solidFill>
              <a:srgbClr val="858A97"/>
            </a:solidFill>
          </a:ln>
        </p:spPr>
      </p:cxnSp>
      <p:sp>
        <p:nvSpPr>
          <p:cNvPr id="108" name="Meant"/>
          <p:cNvSpPr txBox="1"/>
          <p:nvPr/>
        </p:nvSpPr>
        <p:spPr>
          <a:xfrm>
            <a:off x="822960" y="617220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WHAT THIS MEANT FOR THE DESIGN</a:t>
            </a:r>
          </a:p>
        </p:txBody>
      </p:sp>
      <p:cxnSp>
        <p:nvCxnSpPr>
          <p:cNvPr id="109" name="Divider"/>
          <p:cNvCxnSpPr/>
          <p:nvPr/>
        </p:nvCxnSpPr>
        <p:spPr>
          <a:xfrm>
            <a:off x="822960" y="6583680"/>
            <a:ext cx="3542453" cy="0"/>
          </a:xfrm>
          <a:prstGeom prst="line">
            <a:avLst/>
          </a:prstGeom>
          <a:ln w="9525">
            <a:solidFill>
              <a:srgbClr val="E1E3E8"/>
            </a:solidFill>
          </a:ln>
        </p:spPr>
      </p:cxnSp>
      <p:sp>
        <p:nvSpPr>
          <p:cNvPr id="110" name="Free builds and previews; Elite watches title"/>
          <p:cNvSpPr txBox="1"/>
          <p:nvPr/>
        </p:nvSpPr>
        <p:spPr>
          <a:xfrm>
            <a:off x="822960" y="6784848"/>
            <a:ext cx="3542453" cy="548640"/>
          </a:xfrm>
          <a:prstGeom prst="rect">
            <a:avLst/>
          </a:prstGeom>
          <a:noFill/>
        </p:spPr>
        <p:txBody>
          <a:bodyPr wrap="square" lIns="0" tIns="0" rIns="0" bIns="0" anchor="t">
            <a:noAutofit/>
          </a:bodyPr>
          <a:lstStyle/>
          <a:p>
            <a:pPr algn="l">
              <a:lnSpc>
                <a:spcPct val="115000"/>
              </a:lnSpc>
              <a:spcAft>
                <a:spcPts val="300"/>
              </a:spcAft>
            </a:pPr>
            <a:r>
              <a:rPr lang="en-US" sz="1650" spc="0" dirty="0">
                <a:solidFill>
                  <a:srgbClr val="14161D"/>
                </a:solidFill>
                <a:latin typeface="Helvetica Neue Medium"/>
                <a:cs typeface="Helvetica Neue Medium"/>
              </a:rPr>
              <a:t>Free builds and previews; Elite watches</a:t>
            </a:r>
          </a:p>
        </p:txBody>
      </p:sp>
      <p:sp>
        <p:nvSpPr>
          <p:cNvPr id="111" name="Free builds and previews; Elite watches body"/>
          <p:cNvSpPr txBox="1"/>
          <p:nvPr/>
        </p:nvSpPr>
        <p:spPr>
          <a:xfrm>
            <a:off x="822960" y="7360920"/>
            <a:ext cx="3542453" cy="868680"/>
          </a:xfrm>
          <a:prstGeom prst="rect">
            <a:avLst/>
          </a:prstGeom>
          <a:noFill/>
        </p:spPr>
        <p:txBody>
          <a:bodyPr wrap="square" lIns="0" tIns="0" rIns="0" bIns="0" anchor="t">
            <a:noAutofit/>
          </a:bodyPr>
          <a:lstStyle/>
          <a:p>
            <a:pPr algn="l">
              <a:lnSpc>
                <a:spcPct val="125000"/>
              </a:lnSpc>
              <a:spcAft>
                <a:spcPts val="300"/>
              </a:spcAft>
            </a:pPr>
            <a:r>
              <a:rPr lang="en-US" sz="1400" spc="0" dirty="0">
                <a:solidFill>
                  <a:srgbClr val="565C6B"/>
                </a:solidFill>
                <a:latin typeface="Helvetica Neue Light"/>
                <a:cs typeface="Helvetica Neue Light"/>
              </a:rPr>
              <a:t>The paywall sits where the value is felt: live alerts on his own names.</a:t>
            </a:r>
          </a:p>
        </p:txBody>
      </p:sp>
      <p:cxnSp>
        <p:nvCxnSpPr>
          <p:cNvPr id="112" name="Divider"/>
          <p:cNvCxnSpPr/>
          <p:nvPr/>
        </p:nvCxnSpPr>
        <p:spPr>
          <a:xfrm>
            <a:off x="4731173" y="6583680"/>
            <a:ext cx="3542453" cy="0"/>
          </a:xfrm>
          <a:prstGeom prst="line">
            <a:avLst/>
          </a:prstGeom>
          <a:ln w="9525">
            <a:solidFill>
              <a:srgbClr val="E1E3E8"/>
            </a:solidFill>
          </a:ln>
        </p:spPr>
      </p:cxnSp>
      <p:sp>
        <p:nvSpPr>
          <p:cNvPr id="113" name="Every AI output maps to something real title"/>
          <p:cNvSpPr txBox="1"/>
          <p:nvPr/>
        </p:nvSpPr>
        <p:spPr>
          <a:xfrm>
            <a:off x="4731173" y="6784848"/>
            <a:ext cx="3542453" cy="548640"/>
          </a:xfrm>
          <a:prstGeom prst="rect">
            <a:avLst/>
          </a:prstGeom>
          <a:noFill/>
        </p:spPr>
        <p:txBody>
          <a:bodyPr wrap="square" lIns="0" tIns="0" rIns="0" bIns="0" anchor="t">
            <a:noAutofit/>
          </a:bodyPr>
          <a:lstStyle/>
          <a:p>
            <a:pPr algn="l">
              <a:lnSpc>
                <a:spcPct val="115000"/>
              </a:lnSpc>
              <a:spcAft>
                <a:spcPts val="300"/>
              </a:spcAft>
            </a:pPr>
            <a:r>
              <a:rPr lang="en-US" sz="1650" spc="0" dirty="0">
                <a:solidFill>
                  <a:srgbClr val="14161D"/>
                </a:solidFill>
                <a:latin typeface="Helvetica Neue Medium"/>
                <a:cs typeface="Helvetica Neue Medium"/>
              </a:rPr>
              <a:t>Every AI output maps to something real</a:t>
            </a:r>
          </a:p>
        </p:txBody>
      </p:sp>
      <p:sp>
        <p:nvSpPr>
          <p:cNvPr id="114" name="Every AI output maps to something real body"/>
          <p:cNvSpPr txBox="1"/>
          <p:nvPr/>
        </p:nvSpPr>
        <p:spPr>
          <a:xfrm>
            <a:off x="4731173" y="7360920"/>
            <a:ext cx="3542453" cy="868680"/>
          </a:xfrm>
          <a:prstGeom prst="rect">
            <a:avLst/>
          </a:prstGeom>
          <a:noFill/>
        </p:spPr>
        <p:txBody>
          <a:bodyPr wrap="square" lIns="0" tIns="0" rIns="0" bIns="0" anchor="t">
            <a:noAutofit/>
          </a:bodyPr>
          <a:lstStyle/>
          <a:p>
            <a:pPr algn="l">
              <a:lnSpc>
                <a:spcPct val="125000"/>
              </a:lnSpc>
              <a:spcAft>
                <a:spcPts val="300"/>
              </a:spcAft>
            </a:pPr>
            <a:r>
              <a:rPr lang="en-US" sz="1400" spc="0" dirty="0">
                <a:solidFill>
                  <a:srgbClr val="565C6B"/>
                </a:solidFill>
                <a:latin typeface="Helvetica Neue Light"/>
                <a:cs typeface="Helvetica Neue Light"/>
              </a:rPr>
              <a:t>A FinViz filter, a measured value or a cited source, or it says it can’t tell.</a:t>
            </a:r>
          </a:p>
        </p:txBody>
      </p:sp>
      <p:cxnSp>
        <p:nvCxnSpPr>
          <p:cNvPr id="115" name="Divider"/>
          <p:cNvCxnSpPr/>
          <p:nvPr/>
        </p:nvCxnSpPr>
        <p:spPr>
          <a:xfrm>
            <a:off x="8639386" y="6583680"/>
            <a:ext cx="3542453" cy="0"/>
          </a:xfrm>
          <a:prstGeom prst="line">
            <a:avLst/>
          </a:prstGeom>
          <a:ln w="9525">
            <a:solidFill>
              <a:srgbClr val="E1E3E8"/>
            </a:solidFill>
          </a:ln>
        </p:spPr>
      </p:cxnSp>
      <p:sp>
        <p:nvSpPr>
          <p:cNvPr id="116" name="Verification, not advice title"/>
          <p:cNvSpPr txBox="1"/>
          <p:nvPr/>
        </p:nvSpPr>
        <p:spPr>
          <a:xfrm>
            <a:off x="8639386" y="6784848"/>
            <a:ext cx="3542453" cy="548640"/>
          </a:xfrm>
          <a:prstGeom prst="rect">
            <a:avLst/>
          </a:prstGeom>
          <a:noFill/>
        </p:spPr>
        <p:txBody>
          <a:bodyPr wrap="square" lIns="0" tIns="0" rIns="0" bIns="0" anchor="t">
            <a:noAutofit/>
          </a:bodyPr>
          <a:lstStyle/>
          <a:p>
            <a:pPr algn="l">
              <a:lnSpc>
                <a:spcPct val="115000"/>
              </a:lnSpc>
              <a:spcAft>
                <a:spcPts val="300"/>
              </a:spcAft>
            </a:pPr>
            <a:r>
              <a:rPr lang="en-US" sz="1650" spc="0" dirty="0">
                <a:solidFill>
                  <a:srgbClr val="14161D"/>
                </a:solidFill>
                <a:latin typeface="Helvetica Neue Medium"/>
                <a:cs typeface="Helvetica Neue Medium"/>
              </a:rPr>
              <a:t>Verification, not advice</a:t>
            </a:r>
          </a:p>
        </p:txBody>
      </p:sp>
      <p:sp>
        <p:nvSpPr>
          <p:cNvPr id="117" name="Verification, not advice body"/>
          <p:cNvSpPr txBox="1"/>
          <p:nvPr/>
        </p:nvSpPr>
        <p:spPr>
          <a:xfrm>
            <a:off x="8639386" y="7360920"/>
            <a:ext cx="3542453" cy="868680"/>
          </a:xfrm>
          <a:prstGeom prst="rect">
            <a:avLst/>
          </a:prstGeom>
          <a:noFill/>
        </p:spPr>
        <p:txBody>
          <a:bodyPr wrap="square" lIns="0" tIns="0" rIns="0" bIns="0" anchor="t">
            <a:noAutofit/>
          </a:bodyPr>
          <a:lstStyle/>
          <a:p>
            <a:pPr algn="l">
              <a:lnSpc>
                <a:spcPct val="125000"/>
              </a:lnSpc>
              <a:spcAft>
                <a:spcPts val="300"/>
              </a:spcAft>
            </a:pPr>
            <a:r>
              <a:rPr lang="en-US" sz="1400" spc="0" dirty="0">
                <a:solidFill>
                  <a:srgbClr val="565C6B"/>
                </a:solidFill>
                <a:latin typeface="Helvetica Neue Light"/>
                <a:cs typeface="Helvetica Neue Light"/>
              </a:rPr>
              <a:t>The AI checks his own criteria; decisions end in his broker.</a:t>
            </a:r>
          </a:p>
        </p:txBody>
      </p:sp>
      <p:pic>
        <p:nvPicPr>
          <p:cNvPr id="118"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320040"/>
          </a:xfrm>
          <a:prstGeom prst="rect">
            <a:avLst/>
          </a:prstGeom>
          <a:noFill/>
        </p:spPr>
        <p:txBody>
          <a:bodyPr wrap="square" lIns="0" tIns="0" rIns="0" bIns="0">
            <a:noAutofit/>
          </a:bodyPr>
          <a:lstStyle/>
          <a:p>
            <a:pPr algn="l">
              <a:lnSpc>
                <a:spcPct val="100000"/>
              </a:lnSpc>
            </a:pPr>
            <a:r>
              <a:rPr lang="en-US" sz="1200" spc="300" dirty="0">
                <a:solidFill>
                  <a:srgbClr val="B5531F"/>
                </a:solidFill>
                <a:latin typeface="Helvetica Neue Medium"/>
                <a:cs typeface="Helvetica Neue Medium"/>
              </a:rPr>
              <a:t>FINVIZ AI SCREENER · COMPETITIVE LANDSCAPE</a:t>
            </a:r>
          </a:p>
        </p:txBody>
      </p:sp>
      <p:sp>
        <p:nvSpPr>
          <p:cNvPr id="102" name="Headline"/>
          <p:cNvSpPr txBox="1"/>
          <p:nvPr/>
        </p:nvSpPr>
        <p:spPr>
          <a:xfrm>
            <a:off x="822960" y="1371600"/>
            <a:ext cx="11358880" cy="1737360"/>
          </a:xfrm>
          <a:prstGeom prst="rect">
            <a:avLst/>
          </a:prstGeom>
          <a:noFill/>
        </p:spPr>
        <p:txBody>
          <a:bodyPr wrap="square" lIns="0" tIns="0" rIns="0" bIns="0">
            <a:noAutofit/>
          </a:bodyPr>
          <a:lstStyle/>
          <a:p>
            <a:pPr algn="l">
              <a:lnSpc>
                <a:spcPct val="95000"/>
              </a:lnSpc>
            </a:pPr>
            <a:r>
              <a:rPr lang="en-US" sz="4400" spc="-40" dirty="0">
                <a:solidFill>
                  <a:srgbClr val="14161D"/>
                </a:solidFill>
                <a:latin typeface="Helvetica Neue Medium"/>
                <a:cs typeface="Helvetica Neue Medium"/>
              </a:rPr>
              <a:t>FinViz stays the fastest place to find ideas. The AI layer </a:t>
            </a:r>
            <a:r>
              <a:rPr lang="en-US" sz="4400" spc="-40" dirty="0">
                <a:solidFill>
                  <a:srgbClr val="B5531F"/>
                </a:solidFill>
                <a:latin typeface="Helvetica Neue Medium"/>
                <a:cs typeface="Helvetica Neue Medium"/>
              </a:rPr>
              <a:t>explains</a:t>
            </a:r>
            <a:r>
              <a:rPr lang="en-US" sz="4400" spc="-40" dirty="0">
                <a:solidFill>
                  <a:srgbClr val="14161D"/>
                </a:solidFill>
                <a:latin typeface="Helvetica Neue Medium"/>
                <a:cs typeface="Helvetica Neue Medium"/>
              </a:rPr>
              <a:t> them.</a:t>
            </a:r>
          </a:p>
        </p:txBody>
      </p:sp>
      <p:sp>
        <p:nvSpPr>
          <p:cNvPr id="103" name="Column label"/>
          <p:cNvSpPr txBox="1"/>
          <p:nvPr/>
        </p:nvSpPr>
        <p:spPr>
          <a:xfrm>
            <a:off x="4023360" y="3886200"/>
            <a:ext cx="3749039" cy="274320"/>
          </a:xfrm>
          <a:prstGeom prst="rect">
            <a:avLst/>
          </a:prstGeom>
          <a:noFill/>
        </p:spPr>
        <p:txBody>
          <a:bodyPr wrap="square" lIns="0" tIns="0" rIns="0" bIns="0">
            <a:noAutofit/>
          </a:bodyPr>
          <a:lstStyle/>
          <a:p>
            <a:pPr algn="l">
              <a:lnSpc>
                <a:spcPct val="100000"/>
              </a:lnSpc>
            </a:pPr>
            <a:r>
              <a:rPr lang="en-US" sz="1100" spc="200" dirty="0">
                <a:solidFill>
                  <a:srgbClr val="858A97"/>
                </a:solidFill>
                <a:latin typeface="Helvetica Neue Medium"/>
                <a:cs typeface="Helvetica Neue Medium"/>
              </a:rPr>
              <a:t>WHERE IT IS STRONG</a:t>
            </a:r>
          </a:p>
        </p:txBody>
      </p:sp>
      <p:sp>
        <p:nvSpPr>
          <p:cNvPr id="104" name="Column label"/>
          <p:cNvSpPr txBox="1"/>
          <p:nvPr/>
        </p:nvSpPr>
        <p:spPr>
          <a:xfrm>
            <a:off x="8138159" y="3886200"/>
            <a:ext cx="4043681" cy="274320"/>
          </a:xfrm>
          <a:prstGeom prst="rect">
            <a:avLst/>
          </a:prstGeom>
          <a:noFill/>
        </p:spPr>
        <p:txBody>
          <a:bodyPr wrap="square" lIns="0" tIns="0" rIns="0" bIns="0">
            <a:noAutofit/>
          </a:bodyPr>
          <a:lstStyle/>
          <a:p>
            <a:pPr algn="l">
              <a:lnSpc>
                <a:spcPct val="100000"/>
              </a:lnSpc>
            </a:pPr>
            <a:r>
              <a:rPr lang="en-US" sz="1100" spc="200" dirty="0">
                <a:solidFill>
                  <a:srgbClr val="858A97"/>
                </a:solidFill>
                <a:latin typeface="Helvetica Neue Medium"/>
                <a:cs typeface="Helvetica Neue Medium"/>
              </a:rPr>
              <a:t>WHERE THE AI LAYER FITS</a:t>
            </a:r>
          </a:p>
        </p:txBody>
      </p:sp>
      <p:cxnSp>
        <p:nvCxnSpPr>
          <p:cNvPr id="105" name="Row divider"/>
          <p:cNvCxnSpPr/>
          <p:nvPr/>
        </p:nvCxnSpPr>
        <p:spPr>
          <a:xfrm>
            <a:off x="822960" y="4297680"/>
            <a:ext cx="11358880" cy="0"/>
          </a:xfrm>
          <a:prstGeom prst="line">
            <a:avLst/>
          </a:prstGeom>
          <a:ln w="9525">
            <a:solidFill>
              <a:srgbClr val="E1E3E8"/>
            </a:solidFill>
          </a:ln>
        </p:spPr>
      </p:cxnSp>
      <p:sp>
        <p:nvSpPr>
          <p:cNvPr id="106" name="TradingView"/>
          <p:cNvSpPr txBox="1"/>
          <p:nvPr/>
        </p:nvSpPr>
        <p:spPr>
          <a:xfrm>
            <a:off x="822960" y="4526280"/>
            <a:ext cx="2834640" cy="822960"/>
          </a:xfrm>
          <a:prstGeom prst="rect">
            <a:avLst/>
          </a:prstGeom>
          <a:noFill/>
        </p:spPr>
        <p:txBody>
          <a:bodyPr wrap="square" lIns="0" tIns="0" rIns="0" bIns="0">
            <a:noAutofit/>
          </a:bodyPr>
          <a:lstStyle/>
          <a:p>
            <a:pPr algn="l">
              <a:lnSpc>
                <a:spcPct val="100000"/>
              </a:lnSpc>
            </a:pPr>
            <a:r>
              <a:rPr lang="en-US" sz="2200" spc="0" dirty="0">
                <a:solidFill>
                  <a:srgbClr val="14161D"/>
                </a:solidFill>
                <a:latin typeface="Helvetica Neue Medium"/>
                <a:cs typeface="Helvetica Neue Medium"/>
              </a:rPr>
              <a:t>TradingView</a:t>
            </a:r>
          </a:p>
        </p:txBody>
      </p:sp>
      <p:sp>
        <p:nvSpPr>
          <p:cNvPr id="107" name="TradingView strength"/>
          <p:cNvSpPr txBox="1"/>
          <p:nvPr/>
        </p:nvSpPr>
        <p:spPr>
          <a:xfrm>
            <a:off x="4023360" y="4544568"/>
            <a:ext cx="3749039" cy="914400"/>
          </a:xfrm>
          <a:prstGeom prst="rect">
            <a:avLst/>
          </a:prstGeom>
          <a:noFill/>
        </p:spPr>
        <p:txBody>
          <a:bodyPr wrap="square" lIns="0" tIns="0" rIns="0" bIns="0">
            <a:noAutofit/>
          </a:bodyPr>
          <a:lstStyle/>
          <a:p>
            <a:pPr algn="l">
              <a:lnSpc>
                <a:spcPct val="120000"/>
              </a:lnSpc>
            </a:pPr>
            <a:r>
              <a:rPr lang="en-US" sz="1500" spc="0" dirty="0">
                <a:solidFill>
                  <a:srgbClr val="565C6B"/>
                </a:solidFill>
                <a:latin typeface="Helvetica Neue Light"/>
                <a:cs typeface="Helvetica Neue Light"/>
              </a:rPr>
              <a:t>Charting and community. Ships AI document and news summaries, and a Chart Copilot (beta) that sets alerts in plain English.</a:t>
            </a:r>
          </a:p>
        </p:txBody>
      </p:sp>
      <p:sp>
        <p:nvSpPr>
          <p:cNvPr id="108" name="TradingView fit"/>
          <p:cNvSpPr txBox="1"/>
          <p:nvPr/>
        </p:nvSpPr>
        <p:spPr>
          <a:xfrm>
            <a:off x="8138159" y="4544568"/>
            <a:ext cx="4043681" cy="914400"/>
          </a:xfrm>
          <a:prstGeom prst="rect">
            <a:avLst/>
          </a:prstGeom>
          <a:noFill/>
        </p:spPr>
        <p:txBody>
          <a:bodyPr wrap="square" lIns="0" tIns="0" rIns="0" bIns="0">
            <a:noAutofit/>
          </a:bodyPr>
          <a:lstStyle/>
          <a:p>
            <a:pPr algn="l">
              <a:lnSpc>
                <a:spcPct val="120000"/>
              </a:lnSpc>
            </a:pPr>
            <a:r>
              <a:rPr lang="en-US" sz="1500" spc="0" dirty="0">
                <a:solidFill>
                  <a:srgbClr val="14161D"/>
                </a:solidFill>
                <a:latin typeface="Helvetica Neue Light"/>
                <a:cs typeface="Helvetica Neue Light"/>
              </a:rPr>
              <a:t>Explains the trader’s own screen and keeps his reasons. FinViz stays the fastest place to find ideas.</a:t>
            </a:r>
          </a:p>
        </p:txBody>
      </p:sp>
      <p:cxnSp>
        <p:nvCxnSpPr>
          <p:cNvPr id="109" name="Row divider"/>
          <p:cNvCxnSpPr/>
          <p:nvPr/>
        </p:nvCxnSpPr>
        <p:spPr>
          <a:xfrm>
            <a:off x="822960" y="5577840"/>
            <a:ext cx="11358880" cy="0"/>
          </a:xfrm>
          <a:prstGeom prst="line">
            <a:avLst/>
          </a:prstGeom>
          <a:ln w="9525">
            <a:solidFill>
              <a:srgbClr val="E1E3E8"/>
            </a:solidFill>
          </a:ln>
        </p:spPr>
      </p:cxnSp>
      <p:sp>
        <p:nvSpPr>
          <p:cNvPr id="110" name="Trade Ideas"/>
          <p:cNvSpPr txBox="1"/>
          <p:nvPr/>
        </p:nvSpPr>
        <p:spPr>
          <a:xfrm>
            <a:off x="822960" y="5806440"/>
            <a:ext cx="2834640" cy="822960"/>
          </a:xfrm>
          <a:prstGeom prst="rect">
            <a:avLst/>
          </a:prstGeom>
          <a:noFill/>
        </p:spPr>
        <p:txBody>
          <a:bodyPr wrap="square" lIns="0" tIns="0" rIns="0" bIns="0">
            <a:noAutofit/>
          </a:bodyPr>
          <a:lstStyle/>
          <a:p>
            <a:pPr algn="l">
              <a:lnSpc>
                <a:spcPct val="100000"/>
              </a:lnSpc>
            </a:pPr>
            <a:r>
              <a:rPr lang="en-US" sz="2200" spc="0" dirty="0">
                <a:solidFill>
                  <a:srgbClr val="14161D"/>
                </a:solidFill>
                <a:latin typeface="Helvetica Neue Medium"/>
                <a:cs typeface="Helvetica Neue Medium"/>
              </a:rPr>
              <a:t>Trade Ideas</a:t>
            </a:r>
          </a:p>
        </p:txBody>
      </p:sp>
      <p:sp>
        <p:nvSpPr>
          <p:cNvPr id="111" name="Trade Ideas strength"/>
          <p:cNvSpPr txBox="1"/>
          <p:nvPr/>
        </p:nvSpPr>
        <p:spPr>
          <a:xfrm>
            <a:off x="4023360" y="5824728"/>
            <a:ext cx="3749039" cy="914400"/>
          </a:xfrm>
          <a:prstGeom prst="rect">
            <a:avLst/>
          </a:prstGeom>
          <a:noFill/>
        </p:spPr>
        <p:txBody>
          <a:bodyPr wrap="square" lIns="0" tIns="0" rIns="0" bIns="0">
            <a:noAutofit/>
          </a:bodyPr>
          <a:lstStyle/>
          <a:p>
            <a:pPr algn="l">
              <a:lnSpc>
                <a:spcPct val="120000"/>
              </a:lnSpc>
            </a:pPr>
            <a:r>
              <a:rPr lang="en-US" sz="1500" spc="0" dirty="0">
                <a:solidFill>
                  <a:srgbClr val="565C6B"/>
                </a:solidFill>
                <a:latin typeface="Helvetica Neue Light"/>
                <a:cs typeface="Helvetica Neue Light"/>
              </a:rPr>
              <a:t>Real-time scanning at tick speed. Holly AI posts trade ideas with entry, stop and target; a plain-English scan builder.</a:t>
            </a:r>
          </a:p>
        </p:txBody>
      </p:sp>
      <p:sp>
        <p:nvSpPr>
          <p:cNvPr id="112" name="Trade Ideas fit"/>
          <p:cNvSpPr txBox="1"/>
          <p:nvPr/>
        </p:nvSpPr>
        <p:spPr>
          <a:xfrm>
            <a:off x="8138159" y="5824728"/>
            <a:ext cx="4043681" cy="914400"/>
          </a:xfrm>
          <a:prstGeom prst="rect">
            <a:avLst/>
          </a:prstGeom>
          <a:noFill/>
        </p:spPr>
        <p:txBody>
          <a:bodyPr wrap="square" lIns="0" tIns="0" rIns="0" bIns="0">
            <a:noAutofit/>
          </a:bodyPr>
          <a:lstStyle/>
          <a:p>
            <a:pPr algn="l">
              <a:lnSpc>
                <a:spcPct val="120000"/>
              </a:lnSpc>
            </a:pPr>
            <a:r>
              <a:rPr lang="en-US" sz="1500" spc="0" dirty="0">
                <a:solidFill>
                  <a:srgbClr val="14161D"/>
                </a:solidFill>
                <a:latin typeface="Helvetica Neue Light"/>
                <a:cs typeface="Helvetica Neue Light"/>
              </a:rPr>
              <a:t>FinViz never originates trades or confidence scores. It checks the trader’s own criteria and watches his saved screen.</a:t>
            </a:r>
          </a:p>
        </p:txBody>
      </p:sp>
      <p:cxnSp>
        <p:nvCxnSpPr>
          <p:cNvPr id="113" name="Row divider"/>
          <p:cNvCxnSpPr/>
          <p:nvPr/>
        </p:nvCxnSpPr>
        <p:spPr>
          <a:xfrm>
            <a:off x="822960" y="6858000"/>
            <a:ext cx="11358880" cy="0"/>
          </a:xfrm>
          <a:prstGeom prst="line">
            <a:avLst/>
          </a:prstGeom>
          <a:ln w="9525">
            <a:solidFill>
              <a:srgbClr val="E1E3E8"/>
            </a:solidFill>
          </a:ln>
        </p:spPr>
      </p:cxnSp>
      <p:sp>
        <p:nvSpPr>
          <p:cNvPr id="114" name="Bloomberg Terminal"/>
          <p:cNvSpPr txBox="1"/>
          <p:nvPr/>
        </p:nvSpPr>
        <p:spPr>
          <a:xfrm>
            <a:off x="822960" y="7086600"/>
            <a:ext cx="2834640" cy="822960"/>
          </a:xfrm>
          <a:prstGeom prst="rect">
            <a:avLst/>
          </a:prstGeom>
          <a:noFill/>
        </p:spPr>
        <p:txBody>
          <a:bodyPr wrap="square" lIns="0" tIns="0" rIns="0" bIns="0">
            <a:noAutofit/>
          </a:bodyPr>
          <a:lstStyle/>
          <a:p>
            <a:pPr algn="l">
              <a:lnSpc>
                <a:spcPct val="100000"/>
              </a:lnSpc>
            </a:pPr>
            <a:r>
              <a:rPr lang="en-US" sz="2200" spc="0" dirty="0">
                <a:solidFill>
                  <a:srgbClr val="14161D"/>
                </a:solidFill>
                <a:latin typeface="Helvetica Neue Medium"/>
                <a:cs typeface="Helvetica Neue Medium"/>
              </a:rPr>
              <a:t>Bloomberg Terminal</a:t>
            </a:r>
          </a:p>
        </p:txBody>
      </p:sp>
      <p:sp>
        <p:nvSpPr>
          <p:cNvPr id="115" name="Bloomberg Terminal strength"/>
          <p:cNvSpPr txBox="1"/>
          <p:nvPr/>
        </p:nvSpPr>
        <p:spPr>
          <a:xfrm>
            <a:off x="4023360" y="7104888"/>
            <a:ext cx="3749039" cy="914400"/>
          </a:xfrm>
          <a:prstGeom prst="rect">
            <a:avLst/>
          </a:prstGeom>
          <a:noFill/>
        </p:spPr>
        <p:txBody>
          <a:bodyPr wrap="square" lIns="0" tIns="0" rIns="0" bIns="0">
            <a:noAutofit/>
          </a:bodyPr>
          <a:lstStyle/>
          <a:p>
            <a:pPr algn="l">
              <a:lnSpc>
                <a:spcPct val="120000"/>
              </a:lnSpc>
            </a:pPr>
            <a:r>
              <a:rPr lang="en-US" sz="1500" spc="0" dirty="0">
                <a:solidFill>
                  <a:srgbClr val="565C6B"/>
                </a:solidFill>
                <a:latin typeface="Helvetica Neue Light"/>
                <a:cs typeface="Helvetica Neue Light"/>
              </a:rPr>
              <a:t>Market data and news for professionals, with AI document search and news summaries.</a:t>
            </a:r>
          </a:p>
        </p:txBody>
      </p:sp>
      <p:sp>
        <p:nvSpPr>
          <p:cNvPr id="116" name="Bloomberg Terminal fit"/>
          <p:cNvSpPr txBox="1"/>
          <p:nvPr/>
        </p:nvSpPr>
        <p:spPr>
          <a:xfrm>
            <a:off x="8138159" y="7104888"/>
            <a:ext cx="4043681" cy="914400"/>
          </a:xfrm>
          <a:prstGeom prst="rect">
            <a:avLst/>
          </a:prstGeom>
          <a:noFill/>
        </p:spPr>
        <p:txBody>
          <a:bodyPr wrap="square" lIns="0" tIns="0" rIns="0" bIns="0">
            <a:noAutofit/>
          </a:bodyPr>
          <a:lstStyle/>
          <a:p>
            <a:pPr algn="l">
              <a:lnSpc>
                <a:spcPct val="120000"/>
              </a:lnSpc>
            </a:pPr>
            <a:r>
              <a:rPr lang="en-US" sz="1500" spc="0" dirty="0">
                <a:solidFill>
                  <a:srgbClr val="14161D"/>
                </a:solidFill>
                <a:latin typeface="Helvetica Neue Light"/>
                <a:cs typeface="Helvetica Neue Light"/>
              </a:rPr>
              <a:t>Cost and complexity. FinViz’s job is discovery for individual traders.</a:t>
            </a:r>
          </a:p>
        </p:txBody>
      </p:sp>
      <p:cxnSp>
        <p:nvCxnSpPr>
          <p:cNvPr id="117" name="Row divider"/>
          <p:cNvCxnSpPr/>
          <p:nvPr/>
        </p:nvCxnSpPr>
        <p:spPr>
          <a:xfrm>
            <a:off x="822960" y="8138160"/>
            <a:ext cx="11358880" cy="0"/>
          </a:xfrm>
          <a:prstGeom prst="line">
            <a:avLst/>
          </a:prstGeom>
          <a:ln w="9525">
            <a:solidFill>
              <a:srgbClr val="E1E3E8"/>
            </a:solidFill>
          </a:ln>
        </p:spPr>
      </p:cxnSp>
      <p:sp>
        <p:nvSpPr>
          <p:cNvPr id="118" name="Source"/>
          <p:cNvSpPr txBox="1"/>
          <p:nvPr/>
        </p:nvSpPr>
        <p:spPr>
          <a:xfrm>
            <a:off x="822960" y="8503920"/>
            <a:ext cx="11358880" cy="274320"/>
          </a:xfrm>
          <a:prstGeom prst="rect">
            <a:avLst/>
          </a:prstGeom>
          <a:noFill/>
        </p:spPr>
        <p:txBody>
          <a:bodyPr wrap="square" lIns="0" tIns="0" rIns="0" bIns="0">
            <a:noAutofit/>
          </a:bodyPr>
          <a:lstStyle/>
          <a:p>
            <a:pPr algn="l">
              <a:lnSpc>
                <a:spcPct val="100000"/>
              </a:lnSpc>
            </a:pPr>
            <a:r>
              <a:rPr lang="en-US" sz="1100" spc="0" dirty="0">
                <a:solidFill>
                  <a:srgbClr val="858A97"/>
                </a:solidFill>
                <a:latin typeface="Helvetica Neue Light"/>
                <a:cs typeface="Helvetica Neue Light"/>
              </a:rPr>
              <a:t>Source: competitor product pages and reviews, checked October 2026. Competitor features change quickly.</a:t>
            </a:r>
          </a:p>
        </p:txBody>
      </p:sp>
      <p:pic>
        <p:nvPicPr>
          <p:cNvPr id="119"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THE PROBLEM</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Two problems, defined separately, so the AI only does </a:t>
            </a:r>
            <a:r>
              <a:rPr lang="en-US" sz="4000" spc="-40" dirty="0">
                <a:solidFill>
                  <a:srgbClr val="B5531F"/>
                </a:solidFill>
                <a:latin typeface="Helvetica Neue Medium"/>
                <a:cs typeface="Helvetica Neue Medium"/>
              </a:rPr>
              <a:t>what a rule can’t</a:t>
            </a:r>
            <a:r>
              <a:rPr lang="en-US" sz="4000" spc="-40" dirty="0">
                <a:solidFill>
                  <a:srgbClr val="14161D"/>
                </a:solidFill>
                <a:latin typeface="Helvetica Neue Medium"/>
                <a:cs typeface="Helvetica Neue Medium"/>
              </a:rPr>
              <a:t>.</a:t>
            </a:r>
          </a:p>
        </p:txBody>
      </p:sp>
      <p:cxnSp>
        <p:nvCxnSpPr>
          <p:cNvPr id="103" name="Divider"/>
          <p:cNvCxnSpPr/>
          <p:nvPr/>
        </p:nvCxnSpPr>
        <p:spPr>
          <a:xfrm>
            <a:off x="822960" y="3429000"/>
            <a:ext cx="3511973" cy="0"/>
          </a:xfrm>
          <a:prstGeom prst="line">
            <a:avLst/>
          </a:prstGeom>
          <a:ln w="9525">
            <a:solidFill>
              <a:srgbClr val="E1E3E8"/>
            </a:solidFill>
          </a:ln>
        </p:spPr>
      </p:cxnSp>
      <p:sp>
        <p:nvSpPr>
          <p:cNvPr id="104" name="User problem title"/>
          <p:cNvSpPr txBox="1"/>
          <p:nvPr/>
        </p:nvSpPr>
        <p:spPr>
          <a:xfrm>
            <a:off x="822960" y="3630168"/>
            <a:ext cx="3511973" cy="548640"/>
          </a:xfrm>
          <a:prstGeom prst="rect">
            <a:avLst/>
          </a:prstGeom>
          <a:noFill/>
        </p:spPr>
        <p:txBody>
          <a:bodyPr wrap="square" lIns="0" tIns="0" rIns="0" bIns="0" anchor="t">
            <a:noAutofit/>
          </a:bodyPr>
          <a:lstStyle/>
          <a:p>
            <a:pPr algn="l">
              <a:lnSpc>
                <a:spcPct val="115000"/>
              </a:lnSpc>
              <a:spcAft>
                <a:spcPts val="300"/>
              </a:spcAft>
            </a:pPr>
            <a:r>
              <a:rPr lang="en-US" sz="2000" spc="0" dirty="0">
                <a:solidFill>
                  <a:srgbClr val="14161D"/>
                </a:solidFill>
                <a:latin typeface="Helvetica Neue Medium"/>
                <a:cs typeface="Helvetica Neue Medium"/>
              </a:rPr>
              <a:t>User problem</a:t>
            </a:r>
          </a:p>
        </p:txBody>
      </p:sp>
      <p:sp>
        <p:nvSpPr>
          <p:cNvPr id="105" name="User problem body"/>
          <p:cNvSpPr txBox="1"/>
          <p:nvPr/>
        </p:nvSpPr>
        <p:spPr>
          <a:xfrm>
            <a:off x="822960" y="4206240"/>
            <a:ext cx="3511973" cy="3749039"/>
          </a:xfrm>
          <a:prstGeom prst="rect">
            <a:avLst/>
          </a:prstGeom>
          <a:noFill/>
        </p:spPr>
        <p:txBody>
          <a:bodyPr wrap="square" lIns="0" tIns="0" rIns="0" bIns="0" anchor="t">
            <a:noAutofit/>
          </a:bodyPr>
          <a:lstStyle/>
          <a:p>
            <a:pPr algn="l">
              <a:lnSpc>
                <a:spcPct val="125000"/>
              </a:lnSpc>
              <a:spcAft>
                <a:spcPts val="300"/>
              </a:spcAft>
            </a:pPr>
            <a:r>
              <a:rPr lang="en-US" sz="1600" spc="0" dirty="0">
                <a:solidFill>
                  <a:srgbClr val="565C6B"/>
                </a:solidFill>
                <a:latin typeface="Helvetica Neue Light"/>
                <a:cs typeface="Helvetica Neue Light"/>
              </a:rPr>
              <a:t>Gary can find ideas but can’t hold on to them. 89 filters with no explanation; a list that forgets why he picked each stock; nothing reaches him at work; the decision to hold or exit happens in his head.</a:t>
            </a:r>
          </a:p>
        </p:txBody>
      </p:sp>
      <p:cxnSp>
        <p:nvCxnSpPr>
          <p:cNvPr id="106" name="Divider"/>
          <p:cNvCxnSpPr/>
          <p:nvPr/>
        </p:nvCxnSpPr>
        <p:spPr>
          <a:xfrm>
            <a:off x="4746413" y="3429000"/>
            <a:ext cx="3511973" cy="0"/>
          </a:xfrm>
          <a:prstGeom prst="line">
            <a:avLst/>
          </a:prstGeom>
          <a:ln w="9525">
            <a:solidFill>
              <a:srgbClr val="E1E3E8"/>
            </a:solidFill>
          </a:ln>
        </p:spPr>
      </p:cxnSp>
      <p:sp>
        <p:nvSpPr>
          <p:cNvPr id="107" name="AI problem title"/>
          <p:cNvSpPr txBox="1"/>
          <p:nvPr/>
        </p:nvSpPr>
        <p:spPr>
          <a:xfrm>
            <a:off x="4746413" y="3630168"/>
            <a:ext cx="3511973" cy="548640"/>
          </a:xfrm>
          <a:prstGeom prst="rect">
            <a:avLst/>
          </a:prstGeom>
          <a:noFill/>
        </p:spPr>
        <p:txBody>
          <a:bodyPr wrap="square" lIns="0" tIns="0" rIns="0" bIns="0" anchor="t">
            <a:noAutofit/>
          </a:bodyPr>
          <a:lstStyle/>
          <a:p>
            <a:pPr algn="l">
              <a:lnSpc>
                <a:spcPct val="115000"/>
              </a:lnSpc>
              <a:spcAft>
                <a:spcPts val="300"/>
              </a:spcAft>
            </a:pPr>
            <a:r>
              <a:rPr lang="en-US" sz="2000" spc="0" dirty="0">
                <a:solidFill>
                  <a:srgbClr val="14161D"/>
                </a:solidFill>
                <a:latin typeface="Helvetica Neue Medium"/>
                <a:cs typeface="Helvetica Neue Medium"/>
              </a:rPr>
              <a:t>AI problem</a:t>
            </a:r>
          </a:p>
        </p:txBody>
      </p:sp>
      <p:sp>
        <p:nvSpPr>
          <p:cNvPr id="108" name="AI problem body"/>
          <p:cNvSpPr txBox="1"/>
          <p:nvPr/>
        </p:nvSpPr>
        <p:spPr>
          <a:xfrm>
            <a:off x="4746413" y="4206240"/>
            <a:ext cx="3511973" cy="3749039"/>
          </a:xfrm>
          <a:prstGeom prst="rect">
            <a:avLst/>
          </a:prstGeom>
          <a:noFill/>
        </p:spPr>
        <p:txBody>
          <a:bodyPr wrap="square" lIns="0" tIns="0" rIns="0" bIns="0" anchor="t">
            <a:noAutofit/>
          </a:bodyPr>
          <a:lstStyle/>
          <a:p>
            <a:pPr algn="l">
              <a:lnSpc>
                <a:spcPct val="125000"/>
              </a:lnSpc>
              <a:spcAft>
                <a:spcPts val="300"/>
              </a:spcAft>
            </a:pPr>
            <a:r>
              <a:rPr lang="en-US" sz="1600" spc="0" dirty="0">
                <a:solidFill>
                  <a:srgbClr val="565C6B"/>
                </a:solidFill>
                <a:latin typeface="Helvetica Neue Light"/>
                <a:cs typeface="Helvetica Neue Light"/>
              </a:rPr>
              <a:t>Infer a screen from 3 example tickers · explain why each row matched from real values · re-check his reasons against fresh data 3× a day · detect chart patterns with measurable criteria · summarize overnight news on his names, with sources · turn corrections into proposed rule changes.</a:t>
            </a:r>
          </a:p>
        </p:txBody>
      </p:sp>
      <p:cxnSp>
        <p:nvCxnSpPr>
          <p:cNvPr id="109" name="Divider"/>
          <p:cNvCxnSpPr/>
          <p:nvPr/>
        </p:nvCxnSpPr>
        <p:spPr>
          <a:xfrm>
            <a:off x="8669866" y="3429000"/>
            <a:ext cx="3511973" cy="0"/>
          </a:xfrm>
          <a:prstGeom prst="line">
            <a:avLst/>
          </a:prstGeom>
          <a:ln w="9525">
            <a:solidFill>
              <a:srgbClr val="E1E3E8"/>
            </a:solidFill>
          </a:ln>
        </p:spPr>
      </p:cxnSp>
      <p:sp>
        <p:nvSpPr>
          <p:cNvPr id="110" name="Why AI is appropriate title"/>
          <p:cNvSpPr txBox="1"/>
          <p:nvPr/>
        </p:nvSpPr>
        <p:spPr>
          <a:xfrm>
            <a:off x="8669866" y="3630168"/>
            <a:ext cx="3511973" cy="548640"/>
          </a:xfrm>
          <a:prstGeom prst="rect">
            <a:avLst/>
          </a:prstGeom>
          <a:noFill/>
        </p:spPr>
        <p:txBody>
          <a:bodyPr wrap="square" lIns="0" tIns="0" rIns="0" bIns="0" anchor="t">
            <a:noAutofit/>
          </a:bodyPr>
          <a:lstStyle/>
          <a:p>
            <a:pPr algn="l">
              <a:lnSpc>
                <a:spcPct val="115000"/>
              </a:lnSpc>
              <a:spcAft>
                <a:spcPts val="300"/>
              </a:spcAft>
            </a:pPr>
            <a:r>
              <a:rPr lang="en-US" sz="2000" spc="0" dirty="0">
                <a:solidFill>
                  <a:srgbClr val="14161D"/>
                </a:solidFill>
                <a:latin typeface="Helvetica Neue Medium"/>
                <a:cs typeface="Helvetica Neue Medium"/>
              </a:rPr>
              <a:t>Why AI is appropriate</a:t>
            </a:r>
          </a:p>
        </p:txBody>
      </p:sp>
      <p:sp>
        <p:nvSpPr>
          <p:cNvPr id="111" name="Why AI is appropriate body"/>
          <p:cNvSpPr txBox="1"/>
          <p:nvPr/>
        </p:nvSpPr>
        <p:spPr>
          <a:xfrm>
            <a:off x="8669866" y="4206240"/>
            <a:ext cx="3511973" cy="3749039"/>
          </a:xfrm>
          <a:prstGeom prst="rect">
            <a:avLst/>
          </a:prstGeom>
          <a:noFill/>
        </p:spPr>
        <p:txBody>
          <a:bodyPr wrap="square" lIns="0" tIns="0" rIns="0" bIns="0" anchor="t">
            <a:noAutofit/>
          </a:bodyPr>
          <a:lstStyle/>
          <a:p>
            <a:pPr algn="l">
              <a:lnSpc>
                <a:spcPct val="125000"/>
              </a:lnSpc>
              <a:spcAft>
                <a:spcPts val="300"/>
              </a:spcAft>
            </a:pPr>
            <a:r>
              <a:rPr lang="en-US" sz="1600" spc="0" dirty="0">
                <a:solidFill>
                  <a:srgbClr val="565C6B"/>
                </a:solidFill>
                <a:latin typeface="Helvetica Neue Light"/>
                <a:cs typeface="Helvetica Neue Light"/>
              </a:rPr>
              <a:t>Translating examples and plain English into 89 filters, and summarizing many sources, are language tasks. Scanning 30 charts for the same setup is repetitive perception. Where a rule is enough we used a rule: the since-last-night diff, exit lines, quiet hours and the activity log are not AI.</a:t>
            </a:r>
          </a:p>
        </p:txBody>
      </p:sp>
      <p:pic>
        <p:nvPicPr>
          <p:cNvPr id="112"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320040"/>
          </a:xfrm>
          <a:prstGeom prst="rect">
            <a:avLst/>
          </a:prstGeom>
          <a:noFill/>
        </p:spPr>
        <p:txBody>
          <a:bodyPr wrap="square" lIns="0" tIns="0" rIns="0" bIns="0">
            <a:noAutofit/>
          </a:bodyPr>
          <a:lstStyle/>
          <a:p>
            <a:pPr algn="l">
              <a:lnSpc>
                <a:spcPct val="100000"/>
              </a:lnSpc>
            </a:pPr>
            <a:r>
              <a:rPr lang="en-US" sz="1200" spc="300" dirty="0">
                <a:solidFill>
                  <a:srgbClr val="E98C64"/>
                </a:solidFill>
                <a:latin typeface="Helvetica Neue Medium"/>
                <a:cs typeface="Helvetica Neue Medium"/>
              </a:rPr>
              <a:t>FINVIZ AI SCREENER · THE PROBLEM</a:t>
            </a:r>
          </a:p>
        </p:txBody>
      </p:sp>
      <p:sp>
        <p:nvSpPr>
          <p:cNvPr id="102" name="Quote"/>
          <p:cNvSpPr txBox="1"/>
          <p:nvPr/>
        </p:nvSpPr>
        <p:spPr>
          <a:xfrm>
            <a:off x="822960" y="1371600"/>
            <a:ext cx="11358880" cy="1737360"/>
          </a:xfrm>
          <a:prstGeom prst="rect">
            <a:avLst/>
          </a:prstGeom>
          <a:noFill/>
        </p:spPr>
        <p:txBody>
          <a:bodyPr wrap="square" lIns="0" tIns="0" rIns="0" bIns="0">
            <a:noAutofit/>
          </a:bodyPr>
          <a:lstStyle/>
          <a:p>
            <a:pPr algn="l">
              <a:lnSpc>
                <a:spcPct val="95000"/>
              </a:lnSpc>
            </a:pPr>
            <a:r>
              <a:rPr lang="en-US" sz="4000" spc="-40" dirty="0">
                <a:solidFill>
                  <a:srgbClr val="F5F5F7"/>
                </a:solidFill>
                <a:latin typeface="Helvetica Neue Medium"/>
                <a:cs typeface="Helvetica Neue Medium"/>
              </a:rPr>
              <a:t>“Once you close FinViz </a:t>
            </a:r>
            <a:r>
              <a:rPr lang="en-US" sz="4000" spc="-40" dirty="0">
                <a:solidFill>
                  <a:srgbClr val="E98C64"/>
                </a:solidFill>
                <a:latin typeface="Helvetica Neue Medium"/>
                <a:cs typeface="Helvetica Neue Medium"/>
              </a:rPr>
              <a:t>you get nothing</a:t>
            </a:r>
            <a:r>
              <a:rPr lang="en-US" sz="4000" spc="-40" dirty="0">
                <a:solidFill>
                  <a:srgbClr val="F5F5F7"/>
                </a:solidFill>
                <a:latin typeface="Helvetica Neue Medium"/>
                <a:cs typeface="Helvetica Neue Medium"/>
              </a:rPr>
              <a:t>, and setting up alerts today is quirky.”</a:t>
            </a:r>
          </a:p>
        </p:txBody>
      </p:sp>
      <p:sp>
        <p:nvSpPr>
          <p:cNvPr id="103" name="Attribution"/>
          <p:cNvSpPr txBox="1"/>
          <p:nvPr/>
        </p:nvSpPr>
        <p:spPr>
          <a:xfrm>
            <a:off x="822960" y="2788920"/>
            <a:ext cx="11358880" cy="274320"/>
          </a:xfrm>
          <a:prstGeom prst="rect">
            <a:avLst/>
          </a:prstGeom>
          <a:noFill/>
        </p:spPr>
        <p:txBody>
          <a:bodyPr wrap="square" lIns="0" tIns="0" rIns="0" bIns="0">
            <a:noAutofit/>
          </a:bodyPr>
          <a:lstStyle/>
          <a:p>
            <a:pPr algn="l">
              <a:lnSpc>
                <a:spcPct val="100000"/>
              </a:lnSpc>
            </a:pPr>
            <a:r>
              <a:rPr lang="en-US" sz="1300" spc="0" dirty="0">
                <a:solidFill>
                  <a:srgbClr val="A3A8B4"/>
                </a:solidFill>
                <a:latin typeface="Helvetica Neue Light"/>
                <a:cs typeface="Helvetica Neue Light"/>
              </a:rPr>
              <a:t>Design review feedback, Sept 30</a:t>
            </a:r>
          </a:p>
        </p:txBody>
      </p:sp>
      <p:sp>
        <p:nvSpPr>
          <p:cNvPr id="104" name="List label"/>
          <p:cNvSpPr txBox="1"/>
          <p:nvPr/>
        </p:nvSpPr>
        <p:spPr>
          <a:xfrm>
            <a:off x="822960" y="3703320"/>
            <a:ext cx="11358880" cy="274320"/>
          </a:xfrm>
          <a:prstGeom prst="rect">
            <a:avLst/>
          </a:prstGeom>
          <a:noFill/>
        </p:spPr>
        <p:txBody>
          <a:bodyPr wrap="square" lIns="0" tIns="0" rIns="0" bIns="0">
            <a:noAutofit/>
          </a:bodyPr>
          <a:lstStyle/>
          <a:p>
            <a:pPr algn="l">
              <a:lnSpc>
                <a:spcPct val="100000"/>
              </a:lnSpc>
            </a:pPr>
            <a:r>
              <a:rPr lang="en-US" sz="1100" spc="200" dirty="0">
                <a:solidFill>
                  <a:srgbClr val="6E7380"/>
                </a:solidFill>
                <a:latin typeface="Helvetica Neue Medium"/>
                <a:cs typeface="Helvetica Neue Medium"/>
              </a:rPr>
              <a:t>SEVEN PAINS, RANKED BY USER AND BUSINESS IMPACT</a:t>
            </a:r>
          </a:p>
        </p:txBody>
      </p:sp>
      <p:cxnSp>
        <p:nvCxnSpPr>
          <p:cNvPr id="105" name="Row divider"/>
          <p:cNvCxnSpPr/>
          <p:nvPr/>
        </p:nvCxnSpPr>
        <p:spPr>
          <a:xfrm>
            <a:off x="822960" y="4114800"/>
            <a:ext cx="5427980" cy="0"/>
          </a:xfrm>
          <a:prstGeom prst="line">
            <a:avLst/>
          </a:prstGeom>
          <a:ln w="9525">
            <a:solidFill>
              <a:srgbClr val="2C2F38"/>
            </a:solidFill>
          </a:ln>
        </p:spPr>
      </p:cxnSp>
      <p:sp>
        <p:nvSpPr>
          <p:cNvPr id="106" name="Rank 1"/>
          <p:cNvSpPr txBox="1"/>
          <p:nvPr/>
        </p:nvSpPr>
        <p:spPr>
          <a:xfrm>
            <a:off x="822960" y="4297680"/>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01</a:t>
            </a:r>
          </a:p>
        </p:txBody>
      </p:sp>
      <p:sp>
        <p:nvSpPr>
          <p:cNvPr id="107" name="Pain 1"/>
          <p:cNvSpPr txBox="1"/>
          <p:nvPr/>
        </p:nvSpPr>
        <p:spPr>
          <a:xfrm>
            <a:off x="1371600" y="4297680"/>
            <a:ext cx="4879340" cy="548640"/>
          </a:xfrm>
          <a:prstGeom prst="rect">
            <a:avLst/>
          </a:prstGeom>
          <a:noFill/>
        </p:spPr>
        <p:txBody>
          <a:bodyPr wrap="square" lIns="0" tIns="0" rIns="0" bIns="0">
            <a:noAutofit/>
          </a:bodyPr>
          <a:lstStyle/>
          <a:p>
            <a:pPr algn="l">
              <a:lnSpc>
                <a:spcPct val="110000"/>
              </a:lnSpc>
            </a:pPr>
            <a:r>
              <a:rPr lang="en-US" sz="1800" spc="0" dirty="0">
                <a:solidFill>
                  <a:srgbClr val="F5F5F7"/>
                </a:solidFill>
                <a:latin typeface="Helvetica Neue Medium"/>
                <a:cs typeface="Helvetica Neue Medium"/>
              </a:rPr>
              <a:t>Ideas can’t become a working, watched screen</a:t>
            </a:r>
          </a:p>
        </p:txBody>
      </p:sp>
      <p:cxnSp>
        <p:nvCxnSpPr>
          <p:cNvPr id="108" name="Row divider"/>
          <p:cNvCxnSpPr/>
          <p:nvPr/>
        </p:nvCxnSpPr>
        <p:spPr>
          <a:xfrm>
            <a:off x="822960" y="5102352"/>
            <a:ext cx="5427980" cy="0"/>
          </a:xfrm>
          <a:prstGeom prst="line">
            <a:avLst/>
          </a:prstGeom>
          <a:ln w="9525">
            <a:solidFill>
              <a:srgbClr val="2C2F38"/>
            </a:solidFill>
          </a:ln>
        </p:spPr>
      </p:cxnSp>
      <p:sp>
        <p:nvSpPr>
          <p:cNvPr id="109" name="Rank 2"/>
          <p:cNvSpPr txBox="1"/>
          <p:nvPr/>
        </p:nvSpPr>
        <p:spPr>
          <a:xfrm>
            <a:off x="822960" y="5285232"/>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02</a:t>
            </a:r>
          </a:p>
        </p:txBody>
      </p:sp>
      <p:sp>
        <p:nvSpPr>
          <p:cNvPr id="110" name="Pain 2"/>
          <p:cNvSpPr txBox="1"/>
          <p:nvPr/>
        </p:nvSpPr>
        <p:spPr>
          <a:xfrm>
            <a:off x="1371600" y="5285232"/>
            <a:ext cx="4879340" cy="548640"/>
          </a:xfrm>
          <a:prstGeom prst="rect">
            <a:avLst/>
          </a:prstGeom>
          <a:noFill/>
        </p:spPr>
        <p:txBody>
          <a:bodyPr wrap="square" lIns="0" tIns="0" rIns="0" bIns="0">
            <a:noAutofit/>
          </a:bodyPr>
          <a:lstStyle/>
          <a:p>
            <a:pPr algn="l">
              <a:lnSpc>
                <a:spcPct val="110000"/>
              </a:lnSpc>
            </a:pPr>
            <a:r>
              <a:rPr lang="en-US" sz="1800" spc="0" dirty="0">
                <a:solidFill>
                  <a:srgbClr val="F5F5F7"/>
                </a:solidFill>
                <a:latin typeface="Helvetica Neue Medium"/>
                <a:cs typeface="Helvetica Neue Medium"/>
              </a:rPr>
              <a:t>Blind during market hours</a:t>
            </a:r>
          </a:p>
        </p:txBody>
      </p:sp>
      <p:cxnSp>
        <p:nvCxnSpPr>
          <p:cNvPr id="111" name="Row divider"/>
          <p:cNvCxnSpPr/>
          <p:nvPr/>
        </p:nvCxnSpPr>
        <p:spPr>
          <a:xfrm>
            <a:off x="822960" y="6089904"/>
            <a:ext cx="5427980" cy="0"/>
          </a:xfrm>
          <a:prstGeom prst="line">
            <a:avLst/>
          </a:prstGeom>
          <a:ln w="9525">
            <a:solidFill>
              <a:srgbClr val="2C2F38"/>
            </a:solidFill>
          </a:ln>
        </p:spPr>
      </p:cxnSp>
      <p:sp>
        <p:nvSpPr>
          <p:cNvPr id="112" name="Rank 3"/>
          <p:cNvSpPr txBox="1"/>
          <p:nvPr/>
        </p:nvSpPr>
        <p:spPr>
          <a:xfrm>
            <a:off x="822960" y="6272784"/>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03</a:t>
            </a:r>
          </a:p>
        </p:txBody>
      </p:sp>
      <p:sp>
        <p:nvSpPr>
          <p:cNvPr id="113" name="Pain 3"/>
          <p:cNvSpPr txBox="1"/>
          <p:nvPr/>
        </p:nvSpPr>
        <p:spPr>
          <a:xfrm>
            <a:off x="1371600" y="6272784"/>
            <a:ext cx="4879340" cy="548640"/>
          </a:xfrm>
          <a:prstGeom prst="rect">
            <a:avLst/>
          </a:prstGeom>
          <a:noFill/>
        </p:spPr>
        <p:txBody>
          <a:bodyPr wrap="square" lIns="0" tIns="0" rIns="0" bIns="0">
            <a:noAutofit/>
          </a:bodyPr>
          <a:lstStyle/>
          <a:p>
            <a:pPr algn="l">
              <a:lnSpc>
                <a:spcPct val="110000"/>
              </a:lnSpc>
            </a:pPr>
            <a:r>
              <a:rPr lang="en-US" sz="1800" spc="0" dirty="0">
                <a:solidFill>
                  <a:srgbClr val="A3A8B4"/>
                </a:solidFill>
                <a:latin typeface="Helvetica Neue Light"/>
                <a:cs typeface="Helvetica Neue Light"/>
              </a:rPr>
              <a:t>Too many results, and no reason why they matched</a:t>
            </a:r>
          </a:p>
        </p:txBody>
      </p:sp>
      <p:cxnSp>
        <p:nvCxnSpPr>
          <p:cNvPr id="114" name="Row divider"/>
          <p:cNvCxnSpPr/>
          <p:nvPr/>
        </p:nvCxnSpPr>
        <p:spPr>
          <a:xfrm>
            <a:off x="822960" y="7077456"/>
            <a:ext cx="5427980" cy="0"/>
          </a:xfrm>
          <a:prstGeom prst="line">
            <a:avLst/>
          </a:prstGeom>
          <a:ln w="9525">
            <a:solidFill>
              <a:srgbClr val="2C2F38"/>
            </a:solidFill>
          </a:ln>
        </p:spPr>
      </p:cxnSp>
      <p:sp>
        <p:nvSpPr>
          <p:cNvPr id="115" name="Rank 4"/>
          <p:cNvSpPr txBox="1"/>
          <p:nvPr/>
        </p:nvSpPr>
        <p:spPr>
          <a:xfrm>
            <a:off x="822960" y="7260336"/>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04</a:t>
            </a:r>
          </a:p>
        </p:txBody>
      </p:sp>
      <p:sp>
        <p:nvSpPr>
          <p:cNvPr id="116" name="Pain 4"/>
          <p:cNvSpPr txBox="1"/>
          <p:nvPr/>
        </p:nvSpPr>
        <p:spPr>
          <a:xfrm>
            <a:off x="1371600" y="7260336"/>
            <a:ext cx="4879340" cy="548640"/>
          </a:xfrm>
          <a:prstGeom prst="rect">
            <a:avLst/>
          </a:prstGeom>
          <a:noFill/>
        </p:spPr>
        <p:txBody>
          <a:bodyPr wrap="square" lIns="0" tIns="0" rIns="0" bIns="0">
            <a:noAutofit/>
          </a:bodyPr>
          <a:lstStyle/>
          <a:p>
            <a:pPr algn="l">
              <a:lnSpc>
                <a:spcPct val="110000"/>
              </a:lnSpc>
            </a:pPr>
            <a:r>
              <a:rPr lang="en-US" sz="1800" spc="0" dirty="0">
                <a:solidFill>
                  <a:srgbClr val="A3A8B4"/>
                </a:solidFill>
                <a:latin typeface="Helvetica Neue Light"/>
                <a:cs typeface="Helvetica Neue Light"/>
              </a:rPr>
              <a:t>Which metric matters, and what counts as good?</a:t>
            </a:r>
          </a:p>
        </p:txBody>
      </p:sp>
      <p:cxnSp>
        <p:nvCxnSpPr>
          <p:cNvPr id="117" name="Row divider"/>
          <p:cNvCxnSpPr/>
          <p:nvPr/>
        </p:nvCxnSpPr>
        <p:spPr>
          <a:xfrm>
            <a:off x="6753860" y="4114800"/>
            <a:ext cx="5427980" cy="0"/>
          </a:xfrm>
          <a:prstGeom prst="line">
            <a:avLst/>
          </a:prstGeom>
          <a:ln w="9525">
            <a:solidFill>
              <a:srgbClr val="2C2F38"/>
            </a:solidFill>
          </a:ln>
        </p:spPr>
      </p:cxnSp>
      <p:sp>
        <p:nvSpPr>
          <p:cNvPr id="118" name="Rank 5"/>
          <p:cNvSpPr txBox="1"/>
          <p:nvPr/>
        </p:nvSpPr>
        <p:spPr>
          <a:xfrm>
            <a:off x="6753860" y="4297680"/>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05</a:t>
            </a:r>
          </a:p>
        </p:txBody>
      </p:sp>
      <p:sp>
        <p:nvSpPr>
          <p:cNvPr id="119" name="Pain 5"/>
          <p:cNvSpPr txBox="1"/>
          <p:nvPr/>
        </p:nvSpPr>
        <p:spPr>
          <a:xfrm>
            <a:off x="7302500" y="4297680"/>
            <a:ext cx="4879340" cy="548640"/>
          </a:xfrm>
          <a:prstGeom prst="rect">
            <a:avLst/>
          </a:prstGeom>
          <a:noFill/>
        </p:spPr>
        <p:txBody>
          <a:bodyPr wrap="square" lIns="0" tIns="0" rIns="0" bIns="0">
            <a:noAutofit/>
          </a:bodyPr>
          <a:lstStyle/>
          <a:p>
            <a:pPr algn="l">
              <a:lnSpc>
                <a:spcPct val="110000"/>
              </a:lnSpc>
            </a:pPr>
            <a:r>
              <a:rPr lang="en-US" sz="1800" spc="0" dirty="0">
                <a:solidFill>
                  <a:srgbClr val="A3A8B4"/>
                </a:solidFill>
                <a:latin typeface="Helvetica Neue Light"/>
                <a:cs typeface="Helvetica Neue Light"/>
              </a:rPr>
              <a:t>Filters in fixed buckets; exact values are Elite</a:t>
            </a:r>
          </a:p>
        </p:txBody>
      </p:sp>
      <p:cxnSp>
        <p:nvCxnSpPr>
          <p:cNvPr id="120" name="Row divider"/>
          <p:cNvCxnSpPr/>
          <p:nvPr/>
        </p:nvCxnSpPr>
        <p:spPr>
          <a:xfrm>
            <a:off x="6753860" y="5102352"/>
            <a:ext cx="5427980" cy="0"/>
          </a:xfrm>
          <a:prstGeom prst="line">
            <a:avLst/>
          </a:prstGeom>
          <a:ln w="9525">
            <a:solidFill>
              <a:srgbClr val="2C2F38"/>
            </a:solidFill>
          </a:ln>
        </p:spPr>
      </p:cxnSp>
      <p:sp>
        <p:nvSpPr>
          <p:cNvPr id="121" name="Rank 6"/>
          <p:cNvSpPr txBox="1"/>
          <p:nvPr/>
        </p:nvSpPr>
        <p:spPr>
          <a:xfrm>
            <a:off x="6753860" y="5285232"/>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06</a:t>
            </a:r>
          </a:p>
        </p:txBody>
      </p:sp>
      <p:sp>
        <p:nvSpPr>
          <p:cNvPr id="122" name="Pain 6"/>
          <p:cNvSpPr txBox="1"/>
          <p:nvPr/>
        </p:nvSpPr>
        <p:spPr>
          <a:xfrm>
            <a:off x="7302500" y="5285232"/>
            <a:ext cx="4879340" cy="548640"/>
          </a:xfrm>
          <a:prstGeom prst="rect">
            <a:avLst/>
          </a:prstGeom>
          <a:noFill/>
        </p:spPr>
        <p:txBody>
          <a:bodyPr wrap="square" lIns="0" tIns="0" rIns="0" bIns="0">
            <a:noAutofit/>
          </a:bodyPr>
          <a:lstStyle/>
          <a:p>
            <a:pPr algn="l">
              <a:lnSpc>
                <a:spcPct val="110000"/>
              </a:lnSpc>
            </a:pPr>
            <a:r>
              <a:rPr lang="en-US" sz="1800" spc="0" dirty="0">
                <a:solidFill>
                  <a:srgbClr val="A3A8B4"/>
                </a:solidFill>
                <a:latin typeface="Helvetica Neue Light"/>
                <a:cs typeface="Helvetica Neue Light"/>
              </a:rPr>
              <a:t>Alert noise</a:t>
            </a:r>
          </a:p>
        </p:txBody>
      </p:sp>
      <p:cxnSp>
        <p:nvCxnSpPr>
          <p:cNvPr id="123" name="Row divider"/>
          <p:cNvCxnSpPr/>
          <p:nvPr/>
        </p:nvCxnSpPr>
        <p:spPr>
          <a:xfrm>
            <a:off x="6753860" y="6089904"/>
            <a:ext cx="5427980" cy="0"/>
          </a:xfrm>
          <a:prstGeom prst="line">
            <a:avLst/>
          </a:prstGeom>
          <a:ln w="9525">
            <a:solidFill>
              <a:srgbClr val="2C2F38"/>
            </a:solidFill>
          </a:ln>
        </p:spPr>
      </p:cxnSp>
      <p:sp>
        <p:nvSpPr>
          <p:cNvPr id="124" name="Rank 7"/>
          <p:cNvSpPr txBox="1"/>
          <p:nvPr/>
        </p:nvSpPr>
        <p:spPr>
          <a:xfrm>
            <a:off x="6753860" y="6272784"/>
            <a:ext cx="548640" cy="411480"/>
          </a:xfrm>
          <a:prstGeom prst="rect">
            <a:avLst/>
          </a:prstGeom>
          <a:noFill/>
        </p:spPr>
        <p:txBody>
          <a:bodyPr wrap="square" lIns="0" tIns="0" rIns="0" bIns="0">
            <a:noAutofit/>
          </a:bodyPr>
          <a:lstStyle/>
          <a:p>
            <a:pPr algn="l">
              <a:lnSpc>
                <a:spcPct val="100000"/>
              </a:lnSpc>
            </a:pPr>
            <a:r>
              <a:rPr lang="en-US" sz="1800" spc="0" dirty="0">
                <a:solidFill>
                  <a:srgbClr val="E98C64"/>
                </a:solidFill>
                <a:latin typeface="Helvetica Neue Medium"/>
                <a:cs typeface="Helvetica Neue Medium"/>
              </a:rPr>
              <a:t>07</a:t>
            </a:r>
          </a:p>
        </p:txBody>
      </p:sp>
      <p:sp>
        <p:nvSpPr>
          <p:cNvPr id="125" name="Pain 7"/>
          <p:cNvSpPr txBox="1"/>
          <p:nvPr/>
        </p:nvSpPr>
        <p:spPr>
          <a:xfrm>
            <a:off x="7302500" y="6272784"/>
            <a:ext cx="4879340" cy="548640"/>
          </a:xfrm>
          <a:prstGeom prst="rect">
            <a:avLst/>
          </a:prstGeom>
          <a:noFill/>
        </p:spPr>
        <p:txBody>
          <a:bodyPr wrap="square" lIns="0" tIns="0" rIns="0" bIns="0">
            <a:noAutofit/>
          </a:bodyPr>
          <a:lstStyle/>
          <a:p>
            <a:pPr algn="l">
              <a:lnSpc>
                <a:spcPct val="110000"/>
              </a:lnSpc>
            </a:pPr>
            <a:r>
              <a:rPr lang="en-US" sz="1800" spc="0" dirty="0">
                <a:solidFill>
                  <a:srgbClr val="A3A8B4"/>
                </a:solidFill>
                <a:latin typeface="Helvetica Neue Light"/>
                <a:cs typeface="Helvetica Neue Light"/>
              </a:rPr>
              <a:t>Catalysts scattered across pages</a:t>
            </a:r>
          </a:p>
        </p:txBody>
      </p:sp>
      <p:pic>
        <p:nvPicPr>
          <p:cNvPr id="7"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Eyebrow"/>
          <p:cNvSpPr txBox="1"/>
          <p:nvPr/>
        </p:nvSpPr>
        <p:spPr>
          <a:xfrm>
            <a:off x="822960" y="914400"/>
            <a:ext cx="11358880" cy="320040"/>
          </a:xfrm>
          <a:prstGeom prst="rect">
            <a:avLst/>
          </a:prstGeom>
          <a:noFill/>
        </p:spPr>
        <p:txBody>
          <a:bodyPr wrap="square" lIns="0" tIns="0" rIns="0" bIns="0">
            <a:noAutofit/>
          </a:bodyPr>
          <a:lstStyle/>
          <a:p>
            <a:pPr algn="l">
              <a:lnSpc>
                <a:spcPct val="100000"/>
              </a:lnSpc>
              <a:spcAft>
                <a:spcPts val="300"/>
              </a:spcAft>
            </a:pPr>
            <a:r>
              <a:rPr lang="en-US" sz="1200" spc="300" dirty="0">
                <a:solidFill>
                  <a:srgbClr val="B5531F"/>
                </a:solidFill>
                <a:latin typeface="Helvetica Neue Medium"/>
                <a:cs typeface="Helvetica Neue Medium"/>
              </a:rPr>
              <a:t>FINVIZ AI SCREENER · DATA FOUNDATION</a:t>
            </a:r>
          </a:p>
        </p:txBody>
      </p:sp>
      <p:sp>
        <p:nvSpPr>
          <p:cNvPr id="3" name="Headline"/>
          <p:cNvSpPr txBox="1"/>
          <p:nvPr/>
        </p:nvSpPr>
        <p:spPr>
          <a:xfrm>
            <a:off x="822960" y="1371600"/>
            <a:ext cx="11358880" cy="822960"/>
          </a:xfrm>
          <a:prstGeom prst="rect">
            <a:avLst/>
          </a:prstGeom>
          <a:noFill/>
        </p:spPr>
        <p:txBody>
          <a:bodyPr wrap="square" lIns="0" tIns="0" rIns="0" bIns="0">
            <a:noAutofit/>
          </a:bodyPr>
          <a:lstStyle/>
          <a:p>
            <a:pPr algn="l">
              <a:lnSpc>
                <a:spcPct val="95000"/>
              </a:lnSpc>
              <a:spcAft>
                <a:spcPts val="300"/>
              </a:spcAft>
            </a:pPr>
            <a:r>
              <a:rPr lang="en-US" sz="4400" spc="-40" dirty="0">
                <a:solidFill>
                  <a:srgbClr val="14161D"/>
                </a:solidFill>
                <a:latin typeface="Helvetica Neue Medium"/>
                <a:cs typeface="Helvetica Neue Medium"/>
              </a:rPr>
              <a:t>Designed for </a:t>
            </a:r>
            <a:r>
              <a:rPr lang="en-US" sz="4400" spc="-40" dirty="0">
                <a:solidFill>
                  <a:srgbClr val="B5531F"/>
                </a:solidFill>
                <a:latin typeface="Helvetica Neue Medium"/>
                <a:cs typeface="Helvetica Neue Medium"/>
              </a:rPr>
              <a:t>what the data supports</a:t>
            </a:r>
            <a:r>
              <a:rPr lang="en-US" sz="4400" spc="-40" dirty="0">
                <a:solidFill>
                  <a:srgbClr val="14161D"/>
                </a:solidFill>
                <a:latin typeface="Helvetica Neue Medium"/>
                <a:cs typeface="Helvetica Neue Medium"/>
              </a:rPr>
              <a:t>.</a:t>
            </a:r>
          </a:p>
        </p:txBody>
      </p:sp>
      <p:sp>
        <p:nvSpPr>
          <p:cNvPr id="4" name="Column label"/>
          <p:cNvSpPr txBox="1"/>
          <p:nvPr/>
        </p:nvSpPr>
        <p:spPr>
          <a:xfrm>
            <a:off x="822960" y="2788920"/>
            <a:ext cx="2834640"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DATA SOURCE</a:t>
            </a:r>
          </a:p>
        </p:txBody>
      </p:sp>
      <p:sp>
        <p:nvSpPr>
          <p:cNvPr id="5" name="Column label"/>
          <p:cNvSpPr txBox="1"/>
          <p:nvPr/>
        </p:nvSpPr>
        <p:spPr>
          <a:xfrm>
            <a:off x="3931920" y="2788920"/>
            <a:ext cx="2743200"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USED FOR</a:t>
            </a:r>
          </a:p>
        </p:txBody>
      </p:sp>
      <p:sp>
        <p:nvSpPr>
          <p:cNvPr id="6" name="Column label"/>
          <p:cNvSpPr txBox="1"/>
          <p:nvPr/>
        </p:nvSpPr>
        <p:spPr>
          <a:xfrm>
            <a:off x="6903720" y="2788920"/>
            <a:ext cx="2057400"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VOLUME</a:t>
            </a:r>
          </a:p>
        </p:txBody>
      </p:sp>
      <p:sp>
        <p:nvSpPr>
          <p:cNvPr id="7" name="Column label"/>
          <p:cNvSpPr txBox="1"/>
          <p:nvPr/>
        </p:nvSpPr>
        <p:spPr>
          <a:xfrm>
            <a:off x="9235440" y="2788920"/>
            <a:ext cx="2944368"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QUALITY AND CONSTRAINTS</a:t>
            </a:r>
          </a:p>
        </p:txBody>
      </p:sp>
      <p:cxnSp>
        <p:nvCxnSpPr>
          <p:cNvPr id="8" name="Divider"/>
          <p:cNvCxnSpPr/>
          <p:nvPr/>
        </p:nvCxnSpPr>
        <p:spPr>
          <a:xfrm>
            <a:off x="822960" y="3127248"/>
            <a:ext cx="11356848" cy="0"/>
          </a:xfrm>
          <a:prstGeom prst="line">
            <a:avLst/>
          </a:prstGeom>
          <a:ln w="9525">
            <a:solidFill>
              <a:srgbClr val="E1E3E8"/>
            </a:solidFill>
          </a:ln>
        </p:spPr>
      </p:cxnSp>
      <p:sp>
        <p:nvSpPr>
          <p:cNvPr id="9" name="Data row 1"/>
          <p:cNvSpPr txBox="1"/>
          <p:nvPr/>
        </p:nvSpPr>
        <p:spPr>
          <a:xfrm>
            <a:off x="822960" y="3273552"/>
            <a:ext cx="2834640" cy="86868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Screener data</a:t>
            </a:r>
          </a:p>
          <a:p>
            <a:pPr algn="l">
              <a:lnSpc>
                <a:spcPct val="110000"/>
              </a:lnSpc>
              <a:spcAft>
                <a:spcPts val="300"/>
              </a:spcAft>
            </a:pPr>
            <a:r>
              <a:rPr lang="en-US" sz="1300" spc="0" dirty="0">
                <a:solidFill>
                  <a:srgbClr val="565C6B"/>
                </a:solidFill>
                <a:latin typeface="Helvetica Neue Light"/>
                <a:cs typeface="Helvetica Neue Light"/>
              </a:rPr>
              <a:t>89 filters, ~11,700 tickers</a:t>
            </a:r>
          </a:p>
        </p:txBody>
      </p:sp>
      <p:sp>
        <p:nvSpPr>
          <p:cNvPr id="10" name="Data row 1 col 2"/>
          <p:cNvSpPr txBox="1"/>
          <p:nvPr/>
        </p:nvSpPr>
        <p:spPr>
          <a:xfrm>
            <a:off x="3931920" y="3273552"/>
            <a:ext cx="27432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Examples → filters; why it matched; lenses</a:t>
            </a:r>
          </a:p>
        </p:txBody>
      </p:sp>
      <p:sp>
        <p:nvSpPr>
          <p:cNvPr id="11" name="Data row 1 col 3"/>
          <p:cNvSpPr txBox="1"/>
          <p:nvPr/>
        </p:nvSpPr>
        <p:spPr>
          <a:xfrm>
            <a:off x="6903720" y="3273552"/>
            <a:ext cx="20574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~11.7k tickers × 89 fields, daily; intraday on Elite</a:t>
            </a:r>
          </a:p>
        </p:txBody>
      </p:sp>
      <p:sp>
        <p:nvSpPr>
          <p:cNvPr id="12" name="Data row 1 col 4"/>
          <p:cNvSpPr txBox="1"/>
          <p:nvPr/>
        </p:nvSpPr>
        <p:spPr>
          <a:xfrm>
            <a:off x="9235440" y="3273552"/>
            <a:ext cx="2944368"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Free maps to preset buckets (marked ≈); exact values on Elite</a:t>
            </a:r>
          </a:p>
        </p:txBody>
      </p:sp>
      <p:cxnSp>
        <p:nvCxnSpPr>
          <p:cNvPr id="13" name="Divider"/>
          <p:cNvCxnSpPr/>
          <p:nvPr/>
        </p:nvCxnSpPr>
        <p:spPr>
          <a:xfrm>
            <a:off x="822960" y="4215384"/>
            <a:ext cx="11356848" cy="0"/>
          </a:xfrm>
          <a:prstGeom prst="line">
            <a:avLst/>
          </a:prstGeom>
          <a:ln w="9525">
            <a:solidFill>
              <a:srgbClr val="E1E3E8"/>
            </a:solidFill>
          </a:ln>
        </p:spPr>
      </p:cxnSp>
      <p:sp>
        <p:nvSpPr>
          <p:cNvPr id="14" name="Data row 2"/>
          <p:cNvSpPr txBox="1"/>
          <p:nvPr/>
        </p:nvSpPr>
        <p:spPr>
          <a:xfrm>
            <a:off x="822960" y="4343400"/>
            <a:ext cx="2834640" cy="86868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Price and volume bars</a:t>
            </a:r>
          </a:p>
          <a:p>
            <a:pPr algn="l">
              <a:lnSpc>
                <a:spcPct val="110000"/>
              </a:lnSpc>
              <a:spcAft>
                <a:spcPts val="300"/>
              </a:spcAft>
            </a:pPr>
            <a:r>
              <a:rPr lang="en-US" sz="1300" spc="0" dirty="0">
                <a:solidFill>
                  <a:srgbClr val="565C6B"/>
                </a:solidFill>
                <a:latin typeface="Helvetica Neue Light"/>
                <a:cs typeface="Helvetica Neue Light"/>
              </a:rPr>
              <a:t>Daily bars per ticker</a:t>
            </a:r>
          </a:p>
        </p:txBody>
      </p:sp>
      <p:sp>
        <p:nvSpPr>
          <p:cNvPr id="15" name="Data row 2 col 2"/>
          <p:cNvSpPr txBox="1"/>
          <p:nvPr/>
        </p:nvSpPr>
        <p:spPr>
          <a:xfrm>
            <a:off x="3931920" y="4343400"/>
            <a:ext cx="27432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Pattern detection; 30-day replay; reasons checks</a:t>
            </a:r>
          </a:p>
        </p:txBody>
      </p:sp>
      <p:sp>
        <p:nvSpPr>
          <p:cNvPr id="16" name="Data row 2 col 3"/>
          <p:cNvSpPr txBox="1"/>
          <p:nvPr/>
        </p:nvSpPr>
        <p:spPr>
          <a:xfrm>
            <a:off x="6903720" y="4343400"/>
            <a:ext cx="20574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3+ years of daily bars per ticker</a:t>
            </a:r>
          </a:p>
        </p:txBody>
      </p:sp>
      <p:sp>
        <p:nvSpPr>
          <p:cNvPr id="17" name="Data row 2 col 4"/>
          <p:cNvSpPr txBox="1"/>
          <p:nvPr/>
        </p:nvSpPr>
        <p:spPr>
          <a:xfrm>
            <a:off x="9235440" y="4343400"/>
            <a:ext cx="2944368"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Gaps and splits: the detector says “not enough data” instead of guessing</a:t>
            </a:r>
          </a:p>
        </p:txBody>
      </p:sp>
      <p:cxnSp>
        <p:nvCxnSpPr>
          <p:cNvPr id="18" name="Divider"/>
          <p:cNvCxnSpPr/>
          <p:nvPr/>
        </p:nvCxnSpPr>
        <p:spPr>
          <a:xfrm>
            <a:off x="822960" y="5285232"/>
            <a:ext cx="11356848" cy="0"/>
          </a:xfrm>
          <a:prstGeom prst="line">
            <a:avLst/>
          </a:prstGeom>
          <a:ln w="9525">
            <a:solidFill>
              <a:srgbClr val="E1E3E8"/>
            </a:solidFill>
          </a:ln>
        </p:spPr>
      </p:cxnSp>
      <p:sp>
        <p:nvSpPr>
          <p:cNvPr id="19" name="Data row 3"/>
          <p:cNvSpPr txBox="1"/>
          <p:nvPr/>
        </p:nvSpPr>
        <p:spPr>
          <a:xfrm>
            <a:off x="822960" y="5413248"/>
            <a:ext cx="2834640" cy="86868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Calendar, news, analysts</a:t>
            </a:r>
          </a:p>
          <a:p>
            <a:pPr algn="l">
              <a:lnSpc>
                <a:spcPct val="110000"/>
              </a:lnSpc>
              <a:spcAft>
                <a:spcPts val="300"/>
              </a:spcAft>
            </a:pPr>
            <a:r>
              <a:rPr lang="en-US" sz="1300" spc="0" dirty="0">
                <a:solidFill>
                  <a:srgbClr val="565C6B"/>
                </a:solidFill>
                <a:latin typeface="Helvetica Neue Light"/>
                <a:cs typeface="Helvetica Neue Light"/>
              </a:rPr>
              <a:t>Third-party feeds</a:t>
            </a:r>
          </a:p>
        </p:txBody>
      </p:sp>
      <p:sp>
        <p:nvSpPr>
          <p:cNvPr id="20" name="Data row 3 col 2"/>
          <p:cNvSpPr txBox="1"/>
          <p:nvPr/>
        </p:nvSpPr>
        <p:spPr>
          <a:xfrm>
            <a:off x="3931920" y="5413248"/>
            <a:ext cx="27432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Morning glance; insight cards; map notes</a:t>
            </a:r>
          </a:p>
        </p:txBody>
      </p:sp>
      <p:sp>
        <p:nvSpPr>
          <p:cNvPr id="21" name="Data row 3 col 3"/>
          <p:cNvSpPr txBox="1"/>
          <p:nvPr/>
        </p:nvSpPr>
        <p:spPr>
          <a:xfrm>
            <a:off x="6903720" y="5413248"/>
            <a:ext cx="20574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Dozens of sources a day</a:t>
            </a:r>
          </a:p>
        </p:txBody>
      </p:sp>
      <p:sp>
        <p:nvSpPr>
          <p:cNvPr id="22" name="Data row 3 col 4"/>
          <p:cNvSpPr txBox="1"/>
          <p:nvPr/>
        </p:nvSpPr>
        <p:spPr>
          <a:xfrm>
            <a:off x="9235440" y="5413248"/>
            <a:ext cx="2944368"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Every claim cites source and time; no cause inferred without a source</a:t>
            </a:r>
          </a:p>
        </p:txBody>
      </p:sp>
      <p:cxnSp>
        <p:nvCxnSpPr>
          <p:cNvPr id="23" name="Divider"/>
          <p:cNvCxnSpPr/>
          <p:nvPr/>
        </p:nvCxnSpPr>
        <p:spPr>
          <a:xfrm>
            <a:off x="822960" y="6355080"/>
            <a:ext cx="11356848" cy="0"/>
          </a:xfrm>
          <a:prstGeom prst="line">
            <a:avLst/>
          </a:prstGeom>
          <a:ln w="9525">
            <a:solidFill>
              <a:srgbClr val="E1E3E8"/>
            </a:solidFill>
          </a:ln>
        </p:spPr>
      </p:cxnSp>
      <p:sp>
        <p:nvSpPr>
          <p:cNvPr id="24" name="Data row 4"/>
          <p:cNvSpPr txBox="1"/>
          <p:nvPr/>
        </p:nvSpPr>
        <p:spPr>
          <a:xfrm>
            <a:off x="822960" y="6483096"/>
            <a:ext cx="2834640" cy="86868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His data, opt-in</a:t>
            </a:r>
          </a:p>
          <a:p>
            <a:pPr algn="l">
              <a:lnSpc>
                <a:spcPct val="110000"/>
              </a:lnSpc>
              <a:spcAft>
                <a:spcPts val="300"/>
              </a:spcAft>
            </a:pPr>
            <a:r>
              <a:rPr lang="en-US" sz="1300" spc="0" dirty="0">
                <a:solidFill>
                  <a:srgbClr val="565C6B"/>
                </a:solidFill>
                <a:latin typeface="Helvetica Neue Light"/>
                <a:cs typeface="Helvetica Neue Light"/>
              </a:rPr>
              <a:t>Screens, reasons, notes, exit lines</a:t>
            </a:r>
          </a:p>
        </p:txBody>
      </p:sp>
      <p:sp>
        <p:nvSpPr>
          <p:cNvPr id="25" name="Data row 4 col 2"/>
          <p:cNvSpPr txBox="1"/>
          <p:nvPr/>
        </p:nvSpPr>
        <p:spPr>
          <a:xfrm>
            <a:off x="3931920" y="6483096"/>
            <a:ext cx="27432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Personal rules; what to watch and when</a:t>
            </a:r>
          </a:p>
        </p:txBody>
      </p:sp>
      <p:sp>
        <p:nvSpPr>
          <p:cNvPr id="26" name="Data row 4 col 3"/>
          <p:cNvSpPr txBox="1"/>
          <p:nvPr/>
        </p:nvSpPr>
        <p:spPr>
          <a:xfrm>
            <a:off x="6903720" y="6483096"/>
            <a:ext cx="20574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Small, per user</a:t>
            </a:r>
          </a:p>
        </p:txBody>
      </p:sp>
      <p:sp>
        <p:nvSpPr>
          <p:cNvPr id="27" name="Data row 4 col 4"/>
          <p:cNvSpPr txBox="1"/>
          <p:nvPr/>
        </p:nvSpPr>
        <p:spPr>
          <a:xfrm>
            <a:off x="9235440" y="6483096"/>
            <a:ext cx="2944368"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Visible, editable, deletable; never turned into recommendations</a:t>
            </a:r>
          </a:p>
        </p:txBody>
      </p:sp>
      <p:cxnSp>
        <p:nvCxnSpPr>
          <p:cNvPr id="28" name="Divider"/>
          <p:cNvCxnSpPr/>
          <p:nvPr/>
        </p:nvCxnSpPr>
        <p:spPr>
          <a:xfrm>
            <a:off x="822960" y="7424927"/>
            <a:ext cx="11356848" cy="0"/>
          </a:xfrm>
          <a:prstGeom prst="line">
            <a:avLst/>
          </a:prstGeom>
          <a:ln w="9525">
            <a:solidFill>
              <a:srgbClr val="E1E3E8"/>
            </a:solidFill>
          </a:ln>
        </p:spPr>
      </p:cxnSp>
      <p:sp>
        <p:nvSpPr>
          <p:cNvPr id="29" name="Data row 5"/>
          <p:cNvSpPr txBox="1"/>
          <p:nvPr/>
        </p:nvSpPr>
        <p:spPr>
          <a:xfrm>
            <a:off x="822960" y="7552944"/>
            <a:ext cx="2834640" cy="86868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Labels</a:t>
            </a:r>
          </a:p>
          <a:p>
            <a:pPr algn="l">
              <a:lnSpc>
                <a:spcPct val="110000"/>
              </a:lnSpc>
              <a:spcAft>
                <a:spcPts val="300"/>
              </a:spcAft>
            </a:pPr>
            <a:r>
              <a:rPr lang="en-US" sz="1300" spc="0" dirty="0">
                <a:solidFill>
                  <a:srgbClr val="565C6B"/>
                </a:solidFill>
                <a:latin typeface="Helvetica Neue Light"/>
                <a:cs typeface="Helvetica Neue Light"/>
              </a:rPr>
              <a:t>His corrections + weekly audits</a:t>
            </a:r>
          </a:p>
        </p:txBody>
      </p:sp>
      <p:sp>
        <p:nvSpPr>
          <p:cNvPr id="30" name="Data row 5 col 2"/>
          <p:cNvSpPr txBox="1"/>
          <p:nvPr/>
        </p:nvSpPr>
        <p:spPr>
          <a:xfrm>
            <a:off x="3931920" y="7552944"/>
            <a:ext cx="27432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Evaluate and tune detection and alerts</a:t>
            </a:r>
          </a:p>
        </p:txBody>
      </p:sp>
      <p:sp>
        <p:nvSpPr>
          <p:cNvPr id="31" name="Data row 5 col 3"/>
          <p:cNvSpPr txBox="1"/>
          <p:nvPr/>
        </p:nvSpPr>
        <p:spPr>
          <a:xfrm>
            <a:off x="6903720" y="7552944"/>
            <a:ext cx="2057400"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Grows with use; 50 detections audited a week</a:t>
            </a:r>
          </a:p>
        </p:txBody>
      </p:sp>
      <p:sp>
        <p:nvSpPr>
          <p:cNvPr id="32" name="Data row 5 col 4"/>
          <p:cNvSpPr txBox="1"/>
          <p:nvPr/>
        </p:nvSpPr>
        <p:spPr>
          <a:xfrm>
            <a:off x="9235440" y="7552944"/>
            <a:ext cx="2944368" cy="86868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Corrections skew toward noise; sampled audits keep the error rate fair</a:t>
            </a:r>
          </a:p>
        </p:txBody>
      </p:sp>
      <p:cxnSp>
        <p:nvCxnSpPr>
          <p:cNvPr id="33" name="Divider"/>
          <p:cNvCxnSpPr/>
          <p:nvPr/>
        </p:nvCxnSpPr>
        <p:spPr>
          <a:xfrm>
            <a:off x="822960" y="8494776"/>
            <a:ext cx="11356848" cy="0"/>
          </a:xfrm>
          <a:prstGeom prst="line">
            <a:avLst/>
          </a:prstGeom>
          <a:ln w="9525">
            <a:solidFill>
              <a:srgbClr val="E1E3E8"/>
            </a:solidFill>
          </a:ln>
        </p:spPr>
      </p:cxnSp>
      <p:sp>
        <p:nvSpPr>
          <p:cNvPr id="34" name="Source"/>
          <p:cNvSpPr txBox="1"/>
          <p:nvPr/>
        </p:nvSpPr>
        <p:spPr>
          <a:xfrm>
            <a:off x="822960" y="8641080"/>
            <a:ext cx="11358880" cy="274320"/>
          </a:xfrm>
          <a:prstGeom prst="rect">
            <a:avLst/>
          </a:prstGeom>
          <a:noFill/>
        </p:spPr>
        <p:txBody>
          <a:bodyPr wrap="square" lIns="0" tIns="0" rIns="0" bIns="0">
            <a:noAutofit/>
          </a:bodyPr>
          <a:lstStyle/>
          <a:p>
            <a:pPr algn="l">
              <a:lnSpc>
                <a:spcPct val="100000"/>
              </a:lnSpc>
              <a:spcAft>
                <a:spcPts val="300"/>
              </a:spcAft>
            </a:pPr>
            <a:r>
              <a:rPr lang="en-US" sz="1100" spc="0" dirty="0">
                <a:solidFill>
                  <a:srgbClr val="858A97"/>
                </a:solidFill>
                <a:latin typeface="Helvetica Neue Light"/>
                <a:cs typeface="Helvetica Neue Light"/>
              </a:rPr>
              <a:t>Volumes are design estimates to validate with FinViz engineering. Every AI output shows the data behind it and its time; when data is missing, the product says so.</a:t>
            </a:r>
          </a:p>
        </p:txBody>
      </p:sp>
      <p:pic>
        <p:nvPicPr>
          <p:cNvPr id="3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FINVIZ AI SCREENER · THE SOLUTION</a:t>
            </a:r>
          </a:p>
        </p:txBody>
      </p:sp>
      <p:sp>
        <p:nvSpPr>
          <p:cNvPr id="102" name="Headline"/>
          <p:cNvSpPr txBox="1"/>
          <p:nvPr/>
        </p:nvSpPr>
        <p:spPr>
          <a:xfrm>
            <a:off x="822960" y="2194560"/>
            <a:ext cx="11358880" cy="1828800"/>
          </a:xfrm>
          <a:prstGeom prst="rect">
            <a:avLst/>
          </a:prstGeom>
          <a:noFill/>
        </p:spPr>
        <p:txBody>
          <a:bodyPr wrap="square" lIns="0" tIns="0" rIns="0" bIns="0" anchor="t">
            <a:noAutofit/>
          </a:bodyPr>
          <a:lstStyle/>
          <a:p>
            <a:pPr algn="l">
              <a:lnSpc>
                <a:spcPct val="95000"/>
              </a:lnSpc>
              <a:spcAft>
                <a:spcPts val="300"/>
              </a:spcAft>
            </a:pPr>
            <a:r>
              <a:rPr lang="en-US" sz="6000" spc="-40" dirty="0">
                <a:solidFill>
                  <a:srgbClr val="F5F5F7"/>
                </a:solidFill>
                <a:latin typeface="Helvetica Neue Medium"/>
                <a:cs typeface="Helvetica Neue Medium"/>
              </a:rPr>
              <a:t>One trade, </a:t>
            </a:r>
            <a:r>
              <a:rPr lang="en-US" sz="6000" spc="-40" dirty="0">
                <a:solidFill>
                  <a:srgbClr val="E98C64"/>
                </a:solidFill>
                <a:latin typeface="Helvetica Neue Medium"/>
                <a:cs typeface="Helvetica Neue Medium"/>
              </a:rPr>
              <a:t>one trading day</a:t>
            </a:r>
            <a:r>
              <a:rPr lang="en-US" sz="6000" spc="-40" dirty="0">
                <a:solidFill>
                  <a:srgbClr val="F5F5F7"/>
                </a:solidFill>
                <a:latin typeface="Helvetica Neue Medium"/>
                <a:cs typeface="Helvetica Neue Medium"/>
              </a:rPr>
              <a:t>.</a:t>
            </a:r>
          </a:p>
        </p:txBody>
      </p:sp>
      <p:sp>
        <p:nvSpPr>
          <p:cNvPr id="103" name="Body"/>
          <p:cNvSpPr txBox="1"/>
          <p:nvPr/>
        </p:nvSpPr>
        <p:spPr>
          <a:xfrm>
            <a:off x="822960" y="4206240"/>
            <a:ext cx="9601200" cy="182880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Hi-fi first: one trade followed through one trading day, Monday evening to Sunday. 19 screens designed in the FinViz dark theme, built only from the design system’s tokens. Purple marks AI and nothing else.</a:t>
            </a:r>
          </a:p>
        </p:txBody>
      </p:sp>
      <p:pic>
        <p:nvPicPr>
          <p:cNvPr id="104"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a:t>
            </a:r>
          </a:p>
        </p:txBody>
      </p:sp>
      <p:sp>
        <p:nvSpPr>
          <p:cNvPr id="102" name="Headline"/>
          <p:cNvSpPr txBox="1"/>
          <p:nvPr/>
        </p:nvSpPr>
        <p:spPr>
          <a:xfrm>
            <a:off x="822960" y="1371600"/>
            <a:ext cx="11358880" cy="118872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One trade, followed through </a:t>
            </a:r>
            <a:r>
              <a:rPr lang="en-US" sz="4000" spc="-40" dirty="0">
                <a:solidFill>
                  <a:srgbClr val="B5531F"/>
                </a:solidFill>
                <a:latin typeface="Helvetica Neue Medium"/>
                <a:cs typeface="Helvetica Neue Medium"/>
              </a:rPr>
              <a:t>one trading day</a:t>
            </a:r>
            <a:r>
              <a:rPr lang="en-US" sz="4000" spc="-40" dirty="0">
                <a:solidFill>
                  <a:srgbClr val="14161D"/>
                </a:solidFill>
                <a:latin typeface="Helvetica Neue Medium"/>
                <a:cs typeface="Helvetica Neue Medium"/>
              </a:rPr>
              <a:t>.</a:t>
            </a:r>
          </a:p>
        </p:txBody>
      </p:sp>
      <p:sp>
        <p:nvSpPr>
          <p:cNvPr id="103" name="Body"/>
          <p:cNvSpPr txBox="1"/>
          <p:nvPr/>
        </p:nvSpPr>
        <p:spPr>
          <a:xfrm>
            <a:off x="822960" y="2743200"/>
            <a:ext cx="11358880" cy="1463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Growth Gary, a swing trader with a day job, finds an idea at night, checks it before work, gets one alert while he’s busy, and decides after the close whether his reasons still hold. FinViz watches and explains at the right moment; Gary makes every decision, in his own broker.</a:t>
            </a:r>
          </a:p>
        </p:txBody>
      </p:sp>
      <p:cxnSp>
        <p:nvCxnSpPr>
          <p:cNvPr id="104" name="Divider"/>
          <p:cNvCxnSpPr/>
          <p:nvPr/>
        </p:nvCxnSpPr>
        <p:spPr>
          <a:xfrm>
            <a:off x="822960" y="4892040"/>
            <a:ext cx="11358880" cy="0"/>
          </a:xfrm>
          <a:prstGeom prst="line">
            <a:avLst/>
          </a:prstGeom>
          <a:ln w="28575">
            <a:solidFill>
              <a:srgbClr val="B5531F"/>
            </a:solidFill>
          </a:ln>
        </p:spPr>
      </p:cxnSp>
      <p:sp>
        <p:nvSpPr>
          <p:cNvPr id="105" name="Stage"/>
          <p:cNvSpPr txBox="1"/>
          <p:nvPr/>
        </p:nvSpPr>
        <p:spPr>
          <a:xfrm>
            <a:off x="822960" y="5120640"/>
            <a:ext cx="2052320" cy="292608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1</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8–10 PM</a:t>
            </a:r>
          </a:p>
          <a:p>
            <a:pPr algn="l">
              <a:lnSpc>
                <a:spcPct val="105000"/>
              </a:lnSpc>
              <a:spcAft>
                <a:spcPts val="350"/>
              </a:spcAft>
            </a:pPr>
            <a:r>
              <a:rPr lang="en-US" sz="1700" spc="0" dirty="0">
                <a:solidFill>
                  <a:srgbClr val="14161D"/>
                </a:solidFill>
                <a:latin typeface="Helvetica Neue Medium"/>
                <a:cs typeface="Helvetica Neue Medium"/>
              </a:rPr>
              <a:t>Evening</a:t>
            </a:r>
          </a:p>
          <a:p>
            <a:pPr algn="l">
              <a:lnSpc>
                <a:spcPct val="125000"/>
              </a:lnSpc>
              <a:spcAft>
                <a:spcPts val="350"/>
              </a:spcAft>
            </a:pPr>
            <a:r>
              <a:rPr lang="en-US" sz="1550" spc="0" dirty="0">
                <a:solidFill>
                  <a:srgbClr val="565C6B"/>
                </a:solidFill>
                <a:latin typeface="Helvetica Neue Light"/>
                <a:cs typeface="Helvetica Neue Light"/>
              </a:rPr>
              <a:t>Reviews what’s new, pins 3–5 names, taps “Watch these for me”</a:t>
            </a:r>
          </a:p>
        </p:txBody>
      </p:sp>
      <p:sp>
        <p:nvSpPr>
          <p:cNvPr id="106" name="Stage"/>
          <p:cNvSpPr txBox="1"/>
          <p:nvPr/>
        </p:nvSpPr>
        <p:spPr>
          <a:xfrm>
            <a:off x="3149600" y="5120640"/>
            <a:ext cx="2052320" cy="292608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2</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WHILE HE SLEEPS</a:t>
            </a:r>
          </a:p>
          <a:p>
            <a:pPr algn="l">
              <a:lnSpc>
                <a:spcPct val="105000"/>
              </a:lnSpc>
              <a:spcAft>
                <a:spcPts val="350"/>
              </a:spcAft>
            </a:pPr>
            <a:r>
              <a:rPr lang="en-US" sz="1700" spc="0" dirty="0">
                <a:solidFill>
                  <a:srgbClr val="14161D"/>
                </a:solidFill>
                <a:latin typeface="Helvetica Neue Medium"/>
                <a:cs typeface="Helvetica Neue Medium"/>
              </a:rPr>
              <a:t>Overnight</a:t>
            </a:r>
          </a:p>
          <a:p>
            <a:pPr algn="l">
              <a:lnSpc>
                <a:spcPct val="125000"/>
              </a:lnSpc>
              <a:spcAft>
                <a:spcPts val="350"/>
              </a:spcAft>
            </a:pPr>
            <a:r>
              <a:rPr lang="en-US" sz="1550" spc="0" dirty="0">
                <a:solidFill>
                  <a:srgbClr val="565C6B"/>
                </a:solidFill>
                <a:latin typeface="Helvetica Neue Light"/>
                <a:cs typeface="Helvetica Neue Light"/>
              </a:rPr>
              <a:t>Nothing to do; a bounded agent re-checks his names</a:t>
            </a:r>
          </a:p>
        </p:txBody>
      </p:sp>
      <p:sp>
        <p:nvSpPr>
          <p:cNvPr id="107" name="Stage"/>
          <p:cNvSpPr txBox="1"/>
          <p:nvPr/>
        </p:nvSpPr>
        <p:spPr>
          <a:xfrm>
            <a:off x="5476240" y="5120640"/>
            <a:ext cx="2052320" cy="292608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3</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7:30 AM</a:t>
            </a:r>
          </a:p>
          <a:p>
            <a:pPr algn="l">
              <a:lnSpc>
                <a:spcPct val="105000"/>
              </a:lnSpc>
              <a:spcAft>
                <a:spcPts val="350"/>
              </a:spcAft>
            </a:pPr>
            <a:r>
              <a:rPr lang="en-US" sz="1700" spc="0" dirty="0">
                <a:solidFill>
                  <a:srgbClr val="14161D"/>
                </a:solidFill>
                <a:latin typeface="Helvetica Neue Medium"/>
                <a:cs typeface="Helvetica Neue Medium"/>
              </a:rPr>
              <a:t>Before work</a:t>
            </a:r>
          </a:p>
          <a:p>
            <a:pPr algn="l">
              <a:lnSpc>
                <a:spcPct val="125000"/>
              </a:lnSpc>
              <a:spcAft>
                <a:spcPts val="350"/>
              </a:spcAft>
            </a:pPr>
            <a:r>
              <a:rPr lang="en-US" sz="1550" spc="0" dirty="0">
                <a:solidFill>
                  <a:srgbClr val="565C6B"/>
                </a:solidFill>
                <a:latin typeface="Helvetica Neue Light"/>
                <a:cs typeface="Helvetica Neue Light"/>
              </a:rPr>
              <a:t>Reads one short note</a:t>
            </a:r>
          </a:p>
        </p:txBody>
      </p:sp>
      <p:sp>
        <p:nvSpPr>
          <p:cNvPr id="108" name="Stage"/>
          <p:cNvSpPr txBox="1"/>
          <p:nvPr/>
        </p:nvSpPr>
        <p:spPr>
          <a:xfrm>
            <a:off x="7802880" y="5120640"/>
            <a:ext cx="2052320" cy="292608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4</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9:30 AM–4 PM</a:t>
            </a:r>
          </a:p>
          <a:p>
            <a:pPr algn="l">
              <a:lnSpc>
                <a:spcPct val="105000"/>
              </a:lnSpc>
              <a:spcAft>
                <a:spcPts val="350"/>
              </a:spcAft>
            </a:pPr>
            <a:r>
              <a:rPr lang="en-US" sz="1700" spc="0" dirty="0">
                <a:solidFill>
                  <a:srgbClr val="14161D"/>
                </a:solidFill>
                <a:latin typeface="Helvetica Neue Medium"/>
                <a:cs typeface="Helvetica Neue Medium"/>
              </a:rPr>
              <a:t>During work</a:t>
            </a:r>
          </a:p>
          <a:p>
            <a:pPr algn="l">
              <a:lnSpc>
                <a:spcPct val="125000"/>
              </a:lnSpc>
              <a:spcAft>
                <a:spcPts val="350"/>
              </a:spcAft>
            </a:pPr>
            <a:r>
              <a:rPr lang="en-US" sz="1550" spc="0" dirty="0">
                <a:solidFill>
                  <a:srgbClr val="565C6B"/>
                </a:solidFill>
                <a:latin typeface="Helvetica Neue Light"/>
                <a:cs typeface="Helvetica Neue Light"/>
              </a:rPr>
              <a:t>Taps one alert, if it comes</a:t>
            </a:r>
          </a:p>
        </p:txBody>
      </p:sp>
      <p:sp>
        <p:nvSpPr>
          <p:cNvPr id="109" name="Stage"/>
          <p:cNvSpPr txBox="1"/>
          <p:nvPr/>
        </p:nvSpPr>
        <p:spPr>
          <a:xfrm>
            <a:off x="10129520" y="5120640"/>
            <a:ext cx="2052320" cy="292608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5</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4:30 PM</a:t>
            </a:r>
          </a:p>
          <a:p>
            <a:pPr algn="l">
              <a:lnSpc>
                <a:spcPct val="105000"/>
              </a:lnSpc>
              <a:spcAft>
                <a:spcPts val="350"/>
              </a:spcAft>
            </a:pPr>
            <a:r>
              <a:rPr lang="en-US" sz="1700" spc="0" dirty="0">
                <a:solidFill>
                  <a:srgbClr val="14161D"/>
                </a:solidFill>
                <a:latin typeface="Helvetica Neue Medium"/>
                <a:cs typeface="Helvetica Neue Medium"/>
              </a:rPr>
              <a:t>After the close</a:t>
            </a:r>
          </a:p>
          <a:p>
            <a:pPr algn="l">
              <a:lnSpc>
                <a:spcPct val="125000"/>
              </a:lnSpc>
              <a:spcAft>
                <a:spcPts val="350"/>
              </a:spcAft>
            </a:pPr>
            <a:r>
              <a:rPr lang="en-US" sz="1550" spc="0" dirty="0">
                <a:solidFill>
                  <a:srgbClr val="565C6B"/>
                </a:solidFill>
                <a:latin typeface="Helvetica Neue Light"/>
                <a:cs typeface="Helvetica Neue Light"/>
              </a:rPr>
              <a:t>Decides: hold, or exit in his own broker</a:t>
            </a:r>
          </a:p>
        </p:txBody>
      </p:sp>
      <p:pic>
        <p:nvPicPr>
          <p:cNvPr id="11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The whole trading day</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One trade, Monday evening to Sunday. Every screen is designed in hi-fi and linked as a clickable prototype.</a:t>
            </a:r>
          </a:p>
        </p:txBody>
      </p:sp>
      <p:pic>
        <p:nvPicPr>
          <p:cNvPr id="104" name="Hi-fi screen"/>
          <p:cNvPicPr>
            <a:picLocks noChangeAspect="1"/>
          </p:cNvPicPr>
          <p:nvPr/>
        </p:nvPicPr>
        <p:blipFill>
          <a:blip r:embed="rId2"/>
          <a:srcRect b="10598"/>
          <a:stretch>
            <a:fillRect/>
          </a:stretch>
        </p:blipFill>
        <p:spPr>
          <a:xfrm>
            <a:off x="822960" y="2011680"/>
            <a:ext cx="2140102" cy="1097488"/>
          </a:xfrm>
          <a:prstGeom prst="rect">
            <a:avLst/>
          </a:prstGeom>
          <a:ln w="9525">
            <a:solidFill>
              <a:srgbClr val="D3D6DC"/>
            </a:solidFill>
          </a:ln>
        </p:spPr>
      </p:pic>
      <p:sp>
        <p:nvSpPr>
          <p:cNvPr id="105" name="Cap 1"/>
          <p:cNvSpPr txBox="1"/>
          <p:nvPr/>
        </p:nvSpPr>
        <p:spPr>
          <a:xfrm>
            <a:off x="822960" y="3154888"/>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01  </a:t>
            </a:r>
            <a:r>
              <a:rPr lang="en-US" sz="1050" spc="0" dirty="0">
                <a:solidFill>
                  <a:srgbClr val="14161D"/>
                </a:solidFill>
                <a:latin typeface="Helvetica Neue Medium"/>
                <a:cs typeface="Helvetica Neue Medium"/>
              </a:rPr>
              <a:t>Show It</a:t>
            </a:r>
          </a:p>
          <a:p>
            <a:pPr algn="l">
              <a:lnSpc>
                <a:spcPct val="100000"/>
              </a:lnSpc>
              <a:spcAft>
                <a:spcPts val="0"/>
              </a:spcAft>
            </a:pPr>
            <a:r>
              <a:rPr lang="en-US" sz="950" spc="0" dirty="0">
                <a:solidFill>
                  <a:srgbClr val="858A97"/>
                </a:solidFill>
                <a:latin typeface="Helvetica Neue Light"/>
                <a:cs typeface="Helvetica Neue Light"/>
              </a:rPr>
              <a:t>Mon 8:05 PM</a:t>
            </a:r>
          </a:p>
        </p:txBody>
      </p:sp>
      <p:pic>
        <p:nvPicPr>
          <p:cNvPr id="106" name="Hi-fi screen"/>
          <p:cNvPicPr>
            <a:picLocks noChangeAspect="1"/>
          </p:cNvPicPr>
          <p:nvPr/>
        </p:nvPicPr>
        <p:blipFill>
          <a:blip r:embed="rId3"/>
          <a:stretch>
            <a:fillRect/>
          </a:stretch>
        </p:blipFill>
        <p:spPr>
          <a:xfrm>
            <a:off x="3127654" y="2011680"/>
            <a:ext cx="2140102" cy="1097488"/>
          </a:xfrm>
          <a:prstGeom prst="rect">
            <a:avLst/>
          </a:prstGeom>
          <a:ln w="9525">
            <a:solidFill>
              <a:srgbClr val="D3D6DC"/>
            </a:solidFill>
          </a:ln>
        </p:spPr>
      </p:pic>
      <p:sp>
        <p:nvSpPr>
          <p:cNvPr id="107" name="Cap 2"/>
          <p:cNvSpPr txBox="1"/>
          <p:nvPr/>
        </p:nvSpPr>
        <p:spPr>
          <a:xfrm>
            <a:off x="3127654" y="3154888"/>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02  </a:t>
            </a:r>
            <a:r>
              <a:rPr lang="en-US" sz="1050" spc="0" dirty="0">
                <a:solidFill>
                  <a:srgbClr val="14161D"/>
                </a:solidFill>
                <a:latin typeface="Helvetica Neue Medium"/>
                <a:cs typeface="Helvetica Neue Medium"/>
              </a:rPr>
              <a:t>Since last night</a:t>
            </a:r>
          </a:p>
          <a:p>
            <a:pPr algn="l">
              <a:lnSpc>
                <a:spcPct val="100000"/>
              </a:lnSpc>
              <a:spcAft>
                <a:spcPts val="0"/>
              </a:spcAft>
            </a:pPr>
            <a:r>
              <a:rPr lang="en-US" sz="950" spc="0" dirty="0">
                <a:solidFill>
                  <a:srgbClr val="858A97"/>
                </a:solidFill>
                <a:latin typeface="Helvetica Neue Light"/>
                <a:cs typeface="Helvetica Neue Light"/>
              </a:rPr>
              <a:t>Mon 8:10 PM</a:t>
            </a:r>
          </a:p>
        </p:txBody>
      </p:sp>
      <p:pic>
        <p:nvPicPr>
          <p:cNvPr id="108" name="Hi-fi screen"/>
          <p:cNvPicPr>
            <a:picLocks noChangeAspect="1"/>
          </p:cNvPicPr>
          <p:nvPr/>
        </p:nvPicPr>
        <p:blipFill>
          <a:blip r:embed="rId4"/>
          <a:srcRect b="13020"/>
          <a:stretch>
            <a:fillRect/>
          </a:stretch>
        </p:blipFill>
        <p:spPr>
          <a:xfrm>
            <a:off x="5432348" y="2011680"/>
            <a:ext cx="2140102" cy="1097488"/>
          </a:xfrm>
          <a:prstGeom prst="rect">
            <a:avLst/>
          </a:prstGeom>
          <a:ln w="9525">
            <a:solidFill>
              <a:srgbClr val="D3D6DC"/>
            </a:solidFill>
          </a:ln>
        </p:spPr>
      </p:pic>
      <p:sp>
        <p:nvSpPr>
          <p:cNvPr id="109" name="Cap 3"/>
          <p:cNvSpPr txBox="1"/>
          <p:nvPr/>
        </p:nvSpPr>
        <p:spPr>
          <a:xfrm>
            <a:off x="5432348" y="3154888"/>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03  </a:t>
            </a:r>
            <a:r>
              <a:rPr lang="en-US" sz="1050" spc="0" dirty="0">
                <a:solidFill>
                  <a:srgbClr val="14161D"/>
                </a:solidFill>
                <a:latin typeface="Helvetica Neue Medium"/>
                <a:cs typeface="Helvetica Neue Medium"/>
              </a:rPr>
              <a:t>Lens grid</a:t>
            </a:r>
          </a:p>
          <a:p>
            <a:pPr algn="l">
              <a:lnSpc>
                <a:spcPct val="100000"/>
              </a:lnSpc>
              <a:spcAft>
                <a:spcPts val="0"/>
              </a:spcAft>
            </a:pPr>
            <a:r>
              <a:rPr lang="en-US" sz="950" spc="0" dirty="0">
                <a:solidFill>
                  <a:srgbClr val="858A97"/>
                </a:solidFill>
                <a:latin typeface="Helvetica Neue Light"/>
                <a:cs typeface="Helvetica Neue Light"/>
              </a:rPr>
              <a:t>Mon 8:20 PM</a:t>
            </a:r>
          </a:p>
        </p:txBody>
      </p:sp>
      <p:pic>
        <p:nvPicPr>
          <p:cNvPr id="110" name="Hi-fi screen"/>
          <p:cNvPicPr>
            <a:picLocks noChangeAspect="1"/>
          </p:cNvPicPr>
          <p:nvPr/>
        </p:nvPicPr>
        <p:blipFill>
          <a:blip r:embed="rId5"/>
          <a:srcRect b="14629"/>
          <a:stretch>
            <a:fillRect/>
          </a:stretch>
        </p:blipFill>
        <p:spPr>
          <a:xfrm>
            <a:off x="7737043" y="2011680"/>
            <a:ext cx="2140102" cy="1097488"/>
          </a:xfrm>
          <a:prstGeom prst="rect">
            <a:avLst/>
          </a:prstGeom>
          <a:ln w="9525">
            <a:solidFill>
              <a:srgbClr val="D3D6DC"/>
            </a:solidFill>
          </a:ln>
        </p:spPr>
      </p:pic>
      <p:sp>
        <p:nvSpPr>
          <p:cNvPr id="111" name="Cap 4"/>
          <p:cNvSpPr txBox="1"/>
          <p:nvPr/>
        </p:nvSpPr>
        <p:spPr>
          <a:xfrm>
            <a:off x="7737043" y="3154888"/>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04  </a:t>
            </a:r>
            <a:r>
              <a:rPr lang="en-US" sz="1050" spc="0" dirty="0">
                <a:solidFill>
                  <a:srgbClr val="14161D"/>
                </a:solidFill>
                <a:latin typeface="Helvetica Neue Medium"/>
                <a:cs typeface="Helvetica Neue Medium"/>
              </a:rPr>
              <a:t>Linked compare</a:t>
            </a:r>
          </a:p>
          <a:p>
            <a:pPr algn="l">
              <a:lnSpc>
                <a:spcPct val="100000"/>
              </a:lnSpc>
              <a:spcAft>
                <a:spcPts val="0"/>
              </a:spcAft>
            </a:pPr>
            <a:r>
              <a:rPr lang="en-US" sz="950" spc="0" dirty="0">
                <a:solidFill>
                  <a:srgbClr val="858A97"/>
                </a:solidFill>
                <a:latin typeface="Helvetica Neue Light"/>
                <a:cs typeface="Helvetica Neue Light"/>
              </a:rPr>
              <a:t>Mon 8:26 PM</a:t>
            </a:r>
          </a:p>
        </p:txBody>
      </p:sp>
      <p:pic>
        <p:nvPicPr>
          <p:cNvPr id="112" name="Hi-fi screen"/>
          <p:cNvPicPr>
            <a:picLocks noChangeAspect="1"/>
          </p:cNvPicPr>
          <p:nvPr/>
        </p:nvPicPr>
        <p:blipFill>
          <a:blip r:embed="rId6"/>
          <a:srcRect b="16558"/>
          <a:stretch>
            <a:fillRect/>
          </a:stretch>
        </p:blipFill>
        <p:spPr>
          <a:xfrm>
            <a:off x="10041737" y="2011680"/>
            <a:ext cx="2140102" cy="1097488"/>
          </a:xfrm>
          <a:prstGeom prst="rect">
            <a:avLst/>
          </a:prstGeom>
          <a:ln w="9525">
            <a:solidFill>
              <a:srgbClr val="D3D6DC"/>
            </a:solidFill>
          </a:ln>
        </p:spPr>
      </p:pic>
      <p:sp>
        <p:nvSpPr>
          <p:cNvPr id="113" name="Cap 5"/>
          <p:cNvSpPr txBox="1"/>
          <p:nvPr/>
        </p:nvSpPr>
        <p:spPr>
          <a:xfrm>
            <a:off x="10041737" y="3154888"/>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05  </a:t>
            </a:r>
            <a:r>
              <a:rPr lang="en-US" sz="1050" spc="0" dirty="0">
                <a:solidFill>
                  <a:srgbClr val="14161D"/>
                </a:solidFill>
                <a:latin typeface="Helvetica Neue Medium"/>
                <a:cs typeface="Helvetica Neue Medium"/>
              </a:rPr>
              <a:t>Reasons ledger</a:t>
            </a:r>
          </a:p>
          <a:p>
            <a:pPr algn="l">
              <a:lnSpc>
                <a:spcPct val="100000"/>
              </a:lnSpc>
              <a:spcAft>
                <a:spcPts val="0"/>
              </a:spcAft>
            </a:pPr>
            <a:r>
              <a:rPr lang="en-US" sz="950" spc="0" dirty="0">
                <a:solidFill>
                  <a:srgbClr val="858A97"/>
                </a:solidFill>
                <a:latin typeface="Helvetica Neue Light"/>
                <a:cs typeface="Helvetica Neue Light"/>
              </a:rPr>
              <a:t>Mon 8:32 PM</a:t>
            </a:r>
          </a:p>
        </p:txBody>
      </p:sp>
      <p:pic>
        <p:nvPicPr>
          <p:cNvPr id="114" name="Hi-fi screen"/>
          <p:cNvPicPr>
            <a:picLocks noChangeAspect="1"/>
          </p:cNvPicPr>
          <p:nvPr/>
        </p:nvPicPr>
        <p:blipFill>
          <a:blip r:embed="rId7"/>
          <a:srcRect b="12088"/>
          <a:stretch>
            <a:fillRect/>
          </a:stretch>
        </p:blipFill>
        <p:spPr>
          <a:xfrm>
            <a:off x="822960" y="3602944"/>
            <a:ext cx="2140102" cy="1097488"/>
          </a:xfrm>
          <a:prstGeom prst="rect">
            <a:avLst/>
          </a:prstGeom>
          <a:ln w="9525">
            <a:solidFill>
              <a:srgbClr val="D3D6DC"/>
            </a:solidFill>
          </a:ln>
        </p:spPr>
      </p:pic>
      <p:sp>
        <p:nvSpPr>
          <p:cNvPr id="115" name="Cap 6"/>
          <p:cNvSpPr txBox="1"/>
          <p:nvPr/>
        </p:nvSpPr>
        <p:spPr>
          <a:xfrm>
            <a:off x="822960" y="4746152"/>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06  </a:t>
            </a:r>
            <a:r>
              <a:rPr lang="en-US" sz="1050" spc="0" dirty="0">
                <a:solidFill>
                  <a:srgbClr val="14161D"/>
                </a:solidFill>
                <a:latin typeface="Helvetica Neue Medium"/>
                <a:cs typeface="Helvetica Neue Medium"/>
              </a:rPr>
              <a:t>Watch these for me</a:t>
            </a:r>
          </a:p>
          <a:p>
            <a:pPr algn="l">
              <a:lnSpc>
                <a:spcPct val="100000"/>
              </a:lnSpc>
              <a:spcAft>
                <a:spcPts val="0"/>
              </a:spcAft>
            </a:pPr>
            <a:r>
              <a:rPr lang="en-US" sz="950" spc="0" dirty="0">
                <a:solidFill>
                  <a:srgbClr val="858A97"/>
                </a:solidFill>
                <a:latin typeface="Helvetica Neue Light"/>
                <a:cs typeface="Helvetica Neue Light"/>
              </a:rPr>
              <a:t>Mon 8:40 PM</a:t>
            </a:r>
          </a:p>
        </p:txBody>
      </p:sp>
      <p:pic>
        <p:nvPicPr>
          <p:cNvPr id="116" name="Hi-fi screen"/>
          <p:cNvPicPr>
            <a:picLocks noChangeAspect="1"/>
          </p:cNvPicPr>
          <p:nvPr/>
        </p:nvPicPr>
        <p:blipFill>
          <a:blip r:embed="rId8"/>
          <a:srcRect b="25932"/>
          <a:stretch>
            <a:fillRect/>
          </a:stretch>
        </p:blipFill>
        <p:spPr>
          <a:xfrm>
            <a:off x="3127654" y="3602944"/>
            <a:ext cx="2140102" cy="1097488"/>
          </a:xfrm>
          <a:prstGeom prst="rect">
            <a:avLst/>
          </a:prstGeom>
          <a:ln w="9525">
            <a:solidFill>
              <a:srgbClr val="D3D6DC"/>
            </a:solidFill>
          </a:ln>
        </p:spPr>
      </p:pic>
      <p:sp>
        <p:nvSpPr>
          <p:cNvPr id="117" name="Cap 7"/>
          <p:cNvSpPr txBox="1"/>
          <p:nvPr/>
        </p:nvSpPr>
        <p:spPr>
          <a:xfrm>
            <a:off x="3127654" y="4746152"/>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07  </a:t>
            </a:r>
            <a:r>
              <a:rPr lang="en-US" sz="1050" spc="0" dirty="0">
                <a:solidFill>
                  <a:srgbClr val="14161D"/>
                </a:solidFill>
                <a:latin typeface="Helvetica Neue Medium"/>
                <a:cs typeface="Helvetica Neue Medium"/>
              </a:rPr>
              <a:t>Morning glance</a:t>
            </a:r>
          </a:p>
          <a:p>
            <a:pPr algn="l">
              <a:lnSpc>
                <a:spcPct val="100000"/>
              </a:lnSpc>
              <a:spcAft>
                <a:spcPts val="0"/>
              </a:spcAft>
            </a:pPr>
            <a:r>
              <a:rPr lang="en-US" sz="950" spc="0" dirty="0">
                <a:solidFill>
                  <a:srgbClr val="858A97"/>
                </a:solidFill>
                <a:latin typeface="Helvetica Neue Light"/>
                <a:cs typeface="Helvetica Neue Light"/>
              </a:rPr>
              <a:t>Tue 7:30 AM</a:t>
            </a:r>
          </a:p>
        </p:txBody>
      </p:sp>
      <p:pic>
        <p:nvPicPr>
          <p:cNvPr id="118" name="Hi-fi screen"/>
          <p:cNvPicPr>
            <a:picLocks noChangeAspect="1"/>
          </p:cNvPicPr>
          <p:nvPr/>
        </p:nvPicPr>
        <p:blipFill>
          <a:blip r:embed="rId9"/>
          <a:srcRect b="16369"/>
          <a:stretch>
            <a:fillRect/>
          </a:stretch>
        </p:blipFill>
        <p:spPr>
          <a:xfrm>
            <a:off x="5432348" y="3602944"/>
            <a:ext cx="2140102" cy="1097488"/>
          </a:xfrm>
          <a:prstGeom prst="rect">
            <a:avLst/>
          </a:prstGeom>
          <a:ln w="9525">
            <a:solidFill>
              <a:srgbClr val="D3D6DC"/>
            </a:solidFill>
          </a:ln>
        </p:spPr>
      </p:pic>
      <p:sp>
        <p:nvSpPr>
          <p:cNvPr id="119" name="Cap 8"/>
          <p:cNvSpPr txBox="1"/>
          <p:nvPr/>
        </p:nvSpPr>
        <p:spPr>
          <a:xfrm>
            <a:off x="5432348" y="4746152"/>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08  </a:t>
            </a:r>
            <a:r>
              <a:rPr lang="en-US" sz="1050" spc="0" dirty="0">
                <a:solidFill>
                  <a:srgbClr val="14161D"/>
                </a:solidFill>
                <a:latin typeface="Helvetica Neue Medium"/>
                <a:cs typeface="Helvetica Neue Medium"/>
              </a:rPr>
              <a:t>Why marked</a:t>
            </a:r>
          </a:p>
          <a:p>
            <a:pPr algn="l">
              <a:lnSpc>
                <a:spcPct val="100000"/>
              </a:lnSpc>
              <a:spcAft>
                <a:spcPts val="0"/>
              </a:spcAft>
            </a:pPr>
            <a:r>
              <a:rPr lang="en-US" sz="950" spc="0" dirty="0">
                <a:solidFill>
                  <a:srgbClr val="858A97"/>
                </a:solidFill>
                <a:latin typeface="Helvetica Neue Light"/>
                <a:cs typeface="Helvetica Neue Light"/>
              </a:rPr>
              <a:t>Tue 7:40 AM</a:t>
            </a:r>
          </a:p>
        </p:txBody>
      </p:sp>
      <p:pic>
        <p:nvPicPr>
          <p:cNvPr id="120" name="Hi-fi screen"/>
          <p:cNvPicPr>
            <a:picLocks noChangeAspect="1"/>
          </p:cNvPicPr>
          <p:nvPr/>
        </p:nvPicPr>
        <p:blipFill>
          <a:blip r:embed="rId10"/>
          <a:srcRect b="44183"/>
          <a:stretch>
            <a:fillRect/>
          </a:stretch>
        </p:blipFill>
        <p:spPr>
          <a:xfrm>
            <a:off x="7737043" y="3602944"/>
            <a:ext cx="2140102" cy="1097488"/>
          </a:xfrm>
          <a:prstGeom prst="rect">
            <a:avLst/>
          </a:prstGeom>
          <a:ln w="9525">
            <a:solidFill>
              <a:srgbClr val="D3D6DC"/>
            </a:solidFill>
          </a:ln>
        </p:spPr>
      </p:pic>
      <p:sp>
        <p:nvSpPr>
          <p:cNvPr id="121" name="Cap 9"/>
          <p:cNvSpPr txBox="1"/>
          <p:nvPr/>
        </p:nvSpPr>
        <p:spPr>
          <a:xfrm>
            <a:off x="7737043" y="4746152"/>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09  </a:t>
            </a:r>
            <a:r>
              <a:rPr lang="en-US" sz="1050" spc="0" dirty="0">
                <a:solidFill>
                  <a:srgbClr val="14161D"/>
                </a:solidFill>
                <a:latin typeface="Helvetica Neue Medium"/>
                <a:cs typeface="Helvetica Neue Medium"/>
              </a:rPr>
              <a:t>Insight Board</a:t>
            </a:r>
          </a:p>
          <a:p>
            <a:pPr algn="l">
              <a:lnSpc>
                <a:spcPct val="100000"/>
              </a:lnSpc>
              <a:spcAft>
                <a:spcPts val="0"/>
              </a:spcAft>
            </a:pPr>
            <a:r>
              <a:rPr lang="en-US" sz="950" spc="0" dirty="0">
                <a:solidFill>
                  <a:srgbClr val="858A97"/>
                </a:solidFill>
                <a:latin typeface="Helvetica Neue Light"/>
                <a:cs typeface="Helvetica Neue Light"/>
              </a:rPr>
              <a:t>Tue 7:45 AM</a:t>
            </a:r>
          </a:p>
        </p:txBody>
      </p:sp>
      <p:pic>
        <p:nvPicPr>
          <p:cNvPr id="122" name="Hi-fi screen"/>
          <p:cNvPicPr>
            <a:picLocks noChangeAspect="1"/>
          </p:cNvPicPr>
          <p:nvPr/>
        </p:nvPicPr>
        <p:blipFill>
          <a:blip r:embed="rId11"/>
          <a:srcRect b="44183"/>
          <a:stretch>
            <a:fillRect/>
          </a:stretch>
        </p:blipFill>
        <p:spPr>
          <a:xfrm>
            <a:off x="10041737" y="3602944"/>
            <a:ext cx="2140102" cy="1097488"/>
          </a:xfrm>
          <a:prstGeom prst="rect">
            <a:avLst/>
          </a:prstGeom>
          <a:ln w="9525">
            <a:solidFill>
              <a:srgbClr val="D3D6DC"/>
            </a:solidFill>
          </a:ln>
        </p:spPr>
      </p:pic>
      <p:sp>
        <p:nvSpPr>
          <p:cNvPr id="123" name="Cap 10"/>
          <p:cNvSpPr txBox="1"/>
          <p:nvPr/>
        </p:nvSpPr>
        <p:spPr>
          <a:xfrm>
            <a:off x="10041737" y="4746152"/>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10  </a:t>
            </a:r>
            <a:r>
              <a:rPr lang="en-US" sz="1050" spc="0" dirty="0">
                <a:solidFill>
                  <a:srgbClr val="14161D"/>
                </a:solidFill>
                <a:latin typeface="Helvetica Neue Medium"/>
                <a:cs typeface="Helvetica Neue Medium"/>
              </a:rPr>
              <a:t>Insight, opened</a:t>
            </a:r>
          </a:p>
          <a:p>
            <a:pPr algn="l">
              <a:lnSpc>
                <a:spcPct val="100000"/>
              </a:lnSpc>
              <a:spcAft>
                <a:spcPts val="0"/>
              </a:spcAft>
            </a:pPr>
            <a:r>
              <a:rPr lang="en-US" sz="950" spc="0" dirty="0">
                <a:solidFill>
                  <a:srgbClr val="858A97"/>
                </a:solidFill>
                <a:latin typeface="Helvetica Neue Light"/>
                <a:cs typeface="Helvetica Neue Light"/>
              </a:rPr>
              <a:t>Tue 7:45 AM</a:t>
            </a:r>
          </a:p>
        </p:txBody>
      </p:sp>
      <p:pic>
        <p:nvPicPr>
          <p:cNvPr id="124" name="Hi-fi screen"/>
          <p:cNvPicPr>
            <a:picLocks noChangeAspect="1"/>
          </p:cNvPicPr>
          <p:nvPr/>
        </p:nvPicPr>
        <p:blipFill>
          <a:blip r:embed="rId12"/>
          <a:stretch>
            <a:fillRect/>
          </a:stretch>
        </p:blipFill>
        <p:spPr>
          <a:xfrm>
            <a:off x="822960" y="5194208"/>
            <a:ext cx="2140102" cy="1097488"/>
          </a:xfrm>
          <a:prstGeom prst="rect">
            <a:avLst/>
          </a:prstGeom>
          <a:ln w="9525">
            <a:solidFill>
              <a:srgbClr val="D3D6DC"/>
            </a:solidFill>
          </a:ln>
        </p:spPr>
      </p:pic>
      <p:sp>
        <p:nvSpPr>
          <p:cNvPr id="125" name="Cap 11"/>
          <p:cNvSpPr txBox="1"/>
          <p:nvPr/>
        </p:nvSpPr>
        <p:spPr>
          <a:xfrm>
            <a:off x="822960" y="6337417"/>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11  </a:t>
            </a:r>
            <a:r>
              <a:rPr lang="en-US" sz="1050" spc="0" dirty="0">
                <a:solidFill>
                  <a:srgbClr val="14161D"/>
                </a:solidFill>
                <a:latin typeface="Helvetica Neue Medium"/>
                <a:cs typeface="Helvetica Neue Medium"/>
              </a:rPr>
              <a:t>Quiet hours, one alert</a:t>
            </a:r>
          </a:p>
          <a:p>
            <a:pPr algn="l">
              <a:lnSpc>
                <a:spcPct val="100000"/>
              </a:lnSpc>
              <a:spcAft>
                <a:spcPts val="0"/>
              </a:spcAft>
            </a:pPr>
            <a:r>
              <a:rPr lang="en-US" sz="950" spc="0" dirty="0">
                <a:solidFill>
                  <a:srgbClr val="858A97"/>
                </a:solidFill>
                <a:latin typeface="Helvetica Neue Light"/>
                <a:cs typeface="Helvetica Neue Light"/>
              </a:rPr>
              <a:t>Tue 10:14 AM</a:t>
            </a:r>
          </a:p>
        </p:txBody>
      </p:sp>
      <p:pic>
        <p:nvPicPr>
          <p:cNvPr id="126" name="Hi-fi screen"/>
          <p:cNvPicPr>
            <a:picLocks noChangeAspect="1"/>
          </p:cNvPicPr>
          <p:nvPr/>
        </p:nvPicPr>
        <p:blipFill>
          <a:blip r:embed="rId13"/>
          <a:srcRect b="12088"/>
          <a:stretch>
            <a:fillRect/>
          </a:stretch>
        </p:blipFill>
        <p:spPr>
          <a:xfrm>
            <a:off x="3127654" y="5194208"/>
            <a:ext cx="2140102" cy="1097488"/>
          </a:xfrm>
          <a:prstGeom prst="rect">
            <a:avLst/>
          </a:prstGeom>
          <a:ln w="9525">
            <a:solidFill>
              <a:srgbClr val="D3D6DC"/>
            </a:solidFill>
          </a:ln>
        </p:spPr>
      </p:pic>
      <p:sp>
        <p:nvSpPr>
          <p:cNvPr id="127" name="Cap 12"/>
          <p:cNvSpPr txBox="1"/>
          <p:nvPr/>
        </p:nvSpPr>
        <p:spPr>
          <a:xfrm>
            <a:off x="3127654" y="6337417"/>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12  </a:t>
            </a:r>
            <a:r>
              <a:rPr lang="en-US" sz="1050" spc="0" dirty="0">
                <a:solidFill>
                  <a:srgbClr val="14161D"/>
                </a:solidFill>
                <a:latin typeface="Helvetica Neue Medium"/>
                <a:cs typeface="Helvetica Neue Medium"/>
              </a:rPr>
              <a:t>This was wrong</a:t>
            </a:r>
          </a:p>
          <a:p>
            <a:pPr algn="l">
              <a:lnSpc>
                <a:spcPct val="100000"/>
              </a:lnSpc>
              <a:spcAft>
                <a:spcPts val="0"/>
              </a:spcAft>
            </a:pPr>
            <a:r>
              <a:rPr lang="en-US" sz="950" spc="0" dirty="0">
                <a:solidFill>
                  <a:srgbClr val="858A97"/>
                </a:solidFill>
                <a:latin typeface="Helvetica Neue Light"/>
                <a:cs typeface="Helvetica Neue Light"/>
              </a:rPr>
              <a:t>Tue 10:31 AM</a:t>
            </a:r>
          </a:p>
        </p:txBody>
      </p:sp>
      <p:pic>
        <p:nvPicPr>
          <p:cNvPr id="128" name="Hi-fi screen"/>
          <p:cNvPicPr>
            <a:picLocks noChangeAspect="1"/>
          </p:cNvPicPr>
          <p:nvPr/>
        </p:nvPicPr>
        <p:blipFill>
          <a:blip r:embed="rId14"/>
          <a:srcRect b="24570"/>
          <a:stretch>
            <a:fillRect/>
          </a:stretch>
        </p:blipFill>
        <p:spPr>
          <a:xfrm>
            <a:off x="5432348" y="5194208"/>
            <a:ext cx="2140102" cy="1097488"/>
          </a:xfrm>
          <a:prstGeom prst="rect">
            <a:avLst/>
          </a:prstGeom>
          <a:ln w="9525">
            <a:solidFill>
              <a:srgbClr val="D3D6DC"/>
            </a:solidFill>
          </a:ln>
        </p:spPr>
      </p:pic>
      <p:sp>
        <p:nvSpPr>
          <p:cNvPr id="129" name="Cap 13"/>
          <p:cNvSpPr txBox="1"/>
          <p:nvPr/>
        </p:nvSpPr>
        <p:spPr>
          <a:xfrm>
            <a:off x="5432348" y="6337417"/>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13  </a:t>
            </a:r>
            <a:r>
              <a:rPr lang="en-US" sz="1050" spc="0" dirty="0">
                <a:solidFill>
                  <a:srgbClr val="14161D"/>
                </a:solidFill>
                <a:latin typeface="Helvetica Neue Medium"/>
                <a:cs typeface="Helvetica Neue Medium"/>
              </a:rPr>
              <a:t>Board at lunch</a:t>
            </a:r>
          </a:p>
          <a:p>
            <a:pPr algn="l">
              <a:lnSpc>
                <a:spcPct val="100000"/>
              </a:lnSpc>
              <a:spcAft>
                <a:spcPts val="0"/>
              </a:spcAft>
            </a:pPr>
            <a:r>
              <a:rPr lang="en-US" sz="950" spc="0" dirty="0">
                <a:solidFill>
                  <a:srgbClr val="858A97"/>
                </a:solidFill>
                <a:latin typeface="Helvetica Neue Light"/>
                <a:cs typeface="Helvetica Neue Light"/>
              </a:rPr>
              <a:t>Tue 12:30 PM</a:t>
            </a:r>
          </a:p>
        </p:txBody>
      </p:sp>
      <p:pic>
        <p:nvPicPr>
          <p:cNvPr id="130" name="Hi-fi screen"/>
          <p:cNvPicPr>
            <a:picLocks noChangeAspect="1"/>
          </p:cNvPicPr>
          <p:nvPr/>
        </p:nvPicPr>
        <p:blipFill>
          <a:blip r:embed="rId15"/>
          <a:srcRect b="17027"/>
          <a:stretch>
            <a:fillRect/>
          </a:stretch>
        </p:blipFill>
        <p:spPr>
          <a:xfrm>
            <a:off x="7737043" y="5194208"/>
            <a:ext cx="2140102" cy="1097488"/>
          </a:xfrm>
          <a:prstGeom prst="rect">
            <a:avLst/>
          </a:prstGeom>
          <a:ln w="9525">
            <a:solidFill>
              <a:srgbClr val="D3D6DC"/>
            </a:solidFill>
          </a:ln>
        </p:spPr>
      </p:pic>
      <p:sp>
        <p:nvSpPr>
          <p:cNvPr id="131" name="Cap 14"/>
          <p:cNvSpPr txBox="1"/>
          <p:nvPr/>
        </p:nvSpPr>
        <p:spPr>
          <a:xfrm>
            <a:off x="7737043" y="6337417"/>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14  </a:t>
            </a:r>
            <a:r>
              <a:rPr lang="en-US" sz="1050" spc="0" dirty="0">
                <a:solidFill>
                  <a:srgbClr val="14161D"/>
                </a:solidFill>
                <a:latin typeface="Helvetica Neue Medium"/>
                <a:cs typeface="Helvetica Neue Medium"/>
              </a:rPr>
              <a:t>Reasons still hold?</a:t>
            </a:r>
          </a:p>
          <a:p>
            <a:pPr algn="l">
              <a:lnSpc>
                <a:spcPct val="100000"/>
              </a:lnSpc>
              <a:spcAft>
                <a:spcPts val="0"/>
              </a:spcAft>
            </a:pPr>
            <a:r>
              <a:rPr lang="en-US" sz="950" spc="0" dirty="0">
                <a:solidFill>
                  <a:srgbClr val="858A97"/>
                </a:solidFill>
                <a:latin typeface="Helvetica Neue Light"/>
                <a:cs typeface="Helvetica Neue Light"/>
              </a:rPr>
              <a:t>Tue 4:30 PM</a:t>
            </a:r>
          </a:p>
        </p:txBody>
      </p:sp>
      <p:pic>
        <p:nvPicPr>
          <p:cNvPr id="132" name="Hi-fi screen"/>
          <p:cNvPicPr>
            <a:picLocks noChangeAspect="1"/>
          </p:cNvPicPr>
          <p:nvPr/>
        </p:nvPicPr>
        <p:blipFill>
          <a:blip r:embed="rId16"/>
          <a:srcRect b="31497"/>
          <a:stretch>
            <a:fillRect/>
          </a:stretch>
        </p:blipFill>
        <p:spPr>
          <a:xfrm>
            <a:off x="10041737" y="5194208"/>
            <a:ext cx="2140102" cy="1097488"/>
          </a:xfrm>
          <a:prstGeom prst="rect">
            <a:avLst/>
          </a:prstGeom>
          <a:ln w="9525">
            <a:solidFill>
              <a:srgbClr val="D3D6DC"/>
            </a:solidFill>
          </a:ln>
        </p:spPr>
      </p:pic>
      <p:sp>
        <p:nvSpPr>
          <p:cNvPr id="133" name="Cap 15"/>
          <p:cNvSpPr txBox="1"/>
          <p:nvPr/>
        </p:nvSpPr>
        <p:spPr>
          <a:xfrm>
            <a:off x="10041737" y="6337417"/>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15  </a:t>
            </a:r>
            <a:r>
              <a:rPr lang="en-US" sz="1050" spc="0" dirty="0">
                <a:solidFill>
                  <a:srgbClr val="14161D"/>
                </a:solidFill>
                <a:latin typeface="Helvetica Neue Medium"/>
                <a:cs typeface="Helvetica Neue Medium"/>
              </a:rPr>
              <a:t>Portfolio vs plan</a:t>
            </a:r>
          </a:p>
          <a:p>
            <a:pPr algn="l">
              <a:lnSpc>
                <a:spcPct val="100000"/>
              </a:lnSpc>
              <a:spcAft>
                <a:spcPts val="0"/>
              </a:spcAft>
            </a:pPr>
            <a:r>
              <a:rPr lang="en-US" sz="950" spc="0" dirty="0">
                <a:solidFill>
                  <a:srgbClr val="858A97"/>
                </a:solidFill>
                <a:latin typeface="Helvetica Neue Light"/>
                <a:cs typeface="Helvetica Neue Light"/>
              </a:rPr>
              <a:t>Tue 4:45 PM</a:t>
            </a:r>
          </a:p>
        </p:txBody>
      </p:sp>
      <p:pic>
        <p:nvPicPr>
          <p:cNvPr id="134" name="Hi-fi screen"/>
          <p:cNvPicPr>
            <a:picLocks noChangeAspect="1"/>
          </p:cNvPicPr>
          <p:nvPr/>
        </p:nvPicPr>
        <p:blipFill>
          <a:blip r:embed="rId17"/>
          <a:stretch>
            <a:fillRect/>
          </a:stretch>
        </p:blipFill>
        <p:spPr>
          <a:xfrm>
            <a:off x="822960" y="6785473"/>
            <a:ext cx="2140102" cy="1097488"/>
          </a:xfrm>
          <a:prstGeom prst="rect">
            <a:avLst/>
          </a:prstGeom>
          <a:ln w="9525">
            <a:solidFill>
              <a:srgbClr val="D3D6DC"/>
            </a:solidFill>
          </a:ln>
        </p:spPr>
      </p:pic>
      <p:sp>
        <p:nvSpPr>
          <p:cNvPr id="135" name="Cap 16"/>
          <p:cNvSpPr txBox="1"/>
          <p:nvPr/>
        </p:nvSpPr>
        <p:spPr>
          <a:xfrm>
            <a:off x="822960" y="7928681"/>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16  </a:t>
            </a:r>
            <a:r>
              <a:rPr lang="en-US" sz="1050" spc="0" dirty="0">
                <a:solidFill>
                  <a:srgbClr val="14161D"/>
                </a:solidFill>
                <a:latin typeface="Helvetica Neue Medium"/>
                <a:cs typeface="Helvetica Neue Medium"/>
              </a:rPr>
              <a:t>Lens on portfolio</a:t>
            </a:r>
          </a:p>
          <a:p>
            <a:pPr algn="l">
              <a:lnSpc>
                <a:spcPct val="100000"/>
              </a:lnSpc>
              <a:spcAft>
                <a:spcPts val="0"/>
              </a:spcAft>
            </a:pPr>
            <a:r>
              <a:rPr lang="en-US" sz="950" spc="0" dirty="0">
                <a:solidFill>
                  <a:srgbClr val="858A97"/>
                </a:solidFill>
                <a:latin typeface="Helvetica Neue Light"/>
                <a:cs typeface="Helvetica Neue Light"/>
              </a:rPr>
              <a:t>Tue 4:50 PM</a:t>
            </a:r>
          </a:p>
        </p:txBody>
      </p:sp>
      <p:pic>
        <p:nvPicPr>
          <p:cNvPr id="136" name="Hi-fi screen"/>
          <p:cNvPicPr>
            <a:picLocks noChangeAspect="1"/>
          </p:cNvPicPr>
          <p:nvPr/>
        </p:nvPicPr>
        <p:blipFill>
          <a:blip r:embed="rId18"/>
          <a:srcRect b="22185"/>
          <a:stretch>
            <a:fillRect/>
          </a:stretch>
        </p:blipFill>
        <p:spPr>
          <a:xfrm>
            <a:off x="3127654" y="6785473"/>
            <a:ext cx="2140102" cy="1097488"/>
          </a:xfrm>
          <a:prstGeom prst="rect">
            <a:avLst/>
          </a:prstGeom>
          <a:ln w="9525">
            <a:solidFill>
              <a:srgbClr val="D3D6DC"/>
            </a:solidFill>
          </a:ln>
        </p:spPr>
      </p:pic>
      <p:sp>
        <p:nvSpPr>
          <p:cNvPr id="137" name="Cap 17"/>
          <p:cNvSpPr txBox="1"/>
          <p:nvPr/>
        </p:nvSpPr>
        <p:spPr>
          <a:xfrm>
            <a:off x="3127654" y="7928681"/>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17  </a:t>
            </a:r>
            <a:r>
              <a:rPr lang="en-US" sz="1050" spc="0" dirty="0">
                <a:solidFill>
                  <a:srgbClr val="14161D"/>
                </a:solidFill>
                <a:latin typeface="Helvetica Neue Medium"/>
                <a:cs typeface="Helvetica Neue Medium"/>
              </a:rPr>
              <a:t>Activity log + Undo</a:t>
            </a:r>
          </a:p>
          <a:p>
            <a:pPr algn="l">
              <a:lnSpc>
                <a:spcPct val="100000"/>
              </a:lnSpc>
              <a:spcAft>
                <a:spcPts val="0"/>
              </a:spcAft>
            </a:pPr>
            <a:r>
              <a:rPr lang="en-US" sz="950" spc="0" dirty="0">
                <a:solidFill>
                  <a:srgbClr val="858A97"/>
                </a:solidFill>
                <a:latin typeface="Helvetica Neue Light"/>
                <a:cs typeface="Helvetica Neue Light"/>
              </a:rPr>
              <a:t>Tue 5:15 PM</a:t>
            </a:r>
          </a:p>
        </p:txBody>
      </p:sp>
      <p:pic>
        <p:nvPicPr>
          <p:cNvPr id="138" name="Hi-fi screen"/>
          <p:cNvPicPr>
            <a:picLocks noChangeAspect="1"/>
          </p:cNvPicPr>
          <p:nvPr/>
        </p:nvPicPr>
        <p:blipFill>
          <a:blip r:embed="rId19"/>
          <a:stretch>
            <a:fillRect/>
          </a:stretch>
        </p:blipFill>
        <p:spPr>
          <a:xfrm>
            <a:off x="5432348" y="6785473"/>
            <a:ext cx="2140102" cy="1097488"/>
          </a:xfrm>
          <a:prstGeom prst="rect">
            <a:avLst/>
          </a:prstGeom>
          <a:ln w="9525">
            <a:solidFill>
              <a:srgbClr val="D3D6DC"/>
            </a:solidFill>
          </a:ln>
        </p:spPr>
      </p:pic>
      <p:sp>
        <p:nvSpPr>
          <p:cNvPr id="139" name="Cap 18"/>
          <p:cNvSpPr txBox="1"/>
          <p:nvPr/>
        </p:nvSpPr>
        <p:spPr>
          <a:xfrm>
            <a:off x="5432348" y="7928681"/>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18  </a:t>
            </a:r>
            <a:r>
              <a:rPr lang="en-US" sz="1050" spc="0" dirty="0">
                <a:solidFill>
                  <a:srgbClr val="14161D"/>
                </a:solidFill>
                <a:latin typeface="Helvetica Neue Medium"/>
                <a:cs typeface="Helvetica Neue Medium"/>
              </a:rPr>
              <a:t>Weekly review</a:t>
            </a:r>
          </a:p>
          <a:p>
            <a:pPr algn="l">
              <a:lnSpc>
                <a:spcPct val="100000"/>
              </a:lnSpc>
              <a:spcAft>
                <a:spcPts val="0"/>
              </a:spcAft>
            </a:pPr>
            <a:r>
              <a:rPr lang="en-US" sz="950" spc="0" dirty="0">
                <a:solidFill>
                  <a:srgbClr val="858A97"/>
                </a:solidFill>
                <a:latin typeface="Helvetica Neue Light"/>
                <a:cs typeface="Helvetica Neue Light"/>
              </a:rPr>
              <a:t>Sun 7 PM</a:t>
            </a:r>
          </a:p>
        </p:txBody>
      </p:sp>
      <p:pic>
        <p:nvPicPr>
          <p:cNvPr id="140" name="Hi-fi screen"/>
          <p:cNvPicPr>
            <a:picLocks noChangeAspect="1"/>
          </p:cNvPicPr>
          <p:nvPr/>
        </p:nvPicPr>
        <p:blipFill>
          <a:blip r:embed="rId20"/>
          <a:srcRect b="33110"/>
          <a:stretch>
            <a:fillRect/>
          </a:stretch>
        </p:blipFill>
        <p:spPr>
          <a:xfrm>
            <a:off x="7737043" y="6785473"/>
            <a:ext cx="2140102" cy="1097488"/>
          </a:xfrm>
          <a:prstGeom prst="rect">
            <a:avLst/>
          </a:prstGeom>
          <a:ln w="9525">
            <a:solidFill>
              <a:srgbClr val="D3D6DC"/>
            </a:solidFill>
          </a:ln>
        </p:spPr>
      </p:pic>
      <p:sp>
        <p:nvSpPr>
          <p:cNvPr id="141" name="Cap 19"/>
          <p:cNvSpPr txBox="1"/>
          <p:nvPr/>
        </p:nvSpPr>
        <p:spPr>
          <a:xfrm>
            <a:off x="7737043" y="7928681"/>
            <a:ext cx="2140102" cy="420624"/>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19  </a:t>
            </a:r>
            <a:r>
              <a:rPr lang="en-US" sz="1050" spc="0" dirty="0">
                <a:solidFill>
                  <a:srgbClr val="14161D"/>
                </a:solidFill>
                <a:latin typeface="Helvetica Neue Medium"/>
                <a:cs typeface="Helvetica Neue Medium"/>
              </a:rPr>
              <a:t>Build the board</a:t>
            </a:r>
          </a:p>
          <a:p>
            <a:pPr algn="l">
              <a:lnSpc>
                <a:spcPct val="100000"/>
              </a:lnSpc>
              <a:spcAft>
                <a:spcPts val="0"/>
              </a:spcAft>
            </a:pPr>
            <a:r>
              <a:rPr lang="en-US" sz="950" spc="0" dirty="0">
                <a:solidFill>
                  <a:srgbClr val="858A97"/>
                </a:solidFill>
                <a:latin typeface="Helvetica Neue Light"/>
                <a:cs typeface="Helvetica Neue Light"/>
              </a:rPr>
              <a:t>Sunday</a:t>
            </a:r>
          </a:p>
        </p:txBody>
      </p:sp>
      <p:sp>
        <p:nvSpPr>
          <p:cNvPr id="142" name="Prototype tile">
            <a:hlinkClick r:id="rId21"/>
          </p:cNvPr>
          <p:cNvSpPr txBox="1"/>
          <p:nvPr/>
        </p:nvSpPr>
        <p:spPr>
          <a:xfrm>
            <a:off x="10041737" y="6922633"/>
            <a:ext cx="2140102" cy="1097488"/>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B5531F"/>
                </a:solidFill>
                <a:latin typeface="Helvetica Neue Medium"/>
                <a:cs typeface="Helvetica Neue Medium"/>
              </a:rPr>
              <a:t>TRY IT</a:t>
            </a:r>
          </a:p>
          <a:p>
            <a:pPr algn="l">
              <a:lnSpc>
                <a:spcPct val="115000"/>
              </a:lnSpc>
              <a:spcAft>
                <a:spcPts val="300"/>
              </a:spcAft>
            </a:pPr>
            <a:r>
              <a:rPr lang="en-US" sz="1400" u="sng" spc="0" dirty="0">
                <a:solidFill>
                  <a:srgbClr val="B5531F"/>
                </a:solidFill>
                <a:latin typeface="Helvetica Neue Medium"/>
                <a:cs typeface="Helvetica Neue Medium"/>
                <a:hlinkClick r:id="rId21"/>
              </a:rPr>
              <a:t>Open the clickable prototype →</a:t>
            </a:r>
            <a:endParaRPr lang="en-US" sz="1400" u="sng" spc="0" dirty="0">
              <a:solidFill>
                <a:srgbClr val="B5531F"/>
              </a:solidFill>
              <a:latin typeface="Helvetica Neue Medium"/>
              <a:cs typeface="Helvetica Neue Medium"/>
            </a:endParaRPr>
          </a:p>
          <a:p>
            <a:pPr algn="l">
              <a:lnSpc>
                <a:spcPct val="115000"/>
              </a:lnSpc>
              <a:spcAft>
                <a:spcPts val="300"/>
              </a:spcAft>
            </a:pPr>
            <a:r>
              <a:rPr lang="en-US" sz="1050" spc="0" dirty="0">
                <a:solidFill>
                  <a:srgbClr val="858A97"/>
                </a:solidFill>
                <a:latin typeface="Helvetica Neue Light"/>
                <a:cs typeface="Helvetica Neue Light"/>
              </a:rPr>
              <a:t>Starts at step 1 in Figma</a:t>
            </a:r>
          </a:p>
        </p:txBody>
      </p:sp>
      <p:cxnSp>
        <p:nvCxnSpPr>
          <p:cNvPr id="143" name="Divider"/>
          <p:cNvCxnSpPr/>
          <p:nvPr/>
        </p:nvCxnSpPr>
        <p:spPr>
          <a:xfrm>
            <a:off x="10041737" y="6785473"/>
            <a:ext cx="2140102" cy="0"/>
          </a:xfrm>
          <a:prstGeom prst="line">
            <a:avLst/>
          </a:prstGeom>
          <a:ln w="28575">
            <a:solidFill>
              <a:srgbClr val="B5531F"/>
            </a:solidFill>
          </a:ln>
        </p:spPr>
      </p:cxnSp>
      <p:pic>
        <p:nvPicPr>
          <p:cNvPr id="144" name="gradient strip" descr="gradient strip"/>
          <p:cNvPicPr>
            <a:picLocks noChangeAspect="1"/>
          </p:cNvPicPr>
          <p:nvPr/>
        </p:nvPicPr>
        <p:blipFill>
          <a:blip r:embed="rId22"/>
          <a:stretch>
            <a:fillRect/>
          </a:stretch>
        </p:blipFill>
        <p:spPr>
          <a:xfrm>
            <a:off x="0" y="9285427"/>
            <a:ext cx="13004800" cy="46817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STEPS 1–2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Show It + Since Last Night: an idea becomes a screen he trusts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Mon Oct 5, 8 PM, after Monday’s close. Free account.</a:t>
            </a:r>
          </a:p>
        </p:txBody>
      </p:sp>
      <p:pic>
        <p:nvPicPr>
          <p:cNvPr id="104" name="Picture 6" descr="02-OW2-since-last-night.png"/>
          <p:cNvPicPr>
            <a:picLocks noChangeAspect="1"/>
          </p:cNvPicPr>
          <p:nvPr/>
        </p:nvPicPr>
        <p:blipFill>
          <a:blip r:embed="rId3"/>
          <a:stretch>
            <a:fillRect/>
          </a:stretch>
        </p:blipFill>
        <p:spPr>
          <a:xfrm>
            <a:off x="6614773" y="2963629"/>
            <a:ext cx="5565034" cy="2249200"/>
          </a:xfrm>
          <a:prstGeom prst="rect">
            <a:avLst/>
          </a:prstGeom>
          <a:ln w="9525">
            <a:solidFill>
              <a:srgbClr val="D3D6DC"/>
            </a:solidFill>
          </a:ln>
        </p:spPr>
      </p:pic>
      <p:pic>
        <p:nvPicPr>
          <p:cNvPr id="105" name="Picture 11" descr="01-OW1-show-it.png">
            <a:extLst>
              <a:ext uri="{FF2B5EF4-FFF2-40B4-BE49-F238E27FC236}">
                <a16:creationId xmlns:a16="http://schemas.microsoft.com/office/drawing/2014/main" id="{44331A70-B34A-7301-D75D-715504856CAD}"/>
              </a:ext>
            </a:extLst>
          </p:cNvPr>
          <p:cNvPicPr>
            <a:picLocks noChangeAspect="1"/>
          </p:cNvPicPr>
          <p:nvPr/>
        </p:nvPicPr>
        <p:blipFill>
          <a:blip r:embed="rId4"/>
          <a:stretch>
            <a:fillRect/>
          </a:stretch>
        </p:blipFill>
        <p:spPr>
          <a:xfrm>
            <a:off x="822960" y="3498202"/>
            <a:ext cx="5791813" cy="3322248"/>
          </a:xfrm>
          <a:prstGeom prst="rect">
            <a:avLst/>
          </a:prstGeom>
          <a:ln w="9525">
            <a:solidFill>
              <a:srgbClr val="D3D6DC"/>
            </a:solidFill>
          </a:ln>
        </p:spPr>
      </p:pic>
      <p:sp>
        <p:nvSpPr>
          <p:cNvPr id="106" name="Caption"/>
          <p:cNvSpPr txBox="1"/>
          <p:nvPr/>
        </p:nvSpPr>
        <p:spPr>
          <a:xfrm>
            <a:off x="1095412" y="7029940"/>
            <a:ext cx="5240448" cy="274320"/>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565C6B"/>
                </a:solidFill>
                <a:latin typeface="Helvetica Neue Light"/>
                <a:cs typeface="Helvetica Neue Light"/>
              </a:rPr>
              <a:t>STEP 1 · OW1  Pastes 3 tickers; AI writes what they share as editable filter chips</a:t>
            </a:r>
          </a:p>
        </p:txBody>
      </p:sp>
      <p:sp>
        <p:nvSpPr>
          <p:cNvPr id="107" name="Caption"/>
          <p:cNvSpPr txBox="1"/>
          <p:nvPr/>
        </p:nvSpPr>
        <p:spPr>
          <a:xfrm>
            <a:off x="7141261" y="5458648"/>
            <a:ext cx="4321597" cy="274320"/>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565C6B"/>
                </a:solidFill>
                <a:latin typeface="Helvetica Neue Light"/>
                <a:cs typeface="Helvetica Neue Light"/>
              </a:rPr>
              <a:t>STEP 2 · OW2  New, dropped and near-miss rows first, each with which of his criteria it meets</a:t>
            </a:r>
          </a:p>
        </p:txBody>
      </p:sp>
      <p:sp>
        <p:nvSpPr>
          <p:cNvPr id="108"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B5531F"/>
                </a:solidFill>
                <a:latin typeface="Helvetica Neue Medium"/>
                <a:cs typeface="Helvetica Neue Medium"/>
              </a:rPr>
              <a:t>Evening</a:t>
            </a:r>
            <a:r>
              <a:rPr lang="en-US" sz="1150" spc="0" dirty="0">
                <a:solidFill>
                  <a:srgbClr val="858A97"/>
                </a:solidFill>
                <a:latin typeface="Helvetica Neue Light"/>
                <a:cs typeface="Helvetica Neue Light"/>
              </a:rPr>
              <a:t>  ›  Overnight  ›  Before work  ›  During work  ›  After the close</a:t>
            </a:r>
          </a:p>
        </p:txBody>
      </p:sp>
      <p:sp>
        <p:nvSpPr>
          <p:cNvPr id="109"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Where the story starts: Monday after the close, on a free account.</a:t>
            </a:r>
          </a:p>
        </p:txBody>
      </p:sp>
      <p:cxnSp>
        <p:nvCxnSpPr>
          <p:cNvPr id="110" name="Divider"/>
          <p:cNvCxnSpPr/>
          <p:nvPr/>
        </p:nvCxnSpPr>
        <p:spPr>
          <a:xfrm>
            <a:off x="822960" y="7360920"/>
            <a:ext cx="11358880" cy="0"/>
          </a:xfrm>
          <a:prstGeom prst="line">
            <a:avLst/>
          </a:prstGeom>
          <a:ln w="9525">
            <a:solidFill>
              <a:srgbClr val="E1E3E8"/>
            </a:solidFill>
          </a:ln>
        </p:spPr>
      </p:cxnSp>
      <p:sp>
        <p:nvSpPr>
          <p:cNvPr id="111"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AI BEHAVIOR</a:t>
            </a:r>
          </a:p>
        </p:txBody>
      </p:sp>
      <p:sp>
        <p:nvSpPr>
          <p:cNvPr id="112"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Programming by example: three tickers become editable filter chips</a:t>
            </a:r>
          </a:p>
        </p:txBody>
      </p:sp>
      <p:sp>
        <p:nvSpPr>
          <p:cNvPr id="113"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Constrained to FinViz’s real filters; nothing invented</a:t>
            </a:r>
          </a:p>
        </p:txBody>
      </p:sp>
      <p:sp>
        <p:nvSpPr>
          <p:cNvPr id="114"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Decision point: he keeps or drops each chip (Tab / Esc)</a:t>
            </a:r>
          </a:p>
        </p:txBody>
      </p:sp>
      <p:pic>
        <p:nvPicPr>
          <p:cNvPr id="115" name="gradient strip" descr="gradient strip"/>
          <p:cNvPicPr>
            <a:picLocks noChangeAspect="1"/>
          </p:cNvPicPr>
          <p:nvPr/>
        </p:nvPicPr>
        <p:blipFill>
          <a:blip r:embed="rId5"/>
          <a:stretch>
            <a:fillRect/>
          </a:stretch>
        </p:blipFill>
        <p:spPr>
          <a:xfrm>
            <a:off x="0" y="9285427"/>
            <a:ext cx="13004800" cy="46817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6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Watch These For Me</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Mon 8:40 PM. The one earned Elite moment.</a:t>
            </a:r>
          </a:p>
        </p:txBody>
      </p:sp>
      <p:pic>
        <p:nvPicPr>
          <p:cNvPr id="104" name="Picture 5" descr="image.png"/>
          <p:cNvPicPr>
            <a:picLocks noChangeAspect="1"/>
          </p:cNvPicPr>
          <p:nvPr/>
        </p:nvPicPr>
        <p:blipFill>
          <a:blip r:embed="rId3"/>
          <a:stretch>
            <a:fillRect/>
          </a:stretch>
        </p:blipFill>
        <p:spPr>
          <a:xfrm>
            <a:off x="2294484" y="2606040"/>
            <a:ext cx="8413799" cy="4572000"/>
          </a:xfrm>
          <a:prstGeom prst="rect">
            <a:avLst/>
          </a:prstGeom>
          <a:ln w="9525">
            <a:solidFill>
              <a:srgbClr val="D3D6DC"/>
            </a:solidFill>
          </a:ln>
        </p:spPr>
      </p:pic>
      <p:sp>
        <p:nvSpPr>
          <p:cNvPr id="105"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B5531F"/>
                </a:solidFill>
                <a:latin typeface="Helvetica Neue Medium"/>
                <a:cs typeface="Helvetica Neue Medium"/>
              </a:rPr>
              <a:t>Evening</a:t>
            </a:r>
            <a:r>
              <a:rPr lang="en-US" sz="1150" spc="0" dirty="0">
                <a:solidFill>
                  <a:srgbClr val="858A97"/>
                </a:solidFill>
                <a:latin typeface="Helvetica Neue Light"/>
                <a:cs typeface="Helvetica Neue Light"/>
              </a:rPr>
              <a:t>  ›  Overnight  ›  Before work  ›  During work  ›  After the close</a:t>
            </a:r>
          </a:p>
        </p:txBody>
      </p:sp>
      <p:sp>
        <p:nvSpPr>
          <p:cNvPr id="106"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Before this: he checks his charts (steps 3–4) and pins 3 names with reasons (5).</a:t>
            </a:r>
          </a:p>
        </p:txBody>
      </p:sp>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DECISION POINT</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Replay before commitment: his criteria “would have fired 4 times in the last 30 days”</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The noise dial redraws history live as he drags it (9 → 4 → 2 a month)</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The 7-day Elite trial starts here, where the value is obvious, not at sign-up</a:t>
            </a:r>
          </a:p>
        </p:txBody>
      </p:sp>
      <p:pic>
        <p:nvPicPr>
          <p:cNvPr id="112"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7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Morning glance: one note before work</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Oct 6, 7:30 AM. An email, readable in 30 seconds.</a:t>
            </a:r>
          </a:p>
        </p:txBody>
      </p:sp>
      <p:sp>
        <p:nvSpPr>
          <p:cNvPr id="104"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a:t>
            </a:r>
            <a:r>
              <a:rPr lang="en-US" sz="1150" spc="0" dirty="0">
                <a:solidFill>
                  <a:srgbClr val="B5531F"/>
                </a:solidFill>
                <a:latin typeface="Helvetica Neue Medium"/>
                <a:cs typeface="Helvetica Neue Medium"/>
              </a:rPr>
              <a:t>Before work</a:t>
            </a:r>
            <a:r>
              <a:rPr lang="en-US" sz="1150" spc="0" dirty="0">
                <a:solidFill>
                  <a:srgbClr val="858A97"/>
                </a:solidFill>
                <a:latin typeface="Helvetica Neue Light"/>
                <a:cs typeface="Helvetica Neue Light"/>
              </a:rPr>
              <a:t>  ›  During work  ›  After the close</a:t>
            </a:r>
          </a:p>
        </p:txBody>
      </p:sp>
      <p:sp>
        <p:nvSpPr>
          <p:cNvPr id="105"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Overnight, a bounded agent re-checked his 3 names only; there is nothing to log in to.</a:t>
            </a:r>
          </a:p>
        </p:txBody>
      </p:sp>
      <p:pic>
        <p:nvPicPr>
          <p:cNvPr id="106" name="Hi-fi screen"/>
          <p:cNvPicPr>
            <a:picLocks noChangeAspect="1"/>
          </p:cNvPicPr>
          <p:nvPr/>
        </p:nvPicPr>
        <p:blipFill>
          <a:blip r:embed="rId2"/>
          <a:stretch>
            <a:fillRect/>
          </a:stretch>
        </p:blipFill>
        <p:spPr>
          <a:xfrm>
            <a:off x="3199638" y="2606040"/>
            <a:ext cx="6603490" cy="4572000"/>
          </a:xfrm>
          <a:prstGeom prst="rect">
            <a:avLst/>
          </a:prstGeom>
          <a:ln w="9525">
            <a:solidFill>
              <a:srgbClr val="D3D6DC"/>
            </a:solidFill>
          </a:ln>
        </p:spPr>
      </p:pic>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AI BEHAVIOR</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A bounded agent on his names only: sourced news, earnings and his reasons, re-checked</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DOCN: 1 of 3 reasons at risk, with its source and time</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Only clear lens hits reach the inbox; borderline ones wait in the grid</a:t>
            </a:r>
          </a:p>
        </p:txBody>
      </p:sp>
      <p:pic>
        <p:nvPicPr>
          <p:cNvPr id="112"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8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Chart Lens: why FinViz marked this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7:40 AM. Opened from “Why marked?” in the morning glance.</a:t>
            </a:r>
          </a:p>
        </p:txBody>
      </p:sp>
      <p:pic>
        <p:nvPicPr>
          <p:cNvPr id="104" name="Picture 5" descr="image.png"/>
          <p:cNvPicPr>
            <a:picLocks noChangeAspect="1"/>
          </p:cNvPicPr>
          <p:nvPr/>
        </p:nvPicPr>
        <p:blipFill>
          <a:blip r:embed="rId3"/>
          <a:stretch>
            <a:fillRect/>
          </a:stretch>
        </p:blipFill>
        <p:spPr>
          <a:xfrm>
            <a:off x="2773365" y="2606040"/>
            <a:ext cx="7456036" cy="4572000"/>
          </a:xfrm>
          <a:prstGeom prst="rect">
            <a:avLst/>
          </a:prstGeom>
          <a:ln w="9525">
            <a:solidFill>
              <a:srgbClr val="D3D6DC"/>
            </a:solidFill>
          </a:ln>
        </p:spPr>
      </p:pic>
      <p:sp>
        <p:nvSpPr>
          <p:cNvPr id="105"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a:t>
            </a:r>
            <a:r>
              <a:rPr lang="en-US" sz="1150" spc="0" dirty="0">
                <a:solidFill>
                  <a:srgbClr val="B5531F"/>
                </a:solidFill>
                <a:latin typeface="Helvetica Neue Medium"/>
                <a:cs typeface="Helvetica Neue Medium"/>
              </a:rPr>
              <a:t>Before work</a:t>
            </a:r>
            <a:r>
              <a:rPr lang="en-US" sz="1150" spc="0" dirty="0">
                <a:solidFill>
                  <a:srgbClr val="858A97"/>
                </a:solidFill>
                <a:latin typeface="Helvetica Neue Light"/>
                <a:cs typeface="Helvetica Neue Light"/>
              </a:rPr>
              <a:t>  ›  During work  ›  After the close</a:t>
            </a:r>
          </a:p>
        </p:txBody>
      </p:sp>
      <p:sp>
        <p:nvSpPr>
          <p:cNvPr id="106"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Opened from “Why marked?” in the 7:30 AM morning glance (step 7).</a:t>
            </a:r>
          </a:p>
        </p:txBody>
      </p:sp>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AI BEHAVIOR</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Measurements, not a confidence score: wick 2.6× body, at support, volume 2.4× its norm</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Clear, borderline or not enough data; only clear findings reach his inbox</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History with its sample size (38 matches in 3 years) and a visible track record</a:t>
            </a:r>
          </a:p>
        </p:txBody>
      </p:sp>
      <p:pic>
        <p:nvPicPr>
          <p:cNvPr id="112"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9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Insight Board, pre-market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7:45 AM. FinViz Home, upgraded.</a:t>
            </a:r>
          </a:p>
        </p:txBody>
      </p:sp>
      <p:pic>
        <p:nvPicPr>
          <p:cNvPr id="104" name="Picture 5" descr="image.png"/>
          <p:cNvPicPr>
            <a:picLocks noChangeAspect="1"/>
          </p:cNvPicPr>
          <p:nvPr/>
        </p:nvPicPr>
        <p:blipFill>
          <a:blip r:embed="rId3"/>
          <a:stretch>
            <a:fillRect/>
          </a:stretch>
        </p:blipFill>
        <p:spPr>
          <a:xfrm>
            <a:off x="4013220" y="2606040"/>
            <a:ext cx="4976326" cy="4572000"/>
          </a:xfrm>
          <a:prstGeom prst="rect">
            <a:avLst/>
          </a:prstGeom>
          <a:ln w="9525">
            <a:solidFill>
              <a:srgbClr val="D3D6DC"/>
            </a:solidFill>
          </a:ln>
        </p:spPr>
      </p:pic>
      <p:sp>
        <p:nvSpPr>
          <p:cNvPr id="105"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a:t>
            </a:r>
            <a:r>
              <a:rPr lang="en-US" sz="1150" spc="0" dirty="0">
                <a:solidFill>
                  <a:srgbClr val="B5531F"/>
                </a:solidFill>
                <a:latin typeface="Helvetica Neue Medium"/>
                <a:cs typeface="Helvetica Neue Medium"/>
              </a:rPr>
              <a:t>Before work</a:t>
            </a:r>
            <a:r>
              <a:rPr lang="en-US" sz="1150" spc="0" dirty="0">
                <a:solidFill>
                  <a:srgbClr val="858A97"/>
                </a:solidFill>
                <a:latin typeface="Helvetica Neue Light"/>
                <a:cs typeface="Helvetica Neue Light"/>
              </a:rPr>
              <a:t>  ›  During work  ›  After the close</a:t>
            </a:r>
          </a:p>
        </p:txBody>
      </p:sp>
      <p:sp>
        <p:nvSpPr>
          <p:cNvPr id="106"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Then: he opens one finding to see its evidence and source (step 10).</a:t>
            </a:r>
          </a:p>
        </p:txBody>
      </p:sp>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AI BEHAVIOR</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Three findings that need him today, each sourced and labelled Clear</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The familiar parts stay: index row, breadth bars, S&amp;P 500 map, now with AI notes</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Pre-market prices on his own names are the Elite moment</a:t>
            </a:r>
          </a:p>
        </p:txBody>
      </p:sp>
      <p:pic>
        <p:nvPicPr>
          <p:cNvPr id="112"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11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Quiet hours, one alert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10:14 AM. At work; a browser push that leads with the reason.</a:t>
            </a:r>
          </a:p>
        </p:txBody>
      </p:sp>
      <p:sp>
        <p:nvSpPr>
          <p:cNvPr id="104"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Before work  ›  </a:t>
            </a:r>
            <a:r>
              <a:rPr lang="en-US" sz="1150" spc="0" dirty="0">
                <a:solidFill>
                  <a:srgbClr val="B5531F"/>
                </a:solidFill>
                <a:latin typeface="Helvetica Neue Medium"/>
                <a:cs typeface="Helvetica Neue Medium"/>
              </a:rPr>
              <a:t>During work</a:t>
            </a:r>
            <a:r>
              <a:rPr lang="en-US" sz="1150" spc="0" dirty="0">
                <a:solidFill>
                  <a:srgbClr val="858A97"/>
                </a:solidFill>
                <a:latin typeface="Helvetica Neue Light"/>
                <a:cs typeface="Helvetica Neue Light"/>
              </a:rPr>
              <a:t>  ›  After the close</a:t>
            </a:r>
          </a:p>
        </p:txBody>
      </p:sp>
      <p:sp>
        <p:nvSpPr>
          <p:cNvPr id="105"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He painted quiet hours once (9:30 AM–4 PM); only his own criteria can interrupt.</a:t>
            </a:r>
          </a:p>
        </p:txBody>
      </p:sp>
      <p:pic>
        <p:nvPicPr>
          <p:cNvPr id="106" name="Hi-fi screen"/>
          <p:cNvPicPr>
            <a:picLocks noChangeAspect="1"/>
          </p:cNvPicPr>
          <p:nvPr/>
        </p:nvPicPr>
        <p:blipFill>
          <a:blip r:embed="rId2"/>
          <a:stretch>
            <a:fillRect/>
          </a:stretch>
        </p:blipFill>
        <p:spPr>
          <a:xfrm>
            <a:off x="822960" y="2699537"/>
            <a:ext cx="11356848" cy="4385005"/>
          </a:xfrm>
          <a:prstGeom prst="rect">
            <a:avLst/>
          </a:prstGeom>
          <a:ln w="9525">
            <a:solidFill>
              <a:srgbClr val="D3D6DC"/>
            </a:solidFill>
          </a:ln>
        </p:spPr>
      </p:pic>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DECISION POINT</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Quiet 9:30–4 unless his own criteria are met</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One push, reason first: Rel Vol 2.9 (your &gt; 1.5), crossed its 20-day high</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Three choices: open the chart, say it was wrong, or mute the name</a:t>
            </a:r>
          </a:p>
        </p:txBody>
      </p:sp>
      <p:pic>
        <p:nvPicPr>
          <p:cNvPr id="112"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12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Alert correction: “this was wrong” becomes a proposed fix</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10:31 AM. The alert opened on the RMBS quote page.</a:t>
            </a:r>
          </a:p>
        </p:txBody>
      </p:sp>
      <p:pic>
        <p:nvPicPr>
          <p:cNvPr id="104" name="Picture 5" descr="image.png"/>
          <p:cNvPicPr>
            <a:picLocks noChangeAspect="1"/>
          </p:cNvPicPr>
          <p:nvPr/>
        </p:nvPicPr>
        <p:blipFill>
          <a:blip r:embed="rId3"/>
          <a:stretch>
            <a:fillRect/>
          </a:stretch>
        </p:blipFill>
        <p:spPr>
          <a:xfrm>
            <a:off x="2582527" y="2606040"/>
            <a:ext cx="7837712" cy="4572000"/>
          </a:xfrm>
          <a:prstGeom prst="rect">
            <a:avLst/>
          </a:prstGeom>
          <a:ln w="9525">
            <a:solidFill>
              <a:srgbClr val="D3D6DC"/>
            </a:solidFill>
          </a:ln>
        </p:spPr>
      </p:pic>
      <p:sp>
        <p:nvSpPr>
          <p:cNvPr id="105"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Before work  ›  </a:t>
            </a:r>
            <a:r>
              <a:rPr lang="en-US" sz="1150" spc="0" dirty="0">
                <a:solidFill>
                  <a:srgbClr val="B5531F"/>
                </a:solidFill>
                <a:latin typeface="Helvetica Neue Medium"/>
                <a:cs typeface="Helvetica Neue Medium"/>
              </a:rPr>
              <a:t>During work</a:t>
            </a:r>
            <a:r>
              <a:rPr lang="en-US" sz="1150" spc="0" dirty="0">
                <a:solidFill>
                  <a:srgbClr val="858A97"/>
                </a:solidFill>
                <a:latin typeface="Helvetica Neue Light"/>
                <a:cs typeface="Helvetica Neue Light"/>
              </a:rPr>
              <a:t>  ›  After the close</a:t>
            </a:r>
          </a:p>
        </p:txBody>
      </p:sp>
      <p:sp>
        <p:nvSpPr>
          <p:cNvPr id="106"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Straight from the 10:14 AM alert (step 11): he tapped “This was wrong”.</a:t>
            </a:r>
          </a:p>
        </p:txBody>
      </p:sp>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DECISION POINT</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His reason (“too early”) becomes a specific change to his own rule</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Before/after replay: 4 → 2 alerts in 30 days, both acted-on alerts kept</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Nothing changes until he applies it; every change is logged with Undo</a:t>
            </a:r>
          </a:p>
        </p:txBody>
      </p:sp>
      <p:pic>
        <p:nvPicPr>
          <p:cNvPr id="112"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14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Reasons Still Hold?</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4:30 PM. DOCN closes below its SMA50: a reason breaks.</a:t>
            </a:r>
          </a:p>
        </p:txBody>
      </p:sp>
      <p:pic>
        <p:nvPicPr>
          <p:cNvPr id="104" name="Picture 5" descr="image.png"/>
          <p:cNvPicPr>
            <a:picLocks noChangeAspect="1"/>
          </p:cNvPicPr>
          <p:nvPr/>
        </p:nvPicPr>
        <p:blipFill>
          <a:blip r:embed="rId3"/>
          <a:stretch>
            <a:fillRect/>
          </a:stretch>
        </p:blipFill>
        <p:spPr>
          <a:xfrm>
            <a:off x="2802687" y="2606040"/>
            <a:ext cx="7397392" cy="4572000"/>
          </a:xfrm>
          <a:prstGeom prst="rect">
            <a:avLst/>
          </a:prstGeom>
          <a:ln w="9525">
            <a:solidFill>
              <a:srgbClr val="D3D6DC"/>
            </a:solidFill>
          </a:ln>
        </p:spPr>
      </p:pic>
      <p:sp>
        <p:nvSpPr>
          <p:cNvPr id="105"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Before work  ›  During work  ›  </a:t>
            </a:r>
            <a:r>
              <a:rPr lang="en-US" sz="1150" spc="0" dirty="0">
                <a:solidFill>
                  <a:srgbClr val="B5531F"/>
                </a:solidFill>
                <a:latin typeface="Helvetica Neue Medium"/>
                <a:cs typeface="Helvetica Neue Medium"/>
              </a:rPr>
              <a:t>After the close</a:t>
            </a:r>
          </a:p>
        </p:txBody>
      </p:sp>
      <p:sp>
        <p:nvSpPr>
          <p:cNvPr id="106"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Before this: at lunch the board showed alerts sent and held back (step 13).</a:t>
            </a:r>
          </a:p>
        </p:txBody>
      </p:sp>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DECISION POINT</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A checklist that ticks itself against today’s close</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What changed and when, on the chart; his exit line ($34.00) not met</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Hold or exit is his call, in his own broker; FinViz never places orders</a:t>
            </a:r>
          </a:p>
        </p:txBody>
      </p:sp>
      <p:pic>
        <p:nvPicPr>
          <p:cNvPr id="112"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SOLUTION · STEP 17 OF 19</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Activity log: everything, with Undo</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Tue 5:15 PM. Every send and change, who did it, and why.</a:t>
            </a:r>
          </a:p>
        </p:txBody>
      </p:sp>
      <p:sp>
        <p:nvSpPr>
          <p:cNvPr id="104" name="Day tracker"/>
          <p:cNvSpPr txBox="1"/>
          <p:nvPr/>
        </p:nvSpPr>
        <p:spPr>
          <a:xfrm>
            <a:off x="822960" y="1874519"/>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858A97"/>
                </a:solidFill>
                <a:latin typeface="Helvetica Neue Medium"/>
                <a:cs typeface="Helvetica Neue Medium"/>
              </a:rPr>
              <a:t>THE DAY   </a:t>
            </a:r>
            <a:r>
              <a:rPr lang="en-US" sz="1150" spc="0" dirty="0">
                <a:solidFill>
                  <a:srgbClr val="858A97"/>
                </a:solidFill>
                <a:latin typeface="Helvetica Neue Light"/>
                <a:cs typeface="Helvetica Neue Light"/>
              </a:rPr>
              <a:t>Evening  ›  Overnight  ›  Before work  ›  During work  ›  </a:t>
            </a:r>
            <a:r>
              <a:rPr lang="en-US" sz="1150" spc="0" dirty="0">
                <a:solidFill>
                  <a:srgbClr val="B5531F"/>
                </a:solidFill>
                <a:latin typeface="Helvetica Neue Medium"/>
                <a:cs typeface="Helvetica Neue Medium"/>
              </a:rPr>
              <a:t>After the close</a:t>
            </a:r>
          </a:p>
        </p:txBody>
      </p:sp>
      <p:sp>
        <p:nvSpPr>
          <p:cNvPr id="105" name="Bridge"/>
          <p:cNvSpPr txBox="1"/>
          <p:nvPr/>
        </p:nvSpPr>
        <p:spPr>
          <a:xfrm>
            <a:off x="822960" y="2176272"/>
            <a:ext cx="1135888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The day’s record: every alert FinViz sent and every rule that changed, by FinViz or by him.</a:t>
            </a:r>
          </a:p>
        </p:txBody>
      </p:sp>
      <p:pic>
        <p:nvPicPr>
          <p:cNvPr id="106" name="Hi-fi screen"/>
          <p:cNvPicPr>
            <a:picLocks noChangeAspect="1"/>
          </p:cNvPicPr>
          <p:nvPr/>
        </p:nvPicPr>
        <p:blipFill>
          <a:blip r:embed="rId2"/>
          <a:stretch>
            <a:fillRect/>
          </a:stretch>
        </p:blipFill>
        <p:spPr>
          <a:xfrm>
            <a:off x="3032637" y="2606040"/>
            <a:ext cx="6937492" cy="4572000"/>
          </a:xfrm>
          <a:prstGeom prst="rect">
            <a:avLst/>
          </a:prstGeom>
          <a:ln w="9525">
            <a:solidFill>
              <a:srgbClr val="D3D6DC"/>
            </a:solidFill>
          </a:ln>
        </p:spPr>
      </p:pic>
      <p:cxnSp>
        <p:nvCxnSpPr>
          <p:cNvPr id="107" name="Divider"/>
          <p:cNvCxnSpPr/>
          <p:nvPr/>
        </p:nvCxnSpPr>
        <p:spPr>
          <a:xfrm>
            <a:off x="822960" y="7360920"/>
            <a:ext cx="11358880" cy="0"/>
          </a:xfrm>
          <a:prstGeom prst="line">
            <a:avLst/>
          </a:prstGeom>
          <a:ln w="9525">
            <a:solidFill>
              <a:srgbClr val="E1E3E8"/>
            </a:solidFill>
          </a:ln>
        </p:spPr>
      </p:cxnSp>
      <p:sp>
        <p:nvSpPr>
          <p:cNvPr id="108"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AI BEHAVIOR</a:t>
            </a:r>
          </a:p>
        </p:txBody>
      </p:sp>
      <p:sp>
        <p:nvSpPr>
          <p:cNvPr id="109"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 marks what FinViz did; a dot marks what he did</a:t>
            </a:r>
          </a:p>
        </p:txBody>
      </p:sp>
      <p:sp>
        <p:nvSpPr>
          <p:cNvPr id="110"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Every change shows its reason and effect, with Undo for 30 days</a:t>
            </a:r>
          </a:p>
        </p:txBody>
      </p:sp>
      <p:sp>
        <p:nvSpPr>
          <p:cNvPr id="111"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Nothing changes silently; sent messages can’t be unsent, so they have no Undo</a:t>
            </a:r>
          </a:p>
        </p:txBody>
      </p:sp>
      <p:pic>
        <p:nvPicPr>
          <p:cNvPr id="112"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FINVIZ AI SCREENER · PROTOTYPE</a:t>
            </a:r>
          </a:p>
        </p:txBody>
      </p:sp>
      <p:sp>
        <p:nvSpPr>
          <p:cNvPr id="102" name="Headline"/>
          <p:cNvSpPr txBox="1"/>
          <p:nvPr/>
        </p:nvSpPr>
        <p:spPr>
          <a:xfrm>
            <a:off x="822960" y="1371600"/>
            <a:ext cx="11358880" cy="118872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F5F5F7"/>
                </a:solidFill>
                <a:latin typeface="Helvetica Neue Medium"/>
                <a:cs typeface="Helvetica Neue Medium"/>
              </a:rPr>
              <a:t>Click through the whole day </a:t>
            </a:r>
            <a:r>
              <a:rPr lang="en-US" sz="4400" spc="-40" dirty="0">
                <a:solidFill>
                  <a:srgbClr val="E98C64"/>
                </a:solidFill>
                <a:latin typeface="Helvetica Neue Medium"/>
                <a:cs typeface="Helvetica Neue Medium"/>
              </a:rPr>
              <a:t>yourself</a:t>
            </a:r>
            <a:r>
              <a:rPr lang="en-US" sz="4400" spc="-40" dirty="0">
                <a:solidFill>
                  <a:srgbClr val="F5F5F7"/>
                </a:solidFill>
                <a:latin typeface="Helvetica Neue Medium"/>
                <a:cs typeface="Helvetica Neue Medium"/>
              </a:rPr>
              <a:t>.</a:t>
            </a:r>
          </a:p>
        </p:txBody>
      </p:sp>
      <p:sp>
        <p:nvSpPr>
          <p:cNvPr id="103" name="Body"/>
          <p:cNvSpPr txBox="1"/>
          <p:nvPr/>
        </p:nvSpPr>
        <p:spPr>
          <a:xfrm>
            <a:off x="822960" y="2834640"/>
            <a:ext cx="5120640" cy="201168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19 linked hi-fi screens in Figma, starting at step 1. Each screen moves forward through its real button: Save screen, Charts, Compare selected, Watch these 3 for me… through Save layout on Sunday.</a:t>
            </a:r>
          </a:p>
        </p:txBody>
      </p:sp>
      <p:sp>
        <p:nvSpPr>
          <p:cNvPr id="104" name="Link">
            <a:hlinkClick r:id="rId2"/>
          </p:cNvPr>
          <p:cNvSpPr txBox="1"/>
          <p:nvPr/>
        </p:nvSpPr>
        <p:spPr>
          <a:xfrm>
            <a:off x="822960" y="5029200"/>
            <a:ext cx="5120640" cy="457200"/>
          </a:xfrm>
          <a:prstGeom prst="rect">
            <a:avLst/>
          </a:prstGeom>
          <a:noFill/>
        </p:spPr>
        <p:txBody>
          <a:bodyPr wrap="square" lIns="0" tIns="0" rIns="0" bIns="0" anchor="t">
            <a:noAutofit/>
          </a:bodyPr>
          <a:lstStyle/>
          <a:p>
            <a:pPr algn="l">
              <a:lnSpc>
                <a:spcPct val="115000"/>
              </a:lnSpc>
              <a:spcAft>
                <a:spcPts val="300"/>
              </a:spcAft>
            </a:pPr>
            <a:r>
              <a:rPr lang="en-US" sz="2200" u="sng" spc="0" dirty="0">
                <a:solidFill>
                  <a:srgbClr val="E98C64"/>
                </a:solidFill>
                <a:latin typeface="Helvetica Neue Medium"/>
                <a:cs typeface="Helvetica Neue Medium"/>
              </a:rPr>
              <a:t>Open the Figma prototype →</a:t>
            </a:r>
          </a:p>
        </p:txBody>
      </p:sp>
      <p:cxnSp>
        <p:nvCxnSpPr>
          <p:cNvPr id="106" name="Divider"/>
          <p:cNvCxnSpPr/>
          <p:nvPr/>
        </p:nvCxnSpPr>
        <p:spPr>
          <a:xfrm>
            <a:off x="822960" y="6400800"/>
            <a:ext cx="5120640" cy="0"/>
          </a:xfrm>
          <a:prstGeom prst="line">
            <a:avLst/>
          </a:prstGeom>
          <a:ln w="9525">
            <a:solidFill>
              <a:srgbClr val="2C2F38"/>
            </a:solidFill>
          </a:ln>
        </p:spPr>
      </p:cxnSp>
      <p:sp>
        <p:nvSpPr>
          <p:cNvPr id="107" name="Also"/>
          <p:cNvSpPr txBox="1"/>
          <p:nvPr/>
        </p:nvSpPr>
        <p:spPr>
          <a:xfrm>
            <a:off x="822960" y="6583680"/>
            <a:ext cx="5120640" cy="146304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ALSO AVAILABLE</a:t>
            </a:r>
          </a:p>
          <a:p>
            <a:pPr algn="l">
              <a:lnSpc>
                <a:spcPct val="125000"/>
              </a:lnSpc>
              <a:spcAft>
                <a:spcPts val="300"/>
              </a:spcAft>
            </a:pPr>
            <a:r>
              <a:rPr lang="en-US" sz="1550" spc="0" dirty="0">
                <a:solidFill>
                  <a:srgbClr val="A3A8B4"/>
                </a:solidFill>
                <a:latin typeface="Helvetica Neue Light"/>
                <a:cs typeface="Helvetica Neue Light"/>
              </a:rPr>
              <a:t>An offline HTML version with the narrative for every step and a full link map: The-Trading-Day-Prototype.html.</a:t>
            </a:r>
          </a:p>
        </p:txBody>
      </p:sp>
      <p:pic>
        <p:nvPicPr>
          <p:cNvPr id="108" name="Hi-fi screen"/>
          <p:cNvPicPr>
            <a:picLocks noChangeAspect="1"/>
          </p:cNvPicPr>
          <p:nvPr/>
        </p:nvPicPr>
        <p:blipFill>
          <a:blip r:embed="rId3"/>
          <a:stretch>
            <a:fillRect/>
          </a:stretch>
        </p:blipFill>
        <p:spPr>
          <a:xfrm>
            <a:off x="6400800" y="3069336"/>
            <a:ext cx="5779008" cy="3371088"/>
          </a:xfrm>
          <a:prstGeom prst="rect">
            <a:avLst/>
          </a:prstGeom>
          <a:ln w="9525">
            <a:solidFill>
              <a:srgbClr val="3A3E49"/>
            </a:solidFill>
          </a:ln>
        </p:spPr>
      </p:pic>
      <p:pic>
        <p:nvPicPr>
          <p:cNvPr id="109" name="gradient strip" descr="gradient strip"/>
          <p:cNvPicPr>
            <a:picLocks noChangeAspect="1"/>
          </p:cNvPicPr>
          <p:nvPr/>
        </p:nvPicPr>
        <p:blipFill>
          <a:blip r:embed="rId4"/>
          <a:stretch>
            <a:fillRect/>
          </a:stretch>
        </p:blipFill>
        <p:spPr>
          <a:xfrm>
            <a:off x="0" y="9285427"/>
            <a:ext cx="13004800" cy="468173"/>
          </a:xfrm>
          <a:prstGeom prst="rect">
            <a:avLst/>
          </a:prstGeom>
        </p:spPr>
      </p:pic>
      <p:sp>
        <p:nvSpPr>
          <p:cNvPr id="110" name="Workflow map link">
            <a:hlinkClick r:id="rId5"/>
          </p:cNvPr>
          <p:cNvSpPr txBox="1"/>
          <p:nvPr/>
        </p:nvSpPr>
        <p:spPr>
          <a:xfrm>
            <a:off x="822960" y="5577840"/>
            <a:ext cx="5120640" cy="355600"/>
          </a:xfrm>
          <a:prstGeom prst="rect">
            <a:avLst/>
          </a:prstGeom>
          <a:noFill/>
        </p:spPr>
        <p:txBody>
          <a:bodyPr wrap="square" lIns="0" tIns="0" rIns="0" bIns="0" anchor="t">
            <a:noAutofit/>
          </a:bodyPr>
          <a:lstStyle/>
          <a:p>
            <a:pPr algn="l">
              <a:lnSpc>
                <a:spcPct val="115000"/>
              </a:lnSpc>
              <a:spcAft>
                <a:spcPts val="300"/>
              </a:spcAft>
            </a:pPr>
            <a:r>
              <a:rPr lang="en-US" sz="1500" u="sng" spc="0" dirty="0">
                <a:solidFill>
                  <a:srgbClr val="E98C64"/>
                </a:solidFill>
                <a:latin typeface="Helvetica Neue Medium"/>
                <a:cs typeface="Helvetica Neue Medium"/>
              </a:rPr>
              <a:t>Or start at the workflow map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REASONING</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Trade-offs and rejected alternatives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The section that matters most: why the AI behaves the way it does.</a:t>
            </a:r>
          </a:p>
        </p:txBody>
      </p:sp>
      <p:sp>
        <p:nvSpPr>
          <p:cNvPr id="104" name="Column label"/>
          <p:cNvSpPr txBox="1"/>
          <p:nvPr/>
        </p:nvSpPr>
        <p:spPr>
          <a:xfrm>
            <a:off x="822960" y="2011680"/>
            <a:ext cx="356616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WE CHOSE</a:t>
            </a:r>
          </a:p>
        </p:txBody>
      </p:sp>
      <p:sp>
        <p:nvSpPr>
          <p:cNvPr id="105" name="Column label"/>
          <p:cNvSpPr txBox="1"/>
          <p:nvPr/>
        </p:nvSpPr>
        <p:spPr>
          <a:xfrm>
            <a:off x="4663440" y="2011680"/>
            <a:ext cx="310896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WE REJECTED</a:t>
            </a:r>
          </a:p>
        </p:txBody>
      </p:sp>
      <p:sp>
        <p:nvSpPr>
          <p:cNvPr id="106" name="Column label"/>
          <p:cNvSpPr txBox="1"/>
          <p:nvPr/>
        </p:nvSpPr>
        <p:spPr>
          <a:xfrm>
            <a:off x="8046720" y="2011680"/>
            <a:ext cx="413512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WHY</a:t>
            </a:r>
          </a:p>
        </p:txBody>
      </p:sp>
      <p:cxnSp>
        <p:nvCxnSpPr>
          <p:cNvPr id="107" name="Divider"/>
          <p:cNvCxnSpPr/>
          <p:nvPr/>
        </p:nvCxnSpPr>
        <p:spPr>
          <a:xfrm>
            <a:off x="822960" y="2395728"/>
            <a:ext cx="11358880" cy="0"/>
          </a:xfrm>
          <a:prstGeom prst="line">
            <a:avLst/>
          </a:prstGeom>
          <a:ln w="9525">
            <a:solidFill>
              <a:srgbClr val="E1E3E8"/>
            </a:solidFill>
          </a:ln>
        </p:spPr>
      </p:cxnSp>
      <p:sp>
        <p:nvSpPr>
          <p:cNvPr id="108" name="Cell 1.1"/>
          <p:cNvSpPr txBox="1"/>
          <p:nvPr/>
        </p:nvSpPr>
        <p:spPr>
          <a:xfrm>
            <a:off x="822960" y="2542032"/>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Examples → editable filter chips</a:t>
            </a:r>
          </a:p>
        </p:txBody>
      </p:sp>
      <p:sp>
        <p:nvSpPr>
          <p:cNvPr id="109" name="Cell 1.2"/>
          <p:cNvSpPr txBox="1"/>
          <p:nvPr/>
        </p:nvSpPr>
        <p:spPr>
          <a:xfrm>
            <a:off x="4663440" y="2542032"/>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 chat box as the main way in</a:t>
            </a:r>
          </a:p>
        </p:txBody>
      </p:sp>
      <p:sp>
        <p:nvSpPr>
          <p:cNvPr id="110" name="Cell 1.3"/>
          <p:cNvSpPr txBox="1"/>
          <p:nvPr/>
        </p:nvSpPr>
        <p:spPr>
          <a:xfrm>
            <a:off x="8046720" y="2542032"/>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Real tasks are ambiguous; chips can be inspected, edited and saved</a:t>
            </a:r>
          </a:p>
        </p:txBody>
      </p:sp>
      <p:cxnSp>
        <p:nvCxnSpPr>
          <p:cNvPr id="111" name="Divider"/>
          <p:cNvCxnSpPr/>
          <p:nvPr/>
        </p:nvCxnSpPr>
        <p:spPr>
          <a:xfrm>
            <a:off x="822960" y="3118104"/>
            <a:ext cx="11358880" cy="0"/>
          </a:xfrm>
          <a:prstGeom prst="line">
            <a:avLst/>
          </a:prstGeom>
          <a:ln w="9525">
            <a:solidFill>
              <a:srgbClr val="E1E3E8"/>
            </a:solidFill>
          </a:ln>
        </p:spPr>
      </p:cxnSp>
      <p:sp>
        <p:nvSpPr>
          <p:cNvPr id="112" name="Cell 2.1"/>
          <p:cNvSpPr txBox="1"/>
          <p:nvPr/>
        </p:nvSpPr>
        <p:spPr>
          <a:xfrm>
            <a:off x="822960" y="3264408"/>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Measurements; clear / borderline / abstain</a:t>
            </a:r>
          </a:p>
        </p:txBody>
      </p:sp>
      <p:sp>
        <p:nvSpPr>
          <p:cNvPr id="113" name="Cell 2.2"/>
          <p:cNvSpPr txBox="1"/>
          <p:nvPr/>
        </p:nvSpPr>
        <p:spPr>
          <a:xfrm>
            <a:off x="4663440" y="3264408"/>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 confidence % on each detection</a:t>
            </a:r>
          </a:p>
        </p:txBody>
      </p:sp>
      <p:sp>
        <p:nvSpPr>
          <p:cNvPr id="114" name="Cell 2.3"/>
          <p:cNvSpPr txBox="1"/>
          <p:nvPr/>
        </p:nvSpPr>
        <p:spPr>
          <a:xfrm>
            <a:off x="8046720" y="3264408"/>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 number implies precision we can’t guarantee; measurements can be checked</a:t>
            </a:r>
          </a:p>
        </p:txBody>
      </p:sp>
      <p:cxnSp>
        <p:nvCxnSpPr>
          <p:cNvPr id="115" name="Divider"/>
          <p:cNvCxnSpPr/>
          <p:nvPr/>
        </p:nvCxnSpPr>
        <p:spPr>
          <a:xfrm>
            <a:off x="822960" y="3840480"/>
            <a:ext cx="11358880" cy="0"/>
          </a:xfrm>
          <a:prstGeom prst="line">
            <a:avLst/>
          </a:prstGeom>
          <a:ln w="9525">
            <a:solidFill>
              <a:srgbClr val="E1E3E8"/>
            </a:solidFill>
          </a:ln>
        </p:spPr>
      </p:cxnSp>
      <p:sp>
        <p:nvSpPr>
          <p:cNvPr id="116" name="Cell 3.1"/>
          <p:cNvSpPr txBox="1"/>
          <p:nvPr/>
        </p:nvSpPr>
        <p:spPr>
          <a:xfrm>
            <a:off x="822960" y="3986784"/>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Verify the trader’s own reasons</a:t>
            </a:r>
          </a:p>
        </p:txBody>
      </p:sp>
      <p:sp>
        <p:nvSpPr>
          <p:cNvPr id="117" name="Cell 3.2"/>
          <p:cNvSpPr txBox="1"/>
          <p:nvPr/>
        </p:nvSpPr>
        <p:spPr>
          <a:xfrm>
            <a:off x="4663440" y="3986784"/>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AI buy/sell calls, “top picks”, scores</a:t>
            </a:r>
          </a:p>
        </p:txBody>
      </p:sp>
      <p:sp>
        <p:nvSpPr>
          <p:cNvPr id="118" name="Cell 3.3"/>
          <p:cNvSpPr txBox="1"/>
          <p:nvPr/>
        </p:nvSpPr>
        <p:spPr>
          <a:xfrm>
            <a:off x="8046720" y="3986784"/>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Compliance and trust; attributed third-party views only, pending compliance review</a:t>
            </a:r>
          </a:p>
        </p:txBody>
      </p:sp>
      <p:cxnSp>
        <p:nvCxnSpPr>
          <p:cNvPr id="119" name="Divider"/>
          <p:cNvCxnSpPr/>
          <p:nvPr/>
        </p:nvCxnSpPr>
        <p:spPr>
          <a:xfrm>
            <a:off x="822960" y="4562856"/>
            <a:ext cx="11358880" cy="0"/>
          </a:xfrm>
          <a:prstGeom prst="line">
            <a:avLst/>
          </a:prstGeom>
          <a:ln w="9525">
            <a:solidFill>
              <a:srgbClr val="E1E3E8"/>
            </a:solidFill>
          </a:ln>
        </p:spPr>
      </p:cxnSp>
      <p:sp>
        <p:nvSpPr>
          <p:cNvPr id="120" name="Cell 4.1"/>
          <p:cNvSpPr txBox="1"/>
          <p:nvPr/>
        </p:nvSpPr>
        <p:spPr>
          <a:xfrm>
            <a:off x="822960" y="4709160"/>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One reason-first alert in quiet hours</a:t>
            </a:r>
          </a:p>
        </p:txBody>
      </p:sp>
      <p:sp>
        <p:nvSpPr>
          <p:cNvPr id="121" name="Cell 4.2"/>
          <p:cNvSpPr txBox="1"/>
          <p:nvPr/>
        </p:nvSpPr>
        <p:spPr>
          <a:xfrm>
            <a:off x="4663440" y="4709160"/>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 live stream of every signal</a:t>
            </a:r>
          </a:p>
        </p:txBody>
      </p:sp>
      <p:sp>
        <p:nvSpPr>
          <p:cNvPr id="122" name="Cell 4.3"/>
          <p:cNvSpPr txBox="1"/>
          <p:nvPr/>
        </p:nvSpPr>
        <p:spPr>
          <a:xfrm>
            <a:off x="8046720" y="4709160"/>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Alert fatigue kills the habit; replay shows the cost first</a:t>
            </a:r>
          </a:p>
        </p:txBody>
      </p:sp>
      <p:cxnSp>
        <p:nvCxnSpPr>
          <p:cNvPr id="123" name="Divider"/>
          <p:cNvCxnSpPr/>
          <p:nvPr/>
        </p:nvCxnSpPr>
        <p:spPr>
          <a:xfrm>
            <a:off x="822960" y="5285232"/>
            <a:ext cx="11358880" cy="0"/>
          </a:xfrm>
          <a:prstGeom prst="line">
            <a:avLst/>
          </a:prstGeom>
          <a:ln w="9525">
            <a:solidFill>
              <a:srgbClr val="E1E3E8"/>
            </a:solidFill>
          </a:ln>
        </p:spPr>
      </p:cxnSp>
      <p:sp>
        <p:nvSpPr>
          <p:cNvPr id="124" name="Cell 5.1"/>
          <p:cNvSpPr txBox="1"/>
          <p:nvPr/>
        </p:nvSpPr>
        <p:spPr>
          <a:xfrm>
            <a:off x="822960" y="5431536"/>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Propose rule changes; apply on accept</a:t>
            </a:r>
          </a:p>
        </p:txBody>
      </p:sp>
      <p:sp>
        <p:nvSpPr>
          <p:cNvPr id="125" name="Cell 5.2"/>
          <p:cNvSpPr txBox="1"/>
          <p:nvPr/>
        </p:nvSpPr>
        <p:spPr>
          <a:xfrm>
            <a:off x="4663440" y="5431536"/>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Silent auto-tuning</a:t>
            </a:r>
          </a:p>
        </p:txBody>
      </p:sp>
      <p:sp>
        <p:nvSpPr>
          <p:cNvPr id="126" name="Cell 5.3"/>
          <p:cNvSpPr txBox="1"/>
          <p:nvPr/>
        </p:nvSpPr>
        <p:spPr>
          <a:xfrm>
            <a:off x="8046720" y="5431536"/>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He keeps control; every change announced, with Undo</a:t>
            </a:r>
          </a:p>
        </p:txBody>
      </p:sp>
      <p:cxnSp>
        <p:nvCxnSpPr>
          <p:cNvPr id="127" name="Divider"/>
          <p:cNvCxnSpPr/>
          <p:nvPr/>
        </p:nvCxnSpPr>
        <p:spPr>
          <a:xfrm>
            <a:off x="822960" y="6007608"/>
            <a:ext cx="11358880" cy="0"/>
          </a:xfrm>
          <a:prstGeom prst="line">
            <a:avLst/>
          </a:prstGeom>
          <a:ln w="9525">
            <a:solidFill>
              <a:srgbClr val="E1E3E8"/>
            </a:solidFill>
          </a:ln>
        </p:spPr>
      </p:cxnSp>
      <p:sp>
        <p:nvSpPr>
          <p:cNvPr id="128" name="Cell 6.1"/>
          <p:cNvSpPr txBox="1"/>
          <p:nvPr/>
        </p:nvSpPr>
        <p:spPr>
          <a:xfrm>
            <a:off x="822960" y="6153912"/>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A bounded agent on his names only</a:t>
            </a:r>
          </a:p>
        </p:txBody>
      </p:sp>
      <p:sp>
        <p:nvSpPr>
          <p:cNvPr id="129" name="Cell 6.2"/>
          <p:cNvSpPr txBox="1"/>
          <p:nvPr/>
        </p:nvSpPr>
        <p:spPr>
          <a:xfrm>
            <a:off x="4663440" y="6153912"/>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An open-ended research agent</a:t>
            </a:r>
          </a:p>
        </p:txBody>
      </p:sp>
      <p:sp>
        <p:nvSpPr>
          <p:cNvPr id="130" name="Cell 6.3"/>
          <p:cNvSpPr txBox="1"/>
          <p:nvPr/>
        </p:nvSpPr>
        <p:spPr>
          <a:xfrm>
            <a:off x="8046720" y="6153912"/>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Limits cost, hallucination surface and privacy exposure</a:t>
            </a:r>
          </a:p>
        </p:txBody>
      </p:sp>
      <p:cxnSp>
        <p:nvCxnSpPr>
          <p:cNvPr id="131" name="Divider"/>
          <p:cNvCxnSpPr/>
          <p:nvPr/>
        </p:nvCxnSpPr>
        <p:spPr>
          <a:xfrm>
            <a:off x="822960" y="6729984"/>
            <a:ext cx="11358880" cy="0"/>
          </a:xfrm>
          <a:prstGeom prst="line">
            <a:avLst/>
          </a:prstGeom>
          <a:ln w="9525">
            <a:solidFill>
              <a:srgbClr val="E1E3E8"/>
            </a:solidFill>
          </a:ln>
        </p:spPr>
      </p:cxnSp>
      <p:sp>
        <p:nvSpPr>
          <p:cNvPr id="132" name="Cell 7.1"/>
          <p:cNvSpPr txBox="1"/>
          <p:nvPr/>
        </p:nvSpPr>
        <p:spPr>
          <a:xfrm>
            <a:off x="822960" y="6876288"/>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Neutral “Clear”, amber “Borderline”</a:t>
            </a:r>
          </a:p>
        </p:txBody>
      </p:sp>
      <p:sp>
        <p:nvSpPr>
          <p:cNvPr id="133" name="Cell 7.2"/>
          <p:cNvSpPr txBox="1"/>
          <p:nvPr/>
        </p:nvSpPr>
        <p:spPr>
          <a:xfrm>
            <a:off x="4663440" y="6876288"/>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Green for “Clear”</a:t>
            </a:r>
          </a:p>
        </p:txBody>
      </p:sp>
      <p:sp>
        <p:nvSpPr>
          <p:cNvPr id="134" name="Cell 7.3"/>
          <p:cNvSpPr txBox="1"/>
          <p:nvPr/>
        </p:nvSpPr>
        <p:spPr>
          <a:xfrm>
            <a:off x="8046720" y="6876288"/>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Green means price up, nothing else</a:t>
            </a:r>
          </a:p>
        </p:txBody>
      </p:sp>
      <p:cxnSp>
        <p:nvCxnSpPr>
          <p:cNvPr id="135" name="Divider"/>
          <p:cNvCxnSpPr/>
          <p:nvPr/>
        </p:nvCxnSpPr>
        <p:spPr>
          <a:xfrm>
            <a:off x="822960" y="7452360"/>
            <a:ext cx="11358880" cy="0"/>
          </a:xfrm>
          <a:prstGeom prst="line">
            <a:avLst/>
          </a:prstGeom>
          <a:ln w="9525">
            <a:solidFill>
              <a:srgbClr val="E1E3E8"/>
            </a:solidFill>
          </a:ln>
        </p:spPr>
      </p:cxnSp>
      <p:sp>
        <p:nvSpPr>
          <p:cNvPr id="136" name="Cell 8.1"/>
          <p:cNvSpPr txBox="1"/>
          <p:nvPr/>
        </p:nvSpPr>
        <p:spPr>
          <a:xfrm>
            <a:off x="822960" y="7598664"/>
            <a:ext cx="35661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14161D"/>
                </a:solidFill>
                <a:latin typeface="Helvetica Neue Light"/>
                <a:cs typeface="Helvetica Neue Light"/>
              </a:rPr>
              <a:t>Desktop first</a:t>
            </a:r>
          </a:p>
        </p:txBody>
      </p:sp>
      <p:sp>
        <p:nvSpPr>
          <p:cNvPr id="137" name="Cell 8.2"/>
          <p:cNvSpPr txBox="1"/>
          <p:nvPr/>
        </p:nvSpPr>
        <p:spPr>
          <a:xfrm>
            <a:off x="4663440" y="7598664"/>
            <a:ext cx="310896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Mobile in release 1</a:t>
            </a:r>
          </a:p>
        </p:txBody>
      </p:sp>
      <p:sp>
        <p:nvSpPr>
          <p:cNvPr id="138" name="Cell 8.3"/>
          <p:cNvSpPr txBox="1"/>
          <p:nvPr/>
        </p:nvSpPr>
        <p:spPr>
          <a:xfrm>
            <a:off x="8046720" y="7598664"/>
            <a:ext cx="4135120" cy="539496"/>
          </a:xfrm>
          <a:prstGeom prst="rect">
            <a:avLst/>
          </a:prstGeom>
          <a:noFill/>
        </p:spPr>
        <p:txBody>
          <a:bodyPr wrap="square" lIns="0" tIns="0" rIns="0" bIns="0" anchor="t">
            <a:noAutofit/>
          </a:bodyPr>
          <a:lstStyle/>
          <a:p>
            <a:pPr algn="l">
              <a:lnSpc>
                <a:spcPct val="115000"/>
              </a:lnSpc>
              <a:spcAft>
                <a:spcPts val="200"/>
              </a:spcAft>
            </a:pPr>
            <a:r>
              <a:rPr lang="en-US" sz="1400" spc="0" dirty="0">
                <a:solidFill>
                  <a:srgbClr val="565C6B"/>
                </a:solidFill>
                <a:latin typeface="Helvetica Neue Light"/>
                <a:cs typeface="Helvetica Neue Light"/>
              </a:rPr>
              <a:t>The screener lives on desktop; mobile deferred, not dropped</a:t>
            </a:r>
          </a:p>
        </p:txBody>
      </p:sp>
      <p:cxnSp>
        <p:nvCxnSpPr>
          <p:cNvPr id="139" name="Divider"/>
          <p:cNvCxnSpPr/>
          <p:nvPr/>
        </p:nvCxnSpPr>
        <p:spPr>
          <a:xfrm>
            <a:off x="822960" y="8174736"/>
            <a:ext cx="11358880" cy="0"/>
          </a:xfrm>
          <a:prstGeom prst="line">
            <a:avLst/>
          </a:prstGeom>
          <a:ln w="9525">
            <a:solidFill>
              <a:srgbClr val="E1E3E8"/>
            </a:solidFill>
          </a:ln>
        </p:spPr>
      </p:cxnSp>
      <p:sp>
        <p:nvSpPr>
          <p:cNvPr id="140" name="Accuracy"/>
          <p:cNvSpPr txBox="1"/>
          <p:nvPr/>
        </p:nvSpPr>
        <p:spPr>
          <a:xfrm>
            <a:off x="822960" y="8339327"/>
            <a:ext cx="11358880" cy="274320"/>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B5531F"/>
                </a:solidFill>
                <a:latin typeface="Helvetica Neue Medium"/>
                <a:cs typeface="Helvetica Neue Medium"/>
              </a:rPr>
              <a:t>ACCURACY VS CONTROL   </a:t>
            </a:r>
            <a:r>
              <a:rPr lang="en-US" sz="1150" spc="0" dirty="0">
                <a:solidFill>
                  <a:srgbClr val="565C6B"/>
                </a:solidFill>
                <a:latin typeface="Helvetica Neue Light"/>
                <a:cs typeface="Helvetica Neue Light"/>
              </a:rPr>
              <a:t>When the model is unsure, the product shows less and asks more. Borderline findings stay visible but never interrupt.</a:t>
            </a:r>
          </a:p>
        </p:txBody>
      </p:sp>
      <p:pic>
        <p:nvPicPr>
          <p:cNvPr id="141"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REASONING</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Eight design calls that changed the work</a:t>
            </a:r>
          </a:p>
        </p:txBody>
      </p:sp>
      <p:cxnSp>
        <p:nvCxnSpPr>
          <p:cNvPr id="103" name="Divider"/>
          <p:cNvCxnSpPr/>
          <p:nvPr/>
        </p:nvCxnSpPr>
        <p:spPr>
          <a:xfrm>
            <a:off x="822960" y="2103120"/>
            <a:ext cx="2599690" cy="0"/>
          </a:xfrm>
          <a:prstGeom prst="line">
            <a:avLst/>
          </a:prstGeom>
          <a:ln w="9525">
            <a:solidFill>
              <a:srgbClr val="E1E3E8"/>
            </a:solidFill>
          </a:ln>
        </p:spPr>
      </p:cxnSp>
      <p:sp>
        <p:nvSpPr>
          <p:cNvPr id="104" name="Call 1"/>
          <p:cNvSpPr txBox="1"/>
          <p:nvPr/>
        </p:nvSpPr>
        <p:spPr>
          <a:xfrm>
            <a:off x="822960" y="228600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01</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23</a:t>
            </a:r>
          </a:p>
          <a:p>
            <a:pPr algn="l">
              <a:lnSpc>
                <a:spcPct val="105000"/>
              </a:lnSpc>
              <a:spcAft>
                <a:spcPts val="350"/>
              </a:spcAft>
            </a:pPr>
            <a:r>
              <a:rPr lang="en-US" sz="2100" spc="0" dirty="0">
                <a:solidFill>
                  <a:srgbClr val="14161D"/>
                </a:solidFill>
                <a:latin typeface="Helvetica Neue Medium"/>
                <a:cs typeface="Helvetica Neue Medium"/>
              </a:rPr>
              <a:t>Map today’s onboarding before designing</a:t>
            </a:r>
          </a:p>
        </p:txBody>
      </p:sp>
      <p:cxnSp>
        <p:nvCxnSpPr>
          <p:cNvPr id="105" name="Divider"/>
          <p:cNvCxnSpPr/>
          <p:nvPr/>
        </p:nvCxnSpPr>
        <p:spPr>
          <a:xfrm>
            <a:off x="3742690" y="2103120"/>
            <a:ext cx="2599690" cy="0"/>
          </a:xfrm>
          <a:prstGeom prst="line">
            <a:avLst/>
          </a:prstGeom>
          <a:ln w="9525">
            <a:solidFill>
              <a:srgbClr val="E1E3E8"/>
            </a:solidFill>
          </a:ln>
        </p:spPr>
      </p:cxnSp>
      <p:sp>
        <p:nvSpPr>
          <p:cNvPr id="106" name="Call 2"/>
          <p:cNvSpPr txBox="1"/>
          <p:nvPr/>
        </p:nvSpPr>
        <p:spPr>
          <a:xfrm>
            <a:off x="3742690" y="228600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02</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23</a:t>
            </a:r>
          </a:p>
          <a:p>
            <a:pPr algn="l">
              <a:lnSpc>
                <a:spcPct val="105000"/>
              </a:lnSpc>
              <a:spcAft>
                <a:spcPts val="350"/>
              </a:spcAft>
            </a:pPr>
            <a:r>
              <a:rPr lang="en-US" sz="2100" spc="0" dirty="0">
                <a:solidFill>
                  <a:srgbClr val="14161D"/>
                </a:solidFill>
                <a:latin typeface="Helvetica Neue Medium"/>
                <a:cs typeface="Helvetica Neue Medium"/>
              </a:rPr>
              <a:t>Desktop only, for now</a:t>
            </a:r>
          </a:p>
        </p:txBody>
      </p:sp>
      <p:cxnSp>
        <p:nvCxnSpPr>
          <p:cNvPr id="107" name="Divider"/>
          <p:cNvCxnSpPr/>
          <p:nvPr/>
        </p:nvCxnSpPr>
        <p:spPr>
          <a:xfrm>
            <a:off x="6662420" y="2103120"/>
            <a:ext cx="2599690" cy="0"/>
          </a:xfrm>
          <a:prstGeom prst="line">
            <a:avLst/>
          </a:prstGeom>
          <a:ln w="9525">
            <a:solidFill>
              <a:srgbClr val="E1E3E8"/>
            </a:solidFill>
          </a:ln>
        </p:spPr>
      </p:cxnSp>
      <p:sp>
        <p:nvSpPr>
          <p:cNvPr id="108" name="Call 3"/>
          <p:cNvSpPr txBox="1"/>
          <p:nvPr/>
        </p:nvSpPr>
        <p:spPr>
          <a:xfrm>
            <a:off x="6662420" y="228600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03</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23</a:t>
            </a:r>
          </a:p>
          <a:p>
            <a:pPr algn="l">
              <a:lnSpc>
                <a:spcPct val="105000"/>
              </a:lnSpc>
              <a:spcAft>
                <a:spcPts val="350"/>
              </a:spcAft>
            </a:pPr>
            <a:r>
              <a:rPr lang="en-US" sz="2100" spc="0" dirty="0">
                <a:solidFill>
                  <a:srgbClr val="14161D"/>
                </a:solidFill>
                <a:latin typeface="Helvetica Neue Medium"/>
                <a:cs typeface="Helvetica Neue Medium"/>
              </a:rPr>
              <a:t>One design for first-time and repeat users</a:t>
            </a:r>
          </a:p>
        </p:txBody>
      </p:sp>
      <p:cxnSp>
        <p:nvCxnSpPr>
          <p:cNvPr id="109" name="Divider"/>
          <p:cNvCxnSpPr/>
          <p:nvPr/>
        </p:nvCxnSpPr>
        <p:spPr>
          <a:xfrm>
            <a:off x="9582150" y="2103120"/>
            <a:ext cx="2599690" cy="0"/>
          </a:xfrm>
          <a:prstGeom prst="line">
            <a:avLst/>
          </a:prstGeom>
          <a:ln w="9525">
            <a:solidFill>
              <a:srgbClr val="E1E3E8"/>
            </a:solidFill>
          </a:ln>
        </p:spPr>
      </p:cxnSp>
      <p:sp>
        <p:nvSpPr>
          <p:cNvPr id="110" name="Call 4"/>
          <p:cNvSpPr txBox="1"/>
          <p:nvPr/>
        </p:nvSpPr>
        <p:spPr>
          <a:xfrm>
            <a:off x="9582150" y="228600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04</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24</a:t>
            </a:r>
          </a:p>
          <a:p>
            <a:pPr algn="l">
              <a:lnSpc>
                <a:spcPct val="105000"/>
              </a:lnSpc>
              <a:spcAft>
                <a:spcPts val="350"/>
              </a:spcAft>
            </a:pPr>
            <a:r>
              <a:rPr lang="en-US" sz="2100" spc="0" dirty="0">
                <a:solidFill>
                  <a:srgbClr val="14161D"/>
                </a:solidFill>
                <a:latin typeface="Helvetica Neue Medium"/>
                <a:cs typeface="Helvetica Neue Medium"/>
              </a:rPr>
              <a:t>Remove real frictions with new AI models</a:t>
            </a:r>
          </a:p>
        </p:txBody>
      </p:sp>
      <p:cxnSp>
        <p:nvCxnSpPr>
          <p:cNvPr id="111" name="Divider"/>
          <p:cNvCxnSpPr/>
          <p:nvPr/>
        </p:nvCxnSpPr>
        <p:spPr>
          <a:xfrm>
            <a:off x="822960" y="5120640"/>
            <a:ext cx="2599690" cy="0"/>
          </a:xfrm>
          <a:prstGeom prst="line">
            <a:avLst/>
          </a:prstGeom>
          <a:ln w="28575">
            <a:solidFill>
              <a:srgbClr val="B5531F"/>
            </a:solidFill>
          </a:ln>
        </p:spPr>
      </p:cxnSp>
      <p:sp>
        <p:nvSpPr>
          <p:cNvPr id="112" name="Call 5"/>
          <p:cNvSpPr txBox="1"/>
          <p:nvPr/>
        </p:nvSpPr>
        <p:spPr>
          <a:xfrm>
            <a:off x="822960" y="530352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05</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30</a:t>
            </a:r>
          </a:p>
          <a:p>
            <a:pPr algn="l">
              <a:lnSpc>
                <a:spcPct val="105000"/>
              </a:lnSpc>
              <a:spcAft>
                <a:spcPts val="350"/>
              </a:spcAft>
            </a:pPr>
            <a:r>
              <a:rPr lang="en-US" sz="2100" spc="0" dirty="0">
                <a:solidFill>
                  <a:srgbClr val="14161D"/>
                </a:solidFill>
                <a:latin typeface="Helvetica Neue Medium"/>
                <a:cs typeface="Helvetica Neue Medium"/>
              </a:rPr>
              <a:t>Optimize time to first success; no chat box first</a:t>
            </a:r>
          </a:p>
        </p:txBody>
      </p:sp>
      <p:cxnSp>
        <p:nvCxnSpPr>
          <p:cNvPr id="113" name="Divider"/>
          <p:cNvCxnSpPr/>
          <p:nvPr/>
        </p:nvCxnSpPr>
        <p:spPr>
          <a:xfrm>
            <a:off x="3742690" y="5120640"/>
            <a:ext cx="2599690" cy="0"/>
          </a:xfrm>
          <a:prstGeom prst="line">
            <a:avLst/>
          </a:prstGeom>
          <a:ln w="9525">
            <a:solidFill>
              <a:srgbClr val="E1E3E8"/>
            </a:solidFill>
          </a:ln>
        </p:spPr>
      </p:cxnSp>
      <p:sp>
        <p:nvSpPr>
          <p:cNvPr id="114" name="Call 6"/>
          <p:cNvSpPr txBox="1"/>
          <p:nvPr/>
        </p:nvSpPr>
        <p:spPr>
          <a:xfrm>
            <a:off x="3742690" y="530352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06</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30</a:t>
            </a:r>
          </a:p>
          <a:p>
            <a:pPr algn="l">
              <a:lnSpc>
                <a:spcPct val="105000"/>
              </a:lnSpc>
              <a:spcAft>
                <a:spcPts val="350"/>
              </a:spcAft>
            </a:pPr>
            <a:r>
              <a:rPr lang="en-US" sz="2100" spc="0" dirty="0">
                <a:solidFill>
                  <a:srgbClr val="14161D"/>
                </a:solidFill>
                <a:latin typeface="Helvetica Neue Medium"/>
                <a:cs typeface="Helvetica Neue Medium"/>
              </a:rPr>
              <a:t>Set the advice line, pending compliance</a:t>
            </a:r>
          </a:p>
        </p:txBody>
      </p:sp>
      <p:cxnSp>
        <p:nvCxnSpPr>
          <p:cNvPr id="115" name="Divider"/>
          <p:cNvCxnSpPr/>
          <p:nvPr/>
        </p:nvCxnSpPr>
        <p:spPr>
          <a:xfrm>
            <a:off x="6662420" y="5120640"/>
            <a:ext cx="2599690" cy="0"/>
          </a:xfrm>
          <a:prstGeom prst="line">
            <a:avLst/>
          </a:prstGeom>
          <a:ln w="28575">
            <a:solidFill>
              <a:srgbClr val="B5531F"/>
            </a:solidFill>
          </a:ln>
        </p:spPr>
      </p:cxnSp>
      <p:sp>
        <p:nvSpPr>
          <p:cNvPr id="116" name="Call 7"/>
          <p:cNvSpPr txBox="1"/>
          <p:nvPr/>
        </p:nvSpPr>
        <p:spPr>
          <a:xfrm>
            <a:off x="6662420" y="530352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07</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SEPT 30</a:t>
            </a:r>
          </a:p>
          <a:p>
            <a:pPr algn="l">
              <a:lnSpc>
                <a:spcPct val="105000"/>
              </a:lnSpc>
              <a:spcAft>
                <a:spcPts val="350"/>
              </a:spcAft>
            </a:pPr>
            <a:r>
              <a:rPr lang="en-US" sz="2100" spc="0" dirty="0">
                <a:solidFill>
                  <a:srgbClr val="14161D"/>
                </a:solidFill>
                <a:latin typeface="Helvetica Neue Medium"/>
                <a:cs typeface="Helvetica Neue Medium"/>
              </a:rPr>
              <a:t>Lead with the swing trader’s trading day</a:t>
            </a:r>
          </a:p>
        </p:txBody>
      </p:sp>
      <p:cxnSp>
        <p:nvCxnSpPr>
          <p:cNvPr id="117" name="Divider"/>
          <p:cNvCxnSpPr/>
          <p:nvPr/>
        </p:nvCxnSpPr>
        <p:spPr>
          <a:xfrm>
            <a:off x="9582150" y="5120640"/>
            <a:ext cx="2599690" cy="0"/>
          </a:xfrm>
          <a:prstGeom prst="line">
            <a:avLst/>
          </a:prstGeom>
          <a:ln w="9525">
            <a:solidFill>
              <a:srgbClr val="E1E3E8"/>
            </a:solidFill>
          </a:ln>
        </p:spPr>
      </p:cxnSp>
      <p:sp>
        <p:nvSpPr>
          <p:cNvPr id="118" name="Call 8"/>
          <p:cNvSpPr txBox="1"/>
          <p:nvPr/>
        </p:nvSpPr>
        <p:spPr>
          <a:xfrm>
            <a:off x="9582150" y="5303520"/>
            <a:ext cx="2599690" cy="256032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08</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OCT 1</a:t>
            </a:r>
          </a:p>
          <a:p>
            <a:pPr algn="l">
              <a:lnSpc>
                <a:spcPct val="105000"/>
              </a:lnSpc>
              <a:spcAft>
                <a:spcPts val="350"/>
              </a:spcAft>
            </a:pPr>
            <a:r>
              <a:rPr lang="en-US" sz="2100" spc="0" dirty="0">
                <a:solidFill>
                  <a:srgbClr val="14161D"/>
                </a:solidFill>
                <a:latin typeface="Helvetica Neue Medium"/>
                <a:cs typeface="Helvetica Neue Medium"/>
              </a:rPr>
              <a:t>Bring teammates’ screens in line with the rules</a:t>
            </a:r>
          </a:p>
        </p:txBody>
      </p:sp>
      <p:sp>
        <p:nvSpPr>
          <p:cNvPr id="119" name="Source"/>
          <p:cNvSpPr txBox="1"/>
          <p:nvPr/>
        </p:nvSpPr>
        <p:spPr>
          <a:xfrm>
            <a:off x="822960" y="8503920"/>
            <a:ext cx="11358880" cy="274320"/>
          </a:xfrm>
          <a:prstGeom prst="rect">
            <a:avLst/>
          </a:prstGeom>
          <a:noFill/>
        </p:spPr>
        <p:txBody>
          <a:bodyPr wrap="square" lIns="0" tIns="0" rIns="0" bIns="0" anchor="t">
            <a:noAutofit/>
          </a:bodyPr>
          <a:lstStyle/>
          <a:p>
            <a:pPr algn="l">
              <a:lnSpc>
                <a:spcPct val="105000"/>
              </a:lnSpc>
              <a:spcAft>
                <a:spcPts val="300"/>
              </a:spcAft>
            </a:pPr>
            <a:r>
              <a:rPr lang="en-US" sz="1200" spc="0" dirty="0">
                <a:solidFill>
                  <a:srgbClr val="858A97"/>
                </a:solidFill>
                <a:latin typeface="Helvetica Neue Light"/>
                <a:cs typeface="Helvetica Neue Light"/>
              </a:rPr>
              <a:t>The two orange rules mark the calls that reset the project: time to first success, and leading with the trading day.</a:t>
            </a:r>
          </a:p>
        </p:txBody>
      </p:sp>
      <p:pic>
        <p:nvPicPr>
          <p:cNvPr id="12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REASONING</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What each call solved (1 of 2)</a:t>
            </a:r>
          </a:p>
        </p:txBody>
      </p:sp>
      <p:sp>
        <p:nvSpPr>
          <p:cNvPr id="103" name="Column label"/>
          <p:cNvSpPr txBox="1"/>
          <p:nvPr/>
        </p:nvSpPr>
        <p:spPr>
          <a:xfrm>
            <a:off x="822960" y="2103120"/>
            <a:ext cx="38404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DESIGN LEAD CALL</a:t>
            </a:r>
          </a:p>
        </p:txBody>
      </p:sp>
      <p:sp>
        <p:nvSpPr>
          <p:cNvPr id="104" name="Column label"/>
          <p:cNvSpPr txBox="1"/>
          <p:nvPr/>
        </p:nvSpPr>
        <p:spPr>
          <a:xfrm>
            <a:off x="4937760" y="2103120"/>
            <a:ext cx="356616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WHY IT WAS NEEDED</a:t>
            </a:r>
          </a:p>
        </p:txBody>
      </p:sp>
      <p:sp>
        <p:nvSpPr>
          <p:cNvPr id="105" name="Column label"/>
          <p:cNvSpPr txBox="1"/>
          <p:nvPr/>
        </p:nvSpPr>
        <p:spPr>
          <a:xfrm>
            <a:off x="8778240" y="2103120"/>
            <a:ext cx="340360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WHAT IT SOLVED</a:t>
            </a:r>
          </a:p>
        </p:txBody>
      </p:sp>
      <p:cxnSp>
        <p:nvCxnSpPr>
          <p:cNvPr id="106" name="Divider"/>
          <p:cNvCxnSpPr/>
          <p:nvPr/>
        </p:nvCxnSpPr>
        <p:spPr>
          <a:xfrm>
            <a:off x="822960" y="2487168"/>
            <a:ext cx="11358880" cy="0"/>
          </a:xfrm>
          <a:prstGeom prst="line">
            <a:avLst/>
          </a:prstGeom>
          <a:ln w="9525">
            <a:solidFill>
              <a:srgbClr val="E1E3E8"/>
            </a:solidFill>
          </a:ln>
        </p:spPr>
      </p:cxnSp>
      <p:sp>
        <p:nvSpPr>
          <p:cNvPr id="107" name="Cell 1.1"/>
          <p:cNvSpPr txBox="1"/>
          <p:nvPr/>
        </p:nvSpPr>
        <p:spPr>
          <a:xfrm>
            <a:off x="822960" y="263347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01  </a:t>
            </a:r>
            <a:r>
              <a:rPr lang="en-US" sz="1700" spc="0" dirty="0">
                <a:solidFill>
                  <a:srgbClr val="14161D"/>
                </a:solidFill>
                <a:latin typeface="Helvetica Neue Medium"/>
                <a:cs typeface="Helvetica Neue Medium"/>
              </a:rPr>
              <a:t>Map today’s onboarding before designing</a:t>
            </a:r>
          </a:p>
        </p:txBody>
      </p:sp>
      <p:sp>
        <p:nvSpPr>
          <p:cNvPr id="108" name="Cell 1.2"/>
          <p:cNvSpPr txBox="1"/>
          <p:nvPr/>
        </p:nvSpPr>
        <p:spPr>
          <a:xfrm>
            <a:off x="4937760" y="263347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23</a:t>
            </a:r>
          </a:p>
          <a:p>
            <a:pPr algn="l">
              <a:lnSpc>
                <a:spcPct val="125000"/>
              </a:lnSpc>
              <a:spcAft>
                <a:spcPts val="200"/>
              </a:spcAft>
            </a:pPr>
            <a:r>
              <a:rPr lang="en-US" sz="1550" spc="0" dirty="0">
                <a:solidFill>
                  <a:srgbClr val="565C6B"/>
                </a:solidFill>
                <a:latin typeface="Helvetica Neue Light"/>
                <a:cs typeface="Helvetica Neue Light"/>
              </a:rPr>
              <a:t>The docs assumed there was no trial and that slow free quotes were a big pain</a:t>
            </a:r>
          </a:p>
        </p:txBody>
      </p:sp>
      <p:sp>
        <p:nvSpPr>
          <p:cNvPr id="109" name="Cell 1.3"/>
          <p:cNvSpPr txBox="1"/>
          <p:nvPr/>
        </p:nvSpPr>
        <p:spPr>
          <a:xfrm>
            <a:off x="8778240" y="263347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A live-site walk found the existing 7-day trial and 1-minute-delayed quotes; the trial now starts from the first saved screen</a:t>
            </a:r>
          </a:p>
        </p:txBody>
      </p:sp>
      <p:cxnSp>
        <p:nvCxnSpPr>
          <p:cNvPr id="110" name="Divider"/>
          <p:cNvCxnSpPr/>
          <p:nvPr/>
        </p:nvCxnSpPr>
        <p:spPr>
          <a:xfrm>
            <a:off x="822960" y="3950208"/>
            <a:ext cx="11358880" cy="0"/>
          </a:xfrm>
          <a:prstGeom prst="line">
            <a:avLst/>
          </a:prstGeom>
          <a:ln w="9525">
            <a:solidFill>
              <a:srgbClr val="E1E3E8"/>
            </a:solidFill>
          </a:ln>
        </p:spPr>
      </p:cxnSp>
      <p:sp>
        <p:nvSpPr>
          <p:cNvPr id="111" name="Cell 2.1"/>
          <p:cNvSpPr txBox="1"/>
          <p:nvPr/>
        </p:nvSpPr>
        <p:spPr>
          <a:xfrm>
            <a:off x="822960" y="409651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02  </a:t>
            </a:r>
            <a:r>
              <a:rPr lang="en-US" sz="1700" spc="0" dirty="0">
                <a:solidFill>
                  <a:srgbClr val="14161D"/>
                </a:solidFill>
                <a:latin typeface="Helvetica Neue Medium"/>
                <a:cs typeface="Helvetica Neue Medium"/>
              </a:rPr>
              <a:t>Desktop only, for now</a:t>
            </a:r>
          </a:p>
        </p:txBody>
      </p:sp>
      <p:sp>
        <p:nvSpPr>
          <p:cNvPr id="112" name="Cell 2.2"/>
          <p:cNvSpPr txBox="1"/>
          <p:nvPr/>
        </p:nvSpPr>
        <p:spPr>
          <a:xfrm>
            <a:off x="4937760" y="409651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23</a:t>
            </a:r>
          </a:p>
          <a:p>
            <a:pPr algn="l">
              <a:lnSpc>
                <a:spcPct val="125000"/>
              </a:lnSpc>
              <a:spcAft>
                <a:spcPts val="200"/>
              </a:spcAft>
            </a:pPr>
            <a:r>
              <a:rPr lang="en-US" sz="1550" spc="0" dirty="0">
                <a:solidFill>
                  <a:srgbClr val="565C6B"/>
                </a:solidFill>
                <a:latin typeface="Helvetica Neue Light"/>
                <a:cs typeface="Helvetica Neue Light"/>
              </a:rPr>
              <a:t>No native app; two form factors would split the effort</a:t>
            </a:r>
          </a:p>
        </p:txBody>
      </p:sp>
      <p:sp>
        <p:nvSpPr>
          <p:cNvPr id="113" name="Cell 2.3"/>
          <p:cNvSpPr txBox="1"/>
          <p:nvPr/>
        </p:nvSpPr>
        <p:spPr>
          <a:xfrm>
            <a:off x="8778240" y="409651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Every screen scoped to 1440px desktop; mobile deferred</a:t>
            </a:r>
          </a:p>
        </p:txBody>
      </p:sp>
      <p:cxnSp>
        <p:nvCxnSpPr>
          <p:cNvPr id="114" name="Divider"/>
          <p:cNvCxnSpPr/>
          <p:nvPr/>
        </p:nvCxnSpPr>
        <p:spPr>
          <a:xfrm>
            <a:off x="822960" y="5413248"/>
            <a:ext cx="11358880" cy="0"/>
          </a:xfrm>
          <a:prstGeom prst="line">
            <a:avLst/>
          </a:prstGeom>
          <a:ln w="9525">
            <a:solidFill>
              <a:srgbClr val="E1E3E8"/>
            </a:solidFill>
          </a:ln>
        </p:spPr>
      </p:cxnSp>
      <p:sp>
        <p:nvSpPr>
          <p:cNvPr id="115" name="Cell 3.1"/>
          <p:cNvSpPr txBox="1"/>
          <p:nvPr/>
        </p:nvSpPr>
        <p:spPr>
          <a:xfrm>
            <a:off x="822960" y="555955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03  </a:t>
            </a:r>
            <a:r>
              <a:rPr lang="en-US" sz="1700" spc="0" dirty="0">
                <a:solidFill>
                  <a:srgbClr val="14161D"/>
                </a:solidFill>
                <a:latin typeface="Helvetica Neue Medium"/>
                <a:cs typeface="Helvetica Neue Medium"/>
              </a:rPr>
              <a:t>One design for first-time and repeat users</a:t>
            </a:r>
          </a:p>
        </p:txBody>
      </p:sp>
      <p:sp>
        <p:nvSpPr>
          <p:cNvPr id="116" name="Cell 3.2"/>
          <p:cNvSpPr txBox="1"/>
          <p:nvPr/>
        </p:nvSpPr>
        <p:spPr>
          <a:xfrm>
            <a:off x="4937760" y="555955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23</a:t>
            </a:r>
          </a:p>
          <a:p>
            <a:pPr algn="l">
              <a:lnSpc>
                <a:spcPct val="125000"/>
              </a:lnSpc>
              <a:spcAft>
                <a:spcPts val="200"/>
              </a:spcAft>
            </a:pPr>
            <a:r>
              <a:rPr lang="en-US" sz="1550" spc="0" dirty="0">
                <a:solidFill>
                  <a:srgbClr val="565C6B"/>
                </a:solidFill>
                <a:latin typeface="Helvetica Neue Light"/>
                <a:cs typeface="Helvetica Neue Light"/>
              </a:rPr>
              <a:t>Onboarding gates fail repeat users, who keep meeting new filters and decisions</a:t>
            </a:r>
          </a:p>
        </p:txBody>
      </p:sp>
      <p:sp>
        <p:nvSpPr>
          <p:cNvPr id="117" name="Cell 3.3"/>
          <p:cNvSpPr txBox="1"/>
          <p:nvPr/>
        </p:nvSpPr>
        <p:spPr>
          <a:xfrm>
            <a:off x="8778240" y="555955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“Onboarding is not a phase”: help fades per concept; no wizard, no tour</a:t>
            </a:r>
          </a:p>
        </p:txBody>
      </p:sp>
      <p:cxnSp>
        <p:nvCxnSpPr>
          <p:cNvPr id="118" name="Divider"/>
          <p:cNvCxnSpPr/>
          <p:nvPr/>
        </p:nvCxnSpPr>
        <p:spPr>
          <a:xfrm>
            <a:off x="822960" y="6876288"/>
            <a:ext cx="11358880" cy="0"/>
          </a:xfrm>
          <a:prstGeom prst="line">
            <a:avLst/>
          </a:prstGeom>
          <a:ln w="9525">
            <a:solidFill>
              <a:srgbClr val="E1E3E8"/>
            </a:solidFill>
          </a:ln>
        </p:spPr>
      </p:cxnSp>
      <p:sp>
        <p:nvSpPr>
          <p:cNvPr id="119" name="Cell 4.1"/>
          <p:cNvSpPr txBox="1"/>
          <p:nvPr/>
        </p:nvSpPr>
        <p:spPr>
          <a:xfrm>
            <a:off x="822960" y="702259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04  </a:t>
            </a:r>
            <a:r>
              <a:rPr lang="en-US" sz="1700" spc="0" dirty="0">
                <a:solidFill>
                  <a:srgbClr val="14161D"/>
                </a:solidFill>
                <a:latin typeface="Helvetica Neue Medium"/>
                <a:cs typeface="Helvetica Neue Medium"/>
              </a:rPr>
              <a:t>Remove real frictions with new AI models</a:t>
            </a:r>
          </a:p>
        </p:txBody>
      </p:sp>
      <p:sp>
        <p:nvSpPr>
          <p:cNvPr id="120" name="Cell 4.2"/>
          <p:cNvSpPr txBox="1"/>
          <p:nvPr/>
        </p:nvSpPr>
        <p:spPr>
          <a:xfrm>
            <a:off x="4937760" y="702259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24</a:t>
            </a:r>
          </a:p>
          <a:p>
            <a:pPr algn="l">
              <a:lnSpc>
                <a:spcPct val="125000"/>
              </a:lnSpc>
              <a:spcAft>
                <a:spcPts val="200"/>
              </a:spcAft>
            </a:pPr>
            <a:r>
              <a:rPr lang="en-US" sz="1550" spc="0" dirty="0">
                <a:solidFill>
                  <a:srgbClr val="565C6B"/>
                </a:solidFill>
                <a:latin typeface="Helvetica Neue Light"/>
                <a:cs typeface="Helvetica Neue Light"/>
              </a:rPr>
              <a:t>The first concepts were generic AI features</a:t>
            </a:r>
          </a:p>
        </p:txBody>
      </p:sp>
      <p:sp>
        <p:nvSpPr>
          <p:cNvPr id="121" name="Cell 4.3"/>
          <p:cNvSpPr txBox="1"/>
          <p:nvPr/>
        </p:nvSpPr>
        <p:spPr>
          <a:xfrm>
            <a:off x="8778240" y="702259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Every mechanic names the friction it removes and the AI advance it uses</a:t>
            </a:r>
          </a:p>
        </p:txBody>
      </p:sp>
      <p:cxnSp>
        <p:nvCxnSpPr>
          <p:cNvPr id="122" name="Divider"/>
          <p:cNvCxnSpPr/>
          <p:nvPr/>
        </p:nvCxnSpPr>
        <p:spPr>
          <a:xfrm>
            <a:off x="822960" y="8339328"/>
            <a:ext cx="11358880" cy="0"/>
          </a:xfrm>
          <a:prstGeom prst="line">
            <a:avLst/>
          </a:prstGeom>
          <a:ln w="9525">
            <a:solidFill>
              <a:srgbClr val="E1E3E8"/>
            </a:solidFill>
          </a:ln>
        </p:spPr>
      </p:cxnSp>
      <p:pic>
        <p:nvPicPr>
          <p:cNvPr id="123"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REASONING</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What each call solved (2 of 2)</a:t>
            </a:r>
          </a:p>
        </p:txBody>
      </p:sp>
      <p:sp>
        <p:nvSpPr>
          <p:cNvPr id="103" name="Column label"/>
          <p:cNvSpPr txBox="1"/>
          <p:nvPr/>
        </p:nvSpPr>
        <p:spPr>
          <a:xfrm>
            <a:off x="822960" y="2103120"/>
            <a:ext cx="38404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DESIGN LEAD CALL</a:t>
            </a:r>
          </a:p>
        </p:txBody>
      </p:sp>
      <p:sp>
        <p:nvSpPr>
          <p:cNvPr id="104" name="Column label"/>
          <p:cNvSpPr txBox="1"/>
          <p:nvPr/>
        </p:nvSpPr>
        <p:spPr>
          <a:xfrm>
            <a:off x="4937760" y="2103120"/>
            <a:ext cx="356616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WHY IT WAS NEEDED</a:t>
            </a:r>
          </a:p>
        </p:txBody>
      </p:sp>
      <p:sp>
        <p:nvSpPr>
          <p:cNvPr id="105" name="Column label"/>
          <p:cNvSpPr txBox="1"/>
          <p:nvPr/>
        </p:nvSpPr>
        <p:spPr>
          <a:xfrm>
            <a:off x="8778240" y="2103120"/>
            <a:ext cx="340360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WHAT IT SOLVED</a:t>
            </a:r>
          </a:p>
        </p:txBody>
      </p:sp>
      <p:cxnSp>
        <p:nvCxnSpPr>
          <p:cNvPr id="106" name="Divider"/>
          <p:cNvCxnSpPr/>
          <p:nvPr/>
        </p:nvCxnSpPr>
        <p:spPr>
          <a:xfrm>
            <a:off x="822960" y="2487168"/>
            <a:ext cx="11358880" cy="0"/>
          </a:xfrm>
          <a:prstGeom prst="line">
            <a:avLst/>
          </a:prstGeom>
          <a:ln w="9525">
            <a:solidFill>
              <a:srgbClr val="E1E3E8"/>
            </a:solidFill>
          </a:ln>
        </p:spPr>
      </p:cxnSp>
      <p:sp>
        <p:nvSpPr>
          <p:cNvPr id="107" name="Cell 1.1"/>
          <p:cNvSpPr txBox="1"/>
          <p:nvPr/>
        </p:nvSpPr>
        <p:spPr>
          <a:xfrm>
            <a:off x="822960" y="263347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05  </a:t>
            </a:r>
            <a:r>
              <a:rPr lang="en-US" sz="1700" spc="0" dirty="0">
                <a:solidFill>
                  <a:srgbClr val="14161D"/>
                </a:solidFill>
                <a:latin typeface="Helvetica Neue Medium"/>
                <a:cs typeface="Helvetica Neue Medium"/>
              </a:rPr>
              <a:t>Optimize time to first success; no chat box first</a:t>
            </a:r>
          </a:p>
        </p:txBody>
      </p:sp>
      <p:sp>
        <p:nvSpPr>
          <p:cNvPr id="108" name="Cell 1.2"/>
          <p:cNvSpPr txBox="1"/>
          <p:nvPr/>
        </p:nvSpPr>
        <p:spPr>
          <a:xfrm>
            <a:off x="4937760" y="263347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30</a:t>
            </a:r>
          </a:p>
          <a:p>
            <a:pPr algn="l">
              <a:lnSpc>
                <a:spcPct val="125000"/>
              </a:lnSpc>
              <a:spcAft>
                <a:spcPts val="200"/>
              </a:spcAft>
            </a:pPr>
            <a:r>
              <a:rPr lang="en-US" sz="1550" spc="0" dirty="0">
                <a:solidFill>
                  <a:srgbClr val="565C6B"/>
                </a:solidFill>
                <a:latin typeface="Helvetica Neue Light"/>
                <a:cs typeface="Helvetica Neue Light"/>
              </a:rPr>
              <a:t>Text-to-filters assumed traders can state ambiguous intent precisely</a:t>
            </a:r>
          </a:p>
        </p:txBody>
      </p:sp>
      <p:sp>
        <p:nvSpPr>
          <p:cNvPr id="109" name="Cell 1.3"/>
          <p:cNvSpPr txBox="1"/>
          <p:nvPr/>
        </p:nvSpPr>
        <p:spPr>
          <a:xfrm>
            <a:off x="8778240" y="263347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Imports and examples lead; success must be timely, relevant and actionable</a:t>
            </a:r>
          </a:p>
        </p:txBody>
      </p:sp>
      <p:cxnSp>
        <p:nvCxnSpPr>
          <p:cNvPr id="110" name="Divider"/>
          <p:cNvCxnSpPr/>
          <p:nvPr/>
        </p:nvCxnSpPr>
        <p:spPr>
          <a:xfrm>
            <a:off x="822960" y="3950208"/>
            <a:ext cx="11358880" cy="0"/>
          </a:xfrm>
          <a:prstGeom prst="line">
            <a:avLst/>
          </a:prstGeom>
          <a:ln w="9525">
            <a:solidFill>
              <a:srgbClr val="E1E3E8"/>
            </a:solidFill>
          </a:ln>
        </p:spPr>
      </p:cxnSp>
      <p:sp>
        <p:nvSpPr>
          <p:cNvPr id="111" name="Cell 2.1"/>
          <p:cNvSpPr txBox="1"/>
          <p:nvPr/>
        </p:nvSpPr>
        <p:spPr>
          <a:xfrm>
            <a:off x="822960" y="409651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06  </a:t>
            </a:r>
            <a:r>
              <a:rPr lang="en-US" sz="1700" spc="0" dirty="0">
                <a:solidFill>
                  <a:srgbClr val="14161D"/>
                </a:solidFill>
                <a:latin typeface="Helvetica Neue Medium"/>
                <a:cs typeface="Helvetica Neue Medium"/>
              </a:rPr>
              <a:t>Set the advice line, pending compliance</a:t>
            </a:r>
          </a:p>
        </p:txBody>
      </p:sp>
      <p:sp>
        <p:nvSpPr>
          <p:cNvPr id="112" name="Cell 2.2"/>
          <p:cNvSpPr txBox="1"/>
          <p:nvPr/>
        </p:nvSpPr>
        <p:spPr>
          <a:xfrm>
            <a:off x="4937760" y="409651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30</a:t>
            </a:r>
          </a:p>
          <a:p>
            <a:pPr algn="l">
              <a:lnSpc>
                <a:spcPct val="125000"/>
              </a:lnSpc>
              <a:spcAft>
                <a:spcPts val="200"/>
              </a:spcAft>
            </a:pPr>
            <a:r>
              <a:rPr lang="en-US" sz="1550" spc="0" dirty="0">
                <a:solidFill>
                  <a:srgbClr val="565C6B"/>
                </a:solidFill>
                <a:latin typeface="Helvetica Neue Light"/>
                <a:cs typeface="Helvetica Neue Light"/>
              </a:rPr>
              <a:t>Buy or sell advice is a legal line</a:t>
            </a:r>
          </a:p>
        </p:txBody>
      </p:sp>
      <p:sp>
        <p:nvSpPr>
          <p:cNvPr id="113" name="Cell 2.3"/>
          <p:cNvSpPr txBox="1"/>
          <p:nvPr/>
        </p:nvSpPr>
        <p:spPr>
          <a:xfrm>
            <a:off x="8778240" y="409651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AI never originates advice; attributed analyst views behind a flag</a:t>
            </a:r>
          </a:p>
        </p:txBody>
      </p:sp>
      <p:cxnSp>
        <p:nvCxnSpPr>
          <p:cNvPr id="114" name="Divider"/>
          <p:cNvCxnSpPr/>
          <p:nvPr/>
        </p:nvCxnSpPr>
        <p:spPr>
          <a:xfrm>
            <a:off x="822960" y="5413248"/>
            <a:ext cx="11358880" cy="0"/>
          </a:xfrm>
          <a:prstGeom prst="line">
            <a:avLst/>
          </a:prstGeom>
          <a:ln w="9525">
            <a:solidFill>
              <a:srgbClr val="E1E3E8"/>
            </a:solidFill>
          </a:ln>
        </p:spPr>
      </p:cxnSp>
      <p:sp>
        <p:nvSpPr>
          <p:cNvPr id="115" name="Cell 3.1"/>
          <p:cNvSpPr txBox="1"/>
          <p:nvPr/>
        </p:nvSpPr>
        <p:spPr>
          <a:xfrm>
            <a:off x="822960" y="555955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07  </a:t>
            </a:r>
            <a:r>
              <a:rPr lang="en-US" sz="1700" spc="0" dirty="0">
                <a:solidFill>
                  <a:srgbClr val="14161D"/>
                </a:solidFill>
                <a:latin typeface="Helvetica Neue Medium"/>
                <a:cs typeface="Helvetica Neue Medium"/>
              </a:rPr>
              <a:t>Lead with the swing trader’s trading day</a:t>
            </a:r>
          </a:p>
        </p:txBody>
      </p:sp>
      <p:sp>
        <p:nvSpPr>
          <p:cNvPr id="116" name="Cell 3.2"/>
          <p:cNvSpPr txBox="1"/>
          <p:nvPr/>
        </p:nvSpPr>
        <p:spPr>
          <a:xfrm>
            <a:off x="4937760" y="555955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SEPT 30</a:t>
            </a:r>
          </a:p>
          <a:p>
            <a:pPr algn="l">
              <a:lnSpc>
                <a:spcPct val="125000"/>
              </a:lnSpc>
              <a:spcAft>
                <a:spcPts val="200"/>
              </a:spcAft>
            </a:pPr>
            <a:r>
              <a:rPr lang="en-US" sz="1550" spc="0" dirty="0">
                <a:solidFill>
                  <a:srgbClr val="565C6B"/>
                </a:solidFill>
                <a:latin typeface="Helvetica Neue Light"/>
                <a:cs typeface="Helvetica Neue Light"/>
              </a:rPr>
              <a:t>Three concepts competed; none followed the real routine</a:t>
            </a:r>
          </a:p>
        </p:txBody>
      </p:sp>
      <p:sp>
        <p:nvSpPr>
          <p:cNvPr id="117" name="Cell 3.3"/>
          <p:cNvSpPr txBox="1"/>
          <p:nvPr/>
        </p:nvSpPr>
        <p:spPr>
          <a:xfrm>
            <a:off x="8778240" y="555955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The Trading Day became the lead concept</a:t>
            </a:r>
          </a:p>
        </p:txBody>
      </p:sp>
      <p:cxnSp>
        <p:nvCxnSpPr>
          <p:cNvPr id="118" name="Divider"/>
          <p:cNvCxnSpPr/>
          <p:nvPr/>
        </p:nvCxnSpPr>
        <p:spPr>
          <a:xfrm>
            <a:off x="822960" y="6876288"/>
            <a:ext cx="11358880" cy="0"/>
          </a:xfrm>
          <a:prstGeom prst="line">
            <a:avLst/>
          </a:prstGeom>
          <a:ln w="9525">
            <a:solidFill>
              <a:srgbClr val="E1E3E8"/>
            </a:solidFill>
          </a:ln>
        </p:spPr>
      </p:cxnSp>
      <p:sp>
        <p:nvSpPr>
          <p:cNvPr id="119" name="Cell 4.1"/>
          <p:cNvSpPr txBox="1"/>
          <p:nvPr/>
        </p:nvSpPr>
        <p:spPr>
          <a:xfrm>
            <a:off x="822960" y="7022592"/>
            <a:ext cx="3840480" cy="1280160"/>
          </a:xfrm>
          <a:prstGeom prst="rect">
            <a:avLst/>
          </a:prstGeom>
          <a:noFill/>
        </p:spPr>
        <p:txBody>
          <a:bodyPr wrap="square" lIns="0" tIns="0" rIns="0" bIns="0" anchor="t">
            <a:noAutofit/>
          </a:bodyPr>
          <a:lstStyle/>
          <a:p>
            <a:pPr algn="l">
              <a:lnSpc>
                <a:spcPct val="115000"/>
              </a:lnSpc>
              <a:spcAft>
                <a:spcPts val="200"/>
              </a:spcAft>
            </a:pPr>
            <a:r>
              <a:rPr lang="en-US" sz="1800" spc="0" dirty="0">
                <a:solidFill>
                  <a:srgbClr val="B5531F"/>
                </a:solidFill>
                <a:latin typeface="Helvetica Neue Medium"/>
                <a:cs typeface="Helvetica Neue Medium"/>
              </a:rPr>
              <a:t>08  </a:t>
            </a:r>
            <a:r>
              <a:rPr lang="en-US" sz="1700" spc="0" dirty="0">
                <a:solidFill>
                  <a:srgbClr val="14161D"/>
                </a:solidFill>
                <a:latin typeface="Helvetica Neue Medium"/>
                <a:cs typeface="Helvetica Neue Medium"/>
              </a:rPr>
              <a:t>Bring teammates’ screens in line with the rules</a:t>
            </a:r>
          </a:p>
        </p:txBody>
      </p:sp>
      <p:sp>
        <p:nvSpPr>
          <p:cNvPr id="120" name="Cell 4.2"/>
          <p:cNvSpPr txBox="1"/>
          <p:nvPr/>
        </p:nvSpPr>
        <p:spPr>
          <a:xfrm>
            <a:off x="4937760" y="7022592"/>
            <a:ext cx="3566160" cy="1280160"/>
          </a:xfrm>
          <a:prstGeom prst="rect">
            <a:avLst/>
          </a:prstGeom>
          <a:noFill/>
        </p:spPr>
        <p:txBody>
          <a:bodyPr wrap="square" lIns="0" tIns="0" rIns="0" bIns="0" anchor="t">
            <a:noAutofit/>
          </a:bodyPr>
          <a:lstStyle/>
          <a:p>
            <a:pPr algn="l">
              <a:lnSpc>
                <a:spcPct val="105000"/>
              </a:lnSpc>
              <a:spcAft>
                <a:spcPts val="200"/>
              </a:spcAft>
            </a:pPr>
            <a:r>
              <a:rPr lang="en-US" sz="1100" spc="200" dirty="0">
                <a:solidFill>
                  <a:srgbClr val="858A97"/>
                </a:solidFill>
                <a:latin typeface="Helvetica Neue Medium"/>
                <a:cs typeface="Helvetica Neue Medium"/>
              </a:rPr>
              <a:t>OCT 1</a:t>
            </a:r>
          </a:p>
          <a:p>
            <a:pPr algn="l">
              <a:lnSpc>
                <a:spcPct val="125000"/>
              </a:lnSpc>
              <a:spcAft>
                <a:spcPts val="200"/>
              </a:spcAft>
            </a:pPr>
            <a:r>
              <a:rPr lang="en-US" sz="1550" spc="0" dirty="0">
                <a:solidFill>
                  <a:srgbClr val="565C6B"/>
                </a:solidFill>
                <a:latin typeface="Helvetica Neue Light"/>
                <a:cs typeface="Helvetica Neue Light"/>
              </a:rPr>
              <a:t>Frames drafted orders, showed confidence % and fit scores</a:t>
            </a:r>
          </a:p>
        </p:txBody>
      </p:sp>
      <p:sp>
        <p:nvSpPr>
          <p:cNvPr id="121" name="Cell 4.3"/>
          <p:cNvSpPr txBox="1"/>
          <p:nvPr/>
        </p:nvSpPr>
        <p:spPr>
          <a:xfrm>
            <a:off x="8778240" y="7022592"/>
            <a:ext cx="3403600" cy="128016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14161D"/>
                </a:solidFill>
                <a:latin typeface="Helvetica Neue Light"/>
                <a:cs typeface="Helvetica Neue Light"/>
              </a:rPr>
              <a:t>Every flow ends at the trader’s decision and “Open in your broker”</a:t>
            </a:r>
          </a:p>
        </p:txBody>
      </p:sp>
      <p:cxnSp>
        <p:nvCxnSpPr>
          <p:cNvPr id="122" name="Divider"/>
          <p:cNvCxnSpPr/>
          <p:nvPr/>
        </p:nvCxnSpPr>
        <p:spPr>
          <a:xfrm>
            <a:off x="822960" y="8339328"/>
            <a:ext cx="11358880" cy="0"/>
          </a:xfrm>
          <a:prstGeom prst="line">
            <a:avLst/>
          </a:prstGeom>
          <a:ln w="9525">
            <a:solidFill>
              <a:srgbClr val="E1E3E8"/>
            </a:solidFill>
          </a:ln>
        </p:spPr>
      </p:cxnSp>
      <p:pic>
        <p:nvPicPr>
          <p:cNvPr id="123"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REASONING</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Scope, evidence, approval, undo: </a:t>
            </a:r>
            <a:r>
              <a:rPr lang="en-US" sz="4000" spc="-40" dirty="0">
                <a:solidFill>
                  <a:srgbClr val="B5531F"/>
                </a:solidFill>
                <a:latin typeface="Helvetica Neue Medium"/>
                <a:cs typeface="Helvetica Neue Medium"/>
              </a:rPr>
              <a:t>the agent trust pattern</a:t>
            </a:r>
            <a:r>
              <a:rPr lang="en-US" sz="4000" spc="-40" dirty="0">
                <a:solidFill>
                  <a:srgbClr val="14161D"/>
                </a:solidFill>
                <a:latin typeface="Helvetica Neue Medium"/>
                <a:cs typeface="Helvetica Neue Medium"/>
              </a:rPr>
              <a:t>.</a:t>
            </a:r>
          </a:p>
        </p:txBody>
      </p:sp>
      <p:cxnSp>
        <p:nvCxnSpPr>
          <p:cNvPr id="103" name="Divider"/>
          <p:cNvCxnSpPr/>
          <p:nvPr/>
        </p:nvCxnSpPr>
        <p:spPr>
          <a:xfrm>
            <a:off x="822960" y="3566160"/>
            <a:ext cx="5427980" cy="0"/>
          </a:xfrm>
          <a:prstGeom prst="line">
            <a:avLst/>
          </a:prstGeom>
          <a:ln w="9525">
            <a:solidFill>
              <a:srgbClr val="E1E3E8"/>
            </a:solidFill>
          </a:ln>
        </p:spPr>
      </p:cxnSp>
      <p:sp>
        <p:nvSpPr>
          <p:cNvPr id="104" name="Scope title"/>
          <p:cNvSpPr txBox="1"/>
          <p:nvPr/>
        </p:nvSpPr>
        <p:spPr>
          <a:xfrm>
            <a:off x="8229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Scope</a:t>
            </a:r>
          </a:p>
        </p:txBody>
      </p:sp>
      <p:sp>
        <p:nvSpPr>
          <p:cNvPr id="105" name="Scope body"/>
          <p:cNvSpPr txBox="1"/>
          <p:nvPr/>
        </p:nvSpPr>
        <p:spPr>
          <a:xfrm>
            <a:off x="8229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The overnight agent works on his names only, in one batch at 6 AM. It reports; it never acts.</a:t>
            </a:r>
          </a:p>
        </p:txBody>
      </p:sp>
      <p:cxnSp>
        <p:nvCxnSpPr>
          <p:cNvPr id="106" name="Divider"/>
          <p:cNvCxnSpPr/>
          <p:nvPr/>
        </p:nvCxnSpPr>
        <p:spPr>
          <a:xfrm>
            <a:off x="6753860" y="3566160"/>
            <a:ext cx="5427980" cy="0"/>
          </a:xfrm>
          <a:prstGeom prst="line">
            <a:avLst/>
          </a:prstGeom>
          <a:ln w="9525">
            <a:solidFill>
              <a:srgbClr val="E1E3E8"/>
            </a:solidFill>
          </a:ln>
        </p:spPr>
      </p:cxnSp>
      <p:sp>
        <p:nvSpPr>
          <p:cNvPr id="107" name="Evidence title"/>
          <p:cNvSpPr txBox="1"/>
          <p:nvPr/>
        </p:nvSpPr>
        <p:spPr>
          <a:xfrm>
            <a:off x="67538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Evidence</a:t>
            </a:r>
          </a:p>
        </p:txBody>
      </p:sp>
      <p:sp>
        <p:nvSpPr>
          <p:cNvPr id="108" name="Evidence body"/>
          <p:cNvSpPr txBox="1"/>
          <p:nvPr/>
        </p:nvSpPr>
        <p:spPr>
          <a:xfrm>
            <a:off x="67538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Every line cites a value or a source and its time: clear, borderline or “not enough data”, never a guess.</a:t>
            </a:r>
          </a:p>
        </p:txBody>
      </p:sp>
      <p:cxnSp>
        <p:nvCxnSpPr>
          <p:cNvPr id="109" name="Divider"/>
          <p:cNvCxnSpPr/>
          <p:nvPr/>
        </p:nvCxnSpPr>
        <p:spPr>
          <a:xfrm>
            <a:off x="822960" y="5806440"/>
            <a:ext cx="5427980" cy="0"/>
          </a:xfrm>
          <a:prstGeom prst="line">
            <a:avLst/>
          </a:prstGeom>
          <a:ln w="9525">
            <a:solidFill>
              <a:srgbClr val="E1E3E8"/>
            </a:solidFill>
          </a:ln>
        </p:spPr>
      </p:cxnSp>
      <p:sp>
        <p:nvSpPr>
          <p:cNvPr id="110" name="Approval title"/>
          <p:cNvSpPr txBox="1"/>
          <p:nvPr/>
        </p:nvSpPr>
        <p:spPr>
          <a:xfrm>
            <a:off x="8229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Approval</a:t>
            </a:r>
          </a:p>
        </p:txBody>
      </p:sp>
      <p:sp>
        <p:nvSpPr>
          <p:cNvPr id="111" name="Approval body"/>
          <p:cNvSpPr txBox="1"/>
          <p:nvPr/>
        </p:nvSpPr>
        <p:spPr>
          <a:xfrm>
            <a:off x="8229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Corrections become proposed rule changes with a before/after replay. Nothing changes until he applies it.</a:t>
            </a:r>
          </a:p>
        </p:txBody>
      </p:sp>
      <p:cxnSp>
        <p:nvCxnSpPr>
          <p:cNvPr id="112" name="Divider"/>
          <p:cNvCxnSpPr/>
          <p:nvPr/>
        </p:nvCxnSpPr>
        <p:spPr>
          <a:xfrm>
            <a:off x="6753860" y="5806440"/>
            <a:ext cx="5427980" cy="0"/>
          </a:xfrm>
          <a:prstGeom prst="line">
            <a:avLst/>
          </a:prstGeom>
          <a:ln w="9525">
            <a:solidFill>
              <a:srgbClr val="E1E3E8"/>
            </a:solidFill>
          </a:ln>
        </p:spPr>
      </p:cxnSp>
      <p:sp>
        <p:nvSpPr>
          <p:cNvPr id="113" name="Ledger and Undo title"/>
          <p:cNvSpPr txBox="1"/>
          <p:nvPr/>
        </p:nvSpPr>
        <p:spPr>
          <a:xfrm>
            <a:off x="67538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Ledger and Undo</a:t>
            </a:r>
          </a:p>
        </p:txBody>
      </p:sp>
      <p:sp>
        <p:nvSpPr>
          <p:cNvPr id="114" name="Ledger and Undo body"/>
          <p:cNvSpPr txBox="1"/>
          <p:nvPr/>
        </p:nvSpPr>
        <p:spPr>
          <a:xfrm>
            <a:off x="67538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Every send and change is logged with who did it, why and when. Any of it can be undone.</a:t>
            </a:r>
          </a:p>
        </p:txBody>
      </p:sp>
      <p:pic>
        <p:nvPicPr>
          <p:cNvPr id="11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METHODOLOGY</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14161D"/>
                </a:solidFill>
                <a:latin typeface="Helvetica Neue Medium"/>
                <a:cs typeface="Helvetica Neue Medium"/>
              </a:rPr>
              <a:t>AI drafts. </a:t>
            </a:r>
            <a:r>
              <a:rPr lang="en-US" sz="4400" spc="-40" dirty="0">
                <a:solidFill>
                  <a:srgbClr val="B5531F"/>
                </a:solidFill>
                <a:latin typeface="Helvetica Neue Medium"/>
                <a:cs typeface="Helvetica Neue Medium"/>
              </a:rPr>
              <a:t>The design lead decides</a:t>
            </a:r>
            <a:r>
              <a:rPr lang="en-US" sz="4400" spc="-40" dirty="0">
                <a:solidFill>
                  <a:srgbClr val="14161D"/>
                </a:solidFill>
                <a:latin typeface="Helvetica Neue Medium"/>
                <a:cs typeface="Helvetica Neue Medium"/>
              </a:rPr>
              <a:t>.</a:t>
            </a:r>
          </a:p>
        </p:txBody>
      </p:sp>
      <p:cxnSp>
        <p:nvCxnSpPr>
          <p:cNvPr id="103" name="Divider"/>
          <p:cNvCxnSpPr/>
          <p:nvPr/>
        </p:nvCxnSpPr>
        <p:spPr>
          <a:xfrm>
            <a:off x="822960" y="4023360"/>
            <a:ext cx="2052320" cy="0"/>
          </a:xfrm>
          <a:prstGeom prst="line">
            <a:avLst/>
          </a:prstGeom>
          <a:ln w="28575">
            <a:solidFill>
              <a:srgbClr val="B5531F"/>
            </a:solidFill>
          </a:ln>
        </p:spPr>
      </p:cxnSp>
      <p:sp>
        <p:nvSpPr>
          <p:cNvPr id="104" name="Frame"/>
          <p:cNvSpPr txBox="1"/>
          <p:nvPr/>
        </p:nvSpPr>
        <p:spPr>
          <a:xfrm>
            <a:off x="822960" y="4251960"/>
            <a:ext cx="2052320" cy="320040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1</a:t>
            </a:r>
          </a:p>
          <a:p>
            <a:pPr algn="l">
              <a:lnSpc>
                <a:spcPct val="105000"/>
              </a:lnSpc>
              <a:spcAft>
                <a:spcPts val="350"/>
              </a:spcAft>
            </a:pPr>
            <a:r>
              <a:rPr lang="en-US" sz="2100" spc="0" dirty="0">
                <a:solidFill>
                  <a:srgbClr val="14161D"/>
                </a:solidFill>
                <a:latin typeface="Helvetica Neue Medium"/>
                <a:cs typeface="Helvetica Neue Medium"/>
              </a:rPr>
              <a:t>Frame</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DESIGN LEAD</a:t>
            </a:r>
          </a:p>
          <a:p>
            <a:pPr algn="l">
              <a:lnSpc>
                <a:spcPct val="125000"/>
              </a:lnSpc>
              <a:spcAft>
                <a:spcPts val="350"/>
              </a:spcAft>
            </a:pPr>
            <a:r>
              <a:rPr lang="en-US" sz="1550" spc="0" dirty="0">
                <a:solidFill>
                  <a:srgbClr val="565C6B"/>
                </a:solidFill>
                <a:latin typeface="Helvetica Neue Light"/>
                <a:cs typeface="Helvetica Neue Light"/>
              </a:rPr>
              <a:t>Sets the question, audience, scope and rules: desktop only, no advice, purple means AI</a:t>
            </a:r>
          </a:p>
        </p:txBody>
      </p:sp>
      <p:cxnSp>
        <p:nvCxnSpPr>
          <p:cNvPr id="105" name="Divider"/>
          <p:cNvCxnSpPr/>
          <p:nvPr/>
        </p:nvCxnSpPr>
        <p:spPr>
          <a:xfrm>
            <a:off x="3149600" y="4023360"/>
            <a:ext cx="2052320" cy="0"/>
          </a:xfrm>
          <a:prstGeom prst="line">
            <a:avLst/>
          </a:prstGeom>
          <a:ln w="9525">
            <a:solidFill>
              <a:srgbClr val="E1E3E8"/>
            </a:solidFill>
          </a:ln>
        </p:spPr>
      </p:cxnSp>
      <p:sp>
        <p:nvSpPr>
          <p:cNvPr id="106" name="Draft"/>
          <p:cNvSpPr txBox="1"/>
          <p:nvPr/>
        </p:nvSpPr>
        <p:spPr>
          <a:xfrm>
            <a:off x="3149600" y="4251960"/>
            <a:ext cx="2052320" cy="320040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2</a:t>
            </a:r>
          </a:p>
          <a:p>
            <a:pPr algn="l">
              <a:lnSpc>
                <a:spcPct val="105000"/>
              </a:lnSpc>
              <a:spcAft>
                <a:spcPts val="350"/>
              </a:spcAft>
            </a:pPr>
            <a:r>
              <a:rPr lang="en-US" sz="2100" spc="0" dirty="0">
                <a:solidFill>
                  <a:srgbClr val="14161D"/>
                </a:solidFill>
                <a:latin typeface="Helvetica Neue Medium"/>
                <a:cs typeface="Helvetica Neue Medium"/>
              </a:rPr>
              <a:t>Draft</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AI AGENTS</a:t>
            </a:r>
          </a:p>
          <a:p>
            <a:pPr algn="l">
              <a:lnSpc>
                <a:spcPct val="125000"/>
              </a:lnSpc>
              <a:spcAft>
                <a:spcPts val="350"/>
              </a:spcAft>
            </a:pPr>
            <a:r>
              <a:rPr lang="en-US" sz="1550" spc="0" dirty="0">
                <a:solidFill>
                  <a:srgbClr val="565C6B"/>
                </a:solidFill>
                <a:latin typeface="Helvetica Neue Light"/>
                <a:cs typeface="Helvetica Neue Light"/>
              </a:rPr>
              <a:t>Research, docs, FigJam boards and Figma screens, drafted against those rules</a:t>
            </a:r>
          </a:p>
        </p:txBody>
      </p:sp>
      <p:cxnSp>
        <p:nvCxnSpPr>
          <p:cNvPr id="107" name="Divider"/>
          <p:cNvCxnSpPr/>
          <p:nvPr/>
        </p:nvCxnSpPr>
        <p:spPr>
          <a:xfrm>
            <a:off x="5476240" y="4023360"/>
            <a:ext cx="2052320" cy="0"/>
          </a:xfrm>
          <a:prstGeom prst="line">
            <a:avLst/>
          </a:prstGeom>
          <a:ln w="9525">
            <a:solidFill>
              <a:srgbClr val="E1E3E8"/>
            </a:solidFill>
          </a:ln>
        </p:spPr>
      </p:cxnSp>
      <p:sp>
        <p:nvSpPr>
          <p:cNvPr id="108" name="Review"/>
          <p:cNvSpPr txBox="1"/>
          <p:nvPr/>
        </p:nvSpPr>
        <p:spPr>
          <a:xfrm>
            <a:off x="5476240" y="4251960"/>
            <a:ext cx="2052320" cy="320040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3</a:t>
            </a:r>
          </a:p>
          <a:p>
            <a:pPr algn="l">
              <a:lnSpc>
                <a:spcPct val="105000"/>
              </a:lnSpc>
              <a:spcAft>
                <a:spcPts val="350"/>
              </a:spcAft>
            </a:pPr>
            <a:r>
              <a:rPr lang="en-US" sz="2100" spc="0" dirty="0">
                <a:solidFill>
                  <a:srgbClr val="14161D"/>
                </a:solidFill>
                <a:latin typeface="Helvetica Neue Medium"/>
                <a:cs typeface="Helvetica Neue Medium"/>
              </a:rPr>
              <a:t>Review</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LEAD + TEAM</a:t>
            </a:r>
          </a:p>
          <a:p>
            <a:pPr algn="l">
              <a:lnSpc>
                <a:spcPct val="125000"/>
              </a:lnSpc>
              <a:spcAft>
                <a:spcPts val="350"/>
              </a:spcAft>
            </a:pPr>
            <a:r>
              <a:rPr lang="en-US" sz="1550" spc="0" dirty="0">
                <a:solidFill>
                  <a:srgbClr val="565C6B"/>
                </a:solidFill>
                <a:latin typeface="Helvetica Neue Light"/>
                <a:cs typeface="Helvetica Neue Light"/>
              </a:rPr>
              <a:t>Fact checks on the live site; critique with the team; rule breaks caught</a:t>
            </a:r>
          </a:p>
        </p:txBody>
      </p:sp>
      <p:cxnSp>
        <p:nvCxnSpPr>
          <p:cNvPr id="109" name="Divider"/>
          <p:cNvCxnSpPr/>
          <p:nvPr/>
        </p:nvCxnSpPr>
        <p:spPr>
          <a:xfrm>
            <a:off x="7802880" y="4023360"/>
            <a:ext cx="2052320" cy="0"/>
          </a:xfrm>
          <a:prstGeom prst="line">
            <a:avLst/>
          </a:prstGeom>
          <a:ln w="28575">
            <a:solidFill>
              <a:srgbClr val="B5531F"/>
            </a:solidFill>
          </a:ln>
        </p:spPr>
      </p:cxnSp>
      <p:sp>
        <p:nvSpPr>
          <p:cNvPr id="110" name="Decide"/>
          <p:cNvSpPr txBox="1"/>
          <p:nvPr/>
        </p:nvSpPr>
        <p:spPr>
          <a:xfrm>
            <a:off x="7802880" y="4251960"/>
            <a:ext cx="2052320" cy="320040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4</a:t>
            </a:r>
          </a:p>
          <a:p>
            <a:pPr algn="l">
              <a:lnSpc>
                <a:spcPct val="105000"/>
              </a:lnSpc>
              <a:spcAft>
                <a:spcPts val="350"/>
              </a:spcAft>
            </a:pPr>
            <a:r>
              <a:rPr lang="en-US" sz="2100" spc="0" dirty="0">
                <a:solidFill>
                  <a:srgbClr val="14161D"/>
                </a:solidFill>
                <a:latin typeface="Helvetica Neue Medium"/>
                <a:cs typeface="Helvetica Neue Medium"/>
              </a:rPr>
              <a:t>Decide</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DESIGN LEAD</a:t>
            </a:r>
          </a:p>
          <a:p>
            <a:pPr algn="l">
              <a:lnSpc>
                <a:spcPct val="125000"/>
              </a:lnSpc>
              <a:spcAft>
                <a:spcPts val="350"/>
              </a:spcAft>
            </a:pPr>
            <a:r>
              <a:rPr lang="en-US" sz="1550" spc="0" dirty="0">
                <a:solidFill>
                  <a:srgbClr val="565C6B"/>
                </a:solidFill>
                <a:latin typeface="Helvetica Neue Light"/>
                <a:cs typeface="Helvetica Neue Light"/>
              </a:rPr>
              <a:t>What to adopt, rename, cut or lead with, and why</a:t>
            </a:r>
          </a:p>
        </p:txBody>
      </p:sp>
      <p:cxnSp>
        <p:nvCxnSpPr>
          <p:cNvPr id="111" name="Divider"/>
          <p:cNvCxnSpPr/>
          <p:nvPr/>
        </p:nvCxnSpPr>
        <p:spPr>
          <a:xfrm>
            <a:off x="10129520" y="4023360"/>
            <a:ext cx="2052320" cy="0"/>
          </a:xfrm>
          <a:prstGeom prst="line">
            <a:avLst/>
          </a:prstGeom>
          <a:ln w="9525">
            <a:solidFill>
              <a:srgbClr val="E1E3E8"/>
            </a:solidFill>
          </a:ln>
        </p:spPr>
      </p:cxnSp>
      <p:sp>
        <p:nvSpPr>
          <p:cNvPr id="112" name="Propagate"/>
          <p:cNvSpPr txBox="1"/>
          <p:nvPr/>
        </p:nvSpPr>
        <p:spPr>
          <a:xfrm>
            <a:off x="10129520" y="4251960"/>
            <a:ext cx="2052320" cy="3200400"/>
          </a:xfrm>
          <a:prstGeom prst="rect">
            <a:avLst/>
          </a:prstGeom>
          <a:noFill/>
        </p:spPr>
        <p:txBody>
          <a:bodyPr wrap="square" lIns="0" tIns="0" rIns="0" bIns="0" anchor="t">
            <a:noAutofit/>
          </a:bodyPr>
          <a:lstStyle/>
          <a:p>
            <a:pPr algn="l">
              <a:lnSpc>
                <a:spcPct val="105000"/>
              </a:lnSpc>
              <a:spcAft>
                <a:spcPts val="350"/>
              </a:spcAft>
            </a:pPr>
            <a:r>
              <a:rPr lang="en-US" sz="2400" spc="0" dirty="0">
                <a:solidFill>
                  <a:srgbClr val="B5531F"/>
                </a:solidFill>
                <a:latin typeface="Helvetica Neue Medium"/>
                <a:cs typeface="Helvetica Neue Medium"/>
              </a:rPr>
              <a:t>5</a:t>
            </a:r>
          </a:p>
          <a:p>
            <a:pPr algn="l">
              <a:lnSpc>
                <a:spcPct val="105000"/>
              </a:lnSpc>
              <a:spcAft>
                <a:spcPts val="350"/>
              </a:spcAft>
            </a:pPr>
            <a:r>
              <a:rPr lang="en-US" sz="2100" spc="0" dirty="0">
                <a:solidFill>
                  <a:srgbClr val="14161D"/>
                </a:solidFill>
                <a:latin typeface="Helvetica Neue Medium"/>
                <a:cs typeface="Helvetica Neue Medium"/>
              </a:rPr>
              <a:t>Propagate</a:t>
            </a:r>
          </a:p>
          <a:p>
            <a:pPr algn="l">
              <a:lnSpc>
                <a:spcPct val="105000"/>
              </a:lnSpc>
              <a:spcBef>
                <a:spcPts val="1400"/>
              </a:spcBef>
              <a:spcAft>
                <a:spcPts val="350"/>
              </a:spcAft>
            </a:pPr>
            <a:r>
              <a:rPr lang="en-US" sz="1100" spc="200" dirty="0">
                <a:solidFill>
                  <a:srgbClr val="858A97"/>
                </a:solidFill>
                <a:latin typeface="Helvetica Neue Medium"/>
                <a:cs typeface="Helvetica Neue Medium"/>
              </a:rPr>
              <a:t>AI AGENTS</a:t>
            </a:r>
          </a:p>
          <a:p>
            <a:pPr algn="l">
              <a:lnSpc>
                <a:spcPct val="125000"/>
              </a:lnSpc>
              <a:spcAft>
                <a:spcPts val="350"/>
              </a:spcAft>
            </a:pPr>
            <a:r>
              <a:rPr lang="en-US" sz="1550" spc="0" dirty="0">
                <a:solidFill>
                  <a:srgbClr val="565C6B"/>
                </a:solidFill>
                <a:latin typeface="Helvetica Neue Light"/>
                <a:cs typeface="Helvetica Neue Light"/>
              </a:rPr>
              <a:t>Each decision applied across every doc, board and screen</a:t>
            </a:r>
          </a:p>
        </p:txBody>
      </p:sp>
      <p:sp>
        <p:nvSpPr>
          <p:cNvPr id="113" name="Note"/>
          <p:cNvSpPr txBox="1"/>
          <p:nvPr/>
        </p:nvSpPr>
        <p:spPr>
          <a:xfrm>
            <a:off x="822960" y="7726679"/>
            <a:ext cx="11358880" cy="640080"/>
          </a:xfrm>
          <a:prstGeom prst="rect">
            <a:avLst/>
          </a:prstGeom>
          <a:noFill/>
        </p:spPr>
        <p:txBody>
          <a:bodyPr wrap="square" lIns="0" tIns="0" rIns="0" bIns="0" anchor="t">
            <a:noAutofit/>
          </a:bodyPr>
          <a:lstStyle/>
          <a:p>
            <a:pPr algn="l">
              <a:lnSpc>
                <a:spcPct val="125000"/>
              </a:lnSpc>
              <a:spcAft>
                <a:spcPts val="300"/>
              </a:spcAft>
            </a:pPr>
            <a:r>
              <a:rPr lang="en-US" sz="1550" spc="0" dirty="0">
                <a:solidFill>
                  <a:srgbClr val="565C6B"/>
                </a:solidFill>
                <a:latin typeface="Helvetica Neue Light"/>
                <a:cs typeface="Helvetica Neue Light"/>
              </a:rPr>
              <a:t>Repeated in every phase: research → principles → concepts → screens. Rules set by the lead live in the project brief, so every AI draft starts from them.</a:t>
            </a:r>
          </a:p>
        </p:txBody>
      </p:sp>
      <p:pic>
        <p:nvPicPr>
          <p:cNvPr id="114"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IMPLEMENTATION</a:t>
            </a:r>
          </a:p>
        </p:txBody>
      </p:sp>
      <p:sp>
        <p:nvSpPr>
          <p:cNvPr id="3"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800" spc="-40" dirty="0">
                <a:solidFill>
                  <a:srgbClr val="14161D"/>
                </a:solidFill>
                <a:latin typeface="Helvetica Neue Medium"/>
                <a:cs typeface="Helvetica Neue Medium"/>
              </a:rPr>
              <a:t>Built mostly on what FinViz already runs, plus </a:t>
            </a:r>
            <a:r>
              <a:rPr lang="en-US" sz="3800" spc="-40" dirty="0">
                <a:solidFill>
                  <a:srgbClr val="B5531F"/>
                </a:solidFill>
                <a:latin typeface="Helvetica Neue Medium"/>
                <a:cs typeface="Helvetica Neue Medium"/>
              </a:rPr>
              <a:t>a few small services</a:t>
            </a:r>
            <a:r>
              <a:rPr lang="en-US" sz="3800" spc="-40" dirty="0">
                <a:solidFill>
                  <a:srgbClr val="14161D"/>
                </a:solidFill>
                <a:latin typeface="Helvetica Neue Medium"/>
                <a:cs typeface="Helvetica Neue Medium"/>
              </a:rPr>
              <a:t>.</a:t>
            </a:r>
          </a:p>
        </p:txBody>
      </p:sp>
      <p:sp>
        <p:nvSpPr>
          <p:cNvPr id="4" name="Audience"/>
          <p:cNvSpPr txBox="1"/>
          <p:nvPr/>
        </p:nvSpPr>
        <p:spPr>
          <a:xfrm>
            <a:off x="822960" y="3611880"/>
            <a:ext cx="3511973" cy="41148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ALREADY IN FINVIZ</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Screener and its URL filter engine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Rule-based pattern signals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Elite alerts and the 7-day trial</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Earnings calendar and news feeds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Portfolio and Maps</a:t>
            </a:r>
          </a:p>
        </p:txBody>
      </p:sp>
      <p:sp>
        <p:nvSpPr>
          <p:cNvPr id="5" name="Problems"/>
          <p:cNvSpPr txBox="1"/>
          <p:nvPr/>
        </p:nvSpPr>
        <p:spPr>
          <a:xfrm>
            <a:off x="4746413" y="3611880"/>
            <a:ext cx="3511973" cy="41148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NEW SERVICES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Translation: LLM + filter-schema validator</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Reasons engine: checks at 7:30, 12:00 and 4:30</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Replay service for alert previews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Overnight agent: one batch at 6 AM</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Quiet-hours scheduler + activity log</a:t>
            </a:r>
          </a:p>
        </p:txBody>
      </p:sp>
      <p:sp>
        <p:nvSpPr>
          <p:cNvPr id="6" name="Team"/>
          <p:cNvSpPr txBox="1"/>
          <p:nvPr/>
        </p:nvSpPr>
        <p:spPr>
          <a:xfrm>
            <a:off x="8669866"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INTEGRATION CHALLENGES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LLM latency vs an instant screener: stream chips, cache common screens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Free (delayed) vs Elite (real-time) data paths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Overnight agent cost per user</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Compliance gate and feature flag for attributed views</a:t>
            </a:r>
          </a:p>
        </p:txBody>
      </p:sp>
      <p:sp>
        <p:nvSpPr>
          <p:cNvPr id="7" name="Source"/>
          <p:cNvSpPr txBox="1"/>
          <p:nvPr/>
        </p:nvSpPr>
        <p:spPr>
          <a:xfrm>
            <a:off x="822960" y="8275320"/>
            <a:ext cx="11358880" cy="548640"/>
          </a:xfrm>
          <a:prstGeom prst="rect">
            <a:avLst/>
          </a:prstGeom>
          <a:noFill/>
        </p:spPr>
        <p:txBody>
          <a:bodyPr wrap="square" lIns="0" tIns="0" rIns="0" bIns="0">
            <a:noAutofit/>
          </a:bodyPr>
          <a:lstStyle/>
          <a:p>
            <a:pPr algn="l">
              <a:lnSpc>
                <a:spcPct val="100000"/>
              </a:lnSpc>
              <a:spcAft>
                <a:spcPts val="300"/>
              </a:spcAft>
            </a:pPr>
            <a:r>
              <a:rPr lang="en-US" sz="1100" spc="0" dirty="0">
                <a:solidFill>
                  <a:srgbClr val="858A97"/>
                </a:solidFill>
                <a:latin typeface="Helvetica Neue Light"/>
                <a:cs typeface="Helvetica Neue Light"/>
              </a:rPr>
              <a:t>Proposed, not built: a plan to agree with FinViz engineering. One token library (Figma variables matched to FinViz CSS variables), KPI events defined with analytics, compliance pre-review.</a:t>
            </a:r>
          </a:p>
        </p:txBody>
      </p:sp>
      <p:pic>
        <p:nvPicPr>
          <p:cNvPr id="8"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WHAT WE SAW</a:t>
            </a:r>
          </a:p>
        </p:txBody>
      </p:sp>
      <p:sp>
        <p:nvSpPr>
          <p:cNvPr id="102" name="Headline"/>
          <p:cNvSpPr txBox="1"/>
          <p:nvPr/>
        </p:nvSpPr>
        <p:spPr>
          <a:xfrm>
            <a:off x="822960" y="1371600"/>
            <a:ext cx="11358880" cy="128016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FinViz has 89 filters and </a:t>
            </a:r>
            <a:r>
              <a:rPr lang="en-US" sz="3600" spc="-40" dirty="0">
                <a:solidFill>
                  <a:srgbClr val="B5531F"/>
                </a:solidFill>
                <a:latin typeface="Helvetica Neue Medium"/>
                <a:cs typeface="Helvetica Neue Medium"/>
              </a:rPr>
              <a:t>no AI in the screener</a:t>
            </a:r>
            <a:r>
              <a:rPr lang="en-US" sz="3600" spc="-40" dirty="0">
                <a:solidFill>
                  <a:srgbClr val="14161D"/>
                </a:solidFill>
                <a:latin typeface="Helvetica Neue Medium"/>
                <a:cs typeface="Helvetica Neue Medium"/>
              </a:rPr>
              <a:t>. New users still get a tour.</a:t>
            </a:r>
          </a:p>
        </p:txBody>
      </p:sp>
      <p:sp>
        <p:nvSpPr>
          <p:cNvPr id="3010" name="Tile"/>
          <p:cNvSpPr/>
          <p:nvPr/>
        </p:nvSpPr>
        <p:spPr>
          <a:xfrm>
            <a:off x="822960" y="3063240"/>
            <a:ext cx="3383280" cy="3474720"/>
          </a:xfrm>
          <a:prstGeom prst="roundRect">
            <a:avLst>
              <a:gd name="adj" fmla="val 3783"/>
            </a:avLst>
          </a:prstGeom>
          <a:solidFill>
            <a:srgbClr val="B5531F"/>
          </a:solidFill>
          <a:ln>
            <a:noFill/>
          </a:ln>
        </p:spPr>
        <p:txBody>
          <a:bodyPr/>
          <a:lstStyle/>
          <a:p>
            <a:endParaRPr lang="en-US"/>
          </a:p>
        </p:txBody>
      </p:sp>
      <p:sp>
        <p:nvSpPr>
          <p:cNvPr id="103" name="Number"/>
          <p:cNvSpPr txBox="1"/>
          <p:nvPr/>
        </p:nvSpPr>
        <p:spPr>
          <a:xfrm>
            <a:off x="1097280" y="3264408"/>
            <a:ext cx="2834640" cy="2133600"/>
          </a:xfrm>
          <a:prstGeom prst="rect">
            <a:avLst/>
          </a:prstGeom>
          <a:noFill/>
        </p:spPr>
        <p:txBody>
          <a:bodyPr wrap="square" lIns="0" tIns="0" rIns="0" bIns="0" anchor="t">
            <a:noAutofit/>
          </a:bodyPr>
          <a:lstStyle/>
          <a:p>
            <a:pPr algn="l">
              <a:lnSpc>
                <a:spcPct val="88000"/>
              </a:lnSpc>
              <a:spcAft>
                <a:spcPts val="300"/>
              </a:spcAft>
            </a:pPr>
            <a:r>
              <a:rPr lang="en-US" sz="16000" spc="-60" dirty="0">
                <a:solidFill>
                  <a:srgbClr val="FFFFFF"/>
                </a:solidFill>
                <a:latin typeface="Helvetica Neue Medium"/>
                <a:cs typeface="Helvetica Neue Medium"/>
              </a:rPr>
              <a:t>0</a:t>
            </a:r>
          </a:p>
        </p:txBody>
      </p:sp>
      <p:sp>
        <p:nvSpPr>
          <p:cNvPr id="104" name="Label"/>
          <p:cNvSpPr txBox="1"/>
          <p:nvPr/>
        </p:nvSpPr>
        <p:spPr>
          <a:xfrm>
            <a:off x="1097280" y="5471160"/>
            <a:ext cx="2834640" cy="914400"/>
          </a:xfrm>
          <a:prstGeom prst="rect">
            <a:avLst/>
          </a:prstGeom>
          <a:noFill/>
        </p:spPr>
        <p:txBody>
          <a:bodyPr wrap="square" lIns="0" tIns="0" rIns="0" bIns="0" anchor="t">
            <a:noAutofit/>
          </a:bodyPr>
          <a:lstStyle/>
          <a:p>
            <a:pPr algn="l">
              <a:lnSpc>
                <a:spcPct val="115000"/>
              </a:lnSpc>
              <a:spcAft>
                <a:spcPts val="300"/>
              </a:spcAft>
            </a:pPr>
            <a:r>
              <a:rPr lang="en-US" sz="1600" spc="0" dirty="0">
                <a:solidFill>
                  <a:srgbClr val="FBE3D8"/>
                </a:solidFill>
                <a:latin typeface="Helvetica Neue Light"/>
                <a:cs typeface="Helvetica Neue Light"/>
              </a:rPr>
              <a:t>AI features in the screener; AI appears only on the news</a:t>
            </a:r>
          </a:p>
        </p:txBody>
      </p:sp>
      <p:sp>
        <p:nvSpPr>
          <p:cNvPr id="3011" name="Tile"/>
          <p:cNvSpPr/>
          <p:nvPr/>
        </p:nvSpPr>
        <p:spPr>
          <a:xfrm>
            <a:off x="4389120" y="3063240"/>
            <a:ext cx="2474976" cy="3474720"/>
          </a:xfrm>
          <a:prstGeom prst="roundRect">
            <a:avLst>
              <a:gd name="adj" fmla="val 5172"/>
            </a:avLst>
          </a:prstGeom>
          <a:solidFill>
            <a:srgbClr val="1B1D24"/>
          </a:solidFill>
          <a:ln>
            <a:noFill/>
          </a:ln>
        </p:spPr>
        <p:txBody>
          <a:bodyPr/>
          <a:lstStyle/>
          <a:p>
            <a:endParaRPr lang="en-US"/>
          </a:p>
        </p:txBody>
      </p:sp>
      <p:sp>
        <p:nvSpPr>
          <p:cNvPr id="105" name="Number"/>
          <p:cNvSpPr txBox="1"/>
          <p:nvPr/>
        </p:nvSpPr>
        <p:spPr>
          <a:xfrm>
            <a:off x="4663440" y="3264408"/>
            <a:ext cx="1926336" cy="960120"/>
          </a:xfrm>
          <a:prstGeom prst="rect">
            <a:avLst/>
          </a:prstGeom>
          <a:noFill/>
        </p:spPr>
        <p:txBody>
          <a:bodyPr wrap="square" lIns="0" tIns="0" rIns="0" bIns="0" anchor="t">
            <a:noAutofit/>
          </a:bodyPr>
          <a:lstStyle/>
          <a:p>
            <a:pPr algn="l">
              <a:lnSpc>
                <a:spcPct val="88000"/>
              </a:lnSpc>
              <a:spcAft>
                <a:spcPts val="300"/>
              </a:spcAft>
            </a:pPr>
            <a:r>
              <a:rPr lang="en-US" sz="7200" spc="-60" dirty="0">
                <a:solidFill>
                  <a:srgbClr val="F5F5F7"/>
                </a:solidFill>
                <a:latin typeface="Helvetica Neue Medium"/>
                <a:cs typeface="Helvetica Neue Medium"/>
              </a:rPr>
              <a:t>89</a:t>
            </a:r>
          </a:p>
        </p:txBody>
      </p:sp>
      <p:sp>
        <p:nvSpPr>
          <p:cNvPr id="106" name="Label"/>
          <p:cNvSpPr txBox="1"/>
          <p:nvPr/>
        </p:nvSpPr>
        <p:spPr>
          <a:xfrm>
            <a:off x="4663440" y="4297680"/>
            <a:ext cx="1926336"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filter dropdowns, most in preset buckets</a:t>
            </a:r>
          </a:p>
        </p:txBody>
      </p:sp>
      <p:sp>
        <p:nvSpPr>
          <p:cNvPr id="3012" name="Tile"/>
          <p:cNvSpPr/>
          <p:nvPr/>
        </p:nvSpPr>
        <p:spPr>
          <a:xfrm>
            <a:off x="7046975" y="3063240"/>
            <a:ext cx="2474976" cy="3474720"/>
          </a:xfrm>
          <a:prstGeom prst="roundRect">
            <a:avLst>
              <a:gd name="adj" fmla="val 5172"/>
            </a:avLst>
          </a:prstGeom>
          <a:solidFill>
            <a:srgbClr val="F1F2F5"/>
          </a:solidFill>
          <a:ln>
            <a:noFill/>
          </a:ln>
        </p:spPr>
        <p:txBody>
          <a:bodyPr/>
          <a:lstStyle/>
          <a:p>
            <a:endParaRPr lang="en-US"/>
          </a:p>
        </p:txBody>
      </p:sp>
      <p:sp>
        <p:nvSpPr>
          <p:cNvPr id="107" name="Number"/>
          <p:cNvSpPr txBox="1"/>
          <p:nvPr/>
        </p:nvSpPr>
        <p:spPr>
          <a:xfrm>
            <a:off x="7321295" y="3264408"/>
            <a:ext cx="1926336" cy="666750"/>
          </a:xfrm>
          <a:prstGeom prst="rect">
            <a:avLst/>
          </a:prstGeom>
          <a:noFill/>
        </p:spPr>
        <p:txBody>
          <a:bodyPr wrap="square" lIns="0" tIns="0" rIns="0" bIns="0" anchor="t">
            <a:noAutofit/>
          </a:bodyPr>
          <a:lstStyle/>
          <a:p>
            <a:pPr algn="l">
              <a:lnSpc>
                <a:spcPct val="88000"/>
              </a:lnSpc>
              <a:spcAft>
                <a:spcPts val="300"/>
              </a:spcAft>
            </a:pPr>
            <a:r>
              <a:rPr lang="en-US" sz="5000" spc="-60" dirty="0">
                <a:solidFill>
                  <a:srgbClr val="14161D"/>
                </a:solidFill>
                <a:latin typeface="Helvetica Neue Medium"/>
                <a:cs typeface="Helvetica Neue Medium"/>
              </a:rPr>
              <a:t>87/89</a:t>
            </a:r>
          </a:p>
        </p:txBody>
      </p:sp>
      <p:sp>
        <p:nvSpPr>
          <p:cNvPr id="108" name="Label"/>
          <p:cNvSpPr txBox="1"/>
          <p:nvPr/>
        </p:nvSpPr>
        <p:spPr>
          <a:xfrm>
            <a:off x="7321295" y="4004310"/>
            <a:ext cx="1926336"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565C6B"/>
                </a:solidFill>
                <a:latin typeface="Helvetica Neue Light"/>
                <a:cs typeface="Helvetica Neue Light"/>
              </a:rPr>
              <a:t>filters need Elite for an exact value</a:t>
            </a:r>
          </a:p>
        </p:txBody>
      </p:sp>
      <p:sp>
        <p:nvSpPr>
          <p:cNvPr id="3013" name="Tile"/>
          <p:cNvSpPr/>
          <p:nvPr/>
        </p:nvSpPr>
        <p:spPr>
          <a:xfrm>
            <a:off x="7321295" y="6153912"/>
            <a:ext cx="1926336" cy="100584"/>
          </a:xfrm>
          <a:prstGeom prst="roundRect">
            <a:avLst>
              <a:gd name="adj" fmla="val 45454"/>
            </a:avLst>
          </a:prstGeom>
          <a:solidFill>
            <a:srgbClr val="DDE0E6"/>
          </a:solidFill>
          <a:ln>
            <a:noFill/>
          </a:ln>
        </p:spPr>
        <p:txBody>
          <a:bodyPr/>
          <a:lstStyle/>
          <a:p>
            <a:endParaRPr lang="en-US"/>
          </a:p>
        </p:txBody>
      </p:sp>
      <p:sp>
        <p:nvSpPr>
          <p:cNvPr id="3014" name="Tile"/>
          <p:cNvSpPr/>
          <p:nvPr/>
        </p:nvSpPr>
        <p:spPr>
          <a:xfrm>
            <a:off x="7321295" y="6153912"/>
            <a:ext cx="1883047" cy="100584"/>
          </a:xfrm>
          <a:prstGeom prst="roundRect">
            <a:avLst>
              <a:gd name="adj" fmla="val 45454"/>
            </a:avLst>
          </a:prstGeom>
          <a:solidFill>
            <a:srgbClr val="FF6600"/>
          </a:solidFill>
          <a:ln>
            <a:noFill/>
          </a:ln>
        </p:spPr>
        <p:txBody>
          <a:bodyPr/>
          <a:lstStyle/>
          <a:p>
            <a:endParaRPr lang="en-US"/>
          </a:p>
        </p:txBody>
      </p:sp>
      <p:sp>
        <p:nvSpPr>
          <p:cNvPr id="3015" name="Tile"/>
          <p:cNvSpPr/>
          <p:nvPr/>
        </p:nvSpPr>
        <p:spPr>
          <a:xfrm>
            <a:off x="9704832" y="3063240"/>
            <a:ext cx="2474976" cy="3474720"/>
          </a:xfrm>
          <a:prstGeom prst="roundRect">
            <a:avLst>
              <a:gd name="adj" fmla="val 5172"/>
            </a:avLst>
          </a:prstGeom>
          <a:solidFill>
            <a:srgbClr val="1B1D24"/>
          </a:solidFill>
          <a:ln>
            <a:noFill/>
          </a:ln>
        </p:spPr>
        <p:txBody>
          <a:bodyPr/>
          <a:lstStyle/>
          <a:p>
            <a:endParaRPr lang="en-US"/>
          </a:p>
        </p:txBody>
      </p:sp>
      <p:sp>
        <p:nvSpPr>
          <p:cNvPr id="109" name="Number"/>
          <p:cNvSpPr txBox="1"/>
          <p:nvPr/>
        </p:nvSpPr>
        <p:spPr>
          <a:xfrm>
            <a:off x="9979152" y="3264408"/>
            <a:ext cx="1926336" cy="586740"/>
          </a:xfrm>
          <a:prstGeom prst="rect">
            <a:avLst/>
          </a:prstGeom>
          <a:noFill/>
        </p:spPr>
        <p:txBody>
          <a:bodyPr wrap="square" lIns="0" tIns="0" rIns="0" bIns="0" anchor="t">
            <a:noAutofit/>
          </a:bodyPr>
          <a:lstStyle/>
          <a:p>
            <a:pPr algn="l">
              <a:lnSpc>
                <a:spcPct val="88000"/>
              </a:lnSpc>
              <a:spcAft>
                <a:spcPts val="300"/>
              </a:spcAft>
            </a:pPr>
            <a:r>
              <a:rPr lang="en-US" sz="4400" spc="-60" dirty="0">
                <a:solidFill>
                  <a:srgbClr val="F5F5F7"/>
                </a:solidFill>
                <a:latin typeface="Helvetica Neue Medium"/>
                <a:cs typeface="Helvetica Neue Medium"/>
              </a:rPr>
              <a:t>7 days</a:t>
            </a:r>
          </a:p>
        </p:txBody>
      </p:sp>
      <p:sp>
        <p:nvSpPr>
          <p:cNvPr id="110" name="Label"/>
          <p:cNvSpPr txBox="1"/>
          <p:nvPr/>
        </p:nvSpPr>
        <p:spPr>
          <a:xfrm>
            <a:off x="9979152" y="3924300"/>
            <a:ext cx="1926336"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Elite trial, card required, offered at sign-up, before any value</a:t>
            </a:r>
          </a:p>
        </p:txBody>
      </p:sp>
      <p:sp>
        <p:nvSpPr>
          <p:cNvPr id="3016" name="Tile"/>
          <p:cNvSpPr/>
          <p:nvPr/>
        </p:nvSpPr>
        <p:spPr>
          <a:xfrm>
            <a:off x="822960" y="6720840"/>
            <a:ext cx="11356848" cy="1508760"/>
          </a:xfrm>
          <a:prstGeom prst="roundRect">
            <a:avLst>
              <a:gd name="adj" fmla="val 8484"/>
            </a:avLst>
          </a:prstGeom>
          <a:solidFill>
            <a:srgbClr val="F1F2F5"/>
          </a:solidFill>
          <a:ln>
            <a:noFill/>
          </a:ln>
        </p:spPr>
        <p:txBody>
          <a:bodyPr/>
          <a:lstStyle/>
          <a:p>
            <a:endParaRPr lang="en-US"/>
          </a:p>
        </p:txBody>
      </p:sp>
      <p:sp>
        <p:nvSpPr>
          <p:cNvPr id="111" name="Band"/>
          <p:cNvSpPr txBox="1"/>
          <p:nvPr/>
        </p:nvSpPr>
        <p:spPr>
          <a:xfrm>
            <a:off x="1143000" y="6720840"/>
            <a:ext cx="10716768" cy="1508760"/>
          </a:xfrm>
          <a:prstGeom prst="rect">
            <a:avLst/>
          </a:prstGeom>
          <a:noFill/>
        </p:spPr>
        <p:txBody>
          <a:bodyPr wrap="square" lIns="0" tIns="0" rIns="0" bIns="0" anchor="ctr">
            <a:noAutofit/>
          </a:bodyPr>
          <a:lstStyle/>
          <a:p>
            <a:pPr algn="l">
              <a:lnSpc>
                <a:spcPct val="115000"/>
              </a:lnSpc>
              <a:spcAft>
                <a:spcPts val="300"/>
              </a:spcAft>
            </a:pPr>
            <a:r>
              <a:rPr lang="en-US" sz="1600" spc="0" dirty="0">
                <a:solidFill>
                  <a:srgbClr val="14161D"/>
                </a:solidFill>
                <a:latin typeface="Helvetica Neue Light"/>
                <a:cs typeface="Helvetica Neue Light"/>
              </a:rPr>
              <a:t>A four-person design review (Sept 30, 31 points) changed the goal: time to a first success, an insight that is actionable, timely and relevant to the trader’s own stocks. Then a habit.</a:t>
            </a:r>
          </a:p>
          <a:p>
            <a:pPr algn="l">
              <a:lnSpc>
                <a:spcPct val="115000"/>
              </a:lnSpc>
              <a:spcAft>
                <a:spcPts val="300"/>
              </a:spcAft>
            </a:pPr>
            <a:r>
              <a:rPr lang="en-US" sz="1150" spc="0" dirty="0">
                <a:solidFill>
                  <a:srgbClr val="565C6B"/>
                </a:solidFill>
                <a:latin typeface="Helvetica Neue Light"/>
                <a:cs typeface="Helvetica Neue Light"/>
              </a:rPr>
              <a:t>Sources: live-site audit of finviz.com, Oct 4 2026; design review, Sept 30. Desk evidence, not yet confirmed with FinViz users.</a:t>
            </a:r>
          </a:p>
        </p:txBody>
      </p:sp>
      <p:pic>
        <p:nvPicPr>
          <p:cNvPr id="112"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320040"/>
          </a:xfrm>
          <a:prstGeom prst="rect">
            <a:avLst/>
          </a:prstGeom>
          <a:noFill/>
        </p:spPr>
        <p:txBody>
          <a:bodyPr wrap="square" lIns="0" tIns="0" rIns="0" bIns="0">
            <a:noAutofit/>
          </a:bodyPr>
          <a:lstStyle/>
          <a:p>
            <a:pPr algn="l">
              <a:lnSpc>
                <a:spcPct val="100000"/>
              </a:lnSpc>
              <a:spcAft>
                <a:spcPts val="300"/>
              </a:spcAft>
            </a:pPr>
            <a:r>
              <a:rPr lang="en-US" sz="1200" spc="300" dirty="0">
                <a:solidFill>
                  <a:srgbClr val="B5531F"/>
                </a:solidFill>
                <a:latin typeface="Helvetica Neue Medium"/>
                <a:cs typeface="Helvetica Neue Medium"/>
              </a:rPr>
              <a:t>FINVIZ AI SCREENER · AFTER TESTING</a:t>
            </a:r>
          </a:p>
        </p:txBody>
      </p:sp>
      <p:sp>
        <p:nvSpPr>
          <p:cNvPr id="102" name="Headline"/>
          <p:cNvSpPr txBox="1"/>
          <p:nvPr/>
        </p:nvSpPr>
        <p:spPr>
          <a:xfrm>
            <a:off x="822960" y="1371600"/>
            <a:ext cx="11358880" cy="1737360"/>
          </a:xfrm>
          <a:prstGeom prst="rect">
            <a:avLst/>
          </a:prstGeom>
          <a:noFill/>
        </p:spPr>
        <p:txBody>
          <a:bodyPr wrap="square" lIns="0" tIns="0" rIns="0" bIns="0">
            <a:noAutofit/>
          </a:bodyPr>
          <a:lstStyle/>
          <a:p>
            <a:pPr algn="l">
              <a:lnSpc>
                <a:spcPct val="95000"/>
              </a:lnSpc>
              <a:spcAft>
                <a:spcPts val="300"/>
              </a:spcAft>
            </a:pPr>
            <a:r>
              <a:rPr lang="en-US" sz="4400" spc="-40" dirty="0">
                <a:solidFill>
                  <a:srgbClr val="14161D"/>
                </a:solidFill>
                <a:latin typeface="Helvetica Neue Medium"/>
                <a:cs typeface="Helvetica Neue Medium"/>
              </a:rPr>
              <a:t>Four tests are set, each with a bar to pass. </a:t>
            </a:r>
            <a:r>
              <a:rPr lang="en-US" sz="4400" spc="-40" dirty="0">
                <a:solidFill>
                  <a:srgbClr val="B5531F"/>
                </a:solidFill>
                <a:latin typeface="Helvetica Neue Medium"/>
                <a:cs typeface="Helvetica Neue Medium"/>
              </a:rPr>
              <a:t>Nothing is measured yet.</a:t>
            </a:r>
          </a:p>
        </p:txBody>
      </p:sp>
      <p:sp>
        <p:nvSpPr>
          <p:cNvPr id="103" name="Column label"/>
          <p:cNvSpPr txBox="1"/>
          <p:nvPr/>
        </p:nvSpPr>
        <p:spPr>
          <a:xfrm>
            <a:off x="822960" y="3657600"/>
            <a:ext cx="2834640"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TEST</a:t>
            </a:r>
          </a:p>
        </p:txBody>
      </p:sp>
      <p:sp>
        <p:nvSpPr>
          <p:cNvPr id="104" name="Column label"/>
          <p:cNvSpPr txBox="1"/>
          <p:nvPr/>
        </p:nvSpPr>
        <p:spPr>
          <a:xfrm>
            <a:off x="3931920" y="3657600"/>
            <a:ext cx="3383280"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WHAT IT MEASURES</a:t>
            </a:r>
          </a:p>
        </p:txBody>
      </p:sp>
      <p:sp>
        <p:nvSpPr>
          <p:cNvPr id="105" name="Column label"/>
          <p:cNvSpPr txBox="1"/>
          <p:nvPr/>
        </p:nvSpPr>
        <p:spPr>
          <a:xfrm>
            <a:off x="7589520" y="3657600"/>
            <a:ext cx="2606040"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BAR TO PASS</a:t>
            </a:r>
          </a:p>
        </p:txBody>
      </p:sp>
      <p:sp>
        <p:nvSpPr>
          <p:cNvPr id="106" name="Column label"/>
          <p:cNvSpPr txBox="1"/>
          <p:nvPr/>
        </p:nvSpPr>
        <p:spPr>
          <a:xfrm>
            <a:off x="10469880" y="3657600"/>
            <a:ext cx="1711960" cy="274320"/>
          </a:xfrm>
          <a:prstGeom prst="rect">
            <a:avLst/>
          </a:prstGeom>
          <a:noFill/>
        </p:spPr>
        <p:txBody>
          <a:bodyPr wrap="square" lIns="0" tIns="0" rIns="0" bIns="0">
            <a:noAutofit/>
          </a:bodyPr>
          <a:lstStyle/>
          <a:p>
            <a:pPr algn="l">
              <a:lnSpc>
                <a:spcPct val="100000"/>
              </a:lnSpc>
              <a:spcAft>
                <a:spcPts val="300"/>
              </a:spcAft>
            </a:pPr>
            <a:r>
              <a:rPr lang="en-US" sz="1100" spc="200" dirty="0">
                <a:solidFill>
                  <a:srgbClr val="858A97"/>
                </a:solidFill>
                <a:latin typeface="Helvetica Neue Medium"/>
                <a:cs typeface="Helvetica Neue Medium"/>
              </a:rPr>
              <a:t>RESULT</a:t>
            </a:r>
          </a:p>
        </p:txBody>
      </p:sp>
      <p:cxnSp>
        <p:nvCxnSpPr>
          <p:cNvPr id="107" name="Divider"/>
          <p:cNvCxnSpPr/>
          <p:nvPr/>
        </p:nvCxnSpPr>
        <p:spPr>
          <a:xfrm>
            <a:off x="822960" y="4023360"/>
            <a:ext cx="11358880" cy="0"/>
          </a:xfrm>
          <a:prstGeom prst="line">
            <a:avLst/>
          </a:prstGeom>
          <a:ln w="9525">
            <a:solidFill>
              <a:srgbClr val="E1E3E8"/>
            </a:solidFill>
          </a:ln>
        </p:spPr>
      </p:cxnSp>
      <p:sp>
        <p:nvSpPr>
          <p:cNvPr id="108" name="Show It eval"/>
          <p:cNvSpPr txBox="1"/>
          <p:nvPr/>
        </p:nvSpPr>
        <p:spPr>
          <a:xfrm>
            <a:off x="822960" y="4224528"/>
            <a:ext cx="2834640" cy="82296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Show It eval</a:t>
            </a:r>
          </a:p>
          <a:p>
            <a:pPr algn="l">
              <a:lnSpc>
                <a:spcPct val="110000"/>
              </a:lnSpc>
              <a:spcAft>
                <a:spcPts val="300"/>
              </a:spcAft>
            </a:pPr>
            <a:r>
              <a:rPr lang="en-US" sz="1300" spc="0" dirty="0">
                <a:solidFill>
                  <a:srgbClr val="565C6B"/>
                </a:solidFill>
                <a:latin typeface="Helvetica Neue Light"/>
                <a:cs typeface="Helvetica Neue Light"/>
              </a:rPr>
              <a:t>40 fixed requests on the live prototype</a:t>
            </a:r>
          </a:p>
        </p:txBody>
      </p:sp>
      <p:sp>
        <p:nvSpPr>
          <p:cNvPr id="109" name="Show It eval measures"/>
          <p:cNvSpPr txBox="1"/>
          <p:nvPr/>
        </p:nvSpPr>
        <p:spPr>
          <a:xfrm>
            <a:off x="3931920" y="4224528"/>
            <a:ext cx="338328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Right filters, invented codes stopped, asks when vague, refuses to predict</a:t>
            </a:r>
          </a:p>
        </p:txBody>
      </p:sp>
      <p:sp>
        <p:nvSpPr>
          <p:cNvPr id="110" name="Show It eval bar"/>
          <p:cNvSpPr txBox="1"/>
          <p:nvPr/>
        </p:nvSpPr>
        <p:spPr>
          <a:xfrm>
            <a:off x="7589520" y="4224528"/>
            <a:ext cx="260604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14161D"/>
                </a:solidFill>
                <a:latin typeface="Helvetica Neue Light"/>
                <a:cs typeface="Helvetica Neue Light"/>
              </a:rPr>
              <a:t>&lt; 2% wrong translations</a:t>
            </a:r>
          </a:p>
        </p:txBody>
      </p:sp>
      <p:sp>
        <p:nvSpPr>
          <p:cNvPr id="111" name="Show It eval result"/>
          <p:cNvSpPr txBox="1"/>
          <p:nvPr/>
        </p:nvSpPr>
        <p:spPr>
          <a:xfrm>
            <a:off x="10469880" y="4224528"/>
            <a:ext cx="1711960" cy="822960"/>
          </a:xfrm>
          <a:prstGeom prst="rect">
            <a:avLst/>
          </a:prstGeom>
          <a:noFill/>
        </p:spPr>
        <p:txBody>
          <a:bodyPr wrap="square" lIns="0" tIns="0" rIns="0" bIns="0">
            <a:noAutofit/>
          </a:bodyPr>
          <a:lstStyle/>
          <a:p>
            <a:pPr algn="l">
              <a:lnSpc>
                <a:spcPct val="100000"/>
              </a:lnSpc>
              <a:spcAft>
                <a:spcPts val="300"/>
              </a:spcAft>
            </a:pPr>
            <a:r>
              <a:rPr lang="en-US" sz="1200" spc="200" dirty="0">
                <a:solidFill>
                  <a:srgbClr val="B5531F"/>
                </a:solidFill>
                <a:latin typeface="Helvetica Neue Medium"/>
                <a:cs typeface="Helvetica Neue Medium"/>
              </a:rPr>
              <a:t>PLANNED</a:t>
            </a:r>
          </a:p>
          <a:p>
            <a:pPr algn="l">
              <a:lnSpc>
                <a:spcPct val="110000"/>
              </a:lnSpc>
              <a:spcAft>
                <a:spcPts val="300"/>
              </a:spcAft>
            </a:pPr>
            <a:r>
              <a:rPr lang="en-US" sz="1300" spc="0" dirty="0">
                <a:solidFill>
                  <a:srgbClr val="565C6B"/>
                </a:solidFill>
                <a:latin typeface="Helvetica Neue Light"/>
                <a:cs typeface="Helvetica Neue Light"/>
              </a:rPr>
              <a:t>Ready to run</a:t>
            </a:r>
          </a:p>
        </p:txBody>
      </p:sp>
      <p:cxnSp>
        <p:nvCxnSpPr>
          <p:cNvPr id="112" name="Divider"/>
          <p:cNvCxnSpPr/>
          <p:nvPr/>
        </p:nvCxnSpPr>
        <p:spPr>
          <a:xfrm>
            <a:off x="822960" y="5074920"/>
            <a:ext cx="11358880" cy="0"/>
          </a:xfrm>
          <a:prstGeom prst="line">
            <a:avLst/>
          </a:prstGeom>
          <a:ln w="9525">
            <a:solidFill>
              <a:srgbClr val="E1E3E8"/>
            </a:solidFill>
          </a:ln>
        </p:spPr>
      </p:cxnSp>
      <p:sp>
        <p:nvSpPr>
          <p:cNvPr id="113" name="Trader sessions"/>
          <p:cNvSpPr txBox="1"/>
          <p:nvPr/>
        </p:nvSpPr>
        <p:spPr>
          <a:xfrm>
            <a:off x="822960" y="5276088"/>
            <a:ext cx="2834640" cy="82296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Trader sessions</a:t>
            </a:r>
          </a:p>
          <a:p>
            <a:pPr algn="l">
              <a:lnSpc>
                <a:spcPct val="110000"/>
              </a:lnSpc>
              <a:spcAft>
                <a:spcPts val="300"/>
              </a:spcAft>
            </a:pPr>
            <a:r>
              <a:rPr lang="en-US" sz="1300" spc="0" dirty="0">
                <a:solidFill>
                  <a:srgbClr val="565C6B"/>
                </a:solidFill>
                <a:latin typeface="Helvetica Neue Light"/>
                <a:cs typeface="Helvetica Neue Light"/>
              </a:rPr>
              <a:t>5 swing traders, think-aloud</a:t>
            </a:r>
          </a:p>
        </p:txBody>
      </p:sp>
      <p:sp>
        <p:nvSpPr>
          <p:cNvPr id="114" name="Trader sessions measures"/>
          <p:cNvSpPr txBox="1"/>
          <p:nvPr/>
        </p:nvSpPr>
        <p:spPr>
          <a:xfrm>
            <a:off x="3931920" y="5276088"/>
            <a:ext cx="338328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Time to a first saved screen; trust; whether the replay is understood</a:t>
            </a:r>
          </a:p>
        </p:txBody>
      </p:sp>
      <p:sp>
        <p:nvSpPr>
          <p:cNvPr id="115" name="Trader sessions bar"/>
          <p:cNvSpPr txBox="1"/>
          <p:nvPr/>
        </p:nvSpPr>
        <p:spPr>
          <a:xfrm>
            <a:off x="7589520" y="5276088"/>
            <a:ext cx="260604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14161D"/>
                </a:solidFill>
                <a:latin typeface="Helvetica Neue Light"/>
                <a:cs typeface="Helvetica Neue Light"/>
              </a:rPr>
              <a:t>Under 5 min · trust 5+ of 7 · 4 of 5 explain the replay</a:t>
            </a:r>
          </a:p>
        </p:txBody>
      </p:sp>
      <p:sp>
        <p:nvSpPr>
          <p:cNvPr id="116" name="Trader sessions result"/>
          <p:cNvSpPr txBox="1"/>
          <p:nvPr/>
        </p:nvSpPr>
        <p:spPr>
          <a:xfrm>
            <a:off x="10469880" y="5276088"/>
            <a:ext cx="1711960" cy="822960"/>
          </a:xfrm>
          <a:prstGeom prst="rect">
            <a:avLst/>
          </a:prstGeom>
          <a:noFill/>
        </p:spPr>
        <p:txBody>
          <a:bodyPr wrap="square" lIns="0" tIns="0" rIns="0" bIns="0">
            <a:noAutofit/>
          </a:bodyPr>
          <a:lstStyle/>
          <a:p>
            <a:pPr algn="l">
              <a:lnSpc>
                <a:spcPct val="100000"/>
              </a:lnSpc>
              <a:spcAft>
                <a:spcPts val="300"/>
              </a:spcAft>
            </a:pPr>
            <a:r>
              <a:rPr lang="en-US" sz="1200" spc="200" dirty="0">
                <a:solidFill>
                  <a:srgbClr val="B5531F"/>
                </a:solidFill>
                <a:latin typeface="Helvetica Neue Medium"/>
                <a:cs typeface="Helvetica Neue Medium"/>
              </a:rPr>
              <a:t>PLANNED</a:t>
            </a:r>
          </a:p>
          <a:p>
            <a:pPr algn="l">
              <a:lnSpc>
                <a:spcPct val="110000"/>
              </a:lnSpc>
              <a:spcAft>
                <a:spcPts val="300"/>
              </a:spcAft>
            </a:pPr>
            <a:r>
              <a:rPr lang="en-US" sz="1300" spc="0" dirty="0">
                <a:solidFill>
                  <a:srgbClr val="565C6B"/>
                </a:solidFill>
                <a:latin typeface="Helvetica Neue Light"/>
                <a:cs typeface="Helvetica Neue Light"/>
              </a:rPr>
              <a:t>Kit ready</a:t>
            </a:r>
          </a:p>
        </p:txBody>
      </p:sp>
      <p:cxnSp>
        <p:nvCxnSpPr>
          <p:cNvPr id="117" name="Divider"/>
          <p:cNvCxnSpPr/>
          <p:nvPr/>
        </p:nvCxnSpPr>
        <p:spPr>
          <a:xfrm>
            <a:off x="822960" y="6126480"/>
            <a:ext cx="11358880" cy="0"/>
          </a:xfrm>
          <a:prstGeom prst="line">
            <a:avLst/>
          </a:prstGeom>
          <a:ln w="9525">
            <a:solidFill>
              <a:srgbClr val="E1E3E8"/>
            </a:solidFill>
          </a:ln>
        </p:spPr>
      </p:cxnSp>
      <p:sp>
        <p:nvSpPr>
          <p:cNvPr id="118" name="Alert diary"/>
          <p:cNvSpPr txBox="1"/>
          <p:nvPr/>
        </p:nvSpPr>
        <p:spPr>
          <a:xfrm>
            <a:off x="822960" y="6327648"/>
            <a:ext cx="2834640" cy="82296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Alert diary</a:t>
            </a:r>
          </a:p>
          <a:p>
            <a:pPr algn="l">
              <a:lnSpc>
                <a:spcPct val="110000"/>
              </a:lnSpc>
              <a:spcAft>
                <a:spcPts val="300"/>
              </a:spcAft>
            </a:pPr>
            <a:r>
              <a:rPr lang="en-US" sz="1300" spc="0" dirty="0">
                <a:solidFill>
                  <a:srgbClr val="565C6B"/>
                </a:solidFill>
                <a:latin typeface="Helvetica Neue Light"/>
                <a:cs typeface="Helvetica Neue Light"/>
              </a:rPr>
              <a:t>2 weeks with alerts on</a:t>
            </a:r>
          </a:p>
        </p:txBody>
      </p:sp>
      <p:sp>
        <p:nvSpPr>
          <p:cNvPr id="119" name="Alert diary measures"/>
          <p:cNvSpPr txBox="1"/>
          <p:nvPr/>
        </p:nvSpPr>
        <p:spPr>
          <a:xfrm>
            <a:off x="3931920" y="6327648"/>
            <a:ext cx="338328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Alerts that lead to an action; alerts muted</a:t>
            </a:r>
          </a:p>
        </p:txBody>
      </p:sp>
      <p:sp>
        <p:nvSpPr>
          <p:cNvPr id="120" name="Alert diary bar"/>
          <p:cNvSpPr txBox="1"/>
          <p:nvPr/>
        </p:nvSpPr>
        <p:spPr>
          <a:xfrm>
            <a:off x="7589520" y="6327648"/>
            <a:ext cx="260604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14161D"/>
                </a:solidFill>
                <a:latin typeface="Helvetica Neue Light"/>
                <a:cs typeface="Helvetica Neue Light"/>
              </a:rPr>
              <a:t>Over 40% acted on · under 10% muted</a:t>
            </a:r>
          </a:p>
        </p:txBody>
      </p:sp>
      <p:sp>
        <p:nvSpPr>
          <p:cNvPr id="121" name="Alert diary result"/>
          <p:cNvSpPr txBox="1"/>
          <p:nvPr/>
        </p:nvSpPr>
        <p:spPr>
          <a:xfrm>
            <a:off x="10469880" y="6327648"/>
            <a:ext cx="1711960" cy="822960"/>
          </a:xfrm>
          <a:prstGeom prst="rect">
            <a:avLst/>
          </a:prstGeom>
          <a:noFill/>
        </p:spPr>
        <p:txBody>
          <a:bodyPr wrap="square" lIns="0" tIns="0" rIns="0" bIns="0">
            <a:noAutofit/>
          </a:bodyPr>
          <a:lstStyle/>
          <a:p>
            <a:pPr algn="l">
              <a:lnSpc>
                <a:spcPct val="100000"/>
              </a:lnSpc>
              <a:spcAft>
                <a:spcPts val="300"/>
              </a:spcAft>
            </a:pPr>
            <a:r>
              <a:rPr lang="en-US" sz="1200" spc="200" dirty="0">
                <a:solidFill>
                  <a:srgbClr val="B5531F"/>
                </a:solidFill>
                <a:latin typeface="Helvetica Neue Medium"/>
                <a:cs typeface="Helvetica Neue Medium"/>
              </a:rPr>
              <a:t>PLANNED</a:t>
            </a:r>
          </a:p>
          <a:p>
            <a:pPr algn="l">
              <a:lnSpc>
                <a:spcPct val="110000"/>
              </a:lnSpc>
              <a:spcAft>
                <a:spcPts val="300"/>
              </a:spcAft>
            </a:pPr>
            <a:r>
              <a:rPr lang="en-US" sz="1300" spc="0" dirty="0">
                <a:solidFill>
                  <a:srgbClr val="565C6B"/>
                </a:solidFill>
                <a:latin typeface="Helvetica Neue Light"/>
                <a:cs typeface="Helvetica Neue Light"/>
              </a:rPr>
              <a:t>After sessions</a:t>
            </a:r>
          </a:p>
        </p:txBody>
      </p:sp>
      <p:cxnSp>
        <p:nvCxnSpPr>
          <p:cNvPr id="122" name="Divider"/>
          <p:cNvCxnSpPr/>
          <p:nvPr/>
        </p:nvCxnSpPr>
        <p:spPr>
          <a:xfrm>
            <a:off x="822960" y="7178040"/>
            <a:ext cx="11358880" cy="0"/>
          </a:xfrm>
          <a:prstGeom prst="line">
            <a:avLst/>
          </a:prstGeom>
          <a:ln w="9525">
            <a:solidFill>
              <a:srgbClr val="E1E3E8"/>
            </a:solidFill>
          </a:ln>
        </p:spPr>
      </p:cxnSp>
      <p:sp>
        <p:nvSpPr>
          <p:cNvPr id="123" name="Days to Elite"/>
          <p:cNvSpPr txBox="1"/>
          <p:nvPr/>
        </p:nvSpPr>
        <p:spPr>
          <a:xfrm>
            <a:off x="822960" y="7379208"/>
            <a:ext cx="2834640" cy="822960"/>
          </a:xfrm>
          <a:prstGeom prst="rect">
            <a:avLst/>
          </a:prstGeom>
          <a:noFill/>
        </p:spPr>
        <p:txBody>
          <a:bodyPr wrap="square" lIns="0" tIns="0" rIns="0" bIns="0">
            <a:noAutofit/>
          </a:bodyPr>
          <a:lstStyle/>
          <a:p>
            <a:pPr algn="l">
              <a:lnSpc>
                <a:spcPct val="100000"/>
              </a:lnSpc>
              <a:spcAft>
                <a:spcPts val="300"/>
              </a:spcAft>
            </a:pPr>
            <a:r>
              <a:rPr lang="en-US" sz="2000" spc="0" dirty="0">
                <a:solidFill>
                  <a:srgbClr val="14161D"/>
                </a:solidFill>
                <a:latin typeface="Helvetica Neue Medium"/>
                <a:cs typeface="Helvetica Neue Medium"/>
              </a:rPr>
              <a:t>Days to Elite</a:t>
            </a:r>
          </a:p>
          <a:p>
            <a:pPr algn="l">
              <a:lnSpc>
                <a:spcPct val="110000"/>
              </a:lnSpc>
              <a:spcAft>
                <a:spcPts val="300"/>
              </a:spcAft>
            </a:pPr>
            <a:r>
              <a:rPr lang="en-US" sz="1300" spc="0" dirty="0">
                <a:solidFill>
                  <a:srgbClr val="565C6B"/>
                </a:solidFill>
                <a:latin typeface="Helvetica Neue Light"/>
                <a:cs typeface="Helvetica Neue Light"/>
              </a:rPr>
              <a:t>A/B against today’s sign-up trial</a:t>
            </a:r>
          </a:p>
        </p:txBody>
      </p:sp>
      <p:sp>
        <p:nvSpPr>
          <p:cNvPr id="124" name="Days to Elite measures"/>
          <p:cNvSpPr txBox="1"/>
          <p:nvPr/>
        </p:nvSpPr>
        <p:spPr>
          <a:xfrm>
            <a:off x="3931920" y="7379208"/>
            <a:ext cx="338328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565C6B"/>
                </a:solidFill>
                <a:latin typeface="Helvetica Neue Light"/>
                <a:cs typeface="Helvetica Neue Light"/>
              </a:rPr>
              <a:t>Days from sign-up to Elite</a:t>
            </a:r>
          </a:p>
        </p:txBody>
      </p:sp>
      <p:sp>
        <p:nvSpPr>
          <p:cNvPr id="125" name="Days to Elite bar"/>
          <p:cNvSpPr txBox="1"/>
          <p:nvPr/>
        </p:nvSpPr>
        <p:spPr>
          <a:xfrm>
            <a:off x="7589520" y="7379208"/>
            <a:ext cx="2606040" cy="822960"/>
          </a:xfrm>
          <a:prstGeom prst="rect">
            <a:avLst/>
          </a:prstGeom>
          <a:noFill/>
        </p:spPr>
        <p:txBody>
          <a:bodyPr wrap="square" lIns="0" tIns="0" rIns="0" bIns="0">
            <a:noAutofit/>
          </a:bodyPr>
          <a:lstStyle/>
          <a:p>
            <a:pPr algn="l">
              <a:lnSpc>
                <a:spcPct val="115000"/>
              </a:lnSpc>
              <a:spcAft>
                <a:spcPts val="300"/>
              </a:spcAft>
            </a:pPr>
            <a:r>
              <a:rPr lang="en-US" sz="1400" spc="0" dirty="0">
                <a:solidFill>
                  <a:srgbClr val="14161D"/>
                </a:solidFill>
                <a:latin typeface="Helvetica Neue Light"/>
                <a:cs typeface="Helvetica Neue Light"/>
              </a:rPr>
              <a:t>42 → 21 days</a:t>
            </a:r>
          </a:p>
        </p:txBody>
      </p:sp>
      <p:sp>
        <p:nvSpPr>
          <p:cNvPr id="126" name="Days to Elite result"/>
          <p:cNvSpPr txBox="1"/>
          <p:nvPr/>
        </p:nvSpPr>
        <p:spPr>
          <a:xfrm>
            <a:off x="10469880" y="7379208"/>
            <a:ext cx="1711960" cy="822960"/>
          </a:xfrm>
          <a:prstGeom prst="rect">
            <a:avLst/>
          </a:prstGeom>
          <a:noFill/>
        </p:spPr>
        <p:txBody>
          <a:bodyPr wrap="square" lIns="0" tIns="0" rIns="0" bIns="0">
            <a:noAutofit/>
          </a:bodyPr>
          <a:lstStyle/>
          <a:p>
            <a:pPr algn="l">
              <a:lnSpc>
                <a:spcPct val="100000"/>
              </a:lnSpc>
              <a:spcAft>
                <a:spcPts val="300"/>
              </a:spcAft>
            </a:pPr>
            <a:r>
              <a:rPr lang="en-US" sz="1200" spc="200" dirty="0">
                <a:solidFill>
                  <a:srgbClr val="B5531F"/>
                </a:solidFill>
                <a:latin typeface="Helvetica Neue Medium"/>
                <a:cs typeface="Helvetica Neue Medium"/>
              </a:rPr>
              <a:t>PLANNED</a:t>
            </a:r>
          </a:p>
          <a:p>
            <a:pPr algn="l">
              <a:lnSpc>
                <a:spcPct val="110000"/>
              </a:lnSpc>
              <a:spcAft>
                <a:spcPts val="300"/>
              </a:spcAft>
            </a:pPr>
            <a:r>
              <a:rPr lang="en-US" sz="1300" spc="0" dirty="0">
                <a:solidFill>
                  <a:srgbClr val="565C6B"/>
                </a:solidFill>
                <a:latin typeface="Helvetica Neue Light"/>
                <a:cs typeface="Helvetica Neue Light"/>
              </a:rPr>
              <a:t>Needs FinViz data</a:t>
            </a:r>
          </a:p>
        </p:txBody>
      </p:sp>
      <p:cxnSp>
        <p:nvCxnSpPr>
          <p:cNvPr id="127" name="Divider"/>
          <p:cNvCxnSpPr/>
          <p:nvPr/>
        </p:nvCxnSpPr>
        <p:spPr>
          <a:xfrm>
            <a:off x="822960" y="8229600"/>
            <a:ext cx="11358880" cy="0"/>
          </a:xfrm>
          <a:prstGeom prst="line">
            <a:avLst/>
          </a:prstGeom>
          <a:ln w="9525">
            <a:solidFill>
              <a:srgbClr val="E1E3E8"/>
            </a:solidFill>
          </a:ln>
        </p:spPr>
      </p:cxnSp>
      <p:sp>
        <p:nvSpPr>
          <p:cNvPr id="128" name="Source"/>
          <p:cNvSpPr txBox="1"/>
          <p:nvPr/>
        </p:nvSpPr>
        <p:spPr>
          <a:xfrm>
            <a:off x="822960" y="8503920"/>
            <a:ext cx="11358880" cy="274320"/>
          </a:xfrm>
          <a:prstGeom prst="rect">
            <a:avLst/>
          </a:prstGeom>
          <a:noFill/>
        </p:spPr>
        <p:txBody>
          <a:bodyPr wrap="square" lIns="0" tIns="0" rIns="0" bIns="0">
            <a:noAutofit/>
          </a:bodyPr>
          <a:lstStyle/>
          <a:p>
            <a:pPr algn="l">
              <a:lnSpc>
                <a:spcPct val="100000"/>
              </a:lnSpc>
              <a:spcAft>
                <a:spcPts val="300"/>
              </a:spcAft>
            </a:pPr>
            <a:r>
              <a:rPr lang="en-US" sz="1100" spc="0" dirty="0">
                <a:solidFill>
                  <a:srgbClr val="858A97"/>
                </a:solidFill>
                <a:latin typeface="Helvetica Neue Light"/>
                <a:cs typeface="Helvetica Neue Light"/>
              </a:rPr>
              <a:t>Each PLANNED result is replaced with the measured number when its test runs. Bars come from the KPI framework and the validation kit.</a:t>
            </a:r>
          </a:p>
        </p:txBody>
      </p:sp>
      <p:pic>
        <p:nvPicPr>
          <p:cNvPr id="13"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LEARNINGS</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14161D"/>
                </a:solidFill>
                <a:latin typeface="Helvetica Neue Medium"/>
                <a:cs typeface="Helvetica Neue Medium"/>
              </a:rPr>
              <a:t>What leading with AI </a:t>
            </a:r>
            <a:r>
              <a:rPr lang="en-US" sz="4400" spc="-40" dirty="0">
                <a:solidFill>
                  <a:srgbClr val="B5531F"/>
                </a:solidFill>
                <a:latin typeface="Helvetica Neue Medium"/>
                <a:cs typeface="Helvetica Neue Medium"/>
              </a:rPr>
              <a:t>taught me</a:t>
            </a:r>
            <a:r>
              <a:rPr lang="en-US" sz="4400" spc="-40" dirty="0">
                <a:solidFill>
                  <a:srgbClr val="14161D"/>
                </a:solidFill>
                <a:latin typeface="Helvetica Neue Medium"/>
                <a:cs typeface="Helvetica Neue Medium"/>
              </a:rPr>
              <a:t>.</a:t>
            </a:r>
          </a:p>
        </p:txBody>
      </p:sp>
      <p:cxnSp>
        <p:nvCxnSpPr>
          <p:cNvPr id="103" name="Divider"/>
          <p:cNvCxnSpPr/>
          <p:nvPr/>
        </p:nvCxnSpPr>
        <p:spPr>
          <a:xfrm>
            <a:off x="822960" y="3566160"/>
            <a:ext cx="5427980" cy="0"/>
          </a:xfrm>
          <a:prstGeom prst="line">
            <a:avLst/>
          </a:prstGeom>
          <a:ln w="9525">
            <a:solidFill>
              <a:srgbClr val="E1E3E8"/>
            </a:solidFill>
          </a:ln>
        </p:spPr>
      </p:cxnSp>
      <p:sp>
        <p:nvSpPr>
          <p:cNvPr id="104" name="The bottleneck moves to judgment title"/>
          <p:cNvSpPr txBox="1"/>
          <p:nvPr/>
        </p:nvSpPr>
        <p:spPr>
          <a:xfrm>
            <a:off x="8229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The bottleneck moves to judgment</a:t>
            </a:r>
          </a:p>
        </p:txBody>
      </p:sp>
      <p:sp>
        <p:nvSpPr>
          <p:cNvPr id="105" name="The bottleneck moves to judgment body"/>
          <p:cNvSpPr txBox="1"/>
          <p:nvPr/>
        </p:nvSpPr>
        <p:spPr>
          <a:xfrm>
            <a:off x="8229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Drafts take minutes. The lead’s value is framing, checking facts and deciding what to keep.</a:t>
            </a:r>
          </a:p>
        </p:txBody>
      </p:sp>
      <p:cxnSp>
        <p:nvCxnSpPr>
          <p:cNvPr id="106" name="Divider"/>
          <p:cNvCxnSpPr/>
          <p:nvPr/>
        </p:nvCxnSpPr>
        <p:spPr>
          <a:xfrm>
            <a:off x="6753860" y="3566160"/>
            <a:ext cx="5427980" cy="0"/>
          </a:xfrm>
          <a:prstGeom prst="line">
            <a:avLst/>
          </a:prstGeom>
          <a:ln w="9525">
            <a:solidFill>
              <a:srgbClr val="E1E3E8"/>
            </a:solidFill>
          </a:ln>
        </p:spPr>
      </p:cxnSp>
      <p:sp>
        <p:nvSpPr>
          <p:cNvPr id="107" name="Write the rules down once title"/>
          <p:cNvSpPr txBox="1"/>
          <p:nvPr/>
        </p:nvSpPr>
        <p:spPr>
          <a:xfrm>
            <a:off x="67538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Write the rules down once</a:t>
            </a:r>
          </a:p>
        </p:txBody>
      </p:sp>
      <p:sp>
        <p:nvSpPr>
          <p:cNvPr id="108" name="Write the rules down once body"/>
          <p:cNvSpPr txBox="1"/>
          <p:nvPr/>
        </p:nvSpPr>
        <p:spPr>
          <a:xfrm>
            <a:off x="67538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Rules in the project brief made every AI draft start compliant.</a:t>
            </a:r>
          </a:p>
        </p:txBody>
      </p:sp>
      <p:cxnSp>
        <p:nvCxnSpPr>
          <p:cNvPr id="109" name="Divider"/>
          <p:cNvCxnSpPr/>
          <p:nvPr/>
        </p:nvCxnSpPr>
        <p:spPr>
          <a:xfrm>
            <a:off x="822960" y="5806440"/>
            <a:ext cx="5427980" cy="0"/>
          </a:xfrm>
          <a:prstGeom prst="line">
            <a:avLst/>
          </a:prstGeom>
          <a:ln w="9525">
            <a:solidFill>
              <a:srgbClr val="E1E3E8"/>
            </a:solidFill>
          </a:ln>
        </p:spPr>
      </p:cxnSp>
      <p:sp>
        <p:nvSpPr>
          <p:cNvPr id="110" name="Check the live product, not the docs title"/>
          <p:cNvSpPr txBox="1"/>
          <p:nvPr/>
        </p:nvSpPr>
        <p:spPr>
          <a:xfrm>
            <a:off x="8229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Check the live product, not the docs</a:t>
            </a:r>
          </a:p>
        </p:txBody>
      </p:sp>
      <p:sp>
        <p:nvSpPr>
          <p:cNvPr id="111" name="Check the live product, not the docs body"/>
          <p:cNvSpPr txBox="1"/>
          <p:nvPr/>
        </p:nvSpPr>
        <p:spPr>
          <a:xfrm>
            <a:off x="8229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One live-site walk overturned two assumptions.</a:t>
            </a:r>
          </a:p>
        </p:txBody>
      </p:sp>
      <p:cxnSp>
        <p:nvCxnSpPr>
          <p:cNvPr id="112" name="Divider"/>
          <p:cNvCxnSpPr/>
          <p:nvPr/>
        </p:nvCxnSpPr>
        <p:spPr>
          <a:xfrm>
            <a:off x="6753860" y="5806440"/>
            <a:ext cx="5427980" cy="0"/>
          </a:xfrm>
          <a:prstGeom prst="line">
            <a:avLst/>
          </a:prstGeom>
          <a:ln w="9525">
            <a:solidFill>
              <a:srgbClr val="E1E3E8"/>
            </a:solidFill>
          </a:ln>
        </p:spPr>
      </p:cxnSp>
      <p:sp>
        <p:nvSpPr>
          <p:cNvPr id="113" name="Reconcile, don’t overwrite title"/>
          <p:cNvSpPr txBox="1"/>
          <p:nvPr/>
        </p:nvSpPr>
        <p:spPr>
          <a:xfrm>
            <a:off x="67538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Reconcile, don’t overwrite</a:t>
            </a:r>
          </a:p>
        </p:txBody>
      </p:sp>
      <p:sp>
        <p:nvSpPr>
          <p:cNvPr id="114" name="Reconcile, don’t overwrite body"/>
          <p:cNvSpPr txBox="1"/>
          <p:nvPr/>
        </p:nvSpPr>
        <p:spPr>
          <a:xfrm>
            <a:off x="67538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Teammates’ screens kept their best ideas and lost only what broke the rules.</a:t>
            </a:r>
          </a:p>
        </p:txBody>
      </p:sp>
      <p:pic>
        <p:nvPicPr>
          <p:cNvPr id="11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NEXT STEPS</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Before launch: what to validate next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Nothing has launched, so these replace post-launch learnings: the riskiest assumptions, and how to test them.</a:t>
            </a:r>
          </a:p>
        </p:txBody>
      </p:sp>
      <p:sp>
        <p:nvSpPr>
          <p:cNvPr id="104" name="Column label"/>
          <p:cNvSpPr txBox="1"/>
          <p:nvPr/>
        </p:nvSpPr>
        <p:spPr>
          <a:xfrm>
            <a:off x="822960" y="2194560"/>
            <a:ext cx="484632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RISKY ASSUMPTION</a:t>
            </a:r>
          </a:p>
        </p:txBody>
      </p:sp>
      <p:sp>
        <p:nvSpPr>
          <p:cNvPr id="105" name="Column label"/>
          <p:cNvSpPr txBox="1"/>
          <p:nvPr/>
        </p:nvSpPr>
        <p:spPr>
          <a:xfrm>
            <a:off x="5943600" y="2194560"/>
            <a:ext cx="623824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HOW WE TEST IT</a:t>
            </a:r>
          </a:p>
        </p:txBody>
      </p:sp>
      <p:cxnSp>
        <p:nvCxnSpPr>
          <p:cNvPr id="106" name="Divider"/>
          <p:cNvCxnSpPr/>
          <p:nvPr/>
        </p:nvCxnSpPr>
        <p:spPr>
          <a:xfrm>
            <a:off x="822960" y="2578608"/>
            <a:ext cx="11358880" cy="0"/>
          </a:xfrm>
          <a:prstGeom prst="line">
            <a:avLst/>
          </a:prstGeom>
          <a:ln w="9525">
            <a:solidFill>
              <a:srgbClr val="E1E3E8"/>
            </a:solidFill>
          </a:ln>
        </p:spPr>
      </p:cxnSp>
      <p:sp>
        <p:nvSpPr>
          <p:cNvPr id="107" name="Cell 1.1"/>
          <p:cNvSpPr txBox="1"/>
          <p:nvPr/>
        </p:nvSpPr>
        <p:spPr>
          <a:xfrm>
            <a:off x="822960" y="2724912"/>
            <a:ext cx="4846320" cy="9144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Will traders trust AI-detected patterns?</a:t>
            </a:r>
          </a:p>
        </p:txBody>
      </p:sp>
      <p:sp>
        <p:nvSpPr>
          <p:cNvPr id="108" name="Cell 1.2"/>
          <p:cNvSpPr txBox="1"/>
          <p:nvPr/>
        </p:nvSpPr>
        <p:spPr>
          <a:xfrm>
            <a:off x="5943600" y="2724912"/>
            <a:ext cx="6238240" cy="91440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Offline audit of 500 labeled charts; track the “not a real hammer” rate; test clear vs borderline wording.</a:t>
            </a:r>
          </a:p>
        </p:txBody>
      </p:sp>
      <p:cxnSp>
        <p:nvCxnSpPr>
          <p:cNvPr id="109" name="Divider"/>
          <p:cNvCxnSpPr/>
          <p:nvPr/>
        </p:nvCxnSpPr>
        <p:spPr>
          <a:xfrm>
            <a:off x="822960" y="3675888"/>
            <a:ext cx="11358880" cy="0"/>
          </a:xfrm>
          <a:prstGeom prst="line">
            <a:avLst/>
          </a:prstGeom>
          <a:ln w="9525">
            <a:solidFill>
              <a:srgbClr val="E1E3E8"/>
            </a:solidFill>
          </a:ln>
        </p:spPr>
      </p:cxnSp>
      <p:sp>
        <p:nvSpPr>
          <p:cNvPr id="110" name="Cell 2.1"/>
          <p:cNvSpPr txBox="1"/>
          <p:nvPr/>
        </p:nvSpPr>
        <p:spPr>
          <a:xfrm>
            <a:off x="822960" y="3822192"/>
            <a:ext cx="4846320" cy="9144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Does free AI screen-building speed up Elite or replace it?</a:t>
            </a:r>
          </a:p>
        </p:txBody>
      </p:sp>
      <p:sp>
        <p:nvSpPr>
          <p:cNvPr id="111" name="Cell 2.2"/>
          <p:cNvSpPr txBox="1"/>
          <p:nvPr/>
        </p:nvSpPr>
        <p:spPr>
          <a:xfrm>
            <a:off x="5943600" y="3822192"/>
            <a:ext cx="6238240" cy="91440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A/B the earned Elite moment (step 6) against today’s sign-up trial; measure days to Elite.</a:t>
            </a:r>
          </a:p>
        </p:txBody>
      </p:sp>
      <p:cxnSp>
        <p:nvCxnSpPr>
          <p:cNvPr id="112" name="Divider"/>
          <p:cNvCxnSpPr/>
          <p:nvPr/>
        </p:nvCxnSpPr>
        <p:spPr>
          <a:xfrm>
            <a:off x="822960" y="4773168"/>
            <a:ext cx="11358880" cy="0"/>
          </a:xfrm>
          <a:prstGeom prst="line">
            <a:avLst/>
          </a:prstGeom>
          <a:ln w="9525">
            <a:solidFill>
              <a:srgbClr val="E1E3E8"/>
            </a:solidFill>
          </a:ln>
        </p:spPr>
      </p:cxnSp>
      <p:sp>
        <p:nvSpPr>
          <p:cNvPr id="113" name="Cell 3.1"/>
          <p:cNvSpPr txBox="1"/>
          <p:nvPr/>
        </p:nvSpPr>
        <p:spPr>
          <a:xfrm>
            <a:off x="822960" y="4919472"/>
            <a:ext cx="4846320" cy="9144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Is one alert a day the right amount?</a:t>
            </a:r>
          </a:p>
        </p:txBody>
      </p:sp>
      <p:sp>
        <p:nvSpPr>
          <p:cNvPr id="114" name="Cell 3.2"/>
          <p:cNvSpPr txBox="1"/>
          <p:nvPr/>
        </p:nvSpPr>
        <p:spPr>
          <a:xfrm>
            <a:off x="5943600" y="4919472"/>
            <a:ext cx="6238240" cy="91440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2-week diary study: alert-to-action over 40%, muted under 10%.</a:t>
            </a:r>
          </a:p>
        </p:txBody>
      </p:sp>
      <p:cxnSp>
        <p:nvCxnSpPr>
          <p:cNvPr id="115" name="Divider"/>
          <p:cNvCxnSpPr/>
          <p:nvPr/>
        </p:nvCxnSpPr>
        <p:spPr>
          <a:xfrm>
            <a:off x="822960" y="5870448"/>
            <a:ext cx="11358880" cy="0"/>
          </a:xfrm>
          <a:prstGeom prst="line">
            <a:avLst/>
          </a:prstGeom>
          <a:ln w="9525">
            <a:solidFill>
              <a:srgbClr val="E1E3E8"/>
            </a:solidFill>
          </a:ln>
        </p:spPr>
      </p:cxnSp>
      <p:sp>
        <p:nvSpPr>
          <p:cNvPr id="116" name="Cell 4.1"/>
          <p:cNvSpPr txBox="1"/>
          <p:nvPr/>
        </p:nvSpPr>
        <p:spPr>
          <a:xfrm>
            <a:off x="822960" y="6016752"/>
            <a:ext cx="4846320" cy="9144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Can the overnight agent pay for itself?</a:t>
            </a:r>
          </a:p>
        </p:txBody>
      </p:sp>
      <p:sp>
        <p:nvSpPr>
          <p:cNvPr id="117" name="Cell 4.2"/>
          <p:cNvSpPr txBox="1"/>
          <p:nvPr/>
        </p:nvSpPr>
        <p:spPr>
          <a:xfrm>
            <a:off x="5943600" y="6016752"/>
            <a:ext cx="6238240" cy="91440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Cost per user per morning vs conversion lift; batch and cache by ticker.</a:t>
            </a:r>
          </a:p>
        </p:txBody>
      </p:sp>
      <p:cxnSp>
        <p:nvCxnSpPr>
          <p:cNvPr id="118" name="Divider"/>
          <p:cNvCxnSpPr/>
          <p:nvPr/>
        </p:nvCxnSpPr>
        <p:spPr>
          <a:xfrm>
            <a:off x="822960" y="6967728"/>
            <a:ext cx="11358880" cy="0"/>
          </a:xfrm>
          <a:prstGeom prst="line">
            <a:avLst/>
          </a:prstGeom>
          <a:ln w="9525">
            <a:solidFill>
              <a:srgbClr val="E1E3E8"/>
            </a:solidFill>
          </a:ln>
        </p:spPr>
      </p:cxnSp>
      <p:sp>
        <p:nvSpPr>
          <p:cNvPr id="119" name="Cell 5.1"/>
          <p:cNvSpPr txBox="1"/>
          <p:nvPr/>
        </p:nvSpPr>
        <p:spPr>
          <a:xfrm>
            <a:off x="822960" y="7114032"/>
            <a:ext cx="4846320" cy="9144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Is the advice line clear enough for compliance?</a:t>
            </a:r>
          </a:p>
        </p:txBody>
      </p:sp>
      <p:sp>
        <p:nvSpPr>
          <p:cNvPr id="120" name="Cell 5.2"/>
          <p:cNvSpPr txBox="1"/>
          <p:nvPr/>
        </p:nvSpPr>
        <p:spPr>
          <a:xfrm>
            <a:off x="5943600" y="7114032"/>
            <a:ext cx="6238240" cy="91440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Legal review of every AI string; attributed views stay behind a flag until cleared.</a:t>
            </a:r>
          </a:p>
        </p:txBody>
      </p:sp>
      <p:cxnSp>
        <p:nvCxnSpPr>
          <p:cNvPr id="121" name="Divider"/>
          <p:cNvCxnSpPr/>
          <p:nvPr/>
        </p:nvCxnSpPr>
        <p:spPr>
          <a:xfrm>
            <a:off x="822960" y="8065008"/>
            <a:ext cx="11358880" cy="0"/>
          </a:xfrm>
          <a:prstGeom prst="line">
            <a:avLst/>
          </a:prstGeom>
          <a:ln w="9525">
            <a:solidFill>
              <a:srgbClr val="E1E3E8"/>
            </a:solidFill>
          </a:ln>
        </p:spPr>
      </p:cxnSp>
      <p:pic>
        <p:nvPicPr>
          <p:cNvPr id="122"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FINVIZ AI SCREENER · NEXT</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Point and say: a watch without a form</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Lo-fi concept (PS1). Gary points at the line he drew and says what to watch.</a:t>
            </a:r>
          </a:p>
        </p:txBody>
      </p:sp>
      <p:pic>
        <p:nvPicPr>
          <p:cNvPr id="104" name="Picture 5" descr="image.png"/>
          <p:cNvPicPr>
            <a:picLocks noChangeAspect="1"/>
          </p:cNvPicPr>
          <p:nvPr/>
        </p:nvPicPr>
        <p:blipFill>
          <a:blip r:embed="rId2"/>
          <a:stretch>
            <a:fillRect/>
          </a:stretch>
        </p:blipFill>
        <p:spPr>
          <a:xfrm>
            <a:off x="2251388" y="2103120"/>
            <a:ext cx="8499991" cy="5029200"/>
          </a:xfrm>
          <a:prstGeom prst="rect">
            <a:avLst/>
          </a:prstGeom>
          <a:ln w="9525">
            <a:solidFill>
              <a:srgbClr val="D3D6DC"/>
            </a:solidFill>
          </a:ln>
        </p:spPr>
      </p:pic>
      <p:cxnSp>
        <p:nvCxnSpPr>
          <p:cNvPr id="105" name="Divider"/>
          <p:cNvCxnSpPr/>
          <p:nvPr/>
        </p:nvCxnSpPr>
        <p:spPr>
          <a:xfrm>
            <a:off x="822960" y="7360920"/>
            <a:ext cx="11358880" cy="0"/>
          </a:xfrm>
          <a:prstGeom prst="line">
            <a:avLst/>
          </a:prstGeom>
          <a:ln w="9525">
            <a:solidFill>
              <a:srgbClr val="E1E3E8"/>
            </a:solidFill>
          </a:ln>
        </p:spPr>
      </p:cxnSp>
      <p:sp>
        <p:nvSpPr>
          <p:cNvPr id="106" name="Callout label"/>
          <p:cNvSpPr txBox="1"/>
          <p:nvPr/>
        </p:nvSpPr>
        <p:spPr>
          <a:xfrm>
            <a:off x="822960" y="749808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WHY IT’S NEW</a:t>
            </a:r>
          </a:p>
        </p:txBody>
      </p:sp>
      <p:sp>
        <p:nvSpPr>
          <p:cNvPr id="107" name="Callout 1"/>
          <p:cNvSpPr txBox="1"/>
          <p:nvPr/>
        </p:nvSpPr>
        <p:spPr>
          <a:xfrm>
            <a:off x="822960"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Pointer + voice + screen become one editable rule; no alert form</a:t>
            </a:r>
          </a:p>
        </p:txBody>
      </p:sp>
      <p:sp>
        <p:nvSpPr>
          <p:cNvPr id="108" name="Callout 2"/>
          <p:cNvSpPr txBox="1"/>
          <p:nvPr/>
        </p:nvSpPr>
        <p:spPr>
          <a:xfrm>
            <a:off x="4731173"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Vague words shown as read; one question where it matters</a:t>
            </a:r>
          </a:p>
        </p:txBody>
      </p:sp>
      <p:sp>
        <p:nvSpPr>
          <p:cNvPr id="109" name="Callout 3"/>
          <p:cNvSpPr txBox="1"/>
          <p:nvPr/>
        </p:nvSpPr>
        <p:spPr>
          <a:xfrm>
            <a:off x="8639386" y="7799832"/>
            <a:ext cx="3542453" cy="685800"/>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14161D"/>
                </a:solidFill>
                <a:latin typeface="Helvetica Neue Light"/>
                <a:cs typeface="Helvetica Neue Light"/>
              </a:rPr>
              <a:t>Previewed on 30 days before saving; voice off by default</a:t>
            </a:r>
          </a:p>
        </p:txBody>
      </p:sp>
      <p:pic>
        <p:nvPicPr>
          <p:cNvPr id="11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822960"/>
            <a:ext cx="548640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CASE STUDY 03 · ENTERPRISE · DELIVERED</a:t>
            </a:r>
          </a:p>
        </p:txBody>
      </p:sp>
      <p:sp>
        <p:nvSpPr>
          <p:cNvPr id="102" name="Company"/>
          <p:cNvSpPr txBox="1"/>
          <p:nvPr/>
        </p:nvSpPr>
        <p:spPr>
          <a:xfrm>
            <a:off x="822960" y="1234440"/>
            <a:ext cx="5486400" cy="914400"/>
          </a:xfrm>
          <a:prstGeom prst="rect">
            <a:avLst/>
          </a:prstGeom>
          <a:noFill/>
        </p:spPr>
        <p:txBody>
          <a:bodyPr wrap="square" lIns="0" tIns="0" rIns="0" bIns="0" anchor="t">
            <a:noAutofit/>
          </a:bodyPr>
          <a:lstStyle/>
          <a:p>
            <a:pPr algn="l">
              <a:lnSpc>
                <a:spcPct val="90000"/>
              </a:lnSpc>
              <a:spcAft>
                <a:spcPts val="300"/>
              </a:spcAft>
            </a:pPr>
            <a:r>
              <a:rPr lang="en-US" sz="5400" spc="-40" dirty="0">
                <a:solidFill>
                  <a:srgbClr val="F5F5F7"/>
                </a:solidFill>
                <a:latin typeface="Helvetica Neue Medium"/>
                <a:cs typeface="Helvetica Neue Medium"/>
              </a:rPr>
              <a:t>Credit Suisse</a:t>
            </a:r>
          </a:p>
        </p:txBody>
      </p:sp>
      <p:sp>
        <p:nvSpPr>
          <p:cNvPr id="103" name="Project"/>
          <p:cNvSpPr txBox="1"/>
          <p:nvPr/>
        </p:nvSpPr>
        <p:spPr>
          <a:xfrm>
            <a:off x="822960" y="2240280"/>
            <a:ext cx="5486400" cy="548640"/>
          </a:xfrm>
          <a:prstGeom prst="rect">
            <a:avLst/>
          </a:prstGeom>
          <a:noFill/>
        </p:spPr>
        <p:txBody>
          <a:bodyPr wrap="square" lIns="0" tIns="0" rIns="0" bIns="0" anchor="t">
            <a:noAutofit/>
          </a:bodyPr>
          <a:lstStyle/>
          <a:p>
            <a:pPr algn="l">
              <a:lnSpc>
                <a:spcPct val="115000"/>
              </a:lnSpc>
              <a:spcAft>
                <a:spcPts val="300"/>
              </a:spcAft>
            </a:pPr>
            <a:r>
              <a:rPr lang="en-US" sz="2600" spc="0" dirty="0">
                <a:solidFill>
                  <a:srgbClr val="E98C64"/>
                </a:solidFill>
                <a:latin typeface="Helvetica Neue Medium"/>
                <a:cs typeface="Helvetica Neue Medium"/>
              </a:rPr>
              <a:t>Outside Business Interests (OBI)</a:t>
            </a:r>
          </a:p>
        </p:txBody>
      </p:sp>
      <p:sp>
        <p:nvSpPr>
          <p:cNvPr id="104" name="Hook"/>
          <p:cNvSpPr txBox="1"/>
          <p:nvPr/>
        </p:nvSpPr>
        <p:spPr>
          <a:xfrm>
            <a:off x="822960" y="2926080"/>
            <a:ext cx="5486400" cy="128016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Saving money by reducing friction, educating employees and removing risk from pre-clearance for outside activities.</a:t>
            </a:r>
          </a:p>
        </p:txBody>
      </p:sp>
      <p:cxnSp>
        <p:nvCxnSpPr>
          <p:cNvPr id="105" name="Divider"/>
          <p:cNvCxnSpPr/>
          <p:nvPr/>
        </p:nvCxnSpPr>
        <p:spPr>
          <a:xfrm>
            <a:off x="822960" y="4343400"/>
            <a:ext cx="5486400" cy="0"/>
          </a:xfrm>
          <a:prstGeom prst="line">
            <a:avLst/>
          </a:prstGeom>
          <a:ln w="9525">
            <a:solidFill>
              <a:srgbClr val="2C2F38"/>
            </a:solidFill>
          </a:ln>
        </p:spPr>
      </p:cxnSp>
      <p:sp>
        <p:nvSpPr>
          <p:cNvPr id="106" name="ROLE"/>
          <p:cNvSpPr txBox="1"/>
          <p:nvPr/>
        </p:nvSpPr>
        <p:spPr>
          <a:xfrm>
            <a:off x="822960" y="4471416"/>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ROLE</a:t>
            </a:r>
          </a:p>
        </p:txBody>
      </p:sp>
      <p:sp>
        <p:nvSpPr>
          <p:cNvPr id="107" name="ROLE value"/>
          <p:cNvSpPr txBox="1"/>
          <p:nvPr/>
        </p:nvSpPr>
        <p:spPr>
          <a:xfrm>
            <a:off x="2148840" y="4443984"/>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Led the project team</a:t>
            </a:r>
          </a:p>
        </p:txBody>
      </p:sp>
      <p:cxnSp>
        <p:nvCxnSpPr>
          <p:cNvPr id="108" name="Divider"/>
          <p:cNvCxnSpPr/>
          <p:nvPr/>
        </p:nvCxnSpPr>
        <p:spPr>
          <a:xfrm>
            <a:off x="822960" y="5056632"/>
            <a:ext cx="5486400" cy="0"/>
          </a:xfrm>
          <a:prstGeom prst="line">
            <a:avLst/>
          </a:prstGeom>
          <a:ln w="9525">
            <a:solidFill>
              <a:srgbClr val="2C2F38"/>
            </a:solidFill>
          </a:ln>
        </p:spPr>
      </p:cxnSp>
      <p:sp>
        <p:nvSpPr>
          <p:cNvPr id="109" name="TEAM"/>
          <p:cNvSpPr txBox="1"/>
          <p:nvPr/>
        </p:nvSpPr>
        <p:spPr>
          <a:xfrm>
            <a:off x="822960" y="5184648"/>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TEAM</a:t>
            </a:r>
          </a:p>
        </p:txBody>
      </p:sp>
      <p:sp>
        <p:nvSpPr>
          <p:cNvPr id="110" name="TEAM value"/>
          <p:cNvSpPr txBox="1"/>
          <p:nvPr/>
        </p:nvSpPr>
        <p:spPr>
          <a:xfrm>
            <a:off x="2148840" y="5157216"/>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2 UX designers and a content designer</a:t>
            </a:r>
          </a:p>
        </p:txBody>
      </p:sp>
      <p:cxnSp>
        <p:nvCxnSpPr>
          <p:cNvPr id="111" name="Divider"/>
          <p:cNvCxnSpPr/>
          <p:nvPr/>
        </p:nvCxnSpPr>
        <p:spPr>
          <a:xfrm>
            <a:off x="822960" y="5769864"/>
            <a:ext cx="5486400" cy="0"/>
          </a:xfrm>
          <a:prstGeom prst="line">
            <a:avLst/>
          </a:prstGeom>
          <a:ln w="9525">
            <a:solidFill>
              <a:srgbClr val="2C2F38"/>
            </a:solidFill>
          </a:ln>
        </p:spPr>
      </p:cxnSp>
      <p:sp>
        <p:nvSpPr>
          <p:cNvPr id="112" name="SCOPE"/>
          <p:cNvSpPr txBox="1"/>
          <p:nvPr/>
        </p:nvSpPr>
        <p:spPr>
          <a:xfrm>
            <a:off x="822960" y="5897880"/>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SCOPE</a:t>
            </a:r>
          </a:p>
        </p:txBody>
      </p:sp>
      <p:sp>
        <p:nvSpPr>
          <p:cNvPr id="113" name="SCOPE value"/>
          <p:cNvSpPr txBox="1"/>
          <p:nvPr/>
        </p:nvSpPr>
        <p:spPr>
          <a:xfrm>
            <a:off x="2148840" y="5870448"/>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Discovery to delivery: 33 Agile sprints, usability testing every week</a:t>
            </a:r>
          </a:p>
        </p:txBody>
      </p:sp>
      <p:cxnSp>
        <p:nvCxnSpPr>
          <p:cNvPr id="114" name="Divider"/>
          <p:cNvCxnSpPr/>
          <p:nvPr/>
        </p:nvCxnSpPr>
        <p:spPr>
          <a:xfrm>
            <a:off x="822960" y="6483096"/>
            <a:ext cx="5486400" cy="0"/>
          </a:xfrm>
          <a:prstGeom prst="line">
            <a:avLst/>
          </a:prstGeom>
          <a:ln w="9525">
            <a:solidFill>
              <a:srgbClr val="2C2F38"/>
            </a:solidFill>
          </a:ln>
        </p:spPr>
      </p:cxnSp>
      <p:sp>
        <p:nvSpPr>
          <p:cNvPr id="115" name="USERS"/>
          <p:cNvSpPr txBox="1"/>
          <p:nvPr/>
        </p:nvSpPr>
        <p:spPr>
          <a:xfrm>
            <a:off x="822960" y="6611112"/>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USERS</a:t>
            </a:r>
          </a:p>
        </p:txBody>
      </p:sp>
      <p:sp>
        <p:nvSpPr>
          <p:cNvPr id="116" name="USERS value"/>
          <p:cNvSpPr txBox="1"/>
          <p:nvPr/>
        </p:nvSpPr>
        <p:spPr>
          <a:xfrm>
            <a:off x="2148840" y="6583680"/>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All employees and managers, reviewers, and Risk &amp; Compliance managers</a:t>
            </a:r>
          </a:p>
        </p:txBody>
      </p:sp>
      <p:cxnSp>
        <p:nvCxnSpPr>
          <p:cNvPr id="117" name="Divider"/>
          <p:cNvCxnSpPr/>
          <p:nvPr/>
        </p:nvCxnSpPr>
        <p:spPr>
          <a:xfrm>
            <a:off x="822960" y="7196328"/>
            <a:ext cx="5486400" cy="0"/>
          </a:xfrm>
          <a:prstGeom prst="line">
            <a:avLst/>
          </a:prstGeom>
          <a:ln w="9525">
            <a:solidFill>
              <a:srgbClr val="2C2F38"/>
            </a:solidFill>
          </a:ln>
        </p:spPr>
      </p:cxnSp>
      <p:sp>
        <p:nvSpPr>
          <p:cNvPr id="118" name="Quote"/>
          <p:cNvSpPr txBox="1"/>
          <p:nvPr/>
        </p:nvSpPr>
        <p:spPr>
          <a:xfrm>
            <a:off x="822960" y="7516368"/>
            <a:ext cx="5486400" cy="1188720"/>
          </a:xfrm>
          <a:prstGeom prst="rect">
            <a:avLst/>
          </a:prstGeom>
          <a:noFill/>
        </p:spPr>
        <p:txBody>
          <a:bodyPr wrap="square" lIns="0" tIns="0" rIns="0" bIns="0" anchor="t">
            <a:noAutofit/>
          </a:bodyPr>
          <a:lstStyle/>
          <a:p>
            <a:pPr algn="l">
              <a:lnSpc>
                <a:spcPct val="115000"/>
              </a:lnSpc>
              <a:spcAft>
                <a:spcPts val="300"/>
              </a:spcAft>
            </a:pPr>
            <a:r>
              <a:rPr lang="en-US" sz="1500" spc="0" dirty="0">
                <a:solidFill>
                  <a:srgbClr val="F5F5F7"/>
                </a:solidFill>
                <a:latin typeface="Helvetica Neue Light"/>
                <a:cs typeface="Helvetica Neue Light"/>
              </a:rPr>
              <a:t>“It’s too limited in its functionality to be of use for an Approver. Too much time is wasted trying to do more complex tasks.”</a:t>
            </a:r>
          </a:p>
        </p:txBody>
      </p:sp>
      <p:pic>
        <p:nvPicPr>
          <p:cNvPr id="119" name="Picture 1" descr="image.png"/>
          <p:cNvPicPr>
            <a:picLocks noChangeAspect="1"/>
          </p:cNvPicPr>
          <p:nvPr/>
        </p:nvPicPr>
        <p:blipFill>
          <a:blip r:embed="rId2"/>
          <a:stretch>
            <a:fillRect/>
          </a:stretch>
        </p:blipFill>
        <p:spPr>
          <a:xfrm>
            <a:off x="6720840" y="2170237"/>
            <a:ext cx="5458968" cy="4620645"/>
          </a:xfrm>
          <a:prstGeom prst="rect">
            <a:avLst/>
          </a:prstGeom>
          <a:ln w="9525">
            <a:solidFill>
              <a:srgbClr val="3A3E49"/>
            </a:solidFill>
          </a:ln>
        </p:spPr>
      </p:pic>
      <p:pic>
        <p:nvPicPr>
          <p:cNvPr id="12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INTRODUCTION</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A browser-based tool that gives employees </a:t>
            </a:r>
            <a:r>
              <a:rPr lang="en-US" sz="3600" spc="-40" dirty="0">
                <a:solidFill>
                  <a:srgbClr val="B5531F"/>
                </a:solidFill>
                <a:latin typeface="Helvetica Neue Medium"/>
                <a:cs typeface="Helvetica Neue Medium"/>
              </a:rPr>
              <a:t>pre-clearance for outside activities</a:t>
            </a:r>
            <a:r>
              <a:rPr lang="en-US" sz="3600" spc="-40" dirty="0">
                <a:solidFill>
                  <a:srgbClr val="14161D"/>
                </a:solidFill>
                <a:latin typeface="Helvetica Neue Medium"/>
                <a:cs typeface="Helvetica Neue Medium"/>
              </a:rPr>
              <a:t>, reviewed by two lines of defense.</a:t>
            </a:r>
          </a:p>
        </p:txBody>
      </p:sp>
      <p:sp>
        <p:nvSpPr>
          <p:cNvPr id="103" name="Audience"/>
          <p:cNvSpPr txBox="1"/>
          <p:nvPr/>
        </p:nvSpPr>
        <p:spPr>
          <a:xfrm>
            <a:off x="822960" y="3611880"/>
            <a:ext cx="3511973" cy="420624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TARGET AUDIENCE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Risk and Compliance managers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All Credit Suisse employees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All Credit Suisse managers</a:t>
            </a:r>
          </a:p>
        </p:txBody>
      </p:sp>
      <p:sp>
        <p:nvSpPr>
          <p:cNvPr id="104" name="Problems"/>
          <p:cNvSpPr txBox="1"/>
          <p:nvPr/>
        </p:nvSpPr>
        <p:spPr>
          <a:xfrm>
            <a:off x="4746413"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THE PROBLEMS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Submission status tracking isn’t clear</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Lines of responsibility aren’t transparent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No reporting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Navigation is hard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People don’t know why and when to submit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No mobile access for Risk &amp; Compliance managers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confusing submission process, with no education</a:t>
            </a:r>
          </a:p>
        </p:txBody>
      </p:sp>
      <p:sp>
        <p:nvSpPr>
          <p:cNvPr id="105" name="Team"/>
          <p:cNvSpPr txBox="1"/>
          <p:nvPr/>
        </p:nvSpPr>
        <p:spPr>
          <a:xfrm>
            <a:off x="8669866"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TEAM AND MY PART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led a project team of 2 UX designers and a content designer</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managed discovery, including research, strategy and hands-on design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led every deliverable in Sketch and Figma, with Lean UX and usability testing, and presented to the client and stakeholders</a:t>
            </a:r>
          </a:p>
        </p:txBody>
      </p:sp>
      <p:pic>
        <p:nvPicPr>
          <p:cNvPr id="106"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DISCOVERY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Where we started: the original application</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The tool employees used to request pre-clearance before the redesign.</a:t>
            </a:r>
          </a:p>
        </p:txBody>
      </p:sp>
      <p:pic>
        <p:nvPicPr>
          <p:cNvPr id="104" name="Background" descr="image.png"/>
          <p:cNvPicPr>
            <a:picLocks noChangeAspect="1"/>
          </p:cNvPicPr>
          <p:nvPr/>
        </p:nvPicPr>
        <p:blipFill>
          <a:blip r:embed="rId2"/>
          <a:srcRect l="4000" t="15000" r="4000" b="34500"/>
          <a:stretch>
            <a:fillRect/>
          </a:stretch>
        </p:blipFill>
        <p:spPr>
          <a:xfrm>
            <a:off x="822960" y="2828639"/>
            <a:ext cx="11356848" cy="4675441"/>
          </a:xfrm>
          <a:prstGeom prst="rect">
            <a:avLst/>
          </a:prstGeom>
          <a:ln w="9525">
            <a:solidFill>
              <a:srgbClr val="D3D6DC"/>
            </a:solidFill>
          </a:ln>
        </p:spPr>
      </p:pic>
      <p:pic>
        <p:nvPicPr>
          <p:cNvPr id="10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WHY REDESIGN</a:t>
            </a:r>
          </a:p>
        </p:txBody>
      </p:sp>
      <p:sp>
        <p:nvSpPr>
          <p:cNvPr id="102" name="Headline"/>
          <p:cNvSpPr txBox="1"/>
          <p:nvPr/>
        </p:nvSpPr>
        <p:spPr>
          <a:xfrm>
            <a:off x="822960" y="1371600"/>
            <a:ext cx="11358880" cy="9144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Why redesign </a:t>
            </a:r>
            <a:r>
              <a:rPr lang="en-US" sz="4000" spc="-40" dirty="0">
                <a:solidFill>
                  <a:srgbClr val="B5531F"/>
                </a:solidFill>
                <a:latin typeface="Helvetica Neue Medium"/>
                <a:cs typeface="Helvetica Neue Medium"/>
              </a:rPr>
              <a:t>OBI</a:t>
            </a:r>
            <a:r>
              <a:rPr lang="en-US" sz="4000" spc="-40" dirty="0">
                <a:solidFill>
                  <a:srgbClr val="14161D"/>
                </a:solidFill>
                <a:latin typeface="Helvetica Neue Medium"/>
                <a:cs typeface="Helvetica Neue Medium"/>
              </a:rPr>
              <a:t>?</a:t>
            </a:r>
          </a:p>
        </p:txBody>
      </p:sp>
      <p:sp>
        <p:nvSpPr>
          <p:cNvPr id="3017" name="Tile"/>
          <p:cNvSpPr/>
          <p:nvPr/>
        </p:nvSpPr>
        <p:spPr>
          <a:xfrm>
            <a:off x="822960" y="2606040"/>
            <a:ext cx="3840480" cy="5623560"/>
          </a:xfrm>
          <a:prstGeom prst="roundRect">
            <a:avLst>
              <a:gd name="adj" fmla="val 3333"/>
            </a:avLst>
          </a:prstGeom>
          <a:solidFill>
            <a:srgbClr val="B5531F"/>
          </a:solidFill>
          <a:ln>
            <a:noFill/>
          </a:ln>
        </p:spPr>
        <p:txBody>
          <a:bodyPr/>
          <a:lstStyle/>
          <a:p>
            <a:endParaRPr lang="en-US"/>
          </a:p>
        </p:txBody>
      </p:sp>
      <p:sp>
        <p:nvSpPr>
          <p:cNvPr id="103" name="Number"/>
          <p:cNvSpPr txBox="1"/>
          <p:nvPr/>
        </p:nvSpPr>
        <p:spPr>
          <a:xfrm>
            <a:off x="1097280" y="2807208"/>
            <a:ext cx="3291840" cy="1733550"/>
          </a:xfrm>
          <a:prstGeom prst="rect">
            <a:avLst/>
          </a:prstGeom>
          <a:noFill/>
        </p:spPr>
        <p:txBody>
          <a:bodyPr wrap="square" lIns="0" tIns="0" rIns="0" bIns="0" anchor="t">
            <a:noAutofit/>
          </a:bodyPr>
          <a:lstStyle/>
          <a:p>
            <a:pPr algn="l">
              <a:lnSpc>
                <a:spcPct val="88000"/>
              </a:lnSpc>
              <a:spcAft>
                <a:spcPts val="300"/>
              </a:spcAft>
            </a:pPr>
            <a:r>
              <a:rPr lang="en-US" sz="13000" spc="-60" dirty="0">
                <a:solidFill>
                  <a:srgbClr val="FFFFFF"/>
                </a:solidFill>
                <a:latin typeface="Helvetica Neue Medium"/>
                <a:cs typeface="Helvetica Neue Medium"/>
              </a:rPr>
              <a:t>475</a:t>
            </a:r>
          </a:p>
        </p:txBody>
      </p:sp>
      <p:sp>
        <p:nvSpPr>
          <p:cNvPr id="104" name="Label"/>
          <p:cNvSpPr txBox="1"/>
          <p:nvPr/>
        </p:nvSpPr>
        <p:spPr>
          <a:xfrm>
            <a:off x="1097280" y="4613910"/>
            <a:ext cx="3291840" cy="914400"/>
          </a:xfrm>
          <a:prstGeom prst="rect">
            <a:avLst/>
          </a:prstGeom>
          <a:noFill/>
        </p:spPr>
        <p:txBody>
          <a:bodyPr wrap="square" lIns="0" tIns="0" rIns="0" bIns="0" anchor="t">
            <a:noAutofit/>
          </a:bodyPr>
          <a:lstStyle/>
          <a:p>
            <a:pPr algn="l">
              <a:lnSpc>
                <a:spcPct val="115000"/>
              </a:lnSpc>
              <a:spcAft>
                <a:spcPts val="300"/>
              </a:spcAft>
            </a:pPr>
            <a:r>
              <a:rPr lang="en-US" sz="1600" spc="0" dirty="0">
                <a:solidFill>
                  <a:srgbClr val="FBE3D8"/>
                </a:solidFill>
                <a:latin typeface="Helvetica Neue Light"/>
                <a:cs typeface="Helvetica Neue Light"/>
              </a:rPr>
              <a:t>returned submissions missing required information, every year</a:t>
            </a:r>
          </a:p>
        </p:txBody>
      </p:sp>
      <p:sp>
        <p:nvSpPr>
          <p:cNvPr id="3018" name="Tile"/>
          <p:cNvSpPr/>
          <p:nvPr/>
        </p:nvSpPr>
        <p:spPr>
          <a:xfrm>
            <a:off x="4846320" y="2606040"/>
            <a:ext cx="3575303" cy="2743200"/>
          </a:xfrm>
          <a:prstGeom prst="roundRect">
            <a:avLst>
              <a:gd name="adj" fmla="val 4666"/>
            </a:avLst>
          </a:prstGeom>
          <a:solidFill>
            <a:srgbClr val="1B1D24"/>
          </a:solidFill>
          <a:ln>
            <a:noFill/>
          </a:ln>
        </p:spPr>
        <p:txBody>
          <a:bodyPr/>
          <a:lstStyle/>
          <a:p>
            <a:endParaRPr lang="en-US"/>
          </a:p>
        </p:txBody>
      </p:sp>
      <p:sp>
        <p:nvSpPr>
          <p:cNvPr id="105" name="Number"/>
          <p:cNvSpPr txBox="1"/>
          <p:nvPr/>
        </p:nvSpPr>
        <p:spPr>
          <a:xfrm>
            <a:off x="5120640" y="2807208"/>
            <a:ext cx="3026663" cy="880110"/>
          </a:xfrm>
          <a:prstGeom prst="rect">
            <a:avLst/>
          </a:prstGeom>
          <a:noFill/>
        </p:spPr>
        <p:txBody>
          <a:bodyPr wrap="square" lIns="0" tIns="0" rIns="0" bIns="0" anchor="t">
            <a:noAutofit/>
          </a:bodyPr>
          <a:lstStyle/>
          <a:p>
            <a:pPr algn="l">
              <a:lnSpc>
                <a:spcPct val="88000"/>
              </a:lnSpc>
              <a:spcAft>
                <a:spcPts val="300"/>
              </a:spcAft>
            </a:pPr>
            <a:r>
              <a:rPr lang="en-US" sz="6600" spc="-60" dirty="0">
                <a:solidFill>
                  <a:srgbClr val="F5F5F7"/>
                </a:solidFill>
                <a:latin typeface="Helvetica Neue Medium"/>
                <a:cs typeface="Helvetica Neue Medium"/>
              </a:rPr>
              <a:t>22 min</a:t>
            </a:r>
          </a:p>
        </p:txBody>
      </p:sp>
      <p:sp>
        <p:nvSpPr>
          <p:cNvPr id="106" name="Label"/>
          <p:cNvSpPr txBox="1"/>
          <p:nvPr/>
        </p:nvSpPr>
        <p:spPr>
          <a:xfrm>
            <a:off x="5120640" y="3760470"/>
            <a:ext cx="3026663"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average time employees need to resubmit</a:t>
            </a:r>
          </a:p>
        </p:txBody>
      </p:sp>
      <p:sp>
        <p:nvSpPr>
          <p:cNvPr id="3019" name="Tile"/>
          <p:cNvSpPr/>
          <p:nvPr/>
        </p:nvSpPr>
        <p:spPr>
          <a:xfrm>
            <a:off x="8604503" y="2606040"/>
            <a:ext cx="3575303" cy="2743200"/>
          </a:xfrm>
          <a:prstGeom prst="roundRect">
            <a:avLst>
              <a:gd name="adj" fmla="val 4666"/>
            </a:avLst>
          </a:prstGeom>
          <a:solidFill>
            <a:srgbClr val="F1F2F5"/>
          </a:solidFill>
          <a:ln>
            <a:noFill/>
          </a:ln>
        </p:spPr>
        <p:txBody>
          <a:bodyPr/>
          <a:lstStyle/>
          <a:p>
            <a:endParaRPr lang="en-US"/>
          </a:p>
        </p:txBody>
      </p:sp>
      <p:sp>
        <p:nvSpPr>
          <p:cNvPr id="107" name="Number"/>
          <p:cNvSpPr txBox="1"/>
          <p:nvPr/>
        </p:nvSpPr>
        <p:spPr>
          <a:xfrm>
            <a:off x="8878823" y="2807208"/>
            <a:ext cx="3026663" cy="880110"/>
          </a:xfrm>
          <a:prstGeom prst="rect">
            <a:avLst/>
          </a:prstGeom>
          <a:noFill/>
        </p:spPr>
        <p:txBody>
          <a:bodyPr wrap="square" lIns="0" tIns="0" rIns="0" bIns="0" anchor="t">
            <a:noAutofit/>
          </a:bodyPr>
          <a:lstStyle/>
          <a:p>
            <a:pPr algn="l">
              <a:lnSpc>
                <a:spcPct val="88000"/>
              </a:lnSpc>
              <a:spcAft>
                <a:spcPts val="300"/>
              </a:spcAft>
            </a:pPr>
            <a:r>
              <a:rPr lang="en-US" sz="6600" spc="-60" dirty="0">
                <a:solidFill>
                  <a:srgbClr val="14161D"/>
                </a:solidFill>
                <a:latin typeface="Helvetica Neue Medium"/>
                <a:cs typeface="Helvetica Neue Medium"/>
              </a:rPr>
              <a:t>58%</a:t>
            </a:r>
          </a:p>
        </p:txBody>
      </p:sp>
      <p:sp>
        <p:nvSpPr>
          <p:cNvPr id="108" name="Label"/>
          <p:cNvSpPr txBox="1"/>
          <p:nvPr/>
        </p:nvSpPr>
        <p:spPr>
          <a:xfrm>
            <a:off x="8878823" y="3760470"/>
            <a:ext cx="3026663"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565C6B"/>
                </a:solidFill>
                <a:latin typeface="Helvetica Neue Light"/>
                <a:cs typeface="Helvetica Neue Light"/>
              </a:rPr>
              <a:t>approval rating from Risk &amp; Compliance managers</a:t>
            </a:r>
          </a:p>
        </p:txBody>
      </p:sp>
      <p:sp>
        <p:nvSpPr>
          <p:cNvPr id="3020" name="Tile"/>
          <p:cNvSpPr/>
          <p:nvPr/>
        </p:nvSpPr>
        <p:spPr>
          <a:xfrm>
            <a:off x="8878823" y="4965192"/>
            <a:ext cx="3026663" cy="100584"/>
          </a:xfrm>
          <a:prstGeom prst="roundRect">
            <a:avLst>
              <a:gd name="adj" fmla="val 45454"/>
            </a:avLst>
          </a:prstGeom>
          <a:solidFill>
            <a:srgbClr val="DDE0E6"/>
          </a:solidFill>
          <a:ln>
            <a:noFill/>
          </a:ln>
        </p:spPr>
        <p:txBody>
          <a:bodyPr/>
          <a:lstStyle/>
          <a:p>
            <a:endParaRPr lang="en-US"/>
          </a:p>
        </p:txBody>
      </p:sp>
      <p:sp>
        <p:nvSpPr>
          <p:cNvPr id="3021" name="Tile"/>
          <p:cNvSpPr/>
          <p:nvPr/>
        </p:nvSpPr>
        <p:spPr>
          <a:xfrm>
            <a:off x="8878823" y="4965192"/>
            <a:ext cx="1755465" cy="100584"/>
          </a:xfrm>
          <a:prstGeom prst="roundRect">
            <a:avLst>
              <a:gd name="adj" fmla="val 45454"/>
            </a:avLst>
          </a:prstGeom>
          <a:solidFill>
            <a:srgbClr val="FF6600"/>
          </a:solidFill>
          <a:ln>
            <a:noFill/>
          </a:ln>
        </p:spPr>
        <p:txBody>
          <a:bodyPr/>
          <a:lstStyle/>
          <a:p>
            <a:endParaRPr lang="en-US"/>
          </a:p>
        </p:txBody>
      </p:sp>
      <p:sp>
        <p:nvSpPr>
          <p:cNvPr id="3022" name="Tile"/>
          <p:cNvSpPr/>
          <p:nvPr/>
        </p:nvSpPr>
        <p:spPr>
          <a:xfrm>
            <a:off x="4846320" y="5532120"/>
            <a:ext cx="2322575" cy="2697480"/>
          </a:xfrm>
          <a:prstGeom prst="roundRect">
            <a:avLst>
              <a:gd name="adj" fmla="val 5511"/>
            </a:avLst>
          </a:prstGeom>
          <a:solidFill>
            <a:srgbClr val="1B1D24"/>
          </a:solidFill>
          <a:ln>
            <a:noFill/>
          </a:ln>
        </p:spPr>
        <p:txBody>
          <a:bodyPr/>
          <a:lstStyle/>
          <a:p>
            <a:endParaRPr lang="en-US"/>
          </a:p>
        </p:txBody>
      </p:sp>
      <p:sp>
        <p:nvSpPr>
          <p:cNvPr id="109" name="Number"/>
          <p:cNvSpPr txBox="1"/>
          <p:nvPr/>
        </p:nvSpPr>
        <p:spPr>
          <a:xfrm>
            <a:off x="5120640" y="5733288"/>
            <a:ext cx="1773935" cy="666750"/>
          </a:xfrm>
          <a:prstGeom prst="rect">
            <a:avLst/>
          </a:prstGeom>
          <a:noFill/>
        </p:spPr>
        <p:txBody>
          <a:bodyPr wrap="square" lIns="0" tIns="0" rIns="0" bIns="0" anchor="t">
            <a:noAutofit/>
          </a:bodyPr>
          <a:lstStyle/>
          <a:p>
            <a:pPr algn="l">
              <a:lnSpc>
                <a:spcPct val="88000"/>
              </a:lnSpc>
              <a:spcAft>
                <a:spcPts val="300"/>
              </a:spcAft>
            </a:pPr>
            <a:r>
              <a:rPr lang="en-US" sz="5000" spc="-60" dirty="0">
                <a:solidFill>
                  <a:srgbClr val="F5F5F7"/>
                </a:solidFill>
                <a:latin typeface="Helvetica Neue Medium"/>
                <a:cs typeface="Helvetica Neue Medium"/>
              </a:rPr>
              <a:t>5.4%</a:t>
            </a:r>
          </a:p>
        </p:txBody>
      </p:sp>
      <p:sp>
        <p:nvSpPr>
          <p:cNvPr id="110" name="Label"/>
          <p:cNvSpPr txBox="1"/>
          <p:nvPr/>
        </p:nvSpPr>
        <p:spPr>
          <a:xfrm>
            <a:off x="5120640" y="6473190"/>
            <a:ext cx="1773935"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drop-off on Outside Business Activities forms</a:t>
            </a:r>
          </a:p>
        </p:txBody>
      </p:sp>
      <p:sp>
        <p:nvSpPr>
          <p:cNvPr id="3023" name="Tile"/>
          <p:cNvSpPr/>
          <p:nvPr/>
        </p:nvSpPr>
        <p:spPr>
          <a:xfrm>
            <a:off x="7351775" y="5532120"/>
            <a:ext cx="2322575" cy="2697480"/>
          </a:xfrm>
          <a:prstGeom prst="roundRect">
            <a:avLst>
              <a:gd name="adj" fmla="val 5511"/>
            </a:avLst>
          </a:prstGeom>
          <a:solidFill>
            <a:srgbClr val="1B1D24"/>
          </a:solidFill>
          <a:ln>
            <a:noFill/>
          </a:ln>
        </p:spPr>
        <p:txBody>
          <a:bodyPr/>
          <a:lstStyle/>
          <a:p>
            <a:endParaRPr lang="en-US"/>
          </a:p>
        </p:txBody>
      </p:sp>
      <p:sp>
        <p:nvSpPr>
          <p:cNvPr id="111" name="Number"/>
          <p:cNvSpPr txBox="1"/>
          <p:nvPr/>
        </p:nvSpPr>
        <p:spPr>
          <a:xfrm>
            <a:off x="7626095" y="5733288"/>
            <a:ext cx="1773935" cy="666750"/>
          </a:xfrm>
          <a:prstGeom prst="rect">
            <a:avLst/>
          </a:prstGeom>
          <a:noFill/>
        </p:spPr>
        <p:txBody>
          <a:bodyPr wrap="square" lIns="0" tIns="0" rIns="0" bIns="0" anchor="t">
            <a:noAutofit/>
          </a:bodyPr>
          <a:lstStyle/>
          <a:p>
            <a:pPr algn="l">
              <a:lnSpc>
                <a:spcPct val="88000"/>
              </a:lnSpc>
              <a:spcAft>
                <a:spcPts val="300"/>
              </a:spcAft>
            </a:pPr>
            <a:r>
              <a:rPr lang="en-US" sz="5000" spc="-60" dirty="0">
                <a:solidFill>
                  <a:srgbClr val="F5F5F7"/>
                </a:solidFill>
                <a:latin typeface="Helvetica Neue Medium"/>
                <a:cs typeface="Helvetica Neue Medium"/>
              </a:rPr>
              <a:t>6.1%</a:t>
            </a:r>
          </a:p>
        </p:txBody>
      </p:sp>
      <p:sp>
        <p:nvSpPr>
          <p:cNvPr id="112" name="Label"/>
          <p:cNvSpPr txBox="1"/>
          <p:nvPr/>
        </p:nvSpPr>
        <p:spPr>
          <a:xfrm>
            <a:off x="7626095" y="6473190"/>
            <a:ext cx="1773935"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drop-off on Private Investments forms</a:t>
            </a:r>
          </a:p>
        </p:txBody>
      </p:sp>
      <p:sp>
        <p:nvSpPr>
          <p:cNvPr id="3024" name="Tile"/>
          <p:cNvSpPr/>
          <p:nvPr/>
        </p:nvSpPr>
        <p:spPr>
          <a:xfrm>
            <a:off x="9857232" y="5532120"/>
            <a:ext cx="2322575" cy="2697480"/>
          </a:xfrm>
          <a:prstGeom prst="roundRect">
            <a:avLst>
              <a:gd name="adj" fmla="val 5511"/>
            </a:avLst>
          </a:prstGeom>
          <a:solidFill>
            <a:srgbClr val="F1F2F5"/>
          </a:solidFill>
          <a:ln>
            <a:noFill/>
          </a:ln>
        </p:spPr>
        <p:txBody>
          <a:bodyPr/>
          <a:lstStyle/>
          <a:p>
            <a:endParaRPr lang="en-US"/>
          </a:p>
        </p:txBody>
      </p:sp>
      <p:sp>
        <p:nvSpPr>
          <p:cNvPr id="113" name="Number"/>
          <p:cNvSpPr txBox="1"/>
          <p:nvPr/>
        </p:nvSpPr>
        <p:spPr>
          <a:xfrm>
            <a:off x="10131552" y="5733288"/>
            <a:ext cx="1773935" cy="666750"/>
          </a:xfrm>
          <a:prstGeom prst="rect">
            <a:avLst/>
          </a:prstGeom>
          <a:noFill/>
        </p:spPr>
        <p:txBody>
          <a:bodyPr wrap="square" lIns="0" tIns="0" rIns="0" bIns="0" anchor="t">
            <a:noAutofit/>
          </a:bodyPr>
          <a:lstStyle/>
          <a:p>
            <a:pPr algn="l">
              <a:lnSpc>
                <a:spcPct val="88000"/>
              </a:lnSpc>
              <a:spcAft>
                <a:spcPts val="300"/>
              </a:spcAft>
            </a:pPr>
            <a:r>
              <a:rPr lang="en-US" sz="5000" spc="-60" dirty="0">
                <a:solidFill>
                  <a:srgbClr val="14161D"/>
                </a:solidFill>
                <a:latin typeface="Helvetica Neue Medium"/>
                <a:cs typeface="Helvetica Neue Medium"/>
              </a:rPr>
              <a:t>61%</a:t>
            </a:r>
          </a:p>
        </p:txBody>
      </p:sp>
      <p:sp>
        <p:nvSpPr>
          <p:cNvPr id="114" name="Label"/>
          <p:cNvSpPr txBox="1"/>
          <p:nvPr/>
        </p:nvSpPr>
        <p:spPr>
          <a:xfrm>
            <a:off x="10131552" y="6473190"/>
            <a:ext cx="1773935"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565C6B"/>
                </a:solidFill>
                <a:latin typeface="Helvetica Neue Light"/>
                <a:cs typeface="Helvetica Neue Light"/>
              </a:rPr>
              <a:t>approval rating from employees</a:t>
            </a:r>
          </a:p>
        </p:txBody>
      </p:sp>
      <p:sp>
        <p:nvSpPr>
          <p:cNvPr id="3025" name="Tile"/>
          <p:cNvSpPr/>
          <p:nvPr/>
        </p:nvSpPr>
        <p:spPr>
          <a:xfrm>
            <a:off x="10131552" y="7845552"/>
            <a:ext cx="1773935" cy="100584"/>
          </a:xfrm>
          <a:prstGeom prst="roundRect">
            <a:avLst>
              <a:gd name="adj" fmla="val 45454"/>
            </a:avLst>
          </a:prstGeom>
          <a:solidFill>
            <a:srgbClr val="DDE0E6"/>
          </a:solidFill>
          <a:ln>
            <a:noFill/>
          </a:ln>
        </p:spPr>
        <p:txBody>
          <a:bodyPr/>
          <a:lstStyle/>
          <a:p>
            <a:endParaRPr lang="en-US"/>
          </a:p>
        </p:txBody>
      </p:sp>
      <p:sp>
        <p:nvSpPr>
          <p:cNvPr id="3026" name="Tile"/>
          <p:cNvSpPr/>
          <p:nvPr/>
        </p:nvSpPr>
        <p:spPr>
          <a:xfrm>
            <a:off x="10131552" y="7845552"/>
            <a:ext cx="1082100" cy="100584"/>
          </a:xfrm>
          <a:prstGeom prst="roundRect">
            <a:avLst>
              <a:gd name="adj" fmla="val 45454"/>
            </a:avLst>
          </a:prstGeom>
          <a:solidFill>
            <a:srgbClr val="FF6600"/>
          </a:solidFill>
          <a:ln>
            <a:noFill/>
          </a:ln>
        </p:spPr>
        <p:txBody>
          <a:bodyPr/>
          <a:lstStyle/>
          <a:p>
            <a:endParaRPr lang="en-US"/>
          </a:p>
        </p:txBody>
      </p:sp>
      <p:pic>
        <p:nvPicPr>
          <p:cNvPr id="11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DISCOVERY</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We set out to find real user needs, </a:t>
            </a:r>
            <a:r>
              <a:rPr lang="en-US" sz="3600" spc="-40" dirty="0">
                <a:solidFill>
                  <a:srgbClr val="B5531F"/>
                </a:solidFill>
                <a:latin typeface="Helvetica Neue Medium"/>
                <a:cs typeface="Helvetica Neue Medium"/>
              </a:rPr>
              <a:t>test the business’s assumptions</a:t>
            </a:r>
            <a:r>
              <a:rPr lang="en-US" sz="3600" spc="-40" dirty="0">
                <a:solidFill>
                  <a:srgbClr val="14161D"/>
                </a:solidFill>
                <a:latin typeface="Helvetica Neue Medium"/>
                <a:cs typeface="Helvetica Neue Medium"/>
              </a:rPr>
              <a:t> and generate new ideas.</a:t>
            </a:r>
          </a:p>
        </p:txBody>
      </p:sp>
      <p:sp>
        <p:nvSpPr>
          <p:cNvPr id="103" name="Methods"/>
          <p:cNvSpPr txBox="1"/>
          <p:nvPr/>
        </p:nvSpPr>
        <p:spPr>
          <a:xfrm>
            <a:off x="822960" y="3611880"/>
            <a:ext cx="5427980"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METHODS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Interviews with reviewers, Risk &amp; Compliance managers and their managers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Contextual interviews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Persona development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Research synthesis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Design thinking exercises</a:t>
            </a:r>
          </a:p>
        </p:txBody>
      </p:sp>
      <p:sp>
        <p:nvSpPr>
          <p:cNvPr id="104" name="Problem"/>
          <p:cNvSpPr txBox="1"/>
          <p:nvPr/>
        </p:nvSpPr>
        <p:spPr>
          <a:xfrm>
            <a:off x="6753860" y="3611880"/>
            <a:ext cx="5427980" cy="438912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PROBLEM STATEMENT</a:t>
            </a:r>
          </a:p>
          <a:p>
            <a:pPr algn="l">
              <a:lnSpc>
                <a:spcPct val="125000"/>
              </a:lnSpc>
              <a:spcAft>
                <a:spcPts val="500"/>
              </a:spcAft>
            </a:pPr>
            <a:r>
              <a:rPr lang="en-US" sz="1550" spc="0" dirty="0">
                <a:solidFill>
                  <a:srgbClr val="14161D"/>
                </a:solidFill>
                <a:latin typeface="Helvetica Neue Light"/>
                <a:cs typeface="Helvetica Neue Light"/>
              </a:rPr>
              <a:t>As part of the iComply ecosystem of Employee Compliance, users need an interactive, web-based pre-clearance application for outside activities, where requests flow through an integrated, pre-defined workflow for review by first-line Reviewers and second-line Risk &amp; Compliance Managers.</a:t>
            </a:r>
          </a:p>
        </p:txBody>
      </p:sp>
      <p:pic>
        <p:nvPicPr>
          <p:cNvPr id="10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DISCOVERY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What we heard: major themes from the interviews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Reviewers, Risk &amp; Compliance managers and their managers</a:t>
            </a:r>
          </a:p>
        </p:txBody>
      </p:sp>
      <p:pic>
        <p:nvPicPr>
          <p:cNvPr id="104" name="Picture 2" descr="image.png"/>
          <p:cNvPicPr>
            <a:picLocks noChangeAspect="1"/>
          </p:cNvPicPr>
          <p:nvPr/>
        </p:nvPicPr>
        <p:blipFill>
          <a:blip r:embed="rId2"/>
          <a:stretch>
            <a:fillRect/>
          </a:stretch>
        </p:blipFill>
        <p:spPr>
          <a:xfrm>
            <a:off x="4846320" y="3673402"/>
            <a:ext cx="3123144" cy="2985914"/>
          </a:xfrm>
          <a:prstGeom prst="rect">
            <a:avLst/>
          </a:prstGeom>
          <a:ln w="9525">
            <a:solidFill>
              <a:srgbClr val="D3D6DC"/>
            </a:solidFill>
          </a:ln>
        </p:spPr>
      </p:pic>
      <p:pic>
        <p:nvPicPr>
          <p:cNvPr id="105" name="Picture 1" descr="image.png"/>
          <p:cNvPicPr>
            <a:picLocks noChangeAspect="1"/>
          </p:cNvPicPr>
          <p:nvPr/>
        </p:nvPicPr>
        <p:blipFill>
          <a:blip r:embed="rId3"/>
          <a:stretch>
            <a:fillRect/>
          </a:stretch>
        </p:blipFill>
        <p:spPr>
          <a:xfrm>
            <a:off x="8289504" y="3673402"/>
            <a:ext cx="3872015" cy="2985914"/>
          </a:xfrm>
          <a:prstGeom prst="rect">
            <a:avLst/>
          </a:prstGeom>
          <a:ln w="9525">
            <a:solidFill>
              <a:srgbClr val="D3D6DC"/>
            </a:solidFill>
          </a:ln>
        </p:spPr>
      </p:pic>
      <p:sp>
        <p:nvSpPr>
          <p:cNvPr id="106" name="Themes"/>
          <p:cNvSpPr txBox="1"/>
          <p:nvPr/>
        </p:nvSpPr>
        <p:spPr>
          <a:xfrm>
            <a:off x="822960" y="2194560"/>
            <a:ext cx="3749039" cy="603504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MAJOR THEMES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Integration with other systems on the platform</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Search</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Reporting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Shadowing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Everyone understanding the policies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Mobile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Clear navigation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Clear workflow</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Status awareness</a:t>
            </a:r>
          </a:p>
        </p:txBody>
      </p:sp>
      <p:pic>
        <p:nvPicPr>
          <p:cNvPr id="107"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DISCOVERY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Design thinking: 5 concepts with 30 participants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Concepts for the dashboard, reporting and submission, for every type of end user</a:t>
            </a:r>
          </a:p>
        </p:txBody>
      </p:sp>
      <p:pic>
        <p:nvPicPr>
          <p:cNvPr id="104" name="Background" descr="image.png"/>
          <p:cNvPicPr>
            <a:picLocks noChangeAspect="1"/>
          </p:cNvPicPr>
          <p:nvPr/>
        </p:nvPicPr>
        <p:blipFill>
          <a:blip r:embed="rId2"/>
          <a:srcRect l="3500" t="27000"/>
          <a:stretch>
            <a:fillRect/>
          </a:stretch>
        </p:blipFill>
        <p:spPr>
          <a:xfrm>
            <a:off x="822960" y="2857736"/>
            <a:ext cx="8138160" cy="4617246"/>
          </a:xfrm>
          <a:prstGeom prst="rect">
            <a:avLst/>
          </a:prstGeom>
          <a:ln w="9525">
            <a:solidFill>
              <a:srgbClr val="D3D6DC"/>
            </a:solidFill>
          </a:ln>
        </p:spPr>
      </p:pic>
      <p:sp>
        <p:nvSpPr>
          <p:cNvPr id="105" name="Format"/>
          <p:cNvSpPr txBox="1"/>
          <p:nvPr/>
        </p:nvSpPr>
        <p:spPr>
          <a:xfrm>
            <a:off x="9418320" y="2286000"/>
            <a:ext cx="2763520" cy="54864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SESSION FORMAT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Ice breaker</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What would the headlines say?</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How do we…?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Concepts and interfaces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Voting</a:t>
            </a:r>
          </a:p>
        </p:txBody>
      </p:sp>
      <p:pic>
        <p:nvPicPr>
          <p:cNvPr id="106"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STRATEGY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Pain points + business goals + UX strategy = feature set</a:t>
            </a:r>
          </a:p>
        </p:txBody>
      </p:sp>
      <p:cxnSp>
        <p:nvCxnSpPr>
          <p:cNvPr id="103" name="Divider"/>
          <p:cNvCxnSpPr/>
          <p:nvPr/>
        </p:nvCxnSpPr>
        <p:spPr>
          <a:xfrm>
            <a:off x="822960" y="2651760"/>
            <a:ext cx="2668270" cy="0"/>
          </a:xfrm>
          <a:prstGeom prst="line">
            <a:avLst/>
          </a:prstGeom>
          <a:ln w="9525">
            <a:solidFill>
              <a:srgbClr val="E1E3E8"/>
            </a:solidFill>
          </a:ln>
        </p:spPr>
      </p:cxnSp>
      <p:sp>
        <p:nvSpPr>
          <p:cNvPr id="104" name="PAIN POINTS"/>
          <p:cNvSpPr txBox="1"/>
          <p:nvPr/>
        </p:nvSpPr>
        <p:spPr>
          <a:xfrm>
            <a:off x="82296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PAIN POINTS</a:t>
            </a:r>
          </a:p>
          <a:p>
            <a:pPr algn="l">
              <a:lnSpc>
                <a:spcPct val="115000"/>
              </a:lnSpc>
              <a:spcAft>
                <a:spcPts val="900"/>
              </a:spcAft>
            </a:pPr>
            <a:r>
              <a:rPr lang="en-US" sz="1700" spc="0" dirty="0">
                <a:solidFill>
                  <a:srgbClr val="565C6B"/>
                </a:solidFill>
                <a:latin typeface="Helvetica Neue Light"/>
                <a:cs typeface="Helvetica Neue Light"/>
              </a:rPr>
              <a:t>Integration with other systems on the platform</a:t>
            </a:r>
          </a:p>
          <a:p>
            <a:pPr algn="l">
              <a:lnSpc>
                <a:spcPct val="115000"/>
              </a:lnSpc>
              <a:spcAft>
                <a:spcPts val="900"/>
              </a:spcAft>
            </a:pPr>
            <a:r>
              <a:rPr lang="en-US" sz="1700" spc="0" dirty="0">
                <a:solidFill>
                  <a:srgbClr val="565C6B"/>
                </a:solidFill>
                <a:latin typeface="Helvetica Neue Light"/>
                <a:cs typeface="Helvetica Neue Light"/>
              </a:rPr>
              <a:t>Navigation</a:t>
            </a:r>
          </a:p>
          <a:p>
            <a:pPr algn="l">
              <a:lnSpc>
                <a:spcPct val="115000"/>
              </a:lnSpc>
              <a:spcAft>
                <a:spcPts val="900"/>
              </a:spcAft>
            </a:pPr>
            <a:r>
              <a:rPr lang="en-US" sz="1700" spc="0" dirty="0">
                <a:solidFill>
                  <a:srgbClr val="565C6B"/>
                </a:solidFill>
                <a:latin typeface="Helvetica Neue Light"/>
                <a:cs typeface="Helvetica Neue Light"/>
              </a:rPr>
              <a:t>Clear workflows</a:t>
            </a:r>
          </a:p>
          <a:p>
            <a:pPr algn="l">
              <a:lnSpc>
                <a:spcPct val="115000"/>
              </a:lnSpc>
              <a:spcAft>
                <a:spcPts val="900"/>
              </a:spcAft>
            </a:pPr>
            <a:r>
              <a:rPr lang="en-US" sz="1700" spc="0" dirty="0">
                <a:solidFill>
                  <a:srgbClr val="565C6B"/>
                </a:solidFill>
                <a:latin typeface="Helvetica Neue Light"/>
                <a:cs typeface="Helvetica Neue Light"/>
              </a:rPr>
              <a:t>Status awareness</a:t>
            </a:r>
          </a:p>
          <a:p>
            <a:pPr algn="l">
              <a:lnSpc>
                <a:spcPct val="115000"/>
              </a:lnSpc>
              <a:spcAft>
                <a:spcPts val="900"/>
              </a:spcAft>
            </a:pPr>
            <a:r>
              <a:rPr lang="en-US" sz="1700" spc="0" dirty="0">
                <a:solidFill>
                  <a:srgbClr val="565C6B"/>
                </a:solidFill>
                <a:latin typeface="Helvetica Neue Light"/>
                <a:cs typeface="Helvetica Neue Light"/>
              </a:rPr>
              <a:t>Lack of features</a:t>
            </a:r>
          </a:p>
        </p:txBody>
      </p:sp>
      <p:sp>
        <p:nvSpPr>
          <p:cNvPr id="105" name="op"/>
          <p:cNvSpPr txBox="1"/>
          <p:nvPr/>
        </p:nvSpPr>
        <p:spPr>
          <a:xfrm>
            <a:off x="344551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06" name="Divider"/>
          <p:cNvCxnSpPr/>
          <p:nvPr/>
        </p:nvCxnSpPr>
        <p:spPr>
          <a:xfrm>
            <a:off x="3719830" y="2651760"/>
            <a:ext cx="2668270" cy="0"/>
          </a:xfrm>
          <a:prstGeom prst="line">
            <a:avLst/>
          </a:prstGeom>
          <a:ln w="9525">
            <a:solidFill>
              <a:srgbClr val="E1E3E8"/>
            </a:solidFill>
          </a:ln>
        </p:spPr>
      </p:cxnSp>
      <p:sp>
        <p:nvSpPr>
          <p:cNvPr id="107" name="BUSINESS GOALS"/>
          <p:cNvSpPr txBox="1"/>
          <p:nvPr/>
        </p:nvSpPr>
        <p:spPr>
          <a:xfrm>
            <a:off x="371983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BUSINESS GOALS</a:t>
            </a:r>
          </a:p>
          <a:p>
            <a:pPr algn="l">
              <a:lnSpc>
                <a:spcPct val="115000"/>
              </a:lnSpc>
              <a:spcAft>
                <a:spcPts val="900"/>
              </a:spcAft>
            </a:pPr>
            <a:r>
              <a:rPr lang="en-US" sz="1700" spc="0" dirty="0">
                <a:solidFill>
                  <a:srgbClr val="565C6B"/>
                </a:solidFill>
                <a:latin typeface="Helvetica Neue Light"/>
                <a:cs typeface="Helvetica Neue Light"/>
              </a:rPr>
              <a:t>Education</a:t>
            </a:r>
          </a:p>
          <a:p>
            <a:pPr algn="l">
              <a:lnSpc>
                <a:spcPct val="115000"/>
              </a:lnSpc>
              <a:spcAft>
                <a:spcPts val="900"/>
              </a:spcAft>
            </a:pPr>
            <a:r>
              <a:rPr lang="en-US" sz="1700" spc="0" dirty="0">
                <a:solidFill>
                  <a:srgbClr val="565C6B"/>
                </a:solidFill>
                <a:latin typeface="Helvetica Neue Light"/>
                <a:cs typeface="Helvetica Neue Light"/>
              </a:rPr>
              <a:t>Functionality parity</a:t>
            </a:r>
          </a:p>
          <a:p>
            <a:pPr algn="l">
              <a:lnSpc>
                <a:spcPct val="115000"/>
              </a:lnSpc>
              <a:spcAft>
                <a:spcPts val="900"/>
              </a:spcAft>
            </a:pPr>
            <a:r>
              <a:rPr lang="en-US" sz="1700" spc="0" dirty="0">
                <a:solidFill>
                  <a:srgbClr val="565C6B"/>
                </a:solidFill>
                <a:latin typeface="Helvetica Neue Light"/>
                <a:cs typeface="Helvetica Neue Light"/>
              </a:rPr>
              <a:t>Platform parity</a:t>
            </a:r>
          </a:p>
          <a:p>
            <a:pPr algn="l">
              <a:lnSpc>
                <a:spcPct val="115000"/>
              </a:lnSpc>
              <a:spcAft>
                <a:spcPts val="900"/>
              </a:spcAft>
            </a:pPr>
            <a:r>
              <a:rPr lang="en-US" sz="1700" spc="0" dirty="0">
                <a:solidFill>
                  <a:srgbClr val="565C6B"/>
                </a:solidFill>
                <a:latin typeface="Helvetica Neue Light"/>
                <a:cs typeface="Helvetica Neue Light"/>
              </a:rPr>
              <a:t>Mobile</a:t>
            </a:r>
          </a:p>
        </p:txBody>
      </p:sp>
      <p:sp>
        <p:nvSpPr>
          <p:cNvPr id="108" name="op"/>
          <p:cNvSpPr txBox="1"/>
          <p:nvPr/>
        </p:nvSpPr>
        <p:spPr>
          <a:xfrm>
            <a:off x="634238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09" name="Divider"/>
          <p:cNvCxnSpPr/>
          <p:nvPr/>
        </p:nvCxnSpPr>
        <p:spPr>
          <a:xfrm>
            <a:off x="6616700" y="2651760"/>
            <a:ext cx="2668270" cy="0"/>
          </a:xfrm>
          <a:prstGeom prst="line">
            <a:avLst/>
          </a:prstGeom>
          <a:ln w="9525">
            <a:solidFill>
              <a:srgbClr val="E1E3E8"/>
            </a:solidFill>
          </a:ln>
        </p:spPr>
      </p:cxnSp>
      <p:sp>
        <p:nvSpPr>
          <p:cNvPr id="110" name="UX STRATEGY"/>
          <p:cNvSpPr txBox="1"/>
          <p:nvPr/>
        </p:nvSpPr>
        <p:spPr>
          <a:xfrm>
            <a:off x="661670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UX STRATEGY</a:t>
            </a:r>
          </a:p>
          <a:p>
            <a:pPr algn="l">
              <a:lnSpc>
                <a:spcPct val="115000"/>
              </a:lnSpc>
              <a:spcAft>
                <a:spcPts val="900"/>
              </a:spcAft>
            </a:pPr>
            <a:r>
              <a:rPr lang="en-US" sz="1700" spc="0" dirty="0">
                <a:solidFill>
                  <a:srgbClr val="565C6B"/>
                </a:solidFill>
                <a:latin typeface="Helvetica Neue Light"/>
                <a:cs typeface="Helvetica Neue Light"/>
              </a:rPr>
              <a:t>Integrations with other systems on the platform</a:t>
            </a:r>
          </a:p>
          <a:p>
            <a:pPr algn="l">
              <a:lnSpc>
                <a:spcPct val="115000"/>
              </a:lnSpc>
              <a:spcAft>
                <a:spcPts val="900"/>
              </a:spcAft>
            </a:pPr>
            <a:r>
              <a:rPr lang="en-US" sz="1700" spc="0" dirty="0">
                <a:solidFill>
                  <a:srgbClr val="565C6B"/>
                </a:solidFill>
                <a:latin typeface="Helvetica Neue Light"/>
                <a:cs typeface="Helvetica Neue Light"/>
              </a:rPr>
              <a:t>Everyone understanding the policies</a:t>
            </a:r>
          </a:p>
          <a:p>
            <a:pPr algn="l">
              <a:lnSpc>
                <a:spcPct val="115000"/>
              </a:lnSpc>
              <a:spcAft>
                <a:spcPts val="900"/>
              </a:spcAft>
            </a:pPr>
            <a:r>
              <a:rPr lang="en-US" sz="1700" spc="0" dirty="0">
                <a:solidFill>
                  <a:srgbClr val="565C6B"/>
                </a:solidFill>
                <a:latin typeface="Helvetica Neue Light"/>
                <a:cs typeface="Helvetica Neue Light"/>
              </a:rPr>
              <a:t>Access for all in the platform</a:t>
            </a:r>
          </a:p>
          <a:p>
            <a:pPr algn="l">
              <a:lnSpc>
                <a:spcPct val="115000"/>
              </a:lnSpc>
              <a:spcAft>
                <a:spcPts val="900"/>
              </a:spcAft>
            </a:pPr>
            <a:r>
              <a:rPr lang="en-US" sz="1700" spc="0" dirty="0">
                <a:solidFill>
                  <a:srgbClr val="565C6B"/>
                </a:solidFill>
                <a:latin typeface="Helvetica Neue Light"/>
                <a:cs typeface="Helvetica Neue Light"/>
              </a:rPr>
              <a:t>Mobile</a:t>
            </a:r>
          </a:p>
          <a:p>
            <a:pPr algn="l">
              <a:lnSpc>
                <a:spcPct val="115000"/>
              </a:lnSpc>
              <a:spcAft>
                <a:spcPts val="900"/>
              </a:spcAft>
            </a:pPr>
            <a:r>
              <a:rPr lang="en-US" sz="1700" spc="0" dirty="0">
                <a:solidFill>
                  <a:srgbClr val="565C6B"/>
                </a:solidFill>
                <a:latin typeface="Helvetica Neue Light"/>
                <a:cs typeface="Helvetica Neue Light"/>
              </a:rPr>
              <a:t>Clear navigation</a:t>
            </a:r>
          </a:p>
          <a:p>
            <a:pPr algn="l">
              <a:lnSpc>
                <a:spcPct val="115000"/>
              </a:lnSpc>
              <a:spcAft>
                <a:spcPts val="900"/>
              </a:spcAft>
            </a:pPr>
            <a:r>
              <a:rPr lang="en-US" sz="1700" spc="0" dirty="0">
                <a:solidFill>
                  <a:srgbClr val="565C6B"/>
                </a:solidFill>
                <a:latin typeface="Helvetica Neue Light"/>
                <a:cs typeface="Helvetica Neue Light"/>
              </a:rPr>
              <a:t>Clear workflows</a:t>
            </a:r>
          </a:p>
        </p:txBody>
      </p:sp>
      <p:sp>
        <p:nvSpPr>
          <p:cNvPr id="111" name="op"/>
          <p:cNvSpPr txBox="1"/>
          <p:nvPr/>
        </p:nvSpPr>
        <p:spPr>
          <a:xfrm>
            <a:off x="923925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12" name="Divider"/>
          <p:cNvCxnSpPr/>
          <p:nvPr/>
        </p:nvCxnSpPr>
        <p:spPr>
          <a:xfrm>
            <a:off x="9513570" y="2651760"/>
            <a:ext cx="2668270" cy="0"/>
          </a:xfrm>
          <a:prstGeom prst="line">
            <a:avLst/>
          </a:prstGeom>
          <a:ln w="28575">
            <a:solidFill>
              <a:srgbClr val="B5531F"/>
            </a:solidFill>
          </a:ln>
        </p:spPr>
      </p:cxnSp>
      <p:sp>
        <p:nvSpPr>
          <p:cNvPr id="113" name="FEATURE SET"/>
          <p:cNvSpPr txBox="1"/>
          <p:nvPr/>
        </p:nvSpPr>
        <p:spPr>
          <a:xfrm>
            <a:off x="951357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FEATURE SET</a:t>
            </a:r>
          </a:p>
          <a:p>
            <a:pPr algn="l">
              <a:lnSpc>
                <a:spcPct val="115000"/>
              </a:lnSpc>
              <a:spcAft>
                <a:spcPts val="900"/>
              </a:spcAft>
            </a:pPr>
            <a:r>
              <a:rPr lang="en-US" sz="1700" spc="0" dirty="0">
                <a:solidFill>
                  <a:srgbClr val="14161D"/>
                </a:solidFill>
                <a:latin typeface="Helvetica Neue Light"/>
                <a:cs typeface="Helvetica Neue Light"/>
              </a:rPr>
              <a:t>Search</a:t>
            </a:r>
          </a:p>
          <a:p>
            <a:pPr algn="l">
              <a:lnSpc>
                <a:spcPct val="115000"/>
              </a:lnSpc>
              <a:spcAft>
                <a:spcPts val="900"/>
              </a:spcAft>
            </a:pPr>
            <a:r>
              <a:rPr lang="en-US" sz="1700" spc="0" dirty="0">
                <a:solidFill>
                  <a:srgbClr val="14161D"/>
                </a:solidFill>
                <a:latin typeface="Helvetica Neue Light"/>
                <a:cs typeface="Helvetica Neue Light"/>
              </a:rPr>
              <a:t>Reporting</a:t>
            </a:r>
          </a:p>
          <a:p>
            <a:pPr algn="l">
              <a:lnSpc>
                <a:spcPct val="115000"/>
              </a:lnSpc>
              <a:spcAft>
                <a:spcPts val="900"/>
              </a:spcAft>
            </a:pPr>
            <a:r>
              <a:rPr lang="en-US" sz="1700" spc="0" dirty="0">
                <a:solidFill>
                  <a:srgbClr val="14161D"/>
                </a:solidFill>
                <a:latin typeface="Helvetica Neue Light"/>
                <a:cs typeface="Helvetica Neue Light"/>
              </a:rPr>
              <a:t>Shadowing</a:t>
            </a:r>
          </a:p>
          <a:p>
            <a:pPr algn="l">
              <a:lnSpc>
                <a:spcPct val="115000"/>
              </a:lnSpc>
              <a:spcAft>
                <a:spcPts val="900"/>
              </a:spcAft>
            </a:pPr>
            <a:r>
              <a:rPr lang="en-US" sz="1700" spc="0" dirty="0">
                <a:solidFill>
                  <a:srgbClr val="14161D"/>
                </a:solidFill>
                <a:latin typeface="Helvetica Neue Light"/>
                <a:cs typeface="Helvetica Neue Light"/>
              </a:rPr>
              <a:t>Proxies</a:t>
            </a:r>
          </a:p>
          <a:p>
            <a:pPr algn="l">
              <a:lnSpc>
                <a:spcPct val="115000"/>
              </a:lnSpc>
              <a:spcAft>
                <a:spcPts val="900"/>
              </a:spcAft>
            </a:pPr>
            <a:r>
              <a:rPr lang="en-US" sz="1700" spc="0" dirty="0">
                <a:solidFill>
                  <a:srgbClr val="14161D"/>
                </a:solidFill>
                <a:latin typeface="Helvetica Neue Light"/>
                <a:cs typeface="Helvetica Neue Light"/>
              </a:rPr>
              <a:t>Queries</a:t>
            </a:r>
          </a:p>
          <a:p>
            <a:pPr algn="l">
              <a:lnSpc>
                <a:spcPct val="115000"/>
              </a:lnSpc>
              <a:spcAft>
                <a:spcPts val="900"/>
              </a:spcAft>
            </a:pPr>
            <a:r>
              <a:rPr lang="en-US" sz="1700" spc="0" dirty="0">
                <a:solidFill>
                  <a:srgbClr val="14161D"/>
                </a:solidFill>
                <a:latin typeface="Helvetica Neue Light"/>
                <a:cs typeface="Helvetica Neue Light"/>
              </a:rPr>
              <a:t>Mobile</a:t>
            </a:r>
          </a:p>
        </p:txBody>
      </p:sp>
      <p:pic>
        <p:nvPicPr>
          <p:cNvPr id="114"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DELIVERY</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800" spc="-40" dirty="0">
                <a:solidFill>
                  <a:srgbClr val="14161D"/>
                </a:solidFill>
                <a:latin typeface="Helvetica Neue Medium"/>
                <a:cs typeface="Helvetica Neue Medium"/>
              </a:rPr>
              <a:t>One dashboard for </a:t>
            </a:r>
            <a:r>
              <a:rPr lang="en-US" sz="3800" spc="-40" dirty="0">
                <a:solidFill>
                  <a:srgbClr val="B5531F"/>
                </a:solidFill>
                <a:latin typeface="Helvetica Neue Medium"/>
                <a:cs typeface="Helvetica Neue Medium"/>
              </a:rPr>
              <a:t>Submitters, Reviewers and Risk &amp; Compliance Managers</a:t>
            </a:r>
            <a:r>
              <a:rPr lang="en-US" sz="3800" spc="-40" dirty="0">
                <a:solidFill>
                  <a:srgbClr val="14161D"/>
                </a:solidFill>
                <a:latin typeface="Helvetica Neue Medium"/>
                <a:cs typeface="Helvetica Neue Medium"/>
              </a:rPr>
              <a:t>.</a:t>
            </a:r>
          </a:p>
        </p:txBody>
      </p:sp>
      <p:sp>
        <p:nvSpPr>
          <p:cNvPr id="103" name="Body"/>
          <p:cNvSpPr txBox="1"/>
          <p:nvPr/>
        </p:nvSpPr>
        <p:spPr>
          <a:xfrm>
            <a:off x="822960" y="3611880"/>
            <a:ext cx="5427980" cy="4114800"/>
          </a:xfrm>
          <a:prstGeom prst="rect">
            <a:avLst/>
          </a:prstGeom>
          <a:noFill/>
        </p:spPr>
        <p:txBody>
          <a:bodyPr wrap="square" lIns="0" tIns="0" rIns="0" bIns="0" anchor="t">
            <a:noAutofit/>
          </a:bodyPr>
          <a:lstStyle/>
          <a:p>
            <a:pPr algn="l">
              <a:lnSpc>
                <a:spcPct val="125000"/>
              </a:lnSpc>
              <a:spcAft>
                <a:spcPts val="300"/>
              </a:spcAft>
            </a:pPr>
            <a:r>
              <a:rPr lang="en-US" sz="1550" spc="0" dirty="0">
                <a:solidFill>
                  <a:srgbClr val="565C6B"/>
                </a:solidFill>
                <a:latin typeface="Helvetica Neue Light"/>
                <a:cs typeface="Helvetica Neue Light"/>
              </a:rPr>
              <a:t>The dashboard was the main starting point for all three user types, so it got the most attention. It went through many iterations shaped by company goals, line-of-business goals, UX strategy, legal, risk and ADA requirements, and the design system.</a:t>
            </a:r>
          </a:p>
        </p:txBody>
      </p:sp>
      <p:sp>
        <p:nvSpPr>
          <p:cNvPr id="104" name="Process"/>
          <p:cNvSpPr txBox="1"/>
          <p:nvPr/>
        </p:nvSpPr>
        <p:spPr>
          <a:xfrm>
            <a:off x="6753860" y="3611880"/>
            <a:ext cx="5427980" cy="41148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HOW WE DELIVERED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Feature refinement and road map</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33 Agile sprints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Usability testing every week</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Demos and QA</a:t>
            </a:r>
          </a:p>
        </p:txBody>
      </p:sp>
      <p:pic>
        <p:nvPicPr>
          <p:cNvPr id="10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DELIVERY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The delivered app, one request end to end</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The employee submits, the manager reviews, Compliance decides. Screens from the OBI Training Guide.</a:t>
            </a:r>
          </a:p>
        </p:txBody>
      </p:sp>
      <p:pic>
        <p:nvPicPr>
          <p:cNvPr id="104" name="Hi-fi screen"/>
          <p:cNvPicPr>
            <a:picLocks noChangeAspect="1"/>
          </p:cNvPicPr>
          <p:nvPr/>
        </p:nvPicPr>
        <p:blipFill>
          <a:blip r:embed="rId2"/>
          <a:srcRect b="8685"/>
          <a:stretch>
            <a:fillRect/>
          </a:stretch>
        </p:blipFill>
        <p:spPr>
          <a:xfrm>
            <a:off x="822960" y="2057400"/>
            <a:ext cx="2140102" cy="1337563"/>
          </a:xfrm>
          <a:prstGeom prst="rect">
            <a:avLst/>
          </a:prstGeom>
          <a:ln w="9525">
            <a:solidFill>
              <a:srgbClr val="D3D6DC"/>
            </a:solidFill>
          </a:ln>
        </p:spPr>
      </p:pic>
      <p:sp>
        <p:nvSpPr>
          <p:cNvPr id="105" name="Cap 1"/>
          <p:cNvSpPr txBox="1"/>
          <p:nvPr/>
        </p:nvSpPr>
        <p:spPr>
          <a:xfrm>
            <a:off x="822960" y="344982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01  </a:t>
            </a:r>
            <a:r>
              <a:rPr lang="en-US" sz="1050" spc="0" dirty="0">
                <a:solidFill>
                  <a:srgbClr val="14161D"/>
                </a:solidFill>
                <a:latin typeface="Helvetica Neue Medium"/>
                <a:cs typeface="Helvetica Neue Medium"/>
              </a:rPr>
              <a:t>Welcome and wizard</a:t>
            </a:r>
          </a:p>
          <a:p>
            <a:pPr algn="l">
              <a:lnSpc>
                <a:spcPct val="100000"/>
              </a:lnSpc>
              <a:spcAft>
                <a:spcPts val="0"/>
              </a:spcAft>
            </a:pPr>
            <a:r>
              <a:rPr lang="en-US" sz="950" spc="0" dirty="0">
                <a:solidFill>
                  <a:srgbClr val="858A97"/>
                </a:solidFill>
                <a:latin typeface="Helvetica Neue Light"/>
                <a:cs typeface="Helvetica Neue Light"/>
              </a:rPr>
              <a:t>Employee</a:t>
            </a:r>
          </a:p>
        </p:txBody>
      </p:sp>
      <p:pic>
        <p:nvPicPr>
          <p:cNvPr id="106" name="Hi-fi screen"/>
          <p:cNvPicPr>
            <a:picLocks noChangeAspect="1"/>
          </p:cNvPicPr>
          <p:nvPr/>
        </p:nvPicPr>
        <p:blipFill>
          <a:blip r:embed="rId3"/>
          <a:srcRect b="1918"/>
          <a:stretch>
            <a:fillRect/>
          </a:stretch>
        </p:blipFill>
        <p:spPr>
          <a:xfrm>
            <a:off x="3127654" y="2057400"/>
            <a:ext cx="2140102" cy="1337563"/>
          </a:xfrm>
          <a:prstGeom prst="rect">
            <a:avLst/>
          </a:prstGeom>
          <a:ln w="9525">
            <a:solidFill>
              <a:srgbClr val="D3D6DC"/>
            </a:solidFill>
          </a:ln>
        </p:spPr>
      </p:pic>
      <p:sp>
        <p:nvSpPr>
          <p:cNvPr id="107" name="Cap 2"/>
          <p:cNvSpPr txBox="1"/>
          <p:nvPr/>
        </p:nvSpPr>
        <p:spPr>
          <a:xfrm>
            <a:off x="3127654" y="344982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02  </a:t>
            </a:r>
            <a:r>
              <a:rPr lang="en-US" sz="1050" spc="0" dirty="0">
                <a:solidFill>
                  <a:srgbClr val="14161D"/>
                </a:solidFill>
                <a:latin typeface="Helvetica Neue Medium"/>
                <a:cs typeface="Helvetica Neue Medium"/>
              </a:rPr>
              <a:t>Create request</a:t>
            </a:r>
          </a:p>
          <a:p>
            <a:pPr algn="l">
              <a:lnSpc>
                <a:spcPct val="100000"/>
              </a:lnSpc>
              <a:spcAft>
                <a:spcPts val="0"/>
              </a:spcAft>
            </a:pPr>
            <a:r>
              <a:rPr lang="en-US" sz="950" spc="0" dirty="0">
                <a:solidFill>
                  <a:srgbClr val="858A97"/>
                </a:solidFill>
                <a:latin typeface="Helvetica Neue Light"/>
                <a:cs typeface="Helvetica Neue Light"/>
              </a:rPr>
              <a:t>Employee</a:t>
            </a:r>
          </a:p>
        </p:txBody>
      </p:sp>
      <p:pic>
        <p:nvPicPr>
          <p:cNvPr id="108" name="Hi-fi screen"/>
          <p:cNvPicPr>
            <a:picLocks noChangeAspect="1"/>
          </p:cNvPicPr>
          <p:nvPr/>
        </p:nvPicPr>
        <p:blipFill>
          <a:blip r:embed="rId4"/>
          <a:srcRect b="8685"/>
          <a:stretch>
            <a:fillRect/>
          </a:stretch>
        </p:blipFill>
        <p:spPr>
          <a:xfrm>
            <a:off x="5432348" y="2057400"/>
            <a:ext cx="2140102" cy="1337563"/>
          </a:xfrm>
          <a:prstGeom prst="rect">
            <a:avLst/>
          </a:prstGeom>
          <a:ln w="9525">
            <a:solidFill>
              <a:srgbClr val="D3D6DC"/>
            </a:solidFill>
          </a:ln>
        </p:spPr>
      </p:pic>
      <p:sp>
        <p:nvSpPr>
          <p:cNvPr id="109" name="Cap 3"/>
          <p:cNvSpPr txBox="1"/>
          <p:nvPr/>
        </p:nvSpPr>
        <p:spPr>
          <a:xfrm>
            <a:off x="5432348" y="344982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03  </a:t>
            </a:r>
            <a:r>
              <a:rPr lang="en-US" sz="1050" spc="0" dirty="0">
                <a:solidFill>
                  <a:srgbClr val="14161D"/>
                </a:solidFill>
                <a:latin typeface="Helvetica Neue Medium"/>
                <a:cs typeface="Helvetica Neue Medium"/>
              </a:rPr>
              <a:t>Certify and submit</a:t>
            </a:r>
          </a:p>
          <a:p>
            <a:pPr algn="l">
              <a:lnSpc>
                <a:spcPct val="100000"/>
              </a:lnSpc>
              <a:spcAft>
                <a:spcPts val="0"/>
              </a:spcAft>
            </a:pPr>
            <a:r>
              <a:rPr lang="en-US" sz="950" spc="0" dirty="0">
                <a:solidFill>
                  <a:srgbClr val="858A97"/>
                </a:solidFill>
                <a:latin typeface="Helvetica Neue Light"/>
                <a:cs typeface="Helvetica Neue Light"/>
              </a:rPr>
              <a:t>Employee</a:t>
            </a:r>
          </a:p>
        </p:txBody>
      </p:sp>
      <p:pic>
        <p:nvPicPr>
          <p:cNvPr id="110" name="Hi-fi screen"/>
          <p:cNvPicPr>
            <a:picLocks noChangeAspect="1"/>
          </p:cNvPicPr>
          <p:nvPr/>
        </p:nvPicPr>
        <p:blipFill>
          <a:blip r:embed="rId5"/>
          <a:srcRect b="8685"/>
          <a:stretch>
            <a:fillRect/>
          </a:stretch>
        </p:blipFill>
        <p:spPr>
          <a:xfrm>
            <a:off x="7737043" y="2057400"/>
            <a:ext cx="2140102" cy="1337563"/>
          </a:xfrm>
          <a:prstGeom prst="rect">
            <a:avLst/>
          </a:prstGeom>
          <a:ln w="9525">
            <a:solidFill>
              <a:srgbClr val="D3D6DC"/>
            </a:solidFill>
          </a:ln>
        </p:spPr>
      </p:pic>
      <p:sp>
        <p:nvSpPr>
          <p:cNvPr id="111" name="Cap 4"/>
          <p:cNvSpPr txBox="1"/>
          <p:nvPr/>
        </p:nvSpPr>
        <p:spPr>
          <a:xfrm>
            <a:off x="7737043" y="344982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04  </a:t>
            </a:r>
            <a:r>
              <a:rPr lang="en-US" sz="1050" spc="0" dirty="0">
                <a:solidFill>
                  <a:srgbClr val="14161D"/>
                </a:solidFill>
                <a:latin typeface="Helvetica Neue Medium"/>
                <a:cs typeface="Helvetica Neue Medium"/>
              </a:rPr>
              <a:t>Submitted</a:t>
            </a:r>
          </a:p>
          <a:p>
            <a:pPr algn="l">
              <a:lnSpc>
                <a:spcPct val="100000"/>
              </a:lnSpc>
              <a:spcAft>
                <a:spcPts val="0"/>
              </a:spcAft>
            </a:pPr>
            <a:r>
              <a:rPr lang="en-US" sz="950" spc="0" dirty="0">
                <a:solidFill>
                  <a:srgbClr val="858A97"/>
                </a:solidFill>
                <a:latin typeface="Helvetica Neue Light"/>
                <a:cs typeface="Helvetica Neue Light"/>
              </a:rPr>
              <a:t>Employee</a:t>
            </a:r>
          </a:p>
        </p:txBody>
      </p:sp>
      <p:pic>
        <p:nvPicPr>
          <p:cNvPr id="112" name="Hi-fi screen"/>
          <p:cNvPicPr>
            <a:picLocks noChangeAspect="1"/>
          </p:cNvPicPr>
          <p:nvPr/>
        </p:nvPicPr>
        <p:blipFill>
          <a:blip r:embed="rId6"/>
          <a:srcRect b="25497"/>
          <a:stretch>
            <a:fillRect/>
          </a:stretch>
        </p:blipFill>
        <p:spPr>
          <a:xfrm>
            <a:off x="10041737" y="2057400"/>
            <a:ext cx="2140102" cy="1337563"/>
          </a:xfrm>
          <a:prstGeom prst="rect">
            <a:avLst/>
          </a:prstGeom>
          <a:ln w="9525">
            <a:solidFill>
              <a:srgbClr val="D3D6DC"/>
            </a:solidFill>
          </a:ln>
        </p:spPr>
      </p:pic>
      <p:sp>
        <p:nvSpPr>
          <p:cNvPr id="113" name="Cap 5"/>
          <p:cNvSpPr txBox="1"/>
          <p:nvPr/>
        </p:nvSpPr>
        <p:spPr>
          <a:xfrm>
            <a:off x="10041737" y="344982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05  </a:t>
            </a:r>
            <a:r>
              <a:rPr lang="en-US" sz="1050" spc="0" dirty="0">
                <a:solidFill>
                  <a:srgbClr val="14161D"/>
                </a:solidFill>
                <a:latin typeface="Helvetica Neue Medium"/>
                <a:cs typeface="Helvetica Neue Medium"/>
              </a:rPr>
              <a:t>Manager notified</a:t>
            </a:r>
          </a:p>
          <a:p>
            <a:pPr algn="l">
              <a:lnSpc>
                <a:spcPct val="100000"/>
              </a:lnSpc>
              <a:spcAft>
                <a:spcPts val="0"/>
              </a:spcAft>
            </a:pPr>
            <a:r>
              <a:rPr lang="en-US" sz="950" spc="0" dirty="0">
                <a:solidFill>
                  <a:srgbClr val="858A97"/>
                </a:solidFill>
                <a:latin typeface="Helvetica Neue Light"/>
                <a:cs typeface="Helvetica Neue Light"/>
              </a:rPr>
              <a:t>Manager</a:t>
            </a:r>
          </a:p>
        </p:txBody>
      </p:sp>
      <p:pic>
        <p:nvPicPr>
          <p:cNvPr id="114" name="Hi-fi screen"/>
          <p:cNvPicPr>
            <a:picLocks noChangeAspect="1"/>
          </p:cNvPicPr>
          <p:nvPr/>
        </p:nvPicPr>
        <p:blipFill>
          <a:blip r:embed="rId7"/>
          <a:srcRect b="8685"/>
          <a:stretch>
            <a:fillRect/>
          </a:stretch>
        </p:blipFill>
        <p:spPr>
          <a:xfrm>
            <a:off x="822960" y="3961892"/>
            <a:ext cx="2140102" cy="1337563"/>
          </a:xfrm>
          <a:prstGeom prst="rect">
            <a:avLst/>
          </a:prstGeom>
          <a:ln w="9525">
            <a:solidFill>
              <a:srgbClr val="D3D6DC"/>
            </a:solidFill>
          </a:ln>
        </p:spPr>
      </p:pic>
      <p:sp>
        <p:nvSpPr>
          <p:cNvPr id="115" name="Cap 6"/>
          <p:cNvSpPr txBox="1"/>
          <p:nvPr/>
        </p:nvSpPr>
        <p:spPr>
          <a:xfrm>
            <a:off x="822960" y="535432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06  </a:t>
            </a:r>
            <a:r>
              <a:rPr lang="en-US" sz="1050" spc="0" dirty="0">
                <a:solidFill>
                  <a:srgbClr val="14161D"/>
                </a:solidFill>
                <a:latin typeface="Helvetica Neue Medium"/>
                <a:cs typeface="Helvetica Neue Medium"/>
              </a:rPr>
              <a:t>Pending my review</a:t>
            </a:r>
          </a:p>
          <a:p>
            <a:pPr algn="l">
              <a:lnSpc>
                <a:spcPct val="100000"/>
              </a:lnSpc>
              <a:spcAft>
                <a:spcPts val="0"/>
              </a:spcAft>
            </a:pPr>
            <a:r>
              <a:rPr lang="en-US" sz="950" spc="0" dirty="0">
                <a:solidFill>
                  <a:srgbClr val="858A97"/>
                </a:solidFill>
                <a:latin typeface="Helvetica Neue Light"/>
                <a:cs typeface="Helvetica Neue Light"/>
              </a:rPr>
              <a:t>Manager</a:t>
            </a:r>
          </a:p>
        </p:txBody>
      </p:sp>
      <p:pic>
        <p:nvPicPr>
          <p:cNvPr id="116" name="Hi-fi screen"/>
          <p:cNvPicPr>
            <a:picLocks noChangeAspect="1"/>
          </p:cNvPicPr>
          <p:nvPr/>
        </p:nvPicPr>
        <p:blipFill>
          <a:blip r:embed="rId8"/>
          <a:srcRect b="8685"/>
          <a:stretch>
            <a:fillRect/>
          </a:stretch>
        </p:blipFill>
        <p:spPr>
          <a:xfrm>
            <a:off x="3127654" y="3961892"/>
            <a:ext cx="2140102" cy="1337563"/>
          </a:xfrm>
          <a:prstGeom prst="rect">
            <a:avLst/>
          </a:prstGeom>
          <a:ln w="9525">
            <a:solidFill>
              <a:srgbClr val="D3D6DC"/>
            </a:solidFill>
          </a:ln>
        </p:spPr>
      </p:pic>
      <p:sp>
        <p:nvSpPr>
          <p:cNvPr id="117" name="Cap 7"/>
          <p:cNvSpPr txBox="1"/>
          <p:nvPr/>
        </p:nvSpPr>
        <p:spPr>
          <a:xfrm>
            <a:off x="3127654" y="535432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07  </a:t>
            </a:r>
            <a:r>
              <a:rPr lang="en-US" sz="1050" spc="0" dirty="0">
                <a:solidFill>
                  <a:srgbClr val="14161D"/>
                </a:solidFill>
                <a:latin typeface="Helvetica Neue Medium"/>
                <a:cs typeface="Helvetica Neue Medium"/>
              </a:rPr>
              <a:t>Read-only request</a:t>
            </a:r>
          </a:p>
          <a:p>
            <a:pPr algn="l">
              <a:lnSpc>
                <a:spcPct val="100000"/>
              </a:lnSpc>
              <a:spcAft>
                <a:spcPts val="0"/>
              </a:spcAft>
            </a:pPr>
            <a:r>
              <a:rPr lang="en-US" sz="950" spc="0" dirty="0">
                <a:solidFill>
                  <a:srgbClr val="858A97"/>
                </a:solidFill>
                <a:latin typeface="Helvetica Neue Light"/>
                <a:cs typeface="Helvetica Neue Light"/>
              </a:rPr>
              <a:t>Manager</a:t>
            </a:r>
          </a:p>
        </p:txBody>
      </p:sp>
      <p:pic>
        <p:nvPicPr>
          <p:cNvPr id="118" name="Hi-fi screen"/>
          <p:cNvPicPr>
            <a:picLocks noChangeAspect="1"/>
          </p:cNvPicPr>
          <p:nvPr/>
        </p:nvPicPr>
        <p:blipFill>
          <a:blip r:embed="rId9"/>
          <a:srcRect b="8685"/>
          <a:stretch>
            <a:fillRect/>
          </a:stretch>
        </p:blipFill>
        <p:spPr>
          <a:xfrm>
            <a:off x="5432348" y="3961892"/>
            <a:ext cx="2140102" cy="1337563"/>
          </a:xfrm>
          <a:prstGeom prst="rect">
            <a:avLst/>
          </a:prstGeom>
          <a:ln w="9525">
            <a:solidFill>
              <a:srgbClr val="D3D6DC"/>
            </a:solidFill>
          </a:ln>
        </p:spPr>
      </p:pic>
      <p:sp>
        <p:nvSpPr>
          <p:cNvPr id="119" name="Cap 8"/>
          <p:cNvSpPr txBox="1"/>
          <p:nvPr/>
        </p:nvSpPr>
        <p:spPr>
          <a:xfrm>
            <a:off x="5432348" y="535432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08  </a:t>
            </a:r>
            <a:r>
              <a:rPr lang="en-US" sz="1050" spc="0" dirty="0">
                <a:solidFill>
                  <a:srgbClr val="14161D"/>
                </a:solidFill>
                <a:latin typeface="Helvetica Neue Medium"/>
                <a:cs typeface="Helvetica Neue Medium"/>
              </a:rPr>
              <a:t>Workflow history</a:t>
            </a:r>
          </a:p>
          <a:p>
            <a:pPr algn="l">
              <a:lnSpc>
                <a:spcPct val="100000"/>
              </a:lnSpc>
              <a:spcAft>
                <a:spcPts val="0"/>
              </a:spcAft>
            </a:pPr>
            <a:r>
              <a:rPr lang="en-US" sz="950" spc="0" dirty="0">
                <a:solidFill>
                  <a:srgbClr val="858A97"/>
                </a:solidFill>
                <a:latin typeface="Helvetica Neue Light"/>
                <a:cs typeface="Helvetica Neue Light"/>
              </a:rPr>
              <a:t>Manager</a:t>
            </a:r>
          </a:p>
        </p:txBody>
      </p:sp>
      <p:pic>
        <p:nvPicPr>
          <p:cNvPr id="120" name="Hi-fi screen"/>
          <p:cNvPicPr>
            <a:picLocks noChangeAspect="1"/>
          </p:cNvPicPr>
          <p:nvPr/>
        </p:nvPicPr>
        <p:blipFill>
          <a:blip r:embed="rId10"/>
          <a:srcRect b="8759"/>
          <a:stretch>
            <a:fillRect/>
          </a:stretch>
        </p:blipFill>
        <p:spPr>
          <a:xfrm>
            <a:off x="7737043" y="3961892"/>
            <a:ext cx="2140102" cy="1337563"/>
          </a:xfrm>
          <a:prstGeom prst="rect">
            <a:avLst/>
          </a:prstGeom>
          <a:ln w="9525">
            <a:solidFill>
              <a:srgbClr val="D3D6DC"/>
            </a:solidFill>
          </a:ln>
        </p:spPr>
      </p:pic>
      <p:sp>
        <p:nvSpPr>
          <p:cNvPr id="121" name="Cap 9"/>
          <p:cNvSpPr txBox="1"/>
          <p:nvPr/>
        </p:nvSpPr>
        <p:spPr>
          <a:xfrm>
            <a:off x="7737043" y="535432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09  </a:t>
            </a:r>
            <a:r>
              <a:rPr lang="en-US" sz="1050" spc="0" dirty="0">
                <a:solidFill>
                  <a:srgbClr val="14161D"/>
                </a:solidFill>
                <a:latin typeface="Helvetica Neue Medium"/>
                <a:cs typeface="Helvetica Neue Medium"/>
              </a:rPr>
              <a:t>Compliance digest</a:t>
            </a:r>
          </a:p>
          <a:p>
            <a:pPr algn="l">
              <a:lnSpc>
                <a:spcPct val="100000"/>
              </a:lnSpc>
              <a:spcAft>
                <a:spcPts val="0"/>
              </a:spcAft>
            </a:pPr>
            <a:r>
              <a:rPr lang="en-US" sz="950" spc="0" dirty="0">
                <a:solidFill>
                  <a:srgbClr val="858A97"/>
                </a:solidFill>
                <a:latin typeface="Helvetica Neue Light"/>
                <a:cs typeface="Helvetica Neue Light"/>
              </a:rPr>
              <a:t>Compliance</a:t>
            </a:r>
          </a:p>
        </p:txBody>
      </p:sp>
      <p:pic>
        <p:nvPicPr>
          <p:cNvPr id="122" name="Hi-fi screen"/>
          <p:cNvPicPr>
            <a:picLocks noChangeAspect="1"/>
          </p:cNvPicPr>
          <p:nvPr/>
        </p:nvPicPr>
        <p:blipFill>
          <a:blip r:embed="rId11"/>
          <a:srcRect b="8685"/>
          <a:stretch>
            <a:fillRect/>
          </a:stretch>
        </p:blipFill>
        <p:spPr>
          <a:xfrm>
            <a:off x="10041737" y="3961892"/>
            <a:ext cx="2140102" cy="1337563"/>
          </a:xfrm>
          <a:prstGeom prst="rect">
            <a:avLst/>
          </a:prstGeom>
          <a:ln w="9525">
            <a:solidFill>
              <a:srgbClr val="D3D6DC"/>
            </a:solidFill>
          </a:ln>
        </p:spPr>
      </p:pic>
      <p:sp>
        <p:nvSpPr>
          <p:cNvPr id="123" name="Cap 10"/>
          <p:cNvSpPr txBox="1"/>
          <p:nvPr/>
        </p:nvSpPr>
        <p:spPr>
          <a:xfrm>
            <a:off x="10041737" y="535432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10  </a:t>
            </a:r>
            <a:r>
              <a:rPr lang="en-US" sz="1050" spc="0" dirty="0">
                <a:solidFill>
                  <a:srgbClr val="14161D"/>
                </a:solidFill>
                <a:latin typeface="Helvetica Neue Medium"/>
                <a:cs typeface="Helvetica Neue Medium"/>
              </a:rPr>
              <a:t>Pending queue</a:t>
            </a:r>
          </a:p>
          <a:p>
            <a:pPr algn="l">
              <a:lnSpc>
                <a:spcPct val="100000"/>
              </a:lnSpc>
              <a:spcAft>
                <a:spcPts val="0"/>
              </a:spcAft>
            </a:pPr>
            <a:r>
              <a:rPr lang="en-US" sz="950" spc="0" dirty="0">
                <a:solidFill>
                  <a:srgbClr val="858A97"/>
                </a:solidFill>
                <a:latin typeface="Helvetica Neue Light"/>
                <a:cs typeface="Helvetica Neue Light"/>
              </a:rPr>
              <a:t>Compliance</a:t>
            </a:r>
          </a:p>
        </p:txBody>
      </p:sp>
      <p:pic>
        <p:nvPicPr>
          <p:cNvPr id="124" name="Hi-fi screen"/>
          <p:cNvPicPr>
            <a:picLocks noChangeAspect="1"/>
          </p:cNvPicPr>
          <p:nvPr/>
        </p:nvPicPr>
        <p:blipFill>
          <a:blip r:embed="rId12"/>
          <a:srcRect b="8685"/>
          <a:stretch>
            <a:fillRect/>
          </a:stretch>
        </p:blipFill>
        <p:spPr>
          <a:xfrm>
            <a:off x="822960" y="5866384"/>
            <a:ext cx="2140102" cy="1337563"/>
          </a:xfrm>
          <a:prstGeom prst="rect">
            <a:avLst/>
          </a:prstGeom>
          <a:ln w="9525">
            <a:solidFill>
              <a:srgbClr val="D3D6DC"/>
            </a:solidFill>
          </a:ln>
        </p:spPr>
      </p:pic>
      <p:sp>
        <p:nvSpPr>
          <p:cNvPr id="125" name="Cap 11"/>
          <p:cNvSpPr txBox="1"/>
          <p:nvPr/>
        </p:nvSpPr>
        <p:spPr>
          <a:xfrm>
            <a:off x="822960" y="7258812"/>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11  </a:t>
            </a:r>
            <a:r>
              <a:rPr lang="en-US" sz="1050" spc="0" dirty="0">
                <a:solidFill>
                  <a:srgbClr val="14161D"/>
                </a:solidFill>
                <a:latin typeface="Helvetica Neue Medium"/>
                <a:cs typeface="Helvetica Neue Medium"/>
              </a:rPr>
              <a:t>Pipeline</a:t>
            </a:r>
          </a:p>
          <a:p>
            <a:pPr algn="l">
              <a:lnSpc>
                <a:spcPct val="100000"/>
              </a:lnSpc>
              <a:spcAft>
                <a:spcPts val="0"/>
              </a:spcAft>
            </a:pPr>
            <a:r>
              <a:rPr lang="en-US" sz="950" spc="0" dirty="0">
                <a:solidFill>
                  <a:srgbClr val="858A97"/>
                </a:solidFill>
                <a:latin typeface="Helvetica Neue Light"/>
                <a:cs typeface="Helvetica Neue Light"/>
              </a:rPr>
              <a:t>Compliance</a:t>
            </a:r>
          </a:p>
        </p:txBody>
      </p:sp>
      <p:pic>
        <p:nvPicPr>
          <p:cNvPr id="126" name="Hi-fi screen"/>
          <p:cNvPicPr>
            <a:picLocks noChangeAspect="1"/>
          </p:cNvPicPr>
          <p:nvPr/>
        </p:nvPicPr>
        <p:blipFill>
          <a:blip r:embed="rId13"/>
          <a:srcRect b="8685"/>
          <a:stretch>
            <a:fillRect/>
          </a:stretch>
        </p:blipFill>
        <p:spPr>
          <a:xfrm>
            <a:off x="3127654" y="5866384"/>
            <a:ext cx="2140102" cy="1337563"/>
          </a:xfrm>
          <a:prstGeom prst="rect">
            <a:avLst/>
          </a:prstGeom>
          <a:ln w="9525">
            <a:solidFill>
              <a:srgbClr val="D3D6DC"/>
            </a:solidFill>
          </a:ln>
        </p:spPr>
      </p:pic>
      <p:sp>
        <p:nvSpPr>
          <p:cNvPr id="127" name="Cap 12"/>
          <p:cNvSpPr txBox="1"/>
          <p:nvPr/>
        </p:nvSpPr>
        <p:spPr>
          <a:xfrm>
            <a:off x="3127654" y="7258812"/>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12  </a:t>
            </a:r>
            <a:r>
              <a:rPr lang="en-US" sz="1050" spc="0" dirty="0">
                <a:solidFill>
                  <a:srgbClr val="14161D"/>
                </a:solidFill>
                <a:latin typeface="Helvetica Neue Medium"/>
                <a:cs typeface="Helvetica Neue Medium"/>
              </a:rPr>
              <a:t>Reporting search</a:t>
            </a:r>
          </a:p>
          <a:p>
            <a:pPr algn="l">
              <a:lnSpc>
                <a:spcPct val="100000"/>
              </a:lnSpc>
              <a:spcAft>
                <a:spcPts val="0"/>
              </a:spcAft>
            </a:pPr>
            <a:r>
              <a:rPr lang="en-US" sz="950" spc="0" dirty="0">
                <a:solidFill>
                  <a:srgbClr val="858A97"/>
                </a:solidFill>
                <a:latin typeface="Helvetica Neue Light"/>
                <a:cs typeface="Helvetica Neue Light"/>
              </a:rPr>
              <a:t>Compliance</a:t>
            </a:r>
          </a:p>
        </p:txBody>
      </p:sp>
      <p:pic>
        <p:nvPicPr>
          <p:cNvPr id="128" name="Hi-fi screen"/>
          <p:cNvPicPr>
            <a:picLocks noChangeAspect="1"/>
          </p:cNvPicPr>
          <p:nvPr/>
        </p:nvPicPr>
        <p:blipFill>
          <a:blip r:embed="rId14"/>
          <a:srcRect b="8685"/>
          <a:stretch>
            <a:fillRect/>
          </a:stretch>
        </p:blipFill>
        <p:spPr>
          <a:xfrm>
            <a:off x="5432348" y="5866384"/>
            <a:ext cx="2140102" cy="1337563"/>
          </a:xfrm>
          <a:prstGeom prst="rect">
            <a:avLst/>
          </a:prstGeom>
          <a:ln w="9525">
            <a:solidFill>
              <a:srgbClr val="D3D6DC"/>
            </a:solidFill>
          </a:ln>
        </p:spPr>
      </p:pic>
      <p:sp>
        <p:nvSpPr>
          <p:cNvPr id="129" name="Cap 13"/>
          <p:cNvSpPr txBox="1"/>
          <p:nvPr/>
        </p:nvSpPr>
        <p:spPr>
          <a:xfrm>
            <a:off x="5432348" y="7258812"/>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13  </a:t>
            </a:r>
            <a:r>
              <a:rPr lang="en-US" sz="1050" spc="0" dirty="0">
                <a:solidFill>
                  <a:srgbClr val="14161D"/>
                </a:solidFill>
                <a:latin typeface="Helvetica Neue Medium"/>
                <a:cs typeface="Helvetica Neue Medium"/>
              </a:rPr>
              <a:t>Reporting results</a:t>
            </a:r>
          </a:p>
          <a:p>
            <a:pPr algn="l">
              <a:lnSpc>
                <a:spcPct val="100000"/>
              </a:lnSpc>
              <a:spcAft>
                <a:spcPts val="0"/>
              </a:spcAft>
            </a:pPr>
            <a:r>
              <a:rPr lang="en-US" sz="950" spc="0" dirty="0">
                <a:solidFill>
                  <a:srgbClr val="858A97"/>
                </a:solidFill>
                <a:latin typeface="Helvetica Neue Light"/>
                <a:cs typeface="Helvetica Neue Light"/>
              </a:rPr>
              <a:t>Compliance</a:t>
            </a:r>
          </a:p>
        </p:txBody>
      </p:sp>
      <p:pic>
        <p:nvPicPr>
          <p:cNvPr id="130" name="Hi-fi screen"/>
          <p:cNvPicPr>
            <a:picLocks noChangeAspect="1"/>
          </p:cNvPicPr>
          <p:nvPr/>
        </p:nvPicPr>
        <p:blipFill>
          <a:blip r:embed="rId15"/>
          <a:srcRect b="22521"/>
          <a:stretch>
            <a:fillRect/>
          </a:stretch>
        </p:blipFill>
        <p:spPr>
          <a:xfrm>
            <a:off x="7737043" y="5866384"/>
            <a:ext cx="2140102" cy="1337563"/>
          </a:xfrm>
          <a:prstGeom prst="rect">
            <a:avLst/>
          </a:prstGeom>
          <a:ln w="9525">
            <a:solidFill>
              <a:srgbClr val="D3D6DC"/>
            </a:solidFill>
          </a:ln>
        </p:spPr>
      </p:pic>
      <p:sp>
        <p:nvSpPr>
          <p:cNvPr id="131" name="Cap 14"/>
          <p:cNvSpPr txBox="1"/>
          <p:nvPr/>
        </p:nvSpPr>
        <p:spPr>
          <a:xfrm>
            <a:off x="7737043" y="7258812"/>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14  </a:t>
            </a:r>
            <a:r>
              <a:rPr lang="en-US" sz="1050" spc="0" dirty="0">
                <a:solidFill>
                  <a:srgbClr val="14161D"/>
                </a:solidFill>
                <a:latin typeface="Helvetica Neue Medium"/>
                <a:cs typeface="Helvetica Neue Medium"/>
              </a:rPr>
              <a:t>Decision email</a:t>
            </a:r>
          </a:p>
          <a:p>
            <a:pPr algn="l">
              <a:lnSpc>
                <a:spcPct val="100000"/>
              </a:lnSpc>
              <a:spcAft>
                <a:spcPts val="0"/>
              </a:spcAft>
            </a:pPr>
            <a:r>
              <a:rPr lang="en-US" sz="950" spc="0" dirty="0">
                <a:solidFill>
                  <a:srgbClr val="858A97"/>
                </a:solidFill>
                <a:latin typeface="Helvetica Neue Light"/>
                <a:cs typeface="Helvetica Neue Light"/>
              </a:rPr>
              <a:t>Employee</a:t>
            </a:r>
          </a:p>
        </p:txBody>
      </p:sp>
      <p:cxnSp>
        <p:nvCxnSpPr>
          <p:cNvPr id="132" name="Divider"/>
          <p:cNvCxnSpPr/>
          <p:nvPr/>
        </p:nvCxnSpPr>
        <p:spPr>
          <a:xfrm>
            <a:off x="10041737" y="5866384"/>
            <a:ext cx="2140102" cy="0"/>
          </a:xfrm>
          <a:prstGeom prst="line">
            <a:avLst/>
          </a:prstGeom>
          <a:ln w="28575">
            <a:solidFill>
              <a:srgbClr val="B5531F"/>
            </a:solidFill>
          </a:ln>
        </p:spPr>
      </p:cxnSp>
      <p:sp>
        <p:nvSpPr>
          <p:cNvPr id="133" name="Prototype tile">
            <a:hlinkClick r:id="rId16"/>
          </p:cNvPr>
          <p:cNvSpPr txBox="1"/>
          <p:nvPr/>
        </p:nvSpPr>
        <p:spPr>
          <a:xfrm>
            <a:off x="10041737" y="6003544"/>
            <a:ext cx="2140102" cy="1337563"/>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B5531F"/>
                </a:solidFill>
                <a:latin typeface="Helvetica Neue Medium"/>
                <a:cs typeface="Helvetica Neue Medium"/>
              </a:rPr>
              <a:t>TRY IT</a:t>
            </a:r>
          </a:p>
          <a:p>
            <a:pPr algn="l">
              <a:lnSpc>
                <a:spcPct val="115000"/>
              </a:lnSpc>
              <a:spcAft>
                <a:spcPts val="300"/>
              </a:spcAft>
            </a:pPr>
            <a:r>
              <a:rPr lang="en-US" sz="1400" u="sng" spc="0" dirty="0">
                <a:solidFill>
                  <a:srgbClr val="B5531F"/>
                </a:solidFill>
                <a:latin typeface="Helvetica Neue Medium"/>
                <a:cs typeface="Helvetica Neue Medium"/>
              </a:rPr>
              <a:t>Open the prototype →</a:t>
            </a:r>
          </a:p>
          <a:p>
            <a:pPr algn="l">
              <a:lnSpc>
                <a:spcPct val="115000"/>
              </a:lnSpc>
              <a:spcAft>
                <a:spcPts val="300"/>
              </a:spcAft>
            </a:pPr>
            <a:r>
              <a:rPr lang="en-US" sz="1050" spc="0" dirty="0">
                <a:solidFill>
                  <a:srgbClr val="858A97"/>
                </a:solidFill>
                <a:latin typeface="Helvetica Neue Light"/>
                <a:cs typeface="Helvetica Neue Light"/>
              </a:rPr>
              <a:t>Starts at the welcome screen</a:t>
            </a:r>
          </a:p>
        </p:txBody>
      </p:sp>
      <p:pic>
        <p:nvPicPr>
          <p:cNvPr id="134" name="gradient strip" descr="gradient strip"/>
          <p:cNvPicPr>
            <a:picLocks noChangeAspect="1"/>
          </p:cNvPicPr>
          <p:nvPr/>
        </p:nvPicPr>
        <p:blipFill>
          <a:blip r:embed="rId17"/>
          <a:stretch>
            <a:fillRect/>
          </a:stretch>
        </p:blipFill>
        <p:spPr>
          <a:xfrm>
            <a:off x="0" y="9285427"/>
            <a:ext cx="13004800" cy="468173"/>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Experience design strategy</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Based on POC 2 from the design thinking process, and thumbnail sketches.</a:t>
            </a:r>
          </a:p>
        </p:txBody>
      </p:sp>
      <p:pic>
        <p:nvPicPr>
          <p:cNvPr id="104" name="Picture 1" descr="image.png"/>
          <p:cNvPicPr>
            <a:picLocks noChangeAspect="1"/>
          </p:cNvPicPr>
          <p:nvPr/>
        </p:nvPicPr>
        <p:blipFill>
          <a:blip r:embed="rId2"/>
          <a:stretch>
            <a:fillRect/>
          </a:stretch>
        </p:blipFill>
        <p:spPr>
          <a:xfrm>
            <a:off x="9423711" y="2011680"/>
            <a:ext cx="2756095" cy="3580347"/>
          </a:xfrm>
          <a:prstGeom prst="rect">
            <a:avLst/>
          </a:prstGeom>
          <a:ln w="9525">
            <a:solidFill>
              <a:srgbClr val="D3D6DC"/>
            </a:solidFill>
          </a:ln>
        </p:spPr>
      </p:pic>
      <p:pic>
        <p:nvPicPr>
          <p:cNvPr id="105" name="Picture 2" descr="image.png"/>
          <p:cNvPicPr>
            <a:picLocks noChangeAspect="1"/>
          </p:cNvPicPr>
          <p:nvPr/>
        </p:nvPicPr>
        <p:blipFill>
          <a:blip r:embed="rId3"/>
          <a:stretch>
            <a:fillRect/>
          </a:stretch>
        </p:blipFill>
        <p:spPr>
          <a:xfrm>
            <a:off x="9746880" y="5263566"/>
            <a:ext cx="2030375" cy="1830035"/>
          </a:xfrm>
          <a:prstGeom prst="rect">
            <a:avLst/>
          </a:prstGeom>
          <a:ln w="9525">
            <a:solidFill>
              <a:srgbClr val="D3D6DC"/>
            </a:solidFill>
          </a:ln>
        </p:spPr>
      </p:pic>
      <p:pic>
        <p:nvPicPr>
          <p:cNvPr id="106" name="Picture 3" descr="image.png"/>
          <p:cNvPicPr>
            <a:picLocks noChangeAspect="1"/>
          </p:cNvPicPr>
          <p:nvPr/>
        </p:nvPicPr>
        <p:blipFill>
          <a:blip r:embed="rId4"/>
          <a:stretch>
            <a:fillRect/>
          </a:stretch>
        </p:blipFill>
        <p:spPr>
          <a:xfrm>
            <a:off x="8169826" y="3234501"/>
            <a:ext cx="1688382" cy="1815196"/>
          </a:xfrm>
          <a:prstGeom prst="rect">
            <a:avLst/>
          </a:prstGeom>
          <a:ln w="9525">
            <a:solidFill>
              <a:srgbClr val="D3D6DC"/>
            </a:solidFill>
          </a:ln>
        </p:spPr>
      </p:pic>
      <p:pic>
        <p:nvPicPr>
          <p:cNvPr id="107" name="Picture 4" descr="image.png"/>
          <p:cNvPicPr>
            <a:picLocks noChangeAspect="1"/>
          </p:cNvPicPr>
          <p:nvPr/>
        </p:nvPicPr>
        <p:blipFill>
          <a:blip r:embed="rId5"/>
          <a:stretch>
            <a:fillRect/>
          </a:stretch>
        </p:blipFill>
        <p:spPr>
          <a:xfrm>
            <a:off x="7524314" y="5409122"/>
            <a:ext cx="2453369" cy="2911917"/>
          </a:xfrm>
          <a:prstGeom prst="rect">
            <a:avLst/>
          </a:prstGeom>
          <a:ln w="9525">
            <a:solidFill>
              <a:srgbClr val="D3D6DC"/>
            </a:solidFill>
          </a:ln>
        </p:spPr>
      </p:pic>
      <p:pic>
        <p:nvPicPr>
          <p:cNvPr id="108" name="Picture 5" descr="image.png"/>
          <p:cNvPicPr>
            <a:picLocks noChangeAspect="1"/>
          </p:cNvPicPr>
          <p:nvPr/>
        </p:nvPicPr>
        <p:blipFill>
          <a:blip r:embed="rId6"/>
          <a:stretch>
            <a:fillRect/>
          </a:stretch>
        </p:blipFill>
        <p:spPr>
          <a:xfrm>
            <a:off x="10344447" y="6877758"/>
            <a:ext cx="1835360" cy="1442637"/>
          </a:xfrm>
          <a:prstGeom prst="rect">
            <a:avLst/>
          </a:prstGeom>
          <a:ln w="9525">
            <a:solidFill>
              <a:srgbClr val="D3D6DC"/>
            </a:solidFill>
          </a:ln>
        </p:spPr>
      </p:pic>
      <p:sp>
        <p:nvSpPr>
          <p:cNvPr id="109" name="Learned"/>
          <p:cNvSpPr txBox="1"/>
          <p:nvPr/>
        </p:nvSpPr>
        <p:spPr>
          <a:xfrm>
            <a:off x="822960" y="2194560"/>
            <a:ext cx="493776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FROM DISCOVERY AND DESIGN THINKING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Risk &amp; Compliance managers need a dashboard to understand and filter request statuses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Reporting and other major functions, with sharing and alerts to second-line managers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Employees were often confused about which form they needed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They needed education on why, how and when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They needed to know what to expect when they came back</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One central place to see every submitted request</a:t>
            </a:r>
          </a:p>
        </p:txBody>
      </p:sp>
      <p:pic>
        <p:nvPicPr>
          <p:cNvPr id="110" name="gradient strip" descr="gradient strip"/>
          <p:cNvPicPr>
            <a:picLocks noChangeAspect="1"/>
          </p:cNvPicPr>
          <p:nvPr/>
        </p:nvPicPr>
        <p:blipFill>
          <a:blip r:embed="rId7"/>
          <a:stretch>
            <a:fillRect/>
          </a:stretch>
        </p:blipFill>
        <p:spPr>
          <a:xfrm>
            <a:off x="0" y="9285427"/>
            <a:ext cx="13004800" cy="468173"/>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Dashboard design sprint: second iteration</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The first iterations put education front and center. Testing showed newer users needed it, but not all.</a:t>
            </a:r>
          </a:p>
        </p:txBody>
      </p:sp>
      <p:pic>
        <p:nvPicPr>
          <p:cNvPr id="104" name="Picture 1" descr="image.png"/>
          <p:cNvPicPr>
            <a:picLocks noChangeAspect="1"/>
          </p:cNvPicPr>
          <p:nvPr/>
        </p:nvPicPr>
        <p:blipFill>
          <a:blip r:embed="rId2"/>
          <a:stretch>
            <a:fillRect/>
          </a:stretch>
        </p:blipFill>
        <p:spPr>
          <a:xfrm>
            <a:off x="8611720" y="2103120"/>
            <a:ext cx="3568087" cy="6217920"/>
          </a:xfrm>
          <a:prstGeom prst="rect">
            <a:avLst/>
          </a:prstGeom>
          <a:ln w="9525">
            <a:solidFill>
              <a:srgbClr val="D3D6DC"/>
            </a:solidFill>
          </a:ln>
        </p:spPr>
      </p:pic>
      <p:sp>
        <p:nvSpPr>
          <p:cNvPr id="105" name="Learned"/>
          <p:cNvSpPr txBox="1"/>
          <p:nvPr/>
        </p:nvSpPr>
        <p:spPr>
          <a:xfrm>
            <a:off x="822960" y="2194560"/>
            <a:ext cx="484632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IN TESTING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Education was a priority for all users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Users responded to friendlier copy that described the situations they might be in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Content for Swiss users could be surfaced by user ID and location</a:t>
            </a:r>
          </a:p>
        </p:txBody>
      </p:sp>
      <p:pic>
        <p:nvPicPr>
          <p:cNvPr id="106"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Dashboard design sprint: final version</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Submitters reach a wizard that asks only 2 questions to find the right form.</a:t>
            </a:r>
          </a:p>
        </p:txBody>
      </p:sp>
      <p:pic>
        <p:nvPicPr>
          <p:cNvPr id="104" name="Picture 1" descr="image.png"/>
          <p:cNvPicPr>
            <a:picLocks noChangeAspect="1"/>
          </p:cNvPicPr>
          <p:nvPr/>
        </p:nvPicPr>
        <p:blipFill>
          <a:blip r:embed="rId2"/>
          <a:stretch>
            <a:fillRect/>
          </a:stretch>
        </p:blipFill>
        <p:spPr>
          <a:xfrm>
            <a:off x="5120640" y="3121472"/>
            <a:ext cx="4414870" cy="4056630"/>
          </a:xfrm>
          <a:prstGeom prst="rect">
            <a:avLst/>
          </a:prstGeom>
          <a:ln w="9525">
            <a:solidFill>
              <a:srgbClr val="D3D6DC"/>
            </a:solidFill>
          </a:ln>
        </p:spPr>
      </p:pic>
      <p:pic>
        <p:nvPicPr>
          <p:cNvPr id="105" name="Picture 2" descr="image.png"/>
          <p:cNvPicPr>
            <a:picLocks noChangeAspect="1"/>
          </p:cNvPicPr>
          <p:nvPr/>
        </p:nvPicPr>
        <p:blipFill>
          <a:blip r:embed="rId3"/>
          <a:stretch>
            <a:fillRect/>
          </a:stretch>
        </p:blipFill>
        <p:spPr>
          <a:xfrm>
            <a:off x="7564392" y="5696941"/>
            <a:ext cx="4615415" cy="1605746"/>
          </a:xfrm>
          <a:prstGeom prst="rect">
            <a:avLst/>
          </a:prstGeom>
          <a:ln w="9525">
            <a:solidFill>
              <a:srgbClr val="D3D6DC"/>
            </a:solidFill>
          </a:ln>
        </p:spPr>
      </p:pic>
      <p:sp>
        <p:nvSpPr>
          <p:cNvPr id="106" name="Caption"/>
          <p:cNvSpPr txBox="1"/>
          <p:nvPr/>
        </p:nvSpPr>
        <p:spPr>
          <a:xfrm>
            <a:off x="9740212" y="3106415"/>
            <a:ext cx="1463040" cy="274320"/>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565C6B"/>
                </a:solidFill>
                <a:latin typeface="Helvetica Neue Light"/>
                <a:cs typeface="Helvetica Neue Light"/>
              </a:rPr>
              <a:t>Final Version</a:t>
            </a:r>
          </a:p>
        </p:txBody>
      </p:sp>
      <p:sp>
        <p:nvSpPr>
          <p:cNvPr id="107" name="Learned"/>
          <p:cNvSpPr txBox="1"/>
          <p:nvPr/>
        </p:nvSpPr>
        <p:spPr>
          <a:xfrm>
            <a:off x="822960" y="2194560"/>
            <a:ext cx="393192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Easy access to education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cleaner interface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quick way to start a request</a:t>
            </a:r>
          </a:p>
        </p:txBody>
      </p:sp>
      <p:pic>
        <p:nvPicPr>
          <p:cNvPr id="108"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Landing page design sprint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Legacy requests from the previous system, OIRS, were migrated into OBI.</a:t>
            </a:r>
          </a:p>
        </p:txBody>
      </p:sp>
      <p:pic>
        <p:nvPicPr>
          <p:cNvPr id="104" name="Picture 1" descr="image.png"/>
          <p:cNvPicPr>
            <a:picLocks noChangeAspect="1"/>
          </p:cNvPicPr>
          <p:nvPr/>
        </p:nvPicPr>
        <p:blipFill>
          <a:blip r:embed="rId2"/>
          <a:stretch>
            <a:fillRect/>
          </a:stretch>
        </p:blipFill>
        <p:spPr>
          <a:xfrm>
            <a:off x="4572000" y="2692708"/>
            <a:ext cx="7607808" cy="5038742"/>
          </a:xfrm>
          <a:prstGeom prst="rect">
            <a:avLst/>
          </a:prstGeom>
          <a:ln w="9525">
            <a:solidFill>
              <a:srgbClr val="D3D6DC"/>
            </a:solidFill>
          </a:ln>
        </p:spPr>
      </p:pic>
      <p:sp>
        <p:nvSpPr>
          <p:cNvPr id="105" name="Learned"/>
          <p:cNvSpPr txBox="1"/>
          <p:nvPr/>
        </p:nvSpPr>
        <p:spPr>
          <a:xfrm>
            <a:off x="822960" y="2194560"/>
            <a:ext cx="338328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YOUR REQUESTS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Opens by default on the requester dashboard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Drafts saved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Pending requests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Completed requests</a:t>
            </a:r>
          </a:p>
        </p:txBody>
      </p:sp>
      <p:pic>
        <p:nvPicPr>
          <p:cNvPr id="106" name="gradient strip" descr="gradient strip"/>
          <p:cNvPicPr>
            <a:picLocks noChangeAspect="1"/>
          </p:cNvPicPr>
          <p:nvPr/>
        </p:nvPicPr>
        <p:blipFill>
          <a:blip r:embed="rId3"/>
          <a:stretch>
            <a:fillRect/>
          </a:stretch>
        </p:blipFill>
        <p:spPr>
          <a:xfrm>
            <a:off x="0" y="9285427"/>
            <a:ext cx="13004800" cy="468173"/>
          </a:xfrm>
          <a:prstGeom prst="rect">
            <a:avLst/>
          </a:prstGeom>
        </p:spPr>
      </p:pic>
      <p:sp>
        <p:nvSpPr>
          <p:cNvPr id="901" name="Callout text"/>
          <p:cNvSpPr txBox="1"/>
          <p:nvPr/>
        </p:nvSpPr>
        <p:spPr>
          <a:xfrm>
            <a:off x="9893808" y="6053328"/>
            <a:ext cx="2148840" cy="1627632"/>
          </a:xfrm>
          <a:prstGeom prst="rect">
            <a:avLst/>
          </a:prstGeom>
          <a:noFill/>
        </p:spPr>
        <p:txBody>
          <a:bodyPr wrap="square" lIns="45720" tIns="45720" rIns="45720" bIns="45720" anchor="ctr">
            <a:noAutofit/>
          </a:bodyPr>
          <a:lstStyle/>
          <a:p>
            <a:pPr>
              <a:lnSpc>
                <a:spcPct val="110000"/>
              </a:lnSpc>
              <a:spcAft>
                <a:spcPts val="200"/>
              </a:spcAft>
            </a:pPr>
            <a:r>
              <a:rPr lang="en-US" sz="1050" dirty="0">
                <a:solidFill>
                  <a:srgbClr val="FFFFFF"/>
                </a:solidFill>
                <a:latin typeface="Helvetica Neue Light"/>
                <a:cs typeface="Helvetica Neue Light"/>
              </a:rPr>
              <a:t>The landing page shows the requester dashboard. “Your Requests” opens by default, in three sections:</a:t>
            </a:r>
          </a:p>
          <a:p>
            <a:pPr>
              <a:lnSpc>
                <a:spcPct val="110000"/>
              </a:lnSpc>
              <a:spcAft>
                <a:spcPts val="200"/>
              </a:spcAft>
            </a:pPr>
            <a:r>
              <a:rPr lang="en-US" sz="1050" dirty="0">
                <a:solidFill>
                  <a:srgbClr val="FFFFFF"/>
                </a:solidFill>
                <a:latin typeface="Helvetica Neue Light"/>
                <a:cs typeface="Helvetica Neue Light"/>
              </a:rPr>
              <a:t>1. Drafts saved</a:t>
            </a:r>
          </a:p>
          <a:p>
            <a:pPr>
              <a:lnSpc>
                <a:spcPct val="110000"/>
              </a:lnSpc>
              <a:spcAft>
                <a:spcPts val="200"/>
              </a:spcAft>
            </a:pPr>
            <a:r>
              <a:rPr lang="en-US" sz="1050" dirty="0">
                <a:solidFill>
                  <a:srgbClr val="FFFFFF"/>
                </a:solidFill>
                <a:latin typeface="Helvetica Neue Light"/>
                <a:cs typeface="Helvetica Neue Light"/>
              </a:rPr>
              <a:t>2. Pending requests</a:t>
            </a:r>
          </a:p>
          <a:p>
            <a:pPr>
              <a:lnSpc>
                <a:spcPct val="110000"/>
              </a:lnSpc>
              <a:spcAft>
                <a:spcPts val="200"/>
              </a:spcAft>
            </a:pPr>
            <a:r>
              <a:rPr lang="en-US" sz="1050" dirty="0">
                <a:solidFill>
                  <a:srgbClr val="FFFFFF"/>
                </a:solidFill>
                <a:latin typeface="Helvetica Neue Light"/>
                <a:cs typeface="Helvetica Neue Light"/>
              </a:rPr>
              <a:t>3. Completed requests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Proxy request design sprint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For people who can’t access OBI to make the disclosures they need to.</a:t>
            </a:r>
          </a:p>
        </p:txBody>
      </p:sp>
      <p:pic>
        <p:nvPicPr>
          <p:cNvPr id="104" name="Picture 2" descr="image.png"/>
          <p:cNvPicPr>
            <a:picLocks noChangeAspect="1"/>
          </p:cNvPicPr>
          <p:nvPr/>
        </p:nvPicPr>
        <p:blipFill>
          <a:blip r:embed="rId2"/>
          <a:stretch>
            <a:fillRect/>
          </a:stretch>
        </p:blipFill>
        <p:spPr>
          <a:xfrm>
            <a:off x="822960" y="2286000"/>
            <a:ext cx="6949440" cy="4594929"/>
          </a:xfrm>
          <a:prstGeom prst="rect">
            <a:avLst/>
          </a:prstGeom>
          <a:ln w="9525">
            <a:solidFill>
              <a:srgbClr val="D3D6DC"/>
            </a:solidFill>
          </a:ln>
        </p:spPr>
      </p:pic>
      <p:pic>
        <p:nvPicPr>
          <p:cNvPr id="105" name="Picture 3" descr="image.png"/>
          <p:cNvPicPr>
            <a:picLocks noChangeAspect="1"/>
          </p:cNvPicPr>
          <p:nvPr/>
        </p:nvPicPr>
        <p:blipFill>
          <a:blip r:embed="rId3"/>
          <a:stretch>
            <a:fillRect/>
          </a:stretch>
        </p:blipFill>
        <p:spPr>
          <a:xfrm>
            <a:off x="8993220" y="4301231"/>
            <a:ext cx="2285806" cy="2579697"/>
          </a:xfrm>
          <a:prstGeom prst="rect">
            <a:avLst/>
          </a:prstGeom>
          <a:ln w="9525">
            <a:solidFill>
              <a:srgbClr val="D3D6DC"/>
            </a:solidFill>
          </a:ln>
        </p:spPr>
      </p:pic>
      <p:pic>
        <p:nvPicPr>
          <p:cNvPr id="106" name="Picture 1" descr="image.png"/>
          <p:cNvPicPr>
            <a:picLocks noChangeAspect="1"/>
          </p:cNvPicPr>
          <p:nvPr/>
        </p:nvPicPr>
        <p:blipFill>
          <a:blip r:embed="rId4"/>
          <a:stretch>
            <a:fillRect/>
          </a:stretch>
        </p:blipFill>
        <p:spPr>
          <a:xfrm>
            <a:off x="8993220" y="2286000"/>
            <a:ext cx="2285806" cy="1832351"/>
          </a:xfrm>
          <a:prstGeom prst="rect">
            <a:avLst/>
          </a:prstGeom>
          <a:ln w="9525">
            <a:solidFill>
              <a:srgbClr val="D3D6DC"/>
            </a:solidFill>
          </a:ln>
        </p:spPr>
      </p:pic>
      <p:pic>
        <p:nvPicPr>
          <p:cNvPr id="108" name="gradient strip" descr="gradient strip"/>
          <p:cNvPicPr>
            <a:picLocks noChangeAspect="1"/>
          </p:cNvPicPr>
          <p:nvPr/>
        </p:nvPicPr>
        <p:blipFill>
          <a:blip r:embed="rId5"/>
          <a:stretch>
            <a:fillRect/>
          </a:stretch>
        </p:blipFill>
        <p:spPr>
          <a:xfrm>
            <a:off x="0" y="9285427"/>
            <a:ext cx="13004800" cy="468173"/>
          </a:xfrm>
          <a:prstGeom prst="rect">
            <a:avLst/>
          </a:prstGeom>
        </p:spPr>
      </p:pic>
      <p:sp>
        <p:nvSpPr>
          <p:cNvPr id="902" name="Callout text"/>
          <p:cNvSpPr txBox="1"/>
          <p:nvPr/>
        </p:nvSpPr>
        <p:spPr>
          <a:xfrm>
            <a:off x="4890924" y="3387740"/>
            <a:ext cx="2542478" cy="677994"/>
          </a:xfrm>
          <a:prstGeom prst="rect">
            <a:avLst/>
          </a:prstGeom>
          <a:noFill/>
        </p:spPr>
        <p:txBody>
          <a:bodyPr wrap="square" lIns="45720" tIns="45720" rIns="45720" bIns="45720" anchor="ctr">
            <a:noAutofit/>
          </a:bodyPr>
          <a:lstStyle/>
          <a:p>
            <a:pPr>
              <a:lnSpc>
                <a:spcPct val="110000"/>
              </a:lnSpc>
              <a:spcAft>
                <a:spcPts val="200"/>
              </a:spcAft>
            </a:pPr>
            <a:r>
              <a:rPr lang="en-US" sz="950" dirty="0">
                <a:solidFill>
                  <a:srgbClr val="FFFFFF"/>
                </a:solidFill>
                <a:latin typeface="Helvetica Neue Light"/>
                <a:cs typeface="Helvetica Neue Light"/>
              </a:rPr>
              <a:t>For people who can’t access OBI themselves to make the disclosures they need to, OBI has proxy functions.</a:t>
            </a:r>
          </a:p>
        </p:txBody>
      </p:sp>
      <p:sp>
        <p:nvSpPr>
          <p:cNvPr id="903" name="Callout text"/>
          <p:cNvSpPr txBox="1"/>
          <p:nvPr/>
        </p:nvSpPr>
        <p:spPr>
          <a:xfrm>
            <a:off x="1161957" y="6014967"/>
            <a:ext cx="2542478" cy="847492"/>
          </a:xfrm>
          <a:prstGeom prst="rect">
            <a:avLst/>
          </a:prstGeom>
          <a:noFill/>
        </p:spPr>
        <p:txBody>
          <a:bodyPr wrap="square" lIns="45720" tIns="45720" rIns="45720" bIns="45720" anchor="ctr">
            <a:noAutofit/>
          </a:bodyPr>
          <a:lstStyle/>
          <a:p>
            <a:pPr>
              <a:lnSpc>
                <a:spcPct val="110000"/>
              </a:lnSpc>
              <a:spcAft>
                <a:spcPts val="200"/>
              </a:spcAft>
            </a:pPr>
            <a:r>
              <a:rPr lang="en-US" sz="950" dirty="0">
                <a:solidFill>
                  <a:srgbClr val="FFFFFF"/>
                </a:solidFill>
                <a:latin typeface="Helvetica Neue Light"/>
                <a:cs typeface="Helvetica Neue Light"/>
              </a:rPr>
              <a:t>Staff can name colleagues to act as proxies. A proxy can submit requests on behalf of anyone who has given them permission.</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Reporting design sprint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Risk &amp; Compliance managers find any request and export the results.</a:t>
            </a:r>
          </a:p>
        </p:txBody>
      </p:sp>
      <p:pic>
        <p:nvPicPr>
          <p:cNvPr id="104" name="Picture 1" descr="image.png"/>
          <p:cNvPicPr>
            <a:picLocks noChangeAspect="1"/>
          </p:cNvPicPr>
          <p:nvPr/>
        </p:nvPicPr>
        <p:blipFill>
          <a:blip r:embed="rId2"/>
          <a:stretch>
            <a:fillRect/>
          </a:stretch>
        </p:blipFill>
        <p:spPr>
          <a:xfrm>
            <a:off x="6902266" y="2011680"/>
            <a:ext cx="5277541" cy="6309360"/>
          </a:xfrm>
          <a:prstGeom prst="rect">
            <a:avLst/>
          </a:prstGeom>
          <a:ln w="9525">
            <a:solidFill>
              <a:srgbClr val="D3D6DC"/>
            </a:solidFill>
          </a:ln>
        </p:spPr>
      </p:pic>
      <p:sp>
        <p:nvSpPr>
          <p:cNvPr id="105" name="Learned"/>
          <p:cNvSpPr txBox="1"/>
          <p:nvPr/>
        </p:nvSpPr>
        <p:spPr>
          <a:xfrm>
            <a:off x="822960" y="2194560"/>
            <a:ext cx="384048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SEARCH BY</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Request ID and requester</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Status and type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Submission dates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Company and office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Export to Excel or PDF</a:t>
            </a:r>
          </a:p>
        </p:txBody>
      </p:sp>
      <p:pic>
        <p:nvPicPr>
          <p:cNvPr id="106"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KEY CALLS</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14161D"/>
                </a:solidFill>
                <a:latin typeface="Helvetica Neue Medium"/>
                <a:cs typeface="Helvetica Neue Medium"/>
              </a:rPr>
              <a:t>Four calls that </a:t>
            </a:r>
            <a:r>
              <a:rPr lang="en-US" sz="4400" spc="-40" dirty="0">
                <a:solidFill>
                  <a:srgbClr val="B5531F"/>
                </a:solidFill>
                <a:latin typeface="Helvetica Neue Medium"/>
                <a:cs typeface="Helvetica Neue Medium"/>
              </a:rPr>
              <a:t>shaped OBI</a:t>
            </a:r>
            <a:r>
              <a:rPr lang="en-US" sz="4400" spc="-40" dirty="0">
                <a:solidFill>
                  <a:srgbClr val="14161D"/>
                </a:solidFill>
                <a:latin typeface="Helvetica Neue Medium"/>
                <a:cs typeface="Helvetica Neue Medium"/>
              </a:rPr>
              <a:t>.</a:t>
            </a:r>
          </a:p>
        </p:txBody>
      </p:sp>
      <p:cxnSp>
        <p:nvCxnSpPr>
          <p:cNvPr id="103" name="Divider"/>
          <p:cNvCxnSpPr/>
          <p:nvPr/>
        </p:nvCxnSpPr>
        <p:spPr>
          <a:xfrm>
            <a:off x="822960" y="3566160"/>
            <a:ext cx="5427980" cy="0"/>
          </a:xfrm>
          <a:prstGeom prst="line">
            <a:avLst/>
          </a:prstGeom>
          <a:ln w="9525">
            <a:solidFill>
              <a:srgbClr val="E1E3E8"/>
            </a:solidFill>
          </a:ln>
        </p:spPr>
      </p:cxnSp>
      <p:sp>
        <p:nvSpPr>
          <p:cNvPr id="104" name="A separate dashboard for submitters title"/>
          <p:cNvSpPr txBox="1"/>
          <p:nvPr/>
        </p:nvSpPr>
        <p:spPr>
          <a:xfrm>
            <a:off x="8229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A separate dashboard for submitters</a:t>
            </a:r>
          </a:p>
        </p:txBody>
      </p:sp>
      <p:sp>
        <p:nvSpPr>
          <p:cNvPr id="105" name="A separate dashboard for submitters body"/>
          <p:cNvSpPr txBox="1"/>
          <p:nvPr/>
        </p:nvSpPr>
        <p:spPr>
          <a:xfrm>
            <a:off x="8229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Testing showed submitters needed their own starting point, with forms that reveal one step at a time.</a:t>
            </a:r>
          </a:p>
        </p:txBody>
      </p:sp>
      <p:cxnSp>
        <p:nvCxnSpPr>
          <p:cNvPr id="106" name="Divider"/>
          <p:cNvCxnSpPr/>
          <p:nvPr/>
        </p:nvCxnSpPr>
        <p:spPr>
          <a:xfrm>
            <a:off x="6753860" y="3566160"/>
            <a:ext cx="5427980" cy="0"/>
          </a:xfrm>
          <a:prstGeom prst="line">
            <a:avLst/>
          </a:prstGeom>
          <a:ln w="9525">
            <a:solidFill>
              <a:srgbClr val="E1E3E8"/>
            </a:solidFill>
          </a:ln>
        </p:spPr>
      </p:cxnSp>
      <p:sp>
        <p:nvSpPr>
          <p:cNvPr id="107" name="Two questions pick the form title"/>
          <p:cNvSpPr txBox="1"/>
          <p:nvPr/>
        </p:nvSpPr>
        <p:spPr>
          <a:xfrm>
            <a:off x="67538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Two questions pick the form</a:t>
            </a:r>
          </a:p>
        </p:txBody>
      </p:sp>
      <p:sp>
        <p:nvSpPr>
          <p:cNvPr id="108" name="Two questions pick the form body"/>
          <p:cNvSpPr txBox="1"/>
          <p:nvPr/>
        </p:nvSpPr>
        <p:spPr>
          <a:xfrm>
            <a:off x="67538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Employees didn’t know which form applied. A short wizard asks two questions and opens the right one.</a:t>
            </a:r>
          </a:p>
        </p:txBody>
      </p:sp>
      <p:cxnSp>
        <p:nvCxnSpPr>
          <p:cNvPr id="109" name="Divider"/>
          <p:cNvCxnSpPr/>
          <p:nvPr/>
        </p:nvCxnSpPr>
        <p:spPr>
          <a:xfrm>
            <a:off x="822960" y="5806440"/>
            <a:ext cx="5427980" cy="0"/>
          </a:xfrm>
          <a:prstGeom prst="line">
            <a:avLst/>
          </a:prstGeom>
          <a:ln w="9525">
            <a:solidFill>
              <a:srgbClr val="E1E3E8"/>
            </a:solidFill>
          </a:ln>
        </p:spPr>
      </p:cxnSp>
      <p:sp>
        <p:nvSpPr>
          <p:cNvPr id="110" name="Education written as scenarios title"/>
          <p:cNvSpPr txBox="1"/>
          <p:nvPr/>
        </p:nvSpPr>
        <p:spPr>
          <a:xfrm>
            <a:off x="8229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Education written as scenarios</a:t>
            </a:r>
          </a:p>
        </p:txBody>
      </p:sp>
      <p:sp>
        <p:nvSpPr>
          <p:cNvPr id="111" name="Education written as scenarios body"/>
          <p:cNvSpPr txBox="1"/>
          <p:nvPr/>
        </p:nvSpPr>
        <p:spPr>
          <a:xfrm>
            <a:off x="8229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Every user group asked for education. Copy built around real situations tested best, after three iterations.</a:t>
            </a:r>
          </a:p>
        </p:txBody>
      </p:sp>
      <p:cxnSp>
        <p:nvCxnSpPr>
          <p:cNvPr id="112" name="Divider"/>
          <p:cNvCxnSpPr/>
          <p:nvPr/>
        </p:nvCxnSpPr>
        <p:spPr>
          <a:xfrm>
            <a:off x="6753860" y="5806440"/>
            <a:ext cx="5427980" cy="0"/>
          </a:xfrm>
          <a:prstGeom prst="line">
            <a:avLst/>
          </a:prstGeom>
          <a:ln w="9525">
            <a:solidFill>
              <a:srgbClr val="E1E3E8"/>
            </a:solidFill>
          </a:ln>
        </p:spPr>
      </p:cxnSp>
      <p:sp>
        <p:nvSpPr>
          <p:cNvPr id="113" name="Tools for approvers too title"/>
          <p:cNvSpPr txBox="1"/>
          <p:nvPr/>
        </p:nvSpPr>
        <p:spPr>
          <a:xfrm>
            <a:off x="67538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Tools for approvers too</a:t>
            </a:r>
          </a:p>
        </p:txBody>
      </p:sp>
      <p:sp>
        <p:nvSpPr>
          <p:cNvPr id="114" name="Tools for approvers too body"/>
          <p:cNvSpPr txBox="1"/>
          <p:nvPr/>
        </p:nvSpPr>
        <p:spPr>
          <a:xfrm>
            <a:off x="67538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Proxy submissions for people who can’t access OBI, and reporting by ID, status, office and date, exported to Excel or PDF.</a:t>
            </a:r>
          </a:p>
        </p:txBody>
      </p:sp>
      <p:pic>
        <p:nvPicPr>
          <p:cNvPr id="11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CREDIT SUISSE OBI · OUTCOME</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800" spc="-40" dirty="0">
                <a:solidFill>
                  <a:srgbClr val="14161D"/>
                </a:solidFill>
                <a:latin typeface="Helvetica Neue Medium"/>
                <a:cs typeface="Helvetica Neue Medium"/>
              </a:rPr>
              <a:t>Delivered: one place to submit, review and report, </a:t>
            </a:r>
            <a:r>
              <a:rPr lang="en-US" sz="3800" spc="-40" dirty="0">
                <a:solidFill>
                  <a:srgbClr val="B5531F"/>
                </a:solidFill>
                <a:latin typeface="Helvetica Neue Medium"/>
                <a:cs typeface="Helvetica Neue Medium"/>
              </a:rPr>
              <a:t>with education built in</a:t>
            </a:r>
            <a:r>
              <a:rPr lang="en-US" sz="3800" spc="-40" dirty="0">
                <a:solidFill>
                  <a:srgbClr val="14161D"/>
                </a:solidFill>
                <a:latin typeface="Helvetica Neue Medium"/>
                <a:cs typeface="Helvetica Neue Medium"/>
              </a:rPr>
              <a:t>.</a:t>
            </a:r>
          </a:p>
        </p:txBody>
      </p:sp>
      <p:sp>
        <p:nvSpPr>
          <p:cNvPr id="103" name="Shipped"/>
          <p:cNvSpPr txBox="1"/>
          <p:nvPr/>
        </p:nvSpPr>
        <p:spPr>
          <a:xfrm>
            <a:off x="822960" y="3611880"/>
            <a:ext cx="5427980" cy="429768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SHIPPED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A submitter dashboard with a 2-question wizard that opens the right form</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Your Requests: drafts, pending and completed, with legacy OIRS requests migrated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Proxy submissions for people who can’t access OBI themselves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Reporting by ID, requester, status, type, dates, company and office, exported to Excel or PDF</a:t>
            </a:r>
          </a:p>
        </p:txBody>
      </p:sp>
      <p:sp>
        <p:nvSpPr>
          <p:cNvPr id="104" name="Learned"/>
          <p:cNvSpPr txBox="1"/>
          <p:nvPr/>
        </p:nvSpPr>
        <p:spPr>
          <a:xfrm>
            <a:off x="6753860" y="3611880"/>
            <a:ext cx="5427980" cy="429768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TESTING TAUGHT US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Education matters to every user, but only newer users need it front and center</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Copy that describes real situations works better than policy language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cleaner interface and a quick start beat more options on the dashboard</a:t>
            </a:r>
          </a:p>
        </p:txBody>
      </p:sp>
      <p:pic>
        <p:nvPicPr>
          <p:cNvPr id="10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CREDIT SUISSE OBI · PROTOTYPE</a:t>
            </a:r>
          </a:p>
        </p:txBody>
      </p:sp>
      <p:sp>
        <p:nvSpPr>
          <p:cNvPr id="102" name="Headline"/>
          <p:cNvSpPr txBox="1"/>
          <p:nvPr/>
        </p:nvSpPr>
        <p:spPr>
          <a:xfrm>
            <a:off x="822960" y="1371600"/>
            <a:ext cx="11750040" cy="173736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F5F5F7"/>
                </a:solidFill>
                <a:latin typeface="Helvetica Neue Medium"/>
                <a:cs typeface="Helvetica Neue Medium"/>
              </a:rPr>
              <a:t>Follow 1 request through </a:t>
            </a:r>
            <a:r>
              <a:rPr lang="en-US" sz="4400" spc="-40" dirty="0">
                <a:solidFill>
                  <a:srgbClr val="E98C64"/>
                </a:solidFill>
                <a:latin typeface="Helvetica Neue Medium"/>
                <a:cs typeface="Helvetica Neue Medium"/>
              </a:rPr>
              <a:t>the delivered app</a:t>
            </a:r>
            <a:r>
              <a:rPr lang="en-US" sz="4400" spc="-40" dirty="0">
                <a:solidFill>
                  <a:srgbClr val="F5F5F7"/>
                </a:solidFill>
                <a:latin typeface="Helvetica Neue Medium"/>
                <a:cs typeface="Helvetica Neue Medium"/>
              </a:rPr>
              <a:t>.</a:t>
            </a:r>
          </a:p>
        </p:txBody>
      </p:sp>
      <p:sp>
        <p:nvSpPr>
          <p:cNvPr id="103" name="Body"/>
          <p:cNvSpPr txBox="1"/>
          <p:nvPr/>
        </p:nvSpPr>
        <p:spPr>
          <a:xfrm>
            <a:off x="822960" y="3246120"/>
            <a:ext cx="5120640" cy="182880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14 screens from the OBI Training Guide, linked in order: the employee submits, the manager reviews, Compliance decides, and the employee hears back.</a:t>
            </a:r>
          </a:p>
        </p:txBody>
      </p:sp>
      <p:sp>
        <p:nvSpPr>
          <p:cNvPr id="104" name="Link">
            <a:hlinkClick r:id="rId2"/>
          </p:cNvPr>
          <p:cNvSpPr txBox="1"/>
          <p:nvPr/>
        </p:nvSpPr>
        <p:spPr>
          <a:xfrm>
            <a:off x="822960" y="5257800"/>
            <a:ext cx="5120640" cy="457200"/>
          </a:xfrm>
          <a:prstGeom prst="rect">
            <a:avLst/>
          </a:prstGeom>
          <a:noFill/>
        </p:spPr>
        <p:txBody>
          <a:bodyPr wrap="square" lIns="0" tIns="0" rIns="0" bIns="0" anchor="t">
            <a:noAutofit/>
          </a:bodyPr>
          <a:lstStyle/>
          <a:p>
            <a:pPr algn="l">
              <a:lnSpc>
                <a:spcPct val="115000"/>
              </a:lnSpc>
              <a:spcAft>
                <a:spcPts val="300"/>
              </a:spcAft>
            </a:pPr>
            <a:r>
              <a:rPr lang="en-US" sz="2200" u="sng" spc="0" dirty="0">
                <a:solidFill>
                  <a:srgbClr val="E98C64"/>
                </a:solidFill>
                <a:latin typeface="Helvetica Neue Medium"/>
                <a:cs typeface="Helvetica Neue Medium"/>
              </a:rPr>
              <a:t>Open the OBI prototype →</a:t>
            </a:r>
          </a:p>
        </p:txBody>
      </p:sp>
      <p:cxnSp>
        <p:nvCxnSpPr>
          <p:cNvPr id="105" name="Divider"/>
          <p:cNvCxnSpPr/>
          <p:nvPr/>
        </p:nvCxnSpPr>
        <p:spPr>
          <a:xfrm>
            <a:off x="822960" y="6080760"/>
            <a:ext cx="5120640" cy="0"/>
          </a:xfrm>
          <a:prstGeom prst="line">
            <a:avLst/>
          </a:prstGeom>
          <a:ln w="9525">
            <a:solidFill>
              <a:srgbClr val="2C2F38"/>
            </a:solidFill>
          </a:ln>
        </p:spPr>
      </p:cxnSp>
      <p:sp>
        <p:nvSpPr>
          <p:cNvPr id="106" name="Also"/>
          <p:cNvSpPr txBox="1"/>
          <p:nvPr/>
        </p:nvSpPr>
        <p:spPr>
          <a:xfrm>
            <a:off x="822960" y="6263640"/>
            <a:ext cx="5120640" cy="146304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ALSO AVAILABLE</a:t>
            </a:r>
          </a:p>
          <a:p>
            <a:pPr algn="l">
              <a:lnSpc>
                <a:spcPct val="125000"/>
              </a:lnSpc>
              <a:spcAft>
                <a:spcPts val="300"/>
              </a:spcAft>
            </a:pPr>
            <a:r>
              <a:rPr lang="en-US" sz="1550" spc="0" dirty="0">
                <a:solidFill>
                  <a:srgbClr val="A3A8B4"/>
                </a:solidFill>
                <a:latin typeface="Helvetica Neue Light"/>
                <a:cs typeface="Helvetica Neue Light"/>
              </a:rPr>
              <a:t>An offline version with the narrative for every step and a full link map: OBI-Request-Prototype.html.</a:t>
            </a:r>
          </a:p>
        </p:txBody>
      </p:sp>
      <p:pic>
        <p:nvPicPr>
          <p:cNvPr id="107" name="Hi-fi screen"/>
          <p:cNvPicPr>
            <a:picLocks noChangeAspect="1"/>
          </p:cNvPicPr>
          <p:nvPr/>
        </p:nvPicPr>
        <p:blipFill>
          <a:blip r:embed="rId3"/>
          <a:stretch>
            <a:fillRect/>
          </a:stretch>
        </p:blipFill>
        <p:spPr>
          <a:xfrm>
            <a:off x="6400800" y="2777175"/>
            <a:ext cx="5779008" cy="3955409"/>
          </a:xfrm>
          <a:prstGeom prst="rect">
            <a:avLst/>
          </a:prstGeom>
          <a:ln w="9525">
            <a:solidFill>
              <a:srgbClr val="3A3E49"/>
            </a:solidFill>
          </a:ln>
        </p:spPr>
      </p:pic>
      <p:pic>
        <p:nvPicPr>
          <p:cNvPr id="108" name="gradient strip" descr="gradient strip"/>
          <p:cNvPicPr>
            <a:picLocks noChangeAspect="1"/>
          </p:cNvPicPr>
          <p:nvPr/>
        </p:nvPicPr>
        <p:blipFill>
          <a:blip r:embed="rId4"/>
          <a:stretch>
            <a:fillRect/>
          </a:stretch>
        </p:blipFill>
        <p:spPr>
          <a:xfrm>
            <a:off x="0" y="9285427"/>
            <a:ext cx="13004800" cy="468173"/>
          </a:xfrm>
          <a:prstGeom prst="rect">
            <a:avLst/>
          </a:prstGeom>
        </p:spPr>
      </p:pic>
      <p:sp>
        <p:nvSpPr>
          <p:cNvPr id="109" name="Workflow map link">
            <a:hlinkClick r:id="rId5"/>
          </p:cNvPr>
          <p:cNvSpPr txBox="1"/>
          <p:nvPr/>
        </p:nvSpPr>
        <p:spPr>
          <a:xfrm>
            <a:off x="822960" y="5791200"/>
            <a:ext cx="5120640" cy="355600"/>
          </a:xfrm>
          <a:prstGeom prst="rect">
            <a:avLst/>
          </a:prstGeom>
          <a:noFill/>
        </p:spPr>
        <p:txBody>
          <a:bodyPr wrap="square" lIns="0" tIns="0" rIns="0" bIns="0" anchor="t">
            <a:noAutofit/>
          </a:bodyPr>
          <a:lstStyle/>
          <a:p>
            <a:pPr algn="l">
              <a:lnSpc>
                <a:spcPct val="115000"/>
              </a:lnSpc>
              <a:spcAft>
                <a:spcPts val="300"/>
              </a:spcAft>
            </a:pPr>
            <a:r>
              <a:rPr lang="en-US" sz="1500" u="sng" spc="0" dirty="0">
                <a:solidFill>
                  <a:srgbClr val="E98C64"/>
                </a:solidFill>
                <a:latin typeface="Helvetica Neue Medium"/>
                <a:cs typeface="Helvetica Neue Medium"/>
              </a:rPr>
              <a:t>Or start at the workflow map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822960"/>
            <a:ext cx="548640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CASE STUDY 04 · CONSUMER MOBILE · DELIVERED</a:t>
            </a:r>
          </a:p>
        </p:txBody>
      </p:sp>
      <p:sp>
        <p:nvSpPr>
          <p:cNvPr id="102" name="Company"/>
          <p:cNvSpPr txBox="1"/>
          <p:nvPr/>
        </p:nvSpPr>
        <p:spPr>
          <a:xfrm>
            <a:off x="822960" y="1234440"/>
            <a:ext cx="5486400" cy="914400"/>
          </a:xfrm>
          <a:prstGeom prst="rect">
            <a:avLst/>
          </a:prstGeom>
          <a:noFill/>
        </p:spPr>
        <p:txBody>
          <a:bodyPr wrap="square" lIns="0" tIns="0" rIns="0" bIns="0" anchor="t">
            <a:noAutofit/>
          </a:bodyPr>
          <a:lstStyle/>
          <a:p>
            <a:pPr algn="l">
              <a:lnSpc>
                <a:spcPct val="90000"/>
              </a:lnSpc>
              <a:spcAft>
                <a:spcPts val="300"/>
              </a:spcAft>
            </a:pPr>
            <a:r>
              <a:rPr lang="en-US" sz="5400" spc="-40" dirty="0">
                <a:solidFill>
                  <a:srgbClr val="F5F5F7"/>
                </a:solidFill>
                <a:latin typeface="Helvetica Neue Medium"/>
                <a:cs typeface="Helvetica Neue Medium"/>
              </a:rPr>
              <a:t>Wells Fargo</a:t>
            </a:r>
          </a:p>
        </p:txBody>
      </p:sp>
      <p:sp>
        <p:nvSpPr>
          <p:cNvPr id="103" name="Project"/>
          <p:cNvSpPr txBox="1"/>
          <p:nvPr/>
        </p:nvSpPr>
        <p:spPr>
          <a:xfrm>
            <a:off x="822960" y="2240280"/>
            <a:ext cx="5486400" cy="548640"/>
          </a:xfrm>
          <a:prstGeom prst="rect">
            <a:avLst/>
          </a:prstGeom>
          <a:noFill/>
        </p:spPr>
        <p:txBody>
          <a:bodyPr wrap="square" lIns="0" tIns="0" rIns="0" bIns="0" anchor="t">
            <a:noAutofit/>
          </a:bodyPr>
          <a:lstStyle/>
          <a:p>
            <a:pPr algn="l">
              <a:lnSpc>
                <a:spcPct val="115000"/>
              </a:lnSpc>
              <a:spcAft>
                <a:spcPts val="300"/>
              </a:spcAft>
            </a:pPr>
            <a:r>
              <a:rPr lang="en-US" sz="2600" spc="0" dirty="0">
                <a:solidFill>
                  <a:srgbClr val="E98C64"/>
                </a:solidFill>
                <a:latin typeface="Helvetica Neue Medium"/>
                <a:cs typeface="Helvetica Neue Medium"/>
              </a:rPr>
              <a:t>Integrated Trade Ticket</a:t>
            </a:r>
          </a:p>
        </p:txBody>
      </p:sp>
      <p:sp>
        <p:nvSpPr>
          <p:cNvPr id="104" name="Hook"/>
          <p:cNvSpPr txBox="1"/>
          <p:nvPr/>
        </p:nvSpPr>
        <p:spPr>
          <a:xfrm>
            <a:off x="822960" y="2926080"/>
            <a:ext cx="5486400" cy="128016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Increasing revenue by letting investors trade by share quantity or dollar amount, in one simpler mobile ticket.</a:t>
            </a:r>
          </a:p>
        </p:txBody>
      </p:sp>
      <p:cxnSp>
        <p:nvCxnSpPr>
          <p:cNvPr id="105" name="Divider"/>
          <p:cNvCxnSpPr/>
          <p:nvPr/>
        </p:nvCxnSpPr>
        <p:spPr>
          <a:xfrm>
            <a:off x="822960" y="4343400"/>
            <a:ext cx="5486400" cy="0"/>
          </a:xfrm>
          <a:prstGeom prst="line">
            <a:avLst/>
          </a:prstGeom>
          <a:ln w="9525">
            <a:solidFill>
              <a:srgbClr val="2C2F38"/>
            </a:solidFill>
          </a:ln>
        </p:spPr>
      </p:cxnSp>
      <p:sp>
        <p:nvSpPr>
          <p:cNvPr id="106" name="ROLE"/>
          <p:cNvSpPr txBox="1"/>
          <p:nvPr/>
        </p:nvSpPr>
        <p:spPr>
          <a:xfrm>
            <a:off x="822960" y="4471416"/>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ROLE</a:t>
            </a:r>
          </a:p>
        </p:txBody>
      </p:sp>
      <p:sp>
        <p:nvSpPr>
          <p:cNvPr id="107" name="ROLE value"/>
          <p:cNvSpPr txBox="1"/>
          <p:nvPr/>
        </p:nvSpPr>
        <p:spPr>
          <a:xfrm>
            <a:off x="2148840" y="4443984"/>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Led the project team</a:t>
            </a:r>
          </a:p>
        </p:txBody>
      </p:sp>
      <p:cxnSp>
        <p:nvCxnSpPr>
          <p:cNvPr id="108" name="Divider"/>
          <p:cNvCxnSpPr/>
          <p:nvPr/>
        </p:nvCxnSpPr>
        <p:spPr>
          <a:xfrm>
            <a:off x="822960" y="5056632"/>
            <a:ext cx="5486400" cy="0"/>
          </a:xfrm>
          <a:prstGeom prst="line">
            <a:avLst/>
          </a:prstGeom>
          <a:ln w="9525">
            <a:solidFill>
              <a:srgbClr val="2C2F38"/>
            </a:solidFill>
          </a:ln>
        </p:spPr>
      </p:cxnSp>
      <p:sp>
        <p:nvSpPr>
          <p:cNvPr id="109" name="TEAM"/>
          <p:cNvSpPr txBox="1"/>
          <p:nvPr/>
        </p:nvSpPr>
        <p:spPr>
          <a:xfrm>
            <a:off x="822960" y="5184648"/>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TEAM</a:t>
            </a:r>
          </a:p>
        </p:txBody>
      </p:sp>
      <p:sp>
        <p:nvSpPr>
          <p:cNvPr id="110" name="TEAM value"/>
          <p:cNvSpPr txBox="1"/>
          <p:nvPr/>
        </p:nvSpPr>
        <p:spPr>
          <a:xfrm>
            <a:off x="2148840" y="5157216"/>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2 UX designers</a:t>
            </a:r>
          </a:p>
        </p:txBody>
      </p:sp>
      <p:cxnSp>
        <p:nvCxnSpPr>
          <p:cNvPr id="111" name="Divider"/>
          <p:cNvCxnSpPr/>
          <p:nvPr/>
        </p:nvCxnSpPr>
        <p:spPr>
          <a:xfrm>
            <a:off x="822960" y="5769864"/>
            <a:ext cx="5486400" cy="0"/>
          </a:xfrm>
          <a:prstGeom prst="line">
            <a:avLst/>
          </a:prstGeom>
          <a:ln w="9525">
            <a:solidFill>
              <a:srgbClr val="2C2F38"/>
            </a:solidFill>
          </a:ln>
        </p:spPr>
      </p:cxnSp>
      <p:sp>
        <p:nvSpPr>
          <p:cNvPr id="112" name="SCOPE"/>
          <p:cNvSpPr txBox="1"/>
          <p:nvPr/>
        </p:nvSpPr>
        <p:spPr>
          <a:xfrm>
            <a:off x="822960" y="5897880"/>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SCOPE</a:t>
            </a:r>
          </a:p>
        </p:txBody>
      </p:sp>
      <p:sp>
        <p:nvSpPr>
          <p:cNvPr id="113" name="SCOPE value"/>
          <p:cNvSpPr txBox="1"/>
          <p:nvPr/>
        </p:nvSpPr>
        <p:spPr>
          <a:xfrm>
            <a:off x="2148840" y="5870448"/>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Discovery, competitive analysis, 3 tested iterations, 6 Agile sprints</a:t>
            </a:r>
          </a:p>
        </p:txBody>
      </p:sp>
      <p:cxnSp>
        <p:nvCxnSpPr>
          <p:cNvPr id="114" name="Divider"/>
          <p:cNvCxnSpPr/>
          <p:nvPr/>
        </p:nvCxnSpPr>
        <p:spPr>
          <a:xfrm>
            <a:off x="822960" y="6483096"/>
            <a:ext cx="5486400" cy="0"/>
          </a:xfrm>
          <a:prstGeom prst="line">
            <a:avLst/>
          </a:prstGeom>
          <a:ln w="9525">
            <a:solidFill>
              <a:srgbClr val="2C2F38"/>
            </a:solidFill>
          </a:ln>
        </p:spPr>
      </p:cxnSp>
      <p:sp>
        <p:nvSpPr>
          <p:cNvPr id="115" name="USERS"/>
          <p:cNvSpPr txBox="1"/>
          <p:nvPr/>
        </p:nvSpPr>
        <p:spPr>
          <a:xfrm>
            <a:off x="822960" y="6611112"/>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USERS</a:t>
            </a:r>
          </a:p>
        </p:txBody>
      </p:sp>
      <p:sp>
        <p:nvSpPr>
          <p:cNvPr id="116" name="USERS value"/>
          <p:cNvSpPr txBox="1"/>
          <p:nvPr/>
        </p:nvSpPr>
        <p:spPr>
          <a:xfrm>
            <a:off x="2148840" y="6583680"/>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Experienced and novice self-directed traders</a:t>
            </a:r>
          </a:p>
        </p:txBody>
      </p:sp>
      <p:cxnSp>
        <p:nvCxnSpPr>
          <p:cNvPr id="117" name="Divider"/>
          <p:cNvCxnSpPr/>
          <p:nvPr/>
        </p:nvCxnSpPr>
        <p:spPr>
          <a:xfrm>
            <a:off x="822960" y="7196328"/>
            <a:ext cx="5486400" cy="0"/>
          </a:xfrm>
          <a:prstGeom prst="line">
            <a:avLst/>
          </a:prstGeom>
          <a:ln w="9525">
            <a:solidFill>
              <a:srgbClr val="2C2F38"/>
            </a:solidFill>
          </a:ln>
        </p:spPr>
      </p:cxnSp>
      <p:sp>
        <p:nvSpPr>
          <p:cNvPr id="118" name="Quote"/>
          <p:cNvSpPr txBox="1"/>
          <p:nvPr/>
        </p:nvSpPr>
        <p:spPr>
          <a:xfrm>
            <a:off x="822960" y="7516368"/>
            <a:ext cx="5486400" cy="1188720"/>
          </a:xfrm>
          <a:prstGeom prst="rect">
            <a:avLst/>
          </a:prstGeom>
          <a:noFill/>
        </p:spPr>
        <p:txBody>
          <a:bodyPr wrap="square" lIns="0" tIns="0" rIns="0" bIns="0" anchor="t">
            <a:noAutofit/>
          </a:bodyPr>
          <a:lstStyle/>
          <a:p>
            <a:pPr algn="l">
              <a:lnSpc>
                <a:spcPct val="115000"/>
              </a:lnSpc>
              <a:spcAft>
                <a:spcPts val="300"/>
              </a:spcAft>
            </a:pPr>
            <a:r>
              <a:rPr lang="en-US" sz="1500" spc="0" dirty="0">
                <a:solidFill>
                  <a:srgbClr val="F5F5F7"/>
                </a:solidFill>
                <a:latin typeface="Helvetica Neue Light"/>
                <a:cs typeface="Helvetica Neue Light"/>
              </a:rPr>
              <a:t>“It’s a confusing interface, the app’s interface is non-intuitive, making it difficult to navigate and find specific functions or features.”</a:t>
            </a:r>
          </a:p>
        </p:txBody>
      </p:sp>
      <p:pic>
        <p:nvPicPr>
          <p:cNvPr id="119" name="Picture 1" descr="image.png"/>
          <p:cNvPicPr>
            <a:picLocks noChangeAspect="1"/>
          </p:cNvPicPr>
          <p:nvPr/>
        </p:nvPicPr>
        <p:blipFill>
          <a:blip r:embed="rId2"/>
          <a:stretch>
            <a:fillRect/>
          </a:stretch>
        </p:blipFill>
        <p:spPr>
          <a:xfrm>
            <a:off x="7124020" y="822960"/>
            <a:ext cx="4652607" cy="7315200"/>
          </a:xfrm>
          <a:prstGeom prst="rect">
            <a:avLst/>
          </a:prstGeom>
          <a:ln w="9525">
            <a:solidFill>
              <a:srgbClr val="3A3E49"/>
            </a:solidFill>
          </a:ln>
        </p:spPr>
      </p:pic>
      <p:pic>
        <p:nvPicPr>
          <p:cNvPr id="12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INTRODUCTION</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One trade ticket that lets investors trade in </a:t>
            </a:r>
            <a:r>
              <a:rPr lang="en-US" sz="3600" spc="-40" dirty="0">
                <a:solidFill>
                  <a:srgbClr val="B5531F"/>
                </a:solidFill>
                <a:latin typeface="Helvetica Neue Medium"/>
                <a:cs typeface="Helvetica Neue Medium"/>
              </a:rPr>
              <a:t>shares or dollars</a:t>
            </a:r>
            <a:r>
              <a:rPr lang="en-US" sz="3600" spc="-40" dirty="0">
                <a:solidFill>
                  <a:srgbClr val="14161D"/>
                </a:solidFill>
                <a:latin typeface="Helvetica Neue Medium"/>
                <a:cs typeface="Helvetica Neue Medium"/>
              </a:rPr>
              <a:t>, with fewer errors and less effort.</a:t>
            </a:r>
          </a:p>
        </p:txBody>
      </p:sp>
      <p:sp>
        <p:nvSpPr>
          <p:cNvPr id="103" name="Audience"/>
          <p:cNvSpPr txBox="1"/>
          <p:nvPr/>
        </p:nvSpPr>
        <p:spPr>
          <a:xfrm>
            <a:off x="822960" y="3611880"/>
            <a:ext cx="3511973" cy="420624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TARGET AUDIENCE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Experienced consumer traders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Novice consumer traders</a:t>
            </a:r>
          </a:p>
        </p:txBody>
      </p:sp>
      <p:sp>
        <p:nvSpPr>
          <p:cNvPr id="104" name="Problems"/>
          <p:cNvSpPr txBox="1"/>
          <p:nvPr/>
        </p:nvSpPr>
        <p:spPr>
          <a:xfrm>
            <a:off x="4746413"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THE PROBLEMS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Wealth &amp; Investment Management investors can’t trade in both shares and dollars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 mobile trading process needs simplifying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confusing interface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Limited functionality</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Technical issues and no real-time updates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Poor customer support</a:t>
            </a:r>
          </a:p>
        </p:txBody>
      </p:sp>
      <p:sp>
        <p:nvSpPr>
          <p:cNvPr id="105" name="Team"/>
          <p:cNvSpPr txBox="1"/>
          <p:nvPr/>
        </p:nvSpPr>
        <p:spPr>
          <a:xfrm>
            <a:off x="8669866"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TEAM AND MY PART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led a project team of 2 UX designers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managed discovery, including research, strategy and hands-on design, supported by AI applications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led every deliverable in Figma, with Lean UX and usability testing, and presented to the client and stakeholders</a:t>
            </a:r>
          </a:p>
        </p:txBody>
      </p:sp>
      <p:pic>
        <p:nvPicPr>
          <p:cNvPr id="106"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WHY REDESIGN</a:t>
            </a:r>
          </a:p>
        </p:txBody>
      </p:sp>
      <p:sp>
        <p:nvSpPr>
          <p:cNvPr id="102" name="Headline"/>
          <p:cNvSpPr txBox="1"/>
          <p:nvPr/>
        </p:nvSpPr>
        <p:spPr>
          <a:xfrm>
            <a:off x="822960" y="1371600"/>
            <a:ext cx="11358880" cy="9144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Why redesign the </a:t>
            </a:r>
            <a:r>
              <a:rPr lang="en-US" sz="4000" spc="-40" dirty="0">
                <a:solidFill>
                  <a:srgbClr val="B5531F"/>
                </a:solidFill>
                <a:latin typeface="Helvetica Neue Medium"/>
                <a:cs typeface="Helvetica Neue Medium"/>
              </a:rPr>
              <a:t>trade ticket</a:t>
            </a:r>
            <a:r>
              <a:rPr lang="en-US" sz="4000" spc="-40" dirty="0">
                <a:solidFill>
                  <a:srgbClr val="14161D"/>
                </a:solidFill>
                <a:latin typeface="Helvetica Neue Medium"/>
                <a:cs typeface="Helvetica Neue Medium"/>
              </a:rPr>
              <a:t>?</a:t>
            </a:r>
          </a:p>
        </p:txBody>
      </p:sp>
      <p:sp>
        <p:nvSpPr>
          <p:cNvPr id="3027" name="Tile"/>
          <p:cNvSpPr/>
          <p:nvPr/>
        </p:nvSpPr>
        <p:spPr>
          <a:xfrm>
            <a:off x="822960" y="2606040"/>
            <a:ext cx="4572000" cy="3931920"/>
          </a:xfrm>
          <a:prstGeom prst="roundRect">
            <a:avLst>
              <a:gd name="adj" fmla="val 3255"/>
            </a:avLst>
          </a:prstGeom>
          <a:solidFill>
            <a:srgbClr val="B5531F"/>
          </a:solidFill>
          <a:ln>
            <a:noFill/>
          </a:ln>
        </p:spPr>
        <p:txBody>
          <a:bodyPr/>
          <a:lstStyle/>
          <a:p>
            <a:endParaRPr lang="en-US"/>
          </a:p>
        </p:txBody>
      </p:sp>
      <p:sp>
        <p:nvSpPr>
          <p:cNvPr id="103" name="Number"/>
          <p:cNvSpPr txBox="1"/>
          <p:nvPr/>
        </p:nvSpPr>
        <p:spPr>
          <a:xfrm>
            <a:off x="1097280" y="2807208"/>
            <a:ext cx="4023360" cy="1280160"/>
          </a:xfrm>
          <a:prstGeom prst="rect">
            <a:avLst/>
          </a:prstGeom>
          <a:noFill/>
        </p:spPr>
        <p:txBody>
          <a:bodyPr wrap="square" lIns="0" tIns="0" rIns="0" bIns="0" anchor="t">
            <a:noAutofit/>
          </a:bodyPr>
          <a:lstStyle/>
          <a:p>
            <a:pPr algn="l">
              <a:lnSpc>
                <a:spcPct val="88000"/>
              </a:lnSpc>
              <a:spcAft>
                <a:spcPts val="300"/>
              </a:spcAft>
            </a:pPr>
            <a:r>
              <a:rPr lang="en-US" sz="9600" spc="-60" dirty="0">
                <a:solidFill>
                  <a:srgbClr val="FFFFFF"/>
                </a:solidFill>
                <a:latin typeface="Helvetica Neue Medium"/>
                <a:cs typeface="Helvetica Neue Medium"/>
              </a:rPr>
              <a:t>18.3%</a:t>
            </a:r>
          </a:p>
        </p:txBody>
      </p:sp>
      <p:sp>
        <p:nvSpPr>
          <p:cNvPr id="104" name="Label"/>
          <p:cNvSpPr txBox="1"/>
          <p:nvPr/>
        </p:nvSpPr>
        <p:spPr>
          <a:xfrm>
            <a:off x="1097280" y="4160520"/>
            <a:ext cx="4023360" cy="914400"/>
          </a:xfrm>
          <a:prstGeom prst="rect">
            <a:avLst/>
          </a:prstGeom>
          <a:noFill/>
        </p:spPr>
        <p:txBody>
          <a:bodyPr wrap="square" lIns="0" tIns="0" rIns="0" bIns="0" anchor="t">
            <a:noAutofit/>
          </a:bodyPr>
          <a:lstStyle/>
          <a:p>
            <a:pPr algn="l">
              <a:lnSpc>
                <a:spcPct val="115000"/>
              </a:lnSpc>
              <a:spcAft>
                <a:spcPts val="300"/>
              </a:spcAft>
            </a:pPr>
            <a:r>
              <a:rPr lang="en-US" sz="1600" spc="0" dirty="0">
                <a:solidFill>
                  <a:srgbClr val="FBE3D8"/>
                </a:solidFill>
                <a:latin typeface="Helvetica Neue Light"/>
                <a:cs typeface="Helvetica Neue Light"/>
              </a:rPr>
              <a:t>of users ask to trade in both shares and dollars</a:t>
            </a:r>
          </a:p>
        </p:txBody>
      </p:sp>
      <p:sp>
        <p:nvSpPr>
          <p:cNvPr id="3028" name="Tile"/>
          <p:cNvSpPr/>
          <p:nvPr/>
        </p:nvSpPr>
        <p:spPr>
          <a:xfrm>
            <a:off x="1097280" y="6153912"/>
            <a:ext cx="4023360" cy="100584"/>
          </a:xfrm>
          <a:prstGeom prst="roundRect">
            <a:avLst>
              <a:gd name="adj" fmla="val 45454"/>
            </a:avLst>
          </a:prstGeom>
          <a:solidFill>
            <a:srgbClr val="FFFFFF">
              <a:alpha val="30000"/>
            </a:srgbClr>
          </a:solidFill>
          <a:ln>
            <a:noFill/>
          </a:ln>
        </p:spPr>
        <p:txBody>
          <a:bodyPr/>
          <a:lstStyle/>
          <a:p>
            <a:endParaRPr lang="en-US"/>
          </a:p>
        </p:txBody>
      </p:sp>
      <p:sp>
        <p:nvSpPr>
          <p:cNvPr id="3029" name="Tile"/>
          <p:cNvSpPr/>
          <p:nvPr/>
        </p:nvSpPr>
        <p:spPr>
          <a:xfrm>
            <a:off x="1097280" y="6153912"/>
            <a:ext cx="736274" cy="100584"/>
          </a:xfrm>
          <a:prstGeom prst="roundRect">
            <a:avLst>
              <a:gd name="adj" fmla="val 45454"/>
            </a:avLst>
          </a:prstGeom>
          <a:solidFill>
            <a:srgbClr val="7ACFFF"/>
          </a:solidFill>
          <a:ln>
            <a:noFill/>
          </a:ln>
        </p:spPr>
        <p:txBody>
          <a:bodyPr/>
          <a:lstStyle/>
          <a:p>
            <a:endParaRPr lang="en-US"/>
          </a:p>
        </p:txBody>
      </p:sp>
      <p:sp>
        <p:nvSpPr>
          <p:cNvPr id="3030" name="Tile"/>
          <p:cNvSpPr/>
          <p:nvPr/>
        </p:nvSpPr>
        <p:spPr>
          <a:xfrm>
            <a:off x="5577840" y="2606040"/>
            <a:ext cx="6601968" cy="1188720"/>
          </a:xfrm>
          <a:prstGeom prst="roundRect">
            <a:avLst>
              <a:gd name="adj" fmla="val 10769"/>
            </a:avLst>
          </a:prstGeom>
          <a:solidFill>
            <a:srgbClr val="1B1D24"/>
          </a:solidFill>
          <a:ln>
            <a:noFill/>
          </a:ln>
        </p:spPr>
        <p:txBody>
          <a:bodyPr/>
          <a:lstStyle/>
          <a:p>
            <a:endParaRPr lang="en-US"/>
          </a:p>
        </p:txBody>
      </p:sp>
      <p:sp>
        <p:nvSpPr>
          <p:cNvPr id="105" name="Number"/>
          <p:cNvSpPr txBox="1"/>
          <p:nvPr/>
        </p:nvSpPr>
        <p:spPr>
          <a:xfrm>
            <a:off x="5852160" y="2606040"/>
            <a:ext cx="2772826" cy="1188720"/>
          </a:xfrm>
          <a:prstGeom prst="rect">
            <a:avLst/>
          </a:prstGeom>
          <a:noFill/>
        </p:spPr>
        <p:txBody>
          <a:bodyPr wrap="square" lIns="0" tIns="0" rIns="0" bIns="0" anchor="ctr">
            <a:noAutofit/>
          </a:bodyPr>
          <a:lstStyle/>
          <a:p>
            <a:pPr algn="l">
              <a:lnSpc>
                <a:spcPct val="90000"/>
              </a:lnSpc>
              <a:spcAft>
                <a:spcPts val="300"/>
              </a:spcAft>
            </a:pPr>
            <a:r>
              <a:rPr lang="en-US" sz="4800" spc="-40" dirty="0">
                <a:solidFill>
                  <a:srgbClr val="F5F5F7"/>
                </a:solidFill>
                <a:latin typeface="Helvetica Neue Medium"/>
                <a:cs typeface="Helvetica Neue Medium"/>
              </a:rPr>
              <a:t>8.2 min</a:t>
            </a:r>
          </a:p>
        </p:txBody>
      </p:sp>
      <p:sp>
        <p:nvSpPr>
          <p:cNvPr id="106" name="Label"/>
          <p:cNvSpPr txBox="1"/>
          <p:nvPr/>
        </p:nvSpPr>
        <p:spPr>
          <a:xfrm>
            <a:off x="8092440" y="2606040"/>
            <a:ext cx="3813047" cy="1188720"/>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for a new user to complete their first trade</a:t>
            </a:r>
          </a:p>
        </p:txBody>
      </p:sp>
      <p:sp>
        <p:nvSpPr>
          <p:cNvPr id="3031" name="Tile"/>
          <p:cNvSpPr/>
          <p:nvPr/>
        </p:nvSpPr>
        <p:spPr>
          <a:xfrm>
            <a:off x="5577840" y="3977639"/>
            <a:ext cx="6601968" cy="1188720"/>
          </a:xfrm>
          <a:prstGeom prst="roundRect">
            <a:avLst>
              <a:gd name="adj" fmla="val 10769"/>
            </a:avLst>
          </a:prstGeom>
          <a:solidFill>
            <a:srgbClr val="F1F2F5"/>
          </a:solidFill>
          <a:ln>
            <a:noFill/>
          </a:ln>
        </p:spPr>
        <p:txBody>
          <a:bodyPr/>
          <a:lstStyle/>
          <a:p>
            <a:endParaRPr lang="en-US"/>
          </a:p>
        </p:txBody>
      </p:sp>
      <p:sp>
        <p:nvSpPr>
          <p:cNvPr id="107" name="Number"/>
          <p:cNvSpPr txBox="1"/>
          <p:nvPr/>
        </p:nvSpPr>
        <p:spPr>
          <a:xfrm>
            <a:off x="5852160" y="3977639"/>
            <a:ext cx="2772826" cy="1188720"/>
          </a:xfrm>
          <a:prstGeom prst="rect">
            <a:avLst/>
          </a:prstGeom>
          <a:noFill/>
        </p:spPr>
        <p:txBody>
          <a:bodyPr wrap="square" lIns="0" tIns="0" rIns="0" bIns="0" anchor="ctr">
            <a:noAutofit/>
          </a:bodyPr>
          <a:lstStyle/>
          <a:p>
            <a:pPr algn="l">
              <a:lnSpc>
                <a:spcPct val="90000"/>
              </a:lnSpc>
              <a:spcAft>
                <a:spcPts val="300"/>
              </a:spcAft>
            </a:pPr>
            <a:r>
              <a:rPr lang="en-US" sz="4800" spc="-40" dirty="0">
                <a:solidFill>
                  <a:srgbClr val="14161D"/>
                </a:solidFill>
                <a:latin typeface="Helvetica Neue Medium"/>
                <a:cs typeface="Helvetica Neue Medium"/>
              </a:rPr>
              <a:t>1.4%</a:t>
            </a:r>
          </a:p>
        </p:txBody>
      </p:sp>
      <p:sp>
        <p:nvSpPr>
          <p:cNvPr id="108" name="Label"/>
          <p:cNvSpPr txBox="1"/>
          <p:nvPr/>
        </p:nvSpPr>
        <p:spPr>
          <a:xfrm>
            <a:off x="7406640" y="3977639"/>
            <a:ext cx="4498847" cy="1188720"/>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565C6B"/>
                </a:solidFill>
                <a:latin typeface="Helvetica Neue Light"/>
                <a:cs typeface="Helvetica Neue Light"/>
              </a:rPr>
              <a:t>error rate on submissions</a:t>
            </a:r>
          </a:p>
        </p:txBody>
      </p:sp>
      <p:sp>
        <p:nvSpPr>
          <p:cNvPr id="3032" name="Tile"/>
          <p:cNvSpPr/>
          <p:nvPr/>
        </p:nvSpPr>
        <p:spPr>
          <a:xfrm>
            <a:off x="5577840" y="5349240"/>
            <a:ext cx="6601968" cy="1188720"/>
          </a:xfrm>
          <a:prstGeom prst="roundRect">
            <a:avLst>
              <a:gd name="adj" fmla="val 10769"/>
            </a:avLst>
          </a:prstGeom>
          <a:solidFill>
            <a:srgbClr val="1B1D24"/>
          </a:solidFill>
          <a:ln>
            <a:noFill/>
          </a:ln>
        </p:spPr>
        <p:txBody>
          <a:bodyPr/>
          <a:lstStyle/>
          <a:p>
            <a:endParaRPr lang="en-US"/>
          </a:p>
        </p:txBody>
      </p:sp>
      <p:sp>
        <p:nvSpPr>
          <p:cNvPr id="109" name="Number"/>
          <p:cNvSpPr txBox="1"/>
          <p:nvPr/>
        </p:nvSpPr>
        <p:spPr>
          <a:xfrm>
            <a:off x="5852160" y="5349240"/>
            <a:ext cx="2772826" cy="1188720"/>
          </a:xfrm>
          <a:prstGeom prst="rect">
            <a:avLst/>
          </a:prstGeom>
          <a:noFill/>
        </p:spPr>
        <p:txBody>
          <a:bodyPr wrap="square" lIns="0" tIns="0" rIns="0" bIns="0" anchor="ctr">
            <a:noAutofit/>
          </a:bodyPr>
          <a:lstStyle/>
          <a:p>
            <a:pPr algn="l">
              <a:lnSpc>
                <a:spcPct val="90000"/>
              </a:lnSpc>
              <a:spcAft>
                <a:spcPts val="300"/>
              </a:spcAft>
            </a:pPr>
            <a:r>
              <a:rPr lang="en-US" sz="4800" spc="-40" dirty="0">
                <a:solidFill>
                  <a:srgbClr val="F5F5F7"/>
                </a:solidFill>
                <a:latin typeface="Helvetica Neue Medium"/>
                <a:cs typeface="Helvetica Neue Medium"/>
              </a:rPr>
              <a:t>6.1%</a:t>
            </a:r>
          </a:p>
        </p:txBody>
      </p:sp>
      <p:sp>
        <p:nvSpPr>
          <p:cNvPr id="110" name="Label"/>
          <p:cNvSpPr txBox="1"/>
          <p:nvPr/>
        </p:nvSpPr>
        <p:spPr>
          <a:xfrm>
            <a:off x="7406640" y="5349240"/>
            <a:ext cx="4498847" cy="1188720"/>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drop-off on trades in the mobile app</a:t>
            </a:r>
          </a:p>
        </p:txBody>
      </p:sp>
      <p:sp>
        <p:nvSpPr>
          <p:cNvPr id="3033" name="Tile"/>
          <p:cNvSpPr/>
          <p:nvPr/>
        </p:nvSpPr>
        <p:spPr>
          <a:xfrm>
            <a:off x="822960" y="6720840"/>
            <a:ext cx="11356848" cy="1508760"/>
          </a:xfrm>
          <a:prstGeom prst="roundRect">
            <a:avLst>
              <a:gd name="adj" fmla="val 8484"/>
            </a:avLst>
          </a:prstGeom>
          <a:solidFill>
            <a:srgbClr val="F1F2F5"/>
          </a:solidFill>
          <a:ln>
            <a:noFill/>
          </a:ln>
        </p:spPr>
        <p:txBody>
          <a:bodyPr/>
          <a:lstStyle/>
          <a:p>
            <a:endParaRPr lang="en-US"/>
          </a:p>
        </p:txBody>
      </p:sp>
      <p:sp>
        <p:nvSpPr>
          <p:cNvPr id="111" name="Band"/>
          <p:cNvSpPr txBox="1"/>
          <p:nvPr/>
        </p:nvSpPr>
        <p:spPr>
          <a:xfrm>
            <a:off x="1143000" y="6720840"/>
            <a:ext cx="10716768" cy="1508760"/>
          </a:xfrm>
          <a:prstGeom prst="rect">
            <a:avLst/>
          </a:prstGeom>
          <a:noFill/>
        </p:spPr>
        <p:txBody>
          <a:bodyPr wrap="square" lIns="0" tIns="0" rIns="0" bIns="0" anchor="ctr">
            <a:noAutofit/>
          </a:bodyPr>
          <a:lstStyle/>
          <a:p>
            <a:pPr algn="l">
              <a:lnSpc>
                <a:spcPct val="115000"/>
              </a:lnSpc>
              <a:spcAft>
                <a:spcPts val="300"/>
              </a:spcAft>
            </a:pPr>
            <a:r>
              <a:rPr lang="en-US" sz="1800" spc="0" dirty="0">
                <a:solidFill>
                  <a:srgbClr val="14161D"/>
                </a:solidFill>
                <a:latin typeface="Helvetica Neue Light"/>
                <a:cs typeface="Helvetica Neue Light"/>
              </a:rPr>
              <a:t>“The app lacks advanced features like drawing tools or technical indicators. Customer support options are limited, with no chat support available.”</a:t>
            </a:r>
          </a:p>
        </p:txBody>
      </p:sp>
      <p:pic>
        <p:nvPicPr>
          <p:cNvPr id="112"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DISCOVERY</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We set out to find real user needs, </a:t>
            </a:r>
            <a:r>
              <a:rPr lang="en-US" sz="3600" spc="-40" dirty="0">
                <a:solidFill>
                  <a:srgbClr val="B5531F"/>
                </a:solidFill>
                <a:latin typeface="Helvetica Neue Medium"/>
                <a:cs typeface="Helvetica Neue Medium"/>
              </a:rPr>
              <a:t>test the business’s assumptions</a:t>
            </a:r>
            <a:r>
              <a:rPr lang="en-US" sz="3600" spc="-40" dirty="0">
                <a:solidFill>
                  <a:srgbClr val="14161D"/>
                </a:solidFill>
                <a:latin typeface="Helvetica Neue Medium"/>
                <a:cs typeface="Helvetica Neue Medium"/>
              </a:rPr>
              <a:t> and generate new ideas.</a:t>
            </a:r>
          </a:p>
        </p:txBody>
      </p:sp>
      <p:sp>
        <p:nvSpPr>
          <p:cNvPr id="103" name="Methods"/>
          <p:cNvSpPr txBox="1"/>
          <p:nvPr/>
        </p:nvSpPr>
        <p:spPr>
          <a:xfrm>
            <a:off x="822960" y="3611880"/>
            <a:ext cx="5427980"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METHODS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Interviews with external users, internal stakeholders and SMEs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Experienced and novice traders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Persona development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Google design thinking exercises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Competitive analysis</a:t>
            </a:r>
          </a:p>
        </p:txBody>
      </p:sp>
      <p:sp>
        <p:nvSpPr>
          <p:cNvPr id="104" name="Problem"/>
          <p:cNvSpPr txBox="1"/>
          <p:nvPr/>
        </p:nvSpPr>
        <p:spPr>
          <a:xfrm>
            <a:off x="6753860" y="3611880"/>
            <a:ext cx="5427980" cy="438912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PROBLEM STATEMENT</a:t>
            </a:r>
          </a:p>
          <a:p>
            <a:pPr algn="l">
              <a:lnSpc>
                <a:spcPct val="125000"/>
              </a:lnSpc>
              <a:spcAft>
                <a:spcPts val="500"/>
              </a:spcAft>
            </a:pPr>
            <a:r>
              <a:rPr lang="en-US" sz="1550" spc="0" dirty="0">
                <a:solidFill>
                  <a:srgbClr val="14161D"/>
                </a:solidFill>
                <a:latin typeface="Helvetica Neue Light"/>
                <a:cs typeface="Helvetica Neue Light"/>
              </a:rPr>
              <a:t>As the most important part of the trading experience, experienced and novice users need an integrated trade ticket that simplifies trading, reduces errors and improves efficiency, while letting them trade in shares or dollar amounts.</a:t>
            </a:r>
          </a:p>
        </p:txBody>
      </p:sp>
      <p:pic>
        <p:nvPicPr>
          <p:cNvPr id="10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DISCOVERY</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“…so non-intuitive, it makes it hard to navigate, find specific functions and </a:t>
            </a:r>
            <a:r>
              <a:rPr lang="en-US" sz="3600" spc="-40" dirty="0">
                <a:solidFill>
                  <a:srgbClr val="B5531F"/>
                </a:solidFill>
                <a:latin typeface="Helvetica Neue Medium"/>
                <a:cs typeface="Helvetica Neue Medium"/>
              </a:rPr>
              <a:t>just make a quick trade</a:t>
            </a:r>
            <a:r>
              <a:rPr lang="en-US" sz="3600" spc="-40" dirty="0">
                <a:solidFill>
                  <a:srgbClr val="14161D"/>
                </a:solidFill>
                <a:latin typeface="Helvetica Neue Medium"/>
                <a:cs typeface="Helvetica Neue Medium"/>
              </a:rPr>
              <a:t>.”</a:t>
            </a:r>
          </a:p>
        </p:txBody>
      </p:sp>
      <p:sp>
        <p:nvSpPr>
          <p:cNvPr id="103" name="List label"/>
          <p:cNvSpPr txBox="1"/>
          <p:nvPr/>
        </p:nvSpPr>
        <p:spPr>
          <a:xfrm>
            <a:off x="822960" y="3703320"/>
            <a:ext cx="1135888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PAIN POINTS WE HEARD IN INTERVIEWS</a:t>
            </a:r>
          </a:p>
        </p:txBody>
      </p:sp>
      <p:cxnSp>
        <p:nvCxnSpPr>
          <p:cNvPr id="104" name="Divider"/>
          <p:cNvCxnSpPr/>
          <p:nvPr/>
        </p:nvCxnSpPr>
        <p:spPr>
          <a:xfrm>
            <a:off x="822960" y="4114800"/>
            <a:ext cx="5427980" cy="0"/>
          </a:xfrm>
          <a:prstGeom prst="line">
            <a:avLst/>
          </a:prstGeom>
          <a:ln w="9525">
            <a:solidFill>
              <a:srgbClr val="E1E3E8"/>
            </a:solidFill>
          </a:ln>
        </p:spPr>
      </p:cxnSp>
      <p:sp>
        <p:nvSpPr>
          <p:cNvPr id="105" name="n"/>
          <p:cNvSpPr txBox="1"/>
          <p:nvPr/>
        </p:nvSpPr>
        <p:spPr>
          <a:xfrm>
            <a:off x="822960" y="4297680"/>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01</a:t>
            </a:r>
          </a:p>
        </p:txBody>
      </p:sp>
      <p:sp>
        <p:nvSpPr>
          <p:cNvPr id="106" name="p"/>
          <p:cNvSpPr txBox="1"/>
          <p:nvPr/>
        </p:nvSpPr>
        <p:spPr>
          <a:xfrm>
            <a:off x="1371600" y="4297680"/>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14161D"/>
                </a:solidFill>
                <a:latin typeface="Helvetica Neue Medium"/>
                <a:cs typeface="Helvetica Neue Medium"/>
              </a:rPr>
              <a:t>Can’t trade in both shares and dollars on mobile</a:t>
            </a:r>
          </a:p>
        </p:txBody>
      </p:sp>
      <p:cxnSp>
        <p:nvCxnSpPr>
          <p:cNvPr id="107" name="Divider"/>
          <p:cNvCxnSpPr/>
          <p:nvPr/>
        </p:nvCxnSpPr>
        <p:spPr>
          <a:xfrm>
            <a:off x="822960" y="5102352"/>
            <a:ext cx="5427980" cy="0"/>
          </a:xfrm>
          <a:prstGeom prst="line">
            <a:avLst/>
          </a:prstGeom>
          <a:ln w="9525">
            <a:solidFill>
              <a:srgbClr val="E1E3E8"/>
            </a:solidFill>
          </a:ln>
        </p:spPr>
      </p:cxnSp>
      <p:sp>
        <p:nvSpPr>
          <p:cNvPr id="108" name="n"/>
          <p:cNvSpPr txBox="1"/>
          <p:nvPr/>
        </p:nvSpPr>
        <p:spPr>
          <a:xfrm>
            <a:off x="822960" y="5285232"/>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02</a:t>
            </a:r>
          </a:p>
        </p:txBody>
      </p:sp>
      <p:sp>
        <p:nvSpPr>
          <p:cNvPr id="109" name="p"/>
          <p:cNvSpPr txBox="1"/>
          <p:nvPr/>
        </p:nvSpPr>
        <p:spPr>
          <a:xfrm>
            <a:off x="1371600" y="5285232"/>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14161D"/>
                </a:solidFill>
                <a:latin typeface="Helvetica Neue Medium"/>
                <a:cs typeface="Helvetica Neue Medium"/>
              </a:rPr>
              <a:t>Several interfaces aren’t intuitive</a:t>
            </a:r>
          </a:p>
        </p:txBody>
      </p:sp>
      <p:cxnSp>
        <p:nvCxnSpPr>
          <p:cNvPr id="110" name="Divider"/>
          <p:cNvCxnSpPr/>
          <p:nvPr/>
        </p:nvCxnSpPr>
        <p:spPr>
          <a:xfrm>
            <a:off x="822960" y="6089904"/>
            <a:ext cx="5427980" cy="0"/>
          </a:xfrm>
          <a:prstGeom prst="line">
            <a:avLst/>
          </a:prstGeom>
          <a:ln w="9525">
            <a:solidFill>
              <a:srgbClr val="E1E3E8"/>
            </a:solidFill>
          </a:ln>
        </p:spPr>
      </p:cxnSp>
      <p:sp>
        <p:nvSpPr>
          <p:cNvPr id="111" name="n"/>
          <p:cNvSpPr txBox="1"/>
          <p:nvPr/>
        </p:nvSpPr>
        <p:spPr>
          <a:xfrm>
            <a:off x="822960" y="6272784"/>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03</a:t>
            </a:r>
          </a:p>
        </p:txBody>
      </p:sp>
      <p:sp>
        <p:nvSpPr>
          <p:cNvPr id="112" name="p"/>
          <p:cNvSpPr txBox="1"/>
          <p:nvPr/>
        </p:nvSpPr>
        <p:spPr>
          <a:xfrm>
            <a:off x="1371600" y="6272784"/>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565C6B"/>
                </a:solidFill>
                <a:latin typeface="Helvetica Neue Light"/>
                <a:cs typeface="Helvetica Neue Light"/>
              </a:rPr>
              <a:t>Need more of the right trade detail</a:t>
            </a:r>
          </a:p>
        </p:txBody>
      </p:sp>
      <p:cxnSp>
        <p:nvCxnSpPr>
          <p:cNvPr id="113" name="Divider"/>
          <p:cNvCxnSpPr/>
          <p:nvPr/>
        </p:nvCxnSpPr>
        <p:spPr>
          <a:xfrm>
            <a:off x="822960" y="7077456"/>
            <a:ext cx="5427980" cy="0"/>
          </a:xfrm>
          <a:prstGeom prst="line">
            <a:avLst/>
          </a:prstGeom>
          <a:ln w="9525">
            <a:solidFill>
              <a:srgbClr val="E1E3E8"/>
            </a:solidFill>
          </a:ln>
        </p:spPr>
      </p:cxnSp>
      <p:sp>
        <p:nvSpPr>
          <p:cNvPr id="114" name="n"/>
          <p:cNvSpPr txBox="1"/>
          <p:nvPr/>
        </p:nvSpPr>
        <p:spPr>
          <a:xfrm>
            <a:off x="822960" y="7260336"/>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04</a:t>
            </a:r>
          </a:p>
        </p:txBody>
      </p:sp>
      <p:sp>
        <p:nvSpPr>
          <p:cNvPr id="115" name="p"/>
          <p:cNvSpPr txBox="1"/>
          <p:nvPr/>
        </p:nvSpPr>
        <p:spPr>
          <a:xfrm>
            <a:off x="1371600" y="7260336"/>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565C6B"/>
                </a:solidFill>
                <a:latin typeface="Helvetica Neue Light"/>
                <a:cs typeface="Helvetica Neue Light"/>
              </a:rPr>
              <a:t>Flexibility needs to improve</a:t>
            </a:r>
          </a:p>
        </p:txBody>
      </p:sp>
      <p:cxnSp>
        <p:nvCxnSpPr>
          <p:cNvPr id="116" name="Divider"/>
          <p:cNvCxnSpPr/>
          <p:nvPr/>
        </p:nvCxnSpPr>
        <p:spPr>
          <a:xfrm>
            <a:off x="6753860" y="4114800"/>
            <a:ext cx="5427980" cy="0"/>
          </a:xfrm>
          <a:prstGeom prst="line">
            <a:avLst/>
          </a:prstGeom>
          <a:ln w="9525">
            <a:solidFill>
              <a:srgbClr val="E1E3E8"/>
            </a:solidFill>
          </a:ln>
        </p:spPr>
      </p:cxnSp>
      <p:sp>
        <p:nvSpPr>
          <p:cNvPr id="117" name="n"/>
          <p:cNvSpPr txBox="1"/>
          <p:nvPr/>
        </p:nvSpPr>
        <p:spPr>
          <a:xfrm>
            <a:off x="6753860" y="4297680"/>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05</a:t>
            </a:r>
          </a:p>
        </p:txBody>
      </p:sp>
      <p:sp>
        <p:nvSpPr>
          <p:cNvPr id="118" name="p"/>
          <p:cNvSpPr txBox="1"/>
          <p:nvPr/>
        </p:nvSpPr>
        <p:spPr>
          <a:xfrm>
            <a:off x="7302500" y="4297680"/>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565C6B"/>
                </a:solidFill>
                <a:latin typeface="Helvetica Neue Light"/>
                <a:cs typeface="Helvetica Neue Light"/>
              </a:rPr>
              <a:t>More trading options</a:t>
            </a:r>
          </a:p>
        </p:txBody>
      </p:sp>
      <p:cxnSp>
        <p:nvCxnSpPr>
          <p:cNvPr id="119" name="Divider"/>
          <p:cNvCxnSpPr/>
          <p:nvPr/>
        </p:nvCxnSpPr>
        <p:spPr>
          <a:xfrm>
            <a:off x="6753860" y="5102352"/>
            <a:ext cx="5427980" cy="0"/>
          </a:xfrm>
          <a:prstGeom prst="line">
            <a:avLst/>
          </a:prstGeom>
          <a:ln w="9525">
            <a:solidFill>
              <a:srgbClr val="E1E3E8"/>
            </a:solidFill>
          </a:ln>
        </p:spPr>
      </p:cxnSp>
      <p:sp>
        <p:nvSpPr>
          <p:cNvPr id="120" name="n"/>
          <p:cNvSpPr txBox="1"/>
          <p:nvPr/>
        </p:nvSpPr>
        <p:spPr>
          <a:xfrm>
            <a:off x="6753860" y="5285232"/>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06</a:t>
            </a:r>
          </a:p>
        </p:txBody>
      </p:sp>
      <p:sp>
        <p:nvSpPr>
          <p:cNvPr id="121" name="p"/>
          <p:cNvSpPr txBox="1"/>
          <p:nvPr/>
        </p:nvSpPr>
        <p:spPr>
          <a:xfrm>
            <a:off x="7302500" y="5285232"/>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565C6B"/>
                </a:solidFill>
                <a:latin typeface="Helvetica Neue Light"/>
                <a:cs typeface="Helvetica Neue Light"/>
              </a:rPr>
              <a:t>Speed</a:t>
            </a:r>
          </a:p>
        </p:txBody>
      </p:sp>
      <p:cxnSp>
        <p:nvCxnSpPr>
          <p:cNvPr id="122" name="Divider"/>
          <p:cNvCxnSpPr/>
          <p:nvPr/>
        </p:nvCxnSpPr>
        <p:spPr>
          <a:xfrm>
            <a:off x="6753860" y="6089904"/>
            <a:ext cx="5427980" cy="0"/>
          </a:xfrm>
          <a:prstGeom prst="line">
            <a:avLst/>
          </a:prstGeom>
          <a:ln w="9525">
            <a:solidFill>
              <a:srgbClr val="E1E3E8"/>
            </a:solidFill>
          </a:ln>
        </p:spPr>
      </p:cxnSp>
      <p:sp>
        <p:nvSpPr>
          <p:cNvPr id="123" name="n"/>
          <p:cNvSpPr txBox="1"/>
          <p:nvPr/>
        </p:nvSpPr>
        <p:spPr>
          <a:xfrm>
            <a:off x="6753860" y="6272784"/>
            <a:ext cx="548640" cy="4114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B5531F"/>
                </a:solidFill>
                <a:latin typeface="Helvetica Neue Medium"/>
                <a:cs typeface="Helvetica Neue Medium"/>
              </a:rPr>
              <a:t>07</a:t>
            </a:r>
          </a:p>
        </p:txBody>
      </p:sp>
      <p:sp>
        <p:nvSpPr>
          <p:cNvPr id="124" name="p"/>
          <p:cNvSpPr txBox="1"/>
          <p:nvPr/>
        </p:nvSpPr>
        <p:spPr>
          <a:xfrm>
            <a:off x="7302500" y="6272784"/>
            <a:ext cx="4879340" cy="640080"/>
          </a:xfrm>
          <a:prstGeom prst="rect">
            <a:avLst/>
          </a:prstGeom>
          <a:noFill/>
        </p:spPr>
        <p:txBody>
          <a:bodyPr wrap="square" lIns="0" tIns="0" rIns="0" bIns="0" anchor="t">
            <a:noAutofit/>
          </a:bodyPr>
          <a:lstStyle/>
          <a:p>
            <a:pPr algn="l">
              <a:lnSpc>
                <a:spcPct val="115000"/>
              </a:lnSpc>
              <a:spcAft>
                <a:spcPts val="300"/>
              </a:spcAft>
            </a:pPr>
            <a:r>
              <a:rPr lang="en-US" sz="1800" spc="0" dirty="0">
                <a:solidFill>
                  <a:srgbClr val="565C6B"/>
                </a:solidFill>
                <a:latin typeface="Helvetica Neue Light"/>
                <a:cs typeface="Helvetica Neue Light"/>
              </a:rPr>
              <a:t>Mobile native</a:t>
            </a:r>
          </a:p>
        </p:txBody>
      </p:sp>
      <p:pic>
        <p:nvPicPr>
          <p:cNvPr id="12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STRATEGY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Pain points + business goals + UX strategy = feature set</a:t>
            </a:r>
          </a:p>
        </p:txBody>
      </p:sp>
      <p:cxnSp>
        <p:nvCxnSpPr>
          <p:cNvPr id="103" name="Divider"/>
          <p:cNvCxnSpPr/>
          <p:nvPr/>
        </p:nvCxnSpPr>
        <p:spPr>
          <a:xfrm>
            <a:off x="822960" y="2651760"/>
            <a:ext cx="2668270" cy="0"/>
          </a:xfrm>
          <a:prstGeom prst="line">
            <a:avLst/>
          </a:prstGeom>
          <a:ln w="9525">
            <a:solidFill>
              <a:srgbClr val="E1E3E8"/>
            </a:solidFill>
          </a:ln>
        </p:spPr>
      </p:cxnSp>
      <p:sp>
        <p:nvSpPr>
          <p:cNvPr id="104" name="PAIN POINTS"/>
          <p:cNvSpPr txBox="1"/>
          <p:nvPr/>
        </p:nvSpPr>
        <p:spPr>
          <a:xfrm>
            <a:off x="82296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PAIN POINTS</a:t>
            </a:r>
          </a:p>
          <a:p>
            <a:pPr algn="l">
              <a:lnSpc>
                <a:spcPct val="115000"/>
              </a:lnSpc>
              <a:spcAft>
                <a:spcPts val="900"/>
              </a:spcAft>
            </a:pPr>
            <a:r>
              <a:rPr lang="en-US" sz="1700" spc="0" dirty="0">
                <a:solidFill>
                  <a:srgbClr val="565C6B"/>
                </a:solidFill>
                <a:latin typeface="Helvetica Neue Light"/>
                <a:cs typeface="Helvetica Neue Light"/>
              </a:rPr>
              <a:t>Can’t trade in both shares and dollars</a:t>
            </a:r>
          </a:p>
          <a:p>
            <a:pPr algn="l">
              <a:lnSpc>
                <a:spcPct val="115000"/>
              </a:lnSpc>
              <a:spcAft>
                <a:spcPts val="900"/>
              </a:spcAft>
            </a:pPr>
            <a:r>
              <a:rPr lang="en-US" sz="1700" spc="0" dirty="0">
                <a:solidFill>
                  <a:srgbClr val="565C6B"/>
                </a:solidFill>
                <a:latin typeface="Helvetica Neue Light"/>
                <a:cs typeface="Helvetica Neue Light"/>
              </a:rPr>
              <a:t>Interfaces aren’t intuitive</a:t>
            </a:r>
          </a:p>
          <a:p>
            <a:pPr algn="l">
              <a:lnSpc>
                <a:spcPct val="115000"/>
              </a:lnSpc>
              <a:spcAft>
                <a:spcPts val="900"/>
              </a:spcAft>
            </a:pPr>
            <a:r>
              <a:rPr lang="en-US" sz="1700" spc="0" dirty="0">
                <a:solidFill>
                  <a:srgbClr val="565C6B"/>
                </a:solidFill>
                <a:latin typeface="Helvetica Neue Light"/>
                <a:cs typeface="Helvetica Neue Light"/>
              </a:rPr>
              <a:t>Need more of the right trade detail</a:t>
            </a:r>
          </a:p>
          <a:p>
            <a:pPr algn="l">
              <a:lnSpc>
                <a:spcPct val="115000"/>
              </a:lnSpc>
              <a:spcAft>
                <a:spcPts val="900"/>
              </a:spcAft>
            </a:pPr>
            <a:r>
              <a:rPr lang="en-US" sz="1700" spc="0" dirty="0">
                <a:solidFill>
                  <a:srgbClr val="565C6B"/>
                </a:solidFill>
                <a:latin typeface="Helvetica Neue Light"/>
                <a:cs typeface="Helvetica Neue Light"/>
              </a:rPr>
              <a:t>Flexibility</a:t>
            </a:r>
          </a:p>
          <a:p>
            <a:pPr algn="l">
              <a:lnSpc>
                <a:spcPct val="115000"/>
              </a:lnSpc>
              <a:spcAft>
                <a:spcPts val="900"/>
              </a:spcAft>
            </a:pPr>
            <a:r>
              <a:rPr lang="en-US" sz="1700" spc="0" dirty="0">
                <a:solidFill>
                  <a:srgbClr val="565C6B"/>
                </a:solidFill>
                <a:latin typeface="Helvetica Neue Light"/>
                <a:cs typeface="Helvetica Neue Light"/>
              </a:rPr>
              <a:t>More trading options</a:t>
            </a:r>
          </a:p>
          <a:p>
            <a:pPr algn="l">
              <a:lnSpc>
                <a:spcPct val="115000"/>
              </a:lnSpc>
              <a:spcAft>
                <a:spcPts val="900"/>
              </a:spcAft>
            </a:pPr>
            <a:r>
              <a:rPr lang="en-US" sz="1700" spc="0" dirty="0">
                <a:solidFill>
                  <a:srgbClr val="565C6B"/>
                </a:solidFill>
                <a:latin typeface="Helvetica Neue Light"/>
                <a:cs typeface="Helvetica Neue Light"/>
              </a:rPr>
              <a:t>Transaction speed</a:t>
            </a:r>
          </a:p>
          <a:p>
            <a:pPr algn="l">
              <a:lnSpc>
                <a:spcPct val="115000"/>
              </a:lnSpc>
              <a:spcAft>
                <a:spcPts val="900"/>
              </a:spcAft>
            </a:pPr>
            <a:r>
              <a:rPr lang="en-US" sz="1700" spc="0" dirty="0">
                <a:solidFill>
                  <a:srgbClr val="565C6B"/>
                </a:solidFill>
                <a:latin typeface="Helvetica Neue Light"/>
                <a:cs typeface="Helvetica Neue Light"/>
              </a:rPr>
              <a:t>Mobile native</a:t>
            </a:r>
          </a:p>
        </p:txBody>
      </p:sp>
      <p:sp>
        <p:nvSpPr>
          <p:cNvPr id="105" name="op"/>
          <p:cNvSpPr txBox="1"/>
          <p:nvPr/>
        </p:nvSpPr>
        <p:spPr>
          <a:xfrm>
            <a:off x="344551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06" name="Divider"/>
          <p:cNvCxnSpPr/>
          <p:nvPr/>
        </p:nvCxnSpPr>
        <p:spPr>
          <a:xfrm>
            <a:off x="3719830" y="2651760"/>
            <a:ext cx="2668270" cy="0"/>
          </a:xfrm>
          <a:prstGeom prst="line">
            <a:avLst/>
          </a:prstGeom>
          <a:ln w="9525">
            <a:solidFill>
              <a:srgbClr val="E1E3E8"/>
            </a:solidFill>
          </a:ln>
        </p:spPr>
      </p:cxnSp>
      <p:sp>
        <p:nvSpPr>
          <p:cNvPr id="107" name="BUSINESS GOALS"/>
          <p:cNvSpPr txBox="1"/>
          <p:nvPr/>
        </p:nvSpPr>
        <p:spPr>
          <a:xfrm>
            <a:off x="371983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BUSINESS GOALS</a:t>
            </a:r>
          </a:p>
          <a:p>
            <a:pPr algn="l">
              <a:lnSpc>
                <a:spcPct val="115000"/>
              </a:lnSpc>
              <a:spcAft>
                <a:spcPts val="900"/>
              </a:spcAft>
            </a:pPr>
            <a:r>
              <a:rPr lang="en-US" sz="1700" spc="0" dirty="0">
                <a:solidFill>
                  <a:srgbClr val="565C6B"/>
                </a:solidFill>
                <a:latin typeface="Helvetica Neue Light"/>
                <a:cs typeface="Helvetica Neue Light"/>
              </a:rPr>
              <a:t>Speed</a:t>
            </a:r>
          </a:p>
          <a:p>
            <a:pPr algn="l">
              <a:lnSpc>
                <a:spcPct val="115000"/>
              </a:lnSpc>
              <a:spcAft>
                <a:spcPts val="900"/>
              </a:spcAft>
            </a:pPr>
            <a:r>
              <a:rPr lang="en-US" sz="1700" spc="0" dirty="0">
                <a:solidFill>
                  <a:srgbClr val="565C6B"/>
                </a:solidFill>
                <a:latin typeface="Helvetica Neue Light"/>
                <a:cs typeface="Helvetica Neue Light"/>
              </a:rPr>
              <a:t>Education</a:t>
            </a:r>
          </a:p>
          <a:p>
            <a:pPr algn="l">
              <a:lnSpc>
                <a:spcPct val="115000"/>
              </a:lnSpc>
              <a:spcAft>
                <a:spcPts val="900"/>
              </a:spcAft>
            </a:pPr>
            <a:r>
              <a:rPr lang="en-US" sz="1700" spc="0" dirty="0">
                <a:solidFill>
                  <a:srgbClr val="565C6B"/>
                </a:solidFill>
                <a:latin typeface="Helvetica Neue Light"/>
                <a:cs typeface="Helvetica Neue Light"/>
              </a:rPr>
              <a:t>Platform parity</a:t>
            </a:r>
          </a:p>
          <a:p>
            <a:pPr algn="l">
              <a:lnSpc>
                <a:spcPct val="115000"/>
              </a:lnSpc>
              <a:spcAft>
                <a:spcPts val="900"/>
              </a:spcAft>
            </a:pPr>
            <a:r>
              <a:rPr lang="en-US" sz="1700" spc="0" dirty="0">
                <a:solidFill>
                  <a:srgbClr val="565C6B"/>
                </a:solidFill>
                <a:latin typeface="Helvetica Neue Light"/>
                <a:cs typeface="Helvetica Neue Light"/>
              </a:rPr>
              <a:t>Integrated systems</a:t>
            </a:r>
          </a:p>
          <a:p>
            <a:pPr algn="l">
              <a:lnSpc>
                <a:spcPct val="115000"/>
              </a:lnSpc>
              <a:spcAft>
                <a:spcPts val="900"/>
              </a:spcAft>
            </a:pPr>
            <a:r>
              <a:rPr lang="en-US" sz="1700" spc="0" dirty="0">
                <a:solidFill>
                  <a:srgbClr val="565C6B"/>
                </a:solidFill>
                <a:latin typeface="Helvetica Neue Light"/>
                <a:cs typeface="Helvetica Neue Light"/>
              </a:rPr>
              <a:t>Data</a:t>
            </a:r>
          </a:p>
        </p:txBody>
      </p:sp>
      <p:sp>
        <p:nvSpPr>
          <p:cNvPr id="108" name="op"/>
          <p:cNvSpPr txBox="1"/>
          <p:nvPr/>
        </p:nvSpPr>
        <p:spPr>
          <a:xfrm>
            <a:off x="634238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09" name="Divider"/>
          <p:cNvCxnSpPr/>
          <p:nvPr/>
        </p:nvCxnSpPr>
        <p:spPr>
          <a:xfrm>
            <a:off x="6616700" y="2651760"/>
            <a:ext cx="2668270" cy="0"/>
          </a:xfrm>
          <a:prstGeom prst="line">
            <a:avLst/>
          </a:prstGeom>
          <a:ln w="9525">
            <a:solidFill>
              <a:srgbClr val="E1E3E8"/>
            </a:solidFill>
          </a:ln>
        </p:spPr>
      </p:cxnSp>
      <p:sp>
        <p:nvSpPr>
          <p:cNvPr id="110" name="UX STRATEGY"/>
          <p:cNvSpPr txBox="1"/>
          <p:nvPr/>
        </p:nvSpPr>
        <p:spPr>
          <a:xfrm>
            <a:off x="661670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UX STRATEGY</a:t>
            </a:r>
          </a:p>
          <a:p>
            <a:pPr algn="l">
              <a:lnSpc>
                <a:spcPct val="115000"/>
              </a:lnSpc>
              <a:spcAft>
                <a:spcPts val="900"/>
              </a:spcAft>
            </a:pPr>
            <a:r>
              <a:rPr lang="en-US" sz="1700" spc="0" dirty="0">
                <a:solidFill>
                  <a:srgbClr val="565C6B"/>
                </a:solidFill>
                <a:latin typeface="Helvetica Neue Light"/>
                <a:cs typeface="Helvetica Neue Light"/>
              </a:rPr>
              <a:t>Simplified interface</a:t>
            </a:r>
          </a:p>
          <a:p>
            <a:pPr algn="l">
              <a:lnSpc>
                <a:spcPct val="115000"/>
              </a:lnSpc>
              <a:spcAft>
                <a:spcPts val="900"/>
              </a:spcAft>
            </a:pPr>
            <a:r>
              <a:rPr lang="en-US" sz="1700" spc="0" dirty="0">
                <a:solidFill>
                  <a:srgbClr val="565C6B"/>
                </a:solidFill>
                <a:latin typeface="Helvetica Neue Light"/>
                <a:cs typeface="Helvetica Neue Light"/>
              </a:rPr>
              <a:t>Dynamic functionality</a:t>
            </a:r>
          </a:p>
          <a:p>
            <a:pPr algn="l">
              <a:lnSpc>
                <a:spcPct val="115000"/>
              </a:lnSpc>
              <a:spcAft>
                <a:spcPts val="900"/>
              </a:spcAft>
            </a:pPr>
            <a:r>
              <a:rPr lang="en-US" sz="1700" spc="0" dirty="0">
                <a:solidFill>
                  <a:srgbClr val="565C6B"/>
                </a:solidFill>
                <a:latin typeface="Helvetica Neue Light"/>
                <a:cs typeface="Helvetica Neue Light"/>
              </a:rPr>
              <a:t>Trade speed</a:t>
            </a:r>
          </a:p>
          <a:p>
            <a:pPr algn="l">
              <a:lnSpc>
                <a:spcPct val="115000"/>
              </a:lnSpc>
              <a:spcAft>
                <a:spcPts val="900"/>
              </a:spcAft>
            </a:pPr>
            <a:r>
              <a:rPr lang="en-US" sz="1700" spc="0" dirty="0">
                <a:solidFill>
                  <a:srgbClr val="565C6B"/>
                </a:solidFill>
                <a:latin typeface="Helvetica Neue Light"/>
                <a:cs typeface="Helvetica Neue Light"/>
              </a:rPr>
              <a:t>Real-time updates</a:t>
            </a:r>
          </a:p>
        </p:txBody>
      </p:sp>
      <p:sp>
        <p:nvSpPr>
          <p:cNvPr id="111" name="op"/>
          <p:cNvSpPr txBox="1"/>
          <p:nvPr/>
        </p:nvSpPr>
        <p:spPr>
          <a:xfrm>
            <a:off x="923925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12" name="Divider"/>
          <p:cNvCxnSpPr/>
          <p:nvPr/>
        </p:nvCxnSpPr>
        <p:spPr>
          <a:xfrm>
            <a:off x="9513570" y="2651760"/>
            <a:ext cx="2668270" cy="0"/>
          </a:xfrm>
          <a:prstGeom prst="line">
            <a:avLst/>
          </a:prstGeom>
          <a:ln w="28575">
            <a:solidFill>
              <a:srgbClr val="B5531F"/>
            </a:solidFill>
          </a:ln>
        </p:spPr>
      </p:cxnSp>
      <p:sp>
        <p:nvSpPr>
          <p:cNvPr id="113" name="FEATURE SET"/>
          <p:cNvSpPr txBox="1"/>
          <p:nvPr/>
        </p:nvSpPr>
        <p:spPr>
          <a:xfrm>
            <a:off x="951357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FEATURE SET</a:t>
            </a:r>
          </a:p>
          <a:p>
            <a:pPr algn="l">
              <a:lnSpc>
                <a:spcPct val="115000"/>
              </a:lnSpc>
              <a:spcAft>
                <a:spcPts val="900"/>
              </a:spcAft>
            </a:pPr>
            <a:r>
              <a:rPr lang="en-US" sz="1700" spc="0" dirty="0">
                <a:solidFill>
                  <a:srgbClr val="14161D"/>
                </a:solidFill>
                <a:latin typeface="Helvetica Neue Light"/>
                <a:cs typeface="Helvetica Neue Light"/>
              </a:rPr>
              <a:t>Order entry</a:t>
            </a:r>
          </a:p>
          <a:p>
            <a:pPr algn="l">
              <a:lnSpc>
                <a:spcPct val="115000"/>
              </a:lnSpc>
              <a:spcAft>
                <a:spcPts val="900"/>
              </a:spcAft>
            </a:pPr>
            <a:r>
              <a:rPr lang="en-US" sz="1700" spc="0" dirty="0">
                <a:solidFill>
                  <a:srgbClr val="14161D"/>
                </a:solidFill>
                <a:latin typeface="Helvetica Neue Light"/>
                <a:cs typeface="Helvetica Neue Light"/>
              </a:rPr>
              <a:t>Execution management</a:t>
            </a:r>
          </a:p>
          <a:p>
            <a:pPr algn="l">
              <a:lnSpc>
                <a:spcPct val="115000"/>
              </a:lnSpc>
              <a:spcAft>
                <a:spcPts val="900"/>
              </a:spcAft>
            </a:pPr>
            <a:r>
              <a:rPr lang="en-US" sz="1700" spc="0" dirty="0">
                <a:solidFill>
                  <a:srgbClr val="14161D"/>
                </a:solidFill>
                <a:latin typeface="Helvetica Neue Light"/>
                <a:cs typeface="Helvetica Neue Light"/>
              </a:rPr>
              <a:t>Real-time monitoring</a:t>
            </a:r>
          </a:p>
          <a:p>
            <a:pPr algn="l">
              <a:lnSpc>
                <a:spcPct val="115000"/>
              </a:lnSpc>
              <a:spcAft>
                <a:spcPts val="900"/>
              </a:spcAft>
            </a:pPr>
            <a:r>
              <a:rPr lang="en-US" sz="1700" spc="0" dirty="0">
                <a:solidFill>
                  <a:srgbClr val="14161D"/>
                </a:solidFill>
                <a:latin typeface="Helvetica Neue Light"/>
                <a:cs typeface="Helvetica Neue Light"/>
              </a:rPr>
              <a:t>Risk management</a:t>
            </a:r>
          </a:p>
          <a:p>
            <a:pPr algn="l">
              <a:lnSpc>
                <a:spcPct val="115000"/>
              </a:lnSpc>
              <a:spcAft>
                <a:spcPts val="900"/>
              </a:spcAft>
            </a:pPr>
            <a:r>
              <a:rPr lang="en-US" sz="1700" spc="0" dirty="0">
                <a:solidFill>
                  <a:srgbClr val="14161D"/>
                </a:solidFill>
                <a:latin typeface="Helvetica Neue Light"/>
                <a:cs typeface="Helvetica Neue Light"/>
              </a:rPr>
              <a:t>Post-trade processing</a:t>
            </a:r>
          </a:p>
          <a:p>
            <a:pPr algn="l">
              <a:lnSpc>
                <a:spcPct val="115000"/>
              </a:lnSpc>
              <a:spcAft>
                <a:spcPts val="900"/>
              </a:spcAft>
            </a:pPr>
            <a:r>
              <a:rPr lang="en-US" sz="1700" spc="0" dirty="0">
                <a:solidFill>
                  <a:srgbClr val="14161D"/>
                </a:solidFill>
                <a:latin typeface="Helvetica Neue Light"/>
                <a:cs typeface="Helvetica Neue Light"/>
              </a:rPr>
              <a:t>Integration with other systems</a:t>
            </a:r>
          </a:p>
          <a:p>
            <a:pPr algn="l">
              <a:lnSpc>
                <a:spcPct val="115000"/>
              </a:lnSpc>
              <a:spcAft>
                <a:spcPts val="900"/>
              </a:spcAft>
            </a:pPr>
            <a:r>
              <a:rPr lang="en-US" sz="1700" spc="0" dirty="0">
                <a:solidFill>
                  <a:srgbClr val="14161D"/>
                </a:solidFill>
                <a:latin typeface="Helvetica Neue Light"/>
                <a:cs typeface="Helvetica Neue Light"/>
              </a:rPr>
              <a:t>Shares vs. dollars</a:t>
            </a:r>
          </a:p>
          <a:p>
            <a:pPr algn="l">
              <a:lnSpc>
                <a:spcPct val="115000"/>
              </a:lnSpc>
              <a:spcAft>
                <a:spcPts val="900"/>
              </a:spcAft>
            </a:pPr>
            <a:r>
              <a:rPr lang="en-US" sz="1700" spc="0" dirty="0">
                <a:solidFill>
                  <a:srgbClr val="14161D"/>
                </a:solidFill>
                <a:latin typeface="Helvetica Neue Light"/>
                <a:cs typeface="Helvetica Neue Light"/>
              </a:rPr>
              <a:t>Analytics and reporting</a:t>
            </a:r>
          </a:p>
        </p:txBody>
      </p:sp>
      <p:pic>
        <p:nvPicPr>
          <p:cNvPr id="114"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DISCOVERY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Competitive analysis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How the leading trading apps handle shares, dollars and the ticket itself</a:t>
            </a:r>
          </a:p>
        </p:txBody>
      </p:sp>
      <p:pic>
        <p:nvPicPr>
          <p:cNvPr id="104" name="Picture 1" descr="image.png"/>
          <p:cNvPicPr>
            <a:picLocks noChangeAspect="1"/>
          </p:cNvPicPr>
          <p:nvPr/>
        </p:nvPicPr>
        <p:blipFill>
          <a:blip r:embed="rId2"/>
          <a:stretch>
            <a:fillRect/>
          </a:stretch>
        </p:blipFill>
        <p:spPr>
          <a:xfrm>
            <a:off x="8763715" y="2634234"/>
            <a:ext cx="663567" cy="1240196"/>
          </a:xfrm>
          <a:prstGeom prst="rect">
            <a:avLst/>
          </a:prstGeom>
          <a:ln w="9525">
            <a:solidFill>
              <a:srgbClr val="D3D6DC"/>
            </a:solidFill>
          </a:ln>
        </p:spPr>
      </p:pic>
      <p:pic>
        <p:nvPicPr>
          <p:cNvPr id="105" name="Picture 2" descr="image.png"/>
          <p:cNvPicPr>
            <a:picLocks noChangeAspect="1"/>
          </p:cNvPicPr>
          <p:nvPr/>
        </p:nvPicPr>
        <p:blipFill>
          <a:blip r:embed="rId3"/>
          <a:stretch>
            <a:fillRect/>
          </a:stretch>
        </p:blipFill>
        <p:spPr>
          <a:xfrm>
            <a:off x="8058409" y="2634234"/>
            <a:ext cx="668889" cy="1345763"/>
          </a:xfrm>
          <a:prstGeom prst="rect">
            <a:avLst/>
          </a:prstGeom>
          <a:ln w="9525">
            <a:solidFill>
              <a:srgbClr val="D3D6DC"/>
            </a:solidFill>
          </a:ln>
        </p:spPr>
      </p:pic>
      <p:pic>
        <p:nvPicPr>
          <p:cNvPr id="106" name="Picture 3" descr="image.png"/>
          <p:cNvPicPr>
            <a:picLocks noChangeAspect="1"/>
          </p:cNvPicPr>
          <p:nvPr/>
        </p:nvPicPr>
        <p:blipFill>
          <a:blip r:embed="rId4"/>
          <a:stretch>
            <a:fillRect/>
          </a:stretch>
        </p:blipFill>
        <p:spPr>
          <a:xfrm>
            <a:off x="9463698" y="2634233"/>
            <a:ext cx="663567" cy="1333344"/>
          </a:xfrm>
          <a:prstGeom prst="rect">
            <a:avLst/>
          </a:prstGeom>
          <a:ln w="9525">
            <a:solidFill>
              <a:srgbClr val="D3D6DC"/>
            </a:solidFill>
          </a:ln>
        </p:spPr>
      </p:pic>
      <p:pic>
        <p:nvPicPr>
          <p:cNvPr id="107" name="Picture 4" descr="image.png"/>
          <p:cNvPicPr>
            <a:picLocks noChangeAspect="1"/>
          </p:cNvPicPr>
          <p:nvPr/>
        </p:nvPicPr>
        <p:blipFill>
          <a:blip r:embed="rId5"/>
          <a:stretch>
            <a:fillRect/>
          </a:stretch>
        </p:blipFill>
        <p:spPr>
          <a:xfrm>
            <a:off x="10168134" y="2629355"/>
            <a:ext cx="660905" cy="1355522"/>
          </a:xfrm>
          <a:prstGeom prst="rect">
            <a:avLst/>
          </a:prstGeom>
          <a:ln w="9525">
            <a:solidFill>
              <a:srgbClr val="D3D6DC"/>
            </a:solidFill>
          </a:ln>
        </p:spPr>
      </p:pic>
      <p:pic>
        <p:nvPicPr>
          <p:cNvPr id="108" name="Picture 5" descr="image.png"/>
          <p:cNvPicPr>
            <a:picLocks noChangeAspect="1"/>
          </p:cNvPicPr>
          <p:nvPr/>
        </p:nvPicPr>
        <p:blipFill>
          <a:blip r:embed="rId6"/>
          <a:stretch>
            <a:fillRect/>
          </a:stretch>
        </p:blipFill>
        <p:spPr>
          <a:xfrm>
            <a:off x="9613971" y="7313645"/>
            <a:ext cx="664241" cy="1123130"/>
          </a:xfrm>
          <a:prstGeom prst="rect">
            <a:avLst/>
          </a:prstGeom>
          <a:ln w="9525">
            <a:solidFill>
              <a:srgbClr val="D3D6DC"/>
            </a:solidFill>
          </a:ln>
        </p:spPr>
      </p:pic>
      <p:pic>
        <p:nvPicPr>
          <p:cNvPr id="109" name="Picture 6" descr="image.png"/>
          <p:cNvPicPr>
            <a:picLocks noChangeAspect="1"/>
          </p:cNvPicPr>
          <p:nvPr/>
        </p:nvPicPr>
        <p:blipFill>
          <a:blip r:embed="rId7"/>
          <a:stretch>
            <a:fillRect/>
          </a:stretch>
        </p:blipFill>
        <p:spPr>
          <a:xfrm>
            <a:off x="10333805" y="7313646"/>
            <a:ext cx="656827" cy="1127578"/>
          </a:xfrm>
          <a:prstGeom prst="rect">
            <a:avLst/>
          </a:prstGeom>
          <a:ln w="9525">
            <a:solidFill>
              <a:srgbClr val="D3D6DC"/>
            </a:solidFill>
          </a:ln>
        </p:spPr>
      </p:pic>
      <p:pic>
        <p:nvPicPr>
          <p:cNvPr id="110" name="Picture 7" descr="image.png"/>
          <p:cNvPicPr>
            <a:picLocks noChangeAspect="1"/>
          </p:cNvPicPr>
          <p:nvPr/>
        </p:nvPicPr>
        <p:blipFill>
          <a:blip r:embed="rId8"/>
          <a:stretch>
            <a:fillRect/>
          </a:stretch>
        </p:blipFill>
        <p:spPr>
          <a:xfrm>
            <a:off x="8200097" y="7313646"/>
            <a:ext cx="671476" cy="1139180"/>
          </a:xfrm>
          <a:prstGeom prst="rect">
            <a:avLst/>
          </a:prstGeom>
          <a:ln w="9525">
            <a:solidFill>
              <a:srgbClr val="D3D6DC"/>
            </a:solidFill>
          </a:ln>
        </p:spPr>
      </p:pic>
      <p:pic>
        <p:nvPicPr>
          <p:cNvPr id="111" name="Picture 8" descr="image.png"/>
          <p:cNvPicPr>
            <a:picLocks noChangeAspect="1"/>
          </p:cNvPicPr>
          <p:nvPr/>
        </p:nvPicPr>
        <p:blipFill>
          <a:blip r:embed="rId9"/>
          <a:stretch>
            <a:fillRect/>
          </a:stretch>
        </p:blipFill>
        <p:spPr>
          <a:xfrm>
            <a:off x="8931900" y="7313646"/>
            <a:ext cx="640315" cy="1078537"/>
          </a:xfrm>
          <a:prstGeom prst="rect">
            <a:avLst/>
          </a:prstGeom>
          <a:ln w="9525">
            <a:solidFill>
              <a:srgbClr val="D3D6DC"/>
            </a:solidFill>
          </a:ln>
        </p:spPr>
      </p:pic>
      <p:pic>
        <p:nvPicPr>
          <p:cNvPr id="112" name="Picture 9" descr="image.png"/>
          <p:cNvPicPr>
            <a:picLocks noChangeAspect="1"/>
          </p:cNvPicPr>
          <p:nvPr/>
        </p:nvPicPr>
        <p:blipFill>
          <a:blip r:embed="rId10"/>
          <a:stretch>
            <a:fillRect/>
          </a:stretch>
        </p:blipFill>
        <p:spPr>
          <a:xfrm>
            <a:off x="8392854" y="4878833"/>
            <a:ext cx="664241" cy="1072946"/>
          </a:xfrm>
          <a:prstGeom prst="rect">
            <a:avLst/>
          </a:prstGeom>
          <a:ln w="9525">
            <a:solidFill>
              <a:srgbClr val="D3D6DC"/>
            </a:solidFill>
          </a:ln>
        </p:spPr>
      </p:pic>
      <p:pic>
        <p:nvPicPr>
          <p:cNvPr id="113" name="Picture 10" descr="image.png"/>
          <p:cNvPicPr>
            <a:picLocks noChangeAspect="1"/>
          </p:cNvPicPr>
          <p:nvPr/>
        </p:nvPicPr>
        <p:blipFill>
          <a:blip r:embed="rId11"/>
          <a:stretch>
            <a:fillRect/>
          </a:stretch>
        </p:blipFill>
        <p:spPr>
          <a:xfrm>
            <a:off x="9089420" y="4886589"/>
            <a:ext cx="656827" cy="1135748"/>
          </a:xfrm>
          <a:prstGeom prst="rect">
            <a:avLst/>
          </a:prstGeom>
          <a:ln w="9525">
            <a:solidFill>
              <a:srgbClr val="D3D6DC"/>
            </a:solidFill>
          </a:ln>
        </p:spPr>
      </p:pic>
      <p:pic>
        <p:nvPicPr>
          <p:cNvPr id="114" name="Picture 11" descr="image.png"/>
          <p:cNvPicPr>
            <a:picLocks noChangeAspect="1"/>
          </p:cNvPicPr>
          <p:nvPr/>
        </p:nvPicPr>
        <p:blipFill>
          <a:blip r:embed="rId12"/>
          <a:stretch>
            <a:fillRect/>
          </a:stretch>
        </p:blipFill>
        <p:spPr>
          <a:xfrm>
            <a:off x="6978981" y="4886589"/>
            <a:ext cx="671476" cy="1147170"/>
          </a:xfrm>
          <a:prstGeom prst="rect">
            <a:avLst/>
          </a:prstGeom>
          <a:ln w="9525">
            <a:solidFill>
              <a:srgbClr val="D3D6DC"/>
            </a:solidFill>
          </a:ln>
        </p:spPr>
      </p:pic>
      <p:pic>
        <p:nvPicPr>
          <p:cNvPr id="115" name="Picture 12" descr="image.png"/>
          <p:cNvPicPr>
            <a:picLocks noChangeAspect="1"/>
          </p:cNvPicPr>
          <p:nvPr/>
        </p:nvPicPr>
        <p:blipFill>
          <a:blip r:embed="rId13"/>
          <a:stretch>
            <a:fillRect/>
          </a:stretch>
        </p:blipFill>
        <p:spPr>
          <a:xfrm>
            <a:off x="7710783" y="4886589"/>
            <a:ext cx="640314" cy="1086705"/>
          </a:xfrm>
          <a:prstGeom prst="rect">
            <a:avLst/>
          </a:prstGeom>
          <a:ln w="9525">
            <a:solidFill>
              <a:srgbClr val="D3D6DC"/>
            </a:solidFill>
          </a:ln>
        </p:spPr>
      </p:pic>
      <p:cxnSp>
        <p:nvCxnSpPr>
          <p:cNvPr id="116" name="Divider"/>
          <p:cNvCxnSpPr/>
          <p:nvPr/>
        </p:nvCxnSpPr>
        <p:spPr>
          <a:xfrm>
            <a:off x="822960" y="2194560"/>
            <a:ext cx="5120640" cy="0"/>
          </a:xfrm>
          <a:prstGeom prst="line">
            <a:avLst/>
          </a:prstGeom>
          <a:ln w="9525">
            <a:solidFill>
              <a:srgbClr val="E1E3E8"/>
            </a:solidFill>
          </a:ln>
        </p:spPr>
      </p:cxnSp>
      <p:sp>
        <p:nvSpPr>
          <p:cNvPr id="117" name="Robinhood"/>
          <p:cNvSpPr txBox="1"/>
          <p:nvPr/>
        </p:nvSpPr>
        <p:spPr>
          <a:xfrm>
            <a:off x="822960" y="2359152"/>
            <a:ext cx="5120640" cy="18288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Robinhood</a:t>
            </a:r>
          </a:p>
          <a:p>
            <a:pPr algn="l">
              <a:lnSpc>
                <a:spcPct val="125000"/>
              </a:lnSpc>
              <a:spcAft>
                <a:spcPts val="200"/>
              </a:spcAft>
            </a:pPr>
            <a:r>
              <a:rPr lang="en-US" sz="1550" spc="0" dirty="0">
                <a:solidFill>
                  <a:srgbClr val="565C6B"/>
                </a:solidFill>
                <a:latin typeface="Helvetica Neue Light"/>
                <a:cs typeface="Helvetica Neue Light"/>
              </a:rPr>
              <a:t>Whole and fractional shares in dollar amounts. A simple switch between shares and dollars, tickets with every detail, and instant trade notifications.</a:t>
            </a:r>
          </a:p>
        </p:txBody>
      </p:sp>
      <p:cxnSp>
        <p:nvCxnSpPr>
          <p:cNvPr id="118" name="Divider"/>
          <p:cNvCxnSpPr/>
          <p:nvPr/>
        </p:nvCxnSpPr>
        <p:spPr>
          <a:xfrm>
            <a:off x="822960" y="4160520"/>
            <a:ext cx="5120640" cy="0"/>
          </a:xfrm>
          <a:prstGeom prst="line">
            <a:avLst/>
          </a:prstGeom>
          <a:ln w="9525">
            <a:solidFill>
              <a:srgbClr val="E1E3E8"/>
            </a:solidFill>
          </a:ln>
        </p:spPr>
      </p:cxnSp>
      <p:sp>
        <p:nvSpPr>
          <p:cNvPr id="119" name="Charles Schwab"/>
          <p:cNvSpPr txBox="1"/>
          <p:nvPr/>
        </p:nvSpPr>
        <p:spPr>
          <a:xfrm>
            <a:off x="822960" y="4325112"/>
            <a:ext cx="5120640" cy="18288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Charles Schwab</a:t>
            </a:r>
          </a:p>
          <a:p>
            <a:pPr algn="l">
              <a:lnSpc>
                <a:spcPct val="125000"/>
              </a:lnSpc>
              <a:spcAft>
                <a:spcPts val="200"/>
              </a:spcAft>
            </a:pPr>
            <a:r>
              <a:rPr lang="en-US" sz="1550" spc="0" dirty="0">
                <a:solidFill>
                  <a:srgbClr val="565C6B"/>
                </a:solidFill>
                <a:latin typeface="Helvetica Neue Light"/>
                <a:cs typeface="Helvetica Neue Light"/>
              </a:rPr>
              <a:t>Fractional shares from $5 with Stock Slices. Clear, complete trade tickets and an intuitive design.</a:t>
            </a:r>
          </a:p>
        </p:txBody>
      </p:sp>
      <p:cxnSp>
        <p:nvCxnSpPr>
          <p:cNvPr id="120" name="Divider"/>
          <p:cNvCxnSpPr/>
          <p:nvPr/>
        </p:nvCxnSpPr>
        <p:spPr>
          <a:xfrm>
            <a:off x="822960" y="6126479"/>
            <a:ext cx="5120640" cy="0"/>
          </a:xfrm>
          <a:prstGeom prst="line">
            <a:avLst/>
          </a:prstGeom>
          <a:ln w="9525">
            <a:solidFill>
              <a:srgbClr val="E1E3E8"/>
            </a:solidFill>
          </a:ln>
        </p:spPr>
      </p:cxnSp>
      <p:sp>
        <p:nvSpPr>
          <p:cNvPr id="121" name="Fidelity"/>
          <p:cNvSpPr txBox="1"/>
          <p:nvPr/>
        </p:nvSpPr>
        <p:spPr>
          <a:xfrm>
            <a:off x="822960" y="6291071"/>
            <a:ext cx="5120640" cy="182880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Fidelity</a:t>
            </a:r>
          </a:p>
          <a:p>
            <a:pPr algn="l">
              <a:lnSpc>
                <a:spcPct val="125000"/>
              </a:lnSpc>
              <a:spcAft>
                <a:spcPts val="200"/>
              </a:spcAft>
            </a:pPr>
            <a:r>
              <a:rPr lang="en-US" sz="1550" spc="0" dirty="0">
                <a:solidFill>
                  <a:srgbClr val="565C6B"/>
                </a:solidFill>
                <a:latin typeface="Helvetica Neue Light"/>
                <a:cs typeface="Helvetica Neue Light"/>
              </a:rPr>
              <a:t>Shares or dollars, with fractional shares across stocks and ETFs. Detailed tickets with execution time, and easy navigation.</a:t>
            </a:r>
          </a:p>
        </p:txBody>
      </p:sp>
      <p:pic>
        <p:nvPicPr>
          <p:cNvPr id="122" name="gradient strip" descr="gradient strip"/>
          <p:cNvPicPr>
            <a:picLocks noChangeAspect="1"/>
          </p:cNvPicPr>
          <p:nvPr/>
        </p:nvPicPr>
        <p:blipFill>
          <a:blip r:embed="rId14"/>
          <a:stretch>
            <a:fillRect/>
          </a:stretch>
        </p:blipFill>
        <p:spPr>
          <a:xfrm>
            <a:off x="0" y="9285427"/>
            <a:ext cx="13004800" cy="468173"/>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Trade ticket design sprint: discovery</a:t>
            </a:r>
          </a:p>
        </p:txBody>
      </p:sp>
      <p:pic>
        <p:nvPicPr>
          <p:cNvPr id="103" name="Picture 2" descr="image.png"/>
          <p:cNvPicPr>
            <a:picLocks noChangeAspect="1"/>
          </p:cNvPicPr>
          <p:nvPr/>
        </p:nvPicPr>
        <p:blipFill>
          <a:blip r:embed="rId2"/>
          <a:stretch>
            <a:fillRect/>
          </a:stretch>
        </p:blipFill>
        <p:spPr>
          <a:xfrm>
            <a:off x="6502400" y="3078233"/>
            <a:ext cx="2647896" cy="5603690"/>
          </a:xfrm>
          <a:prstGeom prst="rect">
            <a:avLst/>
          </a:prstGeom>
          <a:ln w="9525">
            <a:solidFill>
              <a:srgbClr val="D3D6DC"/>
            </a:solidFill>
          </a:ln>
        </p:spPr>
      </p:pic>
      <p:pic>
        <p:nvPicPr>
          <p:cNvPr id="105" name="Picture 3" descr="image.png"/>
          <p:cNvPicPr>
            <a:picLocks noChangeAspect="1"/>
          </p:cNvPicPr>
          <p:nvPr/>
        </p:nvPicPr>
        <p:blipFill>
          <a:blip r:embed="rId3"/>
          <a:stretch>
            <a:fillRect/>
          </a:stretch>
        </p:blipFill>
        <p:spPr>
          <a:xfrm>
            <a:off x="9607496" y="3078233"/>
            <a:ext cx="2585393" cy="5603690"/>
          </a:xfrm>
          <a:prstGeom prst="rect">
            <a:avLst/>
          </a:prstGeom>
          <a:ln w="9525">
            <a:solidFill>
              <a:srgbClr val="D3D6DC"/>
            </a:solidFill>
          </a:ln>
        </p:spPr>
      </p:pic>
      <p:sp>
        <p:nvSpPr>
          <p:cNvPr id="106" name="Learned"/>
          <p:cNvSpPr txBox="1"/>
          <p:nvPr/>
        </p:nvSpPr>
        <p:spPr>
          <a:xfrm>
            <a:off x="822960" y="2194560"/>
            <a:ext cx="475488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FROM DISCOVERY AND DESIGN THINKING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Account switching would serve most experienced traders and 60% of novice users, and fit the new mobile-native navigation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Dark mode is important</a:t>
            </a:r>
          </a:p>
        </p:txBody>
      </p:sp>
      <p:pic>
        <p:nvPicPr>
          <p:cNvPr id="107"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First iteration: start from what they hold</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If a user holds the asset, they go straight into a ticket to buy or sell.</a:t>
            </a:r>
          </a:p>
        </p:txBody>
      </p:sp>
      <p:pic>
        <p:nvPicPr>
          <p:cNvPr id="104" name="Picture 2" descr="image.png"/>
          <p:cNvPicPr>
            <a:picLocks noChangeAspect="1"/>
          </p:cNvPicPr>
          <p:nvPr/>
        </p:nvPicPr>
        <p:blipFill>
          <a:blip r:embed="rId2"/>
          <a:stretch>
            <a:fillRect/>
          </a:stretch>
        </p:blipFill>
        <p:spPr>
          <a:xfrm>
            <a:off x="5852160" y="2974438"/>
            <a:ext cx="2536496" cy="4841043"/>
          </a:xfrm>
          <a:prstGeom prst="rect">
            <a:avLst/>
          </a:prstGeom>
          <a:ln w="9525">
            <a:solidFill>
              <a:srgbClr val="D3D6DC"/>
            </a:solidFill>
          </a:ln>
        </p:spPr>
      </p:pic>
      <p:pic>
        <p:nvPicPr>
          <p:cNvPr id="105" name="Picture 1" descr="image.png"/>
          <p:cNvPicPr>
            <a:picLocks noChangeAspect="1"/>
          </p:cNvPicPr>
          <p:nvPr/>
        </p:nvPicPr>
        <p:blipFill>
          <a:blip r:embed="rId3"/>
          <a:stretch>
            <a:fillRect/>
          </a:stretch>
        </p:blipFill>
        <p:spPr>
          <a:xfrm>
            <a:off x="8708696" y="2974438"/>
            <a:ext cx="3471111" cy="4841043"/>
          </a:xfrm>
          <a:prstGeom prst="rect">
            <a:avLst/>
          </a:prstGeom>
          <a:ln w="9525">
            <a:solidFill>
              <a:srgbClr val="D3D6DC"/>
            </a:solidFill>
          </a:ln>
        </p:spPr>
      </p:pic>
      <p:sp>
        <p:nvSpPr>
          <p:cNvPr id="106" name="Caption"/>
          <p:cNvSpPr txBox="1"/>
          <p:nvPr/>
        </p:nvSpPr>
        <p:spPr>
          <a:xfrm>
            <a:off x="5852160" y="2626966"/>
            <a:ext cx="274320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First iteration</a:t>
            </a:r>
          </a:p>
        </p:txBody>
      </p:sp>
      <p:sp>
        <p:nvSpPr>
          <p:cNvPr id="107" name="Learned"/>
          <p:cNvSpPr txBox="1"/>
          <p:nvPr/>
        </p:nvSpPr>
        <p:spPr>
          <a:xfrm>
            <a:off x="822960" y="2194560"/>
            <a:ext cx="457200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THE IDEA</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 asset is already held, so the user lands straight in the funnel</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One toggle switches between dollars and shares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predictive interface: only the choices that apply, never too many</a:t>
            </a:r>
          </a:p>
        </p:txBody>
      </p:sp>
      <p:pic>
        <p:nvPicPr>
          <p:cNvPr id="108"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Second and third iterations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A flexible ticket with detail on the stock and on the holding itself.</a:t>
            </a:r>
          </a:p>
        </p:txBody>
      </p:sp>
      <p:pic>
        <p:nvPicPr>
          <p:cNvPr id="104" name="Picture 2" descr="image.png"/>
          <p:cNvPicPr>
            <a:picLocks noChangeAspect="1"/>
          </p:cNvPicPr>
          <p:nvPr/>
        </p:nvPicPr>
        <p:blipFill>
          <a:blip r:embed="rId2"/>
          <a:stretch>
            <a:fillRect/>
          </a:stretch>
        </p:blipFill>
        <p:spPr>
          <a:xfrm>
            <a:off x="5933457" y="2468880"/>
            <a:ext cx="2817033" cy="5852160"/>
          </a:xfrm>
          <a:prstGeom prst="rect">
            <a:avLst/>
          </a:prstGeom>
          <a:ln w="9525">
            <a:solidFill>
              <a:srgbClr val="D3D6DC"/>
            </a:solidFill>
          </a:ln>
        </p:spPr>
      </p:pic>
      <p:pic>
        <p:nvPicPr>
          <p:cNvPr id="105" name="Picture 1" descr="image.png"/>
          <p:cNvPicPr>
            <a:picLocks noChangeAspect="1"/>
          </p:cNvPicPr>
          <p:nvPr/>
        </p:nvPicPr>
        <p:blipFill>
          <a:blip r:embed="rId3"/>
          <a:stretch>
            <a:fillRect/>
          </a:stretch>
        </p:blipFill>
        <p:spPr>
          <a:xfrm>
            <a:off x="9070531" y="2468880"/>
            <a:ext cx="3109276" cy="5852160"/>
          </a:xfrm>
          <a:prstGeom prst="rect">
            <a:avLst/>
          </a:prstGeom>
          <a:ln w="9525">
            <a:solidFill>
              <a:srgbClr val="D3D6DC"/>
            </a:solidFill>
          </a:ln>
        </p:spPr>
      </p:pic>
      <p:sp>
        <p:nvSpPr>
          <p:cNvPr id="106" name="Caption"/>
          <p:cNvSpPr txBox="1"/>
          <p:nvPr/>
        </p:nvSpPr>
        <p:spPr>
          <a:xfrm>
            <a:off x="5933457" y="2121408"/>
            <a:ext cx="274320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Second iteration</a:t>
            </a:r>
          </a:p>
        </p:txBody>
      </p:sp>
      <p:sp>
        <p:nvSpPr>
          <p:cNvPr id="107" name="Caption"/>
          <p:cNvSpPr txBox="1"/>
          <p:nvPr/>
        </p:nvSpPr>
        <p:spPr>
          <a:xfrm>
            <a:off x="9070531" y="2121408"/>
            <a:ext cx="274320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Third iteration</a:t>
            </a:r>
          </a:p>
        </p:txBody>
      </p:sp>
      <p:sp>
        <p:nvSpPr>
          <p:cNvPr id="108" name="Learned"/>
          <p:cNvSpPr txBox="1"/>
          <p:nvPr/>
        </p:nvSpPr>
        <p:spPr>
          <a:xfrm>
            <a:off x="822960" y="2194560"/>
            <a:ext cx="457200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IN TESTING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Education was a priority for all users, but shouldn’t distract or slow them down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Trading in quick amounts is good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Feedback on the share amount is valuable too</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custom keyboard was tried in several iterations, then replaced by the system keyboard</a:t>
            </a:r>
          </a:p>
        </p:txBody>
      </p:sp>
      <p:pic>
        <p:nvPicPr>
          <p:cNvPr id="109"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Testing two versions: list or tabs</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Every order type stays available, whether trading by shares or dollars.</a:t>
            </a:r>
          </a:p>
        </p:txBody>
      </p:sp>
      <p:pic>
        <p:nvPicPr>
          <p:cNvPr id="104" name="Picture 3" descr="image.png"/>
          <p:cNvPicPr>
            <a:picLocks noChangeAspect="1"/>
          </p:cNvPicPr>
          <p:nvPr/>
        </p:nvPicPr>
        <p:blipFill>
          <a:blip r:embed="rId2"/>
          <a:stretch>
            <a:fillRect/>
          </a:stretch>
        </p:blipFill>
        <p:spPr>
          <a:xfrm>
            <a:off x="822960" y="4242201"/>
            <a:ext cx="2479078" cy="3951436"/>
          </a:xfrm>
          <a:prstGeom prst="rect">
            <a:avLst/>
          </a:prstGeom>
          <a:ln w="9525">
            <a:solidFill>
              <a:srgbClr val="D3D6DC"/>
            </a:solidFill>
          </a:ln>
        </p:spPr>
      </p:pic>
      <p:pic>
        <p:nvPicPr>
          <p:cNvPr id="105" name="Picture 1" descr="image.png"/>
          <p:cNvPicPr>
            <a:picLocks noChangeAspect="1"/>
          </p:cNvPicPr>
          <p:nvPr/>
        </p:nvPicPr>
        <p:blipFill>
          <a:blip r:embed="rId3"/>
          <a:stretch>
            <a:fillRect/>
          </a:stretch>
        </p:blipFill>
        <p:spPr>
          <a:xfrm>
            <a:off x="3622078" y="4242201"/>
            <a:ext cx="1975718" cy="3951436"/>
          </a:xfrm>
          <a:prstGeom prst="rect">
            <a:avLst/>
          </a:prstGeom>
          <a:ln w="9525">
            <a:solidFill>
              <a:srgbClr val="D3D6DC"/>
            </a:solidFill>
          </a:ln>
        </p:spPr>
      </p:pic>
      <p:pic>
        <p:nvPicPr>
          <p:cNvPr id="106" name="Picture 2" descr="image.png"/>
          <p:cNvPicPr>
            <a:picLocks noChangeAspect="1"/>
          </p:cNvPicPr>
          <p:nvPr/>
        </p:nvPicPr>
        <p:blipFill>
          <a:blip r:embed="rId4"/>
          <a:stretch>
            <a:fillRect/>
          </a:stretch>
        </p:blipFill>
        <p:spPr>
          <a:xfrm>
            <a:off x="5917836" y="4242201"/>
            <a:ext cx="1975717" cy="3951436"/>
          </a:xfrm>
          <a:prstGeom prst="rect">
            <a:avLst/>
          </a:prstGeom>
          <a:ln w="9525">
            <a:solidFill>
              <a:srgbClr val="D3D6DC"/>
            </a:solidFill>
          </a:ln>
        </p:spPr>
      </p:pic>
      <p:pic>
        <p:nvPicPr>
          <p:cNvPr id="107" name="Picture 4" descr="image.png"/>
          <p:cNvPicPr>
            <a:picLocks noChangeAspect="1"/>
          </p:cNvPicPr>
          <p:nvPr/>
        </p:nvPicPr>
        <p:blipFill>
          <a:blip r:embed="rId5"/>
          <a:stretch>
            <a:fillRect/>
          </a:stretch>
        </p:blipFill>
        <p:spPr>
          <a:xfrm>
            <a:off x="8213594" y="4242201"/>
            <a:ext cx="1823086" cy="3951436"/>
          </a:xfrm>
          <a:prstGeom prst="rect">
            <a:avLst/>
          </a:prstGeom>
          <a:ln w="9525">
            <a:solidFill>
              <a:srgbClr val="D3D6DC"/>
            </a:solidFill>
          </a:ln>
        </p:spPr>
      </p:pic>
      <p:pic>
        <p:nvPicPr>
          <p:cNvPr id="108" name="Picture 5" descr="image.png"/>
          <p:cNvPicPr>
            <a:picLocks noChangeAspect="1"/>
          </p:cNvPicPr>
          <p:nvPr/>
        </p:nvPicPr>
        <p:blipFill>
          <a:blip r:embed="rId6"/>
          <a:stretch>
            <a:fillRect/>
          </a:stretch>
        </p:blipFill>
        <p:spPr>
          <a:xfrm>
            <a:off x="10356721" y="4242201"/>
            <a:ext cx="1823086" cy="3951436"/>
          </a:xfrm>
          <a:prstGeom prst="rect">
            <a:avLst/>
          </a:prstGeom>
          <a:ln w="9525">
            <a:solidFill>
              <a:srgbClr val="D3D6DC"/>
            </a:solidFill>
          </a:ln>
        </p:spPr>
      </p:pic>
      <p:sp>
        <p:nvSpPr>
          <p:cNvPr id="109" name="Caption"/>
          <p:cNvSpPr txBox="1"/>
          <p:nvPr/>
        </p:nvSpPr>
        <p:spPr>
          <a:xfrm>
            <a:off x="822960" y="3894729"/>
            <a:ext cx="274320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Test version 1</a:t>
            </a:r>
          </a:p>
        </p:txBody>
      </p:sp>
      <p:sp>
        <p:nvSpPr>
          <p:cNvPr id="110" name="Learned"/>
          <p:cNvSpPr txBox="1"/>
          <p:nvPr/>
        </p:nvSpPr>
        <p:spPr>
          <a:xfrm>
            <a:off x="822960" y="2194560"/>
            <a:ext cx="438912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IN TESTING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People preferred the list view to tabs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 icon next to “Action” scored high</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Quantity and order sheets that appear only when needed made sense to many</a:t>
            </a:r>
          </a:p>
        </p:txBody>
      </p:sp>
      <p:pic>
        <p:nvPicPr>
          <p:cNvPr id="111" name="gradient strip" descr="gradient strip"/>
          <p:cNvPicPr>
            <a:picLocks noChangeAspect="1"/>
          </p:cNvPicPr>
          <p:nvPr/>
        </p:nvPicPr>
        <p:blipFill>
          <a:blip r:embed="rId7"/>
          <a:stretch>
            <a:fillRect/>
          </a:stretch>
        </p:blipFill>
        <p:spPr>
          <a:xfrm>
            <a:off x="0" y="9285427"/>
            <a:ext cx="13004800" cy="468173"/>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Final delivered solution</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Every field stays editable if the user needs to change the order.</a:t>
            </a:r>
          </a:p>
        </p:txBody>
      </p:sp>
      <p:pic>
        <p:nvPicPr>
          <p:cNvPr id="104" name="Picture 1" descr="image.png"/>
          <p:cNvPicPr>
            <a:picLocks noChangeAspect="1"/>
          </p:cNvPicPr>
          <p:nvPr/>
        </p:nvPicPr>
        <p:blipFill>
          <a:blip r:embed="rId2"/>
          <a:stretch>
            <a:fillRect/>
          </a:stretch>
        </p:blipFill>
        <p:spPr>
          <a:xfrm>
            <a:off x="6370446" y="2377440"/>
            <a:ext cx="2747102" cy="5943600"/>
          </a:xfrm>
          <a:prstGeom prst="rect">
            <a:avLst/>
          </a:prstGeom>
          <a:ln w="9525">
            <a:solidFill>
              <a:srgbClr val="D3D6DC"/>
            </a:solidFill>
          </a:ln>
        </p:spPr>
      </p:pic>
      <p:pic>
        <p:nvPicPr>
          <p:cNvPr id="105" name="Picture 2" descr="image.png"/>
          <p:cNvPicPr>
            <a:picLocks noChangeAspect="1"/>
          </p:cNvPicPr>
          <p:nvPr/>
        </p:nvPicPr>
        <p:blipFill>
          <a:blip r:embed="rId3"/>
          <a:stretch>
            <a:fillRect/>
          </a:stretch>
        </p:blipFill>
        <p:spPr>
          <a:xfrm>
            <a:off x="9437589" y="2377440"/>
            <a:ext cx="2742218" cy="5943600"/>
          </a:xfrm>
          <a:prstGeom prst="rect">
            <a:avLst/>
          </a:prstGeom>
          <a:ln w="9525">
            <a:solidFill>
              <a:srgbClr val="D3D6DC"/>
            </a:solidFill>
          </a:ln>
        </p:spPr>
      </p:pic>
      <p:sp>
        <p:nvSpPr>
          <p:cNvPr id="106" name="Caption"/>
          <p:cNvSpPr txBox="1"/>
          <p:nvPr/>
        </p:nvSpPr>
        <p:spPr>
          <a:xfrm>
            <a:off x="6370446" y="2029968"/>
            <a:ext cx="2743200" cy="274320"/>
          </a:xfrm>
          <a:prstGeom prst="rect">
            <a:avLst/>
          </a:prstGeom>
          <a:noFill/>
        </p:spPr>
        <p:txBody>
          <a:bodyPr wrap="square" lIns="0" tIns="0" rIns="0" bIns="0" anchor="t">
            <a:noAutofit/>
          </a:bodyPr>
          <a:lstStyle/>
          <a:p>
            <a:pPr algn="l">
              <a:lnSpc>
                <a:spcPct val="115000"/>
              </a:lnSpc>
              <a:spcAft>
                <a:spcPts val="300"/>
              </a:spcAft>
            </a:pPr>
            <a:r>
              <a:rPr lang="en-US" sz="1150" spc="0" dirty="0">
                <a:solidFill>
                  <a:srgbClr val="565C6B"/>
                </a:solidFill>
                <a:latin typeface="Helvetica Neue Light"/>
                <a:cs typeface="Helvetica Neue Light"/>
              </a:rPr>
              <a:t>Final delivered solution</a:t>
            </a:r>
          </a:p>
        </p:txBody>
      </p:sp>
      <p:sp>
        <p:nvSpPr>
          <p:cNvPr id="107" name="Learned"/>
          <p:cNvSpPr txBox="1"/>
          <p:nvPr/>
        </p:nvSpPr>
        <p:spPr>
          <a:xfrm>
            <a:off x="822960" y="2194560"/>
            <a:ext cx="448056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IN TESTING</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Order types vary</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Color and status changes show where an order is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Seeing the status right away is vital</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 cleaner interface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Quick transactions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Watchlist alerts you can act on</a:t>
            </a:r>
          </a:p>
        </p:txBody>
      </p:sp>
      <p:pic>
        <p:nvPicPr>
          <p:cNvPr id="108"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DELIVERY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One buy order, on the phone</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Account, stock, Buy, a dollar amount on the keypad, order type, review in shares, submit, executed.</a:t>
            </a:r>
          </a:p>
        </p:txBody>
      </p:sp>
      <p:pic>
        <p:nvPicPr>
          <p:cNvPr id="104" name="Hi-fi screen"/>
          <p:cNvPicPr>
            <a:picLocks noChangeAspect="1"/>
          </p:cNvPicPr>
          <p:nvPr/>
        </p:nvPicPr>
        <p:blipFill>
          <a:blip r:embed="rId2"/>
          <a:srcRect b="22747"/>
          <a:stretch>
            <a:fillRect/>
          </a:stretch>
        </p:blipFill>
        <p:spPr>
          <a:xfrm>
            <a:off x="822960" y="2240280"/>
            <a:ext cx="1275842" cy="2136293"/>
          </a:xfrm>
          <a:prstGeom prst="rect">
            <a:avLst/>
          </a:prstGeom>
          <a:ln w="9525">
            <a:solidFill>
              <a:srgbClr val="D3D6DC"/>
            </a:solidFill>
          </a:ln>
        </p:spPr>
      </p:pic>
      <p:sp>
        <p:nvSpPr>
          <p:cNvPr id="105" name="Cap 1"/>
          <p:cNvSpPr txBox="1"/>
          <p:nvPr/>
        </p:nvSpPr>
        <p:spPr>
          <a:xfrm>
            <a:off x="822960"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01  </a:t>
            </a:r>
            <a:r>
              <a:rPr lang="en-US" sz="1050" spc="0" dirty="0">
                <a:solidFill>
                  <a:srgbClr val="14161D"/>
                </a:solidFill>
                <a:latin typeface="Helvetica Neue Medium"/>
                <a:cs typeface="Helvetica Neue Medium"/>
              </a:rPr>
              <a:t>Accounts home</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06" name="Hi-fi screen"/>
          <p:cNvPicPr>
            <a:picLocks noChangeAspect="1"/>
          </p:cNvPicPr>
          <p:nvPr/>
        </p:nvPicPr>
        <p:blipFill>
          <a:blip r:embed="rId3"/>
          <a:srcRect b="22747"/>
          <a:stretch>
            <a:fillRect/>
          </a:stretch>
        </p:blipFill>
        <p:spPr>
          <a:xfrm>
            <a:off x="2263394" y="2240280"/>
            <a:ext cx="1275842" cy="2136293"/>
          </a:xfrm>
          <a:prstGeom prst="rect">
            <a:avLst/>
          </a:prstGeom>
          <a:ln w="9525">
            <a:solidFill>
              <a:srgbClr val="D3D6DC"/>
            </a:solidFill>
          </a:ln>
        </p:spPr>
      </p:pic>
      <p:sp>
        <p:nvSpPr>
          <p:cNvPr id="107" name="Cap 2"/>
          <p:cNvSpPr txBox="1"/>
          <p:nvPr/>
        </p:nvSpPr>
        <p:spPr>
          <a:xfrm>
            <a:off x="2263394"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02  </a:t>
            </a:r>
            <a:r>
              <a:rPr lang="en-US" sz="1050" spc="0" dirty="0">
                <a:solidFill>
                  <a:srgbClr val="14161D"/>
                </a:solidFill>
                <a:latin typeface="Helvetica Neue Medium"/>
                <a:cs typeface="Helvetica Neue Medium"/>
              </a:rPr>
              <a:t>The ticket</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08" name="Hi-fi screen"/>
          <p:cNvPicPr>
            <a:picLocks noChangeAspect="1"/>
          </p:cNvPicPr>
          <p:nvPr/>
        </p:nvPicPr>
        <p:blipFill>
          <a:blip r:embed="rId4"/>
          <a:srcRect b="22747"/>
          <a:stretch>
            <a:fillRect/>
          </a:stretch>
        </p:blipFill>
        <p:spPr>
          <a:xfrm>
            <a:off x="3703828" y="2240280"/>
            <a:ext cx="1275842" cy="2136293"/>
          </a:xfrm>
          <a:prstGeom prst="rect">
            <a:avLst/>
          </a:prstGeom>
          <a:ln w="9525">
            <a:solidFill>
              <a:srgbClr val="D3D6DC"/>
            </a:solidFill>
          </a:ln>
        </p:spPr>
      </p:pic>
      <p:sp>
        <p:nvSpPr>
          <p:cNvPr id="109" name="Cap 3"/>
          <p:cNvSpPr txBox="1"/>
          <p:nvPr/>
        </p:nvSpPr>
        <p:spPr>
          <a:xfrm>
            <a:off x="3703828"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03  </a:t>
            </a:r>
            <a:r>
              <a:rPr lang="en-US" sz="1050" spc="0" dirty="0">
                <a:solidFill>
                  <a:srgbClr val="14161D"/>
                </a:solidFill>
                <a:latin typeface="Helvetica Neue Medium"/>
                <a:cs typeface="Helvetica Neue Medium"/>
              </a:rPr>
              <a:t>Account menu</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10" name="Hi-fi screen"/>
          <p:cNvPicPr>
            <a:picLocks noChangeAspect="1"/>
          </p:cNvPicPr>
          <p:nvPr/>
        </p:nvPicPr>
        <p:blipFill>
          <a:blip r:embed="rId5"/>
          <a:srcRect b="22747"/>
          <a:stretch>
            <a:fillRect/>
          </a:stretch>
        </p:blipFill>
        <p:spPr>
          <a:xfrm>
            <a:off x="5144262" y="2240280"/>
            <a:ext cx="1275842" cy="2136293"/>
          </a:xfrm>
          <a:prstGeom prst="rect">
            <a:avLst/>
          </a:prstGeom>
          <a:ln w="9525">
            <a:solidFill>
              <a:srgbClr val="D3D6DC"/>
            </a:solidFill>
          </a:ln>
        </p:spPr>
      </p:pic>
      <p:sp>
        <p:nvSpPr>
          <p:cNvPr id="111" name="Cap 4"/>
          <p:cNvSpPr txBox="1"/>
          <p:nvPr/>
        </p:nvSpPr>
        <p:spPr>
          <a:xfrm>
            <a:off x="5144262"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04  </a:t>
            </a:r>
            <a:r>
              <a:rPr lang="en-US" sz="1050" spc="0" dirty="0">
                <a:solidFill>
                  <a:srgbClr val="14161D"/>
                </a:solidFill>
                <a:latin typeface="Helvetica Neue Medium"/>
                <a:cs typeface="Helvetica Neue Medium"/>
              </a:rPr>
              <a:t>Account 3</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12" name="Hi-fi screen"/>
          <p:cNvPicPr>
            <a:picLocks noChangeAspect="1"/>
          </p:cNvPicPr>
          <p:nvPr/>
        </p:nvPicPr>
        <p:blipFill>
          <a:blip r:embed="rId6"/>
          <a:srcRect b="22747"/>
          <a:stretch>
            <a:fillRect/>
          </a:stretch>
        </p:blipFill>
        <p:spPr>
          <a:xfrm>
            <a:off x="6584696" y="2240280"/>
            <a:ext cx="1275842" cy="2136293"/>
          </a:xfrm>
          <a:prstGeom prst="rect">
            <a:avLst/>
          </a:prstGeom>
          <a:ln w="9525">
            <a:solidFill>
              <a:srgbClr val="D3D6DC"/>
            </a:solidFill>
          </a:ln>
        </p:spPr>
      </p:pic>
      <p:sp>
        <p:nvSpPr>
          <p:cNvPr id="113" name="Cap 5"/>
          <p:cNvSpPr txBox="1"/>
          <p:nvPr/>
        </p:nvSpPr>
        <p:spPr>
          <a:xfrm>
            <a:off x="6584696"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05  </a:t>
            </a:r>
            <a:r>
              <a:rPr lang="en-US" sz="1050" spc="0" dirty="0">
                <a:solidFill>
                  <a:srgbClr val="14161D"/>
                </a:solidFill>
                <a:latin typeface="Helvetica Neue Medium"/>
                <a:cs typeface="Helvetica Neue Medium"/>
              </a:rPr>
              <a:t>Search</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14" name="Hi-fi screen"/>
          <p:cNvPicPr>
            <a:picLocks noChangeAspect="1"/>
          </p:cNvPicPr>
          <p:nvPr/>
        </p:nvPicPr>
        <p:blipFill>
          <a:blip r:embed="rId7"/>
          <a:srcRect b="22747"/>
          <a:stretch>
            <a:fillRect/>
          </a:stretch>
        </p:blipFill>
        <p:spPr>
          <a:xfrm>
            <a:off x="8025130" y="2240280"/>
            <a:ext cx="1275842" cy="2136293"/>
          </a:xfrm>
          <a:prstGeom prst="rect">
            <a:avLst/>
          </a:prstGeom>
          <a:ln w="9525">
            <a:solidFill>
              <a:srgbClr val="D3D6DC"/>
            </a:solidFill>
          </a:ln>
        </p:spPr>
      </p:pic>
      <p:sp>
        <p:nvSpPr>
          <p:cNvPr id="115" name="Cap 6"/>
          <p:cNvSpPr txBox="1"/>
          <p:nvPr/>
        </p:nvSpPr>
        <p:spPr>
          <a:xfrm>
            <a:off x="8025130"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06  </a:t>
            </a:r>
            <a:r>
              <a:rPr lang="en-US" sz="1050" spc="0" dirty="0">
                <a:solidFill>
                  <a:srgbClr val="14161D"/>
                </a:solidFill>
                <a:latin typeface="Helvetica Neue Medium"/>
                <a:cs typeface="Helvetica Neue Medium"/>
              </a:rPr>
              <a:t>AAPL</a:t>
            </a:r>
          </a:p>
          <a:p>
            <a:pPr algn="l">
              <a:lnSpc>
                <a:spcPct val="100000"/>
              </a:lnSpc>
              <a:spcAft>
                <a:spcPts val="0"/>
              </a:spcAft>
            </a:pPr>
            <a:r>
              <a:rPr lang="en-US" sz="950" spc="0" dirty="0">
                <a:solidFill>
                  <a:srgbClr val="858A97"/>
                </a:solidFill>
                <a:latin typeface="Helvetica Neue Light"/>
                <a:cs typeface="Helvetica Neue Light"/>
              </a:rPr>
              <a:t>Pick</a:t>
            </a:r>
          </a:p>
        </p:txBody>
      </p:sp>
      <p:pic>
        <p:nvPicPr>
          <p:cNvPr id="116" name="Hi-fi screen"/>
          <p:cNvPicPr>
            <a:picLocks noChangeAspect="1"/>
          </p:cNvPicPr>
          <p:nvPr/>
        </p:nvPicPr>
        <p:blipFill>
          <a:blip r:embed="rId8"/>
          <a:srcRect b="22747"/>
          <a:stretch>
            <a:fillRect/>
          </a:stretch>
        </p:blipFill>
        <p:spPr>
          <a:xfrm>
            <a:off x="9465564" y="2240280"/>
            <a:ext cx="1275842" cy="2136293"/>
          </a:xfrm>
          <a:prstGeom prst="rect">
            <a:avLst/>
          </a:prstGeom>
          <a:ln w="9525">
            <a:solidFill>
              <a:srgbClr val="D3D6DC"/>
            </a:solidFill>
          </a:ln>
        </p:spPr>
      </p:pic>
      <p:sp>
        <p:nvSpPr>
          <p:cNvPr id="117" name="Cap 7"/>
          <p:cNvSpPr txBox="1"/>
          <p:nvPr/>
        </p:nvSpPr>
        <p:spPr>
          <a:xfrm>
            <a:off x="9465564"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07  </a:t>
            </a:r>
            <a:r>
              <a:rPr lang="en-US" sz="1050" spc="0" dirty="0">
                <a:solidFill>
                  <a:srgbClr val="14161D"/>
                </a:solidFill>
                <a:latin typeface="Helvetica Neue Medium"/>
                <a:cs typeface="Helvetica Neue Medium"/>
              </a:rPr>
              <a:t>Position, then Buy</a:t>
            </a:r>
          </a:p>
          <a:p>
            <a:pPr algn="l">
              <a:lnSpc>
                <a:spcPct val="100000"/>
              </a:lnSpc>
              <a:spcAft>
                <a:spcPts val="0"/>
              </a:spcAft>
            </a:pPr>
            <a:r>
              <a:rPr lang="en-US" sz="950" spc="0" dirty="0">
                <a:solidFill>
                  <a:srgbClr val="858A97"/>
                </a:solidFill>
                <a:latin typeface="Helvetica Neue Light"/>
                <a:cs typeface="Helvetica Neue Light"/>
              </a:rPr>
              <a:t>Build</a:t>
            </a:r>
          </a:p>
        </p:txBody>
      </p:sp>
      <p:pic>
        <p:nvPicPr>
          <p:cNvPr id="118" name="Hi-fi screen"/>
          <p:cNvPicPr>
            <a:picLocks noChangeAspect="1"/>
          </p:cNvPicPr>
          <p:nvPr/>
        </p:nvPicPr>
        <p:blipFill>
          <a:blip r:embed="rId9"/>
          <a:srcRect b="22747"/>
          <a:stretch>
            <a:fillRect/>
          </a:stretch>
        </p:blipFill>
        <p:spPr>
          <a:xfrm>
            <a:off x="10905998" y="2240280"/>
            <a:ext cx="1275842" cy="2136293"/>
          </a:xfrm>
          <a:prstGeom prst="rect">
            <a:avLst/>
          </a:prstGeom>
          <a:ln w="9525">
            <a:solidFill>
              <a:srgbClr val="D3D6DC"/>
            </a:solidFill>
          </a:ln>
        </p:spPr>
      </p:pic>
      <p:sp>
        <p:nvSpPr>
          <p:cNvPr id="119" name="Cap 8"/>
          <p:cNvSpPr txBox="1"/>
          <p:nvPr/>
        </p:nvSpPr>
        <p:spPr>
          <a:xfrm>
            <a:off x="10905998" y="4431437"/>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08  </a:t>
            </a:r>
            <a:r>
              <a:rPr lang="en-US" sz="1050" spc="0" dirty="0">
                <a:solidFill>
                  <a:srgbClr val="14161D"/>
                </a:solidFill>
                <a:latin typeface="Helvetica Neue Medium"/>
                <a:cs typeface="Helvetica Neue Medium"/>
              </a:rPr>
              <a:t>Keypad</a:t>
            </a:r>
          </a:p>
          <a:p>
            <a:pPr algn="l">
              <a:lnSpc>
                <a:spcPct val="100000"/>
              </a:lnSpc>
              <a:spcAft>
                <a:spcPts val="0"/>
              </a:spcAft>
            </a:pPr>
            <a:r>
              <a:rPr lang="en-US" sz="950" spc="0" dirty="0">
                <a:solidFill>
                  <a:srgbClr val="858A97"/>
                </a:solidFill>
                <a:latin typeface="Helvetica Neue Light"/>
                <a:cs typeface="Helvetica Neue Light"/>
              </a:rPr>
              <a:t>Build</a:t>
            </a:r>
          </a:p>
        </p:txBody>
      </p:sp>
      <p:pic>
        <p:nvPicPr>
          <p:cNvPr id="120" name="Hi-fi screen"/>
          <p:cNvPicPr>
            <a:picLocks noChangeAspect="1"/>
          </p:cNvPicPr>
          <p:nvPr/>
        </p:nvPicPr>
        <p:blipFill>
          <a:blip r:embed="rId10"/>
          <a:srcRect b="22747"/>
          <a:stretch>
            <a:fillRect/>
          </a:stretch>
        </p:blipFill>
        <p:spPr>
          <a:xfrm>
            <a:off x="822960" y="4943501"/>
            <a:ext cx="1275842" cy="2136293"/>
          </a:xfrm>
          <a:prstGeom prst="rect">
            <a:avLst/>
          </a:prstGeom>
          <a:ln w="9525">
            <a:solidFill>
              <a:srgbClr val="D3D6DC"/>
            </a:solidFill>
          </a:ln>
        </p:spPr>
      </p:pic>
      <p:sp>
        <p:nvSpPr>
          <p:cNvPr id="121" name="Cap 9"/>
          <p:cNvSpPr txBox="1"/>
          <p:nvPr/>
        </p:nvSpPr>
        <p:spPr>
          <a:xfrm>
            <a:off x="822960"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09  </a:t>
            </a:r>
            <a:r>
              <a:rPr lang="en-US" sz="1050" spc="0" dirty="0">
                <a:solidFill>
                  <a:srgbClr val="14161D"/>
                </a:solidFill>
                <a:latin typeface="Helvetica Neue Medium"/>
                <a:cs typeface="Helvetica Neue Medium"/>
              </a:rPr>
              <a:t>Dollar amount</a:t>
            </a:r>
          </a:p>
          <a:p>
            <a:pPr algn="l">
              <a:lnSpc>
                <a:spcPct val="100000"/>
              </a:lnSpc>
              <a:spcAft>
                <a:spcPts val="0"/>
              </a:spcAft>
            </a:pPr>
            <a:r>
              <a:rPr lang="en-US" sz="950" spc="0" dirty="0">
                <a:solidFill>
                  <a:srgbClr val="858A97"/>
                </a:solidFill>
                <a:latin typeface="Helvetica Neue Light"/>
                <a:cs typeface="Helvetica Neue Light"/>
              </a:rPr>
              <a:t>Build</a:t>
            </a:r>
          </a:p>
        </p:txBody>
      </p:sp>
      <p:pic>
        <p:nvPicPr>
          <p:cNvPr id="122" name="Hi-fi screen"/>
          <p:cNvPicPr>
            <a:picLocks noChangeAspect="1"/>
          </p:cNvPicPr>
          <p:nvPr/>
        </p:nvPicPr>
        <p:blipFill>
          <a:blip r:embed="rId11"/>
          <a:srcRect b="22747"/>
          <a:stretch>
            <a:fillRect/>
          </a:stretch>
        </p:blipFill>
        <p:spPr>
          <a:xfrm>
            <a:off x="2263394" y="4943501"/>
            <a:ext cx="1275842" cy="2136293"/>
          </a:xfrm>
          <a:prstGeom prst="rect">
            <a:avLst/>
          </a:prstGeom>
          <a:ln w="9525">
            <a:solidFill>
              <a:srgbClr val="D3D6DC"/>
            </a:solidFill>
          </a:ln>
        </p:spPr>
      </p:pic>
      <p:sp>
        <p:nvSpPr>
          <p:cNvPr id="123" name="Cap 10"/>
          <p:cNvSpPr txBox="1"/>
          <p:nvPr/>
        </p:nvSpPr>
        <p:spPr>
          <a:xfrm>
            <a:off x="2263394"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10  </a:t>
            </a:r>
            <a:r>
              <a:rPr lang="en-US" sz="1050" spc="0" dirty="0">
                <a:solidFill>
                  <a:srgbClr val="14161D"/>
                </a:solidFill>
                <a:latin typeface="Helvetica Neue Medium"/>
                <a:cs typeface="Helvetica Neue Medium"/>
              </a:rPr>
              <a:t>Order type</a:t>
            </a:r>
          </a:p>
          <a:p>
            <a:pPr algn="l">
              <a:lnSpc>
                <a:spcPct val="100000"/>
              </a:lnSpc>
              <a:spcAft>
                <a:spcPts val="0"/>
              </a:spcAft>
            </a:pPr>
            <a:r>
              <a:rPr lang="en-US" sz="950" spc="0" dirty="0">
                <a:solidFill>
                  <a:srgbClr val="858A97"/>
                </a:solidFill>
                <a:latin typeface="Helvetica Neue Light"/>
                <a:cs typeface="Helvetica Neue Light"/>
              </a:rPr>
              <a:t>Build</a:t>
            </a:r>
          </a:p>
        </p:txBody>
      </p:sp>
      <p:pic>
        <p:nvPicPr>
          <p:cNvPr id="124" name="Hi-fi screen"/>
          <p:cNvPicPr>
            <a:picLocks noChangeAspect="1"/>
          </p:cNvPicPr>
          <p:nvPr/>
        </p:nvPicPr>
        <p:blipFill>
          <a:blip r:embed="rId12"/>
          <a:srcRect b="22747"/>
          <a:stretch>
            <a:fillRect/>
          </a:stretch>
        </p:blipFill>
        <p:spPr>
          <a:xfrm>
            <a:off x="3703828" y="4943501"/>
            <a:ext cx="1275842" cy="2136293"/>
          </a:xfrm>
          <a:prstGeom prst="rect">
            <a:avLst/>
          </a:prstGeom>
          <a:ln w="9525">
            <a:solidFill>
              <a:srgbClr val="D3D6DC"/>
            </a:solidFill>
          </a:ln>
        </p:spPr>
      </p:pic>
      <p:sp>
        <p:nvSpPr>
          <p:cNvPr id="125" name="Cap 11"/>
          <p:cNvSpPr txBox="1"/>
          <p:nvPr/>
        </p:nvSpPr>
        <p:spPr>
          <a:xfrm>
            <a:off x="3703828"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11  </a:t>
            </a:r>
            <a:r>
              <a:rPr lang="en-US" sz="1050" spc="0" dirty="0">
                <a:solidFill>
                  <a:srgbClr val="14161D"/>
                </a:solidFill>
                <a:latin typeface="Helvetica Neue Medium"/>
                <a:cs typeface="Helvetica Neue Medium"/>
              </a:rPr>
              <a:t>Review Order</a:t>
            </a:r>
          </a:p>
          <a:p>
            <a:pPr algn="l">
              <a:lnSpc>
                <a:spcPct val="100000"/>
              </a:lnSpc>
              <a:spcAft>
                <a:spcPts val="0"/>
              </a:spcAft>
            </a:pPr>
            <a:r>
              <a:rPr lang="en-US" sz="950" spc="0" dirty="0">
                <a:solidFill>
                  <a:srgbClr val="858A97"/>
                </a:solidFill>
                <a:latin typeface="Helvetica Neue Light"/>
                <a:cs typeface="Helvetica Neue Light"/>
              </a:rPr>
              <a:t>Review</a:t>
            </a:r>
          </a:p>
        </p:txBody>
      </p:sp>
      <p:pic>
        <p:nvPicPr>
          <p:cNvPr id="126" name="Hi-fi screen"/>
          <p:cNvPicPr>
            <a:picLocks noChangeAspect="1"/>
          </p:cNvPicPr>
          <p:nvPr/>
        </p:nvPicPr>
        <p:blipFill>
          <a:blip r:embed="rId13"/>
          <a:srcRect b="22747"/>
          <a:stretch>
            <a:fillRect/>
          </a:stretch>
        </p:blipFill>
        <p:spPr>
          <a:xfrm>
            <a:off x="5144262" y="4943501"/>
            <a:ext cx="1275842" cy="2136293"/>
          </a:xfrm>
          <a:prstGeom prst="rect">
            <a:avLst/>
          </a:prstGeom>
          <a:ln w="9525">
            <a:solidFill>
              <a:srgbClr val="D3D6DC"/>
            </a:solidFill>
          </a:ln>
        </p:spPr>
      </p:pic>
      <p:sp>
        <p:nvSpPr>
          <p:cNvPr id="127" name="Cap 12"/>
          <p:cNvSpPr txBox="1"/>
          <p:nvPr/>
        </p:nvSpPr>
        <p:spPr>
          <a:xfrm>
            <a:off x="5144262"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12  </a:t>
            </a:r>
            <a:r>
              <a:rPr lang="en-US" sz="1050" spc="0" dirty="0">
                <a:solidFill>
                  <a:srgbClr val="14161D"/>
                </a:solidFill>
                <a:latin typeface="Helvetica Neue Medium"/>
                <a:cs typeface="Helvetica Neue Medium"/>
              </a:rPr>
              <a:t>In shares, submit</a:t>
            </a:r>
          </a:p>
          <a:p>
            <a:pPr algn="l">
              <a:lnSpc>
                <a:spcPct val="100000"/>
              </a:lnSpc>
              <a:spcAft>
                <a:spcPts val="0"/>
              </a:spcAft>
            </a:pPr>
            <a:r>
              <a:rPr lang="en-US" sz="950" spc="0" dirty="0">
                <a:solidFill>
                  <a:srgbClr val="858A97"/>
                </a:solidFill>
                <a:latin typeface="Helvetica Neue Light"/>
                <a:cs typeface="Helvetica Neue Light"/>
              </a:rPr>
              <a:t>Review</a:t>
            </a:r>
          </a:p>
        </p:txBody>
      </p:sp>
      <p:pic>
        <p:nvPicPr>
          <p:cNvPr id="128" name="Hi-fi screen"/>
          <p:cNvPicPr>
            <a:picLocks noChangeAspect="1"/>
          </p:cNvPicPr>
          <p:nvPr/>
        </p:nvPicPr>
        <p:blipFill>
          <a:blip r:embed="rId14"/>
          <a:srcRect b="22747"/>
          <a:stretch>
            <a:fillRect/>
          </a:stretch>
        </p:blipFill>
        <p:spPr>
          <a:xfrm>
            <a:off x="6584696" y="4943501"/>
            <a:ext cx="1275842" cy="2136293"/>
          </a:xfrm>
          <a:prstGeom prst="rect">
            <a:avLst/>
          </a:prstGeom>
          <a:ln w="9525">
            <a:solidFill>
              <a:srgbClr val="D3D6DC"/>
            </a:solidFill>
          </a:ln>
        </p:spPr>
      </p:pic>
      <p:sp>
        <p:nvSpPr>
          <p:cNvPr id="129" name="Cap 13"/>
          <p:cNvSpPr txBox="1"/>
          <p:nvPr/>
        </p:nvSpPr>
        <p:spPr>
          <a:xfrm>
            <a:off x="6584696"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13  </a:t>
            </a:r>
            <a:r>
              <a:rPr lang="en-US" sz="1050" spc="0" dirty="0">
                <a:solidFill>
                  <a:srgbClr val="14161D"/>
                </a:solidFill>
                <a:latin typeface="Helvetica Neue Medium"/>
                <a:cs typeface="Helvetica Neue Medium"/>
              </a:rPr>
              <a:t>Executed</a:t>
            </a:r>
          </a:p>
          <a:p>
            <a:pPr algn="l">
              <a:lnSpc>
                <a:spcPct val="100000"/>
              </a:lnSpc>
              <a:spcAft>
                <a:spcPts val="0"/>
              </a:spcAft>
            </a:pPr>
            <a:r>
              <a:rPr lang="en-US" sz="950" spc="0" dirty="0">
                <a:solidFill>
                  <a:srgbClr val="858A97"/>
                </a:solidFill>
                <a:latin typeface="Helvetica Neue Light"/>
                <a:cs typeface="Helvetica Neue Light"/>
              </a:rPr>
              <a:t>Status</a:t>
            </a:r>
          </a:p>
        </p:txBody>
      </p:sp>
      <p:pic>
        <p:nvPicPr>
          <p:cNvPr id="130" name="Hi-fi screen"/>
          <p:cNvPicPr>
            <a:picLocks noChangeAspect="1"/>
          </p:cNvPicPr>
          <p:nvPr/>
        </p:nvPicPr>
        <p:blipFill>
          <a:blip r:embed="rId15"/>
          <a:srcRect b="22747"/>
          <a:stretch>
            <a:fillRect/>
          </a:stretch>
        </p:blipFill>
        <p:spPr>
          <a:xfrm>
            <a:off x="8025130" y="4943501"/>
            <a:ext cx="1275842" cy="2136293"/>
          </a:xfrm>
          <a:prstGeom prst="rect">
            <a:avLst/>
          </a:prstGeom>
          <a:ln w="9525">
            <a:solidFill>
              <a:srgbClr val="D3D6DC"/>
            </a:solidFill>
          </a:ln>
        </p:spPr>
      </p:pic>
      <p:sp>
        <p:nvSpPr>
          <p:cNvPr id="131" name="Cap 14"/>
          <p:cNvSpPr txBox="1"/>
          <p:nvPr/>
        </p:nvSpPr>
        <p:spPr>
          <a:xfrm>
            <a:off x="8025130" y="7134659"/>
            <a:ext cx="127584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14  </a:t>
            </a:r>
            <a:r>
              <a:rPr lang="en-US" sz="1050" spc="0" dirty="0">
                <a:solidFill>
                  <a:srgbClr val="14161D"/>
                </a:solidFill>
                <a:latin typeface="Helvetica Neue Medium"/>
                <a:cs typeface="Helvetica Neue Medium"/>
              </a:rPr>
              <a:t>Next trade</a:t>
            </a:r>
          </a:p>
          <a:p>
            <a:pPr algn="l">
              <a:lnSpc>
                <a:spcPct val="100000"/>
              </a:lnSpc>
              <a:spcAft>
                <a:spcPts val="0"/>
              </a:spcAft>
            </a:pPr>
            <a:r>
              <a:rPr lang="en-US" sz="950" spc="0" dirty="0">
                <a:solidFill>
                  <a:srgbClr val="858A97"/>
                </a:solidFill>
                <a:latin typeface="Helvetica Neue Light"/>
                <a:cs typeface="Helvetica Neue Light"/>
              </a:rPr>
              <a:t>Status</a:t>
            </a:r>
          </a:p>
        </p:txBody>
      </p:sp>
      <p:cxnSp>
        <p:nvCxnSpPr>
          <p:cNvPr id="132" name="Divider"/>
          <p:cNvCxnSpPr/>
          <p:nvPr/>
        </p:nvCxnSpPr>
        <p:spPr>
          <a:xfrm>
            <a:off x="9465564" y="4943501"/>
            <a:ext cx="1275842" cy="0"/>
          </a:xfrm>
          <a:prstGeom prst="line">
            <a:avLst/>
          </a:prstGeom>
          <a:ln w="28575">
            <a:solidFill>
              <a:srgbClr val="B5531F"/>
            </a:solidFill>
          </a:ln>
        </p:spPr>
      </p:cxnSp>
      <p:sp>
        <p:nvSpPr>
          <p:cNvPr id="133" name="Prototype tile">
            <a:hlinkClick r:id="rId16"/>
          </p:cNvPr>
          <p:cNvSpPr txBox="1"/>
          <p:nvPr/>
        </p:nvSpPr>
        <p:spPr>
          <a:xfrm>
            <a:off x="9465564" y="5080661"/>
            <a:ext cx="1275842" cy="2136293"/>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B5531F"/>
                </a:solidFill>
                <a:latin typeface="Helvetica Neue Medium"/>
                <a:cs typeface="Helvetica Neue Medium"/>
              </a:rPr>
              <a:t>TRY IT</a:t>
            </a:r>
          </a:p>
          <a:p>
            <a:pPr algn="l">
              <a:lnSpc>
                <a:spcPct val="115000"/>
              </a:lnSpc>
              <a:spcAft>
                <a:spcPts val="300"/>
              </a:spcAft>
            </a:pPr>
            <a:r>
              <a:rPr lang="en-US" sz="1400" u="sng" spc="0" dirty="0">
                <a:solidFill>
                  <a:srgbClr val="B5531F"/>
                </a:solidFill>
                <a:latin typeface="Helvetica Neue Medium"/>
                <a:cs typeface="Helvetica Neue Medium"/>
                <a:hlinkClick r:id="rId16"/>
              </a:rPr>
              <a:t>Open the prototype →</a:t>
            </a:r>
            <a:endParaRPr lang="en-US" sz="1400" u="sng" spc="0" dirty="0">
              <a:solidFill>
                <a:srgbClr val="B5531F"/>
              </a:solidFill>
              <a:latin typeface="Helvetica Neue Medium"/>
              <a:cs typeface="Helvetica Neue Medium"/>
            </a:endParaRPr>
          </a:p>
          <a:p>
            <a:pPr algn="l">
              <a:lnSpc>
                <a:spcPct val="115000"/>
              </a:lnSpc>
              <a:spcAft>
                <a:spcPts val="300"/>
              </a:spcAft>
            </a:pPr>
            <a:r>
              <a:rPr lang="en-US" sz="1050" spc="0" dirty="0">
                <a:solidFill>
                  <a:srgbClr val="858A97"/>
                </a:solidFill>
                <a:latin typeface="Helvetica Neue Light"/>
                <a:cs typeface="Helvetica Neue Light"/>
              </a:rPr>
              <a:t>Starts at the accounts home</a:t>
            </a:r>
          </a:p>
        </p:txBody>
      </p:sp>
      <p:pic>
        <p:nvPicPr>
          <p:cNvPr id="134" name="gradient strip" descr="gradient strip"/>
          <p:cNvPicPr>
            <a:picLocks noChangeAspect="1"/>
          </p:cNvPicPr>
          <p:nvPr/>
        </p:nvPicPr>
        <p:blipFill>
          <a:blip r:embed="rId17"/>
          <a:stretch>
            <a:fillRect/>
          </a:stretch>
        </p:blipFill>
        <p:spPr>
          <a:xfrm>
            <a:off x="0" y="9285427"/>
            <a:ext cx="13004800" cy="468173"/>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KEY CALLS</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14161D"/>
                </a:solidFill>
                <a:latin typeface="Helvetica Neue Medium"/>
                <a:cs typeface="Helvetica Neue Medium"/>
              </a:rPr>
              <a:t>Four calls that shaped </a:t>
            </a:r>
            <a:r>
              <a:rPr lang="en-US" sz="4400" spc="-40" dirty="0">
                <a:solidFill>
                  <a:srgbClr val="B5531F"/>
                </a:solidFill>
                <a:latin typeface="Helvetica Neue Medium"/>
                <a:cs typeface="Helvetica Neue Medium"/>
              </a:rPr>
              <a:t>the trade ticket</a:t>
            </a:r>
            <a:r>
              <a:rPr lang="en-US" sz="4400" spc="-40" dirty="0">
                <a:solidFill>
                  <a:srgbClr val="14161D"/>
                </a:solidFill>
                <a:latin typeface="Helvetica Neue Medium"/>
                <a:cs typeface="Helvetica Neue Medium"/>
              </a:rPr>
              <a:t>.</a:t>
            </a:r>
          </a:p>
        </p:txBody>
      </p:sp>
      <p:cxnSp>
        <p:nvCxnSpPr>
          <p:cNvPr id="103" name="Divider"/>
          <p:cNvCxnSpPr/>
          <p:nvPr/>
        </p:nvCxnSpPr>
        <p:spPr>
          <a:xfrm>
            <a:off x="822960" y="3566160"/>
            <a:ext cx="5427980" cy="0"/>
          </a:xfrm>
          <a:prstGeom prst="line">
            <a:avLst/>
          </a:prstGeom>
          <a:ln w="9525">
            <a:solidFill>
              <a:srgbClr val="E1E3E8"/>
            </a:solidFill>
          </a:ln>
        </p:spPr>
      </p:cxnSp>
      <p:sp>
        <p:nvSpPr>
          <p:cNvPr id="104" name="Shares or dollars in one ticket title"/>
          <p:cNvSpPr txBox="1"/>
          <p:nvPr/>
        </p:nvSpPr>
        <p:spPr>
          <a:xfrm>
            <a:off x="8229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Shares or dollars in one ticket</a:t>
            </a:r>
          </a:p>
        </p:txBody>
      </p:sp>
      <p:sp>
        <p:nvSpPr>
          <p:cNvPr id="105" name="Shares or dollars in one ticket body"/>
          <p:cNvSpPr txBox="1"/>
          <p:nvPr/>
        </p:nvSpPr>
        <p:spPr>
          <a:xfrm>
            <a:off x="8229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One toggle switches between trading by share quantity and by dollar amount, instead of two flows.</a:t>
            </a:r>
          </a:p>
        </p:txBody>
      </p:sp>
      <p:cxnSp>
        <p:nvCxnSpPr>
          <p:cNvPr id="106" name="Divider"/>
          <p:cNvCxnSpPr/>
          <p:nvPr/>
        </p:nvCxnSpPr>
        <p:spPr>
          <a:xfrm>
            <a:off x="6753860" y="3566160"/>
            <a:ext cx="5427980" cy="0"/>
          </a:xfrm>
          <a:prstGeom prst="line">
            <a:avLst/>
          </a:prstGeom>
          <a:ln w="9525">
            <a:solidFill>
              <a:srgbClr val="E1E3E8"/>
            </a:solidFill>
          </a:ln>
        </p:spPr>
      </p:cxnSp>
      <p:sp>
        <p:nvSpPr>
          <p:cNvPr id="107" name="Start from what they hold title"/>
          <p:cNvSpPr txBox="1"/>
          <p:nvPr/>
        </p:nvSpPr>
        <p:spPr>
          <a:xfrm>
            <a:off x="67538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Start from what they hold</a:t>
            </a:r>
          </a:p>
        </p:txBody>
      </p:sp>
      <p:sp>
        <p:nvSpPr>
          <p:cNvPr id="108" name="Start from what they hold body"/>
          <p:cNvSpPr txBox="1"/>
          <p:nvPr/>
        </p:nvSpPr>
        <p:spPr>
          <a:xfrm>
            <a:off x="67538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If a user already holds the asset, they go straight into the ticket with their position shown.</a:t>
            </a:r>
          </a:p>
        </p:txBody>
      </p:sp>
      <p:cxnSp>
        <p:nvCxnSpPr>
          <p:cNvPr id="109" name="Divider"/>
          <p:cNvCxnSpPr/>
          <p:nvPr/>
        </p:nvCxnSpPr>
        <p:spPr>
          <a:xfrm>
            <a:off x="822960" y="5806440"/>
            <a:ext cx="5427980" cy="0"/>
          </a:xfrm>
          <a:prstGeom prst="line">
            <a:avLst/>
          </a:prstGeom>
          <a:ln w="9525">
            <a:solidFill>
              <a:srgbClr val="E1E3E8"/>
            </a:solidFill>
          </a:ln>
        </p:spPr>
      </p:cxnSp>
      <p:sp>
        <p:nvSpPr>
          <p:cNvPr id="110" name="Lists over tabs; fields on demand title"/>
          <p:cNvSpPr txBox="1"/>
          <p:nvPr/>
        </p:nvSpPr>
        <p:spPr>
          <a:xfrm>
            <a:off x="8229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Lists over tabs; fields on demand</a:t>
            </a:r>
          </a:p>
        </p:txBody>
      </p:sp>
      <p:sp>
        <p:nvSpPr>
          <p:cNvPr id="111" name="Lists over tabs; fields on demand body"/>
          <p:cNvSpPr txBox="1"/>
          <p:nvPr/>
        </p:nvSpPr>
        <p:spPr>
          <a:xfrm>
            <a:off x="8229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Testers preferred a list view to tabs. Quantity and order sheets appear only when they apply.</a:t>
            </a:r>
          </a:p>
        </p:txBody>
      </p:sp>
      <p:cxnSp>
        <p:nvCxnSpPr>
          <p:cNvPr id="112" name="Divider"/>
          <p:cNvCxnSpPr/>
          <p:nvPr/>
        </p:nvCxnSpPr>
        <p:spPr>
          <a:xfrm>
            <a:off x="6753860" y="5806440"/>
            <a:ext cx="5427980" cy="0"/>
          </a:xfrm>
          <a:prstGeom prst="line">
            <a:avLst/>
          </a:prstGeom>
          <a:ln w="9525">
            <a:solidFill>
              <a:srgbClr val="E1E3E8"/>
            </a:solidFill>
          </a:ln>
        </p:spPr>
      </p:cxnSp>
      <p:sp>
        <p:nvSpPr>
          <p:cNvPr id="113" name="Status at a glance title"/>
          <p:cNvSpPr txBox="1"/>
          <p:nvPr/>
        </p:nvSpPr>
        <p:spPr>
          <a:xfrm>
            <a:off x="67538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Status at a glance</a:t>
            </a:r>
          </a:p>
        </p:txBody>
      </p:sp>
      <p:sp>
        <p:nvSpPr>
          <p:cNvPr id="114" name="Status at a glance body"/>
          <p:cNvSpPr txBox="1"/>
          <p:nvPr/>
        </p:nvSpPr>
        <p:spPr>
          <a:xfrm>
            <a:off x="67538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Order status changes color as it moves. Testers said seeing the status right away was vital.</a:t>
            </a:r>
          </a:p>
        </p:txBody>
      </p:sp>
      <p:pic>
        <p:nvPicPr>
          <p:cNvPr id="11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WELLS FARGO TRADE TICKET · OUTCOME</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800" spc="-40" dirty="0">
                <a:solidFill>
                  <a:srgbClr val="14161D"/>
                </a:solidFill>
                <a:latin typeface="Helvetica Neue Medium"/>
                <a:cs typeface="Helvetica Neue Medium"/>
              </a:rPr>
              <a:t>Delivered: one ticket for </a:t>
            </a:r>
            <a:r>
              <a:rPr lang="en-US" sz="3800" spc="-40" dirty="0">
                <a:solidFill>
                  <a:srgbClr val="B5531F"/>
                </a:solidFill>
                <a:latin typeface="Helvetica Neue Medium"/>
                <a:cs typeface="Helvetica Neue Medium"/>
              </a:rPr>
              <a:t>shares or dollars</a:t>
            </a:r>
            <a:r>
              <a:rPr lang="en-US" sz="3800" spc="-40" dirty="0">
                <a:solidFill>
                  <a:srgbClr val="14161D"/>
                </a:solidFill>
                <a:latin typeface="Helvetica Neue Medium"/>
                <a:cs typeface="Helvetica Neue Medium"/>
              </a:rPr>
              <a:t>, tested in three rounds.</a:t>
            </a:r>
          </a:p>
        </p:txBody>
      </p:sp>
      <p:sp>
        <p:nvSpPr>
          <p:cNvPr id="103" name="Shipped"/>
          <p:cNvSpPr txBox="1"/>
          <p:nvPr/>
        </p:nvSpPr>
        <p:spPr>
          <a:xfrm>
            <a:off x="822960" y="3611880"/>
            <a:ext cx="5427980" cy="429768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SHIPPED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A single ticket with a shares / dollars toggle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Held assets go straight into a ticket to buy or sell</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A list view, with quantity and order sheets that appear only when needed</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14161D"/>
                </a:solidFill>
                <a:latin typeface="Helvetica Neue Light"/>
                <a:cs typeface="Helvetica Neue Light"/>
              </a:rPr>
              <a:t>Order status that changes color as it moves, and every field editable</a:t>
            </a:r>
          </a:p>
        </p:txBody>
      </p:sp>
      <p:sp>
        <p:nvSpPr>
          <p:cNvPr id="104" name="Learned"/>
          <p:cNvSpPr txBox="1"/>
          <p:nvPr/>
        </p:nvSpPr>
        <p:spPr>
          <a:xfrm>
            <a:off x="6753860" y="3611880"/>
            <a:ext cx="5427980" cy="429768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TESTING TAUGHT US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Education matters, but it must never slow a trade down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Quick amounts and feedback on the share amount build confidence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Seeing the status right away is vital</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The system keyboard beat a custom one</a:t>
            </a:r>
          </a:p>
        </p:txBody>
      </p:sp>
      <p:pic>
        <p:nvPicPr>
          <p:cNvPr id="10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WELLS FARGO TRADE TICKET · PROTOTYPE</a:t>
            </a:r>
          </a:p>
        </p:txBody>
      </p:sp>
      <p:sp>
        <p:nvSpPr>
          <p:cNvPr id="102" name="Headline"/>
          <p:cNvSpPr txBox="1"/>
          <p:nvPr/>
        </p:nvSpPr>
        <p:spPr>
          <a:xfrm>
            <a:off x="822960" y="1371600"/>
            <a:ext cx="11358880" cy="173736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F5F5F7"/>
                </a:solidFill>
                <a:latin typeface="Helvetica Neue Medium"/>
                <a:cs typeface="Helvetica Neue Medium"/>
              </a:rPr>
              <a:t>Place one order, in </a:t>
            </a:r>
            <a:r>
              <a:rPr lang="en-US" sz="4400" spc="-40" dirty="0">
                <a:solidFill>
                  <a:srgbClr val="E98C64"/>
                </a:solidFill>
                <a:latin typeface="Helvetica Neue Medium"/>
                <a:cs typeface="Helvetica Neue Medium"/>
              </a:rPr>
              <a:t>dollars or shares</a:t>
            </a:r>
            <a:r>
              <a:rPr lang="en-US" sz="4400" spc="-40" dirty="0">
                <a:solidFill>
                  <a:srgbClr val="F5F5F7"/>
                </a:solidFill>
                <a:latin typeface="Helvetica Neue Medium"/>
                <a:cs typeface="Helvetica Neue Medium"/>
              </a:rPr>
              <a:t>.</a:t>
            </a:r>
          </a:p>
        </p:txBody>
      </p:sp>
      <p:sp>
        <p:nvSpPr>
          <p:cNvPr id="103" name="Body"/>
          <p:cNvSpPr txBox="1"/>
          <p:nvPr/>
        </p:nvSpPr>
        <p:spPr>
          <a:xfrm>
            <a:off x="822960" y="3246120"/>
            <a:ext cx="5120640" cy="182880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14 hi-fi screens of the mobile ticket, linked as in the Figma prototype: pick the account and stock, choose Buy, type a dollar amount, pick the order type, review it in shares, submit, and see it executed.</a:t>
            </a:r>
          </a:p>
        </p:txBody>
      </p:sp>
      <p:sp>
        <p:nvSpPr>
          <p:cNvPr id="104" name="Link">
            <a:hlinkClick r:id="rId2"/>
          </p:cNvPr>
          <p:cNvSpPr txBox="1"/>
          <p:nvPr/>
        </p:nvSpPr>
        <p:spPr>
          <a:xfrm>
            <a:off x="822960" y="5257800"/>
            <a:ext cx="5120640" cy="457200"/>
          </a:xfrm>
          <a:prstGeom prst="rect">
            <a:avLst/>
          </a:prstGeom>
          <a:noFill/>
        </p:spPr>
        <p:txBody>
          <a:bodyPr wrap="square" lIns="0" tIns="0" rIns="0" bIns="0" anchor="t">
            <a:noAutofit/>
          </a:bodyPr>
          <a:lstStyle/>
          <a:p>
            <a:pPr algn="l">
              <a:lnSpc>
                <a:spcPct val="115000"/>
              </a:lnSpc>
              <a:spcAft>
                <a:spcPts val="300"/>
              </a:spcAft>
            </a:pPr>
            <a:r>
              <a:rPr lang="en-US" sz="2200" u="sng" spc="0" dirty="0">
                <a:solidFill>
                  <a:srgbClr val="E98C64"/>
                </a:solidFill>
                <a:latin typeface="Helvetica Neue Medium"/>
                <a:cs typeface="Helvetica Neue Medium"/>
              </a:rPr>
              <a:t>Open the trade ticket prototype →</a:t>
            </a:r>
          </a:p>
        </p:txBody>
      </p:sp>
      <p:cxnSp>
        <p:nvCxnSpPr>
          <p:cNvPr id="105" name="Divider"/>
          <p:cNvCxnSpPr/>
          <p:nvPr/>
        </p:nvCxnSpPr>
        <p:spPr>
          <a:xfrm>
            <a:off x="822960" y="6080760"/>
            <a:ext cx="5120640" cy="0"/>
          </a:xfrm>
          <a:prstGeom prst="line">
            <a:avLst/>
          </a:prstGeom>
          <a:ln w="9525">
            <a:solidFill>
              <a:srgbClr val="2C2F38"/>
            </a:solidFill>
          </a:ln>
        </p:spPr>
      </p:cxnSp>
      <p:sp>
        <p:nvSpPr>
          <p:cNvPr id="106" name="Also"/>
          <p:cNvSpPr txBox="1"/>
          <p:nvPr/>
        </p:nvSpPr>
        <p:spPr>
          <a:xfrm>
            <a:off x="822960" y="6263640"/>
            <a:ext cx="5120640" cy="146304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ALSO AVAILABLE</a:t>
            </a:r>
          </a:p>
          <a:p>
            <a:pPr algn="l">
              <a:lnSpc>
                <a:spcPct val="125000"/>
              </a:lnSpc>
              <a:spcAft>
                <a:spcPts val="300"/>
              </a:spcAft>
            </a:pPr>
            <a:r>
              <a:rPr lang="en-US" sz="1550" spc="0" dirty="0">
                <a:solidFill>
                  <a:srgbClr val="A3A8B4"/>
                </a:solidFill>
                <a:latin typeface="Helvetica Neue Light"/>
                <a:cs typeface="Helvetica Neue Light"/>
              </a:rPr>
              <a:t>An offline version with the narrative for every step and a full link map: Trade-Ticket-Prototype.html.</a:t>
            </a:r>
          </a:p>
        </p:txBody>
      </p:sp>
      <p:sp>
        <p:nvSpPr>
          <p:cNvPr id="107" name="Figma link">
            <a:hlinkClick r:id="rId3"/>
          </p:cNvPr>
          <p:cNvSpPr txBox="1"/>
          <p:nvPr/>
        </p:nvSpPr>
        <p:spPr>
          <a:xfrm>
            <a:off x="822960" y="7635240"/>
            <a:ext cx="5120640" cy="457200"/>
          </a:xfrm>
          <a:prstGeom prst="rect">
            <a:avLst/>
          </a:prstGeom>
          <a:noFill/>
        </p:spPr>
        <p:txBody>
          <a:bodyPr wrap="square" lIns="0" tIns="0" rIns="0" bIns="0" anchor="t">
            <a:noAutofit/>
          </a:bodyPr>
          <a:lstStyle/>
          <a:p>
            <a:pPr algn="l">
              <a:lnSpc>
                <a:spcPct val="115000"/>
              </a:lnSpc>
              <a:spcAft>
                <a:spcPts val="300"/>
              </a:spcAft>
            </a:pPr>
            <a:r>
              <a:rPr lang="en-US" sz="1500" u="sng" spc="0" dirty="0">
                <a:solidFill>
                  <a:srgbClr val="E98C64"/>
                </a:solidFill>
                <a:latin typeface="Helvetica Neue Medium"/>
                <a:cs typeface="Helvetica Neue Medium"/>
              </a:rPr>
              <a:t>Or open the original Figma design file →</a:t>
            </a:r>
          </a:p>
        </p:txBody>
      </p:sp>
      <p:pic>
        <p:nvPicPr>
          <p:cNvPr id="108" name="Hi-fi screen"/>
          <p:cNvPicPr>
            <a:picLocks noChangeAspect="1"/>
          </p:cNvPicPr>
          <p:nvPr/>
        </p:nvPicPr>
        <p:blipFill>
          <a:blip r:embed="rId4"/>
          <a:stretch>
            <a:fillRect/>
          </a:stretch>
        </p:blipFill>
        <p:spPr>
          <a:xfrm>
            <a:off x="7705736" y="2491696"/>
            <a:ext cx="3044606" cy="6599007"/>
          </a:xfrm>
          <a:prstGeom prst="rect">
            <a:avLst/>
          </a:prstGeom>
          <a:ln w="9525">
            <a:solidFill>
              <a:srgbClr val="3A3E49"/>
            </a:solidFill>
          </a:ln>
        </p:spPr>
      </p:pic>
      <p:pic>
        <p:nvPicPr>
          <p:cNvPr id="109" name="gradient strip" descr="gradient strip"/>
          <p:cNvPicPr>
            <a:picLocks noChangeAspect="1"/>
          </p:cNvPicPr>
          <p:nvPr/>
        </p:nvPicPr>
        <p:blipFill>
          <a:blip r:embed="rId5"/>
          <a:stretch>
            <a:fillRect/>
          </a:stretch>
        </p:blipFill>
        <p:spPr>
          <a:xfrm>
            <a:off x="0" y="9285427"/>
            <a:ext cx="13004800" cy="468173"/>
          </a:xfrm>
          <a:prstGeom prst="rect">
            <a:avLst/>
          </a:prstGeom>
        </p:spPr>
      </p:pic>
      <p:sp>
        <p:nvSpPr>
          <p:cNvPr id="110" name="Workflow map link">
            <a:hlinkClick r:id="rId6"/>
          </p:cNvPr>
          <p:cNvSpPr txBox="1"/>
          <p:nvPr/>
        </p:nvSpPr>
        <p:spPr>
          <a:xfrm>
            <a:off x="822960" y="5791200"/>
            <a:ext cx="5120640" cy="355600"/>
          </a:xfrm>
          <a:prstGeom prst="rect">
            <a:avLst/>
          </a:prstGeom>
          <a:noFill/>
        </p:spPr>
        <p:txBody>
          <a:bodyPr wrap="square" lIns="0" tIns="0" rIns="0" bIns="0" anchor="t">
            <a:noAutofit/>
          </a:bodyPr>
          <a:lstStyle/>
          <a:p>
            <a:pPr algn="l">
              <a:lnSpc>
                <a:spcPct val="115000"/>
              </a:lnSpc>
              <a:spcAft>
                <a:spcPts val="300"/>
              </a:spcAft>
            </a:pPr>
            <a:r>
              <a:rPr lang="en-US" sz="1500" u="sng" spc="0" dirty="0">
                <a:solidFill>
                  <a:srgbClr val="E98C64"/>
                </a:solidFill>
                <a:latin typeface="Helvetica Neue Medium"/>
                <a:cs typeface="Helvetica Neue Medium"/>
              </a:rPr>
              <a:t>Or start at the workflow map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822960"/>
            <a:ext cx="548640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CASE STUDY 05 · B2B DESKTOP · DELIVERED</a:t>
            </a:r>
          </a:p>
        </p:txBody>
      </p:sp>
      <p:sp>
        <p:nvSpPr>
          <p:cNvPr id="102" name="Company"/>
          <p:cNvSpPr txBox="1"/>
          <p:nvPr/>
        </p:nvSpPr>
        <p:spPr>
          <a:xfrm>
            <a:off x="822960" y="1234440"/>
            <a:ext cx="5486400" cy="914400"/>
          </a:xfrm>
          <a:prstGeom prst="rect">
            <a:avLst/>
          </a:prstGeom>
          <a:noFill/>
        </p:spPr>
        <p:txBody>
          <a:bodyPr wrap="square" lIns="0" tIns="0" rIns="0" bIns="0" anchor="t">
            <a:noAutofit/>
          </a:bodyPr>
          <a:lstStyle/>
          <a:p>
            <a:pPr algn="l">
              <a:lnSpc>
                <a:spcPct val="90000"/>
              </a:lnSpc>
              <a:spcAft>
                <a:spcPts val="300"/>
              </a:spcAft>
            </a:pPr>
            <a:r>
              <a:rPr lang="en-US" sz="4600" spc="-40" dirty="0">
                <a:solidFill>
                  <a:srgbClr val="F5F5F7"/>
                </a:solidFill>
                <a:latin typeface="Helvetica Neue Medium"/>
                <a:cs typeface="Helvetica Neue Medium"/>
              </a:rPr>
              <a:t>American Express</a:t>
            </a:r>
          </a:p>
        </p:txBody>
      </p:sp>
      <p:sp>
        <p:nvSpPr>
          <p:cNvPr id="103" name="Project"/>
          <p:cNvSpPr txBox="1"/>
          <p:nvPr/>
        </p:nvSpPr>
        <p:spPr>
          <a:xfrm>
            <a:off x="822960" y="2240280"/>
            <a:ext cx="5486400" cy="548640"/>
          </a:xfrm>
          <a:prstGeom prst="rect">
            <a:avLst/>
          </a:prstGeom>
          <a:noFill/>
        </p:spPr>
        <p:txBody>
          <a:bodyPr wrap="square" lIns="0" tIns="0" rIns="0" bIns="0" anchor="t">
            <a:noAutofit/>
          </a:bodyPr>
          <a:lstStyle/>
          <a:p>
            <a:pPr algn="l">
              <a:lnSpc>
                <a:spcPct val="115000"/>
              </a:lnSpc>
              <a:spcAft>
                <a:spcPts val="300"/>
              </a:spcAft>
            </a:pPr>
            <a:r>
              <a:rPr lang="en-US" sz="2600" spc="0" dirty="0">
                <a:solidFill>
                  <a:srgbClr val="E98C64"/>
                </a:solidFill>
                <a:latin typeface="Helvetica Neue Medium"/>
                <a:cs typeface="Helvetica Neue Medium"/>
              </a:rPr>
              <a:t>MOCA</a:t>
            </a:r>
          </a:p>
        </p:txBody>
      </p:sp>
      <p:sp>
        <p:nvSpPr>
          <p:cNvPr id="104" name="Hook"/>
          <p:cNvSpPr txBox="1"/>
          <p:nvPr/>
        </p:nvSpPr>
        <p:spPr>
          <a:xfrm>
            <a:off x="822960" y="2926080"/>
            <a:ext cx="5486400" cy="128016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Increasing revenue by helping advertisers and marketers decide their advertising budgets with AMEX sales partners.</a:t>
            </a:r>
          </a:p>
        </p:txBody>
      </p:sp>
      <p:cxnSp>
        <p:nvCxnSpPr>
          <p:cNvPr id="105" name="Divider"/>
          <p:cNvCxnSpPr/>
          <p:nvPr/>
        </p:nvCxnSpPr>
        <p:spPr>
          <a:xfrm>
            <a:off x="822960" y="4343400"/>
            <a:ext cx="5486400" cy="0"/>
          </a:xfrm>
          <a:prstGeom prst="line">
            <a:avLst/>
          </a:prstGeom>
          <a:ln w="9525">
            <a:solidFill>
              <a:srgbClr val="2C2F38"/>
            </a:solidFill>
          </a:ln>
        </p:spPr>
      </p:cxnSp>
      <p:sp>
        <p:nvSpPr>
          <p:cNvPr id="106" name="ROLE"/>
          <p:cNvSpPr txBox="1"/>
          <p:nvPr/>
        </p:nvSpPr>
        <p:spPr>
          <a:xfrm>
            <a:off x="822960" y="4471416"/>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ROLE</a:t>
            </a:r>
          </a:p>
        </p:txBody>
      </p:sp>
      <p:sp>
        <p:nvSpPr>
          <p:cNvPr id="107" name="ROLE value"/>
          <p:cNvSpPr txBox="1"/>
          <p:nvPr/>
        </p:nvSpPr>
        <p:spPr>
          <a:xfrm>
            <a:off x="2148840" y="4443984"/>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Led discovery and all design deliverables</a:t>
            </a:r>
          </a:p>
        </p:txBody>
      </p:sp>
      <p:cxnSp>
        <p:nvCxnSpPr>
          <p:cNvPr id="108" name="Divider"/>
          <p:cNvCxnSpPr/>
          <p:nvPr/>
        </p:nvCxnSpPr>
        <p:spPr>
          <a:xfrm>
            <a:off x="822960" y="5056632"/>
            <a:ext cx="5486400" cy="0"/>
          </a:xfrm>
          <a:prstGeom prst="line">
            <a:avLst/>
          </a:prstGeom>
          <a:ln w="9525">
            <a:solidFill>
              <a:srgbClr val="2C2F38"/>
            </a:solidFill>
          </a:ln>
        </p:spPr>
      </p:cxnSp>
      <p:sp>
        <p:nvSpPr>
          <p:cNvPr id="109" name="TEAM"/>
          <p:cNvSpPr txBox="1"/>
          <p:nvPr/>
        </p:nvSpPr>
        <p:spPr>
          <a:xfrm>
            <a:off x="822960" y="5184648"/>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TEAM</a:t>
            </a:r>
          </a:p>
        </p:txBody>
      </p:sp>
      <p:sp>
        <p:nvSpPr>
          <p:cNvPr id="110" name="TEAM value"/>
          <p:cNvSpPr txBox="1"/>
          <p:nvPr/>
        </p:nvSpPr>
        <p:spPr>
          <a:xfrm>
            <a:off x="2148840" y="5157216"/>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Partnered with AMEX data scientists, who built the projection and optimization engines</a:t>
            </a:r>
          </a:p>
        </p:txBody>
      </p:sp>
      <p:cxnSp>
        <p:nvCxnSpPr>
          <p:cNvPr id="111" name="Divider"/>
          <p:cNvCxnSpPr/>
          <p:nvPr/>
        </p:nvCxnSpPr>
        <p:spPr>
          <a:xfrm>
            <a:off x="822960" y="5769864"/>
            <a:ext cx="5486400" cy="0"/>
          </a:xfrm>
          <a:prstGeom prst="line">
            <a:avLst/>
          </a:prstGeom>
          <a:ln w="9525">
            <a:solidFill>
              <a:srgbClr val="2C2F38"/>
            </a:solidFill>
          </a:ln>
        </p:spPr>
      </p:cxnSp>
      <p:sp>
        <p:nvSpPr>
          <p:cNvPr id="112" name="SCOPE"/>
          <p:cNvSpPr txBox="1"/>
          <p:nvPr/>
        </p:nvSpPr>
        <p:spPr>
          <a:xfrm>
            <a:off x="822960" y="5897880"/>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SCOPE</a:t>
            </a:r>
          </a:p>
        </p:txBody>
      </p:sp>
      <p:sp>
        <p:nvSpPr>
          <p:cNvPr id="113" name="SCOPE value"/>
          <p:cNvSpPr txBox="1"/>
          <p:nvPr/>
        </p:nvSpPr>
        <p:spPr>
          <a:xfrm>
            <a:off x="2148840" y="5870448"/>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Wizard, scenario builder and data visualizer for a desktop app</a:t>
            </a:r>
          </a:p>
        </p:txBody>
      </p:sp>
      <p:cxnSp>
        <p:nvCxnSpPr>
          <p:cNvPr id="114" name="Divider"/>
          <p:cNvCxnSpPr/>
          <p:nvPr/>
        </p:nvCxnSpPr>
        <p:spPr>
          <a:xfrm>
            <a:off x="822960" y="6483096"/>
            <a:ext cx="5486400" cy="0"/>
          </a:xfrm>
          <a:prstGeom prst="line">
            <a:avLst/>
          </a:prstGeom>
          <a:ln w="9525">
            <a:solidFill>
              <a:srgbClr val="2C2F38"/>
            </a:solidFill>
          </a:ln>
        </p:spPr>
      </p:cxnSp>
      <p:sp>
        <p:nvSpPr>
          <p:cNvPr id="115" name="RESULTS"/>
          <p:cNvSpPr txBox="1"/>
          <p:nvPr/>
        </p:nvSpPr>
        <p:spPr>
          <a:xfrm>
            <a:off x="822960" y="6611112"/>
            <a:ext cx="1188720" cy="45720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RESULTS</a:t>
            </a:r>
          </a:p>
        </p:txBody>
      </p:sp>
      <p:sp>
        <p:nvSpPr>
          <p:cNvPr id="116" name="RESULTS value"/>
          <p:cNvSpPr txBox="1"/>
          <p:nvPr/>
        </p:nvSpPr>
        <p:spPr>
          <a:xfrm>
            <a:off x="2148840" y="6583680"/>
            <a:ext cx="4160520" cy="566928"/>
          </a:xfrm>
          <a:prstGeom prst="rect">
            <a:avLst/>
          </a:prstGeom>
          <a:noFill/>
        </p:spPr>
        <p:txBody>
          <a:bodyPr wrap="square" lIns="0" tIns="0" rIns="0" bIns="0" anchor="t">
            <a:noAutofit/>
          </a:bodyPr>
          <a:lstStyle/>
          <a:p>
            <a:pPr algn="l">
              <a:lnSpc>
                <a:spcPct val="115000"/>
              </a:lnSpc>
              <a:spcAft>
                <a:spcPts val="300"/>
              </a:spcAft>
            </a:pPr>
            <a:r>
              <a:rPr lang="en-US" sz="1550" spc="0" dirty="0">
                <a:solidFill>
                  <a:srgbClr val="F5F5F7"/>
                </a:solidFill>
                <a:latin typeface="Helvetica Neue Light"/>
                <a:cs typeface="Helvetica Neue Light"/>
              </a:rPr>
              <a:t>Partner approval 58% → 88%; average client budget $1.34M → $1.8M</a:t>
            </a:r>
          </a:p>
        </p:txBody>
      </p:sp>
      <p:cxnSp>
        <p:nvCxnSpPr>
          <p:cNvPr id="117" name="Divider"/>
          <p:cNvCxnSpPr/>
          <p:nvPr/>
        </p:nvCxnSpPr>
        <p:spPr>
          <a:xfrm>
            <a:off x="822960" y="7196328"/>
            <a:ext cx="5486400" cy="0"/>
          </a:xfrm>
          <a:prstGeom prst="line">
            <a:avLst/>
          </a:prstGeom>
          <a:ln w="9525">
            <a:solidFill>
              <a:srgbClr val="2C2F38"/>
            </a:solidFill>
          </a:ln>
        </p:spPr>
      </p:cxnSp>
      <p:sp>
        <p:nvSpPr>
          <p:cNvPr id="118" name="Quote"/>
          <p:cNvSpPr txBox="1"/>
          <p:nvPr/>
        </p:nvSpPr>
        <p:spPr>
          <a:xfrm>
            <a:off x="822960" y="7516368"/>
            <a:ext cx="5486400" cy="1188720"/>
          </a:xfrm>
          <a:prstGeom prst="rect">
            <a:avLst/>
          </a:prstGeom>
          <a:noFill/>
        </p:spPr>
        <p:txBody>
          <a:bodyPr wrap="square" lIns="0" tIns="0" rIns="0" bIns="0" anchor="t">
            <a:noAutofit/>
          </a:bodyPr>
          <a:lstStyle/>
          <a:p>
            <a:pPr algn="l">
              <a:lnSpc>
                <a:spcPct val="115000"/>
              </a:lnSpc>
              <a:spcAft>
                <a:spcPts val="300"/>
              </a:spcAft>
            </a:pPr>
            <a:r>
              <a:rPr lang="en-US" sz="1500" spc="0" dirty="0">
                <a:solidFill>
                  <a:srgbClr val="F5F5F7"/>
                </a:solidFill>
                <a:latin typeface="Helvetica Neue Light"/>
                <a:cs typeface="Helvetica Neue Light"/>
              </a:rPr>
              <a:t>“Comparing budgets and then optimizing it would allow me to have the confidence to increase the budget.”</a:t>
            </a:r>
          </a:p>
        </p:txBody>
      </p:sp>
      <p:pic>
        <p:nvPicPr>
          <p:cNvPr id="119" name="Picture 1" descr="image.png"/>
          <p:cNvPicPr>
            <a:picLocks noChangeAspect="1"/>
          </p:cNvPicPr>
          <p:nvPr/>
        </p:nvPicPr>
        <p:blipFill>
          <a:blip r:embed="rId2"/>
          <a:stretch>
            <a:fillRect/>
          </a:stretch>
        </p:blipFill>
        <p:spPr>
          <a:xfrm>
            <a:off x="6720840" y="2395180"/>
            <a:ext cx="6283960" cy="4801068"/>
          </a:xfrm>
          <a:prstGeom prst="rect">
            <a:avLst/>
          </a:prstGeom>
          <a:ln w="9525">
            <a:solidFill>
              <a:srgbClr val="3A3E49"/>
            </a:solidFill>
          </a:ln>
        </p:spPr>
      </p:pic>
      <p:pic>
        <p:nvPicPr>
          <p:cNvPr id="12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INTRODUCTION</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A desktop app that projects a marketer’s budget and </a:t>
            </a:r>
            <a:r>
              <a:rPr lang="en-US" sz="3600" spc="-40" dirty="0">
                <a:solidFill>
                  <a:srgbClr val="B5531F"/>
                </a:solidFill>
                <a:latin typeface="Helvetica Neue Medium"/>
                <a:cs typeface="Helvetica Neue Medium"/>
              </a:rPr>
              <a:t>compares built and optimized scenarios</a:t>
            </a:r>
            <a:r>
              <a:rPr lang="en-US" sz="3600" spc="-40" dirty="0">
                <a:solidFill>
                  <a:srgbClr val="14161D"/>
                </a:solidFill>
                <a:latin typeface="Helvetica Neue Medium"/>
                <a:cs typeface="Helvetica Neue Medium"/>
              </a:rPr>
              <a:t>.</a:t>
            </a:r>
          </a:p>
        </p:txBody>
      </p:sp>
      <p:sp>
        <p:nvSpPr>
          <p:cNvPr id="103" name="Audience"/>
          <p:cNvSpPr txBox="1"/>
          <p:nvPr/>
        </p:nvSpPr>
        <p:spPr>
          <a:xfrm>
            <a:off x="822960" y="3611880"/>
            <a:ext cx="3511973" cy="420624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TARGET AUDIENCE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American Express sales managers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American Express sales advisors</a:t>
            </a:r>
          </a:p>
        </p:txBody>
      </p:sp>
      <p:sp>
        <p:nvSpPr>
          <p:cNvPr id="104" name="Problems"/>
          <p:cNvSpPr txBox="1"/>
          <p:nvPr/>
        </p:nvSpPr>
        <p:spPr>
          <a:xfrm>
            <a:off x="4746413"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THE PROBLEMS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Sales partners had no effective tool for clients to budget their AMEX advertising dollars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No way to compare scenarios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No way to understand how well an investment works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Need for a more customizable, predictive app using nascent AI technology</a:t>
            </a:r>
          </a:p>
        </p:txBody>
      </p:sp>
      <p:sp>
        <p:nvSpPr>
          <p:cNvPr id="105" name="Team"/>
          <p:cNvSpPr txBox="1"/>
          <p:nvPr/>
        </p:nvSpPr>
        <p:spPr>
          <a:xfrm>
            <a:off x="8669866" y="3611880"/>
            <a:ext cx="3511973"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TEAM AND MY PART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partnered with AMEX data scientists, who built the projection and optimization engines; I designed how partners build, compare and trust scenarios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managed discovery, including research, strategy and hands-on design</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 led every deliverable in Sketch and Figma, with Lean UX and usability testing</a:t>
            </a:r>
          </a:p>
        </p:txBody>
      </p:sp>
      <p:pic>
        <p:nvPicPr>
          <p:cNvPr id="106"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WHY</a:t>
            </a:r>
          </a:p>
        </p:txBody>
      </p:sp>
      <p:sp>
        <p:nvSpPr>
          <p:cNvPr id="102" name="Headline"/>
          <p:cNvSpPr txBox="1"/>
          <p:nvPr/>
        </p:nvSpPr>
        <p:spPr>
          <a:xfrm>
            <a:off x="822960" y="1371600"/>
            <a:ext cx="11358880" cy="9144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Why design </a:t>
            </a:r>
            <a:r>
              <a:rPr lang="en-US" sz="4000" spc="-40" dirty="0">
                <a:solidFill>
                  <a:srgbClr val="B5531F"/>
                </a:solidFill>
                <a:latin typeface="Helvetica Neue Medium"/>
                <a:cs typeface="Helvetica Neue Medium"/>
              </a:rPr>
              <a:t>MOCA</a:t>
            </a:r>
            <a:r>
              <a:rPr lang="en-US" sz="4000" spc="-40" dirty="0">
                <a:solidFill>
                  <a:srgbClr val="14161D"/>
                </a:solidFill>
                <a:latin typeface="Helvetica Neue Medium"/>
                <a:cs typeface="Helvetica Neue Medium"/>
              </a:rPr>
              <a:t>?</a:t>
            </a:r>
          </a:p>
        </p:txBody>
      </p:sp>
      <p:sp>
        <p:nvSpPr>
          <p:cNvPr id="3034" name="Tile"/>
          <p:cNvSpPr/>
          <p:nvPr/>
        </p:nvSpPr>
        <p:spPr>
          <a:xfrm>
            <a:off x="822960" y="2606040"/>
            <a:ext cx="5577840" cy="5623560"/>
          </a:xfrm>
          <a:prstGeom prst="roundRect">
            <a:avLst>
              <a:gd name="adj" fmla="val 2295"/>
            </a:avLst>
          </a:prstGeom>
          <a:solidFill>
            <a:srgbClr val="B5531F"/>
          </a:solidFill>
          <a:ln>
            <a:noFill/>
          </a:ln>
        </p:spPr>
        <p:txBody>
          <a:bodyPr/>
          <a:lstStyle/>
          <a:p>
            <a:endParaRPr lang="en-US"/>
          </a:p>
        </p:txBody>
      </p:sp>
      <p:sp>
        <p:nvSpPr>
          <p:cNvPr id="103" name="Number"/>
          <p:cNvSpPr txBox="1"/>
          <p:nvPr/>
        </p:nvSpPr>
        <p:spPr>
          <a:xfrm>
            <a:off x="1097280" y="2807208"/>
            <a:ext cx="5029200" cy="1466850"/>
          </a:xfrm>
          <a:prstGeom prst="rect">
            <a:avLst/>
          </a:prstGeom>
          <a:noFill/>
        </p:spPr>
        <p:txBody>
          <a:bodyPr wrap="square" lIns="0" tIns="0" rIns="0" bIns="0" anchor="t">
            <a:noAutofit/>
          </a:bodyPr>
          <a:lstStyle/>
          <a:p>
            <a:pPr algn="l">
              <a:lnSpc>
                <a:spcPct val="88000"/>
              </a:lnSpc>
              <a:spcAft>
                <a:spcPts val="300"/>
              </a:spcAft>
            </a:pPr>
            <a:r>
              <a:rPr lang="en-US" sz="11000" spc="-60" dirty="0">
                <a:solidFill>
                  <a:srgbClr val="FFFFFF"/>
                </a:solidFill>
                <a:latin typeface="Helvetica Neue Medium"/>
                <a:cs typeface="Helvetica Neue Medium"/>
              </a:rPr>
              <a:t>$1.34M</a:t>
            </a:r>
          </a:p>
        </p:txBody>
      </p:sp>
      <p:sp>
        <p:nvSpPr>
          <p:cNvPr id="104" name="Label"/>
          <p:cNvSpPr txBox="1"/>
          <p:nvPr/>
        </p:nvSpPr>
        <p:spPr>
          <a:xfrm>
            <a:off x="1097280" y="4347210"/>
            <a:ext cx="5029200" cy="914400"/>
          </a:xfrm>
          <a:prstGeom prst="rect">
            <a:avLst/>
          </a:prstGeom>
          <a:noFill/>
        </p:spPr>
        <p:txBody>
          <a:bodyPr wrap="square" lIns="0" tIns="0" rIns="0" bIns="0" anchor="t">
            <a:noAutofit/>
          </a:bodyPr>
          <a:lstStyle/>
          <a:p>
            <a:pPr algn="l">
              <a:lnSpc>
                <a:spcPct val="115000"/>
              </a:lnSpc>
              <a:spcAft>
                <a:spcPts val="300"/>
              </a:spcAft>
            </a:pPr>
            <a:r>
              <a:rPr lang="en-US" sz="1600" spc="0" dirty="0">
                <a:solidFill>
                  <a:srgbClr val="FBE3D8"/>
                </a:solidFill>
                <a:latin typeface="Helvetica Neue Light"/>
                <a:cs typeface="Helvetica Neue Light"/>
              </a:rPr>
              <a:t>average client budget, before MOCA</a:t>
            </a:r>
          </a:p>
        </p:txBody>
      </p:sp>
      <p:sp>
        <p:nvSpPr>
          <p:cNvPr id="105" name="Bar label"/>
          <p:cNvSpPr txBox="1"/>
          <p:nvPr/>
        </p:nvSpPr>
        <p:spPr>
          <a:xfrm>
            <a:off x="1097280" y="7104888"/>
            <a:ext cx="5029200" cy="201168"/>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FFFFFF"/>
                </a:solidFill>
                <a:latin typeface="Helvetica Neue Medium"/>
                <a:cs typeface="Helvetica Neue Medium"/>
              </a:rPr>
              <a:t>Before MOCA: $1.34M</a:t>
            </a:r>
          </a:p>
        </p:txBody>
      </p:sp>
      <p:sp>
        <p:nvSpPr>
          <p:cNvPr id="3035" name="Tile"/>
          <p:cNvSpPr/>
          <p:nvPr/>
        </p:nvSpPr>
        <p:spPr>
          <a:xfrm>
            <a:off x="1097280" y="7324344"/>
            <a:ext cx="5029200" cy="146304"/>
          </a:xfrm>
          <a:prstGeom prst="roundRect">
            <a:avLst>
              <a:gd name="adj" fmla="val 37500"/>
            </a:avLst>
          </a:prstGeom>
          <a:solidFill>
            <a:srgbClr val="FFFFFF">
              <a:alpha val="30000"/>
            </a:srgbClr>
          </a:solidFill>
          <a:ln>
            <a:noFill/>
          </a:ln>
        </p:spPr>
        <p:txBody>
          <a:bodyPr/>
          <a:lstStyle/>
          <a:p>
            <a:endParaRPr lang="en-US"/>
          </a:p>
        </p:txBody>
      </p:sp>
      <p:sp>
        <p:nvSpPr>
          <p:cNvPr id="3036" name="Tile"/>
          <p:cNvSpPr/>
          <p:nvPr/>
        </p:nvSpPr>
        <p:spPr>
          <a:xfrm>
            <a:off x="1097280" y="7324344"/>
            <a:ext cx="3743960" cy="146304"/>
          </a:xfrm>
          <a:prstGeom prst="roundRect">
            <a:avLst>
              <a:gd name="adj" fmla="val 37500"/>
            </a:avLst>
          </a:prstGeom>
          <a:solidFill>
            <a:srgbClr val="7ACFFF"/>
          </a:solidFill>
          <a:ln>
            <a:noFill/>
          </a:ln>
        </p:spPr>
        <p:txBody>
          <a:bodyPr/>
          <a:lstStyle/>
          <a:p>
            <a:endParaRPr lang="en-US"/>
          </a:p>
        </p:txBody>
      </p:sp>
      <p:sp>
        <p:nvSpPr>
          <p:cNvPr id="106" name="Bar label"/>
          <p:cNvSpPr txBox="1"/>
          <p:nvPr/>
        </p:nvSpPr>
        <p:spPr>
          <a:xfrm>
            <a:off x="1097280" y="7488936"/>
            <a:ext cx="5029200" cy="201168"/>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FBE3D8"/>
                </a:solidFill>
                <a:latin typeface="Helvetica Neue Light"/>
                <a:cs typeface="Helvetica Neue Light"/>
              </a:rPr>
              <a:t>After launch: $1.8M (see Results)</a:t>
            </a:r>
          </a:p>
        </p:txBody>
      </p:sp>
      <p:sp>
        <p:nvSpPr>
          <p:cNvPr id="3037" name="Tile"/>
          <p:cNvSpPr/>
          <p:nvPr/>
        </p:nvSpPr>
        <p:spPr>
          <a:xfrm>
            <a:off x="1097280" y="7708392"/>
            <a:ext cx="5029200" cy="146304"/>
          </a:xfrm>
          <a:prstGeom prst="roundRect">
            <a:avLst>
              <a:gd name="adj" fmla="val 37500"/>
            </a:avLst>
          </a:prstGeom>
          <a:solidFill>
            <a:srgbClr val="FFFFFF">
              <a:alpha val="30000"/>
            </a:srgbClr>
          </a:solidFill>
          <a:ln>
            <a:noFill/>
          </a:ln>
        </p:spPr>
        <p:txBody>
          <a:bodyPr/>
          <a:lstStyle/>
          <a:p>
            <a:endParaRPr lang="en-US"/>
          </a:p>
        </p:txBody>
      </p:sp>
      <p:sp>
        <p:nvSpPr>
          <p:cNvPr id="3038" name="Tile"/>
          <p:cNvSpPr/>
          <p:nvPr/>
        </p:nvSpPr>
        <p:spPr>
          <a:xfrm>
            <a:off x="1097280" y="7708392"/>
            <a:ext cx="5029200" cy="146304"/>
          </a:xfrm>
          <a:prstGeom prst="roundRect">
            <a:avLst>
              <a:gd name="adj" fmla="val 37500"/>
            </a:avLst>
          </a:prstGeom>
          <a:solidFill>
            <a:srgbClr val="FFFFFF">
              <a:alpha val="60000"/>
            </a:srgbClr>
          </a:solidFill>
          <a:ln>
            <a:noFill/>
          </a:ln>
        </p:spPr>
        <p:txBody>
          <a:bodyPr/>
          <a:lstStyle/>
          <a:p>
            <a:endParaRPr lang="en-US"/>
          </a:p>
        </p:txBody>
      </p:sp>
      <p:sp>
        <p:nvSpPr>
          <p:cNvPr id="3039" name="Tile"/>
          <p:cNvSpPr/>
          <p:nvPr/>
        </p:nvSpPr>
        <p:spPr>
          <a:xfrm>
            <a:off x="6583680" y="2606040"/>
            <a:ext cx="5596128" cy="1752600"/>
          </a:xfrm>
          <a:prstGeom prst="roundRect">
            <a:avLst>
              <a:gd name="adj" fmla="val 7304"/>
            </a:avLst>
          </a:prstGeom>
          <a:solidFill>
            <a:srgbClr val="F1F2F5"/>
          </a:solidFill>
          <a:ln>
            <a:noFill/>
          </a:ln>
        </p:spPr>
        <p:txBody>
          <a:bodyPr/>
          <a:lstStyle/>
          <a:p>
            <a:endParaRPr lang="en-US"/>
          </a:p>
        </p:txBody>
      </p:sp>
      <p:sp>
        <p:nvSpPr>
          <p:cNvPr id="107" name="Number"/>
          <p:cNvSpPr txBox="1"/>
          <p:nvPr/>
        </p:nvSpPr>
        <p:spPr>
          <a:xfrm>
            <a:off x="6858000" y="2606040"/>
            <a:ext cx="2350373" cy="1752600"/>
          </a:xfrm>
          <a:prstGeom prst="rect">
            <a:avLst/>
          </a:prstGeom>
          <a:noFill/>
        </p:spPr>
        <p:txBody>
          <a:bodyPr wrap="square" lIns="0" tIns="0" rIns="0" bIns="0" anchor="ctr">
            <a:noAutofit/>
          </a:bodyPr>
          <a:lstStyle/>
          <a:p>
            <a:pPr algn="l">
              <a:lnSpc>
                <a:spcPct val="90000"/>
              </a:lnSpc>
              <a:spcAft>
                <a:spcPts val="300"/>
              </a:spcAft>
            </a:pPr>
            <a:r>
              <a:rPr lang="en-US" sz="5400" spc="-40" dirty="0">
                <a:solidFill>
                  <a:srgbClr val="14161D"/>
                </a:solidFill>
                <a:latin typeface="Helvetica Neue Medium"/>
                <a:cs typeface="Helvetica Neue Medium"/>
              </a:rPr>
              <a:t>58%</a:t>
            </a:r>
          </a:p>
        </p:txBody>
      </p:sp>
      <p:sp>
        <p:nvSpPr>
          <p:cNvPr id="108" name="Label"/>
          <p:cNvSpPr txBox="1"/>
          <p:nvPr/>
        </p:nvSpPr>
        <p:spPr>
          <a:xfrm>
            <a:off x="8473440" y="2606040"/>
            <a:ext cx="3432047" cy="1752600"/>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565C6B"/>
                </a:solidFill>
                <a:latin typeface="Helvetica Neue Light"/>
                <a:cs typeface="Helvetica Neue Light"/>
              </a:rPr>
              <a:t>approval from internal business partners</a:t>
            </a:r>
          </a:p>
        </p:txBody>
      </p:sp>
      <p:sp>
        <p:nvSpPr>
          <p:cNvPr id="3040" name="Tile"/>
          <p:cNvSpPr/>
          <p:nvPr/>
        </p:nvSpPr>
        <p:spPr>
          <a:xfrm>
            <a:off x="6583680" y="4541520"/>
            <a:ext cx="5596128" cy="1752600"/>
          </a:xfrm>
          <a:prstGeom prst="roundRect">
            <a:avLst>
              <a:gd name="adj" fmla="val 7304"/>
            </a:avLst>
          </a:prstGeom>
          <a:solidFill>
            <a:srgbClr val="1B1D24"/>
          </a:solidFill>
          <a:ln>
            <a:noFill/>
          </a:ln>
        </p:spPr>
        <p:txBody>
          <a:bodyPr/>
          <a:lstStyle/>
          <a:p>
            <a:endParaRPr lang="en-US"/>
          </a:p>
        </p:txBody>
      </p:sp>
      <p:sp>
        <p:nvSpPr>
          <p:cNvPr id="109" name="Number"/>
          <p:cNvSpPr txBox="1"/>
          <p:nvPr/>
        </p:nvSpPr>
        <p:spPr>
          <a:xfrm>
            <a:off x="6858000" y="4541520"/>
            <a:ext cx="2350373" cy="1752600"/>
          </a:xfrm>
          <a:prstGeom prst="rect">
            <a:avLst/>
          </a:prstGeom>
          <a:noFill/>
        </p:spPr>
        <p:txBody>
          <a:bodyPr wrap="square" lIns="0" tIns="0" rIns="0" bIns="0" anchor="ctr">
            <a:noAutofit/>
          </a:bodyPr>
          <a:lstStyle/>
          <a:p>
            <a:pPr algn="l">
              <a:lnSpc>
                <a:spcPct val="90000"/>
              </a:lnSpc>
              <a:spcAft>
                <a:spcPts val="300"/>
              </a:spcAft>
            </a:pPr>
            <a:r>
              <a:rPr lang="en-US" sz="5400" spc="-40" dirty="0">
                <a:solidFill>
                  <a:srgbClr val="F5F5F7"/>
                </a:solidFill>
                <a:latin typeface="Helvetica Neue Medium"/>
                <a:cs typeface="Helvetica Neue Medium"/>
              </a:rPr>
              <a:t>12 min</a:t>
            </a:r>
          </a:p>
        </p:txBody>
      </p:sp>
      <p:sp>
        <p:nvSpPr>
          <p:cNvPr id="110" name="Label"/>
          <p:cNvSpPr txBox="1"/>
          <p:nvPr/>
        </p:nvSpPr>
        <p:spPr>
          <a:xfrm>
            <a:off x="9208373" y="4541520"/>
            <a:ext cx="2697114" cy="1752600"/>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average time for partners to complete a budget</a:t>
            </a:r>
          </a:p>
        </p:txBody>
      </p:sp>
      <p:sp>
        <p:nvSpPr>
          <p:cNvPr id="3041" name="Tile"/>
          <p:cNvSpPr/>
          <p:nvPr/>
        </p:nvSpPr>
        <p:spPr>
          <a:xfrm>
            <a:off x="6583680" y="6477000"/>
            <a:ext cx="5596128" cy="1752600"/>
          </a:xfrm>
          <a:prstGeom prst="roundRect">
            <a:avLst>
              <a:gd name="adj" fmla="val 7304"/>
            </a:avLst>
          </a:prstGeom>
          <a:solidFill>
            <a:srgbClr val="1B1D24"/>
          </a:solidFill>
          <a:ln>
            <a:noFill/>
          </a:ln>
        </p:spPr>
        <p:txBody>
          <a:bodyPr/>
          <a:lstStyle/>
          <a:p>
            <a:endParaRPr lang="en-US"/>
          </a:p>
        </p:txBody>
      </p:sp>
      <p:sp>
        <p:nvSpPr>
          <p:cNvPr id="111" name="Number"/>
          <p:cNvSpPr txBox="1"/>
          <p:nvPr/>
        </p:nvSpPr>
        <p:spPr>
          <a:xfrm>
            <a:off x="6858000" y="6477000"/>
            <a:ext cx="2350373" cy="1752600"/>
          </a:xfrm>
          <a:prstGeom prst="rect">
            <a:avLst/>
          </a:prstGeom>
          <a:noFill/>
        </p:spPr>
        <p:txBody>
          <a:bodyPr wrap="square" lIns="0" tIns="0" rIns="0" bIns="0" anchor="ctr">
            <a:noAutofit/>
          </a:bodyPr>
          <a:lstStyle/>
          <a:p>
            <a:pPr algn="l">
              <a:lnSpc>
                <a:spcPct val="90000"/>
              </a:lnSpc>
              <a:spcAft>
                <a:spcPts val="300"/>
              </a:spcAft>
            </a:pPr>
            <a:r>
              <a:rPr lang="en-US" sz="5400" spc="-40" dirty="0">
                <a:solidFill>
                  <a:srgbClr val="F5F5F7"/>
                </a:solidFill>
                <a:latin typeface="Helvetica Neue Medium"/>
                <a:cs typeface="Helvetica Neue Medium"/>
              </a:rPr>
              <a:t>5.4%</a:t>
            </a:r>
          </a:p>
        </p:txBody>
      </p:sp>
      <p:sp>
        <p:nvSpPr>
          <p:cNvPr id="112" name="Label"/>
          <p:cNvSpPr txBox="1"/>
          <p:nvPr/>
        </p:nvSpPr>
        <p:spPr>
          <a:xfrm>
            <a:off x="8717280" y="6477000"/>
            <a:ext cx="3188207" cy="1752600"/>
          </a:xfrm>
          <a:prstGeom prst="rect">
            <a:avLst/>
          </a:prstGeom>
          <a:noFill/>
        </p:spPr>
        <p:txBody>
          <a:bodyPr wrap="square" lIns="0" tIns="0" rIns="0" bIns="0" anchor="ctr">
            <a:noAutofit/>
          </a:bodyPr>
          <a:lstStyle/>
          <a:p>
            <a:pPr algn="l">
              <a:lnSpc>
                <a:spcPct val="115000"/>
              </a:lnSpc>
              <a:spcAft>
                <a:spcPts val="300"/>
              </a:spcAft>
            </a:pPr>
            <a:r>
              <a:rPr lang="en-US" sz="1500" spc="0" dirty="0">
                <a:solidFill>
                  <a:srgbClr val="A3A8B4"/>
                </a:solidFill>
                <a:latin typeface="Helvetica Neue Light"/>
                <a:cs typeface="Helvetica Neue Light"/>
              </a:rPr>
              <a:t>drop-off on the current budget process</a:t>
            </a:r>
          </a:p>
        </p:txBody>
      </p:sp>
      <p:pic>
        <p:nvPicPr>
          <p:cNvPr id="113"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DISCOVERY</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3600" spc="-40" dirty="0">
                <a:solidFill>
                  <a:srgbClr val="14161D"/>
                </a:solidFill>
                <a:latin typeface="Helvetica Neue Medium"/>
                <a:cs typeface="Helvetica Neue Medium"/>
              </a:rPr>
              <a:t>We set out to find real user needs, </a:t>
            </a:r>
            <a:r>
              <a:rPr lang="en-US" sz="3600" spc="-40" dirty="0">
                <a:solidFill>
                  <a:srgbClr val="B5531F"/>
                </a:solidFill>
                <a:latin typeface="Helvetica Neue Medium"/>
                <a:cs typeface="Helvetica Neue Medium"/>
              </a:rPr>
              <a:t>test the business’s assumptions</a:t>
            </a:r>
            <a:r>
              <a:rPr lang="en-US" sz="3600" spc="-40" dirty="0">
                <a:solidFill>
                  <a:srgbClr val="14161D"/>
                </a:solidFill>
                <a:latin typeface="Helvetica Neue Medium"/>
                <a:cs typeface="Helvetica Neue Medium"/>
              </a:rPr>
              <a:t> and generate new ideas.</a:t>
            </a:r>
          </a:p>
        </p:txBody>
      </p:sp>
      <p:sp>
        <p:nvSpPr>
          <p:cNvPr id="103" name="Methods"/>
          <p:cNvSpPr txBox="1"/>
          <p:nvPr/>
        </p:nvSpPr>
        <p:spPr>
          <a:xfrm>
            <a:off x="822960" y="3611880"/>
            <a:ext cx="5427980" cy="438912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METHODS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Interviews with internal stakeholders, SMEs and users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Sales managers and sales advisors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Contextual interviews</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Persona development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Co-design sessions with data scientists</a:t>
            </a:r>
          </a:p>
        </p:txBody>
      </p:sp>
      <p:sp>
        <p:nvSpPr>
          <p:cNvPr id="104" name="Problem"/>
          <p:cNvSpPr txBox="1"/>
          <p:nvPr/>
        </p:nvSpPr>
        <p:spPr>
          <a:xfrm>
            <a:off x="6753860" y="3611880"/>
            <a:ext cx="5427980" cy="4389120"/>
          </a:xfrm>
          <a:prstGeom prst="rect">
            <a:avLst/>
          </a:prstGeom>
          <a:noFill/>
        </p:spPr>
        <p:txBody>
          <a:bodyPr wrap="square" lIns="0" tIns="0" rIns="0" bIns="0" anchor="t">
            <a:noAutofit/>
          </a:bodyPr>
          <a:lstStyle/>
          <a:p>
            <a:pPr algn="l">
              <a:lnSpc>
                <a:spcPct val="105000"/>
              </a:lnSpc>
              <a:spcAft>
                <a:spcPts val="500"/>
              </a:spcAft>
            </a:pPr>
            <a:r>
              <a:rPr lang="en-US" sz="1100" spc="200" dirty="0">
                <a:solidFill>
                  <a:srgbClr val="858A97"/>
                </a:solidFill>
                <a:latin typeface="Helvetica Neue Medium"/>
                <a:cs typeface="Helvetica Neue Medium"/>
              </a:rPr>
              <a:t>PROBLEM STATEMENT</a:t>
            </a:r>
          </a:p>
          <a:p>
            <a:pPr algn="l">
              <a:lnSpc>
                <a:spcPct val="125000"/>
              </a:lnSpc>
              <a:spcAft>
                <a:spcPts val="500"/>
              </a:spcAft>
            </a:pPr>
            <a:r>
              <a:rPr lang="en-US" sz="1550" spc="0" dirty="0">
                <a:solidFill>
                  <a:srgbClr val="14161D"/>
                </a:solidFill>
                <a:latin typeface="Helvetica Neue Light"/>
                <a:cs typeface="Helvetica Neue Light"/>
              </a:rPr>
              <a:t>Internal business partners have no tool to help their clients budget AMEX advertising dollars effectively. Users need an application to allocate marketing budgets across the AMEX product lines.</a:t>
            </a:r>
          </a:p>
        </p:txBody>
      </p:sp>
      <p:pic>
        <p:nvPicPr>
          <p:cNvPr id="10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STRATEGY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Pain points + business goals + UX strategy = feature set</a:t>
            </a:r>
          </a:p>
        </p:txBody>
      </p:sp>
      <p:cxnSp>
        <p:nvCxnSpPr>
          <p:cNvPr id="103" name="Divider"/>
          <p:cNvCxnSpPr/>
          <p:nvPr/>
        </p:nvCxnSpPr>
        <p:spPr>
          <a:xfrm>
            <a:off x="822960" y="2651760"/>
            <a:ext cx="2668270" cy="0"/>
          </a:xfrm>
          <a:prstGeom prst="line">
            <a:avLst/>
          </a:prstGeom>
          <a:ln w="9525">
            <a:solidFill>
              <a:srgbClr val="E1E3E8"/>
            </a:solidFill>
          </a:ln>
        </p:spPr>
      </p:cxnSp>
      <p:sp>
        <p:nvSpPr>
          <p:cNvPr id="104" name="PAIN POINTS"/>
          <p:cNvSpPr txBox="1"/>
          <p:nvPr/>
        </p:nvSpPr>
        <p:spPr>
          <a:xfrm>
            <a:off x="82296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PAIN POINTS</a:t>
            </a:r>
          </a:p>
          <a:p>
            <a:pPr algn="l">
              <a:lnSpc>
                <a:spcPct val="115000"/>
              </a:lnSpc>
              <a:spcAft>
                <a:spcPts val="900"/>
              </a:spcAft>
            </a:pPr>
            <a:r>
              <a:rPr lang="en-US" sz="1700" spc="0" dirty="0">
                <a:solidFill>
                  <a:srgbClr val="565C6B"/>
                </a:solidFill>
                <a:latin typeface="Helvetica Neue Light"/>
                <a:cs typeface="Helvetica Neue Light"/>
              </a:rPr>
              <a:t>Scenario builder</a:t>
            </a:r>
          </a:p>
          <a:p>
            <a:pPr algn="l">
              <a:lnSpc>
                <a:spcPct val="115000"/>
              </a:lnSpc>
              <a:spcAft>
                <a:spcPts val="900"/>
              </a:spcAft>
            </a:pPr>
            <a:r>
              <a:rPr lang="en-US" sz="1700" spc="0" dirty="0">
                <a:solidFill>
                  <a:srgbClr val="565C6B"/>
                </a:solidFill>
                <a:latin typeface="Helvetica Neue Light"/>
                <a:cs typeface="Helvetica Neue Light"/>
              </a:rPr>
              <a:t>Data visualizer</a:t>
            </a:r>
          </a:p>
          <a:p>
            <a:pPr algn="l">
              <a:lnSpc>
                <a:spcPct val="115000"/>
              </a:lnSpc>
              <a:spcAft>
                <a:spcPts val="900"/>
              </a:spcAft>
            </a:pPr>
            <a:r>
              <a:rPr lang="en-US" sz="1700" spc="0" dirty="0">
                <a:solidFill>
                  <a:srgbClr val="565C6B"/>
                </a:solidFill>
                <a:latin typeface="Helvetica Neue Light"/>
                <a:cs typeface="Helvetica Neue Light"/>
              </a:rPr>
              <a:t>Comparison</a:t>
            </a:r>
          </a:p>
          <a:p>
            <a:pPr algn="l">
              <a:lnSpc>
                <a:spcPct val="115000"/>
              </a:lnSpc>
              <a:spcAft>
                <a:spcPts val="900"/>
              </a:spcAft>
            </a:pPr>
            <a:r>
              <a:rPr lang="en-US" sz="1700" spc="0" dirty="0">
                <a:solidFill>
                  <a:srgbClr val="565C6B"/>
                </a:solidFill>
                <a:latin typeface="Helvetica Neue Light"/>
                <a:cs typeface="Helvetica Neue Light"/>
              </a:rPr>
              <a:t>Importing data sets from Excel</a:t>
            </a:r>
          </a:p>
          <a:p>
            <a:pPr algn="l">
              <a:lnSpc>
                <a:spcPct val="115000"/>
              </a:lnSpc>
              <a:spcAft>
                <a:spcPts val="900"/>
              </a:spcAft>
            </a:pPr>
            <a:r>
              <a:rPr lang="en-US" sz="1700" spc="0" dirty="0">
                <a:solidFill>
                  <a:srgbClr val="565C6B"/>
                </a:solidFill>
                <a:latin typeface="Helvetica Neue Light"/>
                <a:cs typeface="Helvetica Neue Light"/>
              </a:rPr>
              <a:t>Changing each allocation by channel or product</a:t>
            </a:r>
          </a:p>
        </p:txBody>
      </p:sp>
      <p:sp>
        <p:nvSpPr>
          <p:cNvPr id="105" name="op"/>
          <p:cNvSpPr txBox="1"/>
          <p:nvPr/>
        </p:nvSpPr>
        <p:spPr>
          <a:xfrm>
            <a:off x="344551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06" name="Divider"/>
          <p:cNvCxnSpPr/>
          <p:nvPr/>
        </p:nvCxnSpPr>
        <p:spPr>
          <a:xfrm>
            <a:off x="3719830" y="2651760"/>
            <a:ext cx="2668270" cy="0"/>
          </a:xfrm>
          <a:prstGeom prst="line">
            <a:avLst/>
          </a:prstGeom>
          <a:ln w="9525">
            <a:solidFill>
              <a:srgbClr val="E1E3E8"/>
            </a:solidFill>
          </a:ln>
        </p:spPr>
      </p:cxnSp>
      <p:sp>
        <p:nvSpPr>
          <p:cNvPr id="107" name="BUSINESS GOALS"/>
          <p:cNvSpPr txBox="1"/>
          <p:nvPr/>
        </p:nvSpPr>
        <p:spPr>
          <a:xfrm>
            <a:off x="371983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BUSINESS GOALS</a:t>
            </a:r>
          </a:p>
          <a:p>
            <a:pPr algn="l">
              <a:lnSpc>
                <a:spcPct val="115000"/>
              </a:lnSpc>
              <a:spcAft>
                <a:spcPts val="900"/>
              </a:spcAft>
            </a:pPr>
            <a:r>
              <a:rPr lang="en-US" sz="1700" spc="0" dirty="0">
                <a:solidFill>
                  <a:srgbClr val="565C6B"/>
                </a:solidFill>
                <a:latin typeface="Helvetica Neue Light"/>
                <a:cs typeface="Helvetica Neue Light"/>
              </a:rPr>
              <a:t>Education</a:t>
            </a:r>
          </a:p>
          <a:p>
            <a:pPr algn="l">
              <a:lnSpc>
                <a:spcPct val="115000"/>
              </a:lnSpc>
              <a:spcAft>
                <a:spcPts val="900"/>
              </a:spcAft>
            </a:pPr>
            <a:r>
              <a:rPr lang="en-US" sz="1700" spc="0" dirty="0">
                <a:solidFill>
                  <a:srgbClr val="565C6B"/>
                </a:solidFill>
                <a:latin typeface="Helvetica Neue Light"/>
                <a:cs typeface="Helvetica Neue Light"/>
              </a:rPr>
              <a:t>Platform parity</a:t>
            </a:r>
          </a:p>
          <a:p>
            <a:pPr algn="l">
              <a:lnSpc>
                <a:spcPct val="115000"/>
              </a:lnSpc>
              <a:spcAft>
                <a:spcPts val="900"/>
              </a:spcAft>
            </a:pPr>
            <a:r>
              <a:rPr lang="en-US" sz="1700" spc="0" dirty="0">
                <a:solidFill>
                  <a:srgbClr val="565C6B"/>
                </a:solidFill>
                <a:latin typeface="Helvetica Neue Light"/>
                <a:cs typeface="Helvetica Neue Light"/>
              </a:rPr>
              <a:t>Integrated systems</a:t>
            </a:r>
          </a:p>
          <a:p>
            <a:pPr algn="l">
              <a:lnSpc>
                <a:spcPct val="115000"/>
              </a:lnSpc>
              <a:spcAft>
                <a:spcPts val="900"/>
              </a:spcAft>
            </a:pPr>
            <a:r>
              <a:rPr lang="en-US" sz="1700" spc="0" dirty="0">
                <a:solidFill>
                  <a:srgbClr val="565C6B"/>
                </a:solidFill>
                <a:latin typeface="Helvetica Neue Light"/>
                <a:cs typeface="Helvetica Neue Light"/>
              </a:rPr>
              <a:t>Data</a:t>
            </a:r>
          </a:p>
        </p:txBody>
      </p:sp>
      <p:sp>
        <p:nvSpPr>
          <p:cNvPr id="108" name="op"/>
          <p:cNvSpPr txBox="1"/>
          <p:nvPr/>
        </p:nvSpPr>
        <p:spPr>
          <a:xfrm>
            <a:off x="634238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09" name="Divider"/>
          <p:cNvCxnSpPr/>
          <p:nvPr/>
        </p:nvCxnSpPr>
        <p:spPr>
          <a:xfrm>
            <a:off x="6616700" y="2651760"/>
            <a:ext cx="2668270" cy="0"/>
          </a:xfrm>
          <a:prstGeom prst="line">
            <a:avLst/>
          </a:prstGeom>
          <a:ln w="9525">
            <a:solidFill>
              <a:srgbClr val="E1E3E8"/>
            </a:solidFill>
          </a:ln>
        </p:spPr>
      </p:cxnSp>
      <p:sp>
        <p:nvSpPr>
          <p:cNvPr id="110" name="UX STRATEGY"/>
          <p:cNvSpPr txBox="1"/>
          <p:nvPr/>
        </p:nvSpPr>
        <p:spPr>
          <a:xfrm>
            <a:off x="661670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UX STRATEGY</a:t>
            </a:r>
          </a:p>
          <a:p>
            <a:pPr algn="l">
              <a:lnSpc>
                <a:spcPct val="115000"/>
              </a:lnSpc>
              <a:spcAft>
                <a:spcPts val="900"/>
              </a:spcAft>
            </a:pPr>
            <a:r>
              <a:rPr lang="en-US" sz="1700" spc="0" dirty="0">
                <a:solidFill>
                  <a:srgbClr val="565C6B"/>
                </a:solidFill>
                <a:latin typeface="Helvetica Neue Light"/>
                <a:cs typeface="Helvetica Neue Light"/>
              </a:rPr>
              <a:t>Walk-through wizard</a:t>
            </a:r>
          </a:p>
          <a:p>
            <a:pPr algn="l">
              <a:lnSpc>
                <a:spcPct val="115000"/>
              </a:lnSpc>
              <a:spcAft>
                <a:spcPts val="900"/>
              </a:spcAft>
            </a:pPr>
            <a:r>
              <a:rPr lang="en-US" sz="1700" spc="0" dirty="0">
                <a:solidFill>
                  <a:srgbClr val="565C6B"/>
                </a:solidFill>
                <a:latin typeface="Helvetica Neue Light"/>
                <a:cs typeface="Helvetica Neue Light"/>
              </a:rPr>
              <a:t>Scenario builder</a:t>
            </a:r>
          </a:p>
          <a:p>
            <a:pPr algn="l">
              <a:lnSpc>
                <a:spcPct val="115000"/>
              </a:lnSpc>
              <a:spcAft>
                <a:spcPts val="900"/>
              </a:spcAft>
            </a:pPr>
            <a:r>
              <a:rPr lang="en-US" sz="1700" spc="0" dirty="0">
                <a:solidFill>
                  <a:srgbClr val="565C6B"/>
                </a:solidFill>
                <a:latin typeface="Helvetica Neue Light"/>
                <a:cs typeface="Helvetica Neue Light"/>
              </a:rPr>
              <a:t>Data visualizer</a:t>
            </a:r>
          </a:p>
          <a:p>
            <a:pPr algn="l">
              <a:lnSpc>
                <a:spcPct val="115000"/>
              </a:lnSpc>
              <a:spcAft>
                <a:spcPts val="900"/>
              </a:spcAft>
            </a:pPr>
            <a:r>
              <a:rPr lang="en-US" sz="1700" spc="0" dirty="0">
                <a:solidFill>
                  <a:srgbClr val="565C6B"/>
                </a:solidFill>
                <a:latin typeface="Helvetica Neue Light"/>
                <a:cs typeface="Helvetica Neue Light"/>
              </a:rPr>
              <a:t>Import data sets</a:t>
            </a:r>
          </a:p>
          <a:p>
            <a:pPr algn="l">
              <a:lnSpc>
                <a:spcPct val="115000"/>
              </a:lnSpc>
              <a:spcAft>
                <a:spcPts val="900"/>
              </a:spcAft>
            </a:pPr>
            <a:r>
              <a:rPr lang="en-US" sz="1700" spc="0" dirty="0">
                <a:solidFill>
                  <a:srgbClr val="565C6B"/>
                </a:solidFill>
                <a:latin typeface="Helvetica Neue Light"/>
                <a:cs typeface="Helvetica Neue Light"/>
              </a:rPr>
              <a:t>Channel and product allocation</a:t>
            </a:r>
          </a:p>
          <a:p>
            <a:pPr algn="l">
              <a:lnSpc>
                <a:spcPct val="115000"/>
              </a:lnSpc>
              <a:spcAft>
                <a:spcPts val="900"/>
              </a:spcAft>
            </a:pPr>
            <a:r>
              <a:rPr lang="en-US" sz="1700" spc="0" dirty="0">
                <a:solidFill>
                  <a:srgbClr val="565C6B"/>
                </a:solidFill>
                <a:latin typeface="Helvetica Neue Light"/>
                <a:cs typeface="Helvetica Neue Light"/>
              </a:rPr>
              <a:t>Optimization budget tool</a:t>
            </a:r>
          </a:p>
        </p:txBody>
      </p:sp>
      <p:sp>
        <p:nvSpPr>
          <p:cNvPr id="111" name="op"/>
          <p:cNvSpPr txBox="1"/>
          <p:nvPr/>
        </p:nvSpPr>
        <p:spPr>
          <a:xfrm>
            <a:off x="9239250" y="2240280"/>
            <a:ext cx="320040" cy="411480"/>
          </a:xfrm>
          <a:prstGeom prst="rect">
            <a:avLst/>
          </a:prstGeom>
          <a:noFill/>
        </p:spPr>
        <p:txBody>
          <a:bodyPr wrap="square" lIns="0" tIns="0" rIns="0" bIns="0" anchor="t">
            <a:noAutofit/>
          </a:bodyPr>
          <a:lstStyle/>
          <a:p>
            <a:pPr algn="ctr">
              <a:lnSpc>
                <a:spcPct val="115000"/>
              </a:lnSpc>
              <a:spcAft>
                <a:spcPts val="300"/>
              </a:spcAft>
            </a:pPr>
            <a:r>
              <a:rPr lang="en-US" sz="2600" spc="0" dirty="0">
                <a:solidFill>
                  <a:srgbClr val="B5531F"/>
                </a:solidFill>
                <a:latin typeface="Helvetica Neue Medium"/>
                <a:cs typeface="Helvetica Neue Medium"/>
              </a:rPr>
              <a:t>=</a:t>
            </a:r>
          </a:p>
        </p:txBody>
      </p:sp>
      <p:cxnSp>
        <p:nvCxnSpPr>
          <p:cNvPr id="112" name="Divider"/>
          <p:cNvCxnSpPr/>
          <p:nvPr/>
        </p:nvCxnSpPr>
        <p:spPr>
          <a:xfrm>
            <a:off x="9513570" y="2651760"/>
            <a:ext cx="2668270" cy="0"/>
          </a:xfrm>
          <a:prstGeom prst="line">
            <a:avLst/>
          </a:prstGeom>
          <a:ln w="28575">
            <a:solidFill>
              <a:srgbClr val="B5531F"/>
            </a:solidFill>
          </a:ln>
        </p:spPr>
      </p:cxnSp>
      <p:sp>
        <p:nvSpPr>
          <p:cNvPr id="113" name="FEATURE SET"/>
          <p:cNvSpPr txBox="1"/>
          <p:nvPr/>
        </p:nvSpPr>
        <p:spPr>
          <a:xfrm>
            <a:off x="9513570" y="2880360"/>
            <a:ext cx="2668270" cy="5394960"/>
          </a:xfrm>
          <a:prstGeom prst="rect">
            <a:avLst/>
          </a:prstGeom>
          <a:noFill/>
        </p:spPr>
        <p:txBody>
          <a:bodyPr wrap="square" lIns="0" tIns="0" rIns="0" bIns="0" anchor="t">
            <a:noAutofit/>
          </a:bodyPr>
          <a:lstStyle/>
          <a:p>
            <a:pPr algn="l">
              <a:lnSpc>
                <a:spcPct val="105000"/>
              </a:lnSpc>
              <a:spcAft>
                <a:spcPts val="900"/>
              </a:spcAft>
            </a:pPr>
            <a:r>
              <a:rPr lang="en-US" sz="1100" spc="200" dirty="0">
                <a:solidFill>
                  <a:srgbClr val="858A97"/>
                </a:solidFill>
                <a:latin typeface="Helvetica Neue Medium"/>
                <a:cs typeface="Helvetica Neue Medium"/>
              </a:rPr>
              <a:t>FEATURE SET</a:t>
            </a:r>
          </a:p>
          <a:p>
            <a:pPr algn="l">
              <a:lnSpc>
                <a:spcPct val="115000"/>
              </a:lnSpc>
              <a:spcAft>
                <a:spcPts val="900"/>
              </a:spcAft>
            </a:pPr>
            <a:r>
              <a:rPr lang="en-US" sz="1700" spc="0" dirty="0">
                <a:solidFill>
                  <a:srgbClr val="14161D"/>
                </a:solidFill>
                <a:latin typeface="Helvetica Neue Light"/>
                <a:cs typeface="Helvetica Neue Light"/>
              </a:rPr>
              <a:t>Walk-through wizard</a:t>
            </a:r>
          </a:p>
          <a:p>
            <a:pPr algn="l">
              <a:lnSpc>
                <a:spcPct val="115000"/>
              </a:lnSpc>
              <a:spcAft>
                <a:spcPts val="900"/>
              </a:spcAft>
            </a:pPr>
            <a:r>
              <a:rPr lang="en-US" sz="1700" spc="0" dirty="0">
                <a:solidFill>
                  <a:srgbClr val="14161D"/>
                </a:solidFill>
                <a:latin typeface="Helvetica Neue Light"/>
                <a:cs typeface="Helvetica Neue Light"/>
              </a:rPr>
              <a:t>Scenario builder</a:t>
            </a:r>
          </a:p>
          <a:p>
            <a:pPr algn="l">
              <a:lnSpc>
                <a:spcPct val="115000"/>
              </a:lnSpc>
              <a:spcAft>
                <a:spcPts val="900"/>
              </a:spcAft>
            </a:pPr>
            <a:r>
              <a:rPr lang="en-US" sz="1700" spc="0" dirty="0">
                <a:solidFill>
                  <a:srgbClr val="14161D"/>
                </a:solidFill>
                <a:latin typeface="Helvetica Neue Light"/>
                <a:cs typeface="Helvetica Neue Light"/>
              </a:rPr>
              <a:t>Data visualizer</a:t>
            </a:r>
          </a:p>
          <a:p>
            <a:pPr algn="l">
              <a:lnSpc>
                <a:spcPct val="115000"/>
              </a:lnSpc>
              <a:spcAft>
                <a:spcPts val="900"/>
              </a:spcAft>
            </a:pPr>
            <a:r>
              <a:rPr lang="en-US" sz="1700" spc="0" dirty="0">
                <a:solidFill>
                  <a:srgbClr val="14161D"/>
                </a:solidFill>
                <a:latin typeface="Helvetica Neue Light"/>
                <a:cs typeface="Helvetica Neue Light"/>
              </a:rPr>
              <a:t>Comparison</a:t>
            </a:r>
          </a:p>
          <a:p>
            <a:pPr algn="l">
              <a:lnSpc>
                <a:spcPct val="115000"/>
              </a:lnSpc>
              <a:spcAft>
                <a:spcPts val="900"/>
              </a:spcAft>
            </a:pPr>
            <a:r>
              <a:rPr lang="en-US" sz="1700" spc="0" dirty="0">
                <a:solidFill>
                  <a:srgbClr val="14161D"/>
                </a:solidFill>
                <a:latin typeface="Helvetica Neue Light"/>
                <a:cs typeface="Helvetica Neue Light"/>
              </a:rPr>
              <a:t>Import data sets</a:t>
            </a:r>
          </a:p>
          <a:p>
            <a:pPr algn="l">
              <a:lnSpc>
                <a:spcPct val="115000"/>
              </a:lnSpc>
              <a:spcAft>
                <a:spcPts val="900"/>
              </a:spcAft>
            </a:pPr>
            <a:r>
              <a:rPr lang="en-US" sz="1700" spc="0" dirty="0">
                <a:solidFill>
                  <a:srgbClr val="14161D"/>
                </a:solidFill>
                <a:latin typeface="Helvetica Neue Light"/>
                <a:cs typeface="Helvetica Neue Light"/>
              </a:rPr>
              <a:t>Channel and product allocation</a:t>
            </a:r>
          </a:p>
          <a:p>
            <a:pPr algn="l">
              <a:lnSpc>
                <a:spcPct val="115000"/>
              </a:lnSpc>
              <a:spcAft>
                <a:spcPts val="900"/>
              </a:spcAft>
            </a:pPr>
            <a:r>
              <a:rPr lang="en-US" sz="1700" spc="0" dirty="0">
                <a:solidFill>
                  <a:srgbClr val="14161D"/>
                </a:solidFill>
                <a:latin typeface="Helvetica Neue Light"/>
                <a:cs typeface="Helvetica Neue Light"/>
              </a:rPr>
              <a:t>Optimization budget tool</a:t>
            </a:r>
          </a:p>
          <a:p>
            <a:pPr algn="l">
              <a:lnSpc>
                <a:spcPct val="115000"/>
              </a:lnSpc>
              <a:spcAft>
                <a:spcPts val="900"/>
              </a:spcAft>
            </a:pPr>
            <a:r>
              <a:rPr lang="en-US" sz="1700" spc="0" dirty="0">
                <a:solidFill>
                  <a:srgbClr val="14161D"/>
                </a:solidFill>
                <a:latin typeface="Helvetica Neue Light"/>
                <a:cs typeface="Helvetica Neue Light"/>
              </a:rPr>
              <a:t>Integration with internal systems</a:t>
            </a:r>
          </a:p>
        </p:txBody>
      </p:sp>
      <p:pic>
        <p:nvPicPr>
          <p:cNvPr id="114"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DISCOVERY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The journey, distilled into 3 steps</a:t>
            </a:r>
          </a:p>
        </p:txBody>
      </p:sp>
      <p:pic>
        <p:nvPicPr>
          <p:cNvPr id="103" name="Picture 1" descr="image.png"/>
          <p:cNvPicPr>
            <a:picLocks noChangeAspect="1"/>
          </p:cNvPicPr>
          <p:nvPr/>
        </p:nvPicPr>
        <p:blipFill>
          <a:blip r:embed="rId2"/>
          <a:stretch>
            <a:fillRect/>
          </a:stretch>
        </p:blipFill>
        <p:spPr>
          <a:xfrm>
            <a:off x="2686468" y="4572000"/>
            <a:ext cx="7629831" cy="3703320"/>
          </a:xfrm>
          <a:prstGeom prst="rect">
            <a:avLst/>
          </a:prstGeom>
          <a:ln w="9525">
            <a:solidFill>
              <a:srgbClr val="D3D6DC"/>
            </a:solidFill>
          </a:ln>
        </p:spPr>
      </p:pic>
      <p:cxnSp>
        <p:nvCxnSpPr>
          <p:cNvPr id="104" name="Divider"/>
          <p:cNvCxnSpPr/>
          <p:nvPr/>
        </p:nvCxnSpPr>
        <p:spPr>
          <a:xfrm>
            <a:off x="822960" y="2057400"/>
            <a:ext cx="3542453" cy="0"/>
          </a:xfrm>
          <a:prstGeom prst="line">
            <a:avLst/>
          </a:prstGeom>
          <a:ln w="28575">
            <a:solidFill>
              <a:srgbClr val="B5531F"/>
            </a:solidFill>
          </a:ln>
        </p:spPr>
      </p:cxnSp>
      <p:sp>
        <p:nvSpPr>
          <p:cNvPr id="105" name="Walk-through wizard"/>
          <p:cNvSpPr txBox="1"/>
          <p:nvPr/>
        </p:nvSpPr>
        <p:spPr>
          <a:xfrm>
            <a:off x="822960" y="2240280"/>
            <a:ext cx="3542453" cy="2103120"/>
          </a:xfrm>
          <a:prstGeom prst="rect">
            <a:avLst/>
          </a:prstGeom>
          <a:noFill/>
        </p:spPr>
        <p:txBody>
          <a:bodyPr wrap="square" lIns="0" tIns="0" rIns="0" bIns="0" anchor="t">
            <a:noAutofit/>
          </a:bodyPr>
          <a:lstStyle/>
          <a:p>
            <a:pPr algn="l">
              <a:lnSpc>
                <a:spcPct val="105000"/>
              </a:lnSpc>
              <a:spcAft>
                <a:spcPts val="250"/>
              </a:spcAft>
            </a:pPr>
            <a:r>
              <a:rPr lang="en-US" sz="2400" spc="0" dirty="0">
                <a:solidFill>
                  <a:srgbClr val="B5531F"/>
                </a:solidFill>
                <a:latin typeface="Helvetica Neue Medium"/>
                <a:cs typeface="Helvetica Neue Medium"/>
              </a:rPr>
              <a:t>1</a:t>
            </a:r>
          </a:p>
          <a:p>
            <a:pPr algn="l">
              <a:lnSpc>
                <a:spcPct val="105000"/>
              </a:lnSpc>
              <a:spcAft>
                <a:spcPts val="250"/>
              </a:spcAft>
            </a:pPr>
            <a:r>
              <a:rPr lang="en-US" sz="1700" spc="0" dirty="0">
                <a:solidFill>
                  <a:srgbClr val="14161D"/>
                </a:solidFill>
                <a:latin typeface="Helvetica Neue Medium"/>
                <a:cs typeface="Helvetica Neue Medium"/>
              </a:rPr>
              <a:t>Walk-through wizard</a:t>
            </a:r>
          </a:p>
          <a:p>
            <a:pPr algn="l">
              <a:lnSpc>
                <a:spcPct val="125000"/>
              </a:lnSpc>
              <a:spcAft>
                <a:spcPts val="250"/>
              </a:spcAft>
            </a:pPr>
            <a:r>
              <a:rPr lang="en-US" sz="1550" spc="0" dirty="0">
                <a:solidFill>
                  <a:srgbClr val="565C6B"/>
                </a:solidFill>
                <a:latin typeface="Helvetica Neue Light"/>
                <a:cs typeface="Helvetica Neue Light"/>
              </a:rPr>
              <a:t>Guides users through the budget projection: import data, set dates, adjust each allocation by channel and product.</a:t>
            </a:r>
          </a:p>
        </p:txBody>
      </p:sp>
      <p:cxnSp>
        <p:nvCxnSpPr>
          <p:cNvPr id="106" name="Divider"/>
          <p:cNvCxnSpPr/>
          <p:nvPr/>
        </p:nvCxnSpPr>
        <p:spPr>
          <a:xfrm>
            <a:off x="4731173" y="2057400"/>
            <a:ext cx="3542453" cy="0"/>
          </a:xfrm>
          <a:prstGeom prst="line">
            <a:avLst/>
          </a:prstGeom>
          <a:ln w="28575">
            <a:solidFill>
              <a:srgbClr val="B5531F"/>
            </a:solidFill>
          </a:ln>
        </p:spPr>
      </p:cxnSp>
      <p:sp>
        <p:nvSpPr>
          <p:cNvPr id="107" name="Scenario builder"/>
          <p:cNvSpPr txBox="1"/>
          <p:nvPr/>
        </p:nvSpPr>
        <p:spPr>
          <a:xfrm>
            <a:off x="4731173" y="2240280"/>
            <a:ext cx="3542453" cy="2103120"/>
          </a:xfrm>
          <a:prstGeom prst="rect">
            <a:avLst/>
          </a:prstGeom>
          <a:noFill/>
        </p:spPr>
        <p:txBody>
          <a:bodyPr wrap="square" lIns="0" tIns="0" rIns="0" bIns="0" anchor="t">
            <a:noAutofit/>
          </a:bodyPr>
          <a:lstStyle/>
          <a:p>
            <a:pPr algn="l">
              <a:lnSpc>
                <a:spcPct val="105000"/>
              </a:lnSpc>
              <a:spcAft>
                <a:spcPts val="250"/>
              </a:spcAft>
            </a:pPr>
            <a:r>
              <a:rPr lang="en-US" sz="2400" spc="0" dirty="0">
                <a:solidFill>
                  <a:srgbClr val="B5531F"/>
                </a:solidFill>
                <a:latin typeface="Helvetica Neue Medium"/>
                <a:cs typeface="Helvetica Neue Medium"/>
              </a:rPr>
              <a:t>2</a:t>
            </a:r>
          </a:p>
          <a:p>
            <a:pPr algn="l">
              <a:lnSpc>
                <a:spcPct val="105000"/>
              </a:lnSpc>
              <a:spcAft>
                <a:spcPts val="250"/>
              </a:spcAft>
            </a:pPr>
            <a:r>
              <a:rPr lang="en-US" sz="1700" spc="0" dirty="0">
                <a:solidFill>
                  <a:srgbClr val="14161D"/>
                </a:solidFill>
                <a:latin typeface="Helvetica Neue Medium"/>
                <a:cs typeface="Helvetica Neue Medium"/>
              </a:rPr>
              <a:t>Scenario builder</a:t>
            </a:r>
          </a:p>
          <a:p>
            <a:pPr algn="l">
              <a:lnSpc>
                <a:spcPct val="125000"/>
              </a:lnSpc>
              <a:spcAft>
                <a:spcPts val="250"/>
              </a:spcAft>
            </a:pPr>
            <a:r>
              <a:rPr lang="en-US" sz="1550" spc="0" dirty="0">
                <a:solidFill>
                  <a:srgbClr val="565C6B"/>
                </a:solidFill>
                <a:latin typeface="Helvetica Neue Light"/>
                <a:cs typeface="Helvetica Neue Light"/>
              </a:rPr>
              <a:t>Build separate scenarios, compare them, and optimize a selected budget using the tool’s business intelligence and data.</a:t>
            </a:r>
          </a:p>
        </p:txBody>
      </p:sp>
      <p:cxnSp>
        <p:nvCxnSpPr>
          <p:cNvPr id="108" name="Divider"/>
          <p:cNvCxnSpPr/>
          <p:nvPr/>
        </p:nvCxnSpPr>
        <p:spPr>
          <a:xfrm>
            <a:off x="8639386" y="2057400"/>
            <a:ext cx="3542453" cy="0"/>
          </a:xfrm>
          <a:prstGeom prst="line">
            <a:avLst/>
          </a:prstGeom>
          <a:ln w="28575">
            <a:solidFill>
              <a:srgbClr val="B5531F"/>
            </a:solidFill>
          </a:ln>
        </p:spPr>
      </p:cxnSp>
      <p:sp>
        <p:nvSpPr>
          <p:cNvPr id="109" name="Data visualizer"/>
          <p:cNvSpPr txBox="1"/>
          <p:nvPr/>
        </p:nvSpPr>
        <p:spPr>
          <a:xfrm>
            <a:off x="8639386" y="2240280"/>
            <a:ext cx="3542453" cy="2103120"/>
          </a:xfrm>
          <a:prstGeom prst="rect">
            <a:avLst/>
          </a:prstGeom>
          <a:noFill/>
        </p:spPr>
        <p:txBody>
          <a:bodyPr wrap="square" lIns="0" tIns="0" rIns="0" bIns="0" anchor="t">
            <a:noAutofit/>
          </a:bodyPr>
          <a:lstStyle/>
          <a:p>
            <a:pPr algn="l">
              <a:lnSpc>
                <a:spcPct val="105000"/>
              </a:lnSpc>
              <a:spcAft>
                <a:spcPts val="250"/>
              </a:spcAft>
            </a:pPr>
            <a:r>
              <a:rPr lang="en-US" sz="2400" spc="0" dirty="0">
                <a:solidFill>
                  <a:srgbClr val="B5531F"/>
                </a:solidFill>
                <a:latin typeface="Helvetica Neue Medium"/>
                <a:cs typeface="Helvetica Neue Medium"/>
              </a:rPr>
              <a:t>3</a:t>
            </a:r>
          </a:p>
          <a:p>
            <a:pPr algn="l">
              <a:lnSpc>
                <a:spcPct val="105000"/>
              </a:lnSpc>
              <a:spcAft>
                <a:spcPts val="250"/>
              </a:spcAft>
            </a:pPr>
            <a:r>
              <a:rPr lang="en-US" sz="1700" spc="0" dirty="0">
                <a:solidFill>
                  <a:srgbClr val="14161D"/>
                </a:solidFill>
                <a:latin typeface="Helvetica Neue Medium"/>
                <a:cs typeface="Helvetica Neue Medium"/>
              </a:rPr>
              <a:t>Data visualizer</a:t>
            </a:r>
          </a:p>
          <a:p>
            <a:pPr algn="l">
              <a:lnSpc>
                <a:spcPct val="125000"/>
              </a:lnSpc>
              <a:spcAft>
                <a:spcPts val="250"/>
              </a:spcAft>
            </a:pPr>
            <a:r>
              <a:rPr lang="en-US" sz="1550" spc="0" dirty="0">
                <a:solidFill>
                  <a:srgbClr val="565C6B"/>
                </a:solidFill>
                <a:latin typeface="Helvetica Neue Light"/>
                <a:cs typeface="Helvetica Neue Light"/>
              </a:rPr>
              <a:t>Visualizations show how each plan breaks down and how the plans compare.</a:t>
            </a:r>
          </a:p>
        </p:txBody>
      </p:sp>
      <p:pic>
        <p:nvPicPr>
          <p:cNvPr id="11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Experience design sprint: start from a past budget</a:t>
            </a:r>
          </a:p>
        </p:txBody>
      </p:sp>
      <p:pic>
        <p:nvPicPr>
          <p:cNvPr id="103" name="Picture 1" descr="image.png"/>
          <p:cNvPicPr>
            <a:picLocks noChangeAspect="1"/>
          </p:cNvPicPr>
          <p:nvPr/>
        </p:nvPicPr>
        <p:blipFill>
          <a:blip r:embed="rId2"/>
          <a:stretch>
            <a:fillRect/>
          </a:stretch>
        </p:blipFill>
        <p:spPr>
          <a:xfrm>
            <a:off x="5029199" y="2643512"/>
            <a:ext cx="7480841" cy="4991728"/>
          </a:xfrm>
          <a:prstGeom prst="rect">
            <a:avLst/>
          </a:prstGeom>
          <a:ln w="9525">
            <a:solidFill>
              <a:srgbClr val="D3D6DC"/>
            </a:solidFill>
          </a:ln>
        </p:spPr>
      </p:pic>
      <p:sp>
        <p:nvSpPr>
          <p:cNvPr id="104" name="Learned"/>
          <p:cNvSpPr txBox="1"/>
          <p:nvPr/>
        </p:nvSpPr>
        <p:spPr>
          <a:xfrm>
            <a:off x="822960" y="2194560"/>
            <a:ext cx="384048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FROM DISCOVERY</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Users wanted to import one budget and keep it as a template for the next</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So a new budget can start from an imported one, by duplicating it</a:t>
            </a:r>
          </a:p>
        </p:txBody>
      </p:sp>
      <p:pic>
        <p:nvPicPr>
          <p:cNvPr id="10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Unexpected challenge: the rest of the desktop</a:t>
            </a:r>
          </a:p>
        </p:txBody>
      </p:sp>
      <p:pic>
        <p:nvPicPr>
          <p:cNvPr id="103" name="Picture 1" descr="image.png"/>
          <p:cNvPicPr>
            <a:picLocks noChangeAspect="1"/>
          </p:cNvPicPr>
          <p:nvPr/>
        </p:nvPicPr>
        <p:blipFill>
          <a:blip r:embed="rId2"/>
          <a:stretch>
            <a:fillRect/>
          </a:stretch>
        </p:blipFill>
        <p:spPr>
          <a:xfrm>
            <a:off x="9510677" y="4945482"/>
            <a:ext cx="3205268" cy="2141118"/>
          </a:xfrm>
          <a:prstGeom prst="rect">
            <a:avLst/>
          </a:prstGeom>
          <a:ln w="9525">
            <a:solidFill>
              <a:srgbClr val="D3D6DC"/>
            </a:solidFill>
          </a:ln>
        </p:spPr>
      </p:pic>
      <p:pic>
        <p:nvPicPr>
          <p:cNvPr id="104" name="Picture 2" descr="image.png"/>
          <p:cNvPicPr>
            <a:picLocks noChangeAspect="1"/>
          </p:cNvPicPr>
          <p:nvPr/>
        </p:nvPicPr>
        <p:blipFill>
          <a:blip r:embed="rId3"/>
          <a:stretch>
            <a:fillRect/>
          </a:stretch>
        </p:blipFill>
        <p:spPr>
          <a:xfrm>
            <a:off x="9467824" y="2567055"/>
            <a:ext cx="3333775" cy="2226961"/>
          </a:xfrm>
          <a:prstGeom prst="rect">
            <a:avLst/>
          </a:prstGeom>
          <a:ln w="9525">
            <a:solidFill>
              <a:srgbClr val="D3D6DC"/>
            </a:solidFill>
          </a:ln>
        </p:spPr>
      </p:pic>
      <p:pic>
        <p:nvPicPr>
          <p:cNvPr id="105" name="Picture 3" descr="image.png"/>
          <p:cNvPicPr>
            <a:picLocks noChangeAspect="1"/>
          </p:cNvPicPr>
          <p:nvPr/>
        </p:nvPicPr>
        <p:blipFill>
          <a:blip r:embed="rId4"/>
          <a:stretch>
            <a:fillRect/>
          </a:stretch>
        </p:blipFill>
        <p:spPr>
          <a:xfrm>
            <a:off x="3279601" y="4206770"/>
            <a:ext cx="6136273" cy="4099030"/>
          </a:xfrm>
          <a:prstGeom prst="rect">
            <a:avLst/>
          </a:prstGeom>
          <a:ln w="9525">
            <a:solidFill>
              <a:srgbClr val="D3D6DC"/>
            </a:solidFill>
          </a:ln>
        </p:spPr>
      </p:pic>
      <p:sp>
        <p:nvSpPr>
          <p:cNvPr id="106" name="Learned"/>
          <p:cNvSpPr txBox="1"/>
          <p:nvPr/>
        </p:nvSpPr>
        <p:spPr>
          <a:xfrm>
            <a:off x="822960" y="2194560"/>
            <a:ext cx="3931920"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THE CHALLENGE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As a desktop app, MOCA had to account for the other applications on the desktop</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And how it would connect to them through APIs</a:t>
            </a:r>
          </a:p>
        </p:txBody>
      </p:sp>
      <p:pic>
        <p:nvPicPr>
          <p:cNvPr id="107" name="gradient strip" descr="gradient strip"/>
          <p:cNvPicPr>
            <a:picLocks noChangeAspect="1"/>
          </p:cNvPicPr>
          <p:nvPr/>
        </p:nvPicPr>
        <p:blipFill>
          <a:blip r:embed="rId5"/>
          <a:stretch>
            <a:fillRect/>
          </a:stretch>
        </p:blipFill>
        <p:spPr>
          <a:xfrm>
            <a:off x="0" y="9285427"/>
            <a:ext cx="13004800" cy="468173"/>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DESIGN</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14161D"/>
                </a:solidFill>
                <a:latin typeface="Helvetica Neue Medium"/>
                <a:cs typeface="Helvetica Neue Medium"/>
              </a:rPr>
              <a:t>Partners want to compare budget scenarios, </a:t>
            </a:r>
            <a:r>
              <a:rPr lang="en-US" sz="4000" spc="-40" dirty="0">
                <a:solidFill>
                  <a:srgbClr val="B5531F"/>
                </a:solidFill>
                <a:latin typeface="Helvetica Neue Medium"/>
                <a:cs typeface="Helvetica Neue Medium"/>
              </a:rPr>
              <a:t>down to each channel and product</a:t>
            </a:r>
            <a:r>
              <a:rPr lang="en-US" sz="4000" spc="-40" dirty="0">
                <a:solidFill>
                  <a:srgbClr val="14161D"/>
                </a:solidFill>
                <a:latin typeface="Helvetica Neue Medium"/>
                <a:cs typeface="Helvetica Neue Medium"/>
              </a:rPr>
              <a:t>.</a:t>
            </a:r>
          </a:p>
        </p:txBody>
      </p:sp>
      <p:sp>
        <p:nvSpPr>
          <p:cNvPr id="103" name="Body"/>
          <p:cNvSpPr txBox="1"/>
          <p:nvPr/>
        </p:nvSpPr>
        <p:spPr>
          <a:xfrm>
            <a:off x="822960" y="4023360"/>
            <a:ext cx="9601200" cy="182880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Users want to see, through data visualizations, how scenarios differ. For a deeper understanding of their allocations, they want to adjust each channel and the products inside it.</a:t>
            </a:r>
          </a:p>
        </p:txBody>
      </p:sp>
      <p:pic>
        <p:nvPicPr>
          <p:cNvPr id="104"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Wizard design sprint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A short, efficient wizard for budget details and time frame.</a:t>
            </a:r>
          </a:p>
        </p:txBody>
      </p:sp>
      <p:pic>
        <p:nvPicPr>
          <p:cNvPr id="104" name="Picture 2" descr="image.png"/>
          <p:cNvPicPr>
            <a:picLocks noChangeAspect="1"/>
          </p:cNvPicPr>
          <p:nvPr/>
        </p:nvPicPr>
        <p:blipFill>
          <a:blip r:embed="rId2"/>
          <a:stretch>
            <a:fillRect/>
          </a:stretch>
        </p:blipFill>
        <p:spPr>
          <a:xfrm>
            <a:off x="1975874" y="5458161"/>
            <a:ext cx="4322902" cy="2616797"/>
          </a:xfrm>
          <a:prstGeom prst="rect">
            <a:avLst/>
          </a:prstGeom>
          <a:ln w="9525">
            <a:solidFill>
              <a:srgbClr val="D3D6DC"/>
            </a:solidFill>
          </a:ln>
        </p:spPr>
      </p:pic>
      <p:pic>
        <p:nvPicPr>
          <p:cNvPr id="105" name="Picture 1" descr="image.png"/>
          <p:cNvPicPr>
            <a:picLocks noChangeAspect="1"/>
          </p:cNvPicPr>
          <p:nvPr/>
        </p:nvPicPr>
        <p:blipFill>
          <a:blip r:embed="rId3"/>
          <a:stretch>
            <a:fillRect/>
          </a:stretch>
        </p:blipFill>
        <p:spPr>
          <a:xfrm>
            <a:off x="6706026" y="5458160"/>
            <a:ext cx="4202564" cy="2616797"/>
          </a:xfrm>
          <a:prstGeom prst="rect">
            <a:avLst/>
          </a:prstGeom>
          <a:ln w="9525">
            <a:solidFill>
              <a:srgbClr val="D3D6DC"/>
            </a:solidFill>
          </a:ln>
        </p:spPr>
      </p:pic>
      <p:sp>
        <p:nvSpPr>
          <p:cNvPr id="106" name="Learned"/>
          <p:cNvSpPr txBox="1"/>
          <p:nvPr/>
        </p:nvSpPr>
        <p:spPr>
          <a:xfrm>
            <a:off x="822960" y="2194560"/>
            <a:ext cx="3749039" cy="4572000"/>
          </a:xfrm>
          <a:prstGeom prst="rect">
            <a:avLst/>
          </a:prstGeom>
          <a:noFill/>
        </p:spPr>
        <p:txBody>
          <a:bodyPr wrap="square" lIns="0" tIns="0" rIns="0" bIns="0" anchor="t">
            <a:noAutofit/>
          </a:bodyPr>
          <a:lstStyle/>
          <a:p>
            <a:pPr algn="l">
              <a:lnSpc>
                <a:spcPct val="105000"/>
              </a:lnSpc>
              <a:spcAft>
                <a:spcPts val="600"/>
              </a:spcAft>
            </a:pPr>
            <a:r>
              <a:rPr lang="en-US" sz="1100" spc="200" dirty="0">
                <a:solidFill>
                  <a:srgbClr val="858A97"/>
                </a:solidFill>
                <a:latin typeface="Helvetica Neue Medium"/>
                <a:cs typeface="Helvetica Neue Medium"/>
              </a:rPr>
              <a:t>WHAT WE LEARNED FROM RESEARCH</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Partners use the tool only once every 6–12 months, so many needed more structured guidance</a:t>
            </a:r>
          </a:p>
          <a:p>
            <a:pPr marL="292608" indent="-292608" algn="l">
              <a:lnSpc>
                <a:spcPct val="115000"/>
              </a:lnSpc>
              <a:spcAft>
                <a:spcPts val="600"/>
              </a:spcAft>
            </a:pPr>
            <a:r>
              <a:rPr lang="en-US" sz="1650" spc="0" dirty="0">
                <a:solidFill>
                  <a:srgbClr val="B5531F"/>
                </a:solidFill>
                <a:latin typeface="Helvetica Neue Light"/>
                <a:cs typeface="Helvetica Neue Light"/>
              </a:rPr>
              <a:t>—	</a:t>
            </a:r>
            <a:r>
              <a:rPr lang="en-US" sz="1650" spc="0" dirty="0">
                <a:solidFill>
                  <a:srgbClr val="565C6B"/>
                </a:solidFill>
                <a:latin typeface="Helvetica Neue Light"/>
                <a:cs typeface="Helvetica Neue Light"/>
              </a:rPr>
              <a:t>First-time users wanted a friction-free way to start</a:t>
            </a:r>
          </a:p>
        </p:txBody>
      </p:sp>
      <p:pic>
        <p:nvPicPr>
          <p:cNvPr id="107"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DESIGN</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Scenario comparison design sprint</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Testers called the channel breakdown vital, and a game changer.</a:t>
            </a:r>
          </a:p>
        </p:txBody>
      </p:sp>
      <p:pic>
        <p:nvPicPr>
          <p:cNvPr id="104" name="Picture 1" descr="image.png"/>
          <p:cNvPicPr>
            <a:picLocks noChangeAspect="1"/>
          </p:cNvPicPr>
          <p:nvPr/>
        </p:nvPicPr>
        <p:blipFill>
          <a:blip r:embed="rId2"/>
          <a:stretch>
            <a:fillRect/>
          </a:stretch>
        </p:blipFill>
        <p:spPr>
          <a:xfrm>
            <a:off x="1703606" y="2103120"/>
            <a:ext cx="10478234" cy="6789896"/>
          </a:xfrm>
          <a:prstGeom prst="rect">
            <a:avLst/>
          </a:prstGeom>
          <a:ln w="9525">
            <a:solidFill>
              <a:srgbClr val="D3D6DC"/>
            </a:solidFill>
          </a:ln>
        </p:spPr>
      </p:pic>
      <p:pic>
        <p:nvPicPr>
          <p:cNvPr id="10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566928"/>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DELIVERY</a:t>
            </a:r>
          </a:p>
        </p:txBody>
      </p:sp>
      <p:sp>
        <p:nvSpPr>
          <p:cNvPr id="102" name="Title"/>
          <p:cNvSpPr txBox="1"/>
          <p:nvPr/>
        </p:nvSpPr>
        <p:spPr>
          <a:xfrm>
            <a:off x="822960" y="896112"/>
            <a:ext cx="11358880" cy="548640"/>
          </a:xfrm>
          <a:prstGeom prst="rect">
            <a:avLst/>
          </a:prstGeom>
          <a:noFill/>
        </p:spPr>
        <p:txBody>
          <a:bodyPr wrap="square" lIns="0" tIns="0" rIns="0" bIns="0" anchor="t">
            <a:noAutofit/>
          </a:bodyPr>
          <a:lstStyle/>
          <a:p>
            <a:pPr algn="l">
              <a:lnSpc>
                <a:spcPct val="105000"/>
              </a:lnSpc>
              <a:spcAft>
                <a:spcPts val="300"/>
              </a:spcAft>
            </a:pPr>
            <a:r>
              <a:rPr lang="en-US" sz="3000" spc="-20" dirty="0">
                <a:solidFill>
                  <a:srgbClr val="14161D"/>
                </a:solidFill>
                <a:latin typeface="Helvetica Neue Medium"/>
                <a:cs typeface="Helvetica Neue Medium"/>
              </a:rPr>
              <a:t>One client budget, end to end</a:t>
            </a:r>
          </a:p>
        </p:txBody>
      </p:sp>
      <p:sp>
        <p:nvSpPr>
          <p:cNvPr id="103" name="Subtitle"/>
          <p:cNvSpPr txBox="1"/>
          <p:nvPr/>
        </p:nvSpPr>
        <p:spPr>
          <a:xfrm>
            <a:off x="822960" y="1481328"/>
            <a:ext cx="11358880" cy="32004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Import, the three-step wizard, the ROI projection, then scenarios, the optimizer and the comparison.</a:t>
            </a:r>
          </a:p>
        </p:txBody>
      </p:sp>
      <p:pic>
        <p:nvPicPr>
          <p:cNvPr id="104" name="Hi-fi screen"/>
          <p:cNvPicPr>
            <a:picLocks noChangeAspect="1"/>
          </p:cNvPicPr>
          <p:nvPr/>
        </p:nvPicPr>
        <p:blipFill>
          <a:blip r:embed="rId2"/>
          <a:srcRect b="18921"/>
          <a:stretch>
            <a:fillRect/>
          </a:stretch>
        </p:blipFill>
        <p:spPr>
          <a:xfrm>
            <a:off x="822960" y="2240280"/>
            <a:ext cx="2140102" cy="1337563"/>
          </a:xfrm>
          <a:prstGeom prst="rect">
            <a:avLst/>
          </a:prstGeom>
          <a:ln w="9525">
            <a:solidFill>
              <a:srgbClr val="D3D6DC"/>
            </a:solidFill>
          </a:ln>
        </p:spPr>
      </p:pic>
      <p:sp>
        <p:nvSpPr>
          <p:cNvPr id="105" name="Cap 1"/>
          <p:cNvSpPr txBox="1"/>
          <p:nvPr/>
        </p:nvSpPr>
        <p:spPr>
          <a:xfrm>
            <a:off x="822960" y="363270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01  </a:t>
            </a:r>
            <a:r>
              <a:rPr lang="en-US" sz="1050" spc="0" dirty="0">
                <a:solidFill>
                  <a:srgbClr val="14161D"/>
                </a:solidFill>
                <a:latin typeface="Helvetica Neue Medium"/>
                <a:cs typeface="Helvetica Neue Medium"/>
              </a:rPr>
              <a:t>Import the budget</a:t>
            </a:r>
          </a:p>
          <a:p>
            <a:pPr algn="l">
              <a:lnSpc>
                <a:spcPct val="100000"/>
              </a:lnSpc>
              <a:spcAft>
                <a:spcPts val="0"/>
              </a:spcAft>
            </a:pPr>
            <a:r>
              <a:rPr lang="en-US" sz="950" spc="0" dirty="0">
                <a:solidFill>
                  <a:srgbClr val="858A97"/>
                </a:solidFill>
                <a:latin typeface="Helvetica Neue Light"/>
                <a:cs typeface="Helvetica Neue Light"/>
              </a:rPr>
              <a:t>Wizard · step 1</a:t>
            </a:r>
          </a:p>
        </p:txBody>
      </p:sp>
      <p:pic>
        <p:nvPicPr>
          <p:cNvPr id="106" name="Hi-fi screen"/>
          <p:cNvPicPr>
            <a:picLocks noChangeAspect="1"/>
          </p:cNvPicPr>
          <p:nvPr/>
        </p:nvPicPr>
        <p:blipFill>
          <a:blip r:embed="rId3"/>
          <a:srcRect b="18921"/>
          <a:stretch>
            <a:fillRect/>
          </a:stretch>
        </p:blipFill>
        <p:spPr>
          <a:xfrm>
            <a:off x="3127654" y="2240280"/>
            <a:ext cx="2140102" cy="1337563"/>
          </a:xfrm>
          <a:prstGeom prst="rect">
            <a:avLst/>
          </a:prstGeom>
          <a:ln w="9525">
            <a:solidFill>
              <a:srgbClr val="D3D6DC"/>
            </a:solidFill>
          </a:ln>
        </p:spPr>
      </p:pic>
      <p:sp>
        <p:nvSpPr>
          <p:cNvPr id="107" name="Cap 2"/>
          <p:cNvSpPr txBox="1"/>
          <p:nvPr/>
        </p:nvSpPr>
        <p:spPr>
          <a:xfrm>
            <a:off x="3127654" y="363270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02  </a:t>
            </a:r>
            <a:r>
              <a:rPr lang="en-US" sz="1050" spc="0" dirty="0">
                <a:solidFill>
                  <a:srgbClr val="14161D"/>
                </a:solidFill>
                <a:latin typeface="Helvetica Neue Medium"/>
                <a:cs typeface="Helvetica Neue Medium"/>
              </a:rPr>
              <a:t>File imported</a:t>
            </a:r>
          </a:p>
          <a:p>
            <a:pPr algn="l">
              <a:lnSpc>
                <a:spcPct val="100000"/>
              </a:lnSpc>
              <a:spcAft>
                <a:spcPts val="0"/>
              </a:spcAft>
            </a:pPr>
            <a:r>
              <a:rPr lang="en-US" sz="950" spc="0" dirty="0">
                <a:solidFill>
                  <a:srgbClr val="858A97"/>
                </a:solidFill>
                <a:latin typeface="Helvetica Neue Light"/>
                <a:cs typeface="Helvetica Neue Light"/>
              </a:rPr>
              <a:t>Wizard · step 1</a:t>
            </a:r>
          </a:p>
        </p:txBody>
      </p:sp>
      <p:pic>
        <p:nvPicPr>
          <p:cNvPr id="108" name="Hi-fi screen"/>
          <p:cNvPicPr>
            <a:picLocks noChangeAspect="1"/>
          </p:cNvPicPr>
          <p:nvPr/>
        </p:nvPicPr>
        <p:blipFill>
          <a:blip r:embed="rId4"/>
          <a:srcRect b="18921"/>
          <a:stretch>
            <a:fillRect/>
          </a:stretch>
        </p:blipFill>
        <p:spPr>
          <a:xfrm>
            <a:off x="5432348" y="2240280"/>
            <a:ext cx="2140102" cy="1337563"/>
          </a:xfrm>
          <a:prstGeom prst="rect">
            <a:avLst/>
          </a:prstGeom>
          <a:ln w="9525">
            <a:solidFill>
              <a:srgbClr val="D3D6DC"/>
            </a:solidFill>
          </a:ln>
        </p:spPr>
      </p:pic>
      <p:sp>
        <p:nvSpPr>
          <p:cNvPr id="109" name="Cap 3"/>
          <p:cNvSpPr txBox="1"/>
          <p:nvPr/>
        </p:nvSpPr>
        <p:spPr>
          <a:xfrm>
            <a:off x="5432348" y="363270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03  </a:t>
            </a:r>
            <a:r>
              <a:rPr lang="en-US" sz="1050" spc="0" dirty="0">
                <a:solidFill>
                  <a:srgbClr val="14161D"/>
                </a:solidFill>
                <a:latin typeface="Helvetica Neue Medium"/>
                <a:cs typeface="Helvetica Neue Medium"/>
              </a:rPr>
              <a:t>Time period</a:t>
            </a:r>
          </a:p>
          <a:p>
            <a:pPr algn="l">
              <a:lnSpc>
                <a:spcPct val="100000"/>
              </a:lnSpc>
              <a:spcAft>
                <a:spcPts val="0"/>
              </a:spcAft>
            </a:pPr>
            <a:r>
              <a:rPr lang="en-US" sz="950" spc="0" dirty="0">
                <a:solidFill>
                  <a:srgbClr val="858A97"/>
                </a:solidFill>
                <a:latin typeface="Helvetica Neue Light"/>
                <a:cs typeface="Helvetica Neue Light"/>
              </a:rPr>
              <a:t>Wizard · step 2</a:t>
            </a:r>
          </a:p>
        </p:txBody>
      </p:sp>
      <p:pic>
        <p:nvPicPr>
          <p:cNvPr id="110" name="Hi-fi screen"/>
          <p:cNvPicPr>
            <a:picLocks noChangeAspect="1"/>
          </p:cNvPicPr>
          <p:nvPr/>
        </p:nvPicPr>
        <p:blipFill>
          <a:blip r:embed="rId5"/>
          <a:srcRect b="18921"/>
          <a:stretch>
            <a:fillRect/>
          </a:stretch>
        </p:blipFill>
        <p:spPr>
          <a:xfrm>
            <a:off x="7737043" y="2240280"/>
            <a:ext cx="2140102" cy="1337563"/>
          </a:xfrm>
          <a:prstGeom prst="rect">
            <a:avLst/>
          </a:prstGeom>
          <a:ln w="9525">
            <a:solidFill>
              <a:srgbClr val="D3D6DC"/>
            </a:solidFill>
          </a:ln>
        </p:spPr>
      </p:pic>
      <p:sp>
        <p:nvSpPr>
          <p:cNvPr id="111" name="Cap 4"/>
          <p:cNvSpPr txBox="1"/>
          <p:nvPr/>
        </p:nvSpPr>
        <p:spPr>
          <a:xfrm>
            <a:off x="7737043" y="363270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04  </a:t>
            </a:r>
            <a:r>
              <a:rPr lang="en-US" sz="1050" spc="0" dirty="0">
                <a:solidFill>
                  <a:srgbClr val="14161D"/>
                </a:solidFill>
                <a:latin typeface="Helvetica Neue Medium"/>
                <a:cs typeface="Helvetica Neue Medium"/>
              </a:rPr>
              <a:t>Dates set</a:t>
            </a:r>
          </a:p>
          <a:p>
            <a:pPr algn="l">
              <a:lnSpc>
                <a:spcPct val="100000"/>
              </a:lnSpc>
              <a:spcAft>
                <a:spcPts val="0"/>
              </a:spcAft>
            </a:pPr>
            <a:r>
              <a:rPr lang="en-US" sz="950" spc="0" dirty="0">
                <a:solidFill>
                  <a:srgbClr val="858A97"/>
                </a:solidFill>
                <a:latin typeface="Helvetica Neue Light"/>
                <a:cs typeface="Helvetica Neue Light"/>
              </a:rPr>
              <a:t>Wizard · step 2</a:t>
            </a:r>
          </a:p>
        </p:txBody>
      </p:sp>
      <p:pic>
        <p:nvPicPr>
          <p:cNvPr id="112" name="Hi-fi screen"/>
          <p:cNvPicPr>
            <a:picLocks noChangeAspect="1"/>
          </p:cNvPicPr>
          <p:nvPr/>
        </p:nvPicPr>
        <p:blipFill>
          <a:blip r:embed="rId6"/>
          <a:srcRect b="18921"/>
          <a:stretch>
            <a:fillRect/>
          </a:stretch>
        </p:blipFill>
        <p:spPr>
          <a:xfrm>
            <a:off x="10041737" y="2240280"/>
            <a:ext cx="2140102" cy="1337563"/>
          </a:xfrm>
          <a:prstGeom prst="rect">
            <a:avLst/>
          </a:prstGeom>
          <a:ln w="9525">
            <a:solidFill>
              <a:srgbClr val="D3D6DC"/>
            </a:solidFill>
          </a:ln>
        </p:spPr>
      </p:pic>
      <p:sp>
        <p:nvSpPr>
          <p:cNvPr id="113" name="Cap 5"/>
          <p:cNvSpPr txBox="1"/>
          <p:nvPr/>
        </p:nvSpPr>
        <p:spPr>
          <a:xfrm>
            <a:off x="10041737" y="3632708"/>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05  </a:t>
            </a:r>
            <a:r>
              <a:rPr lang="en-US" sz="1050" spc="0" dirty="0">
                <a:solidFill>
                  <a:srgbClr val="14161D"/>
                </a:solidFill>
                <a:latin typeface="Helvetica Neue Medium"/>
                <a:cs typeface="Helvetica Neue Medium"/>
              </a:rPr>
              <a:t>Allocations</a:t>
            </a:r>
          </a:p>
          <a:p>
            <a:pPr algn="l">
              <a:lnSpc>
                <a:spcPct val="100000"/>
              </a:lnSpc>
              <a:spcAft>
                <a:spcPts val="0"/>
              </a:spcAft>
            </a:pPr>
            <a:r>
              <a:rPr lang="en-US" sz="950" spc="0" dirty="0">
                <a:solidFill>
                  <a:srgbClr val="858A97"/>
                </a:solidFill>
                <a:latin typeface="Helvetica Neue Light"/>
                <a:cs typeface="Helvetica Neue Light"/>
              </a:rPr>
              <a:t>Wizard · step 3</a:t>
            </a:r>
          </a:p>
        </p:txBody>
      </p:sp>
      <p:pic>
        <p:nvPicPr>
          <p:cNvPr id="114" name="Hi-fi screen"/>
          <p:cNvPicPr>
            <a:picLocks noChangeAspect="1"/>
          </p:cNvPicPr>
          <p:nvPr/>
        </p:nvPicPr>
        <p:blipFill>
          <a:blip r:embed="rId7"/>
          <a:srcRect b="18921"/>
          <a:stretch>
            <a:fillRect/>
          </a:stretch>
        </p:blipFill>
        <p:spPr>
          <a:xfrm>
            <a:off x="822960" y="4144772"/>
            <a:ext cx="2140102" cy="1337563"/>
          </a:xfrm>
          <a:prstGeom prst="rect">
            <a:avLst/>
          </a:prstGeom>
          <a:ln w="9525">
            <a:solidFill>
              <a:srgbClr val="D3D6DC"/>
            </a:solidFill>
          </a:ln>
        </p:spPr>
      </p:pic>
      <p:sp>
        <p:nvSpPr>
          <p:cNvPr id="115" name="Cap 6"/>
          <p:cNvSpPr txBox="1"/>
          <p:nvPr/>
        </p:nvSpPr>
        <p:spPr>
          <a:xfrm>
            <a:off x="822960" y="553720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06  </a:t>
            </a:r>
            <a:r>
              <a:rPr lang="en-US" sz="1050" spc="0" dirty="0">
                <a:solidFill>
                  <a:srgbClr val="14161D"/>
                </a:solidFill>
                <a:latin typeface="Helvetica Neue Medium"/>
                <a:cs typeface="Helvetica Neue Medium"/>
              </a:rPr>
              <a:t>Shift and watch the gauge</a:t>
            </a:r>
          </a:p>
          <a:p>
            <a:pPr algn="l">
              <a:lnSpc>
                <a:spcPct val="100000"/>
              </a:lnSpc>
              <a:spcAft>
                <a:spcPts val="0"/>
              </a:spcAft>
            </a:pPr>
            <a:r>
              <a:rPr lang="en-US" sz="950" spc="0" dirty="0">
                <a:solidFill>
                  <a:srgbClr val="858A97"/>
                </a:solidFill>
                <a:latin typeface="Helvetica Neue Light"/>
                <a:cs typeface="Helvetica Neue Light"/>
              </a:rPr>
              <a:t>Wizard · step 3</a:t>
            </a:r>
          </a:p>
        </p:txBody>
      </p:sp>
      <p:pic>
        <p:nvPicPr>
          <p:cNvPr id="116" name="Hi-fi screen"/>
          <p:cNvPicPr>
            <a:picLocks noChangeAspect="1"/>
          </p:cNvPicPr>
          <p:nvPr/>
        </p:nvPicPr>
        <p:blipFill>
          <a:blip r:embed="rId8"/>
          <a:srcRect b="18921"/>
          <a:stretch>
            <a:fillRect/>
          </a:stretch>
        </p:blipFill>
        <p:spPr>
          <a:xfrm>
            <a:off x="3127654" y="4144772"/>
            <a:ext cx="2140102" cy="1337563"/>
          </a:xfrm>
          <a:prstGeom prst="rect">
            <a:avLst/>
          </a:prstGeom>
          <a:ln w="9525">
            <a:solidFill>
              <a:srgbClr val="D3D6DC"/>
            </a:solidFill>
          </a:ln>
        </p:spPr>
      </p:pic>
      <p:sp>
        <p:nvSpPr>
          <p:cNvPr id="117" name="Cap 7"/>
          <p:cNvSpPr txBox="1"/>
          <p:nvPr/>
        </p:nvSpPr>
        <p:spPr>
          <a:xfrm>
            <a:off x="3127654" y="553720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07  </a:t>
            </a:r>
            <a:r>
              <a:rPr lang="en-US" sz="1050" spc="0" dirty="0">
                <a:solidFill>
                  <a:srgbClr val="14161D"/>
                </a:solidFill>
                <a:latin typeface="Helvetica Neue Medium"/>
                <a:cs typeface="Helvetica Neue Medium"/>
              </a:rPr>
              <a:t>ROI projection</a:t>
            </a:r>
          </a:p>
          <a:p>
            <a:pPr algn="l">
              <a:lnSpc>
                <a:spcPct val="100000"/>
              </a:lnSpc>
              <a:spcAft>
                <a:spcPts val="0"/>
              </a:spcAft>
            </a:pPr>
            <a:r>
              <a:rPr lang="en-US" sz="950" spc="0" dirty="0">
                <a:solidFill>
                  <a:srgbClr val="858A97"/>
                </a:solidFill>
                <a:latin typeface="Helvetica Neue Light"/>
                <a:cs typeface="Helvetica Neue Light"/>
              </a:rPr>
              <a:t>Results</a:t>
            </a:r>
          </a:p>
        </p:txBody>
      </p:sp>
      <p:pic>
        <p:nvPicPr>
          <p:cNvPr id="118" name="Hi-fi screen"/>
          <p:cNvPicPr>
            <a:picLocks noChangeAspect="1"/>
          </p:cNvPicPr>
          <p:nvPr/>
        </p:nvPicPr>
        <p:blipFill>
          <a:blip r:embed="rId9"/>
          <a:srcRect b="18921"/>
          <a:stretch>
            <a:fillRect/>
          </a:stretch>
        </p:blipFill>
        <p:spPr>
          <a:xfrm>
            <a:off x="5432348" y="4144772"/>
            <a:ext cx="2140102" cy="1337563"/>
          </a:xfrm>
          <a:prstGeom prst="rect">
            <a:avLst/>
          </a:prstGeom>
          <a:ln w="9525">
            <a:solidFill>
              <a:srgbClr val="D3D6DC"/>
            </a:solidFill>
          </a:ln>
        </p:spPr>
      </p:pic>
      <p:sp>
        <p:nvSpPr>
          <p:cNvPr id="119" name="Cap 8"/>
          <p:cNvSpPr txBox="1"/>
          <p:nvPr/>
        </p:nvSpPr>
        <p:spPr>
          <a:xfrm>
            <a:off x="5432348" y="553720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08  </a:t>
            </a:r>
            <a:r>
              <a:rPr lang="en-US" sz="1050" spc="0" dirty="0">
                <a:solidFill>
                  <a:srgbClr val="14161D"/>
                </a:solidFill>
                <a:latin typeface="Helvetica Neue Medium"/>
                <a:cs typeface="Helvetica Neue Medium"/>
              </a:rPr>
              <a:t>Scenario workspace</a:t>
            </a:r>
          </a:p>
          <a:p>
            <a:pPr algn="l">
              <a:lnSpc>
                <a:spcPct val="100000"/>
              </a:lnSpc>
              <a:spcAft>
                <a:spcPts val="0"/>
              </a:spcAft>
            </a:pPr>
            <a:r>
              <a:rPr lang="en-US" sz="950" spc="0" dirty="0">
                <a:solidFill>
                  <a:srgbClr val="858A97"/>
                </a:solidFill>
                <a:latin typeface="Helvetica Neue Light"/>
                <a:cs typeface="Helvetica Neue Light"/>
              </a:rPr>
              <a:t>Scenarios</a:t>
            </a:r>
          </a:p>
        </p:txBody>
      </p:sp>
      <p:pic>
        <p:nvPicPr>
          <p:cNvPr id="120" name="Hi-fi screen"/>
          <p:cNvPicPr>
            <a:picLocks noChangeAspect="1"/>
          </p:cNvPicPr>
          <p:nvPr/>
        </p:nvPicPr>
        <p:blipFill>
          <a:blip r:embed="rId10"/>
          <a:srcRect b="18921"/>
          <a:stretch>
            <a:fillRect/>
          </a:stretch>
        </p:blipFill>
        <p:spPr>
          <a:xfrm>
            <a:off x="7737043" y="4144772"/>
            <a:ext cx="2140102" cy="1337563"/>
          </a:xfrm>
          <a:prstGeom prst="rect">
            <a:avLst/>
          </a:prstGeom>
          <a:ln w="9525">
            <a:solidFill>
              <a:srgbClr val="D3D6DC"/>
            </a:solidFill>
          </a:ln>
        </p:spPr>
      </p:pic>
      <p:sp>
        <p:nvSpPr>
          <p:cNvPr id="121" name="Cap 9"/>
          <p:cNvSpPr txBox="1"/>
          <p:nvPr/>
        </p:nvSpPr>
        <p:spPr>
          <a:xfrm>
            <a:off x="7737043" y="553720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09  </a:t>
            </a:r>
            <a:r>
              <a:rPr lang="en-US" sz="1050" spc="0" dirty="0">
                <a:solidFill>
                  <a:srgbClr val="14161D"/>
                </a:solidFill>
                <a:latin typeface="Helvetica Neue Medium"/>
                <a:cs typeface="Helvetica Neue Medium"/>
              </a:rPr>
              <a:t>Second scenario</a:t>
            </a:r>
          </a:p>
          <a:p>
            <a:pPr algn="l">
              <a:lnSpc>
                <a:spcPct val="100000"/>
              </a:lnSpc>
              <a:spcAft>
                <a:spcPts val="0"/>
              </a:spcAft>
            </a:pPr>
            <a:r>
              <a:rPr lang="en-US" sz="950" spc="0" dirty="0">
                <a:solidFill>
                  <a:srgbClr val="858A97"/>
                </a:solidFill>
                <a:latin typeface="Helvetica Neue Light"/>
                <a:cs typeface="Helvetica Neue Light"/>
              </a:rPr>
              <a:t>Scenarios</a:t>
            </a:r>
          </a:p>
        </p:txBody>
      </p:sp>
      <p:pic>
        <p:nvPicPr>
          <p:cNvPr id="122" name="Hi-fi screen"/>
          <p:cNvPicPr>
            <a:picLocks noChangeAspect="1"/>
          </p:cNvPicPr>
          <p:nvPr/>
        </p:nvPicPr>
        <p:blipFill>
          <a:blip r:embed="rId11"/>
          <a:srcRect b="18921"/>
          <a:stretch>
            <a:fillRect/>
          </a:stretch>
        </p:blipFill>
        <p:spPr>
          <a:xfrm>
            <a:off x="10041737" y="4144772"/>
            <a:ext cx="2140102" cy="1337563"/>
          </a:xfrm>
          <a:prstGeom prst="rect">
            <a:avLst/>
          </a:prstGeom>
          <a:ln w="9525">
            <a:solidFill>
              <a:srgbClr val="D3D6DC"/>
            </a:solidFill>
          </a:ln>
        </p:spPr>
      </p:pic>
      <p:sp>
        <p:nvSpPr>
          <p:cNvPr id="123" name="Cap 10"/>
          <p:cNvSpPr txBox="1"/>
          <p:nvPr/>
        </p:nvSpPr>
        <p:spPr>
          <a:xfrm>
            <a:off x="10041737" y="5537200"/>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10  </a:t>
            </a:r>
            <a:r>
              <a:rPr lang="en-US" sz="1050" spc="0" dirty="0">
                <a:solidFill>
                  <a:srgbClr val="14161D"/>
                </a:solidFill>
                <a:latin typeface="Helvetica Neue Medium"/>
                <a:cs typeface="Helvetica Neue Medium"/>
              </a:rPr>
              <a:t>Optimized, still editable</a:t>
            </a:r>
          </a:p>
          <a:p>
            <a:pPr algn="l">
              <a:lnSpc>
                <a:spcPct val="100000"/>
              </a:lnSpc>
              <a:spcAft>
                <a:spcPts val="0"/>
              </a:spcAft>
            </a:pPr>
            <a:r>
              <a:rPr lang="en-US" sz="950" spc="0" dirty="0">
                <a:solidFill>
                  <a:srgbClr val="858A97"/>
                </a:solidFill>
                <a:latin typeface="Helvetica Neue Light"/>
                <a:cs typeface="Helvetica Neue Light"/>
              </a:rPr>
              <a:t>Scenarios</a:t>
            </a:r>
          </a:p>
        </p:txBody>
      </p:sp>
      <p:pic>
        <p:nvPicPr>
          <p:cNvPr id="124" name="Hi-fi screen"/>
          <p:cNvPicPr>
            <a:picLocks noChangeAspect="1"/>
          </p:cNvPicPr>
          <p:nvPr/>
        </p:nvPicPr>
        <p:blipFill>
          <a:blip r:embed="rId12"/>
          <a:srcRect b="18921"/>
          <a:stretch>
            <a:fillRect/>
          </a:stretch>
        </p:blipFill>
        <p:spPr>
          <a:xfrm>
            <a:off x="822960" y="6049264"/>
            <a:ext cx="2140102" cy="1337563"/>
          </a:xfrm>
          <a:prstGeom prst="rect">
            <a:avLst/>
          </a:prstGeom>
          <a:ln w="9525">
            <a:solidFill>
              <a:srgbClr val="D3D6DC"/>
            </a:solidFill>
          </a:ln>
        </p:spPr>
      </p:pic>
      <p:sp>
        <p:nvSpPr>
          <p:cNvPr id="125" name="Cap 11"/>
          <p:cNvSpPr txBox="1"/>
          <p:nvPr/>
        </p:nvSpPr>
        <p:spPr>
          <a:xfrm>
            <a:off x="822960" y="7441692"/>
            <a:ext cx="2140102" cy="457200"/>
          </a:xfrm>
          <a:prstGeom prst="rect">
            <a:avLst/>
          </a:prstGeom>
          <a:noFill/>
        </p:spPr>
        <p:txBody>
          <a:bodyPr wrap="square" lIns="0" tIns="0" rIns="0" bIns="0" anchor="t">
            <a:noAutofit/>
          </a:bodyPr>
          <a:lstStyle/>
          <a:p>
            <a:pPr algn="l">
              <a:lnSpc>
                <a:spcPct val="100000"/>
              </a:lnSpc>
              <a:spcAft>
                <a:spcPts val="0"/>
              </a:spcAft>
            </a:pPr>
            <a:r>
              <a:rPr lang="en-US" sz="1050" spc="0" dirty="0">
                <a:solidFill>
                  <a:srgbClr val="B5531F"/>
                </a:solidFill>
                <a:latin typeface="Helvetica Neue Medium"/>
                <a:cs typeface="Helvetica Neue Medium"/>
              </a:rPr>
              <a:t>11  </a:t>
            </a:r>
            <a:r>
              <a:rPr lang="en-US" sz="1050" spc="0" dirty="0">
                <a:solidFill>
                  <a:srgbClr val="14161D"/>
                </a:solidFill>
                <a:latin typeface="Helvetica Neue Medium"/>
                <a:cs typeface="Helvetica Neue Medium"/>
              </a:rPr>
              <a:t>Compare all three</a:t>
            </a:r>
          </a:p>
          <a:p>
            <a:pPr algn="l">
              <a:lnSpc>
                <a:spcPct val="100000"/>
              </a:lnSpc>
              <a:spcAft>
                <a:spcPts val="0"/>
              </a:spcAft>
            </a:pPr>
            <a:r>
              <a:rPr lang="en-US" sz="950" spc="0" dirty="0">
                <a:solidFill>
                  <a:srgbClr val="858A97"/>
                </a:solidFill>
                <a:latin typeface="Helvetica Neue Light"/>
                <a:cs typeface="Helvetica Neue Light"/>
              </a:rPr>
              <a:t>Comparison</a:t>
            </a:r>
          </a:p>
        </p:txBody>
      </p:sp>
      <p:cxnSp>
        <p:nvCxnSpPr>
          <p:cNvPr id="126" name="Divider"/>
          <p:cNvCxnSpPr/>
          <p:nvPr/>
        </p:nvCxnSpPr>
        <p:spPr>
          <a:xfrm>
            <a:off x="3127654" y="6049264"/>
            <a:ext cx="2140102" cy="0"/>
          </a:xfrm>
          <a:prstGeom prst="line">
            <a:avLst/>
          </a:prstGeom>
          <a:ln w="28575">
            <a:solidFill>
              <a:srgbClr val="B5531F"/>
            </a:solidFill>
          </a:ln>
        </p:spPr>
      </p:cxnSp>
      <p:sp>
        <p:nvSpPr>
          <p:cNvPr id="127" name="Prototype tile">
            <a:hlinkClick r:id="rId13"/>
          </p:cNvPr>
          <p:cNvSpPr txBox="1"/>
          <p:nvPr/>
        </p:nvSpPr>
        <p:spPr>
          <a:xfrm>
            <a:off x="3127654" y="6186424"/>
            <a:ext cx="2140102" cy="1337563"/>
          </a:xfrm>
          <a:prstGeom prst="rect">
            <a:avLst/>
          </a:prstGeom>
          <a:noFill/>
        </p:spPr>
        <p:txBody>
          <a:bodyPr wrap="square" lIns="0" tIns="0" rIns="0" bIns="0" anchor="t">
            <a:noAutofit/>
          </a:bodyPr>
          <a:lstStyle/>
          <a:p>
            <a:pPr algn="l">
              <a:lnSpc>
                <a:spcPct val="115000"/>
              </a:lnSpc>
              <a:spcAft>
                <a:spcPts val="300"/>
              </a:spcAft>
            </a:pPr>
            <a:r>
              <a:rPr lang="en-US" sz="1100" spc="200" dirty="0">
                <a:solidFill>
                  <a:srgbClr val="B5531F"/>
                </a:solidFill>
                <a:latin typeface="Helvetica Neue Medium"/>
                <a:cs typeface="Helvetica Neue Medium"/>
              </a:rPr>
              <a:t>TRY IT</a:t>
            </a:r>
          </a:p>
          <a:p>
            <a:pPr algn="l">
              <a:lnSpc>
                <a:spcPct val="115000"/>
              </a:lnSpc>
              <a:spcAft>
                <a:spcPts val="300"/>
              </a:spcAft>
            </a:pPr>
            <a:r>
              <a:rPr lang="en-US" sz="1400" u="sng" spc="0" dirty="0">
                <a:solidFill>
                  <a:srgbClr val="B5531F"/>
                </a:solidFill>
                <a:latin typeface="Helvetica Neue Medium"/>
                <a:cs typeface="Helvetica Neue Medium"/>
              </a:rPr>
              <a:t>Open the prototype →</a:t>
            </a:r>
          </a:p>
          <a:p>
            <a:pPr algn="l">
              <a:lnSpc>
                <a:spcPct val="115000"/>
              </a:lnSpc>
              <a:spcAft>
                <a:spcPts val="300"/>
              </a:spcAft>
            </a:pPr>
            <a:r>
              <a:rPr lang="en-US" sz="1050" spc="0" dirty="0">
                <a:solidFill>
                  <a:srgbClr val="858A97"/>
                </a:solidFill>
                <a:latin typeface="Helvetica Neue Light"/>
                <a:cs typeface="Helvetica Neue Light"/>
              </a:rPr>
              <a:t>Starts at the import step</a:t>
            </a:r>
          </a:p>
        </p:txBody>
      </p:sp>
      <p:pic>
        <p:nvPicPr>
          <p:cNvPr id="128" name="gradient strip" descr="gradient strip"/>
          <p:cNvPicPr>
            <a:picLocks noChangeAspect="1"/>
          </p:cNvPicPr>
          <p:nvPr/>
        </p:nvPicPr>
        <p:blipFill>
          <a:blip r:embed="rId14"/>
          <a:stretch>
            <a:fillRect/>
          </a:stretch>
        </p:blipFill>
        <p:spPr>
          <a:xfrm>
            <a:off x="0" y="9285427"/>
            <a:ext cx="13004800" cy="468173"/>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AMEX MOCA · KEY CALLS</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14161D"/>
                </a:solidFill>
                <a:latin typeface="Helvetica Neue Medium"/>
                <a:cs typeface="Helvetica Neue Medium"/>
              </a:rPr>
              <a:t>Four calls that shaped </a:t>
            </a:r>
            <a:r>
              <a:rPr lang="en-US" sz="4400" spc="-40" dirty="0">
                <a:solidFill>
                  <a:srgbClr val="B5531F"/>
                </a:solidFill>
                <a:latin typeface="Helvetica Neue Medium"/>
                <a:cs typeface="Helvetica Neue Medium"/>
              </a:rPr>
              <a:t>MOCA</a:t>
            </a:r>
            <a:r>
              <a:rPr lang="en-US" sz="4400" spc="-40" dirty="0">
                <a:solidFill>
                  <a:srgbClr val="14161D"/>
                </a:solidFill>
                <a:latin typeface="Helvetica Neue Medium"/>
                <a:cs typeface="Helvetica Neue Medium"/>
              </a:rPr>
              <a:t>.</a:t>
            </a:r>
          </a:p>
        </p:txBody>
      </p:sp>
      <p:cxnSp>
        <p:nvCxnSpPr>
          <p:cNvPr id="103" name="Divider"/>
          <p:cNvCxnSpPr/>
          <p:nvPr/>
        </p:nvCxnSpPr>
        <p:spPr>
          <a:xfrm>
            <a:off x="822960" y="3566160"/>
            <a:ext cx="5427980" cy="0"/>
          </a:xfrm>
          <a:prstGeom prst="line">
            <a:avLst/>
          </a:prstGeom>
          <a:ln w="9525">
            <a:solidFill>
              <a:srgbClr val="E1E3E8"/>
            </a:solidFill>
          </a:ln>
        </p:spPr>
      </p:cxnSp>
      <p:sp>
        <p:nvSpPr>
          <p:cNvPr id="104" name="A wizard, because use is rare title"/>
          <p:cNvSpPr txBox="1"/>
          <p:nvPr/>
        </p:nvSpPr>
        <p:spPr>
          <a:xfrm>
            <a:off x="8229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A wizard, because use is rare</a:t>
            </a:r>
          </a:p>
        </p:txBody>
      </p:sp>
      <p:sp>
        <p:nvSpPr>
          <p:cNvPr id="105" name="A wizard, because use is rare body"/>
          <p:cNvSpPr txBox="1"/>
          <p:nvPr/>
        </p:nvSpPr>
        <p:spPr>
          <a:xfrm>
            <a:off x="8229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Partners plan once every 6–12 months, so a guided wizard walks them through each parameter.</a:t>
            </a:r>
          </a:p>
        </p:txBody>
      </p:sp>
      <p:cxnSp>
        <p:nvCxnSpPr>
          <p:cNvPr id="106" name="Divider"/>
          <p:cNvCxnSpPr/>
          <p:nvPr/>
        </p:nvCxnSpPr>
        <p:spPr>
          <a:xfrm>
            <a:off x="6753860" y="3566160"/>
            <a:ext cx="5427980" cy="0"/>
          </a:xfrm>
          <a:prstGeom prst="line">
            <a:avLst/>
          </a:prstGeom>
          <a:ln w="9525">
            <a:solidFill>
              <a:srgbClr val="E1E3E8"/>
            </a:solidFill>
          </a:ln>
        </p:spPr>
      </p:cxnSp>
      <p:sp>
        <p:nvSpPr>
          <p:cNvPr id="107" name="Start from last year’s budget title"/>
          <p:cNvSpPr txBox="1"/>
          <p:nvPr/>
        </p:nvSpPr>
        <p:spPr>
          <a:xfrm>
            <a:off x="6753860" y="376732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Start from last year’s budget</a:t>
            </a:r>
          </a:p>
        </p:txBody>
      </p:sp>
      <p:sp>
        <p:nvSpPr>
          <p:cNvPr id="108" name="Start from last year’s budget body"/>
          <p:cNvSpPr txBox="1"/>
          <p:nvPr/>
        </p:nvSpPr>
        <p:spPr>
          <a:xfrm>
            <a:off x="6753860" y="434340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Users import a budget and duplicate it as the template for the next one.</a:t>
            </a:r>
          </a:p>
        </p:txBody>
      </p:sp>
      <p:cxnSp>
        <p:nvCxnSpPr>
          <p:cNvPr id="109" name="Divider"/>
          <p:cNvCxnSpPr/>
          <p:nvPr/>
        </p:nvCxnSpPr>
        <p:spPr>
          <a:xfrm>
            <a:off x="822960" y="5806440"/>
            <a:ext cx="5427980" cy="0"/>
          </a:xfrm>
          <a:prstGeom prst="line">
            <a:avLst/>
          </a:prstGeom>
          <a:ln w="9525">
            <a:solidFill>
              <a:srgbClr val="E1E3E8"/>
            </a:solidFill>
          </a:ln>
        </p:spPr>
      </p:cxnSp>
      <p:sp>
        <p:nvSpPr>
          <p:cNvPr id="110" name="Allocate down to channel and product title"/>
          <p:cNvSpPr txBox="1"/>
          <p:nvPr/>
        </p:nvSpPr>
        <p:spPr>
          <a:xfrm>
            <a:off x="8229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Allocate down to channel and product</a:t>
            </a:r>
          </a:p>
        </p:txBody>
      </p:sp>
      <p:sp>
        <p:nvSpPr>
          <p:cNvPr id="111" name="Allocate down to channel and product body"/>
          <p:cNvSpPr txBox="1"/>
          <p:nvPr/>
        </p:nvSpPr>
        <p:spPr>
          <a:xfrm>
            <a:off x="8229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Allocations go down to product line or channel, so partners see which part of the budget works.</a:t>
            </a:r>
          </a:p>
        </p:txBody>
      </p:sp>
      <p:cxnSp>
        <p:nvCxnSpPr>
          <p:cNvPr id="112" name="Divider"/>
          <p:cNvCxnSpPr/>
          <p:nvPr/>
        </p:nvCxnSpPr>
        <p:spPr>
          <a:xfrm>
            <a:off x="6753860" y="5806440"/>
            <a:ext cx="5427980" cy="0"/>
          </a:xfrm>
          <a:prstGeom prst="line">
            <a:avLst/>
          </a:prstGeom>
          <a:ln w="9525">
            <a:solidFill>
              <a:srgbClr val="E1E3E8"/>
            </a:solidFill>
          </a:ln>
        </p:spPr>
      </p:cxnSp>
      <p:sp>
        <p:nvSpPr>
          <p:cNvPr id="113" name="Compare scenarios side by side title"/>
          <p:cNvSpPr txBox="1"/>
          <p:nvPr/>
        </p:nvSpPr>
        <p:spPr>
          <a:xfrm>
            <a:off x="6753860" y="6007608"/>
            <a:ext cx="5427980" cy="548640"/>
          </a:xfrm>
          <a:prstGeom prst="rect">
            <a:avLst/>
          </a:prstGeom>
          <a:noFill/>
        </p:spPr>
        <p:txBody>
          <a:bodyPr wrap="square" lIns="0" tIns="0" rIns="0" bIns="0" anchor="t">
            <a:noAutofit/>
          </a:bodyPr>
          <a:lstStyle/>
          <a:p>
            <a:pPr algn="l">
              <a:lnSpc>
                <a:spcPct val="115000"/>
              </a:lnSpc>
              <a:spcAft>
                <a:spcPts val="300"/>
              </a:spcAft>
            </a:pPr>
            <a:r>
              <a:rPr lang="en-US" sz="2300" spc="0" dirty="0">
                <a:solidFill>
                  <a:srgbClr val="14161D"/>
                </a:solidFill>
                <a:latin typeface="Helvetica Neue Medium"/>
                <a:cs typeface="Helvetica Neue Medium"/>
              </a:rPr>
              <a:t>Compare scenarios side by side</a:t>
            </a:r>
          </a:p>
        </p:txBody>
      </p:sp>
      <p:sp>
        <p:nvSpPr>
          <p:cNvPr id="114" name="Compare scenarios side by side body"/>
          <p:cNvSpPr txBox="1"/>
          <p:nvPr/>
        </p:nvSpPr>
        <p:spPr>
          <a:xfrm>
            <a:off x="6753860" y="6583680"/>
            <a:ext cx="5427980" cy="141732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565C6B"/>
                </a:solidFill>
                <a:latin typeface="Helvetica Neue Light"/>
                <a:cs typeface="Helvetica Neue Light"/>
              </a:rPr>
              <a:t>Scenarios are compared visually with switchable chart types; testers called the channel breakdown a game changer.</a:t>
            </a:r>
          </a:p>
        </p:txBody>
      </p:sp>
      <p:pic>
        <p:nvPicPr>
          <p:cNvPr id="115"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AMEX MOCA · RESULTS</a:t>
            </a:r>
          </a:p>
        </p:txBody>
      </p:sp>
      <p:sp>
        <p:nvSpPr>
          <p:cNvPr id="102" name="Headline"/>
          <p:cNvSpPr txBox="1"/>
          <p:nvPr/>
        </p:nvSpPr>
        <p:spPr>
          <a:xfrm>
            <a:off x="822960" y="1371600"/>
            <a:ext cx="11358880" cy="1280160"/>
          </a:xfrm>
          <a:prstGeom prst="rect">
            <a:avLst/>
          </a:prstGeom>
          <a:noFill/>
        </p:spPr>
        <p:txBody>
          <a:bodyPr wrap="square" lIns="0" tIns="0" rIns="0" bIns="0" anchor="t">
            <a:noAutofit/>
          </a:bodyPr>
          <a:lstStyle/>
          <a:p>
            <a:pPr algn="l">
              <a:lnSpc>
                <a:spcPct val="95000"/>
              </a:lnSpc>
              <a:spcAft>
                <a:spcPts val="300"/>
              </a:spcAft>
            </a:pPr>
            <a:r>
              <a:rPr lang="en-US" sz="4000" spc="-40" dirty="0">
                <a:solidFill>
                  <a:srgbClr val="F5F5F7"/>
                </a:solidFill>
                <a:latin typeface="Helvetica Neue Medium"/>
                <a:cs typeface="Helvetica Neue Medium"/>
              </a:rPr>
              <a:t>Partner approval rose from 58% to </a:t>
            </a:r>
            <a:r>
              <a:rPr lang="en-US" sz="4000" spc="-40" dirty="0">
                <a:solidFill>
                  <a:srgbClr val="E98C64"/>
                </a:solidFill>
                <a:latin typeface="Helvetica Neue Medium"/>
                <a:cs typeface="Helvetica Neue Medium"/>
              </a:rPr>
              <a:t>88%</a:t>
            </a:r>
            <a:r>
              <a:rPr lang="en-US" sz="4000" spc="-40" dirty="0">
                <a:solidFill>
                  <a:srgbClr val="F5F5F7"/>
                </a:solidFill>
                <a:latin typeface="Helvetica Neue Medium"/>
                <a:cs typeface="Helvetica Neue Medium"/>
              </a:rPr>
              <a:t>, and budgets grew.</a:t>
            </a:r>
          </a:p>
        </p:txBody>
      </p:sp>
      <p:sp>
        <p:nvSpPr>
          <p:cNvPr id="3042" name="Tile"/>
          <p:cNvSpPr/>
          <p:nvPr/>
        </p:nvSpPr>
        <p:spPr>
          <a:xfrm>
            <a:off x="822960" y="3063240"/>
            <a:ext cx="4937760" cy="5166360"/>
          </a:xfrm>
          <a:prstGeom prst="roundRect">
            <a:avLst>
              <a:gd name="adj" fmla="val 2592"/>
            </a:avLst>
          </a:prstGeom>
          <a:solidFill>
            <a:srgbClr val="B5531F"/>
          </a:solidFill>
          <a:ln>
            <a:noFill/>
          </a:ln>
        </p:spPr>
        <p:txBody>
          <a:bodyPr/>
          <a:lstStyle/>
          <a:p>
            <a:endParaRPr lang="en-US"/>
          </a:p>
        </p:txBody>
      </p:sp>
      <p:sp>
        <p:nvSpPr>
          <p:cNvPr id="103" name="Number"/>
          <p:cNvSpPr txBox="1"/>
          <p:nvPr/>
        </p:nvSpPr>
        <p:spPr>
          <a:xfrm>
            <a:off x="1097280" y="3264408"/>
            <a:ext cx="4389120" cy="1733550"/>
          </a:xfrm>
          <a:prstGeom prst="rect">
            <a:avLst/>
          </a:prstGeom>
          <a:noFill/>
        </p:spPr>
        <p:txBody>
          <a:bodyPr wrap="square" lIns="0" tIns="0" rIns="0" bIns="0" anchor="t">
            <a:noAutofit/>
          </a:bodyPr>
          <a:lstStyle/>
          <a:p>
            <a:pPr algn="l">
              <a:lnSpc>
                <a:spcPct val="88000"/>
              </a:lnSpc>
              <a:spcAft>
                <a:spcPts val="300"/>
              </a:spcAft>
            </a:pPr>
            <a:r>
              <a:rPr lang="en-US" sz="13000" spc="-60" dirty="0">
                <a:solidFill>
                  <a:srgbClr val="FFFFFF"/>
                </a:solidFill>
                <a:latin typeface="Helvetica Neue Medium"/>
                <a:cs typeface="Helvetica Neue Medium"/>
              </a:rPr>
              <a:t>88%</a:t>
            </a:r>
          </a:p>
        </p:txBody>
      </p:sp>
      <p:sp>
        <p:nvSpPr>
          <p:cNvPr id="104" name="Label"/>
          <p:cNvSpPr txBox="1"/>
          <p:nvPr/>
        </p:nvSpPr>
        <p:spPr>
          <a:xfrm>
            <a:off x="1097280" y="5071110"/>
            <a:ext cx="4389120" cy="914400"/>
          </a:xfrm>
          <a:prstGeom prst="rect">
            <a:avLst/>
          </a:prstGeom>
          <a:noFill/>
        </p:spPr>
        <p:txBody>
          <a:bodyPr wrap="square" lIns="0" tIns="0" rIns="0" bIns="0" anchor="t">
            <a:noAutofit/>
          </a:bodyPr>
          <a:lstStyle/>
          <a:p>
            <a:pPr algn="l">
              <a:lnSpc>
                <a:spcPct val="115000"/>
              </a:lnSpc>
              <a:spcAft>
                <a:spcPts val="300"/>
              </a:spcAft>
            </a:pPr>
            <a:r>
              <a:rPr lang="en-US" sz="1600" spc="0" dirty="0">
                <a:solidFill>
                  <a:srgbClr val="FBE3D8"/>
                </a:solidFill>
                <a:latin typeface="Helvetica Neue Light"/>
                <a:cs typeface="Helvetica Neue Light"/>
              </a:rPr>
              <a:t>approval from internal business partners</a:t>
            </a:r>
          </a:p>
        </p:txBody>
      </p:sp>
      <p:sp>
        <p:nvSpPr>
          <p:cNvPr id="105" name="Bar label"/>
          <p:cNvSpPr txBox="1"/>
          <p:nvPr/>
        </p:nvSpPr>
        <p:spPr>
          <a:xfrm>
            <a:off x="1097280" y="7104888"/>
            <a:ext cx="4389120" cy="201168"/>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FBE3D8"/>
                </a:solidFill>
                <a:latin typeface="Helvetica Neue Light"/>
                <a:cs typeface="Helvetica Neue Light"/>
              </a:rPr>
              <a:t>Before MOCA: 58%</a:t>
            </a:r>
          </a:p>
        </p:txBody>
      </p:sp>
      <p:sp>
        <p:nvSpPr>
          <p:cNvPr id="3043" name="Tile"/>
          <p:cNvSpPr/>
          <p:nvPr/>
        </p:nvSpPr>
        <p:spPr>
          <a:xfrm>
            <a:off x="1097280" y="7324344"/>
            <a:ext cx="4389120" cy="146304"/>
          </a:xfrm>
          <a:prstGeom prst="roundRect">
            <a:avLst>
              <a:gd name="adj" fmla="val 37500"/>
            </a:avLst>
          </a:prstGeom>
          <a:solidFill>
            <a:srgbClr val="FFFFFF">
              <a:alpha val="30000"/>
            </a:srgbClr>
          </a:solidFill>
          <a:ln>
            <a:noFill/>
          </a:ln>
        </p:spPr>
        <p:txBody>
          <a:bodyPr/>
          <a:lstStyle/>
          <a:p>
            <a:endParaRPr lang="en-US"/>
          </a:p>
        </p:txBody>
      </p:sp>
      <p:sp>
        <p:nvSpPr>
          <p:cNvPr id="3044" name="Tile"/>
          <p:cNvSpPr/>
          <p:nvPr/>
        </p:nvSpPr>
        <p:spPr>
          <a:xfrm>
            <a:off x="1097280" y="7324344"/>
            <a:ext cx="2545689" cy="146304"/>
          </a:xfrm>
          <a:prstGeom prst="roundRect">
            <a:avLst>
              <a:gd name="adj" fmla="val 37500"/>
            </a:avLst>
          </a:prstGeom>
          <a:solidFill>
            <a:srgbClr val="FFFFFF">
              <a:alpha val="60000"/>
            </a:srgbClr>
          </a:solidFill>
          <a:ln>
            <a:noFill/>
          </a:ln>
        </p:spPr>
        <p:txBody>
          <a:bodyPr/>
          <a:lstStyle/>
          <a:p>
            <a:endParaRPr lang="en-US"/>
          </a:p>
        </p:txBody>
      </p:sp>
      <p:sp>
        <p:nvSpPr>
          <p:cNvPr id="106" name="Bar label"/>
          <p:cNvSpPr txBox="1"/>
          <p:nvPr/>
        </p:nvSpPr>
        <p:spPr>
          <a:xfrm>
            <a:off x="1097280" y="7488936"/>
            <a:ext cx="4389120" cy="201168"/>
          </a:xfrm>
          <a:prstGeom prst="rect">
            <a:avLst/>
          </a:prstGeom>
          <a:noFill/>
        </p:spPr>
        <p:txBody>
          <a:bodyPr wrap="square" lIns="0" tIns="0" rIns="0" bIns="0" anchor="t">
            <a:noAutofit/>
          </a:bodyPr>
          <a:lstStyle/>
          <a:p>
            <a:pPr algn="l">
              <a:lnSpc>
                <a:spcPct val="115000"/>
              </a:lnSpc>
              <a:spcAft>
                <a:spcPts val="300"/>
              </a:spcAft>
            </a:pPr>
            <a:r>
              <a:rPr lang="en-US" sz="1100" spc="0" dirty="0">
                <a:solidFill>
                  <a:srgbClr val="FFFFFF"/>
                </a:solidFill>
                <a:latin typeface="Helvetica Neue Medium"/>
                <a:cs typeface="Helvetica Neue Medium"/>
              </a:rPr>
              <a:t>After: 88%  (+30 pts)</a:t>
            </a:r>
          </a:p>
        </p:txBody>
      </p:sp>
      <p:sp>
        <p:nvSpPr>
          <p:cNvPr id="3045" name="Tile"/>
          <p:cNvSpPr/>
          <p:nvPr/>
        </p:nvSpPr>
        <p:spPr>
          <a:xfrm>
            <a:off x="1097280" y="7708392"/>
            <a:ext cx="4389120" cy="146304"/>
          </a:xfrm>
          <a:prstGeom prst="roundRect">
            <a:avLst>
              <a:gd name="adj" fmla="val 37500"/>
            </a:avLst>
          </a:prstGeom>
          <a:solidFill>
            <a:srgbClr val="FFFFFF">
              <a:alpha val="30000"/>
            </a:srgbClr>
          </a:solidFill>
          <a:ln>
            <a:noFill/>
          </a:ln>
        </p:spPr>
        <p:txBody>
          <a:bodyPr/>
          <a:lstStyle/>
          <a:p>
            <a:endParaRPr lang="en-US"/>
          </a:p>
        </p:txBody>
      </p:sp>
      <p:sp>
        <p:nvSpPr>
          <p:cNvPr id="3046" name="Tile"/>
          <p:cNvSpPr/>
          <p:nvPr/>
        </p:nvSpPr>
        <p:spPr>
          <a:xfrm>
            <a:off x="1097280" y="7708392"/>
            <a:ext cx="3862425" cy="146304"/>
          </a:xfrm>
          <a:prstGeom prst="roundRect">
            <a:avLst>
              <a:gd name="adj" fmla="val 37500"/>
            </a:avLst>
          </a:prstGeom>
          <a:solidFill>
            <a:srgbClr val="7ACFFF"/>
          </a:solidFill>
          <a:ln>
            <a:noFill/>
          </a:ln>
        </p:spPr>
        <p:txBody>
          <a:bodyPr/>
          <a:lstStyle/>
          <a:p>
            <a:endParaRPr lang="en-US"/>
          </a:p>
        </p:txBody>
      </p:sp>
      <p:sp>
        <p:nvSpPr>
          <p:cNvPr id="3047" name="Tile"/>
          <p:cNvSpPr/>
          <p:nvPr/>
        </p:nvSpPr>
        <p:spPr>
          <a:xfrm>
            <a:off x="5943600" y="3063240"/>
            <a:ext cx="3026664" cy="2491740"/>
          </a:xfrm>
          <a:prstGeom prst="roundRect">
            <a:avLst>
              <a:gd name="adj" fmla="val 5137"/>
            </a:avLst>
          </a:prstGeom>
          <a:solidFill>
            <a:srgbClr val="262A33"/>
          </a:solidFill>
          <a:ln>
            <a:noFill/>
          </a:ln>
        </p:spPr>
        <p:txBody>
          <a:bodyPr/>
          <a:lstStyle/>
          <a:p>
            <a:endParaRPr lang="en-US"/>
          </a:p>
        </p:txBody>
      </p:sp>
      <p:sp>
        <p:nvSpPr>
          <p:cNvPr id="107" name="Number"/>
          <p:cNvSpPr txBox="1"/>
          <p:nvPr/>
        </p:nvSpPr>
        <p:spPr>
          <a:xfrm>
            <a:off x="6217920" y="3264408"/>
            <a:ext cx="2478024" cy="800100"/>
          </a:xfrm>
          <a:prstGeom prst="rect">
            <a:avLst/>
          </a:prstGeom>
          <a:noFill/>
        </p:spPr>
        <p:txBody>
          <a:bodyPr wrap="square" lIns="0" tIns="0" rIns="0" bIns="0" anchor="t">
            <a:noAutofit/>
          </a:bodyPr>
          <a:lstStyle/>
          <a:p>
            <a:pPr algn="l">
              <a:lnSpc>
                <a:spcPct val="88000"/>
              </a:lnSpc>
              <a:spcAft>
                <a:spcPts val="300"/>
              </a:spcAft>
            </a:pPr>
            <a:r>
              <a:rPr lang="en-US" sz="6000" spc="-60" dirty="0">
                <a:solidFill>
                  <a:srgbClr val="F5F5F7"/>
                </a:solidFill>
                <a:latin typeface="Helvetica Neue Medium"/>
                <a:cs typeface="Helvetica Neue Medium"/>
              </a:rPr>
              <a:t>$1.8M</a:t>
            </a:r>
          </a:p>
        </p:txBody>
      </p:sp>
      <p:sp>
        <p:nvSpPr>
          <p:cNvPr id="108" name="Label"/>
          <p:cNvSpPr txBox="1"/>
          <p:nvPr/>
        </p:nvSpPr>
        <p:spPr>
          <a:xfrm>
            <a:off x="6217920" y="4137660"/>
            <a:ext cx="2478024"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average client budget</a:t>
            </a:r>
          </a:p>
        </p:txBody>
      </p:sp>
      <p:sp>
        <p:nvSpPr>
          <p:cNvPr id="109" name="Extra"/>
          <p:cNvSpPr txBox="1"/>
          <p:nvPr/>
        </p:nvSpPr>
        <p:spPr>
          <a:xfrm>
            <a:off x="6217920" y="5006340"/>
            <a:ext cx="2478024" cy="365760"/>
          </a:xfrm>
          <a:prstGeom prst="rect">
            <a:avLst/>
          </a:prstGeom>
          <a:noFill/>
        </p:spPr>
        <p:txBody>
          <a:bodyPr wrap="square" lIns="0" tIns="0" rIns="0" bIns="0" anchor="t">
            <a:noAutofit/>
          </a:bodyPr>
          <a:lstStyle/>
          <a:p>
            <a:pPr algn="l">
              <a:lnSpc>
                <a:spcPct val="115000"/>
              </a:lnSpc>
              <a:spcAft>
                <a:spcPts val="300"/>
              </a:spcAft>
            </a:pPr>
            <a:r>
              <a:rPr lang="en-US" sz="1300" spc="0" dirty="0">
                <a:solidFill>
                  <a:srgbClr val="F5F5F7"/>
                </a:solidFill>
                <a:latin typeface="Helvetica Neue Medium"/>
                <a:cs typeface="Helvetica Neue Medium"/>
              </a:rPr>
              <a:t>Up from $1.34M · +34%</a:t>
            </a:r>
          </a:p>
        </p:txBody>
      </p:sp>
      <p:sp>
        <p:nvSpPr>
          <p:cNvPr id="3048" name="Tile"/>
          <p:cNvSpPr/>
          <p:nvPr/>
        </p:nvSpPr>
        <p:spPr>
          <a:xfrm>
            <a:off x="9153144" y="3063240"/>
            <a:ext cx="3026664" cy="2491740"/>
          </a:xfrm>
          <a:prstGeom prst="roundRect">
            <a:avLst>
              <a:gd name="adj" fmla="val 5137"/>
            </a:avLst>
          </a:prstGeom>
          <a:solidFill>
            <a:srgbClr val="262A33"/>
          </a:solidFill>
          <a:ln>
            <a:noFill/>
          </a:ln>
        </p:spPr>
        <p:txBody>
          <a:bodyPr/>
          <a:lstStyle/>
          <a:p>
            <a:endParaRPr lang="en-US"/>
          </a:p>
        </p:txBody>
      </p:sp>
      <p:sp>
        <p:nvSpPr>
          <p:cNvPr id="110" name="Number"/>
          <p:cNvSpPr txBox="1"/>
          <p:nvPr/>
        </p:nvSpPr>
        <p:spPr>
          <a:xfrm>
            <a:off x="9427464" y="3264408"/>
            <a:ext cx="2478024" cy="800100"/>
          </a:xfrm>
          <a:prstGeom prst="rect">
            <a:avLst/>
          </a:prstGeom>
          <a:noFill/>
        </p:spPr>
        <p:txBody>
          <a:bodyPr wrap="square" lIns="0" tIns="0" rIns="0" bIns="0" anchor="t">
            <a:noAutofit/>
          </a:bodyPr>
          <a:lstStyle/>
          <a:p>
            <a:pPr algn="l">
              <a:lnSpc>
                <a:spcPct val="88000"/>
              </a:lnSpc>
              <a:spcAft>
                <a:spcPts val="300"/>
              </a:spcAft>
            </a:pPr>
            <a:r>
              <a:rPr lang="en-US" sz="6000" spc="-60" dirty="0">
                <a:solidFill>
                  <a:srgbClr val="F5F5F7"/>
                </a:solidFill>
                <a:latin typeface="Helvetica Neue Medium"/>
                <a:cs typeface="Helvetica Neue Medium"/>
              </a:rPr>
              <a:t>3.4%</a:t>
            </a:r>
          </a:p>
        </p:txBody>
      </p:sp>
      <p:sp>
        <p:nvSpPr>
          <p:cNvPr id="111" name="Label"/>
          <p:cNvSpPr txBox="1"/>
          <p:nvPr/>
        </p:nvSpPr>
        <p:spPr>
          <a:xfrm>
            <a:off x="9427464" y="4137660"/>
            <a:ext cx="2478024"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drop-off on the budget process</a:t>
            </a:r>
          </a:p>
        </p:txBody>
      </p:sp>
      <p:sp>
        <p:nvSpPr>
          <p:cNvPr id="112" name="Extra"/>
          <p:cNvSpPr txBox="1"/>
          <p:nvPr/>
        </p:nvSpPr>
        <p:spPr>
          <a:xfrm>
            <a:off x="9427464" y="5006340"/>
            <a:ext cx="2478024" cy="365760"/>
          </a:xfrm>
          <a:prstGeom prst="rect">
            <a:avLst/>
          </a:prstGeom>
          <a:noFill/>
        </p:spPr>
        <p:txBody>
          <a:bodyPr wrap="square" lIns="0" tIns="0" rIns="0" bIns="0" anchor="t">
            <a:noAutofit/>
          </a:bodyPr>
          <a:lstStyle/>
          <a:p>
            <a:pPr algn="l">
              <a:lnSpc>
                <a:spcPct val="115000"/>
              </a:lnSpc>
              <a:spcAft>
                <a:spcPts val="300"/>
              </a:spcAft>
            </a:pPr>
            <a:r>
              <a:rPr lang="en-US" sz="1300" spc="0" dirty="0">
                <a:solidFill>
                  <a:srgbClr val="F5F5F7"/>
                </a:solidFill>
                <a:latin typeface="Helvetica Neue Medium"/>
                <a:cs typeface="Helvetica Neue Medium"/>
              </a:rPr>
              <a:t>Down from 5.4%</a:t>
            </a:r>
          </a:p>
        </p:txBody>
      </p:sp>
      <p:sp>
        <p:nvSpPr>
          <p:cNvPr id="3049" name="Tile"/>
          <p:cNvSpPr/>
          <p:nvPr/>
        </p:nvSpPr>
        <p:spPr>
          <a:xfrm>
            <a:off x="5943600" y="5737860"/>
            <a:ext cx="3026664" cy="2491740"/>
          </a:xfrm>
          <a:prstGeom prst="roundRect">
            <a:avLst>
              <a:gd name="adj" fmla="val 5137"/>
            </a:avLst>
          </a:prstGeom>
          <a:solidFill>
            <a:srgbClr val="262A33"/>
          </a:solidFill>
          <a:ln>
            <a:noFill/>
          </a:ln>
        </p:spPr>
        <p:txBody>
          <a:bodyPr/>
          <a:lstStyle/>
          <a:p>
            <a:endParaRPr lang="en-US"/>
          </a:p>
        </p:txBody>
      </p:sp>
      <p:sp>
        <p:nvSpPr>
          <p:cNvPr id="113" name="Number"/>
          <p:cNvSpPr txBox="1"/>
          <p:nvPr/>
        </p:nvSpPr>
        <p:spPr>
          <a:xfrm>
            <a:off x="6217920" y="5939028"/>
            <a:ext cx="2478024" cy="800100"/>
          </a:xfrm>
          <a:prstGeom prst="rect">
            <a:avLst/>
          </a:prstGeom>
          <a:noFill/>
        </p:spPr>
        <p:txBody>
          <a:bodyPr wrap="square" lIns="0" tIns="0" rIns="0" bIns="0" anchor="t">
            <a:noAutofit/>
          </a:bodyPr>
          <a:lstStyle/>
          <a:p>
            <a:pPr algn="l">
              <a:lnSpc>
                <a:spcPct val="88000"/>
              </a:lnSpc>
              <a:spcAft>
                <a:spcPts val="300"/>
              </a:spcAft>
            </a:pPr>
            <a:r>
              <a:rPr lang="en-US" sz="6000" spc="-60" dirty="0">
                <a:solidFill>
                  <a:srgbClr val="F5F5F7"/>
                </a:solidFill>
                <a:latin typeface="Helvetica Neue Medium"/>
                <a:cs typeface="Helvetica Neue Medium"/>
              </a:rPr>
              <a:t>10 min</a:t>
            </a:r>
          </a:p>
        </p:txBody>
      </p:sp>
      <p:sp>
        <p:nvSpPr>
          <p:cNvPr id="114" name="Label"/>
          <p:cNvSpPr txBox="1"/>
          <p:nvPr/>
        </p:nvSpPr>
        <p:spPr>
          <a:xfrm>
            <a:off x="6217920" y="6812280"/>
            <a:ext cx="2478024"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to complete a budget</a:t>
            </a:r>
          </a:p>
        </p:txBody>
      </p:sp>
      <p:sp>
        <p:nvSpPr>
          <p:cNvPr id="115" name="Extra"/>
          <p:cNvSpPr txBox="1"/>
          <p:nvPr/>
        </p:nvSpPr>
        <p:spPr>
          <a:xfrm>
            <a:off x="6217920" y="7680960"/>
            <a:ext cx="2478024" cy="365760"/>
          </a:xfrm>
          <a:prstGeom prst="rect">
            <a:avLst/>
          </a:prstGeom>
          <a:noFill/>
        </p:spPr>
        <p:txBody>
          <a:bodyPr wrap="square" lIns="0" tIns="0" rIns="0" bIns="0" anchor="t">
            <a:noAutofit/>
          </a:bodyPr>
          <a:lstStyle/>
          <a:p>
            <a:pPr algn="l">
              <a:lnSpc>
                <a:spcPct val="115000"/>
              </a:lnSpc>
              <a:spcAft>
                <a:spcPts val="300"/>
              </a:spcAft>
            </a:pPr>
            <a:r>
              <a:rPr lang="en-US" sz="1300" spc="0" dirty="0">
                <a:solidFill>
                  <a:srgbClr val="F5F5F7"/>
                </a:solidFill>
                <a:latin typeface="Helvetica Neue Medium"/>
                <a:cs typeface="Helvetica Neue Medium"/>
              </a:rPr>
              <a:t>Down from 12 min</a:t>
            </a:r>
          </a:p>
        </p:txBody>
      </p:sp>
      <p:sp>
        <p:nvSpPr>
          <p:cNvPr id="3050" name="Tile"/>
          <p:cNvSpPr/>
          <p:nvPr/>
        </p:nvSpPr>
        <p:spPr>
          <a:xfrm>
            <a:off x="9153144" y="5737860"/>
            <a:ext cx="3026664" cy="2491740"/>
          </a:xfrm>
          <a:prstGeom prst="roundRect">
            <a:avLst>
              <a:gd name="adj" fmla="val 5137"/>
            </a:avLst>
          </a:prstGeom>
          <a:solidFill>
            <a:srgbClr val="262A33"/>
          </a:solidFill>
          <a:ln>
            <a:noFill/>
          </a:ln>
        </p:spPr>
        <p:txBody>
          <a:bodyPr/>
          <a:lstStyle/>
          <a:p>
            <a:endParaRPr lang="en-US"/>
          </a:p>
        </p:txBody>
      </p:sp>
      <p:sp>
        <p:nvSpPr>
          <p:cNvPr id="116" name="Number"/>
          <p:cNvSpPr txBox="1"/>
          <p:nvPr/>
        </p:nvSpPr>
        <p:spPr>
          <a:xfrm>
            <a:off x="9427464" y="5939028"/>
            <a:ext cx="2478024" cy="800100"/>
          </a:xfrm>
          <a:prstGeom prst="rect">
            <a:avLst/>
          </a:prstGeom>
          <a:noFill/>
        </p:spPr>
        <p:txBody>
          <a:bodyPr wrap="square" lIns="0" tIns="0" rIns="0" bIns="0" anchor="t">
            <a:noAutofit/>
          </a:bodyPr>
          <a:lstStyle/>
          <a:p>
            <a:pPr algn="l">
              <a:lnSpc>
                <a:spcPct val="88000"/>
              </a:lnSpc>
              <a:spcAft>
                <a:spcPts val="300"/>
              </a:spcAft>
            </a:pPr>
            <a:r>
              <a:rPr lang="en-US" sz="6000" spc="-60" dirty="0">
                <a:solidFill>
                  <a:srgbClr val="F5F5F7"/>
                </a:solidFill>
                <a:latin typeface="Helvetica Neue Medium"/>
                <a:cs typeface="Helvetica Neue Medium"/>
              </a:rPr>
              <a:t>5 min</a:t>
            </a:r>
          </a:p>
        </p:txBody>
      </p:sp>
      <p:sp>
        <p:nvSpPr>
          <p:cNvPr id="117" name="Label"/>
          <p:cNvSpPr txBox="1"/>
          <p:nvPr/>
        </p:nvSpPr>
        <p:spPr>
          <a:xfrm>
            <a:off x="9427464" y="6812280"/>
            <a:ext cx="2478024" cy="914400"/>
          </a:xfrm>
          <a:prstGeom prst="rect">
            <a:avLst/>
          </a:prstGeom>
          <a:noFill/>
        </p:spPr>
        <p:txBody>
          <a:bodyPr wrap="square" lIns="0" tIns="0" rIns="0" bIns="0" anchor="t">
            <a:noAutofit/>
          </a:bodyPr>
          <a:lstStyle/>
          <a:p>
            <a:pPr algn="l">
              <a:lnSpc>
                <a:spcPct val="115000"/>
              </a:lnSpc>
              <a:spcAft>
                <a:spcPts val="300"/>
              </a:spcAft>
            </a:pPr>
            <a:r>
              <a:rPr lang="en-US" sz="1450" spc="0" dirty="0">
                <a:solidFill>
                  <a:srgbClr val="A3A8B4"/>
                </a:solidFill>
                <a:latin typeface="Helvetica Neue Light"/>
                <a:cs typeface="Helvetica Neue Light"/>
              </a:rPr>
              <a:t>to compare budget scenarios</a:t>
            </a:r>
          </a:p>
        </p:txBody>
      </p:sp>
      <p:sp>
        <p:nvSpPr>
          <p:cNvPr id="118" name="Extra"/>
          <p:cNvSpPr txBox="1"/>
          <p:nvPr/>
        </p:nvSpPr>
        <p:spPr>
          <a:xfrm>
            <a:off x="9427464" y="7680960"/>
            <a:ext cx="2478024" cy="365760"/>
          </a:xfrm>
          <a:prstGeom prst="rect">
            <a:avLst/>
          </a:prstGeom>
          <a:noFill/>
        </p:spPr>
        <p:txBody>
          <a:bodyPr wrap="square" lIns="0" tIns="0" rIns="0" bIns="0" anchor="t">
            <a:noAutofit/>
          </a:bodyPr>
          <a:lstStyle/>
          <a:p>
            <a:pPr algn="l">
              <a:lnSpc>
                <a:spcPct val="115000"/>
              </a:lnSpc>
              <a:spcAft>
                <a:spcPts val="300"/>
              </a:spcAft>
            </a:pPr>
            <a:r>
              <a:rPr lang="en-US" sz="1300" spc="0" dirty="0">
                <a:solidFill>
                  <a:srgbClr val="F5F5F7"/>
                </a:solidFill>
                <a:latin typeface="Helvetica Neue Medium"/>
                <a:cs typeface="Helvetica Neue Medium"/>
              </a:rPr>
              <a:t>A new capability</a:t>
            </a:r>
          </a:p>
        </p:txBody>
      </p:sp>
      <p:pic>
        <p:nvPicPr>
          <p:cNvPr id="119"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AMEX MOCA · PROTOTYPE</a:t>
            </a:r>
          </a:p>
        </p:txBody>
      </p:sp>
      <p:sp>
        <p:nvSpPr>
          <p:cNvPr id="102" name="Headline"/>
          <p:cNvSpPr txBox="1"/>
          <p:nvPr/>
        </p:nvSpPr>
        <p:spPr>
          <a:xfrm>
            <a:off x="822960" y="1371600"/>
            <a:ext cx="11358880" cy="173736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F5F5F7"/>
                </a:solidFill>
                <a:latin typeface="Helvetica Neue Medium"/>
                <a:cs typeface="Helvetica Neue Medium"/>
              </a:rPr>
              <a:t>Build, project and compare </a:t>
            </a:r>
            <a:r>
              <a:rPr lang="en-US" sz="4400" spc="-40" dirty="0">
                <a:solidFill>
                  <a:srgbClr val="E98C64"/>
                </a:solidFill>
                <a:latin typeface="Helvetica Neue Medium"/>
                <a:cs typeface="Helvetica Neue Medium"/>
              </a:rPr>
              <a:t>a client budget</a:t>
            </a:r>
            <a:r>
              <a:rPr lang="en-US" sz="4400" spc="-40" dirty="0">
                <a:solidFill>
                  <a:srgbClr val="F5F5F7"/>
                </a:solidFill>
                <a:latin typeface="Helvetica Neue Medium"/>
                <a:cs typeface="Helvetica Neue Medium"/>
              </a:rPr>
              <a:t>.</a:t>
            </a:r>
          </a:p>
        </p:txBody>
      </p:sp>
      <p:sp>
        <p:nvSpPr>
          <p:cNvPr id="103" name="Body"/>
          <p:cNvSpPr txBox="1"/>
          <p:nvPr/>
        </p:nvSpPr>
        <p:spPr>
          <a:xfrm>
            <a:off x="822960" y="3246120"/>
            <a:ext cx="5120640" cy="1828800"/>
          </a:xfrm>
          <a:prstGeom prst="rect">
            <a:avLst/>
          </a:prstGeom>
          <a:noFill/>
        </p:spPr>
        <p:txBody>
          <a:bodyPr wrap="square" lIns="0" tIns="0" rIns="0" bIns="0" anchor="t">
            <a:noAutofit/>
          </a:bodyPr>
          <a:lstStyle/>
          <a:p>
            <a:pPr algn="l">
              <a:lnSpc>
                <a:spcPct val="125000"/>
              </a:lnSpc>
              <a:spcAft>
                <a:spcPts val="300"/>
              </a:spcAft>
            </a:pPr>
            <a:r>
              <a:rPr lang="en-US" sz="1700" spc="0" dirty="0">
                <a:solidFill>
                  <a:srgbClr val="A3A8B4"/>
                </a:solidFill>
                <a:latin typeface="Helvetica Neue Light"/>
                <a:cs typeface="Helvetica Neue Light"/>
              </a:rPr>
              <a:t>11 hi-fi screens linked in order: import the client’s budget, set the period, shape the allocations, see the ROI projection, then add, optimize and compare scenarios.</a:t>
            </a:r>
          </a:p>
        </p:txBody>
      </p:sp>
      <p:sp>
        <p:nvSpPr>
          <p:cNvPr id="104" name="Link">
            <a:hlinkClick r:id="rId2"/>
          </p:cNvPr>
          <p:cNvSpPr txBox="1"/>
          <p:nvPr/>
        </p:nvSpPr>
        <p:spPr>
          <a:xfrm>
            <a:off x="822960" y="5257800"/>
            <a:ext cx="5120640" cy="457200"/>
          </a:xfrm>
          <a:prstGeom prst="rect">
            <a:avLst/>
          </a:prstGeom>
          <a:noFill/>
        </p:spPr>
        <p:txBody>
          <a:bodyPr wrap="square" lIns="0" tIns="0" rIns="0" bIns="0" anchor="t">
            <a:noAutofit/>
          </a:bodyPr>
          <a:lstStyle/>
          <a:p>
            <a:pPr algn="l">
              <a:lnSpc>
                <a:spcPct val="115000"/>
              </a:lnSpc>
              <a:spcAft>
                <a:spcPts val="300"/>
              </a:spcAft>
            </a:pPr>
            <a:r>
              <a:rPr lang="en-US" sz="2200" u="sng" spc="0" dirty="0">
                <a:solidFill>
                  <a:srgbClr val="E98C64"/>
                </a:solidFill>
                <a:latin typeface="Helvetica Neue Medium"/>
                <a:cs typeface="Helvetica Neue Medium"/>
              </a:rPr>
              <a:t>Open the MOCA prototype →</a:t>
            </a:r>
          </a:p>
        </p:txBody>
      </p:sp>
      <p:cxnSp>
        <p:nvCxnSpPr>
          <p:cNvPr id="105" name="Divider"/>
          <p:cNvCxnSpPr/>
          <p:nvPr/>
        </p:nvCxnSpPr>
        <p:spPr>
          <a:xfrm>
            <a:off x="822960" y="6080760"/>
            <a:ext cx="5120640" cy="0"/>
          </a:xfrm>
          <a:prstGeom prst="line">
            <a:avLst/>
          </a:prstGeom>
          <a:ln w="9525">
            <a:solidFill>
              <a:srgbClr val="2C2F38"/>
            </a:solidFill>
          </a:ln>
        </p:spPr>
      </p:cxnSp>
      <p:sp>
        <p:nvSpPr>
          <p:cNvPr id="106" name="Also"/>
          <p:cNvSpPr txBox="1"/>
          <p:nvPr/>
        </p:nvSpPr>
        <p:spPr>
          <a:xfrm>
            <a:off x="822960" y="6263640"/>
            <a:ext cx="5120640" cy="146304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7A7F8C"/>
                </a:solidFill>
                <a:latin typeface="Helvetica Neue Medium"/>
                <a:cs typeface="Helvetica Neue Medium"/>
              </a:rPr>
              <a:t>ALSO AVAILABLE</a:t>
            </a:r>
          </a:p>
          <a:p>
            <a:pPr algn="l">
              <a:lnSpc>
                <a:spcPct val="125000"/>
              </a:lnSpc>
              <a:spcAft>
                <a:spcPts val="300"/>
              </a:spcAft>
            </a:pPr>
            <a:r>
              <a:rPr lang="en-US" sz="1550" spc="0" dirty="0">
                <a:solidFill>
                  <a:srgbClr val="A3A8B4"/>
                </a:solidFill>
                <a:latin typeface="Helvetica Neue Light"/>
                <a:cs typeface="Helvetica Neue Light"/>
              </a:rPr>
              <a:t>An offline version with the narrative for every step and a full link map: MOCA-Budget-Prototype.html.</a:t>
            </a:r>
          </a:p>
        </p:txBody>
      </p:sp>
      <p:pic>
        <p:nvPicPr>
          <p:cNvPr id="107" name="Hi-fi screen"/>
          <p:cNvPicPr>
            <a:picLocks noChangeAspect="1"/>
          </p:cNvPicPr>
          <p:nvPr/>
        </p:nvPicPr>
        <p:blipFill>
          <a:blip r:embed="rId3"/>
          <a:stretch>
            <a:fillRect/>
          </a:stretch>
        </p:blipFill>
        <p:spPr>
          <a:xfrm>
            <a:off x="6233160" y="3396177"/>
            <a:ext cx="6467932" cy="4985823"/>
          </a:xfrm>
          <a:prstGeom prst="rect">
            <a:avLst/>
          </a:prstGeom>
          <a:ln w="9525">
            <a:solidFill>
              <a:srgbClr val="3A3E49"/>
            </a:solidFill>
          </a:ln>
        </p:spPr>
      </p:pic>
      <p:pic>
        <p:nvPicPr>
          <p:cNvPr id="108" name="gradient strip" descr="gradient strip"/>
          <p:cNvPicPr>
            <a:picLocks noChangeAspect="1"/>
          </p:cNvPicPr>
          <p:nvPr/>
        </p:nvPicPr>
        <p:blipFill>
          <a:blip r:embed="rId4"/>
          <a:stretch>
            <a:fillRect/>
          </a:stretch>
        </p:blipFill>
        <p:spPr>
          <a:xfrm>
            <a:off x="0" y="9285427"/>
            <a:ext cx="13004800" cy="468173"/>
          </a:xfrm>
          <a:prstGeom prst="rect">
            <a:avLst/>
          </a:prstGeom>
        </p:spPr>
      </p:pic>
      <p:sp>
        <p:nvSpPr>
          <p:cNvPr id="109" name="Workflow map link">
            <a:hlinkClick r:id="rId5"/>
          </p:cNvPr>
          <p:cNvSpPr txBox="1"/>
          <p:nvPr/>
        </p:nvSpPr>
        <p:spPr>
          <a:xfrm>
            <a:off x="822960" y="5791200"/>
            <a:ext cx="5120640" cy="355600"/>
          </a:xfrm>
          <a:prstGeom prst="rect">
            <a:avLst/>
          </a:prstGeom>
          <a:noFill/>
        </p:spPr>
        <p:txBody>
          <a:bodyPr wrap="square" lIns="0" tIns="0" rIns="0" bIns="0" anchor="t">
            <a:noAutofit/>
          </a:bodyPr>
          <a:lstStyle/>
          <a:p>
            <a:pPr algn="l">
              <a:lnSpc>
                <a:spcPct val="115000"/>
              </a:lnSpc>
              <a:spcAft>
                <a:spcPts val="300"/>
              </a:spcAft>
            </a:pPr>
            <a:r>
              <a:rPr lang="en-US" sz="1500" u="sng" spc="0" dirty="0">
                <a:solidFill>
                  <a:srgbClr val="E98C64"/>
                </a:solidFill>
                <a:latin typeface="Helvetica Neue Medium"/>
                <a:cs typeface="Helvetica Neue Medium"/>
              </a:rPr>
              <a:t>Or start at the workflow map →</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121318"/>
        </a:solidFill>
        <a:effectLst/>
      </p:bgPr>
    </p:bg>
    <p:spTree>
      <p:nvGrpSpPr>
        <p:cNvPr id="1" name=""/>
        <p:cNvGrpSpPr/>
        <p:nvPr/>
      </p:nvGrpSpPr>
      <p:grpSpPr/>
      <p:sp>
        <p:nvSpPr>
          <p:cNvPr id="2" name="TextBox 1"/>
          <p:cNvSpPr txBox="1"/>
          <p:nvPr/>
        </p:nvSpPr>
        <p:spPr>
          <a:xfrm>
            <a:off x="822960" y="822960"/>
            <a:ext cx="5486400" cy="274320"/>
          </a:xfrm>
          <a:prstGeom prst="rect">
            <a:avLst/>
          </a:prstGeom>
          <a:noFill/>
        </p:spPr>
        <p:txBody>
          <a:bodyPr wrap="square" lIns="0" rIns="0" tIns="0" bIns="0">
            <a:spAutoFit/>
          </a:bodyPr>
          <a:lstStyle/>
          <a:p>
            <a:pPr algn="l"/>
            <a:r>
              <a:rPr sz="1200">
                <a:solidFill>
                  <a:srgbClr val="E98C64"/>
                </a:solidFill>
                <a:latin typeface="Helvetica Neue Medium"/>
              </a:rPr>
              <a:t>CASE STUDY 01 · AI PRODUCT · PROTOTYPE</a:t>
            </a:r>
          </a:p>
        </p:txBody>
      </p:sp>
      <p:sp>
        <p:nvSpPr>
          <p:cNvPr id="3" name="TextBox 2"/>
          <p:cNvSpPr txBox="1"/>
          <p:nvPr/>
        </p:nvSpPr>
        <p:spPr>
          <a:xfrm>
            <a:off x="822960" y="1234440"/>
            <a:ext cx="10515600" cy="914400"/>
          </a:xfrm>
          <a:prstGeom prst="rect">
            <a:avLst/>
          </a:prstGeom>
          <a:noFill/>
        </p:spPr>
        <p:txBody>
          <a:bodyPr wrap="square" lIns="0" rIns="0" tIns="0" bIns="0">
            <a:spAutoFit/>
          </a:bodyPr>
          <a:lstStyle/>
          <a:p>
            <a:pPr algn="l"/>
            <a:r>
              <a:rPr sz="5400">
                <a:solidFill>
                  <a:srgbClr val="F5F5F7"/>
                </a:solidFill>
                <a:latin typeface="Helvetica Neue Medium"/>
              </a:rPr>
              <a:t>Meridian Navigator</a:t>
            </a:r>
          </a:p>
        </p:txBody>
      </p:sp>
      <p:sp>
        <p:nvSpPr>
          <p:cNvPr id="4" name="TextBox 3"/>
          <p:cNvSpPr txBox="1"/>
          <p:nvPr/>
        </p:nvSpPr>
        <p:spPr>
          <a:xfrm>
            <a:off x="822960" y="2240280"/>
            <a:ext cx="5486400" cy="548640"/>
          </a:xfrm>
          <a:prstGeom prst="rect">
            <a:avLst/>
          </a:prstGeom>
          <a:noFill/>
        </p:spPr>
        <p:txBody>
          <a:bodyPr wrap="square" lIns="0" rIns="0" tIns="0" bIns="0">
            <a:spAutoFit/>
          </a:bodyPr>
          <a:lstStyle/>
          <a:p>
            <a:pPr algn="l"/>
            <a:r>
              <a:rPr sz="2600">
                <a:solidFill>
                  <a:srgbClr val="E98C64"/>
                </a:solidFill>
                <a:latin typeface="Helvetica Neue Medium"/>
              </a:rPr>
              <a:t>AI-assisted trading prototype</a:t>
            </a:r>
          </a:p>
        </p:txBody>
      </p:sp>
      <p:sp>
        <p:nvSpPr>
          <p:cNvPr id="5" name="TextBox 4"/>
          <p:cNvSpPr txBox="1"/>
          <p:nvPr/>
        </p:nvSpPr>
        <p:spPr>
          <a:xfrm>
            <a:off x="822960" y="2926080"/>
            <a:ext cx="5486400" cy="1280160"/>
          </a:xfrm>
          <a:prstGeom prst="rect">
            <a:avLst/>
          </a:prstGeom>
          <a:noFill/>
        </p:spPr>
        <p:txBody>
          <a:bodyPr wrap="square" lIns="0" rIns="0" tIns="0" bIns="0">
            <a:spAutoFit/>
          </a:bodyPr>
          <a:lstStyle/>
          <a:p>
            <a:pPr algn="l"/>
            <a:r>
              <a:rPr sz="1700">
                <a:solidFill>
                  <a:srgbClr val="A3A8B4"/>
                </a:solidFill>
                <a:latin typeface="Helvetica Neue Light"/>
              </a:rPr>
              <a:t>Retail investors juggle research, orders, and monitoring across separate tools. Does AI insight beside the trade help them decide?</a:t>
            </a:r>
          </a:p>
        </p:txBody>
      </p:sp>
      <p:cxnSp>
        <p:nvCxnSpPr>
          <p:cNvPr id="6" name="Connector 5"/>
          <p:cNvCxnSpPr/>
          <p:nvPr/>
        </p:nvCxnSpPr>
        <p:spPr>
          <a:xfrm>
            <a:off x="822960" y="4343400"/>
            <a:ext cx="5486400" cy="0"/>
          </a:xfrm>
          <a:prstGeom prst="line">
            <a:avLst/>
          </a:prstGeom>
          <a:ln w="9525">
            <a:solidFill>
              <a:srgbClr val="2A2D37"/>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22960" y="4471416"/>
            <a:ext cx="1188720" cy="365760"/>
          </a:xfrm>
          <a:prstGeom prst="rect">
            <a:avLst/>
          </a:prstGeom>
          <a:noFill/>
        </p:spPr>
        <p:txBody>
          <a:bodyPr wrap="square" lIns="0" rIns="0" tIns="0" bIns="0">
            <a:spAutoFit/>
          </a:bodyPr>
          <a:lstStyle/>
          <a:p>
            <a:pPr algn="l"/>
            <a:r>
              <a:rPr sz="1100">
                <a:solidFill>
                  <a:srgbClr val="7A7F8C"/>
                </a:solidFill>
                <a:latin typeface="Helvetica Neue Medium"/>
              </a:rPr>
              <a:t>ROLE</a:t>
            </a:r>
          </a:p>
        </p:txBody>
      </p:sp>
      <p:sp>
        <p:nvSpPr>
          <p:cNvPr id="8" name="TextBox 7"/>
          <p:cNvSpPr txBox="1"/>
          <p:nvPr/>
        </p:nvSpPr>
        <p:spPr>
          <a:xfrm>
            <a:off x="2148840" y="4443984"/>
            <a:ext cx="4160520" cy="822960"/>
          </a:xfrm>
          <a:prstGeom prst="rect">
            <a:avLst/>
          </a:prstGeom>
          <a:noFill/>
        </p:spPr>
        <p:txBody>
          <a:bodyPr wrap="square" lIns="0" rIns="0" tIns="0" bIns="0">
            <a:spAutoFit/>
          </a:bodyPr>
          <a:lstStyle/>
          <a:p>
            <a:pPr algn="l"/>
            <a:r>
              <a:rPr sz="1550">
                <a:solidFill>
                  <a:srgbClr val="F5F5F7"/>
                </a:solidFill>
                <a:latin typeface="Helvetica Neue Light"/>
              </a:rPr>
              <a:t>Lead UX designer</a:t>
            </a:r>
          </a:p>
        </p:txBody>
      </p:sp>
      <p:cxnSp>
        <p:nvCxnSpPr>
          <p:cNvPr id="9" name="Connector 8"/>
          <p:cNvCxnSpPr/>
          <p:nvPr/>
        </p:nvCxnSpPr>
        <p:spPr>
          <a:xfrm>
            <a:off x="822960" y="5367528"/>
            <a:ext cx="5486400" cy="0"/>
          </a:xfrm>
          <a:prstGeom prst="line">
            <a:avLst/>
          </a:prstGeom>
          <a:ln w="9525">
            <a:solidFill>
              <a:srgbClr val="2A2D37"/>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22960" y="5495544"/>
            <a:ext cx="1188720" cy="365760"/>
          </a:xfrm>
          <a:prstGeom prst="rect">
            <a:avLst/>
          </a:prstGeom>
          <a:noFill/>
        </p:spPr>
        <p:txBody>
          <a:bodyPr wrap="square" lIns="0" rIns="0" tIns="0" bIns="0">
            <a:spAutoFit/>
          </a:bodyPr>
          <a:lstStyle/>
          <a:p>
            <a:pPr algn="l"/>
            <a:r>
              <a:rPr sz="1100">
                <a:solidFill>
                  <a:srgbClr val="7A7F8C"/>
                </a:solidFill>
                <a:latin typeface="Helvetica Neue Medium"/>
              </a:rPr>
              <a:t>TEAM</a:t>
            </a:r>
          </a:p>
        </p:txBody>
      </p:sp>
      <p:sp>
        <p:nvSpPr>
          <p:cNvPr id="11" name="TextBox 10"/>
          <p:cNvSpPr txBox="1"/>
          <p:nvPr/>
        </p:nvSpPr>
        <p:spPr>
          <a:xfrm>
            <a:off x="2148840" y="5468112"/>
            <a:ext cx="4160520" cy="822960"/>
          </a:xfrm>
          <a:prstGeom prst="rect">
            <a:avLst/>
          </a:prstGeom>
          <a:noFill/>
        </p:spPr>
        <p:txBody>
          <a:bodyPr wrap="square" lIns="0" rIns="0" tIns="0" bIns="0">
            <a:spAutoFit/>
          </a:bodyPr>
          <a:lstStyle/>
          <a:p>
            <a:pPr algn="l"/>
            <a:r>
              <a:rPr sz="1550">
                <a:solidFill>
                  <a:srgbClr val="F5F5F7"/>
                </a:solidFill>
                <a:latin typeface="Helvetica Neue Light"/>
              </a:rPr>
              <a:t>Solo lead, with AI agents for drafting</a:t>
            </a:r>
          </a:p>
        </p:txBody>
      </p:sp>
      <p:cxnSp>
        <p:nvCxnSpPr>
          <p:cNvPr id="12" name="Connector 11"/>
          <p:cNvCxnSpPr/>
          <p:nvPr/>
        </p:nvCxnSpPr>
        <p:spPr>
          <a:xfrm>
            <a:off x="822960" y="6391656"/>
            <a:ext cx="5486400" cy="0"/>
          </a:xfrm>
          <a:prstGeom prst="line">
            <a:avLst/>
          </a:prstGeom>
          <a:ln w="9525">
            <a:solidFill>
              <a:srgbClr val="2A2D37"/>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6519672"/>
            <a:ext cx="1188720" cy="365760"/>
          </a:xfrm>
          <a:prstGeom prst="rect">
            <a:avLst/>
          </a:prstGeom>
          <a:noFill/>
        </p:spPr>
        <p:txBody>
          <a:bodyPr wrap="square" lIns="0" rIns="0" tIns="0" bIns="0">
            <a:spAutoFit/>
          </a:bodyPr>
          <a:lstStyle/>
          <a:p>
            <a:pPr algn="l"/>
            <a:r>
              <a:rPr sz="1100">
                <a:solidFill>
                  <a:srgbClr val="7A7F8C"/>
                </a:solidFill>
                <a:latin typeface="Helvetica Neue Medium"/>
              </a:rPr>
              <a:t>SCOPE</a:t>
            </a:r>
          </a:p>
        </p:txBody>
      </p:sp>
      <p:sp>
        <p:nvSpPr>
          <p:cNvPr id="14" name="TextBox 13"/>
          <p:cNvSpPr txBox="1"/>
          <p:nvPr/>
        </p:nvSpPr>
        <p:spPr>
          <a:xfrm>
            <a:off x="2148840" y="6492240"/>
            <a:ext cx="4160520" cy="822960"/>
          </a:xfrm>
          <a:prstGeom prst="rect">
            <a:avLst/>
          </a:prstGeom>
          <a:noFill/>
        </p:spPr>
        <p:txBody>
          <a:bodyPr wrap="square" lIns="0" rIns="0" tIns="0" bIns="0">
            <a:spAutoFit/>
          </a:bodyPr>
          <a:lstStyle/>
          <a:p>
            <a:pPr algn="l"/>
            <a:r>
              <a:rPr sz="1550">
                <a:solidFill>
                  <a:srgbClr val="F5F5F7"/>
                </a:solidFill>
                <a:latin typeface="Helvetica Neue Light"/>
              </a:rPr>
              <a:t>Five screens, two eight-step trade flows, agent concepts, design system</a:t>
            </a:r>
          </a:p>
        </p:txBody>
      </p:sp>
      <p:cxnSp>
        <p:nvCxnSpPr>
          <p:cNvPr id="15" name="Connector 14"/>
          <p:cNvCxnSpPr/>
          <p:nvPr/>
        </p:nvCxnSpPr>
        <p:spPr>
          <a:xfrm>
            <a:off x="822960" y="7415783"/>
            <a:ext cx="5486400" cy="0"/>
          </a:xfrm>
          <a:prstGeom prst="line">
            <a:avLst/>
          </a:prstGeom>
          <a:ln w="9525">
            <a:solidFill>
              <a:srgbClr val="2A2D37"/>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22960" y="7543800"/>
            <a:ext cx="1188720" cy="365760"/>
          </a:xfrm>
          <a:prstGeom prst="rect">
            <a:avLst/>
          </a:prstGeom>
          <a:noFill/>
        </p:spPr>
        <p:txBody>
          <a:bodyPr wrap="square" lIns="0" rIns="0" tIns="0" bIns="0">
            <a:spAutoFit/>
          </a:bodyPr>
          <a:lstStyle/>
          <a:p>
            <a:pPr algn="l"/>
            <a:r>
              <a:rPr sz="1100">
                <a:solidFill>
                  <a:srgbClr val="7A7F8C"/>
                </a:solidFill>
                <a:latin typeface="Helvetica Neue Medium"/>
              </a:rPr>
              <a:t>STATUS</a:t>
            </a:r>
          </a:p>
        </p:txBody>
      </p:sp>
      <p:sp>
        <p:nvSpPr>
          <p:cNvPr id="17" name="TextBox 16"/>
          <p:cNvSpPr txBox="1"/>
          <p:nvPr/>
        </p:nvSpPr>
        <p:spPr>
          <a:xfrm>
            <a:off x="2148840" y="7516367"/>
            <a:ext cx="4160520" cy="822960"/>
          </a:xfrm>
          <a:prstGeom prst="rect">
            <a:avLst/>
          </a:prstGeom>
          <a:noFill/>
        </p:spPr>
        <p:txBody>
          <a:bodyPr wrap="square" lIns="0" rIns="0" tIns="0" bIns="0">
            <a:spAutoFit/>
          </a:bodyPr>
          <a:lstStyle/>
          <a:p>
            <a:pPr algn="l"/>
            <a:r>
              <a:rPr sz="1550">
                <a:solidFill>
                  <a:srgbClr val="F5F5F7"/>
                </a:solidFill>
                <a:latin typeface="Helvetica Neue Light"/>
              </a:rPr>
              <a:t>Prototype. Mock data. Tests are set; none has run yet</a:t>
            </a:r>
          </a:p>
        </p:txBody>
      </p:sp>
      <p:cxnSp>
        <p:nvCxnSpPr>
          <p:cNvPr id="18" name="Connector 17"/>
          <p:cNvCxnSpPr/>
          <p:nvPr/>
        </p:nvCxnSpPr>
        <p:spPr>
          <a:xfrm>
            <a:off x="822960" y="8439912"/>
            <a:ext cx="5486400" cy="0"/>
          </a:xfrm>
          <a:prstGeom prst="line">
            <a:avLst/>
          </a:prstGeom>
          <a:ln w="9525">
            <a:solidFill>
              <a:srgbClr val="2A2D37"/>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22960" y="8503920"/>
            <a:ext cx="11356848" cy="274320"/>
          </a:xfrm>
          <a:prstGeom prst="rect">
            <a:avLst/>
          </a:prstGeom>
          <a:noFill/>
        </p:spPr>
        <p:txBody>
          <a:bodyPr wrap="square" lIns="0" rIns="0" tIns="0" bIns="0">
            <a:spAutoFit/>
          </a:bodyPr>
          <a:lstStyle/>
          <a:p>
            <a:pPr algn="l"/>
            <a:r>
              <a:rPr sz="1200">
                <a:solidFill>
                  <a:srgbClr val="7A7F8C"/>
                </a:solidFill>
                <a:latin typeface="Helvetica Neue Light"/>
              </a:rPr>
              <a:t>Portfolio prototype. Mock data only. Hypotheses until validated.</a:t>
            </a:r>
          </a:p>
        </p:txBody>
      </p:sp>
      <p:pic>
        <p:nvPicPr>
          <p:cNvPr id="20" name="Picture 19" descr="image.png"/>
          <p:cNvPicPr>
            <a:picLocks noChangeAspect="1"/>
          </p:cNvPicPr>
          <p:nvPr/>
        </p:nvPicPr>
        <p:blipFill>
          <a:blip r:embed="rId2"/>
          <a:stretch>
            <a:fillRect/>
          </a:stretch>
        </p:blipFill>
        <p:spPr>
          <a:xfrm>
            <a:off x="0" y="9281160"/>
            <a:ext cx="13004800" cy="466344"/>
          </a:xfrm>
          <a:prstGeom prst="rect">
            <a:avLst/>
          </a:prstGeom>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OVERVIEW</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Five screens, one trade, one place for AI</a:t>
            </a:r>
          </a:p>
        </p:txBody>
      </p:sp>
      <p:sp>
        <p:nvSpPr>
          <p:cNvPr id="5" name="TextBox 4"/>
          <p:cNvSpPr txBox="1"/>
          <p:nvPr/>
        </p:nvSpPr>
        <p:spPr>
          <a:xfrm>
            <a:off x="822960" y="2011680"/>
            <a:ext cx="6309360" cy="274320"/>
          </a:xfrm>
          <a:prstGeom prst="rect">
            <a:avLst/>
          </a:prstGeom>
          <a:noFill/>
        </p:spPr>
        <p:txBody>
          <a:bodyPr wrap="square" lIns="0" rIns="0" tIns="0" bIns="0">
            <a:spAutoFit/>
          </a:bodyPr>
          <a:lstStyle/>
          <a:p>
            <a:pPr algn="l"/>
            <a:r>
              <a:rPr sz="1100">
                <a:solidFill>
                  <a:srgbClr val="858A97"/>
                </a:solidFill>
                <a:latin typeface="Helvetica Neue Medium"/>
              </a:rPr>
              <a:t>THE FIVE SCREENS, EACH ANSWERING ONE QUESTION</a:t>
            </a:r>
          </a:p>
        </p:txBody>
      </p:sp>
      <p:cxnSp>
        <p:nvCxnSpPr>
          <p:cNvPr id="6" name="Connector 5"/>
          <p:cNvCxnSpPr/>
          <p:nvPr/>
        </p:nvCxnSpPr>
        <p:spPr>
          <a:xfrm>
            <a:off x="822960" y="2468880"/>
            <a:ext cx="6126480"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22960" y="2651760"/>
            <a:ext cx="2011680" cy="457200"/>
          </a:xfrm>
          <a:prstGeom prst="rect">
            <a:avLst/>
          </a:prstGeom>
          <a:noFill/>
        </p:spPr>
        <p:txBody>
          <a:bodyPr wrap="square" lIns="0" rIns="0" tIns="0" bIns="0">
            <a:spAutoFit/>
          </a:bodyPr>
          <a:lstStyle/>
          <a:p>
            <a:pPr algn="l"/>
            <a:r>
              <a:rPr sz="1700">
                <a:solidFill>
                  <a:srgbClr val="14161D"/>
                </a:solidFill>
                <a:latin typeface="Helvetica Neue Medium"/>
              </a:rPr>
              <a:t>Dashboard</a:t>
            </a:r>
          </a:p>
        </p:txBody>
      </p:sp>
      <p:sp>
        <p:nvSpPr>
          <p:cNvPr id="8" name="TextBox 7"/>
          <p:cNvSpPr txBox="1"/>
          <p:nvPr/>
        </p:nvSpPr>
        <p:spPr>
          <a:xfrm>
            <a:off x="2926080" y="2670048"/>
            <a:ext cx="4023360" cy="457200"/>
          </a:xfrm>
          <a:prstGeom prst="rect">
            <a:avLst/>
          </a:prstGeom>
          <a:noFill/>
        </p:spPr>
        <p:txBody>
          <a:bodyPr wrap="square" lIns="0" rIns="0" tIns="0" bIns="0">
            <a:spAutoFit/>
          </a:bodyPr>
          <a:lstStyle/>
          <a:p>
            <a:pPr algn="l"/>
            <a:r>
              <a:rPr sz="1600">
                <a:solidFill>
                  <a:srgbClr val="14161D"/>
                </a:solidFill>
                <a:latin typeface="Helvetica Neue Light"/>
              </a:rPr>
              <a:t>What do I own today?</a:t>
            </a:r>
          </a:p>
        </p:txBody>
      </p:sp>
      <p:cxnSp>
        <p:nvCxnSpPr>
          <p:cNvPr id="9" name="Connector 8"/>
          <p:cNvCxnSpPr/>
          <p:nvPr/>
        </p:nvCxnSpPr>
        <p:spPr>
          <a:xfrm>
            <a:off x="822960" y="3337560"/>
            <a:ext cx="6126480"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22960" y="3520440"/>
            <a:ext cx="2011680" cy="457200"/>
          </a:xfrm>
          <a:prstGeom prst="rect">
            <a:avLst/>
          </a:prstGeom>
          <a:noFill/>
        </p:spPr>
        <p:txBody>
          <a:bodyPr wrap="square" lIns="0" rIns="0" tIns="0" bIns="0">
            <a:spAutoFit/>
          </a:bodyPr>
          <a:lstStyle/>
          <a:p>
            <a:pPr algn="l"/>
            <a:r>
              <a:rPr sz="1700">
                <a:solidFill>
                  <a:srgbClr val="14161D"/>
                </a:solidFill>
                <a:latin typeface="Helvetica Neue Medium"/>
              </a:rPr>
              <a:t>Insight</a:t>
            </a:r>
          </a:p>
        </p:txBody>
      </p:sp>
      <p:sp>
        <p:nvSpPr>
          <p:cNvPr id="11" name="TextBox 10"/>
          <p:cNvSpPr txBox="1"/>
          <p:nvPr/>
        </p:nvSpPr>
        <p:spPr>
          <a:xfrm>
            <a:off x="2926080" y="3538728"/>
            <a:ext cx="4023360" cy="457200"/>
          </a:xfrm>
          <a:prstGeom prst="rect">
            <a:avLst/>
          </a:prstGeom>
          <a:noFill/>
        </p:spPr>
        <p:txBody>
          <a:bodyPr wrap="square" lIns="0" rIns="0" tIns="0" bIns="0">
            <a:spAutoFit/>
          </a:bodyPr>
          <a:lstStyle/>
          <a:p>
            <a:pPr algn="l"/>
            <a:r>
              <a:rPr sz="1600">
                <a:solidFill>
                  <a:srgbClr val="14161D"/>
                </a:solidFill>
                <a:latin typeface="Helvetica Neue Light"/>
              </a:rPr>
              <a:t>What moved, and why?</a:t>
            </a:r>
          </a:p>
        </p:txBody>
      </p:sp>
      <p:cxnSp>
        <p:nvCxnSpPr>
          <p:cNvPr id="12" name="Connector 11"/>
          <p:cNvCxnSpPr/>
          <p:nvPr/>
        </p:nvCxnSpPr>
        <p:spPr>
          <a:xfrm>
            <a:off x="822960" y="4206240"/>
            <a:ext cx="6126480"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4389120"/>
            <a:ext cx="2011680" cy="457200"/>
          </a:xfrm>
          <a:prstGeom prst="rect">
            <a:avLst/>
          </a:prstGeom>
          <a:noFill/>
        </p:spPr>
        <p:txBody>
          <a:bodyPr wrap="square" lIns="0" rIns="0" tIns="0" bIns="0">
            <a:spAutoFit/>
          </a:bodyPr>
          <a:lstStyle/>
          <a:p>
            <a:pPr algn="l"/>
            <a:r>
              <a:rPr sz="1700">
                <a:solidFill>
                  <a:srgbClr val="14161D"/>
                </a:solidFill>
                <a:latin typeface="Helvetica Neue Medium"/>
              </a:rPr>
              <a:t>Prospect</a:t>
            </a:r>
          </a:p>
        </p:txBody>
      </p:sp>
      <p:sp>
        <p:nvSpPr>
          <p:cNvPr id="14" name="TextBox 13"/>
          <p:cNvSpPr txBox="1"/>
          <p:nvPr/>
        </p:nvSpPr>
        <p:spPr>
          <a:xfrm>
            <a:off x="2926080" y="4407408"/>
            <a:ext cx="4023360" cy="457200"/>
          </a:xfrm>
          <a:prstGeom prst="rect">
            <a:avLst/>
          </a:prstGeom>
          <a:noFill/>
        </p:spPr>
        <p:txBody>
          <a:bodyPr wrap="square" lIns="0" rIns="0" tIns="0" bIns="0">
            <a:spAutoFit/>
          </a:bodyPr>
          <a:lstStyle/>
          <a:p>
            <a:pPr algn="l"/>
            <a:r>
              <a:rPr sz="1600">
                <a:solidFill>
                  <a:srgbClr val="14161D"/>
                </a:solidFill>
                <a:latin typeface="Helvetica Neue Light"/>
              </a:rPr>
              <a:t>What might fit my plan?</a:t>
            </a:r>
          </a:p>
        </p:txBody>
      </p:sp>
      <p:cxnSp>
        <p:nvCxnSpPr>
          <p:cNvPr id="15" name="Connector 14"/>
          <p:cNvCxnSpPr/>
          <p:nvPr/>
        </p:nvCxnSpPr>
        <p:spPr>
          <a:xfrm>
            <a:off x="822960" y="5074920"/>
            <a:ext cx="6126480"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22960" y="5257800"/>
            <a:ext cx="2011680" cy="457200"/>
          </a:xfrm>
          <a:prstGeom prst="rect">
            <a:avLst/>
          </a:prstGeom>
          <a:noFill/>
        </p:spPr>
        <p:txBody>
          <a:bodyPr wrap="square" lIns="0" rIns="0" tIns="0" bIns="0">
            <a:spAutoFit/>
          </a:bodyPr>
          <a:lstStyle/>
          <a:p>
            <a:pPr algn="l"/>
            <a:r>
              <a:rPr sz="1700">
                <a:solidFill>
                  <a:srgbClr val="14161D"/>
                </a:solidFill>
                <a:latin typeface="Helvetica Neue Medium"/>
              </a:rPr>
              <a:t>Guard</a:t>
            </a:r>
          </a:p>
        </p:txBody>
      </p:sp>
      <p:sp>
        <p:nvSpPr>
          <p:cNvPr id="17" name="TextBox 16"/>
          <p:cNvSpPr txBox="1"/>
          <p:nvPr/>
        </p:nvSpPr>
        <p:spPr>
          <a:xfrm>
            <a:off x="2926080" y="5276088"/>
            <a:ext cx="4023360" cy="457200"/>
          </a:xfrm>
          <a:prstGeom prst="rect">
            <a:avLst/>
          </a:prstGeom>
          <a:noFill/>
        </p:spPr>
        <p:txBody>
          <a:bodyPr wrap="square" lIns="0" rIns="0" tIns="0" bIns="0">
            <a:spAutoFit/>
          </a:bodyPr>
          <a:lstStyle/>
          <a:p>
            <a:pPr algn="l"/>
            <a:r>
              <a:rPr sz="1600">
                <a:solidFill>
                  <a:srgbClr val="14161D"/>
                </a:solidFill>
                <a:latin typeface="Helvetica Neue Light"/>
              </a:rPr>
              <a:t>What needs my attention?</a:t>
            </a:r>
          </a:p>
        </p:txBody>
      </p:sp>
      <p:cxnSp>
        <p:nvCxnSpPr>
          <p:cNvPr id="18" name="Connector 17"/>
          <p:cNvCxnSpPr/>
          <p:nvPr/>
        </p:nvCxnSpPr>
        <p:spPr>
          <a:xfrm>
            <a:off x="822960" y="5943600"/>
            <a:ext cx="6126480"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22960" y="6126480"/>
            <a:ext cx="2011680" cy="457200"/>
          </a:xfrm>
          <a:prstGeom prst="rect">
            <a:avLst/>
          </a:prstGeom>
          <a:noFill/>
        </p:spPr>
        <p:txBody>
          <a:bodyPr wrap="square" lIns="0" rIns="0" tIns="0" bIns="0">
            <a:spAutoFit/>
          </a:bodyPr>
          <a:lstStyle/>
          <a:p>
            <a:pPr algn="l"/>
            <a:r>
              <a:rPr sz="1700">
                <a:solidFill>
                  <a:srgbClr val="14161D"/>
                </a:solidFill>
                <a:latin typeface="Helvetica Neue Medium"/>
              </a:rPr>
              <a:t>Adapt</a:t>
            </a:r>
          </a:p>
        </p:txBody>
      </p:sp>
      <p:sp>
        <p:nvSpPr>
          <p:cNvPr id="20" name="TextBox 19"/>
          <p:cNvSpPr txBox="1"/>
          <p:nvPr/>
        </p:nvSpPr>
        <p:spPr>
          <a:xfrm>
            <a:off x="2926080" y="6144768"/>
            <a:ext cx="4023360" cy="457200"/>
          </a:xfrm>
          <a:prstGeom prst="rect">
            <a:avLst/>
          </a:prstGeom>
          <a:noFill/>
        </p:spPr>
        <p:txBody>
          <a:bodyPr wrap="square" lIns="0" rIns="0" tIns="0" bIns="0">
            <a:spAutoFit/>
          </a:bodyPr>
          <a:lstStyle/>
          <a:p>
            <a:pPr algn="l"/>
            <a:r>
              <a:rPr sz="1600">
                <a:solidFill>
                  <a:srgbClr val="14161D"/>
                </a:solidFill>
                <a:latin typeface="Helvetica Neue Light"/>
              </a:rPr>
              <a:t>Should my mix change?</a:t>
            </a:r>
          </a:p>
        </p:txBody>
      </p:sp>
      <p:cxnSp>
        <p:nvCxnSpPr>
          <p:cNvPr id="21" name="Connector 20"/>
          <p:cNvCxnSpPr/>
          <p:nvPr/>
        </p:nvCxnSpPr>
        <p:spPr>
          <a:xfrm>
            <a:off x="822960" y="6812280"/>
            <a:ext cx="6126480"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543800" y="2011680"/>
            <a:ext cx="4636008" cy="274320"/>
          </a:xfrm>
          <a:prstGeom prst="rect">
            <a:avLst/>
          </a:prstGeom>
          <a:noFill/>
        </p:spPr>
        <p:txBody>
          <a:bodyPr wrap="square" lIns="0" rIns="0" tIns="0" bIns="0">
            <a:spAutoFit/>
          </a:bodyPr>
          <a:lstStyle/>
          <a:p>
            <a:pPr algn="l"/>
            <a:r>
              <a:rPr sz="1100">
                <a:solidFill>
                  <a:srgbClr val="858A97"/>
                </a:solidFill>
                <a:latin typeface="Helvetica Neue Medium"/>
              </a:rPr>
              <a:t>PRODUCT</a:t>
            </a:r>
          </a:p>
        </p:txBody>
      </p:sp>
      <p:sp>
        <p:nvSpPr>
          <p:cNvPr id="23" name="TextBox 22"/>
          <p:cNvSpPr txBox="1"/>
          <p:nvPr/>
        </p:nvSpPr>
        <p:spPr>
          <a:xfrm>
            <a:off x="7543800" y="2322576"/>
            <a:ext cx="4636008"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An AI layer on a trading app, next to the order flow.</a:t>
            </a:r>
          </a:p>
        </p:txBody>
      </p:sp>
      <p:sp>
        <p:nvSpPr>
          <p:cNvPr id="24" name="TextBox 23"/>
          <p:cNvSpPr txBox="1"/>
          <p:nvPr/>
        </p:nvSpPr>
        <p:spPr>
          <a:xfrm>
            <a:off x="7543800" y="3200400"/>
            <a:ext cx="4636008" cy="274320"/>
          </a:xfrm>
          <a:prstGeom prst="rect">
            <a:avLst/>
          </a:prstGeom>
          <a:noFill/>
        </p:spPr>
        <p:txBody>
          <a:bodyPr wrap="square" lIns="0" rIns="0" tIns="0" bIns="0">
            <a:spAutoFit/>
          </a:bodyPr>
          <a:lstStyle/>
          <a:p>
            <a:pPr algn="l"/>
            <a:r>
              <a:rPr sz="1100">
                <a:solidFill>
                  <a:srgbClr val="858A97"/>
                </a:solidFill>
                <a:latin typeface="Helvetica Neue Medium"/>
              </a:rPr>
              <a:t>PROBLEM</a:t>
            </a:r>
          </a:p>
        </p:txBody>
      </p:sp>
      <p:sp>
        <p:nvSpPr>
          <p:cNvPr id="25" name="TextBox 24"/>
          <p:cNvSpPr txBox="1"/>
          <p:nvPr/>
        </p:nvSpPr>
        <p:spPr>
          <a:xfrm>
            <a:off x="7543800" y="3511296"/>
            <a:ext cx="4636008"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Research, order entry, position watching, and rebalancing sit in different places. The hold-or-exit call gets made in the user’s head.</a:t>
            </a:r>
          </a:p>
        </p:txBody>
      </p:sp>
      <p:sp>
        <p:nvSpPr>
          <p:cNvPr id="26" name="TextBox 25"/>
          <p:cNvSpPr txBox="1"/>
          <p:nvPr/>
        </p:nvSpPr>
        <p:spPr>
          <a:xfrm>
            <a:off x="7543800" y="5120640"/>
            <a:ext cx="4636008" cy="274320"/>
          </a:xfrm>
          <a:prstGeom prst="rect">
            <a:avLst/>
          </a:prstGeom>
          <a:noFill/>
        </p:spPr>
        <p:txBody>
          <a:bodyPr wrap="square" lIns="0" rIns="0" tIns="0" bIns="0">
            <a:spAutoFit/>
          </a:bodyPr>
          <a:lstStyle/>
          <a:p>
            <a:pPr algn="l"/>
            <a:r>
              <a:rPr sz="1100">
                <a:solidFill>
                  <a:srgbClr val="858A97"/>
                </a:solidFill>
                <a:latin typeface="Helvetica Neue Medium"/>
              </a:rPr>
              <a:t>AI SOLUTION</a:t>
            </a:r>
          </a:p>
        </p:txBody>
      </p:sp>
      <p:sp>
        <p:nvSpPr>
          <p:cNvPr id="27" name="TextBox 26"/>
          <p:cNvSpPr txBox="1"/>
          <p:nvPr/>
        </p:nvSpPr>
        <p:spPr>
          <a:xfrm>
            <a:off x="7543800" y="5431536"/>
            <a:ext cx="4636008"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Summaries with their source, alerts ranked by severity, and plans the user reviews one step at a time.</a:t>
            </a:r>
          </a:p>
        </p:txBody>
      </p:sp>
      <p:sp>
        <p:nvSpPr>
          <p:cNvPr id="28" name="TextBox 27"/>
          <p:cNvSpPr txBox="1"/>
          <p:nvPr/>
        </p:nvSpPr>
        <p:spPr>
          <a:xfrm>
            <a:off x="7543800" y="6858000"/>
            <a:ext cx="4636008" cy="274320"/>
          </a:xfrm>
          <a:prstGeom prst="rect">
            <a:avLst/>
          </a:prstGeom>
          <a:noFill/>
        </p:spPr>
        <p:txBody>
          <a:bodyPr wrap="square" lIns="0" rIns="0" tIns="0" bIns="0">
            <a:spAutoFit/>
          </a:bodyPr>
          <a:lstStyle/>
          <a:p>
            <a:pPr algn="l"/>
            <a:r>
              <a:rPr sz="1100">
                <a:solidFill>
                  <a:srgbClr val="858A97"/>
                </a:solidFill>
                <a:latin typeface="Helvetica Neue Medium"/>
              </a:rPr>
              <a:t>MY ROLE</a:t>
            </a:r>
          </a:p>
        </p:txBody>
      </p:sp>
      <p:sp>
        <p:nvSpPr>
          <p:cNvPr id="29" name="TextBox 28"/>
          <p:cNvSpPr txBox="1"/>
          <p:nvPr/>
        </p:nvSpPr>
        <p:spPr>
          <a:xfrm>
            <a:off x="7543800" y="7168896"/>
            <a:ext cx="4636008"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Lead UX designer: framed the problem, set the AI rules and five innovation concepts, designed the trade, AI and workflow flows, built the design system, and produced the prototype.</a:t>
            </a:r>
          </a:p>
        </p:txBody>
      </p:sp>
      <p:sp>
        <p:nvSpPr>
          <p:cNvPr id="30" name="TextBox 29"/>
          <p:cNvSpPr txBox="1"/>
          <p:nvPr/>
        </p:nvSpPr>
        <p:spPr>
          <a:xfrm>
            <a:off x="822960" y="8503920"/>
            <a:ext cx="11356848" cy="274320"/>
          </a:xfrm>
          <a:prstGeom prst="rect">
            <a:avLst/>
          </a:prstGeom>
          <a:noFill/>
        </p:spPr>
        <p:txBody>
          <a:bodyPr wrap="square" lIns="0" rIns="0" tIns="0" bIns="0">
            <a:spAutoFit/>
          </a:bodyPr>
          <a:lstStyle/>
          <a:p>
            <a:pPr algn="l"/>
            <a:r>
              <a:rPr sz="1200">
                <a:solidFill>
                  <a:srgbClr val="858A97"/>
                </a:solidFill>
                <a:latin typeface="Helvetica Neue Light"/>
              </a:rPr>
              <a:t>Scope: five screens, two trade flows of eight steps each. Mock data only.</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MY ROLE AND APPROACH</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What I did, how, why, with whom, and what came of it</a:t>
            </a:r>
          </a:p>
        </p:txBody>
      </p:sp>
      <p:sp>
        <p:nvSpPr>
          <p:cNvPr id="5" name="TextBox 4"/>
          <p:cNvSpPr txBox="1"/>
          <p:nvPr/>
        </p:nvSpPr>
        <p:spPr>
          <a:xfrm>
            <a:off x="822960" y="2194560"/>
            <a:ext cx="5394960" cy="274320"/>
          </a:xfrm>
          <a:prstGeom prst="rect">
            <a:avLst/>
          </a:prstGeom>
          <a:noFill/>
        </p:spPr>
        <p:txBody>
          <a:bodyPr wrap="square" lIns="0" rIns="0" tIns="0" bIns="0">
            <a:spAutoFit/>
          </a:bodyPr>
          <a:lstStyle/>
          <a:p>
            <a:pPr algn="l"/>
            <a:r>
              <a:rPr sz="1100">
                <a:solidFill>
                  <a:srgbClr val="858A97"/>
                </a:solidFill>
                <a:latin typeface="Helvetica Neue Medium"/>
              </a:rPr>
              <a:t>WHAT I DID</a:t>
            </a:r>
          </a:p>
        </p:txBody>
      </p:sp>
      <p:sp>
        <p:nvSpPr>
          <p:cNvPr id="6" name="TextBox 5"/>
          <p:cNvSpPr txBox="1"/>
          <p:nvPr/>
        </p:nvSpPr>
        <p:spPr>
          <a:xfrm>
            <a:off x="822960" y="250545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Framed the problem and scope. Set the AI rules and the five innovation concepts, each tied to a breakdown. Designed the trade, AI and workflow flows. Built the Figma design system. Produced the SwiftUI prototype.</a:t>
            </a:r>
          </a:p>
        </p:txBody>
      </p:sp>
      <p:sp>
        <p:nvSpPr>
          <p:cNvPr id="7" name="TextBox 6"/>
          <p:cNvSpPr txBox="1"/>
          <p:nvPr/>
        </p:nvSpPr>
        <p:spPr>
          <a:xfrm>
            <a:off x="6766560" y="2194560"/>
            <a:ext cx="5394960" cy="274320"/>
          </a:xfrm>
          <a:prstGeom prst="rect">
            <a:avLst/>
          </a:prstGeom>
          <a:noFill/>
        </p:spPr>
        <p:txBody>
          <a:bodyPr wrap="square" lIns="0" rIns="0" tIns="0" bIns="0">
            <a:spAutoFit/>
          </a:bodyPr>
          <a:lstStyle/>
          <a:p>
            <a:pPr algn="l"/>
            <a:r>
              <a:rPr sz="1100">
                <a:solidFill>
                  <a:srgbClr val="858A97"/>
                </a:solidFill>
                <a:latin typeface="Helvetica Neue Medium"/>
              </a:rPr>
              <a:t>HOW I DID IT</a:t>
            </a:r>
          </a:p>
        </p:txBody>
      </p:sp>
      <p:sp>
        <p:nvSpPr>
          <p:cNvPr id="8" name="TextBox 7"/>
          <p:cNvSpPr txBox="1"/>
          <p:nvPr/>
        </p:nvSpPr>
        <p:spPr>
          <a:xfrm>
            <a:off x="6766560" y="250545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Frame, hypothesize, map flows, design every state, prototype, then test. Testing is planned, not yet run.</a:t>
            </a:r>
          </a:p>
        </p:txBody>
      </p:sp>
      <p:sp>
        <p:nvSpPr>
          <p:cNvPr id="9" name="TextBox 8"/>
          <p:cNvSpPr txBox="1"/>
          <p:nvPr/>
        </p:nvSpPr>
        <p:spPr>
          <a:xfrm>
            <a:off x="822960" y="4572000"/>
            <a:ext cx="5394960" cy="274320"/>
          </a:xfrm>
          <a:prstGeom prst="rect">
            <a:avLst/>
          </a:prstGeom>
          <a:noFill/>
        </p:spPr>
        <p:txBody>
          <a:bodyPr wrap="square" lIns="0" rIns="0" tIns="0" bIns="0">
            <a:spAutoFit/>
          </a:bodyPr>
          <a:lstStyle/>
          <a:p>
            <a:pPr algn="l"/>
            <a:r>
              <a:rPr sz="1100">
                <a:solidFill>
                  <a:srgbClr val="858A97"/>
                </a:solidFill>
                <a:latin typeface="Helvetica Neue Medium"/>
              </a:rPr>
              <a:t>WHY I DID IT</a:t>
            </a:r>
          </a:p>
        </p:txBody>
      </p:sp>
      <p:sp>
        <p:nvSpPr>
          <p:cNvPr id="10" name="TextBox 9"/>
          <p:cNvSpPr txBox="1"/>
          <p:nvPr/>
        </p:nvSpPr>
        <p:spPr>
          <a:xfrm>
            <a:off x="822960" y="488289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Insight, Prospect, Guard, and Adapt show what the trade needs without making the call. Each decision has a stated trade-off.</a:t>
            </a:r>
          </a:p>
        </p:txBody>
      </p:sp>
      <p:sp>
        <p:nvSpPr>
          <p:cNvPr id="11" name="TextBox 10"/>
          <p:cNvSpPr txBox="1"/>
          <p:nvPr/>
        </p:nvSpPr>
        <p:spPr>
          <a:xfrm>
            <a:off x="6766560" y="4572000"/>
            <a:ext cx="5394960" cy="274320"/>
          </a:xfrm>
          <a:prstGeom prst="rect">
            <a:avLst/>
          </a:prstGeom>
          <a:noFill/>
        </p:spPr>
        <p:txBody>
          <a:bodyPr wrap="square" lIns="0" rIns="0" tIns="0" bIns="0">
            <a:spAutoFit/>
          </a:bodyPr>
          <a:lstStyle/>
          <a:p>
            <a:pPr algn="l"/>
            <a:r>
              <a:rPr sz="1100">
                <a:solidFill>
                  <a:srgbClr val="858A97"/>
                </a:solidFill>
                <a:latin typeface="Helvetica Neue Medium"/>
              </a:rPr>
              <a:t>WHO WAS INVOLVED</a:t>
            </a:r>
          </a:p>
        </p:txBody>
      </p:sp>
      <p:sp>
        <p:nvSpPr>
          <p:cNvPr id="12" name="TextBox 11"/>
          <p:cNvSpPr txBox="1"/>
          <p:nvPr/>
        </p:nvSpPr>
        <p:spPr>
          <a:xfrm>
            <a:off x="6766560" y="488289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Solo lead designer. AI agents helped with drafting; every call is mine. Personas are drafts for validation, not user research yet.</a:t>
            </a:r>
          </a:p>
        </p:txBody>
      </p:sp>
      <p:sp>
        <p:nvSpPr>
          <p:cNvPr id="13" name="TextBox 12"/>
          <p:cNvSpPr txBox="1"/>
          <p:nvPr/>
        </p:nvSpPr>
        <p:spPr>
          <a:xfrm>
            <a:off x="822960" y="6949440"/>
            <a:ext cx="5394960" cy="274320"/>
          </a:xfrm>
          <a:prstGeom prst="rect">
            <a:avLst/>
          </a:prstGeom>
          <a:noFill/>
        </p:spPr>
        <p:txBody>
          <a:bodyPr wrap="square" lIns="0" rIns="0" tIns="0" bIns="0">
            <a:spAutoFit/>
          </a:bodyPr>
          <a:lstStyle/>
          <a:p>
            <a:pPr algn="l"/>
            <a:r>
              <a:rPr sz="1100">
                <a:solidFill>
                  <a:srgbClr val="858A97"/>
                </a:solidFill>
                <a:latin typeface="Helvetica Neue Medium"/>
              </a:rPr>
              <a:t>WHAT CAME OF IT</a:t>
            </a:r>
          </a:p>
        </p:txBody>
      </p:sp>
      <p:sp>
        <p:nvSpPr>
          <p:cNvPr id="14" name="TextBox 13"/>
          <p:cNvSpPr txBox="1"/>
          <p:nvPr/>
        </p:nvSpPr>
        <p:spPr>
          <a:xfrm>
            <a:off x="822960" y="726033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Five screens, two eight-step trade flows, five concepts and one workflow for testing, a design system shared with the code, and wireframes for states, agent, and full experience.</a:t>
            </a:r>
          </a:p>
        </p:txBody>
      </p:sp>
      <p:sp>
        <p:nvSpPr>
          <p:cNvPr id="15" name="TextBox 14"/>
          <p:cNvSpPr txBox="1"/>
          <p:nvPr/>
        </p:nvSpPr>
        <p:spPr>
          <a:xfrm>
            <a:off x="6766560" y="6949440"/>
            <a:ext cx="5394960" cy="274320"/>
          </a:xfrm>
          <a:prstGeom prst="rect">
            <a:avLst/>
          </a:prstGeom>
          <a:noFill/>
        </p:spPr>
        <p:txBody>
          <a:bodyPr wrap="square" lIns="0" rIns="0" tIns="0" bIns="0">
            <a:spAutoFit/>
          </a:bodyPr>
          <a:lstStyle/>
          <a:p>
            <a:pPr algn="l"/>
            <a:r>
              <a:rPr sz="1100">
                <a:solidFill>
                  <a:srgbClr val="858A97"/>
                </a:solidFill>
                <a:latin typeface="Helvetica Neue Medium"/>
              </a:rPr>
              <a:t>RESULT</a:t>
            </a:r>
          </a:p>
        </p:txBody>
      </p:sp>
      <p:sp>
        <p:nvSpPr>
          <p:cNvPr id="16" name="TextBox 15"/>
          <p:cNvSpPr txBox="1"/>
          <p:nvPr/>
        </p:nvSpPr>
        <p:spPr>
          <a:xfrm>
            <a:off x="6766560" y="726033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Not yet measured. The planned measures are listed in the methodology section, with targets set before any test.</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CONTEXT AND CONSTRAINTS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Context and constraints</a:t>
            </a:r>
          </a:p>
        </p:txBody>
      </p:sp>
      <p:sp>
        <p:nvSpPr>
          <p:cNvPr id="5" name="TextBox 4"/>
          <p:cNvSpPr txBox="1"/>
          <p:nvPr/>
        </p:nvSpPr>
        <p:spPr>
          <a:xfrm>
            <a:off x="822960" y="1554480"/>
            <a:ext cx="11356848" cy="365760"/>
          </a:xfrm>
          <a:prstGeom prst="rect">
            <a:avLst/>
          </a:prstGeom>
          <a:noFill/>
        </p:spPr>
        <p:txBody>
          <a:bodyPr wrap="square" lIns="0" rIns="0" tIns="0" bIns="0">
            <a:spAutoFit/>
          </a:bodyPr>
          <a:lstStyle/>
          <a:p>
            <a:pPr algn="l"/>
            <a:r>
              <a:rPr sz="1500">
                <a:solidFill>
                  <a:srgbClr val="858A97"/>
                </a:solidFill>
                <a:latin typeface="Helvetica Neue Light"/>
              </a:rPr>
              <a:t>What the prototype has to prove, and what it cannot yet.</a:t>
            </a:r>
          </a:p>
        </p:txBody>
      </p:sp>
      <p:sp>
        <p:nvSpPr>
          <p:cNvPr id="6" name="TextBox 5"/>
          <p:cNvSpPr txBox="1"/>
          <p:nvPr/>
        </p:nvSpPr>
        <p:spPr>
          <a:xfrm>
            <a:off x="822960" y="2377440"/>
            <a:ext cx="5394960" cy="274320"/>
          </a:xfrm>
          <a:prstGeom prst="rect">
            <a:avLst/>
          </a:prstGeom>
          <a:noFill/>
        </p:spPr>
        <p:txBody>
          <a:bodyPr wrap="square" lIns="0" rIns="0" tIns="0" bIns="0">
            <a:spAutoFit/>
          </a:bodyPr>
          <a:lstStyle/>
          <a:p>
            <a:pPr algn="l"/>
            <a:r>
              <a:rPr sz="1100">
                <a:solidFill>
                  <a:srgbClr val="858A97"/>
                </a:solidFill>
                <a:latin typeface="Helvetica Neue Medium"/>
              </a:rPr>
              <a:t>BUSINESS CHALLENGE</a:t>
            </a:r>
          </a:p>
        </p:txBody>
      </p:sp>
      <p:sp>
        <p:nvSpPr>
          <p:cNvPr id="7" name="TextBox 6"/>
          <p:cNvSpPr txBox="1"/>
          <p:nvPr/>
        </p:nvSpPr>
        <p:spPr>
          <a:xfrm>
            <a:off x="822960" y="268833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Show one complete loop, from noticing a change to placing an order, in a prototype stakeholders can test.</a:t>
            </a:r>
          </a:p>
        </p:txBody>
      </p:sp>
      <p:sp>
        <p:nvSpPr>
          <p:cNvPr id="8" name="TextBox 7"/>
          <p:cNvSpPr txBox="1"/>
          <p:nvPr/>
        </p:nvSpPr>
        <p:spPr>
          <a:xfrm>
            <a:off x="6766560" y="2377440"/>
            <a:ext cx="5394960" cy="274320"/>
          </a:xfrm>
          <a:prstGeom prst="rect">
            <a:avLst/>
          </a:prstGeom>
          <a:noFill/>
        </p:spPr>
        <p:txBody>
          <a:bodyPr wrap="square" lIns="0" rIns="0" tIns="0" bIns="0">
            <a:spAutoFit/>
          </a:bodyPr>
          <a:lstStyle/>
          <a:p>
            <a:pPr algn="l"/>
            <a:r>
              <a:rPr sz="1100">
                <a:solidFill>
                  <a:srgbClr val="858A97"/>
                </a:solidFill>
                <a:latin typeface="Helvetica Neue Medium"/>
              </a:rPr>
              <a:t>STAKEHOLDERS</a:t>
            </a:r>
          </a:p>
        </p:txBody>
      </p:sp>
      <p:sp>
        <p:nvSpPr>
          <p:cNvPr id="9" name="TextBox 8"/>
          <p:cNvSpPr txBox="1"/>
          <p:nvPr/>
        </p:nvSpPr>
        <p:spPr>
          <a:xfrm>
            <a:off x="6766560" y="268833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Active traders, busy investors, and first-time investors.</a:t>
            </a:r>
          </a:p>
        </p:txBody>
      </p:sp>
      <p:sp>
        <p:nvSpPr>
          <p:cNvPr id="10" name="TextBox 9"/>
          <p:cNvSpPr txBox="1"/>
          <p:nvPr/>
        </p:nvSpPr>
        <p:spPr>
          <a:xfrm>
            <a:off x="822960" y="4937760"/>
            <a:ext cx="5394960" cy="274320"/>
          </a:xfrm>
          <a:prstGeom prst="rect">
            <a:avLst/>
          </a:prstGeom>
          <a:noFill/>
        </p:spPr>
        <p:txBody>
          <a:bodyPr wrap="square" lIns="0" rIns="0" tIns="0" bIns="0">
            <a:spAutoFit/>
          </a:bodyPr>
          <a:lstStyle/>
          <a:p>
            <a:pPr algn="l"/>
            <a:r>
              <a:rPr sz="1100">
                <a:solidFill>
                  <a:srgbClr val="858A97"/>
                </a:solidFill>
                <a:latin typeface="Helvetica Neue Medium"/>
              </a:rPr>
              <a:t>CONSTRAINTS</a:t>
            </a:r>
          </a:p>
        </p:txBody>
      </p:sp>
      <p:sp>
        <p:nvSpPr>
          <p:cNvPr id="11" name="TextBox 10"/>
          <p:cNvSpPr txBox="1"/>
          <p:nvPr/>
        </p:nvSpPr>
        <p:spPr>
          <a:xfrm>
            <a:off x="822960" y="524865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Mock data and a 0.8-second mock delay. No real market feed, brokerage connection, or authentication backend at this stage.</a:t>
            </a:r>
          </a:p>
        </p:txBody>
      </p:sp>
      <p:sp>
        <p:nvSpPr>
          <p:cNvPr id="12" name="TextBox 11"/>
          <p:cNvSpPr txBox="1"/>
          <p:nvPr/>
        </p:nvSpPr>
        <p:spPr>
          <a:xfrm>
            <a:off x="6766560" y="4937760"/>
            <a:ext cx="5394960" cy="274320"/>
          </a:xfrm>
          <a:prstGeom prst="rect">
            <a:avLst/>
          </a:prstGeom>
          <a:noFill/>
        </p:spPr>
        <p:txBody>
          <a:bodyPr wrap="square" lIns="0" rIns="0" tIns="0" bIns="0">
            <a:spAutoFit/>
          </a:bodyPr>
          <a:lstStyle/>
          <a:p>
            <a:pPr algn="l"/>
            <a:r>
              <a:rPr sz="1100">
                <a:solidFill>
                  <a:srgbClr val="858A97"/>
                </a:solidFill>
                <a:latin typeface="Helvetica Neue Medium"/>
              </a:rPr>
              <a:t>ADVICE LINE</a:t>
            </a:r>
          </a:p>
        </p:txBody>
      </p:sp>
      <p:sp>
        <p:nvSpPr>
          <p:cNvPr id="13" name="TextBox 12"/>
          <p:cNvSpPr txBox="1"/>
          <p:nvPr/>
        </p:nvSpPr>
        <p:spPr>
          <a:xfrm>
            <a:off x="6766560" y="524865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The AI does not originate buy or sell advice. Trade wording needs compliance review before it ships.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THE PROBLEM</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The user problem and the AI problem, defined separately</a:t>
            </a:r>
          </a:p>
        </p:txBody>
      </p:sp>
      <p:sp>
        <p:nvSpPr>
          <p:cNvPr id="5" name="TextBox 4"/>
          <p:cNvSpPr txBox="1"/>
          <p:nvPr/>
        </p:nvSpPr>
        <p:spPr>
          <a:xfrm>
            <a:off x="822960" y="2377440"/>
            <a:ext cx="5394960" cy="274320"/>
          </a:xfrm>
          <a:prstGeom prst="rect">
            <a:avLst/>
          </a:prstGeom>
          <a:noFill/>
        </p:spPr>
        <p:txBody>
          <a:bodyPr wrap="square" lIns="0" rIns="0" tIns="0" bIns="0">
            <a:spAutoFit/>
          </a:bodyPr>
          <a:lstStyle/>
          <a:p>
            <a:pPr algn="l"/>
            <a:r>
              <a:rPr sz="1100">
                <a:solidFill>
                  <a:srgbClr val="858A97"/>
                </a:solidFill>
                <a:latin typeface="Helvetica Neue Medium"/>
              </a:rPr>
              <a:t>USER PROBLEM</a:t>
            </a:r>
          </a:p>
        </p:txBody>
      </p:sp>
      <p:sp>
        <p:nvSpPr>
          <p:cNvPr id="6" name="TextBox 5"/>
          <p:cNvSpPr txBox="1"/>
          <p:nvPr/>
        </p:nvSpPr>
        <p:spPr>
          <a:xfrm>
            <a:off x="822960" y="268833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Research, order entry, watching positions, and rebalancing live in different places. The hold-or-exit call gets made in the user’s head.</a:t>
            </a:r>
          </a:p>
        </p:txBody>
      </p:sp>
      <p:sp>
        <p:nvSpPr>
          <p:cNvPr id="7" name="TextBox 6"/>
          <p:cNvSpPr txBox="1"/>
          <p:nvPr/>
        </p:nvSpPr>
        <p:spPr>
          <a:xfrm>
            <a:off x="6766560" y="2377440"/>
            <a:ext cx="5394960" cy="274320"/>
          </a:xfrm>
          <a:prstGeom prst="rect">
            <a:avLst/>
          </a:prstGeom>
          <a:noFill/>
        </p:spPr>
        <p:txBody>
          <a:bodyPr wrap="square" lIns="0" rIns="0" tIns="0" bIns="0">
            <a:spAutoFit/>
          </a:bodyPr>
          <a:lstStyle/>
          <a:p>
            <a:pPr algn="l"/>
            <a:r>
              <a:rPr sz="1100">
                <a:solidFill>
                  <a:srgbClr val="858A97"/>
                </a:solidFill>
                <a:latin typeface="Helvetica Neue Medium"/>
              </a:rPr>
              <a:t>AI PROBLEM</a:t>
            </a:r>
          </a:p>
        </p:txBody>
      </p:sp>
      <p:sp>
        <p:nvSpPr>
          <p:cNvPr id="8" name="TextBox 7"/>
          <p:cNvSpPr txBox="1"/>
          <p:nvPr/>
        </p:nvSpPr>
        <p:spPr>
          <a:xfrm>
            <a:off x="6766560" y="268833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Summarize what moved and why, with the source. Rank alerts by how much they need attention. Propose a rebalance the user can review.</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USERS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Three draft personas to validate before we rely on them</a:t>
            </a:r>
          </a:p>
        </p:txBody>
      </p:sp>
      <p:sp>
        <p:nvSpPr>
          <p:cNvPr id="5" name="TextBox 4"/>
          <p:cNvSpPr txBox="1"/>
          <p:nvPr/>
        </p:nvSpPr>
        <p:spPr>
          <a:xfrm>
            <a:off x="822960" y="2194560"/>
            <a:ext cx="3566160" cy="274320"/>
          </a:xfrm>
          <a:prstGeom prst="rect">
            <a:avLst/>
          </a:prstGeom>
          <a:noFill/>
        </p:spPr>
        <p:txBody>
          <a:bodyPr wrap="square" lIns="0" rIns="0" tIns="0" bIns="0">
            <a:spAutoFit/>
          </a:bodyPr>
          <a:lstStyle/>
          <a:p>
            <a:pPr algn="l"/>
            <a:r>
              <a:rPr sz="1100">
                <a:solidFill>
                  <a:srgbClr val="858A97"/>
                </a:solidFill>
                <a:latin typeface="Helvetica Neue Medium"/>
              </a:rPr>
              <a:t>DRAFT PERSONA · MAYA</a:t>
            </a:r>
          </a:p>
        </p:txBody>
      </p:sp>
      <p:sp>
        <p:nvSpPr>
          <p:cNvPr id="6" name="TextBox 5"/>
          <p:cNvSpPr txBox="1"/>
          <p:nvPr/>
        </p:nvSpPr>
        <p:spPr>
          <a:xfrm>
            <a:off x="822960" y="2505456"/>
            <a:ext cx="356616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Active self-directed trader. Trades several times a week from her phone.</a:t>
            </a:r>
          </a:p>
          <a:p>
            <a:pPr algn="l">
              <a:spcAft>
                <a:spcPts val="600"/>
              </a:spcAft>
            </a:pPr>
            <a:r>
              <a:rPr sz="1400">
                <a:solidFill>
                  <a:srgbClr val="14161D"/>
                </a:solidFill>
                <a:latin typeface="Helvetica Neue Light"/>
              </a:rPr>
              <a:t>Goal: get in and out quickly; spot momentum early.</a:t>
            </a:r>
          </a:p>
          <a:p>
            <a:pPr algn="l">
              <a:spcAft>
                <a:spcPts val="600"/>
              </a:spcAft>
            </a:pPr>
            <a:r>
              <a:rPr sz="1400">
                <a:solidFill>
                  <a:srgbClr val="14161D"/>
                </a:solidFill>
                <a:latin typeface="Helvetica Neue Light"/>
              </a:rPr>
              <a:t>Pain: research is scattered; order entry takes too many taps.</a:t>
            </a:r>
          </a:p>
        </p:txBody>
      </p:sp>
      <p:sp>
        <p:nvSpPr>
          <p:cNvPr id="7" name="TextBox 6"/>
          <p:cNvSpPr txBox="1"/>
          <p:nvPr/>
        </p:nvSpPr>
        <p:spPr>
          <a:xfrm>
            <a:off x="4572000" y="2194560"/>
            <a:ext cx="3566160" cy="274320"/>
          </a:xfrm>
          <a:prstGeom prst="rect">
            <a:avLst/>
          </a:prstGeom>
          <a:noFill/>
        </p:spPr>
        <p:txBody>
          <a:bodyPr wrap="square" lIns="0" rIns="0" tIns="0" bIns="0">
            <a:spAutoFit/>
          </a:bodyPr>
          <a:lstStyle/>
          <a:p>
            <a:pPr algn="l"/>
            <a:r>
              <a:rPr sz="1100">
                <a:solidFill>
                  <a:srgbClr val="858A97"/>
                </a:solidFill>
                <a:latin typeface="Helvetica Neue Medium"/>
              </a:rPr>
              <a:t>DRAFT PERSONA · DANIEL</a:t>
            </a:r>
          </a:p>
        </p:txBody>
      </p:sp>
      <p:sp>
        <p:nvSpPr>
          <p:cNvPr id="8" name="TextBox 7"/>
          <p:cNvSpPr txBox="1"/>
          <p:nvPr/>
        </p:nvSpPr>
        <p:spPr>
          <a:xfrm>
            <a:off x="4572000" y="2505456"/>
            <a:ext cx="356616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Busy professional investor. Invests a fixed amount each month and checks his portfolio weekly.</a:t>
            </a:r>
          </a:p>
          <a:p>
            <a:pPr algn="l">
              <a:spcAft>
                <a:spcPts val="600"/>
              </a:spcAft>
            </a:pPr>
            <a:r>
              <a:rPr sz="1400">
                <a:solidFill>
                  <a:srgbClr val="14161D"/>
                </a:solidFill>
                <a:latin typeface="Helvetica Neue Light"/>
              </a:rPr>
              <a:t>Goal: grow long-term savings without big mistakes.</a:t>
            </a:r>
          </a:p>
          <a:p>
            <a:pPr algn="l">
              <a:spcAft>
                <a:spcPts val="600"/>
              </a:spcAft>
            </a:pPr>
            <a:r>
              <a:rPr sz="1400">
                <a:solidFill>
                  <a:srgbClr val="14161D"/>
                </a:solidFill>
                <a:latin typeface="Helvetica Neue Light"/>
              </a:rPr>
              <a:t>Pain: no time to research; unsure when to rebalance.</a:t>
            </a:r>
          </a:p>
        </p:txBody>
      </p:sp>
      <p:sp>
        <p:nvSpPr>
          <p:cNvPr id="9" name="TextBox 8"/>
          <p:cNvSpPr txBox="1"/>
          <p:nvPr/>
        </p:nvSpPr>
        <p:spPr>
          <a:xfrm>
            <a:off x="8321040" y="2194560"/>
            <a:ext cx="3840480" cy="274320"/>
          </a:xfrm>
          <a:prstGeom prst="rect">
            <a:avLst/>
          </a:prstGeom>
          <a:noFill/>
        </p:spPr>
        <p:txBody>
          <a:bodyPr wrap="square" lIns="0" rIns="0" tIns="0" bIns="0">
            <a:spAutoFit/>
          </a:bodyPr>
          <a:lstStyle/>
          <a:p>
            <a:pPr algn="l"/>
            <a:r>
              <a:rPr sz="1100">
                <a:solidFill>
                  <a:srgbClr val="858A97"/>
                </a:solidFill>
                <a:latin typeface="Helvetica Neue Medium"/>
              </a:rPr>
              <a:t>DRAFT PERSONA · PRIYA</a:t>
            </a:r>
          </a:p>
        </p:txBody>
      </p:sp>
      <p:sp>
        <p:nvSpPr>
          <p:cNvPr id="10" name="TextBox 9"/>
          <p:cNvSpPr txBox="1"/>
          <p:nvPr/>
        </p:nvSpPr>
        <p:spPr>
          <a:xfrm>
            <a:off x="8321040" y="2505456"/>
            <a:ext cx="38404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First-time investor. Wants to start small and learn while she invests.</a:t>
            </a:r>
          </a:p>
          <a:p>
            <a:pPr algn="l">
              <a:spcAft>
                <a:spcPts val="600"/>
              </a:spcAft>
            </a:pPr>
            <a:r>
              <a:rPr sz="1400">
                <a:solidFill>
                  <a:srgbClr val="14161D"/>
                </a:solidFill>
                <a:latin typeface="Helvetica Neue Light"/>
              </a:rPr>
              <a:t>Goal: learn by doing; avoid a wrong trade.</a:t>
            </a:r>
          </a:p>
          <a:p>
            <a:pPr algn="l">
              <a:spcAft>
                <a:spcPts val="600"/>
              </a:spcAft>
            </a:pPr>
            <a:r>
              <a:rPr sz="1400">
                <a:solidFill>
                  <a:srgbClr val="14161D"/>
                </a:solidFill>
                <a:latin typeface="Helvetica Neue Light"/>
              </a:rPr>
              <a:t>Pain: jargon; fear of ordering the wrong amount.</a:t>
            </a:r>
          </a:p>
        </p:txBody>
      </p:sp>
      <p:sp>
        <p:nvSpPr>
          <p:cNvPr id="11" name="TextBox 10"/>
          <p:cNvSpPr txBox="1"/>
          <p:nvPr/>
        </p:nvSpPr>
        <p:spPr>
          <a:xfrm>
            <a:off x="822960" y="8503920"/>
            <a:ext cx="11356848" cy="274320"/>
          </a:xfrm>
          <a:prstGeom prst="rect">
            <a:avLst/>
          </a:prstGeom>
          <a:noFill/>
        </p:spPr>
        <p:txBody>
          <a:bodyPr wrap="square" lIns="0" rIns="0" tIns="0" bIns="0">
            <a:spAutoFit/>
          </a:bodyPr>
          <a:lstStyle/>
          <a:p>
            <a:pPr algn="l"/>
            <a:r>
              <a:rPr sz="1200">
                <a:solidFill>
                  <a:srgbClr val="858A97"/>
                </a:solidFill>
                <a:latin typeface="Helvetica Neue Light"/>
              </a:rPr>
              <a:t>Hypotheses from the FigJam board. Interviews come before any decision rests on them.</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THE SOLUTION</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One trade in eight steps, by share quantity or dollar amount</a:t>
            </a:r>
          </a:p>
        </p:txBody>
      </p:sp>
      <p:sp>
        <p:nvSpPr>
          <p:cNvPr id="5" name="Rounded Rectangle 4"/>
          <p:cNvSpPr/>
          <p:nvPr/>
        </p:nvSpPr>
        <p:spPr>
          <a:xfrm>
            <a:off x="822960" y="2377440"/>
            <a:ext cx="2651760" cy="1188720"/>
          </a:xfrm>
          <a:prstGeom prst="roundRect">
            <a:avLst>
              <a:gd name="adj" fmla="val 8000"/>
            </a:avLst>
          </a:prstGeom>
          <a:noFill/>
          <a:ln w="12700">
            <a:solidFill>
              <a:srgbClr val="B553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560320"/>
            <a:ext cx="2377440" cy="822960"/>
          </a:xfrm>
          <a:prstGeom prst="rect">
            <a:avLst/>
          </a:prstGeom>
          <a:noFill/>
        </p:spPr>
        <p:txBody>
          <a:bodyPr wrap="square" lIns="0" rIns="0" tIns="0" bIns="0">
            <a:spAutoFit/>
          </a:bodyPr>
          <a:lstStyle/>
          <a:p>
            <a:pPr algn="ctr"/>
            <a:r>
              <a:rPr sz="1400">
                <a:solidFill>
                  <a:srgbClr val="14161D"/>
                </a:solidFill>
                <a:latin typeface="Helvetica Neue Medium"/>
              </a:rPr>
              <a:t>1. Trade setup</a:t>
            </a:r>
          </a:p>
        </p:txBody>
      </p:sp>
      <p:sp>
        <p:nvSpPr>
          <p:cNvPr id="7" name="Rounded Rectangle 6"/>
          <p:cNvSpPr/>
          <p:nvPr/>
        </p:nvSpPr>
        <p:spPr>
          <a:xfrm>
            <a:off x="3749040" y="2377440"/>
            <a:ext cx="2651760" cy="1188720"/>
          </a:xfrm>
          <a:prstGeom prst="roundRect">
            <a:avLst>
              <a:gd name="adj" fmla="val 8000"/>
            </a:avLst>
          </a:prstGeom>
          <a:noFill/>
          <a:ln w="12700">
            <a:solidFill>
              <a:srgbClr val="B553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86200" y="2560320"/>
            <a:ext cx="2377440" cy="822960"/>
          </a:xfrm>
          <a:prstGeom prst="rect">
            <a:avLst/>
          </a:prstGeom>
          <a:noFill/>
        </p:spPr>
        <p:txBody>
          <a:bodyPr wrap="square" lIns="0" rIns="0" tIns="0" bIns="0">
            <a:spAutoFit/>
          </a:bodyPr>
          <a:lstStyle/>
          <a:p>
            <a:pPr algn="ctr"/>
            <a:r>
              <a:rPr sz="1400">
                <a:solidFill>
                  <a:srgbClr val="14161D"/>
                </a:solidFill>
                <a:latin typeface="Helvetica Neue Medium"/>
              </a:rPr>
              <a:t>2. Choose action</a:t>
            </a:r>
          </a:p>
        </p:txBody>
      </p:sp>
      <p:sp>
        <p:nvSpPr>
          <p:cNvPr id="9" name="Rounded Rectangle 8"/>
          <p:cNvSpPr/>
          <p:nvPr/>
        </p:nvSpPr>
        <p:spPr>
          <a:xfrm>
            <a:off x="6675120" y="2377440"/>
            <a:ext cx="2651760" cy="1188720"/>
          </a:xfrm>
          <a:prstGeom prst="roundRect">
            <a:avLst>
              <a:gd name="adj" fmla="val 8000"/>
            </a:avLst>
          </a:prstGeom>
          <a:noFill/>
          <a:ln w="12700">
            <a:solidFill>
              <a:srgbClr val="B553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12280" y="2560320"/>
            <a:ext cx="2377440" cy="822960"/>
          </a:xfrm>
          <a:prstGeom prst="rect">
            <a:avLst/>
          </a:prstGeom>
          <a:noFill/>
        </p:spPr>
        <p:txBody>
          <a:bodyPr wrap="square" lIns="0" rIns="0" tIns="0" bIns="0">
            <a:spAutoFit/>
          </a:bodyPr>
          <a:lstStyle/>
          <a:p>
            <a:pPr algn="ctr"/>
            <a:r>
              <a:rPr sz="1400">
                <a:solidFill>
                  <a:srgbClr val="14161D"/>
                </a:solidFill>
                <a:latin typeface="Helvetica Neue Medium"/>
              </a:rPr>
              <a:t>3. Enter quantity or amount</a:t>
            </a:r>
          </a:p>
        </p:txBody>
      </p:sp>
      <p:sp>
        <p:nvSpPr>
          <p:cNvPr id="11" name="Rounded Rectangle 10"/>
          <p:cNvSpPr/>
          <p:nvPr/>
        </p:nvSpPr>
        <p:spPr>
          <a:xfrm>
            <a:off x="9601200" y="2377440"/>
            <a:ext cx="2651760" cy="1188720"/>
          </a:xfrm>
          <a:prstGeom prst="roundRect">
            <a:avLst>
              <a:gd name="adj" fmla="val 8000"/>
            </a:avLst>
          </a:prstGeom>
          <a:noFill/>
          <a:ln w="12700">
            <a:solidFill>
              <a:srgbClr val="B553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38360" y="2560320"/>
            <a:ext cx="2377440" cy="822960"/>
          </a:xfrm>
          <a:prstGeom prst="rect">
            <a:avLst/>
          </a:prstGeom>
          <a:noFill/>
        </p:spPr>
        <p:txBody>
          <a:bodyPr wrap="square" lIns="0" rIns="0" tIns="0" bIns="0">
            <a:spAutoFit/>
          </a:bodyPr>
          <a:lstStyle/>
          <a:p>
            <a:pPr algn="ctr"/>
            <a:r>
              <a:rPr sz="1400">
                <a:solidFill>
                  <a:srgbClr val="14161D"/>
                </a:solidFill>
                <a:latin typeface="Helvetica Neue Medium"/>
              </a:rPr>
              <a:t>4. Confirm quantity or amount</a:t>
            </a:r>
          </a:p>
        </p:txBody>
      </p:sp>
      <p:sp>
        <p:nvSpPr>
          <p:cNvPr id="13" name="Rounded Rectangle 12"/>
          <p:cNvSpPr/>
          <p:nvPr/>
        </p:nvSpPr>
        <p:spPr>
          <a:xfrm>
            <a:off x="822960" y="4297680"/>
            <a:ext cx="2651760" cy="1188720"/>
          </a:xfrm>
          <a:prstGeom prst="roundRect">
            <a:avLst>
              <a:gd name="adj" fmla="val 8000"/>
            </a:avLst>
          </a:prstGeom>
          <a:noFill/>
          <a:ln w="12700">
            <a:solidFill>
              <a:srgbClr val="B553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480560"/>
            <a:ext cx="2377440" cy="822960"/>
          </a:xfrm>
          <a:prstGeom prst="rect">
            <a:avLst/>
          </a:prstGeom>
          <a:noFill/>
        </p:spPr>
        <p:txBody>
          <a:bodyPr wrap="square" lIns="0" rIns="0" tIns="0" bIns="0">
            <a:spAutoFit/>
          </a:bodyPr>
          <a:lstStyle/>
          <a:p>
            <a:pPr algn="ctr"/>
            <a:r>
              <a:rPr sz="1400">
                <a:solidFill>
                  <a:srgbClr val="14161D"/>
                </a:solidFill>
                <a:latin typeface="Helvetica Neue Medium"/>
              </a:rPr>
              <a:t>5. Choose order type</a:t>
            </a:r>
          </a:p>
        </p:txBody>
      </p:sp>
      <p:sp>
        <p:nvSpPr>
          <p:cNvPr id="15" name="Rounded Rectangle 14"/>
          <p:cNvSpPr/>
          <p:nvPr/>
        </p:nvSpPr>
        <p:spPr>
          <a:xfrm>
            <a:off x="3749040" y="4297680"/>
            <a:ext cx="2651760" cy="1188720"/>
          </a:xfrm>
          <a:prstGeom prst="roundRect">
            <a:avLst>
              <a:gd name="adj" fmla="val 8000"/>
            </a:avLst>
          </a:prstGeom>
          <a:noFill/>
          <a:ln w="12700">
            <a:solidFill>
              <a:srgbClr val="B553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86200" y="4480560"/>
            <a:ext cx="2377440" cy="822960"/>
          </a:xfrm>
          <a:prstGeom prst="rect">
            <a:avLst/>
          </a:prstGeom>
          <a:noFill/>
        </p:spPr>
        <p:txBody>
          <a:bodyPr wrap="square" lIns="0" rIns="0" tIns="0" bIns="0">
            <a:spAutoFit/>
          </a:bodyPr>
          <a:lstStyle/>
          <a:p>
            <a:pPr algn="ctr"/>
            <a:r>
              <a:rPr sz="1400">
                <a:solidFill>
                  <a:srgbClr val="14161D"/>
                </a:solidFill>
                <a:latin typeface="Helvetica Neue Medium"/>
              </a:rPr>
              <a:t>6. Review and approve</a:t>
            </a:r>
          </a:p>
        </p:txBody>
      </p:sp>
      <p:sp>
        <p:nvSpPr>
          <p:cNvPr id="17" name="Rounded Rectangle 16"/>
          <p:cNvSpPr/>
          <p:nvPr/>
        </p:nvSpPr>
        <p:spPr>
          <a:xfrm>
            <a:off x="6675120" y="4297680"/>
            <a:ext cx="2651760" cy="1188720"/>
          </a:xfrm>
          <a:prstGeom prst="roundRect">
            <a:avLst>
              <a:gd name="adj" fmla="val 8000"/>
            </a:avLst>
          </a:prstGeom>
          <a:noFill/>
          <a:ln w="12700">
            <a:solidFill>
              <a:srgbClr val="B553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12280" y="4480560"/>
            <a:ext cx="2377440" cy="822960"/>
          </a:xfrm>
          <a:prstGeom prst="rect">
            <a:avLst/>
          </a:prstGeom>
          <a:noFill/>
        </p:spPr>
        <p:txBody>
          <a:bodyPr wrap="square" lIns="0" rIns="0" tIns="0" bIns="0">
            <a:spAutoFit/>
          </a:bodyPr>
          <a:lstStyle/>
          <a:p>
            <a:pPr algn="ctr"/>
            <a:r>
              <a:rPr sz="1400">
                <a:solidFill>
                  <a:srgbClr val="14161D"/>
                </a:solidFill>
                <a:latin typeface="Helvetica Neue Medium"/>
              </a:rPr>
              <a:t>7. Submission outcome</a:t>
            </a:r>
          </a:p>
        </p:txBody>
      </p:sp>
      <p:sp>
        <p:nvSpPr>
          <p:cNvPr id="19" name="Rounded Rectangle 18"/>
          <p:cNvSpPr/>
          <p:nvPr/>
        </p:nvSpPr>
        <p:spPr>
          <a:xfrm>
            <a:off x="9601200" y="4297680"/>
            <a:ext cx="2651760" cy="1188720"/>
          </a:xfrm>
          <a:prstGeom prst="roundRect">
            <a:avLst>
              <a:gd name="adj" fmla="val 8000"/>
            </a:avLst>
          </a:prstGeom>
          <a:noFill/>
          <a:ln w="12700">
            <a:solidFill>
              <a:srgbClr val="B553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38360" y="4480560"/>
            <a:ext cx="2377440" cy="822960"/>
          </a:xfrm>
          <a:prstGeom prst="rect">
            <a:avLst/>
          </a:prstGeom>
          <a:noFill/>
        </p:spPr>
        <p:txBody>
          <a:bodyPr wrap="square" lIns="0" rIns="0" tIns="0" bIns="0">
            <a:spAutoFit/>
          </a:bodyPr>
          <a:lstStyle/>
          <a:p>
            <a:pPr algn="ctr"/>
            <a:r>
              <a:rPr sz="1400">
                <a:solidFill>
                  <a:srgbClr val="14161D"/>
                </a:solidFill>
                <a:latin typeface="Helvetica Neue Medium"/>
              </a:rPr>
              <a:t>8. Return to dashboard</a:t>
            </a:r>
          </a:p>
        </p:txBody>
      </p:sp>
      <p:sp>
        <p:nvSpPr>
          <p:cNvPr id="21" name="TextBox 20"/>
          <p:cNvSpPr txBox="1"/>
          <p:nvPr/>
        </p:nvSpPr>
        <p:spPr>
          <a:xfrm>
            <a:off x="822960" y="8503920"/>
            <a:ext cx="11356848" cy="274320"/>
          </a:xfrm>
          <a:prstGeom prst="rect">
            <a:avLst/>
          </a:prstGeom>
          <a:noFill/>
        </p:spPr>
        <p:txBody>
          <a:bodyPr wrap="square" lIns="0" rIns="0" tIns="0" bIns="0">
            <a:spAutoFit/>
          </a:bodyPr>
          <a:lstStyle/>
          <a:p>
            <a:pPr algn="l"/>
            <a:r>
              <a:rPr sz="1200">
                <a:solidFill>
                  <a:srgbClr val="858A97"/>
                </a:solidFill>
                <a:latin typeface="Helvetica Neue Light"/>
              </a:rPr>
              <a:t>The dollar flow runs the same eight steps, with Enter Dollar Amount and Confirm Dollar Amount in place of the share steps.</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STATES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Designing for the states that mock data hides</a:t>
            </a:r>
          </a:p>
        </p:txBody>
      </p:sp>
      <p:sp>
        <p:nvSpPr>
          <p:cNvPr id="5" name="TextBox 4"/>
          <p:cNvSpPr txBox="1"/>
          <p:nvPr/>
        </p:nvSpPr>
        <p:spPr>
          <a:xfrm>
            <a:off x="822960" y="1554480"/>
            <a:ext cx="11356848" cy="365760"/>
          </a:xfrm>
          <a:prstGeom prst="rect">
            <a:avLst/>
          </a:prstGeom>
          <a:noFill/>
        </p:spPr>
        <p:txBody>
          <a:bodyPr wrap="square" lIns="0" rIns="0" tIns="0" bIns="0">
            <a:spAutoFit/>
          </a:bodyPr>
          <a:lstStyle/>
          <a:p>
            <a:pPr algn="l"/>
            <a:r>
              <a:rPr sz="1500">
                <a:solidFill>
                  <a:srgbClr val="858A97"/>
                </a:solidFill>
                <a:latin typeface="Helvetica Neue Light"/>
              </a:rPr>
              <a:t>The dashboard in four states. The other four screens follow the same pattern.</a:t>
            </a:r>
          </a:p>
        </p:txBody>
      </p:sp>
      <p:sp>
        <p:nvSpPr>
          <p:cNvPr id="6" name="TextBox 5"/>
          <p:cNvSpPr txBox="1"/>
          <p:nvPr/>
        </p:nvSpPr>
        <p:spPr>
          <a:xfrm>
            <a:off x="822960" y="2560320"/>
            <a:ext cx="3017520" cy="274320"/>
          </a:xfrm>
          <a:prstGeom prst="rect">
            <a:avLst/>
          </a:prstGeom>
          <a:noFill/>
        </p:spPr>
        <p:txBody>
          <a:bodyPr wrap="square" lIns="0" rIns="0" tIns="0" bIns="0">
            <a:spAutoFit/>
          </a:bodyPr>
          <a:lstStyle/>
          <a:p>
            <a:pPr algn="l"/>
            <a:r>
              <a:rPr sz="1100">
                <a:solidFill>
                  <a:srgbClr val="858A97"/>
                </a:solidFill>
                <a:latin typeface="Helvetica Neue Medium"/>
              </a:rPr>
              <a:t>STATE</a:t>
            </a:r>
          </a:p>
        </p:txBody>
      </p:sp>
      <p:sp>
        <p:nvSpPr>
          <p:cNvPr id="7" name="TextBox 6"/>
          <p:cNvSpPr txBox="1"/>
          <p:nvPr/>
        </p:nvSpPr>
        <p:spPr>
          <a:xfrm>
            <a:off x="4023360" y="2560320"/>
            <a:ext cx="8522208" cy="274320"/>
          </a:xfrm>
          <a:prstGeom prst="rect">
            <a:avLst/>
          </a:prstGeom>
          <a:noFill/>
        </p:spPr>
        <p:txBody>
          <a:bodyPr wrap="square" lIns="0" rIns="0" tIns="0" bIns="0">
            <a:spAutoFit/>
          </a:bodyPr>
          <a:lstStyle/>
          <a:p>
            <a:pPr algn="l"/>
            <a:r>
              <a:rPr sz="1100">
                <a:solidFill>
                  <a:srgbClr val="858A97"/>
                </a:solidFill>
                <a:latin typeface="Helvetica Neue Medium"/>
              </a:rPr>
              <a:t>WHAT THE USER SEES</a:t>
            </a:r>
          </a:p>
        </p:txBody>
      </p:sp>
      <p:cxnSp>
        <p:nvCxnSpPr>
          <p:cNvPr id="8" name="Connector 7"/>
          <p:cNvCxnSpPr/>
          <p:nvPr/>
        </p:nvCxnSpPr>
        <p:spPr>
          <a:xfrm>
            <a:off x="822960" y="2889503"/>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 y="3017520"/>
            <a:ext cx="2971800" cy="731520"/>
          </a:xfrm>
          <a:prstGeom prst="rect">
            <a:avLst/>
          </a:prstGeom>
          <a:noFill/>
        </p:spPr>
        <p:txBody>
          <a:bodyPr wrap="square" lIns="0" rIns="0" tIns="0" bIns="0">
            <a:spAutoFit/>
          </a:bodyPr>
          <a:lstStyle/>
          <a:p>
            <a:pPr algn="l"/>
            <a:r>
              <a:rPr sz="1400">
                <a:solidFill>
                  <a:srgbClr val="14161D"/>
                </a:solidFill>
                <a:latin typeface="Helvetica Neue Light"/>
              </a:rPr>
              <a:t>Empty</a:t>
            </a:r>
          </a:p>
        </p:txBody>
      </p:sp>
      <p:sp>
        <p:nvSpPr>
          <p:cNvPr id="10" name="TextBox 9"/>
          <p:cNvSpPr txBox="1"/>
          <p:nvPr/>
        </p:nvSpPr>
        <p:spPr>
          <a:xfrm>
            <a:off x="4023360" y="3017520"/>
            <a:ext cx="8476488" cy="731520"/>
          </a:xfrm>
          <a:prstGeom prst="rect">
            <a:avLst/>
          </a:prstGeom>
          <a:noFill/>
        </p:spPr>
        <p:txBody>
          <a:bodyPr wrap="square" lIns="0" rIns="0" tIns="0" bIns="0">
            <a:spAutoFit/>
          </a:bodyPr>
          <a:lstStyle/>
          <a:p>
            <a:pPr algn="l"/>
            <a:r>
              <a:rPr sz="1400">
                <a:solidFill>
                  <a:srgbClr val="14161D"/>
                </a:solidFill>
                <a:latin typeface="Helvetica Neue Light"/>
              </a:rPr>
              <a:t>No holdings yet. One clear next step.</a:t>
            </a:r>
          </a:p>
        </p:txBody>
      </p:sp>
      <p:cxnSp>
        <p:nvCxnSpPr>
          <p:cNvPr id="11" name="Connector 10"/>
          <p:cNvCxnSpPr/>
          <p:nvPr/>
        </p:nvCxnSpPr>
        <p:spPr>
          <a:xfrm>
            <a:off x="822960" y="373075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22960" y="3840480"/>
            <a:ext cx="2971800" cy="731520"/>
          </a:xfrm>
          <a:prstGeom prst="rect">
            <a:avLst/>
          </a:prstGeom>
          <a:noFill/>
        </p:spPr>
        <p:txBody>
          <a:bodyPr wrap="square" lIns="0" rIns="0" tIns="0" bIns="0">
            <a:spAutoFit/>
          </a:bodyPr>
          <a:lstStyle/>
          <a:p>
            <a:pPr algn="l"/>
            <a:r>
              <a:rPr sz="1400">
                <a:solidFill>
                  <a:srgbClr val="14161D"/>
                </a:solidFill>
                <a:latin typeface="Helvetica Neue Light"/>
              </a:rPr>
              <a:t>Loading</a:t>
            </a:r>
          </a:p>
        </p:txBody>
      </p:sp>
      <p:sp>
        <p:nvSpPr>
          <p:cNvPr id="13" name="TextBox 12"/>
          <p:cNvSpPr txBox="1"/>
          <p:nvPr/>
        </p:nvSpPr>
        <p:spPr>
          <a:xfrm>
            <a:off x="4023360" y="3840480"/>
            <a:ext cx="8476488" cy="731520"/>
          </a:xfrm>
          <a:prstGeom prst="rect">
            <a:avLst/>
          </a:prstGeom>
          <a:noFill/>
        </p:spPr>
        <p:txBody>
          <a:bodyPr wrap="square" lIns="0" rIns="0" tIns="0" bIns="0">
            <a:spAutoFit/>
          </a:bodyPr>
          <a:lstStyle/>
          <a:p>
            <a:pPr algn="l"/>
            <a:r>
              <a:rPr sz="1400">
                <a:solidFill>
                  <a:srgbClr val="14161D"/>
                </a:solidFill>
                <a:latin typeface="Helvetica Neue Light"/>
              </a:rPr>
              <a:t>Skeleton cards hold the layout while data loads.</a:t>
            </a:r>
          </a:p>
        </p:txBody>
      </p:sp>
      <p:cxnSp>
        <p:nvCxnSpPr>
          <p:cNvPr id="14" name="Connector 13"/>
          <p:cNvCxnSpPr/>
          <p:nvPr/>
        </p:nvCxnSpPr>
        <p:spPr>
          <a:xfrm>
            <a:off x="822960" y="455371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2960" y="4663440"/>
            <a:ext cx="2971800" cy="731520"/>
          </a:xfrm>
          <a:prstGeom prst="rect">
            <a:avLst/>
          </a:prstGeom>
          <a:noFill/>
        </p:spPr>
        <p:txBody>
          <a:bodyPr wrap="square" lIns="0" rIns="0" tIns="0" bIns="0">
            <a:spAutoFit/>
          </a:bodyPr>
          <a:lstStyle/>
          <a:p>
            <a:pPr algn="l"/>
            <a:r>
              <a:rPr sz="1400">
                <a:solidFill>
                  <a:srgbClr val="14161D"/>
                </a:solidFill>
                <a:latin typeface="Helvetica Neue Light"/>
              </a:rPr>
              <a:t>Error</a:t>
            </a:r>
          </a:p>
        </p:txBody>
      </p:sp>
      <p:sp>
        <p:nvSpPr>
          <p:cNvPr id="16" name="TextBox 15"/>
          <p:cNvSpPr txBox="1"/>
          <p:nvPr/>
        </p:nvSpPr>
        <p:spPr>
          <a:xfrm>
            <a:off x="4023360" y="4663440"/>
            <a:ext cx="8476488" cy="731520"/>
          </a:xfrm>
          <a:prstGeom prst="rect">
            <a:avLst/>
          </a:prstGeom>
          <a:noFill/>
        </p:spPr>
        <p:txBody>
          <a:bodyPr wrap="square" lIns="0" rIns="0" tIns="0" bIns="0">
            <a:spAutoFit/>
          </a:bodyPr>
          <a:lstStyle/>
          <a:p>
            <a:pPr algn="l"/>
            <a:r>
              <a:rPr sz="1400">
                <a:solidFill>
                  <a:srgbClr val="14161D"/>
                </a:solidFill>
                <a:latin typeface="Helvetica Neue Light"/>
              </a:rPr>
              <a:t>Says what failed, and offers a retry.</a:t>
            </a:r>
          </a:p>
        </p:txBody>
      </p:sp>
      <p:cxnSp>
        <p:nvCxnSpPr>
          <p:cNvPr id="17" name="Connector 16"/>
          <p:cNvCxnSpPr/>
          <p:nvPr/>
        </p:nvCxnSpPr>
        <p:spPr>
          <a:xfrm>
            <a:off x="822960" y="537667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960" y="5486400"/>
            <a:ext cx="2971800" cy="731520"/>
          </a:xfrm>
          <a:prstGeom prst="rect">
            <a:avLst/>
          </a:prstGeom>
          <a:noFill/>
        </p:spPr>
        <p:txBody>
          <a:bodyPr wrap="square" lIns="0" rIns="0" tIns="0" bIns="0">
            <a:spAutoFit/>
          </a:bodyPr>
          <a:lstStyle/>
          <a:p>
            <a:pPr algn="l"/>
            <a:r>
              <a:rPr sz="1400">
                <a:solidFill>
                  <a:srgbClr val="14161D"/>
                </a:solidFill>
                <a:latin typeface="Helvetica Neue Light"/>
              </a:rPr>
              <a:t>Offline</a:t>
            </a:r>
          </a:p>
        </p:txBody>
      </p:sp>
      <p:sp>
        <p:nvSpPr>
          <p:cNvPr id="19" name="TextBox 18"/>
          <p:cNvSpPr txBox="1"/>
          <p:nvPr/>
        </p:nvSpPr>
        <p:spPr>
          <a:xfrm>
            <a:off x="4023360" y="5486400"/>
            <a:ext cx="8476488" cy="731520"/>
          </a:xfrm>
          <a:prstGeom prst="rect">
            <a:avLst/>
          </a:prstGeom>
          <a:noFill/>
        </p:spPr>
        <p:txBody>
          <a:bodyPr wrap="square" lIns="0" rIns="0" tIns="0" bIns="0">
            <a:spAutoFit/>
          </a:bodyPr>
          <a:lstStyle/>
          <a:p>
            <a:pPr algn="l"/>
            <a:r>
              <a:rPr sz="1400">
                <a:solidFill>
                  <a:srgbClr val="14161D"/>
                </a:solidFill>
                <a:latin typeface="Helvetica Neue Light"/>
              </a:rPr>
              <a:t>Says the data is from the last update, with its time.</a:t>
            </a:r>
          </a:p>
        </p:txBody>
      </p:sp>
      <p:cxnSp>
        <p:nvCxnSpPr>
          <p:cNvPr id="20" name="Connector 19"/>
          <p:cNvCxnSpPr/>
          <p:nvPr/>
        </p:nvCxnSpPr>
        <p:spPr>
          <a:xfrm>
            <a:off x="822960" y="619963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REASONING</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Four calls, and what each one cost</a:t>
            </a:r>
          </a:p>
        </p:txBody>
      </p:sp>
      <p:sp>
        <p:nvSpPr>
          <p:cNvPr id="5" name="TextBox 4"/>
          <p:cNvSpPr txBox="1"/>
          <p:nvPr/>
        </p:nvSpPr>
        <p:spPr>
          <a:xfrm>
            <a:off x="822960" y="2194560"/>
            <a:ext cx="3383279" cy="274320"/>
          </a:xfrm>
          <a:prstGeom prst="rect">
            <a:avLst/>
          </a:prstGeom>
          <a:noFill/>
        </p:spPr>
        <p:txBody>
          <a:bodyPr wrap="square" lIns="0" rIns="0" tIns="0" bIns="0">
            <a:spAutoFit/>
          </a:bodyPr>
          <a:lstStyle/>
          <a:p>
            <a:pPr algn="l"/>
            <a:r>
              <a:rPr sz="1100">
                <a:solidFill>
                  <a:srgbClr val="858A97"/>
                </a:solidFill>
                <a:latin typeface="Helvetica Neue Medium"/>
              </a:rPr>
              <a:t>WE CHOSE</a:t>
            </a:r>
          </a:p>
        </p:txBody>
      </p:sp>
      <p:sp>
        <p:nvSpPr>
          <p:cNvPr id="6" name="TextBox 5"/>
          <p:cNvSpPr txBox="1"/>
          <p:nvPr/>
        </p:nvSpPr>
        <p:spPr>
          <a:xfrm>
            <a:off x="4389120" y="2194560"/>
            <a:ext cx="3383279" cy="274320"/>
          </a:xfrm>
          <a:prstGeom prst="rect">
            <a:avLst/>
          </a:prstGeom>
          <a:noFill/>
        </p:spPr>
        <p:txBody>
          <a:bodyPr wrap="square" lIns="0" rIns="0" tIns="0" bIns="0">
            <a:spAutoFit/>
          </a:bodyPr>
          <a:lstStyle/>
          <a:p>
            <a:pPr algn="l"/>
            <a:r>
              <a:rPr sz="1100">
                <a:solidFill>
                  <a:srgbClr val="858A97"/>
                </a:solidFill>
                <a:latin typeface="Helvetica Neue Medium"/>
              </a:rPr>
              <a:t>WE REJECTED</a:t>
            </a:r>
          </a:p>
        </p:txBody>
      </p:sp>
      <p:sp>
        <p:nvSpPr>
          <p:cNvPr id="7" name="TextBox 6"/>
          <p:cNvSpPr txBox="1"/>
          <p:nvPr/>
        </p:nvSpPr>
        <p:spPr>
          <a:xfrm>
            <a:off x="7955279" y="2194560"/>
            <a:ext cx="4590288" cy="274320"/>
          </a:xfrm>
          <a:prstGeom prst="rect">
            <a:avLst/>
          </a:prstGeom>
          <a:noFill/>
        </p:spPr>
        <p:txBody>
          <a:bodyPr wrap="square" lIns="0" rIns="0" tIns="0" bIns="0">
            <a:spAutoFit/>
          </a:bodyPr>
          <a:lstStyle/>
          <a:p>
            <a:pPr algn="l"/>
            <a:r>
              <a:rPr sz="1100">
                <a:solidFill>
                  <a:srgbClr val="858A97"/>
                </a:solidFill>
                <a:latin typeface="Helvetica Neue Medium"/>
              </a:rPr>
              <a:t>WHY, AND THE TRADE-OFF</a:t>
            </a:r>
          </a:p>
        </p:txBody>
      </p:sp>
      <p:cxnSp>
        <p:nvCxnSpPr>
          <p:cNvPr id="8" name="Connector 7"/>
          <p:cNvCxnSpPr/>
          <p:nvPr/>
        </p:nvCxnSpPr>
        <p:spPr>
          <a:xfrm>
            <a:off x="822960" y="2523744"/>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 y="2651760"/>
            <a:ext cx="3337560" cy="1005839"/>
          </a:xfrm>
          <a:prstGeom prst="rect">
            <a:avLst/>
          </a:prstGeom>
          <a:noFill/>
        </p:spPr>
        <p:txBody>
          <a:bodyPr wrap="square" lIns="0" rIns="0" tIns="0" bIns="0">
            <a:spAutoFit/>
          </a:bodyPr>
          <a:lstStyle/>
          <a:p>
            <a:pPr algn="l"/>
            <a:r>
              <a:rPr sz="1400">
                <a:solidFill>
                  <a:srgbClr val="14161D"/>
                </a:solidFill>
                <a:latin typeface="Helvetica Neue Light"/>
              </a:rPr>
              <a:t>Share and dollar entry in one ticket</a:t>
            </a:r>
          </a:p>
        </p:txBody>
      </p:sp>
      <p:sp>
        <p:nvSpPr>
          <p:cNvPr id="10" name="TextBox 9"/>
          <p:cNvSpPr txBox="1"/>
          <p:nvPr/>
        </p:nvSpPr>
        <p:spPr>
          <a:xfrm>
            <a:off x="4389120" y="2651760"/>
            <a:ext cx="3337560" cy="1005839"/>
          </a:xfrm>
          <a:prstGeom prst="rect">
            <a:avLst/>
          </a:prstGeom>
          <a:noFill/>
        </p:spPr>
        <p:txBody>
          <a:bodyPr wrap="square" lIns="0" rIns="0" tIns="0" bIns="0">
            <a:spAutoFit/>
          </a:bodyPr>
          <a:lstStyle/>
          <a:p>
            <a:pPr algn="l"/>
            <a:r>
              <a:rPr sz="1400">
                <a:solidFill>
                  <a:srgbClr val="14161D"/>
                </a:solidFill>
                <a:latin typeface="Helvetica Neue Light"/>
              </a:rPr>
              <a:t>One entry model only</a:t>
            </a:r>
          </a:p>
        </p:txBody>
      </p:sp>
      <p:sp>
        <p:nvSpPr>
          <p:cNvPr id="11" name="TextBox 10"/>
          <p:cNvSpPr txBox="1"/>
          <p:nvPr/>
        </p:nvSpPr>
        <p:spPr>
          <a:xfrm>
            <a:off x="7955279" y="2651760"/>
            <a:ext cx="4544568" cy="1005839"/>
          </a:xfrm>
          <a:prstGeom prst="rect">
            <a:avLst/>
          </a:prstGeom>
          <a:noFill/>
        </p:spPr>
        <p:txBody>
          <a:bodyPr wrap="square" lIns="0" rIns="0" tIns="0" bIns="0">
            <a:spAutoFit/>
          </a:bodyPr>
          <a:lstStyle/>
          <a:p>
            <a:pPr algn="l"/>
            <a:r>
              <a:rPr sz="1400">
                <a:solidFill>
                  <a:srgbClr val="14161D"/>
                </a:solidFill>
                <a:latin typeface="Helvetica Neue Light"/>
              </a:rPr>
              <a:t>Unclear which model new investors prefer. Trade-off: two flows to maintain; open question for testing.</a:t>
            </a:r>
          </a:p>
        </p:txBody>
      </p:sp>
      <p:cxnSp>
        <p:nvCxnSpPr>
          <p:cNvPr id="12" name="Connector 11"/>
          <p:cNvCxnSpPr/>
          <p:nvPr/>
        </p:nvCxnSpPr>
        <p:spPr>
          <a:xfrm>
            <a:off x="822960" y="3639311"/>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3749039"/>
            <a:ext cx="3337560" cy="1005839"/>
          </a:xfrm>
          <a:prstGeom prst="rect">
            <a:avLst/>
          </a:prstGeom>
          <a:noFill/>
        </p:spPr>
        <p:txBody>
          <a:bodyPr wrap="square" lIns="0" rIns="0" tIns="0" bIns="0">
            <a:spAutoFit/>
          </a:bodyPr>
          <a:lstStyle/>
          <a:p>
            <a:pPr algn="l"/>
            <a:r>
              <a:rPr sz="1400">
                <a:solidFill>
                  <a:srgbClr val="14161D"/>
                </a:solidFill>
                <a:latin typeface="Helvetica Neue Light"/>
              </a:rPr>
              <a:t>A mock API with a 0.8-second delay</a:t>
            </a:r>
          </a:p>
        </p:txBody>
      </p:sp>
      <p:sp>
        <p:nvSpPr>
          <p:cNvPr id="14" name="TextBox 13"/>
          <p:cNvSpPr txBox="1"/>
          <p:nvPr/>
        </p:nvSpPr>
        <p:spPr>
          <a:xfrm>
            <a:off x="4389120" y="3749039"/>
            <a:ext cx="3337560" cy="1005839"/>
          </a:xfrm>
          <a:prstGeom prst="rect">
            <a:avLst/>
          </a:prstGeom>
          <a:noFill/>
        </p:spPr>
        <p:txBody>
          <a:bodyPr wrap="square" lIns="0" rIns="0" tIns="0" bIns="0">
            <a:spAutoFit/>
          </a:bodyPr>
          <a:lstStyle/>
          <a:p>
            <a:pPr algn="l"/>
            <a:r>
              <a:rPr sz="1400">
                <a:solidFill>
                  <a:srgbClr val="14161D"/>
                </a:solidFill>
                <a:latin typeface="Helvetica Neue Light"/>
              </a:rPr>
              <a:t>A live backend now</a:t>
            </a:r>
          </a:p>
        </p:txBody>
      </p:sp>
      <p:sp>
        <p:nvSpPr>
          <p:cNvPr id="15" name="TextBox 14"/>
          <p:cNvSpPr txBox="1"/>
          <p:nvPr/>
        </p:nvSpPr>
        <p:spPr>
          <a:xfrm>
            <a:off x="7955279" y="3749039"/>
            <a:ext cx="4544568" cy="1005839"/>
          </a:xfrm>
          <a:prstGeom prst="rect">
            <a:avLst/>
          </a:prstGeom>
          <a:noFill/>
        </p:spPr>
        <p:txBody>
          <a:bodyPr wrap="square" lIns="0" rIns="0" tIns="0" bIns="0">
            <a:spAutoFit/>
          </a:bodyPr>
          <a:lstStyle/>
          <a:p>
            <a:pPr algn="l"/>
            <a:r>
              <a:rPr sz="1400">
                <a:solidFill>
                  <a:srgbClr val="14161D"/>
                </a:solidFill>
                <a:latin typeface="Helvetica Neue Light"/>
              </a:rPr>
              <a:t>Tests flows and loading states without a backend. Trade-off: real timing, errors, and data limits stay untested.</a:t>
            </a:r>
          </a:p>
        </p:txBody>
      </p:sp>
      <p:cxnSp>
        <p:nvCxnSpPr>
          <p:cNvPr id="16" name="Connector 15"/>
          <p:cNvCxnSpPr/>
          <p:nvPr/>
        </p:nvCxnSpPr>
        <p:spPr>
          <a:xfrm>
            <a:off x="822960" y="473659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2960" y="4846320"/>
            <a:ext cx="3337560" cy="1005839"/>
          </a:xfrm>
          <a:prstGeom prst="rect">
            <a:avLst/>
          </a:prstGeom>
          <a:noFill/>
        </p:spPr>
        <p:txBody>
          <a:bodyPr wrap="square" lIns="0" rIns="0" tIns="0" bIns="0">
            <a:spAutoFit/>
          </a:bodyPr>
          <a:lstStyle/>
          <a:p>
            <a:pPr algn="l"/>
            <a:r>
              <a:rPr sz="1400">
                <a:solidFill>
                  <a:srgbClr val="14161D"/>
                </a:solidFill>
                <a:latin typeface="Helvetica Neue Light"/>
              </a:rPr>
              <a:t>Adapt proposes steps the user can review</a:t>
            </a:r>
          </a:p>
        </p:txBody>
      </p:sp>
      <p:sp>
        <p:nvSpPr>
          <p:cNvPr id="18" name="TextBox 17"/>
          <p:cNvSpPr txBox="1"/>
          <p:nvPr/>
        </p:nvSpPr>
        <p:spPr>
          <a:xfrm>
            <a:off x="4389120" y="4846320"/>
            <a:ext cx="3337560" cy="1005839"/>
          </a:xfrm>
          <a:prstGeom prst="rect">
            <a:avLst/>
          </a:prstGeom>
          <a:noFill/>
        </p:spPr>
        <p:txBody>
          <a:bodyPr wrap="square" lIns="0" rIns="0" tIns="0" bIns="0">
            <a:spAutoFit/>
          </a:bodyPr>
          <a:lstStyle/>
          <a:p>
            <a:pPr algn="l"/>
            <a:r>
              <a:rPr sz="1400">
                <a:solidFill>
                  <a:srgbClr val="14161D"/>
                </a:solidFill>
                <a:latin typeface="Helvetica Neue Light"/>
              </a:rPr>
              <a:t>A batch the user approves or dismisses</a:t>
            </a:r>
          </a:p>
        </p:txBody>
      </p:sp>
      <p:sp>
        <p:nvSpPr>
          <p:cNvPr id="19" name="TextBox 18"/>
          <p:cNvSpPr txBox="1"/>
          <p:nvPr/>
        </p:nvSpPr>
        <p:spPr>
          <a:xfrm>
            <a:off x="7955279" y="4846320"/>
            <a:ext cx="4544568" cy="1005839"/>
          </a:xfrm>
          <a:prstGeom prst="rect">
            <a:avLst/>
          </a:prstGeom>
          <a:noFill/>
        </p:spPr>
        <p:txBody>
          <a:bodyPr wrap="square" lIns="0" rIns="0" tIns="0" bIns="0">
            <a:spAutoFit/>
          </a:bodyPr>
          <a:lstStyle/>
          <a:p>
            <a:pPr algn="l"/>
            <a:r>
              <a:rPr sz="1400">
                <a:solidFill>
                  <a:srgbClr val="14161D"/>
                </a:solidFill>
                <a:latin typeface="Helvetica Neue Light"/>
              </a:rPr>
              <a:t>It is the screen’s job. Trade-off: trade wording needs compliance review; it may become explanation only.</a:t>
            </a:r>
          </a:p>
        </p:txBody>
      </p:sp>
      <p:cxnSp>
        <p:nvCxnSpPr>
          <p:cNvPr id="20" name="Connector 19"/>
          <p:cNvCxnSpPr/>
          <p:nvPr/>
        </p:nvCxnSpPr>
        <p:spPr>
          <a:xfrm>
            <a:off x="822960" y="583387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22960" y="5943600"/>
            <a:ext cx="3337560" cy="1005839"/>
          </a:xfrm>
          <a:prstGeom prst="rect">
            <a:avLst/>
          </a:prstGeom>
          <a:noFill/>
        </p:spPr>
        <p:txBody>
          <a:bodyPr wrap="square" lIns="0" rIns="0" tIns="0" bIns="0">
            <a:spAutoFit/>
          </a:bodyPr>
          <a:lstStyle/>
          <a:p>
            <a:pPr algn="l"/>
            <a:r>
              <a:rPr sz="1400">
                <a:solidFill>
                  <a:srgbClr val="14161D"/>
                </a:solidFill>
                <a:latin typeface="Helvetica Neue Light"/>
              </a:rPr>
              <a:t>Five tabs, one home screen</a:t>
            </a:r>
          </a:p>
        </p:txBody>
      </p:sp>
      <p:sp>
        <p:nvSpPr>
          <p:cNvPr id="22" name="TextBox 21"/>
          <p:cNvSpPr txBox="1"/>
          <p:nvPr/>
        </p:nvSpPr>
        <p:spPr>
          <a:xfrm>
            <a:off x="4389120" y="5943600"/>
            <a:ext cx="3337560" cy="1005839"/>
          </a:xfrm>
          <a:prstGeom prst="rect">
            <a:avLst/>
          </a:prstGeom>
          <a:noFill/>
        </p:spPr>
        <p:txBody>
          <a:bodyPr wrap="square" lIns="0" rIns="0" tIns="0" bIns="0">
            <a:spAutoFit/>
          </a:bodyPr>
          <a:lstStyle/>
          <a:p>
            <a:pPr algn="l"/>
            <a:r>
              <a:rPr sz="1400">
                <a:solidFill>
                  <a:srgbClr val="14161D"/>
                </a:solidFill>
                <a:latin typeface="Helvetica Neue Light"/>
              </a:rPr>
              <a:t>Trading as a separate app area</a:t>
            </a:r>
          </a:p>
        </p:txBody>
      </p:sp>
      <p:sp>
        <p:nvSpPr>
          <p:cNvPr id="23" name="TextBox 22"/>
          <p:cNvSpPr txBox="1"/>
          <p:nvPr/>
        </p:nvSpPr>
        <p:spPr>
          <a:xfrm>
            <a:off x="7955279" y="5943600"/>
            <a:ext cx="4544568" cy="1005839"/>
          </a:xfrm>
          <a:prstGeom prst="rect">
            <a:avLst/>
          </a:prstGeom>
          <a:noFill/>
        </p:spPr>
        <p:txBody>
          <a:bodyPr wrap="square" lIns="0" rIns="0" tIns="0" bIns="0">
            <a:spAutoFit/>
          </a:bodyPr>
          <a:lstStyle/>
          <a:p>
            <a:pPr algn="l"/>
            <a:r>
              <a:rPr sz="1400">
                <a:solidFill>
                  <a:srgbClr val="14161D"/>
                </a:solidFill>
                <a:latin typeface="Helvetica Neue Light"/>
              </a:rPr>
              <a:t>A scannable set of areas, with trading one tap away. Trade-off: AI screens compete with trade entry; test it.</a:t>
            </a:r>
          </a:p>
        </p:txBody>
      </p:sp>
      <p:cxnSp>
        <p:nvCxnSpPr>
          <p:cNvPr id="24" name="Connector 23"/>
          <p:cNvCxnSpPr/>
          <p:nvPr/>
        </p:nvCxnSpPr>
        <p:spPr>
          <a:xfrm>
            <a:off x="822960" y="693115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AGENT EXPERIENCE</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Where the AI experience breaks down today</a:t>
            </a:r>
          </a:p>
        </p:txBody>
      </p:sp>
      <p:sp>
        <p:nvSpPr>
          <p:cNvPr id="5" name="TextBox 4"/>
          <p:cNvSpPr txBox="1"/>
          <p:nvPr/>
        </p:nvSpPr>
        <p:spPr>
          <a:xfrm>
            <a:off x="822960" y="1554480"/>
            <a:ext cx="11356848" cy="365760"/>
          </a:xfrm>
          <a:prstGeom prst="rect">
            <a:avLst/>
          </a:prstGeom>
          <a:noFill/>
        </p:spPr>
        <p:txBody>
          <a:bodyPr wrap="square" lIns="0" rIns="0" tIns="0" bIns="0">
            <a:spAutoFit/>
          </a:bodyPr>
          <a:lstStyle/>
          <a:p>
            <a:pPr algn="l"/>
            <a:r>
              <a:rPr sz="1500">
                <a:solidFill>
                  <a:srgbClr val="858A97"/>
                </a:solidFill>
                <a:latin typeface="Helvetica Neue Light"/>
              </a:rPr>
              <a:t>Five problems, from the current prototype and the design review. Mock data throughout.</a:t>
            </a:r>
          </a:p>
        </p:txBody>
      </p:sp>
      <p:sp>
        <p:nvSpPr>
          <p:cNvPr id="6" name="TextBox 5"/>
          <p:cNvSpPr txBox="1"/>
          <p:nvPr/>
        </p:nvSpPr>
        <p:spPr>
          <a:xfrm>
            <a:off x="822960" y="2377440"/>
            <a:ext cx="5394960" cy="274320"/>
          </a:xfrm>
          <a:prstGeom prst="rect">
            <a:avLst/>
          </a:prstGeom>
          <a:noFill/>
        </p:spPr>
        <p:txBody>
          <a:bodyPr wrap="square" lIns="0" rIns="0" tIns="0" bIns="0">
            <a:spAutoFit/>
          </a:bodyPr>
          <a:lstStyle/>
          <a:p>
            <a:pPr algn="l"/>
            <a:r>
              <a:rPr sz="1100">
                <a:solidFill>
                  <a:srgbClr val="858A97"/>
                </a:solidFill>
                <a:latin typeface="Helvetica Neue Medium"/>
              </a:rPr>
              <a:t>1 · OUTPUTS WITHOUT REASONING</a:t>
            </a:r>
          </a:p>
        </p:txBody>
      </p:sp>
      <p:sp>
        <p:nvSpPr>
          <p:cNvPr id="7" name="TextBox 6"/>
          <p:cNvSpPr txBox="1"/>
          <p:nvPr/>
        </p:nvSpPr>
        <p:spPr>
          <a:xfrm>
            <a:off x="822960" y="268833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Insight shows sentiment with no source, date, or data behind it.</a:t>
            </a:r>
          </a:p>
        </p:txBody>
      </p:sp>
      <p:sp>
        <p:nvSpPr>
          <p:cNvPr id="8" name="TextBox 7"/>
          <p:cNvSpPr txBox="1"/>
          <p:nvPr/>
        </p:nvSpPr>
        <p:spPr>
          <a:xfrm>
            <a:off x="6766560" y="2377440"/>
            <a:ext cx="5394960" cy="274320"/>
          </a:xfrm>
          <a:prstGeom prst="rect">
            <a:avLst/>
          </a:prstGeom>
          <a:noFill/>
        </p:spPr>
        <p:txBody>
          <a:bodyPr wrap="square" lIns="0" rIns="0" tIns="0" bIns="0">
            <a:spAutoFit/>
          </a:bodyPr>
          <a:lstStyle/>
          <a:p>
            <a:pPr algn="l"/>
            <a:r>
              <a:rPr sz="1100">
                <a:solidFill>
                  <a:srgbClr val="858A97"/>
                </a:solidFill>
                <a:latin typeface="Helvetica Neue Medium"/>
              </a:rPr>
              <a:t>2 · ALL OR NOTHING</a:t>
            </a:r>
          </a:p>
        </p:txBody>
      </p:sp>
      <p:sp>
        <p:nvSpPr>
          <p:cNvPr id="9" name="TextBox 8"/>
          <p:cNvSpPr txBox="1"/>
          <p:nvPr/>
        </p:nvSpPr>
        <p:spPr>
          <a:xfrm>
            <a:off x="6766560" y="268833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Adapt offers one batch of proposed steps. The user can approve or dismiss the batch, nothing else.</a:t>
            </a:r>
          </a:p>
        </p:txBody>
      </p:sp>
      <p:sp>
        <p:nvSpPr>
          <p:cNvPr id="10" name="TextBox 9"/>
          <p:cNvSpPr txBox="1"/>
          <p:nvPr/>
        </p:nvSpPr>
        <p:spPr>
          <a:xfrm>
            <a:off x="822960" y="4754880"/>
            <a:ext cx="5394960" cy="274320"/>
          </a:xfrm>
          <a:prstGeom prst="rect">
            <a:avLst/>
          </a:prstGeom>
          <a:noFill/>
        </p:spPr>
        <p:txBody>
          <a:bodyPr wrap="square" lIns="0" rIns="0" tIns="0" bIns="0">
            <a:spAutoFit/>
          </a:bodyPr>
          <a:lstStyle/>
          <a:p>
            <a:pPr algn="l"/>
            <a:r>
              <a:rPr sz="1100">
                <a:solidFill>
                  <a:srgbClr val="858A97"/>
                </a:solidFill>
                <a:latin typeface="Helvetica Neue Medium"/>
              </a:rPr>
              <a:t>3 · NO LEARNING LOOP</a:t>
            </a:r>
          </a:p>
        </p:txBody>
      </p:sp>
      <p:sp>
        <p:nvSpPr>
          <p:cNvPr id="11" name="TextBox 10"/>
          <p:cNvSpPr txBox="1"/>
          <p:nvPr/>
        </p:nvSpPr>
        <p:spPr>
          <a:xfrm>
            <a:off x="822960" y="506577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Dismissing or correcting an insight does not change future output.</a:t>
            </a:r>
          </a:p>
        </p:txBody>
      </p:sp>
      <p:sp>
        <p:nvSpPr>
          <p:cNvPr id="12" name="TextBox 11"/>
          <p:cNvSpPr txBox="1"/>
          <p:nvPr/>
        </p:nvSpPr>
        <p:spPr>
          <a:xfrm>
            <a:off x="6766560" y="4754880"/>
            <a:ext cx="5394960" cy="274320"/>
          </a:xfrm>
          <a:prstGeom prst="rect">
            <a:avLst/>
          </a:prstGeom>
          <a:noFill/>
        </p:spPr>
        <p:txBody>
          <a:bodyPr wrap="square" lIns="0" rIns="0" tIns="0" bIns="0">
            <a:spAutoFit/>
          </a:bodyPr>
          <a:lstStyle/>
          <a:p>
            <a:pPr algn="l"/>
            <a:r>
              <a:rPr sz="1100">
                <a:solidFill>
                  <a:srgbClr val="858A97"/>
                </a:solidFill>
                <a:latin typeface="Helvetica Neue Medium"/>
              </a:rPr>
              <a:t>4 · ADVICE LINE IN CONFLICT</a:t>
            </a:r>
          </a:p>
        </p:txBody>
      </p:sp>
      <p:sp>
        <p:nvSpPr>
          <p:cNvPr id="13" name="TextBox 12"/>
          <p:cNvSpPr txBox="1"/>
          <p:nvPr/>
        </p:nvSpPr>
        <p:spPr>
          <a:xfrm>
            <a:off x="6766560" y="506577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The design rule says the AI never originates buy or sell advice. Adapt wording does. Compliance review is open.</a:t>
            </a:r>
          </a:p>
        </p:txBody>
      </p:sp>
      <p:sp>
        <p:nvSpPr>
          <p:cNvPr id="14" name="TextBox 13"/>
          <p:cNvSpPr txBox="1"/>
          <p:nvPr/>
        </p:nvSpPr>
        <p:spPr>
          <a:xfrm>
            <a:off x="822960" y="7132320"/>
            <a:ext cx="5394960" cy="274320"/>
          </a:xfrm>
          <a:prstGeom prst="rect">
            <a:avLst/>
          </a:prstGeom>
          <a:noFill/>
        </p:spPr>
        <p:txBody>
          <a:bodyPr wrap="square" lIns="0" rIns="0" tIns="0" bIns="0">
            <a:spAutoFit/>
          </a:bodyPr>
          <a:lstStyle/>
          <a:p>
            <a:pPr algn="l"/>
            <a:r>
              <a:rPr sz="1100">
                <a:solidFill>
                  <a:srgbClr val="858A97"/>
                </a:solidFill>
                <a:latin typeface="Helvetica Neue Medium"/>
              </a:rPr>
              <a:t>5 · CONTEXT LOST BETWEEN SCREENS</a:t>
            </a:r>
          </a:p>
        </p:txBody>
      </p:sp>
      <p:sp>
        <p:nvSpPr>
          <p:cNvPr id="15" name="TextBox 14"/>
          <p:cNvSpPr txBox="1"/>
          <p:nvPr/>
        </p:nvSpPr>
        <p:spPr>
          <a:xfrm>
            <a:off x="822960" y="744321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Moving from an insight to an order drops the reason, so the user enters it again.</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AGENT EXPERIENCE</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Five concepts, each answering one breakdown</a:t>
            </a:r>
          </a:p>
        </p:txBody>
      </p:sp>
      <p:sp>
        <p:nvSpPr>
          <p:cNvPr id="5" name="TextBox 4"/>
          <p:cNvSpPr txBox="1"/>
          <p:nvPr/>
        </p:nvSpPr>
        <p:spPr>
          <a:xfrm>
            <a:off x="822960" y="1554480"/>
            <a:ext cx="11356848" cy="365760"/>
          </a:xfrm>
          <a:prstGeom prst="rect">
            <a:avLst/>
          </a:prstGeom>
          <a:noFill/>
        </p:spPr>
        <p:txBody>
          <a:bodyPr wrap="square" lIns="0" rIns="0" tIns="0" bIns="0">
            <a:spAutoFit/>
          </a:bodyPr>
          <a:lstStyle/>
          <a:p>
            <a:pPr algn="l"/>
            <a:r>
              <a:rPr sz="1500">
                <a:solidFill>
                  <a:srgbClr val="858A97"/>
                </a:solidFill>
                <a:latin typeface="Helvetica Neue Light"/>
              </a:rPr>
              <a:t>Concepts for testing. Proposals, not built. Each one follows the AI rules.</a:t>
            </a:r>
          </a:p>
        </p:txBody>
      </p:sp>
      <p:sp>
        <p:nvSpPr>
          <p:cNvPr id="6" name="TextBox 5"/>
          <p:cNvSpPr txBox="1"/>
          <p:nvPr/>
        </p:nvSpPr>
        <p:spPr>
          <a:xfrm>
            <a:off x="822960" y="2377440"/>
            <a:ext cx="5394960" cy="274320"/>
          </a:xfrm>
          <a:prstGeom prst="rect">
            <a:avLst/>
          </a:prstGeom>
          <a:noFill/>
        </p:spPr>
        <p:txBody>
          <a:bodyPr wrap="square" lIns="0" rIns="0" tIns="0" bIns="0">
            <a:spAutoFit/>
          </a:bodyPr>
          <a:lstStyle/>
          <a:p>
            <a:pPr algn="l"/>
            <a:r>
              <a:rPr sz="1100">
                <a:solidFill>
                  <a:srgbClr val="858A97"/>
                </a:solidFill>
                <a:latin typeface="Helvetica Neue Medium"/>
              </a:rPr>
              <a:t>DECISION JOURNAL</a:t>
            </a:r>
          </a:p>
        </p:txBody>
      </p:sp>
      <p:sp>
        <p:nvSpPr>
          <p:cNvPr id="7" name="TextBox 6"/>
          <p:cNvSpPr txBox="1"/>
          <p:nvPr/>
        </p:nvSpPr>
        <p:spPr>
          <a:xfrm>
            <a:off x="822960" y="268833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Breakdowns 3 and 5. The user writes one line of their reason when acting. Guard later checks whether the reason still holds.</a:t>
            </a:r>
          </a:p>
        </p:txBody>
      </p:sp>
      <p:sp>
        <p:nvSpPr>
          <p:cNvPr id="8" name="TextBox 7"/>
          <p:cNvSpPr txBox="1"/>
          <p:nvPr/>
        </p:nvSpPr>
        <p:spPr>
          <a:xfrm>
            <a:off x="6766560" y="2377440"/>
            <a:ext cx="5394960" cy="274320"/>
          </a:xfrm>
          <a:prstGeom prst="rect">
            <a:avLst/>
          </a:prstGeom>
          <a:noFill/>
        </p:spPr>
        <p:txBody>
          <a:bodyPr wrap="square" lIns="0" rIns="0" tIns="0" bIns="0">
            <a:spAutoFit/>
          </a:bodyPr>
          <a:lstStyle/>
          <a:p>
            <a:pPr algn="l"/>
            <a:r>
              <a:rPr sz="1100">
                <a:solidFill>
                  <a:srgbClr val="858A97"/>
                </a:solidFill>
                <a:latin typeface="Helvetica Neue Medium"/>
              </a:rPr>
              <a:t>SCENARIO SANDBOX</a:t>
            </a:r>
          </a:p>
        </p:txBody>
      </p:sp>
      <p:sp>
        <p:nvSpPr>
          <p:cNvPr id="9" name="TextBox 8"/>
          <p:cNvSpPr txBox="1"/>
          <p:nvPr/>
        </p:nvSpPr>
        <p:spPr>
          <a:xfrm>
            <a:off x="6766560" y="268833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Breakdowns 1 and 4. Each insight lists what would change it. The user adjusts an input and sees the view update, with sources.</a:t>
            </a:r>
          </a:p>
        </p:txBody>
      </p:sp>
      <p:sp>
        <p:nvSpPr>
          <p:cNvPr id="10" name="TextBox 9"/>
          <p:cNvSpPr txBox="1"/>
          <p:nvPr/>
        </p:nvSpPr>
        <p:spPr>
          <a:xfrm>
            <a:off x="822960" y="5120640"/>
            <a:ext cx="5394960" cy="274320"/>
          </a:xfrm>
          <a:prstGeom prst="rect">
            <a:avLst/>
          </a:prstGeom>
          <a:noFill/>
        </p:spPr>
        <p:txBody>
          <a:bodyPr wrap="square" lIns="0" rIns="0" tIns="0" bIns="0">
            <a:spAutoFit/>
          </a:bodyPr>
          <a:lstStyle/>
          <a:p>
            <a:pPr algn="l"/>
            <a:r>
              <a:rPr sz="1100">
                <a:solidFill>
                  <a:srgbClr val="858A97"/>
                </a:solidFill>
                <a:latin typeface="Helvetica Neue Medium"/>
              </a:rPr>
              <a:t>PLAN EDITOR</a:t>
            </a:r>
          </a:p>
        </p:txBody>
      </p:sp>
      <p:sp>
        <p:nvSpPr>
          <p:cNvPr id="11" name="TextBox 10"/>
          <p:cNvSpPr txBox="1"/>
          <p:nvPr/>
        </p:nvSpPr>
        <p:spPr>
          <a:xfrm>
            <a:off x="822960" y="543153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Breakdown 2. The user edits each proposed step, and the allocation preview recalculates after each change.</a:t>
            </a:r>
          </a:p>
        </p:txBody>
      </p:sp>
      <p:sp>
        <p:nvSpPr>
          <p:cNvPr id="12" name="TextBox 11"/>
          <p:cNvSpPr txBox="1"/>
          <p:nvPr/>
        </p:nvSpPr>
        <p:spPr>
          <a:xfrm>
            <a:off x="6766560" y="5120640"/>
            <a:ext cx="5394960" cy="274320"/>
          </a:xfrm>
          <a:prstGeom prst="rect">
            <a:avLst/>
          </a:prstGeom>
          <a:noFill/>
        </p:spPr>
        <p:txBody>
          <a:bodyPr wrap="square" lIns="0" rIns="0" tIns="0" bIns="0">
            <a:spAutoFit/>
          </a:bodyPr>
          <a:lstStyle/>
          <a:p>
            <a:pPr algn="l"/>
            <a:r>
              <a:rPr sz="1100">
                <a:solidFill>
                  <a:srgbClr val="858A97"/>
                </a:solidFill>
                <a:latin typeface="Helvetica Neue Medium"/>
              </a:rPr>
              <a:t>ATTENTION BUDGET</a:t>
            </a:r>
          </a:p>
        </p:txBody>
      </p:sp>
      <p:sp>
        <p:nvSpPr>
          <p:cNvPr id="13" name="TextBox 12"/>
          <p:cNvSpPr txBox="1"/>
          <p:nvPr/>
        </p:nvSpPr>
        <p:spPr>
          <a:xfrm>
            <a:off x="6766560" y="5431536"/>
            <a:ext cx="53949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Breakdown 3. The user sets a daily budget of interruptions. Critical alerts always pass; the rest go to a digest.</a:t>
            </a:r>
          </a:p>
        </p:txBody>
      </p:sp>
      <p:sp>
        <p:nvSpPr>
          <p:cNvPr id="14" name="TextBox 13"/>
          <p:cNvSpPr txBox="1"/>
          <p:nvPr/>
        </p:nvSpPr>
        <p:spPr>
          <a:xfrm>
            <a:off x="822960" y="7863840"/>
            <a:ext cx="11338560" cy="274320"/>
          </a:xfrm>
          <a:prstGeom prst="rect">
            <a:avLst/>
          </a:prstGeom>
          <a:noFill/>
        </p:spPr>
        <p:txBody>
          <a:bodyPr wrap="square" lIns="0" rIns="0" tIns="0" bIns="0">
            <a:spAutoFit/>
          </a:bodyPr>
          <a:lstStyle/>
          <a:p>
            <a:pPr algn="l"/>
            <a:r>
              <a:rPr sz="1100">
                <a:solidFill>
                  <a:srgbClr val="858A97"/>
                </a:solidFill>
                <a:latin typeface="Helvetica Neue Medium"/>
              </a:rPr>
              <a:t>AUTONOMY LEDGER</a:t>
            </a:r>
          </a:p>
        </p:txBody>
      </p:sp>
      <p:sp>
        <p:nvSpPr>
          <p:cNvPr id="15" name="TextBox 14"/>
          <p:cNvSpPr txBox="1"/>
          <p:nvPr/>
        </p:nvSpPr>
        <p:spPr>
          <a:xfrm>
            <a:off x="822960" y="8174736"/>
            <a:ext cx="11338560" cy="2377440"/>
          </a:xfrm>
          <a:prstGeom prst="rect">
            <a:avLst/>
          </a:prstGeom>
          <a:noFill/>
        </p:spPr>
        <p:txBody>
          <a:bodyPr wrap="square" lIns="0" rIns="0" tIns="0" bIns="0">
            <a:spAutoFit/>
          </a:bodyPr>
          <a:lstStyle/>
          <a:p>
            <a:pPr algn="l">
              <a:spcAft>
                <a:spcPts val="600"/>
              </a:spcAft>
            </a:pPr>
            <a:r>
              <a:rPr sz="1500">
                <a:solidFill>
                  <a:srgbClr val="14161D"/>
                </a:solidFill>
                <a:latin typeface="Helvetica Neue Light"/>
              </a:rPr>
              <a:t>Breakdowns 2 and 4. Each goal shows its level and limits. Every action is logged and can be undone within 48 hours.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AGENT EXPERIENCE</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The workflow: from insight to a reasoned decision</a:t>
            </a:r>
          </a:p>
        </p:txBody>
      </p:sp>
      <p:sp>
        <p:nvSpPr>
          <p:cNvPr id="5" name="TextBox 4"/>
          <p:cNvSpPr txBox="1"/>
          <p:nvPr/>
        </p:nvSpPr>
        <p:spPr>
          <a:xfrm>
            <a:off x="822960" y="1554480"/>
            <a:ext cx="11356848" cy="365760"/>
          </a:xfrm>
          <a:prstGeom prst="rect">
            <a:avLst/>
          </a:prstGeom>
          <a:noFill/>
        </p:spPr>
        <p:txBody>
          <a:bodyPr wrap="square" lIns="0" rIns="0" tIns="0" bIns="0">
            <a:spAutoFit/>
          </a:bodyPr>
          <a:lstStyle/>
          <a:p>
            <a:pPr algn="l"/>
            <a:r>
              <a:rPr sz="1500">
                <a:solidFill>
                  <a:srgbClr val="858A97"/>
                </a:solidFill>
                <a:latin typeface="Helvetica Neue Light"/>
              </a:rPr>
              <a:t>Each step names the concept behind it. Nothing runs without approval.</a:t>
            </a:r>
          </a:p>
        </p:txBody>
      </p:sp>
      <p:sp>
        <p:nvSpPr>
          <p:cNvPr id="6" name="TextBox 5"/>
          <p:cNvSpPr txBox="1"/>
          <p:nvPr/>
        </p:nvSpPr>
        <p:spPr>
          <a:xfrm>
            <a:off x="822960" y="2560320"/>
            <a:ext cx="2148840" cy="274320"/>
          </a:xfrm>
          <a:prstGeom prst="rect">
            <a:avLst/>
          </a:prstGeom>
          <a:noFill/>
        </p:spPr>
        <p:txBody>
          <a:bodyPr wrap="square" lIns="0" rIns="0" tIns="0" bIns="0">
            <a:spAutoFit/>
          </a:bodyPr>
          <a:lstStyle/>
          <a:p>
            <a:pPr algn="l"/>
            <a:r>
              <a:rPr sz="1100">
                <a:solidFill>
                  <a:srgbClr val="858A97"/>
                </a:solidFill>
                <a:latin typeface="Helvetica Neue Medium"/>
              </a:rPr>
              <a:t>1 · INSIGHT</a:t>
            </a:r>
          </a:p>
        </p:txBody>
      </p:sp>
      <p:sp>
        <p:nvSpPr>
          <p:cNvPr id="7" name="TextBox 6"/>
          <p:cNvSpPr txBox="1"/>
          <p:nvPr/>
        </p:nvSpPr>
        <p:spPr>
          <a:xfrm>
            <a:off x="822960" y="2871215"/>
            <a:ext cx="214884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Shows its source, date, and data. No confidence percentage.</a:t>
            </a:r>
          </a:p>
        </p:txBody>
      </p:sp>
      <p:sp>
        <p:nvSpPr>
          <p:cNvPr id="8" name="TextBox 7"/>
          <p:cNvSpPr txBox="1"/>
          <p:nvPr/>
        </p:nvSpPr>
        <p:spPr>
          <a:xfrm>
            <a:off x="3108960" y="2560320"/>
            <a:ext cx="2148840" cy="274320"/>
          </a:xfrm>
          <a:prstGeom prst="rect">
            <a:avLst/>
          </a:prstGeom>
          <a:noFill/>
        </p:spPr>
        <p:txBody>
          <a:bodyPr wrap="square" lIns="0" rIns="0" tIns="0" bIns="0">
            <a:spAutoFit/>
          </a:bodyPr>
          <a:lstStyle/>
          <a:p>
            <a:pPr algn="l"/>
            <a:r>
              <a:rPr sz="1100">
                <a:solidFill>
                  <a:srgbClr val="858A97"/>
                </a:solidFill>
                <a:latin typeface="Helvetica Neue Medium"/>
              </a:rPr>
              <a:t>2 · CONDITION</a:t>
            </a:r>
          </a:p>
        </p:txBody>
      </p:sp>
      <p:sp>
        <p:nvSpPr>
          <p:cNvPr id="9" name="TextBox 8"/>
          <p:cNvSpPr txBox="1"/>
          <p:nvPr/>
        </p:nvSpPr>
        <p:spPr>
          <a:xfrm>
            <a:off x="3108960" y="2871215"/>
            <a:ext cx="214884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The user sets what would change the view (Scenario Sandbox).</a:t>
            </a:r>
          </a:p>
        </p:txBody>
      </p:sp>
      <p:sp>
        <p:nvSpPr>
          <p:cNvPr id="10" name="TextBox 9"/>
          <p:cNvSpPr txBox="1"/>
          <p:nvPr/>
        </p:nvSpPr>
        <p:spPr>
          <a:xfrm>
            <a:off x="5394960" y="2560320"/>
            <a:ext cx="2148840" cy="274320"/>
          </a:xfrm>
          <a:prstGeom prst="rect">
            <a:avLst/>
          </a:prstGeom>
          <a:noFill/>
        </p:spPr>
        <p:txBody>
          <a:bodyPr wrap="square" lIns="0" rIns="0" tIns="0" bIns="0">
            <a:spAutoFit/>
          </a:bodyPr>
          <a:lstStyle/>
          <a:p>
            <a:pPr algn="l"/>
            <a:r>
              <a:rPr sz="1100">
                <a:solidFill>
                  <a:srgbClr val="858A97"/>
                </a:solidFill>
                <a:latin typeface="Helvetica Neue Medium"/>
              </a:rPr>
              <a:t>3 · PROPOSED STEPS</a:t>
            </a:r>
          </a:p>
        </p:txBody>
      </p:sp>
      <p:sp>
        <p:nvSpPr>
          <p:cNvPr id="11" name="TextBox 10"/>
          <p:cNvSpPr txBox="1"/>
          <p:nvPr/>
        </p:nvSpPr>
        <p:spPr>
          <a:xfrm>
            <a:off x="5394960" y="2871215"/>
            <a:ext cx="214884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The agent drafts steps; the user edits each one (Plan Editor).</a:t>
            </a:r>
          </a:p>
        </p:txBody>
      </p:sp>
      <p:sp>
        <p:nvSpPr>
          <p:cNvPr id="12" name="TextBox 11"/>
          <p:cNvSpPr txBox="1"/>
          <p:nvPr/>
        </p:nvSpPr>
        <p:spPr>
          <a:xfrm>
            <a:off x="7680960" y="2560320"/>
            <a:ext cx="2148840" cy="274320"/>
          </a:xfrm>
          <a:prstGeom prst="rect">
            <a:avLst/>
          </a:prstGeom>
          <a:noFill/>
        </p:spPr>
        <p:txBody>
          <a:bodyPr wrap="square" lIns="0" rIns="0" tIns="0" bIns="0">
            <a:spAutoFit/>
          </a:bodyPr>
          <a:lstStyle/>
          <a:p>
            <a:pPr algn="l"/>
            <a:r>
              <a:rPr sz="1100">
                <a:solidFill>
                  <a:srgbClr val="858A97"/>
                </a:solidFill>
                <a:latin typeface="Helvetica Neue Medium"/>
              </a:rPr>
              <a:t>4 · APPROVE WITHIN LIMITS</a:t>
            </a:r>
          </a:p>
        </p:txBody>
      </p:sp>
      <p:sp>
        <p:nvSpPr>
          <p:cNvPr id="13" name="TextBox 12"/>
          <p:cNvSpPr txBox="1"/>
          <p:nvPr/>
        </p:nvSpPr>
        <p:spPr>
          <a:xfrm>
            <a:off x="7680960" y="2871215"/>
            <a:ext cx="214884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The user approves. Act is opt-in, with limits beside it (Autonomy Ledger).</a:t>
            </a:r>
          </a:p>
        </p:txBody>
      </p:sp>
      <p:sp>
        <p:nvSpPr>
          <p:cNvPr id="14" name="TextBox 13"/>
          <p:cNvSpPr txBox="1"/>
          <p:nvPr/>
        </p:nvSpPr>
        <p:spPr>
          <a:xfrm>
            <a:off x="9966960" y="2560320"/>
            <a:ext cx="2148840" cy="274320"/>
          </a:xfrm>
          <a:prstGeom prst="rect">
            <a:avLst/>
          </a:prstGeom>
          <a:noFill/>
        </p:spPr>
        <p:txBody>
          <a:bodyPr wrap="square" lIns="0" rIns="0" tIns="0" bIns="0">
            <a:spAutoFit/>
          </a:bodyPr>
          <a:lstStyle/>
          <a:p>
            <a:pPr algn="l"/>
            <a:r>
              <a:rPr sz="1100">
                <a:solidFill>
                  <a:srgbClr val="858A97"/>
                </a:solidFill>
                <a:latin typeface="Helvetica Neue Medium"/>
              </a:rPr>
              <a:t>5 · REASON, RE-CHECKED</a:t>
            </a:r>
          </a:p>
        </p:txBody>
      </p:sp>
      <p:sp>
        <p:nvSpPr>
          <p:cNvPr id="15" name="TextBox 14"/>
          <p:cNvSpPr txBox="1"/>
          <p:nvPr/>
        </p:nvSpPr>
        <p:spPr>
          <a:xfrm>
            <a:off x="9966960" y="2871215"/>
            <a:ext cx="214884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The user writes why they acted. Guard re-checks it later (Decision Journal).</a:t>
            </a:r>
          </a:p>
        </p:txBody>
      </p:sp>
      <p:sp>
        <p:nvSpPr>
          <p:cNvPr id="16" name="TextBox 15"/>
          <p:cNvSpPr txBox="1"/>
          <p:nvPr/>
        </p:nvSpPr>
        <p:spPr>
          <a:xfrm>
            <a:off x="822960" y="8503920"/>
            <a:ext cx="11356848" cy="274320"/>
          </a:xfrm>
          <a:prstGeom prst="rect">
            <a:avLst/>
          </a:prstGeom>
          <a:noFill/>
        </p:spPr>
        <p:txBody>
          <a:bodyPr wrap="square" lIns="0" rIns="0" tIns="0" bIns="0">
            <a:spAutoFit/>
          </a:bodyPr>
          <a:lstStyle/>
          <a:p>
            <a:pPr algn="l"/>
            <a:r>
              <a:rPr sz="1200">
                <a:solidFill>
                  <a:srgbClr val="858A97"/>
                </a:solidFill>
                <a:latin typeface="Helvetica Neue Light"/>
              </a:rPr>
              <a:t>Each step shows its source. Changes can be reversed within 48 hours. The AI proposes; the user decides.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48640" y="411480"/>
            <a:ext cx="11905488" cy="320040"/>
          </a:xfrm>
          <a:prstGeom prst="rect">
            <a:avLst/>
          </a:prstGeom>
          <a:noFill/>
          <a:ln/>
        </p:spPr>
        <p:txBody>
          <a:bodyPr wrap="square" lIns="0" tIns="0" rIns="0" bIns="0" rtlCol="0" anchor="ctr"/>
          <a:lstStyle/>
          <a:p>
            <a:pPr indent="0" marL="0">
              <a:buNone/>
            </a:pPr>
            <a:r>
              <a:rPr lang="en-US" sz="1400" dirty="0">
                <a:solidFill>
                  <a:srgbClr val="1B2A3A"/>
                </a:solidFill>
                <a:latin typeface="Helvetica Neue Light" pitchFamily="34" charset="0"/>
                <a:ea typeface="Helvetica Neue Light" pitchFamily="34" charset="-122"/>
                <a:cs typeface="Helvetica Neue Light" pitchFamily="34" charset="-120"/>
              </a:rPr>
              <a:t>MERIDIAN NAVIGATOR · AGENT EXPERIENCE</a:t>
            </a:r>
            <a:endParaRPr lang="en-US" sz="1400" dirty="0"/>
          </a:p>
        </p:txBody>
      </p:sp>
      <p:sp>
        <p:nvSpPr>
          <p:cNvPr id="3" name="Text 1"/>
          <p:cNvSpPr/>
          <p:nvPr/>
        </p:nvSpPr>
        <p:spPr>
          <a:xfrm>
            <a:off x="548640" y="914400"/>
            <a:ext cx="11905488" cy="731520"/>
          </a:xfrm>
          <a:prstGeom prst="rect">
            <a:avLst/>
          </a:prstGeom>
          <a:noFill/>
          <a:ln/>
        </p:spPr>
        <p:txBody>
          <a:bodyPr wrap="square" lIns="0" tIns="0" rIns="0" bIns="0" rtlCol="0" anchor="t"/>
          <a:lstStyle/>
          <a:p>
            <a:pPr indent="0" marL="0">
              <a:buNone/>
            </a:pPr>
            <a:r>
              <a:rPr lang="en-US" sz="3000" dirty="0">
                <a:solidFill>
                  <a:srgbClr val="1B2A3A"/>
                </a:solidFill>
                <a:latin typeface="Helvetica Neue Light" pitchFamily="34" charset="0"/>
                <a:ea typeface="Helvetica Neue Light" pitchFamily="34" charset="-122"/>
                <a:cs typeface="Helvetica Neue Light" pitchFamily="34" charset="-120"/>
              </a:rPr>
              <a:t>The AI advancements, from breakdown to test</a:t>
            </a:r>
            <a:endParaRPr lang="en-US" sz="3000" dirty="0"/>
          </a:p>
        </p:txBody>
      </p:sp>
      <p:sp>
        <p:nvSpPr>
          <p:cNvPr id="4" name="Text 2"/>
          <p:cNvSpPr/>
          <p:nvPr/>
        </p:nvSpPr>
        <p:spPr>
          <a:xfrm>
            <a:off x="548640" y="1645920"/>
            <a:ext cx="11905488" cy="365760"/>
          </a:xfrm>
          <a:prstGeom prst="rect">
            <a:avLst/>
          </a:prstGeom>
          <a:noFill/>
          <a:ln/>
        </p:spPr>
        <p:txBody>
          <a:bodyPr wrap="square" lIns="0" tIns="0" rIns="0" bIns="0" rtlCol="0" anchor="ctr"/>
          <a:lstStyle/>
          <a:p>
            <a:pPr indent="0" marL="0">
              <a:buNone/>
            </a:pPr>
            <a:r>
              <a:rPr lang="en-US" sz="1600" dirty="0">
                <a:solidFill>
                  <a:srgbClr val="595959"/>
                </a:solidFill>
                <a:latin typeface="Helvetica Neue Light" pitchFamily="34" charset="0"/>
                <a:ea typeface="Helvetica Neue Light" pitchFamily="34" charset="-122"/>
                <a:cs typeface="Helvetica Neue Light" pitchFamily="34" charset="-120"/>
              </a:rPr>
              <a:t>Each row links a breakdown to the concept that answers it, the workflow step where it shows, and what is drawn today.</a:t>
            </a:r>
            <a:endParaRPr lang="en-US" sz="1600" dirty="0"/>
          </a:p>
        </p:txBody>
      </p:sp>
      <p:pic>
        <p:nvPicPr>
          <p:cNvPr id="5" name="Picture 4" descr="image.png"/>
          <p:cNvPicPr>
            <a:picLocks noChangeAspect="1"/>
          </p:cNvPicPr>
          <p:nvPr/>
        </p:nvPicPr>
        <p:blipFill>
          <a:blip r:embed="rId2"/>
          <a:stretch>
            <a:fillRect/>
          </a:stretch>
        </p:blipFill>
        <p:spPr>
          <a:xfrm>
            <a:off x="0" y="9299448"/>
            <a:ext cx="13002768" cy="457200"/>
          </a:xfrm>
          <a:prstGeom prst="rect">
            <a:avLst/>
          </a:prstGeom>
        </p:spPr>
      </p:pic>
      <p:sp>
        <p:nvSpPr>
          <p:cNvPr id="6" name="Text 3"/>
          <p:cNvSpPr/>
          <p:nvPr/>
        </p:nvSpPr>
        <p:spPr>
          <a:xfrm>
            <a:off x="548640" y="8778240"/>
            <a:ext cx="11905488" cy="320040"/>
          </a:xfrm>
          <a:prstGeom prst="rect">
            <a:avLst/>
          </a:prstGeom>
          <a:noFill/>
          <a:ln/>
        </p:spPr>
        <p:txBody>
          <a:bodyPr wrap="square" lIns="0" tIns="0" rIns="0" bIns="0" rtlCol="0" anchor="ctr"/>
          <a:lstStyle/>
          <a:p>
            <a:pPr indent="0" marL="0">
              <a:buNone/>
            </a:pPr>
            <a:r>
              <a:rPr lang="en-US" sz="1200" dirty="0">
                <a:solidFill>
                  <a:srgbClr val="595959"/>
                </a:solidFill>
                <a:latin typeface="Helvetica Neue Light" pitchFamily="34" charset="0"/>
                <a:ea typeface="Helvetica Neue Light" pitchFamily="34" charset="-122"/>
                <a:cs typeface="Helvetica Neue Light" pitchFamily="34" charset="-120"/>
              </a:rPr>
              <a:t>Portfolio prototype. Mock data. Hypotheses until validated. Proposed-step language only.</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11905488" cy="914400"/>
        </p:xfrm>
        <a:graphic>
          <a:graphicData uri="http://schemas.openxmlformats.org/drawingml/2006/table">
            <a:tbl>
              <a:tblPr/>
              <a:tblGrid>
                <a:gridCol w="2743200"/>
                <a:gridCol w="2743200"/>
                <a:gridCol w="3749040"/>
                <a:gridCol w="2103120"/>
              </a:tblGrid>
              <a:tr h="0">
                <a:tc>
                  <a:txBody>
                    <a:bodyPr/>
                    <a:lstStyle/>
                    <a:p>
                      <a:pPr indent="0" marL="0">
                        <a:buNone/>
                      </a:pPr>
                      <a:r>
                        <a:rPr lang="en-US" sz="1280" dirty="0">
                          <a:solidFill>
                            <a:srgbClr val="B5532F"/>
                          </a:solidFill>
                          <a:latin typeface="Helvetica Neue Medium" pitchFamily="34" charset="0"/>
                          <a:ea typeface="Helvetica Neue Medium" pitchFamily="34" charset="-122"/>
                          <a:cs typeface="Helvetica Neue Medium" pitchFamily="34" charset="-120"/>
                        </a:rPr>
                        <a:t>THE BREAKDOWN</a:t>
                      </a:r>
                      <a:endParaRPr lang="en-US" sz="1280" dirty="0">
                        <a:latin typeface="Helvetica Neue Medium" charset="0"/>
                        <a:ea typeface="Helvetica Neue Medium" charset="0"/>
                        <a:cs typeface="Helvetica Neue Medium"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280" dirty="0">
                          <a:solidFill>
                            <a:srgbClr val="B5532F"/>
                          </a:solidFill>
                          <a:latin typeface="Helvetica Neue Medium" pitchFamily="34" charset="0"/>
                          <a:ea typeface="Helvetica Neue Medium" pitchFamily="34" charset="-122"/>
                          <a:cs typeface="Helvetica Neue Medium" pitchFamily="34" charset="-120"/>
                        </a:rPr>
                        <a:t>THE ADVANCEMENT</a:t>
                      </a:r>
                      <a:endParaRPr lang="en-US" sz="1280" dirty="0">
                        <a:latin typeface="Helvetica Neue Medium" charset="0"/>
                        <a:ea typeface="Helvetica Neue Medium" charset="0"/>
                        <a:cs typeface="Helvetica Neue Medium"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280" dirty="0">
                          <a:solidFill>
                            <a:srgbClr val="B5532F"/>
                          </a:solidFill>
                          <a:latin typeface="Helvetica Neue Medium" pitchFamily="34" charset="0"/>
                          <a:ea typeface="Helvetica Neue Medium" pitchFamily="34" charset="-122"/>
                          <a:cs typeface="Helvetica Neue Medium" pitchFamily="34" charset="-120"/>
                        </a:rPr>
                        <a:t>WHERE IT SHOWS IN THE WORKFLOW</a:t>
                      </a:r>
                      <a:endParaRPr lang="en-US" sz="1280" dirty="0">
                        <a:latin typeface="Helvetica Neue Medium" charset="0"/>
                        <a:ea typeface="Helvetica Neue Medium" charset="0"/>
                        <a:cs typeface="Helvetica Neue Medium"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280" dirty="0">
                          <a:solidFill>
                            <a:srgbClr val="B5532F"/>
                          </a:solidFill>
                          <a:latin typeface="Helvetica Neue Medium" pitchFamily="34" charset="0"/>
                          <a:ea typeface="Helvetica Neue Medium" pitchFamily="34" charset="-122"/>
                          <a:cs typeface="Helvetica Neue Medium" pitchFamily="34" charset="-120"/>
                        </a:rPr>
                        <a:t>STATUS</a:t>
                      </a:r>
                      <a:endParaRPr lang="en-US" sz="1280" dirty="0">
                        <a:latin typeface="Helvetica Neue Medium" charset="0"/>
                        <a:ea typeface="Helvetica Neue Medium" charset="0"/>
                        <a:cs typeface="Helvetica Neue Medium"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B2A3A"/>
                          </a:solidFill>
                          <a:latin typeface="Helvetica Neue Light" pitchFamily="34" charset="0"/>
                          <a:ea typeface="Helvetica Neue Light" pitchFamily="34" charset="-122"/>
                          <a:cs typeface="Helvetica Neue Light" pitchFamily="34" charset="-120"/>
                        </a:rPr>
                        <a:t>1 · Outputs without reasoning</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500" dirty="0">
                          <a:solidFill>
                            <a:srgbClr val="1B2A3A"/>
                          </a:solidFill>
                          <a:latin typeface="Helvetica Neue Light" pitchFamily="34" charset="0"/>
                          <a:ea typeface="Helvetica Neue Light" pitchFamily="34" charset="-122"/>
                          <a:cs typeface="Helvetica Neue Light" pitchFamily="34" charset="-120"/>
                        </a:rPr>
                        <a:t>Scenario Sandbox</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500" dirty="0">
                          <a:solidFill>
                            <a:srgbClr val="1B2A3A"/>
                          </a:solidFill>
                          <a:latin typeface="Helvetica Neue Light" pitchFamily="34" charset="0"/>
                          <a:ea typeface="Helvetica Neue Light" pitchFamily="34" charset="-122"/>
                          <a:cs typeface="Helvetica Neue Light" pitchFamily="34" charset="-120"/>
                        </a:rPr>
                        <a:t>Steps 1 and 2: source on each insight; the condition the user sets</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500" dirty="0">
                          <a:solidFill>
                            <a:srgbClr val="1B2A3A"/>
                          </a:solidFill>
                          <a:latin typeface="Helvetica Neue Light" pitchFamily="34" charset="0"/>
                          <a:ea typeface="Helvetica Neue Light" pitchFamily="34" charset="-122"/>
                          <a:cs typeface="Helvetica Neue Light" pitchFamily="34" charset="-120"/>
                        </a:rPr>
                        <a:t>Insight with source drawn; sandbox not drawn</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B2A3A"/>
                          </a:solidFill>
                          <a:latin typeface="Helvetica Neue Light" pitchFamily="34" charset="0"/>
                          <a:ea typeface="Helvetica Neue Light" pitchFamily="34" charset="-122"/>
                          <a:cs typeface="Helvetica Neue Light" pitchFamily="34" charset="-120"/>
                        </a:rPr>
                        <a:t>2 · All or nothing</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500" dirty="0">
                          <a:solidFill>
                            <a:srgbClr val="1B2A3A"/>
                          </a:solidFill>
                          <a:latin typeface="Helvetica Neue Light" pitchFamily="34" charset="0"/>
                          <a:ea typeface="Helvetica Neue Light" pitchFamily="34" charset="-122"/>
                          <a:cs typeface="Helvetica Neue Light" pitchFamily="34" charset="-120"/>
                        </a:rPr>
                        <a:t>Plan Editor and Autonomy Ledger</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500" dirty="0">
                          <a:solidFill>
                            <a:srgbClr val="1B2A3A"/>
                          </a:solidFill>
                          <a:latin typeface="Helvetica Neue Light" pitchFamily="34" charset="0"/>
                          <a:ea typeface="Helvetica Neue Light" pitchFamily="34" charset="-122"/>
                          <a:cs typeface="Helvetica Neue Light" pitchFamily="34" charset="-120"/>
                        </a:rPr>
                        <a:t>Steps 3 and 4: each proposed step is editable; Act is opt-in</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500" dirty="0">
                          <a:solidFill>
                            <a:srgbClr val="1B2A3A"/>
                          </a:solidFill>
                          <a:latin typeface="Helvetica Neue Light" pitchFamily="34" charset="0"/>
                          <a:ea typeface="Helvetica Neue Light" pitchFamily="34" charset="-122"/>
                          <a:cs typeface="Helvetica Neue Light" pitchFamily="34" charset="-120"/>
                        </a:rPr>
                        <a:t>Adapt plan drawn; ledger not drawn</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B2A3A"/>
                          </a:solidFill>
                          <a:latin typeface="Helvetica Neue Light" pitchFamily="34" charset="0"/>
                          <a:ea typeface="Helvetica Neue Light" pitchFamily="34" charset="-122"/>
                          <a:cs typeface="Helvetica Neue Light" pitchFamily="34" charset="-120"/>
                        </a:rPr>
                        <a:t>3 · No learning loop</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500" dirty="0">
                          <a:solidFill>
                            <a:srgbClr val="1B2A3A"/>
                          </a:solidFill>
                          <a:latin typeface="Helvetica Neue Light" pitchFamily="34" charset="0"/>
                          <a:ea typeface="Helvetica Neue Light" pitchFamily="34" charset="-122"/>
                          <a:cs typeface="Helvetica Neue Light" pitchFamily="34" charset="-120"/>
                        </a:rPr>
                        <a:t>Decision Journal and Attention Budget</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500" dirty="0">
                          <a:solidFill>
                            <a:srgbClr val="1B2A3A"/>
                          </a:solidFill>
                          <a:latin typeface="Helvetica Neue Light" pitchFamily="34" charset="0"/>
                          <a:ea typeface="Helvetica Neue Light" pitchFamily="34" charset="-122"/>
                          <a:cs typeface="Helvetica Neue Light" pitchFamily="34" charset="-120"/>
                        </a:rPr>
                        <a:t>Step 5: the reason is kept and re-checked</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500" dirty="0">
                          <a:solidFill>
                            <a:srgbClr val="1B2A3A"/>
                          </a:solidFill>
                          <a:latin typeface="Helvetica Neue Light" pitchFamily="34" charset="0"/>
                          <a:ea typeface="Helvetica Neue Light" pitchFamily="34" charset="-122"/>
                          <a:cs typeface="Helvetica Neue Light" pitchFamily="34" charset="-120"/>
                        </a:rPr>
                        <a:t>Not drawn</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B2A3A"/>
                          </a:solidFill>
                          <a:latin typeface="Helvetica Neue Light" pitchFamily="34" charset="0"/>
                          <a:ea typeface="Helvetica Neue Light" pitchFamily="34" charset="-122"/>
                          <a:cs typeface="Helvetica Neue Light" pitchFamily="34" charset="-120"/>
                        </a:rPr>
                        <a:t>4 · Advice line in conflict</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500" dirty="0">
                          <a:solidFill>
                            <a:srgbClr val="1B2A3A"/>
                          </a:solidFill>
                          <a:latin typeface="Helvetica Neue Light" pitchFamily="34" charset="0"/>
                          <a:ea typeface="Helvetica Neue Light" pitchFamily="34" charset="-122"/>
                          <a:cs typeface="Helvetica Neue Light" pitchFamily="34" charset="-120"/>
                        </a:rPr>
                        <a:t>Proposed-step wording and the Autonomy Ledger limits</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500" dirty="0">
                          <a:solidFill>
                            <a:srgbClr val="1B2A3A"/>
                          </a:solidFill>
                          <a:latin typeface="Helvetica Neue Light" pitchFamily="34" charset="0"/>
                          <a:ea typeface="Helvetica Neue Light" pitchFamily="34" charset="-122"/>
                          <a:cs typeface="Helvetica Neue Light" pitchFamily="34" charset="-120"/>
                        </a:rPr>
                        <a:t>Steps 3 and 4: wording and limits on every screen</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500" dirty="0">
                          <a:solidFill>
                            <a:srgbClr val="1B2A3A"/>
                          </a:solidFill>
                          <a:latin typeface="Helvetica Neue Light" pitchFamily="34" charset="0"/>
                          <a:ea typeface="Helvetica Neue Light" pitchFamily="34" charset="-122"/>
                          <a:cs typeface="Helvetica Neue Light" pitchFamily="34" charset="-120"/>
                        </a:rPr>
                        <a:t>Wording fix on the board; compliance review open</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r>
              <a:tr h="0">
                <a:tc>
                  <a:txBody>
                    <a:bodyPr/>
                    <a:lstStyle/>
                    <a:p>
                      <a:pPr indent="0" marL="0">
                        <a:buNone/>
                      </a:pPr>
                      <a:r>
                        <a:rPr lang="en-US" sz="1500" dirty="0">
                          <a:solidFill>
                            <a:srgbClr val="1B2A3A"/>
                          </a:solidFill>
                          <a:latin typeface="Helvetica Neue Light" pitchFamily="34" charset="0"/>
                          <a:ea typeface="Helvetica Neue Light" pitchFamily="34" charset="-122"/>
                          <a:cs typeface="Helvetica Neue Light" pitchFamily="34" charset="-120"/>
                        </a:rPr>
                        <a:t>5 · Context lost between screens</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500" dirty="0">
                          <a:solidFill>
                            <a:srgbClr val="1B2A3A"/>
                          </a:solidFill>
                          <a:latin typeface="Helvetica Neue Light" pitchFamily="34" charset="0"/>
                          <a:ea typeface="Helvetica Neue Light" pitchFamily="34" charset="-122"/>
                          <a:cs typeface="Helvetica Neue Light" pitchFamily="34" charset="-120"/>
                        </a:rPr>
                        <a:t>Decision Journal</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500" dirty="0">
                          <a:solidFill>
                            <a:srgbClr val="1B2A3A"/>
                          </a:solidFill>
                          <a:latin typeface="Helvetica Neue Light" pitchFamily="34" charset="0"/>
                          <a:ea typeface="Helvetica Neue Light" pitchFamily="34" charset="-122"/>
                          <a:cs typeface="Helvetica Neue Light" pitchFamily="34" charset="-120"/>
                        </a:rPr>
                        <a:t>Step 5: the reason travels with the order</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c>
                  <a:txBody>
                    <a:bodyPr/>
                    <a:lstStyle/>
                    <a:p>
                      <a:pPr indent="0" marL="0">
                        <a:buNone/>
                      </a:pPr>
                      <a:r>
                        <a:rPr lang="en-US" sz="1500" dirty="0">
                          <a:solidFill>
                            <a:srgbClr val="1B2A3A"/>
                          </a:solidFill>
                          <a:latin typeface="Helvetica Neue Light" pitchFamily="34" charset="0"/>
                          <a:ea typeface="Helvetica Neue Light" pitchFamily="34" charset="-122"/>
                          <a:cs typeface="Helvetica Neue Light" pitchFamily="34" charset="-120"/>
                        </a:rPr>
                        <a:t>Full experience drawn; reason field not drawn</a:t>
                      </a:r>
                      <a:endParaRPr lang="en-US" sz="1500" dirty="0">
                        <a:latin typeface="Helvetica Neue Light" charset="0"/>
                        <a:ea typeface="Helvetica Neue Light" charset="0"/>
                        <a:cs typeface="Helvetica Neue Light" charset="0"/>
                      </a:endParaRPr>
                    </a:p>
                  </a:txBody>
                  <a:tcPr marL="91440" marR="91440"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ADAPT</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Adapt as a plan, not a batch</a:t>
            </a:r>
          </a:p>
        </p:txBody>
      </p:sp>
      <p:sp>
        <p:nvSpPr>
          <p:cNvPr id="5" name="TextBox 4"/>
          <p:cNvSpPr txBox="1"/>
          <p:nvPr/>
        </p:nvSpPr>
        <p:spPr>
          <a:xfrm>
            <a:off x="822960" y="1554480"/>
            <a:ext cx="11356848" cy="365760"/>
          </a:xfrm>
          <a:prstGeom prst="rect">
            <a:avLst/>
          </a:prstGeom>
          <a:noFill/>
        </p:spPr>
        <p:txBody>
          <a:bodyPr wrap="square" lIns="0" rIns="0" tIns="0" bIns="0">
            <a:spAutoFit/>
          </a:bodyPr>
          <a:lstStyle/>
          <a:p>
            <a:pPr algn="l"/>
            <a:r>
              <a:rPr sz="1500">
                <a:solidFill>
                  <a:srgbClr val="858A97"/>
                </a:solidFill>
                <a:latin typeface="Helvetica Neue Light"/>
              </a:rPr>
              <a:t>Set a goal, review the plan, then approve each step. Nothing runs without approval.</a:t>
            </a:r>
          </a:p>
        </p:txBody>
      </p:sp>
      <p:sp>
        <p:nvSpPr>
          <p:cNvPr id="6" name="TextBox 5"/>
          <p:cNvSpPr txBox="1"/>
          <p:nvPr/>
        </p:nvSpPr>
        <p:spPr>
          <a:xfrm>
            <a:off x="822960" y="2743200"/>
            <a:ext cx="3566160" cy="274320"/>
          </a:xfrm>
          <a:prstGeom prst="rect">
            <a:avLst/>
          </a:prstGeom>
          <a:noFill/>
        </p:spPr>
        <p:txBody>
          <a:bodyPr wrap="square" lIns="0" rIns="0" tIns="0" bIns="0">
            <a:spAutoFit/>
          </a:bodyPr>
          <a:lstStyle/>
          <a:p>
            <a:pPr algn="l"/>
            <a:r>
              <a:rPr sz="1100">
                <a:solidFill>
                  <a:srgbClr val="858A97"/>
                </a:solidFill>
                <a:latin typeface="Helvetica Neue Medium"/>
              </a:rPr>
              <a:t>SET A GOAL</a:t>
            </a:r>
          </a:p>
        </p:txBody>
      </p:sp>
      <p:sp>
        <p:nvSpPr>
          <p:cNvPr id="7" name="TextBox 6"/>
          <p:cNvSpPr txBox="1"/>
          <p:nvPr/>
        </p:nvSpPr>
        <p:spPr>
          <a:xfrm>
            <a:off x="822960" y="3054096"/>
            <a:ext cx="35661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The user states a target. The agent drafts a plan.</a:t>
            </a:r>
          </a:p>
        </p:txBody>
      </p:sp>
      <p:sp>
        <p:nvSpPr>
          <p:cNvPr id="8" name="TextBox 7"/>
          <p:cNvSpPr txBox="1"/>
          <p:nvPr/>
        </p:nvSpPr>
        <p:spPr>
          <a:xfrm>
            <a:off x="4572000" y="2743200"/>
            <a:ext cx="3566160" cy="274320"/>
          </a:xfrm>
          <a:prstGeom prst="rect">
            <a:avLst/>
          </a:prstGeom>
          <a:noFill/>
        </p:spPr>
        <p:txBody>
          <a:bodyPr wrap="square" lIns="0" rIns="0" tIns="0" bIns="0">
            <a:spAutoFit/>
          </a:bodyPr>
          <a:lstStyle/>
          <a:p>
            <a:pPr algn="l"/>
            <a:r>
              <a:rPr sz="1100">
                <a:solidFill>
                  <a:srgbClr val="858A97"/>
                </a:solidFill>
                <a:latin typeface="Helvetica Neue Medium"/>
              </a:rPr>
              <a:t>PLAN PREVIEW</a:t>
            </a:r>
          </a:p>
        </p:txBody>
      </p:sp>
      <p:sp>
        <p:nvSpPr>
          <p:cNvPr id="9" name="TextBox 8"/>
          <p:cNvSpPr txBox="1"/>
          <p:nvPr/>
        </p:nvSpPr>
        <p:spPr>
          <a:xfrm>
            <a:off x="4572000" y="3054096"/>
            <a:ext cx="35661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Each proposed step shows its effect on the allocation.</a:t>
            </a:r>
          </a:p>
        </p:txBody>
      </p:sp>
      <p:sp>
        <p:nvSpPr>
          <p:cNvPr id="10" name="TextBox 9"/>
          <p:cNvSpPr txBox="1"/>
          <p:nvPr/>
        </p:nvSpPr>
        <p:spPr>
          <a:xfrm>
            <a:off x="8321040" y="2743200"/>
            <a:ext cx="3840480" cy="274320"/>
          </a:xfrm>
          <a:prstGeom prst="rect">
            <a:avLst/>
          </a:prstGeom>
          <a:noFill/>
        </p:spPr>
        <p:txBody>
          <a:bodyPr wrap="square" lIns="0" rIns="0" tIns="0" bIns="0">
            <a:spAutoFit/>
          </a:bodyPr>
          <a:lstStyle/>
          <a:p>
            <a:pPr algn="l"/>
            <a:r>
              <a:rPr sz="1100">
                <a:solidFill>
                  <a:srgbClr val="858A97"/>
                </a:solidFill>
                <a:latin typeface="Helvetica Neue Medium"/>
              </a:rPr>
              <a:t>STEP REVIEW</a:t>
            </a:r>
          </a:p>
        </p:txBody>
      </p:sp>
      <p:sp>
        <p:nvSpPr>
          <p:cNvPr id="11" name="TextBox 10"/>
          <p:cNvSpPr txBox="1"/>
          <p:nvPr/>
        </p:nvSpPr>
        <p:spPr>
          <a:xfrm>
            <a:off x="8321040" y="3054096"/>
            <a:ext cx="384048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Each step shows its reason and source. The user approves, edits, or skips it.</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METHODOLOGY</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How the AI behaves, and how we will test it</a:t>
            </a:r>
          </a:p>
        </p:txBody>
      </p:sp>
      <p:sp>
        <p:nvSpPr>
          <p:cNvPr id="5" name="TextBox 4"/>
          <p:cNvSpPr txBox="1"/>
          <p:nvPr/>
        </p:nvSpPr>
        <p:spPr>
          <a:xfrm>
            <a:off x="822960" y="2286000"/>
            <a:ext cx="5394960" cy="274320"/>
          </a:xfrm>
          <a:prstGeom prst="rect">
            <a:avLst/>
          </a:prstGeom>
          <a:noFill/>
        </p:spPr>
        <p:txBody>
          <a:bodyPr wrap="square" lIns="0" rIns="0" tIns="0" bIns="0">
            <a:spAutoFit/>
          </a:bodyPr>
          <a:lstStyle/>
          <a:p>
            <a:pPr algn="l"/>
            <a:r>
              <a:rPr sz="1100">
                <a:solidFill>
                  <a:srgbClr val="858A97"/>
                </a:solidFill>
                <a:latin typeface="Helvetica Neue Medium"/>
              </a:rPr>
              <a:t>AI BEHAVIOR · DESIGNED, MOCK DATA</a:t>
            </a:r>
          </a:p>
        </p:txBody>
      </p:sp>
      <p:sp>
        <p:nvSpPr>
          <p:cNvPr id="6" name="TextBox 5"/>
          <p:cNvSpPr txBox="1"/>
          <p:nvPr/>
        </p:nvSpPr>
        <p:spPr>
          <a:xfrm>
            <a:off x="822960" y="259689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Insight: sentiment summaries, with the screen as the source.</a:t>
            </a:r>
          </a:p>
          <a:p>
            <a:pPr algn="l">
              <a:spcAft>
                <a:spcPts val="600"/>
              </a:spcAft>
            </a:pPr>
            <a:r>
              <a:rPr sz="1600">
                <a:solidFill>
                  <a:srgbClr val="14161D"/>
                </a:solidFill>
                <a:latin typeface="Helvetica Neue Light"/>
              </a:rPr>
              <a:t>Prospect: opportunity cards with upside and downside.</a:t>
            </a:r>
          </a:p>
          <a:p>
            <a:pPr algn="l">
              <a:spcAft>
                <a:spcPts val="600"/>
              </a:spcAft>
            </a:pPr>
            <a:r>
              <a:rPr sz="1600">
                <a:solidFill>
                  <a:srgbClr val="14161D"/>
                </a:solidFill>
                <a:latin typeface="Helvetica Neue Light"/>
              </a:rPr>
              <a:t>Guard: alerts ranked by severity; mark as read.</a:t>
            </a:r>
          </a:p>
          <a:p>
            <a:pPr algn="l">
              <a:spcAft>
                <a:spcPts val="600"/>
              </a:spcAft>
            </a:pPr>
            <a:r>
              <a:rPr sz="1600">
                <a:solidFill>
                  <a:srgbClr val="14161D"/>
                </a:solidFill>
                <a:latin typeface="Helvetica Neue Light"/>
              </a:rPr>
              <a:t>Adapt: before and after allocation, and a reviewable list of proposed steps.</a:t>
            </a:r>
          </a:p>
        </p:txBody>
      </p:sp>
      <p:sp>
        <p:nvSpPr>
          <p:cNvPr id="7" name="TextBox 6"/>
          <p:cNvSpPr txBox="1"/>
          <p:nvPr/>
        </p:nvSpPr>
        <p:spPr>
          <a:xfrm>
            <a:off x="6766560" y="2286000"/>
            <a:ext cx="5394960" cy="274320"/>
          </a:xfrm>
          <a:prstGeom prst="rect">
            <a:avLst/>
          </a:prstGeom>
          <a:noFill/>
        </p:spPr>
        <p:txBody>
          <a:bodyPr wrap="square" lIns="0" rIns="0" tIns="0" bIns="0">
            <a:spAutoFit/>
          </a:bodyPr>
          <a:lstStyle/>
          <a:p>
            <a:pPr algn="l"/>
            <a:r>
              <a:rPr sz="1100">
                <a:solidFill>
                  <a:srgbClr val="858A97"/>
                </a:solidFill>
                <a:latin typeface="Helvetica Neue Medium"/>
              </a:rPr>
              <a:t>VALIDATION · PLANNED</a:t>
            </a:r>
          </a:p>
        </p:txBody>
      </p:sp>
      <p:sp>
        <p:nvSpPr>
          <p:cNvPr id="8" name="TextBox 7"/>
          <p:cNvSpPr txBox="1"/>
          <p:nvPr/>
        </p:nvSpPr>
        <p:spPr>
          <a:xfrm>
            <a:off x="6766560" y="259689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Five-person think-aloud on the share and dollar flows.</a:t>
            </a:r>
          </a:p>
          <a:p>
            <a:pPr algn="l">
              <a:spcAft>
                <a:spcPts val="600"/>
              </a:spcAft>
            </a:pPr>
            <a:r>
              <a:rPr sz="1600">
                <a:solidFill>
                  <a:srgbClr val="14161D"/>
                </a:solidFill>
                <a:latin typeface="Helvetica Neue Light"/>
              </a:rPr>
              <a:t>Comprehension check on the labels for Insight, Prospect, Guard, and Adapt.</a:t>
            </a:r>
          </a:p>
          <a:p>
            <a:pPr algn="l">
              <a:spcAft>
                <a:spcPts val="600"/>
              </a:spcAft>
            </a:pPr>
            <a:r>
              <a:rPr sz="1600">
                <a:solidFill>
                  <a:srgbClr val="14161D"/>
                </a:solidFill>
                <a:latin typeface="Helvetica Neue Light"/>
              </a:rPr>
              <a:t>Card sort on the five tabs.</a:t>
            </a:r>
          </a:p>
          <a:p>
            <a:pPr algn="l">
              <a:spcAft>
                <a:spcPts val="600"/>
              </a:spcAft>
            </a:pPr>
            <a:r>
              <a:rPr sz="1600">
                <a:solidFill>
                  <a:srgbClr val="14161D"/>
                </a:solidFill>
                <a:latin typeface="Helvetica Neue Light"/>
              </a:rPr>
              <a:t>Compliance review of trade and AI copy.</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MEASURES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What we would measure (planned, not run)</a:t>
            </a:r>
          </a:p>
        </p:txBody>
      </p:sp>
      <p:sp>
        <p:nvSpPr>
          <p:cNvPr id="5" name="TextBox 4"/>
          <p:cNvSpPr txBox="1"/>
          <p:nvPr/>
        </p:nvSpPr>
        <p:spPr>
          <a:xfrm>
            <a:off x="822960" y="1554480"/>
            <a:ext cx="11356848" cy="365760"/>
          </a:xfrm>
          <a:prstGeom prst="rect">
            <a:avLst/>
          </a:prstGeom>
          <a:noFill/>
        </p:spPr>
        <p:txBody>
          <a:bodyPr wrap="square" lIns="0" rIns="0" tIns="0" bIns="0">
            <a:spAutoFit/>
          </a:bodyPr>
          <a:lstStyle/>
          <a:p>
            <a:pPr algn="l"/>
            <a:r>
              <a:rPr sz="1500">
                <a:solidFill>
                  <a:srgbClr val="858A97"/>
                </a:solidFill>
                <a:latin typeface="Helvetica Neue Light"/>
              </a:rPr>
              <a:t>Hypotheses to test before any claim about the agent. None of these has data yet.</a:t>
            </a:r>
          </a:p>
        </p:txBody>
      </p:sp>
      <p:sp>
        <p:nvSpPr>
          <p:cNvPr id="6" name="TextBox 5"/>
          <p:cNvSpPr txBox="1"/>
          <p:nvPr/>
        </p:nvSpPr>
        <p:spPr>
          <a:xfrm>
            <a:off x="822960" y="2560320"/>
            <a:ext cx="4389120" cy="274320"/>
          </a:xfrm>
          <a:prstGeom prst="rect">
            <a:avLst/>
          </a:prstGeom>
          <a:noFill/>
        </p:spPr>
        <p:txBody>
          <a:bodyPr wrap="square" lIns="0" rIns="0" tIns="0" bIns="0">
            <a:spAutoFit/>
          </a:bodyPr>
          <a:lstStyle/>
          <a:p>
            <a:pPr algn="l"/>
            <a:r>
              <a:rPr sz="1100">
                <a:solidFill>
                  <a:srgbClr val="858A97"/>
                </a:solidFill>
                <a:latin typeface="Helvetica Neue Medium"/>
              </a:rPr>
              <a:t>MEASURE</a:t>
            </a:r>
          </a:p>
        </p:txBody>
      </p:sp>
      <p:sp>
        <p:nvSpPr>
          <p:cNvPr id="7" name="TextBox 6"/>
          <p:cNvSpPr txBox="1"/>
          <p:nvPr/>
        </p:nvSpPr>
        <p:spPr>
          <a:xfrm>
            <a:off x="5394960" y="2560320"/>
            <a:ext cx="7150607" cy="274320"/>
          </a:xfrm>
          <a:prstGeom prst="rect">
            <a:avLst/>
          </a:prstGeom>
          <a:noFill/>
        </p:spPr>
        <p:txBody>
          <a:bodyPr wrap="square" lIns="0" rIns="0" tIns="0" bIns="0">
            <a:spAutoFit/>
          </a:bodyPr>
          <a:lstStyle/>
          <a:p>
            <a:pPr algn="l"/>
            <a:r>
              <a:rPr sz="1100">
                <a:solidFill>
                  <a:srgbClr val="858A97"/>
                </a:solidFill>
                <a:latin typeface="Helvetica Neue Medium"/>
              </a:rPr>
              <a:t>QUESTION IT ANSWERS</a:t>
            </a:r>
          </a:p>
        </p:txBody>
      </p:sp>
      <p:cxnSp>
        <p:nvCxnSpPr>
          <p:cNvPr id="8" name="Connector 7"/>
          <p:cNvCxnSpPr/>
          <p:nvPr/>
        </p:nvCxnSpPr>
        <p:spPr>
          <a:xfrm>
            <a:off x="822960" y="2889503"/>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 y="3017520"/>
            <a:ext cx="4343400" cy="777240"/>
          </a:xfrm>
          <a:prstGeom prst="rect">
            <a:avLst/>
          </a:prstGeom>
          <a:noFill/>
        </p:spPr>
        <p:txBody>
          <a:bodyPr wrap="square" lIns="0" rIns="0" tIns="0" bIns="0">
            <a:spAutoFit/>
          </a:bodyPr>
          <a:lstStyle/>
          <a:p>
            <a:pPr algn="l"/>
            <a:r>
              <a:rPr sz="1400">
                <a:solidFill>
                  <a:srgbClr val="14161D"/>
                </a:solidFill>
                <a:latin typeface="Helvetica Neue Light"/>
              </a:rPr>
              <a:t>Time from insight to decision</a:t>
            </a:r>
          </a:p>
        </p:txBody>
      </p:sp>
      <p:sp>
        <p:nvSpPr>
          <p:cNvPr id="10" name="TextBox 9"/>
          <p:cNvSpPr txBox="1"/>
          <p:nvPr/>
        </p:nvSpPr>
        <p:spPr>
          <a:xfrm>
            <a:off x="5394960" y="3017520"/>
            <a:ext cx="7104888" cy="777240"/>
          </a:xfrm>
          <a:prstGeom prst="rect">
            <a:avLst/>
          </a:prstGeom>
          <a:noFill/>
        </p:spPr>
        <p:txBody>
          <a:bodyPr wrap="square" lIns="0" rIns="0" tIns="0" bIns="0">
            <a:spAutoFit/>
          </a:bodyPr>
          <a:lstStyle/>
          <a:p>
            <a:pPr algn="l"/>
            <a:r>
              <a:rPr sz="1400">
                <a:solidFill>
                  <a:srgbClr val="14161D"/>
                </a:solidFill>
                <a:latin typeface="Helvetica Neue Light"/>
              </a:rPr>
              <a:t>Does evidence on the card shorten the decision?</a:t>
            </a:r>
          </a:p>
        </p:txBody>
      </p:sp>
      <p:cxnSp>
        <p:nvCxnSpPr>
          <p:cNvPr id="11" name="Connector 10"/>
          <p:cNvCxnSpPr/>
          <p:nvPr/>
        </p:nvCxnSpPr>
        <p:spPr>
          <a:xfrm>
            <a:off x="822960" y="377647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22960" y="3886200"/>
            <a:ext cx="4343400" cy="777240"/>
          </a:xfrm>
          <a:prstGeom prst="rect">
            <a:avLst/>
          </a:prstGeom>
          <a:noFill/>
        </p:spPr>
        <p:txBody>
          <a:bodyPr wrap="square" lIns="0" rIns="0" tIns="0" bIns="0">
            <a:spAutoFit/>
          </a:bodyPr>
          <a:lstStyle/>
          <a:p>
            <a:pPr algn="l"/>
            <a:r>
              <a:rPr sz="1400">
                <a:solidFill>
                  <a:srgbClr val="14161D"/>
                </a:solidFill>
                <a:latin typeface="Helvetica Neue Light"/>
              </a:rPr>
              <a:t>Edit and reject rate on proposed steps</a:t>
            </a:r>
          </a:p>
        </p:txBody>
      </p:sp>
      <p:sp>
        <p:nvSpPr>
          <p:cNvPr id="13" name="TextBox 12"/>
          <p:cNvSpPr txBox="1"/>
          <p:nvPr/>
        </p:nvSpPr>
        <p:spPr>
          <a:xfrm>
            <a:off x="5394960" y="3886200"/>
            <a:ext cx="7104888" cy="777240"/>
          </a:xfrm>
          <a:prstGeom prst="rect">
            <a:avLst/>
          </a:prstGeom>
          <a:noFill/>
        </p:spPr>
        <p:txBody>
          <a:bodyPr wrap="square" lIns="0" rIns="0" tIns="0" bIns="0">
            <a:spAutoFit/>
          </a:bodyPr>
          <a:lstStyle/>
          <a:p>
            <a:pPr algn="l"/>
            <a:r>
              <a:rPr sz="1400">
                <a:solidFill>
                  <a:srgbClr val="14161D"/>
                </a:solidFill>
                <a:latin typeface="Helvetica Neue Light"/>
              </a:rPr>
              <a:t>Do users trust the plan enough to approve it as drafted?</a:t>
            </a:r>
          </a:p>
        </p:txBody>
      </p:sp>
      <p:cxnSp>
        <p:nvCxnSpPr>
          <p:cNvPr id="14" name="Connector 13"/>
          <p:cNvCxnSpPr/>
          <p:nvPr/>
        </p:nvCxnSpPr>
        <p:spPr>
          <a:xfrm>
            <a:off x="822960" y="464515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2960" y="4754880"/>
            <a:ext cx="4343400" cy="777240"/>
          </a:xfrm>
          <a:prstGeom prst="rect">
            <a:avLst/>
          </a:prstGeom>
          <a:noFill/>
        </p:spPr>
        <p:txBody>
          <a:bodyPr wrap="square" lIns="0" rIns="0" tIns="0" bIns="0">
            <a:spAutoFit/>
          </a:bodyPr>
          <a:lstStyle/>
          <a:p>
            <a:pPr algn="l"/>
            <a:r>
              <a:rPr sz="1400">
                <a:solidFill>
                  <a:srgbClr val="14161D"/>
                </a:solidFill>
                <a:latin typeface="Helvetica Neue Light"/>
              </a:rPr>
              <a:t>Reversal rate of agent actions</a:t>
            </a:r>
          </a:p>
        </p:txBody>
      </p:sp>
      <p:sp>
        <p:nvSpPr>
          <p:cNvPr id="16" name="TextBox 15"/>
          <p:cNvSpPr txBox="1"/>
          <p:nvPr/>
        </p:nvSpPr>
        <p:spPr>
          <a:xfrm>
            <a:off x="5394960" y="4754880"/>
            <a:ext cx="7104888" cy="777240"/>
          </a:xfrm>
          <a:prstGeom prst="rect">
            <a:avLst/>
          </a:prstGeom>
          <a:noFill/>
        </p:spPr>
        <p:txBody>
          <a:bodyPr wrap="square" lIns="0" rIns="0" tIns="0" bIns="0">
            <a:spAutoFit/>
          </a:bodyPr>
          <a:lstStyle/>
          <a:p>
            <a:pPr algn="l"/>
            <a:r>
              <a:rPr sz="1400">
                <a:solidFill>
                  <a:srgbClr val="14161D"/>
                </a:solidFill>
                <a:latin typeface="Helvetica Neue Light"/>
              </a:rPr>
              <a:t>Does acting within limits create regret, or stay trusted?</a:t>
            </a:r>
          </a:p>
        </p:txBody>
      </p:sp>
      <p:cxnSp>
        <p:nvCxnSpPr>
          <p:cNvPr id="17" name="Connector 16"/>
          <p:cNvCxnSpPr/>
          <p:nvPr/>
        </p:nvCxnSpPr>
        <p:spPr>
          <a:xfrm>
            <a:off x="822960" y="551383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960" y="5623560"/>
            <a:ext cx="4343400" cy="777240"/>
          </a:xfrm>
          <a:prstGeom prst="rect">
            <a:avLst/>
          </a:prstGeom>
          <a:noFill/>
        </p:spPr>
        <p:txBody>
          <a:bodyPr wrap="square" lIns="0" rIns="0" tIns="0" bIns="0">
            <a:spAutoFit/>
          </a:bodyPr>
          <a:lstStyle/>
          <a:p>
            <a:pPr algn="l"/>
            <a:r>
              <a:rPr sz="1400">
                <a:solidFill>
                  <a:srgbClr val="14161D"/>
                </a:solidFill>
                <a:latin typeface="Helvetica Neue Light"/>
              </a:rPr>
              <a:t>Learned rules kept or reversed</a:t>
            </a:r>
          </a:p>
        </p:txBody>
      </p:sp>
      <p:sp>
        <p:nvSpPr>
          <p:cNvPr id="19" name="TextBox 18"/>
          <p:cNvSpPr txBox="1"/>
          <p:nvPr/>
        </p:nvSpPr>
        <p:spPr>
          <a:xfrm>
            <a:off x="5394960" y="5623560"/>
            <a:ext cx="7104888" cy="777240"/>
          </a:xfrm>
          <a:prstGeom prst="rect">
            <a:avLst/>
          </a:prstGeom>
          <a:noFill/>
        </p:spPr>
        <p:txBody>
          <a:bodyPr wrap="square" lIns="0" rIns="0" tIns="0" bIns="0">
            <a:spAutoFit/>
          </a:bodyPr>
          <a:lstStyle/>
          <a:p>
            <a:pPr algn="l"/>
            <a:r>
              <a:rPr sz="1400">
                <a:solidFill>
                  <a:srgbClr val="14161D"/>
                </a:solidFill>
                <a:latin typeface="Helvetica Neue Light"/>
              </a:rPr>
              <a:t>Do users value the learning loop, or switch it off?</a:t>
            </a:r>
          </a:p>
        </p:txBody>
      </p:sp>
      <p:cxnSp>
        <p:nvCxnSpPr>
          <p:cNvPr id="20" name="Connector 19"/>
          <p:cNvCxnSpPr/>
          <p:nvPr/>
        </p:nvCxnSpPr>
        <p:spPr>
          <a:xfrm>
            <a:off x="822960" y="638251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IMPLEMENTATION</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Built on SwiftUI, with tokens shared with Figma</a:t>
            </a:r>
          </a:p>
        </p:txBody>
      </p:sp>
      <p:sp>
        <p:nvSpPr>
          <p:cNvPr id="5" name="TextBox 4"/>
          <p:cNvSpPr txBox="1"/>
          <p:nvPr/>
        </p:nvSpPr>
        <p:spPr>
          <a:xfrm>
            <a:off x="822960" y="2286000"/>
            <a:ext cx="5394960" cy="274320"/>
          </a:xfrm>
          <a:prstGeom prst="rect">
            <a:avLst/>
          </a:prstGeom>
          <a:noFill/>
        </p:spPr>
        <p:txBody>
          <a:bodyPr wrap="square" lIns="0" rIns="0" tIns="0" bIns="0">
            <a:spAutoFit/>
          </a:bodyPr>
          <a:lstStyle/>
          <a:p>
            <a:pPr algn="l"/>
            <a:r>
              <a:rPr sz="1100">
                <a:solidFill>
                  <a:srgbClr val="858A97"/>
                </a:solidFill>
                <a:latin typeface="Helvetica Neue Medium"/>
              </a:rPr>
              <a:t>WHAT IS BUILT</a:t>
            </a:r>
          </a:p>
        </p:txBody>
      </p:sp>
      <p:sp>
        <p:nvSpPr>
          <p:cNvPr id="6" name="TextBox 5"/>
          <p:cNvSpPr txBox="1"/>
          <p:nvPr/>
        </p:nvSpPr>
        <p:spPr>
          <a:xfrm>
            <a:off x="822960" y="259689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MVVM: one ViewModel per screen.</a:t>
            </a:r>
          </a:p>
          <a:p>
            <a:pPr algn="l">
              <a:spcAft>
                <a:spcPts val="600"/>
              </a:spcAft>
            </a:pPr>
            <a:r>
              <a:rPr sz="1600">
                <a:solidFill>
                  <a:srgbClr val="14161D"/>
                </a:solidFill>
                <a:latin typeface="Helvetica Neue Light"/>
              </a:rPr>
              <a:t>MockAPIService with realistic data and a delay.</a:t>
            </a:r>
          </a:p>
          <a:p>
            <a:pPr algn="l">
              <a:spcAft>
                <a:spcPts val="600"/>
              </a:spcAft>
            </a:pPr>
            <a:r>
              <a:rPr sz="1600">
                <a:solidFill>
                  <a:srgbClr val="14161D"/>
                </a:solidFill>
                <a:latin typeface="Helvetica Neue Light"/>
              </a:rPr>
              <a:t>DesignTokens.swift: colors, type, and spacing.</a:t>
            </a:r>
          </a:p>
          <a:p>
            <a:pPr algn="l">
              <a:spcAft>
                <a:spcPts val="600"/>
              </a:spcAft>
            </a:pPr>
            <a:r>
              <a:rPr sz="1600">
                <a:solidFill>
                  <a:srgbClr val="14161D"/>
                </a:solidFill>
                <a:latin typeface="Helvetica Neue Light"/>
              </a:rPr>
              <a:t>AuthManager: Face ID and Touch ID, with Keychain storage.</a:t>
            </a:r>
          </a:p>
          <a:p>
            <a:pPr algn="l">
              <a:spcAft>
                <a:spcPts val="600"/>
              </a:spcAft>
            </a:pPr>
            <a:r>
              <a:rPr sz="1600">
                <a:solidFill>
                  <a:srgbClr val="14161D"/>
                </a:solidFill>
                <a:latin typeface="Helvetica Neue Light"/>
              </a:rPr>
              <a:t>Figma library mirrors the same tokens.</a:t>
            </a:r>
          </a:p>
        </p:txBody>
      </p:sp>
      <p:sp>
        <p:nvSpPr>
          <p:cNvPr id="7" name="TextBox 6"/>
          <p:cNvSpPr txBox="1"/>
          <p:nvPr/>
        </p:nvSpPr>
        <p:spPr>
          <a:xfrm>
            <a:off x="6766560" y="2286000"/>
            <a:ext cx="5394960" cy="274320"/>
          </a:xfrm>
          <a:prstGeom prst="rect">
            <a:avLst/>
          </a:prstGeom>
          <a:noFill/>
        </p:spPr>
        <p:txBody>
          <a:bodyPr wrap="square" lIns="0" rIns="0" tIns="0" bIns="0">
            <a:spAutoFit/>
          </a:bodyPr>
          <a:lstStyle/>
          <a:p>
            <a:pPr algn="l"/>
            <a:r>
              <a:rPr sz="1100">
                <a:solidFill>
                  <a:srgbClr val="858A97"/>
                </a:solidFill>
                <a:latin typeface="Helvetica Neue Medium"/>
              </a:rPr>
              <a:t>NEXT TO BUILD · PROPOSED</a:t>
            </a:r>
          </a:p>
        </p:txBody>
      </p:sp>
      <p:sp>
        <p:nvSpPr>
          <p:cNvPr id="8" name="TextBox 7"/>
          <p:cNvSpPr txBox="1"/>
          <p:nvPr/>
        </p:nvSpPr>
        <p:spPr>
          <a:xfrm>
            <a:off x="6766560" y="259689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Real market data and quotes behind the mock service.</a:t>
            </a:r>
          </a:p>
          <a:p>
            <a:pPr algn="l">
              <a:spcAft>
                <a:spcPts val="600"/>
              </a:spcAft>
            </a:pPr>
            <a:r>
              <a:rPr sz="1600">
                <a:solidFill>
                  <a:srgbClr val="14161D"/>
                </a:solidFill>
                <a:latin typeface="Helvetica Neue Light"/>
              </a:rPr>
              <a:t>Brokerage connection for order placement.</a:t>
            </a:r>
          </a:p>
          <a:p>
            <a:pPr algn="l">
              <a:spcAft>
                <a:spcPts val="600"/>
              </a:spcAft>
            </a:pPr>
            <a:r>
              <a:rPr sz="1600">
                <a:solidFill>
                  <a:srgbClr val="14161D"/>
                </a:solidFill>
                <a:latin typeface="Helvetica Neue Light"/>
              </a:rPr>
              <a:t>Session and authentication with a real backend.</a:t>
            </a:r>
          </a:p>
          <a:p>
            <a:pPr algn="l">
              <a:spcAft>
                <a:spcPts val="600"/>
              </a:spcAft>
            </a:pPr>
            <a:r>
              <a:rPr sz="1600">
                <a:solidFill>
                  <a:srgbClr val="14161D"/>
                </a:solidFill>
                <a:latin typeface="Helvetica Neue Light"/>
              </a:rPr>
              <a:t>Audit log for trade and AI actions.</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RESULTS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What exists today, and what we still need to measure</a:t>
            </a:r>
          </a:p>
        </p:txBody>
      </p:sp>
      <p:sp>
        <p:nvSpPr>
          <p:cNvPr id="5" name="TextBox 4"/>
          <p:cNvSpPr txBox="1"/>
          <p:nvPr/>
        </p:nvSpPr>
        <p:spPr>
          <a:xfrm>
            <a:off x="822960" y="2377440"/>
            <a:ext cx="2743200" cy="1097280"/>
          </a:xfrm>
          <a:prstGeom prst="rect">
            <a:avLst/>
          </a:prstGeom>
          <a:noFill/>
        </p:spPr>
        <p:txBody>
          <a:bodyPr wrap="square" lIns="0" rIns="0" tIns="0" bIns="0">
            <a:spAutoFit/>
          </a:bodyPr>
          <a:lstStyle/>
          <a:p>
            <a:pPr algn="l"/>
            <a:r>
              <a:rPr sz="6000">
                <a:solidFill>
                  <a:srgbClr val="B5531F"/>
                </a:solidFill>
                <a:latin typeface="Helvetica Neue Medium"/>
              </a:rPr>
              <a:t>5</a:t>
            </a:r>
          </a:p>
        </p:txBody>
      </p:sp>
      <p:sp>
        <p:nvSpPr>
          <p:cNvPr id="6" name="TextBox 5"/>
          <p:cNvSpPr txBox="1"/>
          <p:nvPr/>
        </p:nvSpPr>
        <p:spPr>
          <a:xfrm>
            <a:off x="822960" y="3566160"/>
            <a:ext cx="2651760" cy="914400"/>
          </a:xfrm>
          <a:prstGeom prst="rect">
            <a:avLst/>
          </a:prstGeom>
          <a:noFill/>
        </p:spPr>
        <p:txBody>
          <a:bodyPr wrap="square" lIns="0" rIns="0" tIns="0" bIns="0">
            <a:spAutoFit/>
          </a:bodyPr>
          <a:lstStyle/>
          <a:p>
            <a:pPr algn="l"/>
            <a:r>
              <a:rPr sz="1500">
                <a:solidFill>
                  <a:srgbClr val="14161D"/>
                </a:solidFill>
                <a:latin typeface="Helvetica Neue Light"/>
              </a:rPr>
              <a:t>core iOS screens, each with a ViewModel</a:t>
            </a:r>
          </a:p>
        </p:txBody>
      </p:sp>
      <p:sp>
        <p:nvSpPr>
          <p:cNvPr id="7" name="TextBox 6"/>
          <p:cNvSpPr txBox="1"/>
          <p:nvPr/>
        </p:nvSpPr>
        <p:spPr>
          <a:xfrm>
            <a:off x="3749040" y="2377440"/>
            <a:ext cx="2743200" cy="1097280"/>
          </a:xfrm>
          <a:prstGeom prst="rect">
            <a:avLst/>
          </a:prstGeom>
          <a:noFill/>
        </p:spPr>
        <p:txBody>
          <a:bodyPr wrap="square" lIns="0" rIns="0" tIns="0" bIns="0">
            <a:spAutoFit/>
          </a:bodyPr>
          <a:lstStyle/>
          <a:p>
            <a:pPr algn="l"/>
            <a:r>
              <a:rPr sz="6000">
                <a:solidFill>
                  <a:srgbClr val="B5531F"/>
                </a:solidFill>
                <a:latin typeface="Helvetica Neue Medium"/>
              </a:rPr>
              <a:t>8</a:t>
            </a:r>
          </a:p>
        </p:txBody>
      </p:sp>
      <p:sp>
        <p:nvSpPr>
          <p:cNvPr id="8" name="TextBox 7"/>
          <p:cNvSpPr txBox="1"/>
          <p:nvPr/>
        </p:nvSpPr>
        <p:spPr>
          <a:xfrm>
            <a:off x="3749040" y="3566160"/>
            <a:ext cx="2651760" cy="914400"/>
          </a:xfrm>
          <a:prstGeom prst="rect">
            <a:avLst/>
          </a:prstGeom>
          <a:noFill/>
        </p:spPr>
        <p:txBody>
          <a:bodyPr wrap="square" lIns="0" rIns="0" tIns="0" bIns="0">
            <a:spAutoFit/>
          </a:bodyPr>
          <a:lstStyle/>
          <a:p>
            <a:pPr algn="l"/>
            <a:r>
              <a:rPr sz="1500">
                <a:solidFill>
                  <a:srgbClr val="14161D"/>
                </a:solidFill>
                <a:latin typeface="Helvetica Neue Light"/>
              </a:rPr>
              <a:t>steps in each trade flow, share and dollar</a:t>
            </a:r>
          </a:p>
        </p:txBody>
      </p:sp>
      <p:sp>
        <p:nvSpPr>
          <p:cNvPr id="9" name="TextBox 8"/>
          <p:cNvSpPr txBox="1"/>
          <p:nvPr/>
        </p:nvSpPr>
        <p:spPr>
          <a:xfrm>
            <a:off x="6675120" y="2377440"/>
            <a:ext cx="2743200" cy="1097280"/>
          </a:xfrm>
          <a:prstGeom prst="rect">
            <a:avLst/>
          </a:prstGeom>
          <a:noFill/>
        </p:spPr>
        <p:txBody>
          <a:bodyPr wrap="square" lIns="0" rIns="0" tIns="0" bIns="0">
            <a:spAutoFit/>
          </a:bodyPr>
          <a:lstStyle/>
          <a:p>
            <a:pPr algn="l"/>
            <a:r>
              <a:rPr sz="6000">
                <a:solidFill>
                  <a:srgbClr val="B5531F"/>
                </a:solidFill>
                <a:latin typeface="Helvetica Neue Medium"/>
              </a:rPr>
              <a:t>3</a:t>
            </a:r>
          </a:p>
        </p:txBody>
      </p:sp>
      <p:sp>
        <p:nvSpPr>
          <p:cNvPr id="10" name="TextBox 9"/>
          <p:cNvSpPr txBox="1"/>
          <p:nvPr/>
        </p:nvSpPr>
        <p:spPr>
          <a:xfrm>
            <a:off x="6675120" y="3566160"/>
            <a:ext cx="2651760" cy="914400"/>
          </a:xfrm>
          <a:prstGeom prst="rect">
            <a:avLst/>
          </a:prstGeom>
          <a:noFill/>
        </p:spPr>
        <p:txBody>
          <a:bodyPr wrap="square" lIns="0" rIns="0" tIns="0" bIns="0">
            <a:spAutoFit/>
          </a:bodyPr>
          <a:lstStyle/>
          <a:p>
            <a:pPr algn="l"/>
            <a:r>
              <a:rPr sz="1500">
                <a:solidFill>
                  <a:srgbClr val="14161D"/>
                </a:solidFill>
                <a:latin typeface="Helvetica Neue Light"/>
              </a:rPr>
              <a:t>interactive prototypes published, plus this case study</a:t>
            </a:r>
          </a:p>
        </p:txBody>
      </p:sp>
      <p:sp>
        <p:nvSpPr>
          <p:cNvPr id="11" name="TextBox 10"/>
          <p:cNvSpPr txBox="1"/>
          <p:nvPr/>
        </p:nvSpPr>
        <p:spPr>
          <a:xfrm>
            <a:off x="9601200" y="2377440"/>
            <a:ext cx="2743200" cy="1097280"/>
          </a:xfrm>
          <a:prstGeom prst="rect">
            <a:avLst/>
          </a:prstGeom>
          <a:noFill/>
        </p:spPr>
        <p:txBody>
          <a:bodyPr wrap="square" lIns="0" rIns="0" tIns="0" bIns="0">
            <a:spAutoFit/>
          </a:bodyPr>
          <a:lstStyle/>
          <a:p>
            <a:pPr algn="l"/>
            <a:r>
              <a:rPr sz="6000">
                <a:solidFill>
                  <a:srgbClr val="B5531F"/>
                </a:solidFill>
                <a:latin typeface="Helvetica Neue Medium"/>
              </a:rPr>
              <a:t>3</a:t>
            </a:r>
          </a:p>
        </p:txBody>
      </p:sp>
      <p:sp>
        <p:nvSpPr>
          <p:cNvPr id="12" name="TextBox 11"/>
          <p:cNvSpPr txBox="1"/>
          <p:nvPr/>
        </p:nvSpPr>
        <p:spPr>
          <a:xfrm>
            <a:off x="9601200" y="3566160"/>
            <a:ext cx="2651760" cy="914400"/>
          </a:xfrm>
          <a:prstGeom prst="rect">
            <a:avLst/>
          </a:prstGeom>
          <a:noFill/>
        </p:spPr>
        <p:txBody>
          <a:bodyPr wrap="square" lIns="0" rIns="0" tIns="0" bIns="0">
            <a:spAutoFit/>
          </a:bodyPr>
          <a:lstStyle/>
          <a:p>
            <a:pPr algn="l"/>
            <a:r>
              <a:rPr sz="1500">
                <a:solidFill>
                  <a:srgbClr val="14161D"/>
                </a:solidFill>
                <a:latin typeface="Helvetica Neue Light"/>
              </a:rPr>
              <a:t>wireframe pages: states, agent, and full experience</a:t>
            </a:r>
          </a:p>
        </p:txBody>
      </p:sp>
      <p:sp>
        <p:nvSpPr>
          <p:cNvPr id="13" name="TextBox 12"/>
          <p:cNvSpPr txBox="1"/>
          <p:nvPr/>
        </p:nvSpPr>
        <p:spPr>
          <a:xfrm>
            <a:off x="822960" y="5760720"/>
            <a:ext cx="11356848" cy="274320"/>
          </a:xfrm>
          <a:prstGeom prst="rect">
            <a:avLst/>
          </a:prstGeom>
          <a:noFill/>
        </p:spPr>
        <p:txBody>
          <a:bodyPr wrap="square" lIns="0" rIns="0" tIns="0" bIns="0">
            <a:spAutoFit/>
          </a:bodyPr>
          <a:lstStyle/>
          <a:p>
            <a:pPr algn="l"/>
            <a:r>
              <a:rPr sz="1100">
                <a:solidFill>
                  <a:srgbClr val="858A97"/>
                </a:solidFill>
                <a:latin typeface="Helvetica Neue Medium"/>
              </a:rPr>
              <a:t>OUTCOMES · NOT YET MEASURED</a:t>
            </a:r>
          </a:p>
        </p:txBody>
      </p:sp>
      <p:sp>
        <p:nvSpPr>
          <p:cNvPr id="14" name="TextBox 13"/>
          <p:cNvSpPr txBox="1"/>
          <p:nvPr/>
        </p:nvSpPr>
        <p:spPr>
          <a:xfrm>
            <a:off x="822960" y="6071616"/>
            <a:ext cx="11356848"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Time to complete a trade, task success, the share of users who open an AI screen in week one, and a usability score. Targets are planned and will be set with stakeholders before the first test.</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LEARNINGS AND NEXT STEPS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What building this taught me, and what comes next</a:t>
            </a:r>
          </a:p>
        </p:txBody>
      </p:sp>
      <p:sp>
        <p:nvSpPr>
          <p:cNvPr id="5" name="TextBox 4"/>
          <p:cNvSpPr txBox="1"/>
          <p:nvPr/>
        </p:nvSpPr>
        <p:spPr>
          <a:xfrm>
            <a:off x="822960" y="2286000"/>
            <a:ext cx="5394960" cy="274320"/>
          </a:xfrm>
          <a:prstGeom prst="rect">
            <a:avLst/>
          </a:prstGeom>
          <a:noFill/>
        </p:spPr>
        <p:txBody>
          <a:bodyPr wrap="square" lIns="0" rIns="0" tIns="0" bIns="0">
            <a:spAutoFit/>
          </a:bodyPr>
          <a:lstStyle/>
          <a:p>
            <a:pPr algn="l"/>
            <a:r>
              <a:rPr sz="1100">
                <a:solidFill>
                  <a:srgbClr val="858A97"/>
                </a:solidFill>
                <a:latin typeface="Helvetica Neue Medium"/>
              </a:rPr>
              <a:t>LEARNINGS</a:t>
            </a:r>
          </a:p>
        </p:txBody>
      </p:sp>
      <p:sp>
        <p:nvSpPr>
          <p:cNvPr id="6" name="TextBox 5"/>
          <p:cNvSpPr txBox="1"/>
          <p:nvPr/>
        </p:nvSpPr>
        <p:spPr>
          <a:xfrm>
            <a:off x="822960" y="259689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One token source for Figma and Swift keeps the two in step.</a:t>
            </a:r>
          </a:p>
          <a:p>
            <a:pPr algn="l">
              <a:spcAft>
                <a:spcPts val="600"/>
              </a:spcAft>
            </a:pPr>
            <a:r>
              <a:rPr sz="1600">
                <a:solidFill>
                  <a:srgbClr val="14161D"/>
                </a:solidFill>
                <a:latin typeface="Helvetica Neue Light"/>
              </a:rPr>
              <a:t>Settle AI boundaries before more screens. Proposed-step wording needs compliance review first.</a:t>
            </a:r>
          </a:p>
          <a:p>
            <a:pPr algn="l">
              <a:spcAft>
                <a:spcPts val="600"/>
              </a:spcAft>
            </a:pPr>
            <a:r>
              <a:rPr sz="1600">
                <a:solidFill>
                  <a:srgbClr val="14161D"/>
                </a:solidFill>
                <a:latin typeface="Helvetica Neue Light"/>
              </a:rPr>
              <a:t>Mock data hides timing and error states, so design them explicitly.</a:t>
            </a:r>
          </a:p>
          <a:p>
            <a:pPr algn="l">
              <a:spcAft>
                <a:spcPts val="600"/>
              </a:spcAft>
            </a:pPr>
            <a:r>
              <a:rPr sz="1600">
                <a:solidFill>
                  <a:srgbClr val="14161D"/>
                </a:solidFill>
                <a:latin typeface="Helvetica Neue Light"/>
              </a:rPr>
              <a:t>Keep working documents in one place: the FigJam board.</a:t>
            </a:r>
          </a:p>
        </p:txBody>
      </p:sp>
      <p:sp>
        <p:nvSpPr>
          <p:cNvPr id="7" name="TextBox 6"/>
          <p:cNvSpPr txBox="1"/>
          <p:nvPr/>
        </p:nvSpPr>
        <p:spPr>
          <a:xfrm>
            <a:off x="6766560" y="2286000"/>
            <a:ext cx="5394960" cy="274320"/>
          </a:xfrm>
          <a:prstGeom prst="rect">
            <a:avLst/>
          </a:prstGeom>
          <a:noFill/>
        </p:spPr>
        <p:txBody>
          <a:bodyPr wrap="square" lIns="0" rIns="0" tIns="0" bIns="0">
            <a:spAutoFit/>
          </a:bodyPr>
          <a:lstStyle/>
          <a:p>
            <a:pPr algn="l"/>
            <a:r>
              <a:rPr sz="1100">
                <a:solidFill>
                  <a:srgbClr val="858A97"/>
                </a:solidFill>
                <a:latin typeface="Helvetica Neue Medium"/>
              </a:rPr>
              <a:t>NEXT STEPS</a:t>
            </a:r>
          </a:p>
        </p:txBody>
      </p:sp>
      <p:sp>
        <p:nvSpPr>
          <p:cNvPr id="8" name="TextBox 7"/>
          <p:cNvSpPr txBox="1"/>
          <p:nvPr/>
        </p:nvSpPr>
        <p:spPr>
          <a:xfrm>
            <a:off x="6766560" y="259689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Validate the three personas with five to eight interviews.</a:t>
            </a:r>
          </a:p>
          <a:p>
            <a:pPr algn="l">
              <a:spcAft>
                <a:spcPts val="600"/>
              </a:spcAft>
            </a:pPr>
            <a:r>
              <a:rPr sz="1600">
                <a:solidFill>
                  <a:srgbClr val="14161D"/>
                </a:solidFill>
                <a:latin typeface="Helvetica Neue Light"/>
              </a:rPr>
              <a:t>Usability-test the share and dollar flows.</a:t>
            </a:r>
          </a:p>
          <a:p>
            <a:pPr algn="l">
              <a:spcAft>
                <a:spcPts val="600"/>
              </a:spcAft>
            </a:pPr>
            <a:r>
              <a:rPr sz="1600">
                <a:solidFill>
                  <a:srgbClr val="14161D"/>
                </a:solidFill>
                <a:latin typeface="Helvetica Neue Light"/>
              </a:rPr>
              <a:t>Review the three wireframe pages with stakeholders.</a:t>
            </a:r>
          </a:p>
          <a:p>
            <a:pPr algn="l">
              <a:spcAft>
                <a:spcPts val="600"/>
              </a:spcAft>
            </a:pPr>
            <a:r>
              <a:rPr sz="1600">
                <a:solidFill>
                  <a:srgbClr val="14161D"/>
                </a:solidFill>
                <a:latin typeface="Helvetica Neue Light"/>
              </a:rPr>
              <a:t>Resolve the open questions on the FigJam board.</a:t>
            </a:r>
          </a:p>
          <a:p>
            <a:pPr algn="l">
              <a:spcAft>
                <a:spcPts val="600"/>
              </a:spcAft>
            </a:pPr>
            <a:r>
              <a:rPr sz="1600">
                <a:solidFill>
                  <a:srgbClr val="14161D"/>
                </a:solidFill>
                <a:latin typeface="Helvetica Neue Light"/>
              </a:rPr>
              <a:t>Set metric targets with stakeholders.</a:t>
            </a:r>
          </a:p>
          <a:p>
            <a:pPr algn="l">
              <a:spcAft>
                <a:spcPts val="600"/>
              </a:spcAft>
            </a:pPr>
            <a:r>
              <a:rPr sz="1600">
                <a:solidFill>
                  <a:srgbClr val="14161D"/>
                </a:solidFill>
                <a:latin typeface="Helvetica Neue Light"/>
              </a:rPr>
              <a:t>Complete compliance review before the screens go further.</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PROTOTYPE</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Click through the flows yourself</a:t>
            </a:r>
          </a:p>
        </p:txBody>
      </p:sp>
      <p:sp>
        <p:nvSpPr>
          <p:cNvPr id="5" name="TextBox 4"/>
          <p:cNvSpPr txBox="1"/>
          <p:nvPr/>
        </p:nvSpPr>
        <p:spPr>
          <a:xfrm>
            <a:off x="822960" y="2286000"/>
            <a:ext cx="5394960" cy="274320"/>
          </a:xfrm>
          <a:prstGeom prst="rect">
            <a:avLst/>
          </a:prstGeom>
          <a:noFill/>
        </p:spPr>
        <p:txBody>
          <a:bodyPr wrap="square" lIns="0" rIns="0" tIns="0" bIns="0">
            <a:spAutoFit/>
          </a:bodyPr>
          <a:lstStyle/>
          <a:p>
            <a:pPr algn="l"/>
            <a:r>
              <a:rPr sz="1100">
                <a:solidFill>
                  <a:srgbClr val="858A97"/>
                </a:solidFill>
                <a:latin typeface="Helvetica Neue Medium"/>
              </a:rPr>
              <a:t>WHAT TO CLICK</a:t>
            </a:r>
          </a:p>
        </p:txBody>
      </p:sp>
      <p:sp>
        <p:nvSpPr>
          <p:cNvPr id="6" name="TextBox 5"/>
          <p:cNvSpPr txBox="1"/>
          <p:nvPr/>
        </p:nvSpPr>
        <p:spPr>
          <a:xfrm>
            <a:off x="822960" y="259689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Start at the Dashboard. Open Insight, then start a share trade and follow it through to the outcome.</a:t>
            </a:r>
          </a:p>
          <a:p>
            <a:pPr algn="l">
              <a:spcAft>
                <a:spcPts val="600"/>
              </a:spcAft>
            </a:pPr>
            <a:r>
              <a:rPr sz="1600">
                <a:solidFill>
                  <a:srgbClr val="14161D"/>
                </a:solidFill>
                <a:latin typeface="Helvetica Neue Light"/>
              </a:rPr>
              <a:t>Then open Adapt and set a goal. Each proposed step can be edited before approval.</a:t>
            </a:r>
          </a:p>
        </p:txBody>
      </p:sp>
      <p:sp>
        <p:nvSpPr>
          <p:cNvPr id="7" name="TextBox 6"/>
          <p:cNvSpPr txBox="1"/>
          <p:nvPr/>
        </p:nvSpPr>
        <p:spPr>
          <a:xfrm>
            <a:off x="6766560" y="2286000"/>
            <a:ext cx="5394960" cy="274320"/>
          </a:xfrm>
          <a:prstGeom prst="rect">
            <a:avLst/>
          </a:prstGeom>
          <a:noFill/>
        </p:spPr>
        <p:txBody>
          <a:bodyPr wrap="square" lIns="0" rIns="0" tIns="0" bIns="0">
            <a:spAutoFit/>
          </a:bodyPr>
          <a:lstStyle/>
          <a:p>
            <a:pPr algn="l"/>
            <a:r>
              <a:rPr sz="1100">
                <a:solidFill>
                  <a:srgbClr val="858A97"/>
                </a:solidFill>
                <a:latin typeface="Helvetica Neue Medium"/>
              </a:rPr>
              <a:t>WHERE IT LIVES</a:t>
            </a:r>
          </a:p>
        </p:txBody>
      </p:sp>
      <p:sp>
        <p:nvSpPr>
          <p:cNvPr id="8" name="TextBox 7"/>
          <p:cNvSpPr txBox="1"/>
          <p:nvPr/>
        </p:nvSpPr>
        <p:spPr>
          <a:xfrm>
            <a:off x="6766560" y="2596896"/>
            <a:ext cx="5394960" cy="2377440"/>
          </a:xfrm>
          <a:prstGeom prst="rect">
            <a:avLst/>
          </a:prstGeom>
          <a:noFill/>
        </p:spPr>
        <p:txBody>
          <a:bodyPr wrap="square" lIns="0" rIns="0" tIns="0" bIns="0">
            <a:spAutoFit/>
          </a:bodyPr>
          <a:lstStyle/>
          <a:p>
            <a:pPr algn="l">
              <a:spcAft>
                <a:spcPts val="600"/>
              </a:spcAft>
            </a:pPr>
            <a:r>
              <a:rPr sz="1600">
                <a:solidFill>
                  <a:srgbClr val="14161D"/>
                </a:solidFill>
                <a:latin typeface="Helvetica Neue Light"/>
              </a:rPr>
              <a:t>Figma wireframes, pages 06, 07, and 08: states, agent flows, and the full experience.</a:t>
            </a:r>
          </a:p>
          <a:p>
            <a:pPr algn="l">
              <a:spcAft>
                <a:spcPts val="600"/>
              </a:spcAft>
            </a:pPr>
            <a:r>
              <a:rPr sz="1600">
                <a:solidFill>
                  <a:srgbClr val="14161D"/>
                </a:solidFill>
                <a:latin typeface="Helvetica Neue Light"/>
              </a:rPr>
              <a:t>Working documents: the FigJam board.</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DATA</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Designed for mock data, and labelled as mock everywhere</a:t>
            </a:r>
          </a:p>
        </p:txBody>
      </p:sp>
      <p:sp>
        <p:nvSpPr>
          <p:cNvPr id="5" name="TextBox 4"/>
          <p:cNvSpPr txBox="1"/>
          <p:nvPr/>
        </p:nvSpPr>
        <p:spPr>
          <a:xfrm>
            <a:off x="822960" y="1554480"/>
            <a:ext cx="11356848" cy="365760"/>
          </a:xfrm>
          <a:prstGeom prst="rect">
            <a:avLst/>
          </a:prstGeom>
          <a:noFill/>
        </p:spPr>
        <p:txBody>
          <a:bodyPr wrap="square" lIns="0" rIns="0" tIns="0" bIns="0">
            <a:spAutoFit/>
          </a:bodyPr>
          <a:lstStyle/>
          <a:p>
            <a:pPr algn="l"/>
            <a:r>
              <a:rPr sz="1500">
                <a:solidFill>
                  <a:srgbClr val="858A97"/>
                </a:solidFill>
                <a:latin typeface="Helvetica Neue Light"/>
              </a:rPr>
              <a:t>No live data is connected. Every value is labelled.</a:t>
            </a:r>
          </a:p>
        </p:txBody>
      </p:sp>
      <p:sp>
        <p:nvSpPr>
          <p:cNvPr id="6" name="TextBox 5"/>
          <p:cNvSpPr txBox="1"/>
          <p:nvPr/>
        </p:nvSpPr>
        <p:spPr>
          <a:xfrm>
            <a:off x="822960" y="2560320"/>
            <a:ext cx="2926079" cy="274320"/>
          </a:xfrm>
          <a:prstGeom prst="rect">
            <a:avLst/>
          </a:prstGeom>
          <a:noFill/>
        </p:spPr>
        <p:txBody>
          <a:bodyPr wrap="square" lIns="0" rIns="0" tIns="0" bIns="0">
            <a:spAutoFit/>
          </a:bodyPr>
          <a:lstStyle/>
          <a:p>
            <a:pPr algn="l"/>
            <a:r>
              <a:rPr sz="1100">
                <a:solidFill>
                  <a:srgbClr val="858A97"/>
                </a:solidFill>
                <a:latin typeface="Helvetica Neue Medium"/>
              </a:rPr>
              <a:t>DATA</a:t>
            </a:r>
          </a:p>
        </p:txBody>
      </p:sp>
      <p:sp>
        <p:nvSpPr>
          <p:cNvPr id="7" name="TextBox 6"/>
          <p:cNvSpPr txBox="1"/>
          <p:nvPr/>
        </p:nvSpPr>
        <p:spPr>
          <a:xfrm>
            <a:off x="3931920" y="2560320"/>
            <a:ext cx="4023359" cy="274320"/>
          </a:xfrm>
          <a:prstGeom prst="rect">
            <a:avLst/>
          </a:prstGeom>
          <a:noFill/>
        </p:spPr>
        <p:txBody>
          <a:bodyPr wrap="square" lIns="0" rIns="0" tIns="0" bIns="0">
            <a:spAutoFit/>
          </a:bodyPr>
          <a:lstStyle/>
          <a:p>
            <a:pPr algn="l"/>
            <a:r>
              <a:rPr sz="1100">
                <a:solidFill>
                  <a:srgbClr val="858A97"/>
                </a:solidFill>
                <a:latin typeface="Helvetica Neue Medium"/>
              </a:rPr>
              <a:t>USED FOR</a:t>
            </a:r>
          </a:p>
        </p:txBody>
      </p:sp>
      <p:sp>
        <p:nvSpPr>
          <p:cNvPr id="8" name="TextBox 7"/>
          <p:cNvSpPr txBox="1"/>
          <p:nvPr/>
        </p:nvSpPr>
        <p:spPr>
          <a:xfrm>
            <a:off x="8138159" y="2560320"/>
            <a:ext cx="4407407" cy="274320"/>
          </a:xfrm>
          <a:prstGeom prst="rect">
            <a:avLst/>
          </a:prstGeom>
          <a:noFill/>
        </p:spPr>
        <p:txBody>
          <a:bodyPr wrap="square" lIns="0" rIns="0" tIns="0" bIns="0">
            <a:spAutoFit/>
          </a:bodyPr>
          <a:lstStyle/>
          <a:p>
            <a:pPr algn="l"/>
            <a:r>
              <a:rPr sz="1100">
                <a:solidFill>
                  <a:srgbClr val="858A97"/>
                </a:solidFill>
                <a:latin typeface="Helvetica Neue Medium"/>
              </a:rPr>
              <a:t>SOURCE IN THIS PROTOTYPE</a:t>
            </a:r>
          </a:p>
        </p:txBody>
      </p:sp>
      <p:cxnSp>
        <p:nvCxnSpPr>
          <p:cNvPr id="9" name="Connector 8"/>
          <p:cNvCxnSpPr/>
          <p:nvPr/>
        </p:nvCxnSpPr>
        <p:spPr>
          <a:xfrm>
            <a:off x="822960" y="2889503"/>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22960" y="3017520"/>
            <a:ext cx="2880360" cy="731520"/>
          </a:xfrm>
          <a:prstGeom prst="rect">
            <a:avLst/>
          </a:prstGeom>
          <a:noFill/>
        </p:spPr>
        <p:txBody>
          <a:bodyPr wrap="square" lIns="0" rIns="0" tIns="0" bIns="0">
            <a:spAutoFit/>
          </a:bodyPr>
          <a:lstStyle/>
          <a:p>
            <a:pPr algn="l"/>
            <a:r>
              <a:rPr sz="1400">
                <a:solidFill>
                  <a:srgbClr val="14161D"/>
                </a:solidFill>
                <a:latin typeface="Helvetica Neue Light"/>
              </a:rPr>
              <a:t>Quotes and holdings</a:t>
            </a:r>
          </a:p>
        </p:txBody>
      </p:sp>
      <p:sp>
        <p:nvSpPr>
          <p:cNvPr id="11" name="TextBox 10"/>
          <p:cNvSpPr txBox="1"/>
          <p:nvPr/>
        </p:nvSpPr>
        <p:spPr>
          <a:xfrm>
            <a:off x="3931920" y="3017520"/>
            <a:ext cx="3977639" cy="731520"/>
          </a:xfrm>
          <a:prstGeom prst="rect">
            <a:avLst/>
          </a:prstGeom>
          <a:noFill/>
        </p:spPr>
        <p:txBody>
          <a:bodyPr wrap="square" lIns="0" rIns="0" tIns="0" bIns="0">
            <a:spAutoFit/>
          </a:bodyPr>
          <a:lstStyle/>
          <a:p>
            <a:pPr algn="l"/>
            <a:r>
              <a:rPr sz="1400">
                <a:solidFill>
                  <a:srgbClr val="14161D"/>
                </a:solidFill>
                <a:latin typeface="Helvetica Neue Light"/>
              </a:rPr>
              <a:t>Dashboard, trade ticket</a:t>
            </a:r>
          </a:p>
        </p:txBody>
      </p:sp>
      <p:sp>
        <p:nvSpPr>
          <p:cNvPr id="12" name="TextBox 11"/>
          <p:cNvSpPr txBox="1"/>
          <p:nvPr/>
        </p:nvSpPr>
        <p:spPr>
          <a:xfrm>
            <a:off x="8138159" y="3017520"/>
            <a:ext cx="4361688" cy="731520"/>
          </a:xfrm>
          <a:prstGeom prst="rect">
            <a:avLst/>
          </a:prstGeom>
          <a:noFill/>
        </p:spPr>
        <p:txBody>
          <a:bodyPr wrap="square" lIns="0" rIns="0" tIns="0" bIns="0">
            <a:spAutoFit/>
          </a:bodyPr>
          <a:lstStyle/>
          <a:p>
            <a:pPr algn="l"/>
            <a:r>
              <a:rPr sz="1400">
                <a:solidFill>
                  <a:srgbClr val="14161D"/>
                </a:solidFill>
                <a:latin typeface="Helvetica Neue Light"/>
              </a:rPr>
              <a:t>Mock service, with a 0.8-second delay</a:t>
            </a:r>
          </a:p>
        </p:txBody>
      </p:sp>
      <p:cxnSp>
        <p:nvCxnSpPr>
          <p:cNvPr id="13" name="Connector 12"/>
          <p:cNvCxnSpPr/>
          <p:nvPr/>
        </p:nvCxnSpPr>
        <p:spPr>
          <a:xfrm>
            <a:off x="822960" y="373075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22960" y="3840480"/>
            <a:ext cx="2880360" cy="731520"/>
          </a:xfrm>
          <a:prstGeom prst="rect">
            <a:avLst/>
          </a:prstGeom>
          <a:noFill/>
        </p:spPr>
        <p:txBody>
          <a:bodyPr wrap="square" lIns="0" rIns="0" tIns="0" bIns="0">
            <a:spAutoFit/>
          </a:bodyPr>
          <a:lstStyle/>
          <a:p>
            <a:pPr algn="l"/>
            <a:r>
              <a:rPr sz="1400">
                <a:solidFill>
                  <a:srgbClr val="14161D"/>
                </a:solidFill>
                <a:latin typeface="Helvetica Neue Light"/>
              </a:rPr>
              <a:t>Insight summaries</a:t>
            </a:r>
          </a:p>
        </p:txBody>
      </p:sp>
      <p:sp>
        <p:nvSpPr>
          <p:cNvPr id="15" name="TextBox 14"/>
          <p:cNvSpPr txBox="1"/>
          <p:nvPr/>
        </p:nvSpPr>
        <p:spPr>
          <a:xfrm>
            <a:off x="3931920" y="3840480"/>
            <a:ext cx="3977639" cy="731520"/>
          </a:xfrm>
          <a:prstGeom prst="rect">
            <a:avLst/>
          </a:prstGeom>
          <a:noFill/>
        </p:spPr>
        <p:txBody>
          <a:bodyPr wrap="square" lIns="0" rIns="0" tIns="0" bIns="0">
            <a:spAutoFit/>
          </a:bodyPr>
          <a:lstStyle/>
          <a:p>
            <a:pPr algn="l"/>
            <a:r>
              <a:rPr sz="1400">
                <a:solidFill>
                  <a:srgbClr val="14161D"/>
                </a:solidFill>
                <a:latin typeface="Helvetica Neue Light"/>
              </a:rPr>
              <a:t>Sentiment and the source line</a:t>
            </a:r>
          </a:p>
        </p:txBody>
      </p:sp>
      <p:sp>
        <p:nvSpPr>
          <p:cNvPr id="16" name="TextBox 15"/>
          <p:cNvSpPr txBox="1"/>
          <p:nvPr/>
        </p:nvSpPr>
        <p:spPr>
          <a:xfrm>
            <a:off x="8138159" y="3840480"/>
            <a:ext cx="4361688" cy="731520"/>
          </a:xfrm>
          <a:prstGeom prst="rect">
            <a:avLst/>
          </a:prstGeom>
          <a:noFill/>
        </p:spPr>
        <p:txBody>
          <a:bodyPr wrap="square" lIns="0" rIns="0" tIns="0" bIns="0">
            <a:spAutoFit/>
          </a:bodyPr>
          <a:lstStyle/>
          <a:p>
            <a:pPr algn="l"/>
            <a:r>
              <a:rPr sz="1400">
                <a:solidFill>
                  <a:srgbClr val="14161D"/>
                </a:solidFill>
                <a:latin typeface="Helvetica Neue Light"/>
              </a:rPr>
              <a:t>Mock content with a dated source line</a:t>
            </a:r>
          </a:p>
        </p:txBody>
      </p:sp>
      <p:cxnSp>
        <p:nvCxnSpPr>
          <p:cNvPr id="17" name="Connector 16"/>
          <p:cNvCxnSpPr/>
          <p:nvPr/>
        </p:nvCxnSpPr>
        <p:spPr>
          <a:xfrm>
            <a:off x="822960" y="455371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960" y="4663440"/>
            <a:ext cx="2880360" cy="731520"/>
          </a:xfrm>
          <a:prstGeom prst="rect">
            <a:avLst/>
          </a:prstGeom>
          <a:noFill/>
        </p:spPr>
        <p:txBody>
          <a:bodyPr wrap="square" lIns="0" rIns="0" tIns="0" bIns="0">
            <a:spAutoFit/>
          </a:bodyPr>
          <a:lstStyle/>
          <a:p>
            <a:pPr algn="l"/>
            <a:r>
              <a:rPr sz="1400">
                <a:solidFill>
                  <a:srgbClr val="14161D"/>
                </a:solidFill>
                <a:latin typeface="Helvetica Neue Light"/>
              </a:rPr>
              <a:t>Opportunities</a:t>
            </a:r>
          </a:p>
        </p:txBody>
      </p:sp>
      <p:sp>
        <p:nvSpPr>
          <p:cNvPr id="19" name="TextBox 18"/>
          <p:cNvSpPr txBox="1"/>
          <p:nvPr/>
        </p:nvSpPr>
        <p:spPr>
          <a:xfrm>
            <a:off x="3931920" y="4663440"/>
            <a:ext cx="3977639" cy="731520"/>
          </a:xfrm>
          <a:prstGeom prst="rect">
            <a:avLst/>
          </a:prstGeom>
          <a:noFill/>
        </p:spPr>
        <p:txBody>
          <a:bodyPr wrap="square" lIns="0" rIns="0" tIns="0" bIns="0">
            <a:spAutoFit/>
          </a:bodyPr>
          <a:lstStyle/>
          <a:p>
            <a:pPr algn="l"/>
            <a:r>
              <a:rPr sz="1400">
                <a:solidFill>
                  <a:srgbClr val="14161D"/>
                </a:solidFill>
                <a:latin typeface="Helvetica Neue Light"/>
              </a:rPr>
              <a:t>Prospect cards with upside and downside</a:t>
            </a:r>
          </a:p>
        </p:txBody>
      </p:sp>
      <p:sp>
        <p:nvSpPr>
          <p:cNvPr id="20" name="TextBox 19"/>
          <p:cNvSpPr txBox="1"/>
          <p:nvPr/>
        </p:nvSpPr>
        <p:spPr>
          <a:xfrm>
            <a:off x="8138159" y="4663440"/>
            <a:ext cx="4361688" cy="731520"/>
          </a:xfrm>
          <a:prstGeom prst="rect">
            <a:avLst/>
          </a:prstGeom>
          <a:noFill/>
        </p:spPr>
        <p:txBody>
          <a:bodyPr wrap="square" lIns="0" rIns="0" tIns="0" bIns="0">
            <a:spAutoFit/>
          </a:bodyPr>
          <a:lstStyle/>
          <a:p>
            <a:pPr algn="l"/>
            <a:r>
              <a:rPr sz="1400">
                <a:solidFill>
                  <a:srgbClr val="14161D"/>
                </a:solidFill>
                <a:latin typeface="Helvetica Neue Light"/>
              </a:rPr>
              <a:t>Mock cards</a:t>
            </a:r>
          </a:p>
        </p:txBody>
      </p:sp>
      <p:cxnSp>
        <p:nvCxnSpPr>
          <p:cNvPr id="21" name="Connector 20"/>
          <p:cNvCxnSpPr/>
          <p:nvPr/>
        </p:nvCxnSpPr>
        <p:spPr>
          <a:xfrm>
            <a:off x="822960" y="537667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22960" y="5486400"/>
            <a:ext cx="2880360" cy="731520"/>
          </a:xfrm>
          <a:prstGeom prst="rect">
            <a:avLst/>
          </a:prstGeom>
          <a:noFill/>
        </p:spPr>
        <p:txBody>
          <a:bodyPr wrap="square" lIns="0" rIns="0" tIns="0" bIns="0">
            <a:spAutoFit/>
          </a:bodyPr>
          <a:lstStyle/>
          <a:p>
            <a:pPr algn="l"/>
            <a:r>
              <a:rPr sz="1400">
                <a:solidFill>
                  <a:srgbClr val="14161D"/>
                </a:solidFill>
                <a:latin typeface="Helvetica Neue Light"/>
              </a:rPr>
              <a:t>Alerts</a:t>
            </a:r>
          </a:p>
        </p:txBody>
      </p:sp>
      <p:sp>
        <p:nvSpPr>
          <p:cNvPr id="23" name="TextBox 22"/>
          <p:cNvSpPr txBox="1"/>
          <p:nvPr/>
        </p:nvSpPr>
        <p:spPr>
          <a:xfrm>
            <a:off x="3931920" y="5486400"/>
            <a:ext cx="3977639" cy="731520"/>
          </a:xfrm>
          <a:prstGeom prst="rect">
            <a:avLst/>
          </a:prstGeom>
          <a:noFill/>
        </p:spPr>
        <p:txBody>
          <a:bodyPr wrap="square" lIns="0" rIns="0" tIns="0" bIns="0">
            <a:spAutoFit/>
          </a:bodyPr>
          <a:lstStyle/>
          <a:p>
            <a:pPr algn="l"/>
            <a:r>
              <a:rPr sz="1400">
                <a:solidFill>
                  <a:srgbClr val="14161D"/>
                </a:solidFill>
                <a:latin typeface="Helvetica Neue Light"/>
              </a:rPr>
              <a:t>Guard ranking and severity</a:t>
            </a:r>
          </a:p>
        </p:txBody>
      </p:sp>
      <p:sp>
        <p:nvSpPr>
          <p:cNvPr id="24" name="TextBox 23"/>
          <p:cNvSpPr txBox="1"/>
          <p:nvPr/>
        </p:nvSpPr>
        <p:spPr>
          <a:xfrm>
            <a:off x="8138159" y="5486400"/>
            <a:ext cx="4361688" cy="731520"/>
          </a:xfrm>
          <a:prstGeom prst="rect">
            <a:avLst/>
          </a:prstGeom>
          <a:noFill/>
        </p:spPr>
        <p:txBody>
          <a:bodyPr wrap="square" lIns="0" rIns="0" tIns="0" bIns="0">
            <a:spAutoFit/>
          </a:bodyPr>
          <a:lstStyle/>
          <a:p>
            <a:pPr algn="l"/>
            <a:r>
              <a:rPr sz="1400">
                <a:solidFill>
                  <a:srgbClr val="14161D"/>
                </a:solidFill>
                <a:latin typeface="Helvetica Neue Light"/>
              </a:rPr>
              <a:t>Mock alerts</a:t>
            </a:r>
          </a:p>
        </p:txBody>
      </p:sp>
      <p:cxnSp>
        <p:nvCxnSpPr>
          <p:cNvPr id="25" name="Connector 24"/>
          <p:cNvCxnSpPr/>
          <p:nvPr/>
        </p:nvCxnSpPr>
        <p:spPr>
          <a:xfrm>
            <a:off x="822960" y="619963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22960" y="6309360"/>
            <a:ext cx="2880360" cy="731520"/>
          </a:xfrm>
          <a:prstGeom prst="rect">
            <a:avLst/>
          </a:prstGeom>
          <a:noFill/>
        </p:spPr>
        <p:txBody>
          <a:bodyPr wrap="square" lIns="0" rIns="0" tIns="0" bIns="0">
            <a:spAutoFit/>
          </a:bodyPr>
          <a:lstStyle/>
          <a:p>
            <a:pPr algn="l"/>
            <a:r>
              <a:rPr sz="1400">
                <a:solidFill>
                  <a:srgbClr val="14161D"/>
                </a:solidFill>
                <a:latin typeface="Helvetica Neue Light"/>
              </a:rPr>
              <a:t>Trade submission</a:t>
            </a:r>
          </a:p>
        </p:txBody>
      </p:sp>
      <p:sp>
        <p:nvSpPr>
          <p:cNvPr id="27" name="TextBox 26"/>
          <p:cNvSpPr txBox="1"/>
          <p:nvPr/>
        </p:nvSpPr>
        <p:spPr>
          <a:xfrm>
            <a:off x="3931920" y="6309360"/>
            <a:ext cx="3977639" cy="731520"/>
          </a:xfrm>
          <a:prstGeom prst="rect">
            <a:avLst/>
          </a:prstGeom>
          <a:noFill/>
        </p:spPr>
        <p:txBody>
          <a:bodyPr wrap="square" lIns="0" rIns="0" tIns="0" bIns="0">
            <a:spAutoFit/>
          </a:bodyPr>
          <a:lstStyle/>
          <a:p>
            <a:pPr algn="l"/>
            <a:r>
              <a:rPr sz="1400">
                <a:solidFill>
                  <a:srgbClr val="14161D"/>
                </a:solidFill>
                <a:latin typeface="Helvetica Neue Light"/>
              </a:rPr>
              <a:t>Outcome screen</a:t>
            </a:r>
          </a:p>
        </p:txBody>
      </p:sp>
      <p:sp>
        <p:nvSpPr>
          <p:cNvPr id="28" name="TextBox 27"/>
          <p:cNvSpPr txBox="1"/>
          <p:nvPr/>
        </p:nvSpPr>
        <p:spPr>
          <a:xfrm>
            <a:off x="8138159" y="6309360"/>
            <a:ext cx="4361688" cy="731520"/>
          </a:xfrm>
          <a:prstGeom prst="rect">
            <a:avLst/>
          </a:prstGeom>
          <a:noFill/>
        </p:spPr>
        <p:txBody>
          <a:bodyPr wrap="square" lIns="0" rIns="0" tIns="0" bIns="0">
            <a:spAutoFit/>
          </a:bodyPr>
          <a:lstStyle/>
          <a:p>
            <a:pPr algn="l"/>
            <a:r>
              <a:rPr sz="1400">
                <a:solidFill>
                  <a:srgbClr val="14161D"/>
                </a:solidFill>
                <a:latin typeface="Helvetica Neue Light"/>
              </a:rPr>
              <a:t>Mock order result</a:t>
            </a:r>
          </a:p>
        </p:txBody>
      </p:sp>
      <p:cxnSp>
        <p:nvCxnSpPr>
          <p:cNvPr id="29" name="Connector 28"/>
          <p:cNvCxnSpPr/>
          <p:nvPr/>
        </p:nvCxnSpPr>
        <p:spPr>
          <a:xfrm>
            <a:off x="822960" y="7022592"/>
            <a:ext cx="11905488" cy="0"/>
          </a:xfrm>
          <a:prstGeom prst="line">
            <a:avLst/>
          </a:prstGeom>
          <a:ln w="9525">
            <a:solidFill>
              <a:srgbClr val="D9DCE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WIREFRAMES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Every state designed before the screens</a:t>
            </a:r>
          </a:p>
        </p:txBody>
      </p:sp>
      <p:pic>
        <p:nvPicPr>
          <p:cNvPr id="5" name="Picture 4" descr="states_wires.png"/>
          <p:cNvPicPr>
            <a:picLocks noChangeAspect="1"/>
          </p:cNvPicPr>
          <p:nvPr/>
        </p:nvPicPr>
        <p:blipFill>
          <a:blip r:embed="rId3"/>
          <a:stretch>
            <a:fillRect/>
          </a:stretch>
        </p:blipFill>
        <p:spPr>
          <a:xfrm>
            <a:off x="822960" y="2103120"/>
            <a:ext cx="2190216" cy="6035040"/>
          </a:xfrm>
          <a:prstGeom prst="rect">
            <a:avLst/>
          </a:prstGeom>
        </p:spPr>
      </p:pic>
      <p:sp>
        <p:nvSpPr>
          <p:cNvPr id="6" name="TextBox 5"/>
          <p:cNvSpPr txBox="1"/>
          <p:nvPr/>
        </p:nvSpPr>
        <p:spPr>
          <a:xfrm>
            <a:off x="6949440" y="210312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PROBLEM IT ANSWERS</a:t>
            </a:r>
          </a:p>
        </p:txBody>
      </p:sp>
      <p:sp>
        <p:nvSpPr>
          <p:cNvPr id="7" name="TextBox 6"/>
          <p:cNvSpPr txBox="1"/>
          <p:nvPr/>
        </p:nvSpPr>
        <p:spPr>
          <a:xfrm>
            <a:off x="6949440" y="2414015"/>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Mock data shows only the happy path. A user who meets an empty or failed screen with no guidance stops trusting the app.</a:t>
            </a:r>
          </a:p>
        </p:txBody>
      </p:sp>
      <p:sp>
        <p:nvSpPr>
          <p:cNvPr id="8" name="TextBox 7"/>
          <p:cNvSpPr txBox="1"/>
          <p:nvPr/>
        </p:nvSpPr>
        <p:spPr>
          <a:xfrm>
            <a:off x="6949440" y="457200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SOLUTION AND THE INNOVATION</a:t>
            </a:r>
          </a:p>
        </p:txBody>
      </p:sp>
      <p:sp>
        <p:nvSpPr>
          <p:cNvPr id="9" name="TextBox 8"/>
          <p:cNvSpPr txBox="1"/>
          <p:nvPr/>
        </p:nvSpPr>
        <p:spPr>
          <a:xfrm>
            <a:off x="6949440" y="4882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Every screen designs five states before the build: empty, loading, error, offline, and the reviewed path. This is design-system rule 10.</a:t>
            </a:r>
          </a:p>
        </p:txBody>
      </p:sp>
      <p:sp>
        <p:nvSpPr>
          <p:cNvPr id="10" name="TextBox 9"/>
          <p:cNvSpPr txBox="1"/>
          <p:nvPr/>
        </p:nvSpPr>
        <p:spPr>
          <a:xfrm>
            <a:off x="6949440" y="6858000"/>
            <a:ext cx="4754880" cy="274320"/>
          </a:xfrm>
          <a:prstGeom prst="rect">
            <a:avLst/>
          </a:prstGeom>
          <a:noFill/>
        </p:spPr>
        <p:txBody>
          <a:bodyPr wrap="square" lIns="0" rIns="0" tIns="0" bIns="0">
            <a:spAutoFit/>
          </a:bodyPr>
          <a:lstStyle/>
          <a:p>
            <a:pPr algn="l"/>
            <a:r>
              <a:rPr sz="1100">
                <a:solidFill>
                  <a:srgbClr val="858A97"/>
                </a:solidFill>
                <a:latin typeface="Helvetica Neue Medium"/>
              </a:rPr>
              <a:t>WHAT IT SHOWS ABOUT MY LEADERSHIP</a:t>
            </a:r>
          </a:p>
        </p:txBody>
      </p:sp>
      <p:sp>
        <p:nvSpPr>
          <p:cNvPr id="11" name="TextBox 10"/>
          <p:cNvSpPr txBox="1"/>
          <p:nvPr/>
        </p:nvSpPr>
        <p:spPr>
          <a:xfrm>
            <a:off x="6949440" y="7168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I set the states as the review standard, and reviewers judged the hard cases, not only the happy path.</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WIREFRAMES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The agent, drawn as bounded steps</a:t>
            </a:r>
          </a:p>
        </p:txBody>
      </p:sp>
      <p:pic>
        <p:nvPicPr>
          <p:cNvPr id="5" name="Picture 4" descr="agent_wires.png"/>
          <p:cNvPicPr>
            <a:picLocks noChangeAspect="1"/>
          </p:cNvPicPr>
          <p:nvPr/>
        </p:nvPicPr>
        <p:blipFill>
          <a:blip r:embed="rId3"/>
          <a:stretch>
            <a:fillRect/>
          </a:stretch>
        </p:blipFill>
        <p:spPr>
          <a:xfrm>
            <a:off x="822960" y="2103120"/>
            <a:ext cx="5486400" cy="5551584"/>
          </a:xfrm>
          <a:prstGeom prst="rect">
            <a:avLst/>
          </a:prstGeom>
        </p:spPr>
      </p:pic>
      <p:sp>
        <p:nvSpPr>
          <p:cNvPr id="6" name="TextBox 5"/>
          <p:cNvSpPr txBox="1"/>
          <p:nvPr/>
        </p:nvSpPr>
        <p:spPr>
          <a:xfrm>
            <a:off x="6949440" y="210312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PROBLEM IT ANSWERS</a:t>
            </a:r>
          </a:p>
        </p:txBody>
      </p:sp>
      <p:sp>
        <p:nvSpPr>
          <p:cNvPr id="7" name="TextBox 6"/>
          <p:cNvSpPr txBox="1"/>
          <p:nvPr/>
        </p:nvSpPr>
        <p:spPr>
          <a:xfrm>
            <a:off x="6949440" y="2414015"/>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All or nothing (breakdown 2). An agent that acts whole or not at all forces the user to trust it blindly or reject it.</a:t>
            </a:r>
          </a:p>
        </p:txBody>
      </p:sp>
      <p:sp>
        <p:nvSpPr>
          <p:cNvPr id="8" name="TextBox 7"/>
          <p:cNvSpPr txBox="1"/>
          <p:nvPr/>
        </p:nvSpPr>
        <p:spPr>
          <a:xfrm>
            <a:off x="6949440" y="457200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SOLUTION AND THE INNOVATION</a:t>
            </a:r>
          </a:p>
        </p:txBody>
      </p:sp>
      <p:sp>
        <p:nvSpPr>
          <p:cNvPr id="9" name="TextBox 8"/>
          <p:cNvSpPr txBox="1"/>
          <p:nvPr/>
        </p:nvSpPr>
        <p:spPr>
          <a:xfrm>
            <a:off x="6949440" y="4882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Adapt shows a goal, a plan preview, and step review. Each step is a proposed step with its source and its undo. Nothing runs without approval. This is the Plan Editor concept, drawn.</a:t>
            </a:r>
          </a:p>
        </p:txBody>
      </p:sp>
      <p:sp>
        <p:nvSpPr>
          <p:cNvPr id="10" name="TextBox 9"/>
          <p:cNvSpPr txBox="1"/>
          <p:nvPr/>
        </p:nvSpPr>
        <p:spPr>
          <a:xfrm>
            <a:off x="6949440" y="6858000"/>
            <a:ext cx="4754880" cy="274320"/>
          </a:xfrm>
          <a:prstGeom prst="rect">
            <a:avLst/>
          </a:prstGeom>
          <a:noFill/>
        </p:spPr>
        <p:txBody>
          <a:bodyPr wrap="square" lIns="0" rIns="0" tIns="0" bIns="0">
            <a:spAutoFit/>
          </a:bodyPr>
          <a:lstStyle/>
          <a:p>
            <a:pPr algn="l"/>
            <a:r>
              <a:rPr sz="1100">
                <a:solidFill>
                  <a:srgbClr val="858A97"/>
                </a:solidFill>
                <a:latin typeface="Helvetica Neue Medium"/>
              </a:rPr>
              <a:t>WHAT IT SHOWS ABOUT MY LEADERSHIP</a:t>
            </a:r>
          </a:p>
        </p:txBody>
      </p:sp>
      <p:sp>
        <p:nvSpPr>
          <p:cNvPr id="11" name="TextBox 10"/>
          <p:cNvSpPr txBox="1"/>
          <p:nvPr/>
        </p:nvSpPr>
        <p:spPr>
          <a:xfrm>
            <a:off x="6949440" y="7168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I drew the AI rules onto the screens before the prototype, so reviewers tested the rules in place, not in a document.</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WIREFRAMES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The whole experience, end to end</a:t>
            </a:r>
          </a:p>
        </p:txBody>
      </p:sp>
      <p:pic>
        <p:nvPicPr>
          <p:cNvPr id="5" name="Picture 4" descr="full_experience_wires.png"/>
          <p:cNvPicPr>
            <a:picLocks noChangeAspect="1"/>
          </p:cNvPicPr>
          <p:nvPr/>
        </p:nvPicPr>
        <p:blipFill>
          <a:blip r:embed="rId3"/>
          <a:stretch>
            <a:fillRect/>
          </a:stretch>
        </p:blipFill>
        <p:spPr>
          <a:xfrm>
            <a:off x="822960" y="2103120"/>
            <a:ext cx="1651337" cy="6035040"/>
          </a:xfrm>
          <a:prstGeom prst="rect">
            <a:avLst/>
          </a:prstGeom>
        </p:spPr>
      </p:pic>
      <p:sp>
        <p:nvSpPr>
          <p:cNvPr id="6" name="TextBox 5"/>
          <p:cNvSpPr txBox="1"/>
          <p:nvPr/>
        </p:nvSpPr>
        <p:spPr>
          <a:xfrm>
            <a:off x="6949440" y="210312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PROBLEM IT ANSWERS</a:t>
            </a:r>
          </a:p>
        </p:txBody>
      </p:sp>
      <p:sp>
        <p:nvSpPr>
          <p:cNvPr id="7" name="TextBox 6"/>
          <p:cNvSpPr txBox="1"/>
          <p:nvPr/>
        </p:nvSpPr>
        <p:spPr>
          <a:xfrm>
            <a:off x="6949440" y="2414015"/>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Context lost between screens (breakdown 5). Approval, undo, and the learning loop each sit on a different screen, so no one sees the whole decision.</a:t>
            </a:r>
          </a:p>
        </p:txBody>
      </p:sp>
      <p:sp>
        <p:nvSpPr>
          <p:cNvPr id="8" name="TextBox 7"/>
          <p:cNvSpPr txBox="1"/>
          <p:nvPr/>
        </p:nvSpPr>
        <p:spPr>
          <a:xfrm>
            <a:off x="6949440" y="457200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SOLUTION AND THE INNOVATION</a:t>
            </a:r>
          </a:p>
        </p:txBody>
      </p:sp>
      <p:sp>
        <p:nvSpPr>
          <p:cNvPr id="9" name="TextBox 8"/>
          <p:cNvSpPr txBox="1"/>
          <p:nvPr/>
        </p:nvSpPr>
        <p:spPr>
          <a:xfrm>
            <a:off x="6949440" y="4882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One set of frames: entry, the five tabs, Adapt, the trade flow, the learning loop, and the states. Each trade-off is visible where the decision is made.</a:t>
            </a:r>
          </a:p>
        </p:txBody>
      </p:sp>
      <p:sp>
        <p:nvSpPr>
          <p:cNvPr id="10" name="TextBox 9"/>
          <p:cNvSpPr txBox="1"/>
          <p:nvPr/>
        </p:nvSpPr>
        <p:spPr>
          <a:xfrm>
            <a:off x="6949440" y="6858000"/>
            <a:ext cx="4754880" cy="274320"/>
          </a:xfrm>
          <a:prstGeom prst="rect">
            <a:avLst/>
          </a:prstGeom>
          <a:noFill/>
        </p:spPr>
        <p:txBody>
          <a:bodyPr wrap="square" lIns="0" rIns="0" tIns="0" bIns="0">
            <a:spAutoFit/>
          </a:bodyPr>
          <a:lstStyle/>
          <a:p>
            <a:pPr algn="l"/>
            <a:r>
              <a:rPr sz="1100">
                <a:solidFill>
                  <a:srgbClr val="858A97"/>
                </a:solidFill>
                <a:latin typeface="Helvetica Neue Medium"/>
              </a:rPr>
              <a:t>WHAT IT SHOWS ABOUT MY LEADERSHIP</a:t>
            </a:r>
          </a:p>
        </p:txBody>
      </p:sp>
      <p:sp>
        <p:nvSpPr>
          <p:cNvPr id="11" name="TextBox 10"/>
          <p:cNvSpPr txBox="1"/>
          <p:nvPr/>
        </p:nvSpPr>
        <p:spPr>
          <a:xfrm>
            <a:off x="6949440" y="7168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I designed the whole experience, not separate screens, and checked that the parts agree. Reviewers see one story.</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48640" y="411480"/>
            <a:ext cx="11905488" cy="320040"/>
          </a:xfrm>
          <a:prstGeom prst="rect">
            <a:avLst/>
          </a:prstGeom>
          <a:noFill/>
          <a:ln/>
        </p:spPr>
        <p:txBody>
          <a:bodyPr wrap="square" lIns="0" tIns="0" rIns="0" bIns="0" rtlCol="0" anchor="ctr"/>
          <a:lstStyle/>
          <a:p>
            <a:pPr indent="0" marL="0">
              <a:buNone/>
            </a:pPr>
            <a:r>
              <a:rPr lang="en-US" sz="1400" dirty="0">
                <a:solidFill>
                  <a:srgbClr val="1B2A3A"/>
                </a:solidFill>
                <a:latin typeface="Helvetica Neue Light" pitchFamily="34" charset="0"/>
                <a:ea typeface="Helvetica Neue Light" pitchFamily="34" charset="-122"/>
                <a:cs typeface="Helvetica Neue Light" pitchFamily="34" charset="-120"/>
              </a:rPr>
              <a:t>MERIDIAN NAVIGATOR · WIREFRAMES</a:t>
            </a:r>
            <a:endParaRPr lang="en-US" sz="1400" dirty="0"/>
          </a:p>
        </p:txBody>
      </p:sp>
      <p:sp>
        <p:nvSpPr>
          <p:cNvPr id="3" name="Text 1"/>
          <p:cNvSpPr/>
          <p:nvPr/>
        </p:nvSpPr>
        <p:spPr>
          <a:xfrm>
            <a:off x="548640" y="914400"/>
            <a:ext cx="11905488" cy="731520"/>
          </a:xfrm>
          <a:prstGeom prst="rect">
            <a:avLst/>
          </a:prstGeom>
          <a:noFill/>
          <a:ln/>
        </p:spPr>
        <p:txBody>
          <a:bodyPr wrap="square" lIns="0" tIns="0" rIns="0" bIns="0" rtlCol="0" anchor="t"/>
          <a:lstStyle/>
          <a:p>
            <a:pPr indent="0" marL="0">
              <a:buNone/>
            </a:pPr>
            <a:r>
              <a:rPr lang="en-US" sz="3000" dirty="0">
                <a:solidFill>
                  <a:srgbClr val="1B2A3A"/>
                </a:solidFill>
                <a:latin typeface="Helvetica Neue Light" pitchFamily="34" charset="0"/>
                <a:ea typeface="Helvetica Neue Light" pitchFamily="34" charset="-122"/>
                <a:cs typeface="Helvetica Neue Light" pitchFamily="34" charset="-120"/>
              </a:rPr>
              <a:t>Lo-fi first: the trade flow before the look</a:t>
            </a:r>
            <a:endParaRPr lang="en-US" sz="3000" dirty="0"/>
          </a:p>
        </p:txBody>
      </p:sp>
      <p:pic>
        <p:nvPicPr>
          <p:cNvPr id="4" name="Picture 3" descr="image.png"/>
          <p:cNvPicPr>
            <a:picLocks noChangeAspect="1"/>
          </p:cNvPicPr>
          <p:nvPr/>
        </p:nvPicPr>
        <p:blipFill>
          <a:blip r:embed="rId2"/>
          <a:stretch>
            <a:fillRect/>
          </a:stretch>
        </p:blipFill>
        <p:spPr>
          <a:xfrm>
            <a:off x="0" y="9299448"/>
            <a:ext cx="13002768" cy="457200"/>
          </a:xfrm>
          <a:prstGeom prst="rect">
            <a:avLst/>
          </a:prstGeom>
        </p:spPr>
      </p:pic>
      <p:sp>
        <p:nvSpPr>
          <p:cNvPr id="5" name="Text 2"/>
          <p:cNvSpPr/>
          <p:nvPr/>
        </p:nvSpPr>
        <p:spPr>
          <a:xfrm>
            <a:off x="548640" y="8778240"/>
            <a:ext cx="11905488" cy="320040"/>
          </a:xfrm>
          <a:prstGeom prst="rect">
            <a:avLst/>
          </a:prstGeom>
          <a:noFill/>
          <a:ln/>
        </p:spPr>
        <p:txBody>
          <a:bodyPr wrap="square" lIns="0" tIns="0" rIns="0" bIns="0" rtlCol="0" anchor="ctr"/>
          <a:lstStyle/>
          <a:p>
            <a:pPr indent="0" marL="0">
              <a:buNone/>
            </a:pPr>
            <a:r>
              <a:rPr lang="en-US" sz="1200" dirty="0">
                <a:solidFill>
                  <a:srgbClr val="595959"/>
                </a:solidFill>
                <a:latin typeface="Helvetica Neue Light" pitchFamily="34" charset="0"/>
                <a:ea typeface="Helvetica Neue Light" pitchFamily="34" charset="-122"/>
                <a:cs typeface="Helvetica Neue Light" pitchFamily="34" charset="-120"/>
              </a:rPr>
              <a:t>Portfolio prototype. Mock data. Hypotheses until validated. Proposed-step language only.</a:t>
            </a:r>
            <a:endParaRPr lang="en-US" sz="1200" dirty="0"/>
          </a:p>
        </p:txBody>
      </p:sp>
      <p:pic>
        <p:nvPicPr>
          <p:cNvPr id="6" name="Picture 5" descr="image.png"/>
          <p:cNvPicPr>
            <a:picLocks noChangeAspect="1"/>
          </p:cNvPicPr>
          <p:nvPr/>
        </p:nvPicPr>
        <p:blipFill>
          <a:blip r:embed="rId3"/>
          <a:stretch>
            <a:fillRect/>
          </a:stretch>
        </p:blipFill>
        <p:spPr>
          <a:xfrm>
            <a:off x="548640" y="2103120"/>
            <a:ext cx="5486400" cy="2696705"/>
          </a:xfrm>
          <a:prstGeom prst="rect">
            <a:avLst/>
          </a:prstGeom>
        </p:spPr>
      </p:pic>
      <p:sp>
        <p:nvSpPr>
          <p:cNvPr id="7" name="Text 3"/>
          <p:cNvSpPr/>
          <p:nvPr/>
        </p:nvSpPr>
        <p:spPr>
          <a:xfrm>
            <a:off x="6583680" y="2103120"/>
            <a:ext cx="5852160" cy="274320"/>
          </a:xfrm>
          <a:prstGeom prst="rect">
            <a:avLst/>
          </a:prstGeom>
          <a:noFill/>
          <a:ln/>
        </p:spPr>
        <p:txBody>
          <a:bodyPr wrap="square" lIns="0" tIns="0" rIns="0" bIns="0" rtlCol="0" anchor="ctr"/>
          <a:lstStyle/>
          <a:p>
            <a:pPr indent="0" marL="0">
              <a:buNone/>
            </a:pPr>
            <a:r>
              <a:rPr lang="en-US" sz="1280" dirty="0">
                <a:solidFill>
                  <a:srgbClr val="B5532F"/>
                </a:solidFill>
                <a:latin typeface="Helvetica Neue Medium" pitchFamily="34" charset="0"/>
                <a:ea typeface="Helvetica Neue Medium" pitchFamily="34" charset="-122"/>
                <a:cs typeface="Helvetica Neue Medium" pitchFamily="34" charset="-120"/>
              </a:rPr>
              <a:t>THE PROBLEM IT ANSWERS</a:t>
            </a:r>
            <a:endParaRPr lang="en-US" sz="1280" dirty="0"/>
          </a:p>
        </p:txBody>
      </p:sp>
      <p:sp>
        <p:nvSpPr>
          <p:cNvPr id="8" name="Text 4"/>
          <p:cNvSpPr/>
          <p:nvPr/>
        </p:nvSpPr>
        <p:spPr>
          <a:xfrm>
            <a:off x="6583680" y="2432304"/>
            <a:ext cx="5852160" cy="2926080"/>
          </a:xfrm>
          <a:prstGeom prst="rect">
            <a:avLst/>
          </a:prstGeom>
          <a:noFill/>
          <a:ln/>
        </p:spPr>
        <p:txBody>
          <a:bodyPr wrap="square" lIns="0" tIns="0" rIns="0" bIns="0" rtlCol="0" anchor="t"/>
          <a:lstStyle/>
          <a:p>
            <a:pPr indent="0" marL="0">
              <a:spcAft>
                <a:spcPts val="600"/>
              </a:spcAft>
              <a:buNone/>
            </a:pPr>
            <a:r>
              <a:rPr lang="en-US" sz="1400" dirty="0">
                <a:solidFill>
                  <a:srgbClr val="1B2A3A"/>
                </a:solidFill>
                <a:latin typeface="Helvetica Neue Light" pitchFamily="34" charset="0"/>
                <a:ea typeface="Helvetica Neue Light" pitchFamily="34" charset="-122"/>
                <a:cs typeface="Helvetica Neue Light" pitchFamily="34" charset="-120"/>
              </a:rPr>
              <a:t>The trade flow had to hold together first: steps, choices, and where approval sits. Light, sketch-level screens tested that structure.</a:t>
            </a:r>
            <a:endParaRPr lang="en-US" sz="1400" dirty="0"/>
          </a:p>
        </p:txBody>
      </p:sp>
      <p:sp>
        <p:nvSpPr>
          <p:cNvPr id="9" name="Text 5"/>
          <p:cNvSpPr/>
          <p:nvPr/>
        </p:nvSpPr>
        <p:spPr>
          <a:xfrm>
            <a:off x="6583680" y="4572000"/>
            <a:ext cx="5852160" cy="274320"/>
          </a:xfrm>
          <a:prstGeom prst="rect">
            <a:avLst/>
          </a:prstGeom>
          <a:noFill/>
          <a:ln/>
        </p:spPr>
        <p:txBody>
          <a:bodyPr wrap="square" lIns="0" tIns="0" rIns="0" bIns="0" rtlCol="0" anchor="ctr"/>
          <a:lstStyle/>
          <a:p>
            <a:pPr indent="0" marL="0">
              <a:buNone/>
            </a:pPr>
            <a:r>
              <a:rPr lang="en-US" sz="1280" dirty="0">
                <a:solidFill>
                  <a:srgbClr val="4F6D5A"/>
                </a:solidFill>
                <a:latin typeface="Helvetica Neue Medium" pitchFamily="34" charset="0"/>
                <a:ea typeface="Helvetica Neue Medium" pitchFamily="34" charset="-122"/>
                <a:cs typeface="Helvetica Neue Medium" pitchFamily="34" charset="-120"/>
              </a:rPr>
              <a:t>THE SOLUTION AND THE INNOVATION</a:t>
            </a:r>
            <a:endParaRPr lang="en-US" sz="1280" dirty="0"/>
          </a:p>
        </p:txBody>
      </p:sp>
      <p:sp>
        <p:nvSpPr>
          <p:cNvPr id="10" name="Text 6"/>
          <p:cNvSpPr/>
          <p:nvPr/>
        </p:nvSpPr>
        <p:spPr>
          <a:xfrm>
            <a:off x="6583680" y="4901184"/>
            <a:ext cx="5852160" cy="2926080"/>
          </a:xfrm>
          <a:prstGeom prst="rect">
            <a:avLst/>
          </a:prstGeom>
          <a:noFill/>
          <a:ln/>
        </p:spPr>
        <p:txBody>
          <a:bodyPr wrap="square" lIns="0" tIns="0" rIns="0" bIns="0" rtlCol="0" anchor="t"/>
          <a:lstStyle/>
          <a:p>
            <a:pPr indent="0" marL="0">
              <a:spcAft>
                <a:spcPts val="600"/>
              </a:spcAft>
              <a:buNone/>
            </a:pPr>
            <a:r>
              <a:rPr lang="en-US" sz="1400" dirty="0">
                <a:solidFill>
                  <a:srgbClr val="1B2A3A"/>
                </a:solidFill>
                <a:latin typeface="Helvetica Neue Light" pitchFamily="34" charset="0"/>
                <a:ea typeface="Helvetica Neue Light" pitchFamily="34" charset="-122"/>
                <a:cs typeface="Helvetica Neue Light" pitchFamily="34" charset="-120"/>
              </a:rPr>
              <a:t>No colour or type decisions yet. Home, order entry, and review were shown with the approval point visible on each step.</a:t>
            </a:r>
            <a:endParaRPr lang="en-US" sz="1400" dirty="0"/>
          </a:p>
        </p:txBody>
      </p:sp>
      <p:sp>
        <p:nvSpPr>
          <p:cNvPr id="11" name="Text 7"/>
          <p:cNvSpPr/>
          <p:nvPr/>
        </p:nvSpPr>
        <p:spPr>
          <a:xfrm>
            <a:off x="6583680" y="6858000"/>
            <a:ext cx="5852160" cy="274320"/>
          </a:xfrm>
          <a:prstGeom prst="rect">
            <a:avLst/>
          </a:prstGeom>
          <a:noFill/>
          <a:ln/>
        </p:spPr>
        <p:txBody>
          <a:bodyPr wrap="square" lIns="0" tIns="0" rIns="0" bIns="0" rtlCol="0" anchor="ctr"/>
          <a:lstStyle/>
          <a:p>
            <a:pPr indent="0" marL="0">
              <a:buNone/>
            </a:pPr>
            <a:r>
              <a:rPr lang="en-US" sz="1280" dirty="0">
                <a:solidFill>
                  <a:srgbClr val="2F4257"/>
                </a:solidFill>
                <a:latin typeface="Helvetica Neue Medium" pitchFamily="34" charset="0"/>
                <a:ea typeface="Helvetica Neue Medium" pitchFamily="34" charset="-122"/>
                <a:cs typeface="Helvetica Neue Medium" pitchFamily="34" charset="-120"/>
              </a:rPr>
              <a:t>WHAT IT SHOWS ABOUT MY LEADERSHIP</a:t>
            </a:r>
            <a:endParaRPr lang="en-US" sz="1280" dirty="0"/>
          </a:p>
        </p:txBody>
      </p:sp>
      <p:sp>
        <p:nvSpPr>
          <p:cNvPr id="12" name="Text 8"/>
          <p:cNvSpPr/>
          <p:nvPr/>
        </p:nvSpPr>
        <p:spPr>
          <a:xfrm>
            <a:off x="6583680" y="7187184"/>
            <a:ext cx="5852160" cy="2926080"/>
          </a:xfrm>
          <a:prstGeom prst="rect">
            <a:avLst/>
          </a:prstGeom>
          <a:noFill/>
          <a:ln/>
        </p:spPr>
        <p:txBody>
          <a:bodyPr wrap="square" lIns="0" tIns="0" rIns="0" bIns="0" rtlCol="0" anchor="t"/>
          <a:lstStyle/>
          <a:p>
            <a:pPr indent="0" marL="0">
              <a:spcAft>
                <a:spcPts val="600"/>
              </a:spcAft>
              <a:buNone/>
            </a:pPr>
            <a:r>
              <a:rPr lang="en-US" sz="1400" dirty="0">
                <a:solidFill>
                  <a:srgbClr val="1B2A3A"/>
                </a:solidFill>
                <a:latin typeface="Helvetica Neue Light" pitchFamily="34" charset="0"/>
                <a:ea typeface="Helvetica Neue Light" pitchFamily="34" charset="-122"/>
                <a:cs typeface="Helvetica Neue Light" pitchFamily="34" charset="-120"/>
              </a:rPr>
              <a:t>I settled the structure before the styling, so the team reviewed the flow itself, not the look.</a:t>
            </a:r>
            <a:endParaRPr lang="en-US" sz="1400" dirty="0"/>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48640" y="411480"/>
            <a:ext cx="11905488" cy="320040"/>
          </a:xfrm>
          <a:prstGeom prst="rect">
            <a:avLst/>
          </a:prstGeom>
          <a:noFill/>
          <a:ln/>
        </p:spPr>
        <p:txBody>
          <a:bodyPr wrap="square" lIns="0" tIns="0" rIns="0" bIns="0" rtlCol="0" anchor="ctr"/>
          <a:lstStyle/>
          <a:p>
            <a:pPr indent="0" marL="0">
              <a:buNone/>
            </a:pPr>
            <a:r>
              <a:rPr lang="en-US" sz="1400" dirty="0">
                <a:solidFill>
                  <a:srgbClr val="1B2A3A"/>
                </a:solidFill>
                <a:latin typeface="Helvetica Neue Light" pitchFamily="34" charset="0"/>
                <a:ea typeface="Helvetica Neue Light" pitchFamily="34" charset="-122"/>
                <a:cs typeface="Helvetica Neue Light" pitchFamily="34" charset="-120"/>
              </a:rPr>
              <a:t>MERIDIAN NAVIGATOR · WIREFRAMES</a:t>
            </a:r>
            <a:endParaRPr lang="en-US" sz="1400" dirty="0"/>
          </a:p>
        </p:txBody>
      </p:sp>
      <p:sp>
        <p:nvSpPr>
          <p:cNvPr id="3" name="Text 1"/>
          <p:cNvSpPr/>
          <p:nvPr/>
        </p:nvSpPr>
        <p:spPr>
          <a:xfrm>
            <a:off x="548640" y="914400"/>
            <a:ext cx="11905488" cy="731520"/>
          </a:xfrm>
          <a:prstGeom prst="rect">
            <a:avLst/>
          </a:prstGeom>
          <a:noFill/>
          <a:ln/>
        </p:spPr>
        <p:txBody>
          <a:bodyPr wrap="square" lIns="0" tIns="0" rIns="0" bIns="0" rtlCol="0" anchor="t"/>
          <a:lstStyle/>
          <a:p>
            <a:pPr indent="0" marL="0">
              <a:buNone/>
            </a:pPr>
            <a:r>
              <a:rPr lang="en-US" sz="3000" dirty="0">
                <a:solidFill>
                  <a:srgbClr val="1B2A3A"/>
                </a:solidFill>
                <a:latin typeface="Helvetica Neue Light" pitchFamily="34" charset="0"/>
                <a:ea typeface="Helvetica Neue Light" pitchFamily="34" charset="-122"/>
                <a:cs typeface="Helvetica Neue Light" pitchFamily="34" charset="-120"/>
              </a:rPr>
              <a:t>Hi-fi: the same flow in the design system</a:t>
            </a:r>
            <a:endParaRPr lang="en-US" sz="3000" dirty="0"/>
          </a:p>
        </p:txBody>
      </p:sp>
      <p:pic>
        <p:nvPicPr>
          <p:cNvPr id="4" name="Picture 3" descr="image.png"/>
          <p:cNvPicPr>
            <a:picLocks noChangeAspect="1"/>
          </p:cNvPicPr>
          <p:nvPr/>
        </p:nvPicPr>
        <p:blipFill>
          <a:blip r:embed="rId2"/>
          <a:stretch>
            <a:fillRect/>
          </a:stretch>
        </p:blipFill>
        <p:spPr>
          <a:xfrm>
            <a:off x="0" y="9299448"/>
            <a:ext cx="13002768" cy="457200"/>
          </a:xfrm>
          <a:prstGeom prst="rect">
            <a:avLst/>
          </a:prstGeom>
        </p:spPr>
      </p:pic>
      <p:sp>
        <p:nvSpPr>
          <p:cNvPr id="5" name="Text 2"/>
          <p:cNvSpPr/>
          <p:nvPr/>
        </p:nvSpPr>
        <p:spPr>
          <a:xfrm>
            <a:off x="548640" y="8778240"/>
            <a:ext cx="11905488" cy="320040"/>
          </a:xfrm>
          <a:prstGeom prst="rect">
            <a:avLst/>
          </a:prstGeom>
          <a:noFill/>
          <a:ln/>
        </p:spPr>
        <p:txBody>
          <a:bodyPr wrap="square" lIns="0" tIns="0" rIns="0" bIns="0" rtlCol="0" anchor="ctr"/>
          <a:lstStyle/>
          <a:p>
            <a:pPr indent="0" marL="0">
              <a:buNone/>
            </a:pPr>
            <a:r>
              <a:rPr lang="en-US" sz="1200" dirty="0">
                <a:solidFill>
                  <a:srgbClr val="595959"/>
                </a:solidFill>
                <a:latin typeface="Helvetica Neue Light" pitchFamily="34" charset="0"/>
                <a:ea typeface="Helvetica Neue Light" pitchFamily="34" charset="-122"/>
                <a:cs typeface="Helvetica Neue Light" pitchFamily="34" charset="-120"/>
              </a:rPr>
              <a:t>Portfolio prototype. Mock data. Hypotheses until validated. Proposed-step language only.</a:t>
            </a:r>
            <a:endParaRPr lang="en-US" sz="1200" dirty="0"/>
          </a:p>
        </p:txBody>
      </p:sp>
      <p:pic>
        <p:nvPicPr>
          <p:cNvPr id="6" name="Picture 5" descr="image.png"/>
          <p:cNvPicPr>
            <a:picLocks noChangeAspect="1"/>
          </p:cNvPicPr>
          <p:nvPr/>
        </p:nvPicPr>
        <p:blipFill>
          <a:blip r:embed="rId3"/>
          <a:stretch>
            <a:fillRect/>
          </a:stretch>
        </p:blipFill>
        <p:spPr>
          <a:xfrm>
            <a:off x="548640" y="2103120"/>
            <a:ext cx="5486400" cy="3947050"/>
          </a:xfrm>
          <a:prstGeom prst="rect">
            <a:avLst/>
          </a:prstGeom>
        </p:spPr>
      </p:pic>
      <p:sp>
        <p:nvSpPr>
          <p:cNvPr id="7" name="Text 3"/>
          <p:cNvSpPr/>
          <p:nvPr/>
        </p:nvSpPr>
        <p:spPr>
          <a:xfrm>
            <a:off x="6583680" y="2103120"/>
            <a:ext cx="5852160" cy="274320"/>
          </a:xfrm>
          <a:prstGeom prst="rect">
            <a:avLst/>
          </a:prstGeom>
          <a:noFill/>
          <a:ln/>
        </p:spPr>
        <p:txBody>
          <a:bodyPr wrap="square" lIns="0" tIns="0" rIns="0" bIns="0" rtlCol="0" anchor="ctr"/>
          <a:lstStyle/>
          <a:p>
            <a:pPr indent="0" marL="0">
              <a:buNone/>
            </a:pPr>
            <a:r>
              <a:rPr lang="en-US" sz="1280" dirty="0">
                <a:solidFill>
                  <a:srgbClr val="B5532F"/>
                </a:solidFill>
                <a:latin typeface="Helvetica Neue Medium" pitchFamily="34" charset="0"/>
                <a:ea typeface="Helvetica Neue Medium" pitchFamily="34" charset="-122"/>
                <a:cs typeface="Helvetica Neue Medium" pitchFamily="34" charset="-120"/>
              </a:rPr>
              <a:t>THE PROBLEM IT ANSWERS</a:t>
            </a:r>
            <a:endParaRPr lang="en-US" sz="1280" dirty="0"/>
          </a:p>
        </p:txBody>
      </p:sp>
      <p:sp>
        <p:nvSpPr>
          <p:cNvPr id="8" name="Text 4"/>
          <p:cNvSpPr/>
          <p:nvPr/>
        </p:nvSpPr>
        <p:spPr>
          <a:xfrm>
            <a:off x="6583680" y="2432304"/>
            <a:ext cx="5852160" cy="2926080"/>
          </a:xfrm>
          <a:prstGeom prst="rect">
            <a:avLst/>
          </a:prstGeom>
          <a:noFill/>
          <a:ln/>
        </p:spPr>
        <p:txBody>
          <a:bodyPr wrap="square" lIns="0" tIns="0" rIns="0" bIns="0" rtlCol="0" anchor="t"/>
          <a:lstStyle/>
          <a:p>
            <a:pPr indent="0" marL="0">
              <a:spcAft>
                <a:spcPts val="600"/>
              </a:spcAft>
              <a:buNone/>
            </a:pPr>
            <a:r>
              <a:rPr lang="en-US" sz="1400" dirty="0">
                <a:solidFill>
                  <a:srgbClr val="1B2A3A"/>
                </a:solidFill>
                <a:latin typeface="Helvetica Neue Light" pitchFamily="34" charset="0"/>
                <a:ea typeface="Helvetica Neue Light" pitchFamily="34" charset="-122"/>
                <a:cs typeface="Helvetica Neue Light" pitchFamily="34" charset="-120"/>
              </a:rPr>
              <a:t>A structure that works on paper can still fail on screen: contrast, density, and the advice wording all need checking.</a:t>
            </a:r>
            <a:endParaRPr lang="en-US" sz="1400" dirty="0"/>
          </a:p>
        </p:txBody>
      </p:sp>
      <p:sp>
        <p:nvSpPr>
          <p:cNvPr id="9" name="Text 5"/>
          <p:cNvSpPr/>
          <p:nvPr/>
        </p:nvSpPr>
        <p:spPr>
          <a:xfrm>
            <a:off x="6583680" y="4572000"/>
            <a:ext cx="5852160" cy="274320"/>
          </a:xfrm>
          <a:prstGeom prst="rect">
            <a:avLst/>
          </a:prstGeom>
          <a:noFill/>
          <a:ln/>
        </p:spPr>
        <p:txBody>
          <a:bodyPr wrap="square" lIns="0" tIns="0" rIns="0" bIns="0" rtlCol="0" anchor="ctr"/>
          <a:lstStyle/>
          <a:p>
            <a:pPr indent="0" marL="0">
              <a:buNone/>
            </a:pPr>
            <a:r>
              <a:rPr lang="en-US" sz="1280" dirty="0">
                <a:solidFill>
                  <a:srgbClr val="4F6D5A"/>
                </a:solidFill>
                <a:latin typeface="Helvetica Neue Medium" pitchFamily="34" charset="0"/>
                <a:ea typeface="Helvetica Neue Medium" pitchFamily="34" charset="-122"/>
                <a:cs typeface="Helvetica Neue Medium" pitchFamily="34" charset="-120"/>
              </a:rPr>
              <a:t>THE SOLUTION AND THE INNOVATION</a:t>
            </a:r>
            <a:endParaRPr lang="en-US" sz="1280" dirty="0"/>
          </a:p>
        </p:txBody>
      </p:sp>
      <p:sp>
        <p:nvSpPr>
          <p:cNvPr id="10" name="Text 6"/>
          <p:cNvSpPr/>
          <p:nvPr/>
        </p:nvSpPr>
        <p:spPr>
          <a:xfrm>
            <a:off x="6583680" y="4901184"/>
            <a:ext cx="5852160" cy="2926080"/>
          </a:xfrm>
          <a:prstGeom prst="rect">
            <a:avLst/>
          </a:prstGeom>
          <a:noFill/>
          <a:ln/>
        </p:spPr>
        <p:txBody>
          <a:bodyPr wrap="square" lIns="0" tIns="0" rIns="0" bIns="0" rtlCol="0" anchor="t"/>
          <a:lstStyle/>
          <a:p>
            <a:pPr indent="0" marL="0">
              <a:spcAft>
                <a:spcPts val="600"/>
              </a:spcAft>
              <a:buNone/>
            </a:pPr>
            <a:r>
              <a:rPr lang="en-US" sz="1400" dirty="0">
                <a:solidFill>
                  <a:srgbClr val="1B2A3A"/>
                </a:solidFill>
                <a:latin typeface="Helvetica Neue Light" pitchFamily="34" charset="0"/>
                <a:ea typeface="Helvetica Neue Light" pitchFamily="34" charset="-122"/>
                <a:cs typeface="Helvetica Neue Light" pitchFamily="34" charset="-120"/>
              </a:rPr>
              <a:t>The same flows in the design system: dark surfaces, the action colour, icon-and-word status, and proposed-step wording.</a:t>
            </a:r>
            <a:endParaRPr lang="en-US" sz="1400" dirty="0"/>
          </a:p>
        </p:txBody>
      </p:sp>
      <p:sp>
        <p:nvSpPr>
          <p:cNvPr id="11" name="Text 7"/>
          <p:cNvSpPr/>
          <p:nvPr/>
        </p:nvSpPr>
        <p:spPr>
          <a:xfrm>
            <a:off x="6583680" y="6858000"/>
            <a:ext cx="5852160" cy="274320"/>
          </a:xfrm>
          <a:prstGeom prst="rect">
            <a:avLst/>
          </a:prstGeom>
          <a:noFill/>
          <a:ln/>
        </p:spPr>
        <p:txBody>
          <a:bodyPr wrap="square" lIns="0" tIns="0" rIns="0" bIns="0" rtlCol="0" anchor="ctr"/>
          <a:lstStyle/>
          <a:p>
            <a:pPr indent="0" marL="0">
              <a:buNone/>
            </a:pPr>
            <a:r>
              <a:rPr lang="en-US" sz="1280" dirty="0">
                <a:solidFill>
                  <a:srgbClr val="2F4257"/>
                </a:solidFill>
                <a:latin typeface="Helvetica Neue Medium" pitchFamily="34" charset="0"/>
                <a:ea typeface="Helvetica Neue Medium" pitchFamily="34" charset="-122"/>
                <a:cs typeface="Helvetica Neue Medium" pitchFamily="34" charset="-120"/>
              </a:rPr>
              <a:t>WHAT IT SHOWS ABOUT MY LEADERSHIP</a:t>
            </a:r>
            <a:endParaRPr lang="en-US" sz="1280" dirty="0"/>
          </a:p>
        </p:txBody>
      </p:sp>
      <p:sp>
        <p:nvSpPr>
          <p:cNvPr id="12" name="Text 8"/>
          <p:cNvSpPr/>
          <p:nvPr/>
        </p:nvSpPr>
        <p:spPr>
          <a:xfrm>
            <a:off x="6583680" y="7187184"/>
            <a:ext cx="5852160" cy="2926080"/>
          </a:xfrm>
          <a:prstGeom prst="rect">
            <a:avLst/>
          </a:prstGeom>
          <a:noFill/>
          <a:ln/>
        </p:spPr>
        <p:txBody>
          <a:bodyPr wrap="square" lIns="0" tIns="0" rIns="0" bIns="0" rtlCol="0" anchor="t"/>
          <a:lstStyle/>
          <a:p>
            <a:pPr indent="0" marL="0">
              <a:spcAft>
                <a:spcPts val="600"/>
              </a:spcAft>
              <a:buNone/>
            </a:pPr>
            <a:r>
              <a:rPr lang="en-US" sz="1400" dirty="0">
                <a:solidFill>
                  <a:srgbClr val="1B2A3A"/>
                </a:solidFill>
                <a:latin typeface="Helvetica Neue Light" pitchFamily="34" charset="0"/>
                <a:ea typeface="Helvetica Neue Light" pitchFamily="34" charset="-122"/>
                <a:cs typeface="Helvetica Neue Light" pitchFamily="34" charset="-120"/>
              </a:rPr>
              <a:t>Every hi-fi screen was checked against the design rules, so each one shows its source and status.</a:t>
            </a:r>
            <a:endParaRPr lang="en-US" sz="1400" dirty="0"/>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WORKING DOCUMENTS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One FigJam board as the working record</a:t>
            </a:r>
          </a:p>
        </p:txBody>
      </p:sp>
      <p:pic>
        <p:nvPicPr>
          <p:cNvPr id="5" name="Picture 4" descr="experience_section_figjam.png"/>
          <p:cNvPicPr>
            <a:picLocks noChangeAspect="1"/>
          </p:cNvPicPr>
          <p:nvPr/>
        </p:nvPicPr>
        <p:blipFill>
          <a:blip r:embed="rId3"/>
          <a:stretch>
            <a:fillRect/>
          </a:stretch>
        </p:blipFill>
        <p:spPr>
          <a:xfrm>
            <a:off x="822960" y="2103120"/>
            <a:ext cx="5486400" cy="2707574"/>
          </a:xfrm>
          <a:prstGeom prst="rect">
            <a:avLst/>
          </a:prstGeom>
        </p:spPr>
      </p:pic>
      <p:sp>
        <p:nvSpPr>
          <p:cNvPr id="6" name="TextBox 5"/>
          <p:cNvSpPr txBox="1"/>
          <p:nvPr/>
        </p:nvSpPr>
        <p:spPr>
          <a:xfrm>
            <a:off x="6949440" y="210312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PROBLEM IT ANSWERS</a:t>
            </a:r>
          </a:p>
        </p:txBody>
      </p:sp>
      <p:sp>
        <p:nvSpPr>
          <p:cNvPr id="7" name="TextBox 6"/>
          <p:cNvSpPr txBox="1"/>
          <p:nvPr/>
        </p:nvSpPr>
        <p:spPr>
          <a:xfrm>
            <a:off x="6949440" y="2414015"/>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No learning loop (breakdown 3). Decisions and their reasons disappear into chat and slides, so the agent cannot learn from them.</a:t>
            </a:r>
          </a:p>
        </p:txBody>
      </p:sp>
      <p:sp>
        <p:nvSpPr>
          <p:cNvPr id="8" name="TextBox 7"/>
          <p:cNvSpPr txBox="1"/>
          <p:nvPr/>
        </p:nvSpPr>
        <p:spPr>
          <a:xfrm>
            <a:off x="6949440" y="457200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SOLUTION AND THE INNOVATION</a:t>
            </a:r>
          </a:p>
        </p:txBody>
      </p:sp>
      <p:sp>
        <p:nvSpPr>
          <p:cNvPr id="9" name="TextBox 8"/>
          <p:cNvSpPr txBox="1"/>
          <p:nvPr/>
        </p:nvSpPr>
        <p:spPr>
          <a:xfrm>
            <a:off x="6949440" y="4882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Decisions, reasons, and open questions live on one board, each linked to the breakdown it answers. This is the record the Decision Journal concept builds on.</a:t>
            </a:r>
          </a:p>
        </p:txBody>
      </p:sp>
      <p:sp>
        <p:nvSpPr>
          <p:cNvPr id="10" name="TextBox 9"/>
          <p:cNvSpPr txBox="1"/>
          <p:nvPr/>
        </p:nvSpPr>
        <p:spPr>
          <a:xfrm>
            <a:off x="6949440" y="6858000"/>
            <a:ext cx="4754880" cy="274320"/>
          </a:xfrm>
          <a:prstGeom prst="rect">
            <a:avLst/>
          </a:prstGeom>
          <a:noFill/>
        </p:spPr>
        <p:txBody>
          <a:bodyPr wrap="square" lIns="0" rIns="0" tIns="0" bIns="0">
            <a:spAutoFit/>
          </a:bodyPr>
          <a:lstStyle/>
          <a:p>
            <a:pPr algn="l"/>
            <a:r>
              <a:rPr sz="1100">
                <a:solidFill>
                  <a:srgbClr val="858A97"/>
                </a:solidFill>
                <a:latin typeface="Helvetica Neue Medium"/>
              </a:rPr>
              <a:t>WHAT IT SHOWS ABOUT MY LEADERSHIP</a:t>
            </a:r>
          </a:p>
        </p:txBody>
      </p:sp>
      <p:sp>
        <p:nvSpPr>
          <p:cNvPr id="11" name="TextBox 10"/>
          <p:cNvSpPr txBox="1"/>
          <p:nvPr/>
        </p:nvSpPr>
        <p:spPr>
          <a:xfrm>
            <a:off x="6949440" y="7168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I ran the design in the open, so the team could challenge each call and its trade-off. The record shows who decided what.</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WORKING DOCUMENTS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Personas, drafted to be validated</a:t>
            </a:r>
          </a:p>
        </p:txBody>
      </p:sp>
      <p:pic>
        <p:nvPicPr>
          <p:cNvPr id="5" name="Picture 4" descr="figjam_personas.png"/>
          <p:cNvPicPr>
            <a:picLocks noChangeAspect="1"/>
          </p:cNvPicPr>
          <p:nvPr/>
        </p:nvPicPr>
        <p:blipFill>
          <a:blip r:embed="rId3"/>
          <a:stretch>
            <a:fillRect/>
          </a:stretch>
        </p:blipFill>
        <p:spPr>
          <a:xfrm>
            <a:off x="822960" y="2103120"/>
            <a:ext cx="5486400" cy="4855464"/>
          </a:xfrm>
          <a:prstGeom prst="rect">
            <a:avLst/>
          </a:prstGeom>
        </p:spPr>
      </p:pic>
      <p:sp>
        <p:nvSpPr>
          <p:cNvPr id="6" name="TextBox 5"/>
          <p:cNvSpPr txBox="1"/>
          <p:nvPr/>
        </p:nvSpPr>
        <p:spPr>
          <a:xfrm>
            <a:off x="6949440" y="210312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PROBLEM IT ANSWERS</a:t>
            </a:r>
          </a:p>
        </p:txBody>
      </p:sp>
      <p:sp>
        <p:nvSpPr>
          <p:cNvPr id="7" name="TextBox 6"/>
          <p:cNvSpPr txBox="1"/>
          <p:nvPr/>
        </p:nvSpPr>
        <p:spPr>
          <a:xfrm>
            <a:off x="6949440" y="2414015"/>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Flows built for users nobody has met. Without evidence, the team designs for its own assumptions.</a:t>
            </a:r>
          </a:p>
        </p:txBody>
      </p:sp>
      <p:sp>
        <p:nvSpPr>
          <p:cNvPr id="8" name="TextBox 7"/>
          <p:cNvSpPr txBox="1"/>
          <p:nvPr/>
        </p:nvSpPr>
        <p:spPr>
          <a:xfrm>
            <a:off x="6949440" y="457200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SOLUTION AND THE INNOVATION</a:t>
            </a:r>
          </a:p>
        </p:txBody>
      </p:sp>
      <p:sp>
        <p:nvSpPr>
          <p:cNvPr id="9" name="TextBox 8"/>
          <p:cNvSpPr txBox="1"/>
          <p:nvPr/>
        </p:nvSpPr>
        <p:spPr>
          <a:xfrm>
            <a:off x="6949440" y="4882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Three draft personas, each labelled untested, with the features they use. They decide which flows get designed first, and stay hypotheses until five to eight interviews confirm them.</a:t>
            </a:r>
          </a:p>
        </p:txBody>
      </p:sp>
      <p:sp>
        <p:nvSpPr>
          <p:cNvPr id="10" name="TextBox 9"/>
          <p:cNvSpPr txBox="1"/>
          <p:nvPr/>
        </p:nvSpPr>
        <p:spPr>
          <a:xfrm>
            <a:off x="6949440" y="6858000"/>
            <a:ext cx="4754880" cy="274320"/>
          </a:xfrm>
          <a:prstGeom prst="rect">
            <a:avLst/>
          </a:prstGeom>
          <a:noFill/>
        </p:spPr>
        <p:txBody>
          <a:bodyPr wrap="square" lIns="0" rIns="0" tIns="0" bIns="0">
            <a:spAutoFit/>
          </a:bodyPr>
          <a:lstStyle/>
          <a:p>
            <a:pPr algn="l"/>
            <a:r>
              <a:rPr sz="1100">
                <a:solidFill>
                  <a:srgbClr val="858A97"/>
                </a:solidFill>
                <a:latin typeface="Helvetica Neue Medium"/>
              </a:rPr>
              <a:t>WHAT IT SHOWS ABOUT MY LEADERSHIP</a:t>
            </a:r>
          </a:p>
        </p:txBody>
      </p:sp>
      <p:sp>
        <p:nvSpPr>
          <p:cNvPr id="11" name="TextBox 10"/>
          <p:cNvSpPr txBox="1"/>
          <p:nvPr/>
        </p:nvSpPr>
        <p:spPr>
          <a:xfrm>
            <a:off x="6949440" y="7168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I separated what we know from what we assume, and labelled each one, so the next decision rests on evidence, not confidence.</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13" name="Picture 12"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WORKING DOCUMENTS</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The agent experience, reasoned on the board</a:t>
            </a:r>
          </a:p>
        </p:txBody>
      </p:sp>
      <p:pic>
        <p:nvPicPr>
          <p:cNvPr id="15" name="Picture 14" descr="image.png"/>
          <p:cNvPicPr>
            <a:picLocks noChangeAspect="1"/>
          </p:cNvPicPr>
          <p:nvPr/>
        </p:nvPicPr>
        <p:blipFill>
          <a:blip r:embed="rId5"/>
          <a:stretch>
            <a:fillRect/>
          </a:stretch>
        </p:blipFill>
        <p:spPr>
          <a:xfrm>
            <a:off x="822960" y="2103120"/>
            <a:ext cx="4685590" cy="6035040"/>
          </a:xfrm>
          <a:prstGeom prst="rect">
            <a:avLst/>
          </a:prstGeom>
        </p:spPr>
      </p:pic>
      <p:sp>
        <p:nvSpPr>
          <p:cNvPr id="6" name="TextBox 5"/>
          <p:cNvSpPr txBox="1"/>
          <p:nvPr/>
        </p:nvSpPr>
        <p:spPr>
          <a:xfrm>
            <a:off x="6949440" y="210312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PROBLEM IT ANSWERS</a:t>
            </a:r>
          </a:p>
        </p:txBody>
      </p:sp>
      <p:sp>
        <p:nvSpPr>
          <p:cNvPr id="7" name="TextBox 6"/>
          <p:cNvSpPr txBox="1"/>
          <p:nvPr/>
        </p:nvSpPr>
        <p:spPr>
          <a:xfrm>
            <a:off x="6949440" y="2414015"/>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Advice in conflict (breakdown 4). Agent wording drifts toward buy and sell, and the advice line breaks. Trade wording belongs in compliance review.</a:t>
            </a:r>
          </a:p>
        </p:txBody>
      </p:sp>
      <p:sp>
        <p:nvSpPr>
          <p:cNvPr id="8" name="TextBox 7"/>
          <p:cNvSpPr txBox="1"/>
          <p:nvPr/>
        </p:nvSpPr>
        <p:spPr>
          <a:xfrm>
            <a:off x="6949440" y="457200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SOLUTION AND THE INNOVATION</a:t>
            </a:r>
          </a:p>
        </p:txBody>
      </p:sp>
      <p:sp>
        <p:nvSpPr>
          <p:cNvPr id="9" name="TextBox 8"/>
          <p:cNvSpPr txBox="1"/>
          <p:nvPr/>
        </p:nvSpPr>
        <p:spPr>
          <a:xfrm>
            <a:off x="6949440" y="4882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The breakdowns and the concepts sit together. Each concept is traced to the breakdown it answers, and states which side it takes on autonomy against trust.</a:t>
            </a:r>
          </a:p>
        </p:txBody>
      </p:sp>
      <p:sp>
        <p:nvSpPr>
          <p:cNvPr id="10" name="TextBox 9"/>
          <p:cNvSpPr txBox="1"/>
          <p:nvPr/>
        </p:nvSpPr>
        <p:spPr>
          <a:xfrm>
            <a:off x="6949440" y="6858000"/>
            <a:ext cx="4754880" cy="274320"/>
          </a:xfrm>
          <a:prstGeom prst="rect">
            <a:avLst/>
          </a:prstGeom>
          <a:noFill/>
        </p:spPr>
        <p:txBody>
          <a:bodyPr wrap="square" lIns="0" rIns="0" tIns="0" bIns="0">
            <a:spAutoFit/>
          </a:bodyPr>
          <a:lstStyle/>
          <a:p>
            <a:pPr algn="l"/>
            <a:r>
              <a:rPr sz="1100">
                <a:solidFill>
                  <a:srgbClr val="858A97"/>
                </a:solidFill>
                <a:latin typeface="Helvetica Neue Medium"/>
              </a:rPr>
              <a:t>WHAT IT SHOWS ABOUT MY LEADERSHIP</a:t>
            </a:r>
          </a:p>
        </p:txBody>
      </p:sp>
      <p:sp>
        <p:nvSpPr>
          <p:cNvPr id="11" name="TextBox 10"/>
          <p:cNvSpPr txBox="1"/>
          <p:nvPr/>
        </p:nvSpPr>
        <p:spPr>
          <a:xfrm>
            <a:off x="6949440" y="7168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Every design answers a stated problem, so a reviewer can check the reasoning, not only the screen.</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9281160"/>
            <a:ext cx="13004800" cy="466344"/>
          </a:xfrm>
          <a:prstGeom prst="rect">
            <a:avLst/>
          </a:prstGeom>
        </p:spPr>
      </p:pic>
      <p:sp>
        <p:nvSpPr>
          <p:cNvPr id="3" name="TextBox 2"/>
          <p:cNvSpPr txBox="1"/>
          <p:nvPr/>
        </p:nvSpPr>
        <p:spPr>
          <a:xfrm>
            <a:off x="822960" y="566928"/>
            <a:ext cx="11356848" cy="274320"/>
          </a:xfrm>
          <a:prstGeom prst="rect">
            <a:avLst/>
          </a:prstGeom>
          <a:noFill/>
        </p:spPr>
        <p:txBody>
          <a:bodyPr wrap="square" lIns="0" rIns="0" tIns="0" bIns="0">
            <a:spAutoFit/>
          </a:bodyPr>
          <a:lstStyle/>
          <a:p>
            <a:pPr algn="l"/>
            <a:r>
              <a:rPr sz="1200">
                <a:solidFill>
                  <a:srgbClr val="B5531F"/>
                </a:solidFill>
                <a:latin typeface="Helvetica Neue Medium"/>
              </a:rPr>
              <a:t>MERIDIAN NAVIGATOR · USER FLOW</a:t>
            </a:r>
          </a:p>
        </p:txBody>
      </p:sp>
      <p:sp>
        <p:nvSpPr>
          <p:cNvPr id="4" name="TextBox 3"/>
          <p:cNvSpPr txBox="1"/>
          <p:nvPr/>
        </p:nvSpPr>
        <p:spPr>
          <a:xfrm>
            <a:off x="822960" y="896112"/>
            <a:ext cx="11356848" cy="548640"/>
          </a:xfrm>
          <a:prstGeom prst="rect">
            <a:avLst/>
          </a:prstGeom>
          <a:noFill/>
        </p:spPr>
        <p:txBody>
          <a:bodyPr wrap="square" lIns="0" rIns="0" tIns="0" bIns="0">
            <a:spAutoFit/>
          </a:bodyPr>
          <a:lstStyle/>
          <a:p>
            <a:pPr algn="l"/>
            <a:r>
              <a:rPr sz="3000">
                <a:solidFill>
                  <a:srgbClr val="14161D"/>
                </a:solidFill>
                <a:latin typeface="Helvetica Neue Medium"/>
              </a:rPr>
              <a:t>The AI flow, as the board now writes it</a:t>
            </a:r>
          </a:p>
        </p:txBody>
      </p:sp>
      <p:pic>
        <p:nvPicPr>
          <p:cNvPr id="5" name="Picture 4" descr="figjam_workflows.png"/>
          <p:cNvPicPr>
            <a:picLocks noChangeAspect="1"/>
          </p:cNvPicPr>
          <p:nvPr/>
        </p:nvPicPr>
        <p:blipFill>
          <a:blip r:embed="rId3"/>
          <a:stretch>
            <a:fillRect/>
          </a:stretch>
        </p:blipFill>
        <p:spPr>
          <a:xfrm>
            <a:off x="822960" y="2103120"/>
            <a:ext cx="5427194" cy="6035040"/>
          </a:xfrm>
          <a:prstGeom prst="rect">
            <a:avLst/>
          </a:prstGeom>
        </p:spPr>
      </p:pic>
      <p:sp>
        <p:nvSpPr>
          <p:cNvPr id="6" name="TextBox 5"/>
          <p:cNvSpPr txBox="1"/>
          <p:nvPr/>
        </p:nvSpPr>
        <p:spPr>
          <a:xfrm>
            <a:off x="6949440" y="210312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PROBLEM IT ANSWERS</a:t>
            </a:r>
          </a:p>
        </p:txBody>
      </p:sp>
      <p:sp>
        <p:nvSpPr>
          <p:cNvPr id="7" name="TextBox 6"/>
          <p:cNvSpPr txBox="1"/>
          <p:nvPr/>
        </p:nvSpPr>
        <p:spPr>
          <a:xfrm>
            <a:off x="6949440" y="2414015"/>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The AI flow is one dashboard leading to four steps: Insight, Prospect, Guard, and Adapt. Each step is a choice the user makes.</a:t>
            </a:r>
          </a:p>
        </p:txBody>
      </p:sp>
      <p:sp>
        <p:nvSpPr>
          <p:cNvPr id="8" name="TextBox 7"/>
          <p:cNvSpPr txBox="1"/>
          <p:nvPr/>
        </p:nvSpPr>
        <p:spPr>
          <a:xfrm>
            <a:off x="6949440" y="4572000"/>
            <a:ext cx="4754880" cy="274320"/>
          </a:xfrm>
          <a:prstGeom prst="rect">
            <a:avLst/>
          </a:prstGeom>
          <a:noFill/>
        </p:spPr>
        <p:txBody>
          <a:bodyPr wrap="square" lIns="0" rIns="0" tIns="0" bIns="0">
            <a:spAutoFit/>
          </a:bodyPr>
          <a:lstStyle/>
          <a:p>
            <a:pPr algn="l"/>
            <a:r>
              <a:rPr sz="1100">
                <a:solidFill>
                  <a:srgbClr val="858A97"/>
                </a:solidFill>
                <a:latin typeface="Helvetica Neue Medium"/>
              </a:rPr>
              <a:t>THE SOLUTION AND THE INNOVATION</a:t>
            </a:r>
          </a:p>
        </p:txBody>
      </p:sp>
      <p:sp>
        <p:nvSpPr>
          <p:cNvPr id="9" name="TextBox 8"/>
          <p:cNvSpPr txBox="1"/>
          <p:nvPr/>
        </p:nvSpPr>
        <p:spPr>
          <a:xfrm>
            <a:off x="6949440" y="4882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Adapt is where the advice rule is most at risk. Its wording must read as proposed steps, not buy or sell advice.</a:t>
            </a:r>
          </a:p>
        </p:txBody>
      </p:sp>
      <p:sp>
        <p:nvSpPr>
          <p:cNvPr id="10" name="TextBox 9"/>
          <p:cNvSpPr txBox="1"/>
          <p:nvPr/>
        </p:nvSpPr>
        <p:spPr>
          <a:xfrm>
            <a:off x="6949440" y="6858000"/>
            <a:ext cx="4754880" cy="274320"/>
          </a:xfrm>
          <a:prstGeom prst="rect">
            <a:avLst/>
          </a:prstGeom>
          <a:noFill/>
        </p:spPr>
        <p:txBody>
          <a:bodyPr wrap="square" lIns="0" rIns="0" tIns="0" bIns="0">
            <a:spAutoFit/>
          </a:bodyPr>
          <a:lstStyle/>
          <a:p>
            <a:pPr algn="l"/>
            <a:r>
              <a:rPr sz="1100">
                <a:solidFill>
                  <a:srgbClr val="858A97"/>
                </a:solidFill>
                <a:latin typeface="Helvetica Neue Medium"/>
              </a:rPr>
              <a:t>WHAT IT SHOWS ABOUT MY LEADERSHIP</a:t>
            </a:r>
          </a:p>
        </p:txBody>
      </p:sp>
      <p:sp>
        <p:nvSpPr>
          <p:cNvPr id="11" name="TextBox 10"/>
          <p:cNvSpPr txBox="1"/>
          <p:nvPr/>
        </p:nvSpPr>
        <p:spPr>
          <a:xfrm>
            <a:off x="6949440" y="7168896"/>
            <a:ext cx="4754880" cy="2377440"/>
          </a:xfrm>
          <a:prstGeom prst="rect">
            <a:avLst/>
          </a:prstGeom>
          <a:noFill/>
        </p:spPr>
        <p:txBody>
          <a:bodyPr wrap="square" lIns="0" rIns="0" tIns="0" bIns="0">
            <a:spAutoFit/>
          </a:bodyPr>
          <a:lstStyle/>
          <a:p>
            <a:pPr algn="l">
              <a:spcAft>
                <a:spcPts val="600"/>
              </a:spcAft>
            </a:pPr>
            <a:r>
              <a:rPr sz="1400">
                <a:solidFill>
                  <a:srgbClr val="14161D"/>
                </a:solidFill>
                <a:latin typeface="Helvetica Neue Light"/>
              </a:rPr>
              <a:t>I found agent wording that broke the advice rule and changed it on the board, so the flow and the rule agree.</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3004800" cy="442163"/>
          </a:xfrm>
          <a:prstGeom prst="rect">
            <a:avLst/>
          </a:prstGeom>
        </p:spPr>
      </p:pic>
      <p:sp>
        <p:nvSpPr>
          <p:cNvPr id="3" name="Text 0"/>
          <p:cNvSpPr txBox="1"/>
          <p:nvPr/>
        </p:nvSpPr>
        <p:spPr>
          <a:xfrm>
            <a:off x="455169" y="650240"/>
            <a:ext cx="10577475" cy="715264"/>
          </a:xfrm>
          <a:prstGeom prst="rect">
            <a:avLst/>
          </a:prstGeom>
          <a:noFill/>
          <a:ln/>
        </p:spPr>
        <p:txBody>
          <a:bodyPr wrap="square" lIns="0" tIns="0" rIns="0" bIns="0" rtlCol="0" anchor="t"/>
          <a:lstStyle/>
          <a:p>
            <a:r>
              <a:rPr lang="en-US" sz="1564" dirty="0">
                <a:solidFill>
                  <a:srgbClr val="1F1F1F"/>
                </a:solidFill>
                <a:ea typeface="Helvetica Neue" pitchFamily="34" charset="-122"/>
                <a:cs typeface="Helvetica Neue" pitchFamily="34" charset="-120"/>
              </a:rPr>
              <a:t>End-to-end design process, including Design Thinking and AI-supported methods, for an AI layer on the FinViz stock screener that guides a swing trader through the trading day</a:t>
            </a:r>
            <a:endParaRPr lang="en-US" sz="1564" dirty="0"/>
          </a:p>
        </p:txBody>
      </p:sp>
      <p:sp>
        <p:nvSpPr>
          <p:cNvPr id="4" name="Text 1"/>
          <p:cNvSpPr txBox="1"/>
          <p:nvPr/>
        </p:nvSpPr>
        <p:spPr>
          <a:xfrm>
            <a:off x="455169" y="2122783"/>
            <a:ext cx="4932535" cy="1507126"/>
          </a:xfrm>
          <a:prstGeom prst="rect">
            <a:avLst/>
          </a:prstGeom>
          <a:noFill/>
          <a:ln/>
        </p:spPr>
        <p:txBody>
          <a:bodyPr wrap="square" lIns="0" tIns="0" rIns="0" bIns="0" rtlCol="0" anchor="t"/>
          <a:lstStyle/>
          <a:p>
            <a:r>
              <a:rPr lang="en-US" sz="8533" dirty="0">
                <a:solidFill>
                  <a:srgbClr val="1F1F1F"/>
                </a:solidFill>
                <a:latin typeface="Helvetica Neue Light" panose="02000403000000020004" pitchFamily="2" charset="0"/>
                <a:ea typeface="Helvetica Neue Light" panose="02000403000000020004" pitchFamily="2" charset="0"/>
                <a:cs typeface="Helvetica Neue" panose="02000503000000020004" pitchFamily="2" charset="0"/>
              </a:rPr>
              <a:t>FinViz</a:t>
            </a:r>
            <a:endParaRPr lang="en-US" sz="8533" dirty="0">
              <a:latin typeface="Helvetica Neue Light" panose="02000403000000020004" pitchFamily="2" charset="0"/>
              <a:ea typeface="Helvetica Neue Light" panose="02000403000000020004" pitchFamily="2" charset="0"/>
              <a:cs typeface="Helvetica Neue" panose="02000503000000020004" pitchFamily="2" charset="0"/>
            </a:endParaRPr>
          </a:p>
        </p:txBody>
      </p:sp>
      <p:sp>
        <p:nvSpPr>
          <p:cNvPr id="6" name="Text 3"/>
          <p:cNvSpPr txBox="1"/>
          <p:nvPr/>
        </p:nvSpPr>
        <p:spPr>
          <a:xfrm>
            <a:off x="455169" y="3863210"/>
            <a:ext cx="4375186" cy="2027180"/>
          </a:xfrm>
          <a:prstGeom prst="rect">
            <a:avLst/>
          </a:prstGeom>
          <a:noFill/>
          <a:ln/>
        </p:spPr>
        <p:txBody>
          <a:bodyPr wrap="square" lIns="0" tIns="0" rIns="0" bIns="0" rtlCol="0" anchor="t"/>
          <a:lstStyle/>
          <a:p>
            <a:pPr>
              <a:lnSpc>
                <a:spcPct val="130000"/>
              </a:lnSpc>
            </a:pPr>
            <a:r>
              <a:rPr lang="en-US" sz="1991" dirty="0">
                <a:solidFill>
                  <a:srgbClr val="1F1F1F"/>
                </a:solidFill>
                <a:latin typeface="Helvetica Neue Light" pitchFamily="34" charset="0"/>
                <a:ea typeface="Helvetica Neue Light" pitchFamily="34" charset="-122"/>
                <a:cs typeface="Helvetica Neue Light" pitchFamily="34" charset="-120"/>
              </a:rPr>
              <a:t>Helping FinViz cut the time from sign-up to Elite from 42 to 21 days by getting new traders to a screen they trust, then watching it for them</a:t>
            </a:r>
            <a:endParaRPr lang="en-US" sz="1991" dirty="0"/>
          </a:p>
        </p:txBody>
      </p:sp>
      <p:sp>
        <p:nvSpPr>
          <p:cNvPr id="7" name="Text 4"/>
          <p:cNvSpPr txBox="1"/>
          <p:nvPr/>
        </p:nvSpPr>
        <p:spPr>
          <a:xfrm>
            <a:off x="1155427" y="7802880"/>
            <a:ext cx="4795341" cy="1300480"/>
          </a:xfrm>
          <a:prstGeom prst="rect">
            <a:avLst/>
          </a:prstGeom>
          <a:noFill/>
          <a:ln/>
        </p:spPr>
        <p:txBody>
          <a:bodyPr wrap="square" lIns="0" tIns="0" rIns="0" bIns="0" rtlCol="0" anchor="t"/>
          <a:lstStyle/>
          <a:p>
            <a:pPr algn="ctr"/>
            <a:r>
              <a:rPr lang="en-US" sz="2276" dirty="0">
                <a:solidFill>
                  <a:srgbClr val="6E6E6E"/>
                </a:solidFill>
                <a:latin typeface="Helvetica Neue Light" pitchFamily="34" charset="0"/>
                <a:ea typeface="Helvetica Neue Light" pitchFamily="34" charset="-122"/>
                <a:cs typeface="Helvetica Neue Light" pitchFamily="34" charset="-120"/>
              </a:rPr>
              <a:t>“Alerts are everything. Once you close FinViz, you get nothing.”</a:t>
            </a:r>
            <a:endParaRPr lang="en-US" sz="2276" dirty="0"/>
          </a:p>
        </p:txBody>
      </p:sp>
      <p:pic>
        <p:nvPicPr>
          <p:cNvPr id="8" name="Picture 7" descr="image.png"/>
          <p:cNvPicPr>
            <a:picLocks noChangeAspect="1"/>
          </p:cNvPicPr>
          <p:nvPr/>
        </p:nvPicPr>
        <p:blipFill>
          <a:blip r:embed="rId3"/>
          <a:stretch>
            <a:fillRect/>
          </a:stretch>
        </p:blipFill>
        <p:spPr>
          <a:xfrm>
            <a:off x="7201957" y="2122784"/>
            <a:ext cx="5652787" cy="5193499"/>
          </a:xfrm>
          <a:prstGeom prst="rect">
            <a:avLst/>
          </a:prstGeom>
        </p:spPr>
      </p:pic>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01 · Overview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How this case study is organized</a:t>
            </a:r>
          </a:p>
        </p:txBody>
      </p:sp>
      <p:sp>
        <p:nvSpPr>
          <p:cNvPr id="5" name="TextBox 4"/>
          <p:cNvSpPr txBox="1"/>
          <p:nvPr/>
        </p:nvSpPr>
        <p:spPr>
          <a:xfrm>
            <a:off x="455168" y="1560577"/>
            <a:ext cx="12094464" cy="251736"/>
          </a:xfrm>
          <a:prstGeom prst="rect">
            <a:avLst/>
          </a:prstGeom>
          <a:noFill/>
        </p:spPr>
        <p:txBody>
          <a:bodyPr wrap="square" lIns="0" tIns="0" rIns="0" bIns="0">
            <a:spAutoFit/>
          </a:bodyPr>
          <a:lstStyle/>
          <a:p>
            <a:r>
              <a:rPr sz="1636">
                <a:solidFill>
                  <a:srgbClr val="595959"/>
                </a:solidFill>
                <a:latin typeface="Helvetica Neue Light"/>
              </a:rPr>
              <a:t>The final experience first, then the reasoning, data and method behind it. Process artifacts are in the appendix.</a:t>
            </a:r>
          </a:p>
        </p:txBody>
      </p:sp>
      <p:sp>
        <p:nvSpPr>
          <p:cNvPr id="6" name="Rectangle 5"/>
          <p:cNvSpPr/>
          <p:nvPr/>
        </p:nvSpPr>
        <p:spPr>
          <a:xfrm>
            <a:off x="455168" y="2535936"/>
            <a:ext cx="2314854" cy="2796032"/>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TextBox 6"/>
          <p:cNvSpPr txBox="1"/>
          <p:nvPr/>
        </p:nvSpPr>
        <p:spPr>
          <a:xfrm>
            <a:off x="611226" y="2691993"/>
            <a:ext cx="2015744" cy="1193853"/>
          </a:xfrm>
          <a:prstGeom prst="rect">
            <a:avLst/>
          </a:prstGeom>
          <a:noFill/>
        </p:spPr>
        <p:txBody>
          <a:bodyPr wrap="square" lIns="0" tIns="0" rIns="0" bIns="0">
            <a:spAutoFit/>
          </a:bodyPr>
          <a:lstStyle/>
          <a:p>
            <a:pPr>
              <a:spcAft>
                <a:spcPts val="853"/>
              </a:spcAft>
            </a:pPr>
            <a:r>
              <a:rPr sz="3129">
                <a:solidFill>
                  <a:srgbClr val="FFFFFF"/>
                </a:solidFill>
                <a:latin typeface="Helvetica Neue"/>
              </a:rPr>
              <a:t>01</a:t>
            </a:r>
          </a:p>
          <a:p>
            <a:pPr>
              <a:spcAft>
                <a:spcPts val="853"/>
              </a:spcAft>
            </a:pPr>
            <a:r>
              <a:rPr sz="1778">
                <a:solidFill>
                  <a:srgbClr val="FFFFFF"/>
                </a:solidFill>
                <a:latin typeface="Helvetica Neue Light"/>
              </a:rPr>
              <a:t>Overview</a:t>
            </a:r>
          </a:p>
          <a:p>
            <a:r>
              <a:rPr sz="1351">
                <a:solidFill>
                  <a:srgbClr val="FFFFFF"/>
                </a:solidFill>
                <a:latin typeface="Helvetica Neue Light"/>
              </a:rPr>
              <a:t>Hero and contents</a:t>
            </a:r>
          </a:p>
        </p:txBody>
      </p:sp>
      <p:sp>
        <p:nvSpPr>
          <p:cNvPr id="8" name="Rectangle 7"/>
          <p:cNvSpPr/>
          <p:nvPr/>
        </p:nvSpPr>
        <p:spPr>
          <a:xfrm>
            <a:off x="2900071" y="2535936"/>
            <a:ext cx="2314854" cy="2796032"/>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9" name="TextBox 8"/>
          <p:cNvSpPr txBox="1"/>
          <p:nvPr/>
        </p:nvSpPr>
        <p:spPr>
          <a:xfrm>
            <a:off x="3056128" y="2691992"/>
            <a:ext cx="2015744" cy="1883208"/>
          </a:xfrm>
          <a:prstGeom prst="rect">
            <a:avLst/>
          </a:prstGeom>
          <a:noFill/>
        </p:spPr>
        <p:txBody>
          <a:bodyPr wrap="square" lIns="0" tIns="0" rIns="0" bIns="0">
            <a:spAutoFit/>
          </a:bodyPr>
          <a:lstStyle/>
          <a:p>
            <a:pPr>
              <a:spcAft>
                <a:spcPts val="853"/>
              </a:spcAft>
            </a:pPr>
            <a:r>
              <a:rPr sz="3129">
                <a:solidFill>
                  <a:srgbClr val="FFFFFF"/>
                </a:solidFill>
                <a:latin typeface="Helvetica Neue"/>
              </a:rPr>
              <a:t>02</a:t>
            </a:r>
          </a:p>
          <a:p>
            <a:pPr>
              <a:spcAft>
                <a:spcPts val="853"/>
              </a:spcAft>
            </a:pPr>
            <a:r>
              <a:rPr sz="1778">
                <a:solidFill>
                  <a:srgbClr val="FFFFFF"/>
                </a:solidFill>
                <a:latin typeface="Helvetica Neue Light"/>
              </a:rPr>
              <a:t>Context &amp; constraints</a:t>
            </a:r>
          </a:p>
          <a:p>
            <a:r>
              <a:rPr sz="1351">
                <a:solidFill>
                  <a:srgbClr val="FFFFFF"/>
                </a:solidFill>
                <a:latin typeface="Helvetica Neue Light"/>
              </a:rPr>
              <a:t>Business goal, stakeholders, success, limits</a:t>
            </a:r>
          </a:p>
        </p:txBody>
      </p:sp>
      <p:sp>
        <p:nvSpPr>
          <p:cNvPr id="10" name="Rectangle 9"/>
          <p:cNvSpPr/>
          <p:nvPr/>
        </p:nvSpPr>
        <p:spPr>
          <a:xfrm>
            <a:off x="5344972" y="2535936"/>
            <a:ext cx="2314854" cy="2796032"/>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5501029" y="2691992"/>
            <a:ext cx="2015744" cy="1675330"/>
          </a:xfrm>
          <a:prstGeom prst="rect">
            <a:avLst/>
          </a:prstGeom>
          <a:noFill/>
        </p:spPr>
        <p:txBody>
          <a:bodyPr wrap="square" lIns="0" tIns="0" rIns="0" bIns="0">
            <a:spAutoFit/>
          </a:bodyPr>
          <a:lstStyle/>
          <a:p>
            <a:pPr>
              <a:spcAft>
                <a:spcPts val="853"/>
              </a:spcAft>
            </a:pPr>
            <a:r>
              <a:rPr sz="3129">
                <a:solidFill>
                  <a:srgbClr val="FFFFFF"/>
                </a:solidFill>
                <a:latin typeface="Helvetica Neue"/>
              </a:rPr>
              <a:t>03</a:t>
            </a:r>
          </a:p>
          <a:p>
            <a:pPr>
              <a:spcAft>
                <a:spcPts val="853"/>
              </a:spcAft>
            </a:pPr>
            <a:r>
              <a:rPr sz="1778">
                <a:solidFill>
                  <a:srgbClr val="FFFFFF"/>
                </a:solidFill>
                <a:latin typeface="Helvetica Neue Light"/>
              </a:rPr>
              <a:t>Problem: user and AI</a:t>
            </a:r>
          </a:p>
          <a:p>
            <a:r>
              <a:rPr sz="1351">
                <a:solidFill>
                  <a:srgbClr val="FFFFFF"/>
                </a:solidFill>
                <a:latin typeface="Helvetica Neue Light"/>
              </a:rPr>
              <a:t>What users struggle with; what the AI must do</a:t>
            </a:r>
          </a:p>
        </p:txBody>
      </p:sp>
      <p:sp>
        <p:nvSpPr>
          <p:cNvPr id="12" name="Rectangle 11"/>
          <p:cNvSpPr/>
          <p:nvPr/>
        </p:nvSpPr>
        <p:spPr>
          <a:xfrm>
            <a:off x="7789874" y="2535936"/>
            <a:ext cx="2314854" cy="2796032"/>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3" name="TextBox 12"/>
          <p:cNvSpPr txBox="1"/>
          <p:nvPr/>
        </p:nvSpPr>
        <p:spPr>
          <a:xfrm>
            <a:off x="7945931" y="269199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04</a:t>
            </a:r>
          </a:p>
          <a:p>
            <a:pPr>
              <a:spcAft>
                <a:spcPts val="853"/>
              </a:spcAft>
            </a:pPr>
            <a:r>
              <a:rPr sz="1778">
                <a:solidFill>
                  <a:srgbClr val="FFFFFF"/>
                </a:solidFill>
                <a:latin typeface="Helvetica Neue Light"/>
              </a:rPr>
              <a:t>Data foundation</a:t>
            </a:r>
          </a:p>
          <a:p>
            <a:r>
              <a:rPr sz="1351">
                <a:solidFill>
                  <a:srgbClr val="FFFFFF"/>
                </a:solidFill>
                <a:latin typeface="Helvetica Neue Light"/>
              </a:rPr>
              <a:t>Sources, volume, quality, labels</a:t>
            </a:r>
          </a:p>
        </p:txBody>
      </p:sp>
      <p:sp>
        <p:nvSpPr>
          <p:cNvPr id="14" name="Rectangle 13"/>
          <p:cNvSpPr/>
          <p:nvPr/>
        </p:nvSpPr>
        <p:spPr>
          <a:xfrm>
            <a:off x="10234776" y="2535936"/>
            <a:ext cx="2314854" cy="2796032"/>
          </a:xfrm>
          <a:prstGeom prst="rect">
            <a:avLst/>
          </a:prstGeom>
          <a:solidFill>
            <a:srgbClr val="C45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5" name="TextBox 14"/>
          <p:cNvSpPr txBox="1"/>
          <p:nvPr/>
        </p:nvSpPr>
        <p:spPr>
          <a:xfrm>
            <a:off x="10390834" y="269199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05</a:t>
            </a:r>
          </a:p>
          <a:p>
            <a:pPr>
              <a:spcAft>
                <a:spcPts val="853"/>
              </a:spcAft>
            </a:pPr>
            <a:r>
              <a:rPr sz="1778">
                <a:solidFill>
                  <a:srgbClr val="FFFFFF"/>
                </a:solidFill>
                <a:latin typeface="Helvetica Neue Light"/>
              </a:rPr>
              <a:t>The solution, hi-fi</a:t>
            </a:r>
          </a:p>
          <a:p>
            <a:r>
              <a:rPr sz="1351">
                <a:solidFill>
                  <a:srgbClr val="FFFFFF"/>
                </a:solidFill>
                <a:latin typeface="Helvetica Neue Light"/>
              </a:rPr>
              <a:t>One trade through one trading day, 19 screens</a:t>
            </a:r>
          </a:p>
        </p:txBody>
      </p:sp>
      <p:sp>
        <p:nvSpPr>
          <p:cNvPr id="16" name="Rectangle 15"/>
          <p:cNvSpPr/>
          <p:nvPr/>
        </p:nvSpPr>
        <p:spPr>
          <a:xfrm>
            <a:off x="455168" y="5592064"/>
            <a:ext cx="2314854" cy="2796032"/>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7" name="TextBox 16"/>
          <p:cNvSpPr txBox="1"/>
          <p:nvPr/>
        </p:nvSpPr>
        <p:spPr>
          <a:xfrm>
            <a:off x="611226" y="5748122"/>
            <a:ext cx="2015744" cy="1675330"/>
          </a:xfrm>
          <a:prstGeom prst="rect">
            <a:avLst/>
          </a:prstGeom>
          <a:noFill/>
        </p:spPr>
        <p:txBody>
          <a:bodyPr wrap="square" lIns="0" tIns="0" rIns="0" bIns="0">
            <a:spAutoFit/>
          </a:bodyPr>
          <a:lstStyle/>
          <a:p>
            <a:pPr>
              <a:spcAft>
                <a:spcPts val="853"/>
              </a:spcAft>
            </a:pPr>
            <a:r>
              <a:rPr sz="3129">
                <a:solidFill>
                  <a:srgbClr val="FFFFFF"/>
                </a:solidFill>
                <a:latin typeface="Helvetica Neue"/>
              </a:rPr>
              <a:t>06</a:t>
            </a:r>
          </a:p>
          <a:p>
            <a:pPr>
              <a:spcAft>
                <a:spcPts val="853"/>
              </a:spcAft>
            </a:pPr>
            <a:r>
              <a:rPr sz="1778">
                <a:solidFill>
                  <a:srgbClr val="FFFFFF"/>
                </a:solidFill>
                <a:latin typeface="Helvetica Neue Light"/>
              </a:rPr>
              <a:t>Reasoning &amp; trade-offs</a:t>
            </a:r>
          </a:p>
          <a:p>
            <a:r>
              <a:rPr sz="1351">
                <a:solidFill>
                  <a:srgbClr val="FFFFFF"/>
                </a:solidFill>
                <a:latin typeface="Helvetica Neue Light"/>
              </a:rPr>
              <a:t>Chosen vs rejected, accuracy vs control</a:t>
            </a:r>
          </a:p>
        </p:txBody>
      </p:sp>
      <p:sp>
        <p:nvSpPr>
          <p:cNvPr id="18" name="Rectangle 17"/>
          <p:cNvSpPr/>
          <p:nvPr/>
        </p:nvSpPr>
        <p:spPr>
          <a:xfrm>
            <a:off x="2900071" y="5592064"/>
            <a:ext cx="2314854" cy="2796032"/>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9" name="TextBox 18"/>
          <p:cNvSpPr txBox="1"/>
          <p:nvPr/>
        </p:nvSpPr>
        <p:spPr>
          <a:xfrm>
            <a:off x="3056128" y="574812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07</a:t>
            </a:r>
          </a:p>
          <a:p>
            <a:pPr>
              <a:spcAft>
                <a:spcPts val="853"/>
              </a:spcAft>
            </a:pPr>
            <a:r>
              <a:rPr sz="1778">
                <a:solidFill>
                  <a:srgbClr val="FFFFFF"/>
                </a:solidFill>
                <a:latin typeface="Helvetica Neue Light"/>
              </a:rPr>
              <a:t>Methodology</a:t>
            </a:r>
          </a:p>
          <a:p>
            <a:r>
              <a:rPr sz="1351">
                <a:solidFill>
                  <a:srgbClr val="FFFFFF"/>
                </a:solidFill>
                <a:latin typeface="Helvetica Neue Light"/>
              </a:rPr>
              <a:t>AI methods, validation, UX research</a:t>
            </a:r>
          </a:p>
        </p:txBody>
      </p:sp>
      <p:sp>
        <p:nvSpPr>
          <p:cNvPr id="20" name="Rectangle 19"/>
          <p:cNvSpPr/>
          <p:nvPr/>
        </p:nvSpPr>
        <p:spPr>
          <a:xfrm>
            <a:off x="5344972" y="5592064"/>
            <a:ext cx="2314854" cy="2796032"/>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1" name="TextBox 20"/>
          <p:cNvSpPr txBox="1"/>
          <p:nvPr/>
        </p:nvSpPr>
        <p:spPr>
          <a:xfrm>
            <a:off x="5501029" y="574812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08</a:t>
            </a:r>
          </a:p>
          <a:p>
            <a:pPr>
              <a:spcAft>
                <a:spcPts val="853"/>
              </a:spcAft>
            </a:pPr>
            <a:r>
              <a:rPr sz="1778">
                <a:solidFill>
                  <a:srgbClr val="FFFFFF"/>
                </a:solidFill>
                <a:latin typeface="Helvetica Neue Light"/>
              </a:rPr>
              <a:t>Implementation</a:t>
            </a:r>
          </a:p>
          <a:p>
            <a:r>
              <a:rPr sz="1351">
                <a:solidFill>
                  <a:srgbClr val="FFFFFF"/>
                </a:solidFill>
                <a:latin typeface="Helvetica Neue Light"/>
              </a:rPr>
              <a:t>Built on FinViz; new services; collaboration</a:t>
            </a:r>
          </a:p>
        </p:txBody>
      </p:sp>
      <p:sp>
        <p:nvSpPr>
          <p:cNvPr id="22" name="Rectangle 21"/>
          <p:cNvSpPr/>
          <p:nvPr/>
        </p:nvSpPr>
        <p:spPr>
          <a:xfrm>
            <a:off x="7789874" y="5592064"/>
            <a:ext cx="2314854" cy="2796032"/>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3" name="TextBox 22"/>
          <p:cNvSpPr txBox="1"/>
          <p:nvPr/>
        </p:nvSpPr>
        <p:spPr>
          <a:xfrm>
            <a:off x="7945931" y="574812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09</a:t>
            </a:r>
          </a:p>
          <a:p>
            <a:pPr>
              <a:spcAft>
                <a:spcPts val="853"/>
              </a:spcAft>
            </a:pPr>
            <a:r>
              <a:rPr sz="1778">
                <a:solidFill>
                  <a:srgbClr val="FFFFFF"/>
                </a:solidFill>
                <a:latin typeface="Helvetica Neue Light"/>
              </a:rPr>
              <a:t>Results &amp; impact</a:t>
            </a:r>
          </a:p>
          <a:p>
            <a:r>
              <a:rPr sz="1351">
                <a:solidFill>
                  <a:srgbClr val="FFFFFF"/>
                </a:solidFill>
                <a:latin typeface="Helvetica Neue Light"/>
              </a:rPr>
              <a:t>Targets and how they’ll be measured</a:t>
            </a:r>
          </a:p>
        </p:txBody>
      </p:sp>
      <p:sp>
        <p:nvSpPr>
          <p:cNvPr id="24" name="Rectangle 23"/>
          <p:cNvSpPr/>
          <p:nvPr/>
        </p:nvSpPr>
        <p:spPr>
          <a:xfrm>
            <a:off x="10234776" y="5592064"/>
            <a:ext cx="2314854" cy="2796032"/>
          </a:xfrm>
          <a:prstGeom prst="rect">
            <a:avLst/>
          </a:prstGeom>
          <a:solidFill>
            <a:srgbClr val="C45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5" name="TextBox 24"/>
          <p:cNvSpPr txBox="1"/>
          <p:nvPr/>
        </p:nvSpPr>
        <p:spPr>
          <a:xfrm>
            <a:off x="10390834" y="5748122"/>
            <a:ext cx="2015744" cy="1675330"/>
          </a:xfrm>
          <a:prstGeom prst="rect">
            <a:avLst/>
          </a:prstGeom>
          <a:noFill/>
        </p:spPr>
        <p:txBody>
          <a:bodyPr wrap="square" lIns="0" tIns="0" rIns="0" bIns="0">
            <a:spAutoFit/>
          </a:bodyPr>
          <a:lstStyle/>
          <a:p>
            <a:pPr>
              <a:spcAft>
                <a:spcPts val="853"/>
              </a:spcAft>
            </a:pPr>
            <a:r>
              <a:rPr sz="3129">
                <a:solidFill>
                  <a:srgbClr val="FFFFFF"/>
                </a:solidFill>
                <a:latin typeface="Helvetica Neue"/>
              </a:rPr>
              <a:t>10</a:t>
            </a:r>
          </a:p>
          <a:p>
            <a:pPr>
              <a:spcAft>
                <a:spcPts val="853"/>
              </a:spcAft>
            </a:pPr>
            <a:r>
              <a:rPr sz="1778">
                <a:solidFill>
                  <a:srgbClr val="FFFFFF"/>
                </a:solidFill>
                <a:latin typeface="Helvetica Neue Light"/>
              </a:rPr>
              <a:t>Learnings &amp; Next Steps</a:t>
            </a:r>
          </a:p>
          <a:p>
            <a:r>
              <a:rPr sz="1351">
                <a:solidFill>
                  <a:srgbClr val="FFFFFF"/>
                </a:solidFill>
                <a:latin typeface="Helvetica Neue Light"/>
              </a:rPr>
              <a:t>What I learned; what to validate before launch</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dirty="0">
                <a:solidFill>
                  <a:srgbClr val="1F1F1F"/>
                </a:solidFill>
              </a:rPr>
              <a:t>02 · Context &amp; constraints   </a:t>
            </a:r>
            <a:r>
              <a:rPr sz="1422" dirty="0" err="1">
                <a:solidFill>
                  <a:srgbClr val="1F1F1F"/>
                </a:solidFill>
              </a:rPr>
              <a:t>FinViz</a:t>
            </a:r>
            <a:r>
              <a:rPr sz="1422" dirty="0">
                <a:solidFill>
                  <a:srgbClr val="1F1F1F"/>
                </a:solidFill>
              </a:rPr>
              <a:t>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The brief, and how </a:t>
            </a:r>
            <a:r>
              <a:rPr lang="en-US" sz="3200" dirty="0">
                <a:solidFill>
                  <a:srgbClr val="1F1F1F"/>
                </a:solidFill>
                <a:latin typeface="Helvetica Neue Light"/>
              </a:rPr>
              <a:t>we </a:t>
            </a:r>
            <a:r>
              <a:rPr sz="3200" dirty="0">
                <a:solidFill>
                  <a:srgbClr val="1F1F1F"/>
                </a:solidFill>
                <a:latin typeface="Helvetica Neue Light"/>
              </a:rPr>
              <a:t>answer it</a:t>
            </a:r>
          </a:p>
        </p:txBody>
      </p:sp>
      <p:sp>
        <p:nvSpPr>
          <p:cNvPr id="6" name="Rectangle 5"/>
          <p:cNvSpPr/>
          <p:nvPr/>
        </p:nvSpPr>
        <p:spPr>
          <a:xfrm>
            <a:off x="455168" y="1913924"/>
            <a:ext cx="2926080" cy="3186176"/>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TextBox 6"/>
          <p:cNvSpPr txBox="1"/>
          <p:nvPr/>
        </p:nvSpPr>
        <p:spPr>
          <a:xfrm>
            <a:off x="611226" y="2043971"/>
            <a:ext cx="2600960" cy="1399870"/>
          </a:xfrm>
          <a:prstGeom prst="rect">
            <a:avLst/>
          </a:prstGeom>
          <a:noFill/>
        </p:spPr>
        <p:txBody>
          <a:bodyPr wrap="square" lIns="0" tIns="0" rIns="0" bIns="0">
            <a:spAutoFit/>
          </a:bodyPr>
          <a:lstStyle/>
          <a:p>
            <a:pPr>
              <a:spcAft>
                <a:spcPts val="569"/>
              </a:spcAft>
            </a:pPr>
            <a:r>
              <a:rPr sz="1280">
                <a:solidFill>
                  <a:srgbClr val="FFFFFF"/>
                </a:solidFill>
                <a:latin typeface="Helvetica Neue"/>
              </a:rPr>
              <a:t>WEEK 1</a:t>
            </a:r>
          </a:p>
          <a:p>
            <a:pPr>
              <a:spcAft>
                <a:spcPts val="1138"/>
              </a:spcAft>
            </a:pPr>
            <a:r>
              <a:rPr sz="1707">
                <a:solidFill>
                  <a:srgbClr val="FFFFFF"/>
                </a:solidFill>
                <a:latin typeface="Helvetica Neue Light"/>
              </a:rPr>
              <a:t>Domain, needs, pains, AI Solution Canvas</a:t>
            </a:r>
          </a:p>
          <a:p>
            <a:r>
              <a:rPr sz="1493">
                <a:solidFill>
                  <a:srgbClr val="FFFFFF"/>
                </a:solidFill>
                <a:latin typeface="Helvetica Neue Light"/>
              </a:rPr>
              <a:t>→ Context file, personas, 27 pains scored, KPI tree, canvas</a:t>
            </a:r>
          </a:p>
        </p:txBody>
      </p:sp>
      <p:sp>
        <p:nvSpPr>
          <p:cNvPr id="8" name="Rectangle 7"/>
          <p:cNvSpPr/>
          <p:nvPr/>
        </p:nvSpPr>
        <p:spPr>
          <a:xfrm>
            <a:off x="3511296" y="1913924"/>
            <a:ext cx="2926080" cy="3186176"/>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9" name="TextBox 8"/>
          <p:cNvSpPr txBox="1"/>
          <p:nvPr/>
        </p:nvSpPr>
        <p:spPr>
          <a:xfrm>
            <a:off x="3667354" y="2043971"/>
            <a:ext cx="2600960" cy="1629613"/>
          </a:xfrm>
          <a:prstGeom prst="rect">
            <a:avLst/>
          </a:prstGeom>
          <a:noFill/>
        </p:spPr>
        <p:txBody>
          <a:bodyPr wrap="square" lIns="0" tIns="0" rIns="0" bIns="0">
            <a:spAutoFit/>
          </a:bodyPr>
          <a:lstStyle/>
          <a:p>
            <a:pPr>
              <a:spcAft>
                <a:spcPts val="569"/>
              </a:spcAft>
            </a:pPr>
            <a:r>
              <a:rPr sz="1280">
                <a:solidFill>
                  <a:srgbClr val="FFFFFF"/>
                </a:solidFill>
                <a:latin typeface="Helvetica Neue"/>
              </a:rPr>
              <a:t>WEEK 2</a:t>
            </a:r>
          </a:p>
          <a:p>
            <a:pPr>
              <a:spcAft>
                <a:spcPts val="1138"/>
              </a:spcAft>
            </a:pPr>
            <a:r>
              <a:rPr sz="1707">
                <a:solidFill>
                  <a:srgbClr val="FFFFFF"/>
                </a:solidFill>
                <a:latin typeface="Helvetica Neue Light"/>
              </a:rPr>
              <a:t>Onboarding or filters: first success faster</a:t>
            </a:r>
          </a:p>
          <a:p>
            <a:r>
              <a:rPr sz="1493">
                <a:solidFill>
                  <a:srgbClr val="FFFFFF"/>
                </a:solidFill>
                <a:latin typeface="Helvetica Neue Light"/>
              </a:rPr>
              <a:t>→ First Steps + Filtering → The Trading Day · On Watch (OW1–OW7) → hi-fi flow</a:t>
            </a:r>
          </a:p>
        </p:txBody>
      </p:sp>
      <p:sp>
        <p:nvSpPr>
          <p:cNvPr id="10" name="Rectangle 9"/>
          <p:cNvSpPr/>
          <p:nvPr/>
        </p:nvSpPr>
        <p:spPr>
          <a:xfrm>
            <a:off x="6567424" y="1913924"/>
            <a:ext cx="2926080" cy="3186176"/>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723482" y="2043971"/>
            <a:ext cx="2600960" cy="1399870"/>
          </a:xfrm>
          <a:prstGeom prst="rect">
            <a:avLst/>
          </a:prstGeom>
          <a:noFill/>
        </p:spPr>
        <p:txBody>
          <a:bodyPr wrap="square" lIns="0" tIns="0" rIns="0" bIns="0">
            <a:spAutoFit/>
          </a:bodyPr>
          <a:lstStyle/>
          <a:p>
            <a:pPr>
              <a:spcAft>
                <a:spcPts val="569"/>
              </a:spcAft>
            </a:pPr>
            <a:r>
              <a:rPr sz="1280">
                <a:solidFill>
                  <a:srgbClr val="FFFFFF"/>
                </a:solidFill>
                <a:latin typeface="Helvetica Neue"/>
              </a:rPr>
              <a:t>WEEK 3</a:t>
            </a:r>
          </a:p>
          <a:p>
            <a:pPr>
              <a:spcAft>
                <a:spcPts val="1138"/>
              </a:spcAft>
            </a:pPr>
            <a:r>
              <a:rPr sz="1707">
                <a:solidFill>
                  <a:srgbClr val="FFFFFF"/>
                </a:solidFill>
                <a:latin typeface="Helvetica Neue Light"/>
              </a:rPr>
              <a:t>Alerts &amp; notifications: input, output, refinement</a:t>
            </a:r>
          </a:p>
          <a:p>
            <a:r>
              <a:rPr sz="1493">
                <a:solidFill>
                  <a:srgbClr val="FFFFFF"/>
                </a:solidFill>
                <a:latin typeface="Helvetica Neue Light"/>
              </a:rPr>
              <a:t>→ Canvas v2, three journeys, 18 ideas, AN7–AN8</a:t>
            </a:r>
          </a:p>
        </p:txBody>
      </p:sp>
      <p:sp>
        <p:nvSpPr>
          <p:cNvPr id="12" name="Rectangle 11"/>
          <p:cNvSpPr/>
          <p:nvPr/>
        </p:nvSpPr>
        <p:spPr>
          <a:xfrm>
            <a:off x="9623552" y="1913924"/>
            <a:ext cx="2926080" cy="3186176"/>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3" name="TextBox 12"/>
          <p:cNvSpPr txBox="1"/>
          <p:nvPr/>
        </p:nvSpPr>
        <p:spPr>
          <a:xfrm>
            <a:off x="9779610" y="2043972"/>
            <a:ext cx="2600960" cy="1859355"/>
          </a:xfrm>
          <a:prstGeom prst="rect">
            <a:avLst/>
          </a:prstGeom>
          <a:noFill/>
        </p:spPr>
        <p:txBody>
          <a:bodyPr wrap="square" lIns="0" tIns="0" rIns="0" bIns="0">
            <a:spAutoFit/>
          </a:bodyPr>
          <a:lstStyle/>
          <a:p>
            <a:pPr>
              <a:spcAft>
                <a:spcPts val="569"/>
              </a:spcAft>
            </a:pPr>
            <a:r>
              <a:rPr sz="1280">
                <a:solidFill>
                  <a:srgbClr val="FFFFFF"/>
                </a:solidFill>
                <a:latin typeface="Helvetica Neue"/>
              </a:rPr>
              <a:t>WEEK 4</a:t>
            </a:r>
          </a:p>
          <a:p>
            <a:pPr>
              <a:spcAft>
                <a:spcPts val="1138"/>
              </a:spcAft>
            </a:pPr>
            <a:r>
              <a:rPr sz="1707">
                <a:solidFill>
                  <a:srgbClr val="FFFFFF"/>
                </a:solidFill>
                <a:latin typeface="Helvetica Neue Light"/>
              </a:rPr>
              <a:t>Charts UX: insights, accuracy, just in time</a:t>
            </a:r>
          </a:p>
          <a:p>
            <a:r>
              <a:rPr sz="1493">
                <a:solidFill>
                  <a:srgbClr val="FFFFFF"/>
                </a:solidFill>
                <a:latin typeface="Helvetica Neue Light"/>
              </a:rPr>
              <a:t>→ Chart Lens: lenses over a list, reliability layer (CL1–CL4) · Insight Board dashboard (DB1–DB5)</a:t>
            </a:r>
          </a:p>
        </p:txBody>
      </p:sp>
      <p:sp>
        <p:nvSpPr>
          <p:cNvPr id="14" name="TextBox 13"/>
          <p:cNvSpPr txBox="1"/>
          <p:nvPr/>
        </p:nvSpPr>
        <p:spPr>
          <a:xfrm>
            <a:off x="455168" y="5664700"/>
            <a:ext cx="7802880" cy="196977"/>
          </a:xfrm>
          <a:prstGeom prst="rect">
            <a:avLst/>
          </a:prstGeom>
          <a:noFill/>
        </p:spPr>
        <p:txBody>
          <a:bodyPr wrap="square" lIns="0" tIns="0" rIns="0" bIns="0">
            <a:spAutoFit/>
          </a:bodyPr>
          <a:lstStyle/>
          <a:p>
            <a:r>
              <a:rPr sz="1280" dirty="0">
                <a:solidFill>
                  <a:srgbClr val="C45A35"/>
                </a:solidFill>
                <a:latin typeface="Helvetica Neue"/>
              </a:rPr>
              <a:t>WHERE WE DELIBERATELY DEPART FROM THE BRIEF</a:t>
            </a:r>
          </a:p>
        </p:txBody>
      </p:sp>
      <p:sp>
        <p:nvSpPr>
          <p:cNvPr id="15" name="Rectangle 14"/>
          <p:cNvSpPr/>
          <p:nvPr/>
        </p:nvSpPr>
        <p:spPr>
          <a:xfrm>
            <a:off x="455168" y="6015829"/>
            <a:ext cx="12094464" cy="832307"/>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TextBox 15"/>
          <p:cNvSpPr txBox="1"/>
          <p:nvPr/>
        </p:nvSpPr>
        <p:spPr>
          <a:xfrm>
            <a:off x="650240" y="6106863"/>
            <a:ext cx="3565602" cy="437684"/>
          </a:xfrm>
          <a:prstGeom prst="rect">
            <a:avLst/>
          </a:prstGeom>
          <a:noFill/>
        </p:spPr>
        <p:txBody>
          <a:bodyPr wrap="square" lIns="0" tIns="0" rIns="0" bIns="0">
            <a:spAutoFit/>
          </a:bodyPr>
          <a:lstStyle/>
          <a:p>
            <a:r>
              <a:rPr sz="1422" b="1" dirty="0">
                <a:solidFill>
                  <a:srgbClr val="6E6E6E"/>
                </a:solidFill>
                <a:latin typeface="Helvetica Neue Light"/>
              </a:rPr>
              <a:t>Brief</a:t>
            </a:r>
            <a:r>
              <a:rPr sz="1422" dirty="0">
                <a:solidFill>
                  <a:srgbClr val="6E6E6E"/>
                </a:solidFill>
                <a:latin typeface="Helvetica Neue Light"/>
              </a:rPr>
              <a:t>: users are mostly expert day traders and multi-portfolio managers.</a:t>
            </a:r>
          </a:p>
        </p:txBody>
      </p:sp>
      <p:sp>
        <p:nvSpPr>
          <p:cNvPr id="17" name="TextBox 16"/>
          <p:cNvSpPr txBox="1"/>
          <p:nvPr/>
        </p:nvSpPr>
        <p:spPr>
          <a:xfrm>
            <a:off x="4876800" y="6106863"/>
            <a:ext cx="7477760" cy="459485"/>
          </a:xfrm>
          <a:prstGeom prst="rect">
            <a:avLst/>
          </a:prstGeom>
          <a:noFill/>
        </p:spPr>
        <p:txBody>
          <a:bodyPr wrap="square" lIns="0" tIns="0" rIns="0" bIns="0">
            <a:spAutoFit/>
          </a:bodyPr>
          <a:lstStyle/>
          <a:p>
            <a:r>
              <a:rPr sz="1493">
                <a:solidFill>
                  <a:srgbClr val="1F1F1F"/>
                </a:solidFill>
                <a:latin typeface="Helvetica Neue Light"/>
              </a:rPr>
              <a:t>We center Growth Gary, a swing trader with a day job: the largest new-user group that can’t watch the market at work, where alerts sell Elite. Day traders stay the conversion lever.</a:t>
            </a:r>
          </a:p>
        </p:txBody>
      </p:sp>
      <p:sp>
        <p:nvSpPr>
          <p:cNvPr id="18" name="Rectangle 17"/>
          <p:cNvSpPr/>
          <p:nvPr/>
        </p:nvSpPr>
        <p:spPr>
          <a:xfrm>
            <a:off x="455168" y="6952175"/>
            <a:ext cx="12094464" cy="832307"/>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9" name="TextBox 18"/>
          <p:cNvSpPr txBox="1"/>
          <p:nvPr/>
        </p:nvSpPr>
        <p:spPr>
          <a:xfrm>
            <a:off x="650240" y="7043208"/>
            <a:ext cx="4031488" cy="437684"/>
          </a:xfrm>
          <a:prstGeom prst="rect">
            <a:avLst/>
          </a:prstGeom>
          <a:noFill/>
        </p:spPr>
        <p:txBody>
          <a:bodyPr wrap="square" lIns="0" tIns="0" rIns="0" bIns="0">
            <a:spAutoFit/>
          </a:bodyPr>
          <a:lstStyle/>
          <a:p>
            <a:r>
              <a:rPr sz="1422" b="1" dirty="0">
                <a:solidFill>
                  <a:srgbClr val="6E6E6E"/>
                </a:solidFill>
                <a:latin typeface="Helvetica Neue Light"/>
              </a:rPr>
              <a:t>Brief</a:t>
            </a:r>
            <a:r>
              <a:rPr sz="1422" dirty="0">
                <a:solidFill>
                  <a:srgbClr val="6E6E6E"/>
                </a:solidFill>
                <a:latin typeface="Helvetica Neue Light"/>
              </a:rPr>
              <a:t>: users want expert recommendations with probability scores.</a:t>
            </a:r>
          </a:p>
        </p:txBody>
      </p:sp>
      <p:sp>
        <p:nvSpPr>
          <p:cNvPr id="20" name="TextBox 19"/>
          <p:cNvSpPr txBox="1"/>
          <p:nvPr/>
        </p:nvSpPr>
        <p:spPr>
          <a:xfrm>
            <a:off x="4876800" y="7043209"/>
            <a:ext cx="7477760" cy="459485"/>
          </a:xfrm>
          <a:prstGeom prst="rect">
            <a:avLst/>
          </a:prstGeom>
          <a:noFill/>
        </p:spPr>
        <p:txBody>
          <a:bodyPr wrap="square" lIns="0" tIns="0" rIns="0" bIns="0">
            <a:spAutoFit/>
          </a:bodyPr>
          <a:lstStyle/>
          <a:p>
            <a:r>
              <a:rPr sz="1493">
                <a:solidFill>
                  <a:srgbClr val="1F1F1F"/>
                </a:solidFill>
                <a:latin typeface="Helvetica Neue Light"/>
              </a:rPr>
              <a:t>No AI-originated probabilities or buy/sell. Attributed analyst views are allowed (pending compliance); history is shown as history, with sample sizes.</a:t>
            </a:r>
          </a:p>
        </p:txBody>
      </p:sp>
      <p:sp>
        <p:nvSpPr>
          <p:cNvPr id="21" name="Rectangle 20"/>
          <p:cNvSpPr/>
          <p:nvPr/>
        </p:nvSpPr>
        <p:spPr>
          <a:xfrm>
            <a:off x="455168" y="7888521"/>
            <a:ext cx="12094464" cy="832307"/>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2" name="TextBox 21"/>
          <p:cNvSpPr txBox="1"/>
          <p:nvPr/>
        </p:nvSpPr>
        <p:spPr>
          <a:xfrm>
            <a:off x="650240" y="7979554"/>
            <a:ext cx="4031488" cy="218842"/>
          </a:xfrm>
          <a:prstGeom prst="rect">
            <a:avLst/>
          </a:prstGeom>
          <a:noFill/>
        </p:spPr>
        <p:txBody>
          <a:bodyPr wrap="square" lIns="0" tIns="0" rIns="0" bIns="0">
            <a:spAutoFit/>
          </a:bodyPr>
          <a:lstStyle/>
          <a:p>
            <a:r>
              <a:rPr sz="1422" b="1" dirty="0">
                <a:solidFill>
                  <a:srgbClr val="6E6E6E"/>
                </a:solidFill>
                <a:latin typeface="Helvetica Neue Light"/>
              </a:rPr>
              <a:t>Brief</a:t>
            </a:r>
            <a:r>
              <a:rPr sz="1422" dirty="0">
                <a:solidFill>
                  <a:srgbClr val="6E6E6E"/>
                </a:solidFill>
                <a:latin typeface="Helvetica Neue Light"/>
              </a:rPr>
              <a:t>: mobile is a goal.</a:t>
            </a:r>
          </a:p>
        </p:txBody>
      </p:sp>
      <p:sp>
        <p:nvSpPr>
          <p:cNvPr id="23" name="TextBox 22"/>
          <p:cNvSpPr txBox="1"/>
          <p:nvPr/>
        </p:nvSpPr>
        <p:spPr>
          <a:xfrm>
            <a:off x="4876800" y="7979555"/>
            <a:ext cx="7477760" cy="459485"/>
          </a:xfrm>
          <a:prstGeom prst="rect">
            <a:avLst/>
          </a:prstGeom>
          <a:noFill/>
        </p:spPr>
        <p:txBody>
          <a:bodyPr wrap="square" lIns="0" tIns="0" rIns="0" bIns="0">
            <a:spAutoFit/>
          </a:bodyPr>
          <a:lstStyle/>
          <a:p>
            <a:r>
              <a:rPr sz="1493">
                <a:solidFill>
                  <a:srgbClr val="1F1F1F"/>
                </a:solidFill>
                <a:latin typeface="Helvetica Neue Light"/>
              </a:rPr>
              <a:t>Desktop only for this exploration, as Week 2 asks; FinViz has no native app. Mobile is deferred, not dropped.</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24160" cy="274320"/>
          </a:xfrm>
          <a:prstGeom prst="rect">
            <a:avLst/>
          </a:prstGeom>
          <a:noFill/>
        </p:spPr>
        <p:txBody>
          <a:bodyPr wrap="square">
            <a:spAutoFit/>
          </a:bodyPr>
          <a:lstStyle/>
          <a:p>
            <a:r>
              <a:rPr sz="1400" b="0">
                <a:solidFill>
                  <a:srgbClr val="1F1F1F"/>
                </a:solidFill>
                <a:latin typeface="Helvetica Neue"/>
              </a:rPr>
              <a:t>Competitive landscape</a:t>
            </a:r>
          </a:p>
        </p:txBody>
      </p:sp>
      <p:sp>
        <p:nvSpPr>
          <p:cNvPr id="3" name="TextBox 2"/>
          <p:cNvSpPr txBox="1"/>
          <p:nvPr/>
        </p:nvSpPr>
        <p:spPr>
          <a:xfrm>
            <a:off x="457200" y="914400"/>
            <a:ext cx="12070080" cy="594360"/>
          </a:xfrm>
          <a:prstGeom prst="rect">
            <a:avLst/>
          </a:prstGeom>
          <a:noFill/>
        </p:spPr>
        <p:txBody>
          <a:bodyPr wrap="square">
            <a:spAutoFit/>
          </a:bodyPr>
          <a:lstStyle/>
          <a:p>
            <a:r>
              <a:rPr sz="2800" b="0">
                <a:solidFill>
                  <a:srgbClr val="1F1F1F"/>
                </a:solidFill>
                <a:latin typeface="Helvetica Neue Light"/>
              </a:rPr>
              <a:t>Competitive landscape: where FinViz is strong, and where the AI layer fits</a:t>
            </a:r>
          </a:p>
        </p:txBody>
      </p:sp>
      <p:sp>
        <p:nvSpPr>
          <p:cNvPr id="4" name="TextBox 3"/>
          <p:cNvSpPr txBox="1"/>
          <p:nvPr/>
        </p:nvSpPr>
        <p:spPr>
          <a:xfrm>
            <a:off x="457200" y="1554480"/>
            <a:ext cx="12070080" cy="365760"/>
          </a:xfrm>
          <a:prstGeom prst="rect">
            <a:avLst/>
          </a:prstGeom>
          <a:noFill/>
        </p:spPr>
        <p:txBody>
          <a:bodyPr wrap="square">
            <a:spAutoFit/>
          </a:bodyPr>
          <a:lstStyle/>
          <a:p>
            <a:r>
              <a:rPr sz="1600" b="0">
                <a:solidFill>
                  <a:srgbClr val="595959"/>
                </a:solidFill>
                <a:latin typeface="Helvetica Neue Light"/>
              </a:rPr>
              <a:t>Examples from the FinViz research notes, as of September 2026.</a:t>
            </a:r>
          </a:p>
        </p:txBody>
      </p:sp>
      <p:graphicFrame>
        <p:nvGraphicFramePr>
          <p:cNvPr id="5" name="Table 4"/>
          <p:cNvGraphicFramePr>
            <a:graphicFrameLocks noGrp="1"/>
          </p:cNvGraphicFramePr>
          <p:nvPr/>
        </p:nvGraphicFramePr>
        <p:xfrm>
          <a:off x="457200" y="2377440"/>
          <a:ext cx="12070080" cy="3291840"/>
        </p:xfrm>
        <a:graphic>
          <a:graphicData uri="http://schemas.openxmlformats.org/drawingml/2006/table">
            <a:tbl>
              <a:tblPr firstRow="1" bandRow="1">
                <a:tableStyleId>{5C22544A-7EE6-4342-B048-85BDC9FD1C3A}</a:tableStyleId>
              </a:tblPr>
              <a:tblGrid>
                <a:gridCol w="2743200"/>
                <a:gridCol w="4572000"/>
                <a:gridCol w="4754880"/>
              </a:tblGrid>
              <a:tr h="822960">
                <a:tc>
                  <a:txBody>
                    <a:bodyPr/>
                    <a:lstStyle/>
                    <a:p>
                      <a:r>
                        <a:rPr sz="1500" b="1">
                          <a:solidFill>
                            <a:srgbClr val="FFFFFF"/>
                          </a:solidFill>
                          <a:latin typeface="Helvetica Neue"/>
                        </a:rPr>
                        <a:t>Product</a:t>
                      </a:r>
                    </a:p>
                  </a:txBody>
                  <a:tcPr>
                    <a:solidFill>
                      <a:srgbClr val="C45A35"/>
                    </a:solidFill>
                  </a:tcPr>
                </a:tc>
                <a:tc>
                  <a:txBody>
                    <a:bodyPr/>
                    <a:lstStyle/>
                    <a:p>
                      <a:r>
                        <a:rPr sz="1500" b="1">
                          <a:solidFill>
                            <a:srgbClr val="FFFFFF"/>
                          </a:solidFill>
                          <a:latin typeface="Helvetica Neue"/>
                        </a:rPr>
                        <a:t>Where it is strong</a:t>
                      </a:r>
                    </a:p>
                  </a:txBody>
                  <a:tcPr>
                    <a:solidFill>
                      <a:srgbClr val="C45A35"/>
                    </a:solidFill>
                  </a:tcPr>
                </a:tc>
                <a:tc>
                  <a:txBody>
                    <a:bodyPr/>
                    <a:lstStyle/>
                    <a:p>
                      <a:r>
                        <a:rPr sz="1500" b="1">
                          <a:solidFill>
                            <a:srgbClr val="FFFFFF"/>
                          </a:solidFill>
                          <a:latin typeface="Helvetica Neue"/>
                        </a:rPr>
                        <a:t>Where the AI layer fits</a:t>
                      </a:r>
                    </a:p>
                  </a:txBody>
                  <a:tcPr>
                    <a:solidFill>
                      <a:srgbClr val="C45A35"/>
                    </a:solidFill>
                  </a:tcPr>
                </a:tc>
              </a:tr>
              <a:tr h="822960">
                <a:tc>
                  <a:txBody>
                    <a:bodyPr/>
                    <a:lstStyle/>
                    <a:p>
                      <a:r>
                        <a:rPr sz="1600" b="1">
                          <a:solidFill>
                            <a:srgbClr val="1F1F1F"/>
                          </a:solidFill>
                          <a:latin typeface="Helvetica Neue"/>
                        </a:rPr>
                        <a:t>TradingView</a:t>
                      </a:r>
                    </a:p>
                  </a:txBody>
                  <a:tcPr>
                    <a:solidFill>
                      <a:srgbClr val="FFFFFF"/>
                    </a:solidFill>
                  </a:tcPr>
                </a:tc>
                <a:tc>
                  <a:txBody>
                    <a:bodyPr/>
                    <a:lstStyle/>
                    <a:p>
                      <a:r>
                        <a:rPr sz="1600" b="0">
                          <a:solidFill>
                            <a:srgbClr val="1F1F1F"/>
                          </a:solidFill>
                          <a:latin typeface="Helvetica Neue Light"/>
                        </a:rPr>
                        <a:t>Charting and community. Ships AI chart analysis and document summaries.</a:t>
                      </a:r>
                    </a:p>
                  </a:txBody>
                  <a:tcPr>
                    <a:solidFill>
                      <a:srgbClr val="FFFFFF"/>
                    </a:solidFill>
                  </a:tcPr>
                </a:tc>
                <a:tc>
                  <a:txBody>
                    <a:bodyPr/>
                    <a:lstStyle/>
                    <a:p>
                      <a:r>
                        <a:rPr sz="1600" b="0">
                          <a:solidFill>
                            <a:srgbClr val="1F1F1F"/>
                          </a:solidFill>
                          <a:latin typeface="Helvetica Neue Light"/>
                        </a:rPr>
                        <a:t>Explains the trader’s own screen. FinViz stays the fastest place to find ideas.</a:t>
                      </a:r>
                    </a:p>
                  </a:txBody>
                  <a:tcPr>
                    <a:solidFill>
                      <a:srgbClr val="FFFFFF"/>
                    </a:solidFill>
                  </a:tcPr>
                </a:tc>
              </a:tr>
              <a:tr h="822960">
                <a:tc>
                  <a:txBody>
                    <a:bodyPr/>
                    <a:lstStyle/>
                    <a:p>
                      <a:r>
                        <a:rPr sz="1600" b="1">
                          <a:solidFill>
                            <a:srgbClr val="1F1F1F"/>
                          </a:solidFill>
                          <a:latin typeface="Helvetica Neue"/>
                        </a:rPr>
                        <a:t>Trade Ideas</a:t>
                      </a:r>
                    </a:p>
                  </a:txBody>
                  <a:tcPr>
                    <a:solidFill>
                      <a:srgbClr val="FAFAFA"/>
                    </a:solidFill>
                  </a:tcPr>
                </a:tc>
                <a:tc>
                  <a:txBody>
                    <a:bodyPr/>
                    <a:lstStyle/>
                    <a:p>
                      <a:r>
                        <a:rPr sz="1600" b="0">
                          <a:solidFill>
                            <a:srgbClr val="1F1F1F"/>
                          </a:solidFill>
                          <a:latin typeface="Helvetica Neue Light"/>
                        </a:rPr>
                        <a:t>Real-time scanning and alerts at tick speed.</a:t>
                      </a:r>
                    </a:p>
                  </a:txBody>
                  <a:tcPr>
                    <a:solidFill>
                      <a:srgbClr val="FAFAFA"/>
                    </a:solidFill>
                  </a:tcPr>
                </a:tc>
                <a:tc>
                  <a:txBody>
                    <a:bodyPr/>
                    <a:lstStyle/>
                    <a:p>
                      <a:r>
                        <a:rPr sz="1600" b="0">
                          <a:solidFill>
                            <a:srgbClr val="1F1F1F"/>
                          </a:solidFill>
                          <a:latin typeface="Helvetica Neue Light"/>
                        </a:rPr>
                        <a:t>FinViz does not compete on tick speed. Push alerts on a saved screen matter more to this user.</a:t>
                      </a:r>
                    </a:p>
                  </a:txBody>
                  <a:tcPr>
                    <a:solidFill>
                      <a:srgbClr val="FAFAFA"/>
                    </a:solidFill>
                  </a:tcPr>
                </a:tc>
              </a:tr>
              <a:tr h="822960">
                <a:tc>
                  <a:txBody>
                    <a:bodyPr/>
                    <a:lstStyle/>
                    <a:p>
                      <a:r>
                        <a:rPr sz="1600" b="1">
                          <a:solidFill>
                            <a:srgbClr val="1F1F1F"/>
                          </a:solidFill>
                          <a:latin typeface="Helvetica Neue"/>
                        </a:rPr>
                        <a:t>Bloomberg Terminal</a:t>
                      </a:r>
                    </a:p>
                  </a:txBody>
                  <a:tcPr>
                    <a:solidFill>
                      <a:srgbClr val="FFFFFF"/>
                    </a:solidFill>
                  </a:tcPr>
                </a:tc>
                <a:tc>
                  <a:txBody>
                    <a:bodyPr/>
                    <a:lstStyle/>
                    <a:p>
                      <a:r>
                        <a:rPr sz="1600" b="0">
                          <a:solidFill>
                            <a:srgbClr val="1F1F1F"/>
                          </a:solidFill>
                          <a:latin typeface="Helvetica Neue Light"/>
                        </a:rPr>
                        <a:t>Market data and news flow for professionals.</a:t>
                      </a:r>
                    </a:p>
                  </a:txBody>
                  <a:tcPr>
                    <a:solidFill>
                      <a:srgbClr val="FFFFFF"/>
                    </a:solidFill>
                  </a:tcPr>
                </a:tc>
                <a:tc>
                  <a:txBody>
                    <a:bodyPr/>
                    <a:lstStyle/>
                    <a:p>
                      <a:r>
                        <a:rPr sz="1600" b="0">
                          <a:solidFill>
                            <a:srgbClr val="1F1F1F"/>
                          </a:solidFill>
                          <a:latin typeface="Helvetica Neue Light"/>
                        </a:rPr>
                        <a:t>Cost and complexity. FinViz’s job is discovery for individual traders.</a:t>
                      </a:r>
                    </a:p>
                  </a:txBody>
                  <a:tcPr>
                    <a:solidFill>
                      <a:srgbClr val="FFFFFF"/>
                    </a:solidFill>
                  </a:tcPr>
                </a:tc>
              </a:tr>
            </a:tbl>
          </a:graphicData>
        </a:graphic>
      </p:graphicFrame>
      <p:sp>
        <p:nvSpPr>
          <p:cNvPr id="6" name="TextBox 5"/>
          <p:cNvSpPr txBox="1"/>
          <p:nvPr/>
        </p:nvSpPr>
        <p:spPr>
          <a:xfrm>
            <a:off x="457200" y="7955279"/>
            <a:ext cx="12070080" cy="822960"/>
          </a:xfrm>
          <a:prstGeom prst="rect">
            <a:avLst/>
          </a:prstGeom>
          <a:noFill/>
        </p:spPr>
        <p:txBody>
          <a:bodyPr wrap="square">
            <a:spAutoFit/>
          </a:bodyPr>
          <a:lstStyle/>
          <a:p>
            <a:r>
              <a:rPr sz="1500" b="0">
                <a:solidFill>
                  <a:srgbClr val="6E6E6E"/>
                </a:solidFill>
                <a:latin typeface="Helvetica Neue Light"/>
              </a:rPr>
              <a:t>Source: FinViz research notes. Competitor features change. Re-check before publishing.</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03 · Problem   FinViz AI Screener</a:t>
            </a:r>
          </a:p>
        </p:txBody>
      </p:sp>
      <p:sp>
        <p:nvSpPr>
          <p:cNvPr id="4" name="TextBox 3"/>
          <p:cNvSpPr txBox="1"/>
          <p:nvPr/>
        </p:nvSpPr>
        <p:spPr>
          <a:xfrm>
            <a:off x="455168" y="936346"/>
            <a:ext cx="12094464" cy="459678"/>
          </a:xfrm>
          <a:prstGeom prst="rect">
            <a:avLst/>
          </a:prstGeom>
          <a:noFill/>
        </p:spPr>
        <p:txBody>
          <a:bodyPr wrap="square" lIns="0" tIns="0" rIns="0" bIns="0">
            <a:spAutoFit/>
          </a:bodyPr>
          <a:lstStyle/>
          <a:p>
            <a:r>
              <a:rPr sz="2987">
                <a:solidFill>
                  <a:srgbClr val="1F1F1F"/>
                </a:solidFill>
                <a:latin typeface="Helvetica Neue Light"/>
              </a:rPr>
              <a:t>The user problem and the AI problem</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Defined separately, so the AI only does what a rule can’t.</a:t>
            </a:r>
          </a:p>
        </p:txBody>
      </p:sp>
      <p:sp>
        <p:nvSpPr>
          <p:cNvPr id="6" name="Rectangle 5"/>
          <p:cNvSpPr/>
          <p:nvPr/>
        </p:nvSpPr>
        <p:spPr>
          <a:xfrm>
            <a:off x="455168" y="2405888"/>
            <a:ext cx="3901440" cy="6177280"/>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TextBox 6"/>
          <p:cNvSpPr txBox="1"/>
          <p:nvPr/>
        </p:nvSpPr>
        <p:spPr>
          <a:xfrm>
            <a:off x="650240" y="2600960"/>
            <a:ext cx="3511296" cy="1848455"/>
          </a:xfrm>
          <a:prstGeom prst="rect">
            <a:avLst/>
          </a:prstGeom>
          <a:noFill/>
        </p:spPr>
        <p:txBody>
          <a:bodyPr wrap="square" lIns="0" tIns="0" rIns="0" bIns="0">
            <a:spAutoFit/>
          </a:bodyPr>
          <a:lstStyle/>
          <a:p>
            <a:pPr>
              <a:spcAft>
                <a:spcPts val="1138"/>
              </a:spcAft>
            </a:pPr>
            <a:r>
              <a:rPr sz="1280">
                <a:solidFill>
                  <a:srgbClr val="FFFFFF"/>
                </a:solidFill>
                <a:latin typeface="Helvetica Neue"/>
              </a:rPr>
              <a:t>USER PROBLEM</a:t>
            </a:r>
          </a:p>
          <a:p>
            <a:r>
              <a:rPr sz="1636">
                <a:solidFill>
                  <a:srgbClr val="FFFFFF"/>
                </a:solidFill>
                <a:latin typeface="Helvetica Neue Light"/>
              </a:rPr>
              <a:t>Gary can find ideas but can’t hold on to them. 89 filters with no explanation; a list that forgets why he picked each stock; nothing reaches him at work; the decision to hold or exit happens in his head (P1, P5, P8, P9, P13).</a:t>
            </a:r>
          </a:p>
        </p:txBody>
      </p:sp>
      <p:sp>
        <p:nvSpPr>
          <p:cNvPr id="8" name="Rectangle 7"/>
          <p:cNvSpPr/>
          <p:nvPr/>
        </p:nvSpPr>
        <p:spPr>
          <a:xfrm>
            <a:off x="4525670" y="2405888"/>
            <a:ext cx="3901440" cy="6177280"/>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9" name="TextBox 8"/>
          <p:cNvSpPr txBox="1"/>
          <p:nvPr/>
        </p:nvSpPr>
        <p:spPr>
          <a:xfrm>
            <a:off x="4720742" y="2600960"/>
            <a:ext cx="3511296" cy="2603661"/>
          </a:xfrm>
          <a:prstGeom prst="rect">
            <a:avLst/>
          </a:prstGeom>
          <a:noFill/>
        </p:spPr>
        <p:txBody>
          <a:bodyPr wrap="square" lIns="0" tIns="0" rIns="0" bIns="0">
            <a:spAutoFit/>
          </a:bodyPr>
          <a:lstStyle/>
          <a:p>
            <a:pPr>
              <a:spcAft>
                <a:spcPts val="1138"/>
              </a:spcAft>
            </a:pPr>
            <a:r>
              <a:rPr sz="1280">
                <a:solidFill>
                  <a:srgbClr val="FFFFFF"/>
                </a:solidFill>
                <a:latin typeface="Helvetica Neue"/>
              </a:rPr>
              <a:t>AI PROBLEM</a:t>
            </a:r>
          </a:p>
          <a:p>
            <a:r>
              <a:rPr sz="1636">
                <a:solidFill>
                  <a:srgbClr val="FFFFFF"/>
                </a:solidFill>
                <a:latin typeface="Helvetica Neue Light"/>
              </a:rPr>
              <a:t>Infer a screen from 3 example tickers · explain why each row matched from real values · re-check his own reasons against fresh data 3× a day · detect chart patterns at support with measurable criteria · summarize overnight news on his names only, with sources · turn his corrections into proposed rule changes.</a:t>
            </a:r>
          </a:p>
        </p:txBody>
      </p:sp>
      <p:sp>
        <p:nvSpPr>
          <p:cNvPr id="10" name="Rectangle 9"/>
          <p:cNvSpPr/>
          <p:nvPr/>
        </p:nvSpPr>
        <p:spPr>
          <a:xfrm>
            <a:off x="8596171" y="2405888"/>
            <a:ext cx="3901440" cy="6177280"/>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8791245" y="2600961"/>
            <a:ext cx="3511296" cy="2603661"/>
          </a:xfrm>
          <a:prstGeom prst="rect">
            <a:avLst/>
          </a:prstGeom>
          <a:noFill/>
        </p:spPr>
        <p:txBody>
          <a:bodyPr wrap="square" lIns="0" tIns="0" rIns="0" bIns="0">
            <a:spAutoFit/>
          </a:bodyPr>
          <a:lstStyle/>
          <a:p>
            <a:pPr>
              <a:spcAft>
                <a:spcPts val="1138"/>
              </a:spcAft>
            </a:pPr>
            <a:r>
              <a:rPr sz="1280">
                <a:solidFill>
                  <a:srgbClr val="FFFFFF"/>
                </a:solidFill>
                <a:latin typeface="Helvetica Neue"/>
              </a:rPr>
              <a:t>WHY AI IS APPROPRIATE</a:t>
            </a:r>
          </a:p>
          <a:p>
            <a:r>
              <a:rPr sz="1636">
                <a:solidFill>
                  <a:srgbClr val="FFFFFF"/>
                </a:solidFill>
                <a:latin typeface="Helvetica Neue Light"/>
              </a:rPr>
              <a:t>Translating examples and plain English into 89 filters, and summarizing many sources, are language tasks. Scanning 30 charts for the same setup every day is repetitive perception. Remembering his reasons needs memory. Where a rule is enough we used a rule: the since-last-night diff, exit lines, quiet hours and the activity log are not AI.</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03 · Problem   FinViz AI Screener</a:t>
            </a:r>
            <a:endParaRPr lang="en-US" sz="1422" dirty="0"/>
          </a:p>
        </p:txBody>
      </p:sp>
      <p:sp>
        <p:nvSpPr>
          <p:cNvPr id="3" name="Text 1"/>
          <p:cNvSpPr txBox="1"/>
          <p:nvPr/>
        </p:nvSpPr>
        <p:spPr>
          <a:xfrm>
            <a:off x="455168" y="975360"/>
            <a:ext cx="12094464" cy="650240"/>
          </a:xfrm>
          <a:prstGeom prst="rect">
            <a:avLst/>
          </a:prstGeom>
          <a:noFill/>
          <a:ln/>
        </p:spPr>
        <p:txBody>
          <a:bodyPr wrap="square" lIns="0" tIns="0" rIns="0" bIns="0" rtlCol="0" anchor="t"/>
          <a:lstStyle/>
          <a:p>
            <a:r>
              <a:rPr lang="en-US" sz="2987" dirty="0">
                <a:solidFill>
                  <a:srgbClr val="1F1F1F"/>
                </a:solidFill>
                <a:latin typeface="Helvetica Neue Light" pitchFamily="34" charset="0"/>
                <a:ea typeface="Helvetica Neue Light" pitchFamily="34" charset="-122"/>
                <a:cs typeface="Helvetica Neue Light" pitchFamily="34" charset="-120"/>
              </a:rPr>
              <a:t>Pain points, scored by user and business impact</a:t>
            </a:r>
            <a:endParaRPr lang="en-US" sz="2987" dirty="0"/>
          </a:p>
        </p:txBody>
      </p:sp>
      <p:sp>
        <p:nvSpPr>
          <p:cNvPr id="4" name="Text 2"/>
          <p:cNvSpPr txBox="1"/>
          <p:nvPr/>
        </p:nvSpPr>
        <p:spPr>
          <a:xfrm>
            <a:off x="975360" y="2015744"/>
            <a:ext cx="8453120" cy="5592064"/>
          </a:xfrm>
          <a:prstGeom prst="rect">
            <a:avLst/>
          </a:prstGeom>
          <a:noFill/>
          <a:ln/>
        </p:spPr>
        <p:txBody>
          <a:bodyPr wrap="square" lIns="0" tIns="0" rIns="0" bIns="0" rtlCol="0" anchor="t"/>
          <a:lstStyle/>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1  Ideas can’t become a working, watched screen</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2  Blind during market hours</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3  Too many results, and no reason why they matched</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4  Which metric matters, and what counts as good?</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5  Filters in fixed buckets; exact values are Elite</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6  Alert noise</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7  Catalysts scattered across pages</a:t>
            </a:r>
            <a:endParaRPr lang="en-US" sz="2133" dirty="0"/>
          </a:p>
        </p:txBody>
      </p:sp>
      <p:sp>
        <p:nvSpPr>
          <p:cNvPr id="5" name="Text 3"/>
          <p:cNvSpPr txBox="1"/>
          <p:nvPr/>
        </p:nvSpPr>
        <p:spPr>
          <a:xfrm>
            <a:off x="7002586" y="7146138"/>
            <a:ext cx="5159047" cy="780288"/>
          </a:xfrm>
          <a:prstGeom prst="rect">
            <a:avLst/>
          </a:prstGeom>
          <a:noFill/>
          <a:ln/>
        </p:spPr>
        <p:txBody>
          <a:bodyPr wrap="square" lIns="0" tIns="0" rIns="0" bIns="0" rtlCol="0" anchor="t"/>
          <a:lstStyle/>
          <a:p>
            <a:pPr algn="ctr"/>
            <a:r>
              <a:rPr lang="en-US" sz="2276" dirty="0">
                <a:solidFill>
                  <a:srgbClr val="6E6E6E"/>
                </a:solidFill>
                <a:latin typeface="Helvetica Neue Light" pitchFamily="34" charset="0"/>
                <a:ea typeface="Helvetica Neue Light" pitchFamily="34" charset="-122"/>
                <a:cs typeface="Helvetica Neue Light" pitchFamily="34" charset="-120"/>
              </a:rPr>
              <a:t>“Once you close FinViz you get nothing, and setting up alerts today is quirky.”</a:t>
            </a:r>
            <a:endParaRPr lang="en-US" sz="2276" dirty="0"/>
          </a:p>
        </p:txBody>
      </p:sp>
      <p:sp>
        <p:nvSpPr>
          <p:cNvPr id="6" name="Text 4"/>
          <p:cNvSpPr txBox="1"/>
          <p:nvPr/>
        </p:nvSpPr>
        <p:spPr>
          <a:xfrm>
            <a:off x="6502400" y="8258048"/>
            <a:ext cx="5852160" cy="390144"/>
          </a:xfrm>
          <a:prstGeom prst="rect">
            <a:avLst/>
          </a:prstGeom>
          <a:noFill/>
          <a:ln/>
        </p:spPr>
        <p:txBody>
          <a:bodyPr wrap="square" lIns="0" tIns="0" rIns="0" bIns="0" rtlCol="0" anchor="t"/>
          <a:lstStyle/>
          <a:p>
            <a:pPr algn="ctr"/>
            <a:r>
              <a:rPr lang="en-US" sz="1422" dirty="0">
                <a:solidFill>
                  <a:srgbClr val="6E6E6E"/>
                </a:solidFill>
                <a:latin typeface="Helvetica Neue" pitchFamily="34" charset="0"/>
                <a:ea typeface="Helvetica Neue" pitchFamily="34" charset="-122"/>
                <a:cs typeface="Helvetica Neue" pitchFamily="34" charset="-120"/>
              </a:rPr>
              <a:t>Design review feedback, Sept 30</a:t>
            </a:r>
            <a:endParaRPr lang="en-US" sz="1422" dirty="0"/>
          </a:p>
        </p:txBody>
      </p:sp>
      <p:pic>
        <p:nvPicPr>
          <p:cNvPr id="7" name="Picture 6"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55168" y="403149"/>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05 · Solution   FinViz AI Screener</a:t>
            </a:r>
            <a:endParaRPr lang="en-US" sz="1422" dirty="0"/>
          </a:p>
        </p:txBody>
      </p:sp>
      <p:pic>
        <p:nvPicPr>
          <p:cNvPr id="3" name="Picture 2" descr="image.png"/>
          <p:cNvPicPr>
            <a:picLocks noChangeAspect="1"/>
          </p:cNvPicPr>
          <p:nvPr/>
        </p:nvPicPr>
        <p:blipFill>
          <a:blip r:embed="rId2"/>
          <a:stretch>
            <a:fillRect/>
          </a:stretch>
        </p:blipFill>
        <p:spPr>
          <a:xfrm>
            <a:off x="0" y="9548150"/>
            <a:ext cx="13004800" cy="468173"/>
          </a:xfrm>
          <a:prstGeom prst="rect">
            <a:avLst/>
          </a:prstGeom>
        </p:spPr>
      </p:pic>
      <p:sp>
        <p:nvSpPr>
          <p:cNvPr id="4" name="TextBox 3"/>
          <p:cNvSpPr txBox="1"/>
          <p:nvPr/>
        </p:nvSpPr>
        <p:spPr>
          <a:xfrm>
            <a:off x="455168" y="975360"/>
            <a:ext cx="12094464" cy="612796"/>
          </a:xfrm>
          <a:prstGeom prst="rect">
            <a:avLst/>
          </a:prstGeom>
          <a:noFill/>
        </p:spPr>
        <p:txBody>
          <a:bodyPr wrap="square" lIns="0" tIns="0" rIns="0" bIns="0">
            <a:spAutoFit/>
          </a:bodyPr>
          <a:lstStyle/>
          <a:p>
            <a:r>
              <a:rPr lang="en-US" sz="3982" dirty="0">
                <a:solidFill>
                  <a:srgbClr val="1F1F1F"/>
                </a:solidFill>
                <a:latin typeface="Helvetica Neue Light"/>
              </a:rPr>
              <a:t>O</a:t>
            </a:r>
            <a:r>
              <a:rPr sz="3982" dirty="0">
                <a:solidFill>
                  <a:srgbClr val="1F1F1F"/>
                </a:solidFill>
                <a:latin typeface="Helvetica Neue Light"/>
              </a:rPr>
              <a:t>ne trade, followed through one trading day</a:t>
            </a:r>
          </a:p>
        </p:txBody>
      </p:sp>
      <p:sp>
        <p:nvSpPr>
          <p:cNvPr id="5" name="TextBox 4"/>
          <p:cNvSpPr txBox="1"/>
          <p:nvPr/>
        </p:nvSpPr>
        <p:spPr>
          <a:xfrm>
            <a:off x="455168" y="2110996"/>
            <a:ext cx="10934750" cy="1225464"/>
          </a:xfrm>
          <a:prstGeom prst="rect">
            <a:avLst/>
          </a:prstGeom>
          <a:noFill/>
        </p:spPr>
        <p:txBody>
          <a:bodyPr wrap="square" lIns="0" tIns="0" rIns="0" bIns="0">
            <a:spAutoFit/>
          </a:bodyPr>
          <a:lstStyle/>
          <a:p>
            <a:r>
              <a:rPr sz="1991" dirty="0">
                <a:solidFill>
                  <a:srgbClr val="1F1F1F"/>
                </a:solidFill>
                <a:latin typeface="Helvetica Neue Light"/>
              </a:rPr>
              <a:t>This case study follows </a:t>
            </a:r>
            <a:r>
              <a:rPr sz="1991" dirty="0">
                <a:solidFill>
                  <a:srgbClr val="1F1F1F"/>
                </a:solidFill>
                <a:latin typeface="Helvetica Neue"/>
              </a:rPr>
              <a:t>Growth Gary</a:t>
            </a:r>
            <a:r>
              <a:rPr sz="1991" dirty="0">
                <a:solidFill>
                  <a:srgbClr val="1F1F1F"/>
                </a:solidFill>
                <a:latin typeface="Helvetica Neue Light"/>
              </a:rPr>
              <a:t>, a swing trader with a day job, through a single trade. He finds an idea at night, checks it before work, gets one alert while he’s busy, and decides after the close whether his reasons still hold. </a:t>
            </a:r>
            <a:r>
              <a:rPr sz="1991" dirty="0" err="1">
                <a:solidFill>
                  <a:srgbClr val="1F1F1F"/>
                </a:solidFill>
                <a:latin typeface="Helvetica Neue"/>
              </a:rPr>
              <a:t>FinViz</a:t>
            </a:r>
            <a:r>
              <a:rPr sz="1991" dirty="0">
                <a:solidFill>
                  <a:srgbClr val="1F1F1F"/>
                </a:solidFill>
                <a:latin typeface="Helvetica Neue"/>
              </a:rPr>
              <a:t> does the watching and explaining at the right moment; Gary makes every decision, in his own broker.</a:t>
            </a:r>
          </a:p>
        </p:txBody>
      </p:sp>
      <p:sp>
        <p:nvSpPr>
          <p:cNvPr id="6" name="Rectangle 5"/>
          <p:cNvSpPr/>
          <p:nvPr/>
        </p:nvSpPr>
        <p:spPr>
          <a:xfrm>
            <a:off x="1430528" y="4866422"/>
            <a:ext cx="10143744" cy="3901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Oval 6"/>
          <p:cNvSpPr/>
          <p:nvPr/>
        </p:nvSpPr>
        <p:spPr>
          <a:xfrm>
            <a:off x="1014374" y="4463273"/>
            <a:ext cx="832307" cy="832307"/>
          </a:xfrm>
          <a:prstGeom prst="ellipse">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1</a:t>
            </a:r>
          </a:p>
        </p:txBody>
      </p:sp>
      <p:sp>
        <p:nvSpPr>
          <p:cNvPr id="8" name="TextBox 7"/>
          <p:cNvSpPr txBox="1"/>
          <p:nvPr/>
        </p:nvSpPr>
        <p:spPr>
          <a:xfrm>
            <a:off x="260096" y="3839043"/>
            <a:ext cx="2340864" cy="240707"/>
          </a:xfrm>
          <a:prstGeom prst="rect">
            <a:avLst/>
          </a:prstGeom>
          <a:noFill/>
        </p:spPr>
        <p:txBody>
          <a:bodyPr wrap="square" lIns="0" tIns="0" rIns="0" bIns="0">
            <a:spAutoFit/>
          </a:bodyPr>
          <a:lstStyle/>
          <a:p>
            <a:pPr algn="ctr"/>
            <a:r>
              <a:rPr sz="1564">
                <a:solidFill>
                  <a:srgbClr val="5B3F96"/>
                </a:solidFill>
                <a:latin typeface="Helvetica Neue"/>
              </a:rPr>
              <a:t>☾  8–10 PM</a:t>
            </a:r>
          </a:p>
        </p:txBody>
      </p:sp>
      <p:sp>
        <p:nvSpPr>
          <p:cNvPr id="9" name="TextBox 8"/>
          <p:cNvSpPr txBox="1"/>
          <p:nvPr/>
        </p:nvSpPr>
        <p:spPr>
          <a:xfrm>
            <a:off x="260096" y="5529668"/>
            <a:ext cx="2340864" cy="328231"/>
          </a:xfrm>
          <a:prstGeom prst="rect">
            <a:avLst/>
          </a:prstGeom>
          <a:noFill/>
        </p:spPr>
        <p:txBody>
          <a:bodyPr wrap="square" lIns="0" tIns="0" rIns="0" bIns="0">
            <a:spAutoFit/>
          </a:bodyPr>
          <a:lstStyle/>
          <a:p>
            <a:pPr algn="ctr"/>
            <a:r>
              <a:rPr sz="2133">
                <a:solidFill>
                  <a:srgbClr val="1F1F1F"/>
                </a:solidFill>
                <a:latin typeface="Helvetica Neue Light"/>
              </a:rPr>
              <a:t>Evening</a:t>
            </a:r>
          </a:p>
        </p:txBody>
      </p:sp>
      <p:sp>
        <p:nvSpPr>
          <p:cNvPr id="10" name="TextBox 9"/>
          <p:cNvSpPr txBox="1"/>
          <p:nvPr/>
        </p:nvSpPr>
        <p:spPr>
          <a:xfrm>
            <a:off x="780288" y="6114883"/>
            <a:ext cx="1820672" cy="962828"/>
          </a:xfrm>
          <a:prstGeom prst="rect">
            <a:avLst/>
          </a:prstGeom>
          <a:noFill/>
        </p:spPr>
        <p:txBody>
          <a:bodyPr wrap="square" lIns="0" tIns="0" rIns="0" bIns="0">
            <a:spAutoFit/>
          </a:bodyPr>
          <a:lstStyle/>
          <a:p>
            <a:pPr algn="ctr"/>
            <a:r>
              <a:rPr sz="1564" dirty="0">
                <a:solidFill>
                  <a:srgbClr val="595959"/>
                </a:solidFill>
                <a:latin typeface="Helvetica Neue Light"/>
              </a:rPr>
              <a:t>Reviews what’s new, pins 3–5 names, taps “Watch these for me”</a:t>
            </a:r>
          </a:p>
        </p:txBody>
      </p:sp>
      <p:sp>
        <p:nvSpPr>
          <p:cNvPr id="11" name="Oval 10"/>
          <p:cNvSpPr/>
          <p:nvPr/>
        </p:nvSpPr>
        <p:spPr>
          <a:xfrm>
            <a:off x="3550311" y="4463273"/>
            <a:ext cx="832307" cy="832307"/>
          </a:xfrm>
          <a:prstGeom prst="ellipse">
            <a:avLst/>
          </a:prstGeom>
          <a:solidFill>
            <a:srgbClr val="744A6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2</a:t>
            </a:r>
          </a:p>
        </p:txBody>
      </p:sp>
      <p:sp>
        <p:nvSpPr>
          <p:cNvPr id="12" name="TextBox 11"/>
          <p:cNvSpPr txBox="1"/>
          <p:nvPr/>
        </p:nvSpPr>
        <p:spPr>
          <a:xfrm>
            <a:off x="2796032" y="3839043"/>
            <a:ext cx="2340864" cy="240707"/>
          </a:xfrm>
          <a:prstGeom prst="rect">
            <a:avLst/>
          </a:prstGeom>
          <a:noFill/>
        </p:spPr>
        <p:txBody>
          <a:bodyPr wrap="square" lIns="0" tIns="0" rIns="0" bIns="0">
            <a:spAutoFit/>
          </a:bodyPr>
          <a:lstStyle/>
          <a:p>
            <a:pPr algn="ctr"/>
            <a:r>
              <a:rPr sz="1564">
                <a:solidFill>
                  <a:srgbClr val="744A6C"/>
                </a:solidFill>
                <a:latin typeface="Helvetica Neue"/>
              </a:rPr>
              <a:t>☾  while he sleeps</a:t>
            </a:r>
          </a:p>
        </p:txBody>
      </p:sp>
      <p:sp>
        <p:nvSpPr>
          <p:cNvPr id="13" name="TextBox 12"/>
          <p:cNvSpPr txBox="1"/>
          <p:nvPr/>
        </p:nvSpPr>
        <p:spPr>
          <a:xfrm>
            <a:off x="2796032" y="5529668"/>
            <a:ext cx="2340864" cy="328231"/>
          </a:xfrm>
          <a:prstGeom prst="rect">
            <a:avLst/>
          </a:prstGeom>
          <a:noFill/>
        </p:spPr>
        <p:txBody>
          <a:bodyPr wrap="square" lIns="0" tIns="0" rIns="0" bIns="0">
            <a:spAutoFit/>
          </a:bodyPr>
          <a:lstStyle/>
          <a:p>
            <a:pPr algn="ctr"/>
            <a:r>
              <a:rPr sz="2133">
                <a:solidFill>
                  <a:srgbClr val="1F1F1F"/>
                </a:solidFill>
                <a:latin typeface="Helvetica Neue Light"/>
              </a:rPr>
              <a:t>Overnight</a:t>
            </a:r>
          </a:p>
        </p:txBody>
      </p:sp>
      <p:sp>
        <p:nvSpPr>
          <p:cNvPr id="14" name="TextBox 13"/>
          <p:cNvSpPr txBox="1"/>
          <p:nvPr/>
        </p:nvSpPr>
        <p:spPr>
          <a:xfrm>
            <a:off x="2796032" y="6114883"/>
            <a:ext cx="2340864" cy="240707"/>
          </a:xfrm>
          <a:prstGeom prst="rect">
            <a:avLst/>
          </a:prstGeom>
          <a:noFill/>
        </p:spPr>
        <p:txBody>
          <a:bodyPr wrap="square" lIns="0" tIns="0" rIns="0" bIns="0">
            <a:spAutoFit/>
          </a:bodyPr>
          <a:lstStyle/>
          <a:p>
            <a:pPr algn="ctr"/>
            <a:r>
              <a:rPr sz="1564" dirty="0">
                <a:solidFill>
                  <a:srgbClr val="595959"/>
                </a:solidFill>
                <a:latin typeface="Helvetica Neue Light"/>
              </a:rPr>
              <a:t>Nothing</a:t>
            </a:r>
          </a:p>
        </p:txBody>
      </p:sp>
      <p:sp>
        <p:nvSpPr>
          <p:cNvPr id="15" name="Oval 14"/>
          <p:cNvSpPr/>
          <p:nvPr/>
        </p:nvSpPr>
        <p:spPr>
          <a:xfrm>
            <a:off x="6086247" y="4463273"/>
            <a:ext cx="832307" cy="832307"/>
          </a:xfrm>
          <a:prstGeom prst="ellipse">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3</a:t>
            </a:r>
          </a:p>
        </p:txBody>
      </p:sp>
      <p:sp>
        <p:nvSpPr>
          <p:cNvPr id="16" name="TextBox 15"/>
          <p:cNvSpPr txBox="1"/>
          <p:nvPr/>
        </p:nvSpPr>
        <p:spPr>
          <a:xfrm>
            <a:off x="5331967" y="3839043"/>
            <a:ext cx="2340864" cy="240707"/>
          </a:xfrm>
          <a:prstGeom prst="rect">
            <a:avLst/>
          </a:prstGeom>
          <a:noFill/>
        </p:spPr>
        <p:txBody>
          <a:bodyPr wrap="square" lIns="0" tIns="0" rIns="0" bIns="0">
            <a:spAutoFit/>
          </a:bodyPr>
          <a:lstStyle/>
          <a:p>
            <a:pPr algn="ctr"/>
            <a:r>
              <a:rPr sz="1564">
                <a:solidFill>
                  <a:srgbClr val="00868B"/>
                </a:solidFill>
                <a:latin typeface="Helvetica Neue"/>
              </a:rPr>
              <a:t>☀  7:30 AM</a:t>
            </a:r>
          </a:p>
        </p:txBody>
      </p:sp>
      <p:sp>
        <p:nvSpPr>
          <p:cNvPr id="17" name="TextBox 16"/>
          <p:cNvSpPr txBox="1"/>
          <p:nvPr/>
        </p:nvSpPr>
        <p:spPr>
          <a:xfrm>
            <a:off x="5331967" y="5529668"/>
            <a:ext cx="2340864" cy="328231"/>
          </a:xfrm>
          <a:prstGeom prst="rect">
            <a:avLst/>
          </a:prstGeom>
          <a:noFill/>
        </p:spPr>
        <p:txBody>
          <a:bodyPr wrap="square" lIns="0" tIns="0" rIns="0" bIns="0">
            <a:spAutoFit/>
          </a:bodyPr>
          <a:lstStyle/>
          <a:p>
            <a:pPr algn="ctr"/>
            <a:r>
              <a:rPr sz="2133">
                <a:solidFill>
                  <a:srgbClr val="1F1F1F"/>
                </a:solidFill>
                <a:latin typeface="Helvetica Neue Light"/>
              </a:rPr>
              <a:t>Before work</a:t>
            </a:r>
          </a:p>
        </p:txBody>
      </p:sp>
      <p:sp>
        <p:nvSpPr>
          <p:cNvPr id="18" name="TextBox 17"/>
          <p:cNvSpPr txBox="1"/>
          <p:nvPr/>
        </p:nvSpPr>
        <p:spPr>
          <a:xfrm>
            <a:off x="5331967" y="6114883"/>
            <a:ext cx="2340864" cy="240707"/>
          </a:xfrm>
          <a:prstGeom prst="rect">
            <a:avLst/>
          </a:prstGeom>
          <a:noFill/>
        </p:spPr>
        <p:txBody>
          <a:bodyPr wrap="square" lIns="0" tIns="0" rIns="0" bIns="0">
            <a:spAutoFit/>
          </a:bodyPr>
          <a:lstStyle/>
          <a:p>
            <a:pPr algn="ctr"/>
            <a:r>
              <a:rPr sz="1564">
                <a:solidFill>
                  <a:srgbClr val="595959"/>
                </a:solidFill>
                <a:latin typeface="Helvetica Neue Light"/>
              </a:rPr>
              <a:t>Reads one short note</a:t>
            </a:r>
          </a:p>
        </p:txBody>
      </p:sp>
      <p:sp>
        <p:nvSpPr>
          <p:cNvPr id="19" name="Oval 18"/>
          <p:cNvSpPr/>
          <p:nvPr/>
        </p:nvSpPr>
        <p:spPr>
          <a:xfrm>
            <a:off x="8622181" y="4463273"/>
            <a:ext cx="832307" cy="832307"/>
          </a:xfrm>
          <a:prstGeom prst="ellipse">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4</a:t>
            </a:r>
          </a:p>
        </p:txBody>
      </p:sp>
      <p:sp>
        <p:nvSpPr>
          <p:cNvPr id="20" name="TextBox 19"/>
          <p:cNvSpPr txBox="1"/>
          <p:nvPr/>
        </p:nvSpPr>
        <p:spPr>
          <a:xfrm>
            <a:off x="7867903" y="3839043"/>
            <a:ext cx="2340864" cy="240707"/>
          </a:xfrm>
          <a:prstGeom prst="rect">
            <a:avLst/>
          </a:prstGeom>
          <a:noFill/>
        </p:spPr>
        <p:txBody>
          <a:bodyPr wrap="square" lIns="0" tIns="0" rIns="0" bIns="0">
            <a:spAutoFit/>
          </a:bodyPr>
          <a:lstStyle/>
          <a:p>
            <a:pPr algn="ctr"/>
            <a:r>
              <a:rPr sz="1564">
                <a:solidFill>
                  <a:srgbClr val="A12A37"/>
                </a:solidFill>
                <a:latin typeface="Helvetica Neue"/>
              </a:rPr>
              <a:t>☀  9:30 AM–4 PM</a:t>
            </a:r>
          </a:p>
        </p:txBody>
      </p:sp>
      <p:sp>
        <p:nvSpPr>
          <p:cNvPr id="21" name="TextBox 20"/>
          <p:cNvSpPr txBox="1"/>
          <p:nvPr/>
        </p:nvSpPr>
        <p:spPr>
          <a:xfrm>
            <a:off x="7867903" y="5529668"/>
            <a:ext cx="2340864" cy="328231"/>
          </a:xfrm>
          <a:prstGeom prst="rect">
            <a:avLst/>
          </a:prstGeom>
          <a:noFill/>
        </p:spPr>
        <p:txBody>
          <a:bodyPr wrap="square" lIns="0" tIns="0" rIns="0" bIns="0">
            <a:spAutoFit/>
          </a:bodyPr>
          <a:lstStyle/>
          <a:p>
            <a:pPr algn="ctr"/>
            <a:r>
              <a:rPr sz="2133">
                <a:solidFill>
                  <a:srgbClr val="1F1F1F"/>
                </a:solidFill>
                <a:latin typeface="Helvetica Neue Light"/>
              </a:rPr>
              <a:t>During work</a:t>
            </a:r>
          </a:p>
        </p:txBody>
      </p:sp>
      <p:sp>
        <p:nvSpPr>
          <p:cNvPr id="22" name="TextBox 21"/>
          <p:cNvSpPr txBox="1"/>
          <p:nvPr/>
        </p:nvSpPr>
        <p:spPr>
          <a:xfrm>
            <a:off x="7867903" y="6114883"/>
            <a:ext cx="2340864" cy="240707"/>
          </a:xfrm>
          <a:prstGeom prst="rect">
            <a:avLst/>
          </a:prstGeom>
          <a:noFill/>
        </p:spPr>
        <p:txBody>
          <a:bodyPr wrap="square" lIns="0" tIns="0" rIns="0" bIns="0">
            <a:spAutoFit/>
          </a:bodyPr>
          <a:lstStyle/>
          <a:p>
            <a:pPr algn="ctr"/>
            <a:r>
              <a:rPr sz="1564">
                <a:solidFill>
                  <a:srgbClr val="595959"/>
                </a:solidFill>
                <a:latin typeface="Helvetica Neue Light"/>
              </a:rPr>
              <a:t>Taps one alert, if it comes</a:t>
            </a:r>
          </a:p>
        </p:txBody>
      </p:sp>
      <p:sp>
        <p:nvSpPr>
          <p:cNvPr id="23" name="Oval 22"/>
          <p:cNvSpPr/>
          <p:nvPr/>
        </p:nvSpPr>
        <p:spPr>
          <a:xfrm>
            <a:off x="11158119" y="4463273"/>
            <a:ext cx="832307" cy="832307"/>
          </a:xfrm>
          <a:prstGeom prst="ellipse">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5</a:t>
            </a:r>
          </a:p>
        </p:txBody>
      </p:sp>
      <p:sp>
        <p:nvSpPr>
          <p:cNvPr id="24" name="TextBox 23"/>
          <p:cNvSpPr txBox="1"/>
          <p:nvPr/>
        </p:nvSpPr>
        <p:spPr>
          <a:xfrm>
            <a:off x="10403840" y="3839043"/>
            <a:ext cx="2340864" cy="240707"/>
          </a:xfrm>
          <a:prstGeom prst="rect">
            <a:avLst/>
          </a:prstGeom>
          <a:noFill/>
        </p:spPr>
        <p:txBody>
          <a:bodyPr wrap="square" lIns="0" tIns="0" rIns="0" bIns="0">
            <a:spAutoFit/>
          </a:bodyPr>
          <a:lstStyle/>
          <a:p>
            <a:pPr algn="ctr"/>
            <a:r>
              <a:rPr sz="1564">
                <a:solidFill>
                  <a:srgbClr val="3A7D55"/>
                </a:solidFill>
                <a:latin typeface="Helvetica Neue"/>
              </a:rPr>
              <a:t>☀  4:30 PM</a:t>
            </a:r>
          </a:p>
        </p:txBody>
      </p:sp>
      <p:sp>
        <p:nvSpPr>
          <p:cNvPr id="25" name="TextBox 24"/>
          <p:cNvSpPr txBox="1"/>
          <p:nvPr/>
        </p:nvSpPr>
        <p:spPr>
          <a:xfrm>
            <a:off x="10403840" y="5529667"/>
            <a:ext cx="2340864" cy="328231"/>
          </a:xfrm>
          <a:prstGeom prst="rect">
            <a:avLst/>
          </a:prstGeom>
          <a:noFill/>
        </p:spPr>
        <p:txBody>
          <a:bodyPr wrap="square" lIns="0" tIns="0" rIns="0" bIns="0">
            <a:spAutoFit/>
          </a:bodyPr>
          <a:lstStyle/>
          <a:p>
            <a:pPr algn="ctr"/>
            <a:r>
              <a:rPr sz="2133">
                <a:solidFill>
                  <a:srgbClr val="1F1F1F"/>
                </a:solidFill>
                <a:latin typeface="Helvetica Neue Light"/>
              </a:rPr>
              <a:t>After the close</a:t>
            </a:r>
          </a:p>
        </p:txBody>
      </p:sp>
      <p:sp>
        <p:nvSpPr>
          <p:cNvPr id="26" name="TextBox 25"/>
          <p:cNvSpPr txBox="1"/>
          <p:nvPr/>
        </p:nvSpPr>
        <p:spPr>
          <a:xfrm>
            <a:off x="10640291" y="6114883"/>
            <a:ext cx="1584222" cy="722121"/>
          </a:xfrm>
          <a:prstGeom prst="rect">
            <a:avLst/>
          </a:prstGeom>
          <a:noFill/>
        </p:spPr>
        <p:txBody>
          <a:bodyPr wrap="square" lIns="0" tIns="0" rIns="0" bIns="0">
            <a:spAutoFit/>
          </a:bodyPr>
          <a:lstStyle/>
          <a:p>
            <a:pPr algn="ctr"/>
            <a:r>
              <a:rPr sz="1564" dirty="0">
                <a:solidFill>
                  <a:srgbClr val="595959"/>
                </a:solidFill>
                <a:latin typeface="Helvetica Neue Light"/>
              </a:rPr>
              <a:t>Decides: hold, or exit in his own broker</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 xml:space="preserve">The whole trading day, in 19 screens</a:t>
            </a:r>
            <a:r>
              <a:rPr sz="3200" dirty="0" err="1">
                <a:solidFill>
                  <a:srgbClr val="1F1F1F"/>
                </a:solidFill>
                <a:latin typeface="Helvetica Neue Light"/>
              </a:rPr>
              <a:t/>
            </a:r>
            <a:r>
              <a:rPr sz="3200" dirty="0">
                <a:solidFill>
                  <a:srgbClr val="1F1F1F"/>
                </a:solidFill>
                <a:latin typeface="Helvetica Neue Light"/>
              </a:rPr>
              <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 xml:space="preserve">One trade, Monday evening to Sunday. Every screen is designed in hi-fi and linked as a clickable prototype.</a:t>
            </a:r>
          </a:p>
        </p:txBody>
      </p:sp>
      <p:pic>
        <p:nvPicPr>
          <p:cNvPr id="6" name="Picture 5" descr="image.png"/>
          <p:cNvPicPr>
            <a:picLocks noChangeAspect="1"/>
          </p:cNvPicPr>
          <p:nvPr/>
        </p:nvPicPr>
        <p:blipFill>
          <a:blip r:embed="rId3"/>
          <a:srcRect b="10598"/>
          <a:stretch>
            <a:fillRect/>
          </a:stretch>
        </p:blipFill>
        <p:spPr>
          <a:xfrm>
            <a:off x="457200" y="2103120"/>
            <a:ext cx="2282342" cy="1170432"/>
          </a:xfrm>
          <a:prstGeom prst="rect">
            <a:avLst/>
          </a:prstGeom>
        </p:spPr>
      </p:pic>
      <p:sp>
        <p:nvSpPr>
          <p:cNvPr id="502" name="Caption 1"/>
          <p:cNvSpPr txBox="1"/>
          <p:nvPr/>
        </p:nvSpPr>
        <p:spPr>
          <a:xfrm>
            <a:off x="457200" y="3328416"/>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01  </a:t>
            </a:r>
            <a:r>
              <a:rPr lang="en-US" sz="1050" dirty="0">
                <a:solidFill>
                  <a:srgbClr val="1F1F1F"/>
                </a:solidFill>
                <a:latin typeface="Helvetica Neue"/>
                <a:cs typeface="Helvetica Neue"/>
              </a:rPr>
              <a:t xml:space="preserve">Show It</a:t>
            </a:r>
          </a:p>
          <a:p>
            <a:pPr>
              <a:lnSpc>
                <a:spcPct val="105000"/>
              </a:lnSpc>
            </a:pPr>
            <a:r>
              <a:rPr lang="en-US" sz="950" dirty="0">
                <a:solidFill>
                  <a:srgbClr val="595959"/>
                </a:solidFill>
                <a:latin typeface="Helvetica Neue Light"/>
                <a:cs typeface="Helvetica Neue Light"/>
              </a:rPr>
              <a:t xml:space="preserve">Mon 8:05 PM</a:t>
            </a:r>
          </a:p>
        </p:txBody>
      </p:sp>
      <p:pic>
        <p:nvPicPr>
          <p:cNvPr id="503" name="Picture 502" descr="image.png"/>
          <p:cNvPicPr>
            <a:picLocks noChangeAspect="1"/>
          </p:cNvPicPr>
          <p:nvPr/>
        </p:nvPicPr>
        <p:blipFill>
          <a:blip r:embed="rId4"/>
          <a:stretch>
            <a:fillRect/>
          </a:stretch>
        </p:blipFill>
        <p:spPr>
          <a:xfrm>
            <a:off x="2904134" y="2103120"/>
            <a:ext cx="2282342" cy="1170432"/>
          </a:xfrm>
          <a:prstGeom prst="rect">
            <a:avLst/>
          </a:prstGeom>
        </p:spPr>
      </p:pic>
      <p:sp>
        <p:nvSpPr>
          <p:cNvPr id="504" name="Caption 2"/>
          <p:cNvSpPr txBox="1"/>
          <p:nvPr/>
        </p:nvSpPr>
        <p:spPr>
          <a:xfrm>
            <a:off x="2904134" y="3328416"/>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02  </a:t>
            </a:r>
            <a:r>
              <a:rPr lang="en-US" sz="1050" dirty="0">
                <a:solidFill>
                  <a:srgbClr val="1F1F1F"/>
                </a:solidFill>
                <a:latin typeface="Helvetica Neue"/>
                <a:cs typeface="Helvetica Neue"/>
              </a:rPr>
              <a:t xml:space="preserve">Since last night</a:t>
            </a:r>
          </a:p>
          <a:p>
            <a:pPr>
              <a:lnSpc>
                <a:spcPct val="105000"/>
              </a:lnSpc>
            </a:pPr>
            <a:r>
              <a:rPr lang="en-US" sz="950" dirty="0">
                <a:solidFill>
                  <a:srgbClr val="595959"/>
                </a:solidFill>
                <a:latin typeface="Helvetica Neue Light"/>
                <a:cs typeface="Helvetica Neue Light"/>
              </a:rPr>
              <a:t xml:space="preserve">Mon 8:10 PM</a:t>
            </a:r>
          </a:p>
        </p:txBody>
      </p:sp>
      <p:pic>
        <p:nvPicPr>
          <p:cNvPr id="505" name="Picture 504" descr="image.png"/>
          <p:cNvPicPr>
            <a:picLocks noChangeAspect="1"/>
          </p:cNvPicPr>
          <p:nvPr/>
        </p:nvPicPr>
        <p:blipFill>
          <a:blip r:embed="rId5"/>
          <a:srcRect b="13020"/>
          <a:stretch>
            <a:fillRect/>
          </a:stretch>
        </p:blipFill>
        <p:spPr>
          <a:xfrm>
            <a:off x="5351068" y="2103120"/>
            <a:ext cx="2282342" cy="1170432"/>
          </a:xfrm>
          <a:prstGeom prst="rect">
            <a:avLst/>
          </a:prstGeom>
        </p:spPr>
      </p:pic>
      <p:sp>
        <p:nvSpPr>
          <p:cNvPr id="506" name="Caption 3"/>
          <p:cNvSpPr txBox="1"/>
          <p:nvPr/>
        </p:nvSpPr>
        <p:spPr>
          <a:xfrm>
            <a:off x="5351068" y="3328416"/>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03  </a:t>
            </a:r>
            <a:r>
              <a:rPr lang="en-US" sz="1050" dirty="0">
                <a:solidFill>
                  <a:srgbClr val="1F1F1F"/>
                </a:solidFill>
                <a:latin typeface="Helvetica Neue"/>
                <a:cs typeface="Helvetica Neue"/>
              </a:rPr>
              <a:t xml:space="preserve">Lens grid</a:t>
            </a:r>
          </a:p>
          <a:p>
            <a:pPr>
              <a:lnSpc>
                <a:spcPct val="105000"/>
              </a:lnSpc>
            </a:pPr>
            <a:r>
              <a:rPr lang="en-US" sz="950" dirty="0">
                <a:solidFill>
                  <a:srgbClr val="595959"/>
                </a:solidFill>
                <a:latin typeface="Helvetica Neue Light"/>
                <a:cs typeface="Helvetica Neue Light"/>
              </a:rPr>
              <a:t xml:space="preserve">Mon 8:20 PM</a:t>
            </a:r>
          </a:p>
        </p:txBody>
      </p:sp>
      <p:pic>
        <p:nvPicPr>
          <p:cNvPr id="507" name="Picture 506" descr="image.png"/>
          <p:cNvPicPr>
            <a:picLocks noChangeAspect="1"/>
          </p:cNvPicPr>
          <p:nvPr/>
        </p:nvPicPr>
        <p:blipFill>
          <a:blip r:embed="rId6"/>
          <a:srcRect b="14629"/>
          <a:stretch>
            <a:fillRect/>
          </a:stretch>
        </p:blipFill>
        <p:spPr>
          <a:xfrm>
            <a:off x="7798003" y="2103120"/>
            <a:ext cx="2282342" cy="1170432"/>
          </a:xfrm>
          <a:prstGeom prst="rect">
            <a:avLst/>
          </a:prstGeom>
        </p:spPr>
      </p:pic>
      <p:sp>
        <p:nvSpPr>
          <p:cNvPr id="508" name="Caption 4"/>
          <p:cNvSpPr txBox="1"/>
          <p:nvPr/>
        </p:nvSpPr>
        <p:spPr>
          <a:xfrm>
            <a:off x="7798003" y="3328416"/>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04  </a:t>
            </a:r>
            <a:r>
              <a:rPr lang="en-US" sz="1050" dirty="0">
                <a:solidFill>
                  <a:srgbClr val="1F1F1F"/>
                </a:solidFill>
                <a:latin typeface="Helvetica Neue"/>
                <a:cs typeface="Helvetica Neue"/>
              </a:rPr>
              <a:t xml:space="preserve">Linked compare</a:t>
            </a:r>
          </a:p>
          <a:p>
            <a:pPr>
              <a:lnSpc>
                <a:spcPct val="105000"/>
              </a:lnSpc>
            </a:pPr>
            <a:r>
              <a:rPr lang="en-US" sz="950" dirty="0">
                <a:solidFill>
                  <a:srgbClr val="595959"/>
                </a:solidFill>
                <a:latin typeface="Helvetica Neue Light"/>
                <a:cs typeface="Helvetica Neue Light"/>
              </a:rPr>
              <a:t xml:space="preserve">Mon 8:26 PM</a:t>
            </a:r>
          </a:p>
        </p:txBody>
      </p:sp>
      <p:pic>
        <p:nvPicPr>
          <p:cNvPr id="509" name="Picture 508" descr="image.png"/>
          <p:cNvPicPr>
            <a:picLocks noChangeAspect="1"/>
          </p:cNvPicPr>
          <p:nvPr/>
        </p:nvPicPr>
        <p:blipFill>
          <a:blip r:embed="rId7"/>
          <a:srcRect b="16558"/>
          <a:stretch>
            <a:fillRect/>
          </a:stretch>
        </p:blipFill>
        <p:spPr>
          <a:xfrm>
            <a:off x="10244937" y="2103120"/>
            <a:ext cx="2282342" cy="1170432"/>
          </a:xfrm>
          <a:prstGeom prst="rect">
            <a:avLst/>
          </a:prstGeom>
        </p:spPr>
      </p:pic>
      <p:sp>
        <p:nvSpPr>
          <p:cNvPr id="510" name="Caption 5"/>
          <p:cNvSpPr txBox="1"/>
          <p:nvPr/>
        </p:nvSpPr>
        <p:spPr>
          <a:xfrm>
            <a:off x="10244937" y="3328416"/>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05  </a:t>
            </a:r>
            <a:r>
              <a:rPr lang="en-US" sz="1050" dirty="0">
                <a:solidFill>
                  <a:srgbClr val="1F1F1F"/>
                </a:solidFill>
                <a:latin typeface="Helvetica Neue"/>
                <a:cs typeface="Helvetica Neue"/>
              </a:rPr>
              <a:t xml:space="preserve">Reasons ledger</a:t>
            </a:r>
          </a:p>
          <a:p>
            <a:pPr>
              <a:lnSpc>
                <a:spcPct val="105000"/>
              </a:lnSpc>
            </a:pPr>
            <a:r>
              <a:rPr lang="en-US" sz="950" dirty="0">
                <a:solidFill>
                  <a:srgbClr val="595959"/>
                </a:solidFill>
                <a:latin typeface="Helvetica Neue Light"/>
                <a:cs typeface="Helvetica Neue Light"/>
              </a:rPr>
              <a:t xml:space="preserve">Mon 8:32 PM</a:t>
            </a:r>
          </a:p>
        </p:txBody>
      </p:sp>
      <p:pic>
        <p:nvPicPr>
          <p:cNvPr id="511" name="Picture 510" descr="image.png"/>
          <p:cNvPicPr>
            <a:picLocks noChangeAspect="1"/>
          </p:cNvPicPr>
          <p:nvPr/>
        </p:nvPicPr>
        <p:blipFill>
          <a:blip r:embed="rId8"/>
          <a:srcRect b="12088"/>
          <a:stretch>
            <a:fillRect/>
          </a:stretch>
        </p:blipFill>
        <p:spPr>
          <a:xfrm>
            <a:off x="457200" y="3776472"/>
            <a:ext cx="2282342" cy="1170432"/>
          </a:xfrm>
          <a:prstGeom prst="rect">
            <a:avLst/>
          </a:prstGeom>
        </p:spPr>
      </p:pic>
      <p:sp>
        <p:nvSpPr>
          <p:cNvPr id="512" name="Caption 6"/>
          <p:cNvSpPr txBox="1"/>
          <p:nvPr/>
        </p:nvSpPr>
        <p:spPr>
          <a:xfrm>
            <a:off x="457200" y="5001768"/>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06  </a:t>
            </a:r>
            <a:r>
              <a:rPr lang="en-US" sz="1050" dirty="0">
                <a:solidFill>
                  <a:srgbClr val="1F1F1F"/>
                </a:solidFill>
                <a:latin typeface="Helvetica Neue"/>
                <a:cs typeface="Helvetica Neue"/>
              </a:rPr>
              <a:t xml:space="preserve">Watch these for me</a:t>
            </a:r>
          </a:p>
          <a:p>
            <a:pPr>
              <a:lnSpc>
                <a:spcPct val="105000"/>
              </a:lnSpc>
            </a:pPr>
            <a:r>
              <a:rPr lang="en-US" sz="950" dirty="0">
                <a:solidFill>
                  <a:srgbClr val="595959"/>
                </a:solidFill>
                <a:latin typeface="Helvetica Neue Light"/>
                <a:cs typeface="Helvetica Neue Light"/>
              </a:rPr>
              <a:t xml:space="preserve">Mon 8:40 PM</a:t>
            </a:r>
          </a:p>
        </p:txBody>
      </p:sp>
      <p:pic>
        <p:nvPicPr>
          <p:cNvPr id="513" name="Picture 512" descr="image.png"/>
          <p:cNvPicPr>
            <a:picLocks noChangeAspect="1"/>
          </p:cNvPicPr>
          <p:nvPr/>
        </p:nvPicPr>
        <p:blipFill>
          <a:blip r:embed="rId9"/>
          <a:srcRect b="25932"/>
          <a:stretch>
            <a:fillRect/>
          </a:stretch>
        </p:blipFill>
        <p:spPr>
          <a:xfrm>
            <a:off x="2904134" y="3776472"/>
            <a:ext cx="2282342" cy="1170432"/>
          </a:xfrm>
          <a:prstGeom prst="rect">
            <a:avLst/>
          </a:prstGeom>
        </p:spPr>
      </p:pic>
      <p:sp>
        <p:nvSpPr>
          <p:cNvPr id="514" name="Caption 7"/>
          <p:cNvSpPr txBox="1"/>
          <p:nvPr/>
        </p:nvSpPr>
        <p:spPr>
          <a:xfrm>
            <a:off x="2904134" y="5001768"/>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07  </a:t>
            </a:r>
            <a:r>
              <a:rPr lang="en-US" sz="1050" dirty="0">
                <a:solidFill>
                  <a:srgbClr val="1F1F1F"/>
                </a:solidFill>
                <a:latin typeface="Helvetica Neue"/>
                <a:cs typeface="Helvetica Neue"/>
              </a:rPr>
              <a:t xml:space="preserve">Morning glance</a:t>
            </a:r>
          </a:p>
          <a:p>
            <a:pPr>
              <a:lnSpc>
                <a:spcPct val="105000"/>
              </a:lnSpc>
            </a:pPr>
            <a:r>
              <a:rPr lang="en-US" sz="950" dirty="0">
                <a:solidFill>
                  <a:srgbClr val="595959"/>
                </a:solidFill>
                <a:latin typeface="Helvetica Neue Light"/>
                <a:cs typeface="Helvetica Neue Light"/>
              </a:rPr>
              <a:t xml:space="preserve">Tue 7:30 AM</a:t>
            </a:r>
          </a:p>
        </p:txBody>
      </p:sp>
      <p:pic>
        <p:nvPicPr>
          <p:cNvPr id="515" name="Picture 514" descr="image.png"/>
          <p:cNvPicPr>
            <a:picLocks noChangeAspect="1"/>
          </p:cNvPicPr>
          <p:nvPr/>
        </p:nvPicPr>
        <p:blipFill>
          <a:blip r:embed="rId10"/>
          <a:srcRect b="16369"/>
          <a:stretch>
            <a:fillRect/>
          </a:stretch>
        </p:blipFill>
        <p:spPr>
          <a:xfrm>
            <a:off x="5351068" y="3776472"/>
            <a:ext cx="2282342" cy="1170432"/>
          </a:xfrm>
          <a:prstGeom prst="rect">
            <a:avLst/>
          </a:prstGeom>
        </p:spPr>
      </p:pic>
      <p:sp>
        <p:nvSpPr>
          <p:cNvPr id="516" name="Caption 8"/>
          <p:cNvSpPr txBox="1"/>
          <p:nvPr/>
        </p:nvSpPr>
        <p:spPr>
          <a:xfrm>
            <a:off x="5351068" y="5001768"/>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08  </a:t>
            </a:r>
            <a:r>
              <a:rPr lang="en-US" sz="1050" dirty="0">
                <a:solidFill>
                  <a:srgbClr val="1F1F1F"/>
                </a:solidFill>
                <a:latin typeface="Helvetica Neue"/>
                <a:cs typeface="Helvetica Neue"/>
              </a:rPr>
              <a:t xml:space="preserve">Why marked</a:t>
            </a:r>
          </a:p>
          <a:p>
            <a:pPr>
              <a:lnSpc>
                <a:spcPct val="105000"/>
              </a:lnSpc>
            </a:pPr>
            <a:r>
              <a:rPr lang="en-US" sz="950" dirty="0">
                <a:solidFill>
                  <a:srgbClr val="595959"/>
                </a:solidFill>
                <a:latin typeface="Helvetica Neue Light"/>
                <a:cs typeface="Helvetica Neue Light"/>
              </a:rPr>
              <a:t xml:space="preserve">Tue 7:40 AM</a:t>
            </a:r>
          </a:p>
        </p:txBody>
      </p:sp>
      <p:pic>
        <p:nvPicPr>
          <p:cNvPr id="517" name="Picture 516" descr="image.png"/>
          <p:cNvPicPr>
            <a:picLocks noChangeAspect="1"/>
          </p:cNvPicPr>
          <p:nvPr/>
        </p:nvPicPr>
        <p:blipFill>
          <a:blip r:embed="rId11"/>
          <a:srcRect b="44183"/>
          <a:stretch>
            <a:fillRect/>
          </a:stretch>
        </p:blipFill>
        <p:spPr>
          <a:xfrm>
            <a:off x="7798003" y="3776472"/>
            <a:ext cx="2282342" cy="1170432"/>
          </a:xfrm>
          <a:prstGeom prst="rect">
            <a:avLst/>
          </a:prstGeom>
        </p:spPr>
      </p:pic>
      <p:sp>
        <p:nvSpPr>
          <p:cNvPr id="518" name="Caption 9"/>
          <p:cNvSpPr txBox="1"/>
          <p:nvPr/>
        </p:nvSpPr>
        <p:spPr>
          <a:xfrm>
            <a:off x="7798003" y="5001768"/>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09  </a:t>
            </a:r>
            <a:r>
              <a:rPr lang="en-US" sz="1050" dirty="0">
                <a:solidFill>
                  <a:srgbClr val="1F1F1F"/>
                </a:solidFill>
                <a:latin typeface="Helvetica Neue"/>
                <a:cs typeface="Helvetica Neue"/>
              </a:rPr>
              <a:t xml:space="preserve">Insight Board</a:t>
            </a:r>
          </a:p>
          <a:p>
            <a:pPr>
              <a:lnSpc>
                <a:spcPct val="105000"/>
              </a:lnSpc>
            </a:pPr>
            <a:r>
              <a:rPr lang="en-US" sz="950" dirty="0">
                <a:solidFill>
                  <a:srgbClr val="595959"/>
                </a:solidFill>
                <a:latin typeface="Helvetica Neue Light"/>
                <a:cs typeface="Helvetica Neue Light"/>
              </a:rPr>
              <a:t xml:space="preserve">Tue 7:45 AM</a:t>
            </a:r>
          </a:p>
        </p:txBody>
      </p:sp>
      <p:pic>
        <p:nvPicPr>
          <p:cNvPr id="519" name="Picture 518" descr="image.png"/>
          <p:cNvPicPr>
            <a:picLocks noChangeAspect="1"/>
          </p:cNvPicPr>
          <p:nvPr/>
        </p:nvPicPr>
        <p:blipFill>
          <a:blip r:embed="rId12"/>
          <a:srcRect b="44183"/>
          <a:stretch>
            <a:fillRect/>
          </a:stretch>
        </p:blipFill>
        <p:spPr>
          <a:xfrm>
            <a:off x="10244937" y="3776472"/>
            <a:ext cx="2282342" cy="1170432"/>
          </a:xfrm>
          <a:prstGeom prst="rect">
            <a:avLst/>
          </a:prstGeom>
        </p:spPr>
      </p:pic>
      <p:sp>
        <p:nvSpPr>
          <p:cNvPr id="520" name="Caption 10"/>
          <p:cNvSpPr txBox="1"/>
          <p:nvPr/>
        </p:nvSpPr>
        <p:spPr>
          <a:xfrm>
            <a:off x="10244937" y="5001768"/>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10  </a:t>
            </a:r>
            <a:r>
              <a:rPr lang="en-US" sz="1050" dirty="0">
                <a:solidFill>
                  <a:srgbClr val="1F1F1F"/>
                </a:solidFill>
                <a:latin typeface="Helvetica Neue"/>
                <a:cs typeface="Helvetica Neue"/>
              </a:rPr>
              <a:t xml:space="preserve">Insight, opened</a:t>
            </a:r>
          </a:p>
          <a:p>
            <a:pPr>
              <a:lnSpc>
                <a:spcPct val="105000"/>
              </a:lnSpc>
            </a:pPr>
            <a:r>
              <a:rPr lang="en-US" sz="950" dirty="0">
                <a:solidFill>
                  <a:srgbClr val="595959"/>
                </a:solidFill>
                <a:latin typeface="Helvetica Neue Light"/>
                <a:cs typeface="Helvetica Neue Light"/>
              </a:rPr>
              <a:t xml:space="preserve">Tue 7:45 AM</a:t>
            </a:r>
          </a:p>
        </p:txBody>
      </p:sp>
      <p:pic>
        <p:nvPicPr>
          <p:cNvPr id="521" name="Picture 520" descr="image.png"/>
          <p:cNvPicPr>
            <a:picLocks noChangeAspect="1"/>
          </p:cNvPicPr>
          <p:nvPr/>
        </p:nvPicPr>
        <p:blipFill>
          <a:blip r:embed="rId13"/>
          <a:stretch>
            <a:fillRect/>
          </a:stretch>
        </p:blipFill>
        <p:spPr>
          <a:xfrm>
            <a:off x="457200" y="5449824"/>
            <a:ext cx="2282342" cy="1170432"/>
          </a:xfrm>
          <a:prstGeom prst="rect">
            <a:avLst/>
          </a:prstGeom>
        </p:spPr>
      </p:pic>
      <p:sp>
        <p:nvSpPr>
          <p:cNvPr id="522" name="Caption 11"/>
          <p:cNvSpPr txBox="1"/>
          <p:nvPr/>
        </p:nvSpPr>
        <p:spPr>
          <a:xfrm>
            <a:off x="457200" y="6675120"/>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11  </a:t>
            </a:r>
            <a:r>
              <a:rPr lang="en-US" sz="1050" dirty="0">
                <a:solidFill>
                  <a:srgbClr val="1F1F1F"/>
                </a:solidFill>
                <a:latin typeface="Helvetica Neue"/>
                <a:cs typeface="Helvetica Neue"/>
              </a:rPr>
              <a:t xml:space="preserve">Quiet hours, one alert</a:t>
            </a:r>
          </a:p>
          <a:p>
            <a:pPr>
              <a:lnSpc>
                <a:spcPct val="105000"/>
              </a:lnSpc>
            </a:pPr>
            <a:r>
              <a:rPr lang="en-US" sz="950" dirty="0">
                <a:solidFill>
                  <a:srgbClr val="595959"/>
                </a:solidFill>
                <a:latin typeface="Helvetica Neue Light"/>
                <a:cs typeface="Helvetica Neue Light"/>
              </a:rPr>
              <a:t xml:space="preserve">Tue 10:14 AM</a:t>
            </a:r>
          </a:p>
        </p:txBody>
      </p:sp>
      <p:pic>
        <p:nvPicPr>
          <p:cNvPr id="523" name="Picture 522" descr="image.png"/>
          <p:cNvPicPr>
            <a:picLocks noChangeAspect="1"/>
          </p:cNvPicPr>
          <p:nvPr/>
        </p:nvPicPr>
        <p:blipFill>
          <a:blip r:embed="rId14"/>
          <a:srcRect b="12088"/>
          <a:stretch>
            <a:fillRect/>
          </a:stretch>
        </p:blipFill>
        <p:spPr>
          <a:xfrm>
            <a:off x="2904134" y="5449824"/>
            <a:ext cx="2282342" cy="1170432"/>
          </a:xfrm>
          <a:prstGeom prst="rect">
            <a:avLst/>
          </a:prstGeom>
        </p:spPr>
      </p:pic>
      <p:sp>
        <p:nvSpPr>
          <p:cNvPr id="524" name="Caption 12"/>
          <p:cNvSpPr txBox="1"/>
          <p:nvPr/>
        </p:nvSpPr>
        <p:spPr>
          <a:xfrm>
            <a:off x="2904134" y="6675120"/>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12  </a:t>
            </a:r>
            <a:r>
              <a:rPr lang="en-US" sz="1050" dirty="0">
                <a:solidFill>
                  <a:srgbClr val="1F1F1F"/>
                </a:solidFill>
                <a:latin typeface="Helvetica Neue"/>
                <a:cs typeface="Helvetica Neue"/>
              </a:rPr>
              <a:t xml:space="preserve">This was wrong</a:t>
            </a:r>
          </a:p>
          <a:p>
            <a:pPr>
              <a:lnSpc>
                <a:spcPct val="105000"/>
              </a:lnSpc>
            </a:pPr>
            <a:r>
              <a:rPr lang="en-US" sz="950" dirty="0">
                <a:solidFill>
                  <a:srgbClr val="595959"/>
                </a:solidFill>
                <a:latin typeface="Helvetica Neue Light"/>
                <a:cs typeface="Helvetica Neue Light"/>
              </a:rPr>
              <a:t xml:space="preserve">Tue 10:31 AM</a:t>
            </a:r>
          </a:p>
        </p:txBody>
      </p:sp>
      <p:pic>
        <p:nvPicPr>
          <p:cNvPr id="525" name="Picture 524" descr="image.png"/>
          <p:cNvPicPr>
            <a:picLocks noChangeAspect="1"/>
          </p:cNvPicPr>
          <p:nvPr/>
        </p:nvPicPr>
        <p:blipFill>
          <a:blip r:embed="rId15"/>
          <a:srcRect b="24570"/>
          <a:stretch>
            <a:fillRect/>
          </a:stretch>
        </p:blipFill>
        <p:spPr>
          <a:xfrm>
            <a:off x="5351068" y="5449824"/>
            <a:ext cx="2282342" cy="1170432"/>
          </a:xfrm>
          <a:prstGeom prst="rect">
            <a:avLst/>
          </a:prstGeom>
        </p:spPr>
      </p:pic>
      <p:sp>
        <p:nvSpPr>
          <p:cNvPr id="526" name="Caption 13"/>
          <p:cNvSpPr txBox="1"/>
          <p:nvPr/>
        </p:nvSpPr>
        <p:spPr>
          <a:xfrm>
            <a:off x="5351068" y="6675120"/>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13  </a:t>
            </a:r>
            <a:r>
              <a:rPr lang="en-US" sz="1050" dirty="0">
                <a:solidFill>
                  <a:srgbClr val="1F1F1F"/>
                </a:solidFill>
                <a:latin typeface="Helvetica Neue"/>
                <a:cs typeface="Helvetica Neue"/>
              </a:rPr>
              <a:t xml:space="preserve">Board at lunch</a:t>
            </a:r>
          </a:p>
          <a:p>
            <a:pPr>
              <a:lnSpc>
                <a:spcPct val="105000"/>
              </a:lnSpc>
            </a:pPr>
            <a:r>
              <a:rPr lang="en-US" sz="950" dirty="0">
                <a:solidFill>
                  <a:srgbClr val="595959"/>
                </a:solidFill>
                <a:latin typeface="Helvetica Neue Light"/>
                <a:cs typeface="Helvetica Neue Light"/>
              </a:rPr>
              <a:t xml:space="preserve">Tue 12:30 PM</a:t>
            </a:r>
          </a:p>
        </p:txBody>
      </p:sp>
      <p:pic>
        <p:nvPicPr>
          <p:cNvPr id="527" name="Picture 526" descr="image.png"/>
          <p:cNvPicPr>
            <a:picLocks noChangeAspect="1"/>
          </p:cNvPicPr>
          <p:nvPr/>
        </p:nvPicPr>
        <p:blipFill>
          <a:blip r:embed="rId16"/>
          <a:srcRect b="17027"/>
          <a:stretch>
            <a:fillRect/>
          </a:stretch>
        </p:blipFill>
        <p:spPr>
          <a:xfrm>
            <a:off x="7798003" y="5449824"/>
            <a:ext cx="2282342" cy="1170432"/>
          </a:xfrm>
          <a:prstGeom prst="rect">
            <a:avLst/>
          </a:prstGeom>
        </p:spPr>
      </p:pic>
      <p:sp>
        <p:nvSpPr>
          <p:cNvPr id="528" name="Caption 14"/>
          <p:cNvSpPr txBox="1"/>
          <p:nvPr/>
        </p:nvSpPr>
        <p:spPr>
          <a:xfrm>
            <a:off x="7798003" y="6675120"/>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14  </a:t>
            </a:r>
            <a:r>
              <a:rPr lang="en-US" sz="1050" dirty="0">
                <a:solidFill>
                  <a:srgbClr val="1F1F1F"/>
                </a:solidFill>
                <a:latin typeface="Helvetica Neue"/>
                <a:cs typeface="Helvetica Neue"/>
              </a:rPr>
              <a:t xml:space="preserve">Reasons still hold?</a:t>
            </a:r>
          </a:p>
          <a:p>
            <a:pPr>
              <a:lnSpc>
                <a:spcPct val="105000"/>
              </a:lnSpc>
            </a:pPr>
            <a:r>
              <a:rPr lang="en-US" sz="950" dirty="0">
                <a:solidFill>
                  <a:srgbClr val="595959"/>
                </a:solidFill>
                <a:latin typeface="Helvetica Neue Light"/>
                <a:cs typeface="Helvetica Neue Light"/>
              </a:rPr>
              <a:t xml:space="preserve">Tue 4:30 PM</a:t>
            </a:r>
          </a:p>
        </p:txBody>
      </p:sp>
      <p:pic>
        <p:nvPicPr>
          <p:cNvPr id="529" name="Picture 528" descr="image.png"/>
          <p:cNvPicPr>
            <a:picLocks noChangeAspect="1"/>
          </p:cNvPicPr>
          <p:nvPr/>
        </p:nvPicPr>
        <p:blipFill>
          <a:blip r:embed="rId17"/>
          <a:srcRect b="31497"/>
          <a:stretch>
            <a:fillRect/>
          </a:stretch>
        </p:blipFill>
        <p:spPr>
          <a:xfrm>
            <a:off x="10244937" y="5449824"/>
            <a:ext cx="2282342" cy="1170432"/>
          </a:xfrm>
          <a:prstGeom prst="rect">
            <a:avLst/>
          </a:prstGeom>
        </p:spPr>
      </p:pic>
      <p:sp>
        <p:nvSpPr>
          <p:cNvPr id="530" name="Caption 15"/>
          <p:cNvSpPr txBox="1"/>
          <p:nvPr/>
        </p:nvSpPr>
        <p:spPr>
          <a:xfrm>
            <a:off x="10244937" y="6675120"/>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15  </a:t>
            </a:r>
            <a:r>
              <a:rPr lang="en-US" sz="1050" dirty="0">
                <a:solidFill>
                  <a:srgbClr val="1F1F1F"/>
                </a:solidFill>
                <a:latin typeface="Helvetica Neue"/>
                <a:cs typeface="Helvetica Neue"/>
              </a:rPr>
              <a:t xml:space="preserve">Portfolio vs plan</a:t>
            </a:r>
          </a:p>
          <a:p>
            <a:pPr>
              <a:lnSpc>
                <a:spcPct val="105000"/>
              </a:lnSpc>
            </a:pPr>
            <a:r>
              <a:rPr lang="en-US" sz="950" dirty="0">
                <a:solidFill>
                  <a:srgbClr val="595959"/>
                </a:solidFill>
                <a:latin typeface="Helvetica Neue Light"/>
                <a:cs typeface="Helvetica Neue Light"/>
              </a:rPr>
              <a:t xml:space="preserve">Tue 4:45 PM</a:t>
            </a:r>
          </a:p>
        </p:txBody>
      </p:sp>
      <p:pic>
        <p:nvPicPr>
          <p:cNvPr id="531" name="Picture 530" descr="image.png"/>
          <p:cNvPicPr>
            <a:picLocks noChangeAspect="1"/>
          </p:cNvPicPr>
          <p:nvPr/>
        </p:nvPicPr>
        <p:blipFill>
          <a:blip r:embed="rId18"/>
          <a:stretch>
            <a:fillRect/>
          </a:stretch>
        </p:blipFill>
        <p:spPr>
          <a:xfrm>
            <a:off x="457200" y="7123176"/>
            <a:ext cx="2282342" cy="1170432"/>
          </a:xfrm>
          <a:prstGeom prst="rect">
            <a:avLst/>
          </a:prstGeom>
        </p:spPr>
      </p:pic>
      <p:sp>
        <p:nvSpPr>
          <p:cNvPr id="532" name="Caption 16"/>
          <p:cNvSpPr txBox="1"/>
          <p:nvPr/>
        </p:nvSpPr>
        <p:spPr>
          <a:xfrm>
            <a:off x="457200" y="8348472"/>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16  </a:t>
            </a:r>
            <a:r>
              <a:rPr lang="en-US" sz="1050" dirty="0">
                <a:solidFill>
                  <a:srgbClr val="1F1F1F"/>
                </a:solidFill>
                <a:latin typeface="Helvetica Neue"/>
                <a:cs typeface="Helvetica Neue"/>
              </a:rPr>
              <a:t xml:space="preserve">Lens on portfolio</a:t>
            </a:r>
          </a:p>
          <a:p>
            <a:pPr>
              <a:lnSpc>
                <a:spcPct val="105000"/>
              </a:lnSpc>
            </a:pPr>
            <a:r>
              <a:rPr lang="en-US" sz="950" dirty="0">
                <a:solidFill>
                  <a:srgbClr val="595959"/>
                </a:solidFill>
                <a:latin typeface="Helvetica Neue Light"/>
                <a:cs typeface="Helvetica Neue Light"/>
              </a:rPr>
              <a:t xml:space="preserve">Tue 4:50 PM</a:t>
            </a:r>
          </a:p>
        </p:txBody>
      </p:sp>
      <p:pic>
        <p:nvPicPr>
          <p:cNvPr id="533" name="Picture 532" descr="image.png"/>
          <p:cNvPicPr>
            <a:picLocks noChangeAspect="1"/>
          </p:cNvPicPr>
          <p:nvPr/>
        </p:nvPicPr>
        <p:blipFill>
          <a:blip r:embed="rId19"/>
          <a:srcRect b="22185"/>
          <a:stretch>
            <a:fillRect/>
          </a:stretch>
        </p:blipFill>
        <p:spPr>
          <a:xfrm>
            <a:off x="2904134" y="7123176"/>
            <a:ext cx="2282342" cy="1170432"/>
          </a:xfrm>
          <a:prstGeom prst="rect">
            <a:avLst/>
          </a:prstGeom>
        </p:spPr>
      </p:pic>
      <p:sp>
        <p:nvSpPr>
          <p:cNvPr id="534" name="Caption 17"/>
          <p:cNvSpPr txBox="1"/>
          <p:nvPr/>
        </p:nvSpPr>
        <p:spPr>
          <a:xfrm>
            <a:off x="2904134" y="8348472"/>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17  </a:t>
            </a:r>
            <a:r>
              <a:rPr lang="en-US" sz="1050" dirty="0">
                <a:solidFill>
                  <a:srgbClr val="1F1F1F"/>
                </a:solidFill>
                <a:latin typeface="Helvetica Neue"/>
                <a:cs typeface="Helvetica Neue"/>
              </a:rPr>
              <a:t xml:space="preserve">Activity log + Undo</a:t>
            </a:r>
          </a:p>
          <a:p>
            <a:pPr>
              <a:lnSpc>
                <a:spcPct val="105000"/>
              </a:lnSpc>
            </a:pPr>
            <a:r>
              <a:rPr lang="en-US" sz="950" dirty="0">
                <a:solidFill>
                  <a:srgbClr val="595959"/>
                </a:solidFill>
                <a:latin typeface="Helvetica Neue Light"/>
                <a:cs typeface="Helvetica Neue Light"/>
              </a:rPr>
              <a:t xml:space="preserve">Tue 5:15 PM</a:t>
            </a:r>
          </a:p>
        </p:txBody>
      </p:sp>
      <p:pic>
        <p:nvPicPr>
          <p:cNvPr id="535" name="Picture 534" descr="image.png"/>
          <p:cNvPicPr>
            <a:picLocks noChangeAspect="1"/>
          </p:cNvPicPr>
          <p:nvPr/>
        </p:nvPicPr>
        <p:blipFill>
          <a:blip r:embed="rId20"/>
          <a:stretch>
            <a:fillRect/>
          </a:stretch>
        </p:blipFill>
        <p:spPr>
          <a:xfrm>
            <a:off x="5351068" y="7123176"/>
            <a:ext cx="2282342" cy="1170432"/>
          </a:xfrm>
          <a:prstGeom prst="rect">
            <a:avLst/>
          </a:prstGeom>
        </p:spPr>
      </p:pic>
      <p:sp>
        <p:nvSpPr>
          <p:cNvPr id="536" name="Caption 18"/>
          <p:cNvSpPr txBox="1"/>
          <p:nvPr/>
        </p:nvSpPr>
        <p:spPr>
          <a:xfrm>
            <a:off x="5351068" y="8348472"/>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18  </a:t>
            </a:r>
            <a:r>
              <a:rPr lang="en-US" sz="1050" dirty="0">
                <a:solidFill>
                  <a:srgbClr val="1F1F1F"/>
                </a:solidFill>
                <a:latin typeface="Helvetica Neue"/>
                <a:cs typeface="Helvetica Neue"/>
              </a:rPr>
              <a:t xml:space="preserve">Weekly review</a:t>
            </a:r>
          </a:p>
          <a:p>
            <a:pPr>
              <a:lnSpc>
                <a:spcPct val="105000"/>
              </a:lnSpc>
            </a:pPr>
            <a:r>
              <a:rPr lang="en-US" sz="950" dirty="0">
                <a:solidFill>
                  <a:srgbClr val="595959"/>
                </a:solidFill>
                <a:latin typeface="Helvetica Neue Light"/>
                <a:cs typeface="Helvetica Neue Light"/>
              </a:rPr>
              <a:t xml:space="preserve">Sun 7 PM</a:t>
            </a:r>
          </a:p>
        </p:txBody>
      </p:sp>
      <p:pic>
        <p:nvPicPr>
          <p:cNvPr id="537" name="Picture 536" descr="image.png"/>
          <p:cNvPicPr>
            <a:picLocks noChangeAspect="1"/>
          </p:cNvPicPr>
          <p:nvPr/>
        </p:nvPicPr>
        <p:blipFill>
          <a:blip r:embed="rId21"/>
          <a:srcRect b="33110"/>
          <a:stretch>
            <a:fillRect/>
          </a:stretch>
        </p:blipFill>
        <p:spPr>
          <a:xfrm>
            <a:off x="7798003" y="7123176"/>
            <a:ext cx="2282342" cy="1170432"/>
          </a:xfrm>
          <a:prstGeom prst="rect">
            <a:avLst/>
          </a:prstGeom>
        </p:spPr>
      </p:pic>
      <p:sp>
        <p:nvSpPr>
          <p:cNvPr id="538" name="Caption 19"/>
          <p:cNvSpPr txBox="1"/>
          <p:nvPr/>
        </p:nvSpPr>
        <p:spPr>
          <a:xfrm>
            <a:off x="7798003" y="8348472"/>
            <a:ext cx="2282342" cy="411480"/>
          </a:xfrm>
          <a:prstGeom prst="rect">
            <a:avLst/>
          </a:prstGeom>
          <a:noFill/>
        </p:spPr>
        <p:txBody>
          <a:bodyPr wrap="square" lIns="0" tIns="0" rIns="0" bIns="0">
            <a:noAutofit/>
          </a:bodyPr>
          <a:lstStyle/>
          <a:p>
            <a:pPr>
              <a:lnSpc>
                <a:spcPct val="105000"/>
              </a:lnSpc>
            </a:pPr>
            <a:r>
              <a:rPr lang="en-US" sz="1050" dirty="0">
                <a:solidFill>
                  <a:srgbClr val="B5531F"/>
                </a:solidFill>
                <a:latin typeface="Helvetica Neue"/>
                <a:cs typeface="Helvetica Neue"/>
              </a:rPr>
              <a:t xml:space="preserve">19  </a:t>
            </a:r>
            <a:r>
              <a:rPr lang="en-US" sz="1050" dirty="0">
                <a:solidFill>
                  <a:srgbClr val="1F1F1F"/>
                </a:solidFill>
                <a:latin typeface="Helvetica Neue"/>
                <a:cs typeface="Helvetica Neue"/>
              </a:rPr>
              <a:t xml:space="preserve">Build the board</a:t>
            </a:r>
          </a:p>
          <a:p>
            <a:pPr>
              <a:lnSpc>
                <a:spcPct val="105000"/>
              </a:lnSpc>
            </a:pPr>
            <a:r>
              <a:rPr lang="en-US" sz="950" dirty="0">
                <a:solidFill>
                  <a:srgbClr val="595959"/>
                </a:solidFill>
                <a:latin typeface="Helvetica Neue Light"/>
                <a:cs typeface="Helvetica Neue Light"/>
              </a:rPr>
              <a:t xml:space="preserve">Sunday</a:t>
            </a:r>
          </a:p>
        </p:txBody>
      </p:sp>
      <p:sp>
        <p:nvSpPr>
          <p:cNvPr id="539" name="Prototype link">
            <a:hlinkClick r:id="rId22"/>
          </p:cNvPr>
          <p:cNvSpPr txBox="1"/>
          <p:nvPr/>
        </p:nvSpPr>
        <p:spPr>
          <a:xfrm>
            <a:off x="10244937" y="7214616"/>
            <a:ext cx="2282342" cy="1170432"/>
          </a:xfrm>
          <a:prstGeom prst="rect">
            <a:avLst/>
          </a:prstGeom>
          <a:noFill/>
        </p:spPr>
        <p:txBody>
          <a:bodyPr wrap="square" lIns="0" tIns="0" rIns="0" bIns="0">
            <a:noAutofit/>
          </a:bodyPr>
          <a:lstStyle/>
          <a:p>
            <a:pPr>
              <a:lnSpc>
                <a:spcPct val="105000"/>
              </a:lnSpc>
            </a:pPr>
            <a:r>
              <a:rPr lang="en-US" sz="1050" dirty="0">
                <a:solidFill>
                  <a:srgbClr val="595959"/>
                </a:solidFill>
                <a:latin typeface="Helvetica Neue"/>
                <a:cs typeface="Helvetica Neue"/>
              </a:rPr>
              <a:t xml:space="preserve">TRY IT</a:t>
            </a:r>
          </a:p>
          <a:p>
            <a:pPr>
              <a:lnSpc>
                <a:spcPct val="105000"/>
              </a:lnSpc>
            </a:pPr>
            <a:r>
              <a:rPr lang="en-US" sz="1400" u="sng" dirty="0">
                <a:solidFill>
                  <a:srgbClr val="B5531F"/>
                </a:solidFill>
                <a:latin typeface="Helvetica Neue"/>
                <a:cs typeface="Helvetica Neue"/>
              </a:rPr>
              <a:t xml:space="preserve">Open the clickable prototype →</a:t>
            </a:r>
          </a:p>
          <a:p>
            <a:pPr>
              <a:lnSpc>
                <a:spcPct val="105000"/>
              </a:lnSpc>
            </a:pPr>
            <a:r>
              <a:rPr lang="en-US" sz="1000" dirty="0">
                <a:solidFill>
                  <a:srgbClr val="595959"/>
                </a:solidFill>
                <a:latin typeface="Helvetica Neue Light"/>
                <a:cs typeface="Helvetica Neue Light"/>
              </a:rPr>
              <a:t xml:space="preserve">Starts at step 1 in Figma</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5"/>
            <a:ext cx="12094464" cy="459678"/>
          </a:xfrm>
          <a:prstGeom prst="rect">
            <a:avLst/>
          </a:prstGeom>
          <a:noFill/>
        </p:spPr>
        <p:txBody>
          <a:bodyPr wrap="square" lIns="0" tIns="0" rIns="0" bIns="0">
            <a:spAutoFit/>
          </a:bodyPr>
          <a:lstStyle/>
          <a:p>
            <a:r>
              <a:rPr sz="2987" dirty="0">
                <a:solidFill>
                  <a:srgbClr val="1F1F1F"/>
                </a:solidFill>
                <a:latin typeface="Helvetica Neue Light"/>
              </a:rPr>
              <a:t>The </a:t>
            </a:r>
            <a:r>
              <a:rPr lang="en-US" sz="2987" dirty="0">
                <a:solidFill>
                  <a:srgbClr val="1F1F1F"/>
                </a:solidFill>
                <a:latin typeface="Helvetica Neue Light"/>
              </a:rPr>
              <a:t>U</a:t>
            </a:r>
            <a:r>
              <a:rPr sz="2987" dirty="0">
                <a:solidFill>
                  <a:srgbClr val="1F1F1F"/>
                </a:solidFill>
                <a:latin typeface="Helvetica Neue Light"/>
              </a:rPr>
              <a:t>ser </a:t>
            </a:r>
            <a:r>
              <a:rPr lang="en-US" sz="2987" dirty="0">
                <a:solidFill>
                  <a:srgbClr val="1F1F1F"/>
                </a:solidFill>
                <a:latin typeface="Helvetica Neue Light"/>
              </a:rPr>
              <a:t>J</a:t>
            </a:r>
            <a:r>
              <a:rPr sz="2987" dirty="0">
                <a:solidFill>
                  <a:srgbClr val="1F1F1F"/>
                </a:solidFill>
                <a:latin typeface="Helvetica Neue Light"/>
              </a:rPr>
              <a:t>ourney: From market noise to a focused next step</a:t>
            </a:r>
          </a:p>
        </p:txBody>
      </p:sp>
      <p:sp>
        <p:nvSpPr>
          <p:cNvPr id="5" name="TextBox 4"/>
          <p:cNvSpPr txBox="1"/>
          <p:nvPr/>
        </p:nvSpPr>
        <p:spPr>
          <a:xfrm>
            <a:off x="455168" y="1560577"/>
            <a:ext cx="12094464" cy="251736"/>
          </a:xfrm>
          <a:prstGeom prst="rect">
            <a:avLst/>
          </a:prstGeom>
          <a:noFill/>
        </p:spPr>
        <p:txBody>
          <a:bodyPr wrap="square" lIns="0" tIns="0" rIns="0" bIns="0">
            <a:spAutoFit/>
          </a:bodyPr>
          <a:lstStyle/>
          <a:p>
            <a:r>
              <a:rPr sz="1636">
                <a:solidFill>
                  <a:srgbClr val="595959"/>
                </a:solidFill>
                <a:latin typeface="Helvetica Neue Light"/>
              </a:rPr>
              <a:t>Six beats on the Insight Board: Gary’s day around work, then Mike, an advisor. The board surfaces what changed; he decides.</a:t>
            </a:r>
          </a:p>
        </p:txBody>
      </p:sp>
      <p:pic>
        <p:nvPicPr>
          <p:cNvPr id="6" name="Picture 5" descr="image.png"/>
          <p:cNvPicPr>
            <a:picLocks noChangeAspect="1"/>
          </p:cNvPicPr>
          <p:nvPr/>
        </p:nvPicPr>
        <p:blipFill>
          <a:blip r:embed="rId3"/>
          <a:stretch>
            <a:fillRect/>
          </a:stretch>
        </p:blipFill>
        <p:spPr>
          <a:xfrm>
            <a:off x="455168" y="2210817"/>
            <a:ext cx="3901440" cy="2105152"/>
          </a:xfrm>
          <a:prstGeom prst="rect">
            <a:avLst/>
          </a:prstGeom>
        </p:spPr>
      </p:pic>
      <p:sp>
        <p:nvSpPr>
          <p:cNvPr id="7" name="Rectangle 6"/>
          <p:cNvSpPr/>
          <p:nvPr/>
        </p:nvSpPr>
        <p:spPr>
          <a:xfrm>
            <a:off x="455168" y="4380992"/>
            <a:ext cx="3901440" cy="78029"/>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455168" y="4524045"/>
            <a:ext cx="3901440" cy="856388"/>
          </a:xfrm>
          <a:prstGeom prst="rect">
            <a:avLst/>
          </a:prstGeom>
          <a:noFill/>
        </p:spPr>
        <p:txBody>
          <a:bodyPr wrap="square" lIns="0" tIns="0" rIns="0" bIns="0">
            <a:spAutoFit/>
          </a:bodyPr>
          <a:lstStyle/>
          <a:p>
            <a:r>
              <a:rPr sz="1422" dirty="0">
                <a:solidFill>
                  <a:srgbClr val="5B3F96"/>
                </a:solidFill>
                <a:latin typeface="Helvetica Neue"/>
              </a:rPr>
              <a:t>1 · Morning  </a:t>
            </a:r>
            <a:r>
              <a:rPr sz="1209" dirty="0">
                <a:solidFill>
                  <a:srgbClr val="8C8C8C"/>
                </a:solidFill>
                <a:latin typeface="Helvetica Neue Light"/>
              </a:rPr>
              <a:t>DB1 · 7:45 AM</a:t>
            </a:r>
          </a:p>
          <a:p>
            <a:pPr>
              <a:spcAft>
                <a:spcPts val="284"/>
              </a:spcAft>
            </a:pPr>
            <a:r>
              <a:rPr sz="1493" dirty="0">
                <a:solidFill>
                  <a:srgbClr val="1F1F1F"/>
                </a:solidFill>
                <a:latin typeface="Helvetica Neue"/>
              </a:rPr>
              <a:t>“What needs my attention?”</a:t>
            </a:r>
          </a:p>
          <a:p>
            <a:r>
              <a:rPr sz="1100" dirty="0">
                <a:solidFill>
                  <a:srgbClr val="595959"/>
                </a:solidFill>
                <a:latin typeface="Helvetica Neue Light"/>
              </a:rPr>
              <a:t>Three findings about his own names come first: DOCN at risk, QLYS earnings, semis down with RMBS exposed.</a:t>
            </a:r>
          </a:p>
        </p:txBody>
      </p:sp>
      <p:pic>
        <p:nvPicPr>
          <p:cNvPr id="9" name="Picture 8" descr="image.png"/>
          <p:cNvPicPr>
            <a:picLocks noChangeAspect="1"/>
          </p:cNvPicPr>
          <p:nvPr/>
        </p:nvPicPr>
        <p:blipFill>
          <a:blip r:embed="rId4"/>
          <a:stretch>
            <a:fillRect/>
          </a:stretch>
        </p:blipFill>
        <p:spPr>
          <a:xfrm>
            <a:off x="4525670" y="2210817"/>
            <a:ext cx="3901440" cy="2102970"/>
          </a:xfrm>
          <a:prstGeom prst="rect">
            <a:avLst/>
          </a:prstGeom>
        </p:spPr>
      </p:pic>
      <p:sp>
        <p:nvSpPr>
          <p:cNvPr id="10" name="Rectangle 9"/>
          <p:cNvSpPr/>
          <p:nvPr/>
        </p:nvSpPr>
        <p:spPr>
          <a:xfrm>
            <a:off x="4525670" y="4378810"/>
            <a:ext cx="3901440" cy="78029"/>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4525670" y="4521864"/>
            <a:ext cx="3901440" cy="856388"/>
          </a:xfrm>
          <a:prstGeom prst="rect">
            <a:avLst/>
          </a:prstGeom>
          <a:noFill/>
        </p:spPr>
        <p:txBody>
          <a:bodyPr wrap="square" lIns="0" tIns="0" rIns="0" bIns="0">
            <a:spAutoFit/>
          </a:bodyPr>
          <a:lstStyle/>
          <a:p>
            <a:r>
              <a:rPr sz="1422" dirty="0">
                <a:solidFill>
                  <a:srgbClr val="00868B"/>
                </a:solidFill>
                <a:latin typeface="Helvetica Neue"/>
              </a:rPr>
              <a:t>2 · Investigating  </a:t>
            </a:r>
            <a:r>
              <a:rPr sz="1209" dirty="0">
                <a:solidFill>
                  <a:srgbClr val="8C8C8C"/>
                </a:solidFill>
                <a:latin typeface="Helvetica Neue Light"/>
              </a:rPr>
              <a:t>DB2</a:t>
            </a:r>
          </a:p>
          <a:p>
            <a:pPr>
              <a:spcAft>
                <a:spcPts val="284"/>
              </a:spcAft>
            </a:pPr>
            <a:r>
              <a:rPr sz="1493" dirty="0">
                <a:solidFill>
                  <a:srgbClr val="1F1F1F"/>
                </a:solidFill>
                <a:latin typeface="Helvetica Neue"/>
              </a:rPr>
              <a:t>“Show me the evidence.”</a:t>
            </a:r>
          </a:p>
          <a:p>
            <a:r>
              <a:rPr sz="1100" dirty="0">
                <a:solidFill>
                  <a:srgbClr val="595959"/>
                </a:solidFill>
                <a:latin typeface="Helvetica Neue Light"/>
              </a:rPr>
              <a:t>The card shows measured moves, quote time and the Reuters source; RMBS +1.1% on its own news.</a:t>
            </a:r>
          </a:p>
        </p:txBody>
      </p:sp>
      <p:pic>
        <p:nvPicPr>
          <p:cNvPr id="12" name="Picture 11" descr="image.png"/>
          <p:cNvPicPr>
            <a:picLocks noChangeAspect="1"/>
          </p:cNvPicPr>
          <p:nvPr/>
        </p:nvPicPr>
        <p:blipFill>
          <a:blip r:embed="rId5"/>
          <a:stretch>
            <a:fillRect/>
          </a:stretch>
        </p:blipFill>
        <p:spPr>
          <a:xfrm>
            <a:off x="8596171" y="2210816"/>
            <a:ext cx="3901440" cy="2106778"/>
          </a:xfrm>
          <a:prstGeom prst="rect">
            <a:avLst/>
          </a:prstGeom>
        </p:spPr>
      </p:pic>
      <p:sp>
        <p:nvSpPr>
          <p:cNvPr id="13" name="Rectangle 12"/>
          <p:cNvSpPr/>
          <p:nvPr/>
        </p:nvSpPr>
        <p:spPr>
          <a:xfrm>
            <a:off x="8596171" y="4382618"/>
            <a:ext cx="3901440" cy="78029"/>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8596171" y="4525671"/>
            <a:ext cx="3901440" cy="856388"/>
          </a:xfrm>
          <a:prstGeom prst="rect">
            <a:avLst/>
          </a:prstGeom>
          <a:noFill/>
        </p:spPr>
        <p:txBody>
          <a:bodyPr wrap="square" lIns="0" tIns="0" rIns="0" bIns="0">
            <a:spAutoFit/>
          </a:bodyPr>
          <a:lstStyle/>
          <a:p>
            <a:r>
              <a:rPr sz="1422" dirty="0">
                <a:solidFill>
                  <a:srgbClr val="A12A37"/>
                </a:solidFill>
                <a:latin typeface="Helvetica Neue"/>
              </a:rPr>
              <a:t>3 · Refining  </a:t>
            </a:r>
            <a:r>
              <a:rPr sz="1209" dirty="0">
                <a:solidFill>
                  <a:srgbClr val="8C8C8C"/>
                </a:solidFill>
                <a:latin typeface="Helvetica Neue Light"/>
              </a:rPr>
              <a:t>DB2 · feedback</a:t>
            </a:r>
          </a:p>
          <a:p>
            <a:pPr>
              <a:spcAft>
                <a:spcPts val="284"/>
              </a:spcAft>
            </a:pPr>
            <a:r>
              <a:rPr sz="1493" dirty="0">
                <a:solidFill>
                  <a:srgbClr val="1F1F1F"/>
                </a:solidFill>
                <a:latin typeface="Helvetica Neue"/>
              </a:rPr>
              <a:t>“Ask before changing it.”</a:t>
            </a:r>
          </a:p>
          <a:p>
            <a:r>
              <a:rPr sz="1100" dirty="0">
                <a:solidFill>
                  <a:srgbClr val="595959"/>
                </a:solidFill>
                <a:latin typeface="Helvetica Neue Light"/>
              </a:rPr>
              <a:t>“Move too small for me” → a previewed threshold change he applies or cancels.</a:t>
            </a:r>
          </a:p>
        </p:txBody>
      </p:sp>
      <p:pic>
        <p:nvPicPr>
          <p:cNvPr id="15" name="Picture 14" descr="image.png"/>
          <p:cNvPicPr>
            <a:picLocks noChangeAspect="1"/>
          </p:cNvPicPr>
          <p:nvPr/>
        </p:nvPicPr>
        <p:blipFill>
          <a:blip r:embed="rId6"/>
          <a:stretch>
            <a:fillRect/>
          </a:stretch>
        </p:blipFill>
        <p:spPr>
          <a:xfrm>
            <a:off x="455168" y="5657087"/>
            <a:ext cx="3901440" cy="2105152"/>
          </a:xfrm>
          <a:prstGeom prst="rect">
            <a:avLst/>
          </a:prstGeom>
        </p:spPr>
      </p:pic>
      <p:sp>
        <p:nvSpPr>
          <p:cNvPr id="16" name="Rectangle 15"/>
          <p:cNvSpPr/>
          <p:nvPr/>
        </p:nvSpPr>
        <p:spPr>
          <a:xfrm>
            <a:off x="455168" y="7827264"/>
            <a:ext cx="3901440" cy="78029"/>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7" name="TextBox 16"/>
          <p:cNvSpPr txBox="1"/>
          <p:nvPr/>
        </p:nvSpPr>
        <p:spPr>
          <a:xfrm>
            <a:off x="455168" y="7970317"/>
            <a:ext cx="3901440" cy="856388"/>
          </a:xfrm>
          <a:prstGeom prst="rect">
            <a:avLst/>
          </a:prstGeom>
          <a:noFill/>
        </p:spPr>
        <p:txBody>
          <a:bodyPr wrap="square" lIns="0" tIns="0" rIns="0" bIns="0">
            <a:spAutoFit/>
          </a:bodyPr>
          <a:lstStyle/>
          <a:p>
            <a:r>
              <a:rPr sz="1422" dirty="0">
                <a:solidFill>
                  <a:srgbClr val="3A7D55"/>
                </a:solidFill>
                <a:latin typeface="Helvetica Neue"/>
              </a:rPr>
              <a:t>4 · After the close  </a:t>
            </a:r>
            <a:r>
              <a:rPr sz="1209" dirty="0">
                <a:solidFill>
                  <a:srgbClr val="8C8C8C"/>
                </a:solidFill>
                <a:latin typeface="Helvetica Neue Light"/>
              </a:rPr>
              <a:t>DB3 · 4:45 PM</a:t>
            </a:r>
          </a:p>
          <a:p>
            <a:pPr>
              <a:spcAft>
                <a:spcPts val="284"/>
              </a:spcAft>
            </a:pPr>
            <a:r>
              <a:rPr sz="1493" dirty="0">
                <a:solidFill>
                  <a:srgbClr val="1F1F1F"/>
                </a:solidFill>
                <a:latin typeface="Helvetica Neue"/>
              </a:rPr>
              <a:t>“How do I compare with my plan?”</a:t>
            </a:r>
          </a:p>
          <a:p>
            <a:r>
              <a:rPr sz="1100" dirty="0">
                <a:solidFill>
                  <a:srgbClr val="595959"/>
                </a:solidFill>
                <a:latin typeface="Helvetica Neue Light"/>
              </a:rPr>
              <a:t>Tech 46% vs his 40% target; the cause is RMBS +18.4%. Explained, never rebalanced.</a:t>
            </a:r>
          </a:p>
        </p:txBody>
      </p:sp>
      <p:pic>
        <p:nvPicPr>
          <p:cNvPr id="18" name="Picture 17" descr="image.png"/>
          <p:cNvPicPr>
            <a:picLocks noChangeAspect="1"/>
          </p:cNvPicPr>
          <p:nvPr/>
        </p:nvPicPr>
        <p:blipFill>
          <a:blip r:embed="rId7"/>
          <a:stretch>
            <a:fillRect/>
          </a:stretch>
        </p:blipFill>
        <p:spPr>
          <a:xfrm>
            <a:off x="4525670" y="5657087"/>
            <a:ext cx="3901440" cy="2105152"/>
          </a:xfrm>
          <a:prstGeom prst="rect">
            <a:avLst/>
          </a:prstGeom>
        </p:spPr>
      </p:pic>
      <p:sp>
        <p:nvSpPr>
          <p:cNvPr id="19" name="Rectangle 18"/>
          <p:cNvSpPr/>
          <p:nvPr/>
        </p:nvSpPr>
        <p:spPr>
          <a:xfrm>
            <a:off x="4525670" y="7827264"/>
            <a:ext cx="3901440" cy="78029"/>
          </a:xfrm>
          <a:prstGeom prst="rect">
            <a:avLst/>
          </a:prstGeom>
          <a:solidFill>
            <a:srgbClr val="744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0" name="TextBox 19"/>
          <p:cNvSpPr txBox="1"/>
          <p:nvPr/>
        </p:nvSpPr>
        <p:spPr>
          <a:xfrm>
            <a:off x="4525670" y="7970317"/>
            <a:ext cx="3901440" cy="856388"/>
          </a:xfrm>
          <a:prstGeom prst="rect">
            <a:avLst/>
          </a:prstGeom>
          <a:noFill/>
        </p:spPr>
        <p:txBody>
          <a:bodyPr wrap="square" lIns="0" tIns="0" rIns="0" bIns="0">
            <a:spAutoFit/>
          </a:bodyPr>
          <a:lstStyle/>
          <a:p>
            <a:r>
              <a:rPr sz="1422" dirty="0">
                <a:solidFill>
                  <a:srgbClr val="744A6C"/>
                </a:solidFill>
                <a:latin typeface="Helvetica Neue"/>
              </a:rPr>
              <a:t>5 · Advisor  </a:t>
            </a:r>
            <a:r>
              <a:rPr sz="1209" dirty="0">
                <a:solidFill>
                  <a:srgbClr val="8C8C8C"/>
                </a:solidFill>
                <a:latin typeface="Helvetica Neue Light"/>
              </a:rPr>
              <a:t>DB4 · Mike</a:t>
            </a:r>
          </a:p>
          <a:p>
            <a:pPr>
              <a:spcAft>
                <a:spcPts val="284"/>
              </a:spcAft>
            </a:pPr>
            <a:r>
              <a:rPr sz="1493" dirty="0">
                <a:solidFill>
                  <a:srgbClr val="1F1F1F"/>
                </a:solidFill>
                <a:latin typeface="Helvetica Neue"/>
              </a:rPr>
              <a:t>“Exceptions, not 54 dashboards.”</a:t>
            </a:r>
          </a:p>
          <a:p>
            <a:r>
              <a:rPr sz="1100" dirty="0">
                <a:solidFill>
                  <a:srgbClr val="595959"/>
                </a:solidFill>
                <a:latin typeface="Helvetica Neue Light"/>
              </a:rPr>
              <a:t>Mike starts with 6 portfolios that crossed his limits; uncertainty stays visible.</a:t>
            </a:r>
          </a:p>
        </p:txBody>
      </p:sp>
      <p:pic>
        <p:nvPicPr>
          <p:cNvPr id="21" name="Picture 20" descr="image.png"/>
          <p:cNvPicPr>
            <a:picLocks noChangeAspect="1"/>
          </p:cNvPicPr>
          <p:nvPr/>
        </p:nvPicPr>
        <p:blipFill>
          <a:blip r:embed="rId8"/>
          <a:stretch>
            <a:fillRect/>
          </a:stretch>
        </p:blipFill>
        <p:spPr>
          <a:xfrm>
            <a:off x="8596171" y="5657087"/>
            <a:ext cx="3901440" cy="2105152"/>
          </a:xfrm>
          <a:prstGeom prst="rect">
            <a:avLst/>
          </a:prstGeom>
        </p:spPr>
      </p:pic>
      <p:sp>
        <p:nvSpPr>
          <p:cNvPr id="22" name="Rectangle 21"/>
          <p:cNvSpPr/>
          <p:nvPr/>
        </p:nvSpPr>
        <p:spPr>
          <a:xfrm>
            <a:off x="8596171" y="7827264"/>
            <a:ext cx="3901440" cy="78029"/>
          </a:xfrm>
          <a:prstGeom prst="rect">
            <a:avLst/>
          </a:prstGeom>
          <a:solidFill>
            <a:srgbClr val="C45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3" name="TextBox 22"/>
          <p:cNvSpPr txBox="1"/>
          <p:nvPr/>
        </p:nvSpPr>
        <p:spPr>
          <a:xfrm>
            <a:off x="8596171" y="7970317"/>
            <a:ext cx="3901440" cy="856388"/>
          </a:xfrm>
          <a:prstGeom prst="rect">
            <a:avLst/>
          </a:prstGeom>
          <a:noFill/>
        </p:spPr>
        <p:txBody>
          <a:bodyPr wrap="square" lIns="0" tIns="0" rIns="0" bIns="0">
            <a:spAutoFit/>
          </a:bodyPr>
          <a:lstStyle/>
          <a:p>
            <a:r>
              <a:rPr sz="1422" dirty="0">
                <a:solidFill>
                  <a:srgbClr val="C45A35"/>
                </a:solidFill>
                <a:latin typeface="Helvetica Neue"/>
              </a:rPr>
              <a:t>6 · Personalization  </a:t>
            </a:r>
            <a:r>
              <a:rPr sz="1209" dirty="0">
                <a:solidFill>
                  <a:srgbClr val="8C8C8C"/>
                </a:solidFill>
                <a:latin typeface="Helvetica Neue Light"/>
              </a:rPr>
              <a:t>DB5 · Sunday</a:t>
            </a:r>
          </a:p>
          <a:p>
            <a:pPr>
              <a:spcAft>
                <a:spcPts val="284"/>
              </a:spcAft>
            </a:pPr>
            <a:r>
              <a:rPr sz="1493" dirty="0">
                <a:solidFill>
                  <a:srgbClr val="1F1F1F"/>
                </a:solidFill>
                <a:latin typeface="Helvetica Neue"/>
              </a:rPr>
              <a:t>“Build the board around my routine.”</a:t>
            </a:r>
          </a:p>
          <a:p>
            <a:r>
              <a:rPr sz="1100" dirty="0">
                <a:solidFill>
                  <a:srgbClr val="595959"/>
                </a:solidFill>
                <a:latin typeface="Helvetica Neue Light"/>
              </a:rPr>
              <a:t>Habit-based suggestions he accepts or declines; every change reversible.</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Evening: </a:t>
            </a:r>
            <a:r>
              <a:rPr lang="en-US" sz="3200" dirty="0">
                <a:solidFill>
                  <a:srgbClr val="1F1F1F"/>
                </a:solidFill>
                <a:latin typeface="Helvetica Neue Light"/>
              </a:rPr>
              <a:t>T</a:t>
            </a:r>
            <a:r>
              <a:rPr sz="3200" dirty="0">
                <a:solidFill>
                  <a:srgbClr val="1F1F1F"/>
                </a:solidFill>
                <a:latin typeface="Helvetica Neue Light"/>
              </a:rPr>
              <a:t>urn his idea into a screen he trusts</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Mon Oct 5, 8 PM, after Monday’s close. Free account.</a:t>
            </a:r>
          </a:p>
        </p:txBody>
      </p:sp>
      <p:pic>
        <p:nvPicPr>
          <p:cNvPr id="6" name="Picture 5" descr="image.png"/>
          <p:cNvPicPr>
            <a:picLocks noChangeAspect="1"/>
          </p:cNvPicPr>
          <p:nvPr/>
        </p:nvPicPr>
        <p:blipFill>
          <a:blip r:embed="rId3"/>
          <a:stretch>
            <a:fillRect/>
          </a:stretch>
        </p:blipFill>
        <p:spPr>
          <a:xfrm>
            <a:off x="321354" y="2921620"/>
            <a:ext cx="6448980" cy="3699206"/>
          </a:xfrm>
          <a:prstGeom prst="rect">
            <a:avLst/>
          </a:prstGeom>
        </p:spPr>
      </p:pic>
      <p:pic>
        <p:nvPicPr>
          <p:cNvPr id="7" name="Picture 6" descr="image.png"/>
          <p:cNvPicPr>
            <a:picLocks noChangeAspect="1"/>
          </p:cNvPicPr>
          <p:nvPr/>
        </p:nvPicPr>
        <p:blipFill>
          <a:blip r:embed="rId4"/>
          <a:stretch>
            <a:fillRect/>
          </a:stretch>
        </p:blipFill>
        <p:spPr>
          <a:xfrm>
            <a:off x="6808332" y="1942360"/>
            <a:ext cx="5761380" cy="2328557"/>
          </a:xfrm>
          <a:prstGeom prst="rect">
            <a:avLst/>
          </a:prstGeom>
        </p:spPr>
      </p:pic>
      <p:sp>
        <p:nvSpPr>
          <p:cNvPr id="8" name="TextBox 7"/>
          <p:cNvSpPr txBox="1"/>
          <p:nvPr/>
        </p:nvSpPr>
        <p:spPr>
          <a:xfrm>
            <a:off x="321354" y="6698856"/>
            <a:ext cx="5917184" cy="415755"/>
          </a:xfrm>
          <a:prstGeom prst="rect">
            <a:avLst/>
          </a:prstGeom>
          <a:noFill/>
        </p:spPr>
        <p:txBody>
          <a:bodyPr wrap="square" lIns="0" tIns="0" rIns="0" bIns="0">
            <a:spAutoFit/>
          </a:bodyPr>
          <a:lstStyle/>
          <a:p>
            <a:r>
              <a:rPr sz="1351">
                <a:solidFill>
                  <a:srgbClr val="5B3F96"/>
                </a:solidFill>
                <a:latin typeface="Helvetica Neue"/>
              </a:rPr>
              <a:t>STEP 1 · OW1  </a:t>
            </a:r>
            <a:r>
              <a:rPr sz="1351">
                <a:solidFill>
                  <a:srgbClr val="595959"/>
                </a:solidFill>
                <a:latin typeface="Helvetica Neue Light"/>
              </a:rPr>
              <a:t>Pastes 3 tickers; AI writes what they share as editable filter chips</a:t>
            </a:r>
          </a:p>
        </p:txBody>
      </p:sp>
      <p:sp>
        <p:nvSpPr>
          <p:cNvPr id="9" name="TextBox 8"/>
          <p:cNvSpPr txBox="1"/>
          <p:nvPr/>
        </p:nvSpPr>
        <p:spPr>
          <a:xfrm>
            <a:off x="7225989" y="4417968"/>
            <a:ext cx="4516245" cy="415755"/>
          </a:xfrm>
          <a:prstGeom prst="rect">
            <a:avLst/>
          </a:prstGeom>
          <a:noFill/>
        </p:spPr>
        <p:txBody>
          <a:bodyPr wrap="square" lIns="0" tIns="0" rIns="0" bIns="0">
            <a:spAutoFit/>
          </a:bodyPr>
          <a:lstStyle/>
          <a:p>
            <a:r>
              <a:rPr sz="1351" dirty="0">
                <a:solidFill>
                  <a:srgbClr val="5B3F96"/>
                </a:solidFill>
                <a:latin typeface="Helvetica Neue"/>
              </a:rPr>
              <a:t>STEP 2 · OW2  </a:t>
            </a:r>
            <a:r>
              <a:rPr sz="1351" dirty="0">
                <a:solidFill>
                  <a:srgbClr val="595959"/>
                </a:solidFill>
                <a:latin typeface="Helvetica Neue Light"/>
              </a:rPr>
              <a:t>New, dropped and near-miss rows first, each with which of his criteria it meets</a:t>
            </a:r>
          </a:p>
        </p:txBody>
      </p:sp>
      <p:sp>
        <p:nvSpPr>
          <p:cNvPr id="10" name="Rectangle 9"/>
          <p:cNvSpPr/>
          <p:nvPr/>
        </p:nvSpPr>
        <p:spPr>
          <a:xfrm>
            <a:off x="455168" y="8388096"/>
            <a:ext cx="12094464" cy="6502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50240" y="8518144"/>
            <a:ext cx="11704320" cy="218842"/>
          </a:xfrm>
          <a:prstGeom prst="rect">
            <a:avLst/>
          </a:prstGeom>
          <a:noFill/>
        </p:spPr>
        <p:txBody>
          <a:bodyPr wrap="square" lIns="0" tIns="0" rIns="0" bIns="0">
            <a:spAutoFit/>
          </a:bodyPr>
          <a:lstStyle/>
          <a:p>
            <a:r>
              <a:rPr sz="1351">
                <a:solidFill>
                  <a:srgbClr val="5B3F96"/>
                </a:solidFill>
                <a:latin typeface="Helvetica Neue"/>
              </a:rPr>
              <a:t>AI BEHAVIOR  </a:t>
            </a:r>
            <a:r>
              <a:rPr sz="1422">
                <a:solidFill>
                  <a:srgbClr val="1F1F1F"/>
                </a:solidFill>
                <a:latin typeface="Helvetica Neue Light"/>
              </a:rPr>
              <a:t>Programming by example, constrained to FinViz’s real filters. Decision point: he keeps or drops each chip (Tab / Esc).</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Evening: </a:t>
            </a:r>
            <a:r>
              <a:rPr lang="en-US" sz="3200" dirty="0">
                <a:solidFill>
                  <a:srgbClr val="1F1F1F"/>
                </a:solidFill>
                <a:latin typeface="Helvetica Neue Light"/>
              </a:rPr>
              <a:t>R</a:t>
            </a:r>
            <a:r>
              <a:rPr sz="3200" dirty="0">
                <a:solidFill>
                  <a:srgbClr val="1F1F1F"/>
                </a:solidFill>
                <a:latin typeface="Helvetica Neue Light"/>
              </a:rPr>
              <a:t>emember why, then watch it for me</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Mon 8:32–8:52 PM. The one earned Elite moment.</a:t>
            </a:r>
          </a:p>
        </p:txBody>
      </p:sp>
      <p:pic>
        <p:nvPicPr>
          <p:cNvPr id="6" name="Picture 5" descr="image.png"/>
          <p:cNvPicPr>
            <a:picLocks noChangeAspect="1"/>
          </p:cNvPicPr>
          <p:nvPr/>
        </p:nvPicPr>
        <p:blipFill>
          <a:blip r:embed="rId3"/>
          <a:stretch>
            <a:fillRect/>
          </a:stretch>
        </p:blipFill>
        <p:spPr>
          <a:xfrm>
            <a:off x="455167" y="2117357"/>
            <a:ext cx="6726217" cy="4133820"/>
          </a:xfrm>
          <a:prstGeom prst="rect">
            <a:avLst/>
          </a:prstGeom>
        </p:spPr>
      </p:pic>
      <p:pic>
        <p:nvPicPr>
          <p:cNvPr id="7" name="Picture 6" descr="image.png"/>
          <p:cNvPicPr>
            <a:picLocks noChangeAspect="1"/>
          </p:cNvPicPr>
          <p:nvPr/>
        </p:nvPicPr>
        <p:blipFill>
          <a:blip r:embed="rId4"/>
          <a:stretch>
            <a:fillRect/>
          </a:stretch>
        </p:blipFill>
        <p:spPr>
          <a:xfrm>
            <a:off x="7222044" y="2725806"/>
            <a:ext cx="5532255" cy="3227149"/>
          </a:xfrm>
          <a:prstGeom prst="rect">
            <a:avLst/>
          </a:prstGeom>
        </p:spPr>
      </p:pic>
      <p:sp>
        <p:nvSpPr>
          <p:cNvPr id="8" name="TextBox 7"/>
          <p:cNvSpPr txBox="1"/>
          <p:nvPr/>
        </p:nvSpPr>
        <p:spPr>
          <a:xfrm>
            <a:off x="455168" y="6329207"/>
            <a:ext cx="5917184" cy="415755"/>
          </a:xfrm>
          <a:prstGeom prst="rect">
            <a:avLst/>
          </a:prstGeom>
          <a:noFill/>
        </p:spPr>
        <p:txBody>
          <a:bodyPr wrap="square" lIns="0" tIns="0" rIns="0" bIns="0">
            <a:spAutoFit/>
          </a:bodyPr>
          <a:lstStyle/>
          <a:p>
            <a:r>
              <a:rPr sz="1351">
                <a:solidFill>
                  <a:srgbClr val="5B3F96"/>
                </a:solidFill>
                <a:latin typeface="Helvetica Neue"/>
              </a:rPr>
              <a:t>STEP 5 · OW3  </a:t>
            </a:r>
            <a:r>
              <a:rPr sz="1351">
                <a:solidFill>
                  <a:srgbClr val="595959"/>
                </a:solidFill>
                <a:latin typeface="Helvetica Neue Light"/>
              </a:rPr>
              <a:t>Pinned names keep their reasons as checkable conditions; exit lines dragged on the chart</a:t>
            </a:r>
          </a:p>
        </p:txBody>
      </p:sp>
      <p:sp>
        <p:nvSpPr>
          <p:cNvPr id="9" name="TextBox 8"/>
          <p:cNvSpPr txBox="1"/>
          <p:nvPr/>
        </p:nvSpPr>
        <p:spPr>
          <a:xfrm>
            <a:off x="7426712" y="6144294"/>
            <a:ext cx="5122920" cy="415755"/>
          </a:xfrm>
          <a:prstGeom prst="rect">
            <a:avLst/>
          </a:prstGeom>
          <a:noFill/>
        </p:spPr>
        <p:txBody>
          <a:bodyPr wrap="square" lIns="0" tIns="0" rIns="0" bIns="0">
            <a:spAutoFit/>
          </a:bodyPr>
          <a:lstStyle/>
          <a:p>
            <a:r>
              <a:rPr sz="1351" dirty="0">
                <a:solidFill>
                  <a:srgbClr val="5B3F96"/>
                </a:solidFill>
                <a:latin typeface="Helvetica Neue"/>
              </a:rPr>
              <a:t>STEP 6 · OW4  </a:t>
            </a:r>
            <a:r>
              <a:rPr sz="1351" dirty="0">
                <a:solidFill>
                  <a:srgbClr val="595959"/>
                </a:solidFill>
                <a:latin typeface="Helvetica Neue Light"/>
              </a:rPr>
              <a:t>Replay: “would have fired 4 times in the last 30 days”; noise dial; 7-day trial starts here</a:t>
            </a:r>
          </a:p>
        </p:txBody>
      </p:sp>
      <p:sp>
        <p:nvSpPr>
          <p:cNvPr id="10" name="Rectangle 9"/>
          <p:cNvSpPr/>
          <p:nvPr/>
        </p:nvSpPr>
        <p:spPr>
          <a:xfrm>
            <a:off x="455168" y="8388096"/>
            <a:ext cx="12094464" cy="6502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50240" y="8518144"/>
            <a:ext cx="11704320" cy="218842"/>
          </a:xfrm>
          <a:prstGeom prst="rect">
            <a:avLst/>
          </a:prstGeom>
          <a:noFill/>
        </p:spPr>
        <p:txBody>
          <a:bodyPr wrap="square" lIns="0" tIns="0" rIns="0" bIns="0">
            <a:spAutoFit/>
          </a:bodyPr>
          <a:lstStyle/>
          <a:p>
            <a:r>
              <a:rPr sz="1351">
                <a:solidFill>
                  <a:srgbClr val="5B3F96"/>
                </a:solidFill>
                <a:latin typeface="Helvetica Neue"/>
              </a:rPr>
              <a:t>DECISION POINT  </a:t>
            </a:r>
            <a:r>
              <a:rPr sz="1422">
                <a:solidFill>
                  <a:srgbClr val="1F1F1F"/>
                </a:solidFill>
                <a:latin typeface="Helvetica Neue Light"/>
              </a:rPr>
              <a:t>He commits only after seeing what watching would have done. History, never a forecast.</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Close-up · Step 8 · CL4 · Why </a:t>
            </a:r>
            <a:r>
              <a:rPr sz="3200" dirty="0" err="1">
                <a:solidFill>
                  <a:srgbClr val="1F1F1F"/>
                </a:solidFill>
                <a:latin typeface="Helvetica Neue Light"/>
              </a:rPr>
              <a:t>FinViz</a:t>
            </a:r>
            <a:r>
              <a:rPr sz="3200" dirty="0">
                <a:solidFill>
                  <a:srgbClr val="1F1F1F"/>
                </a:solidFill>
                <a:latin typeface="Helvetica Neue Light"/>
              </a:rPr>
              <a:t> marked this</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7:40 AM. Opened from “Why marked?” in the morning glance.</a:t>
            </a:r>
          </a:p>
        </p:txBody>
      </p:sp>
      <p:pic>
        <p:nvPicPr>
          <p:cNvPr id="6" name="Picture 5" descr="image.png"/>
          <p:cNvPicPr>
            <a:picLocks noChangeAspect="1"/>
          </p:cNvPicPr>
          <p:nvPr/>
        </p:nvPicPr>
        <p:blipFill>
          <a:blip r:embed="rId3"/>
          <a:stretch>
            <a:fillRect/>
          </a:stretch>
        </p:blipFill>
        <p:spPr>
          <a:xfrm>
            <a:off x="1783558" y="2080768"/>
            <a:ext cx="9437685" cy="5787136"/>
          </a:xfrm>
          <a:prstGeom prst="rect">
            <a:avLst/>
          </a:prstGeom>
        </p:spPr>
      </p:pic>
      <p:sp>
        <p:nvSpPr>
          <p:cNvPr id="7" name="Rectangle 6"/>
          <p:cNvSpPr/>
          <p:nvPr/>
        </p:nvSpPr>
        <p:spPr>
          <a:xfrm>
            <a:off x="455168" y="8023962"/>
            <a:ext cx="12094464" cy="1014374"/>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650240" y="8128001"/>
            <a:ext cx="2600960" cy="196977"/>
          </a:xfrm>
          <a:prstGeom prst="rect">
            <a:avLst/>
          </a:prstGeom>
          <a:noFill/>
        </p:spPr>
        <p:txBody>
          <a:bodyPr wrap="square" lIns="0" tIns="0" rIns="0" bIns="0">
            <a:spAutoFit/>
          </a:bodyPr>
          <a:lstStyle/>
          <a:p>
            <a:r>
              <a:rPr sz="1280">
                <a:solidFill>
                  <a:srgbClr val="5B3F96"/>
                </a:solidFill>
                <a:latin typeface="Helvetica Neue"/>
              </a:rPr>
              <a:t>AI BEHAVIOR</a:t>
            </a:r>
          </a:p>
        </p:txBody>
      </p:sp>
      <p:sp>
        <p:nvSpPr>
          <p:cNvPr id="9" name="TextBox 8"/>
          <p:cNvSpPr txBox="1"/>
          <p:nvPr/>
        </p:nvSpPr>
        <p:spPr>
          <a:xfrm>
            <a:off x="650240" y="8414105"/>
            <a:ext cx="3771392" cy="459485"/>
          </a:xfrm>
          <a:prstGeom prst="rect">
            <a:avLst/>
          </a:prstGeom>
          <a:noFill/>
        </p:spPr>
        <p:txBody>
          <a:bodyPr wrap="square" lIns="0" tIns="0" rIns="0" bIns="0">
            <a:spAutoFit/>
          </a:bodyPr>
          <a:lstStyle/>
          <a:p>
            <a:r>
              <a:rPr sz="1493">
                <a:solidFill>
                  <a:srgbClr val="1F1F1F"/>
                </a:solidFill>
                <a:latin typeface="Helvetica Neue Light"/>
              </a:rPr>
              <a:t>Measurements, not a confidence score: wick 2.6× body, at support, volume 2.4× its norm</a:t>
            </a:r>
          </a:p>
        </p:txBody>
      </p:sp>
      <p:sp>
        <p:nvSpPr>
          <p:cNvPr id="10" name="TextBox 9"/>
          <p:cNvSpPr txBox="1"/>
          <p:nvPr/>
        </p:nvSpPr>
        <p:spPr>
          <a:xfrm>
            <a:off x="4616704" y="8414106"/>
            <a:ext cx="3771392" cy="459485"/>
          </a:xfrm>
          <a:prstGeom prst="rect">
            <a:avLst/>
          </a:prstGeom>
          <a:noFill/>
        </p:spPr>
        <p:txBody>
          <a:bodyPr wrap="square" lIns="0" tIns="0" rIns="0" bIns="0">
            <a:spAutoFit/>
          </a:bodyPr>
          <a:lstStyle/>
          <a:p>
            <a:r>
              <a:rPr sz="1493">
                <a:solidFill>
                  <a:srgbClr val="1F1F1F"/>
                </a:solidFill>
                <a:latin typeface="Helvetica Neue Light"/>
              </a:rPr>
              <a:t>Clear, borderline or not enough data; only clear findings reach his inbox</a:t>
            </a:r>
          </a:p>
        </p:txBody>
      </p:sp>
      <p:sp>
        <p:nvSpPr>
          <p:cNvPr id="11" name="TextBox 10"/>
          <p:cNvSpPr txBox="1"/>
          <p:nvPr/>
        </p:nvSpPr>
        <p:spPr>
          <a:xfrm>
            <a:off x="8583168" y="8414106"/>
            <a:ext cx="3771392" cy="459485"/>
          </a:xfrm>
          <a:prstGeom prst="rect">
            <a:avLst/>
          </a:prstGeom>
          <a:noFill/>
        </p:spPr>
        <p:txBody>
          <a:bodyPr wrap="square" lIns="0" tIns="0" rIns="0" bIns="0">
            <a:spAutoFit/>
          </a:bodyPr>
          <a:lstStyle/>
          <a:p>
            <a:r>
              <a:rPr sz="1493">
                <a:solidFill>
                  <a:srgbClr val="1F1F1F"/>
                </a:solidFill>
                <a:latin typeface="Helvetica Neue Light"/>
              </a:rPr>
              <a:t>History with its sample size (38 matches in 3 years) and a visible track record</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30887"/>
          </a:xfrm>
          <a:prstGeom prst="rect">
            <a:avLst/>
          </a:prstGeom>
          <a:noFill/>
        </p:spPr>
        <p:txBody>
          <a:bodyPr wrap="square" lIns="0" tIns="0" rIns="0" bIns="0">
            <a:spAutoFit/>
          </a:bodyPr>
          <a:lstStyle/>
          <a:p>
            <a:r>
              <a:rPr sz="2800" dirty="0">
                <a:solidFill>
                  <a:srgbClr val="1F1F1F"/>
                </a:solidFill>
                <a:latin typeface="Helvetica Neue Light"/>
              </a:rPr>
              <a:t>Close-up · Step 9 · DB1 · Insight Board, pre-market</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7:45 AM. FinViz Home, upgraded.</a:t>
            </a:r>
          </a:p>
        </p:txBody>
      </p:sp>
      <p:pic>
        <p:nvPicPr>
          <p:cNvPr id="6" name="Picture 5" descr="image.png"/>
          <p:cNvPicPr>
            <a:picLocks noChangeAspect="1"/>
          </p:cNvPicPr>
          <p:nvPr/>
        </p:nvPicPr>
        <p:blipFill>
          <a:blip r:embed="rId3"/>
          <a:stretch>
            <a:fillRect/>
          </a:stretch>
        </p:blipFill>
        <p:spPr>
          <a:xfrm>
            <a:off x="455169" y="2080768"/>
            <a:ext cx="7572863" cy="6957568"/>
          </a:xfrm>
          <a:prstGeom prst="rect">
            <a:avLst/>
          </a:prstGeom>
        </p:spPr>
      </p:pic>
      <p:sp>
        <p:nvSpPr>
          <p:cNvPr id="7" name="Rectangle 6"/>
          <p:cNvSpPr/>
          <p:nvPr/>
        </p:nvSpPr>
        <p:spPr>
          <a:xfrm>
            <a:off x="8418175" y="2080768"/>
            <a:ext cx="4131456" cy="6957568"/>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8613247" y="2275840"/>
            <a:ext cx="3741312" cy="2064411"/>
          </a:xfrm>
          <a:prstGeom prst="rect">
            <a:avLst/>
          </a:prstGeom>
          <a:noFill/>
        </p:spPr>
        <p:txBody>
          <a:bodyPr wrap="square" lIns="0" tIns="0" rIns="0" bIns="0">
            <a:spAutoFit/>
          </a:bodyPr>
          <a:lstStyle/>
          <a:p>
            <a:pPr>
              <a:spcAft>
                <a:spcPts val="1138"/>
              </a:spcAft>
            </a:pPr>
            <a:r>
              <a:rPr sz="1280">
                <a:solidFill>
                  <a:srgbClr val="5B3F96"/>
                </a:solidFill>
                <a:latin typeface="Helvetica Neue"/>
              </a:rPr>
              <a:t>AI BEHAVIOR</a:t>
            </a:r>
          </a:p>
          <a:p>
            <a:pPr>
              <a:spcAft>
                <a:spcPts val="1138"/>
              </a:spcAft>
            </a:pPr>
            <a:r>
              <a:rPr sz="1564">
                <a:solidFill>
                  <a:srgbClr val="1F1F1F"/>
                </a:solidFill>
                <a:latin typeface="Helvetica Neue Light"/>
              </a:rPr>
              <a:t>• Three findings that need him today, each sourced and labelled Clear</a:t>
            </a:r>
          </a:p>
          <a:p>
            <a:pPr>
              <a:spcAft>
                <a:spcPts val="1138"/>
              </a:spcAft>
            </a:pPr>
            <a:r>
              <a:rPr sz="1564">
                <a:solidFill>
                  <a:srgbClr val="1F1F1F"/>
                </a:solidFill>
                <a:latin typeface="Helvetica Neue Light"/>
              </a:rPr>
              <a:t>• The familiar parts stay: index row, breadth bars, S&amp;P 500 map, now with AI notes</a:t>
            </a:r>
          </a:p>
          <a:p>
            <a:pPr>
              <a:spcAft>
                <a:spcPts val="1138"/>
              </a:spcAft>
            </a:pPr>
            <a:r>
              <a:rPr sz="1564">
                <a:solidFill>
                  <a:srgbClr val="1F1F1F"/>
                </a:solidFill>
                <a:latin typeface="Helvetica Neue Light"/>
              </a:rPr>
              <a:t>• Pre-market prices on his own names are the Elite moment</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Close-up · Step 12 · AN7 · “This was wrong” → proposed fix</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10:31 AM. The alert opened on the RMBS quote page.</a:t>
            </a:r>
          </a:p>
        </p:txBody>
      </p:sp>
      <p:pic>
        <p:nvPicPr>
          <p:cNvPr id="6" name="Picture 5" descr="image.png"/>
          <p:cNvPicPr>
            <a:picLocks noChangeAspect="1"/>
          </p:cNvPicPr>
          <p:nvPr/>
        </p:nvPicPr>
        <p:blipFill>
          <a:blip r:embed="rId3"/>
          <a:stretch>
            <a:fillRect/>
          </a:stretch>
        </p:blipFill>
        <p:spPr>
          <a:xfrm>
            <a:off x="1541999" y="2080768"/>
            <a:ext cx="9920802" cy="5787136"/>
          </a:xfrm>
          <a:prstGeom prst="rect">
            <a:avLst/>
          </a:prstGeom>
        </p:spPr>
      </p:pic>
      <p:sp>
        <p:nvSpPr>
          <p:cNvPr id="7" name="Rectangle 6"/>
          <p:cNvSpPr/>
          <p:nvPr/>
        </p:nvSpPr>
        <p:spPr>
          <a:xfrm>
            <a:off x="455168" y="8023962"/>
            <a:ext cx="12094464" cy="1014374"/>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650240" y="8128001"/>
            <a:ext cx="2600960" cy="196977"/>
          </a:xfrm>
          <a:prstGeom prst="rect">
            <a:avLst/>
          </a:prstGeom>
          <a:noFill/>
        </p:spPr>
        <p:txBody>
          <a:bodyPr wrap="square" lIns="0" tIns="0" rIns="0" bIns="0">
            <a:spAutoFit/>
          </a:bodyPr>
          <a:lstStyle/>
          <a:p>
            <a:r>
              <a:rPr sz="1280">
                <a:solidFill>
                  <a:srgbClr val="5B3F96"/>
                </a:solidFill>
                <a:latin typeface="Helvetica Neue"/>
              </a:rPr>
              <a:t>DECISION POINT</a:t>
            </a:r>
          </a:p>
        </p:txBody>
      </p:sp>
      <p:sp>
        <p:nvSpPr>
          <p:cNvPr id="9" name="TextBox 8"/>
          <p:cNvSpPr txBox="1"/>
          <p:nvPr/>
        </p:nvSpPr>
        <p:spPr>
          <a:xfrm>
            <a:off x="650240" y="8414106"/>
            <a:ext cx="3771392" cy="459485"/>
          </a:xfrm>
          <a:prstGeom prst="rect">
            <a:avLst/>
          </a:prstGeom>
          <a:noFill/>
        </p:spPr>
        <p:txBody>
          <a:bodyPr wrap="square" lIns="0" tIns="0" rIns="0" bIns="0">
            <a:spAutoFit/>
          </a:bodyPr>
          <a:lstStyle/>
          <a:p>
            <a:r>
              <a:rPr sz="1493">
                <a:solidFill>
                  <a:srgbClr val="1F1F1F"/>
                </a:solidFill>
                <a:latin typeface="Helvetica Neue Light"/>
              </a:rPr>
              <a:t>His reason (“too early”) becomes a specific change to his own rule</a:t>
            </a:r>
          </a:p>
        </p:txBody>
      </p:sp>
      <p:sp>
        <p:nvSpPr>
          <p:cNvPr id="10" name="TextBox 9"/>
          <p:cNvSpPr txBox="1"/>
          <p:nvPr/>
        </p:nvSpPr>
        <p:spPr>
          <a:xfrm>
            <a:off x="4616704" y="8414106"/>
            <a:ext cx="3771392" cy="459485"/>
          </a:xfrm>
          <a:prstGeom prst="rect">
            <a:avLst/>
          </a:prstGeom>
          <a:noFill/>
        </p:spPr>
        <p:txBody>
          <a:bodyPr wrap="square" lIns="0" tIns="0" rIns="0" bIns="0">
            <a:spAutoFit/>
          </a:bodyPr>
          <a:lstStyle/>
          <a:p>
            <a:r>
              <a:rPr sz="1493">
                <a:solidFill>
                  <a:srgbClr val="1F1F1F"/>
                </a:solidFill>
                <a:latin typeface="Helvetica Neue Light"/>
              </a:rPr>
              <a:t>Before/after replay: 4 → 2 alerts in 30 days, both acted-on alerts kept</a:t>
            </a:r>
          </a:p>
        </p:txBody>
      </p:sp>
      <p:sp>
        <p:nvSpPr>
          <p:cNvPr id="11" name="TextBox 10"/>
          <p:cNvSpPr txBox="1"/>
          <p:nvPr/>
        </p:nvSpPr>
        <p:spPr>
          <a:xfrm>
            <a:off x="8583168" y="8414106"/>
            <a:ext cx="3771392" cy="459485"/>
          </a:xfrm>
          <a:prstGeom prst="rect">
            <a:avLst/>
          </a:prstGeom>
          <a:noFill/>
        </p:spPr>
        <p:txBody>
          <a:bodyPr wrap="square" lIns="0" tIns="0" rIns="0" bIns="0">
            <a:spAutoFit/>
          </a:bodyPr>
          <a:lstStyle/>
          <a:p>
            <a:r>
              <a:rPr sz="1493">
                <a:solidFill>
                  <a:srgbClr val="1F1F1F"/>
                </a:solidFill>
                <a:latin typeface="Helvetica Neue Light"/>
              </a:rPr>
              <a:t>Nothing changes until he applies it; every change is logged with Undo</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Close-up · Step 14 · OW7 · Reasons Still Hold?</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4:30 PM. DOCN closes below its SMA50: a reason breaks.</a:t>
            </a:r>
          </a:p>
        </p:txBody>
      </p:sp>
      <p:pic>
        <p:nvPicPr>
          <p:cNvPr id="6" name="Picture 5" descr="image.png"/>
          <p:cNvPicPr>
            <a:picLocks noChangeAspect="1"/>
          </p:cNvPicPr>
          <p:nvPr/>
        </p:nvPicPr>
        <p:blipFill>
          <a:blip r:embed="rId3"/>
          <a:stretch>
            <a:fillRect/>
          </a:stretch>
        </p:blipFill>
        <p:spPr>
          <a:xfrm>
            <a:off x="1820673" y="2080768"/>
            <a:ext cx="9363455" cy="5787136"/>
          </a:xfrm>
          <a:prstGeom prst="rect">
            <a:avLst/>
          </a:prstGeom>
        </p:spPr>
      </p:pic>
      <p:sp>
        <p:nvSpPr>
          <p:cNvPr id="7" name="Rectangle 6"/>
          <p:cNvSpPr/>
          <p:nvPr/>
        </p:nvSpPr>
        <p:spPr>
          <a:xfrm>
            <a:off x="455168" y="8023962"/>
            <a:ext cx="12094464" cy="1014374"/>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650240" y="8128001"/>
            <a:ext cx="2600960" cy="196977"/>
          </a:xfrm>
          <a:prstGeom prst="rect">
            <a:avLst/>
          </a:prstGeom>
          <a:noFill/>
        </p:spPr>
        <p:txBody>
          <a:bodyPr wrap="square" lIns="0" tIns="0" rIns="0" bIns="0">
            <a:spAutoFit/>
          </a:bodyPr>
          <a:lstStyle/>
          <a:p>
            <a:r>
              <a:rPr sz="1280">
                <a:solidFill>
                  <a:srgbClr val="5B3F96"/>
                </a:solidFill>
                <a:latin typeface="Helvetica Neue"/>
              </a:rPr>
              <a:t>DECISION POINT</a:t>
            </a:r>
          </a:p>
        </p:txBody>
      </p:sp>
      <p:sp>
        <p:nvSpPr>
          <p:cNvPr id="9" name="TextBox 8"/>
          <p:cNvSpPr txBox="1"/>
          <p:nvPr/>
        </p:nvSpPr>
        <p:spPr>
          <a:xfrm>
            <a:off x="650240" y="8414106"/>
            <a:ext cx="3771392" cy="459485"/>
          </a:xfrm>
          <a:prstGeom prst="rect">
            <a:avLst/>
          </a:prstGeom>
          <a:noFill/>
        </p:spPr>
        <p:txBody>
          <a:bodyPr wrap="square" lIns="0" tIns="0" rIns="0" bIns="0">
            <a:spAutoFit/>
          </a:bodyPr>
          <a:lstStyle/>
          <a:p>
            <a:r>
              <a:rPr sz="1493">
                <a:solidFill>
                  <a:srgbClr val="1F1F1F"/>
                </a:solidFill>
                <a:latin typeface="Helvetica Neue Light"/>
              </a:rPr>
              <a:t>A checklist that ticks itself against today’s close</a:t>
            </a:r>
          </a:p>
        </p:txBody>
      </p:sp>
      <p:sp>
        <p:nvSpPr>
          <p:cNvPr id="10" name="TextBox 9"/>
          <p:cNvSpPr txBox="1"/>
          <p:nvPr/>
        </p:nvSpPr>
        <p:spPr>
          <a:xfrm>
            <a:off x="4616704" y="8414106"/>
            <a:ext cx="3771392" cy="459485"/>
          </a:xfrm>
          <a:prstGeom prst="rect">
            <a:avLst/>
          </a:prstGeom>
          <a:noFill/>
        </p:spPr>
        <p:txBody>
          <a:bodyPr wrap="square" lIns="0" tIns="0" rIns="0" bIns="0">
            <a:spAutoFit/>
          </a:bodyPr>
          <a:lstStyle/>
          <a:p>
            <a:r>
              <a:rPr sz="1493">
                <a:solidFill>
                  <a:srgbClr val="1F1F1F"/>
                </a:solidFill>
                <a:latin typeface="Helvetica Neue Light"/>
              </a:rPr>
              <a:t>What changed and when, on the chart; his exit line ($34.00) not met</a:t>
            </a:r>
          </a:p>
        </p:txBody>
      </p:sp>
      <p:sp>
        <p:nvSpPr>
          <p:cNvPr id="11" name="TextBox 10"/>
          <p:cNvSpPr txBox="1"/>
          <p:nvPr/>
        </p:nvSpPr>
        <p:spPr>
          <a:xfrm>
            <a:off x="8583168" y="8414106"/>
            <a:ext cx="3771392" cy="459485"/>
          </a:xfrm>
          <a:prstGeom prst="rect">
            <a:avLst/>
          </a:prstGeom>
          <a:noFill/>
        </p:spPr>
        <p:txBody>
          <a:bodyPr wrap="square" lIns="0" tIns="0" rIns="0" bIns="0">
            <a:spAutoFit/>
          </a:bodyPr>
          <a:lstStyle/>
          <a:p>
            <a:r>
              <a:rPr sz="1493">
                <a:solidFill>
                  <a:srgbClr val="1F1F1F"/>
                </a:solidFill>
                <a:latin typeface="Helvetica Neue Light"/>
              </a:rPr>
              <a:t>Hold or exit is his call, in his own broker; FinViz never places orders</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 xml:space="preserve">Try it: click through the whole day</a:t>
            </a:r>
            <a:r>
              <a:rPr sz="3200" dirty="0" err="1">
                <a:solidFill>
                  <a:srgbClr val="1F1F1F"/>
                </a:solidFill>
                <a:latin typeface="Helvetica Neue Light"/>
              </a:rPr>
              <a:t/>
            </a:r>
            <a:r>
              <a:rPr sz="3200" dirty="0">
                <a:solidFill>
                  <a:srgbClr val="1F1F1F"/>
                </a:solidFill>
                <a:latin typeface="Helvetica Neue Light"/>
              </a:rPr>
              <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 xml:space="preserve">The full trading day is a clickable prototype in Figma, starting at step 1: Show It.</a:t>
            </a:r>
          </a:p>
        </p:txBody>
      </p:sp>
      <p:pic>
        <p:nvPicPr>
          <p:cNvPr id="6" name="Picture 5" descr="image.png"/>
          <p:cNvPicPr>
            <a:picLocks noChangeAspect="1"/>
          </p:cNvPicPr>
          <p:nvPr/>
        </p:nvPicPr>
        <p:blipFill>
          <a:blip r:embed="rId3"/>
          <a:stretch>
            <a:fillRect/>
          </a:stretch>
        </p:blipFill>
        <p:spPr>
          <a:xfrm>
            <a:off x="1457924" y="2080768"/>
            <a:ext cx="10088953" cy="5787136"/>
          </a:xfrm>
          <a:prstGeom prst="rect">
            <a:avLst/>
          </a:prstGeom>
        </p:spPr>
      </p:pic>
      <p:sp>
        <p:nvSpPr>
          <p:cNvPr id="7" name="Rectangle 6"/>
          <p:cNvSpPr/>
          <p:nvPr/>
        </p:nvSpPr>
        <p:spPr>
          <a:xfrm>
            <a:off x="455168" y="8023962"/>
            <a:ext cx="12094464" cy="1014374"/>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650240" y="8128001"/>
            <a:ext cx="2600960" cy="196977"/>
          </a:xfrm>
          <a:prstGeom prst="rect">
            <a:avLst/>
          </a:prstGeom>
          <a:noFill/>
        </p:spPr>
        <p:txBody>
          <a:bodyPr wrap="square" lIns="0" tIns="0" rIns="0" bIns="0">
            <a:spAutoFit/>
          </a:bodyPr>
          <a:lstStyle/>
          <a:p>
            <a:r>
              <a:rPr sz="1280">
                <a:solidFill>
                  <a:srgbClr val="5B3F96"/>
                </a:solidFill>
                <a:latin typeface="Helvetica Neue"/>
              </a:rPr>
              <a:t xml:space="preserve">PROTOTYPE</a:t>
            </a:r>
          </a:p>
        </p:txBody>
      </p:sp>
      <p:sp>
        <p:nvSpPr>
          <p:cNvPr id="9" name="TextBox 8">
            <a:hlinkClick r:id="rId4"/>
          </p:cNvPr>
          <p:cNvSpPr txBox="1"/>
          <p:nvPr/>
        </p:nvSpPr>
        <p:spPr>
          <a:xfrm>
            <a:off x="650240" y="8414105"/>
            <a:ext cx="3771392" cy="459485"/>
          </a:xfrm>
          <a:prstGeom prst="rect">
            <a:avLst/>
          </a:prstGeom>
          <a:noFill/>
        </p:spPr>
        <p:txBody>
          <a:bodyPr wrap="square" lIns="0" tIns="0" rIns="0" bIns="0">
            <a:spAutoFit/>
          </a:bodyPr>
          <a:lstStyle/>
          <a:p>
            <a:r>
              <a:rPr u="sng" sz="1493">
                <a:solidFill>
                  <a:srgbClr val="B5531F"/>
                </a:solidFill>
                <a:latin typeface="Helvetica Neue Light"/>
              </a:rPr>
              <a:t xml:space="preserve">Open the Figma prototype →</a:t>
            </a:r>
          </a:p>
        </p:txBody>
      </p:sp>
      <p:sp>
        <p:nvSpPr>
          <p:cNvPr id="10" name="TextBox 9"/>
          <p:cNvSpPr txBox="1"/>
          <p:nvPr/>
        </p:nvSpPr>
        <p:spPr>
          <a:xfrm>
            <a:off x="4616704" y="8414106"/>
            <a:ext cx="3771392" cy="459485"/>
          </a:xfrm>
          <a:prstGeom prst="rect">
            <a:avLst/>
          </a:prstGeom>
          <a:noFill/>
        </p:spPr>
        <p:txBody>
          <a:bodyPr wrap="square" lIns="0" tIns="0" rIns="0" bIns="0">
            <a:spAutoFit/>
          </a:bodyPr>
          <a:lstStyle/>
          <a:p>
            <a:r>
              <a:rPr sz="1493">
                <a:solidFill>
                  <a:srgbClr val="1F1F1F"/>
                </a:solidFill>
                <a:latin typeface="Helvetica Neue Light"/>
              </a:rPr>
              <a:t xml:space="preserve">19 linked hi-fi screens, each moving forward through its real button</a:t>
            </a:r>
          </a:p>
        </p:txBody>
      </p:sp>
      <p:sp>
        <p:nvSpPr>
          <p:cNvPr id="11" name="TextBox 10"/>
          <p:cNvSpPr txBox="1"/>
          <p:nvPr/>
        </p:nvSpPr>
        <p:spPr>
          <a:xfrm>
            <a:off x="8583168" y="8414106"/>
            <a:ext cx="3771392" cy="459485"/>
          </a:xfrm>
          <a:prstGeom prst="rect">
            <a:avLst/>
          </a:prstGeom>
          <a:noFill/>
        </p:spPr>
        <p:txBody>
          <a:bodyPr wrap="square" lIns="0" tIns="0" rIns="0" bIns="0">
            <a:spAutoFit/>
          </a:bodyPr>
          <a:lstStyle/>
          <a:p>
            <a:r>
              <a:rPr sz="1493">
                <a:solidFill>
                  <a:srgbClr val="1F1F1F"/>
                </a:solidFill>
                <a:latin typeface="Helvetica Neue Light"/>
              </a:rPr>
              <a:t xml:space="preserve">Also available offline, with the narrative for every step: The-Trading-Day-Prototype.html</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05 · Solution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Wireframes: the Day Board, drawn before the model</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Lo-fi to hi-fi, for logon, afternoon, and end of day. Figma page: Dashboards · The Day Board.</a:t>
            </a:r>
          </a:p>
        </p:txBody>
      </p:sp>
      <p:pic>
        <p:nvPicPr>
          <p:cNvPr id="5" name="Picture 4" descr="image.png"/>
          <p:cNvPicPr>
            <a:picLocks noChangeAspect="1"/>
          </p:cNvPicPr>
          <p:nvPr/>
        </p:nvPicPr>
        <p:blipFill>
          <a:blip r:embed="rId2"/>
          <a:stretch>
            <a:fillRect/>
          </a:stretch>
        </p:blipFill>
        <p:spPr>
          <a:xfrm>
            <a:off x="457200" y="2103120"/>
            <a:ext cx="3601664" cy="6766560"/>
          </a:xfrm>
          <a:prstGeom prst="rect">
            <a:avLst/>
          </a:prstGeom>
        </p:spPr>
      </p:pic>
      <p:sp>
        <p:nvSpPr>
          <p:cNvPr id="6" name="TextBox 5"/>
          <p:cNvSpPr txBox="1"/>
          <p:nvPr/>
        </p:nvSpPr>
        <p:spPr>
          <a:xfrm>
            <a:off x="4937760" y="2194560"/>
            <a:ext cx="75895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4937760" y="2505456"/>
            <a:ext cx="7589520" cy="1371600"/>
          </a:xfrm>
          <a:prstGeom prst="rect">
            <a:avLst/>
          </a:prstGeom>
          <a:noFill/>
        </p:spPr>
        <p:txBody>
          <a:bodyPr wrap="square" lIns="0" rIns="0" tIns="0" bIns="0">
            <a:spAutoFit/>
          </a:bodyPr>
          <a:lstStyle/>
          <a:p>
            <a:r>
              <a:rPr sz="1500">
                <a:solidFill>
                  <a:srgbClr val="1F1F1F"/>
                </a:solidFill>
                <a:latin typeface="Helvetica Neue Light"/>
              </a:rPr>
              <a:t>Onboarding today is a tour, and nothing shows a swing trader what changed since last night. The check is done by hand, across tabs.</a:t>
            </a:r>
          </a:p>
        </p:txBody>
      </p:sp>
      <p:sp>
        <p:nvSpPr>
          <p:cNvPr id="8" name="TextBox 7"/>
          <p:cNvSpPr txBox="1"/>
          <p:nvPr/>
        </p:nvSpPr>
        <p:spPr>
          <a:xfrm>
            <a:off x="4937760" y="4663440"/>
            <a:ext cx="75895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4937760" y="4974336"/>
            <a:ext cx="7589520" cy="1371600"/>
          </a:xfrm>
          <a:prstGeom prst="rect">
            <a:avLst/>
          </a:prstGeom>
          <a:noFill/>
        </p:spPr>
        <p:txBody>
          <a:bodyPr wrap="square" lIns="0" rIns="0" tIns="0" bIns="0">
            <a:spAutoFit/>
          </a:bodyPr>
          <a:lstStyle/>
          <a:p>
            <a:r>
              <a:rPr sz="1500">
                <a:solidFill>
                  <a:srgbClr val="1F1F1F"/>
                </a:solidFill>
                <a:latin typeface="Helvetica Neue Light"/>
              </a:rPr>
              <a:t>The Day Board is drawn for three moments of the day: logon, afternoon, and end of day. One layout, and every card names its source and why it appeared.</a:t>
            </a:r>
          </a:p>
        </p:txBody>
      </p:sp>
      <p:sp>
        <p:nvSpPr>
          <p:cNvPr id="10" name="TextBox 9"/>
          <p:cNvSpPr txBox="1"/>
          <p:nvPr/>
        </p:nvSpPr>
        <p:spPr>
          <a:xfrm>
            <a:off x="4937760" y="7132320"/>
            <a:ext cx="75895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4937760" y="7443216"/>
            <a:ext cx="7589520" cy="1371600"/>
          </a:xfrm>
          <a:prstGeom prst="rect">
            <a:avLst/>
          </a:prstGeom>
          <a:noFill/>
        </p:spPr>
        <p:txBody>
          <a:bodyPr wrap="square" lIns="0" rIns="0" tIns="0" bIns="0">
            <a:spAutoFit/>
          </a:bodyPr>
          <a:lstStyle/>
          <a:p>
            <a:r>
              <a:rPr sz="1500">
                <a:solidFill>
                  <a:srgbClr val="1F1F1F"/>
                </a:solidFill>
                <a:latin typeface="Helvetica Neue Light"/>
              </a:rPr>
              <a:t>I drew the board before the model. The layout was tested against the trader's routine, so the AI fills a structure that already works.</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05 · Solution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User flow: one trader's morning, in six beats</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Each beat asks one question. Three beats shown here; the rest are in the walkthrough page.</a:t>
            </a:r>
          </a:p>
        </p:txBody>
      </p:sp>
      <p:pic>
        <p:nvPicPr>
          <p:cNvPr id="5" name="Picture 4" descr="image.png"/>
          <p:cNvPicPr>
            <a:picLocks noChangeAspect="1"/>
          </p:cNvPicPr>
          <p:nvPr/>
        </p:nvPicPr>
        <p:blipFill>
          <a:blip r:embed="rId2"/>
          <a:stretch>
            <a:fillRect/>
          </a:stretch>
        </p:blipFill>
        <p:spPr>
          <a:xfrm>
            <a:off x="457200" y="2103120"/>
            <a:ext cx="3501569" cy="4114800"/>
          </a:xfrm>
          <a:prstGeom prst="rect">
            <a:avLst/>
          </a:prstGeom>
        </p:spPr>
      </p:pic>
      <p:sp>
        <p:nvSpPr>
          <p:cNvPr id="6" name="TextBox 5"/>
          <p:cNvSpPr txBox="1"/>
          <p:nvPr/>
        </p:nvSpPr>
        <p:spPr>
          <a:xfrm>
            <a:off x="457200" y="6355080"/>
            <a:ext cx="3501569" cy="274320"/>
          </a:xfrm>
          <a:prstGeom prst="rect">
            <a:avLst/>
          </a:prstGeom>
          <a:noFill/>
        </p:spPr>
        <p:txBody>
          <a:bodyPr wrap="square" lIns="0" rIns="0" tIns="0" bIns="0">
            <a:spAutoFit/>
          </a:bodyPr>
          <a:lstStyle/>
          <a:p>
            <a:r>
              <a:rPr sz="1280">
                <a:solidFill>
                  <a:srgbClr val="B5531F"/>
                </a:solidFill>
                <a:latin typeface="Helvetica Neue"/>
              </a:rPr>
              <a:t>BEAT 1 · MORNING</a:t>
            </a:r>
          </a:p>
        </p:txBody>
      </p:sp>
      <p:sp>
        <p:nvSpPr>
          <p:cNvPr id="7" name="TextBox 6"/>
          <p:cNvSpPr txBox="1"/>
          <p:nvPr/>
        </p:nvSpPr>
        <p:spPr>
          <a:xfrm>
            <a:off x="457200" y="6647688"/>
            <a:ext cx="3501569" cy="548640"/>
          </a:xfrm>
          <a:prstGeom prst="rect">
            <a:avLst/>
          </a:prstGeom>
          <a:noFill/>
        </p:spPr>
        <p:txBody>
          <a:bodyPr wrap="square" lIns="0" rIns="0" tIns="0" bIns="0">
            <a:spAutoFit/>
          </a:bodyPr>
          <a:lstStyle/>
          <a:p>
            <a:r>
              <a:rPr sz="1500">
                <a:solidFill>
                  <a:srgbClr val="1F1F1F"/>
                </a:solidFill>
                <a:latin typeface="Helvetica Neue Light"/>
              </a:rPr>
              <a:t>“What needs my attention?”</a:t>
            </a:r>
          </a:p>
        </p:txBody>
      </p:sp>
      <p:pic>
        <p:nvPicPr>
          <p:cNvPr id="8" name="Picture 7" descr="image.png"/>
          <p:cNvPicPr>
            <a:picLocks noChangeAspect="1"/>
          </p:cNvPicPr>
          <p:nvPr/>
        </p:nvPicPr>
        <p:blipFill>
          <a:blip r:embed="rId3"/>
          <a:stretch>
            <a:fillRect/>
          </a:stretch>
        </p:blipFill>
        <p:spPr>
          <a:xfrm>
            <a:off x="4233089" y="2103120"/>
            <a:ext cx="3489968" cy="4114800"/>
          </a:xfrm>
          <a:prstGeom prst="rect">
            <a:avLst/>
          </a:prstGeom>
        </p:spPr>
      </p:pic>
      <p:sp>
        <p:nvSpPr>
          <p:cNvPr id="9" name="TextBox 8"/>
          <p:cNvSpPr txBox="1"/>
          <p:nvPr/>
        </p:nvSpPr>
        <p:spPr>
          <a:xfrm>
            <a:off x="4233089" y="6355080"/>
            <a:ext cx="3489968" cy="274320"/>
          </a:xfrm>
          <a:prstGeom prst="rect">
            <a:avLst/>
          </a:prstGeom>
          <a:noFill/>
        </p:spPr>
        <p:txBody>
          <a:bodyPr wrap="square" lIns="0" rIns="0" tIns="0" bIns="0">
            <a:spAutoFit/>
          </a:bodyPr>
          <a:lstStyle/>
          <a:p>
            <a:r>
              <a:rPr sz="1280">
                <a:solidFill>
                  <a:srgbClr val="B5531F"/>
                </a:solidFill>
                <a:latin typeface="Helvetica Neue"/>
              </a:rPr>
              <a:t>BEAT 2 · INVESTIGATING</a:t>
            </a:r>
          </a:p>
        </p:txBody>
      </p:sp>
      <p:sp>
        <p:nvSpPr>
          <p:cNvPr id="10" name="TextBox 9"/>
          <p:cNvSpPr txBox="1"/>
          <p:nvPr/>
        </p:nvSpPr>
        <p:spPr>
          <a:xfrm>
            <a:off x="4233089" y="6647688"/>
            <a:ext cx="3489968" cy="548640"/>
          </a:xfrm>
          <a:prstGeom prst="rect">
            <a:avLst/>
          </a:prstGeom>
          <a:noFill/>
        </p:spPr>
        <p:txBody>
          <a:bodyPr wrap="square" lIns="0" rIns="0" tIns="0" bIns="0">
            <a:spAutoFit/>
          </a:bodyPr>
          <a:lstStyle/>
          <a:p>
            <a:r>
              <a:rPr sz="1500">
                <a:solidFill>
                  <a:srgbClr val="1F1F1F"/>
                </a:solidFill>
                <a:latin typeface="Helvetica Neue Light"/>
              </a:rPr>
              <a:t>“Show me the evidence.”</a:t>
            </a:r>
          </a:p>
        </p:txBody>
      </p:sp>
      <p:pic>
        <p:nvPicPr>
          <p:cNvPr id="11" name="Picture 10" descr="image.png"/>
          <p:cNvPicPr>
            <a:picLocks noChangeAspect="1"/>
          </p:cNvPicPr>
          <p:nvPr/>
        </p:nvPicPr>
        <p:blipFill>
          <a:blip r:embed="rId4"/>
          <a:stretch>
            <a:fillRect/>
          </a:stretch>
        </p:blipFill>
        <p:spPr>
          <a:xfrm>
            <a:off x="7997377" y="2103120"/>
            <a:ext cx="4158113" cy="4114800"/>
          </a:xfrm>
          <a:prstGeom prst="rect">
            <a:avLst/>
          </a:prstGeom>
        </p:spPr>
      </p:pic>
      <p:sp>
        <p:nvSpPr>
          <p:cNvPr id="12" name="TextBox 11"/>
          <p:cNvSpPr txBox="1"/>
          <p:nvPr/>
        </p:nvSpPr>
        <p:spPr>
          <a:xfrm>
            <a:off x="7997377" y="6355080"/>
            <a:ext cx="4158113" cy="274320"/>
          </a:xfrm>
          <a:prstGeom prst="rect">
            <a:avLst/>
          </a:prstGeom>
          <a:noFill/>
        </p:spPr>
        <p:txBody>
          <a:bodyPr wrap="square" lIns="0" rIns="0" tIns="0" bIns="0">
            <a:spAutoFit/>
          </a:bodyPr>
          <a:lstStyle/>
          <a:p>
            <a:r>
              <a:rPr sz="1280">
                <a:solidFill>
                  <a:srgbClr val="B5531F"/>
                </a:solidFill>
                <a:latin typeface="Helvetica Neue"/>
              </a:rPr>
              <a:t>BEAT 4 · AFTER THE CLOSE</a:t>
            </a:r>
          </a:p>
        </p:txBody>
      </p:sp>
      <p:sp>
        <p:nvSpPr>
          <p:cNvPr id="13" name="TextBox 12"/>
          <p:cNvSpPr txBox="1"/>
          <p:nvPr/>
        </p:nvSpPr>
        <p:spPr>
          <a:xfrm>
            <a:off x="7997377" y="6647688"/>
            <a:ext cx="4158113" cy="548640"/>
          </a:xfrm>
          <a:prstGeom prst="rect">
            <a:avLst/>
          </a:prstGeom>
          <a:noFill/>
        </p:spPr>
        <p:txBody>
          <a:bodyPr wrap="square" lIns="0" rIns="0" tIns="0" bIns="0">
            <a:spAutoFit/>
          </a:bodyPr>
          <a:lstStyle/>
          <a:p>
            <a:r>
              <a:rPr sz="1500">
                <a:solidFill>
                  <a:srgbClr val="1F1F1F"/>
                </a:solidFill>
                <a:latin typeface="Helvetica Neue Light"/>
              </a:rPr>
              <a:t>“How does my portfolio compare with my plan?”</a:t>
            </a:r>
          </a:p>
        </p:txBody>
      </p:sp>
      <p:sp>
        <p:nvSpPr>
          <p:cNvPr id="14" name="TextBox 13"/>
          <p:cNvSpPr txBox="1"/>
          <p:nvPr/>
        </p:nvSpPr>
        <p:spPr>
          <a:xfrm>
            <a:off x="457200" y="7498079"/>
            <a:ext cx="384048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15" name="TextBox 14"/>
          <p:cNvSpPr txBox="1"/>
          <p:nvPr/>
        </p:nvSpPr>
        <p:spPr>
          <a:xfrm>
            <a:off x="457200" y="7808975"/>
            <a:ext cx="3840480" cy="1371600"/>
          </a:xfrm>
          <a:prstGeom prst="rect">
            <a:avLst/>
          </a:prstGeom>
          <a:noFill/>
        </p:spPr>
        <p:txBody>
          <a:bodyPr wrap="square" lIns="0" rIns="0" tIns="0" bIns="0">
            <a:spAutoFit/>
          </a:bodyPr>
          <a:lstStyle/>
          <a:p>
            <a:r>
              <a:rPr sz="1500">
                <a:solidFill>
                  <a:srgbClr val="1F1F1F"/>
                </a:solidFill>
                <a:latin typeface="Helvetica Neue Light"/>
              </a:rPr>
              <a:t>A swing trader cannot read 11,666 tickers each morning. The question is what needs attention, and the answer cannot be a black box.</a:t>
            </a:r>
          </a:p>
        </p:txBody>
      </p:sp>
      <p:sp>
        <p:nvSpPr>
          <p:cNvPr id="16" name="TextBox 15"/>
          <p:cNvSpPr txBox="1"/>
          <p:nvPr/>
        </p:nvSpPr>
        <p:spPr>
          <a:xfrm>
            <a:off x="4572000" y="7498079"/>
            <a:ext cx="384048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17" name="TextBox 16"/>
          <p:cNvSpPr txBox="1"/>
          <p:nvPr/>
        </p:nvSpPr>
        <p:spPr>
          <a:xfrm>
            <a:off x="4572000" y="7808975"/>
            <a:ext cx="3840480" cy="1371600"/>
          </a:xfrm>
          <a:prstGeom prst="rect">
            <a:avLst/>
          </a:prstGeom>
          <a:noFill/>
        </p:spPr>
        <p:txBody>
          <a:bodyPr wrap="square" lIns="0" rIns="0" tIns="0" bIns="0">
            <a:spAutoFit/>
          </a:bodyPr>
          <a:lstStyle/>
          <a:p>
            <a:r>
              <a:rPr sz="1500">
                <a:solidFill>
                  <a:srgbClr val="1F1F1F"/>
                </a:solidFill>
                <a:latin typeface="Helvetica Neue Light"/>
              </a:rPr>
              <a:t>The AI surfaces what changed. Each insight carries its evidence, and the trader decides. Nothing is changed without asking first.</a:t>
            </a:r>
          </a:p>
        </p:txBody>
      </p:sp>
      <p:sp>
        <p:nvSpPr>
          <p:cNvPr id="18" name="TextBox 17"/>
          <p:cNvSpPr txBox="1"/>
          <p:nvPr/>
        </p:nvSpPr>
        <p:spPr>
          <a:xfrm>
            <a:off x="8686800" y="7498079"/>
            <a:ext cx="384048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9" name="TextBox 18"/>
          <p:cNvSpPr txBox="1"/>
          <p:nvPr/>
        </p:nvSpPr>
        <p:spPr>
          <a:xfrm>
            <a:off x="8686800" y="7808975"/>
            <a:ext cx="3840480" cy="1371600"/>
          </a:xfrm>
          <a:prstGeom prst="rect">
            <a:avLst/>
          </a:prstGeom>
          <a:noFill/>
        </p:spPr>
        <p:txBody>
          <a:bodyPr wrap="square" lIns="0" rIns="0" tIns="0" bIns="0">
            <a:spAutoFit/>
          </a:bodyPr>
          <a:lstStyle/>
          <a:p>
            <a:r>
              <a:rPr sz="1500">
                <a:solidFill>
                  <a:srgbClr val="1F1F1F"/>
                </a:solidFill>
                <a:latin typeface="Helvetica Neue Light"/>
              </a:rPr>
              <a:t>I wrote the flow as the questions a trader asks, so reviewers can follow each decision and see the rules on screen.</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07 · Methodology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FigJam: pain points and KPIs, the record behind the design</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FinViz AI: Swing Trader Workflow board. Sections 10, 11, 14, and 15.</a:t>
            </a:r>
          </a:p>
        </p:txBody>
      </p:sp>
      <p:pic>
        <p:nvPicPr>
          <p:cNvPr id="5" name="Picture 4" descr="image.png"/>
          <p:cNvPicPr>
            <a:picLocks noChangeAspect="1"/>
          </p:cNvPicPr>
          <p:nvPr/>
        </p:nvPicPr>
        <p:blipFill>
          <a:blip r:embed="rId2"/>
          <a:stretch>
            <a:fillRect/>
          </a:stretch>
        </p:blipFill>
        <p:spPr>
          <a:xfrm>
            <a:off x="457200" y="2103120"/>
            <a:ext cx="3337560" cy="1398792"/>
          </a:xfrm>
          <a:prstGeom prst="rect">
            <a:avLst/>
          </a:prstGeom>
        </p:spPr>
      </p:pic>
      <p:pic>
        <p:nvPicPr>
          <p:cNvPr id="6" name="Picture 5" descr="image.png"/>
          <p:cNvPicPr>
            <a:picLocks noChangeAspect="1"/>
          </p:cNvPicPr>
          <p:nvPr/>
        </p:nvPicPr>
        <p:blipFill>
          <a:blip r:embed="rId3"/>
          <a:stretch>
            <a:fillRect/>
          </a:stretch>
        </p:blipFill>
        <p:spPr>
          <a:xfrm>
            <a:off x="3977640" y="2103120"/>
            <a:ext cx="3337560" cy="2640735"/>
          </a:xfrm>
          <a:prstGeom prst="rect">
            <a:avLst/>
          </a:prstGeom>
        </p:spPr>
      </p:pic>
      <p:pic>
        <p:nvPicPr>
          <p:cNvPr id="7" name="Picture 6" descr="image.png"/>
          <p:cNvPicPr>
            <a:picLocks noChangeAspect="1"/>
          </p:cNvPicPr>
          <p:nvPr/>
        </p:nvPicPr>
        <p:blipFill>
          <a:blip r:embed="rId4"/>
          <a:stretch>
            <a:fillRect/>
          </a:stretch>
        </p:blipFill>
        <p:spPr>
          <a:xfrm>
            <a:off x="457200" y="5018175"/>
            <a:ext cx="3337560" cy="2379512"/>
          </a:xfrm>
          <a:prstGeom prst="rect">
            <a:avLst/>
          </a:prstGeom>
        </p:spPr>
      </p:pic>
      <p:pic>
        <p:nvPicPr>
          <p:cNvPr id="8" name="Picture 7" descr="image.png"/>
          <p:cNvPicPr>
            <a:picLocks noChangeAspect="1"/>
          </p:cNvPicPr>
          <p:nvPr/>
        </p:nvPicPr>
        <p:blipFill>
          <a:blip r:embed="rId5"/>
          <a:stretch>
            <a:fillRect/>
          </a:stretch>
        </p:blipFill>
        <p:spPr>
          <a:xfrm>
            <a:off x="3977640" y="5018175"/>
            <a:ext cx="3337560" cy="2234468"/>
          </a:xfrm>
          <a:prstGeom prst="rect">
            <a:avLst/>
          </a:prstGeom>
        </p:spPr>
      </p:pic>
      <p:sp>
        <p:nvSpPr>
          <p:cNvPr id="9" name="TextBox 8"/>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10" name="TextBox 9"/>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The reasons for each decision sat in separate documents, so a KPI or a backlog item could drift away from the pain point it answers.</a:t>
            </a:r>
          </a:p>
        </p:txBody>
      </p:sp>
      <p:sp>
        <p:nvSpPr>
          <p:cNvPr id="11" name="TextBox 10"/>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12" name="TextBox 11"/>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Pain points, the pain register, prioritization, and the KPI tree sit on one board. Each KPI traces back to a pain point it is meant to move.</a:t>
            </a:r>
          </a:p>
        </p:txBody>
      </p:sp>
      <p:sp>
        <p:nvSpPr>
          <p:cNvPr id="13" name="TextBox 12"/>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4" name="TextBox 13"/>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kept the working record in the open, so the team could challenge a KPI or a backlog item before it reached a screen.</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05 · Solution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Onboarding Day One: no tour, the first evening</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Lo-fi to hi-fi. Figma page: Onboarding · Day One.</a:t>
            </a:r>
          </a:p>
        </p:txBody>
      </p:sp>
      <p:pic>
        <p:nvPicPr>
          <p:cNvPr id="5" name="Picture 4" descr="image.png"/>
          <p:cNvPicPr>
            <a:picLocks noChangeAspect="1"/>
          </p:cNvPicPr>
          <p:nvPr/>
        </p:nvPicPr>
        <p:blipFill>
          <a:blip r:embed="rId2"/>
          <a:stretch>
            <a:fillRect/>
          </a:stretch>
        </p:blipFill>
        <p:spPr>
          <a:xfrm>
            <a:off x="457200" y="2103120"/>
            <a:ext cx="2399294" cy="6949440"/>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FinViz onboarding today is a tour video. A new trader learns outside the product, then has to remember it on the first screen.</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Day One is AI-led with no tour. Each screen teaches what it shows at the moment it is used, so learnability is a property of every screen.</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drew Day One as a sequence of screens, so the first evening can be reviewed step by step, not only as a principle.</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05 · Solution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Test: a rebalance agent, outside the guardrails</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Figma page: Rebalance Agent (outside guardrails).</a:t>
            </a:r>
          </a:p>
        </p:txBody>
      </p:sp>
      <p:pic>
        <p:nvPicPr>
          <p:cNvPr id="5" name="Picture 4" descr="image.png"/>
          <p:cNvPicPr>
            <a:picLocks noChangeAspect="1"/>
          </p:cNvPicPr>
          <p:nvPr/>
        </p:nvPicPr>
        <p:blipFill>
          <a:blip r:embed="rId2"/>
          <a:stretch>
            <a:fillRect/>
          </a:stretch>
        </p:blipFill>
        <p:spPr>
          <a:xfrm>
            <a:off x="457200" y="2103120"/>
            <a:ext cx="1978853" cy="6949440"/>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An agent that rebalances a portfolio can act beyond what the trader set. That is the most serious risk in the concept.</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The rebalance idea is drawn as a test, outside the guardrails, with the boundary stated on the screen. It is not part of the first release.</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kept the riskiest idea labeled as a test, so reviewers can see the line between proposal and action.</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05 · Solution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The daily blueprint, from morning to close</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FigJam working document, section 3.</a:t>
            </a:r>
          </a:p>
        </p:txBody>
      </p:sp>
      <p:pic>
        <p:nvPicPr>
          <p:cNvPr id="5" name="Picture 4" descr="image.png"/>
          <p:cNvPicPr>
            <a:picLocks noChangeAspect="1"/>
          </p:cNvPicPr>
          <p:nvPr/>
        </p:nvPicPr>
        <p:blipFill>
          <a:blip r:embed="rId2"/>
          <a:stretch>
            <a:fillRect/>
          </a:stretch>
        </p:blipFill>
        <p:spPr>
          <a:xfrm>
            <a:off x="457200" y="2103120"/>
            <a:ext cx="6766560" cy="3810751"/>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A swing trader's day runs across tools, and each moment has a different need. Without a map, the design guesses at the day.</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The blueprint lays out the trader's day in order, with the touchpoints where FinViz could help and where it should stay out of the way.</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mapped the whole day before designing any screen, so each screen answers a moment in that day.</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07 · Methodology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Onboarding today: the baseline</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FigJam working document, section 19.</a:t>
            </a:r>
          </a:p>
        </p:txBody>
      </p:sp>
      <p:pic>
        <p:nvPicPr>
          <p:cNvPr id="5" name="Picture 4" descr="image.png"/>
          <p:cNvPicPr>
            <a:picLocks noChangeAspect="1"/>
          </p:cNvPicPr>
          <p:nvPr/>
        </p:nvPicPr>
        <p:blipFill>
          <a:blip r:embed="rId2"/>
          <a:stretch>
            <a:fillRect/>
          </a:stretch>
        </p:blipFill>
        <p:spPr>
          <a:xfrm>
            <a:off x="457200" y="2103120"/>
            <a:ext cx="6766560" cy="5812568"/>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The current onboarding is a tour and help articles. Without a baseline, the team cannot tell whether a change helps.</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The board records each step a new trader takes today, with the gap at each step. It is the baseline the proposed onboarding is measured against.</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documented today before proposing a change, so the team could check the new flow against the old one.</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07 · Methodology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Onboarding proposed: learning in place</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FigJam working document, section 20.</a:t>
            </a:r>
          </a:p>
        </p:txBody>
      </p:sp>
      <p:pic>
        <p:nvPicPr>
          <p:cNvPr id="5" name="Picture 4" descr="image.png"/>
          <p:cNvPicPr>
            <a:picLocks noChangeAspect="1"/>
          </p:cNvPicPr>
          <p:nvPr/>
        </p:nvPicPr>
        <p:blipFill>
          <a:blip r:embed="rId2"/>
          <a:stretch>
            <a:fillRect/>
          </a:stretch>
        </p:blipFill>
        <p:spPr>
          <a:xfrm>
            <a:off x="457200" y="2103120"/>
            <a:ext cx="6766560" cy="5338179"/>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A tour teaches before the trader needs anything. By the time the trader reaches the screen, the lesson is gone.</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The proposed flow teaches on the screen the trader is using, one step at a time, with no separate tour. Each step traces back to a gap on the baseline board.</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Each proposed step is traced to a gap in today's flow, so the change answers a stated problem.</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05 · Solution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Concept 1: First Steps</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FigJam working document, section 17.</a:t>
            </a:r>
          </a:p>
        </p:txBody>
      </p:sp>
      <p:pic>
        <p:nvPicPr>
          <p:cNvPr id="5" name="Picture 4" descr="image.png"/>
          <p:cNvPicPr>
            <a:picLocks noChangeAspect="1"/>
          </p:cNvPicPr>
          <p:nvPr/>
        </p:nvPicPr>
        <p:blipFill>
          <a:blip r:embed="rId2"/>
          <a:stretch>
            <a:fillRect/>
          </a:stretch>
        </p:blipFill>
        <p:spPr>
          <a:xfrm>
            <a:off x="457200" y="2103120"/>
            <a:ext cx="5857385" cy="6949440"/>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A new trader does not know which first step matters. The first session can end before the first useful result.</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First Steps is one of three lead concepts. It builds the first success around a short, guided route to a screen the trader trusts.</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wrote each concept as a building block with its own test, so the team could compare them on the same measures.</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05 · Solution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Concept 2: Filtering</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FigJam working document, section 18.</a:t>
            </a:r>
          </a:p>
        </p:txBody>
      </p:sp>
      <p:pic>
        <p:nvPicPr>
          <p:cNvPr id="5" name="Picture 4" descr="image.png"/>
          <p:cNvPicPr>
            <a:picLocks noChangeAspect="1"/>
          </p:cNvPicPr>
          <p:nvPr/>
        </p:nvPicPr>
        <p:blipFill>
          <a:blip r:embed="rId2"/>
          <a:stretch>
            <a:fillRect/>
          </a:stretch>
        </p:blipFill>
        <p:spPr>
          <a:xfrm>
            <a:off x="457200" y="2103120"/>
            <a:ext cx="5473527" cy="6949440"/>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The screener has 89 filter dropdowns across six tabs, and a new trader does not know which ones answer their question.</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Filtering is the second concept. It builds the first success around choosing the right filters for a question, not around the full list.</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checked each concept against the same pain points, so the choice between concepts rests on evidence, not preference.</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05 · Solution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Workflow: First Steps</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FigJam working document, section 21.</a:t>
            </a:r>
          </a:p>
        </p:txBody>
      </p:sp>
      <p:pic>
        <p:nvPicPr>
          <p:cNvPr id="5" name="Picture 4" descr="image.png"/>
          <p:cNvPicPr>
            <a:picLocks noChangeAspect="1"/>
          </p:cNvPicPr>
          <p:nvPr/>
        </p:nvPicPr>
        <p:blipFill>
          <a:blip r:embed="rId2"/>
          <a:stretch>
            <a:fillRect/>
          </a:stretch>
        </p:blipFill>
        <p:spPr>
          <a:xfrm>
            <a:off x="457200" y="2103120"/>
            <a:ext cx="6766560" cy="3129657"/>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A concept is only useful if it works across the whole path, not only on one screen.</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The workflow shows the path from first sign-on to the first trading day, with the screens and the decision points for the concept.</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traced each concept's workflow, so a reviewer can follow the path and find where it breaks.</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05 · Solution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Workflow: Filtering</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FigJam working document, section 22.</a:t>
            </a:r>
          </a:p>
        </p:txBody>
      </p:sp>
      <p:pic>
        <p:nvPicPr>
          <p:cNvPr id="5" name="Picture 4" descr="image.png"/>
          <p:cNvPicPr>
            <a:picLocks noChangeAspect="1"/>
          </p:cNvPicPr>
          <p:nvPr/>
        </p:nvPicPr>
        <p:blipFill>
          <a:blip r:embed="rId2"/>
          <a:stretch>
            <a:fillRect/>
          </a:stretch>
        </p:blipFill>
        <p:spPr>
          <a:xfrm>
            <a:off x="457200" y="2103120"/>
            <a:ext cx="6766560" cy="2426682"/>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Filtering can look simple on one screen but fail across a session, when the trader changes a filter and loses the result.</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The filtering workflow shows the same path for concept two, so the two concepts can be compared step for step.</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Both workflows follow one format, so the comparison is fair.</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07 · Methodology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The concept set: three ways into the day</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FigJam working document, section 25.</a:t>
            </a:r>
          </a:p>
        </p:txBody>
      </p:sp>
      <p:pic>
        <p:nvPicPr>
          <p:cNvPr id="5" name="Picture 4" descr="image.png"/>
          <p:cNvPicPr>
            <a:picLocks noChangeAspect="1"/>
          </p:cNvPicPr>
          <p:nvPr/>
        </p:nvPicPr>
        <p:blipFill>
          <a:blip r:embed="rId2"/>
          <a:stretch>
            <a:fillRect/>
          </a:stretch>
        </p:blipFill>
        <p:spPr>
          <a:xfrm>
            <a:off x="457200" y="2103120"/>
            <a:ext cx="4953527" cy="6949440"/>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Three possible first experiences, and no shared way to compare them.</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The Trading Day, Your Playbook, and The Decision Board are three concepts, each built around one property of a first success.</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set the three concepts side by side, so the team chose a lead on evidence, not on the first idea.</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07 · Methodology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Lead concept: The Trading Day</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FigJam working document, section 26.</a:t>
            </a:r>
          </a:p>
        </p:txBody>
      </p:sp>
      <p:pic>
        <p:nvPicPr>
          <p:cNvPr id="5" name="Picture 4" descr="image.png"/>
          <p:cNvPicPr>
            <a:picLocks noChangeAspect="1"/>
          </p:cNvPicPr>
          <p:nvPr/>
        </p:nvPicPr>
        <p:blipFill>
          <a:blip r:embed="rId2"/>
          <a:stretch>
            <a:fillRect/>
          </a:stretch>
        </p:blipFill>
        <p:spPr>
          <a:xfrm>
            <a:off x="457200" y="2103120"/>
            <a:ext cx="3264499" cy="6949440"/>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A trader who opens FinViz cold has no single picture of the day ahead.</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The Trading Day follows one trade through one day, from the evening idea to the next morning check. It is the lead concept.</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made it the lead and recorded the reasons on the board, so the choice can be challenged.</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07 · Methodology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Concept: Your Playbook</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FigJam working document, section 27.</a:t>
            </a:r>
          </a:p>
        </p:txBody>
      </p:sp>
      <p:pic>
        <p:nvPicPr>
          <p:cNvPr id="5" name="Picture 4" descr="image.png"/>
          <p:cNvPicPr>
            <a:picLocks noChangeAspect="1"/>
          </p:cNvPicPr>
          <p:nvPr/>
        </p:nvPicPr>
        <p:blipFill>
          <a:blip r:embed="rId2"/>
          <a:stretch>
            <a:fillRect/>
          </a:stretch>
        </p:blipFill>
        <p:spPr>
          <a:xfrm>
            <a:off x="457200" y="2103120"/>
            <a:ext cx="6766560" cy="6829116"/>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A trader's own rules are not in the product, so the screener cannot apply them.</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Your Playbook stores the trader's rules as a screen they can rerun. It is a workflow, not a tip.</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tested it against the same measures as the lead concept, so the comparison stays fair.</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05872" cy="274320"/>
          </a:xfrm>
          <a:prstGeom prst="rect">
            <a:avLst/>
          </a:prstGeom>
          <a:noFill/>
        </p:spPr>
        <p:txBody>
          <a:bodyPr wrap="square" lIns="0" rIns="0" tIns="0" bIns="0">
            <a:spAutoFit/>
          </a:bodyPr>
          <a:lstStyle/>
          <a:p>
            <a:r>
              <a:rPr sz="1422">
                <a:solidFill>
                  <a:srgbClr val="1F1F1F"/>
                </a:solidFill>
                <a:latin typeface="Helvetica Neue"/>
              </a:rPr>
              <a:t>07 · Methodology   FinViz AI Screener</a:t>
            </a:r>
          </a:p>
        </p:txBody>
      </p:sp>
      <p:sp>
        <p:nvSpPr>
          <p:cNvPr id="3" name="TextBox 2"/>
          <p:cNvSpPr txBox="1"/>
          <p:nvPr/>
        </p:nvSpPr>
        <p:spPr>
          <a:xfrm>
            <a:off x="457200" y="932688"/>
            <a:ext cx="12097512" cy="548640"/>
          </a:xfrm>
          <a:prstGeom prst="rect">
            <a:avLst/>
          </a:prstGeom>
          <a:noFill/>
        </p:spPr>
        <p:txBody>
          <a:bodyPr wrap="square" lIns="0" rIns="0" tIns="0" bIns="0">
            <a:spAutoFit/>
          </a:bodyPr>
          <a:lstStyle/>
          <a:p>
            <a:r>
              <a:rPr sz="3200">
                <a:solidFill>
                  <a:srgbClr val="1F1F1F"/>
                </a:solidFill>
                <a:latin typeface="Helvetica Neue Light"/>
              </a:rPr>
              <a:t>Concept: The Decision Board</a:t>
            </a:r>
          </a:p>
        </p:txBody>
      </p:sp>
      <p:sp>
        <p:nvSpPr>
          <p:cNvPr id="4" name="TextBox 3"/>
          <p:cNvSpPr txBox="1"/>
          <p:nvPr/>
        </p:nvSpPr>
        <p:spPr>
          <a:xfrm>
            <a:off x="457200" y="1563624"/>
            <a:ext cx="12097512" cy="320040"/>
          </a:xfrm>
          <a:prstGeom prst="rect">
            <a:avLst/>
          </a:prstGeom>
          <a:noFill/>
        </p:spPr>
        <p:txBody>
          <a:bodyPr wrap="square" lIns="0" rIns="0" tIns="0" bIns="0">
            <a:spAutoFit/>
          </a:bodyPr>
          <a:lstStyle/>
          <a:p>
            <a:r>
              <a:rPr sz="1636">
                <a:solidFill>
                  <a:srgbClr val="595959"/>
                </a:solidFill>
                <a:latin typeface="Helvetica Neue Light"/>
              </a:rPr>
              <a:t>FigJam working document, section 28.</a:t>
            </a:r>
          </a:p>
        </p:txBody>
      </p:sp>
      <p:pic>
        <p:nvPicPr>
          <p:cNvPr id="5" name="Picture 4" descr="image.png"/>
          <p:cNvPicPr>
            <a:picLocks noChangeAspect="1"/>
          </p:cNvPicPr>
          <p:nvPr/>
        </p:nvPicPr>
        <p:blipFill>
          <a:blip r:embed="rId2"/>
          <a:stretch>
            <a:fillRect/>
          </a:stretch>
        </p:blipFill>
        <p:spPr>
          <a:xfrm>
            <a:off x="457200" y="2103120"/>
            <a:ext cx="6766560" cy="6876034"/>
          </a:xfrm>
          <a:prstGeom prst="rect">
            <a:avLst/>
          </a:prstGeom>
        </p:spPr>
      </p:pic>
      <p:sp>
        <p:nvSpPr>
          <p:cNvPr id="6" name="TextBox 5"/>
          <p:cNvSpPr txBox="1"/>
          <p:nvPr/>
        </p:nvSpPr>
        <p:spPr>
          <a:xfrm>
            <a:off x="7680960" y="2194560"/>
            <a:ext cx="4846320" cy="274320"/>
          </a:xfrm>
          <a:prstGeom prst="rect">
            <a:avLst/>
          </a:prstGeom>
          <a:noFill/>
        </p:spPr>
        <p:txBody>
          <a:bodyPr wrap="square" lIns="0" rIns="0" tIns="0" bIns="0">
            <a:spAutoFit/>
          </a:bodyPr>
          <a:lstStyle/>
          <a:p>
            <a:r>
              <a:rPr sz="1280">
                <a:solidFill>
                  <a:srgbClr val="B5531F"/>
                </a:solidFill>
                <a:latin typeface="Helvetica Neue"/>
              </a:rPr>
              <a:t>THE PROBLEM IT ANSWERS</a:t>
            </a:r>
          </a:p>
        </p:txBody>
      </p:sp>
      <p:sp>
        <p:nvSpPr>
          <p:cNvPr id="7" name="TextBox 6"/>
          <p:cNvSpPr txBox="1"/>
          <p:nvPr/>
        </p:nvSpPr>
        <p:spPr>
          <a:xfrm>
            <a:off x="7680960" y="2505456"/>
            <a:ext cx="4846320" cy="1371600"/>
          </a:xfrm>
          <a:prstGeom prst="rect">
            <a:avLst/>
          </a:prstGeom>
          <a:noFill/>
        </p:spPr>
        <p:txBody>
          <a:bodyPr wrap="square" lIns="0" rIns="0" tIns="0" bIns="0">
            <a:spAutoFit/>
          </a:bodyPr>
          <a:lstStyle/>
          <a:p>
            <a:r>
              <a:rPr sz="1500">
                <a:solidFill>
                  <a:srgbClr val="1F1F1F"/>
                </a:solidFill>
                <a:latin typeface="Helvetica Neue Light"/>
              </a:rPr>
              <a:t>Decisions are made quickly, and the reasons are lost.</a:t>
            </a:r>
          </a:p>
        </p:txBody>
      </p:sp>
      <p:sp>
        <p:nvSpPr>
          <p:cNvPr id="8" name="TextBox 7"/>
          <p:cNvSpPr txBox="1"/>
          <p:nvPr/>
        </p:nvSpPr>
        <p:spPr>
          <a:xfrm>
            <a:off x="7680960" y="4663440"/>
            <a:ext cx="4846320" cy="274320"/>
          </a:xfrm>
          <a:prstGeom prst="rect">
            <a:avLst/>
          </a:prstGeom>
          <a:noFill/>
        </p:spPr>
        <p:txBody>
          <a:bodyPr wrap="square" lIns="0" rIns="0" tIns="0" bIns="0">
            <a:spAutoFit/>
          </a:bodyPr>
          <a:lstStyle/>
          <a:p>
            <a:r>
              <a:rPr sz="1280">
                <a:solidFill>
                  <a:srgbClr val="B5531F"/>
                </a:solidFill>
                <a:latin typeface="Helvetica Neue"/>
              </a:rPr>
              <a:t>THE SOLUTION AND THE INNOVATION</a:t>
            </a:r>
          </a:p>
        </p:txBody>
      </p:sp>
      <p:sp>
        <p:nvSpPr>
          <p:cNvPr id="9" name="TextBox 8"/>
          <p:cNvSpPr txBox="1"/>
          <p:nvPr/>
        </p:nvSpPr>
        <p:spPr>
          <a:xfrm>
            <a:off x="7680960" y="4974336"/>
            <a:ext cx="4846320" cy="1371600"/>
          </a:xfrm>
          <a:prstGeom prst="rect">
            <a:avLst/>
          </a:prstGeom>
          <a:noFill/>
        </p:spPr>
        <p:txBody>
          <a:bodyPr wrap="square" lIns="0" rIns="0" tIns="0" bIns="0">
            <a:spAutoFit/>
          </a:bodyPr>
          <a:lstStyle/>
          <a:p>
            <a:r>
              <a:rPr sz="1500">
                <a:solidFill>
                  <a:srgbClr val="1F1F1F"/>
                </a:solidFill>
                <a:latin typeface="Helvetica Neue Light"/>
              </a:rPr>
              <a:t>The Decision Board records the reason for each decision next to the evidence that supported it.</a:t>
            </a:r>
          </a:p>
        </p:txBody>
      </p:sp>
      <p:sp>
        <p:nvSpPr>
          <p:cNvPr id="10" name="TextBox 9"/>
          <p:cNvSpPr txBox="1"/>
          <p:nvPr/>
        </p:nvSpPr>
        <p:spPr>
          <a:xfrm>
            <a:off x="7680960" y="7132320"/>
            <a:ext cx="4846320" cy="274320"/>
          </a:xfrm>
          <a:prstGeom prst="rect">
            <a:avLst/>
          </a:prstGeom>
          <a:noFill/>
        </p:spPr>
        <p:txBody>
          <a:bodyPr wrap="square" lIns="0" rIns="0" tIns="0" bIns="0">
            <a:spAutoFit/>
          </a:bodyPr>
          <a:lstStyle/>
          <a:p>
            <a:r>
              <a:rPr sz="1280">
                <a:solidFill>
                  <a:srgbClr val="B5531F"/>
                </a:solidFill>
                <a:latin typeface="Helvetica Neue"/>
              </a:rPr>
              <a:t>WHAT IT SHOWS ABOUT MY LEADERSHIP</a:t>
            </a:r>
          </a:p>
        </p:txBody>
      </p:sp>
      <p:sp>
        <p:nvSpPr>
          <p:cNvPr id="11" name="TextBox 10"/>
          <p:cNvSpPr txBox="1"/>
          <p:nvPr/>
        </p:nvSpPr>
        <p:spPr>
          <a:xfrm>
            <a:off x="7680960" y="7443216"/>
            <a:ext cx="4846320" cy="1371600"/>
          </a:xfrm>
          <a:prstGeom prst="rect">
            <a:avLst/>
          </a:prstGeom>
          <a:noFill/>
        </p:spPr>
        <p:txBody>
          <a:bodyPr wrap="square" lIns="0" rIns="0" tIns="0" bIns="0">
            <a:spAutoFit/>
          </a:bodyPr>
          <a:lstStyle/>
          <a:p>
            <a:r>
              <a:rPr sz="1500">
                <a:solidFill>
                  <a:srgbClr val="1F1F1F"/>
                </a:solidFill>
                <a:latin typeface="Helvetica Neue Light"/>
              </a:rPr>
              <a:t>I drew the decision record as its own concept, so reasons can be reviewed later.</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06 · Reasoning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3" name="Text 1"/>
          <p:cNvSpPr txBox="1"/>
          <p:nvPr/>
        </p:nvSpPr>
        <p:spPr>
          <a:xfrm>
            <a:off x="455168" y="975360"/>
            <a:ext cx="12094464" cy="650240"/>
          </a:xfrm>
          <a:prstGeom prst="rect">
            <a:avLst/>
          </a:prstGeom>
          <a:noFill/>
          <a:ln/>
        </p:spPr>
        <p:txBody>
          <a:bodyPr wrap="square" lIns="0" tIns="0" rIns="0" bIns="0" rtlCol="0" anchor="t"/>
          <a:lstStyle/>
          <a:p>
            <a:r>
              <a:rPr lang="en-US" sz="3413" dirty="0">
                <a:solidFill>
                  <a:srgbClr val="1F1F1F"/>
                </a:solidFill>
                <a:latin typeface="Helvetica Neue Light" pitchFamily="34" charset="0"/>
                <a:ea typeface="Helvetica Neue Light" pitchFamily="34" charset="-122"/>
                <a:cs typeface="Helvetica Neue Light" pitchFamily="34" charset="-120"/>
              </a:rPr>
              <a:t>Eight design lead calls that changed the work</a:t>
            </a:r>
            <a:endParaRPr lang="en-US" sz="3413" dirty="0"/>
          </a:p>
        </p:txBody>
      </p:sp>
      <p:sp>
        <p:nvSpPr>
          <p:cNvPr id="4" name="Shape 2"/>
          <p:cNvSpPr/>
          <p:nvPr/>
        </p:nvSpPr>
        <p:spPr>
          <a:xfrm>
            <a:off x="650240" y="3108147"/>
            <a:ext cx="11704320" cy="0"/>
          </a:xfrm>
          <a:prstGeom prst="line">
            <a:avLst/>
          </a:prstGeom>
          <a:noFill/>
          <a:ln w="19050">
            <a:solidFill>
              <a:srgbClr val="C45A35"/>
            </a:solidFill>
            <a:prstDash val="solid"/>
          </a:ln>
        </p:spPr>
        <p:txBody>
          <a:bodyPr/>
          <a:lstStyle/>
          <a:p>
            <a:endParaRPr sz="2560"/>
          </a:p>
        </p:txBody>
      </p:sp>
      <p:sp>
        <p:nvSpPr>
          <p:cNvPr id="5" name="Shape 3"/>
          <p:cNvSpPr/>
          <p:nvPr/>
        </p:nvSpPr>
        <p:spPr>
          <a:xfrm>
            <a:off x="520192"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6" name="Text 4"/>
          <p:cNvSpPr txBox="1"/>
          <p:nvPr/>
        </p:nvSpPr>
        <p:spPr>
          <a:xfrm>
            <a:off x="455168"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23</a:t>
            </a:r>
            <a:endParaRPr lang="en-US" sz="1564" dirty="0"/>
          </a:p>
        </p:txBody>
      </p:sp>
      <p:sp>
        <p:nvSpPr>
          <p:cNvPr id="7" name="Text 5"/>
          <p:cNvSpPr txBox="1"/>
          <p:nvPr/>
        </p:nvSpPr>
        <p:spPr>
          <a:xfrm>
            <a:off x="455168"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1</a:t>
            </a:r>
            <a:endParaRPr lang="en-US" sz="3698" dirty="0"/>
          </a:p>
        </p:txBody>
      </p:sp>
      <p:sp>
        <p:nvSpPr>
          <p:cNvPr id="8" name="Text 6"/>
          <p:cNvSpPr txBox="1"/>
          <p:nvPr/>
        </p:nvSpPr>
        <p:spPr>
          <a:xfrm>
            <a:off x="455168"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Map today’s onboarding before designing</a:t>
            </a:r>
            <a:endParaRPr lang="en-US" sz="1564" dirty="0"/>
          </a:p>
        </p:txBody>
      </p:sp>
      <p:sp>
        <p:nvSpPr>
          <p:cNvPr id="9" name="Shape 7"/>
          <p:cNvSpPr/>
          <p:nvPr/>
        </p:nvSpPr>
        <p:spPr>
          <a:xfrm>
            <a:off x="2041754"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10" name="Text 8"/>
          <p:cNvSpPr txBox="1"/>
          <p:nvPr/>
        </p:nvSpPr>
        <p:spPr>
          <a:xfrm>
            <a:off x="1976730"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23</a:t>
            </a:r>
            <a:endParaRPr lang="en-US" sz="1564" dirty="0"/>
          </a:p>
        </p:txBody>
      </p:sp>
      <p:sp>
        <p:nvSpPr>
          <p:cNvPr id="11" name="Text 9"/>
          <p:cNvSpPr txBox="1"/>
          <p:nvPr/>
        </p:nvSpPr>
        <p:spPr>
          <a:xfrm>
            <a:off x="1976730"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2</a:t>
            </a:r>
            <a:endParaRPr lang="en-US" sz="3698" dirty="0"/>
          </a:p>
        </p:txBody>
      </p:sp>
      <p:sp>
        <p:nvSpPr>
          <p:cNvPr id="12" name="Text 10"/>
          <p:cNvSpPr txBox="1"/>
          <p:nvPr/>
        </p:nvSpPr>
        <p:spPr>
          <a:xfrm>
            <a:off x="1976730"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Desktop only, for now</a:t>
            </a:r>
            <a:endParaRPr lang="en-US" sz="1564" dirty="0"/>
          </a:p>
        </p:txBody>
      </p:sp>
      <p:sp>
        <p:nvSpPr>
          <p:cNvPr id="13" name="Shape 11"/>
          <p:cNvSpPr/>
          <p:nvPr/>
        </p:nvSpPr>
        <p:spPr>
          <a:xfrm>
            <a:off x="3563315"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14" name="Text 12"/>
          <p:cNvSpPr txBox="1"/>
          <p:nvPr/>
        </p:nvSpPr>
        <p:spPr>
          <a:xfrm>
            <a:off x="3498291"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23</a:t>
            </a:r>
            <a:endParaRPr lang="en-US" sz="1564" dirty="0"/>
          </a:p>
        </p:txBody>
      </p:sp>
      <p:sp>
        <p:nvSpPr>
          <p:cNvPr id="15" name="Text 13"/>
          <p:cNvSpPr txBox="1"/>
          <p:nvPr/>
        </p:nvSpPr>
        <p:spPr>
          <a:xfrm>
            <a:off x="3498291"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3</a:t>
            </a:r>
            <a:endParaRPr lang="en-US" sz="3698" dirty="0"/>
          </a:p>
        </p:txBody>
      </p:sp>
      <p:sp>
        <p:nvSpPr>
          <p:cNvPr id="16" name="Text 14"/>
          <p:cNvSpPr txBox="1"/>
          <p:nvPr/>
        </p:nvSpPr>
        <p:spPr>
          <a:xfrm>
            <a:off x="3498291"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One design for first-time and repeat users</a:t>
            </a:r>
            <a:endParaRPr lang="en-US" sz="1564" dirty="0"/>
          </a:p>
        </p:txBody>
      </p:sp>
      <p:sp>
        <p:nvSpPr>
          <p:cNvPr id="17" name="Shape 15"/>
          <p:cNvSpPr/>
          <p:nvPr/>
        </p:nvSpPr>
        <p:spPr>
          <a:xfrm>
            <a:off x="5084877"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18" name="Text 16"/>
          <p:cNvSpPr txBox="1"/>
          <p:nvPr/>
        </p:nvSpPr>
        <p:spPr>
          <a:xfrm>
            <a:off x="5019853"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24</a:t>
            </a:r>
            <a:endParaRPr lang="en-US" sz="1564" dirty="0"/>
          </a:p>
        </p:txBody>
      </p:sp>
      <p:sp>
        <p:nvSpPr>
          <p:cNvPr id="19" name="Text 17"/>
          <p:cNvSpPr txBox="1"/>
          <p:nvPr/>
        </p:nvSpPr>
        <p:spPr>
          <a:xfrm>
            <a:off x="5019853"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4</a:t>
            </a:r>
            <a:endParaRPr lang="en-US" sz="3698" dirty="0"/>
          </a:p>
        </p:txBody>
      </p:sp>
      <p:sp>
        <p:nvSpPr>
          <p:cNvPr id="20" name="Text 18"/>
          <p:cNvSpPr txBox="1"/>
          <p:nvPr/>
        </p:nvSpPr>
        <p:spPr>
          <a:xfrm>
            <a:off x="5019853"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Remove real frictions with new AI models</a:t>
            </a:r>
            <a:endParaRPr lang="en-US" sz="1564" dirty="0"/>
          </a:p>
        </p:txBody>
      </p:sp>
      <p:sp>
        <p:nvSpPr>
          <p:cNvPr id="21" name="Shape 19"/>
          <p:cNvSpPr/>
          <p:nvPr/>
        </p:nvSpPr>
        <p:spPr>
          <a:xfrm>
            <a:off x="6606438" y="2939085"/>
            <a:ext cx="338125" cy="338125"/>
          </a:xfrm>
          <a:prstGeom prst="ellipse">
            <a:avLst/>
          </a:prstGeom>
          <a:solidFill>
            <a:srgbClr val="00868B"/>
          </a:solidFill>
          <a:ln w="19050">
            <a:solidFill>
              <a:srgbClr val="FFFFFF"/>
            </a:solidFill>
            <a:prstDash val="solid"/>
          </a:ln>
        </p:spPr>
        <p:txBody>
          <a:bodyPr/>
          <a:lstStyle/>
          <a:p>
            <a:endParaRPr sz="2560"/>
          </a:p>
        </p:txBody>
      </p:sp>
      <p:sp>
        <p:nvSpPr>
          <p:cNvPr id="22" name="Text 20"/>
          <p:cNvSpPr txBox="1"/>
          <p:nvPr/>
        </p:nvSpPr>
        <p:spPr>
          <a:xfrm>
            <a:off x="6541414"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30</a:t>
            </a:r>
            <a:endParaRPr lang="en-US" sz="1564" dirty="0"/>
          </a:p>
        </p:txBody>
      </p:sp>
      <p:sp>
        <p:nvSpPr>
          <p:cNvPr id="23" name="Text 21"/>
          <p:cNvSpPr txBox="1"/>
          <p:nvPr/>
        </p:nvSpPr>
        <p:spPr>
          <a:xfrm>
            <a:off x="6541414" y="3628339"/>
            <a:ext cx="1300480" cy="650240"/>
          </a:xfrm>
          <a:prstGeom prst="rect">
            <a:avLst/>
          </a:prstGeom>
          <a:noFill/>
          <a:ln/>
        </p:spPr>
        <p:txBody>
          <a:bodyPr wrap="square" lIns="0" tIns="0" rIns="0" bIns="0" rtlCol="0" anchor="t"/>
          <a:lstStyle/>
          <a:p>
            <a:r>
              <a:rPr lang="en-US" sz="3698" dirty="0">
                <a:solidFill>
                  <a:srgbClr val="00868B"/>
                </a:solidFill>
                <a:latin typeface="Helvetica Neue Light" pitchFamily="34" charset="0"/>
                <a:ea typeface="Helvetica Neue Light" pitchFamily="34" charset="-122"/>
                <a:cs typeface="Helvetica Neue Light" pitchFamily="34" charset="-120"/>
              </a:rPr>
              <a:t>5</a:t>
            </a:r>
            <a:endParaRPr lang="en-US" sz="3698" dirty="0"/>
          </a:p>
        </p:txBody>
      </p:sp>
      <p:sp>
        <p:nvSpPr>
          <p:cNvPr id="24" name="Text 22"/>
          <p:cNvSpPr txBox="1"/>
          <p:nvPr/>
        </p:nvSpPr>
        <p:spPr>
          <a:xfrm>
            <a:off x="6541414"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Optimize time to first success; no chat box first</a:t>
            </a:r>
            <a:endParaRPr lang="en-US" sz="1564" dirty="0"/>
          </a:p>
        </p:txBody>
      </p:sp>
      <p:sp>
        <p:nvSpPr>
          <p:cNvPr id="25" name="Shape 23"/>
          <p:cNvSpPr/>
          <p:nvPr/>
        </p:nvSpPr>
        <p:spPr>
          <a:xfrm>
            <a:off x="8128000"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26" name="Text 24"/>
          <p:cNvSpPr txBox="1"/>
          <p:nvPr/>
        </p:nvSpPr>
        <p:spPr>
          <a:xfrm>
            <a:off x="8062976"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30</a:t>
            </a:r>
            <a:endParaRPr lang="en-US" sz="1564" dirty="0"/>
          </a:p>
        </p:txBody>
      </p:sp>
      <p:sp>
        <p:nvSpPr>
          <p:cNvPr id="27" name="Text 25"/>
          <p:cNvSpPr txBox="1"/>
          <p:nvPr/>
        </p:nvSpPr>
        <p:spPr>
          <a:xfrm>
            <a:off x="8062976"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6</a:t>
            </a:r>
            <a:endParaRPr lang="en-US" sz="3698" dirty="0"/>
          </a:p>
        </p:txBody>
      </p:sp>
      <p:sp>
        <p:nvSpPr>
          <p:cNvPr id="28" name="Text 26"/>
          <p:cNvSpPr txBox="1"/>
          <p:nvPr/>
        </p:nvSpPr>
        <p:spPr>
          <a:xfrm>
            <a:off x="8062976"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Set the advice line, pending compliance</a:t>
            </a:r>
            <a:endParaRPr lang="en-US" sz="1564" dirty="0"/>
          </a:p>
        </p:txBody>
      </p:sp>
      <p:sp>
        <p:nvSpPr>
          <p:cNvPr id="29" name="Shape 27"/>
          <p:cNvSpPr/>
          <p:nvPr/>
        </p:nvSpPr>
        <p:spPr>
          <a:xfrm>
            <a:off x="9649562"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30" name="Text 28"/>
          <p:cNvSpPr txBox="1"/>
          <p:nvPr/>
        </p:nvSpPr>
        <p:spPr>
          <a:xfrm>
            <a:off x="9584538"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30</a:t>
            </a:r>
            <a:endParaRPr lang="en-US" sz="1564" dirty="0"/>
          </a:p>
        </p:txBody>
      </p:sp>
      <p:sp>
        <p:nvSpPr>
          <p:cNvPr id="31" name="Text 29"/>
          <p:cNvSpPr txBox="1"/>
          <p:nvPr/>
        </p:nvSpPr>
        <p:spPr>
          <a:xfrm>
            <a:off x="9584538"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7</a:t>
            </a:r>
            <a:endParaRPr lang="en-US" sz="3698" dirty="0"/>
          </a:p>
        </p:txBody>
      </p:sp>
      <p:sp>
        <p:nvSpPr>
          <p:cNvPr id="32" name="Text 30"/>
          <p:cNvSpPr txBox="1"/>
          <p:nvPr/>
        </p:nvSpPr>
        <p:spPr>
          <a:xfrm>
            <a:off x="9584538"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Lead with the swing trader’s trading day</a:t>
            </a:r>
            <a:endParaRPr lang="en-US" sz="1564" dirty="0"/>
          </a:p>
        </p:txBody>
      </p:sp>
      <p:sp>
        <p:nvSpPr>
          <p:cNvPr id="33" name="Shape 31"/>
          <p:cNvSpPr/>
          <p:nvPr/>
        </p:nvSpPr>
        <p:spPr>
          <a:xfrm>
            <a:off x="11171123"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34" name="Text 32"/>
          <p:cNvSpPr txBox="1"/>
          <p:nvPr/>
        </p:nvSpPr>
        <p:spPr>
          <a:xfrm>
            <a:off x="11106099"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Oct 1</a:t>
            </a:r>
            <a:endParaRPr lang="en-US" sz="1564" dirty="0"/>
          </a:p>
        </p:txBody>
      </p:sp>
      <p:sp>
        <p:nvSpPr>
          <p:cNvPr id="35" name="Text 33"/>
          <p:cNvSpPr txBox="1"/>
          <p:nvPr/>
        </p:nvSpPr>
        <p:spPr>
          <a:xfrm>
            <a:off x="11106099"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8</a:t>
            </a:r>
            <a:endParaRPr lang="en-US" sz="3698" dirty="0"/>
          </a:p>
        </p:txBody>
      </p:sp>
      <p:sp>
        <p:nvSpPr>
          <p:cNvPr id="36" name="Text 34"/>
          <p:cNvSpPr txBox="1"/>
          <p:nvPr/>
        </p:nvSpPr>
        <p:spPr>
          <a:xfrm>
            <a:off x="11106099"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Bring teammates’ screens in line with the rules</a:t>
            </a:r>
            <a:endParaRPr lang="en-US" sz="1564" dirty="0"/>
          </a:p>
        </p:txBody>
      </p:sp>
      <p:sp>
        <p:nvSpPr>
          <p:cNvPr id="37" name="Text 35"/>
          <p:cNvSpPr txBox="1"/>
          <p:nvPr/>
        </p:nvSpPr>
        <p:spPr>
          <a:xfrm>
            <a:off x="469458" y="7672832"/>
            <a:ext cx="3446272" cy="650240"/>
          </a:xfrm>
          <a:prstGeom prst="rect">
            <a:avLst/>
          </a:prstGeom>
          <a:noFill/>
          <a:ln/>
        </p:spPr>
        <p:txBody>
          <a:bodyPr wrap="square" lIns="0" tIns="0" rIns="0" bIns="0" rtlCol="0" anchor="t"/>
          <a:lstStyle/>
          <a:p>
            <a:r>
              <a:rPr lang="en-US" sz="1422" dirty="0">
                <a:solidFill>
                  <a:srgbClr val="6E6E6E"/>
                </a:solidFill>
                <a:latin typeface="Helvetica Neue" pitchFamily="34" charset="0"/>
                <a:ea typeface="Helvetica Neue" pitchFamily="34" charset="-122"/>
                <a:cs typeface="Helvetica Neue" pitchFamily="34" charset="-120"/>
              </a:rPr>
              <a:t>Teal marks the team design review </a:t>
            </a:r>
            <a:endParaRPr lang="en-US" sz="1422" dirty="0"/>
          </a:p>
        </p:txBody>
      </p:sp>
      <p:pic>
        <p:nvPicPr>
          <p:cNvPr id="38" name="Picture 37"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975360" y="910336"/>
            <a:ext cx="5771128" cy="1170432"/>
          </a:xfrm>
          <a:prstGeom prst="rect">
            <a:avLst/>
          </a:prstGeom>
          <a:noFill/>
          <a:ln/>
        </p:spPr>
        <p:txBody>
          <a:bodyPr wrap="square" lIns="0" tIns="0" rIns="0" bIns="0" rtlCol="0" anchor="t"/>
          <a:lstStyle/>
          <a:p>
            <a:r>
              <a:rPr lang="en-US" sz="6000" dirty="0">
                <a:solidFill>
                  <a:srgbClr val="FFFFFF"/>
                </a:solidFill>
                <a:latin typeface="Helvetica Neue Light" pitchFamily="34" charset="0"/>
                <a:ea typeface="Helvetica Neue Light" pitchFamily="34" charset="-122"/>
                <a:cs typeface="Helvetica Neue Light" pitchFamily="34" charset="-120"/>
              </a:rPr>
              <a:t>AI UX Principles</a:t>
            </a:r>
            <a:endParaRPr lang="en-US" sz="6000" dirty="0"/>
          </a:p>
        </p:txBody>
      </p:sp>
      <p:sp>
        <p:nvSpPr>
          <p:cNvPr id="3" name="Text 1"/>
          <p:cNvSpPr txBox="1"/>
          <p:nvPr/>
        </p:nvSpPr>
        <p:spPr>
          <a:xfrm>
            <a:off x="975360" y="2600960"/>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Onboarding is not a phase: </a:t>
            </a:r>
            <a:r>
              <a:rPr lang="en-US" sz="1707" dirty="0">
                <a:solidFill>
                  <a:srgbClr val="FFE9DF"/>
                </a:solidFill>
                <a:latin typeface="Helvetica Neue Light" pitchFamily="34" charset="0"/>
                <a:ea typeface="Helvetica Neue Light" pitchFamily="34" charset="-122"/>
                <a:cs typeface="Helvetica Neue Light" pitchFamily="34" charset="-120"/>
              </a:rPr>
              <a:t>learnability is a property of every screen; no wizard, no tour.</a:t>
            </a:r>
            <a:endParaRPr lang="en-US" sz="1707" dirty="0"/>
          </a:p>
        </p:txBody>
      </p:sp>
      <p:sp>
        <p:nvSpPr>
          <p:cNvPr id="4" name="Text 2"/>
          <p:cNvSpPr txBox="1"/>
          <p:nvPr/>
        </p:nvSpPr>
        <p:spPr>
          <a:xfrm>
            <a:off x="975360" y="3836416"/>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Learn by doing: </a:t>
            </a:r>
            <a:r>
              <a:rPr lang="en-US" sz="1707" dirty="0">
                <a:solidFill>
                  <a:srgbClr val="FFE9DF"/>
                </a:solidFill>
                <a:latin typeface="Helvetica Neue Light" pitchFamily="34" charset="0"/>
                <a:ea typeface="Helvetica Neue Light" pitchFamily="34" charset="-122"/>
                <a:cs typeface="Helvetica Neue Light" pitchFamily="34" charset="-120"/>
              </a:rPr>
              <a:t>every explanation is attached to a chip, a row or an alert.</a:t>
            </a:r>
            <a:endParaRPr lang="en-US" sz="1707" dirty="0"/>
          </a:p>
        </p:txBody>
      </p:sp>
      <p:sp>
        <p:nvSpPr>
          <p:cNvPr id="5" name="Text 3"/>
          <p:cNvSpPr txBox="1"/>
          <p:nvPr/>
        </p:nvSpPr>
        <p:spPr>
          <a:xfrm>
            <a:off x="975360" y="5071872"/>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Scaffolds fade: </a:t>
            </a:r>
            <a:r>
              <a:rPr lang="en-US" sz="1707" dirty="0">
                <a:solidFill>
                  <a:srgbClr val="FFE9DF"/>
                </a:solidFill>
                <a:latin typeface="Helvetica Neue Light" pitchFamily="34" charset="0"/>
                <a:ea typeface="Helvetica Neue Light" pitchFamily="34" charset="-122"/>
                <a:cs typeface="Helvetica Neue Light" pitchFamily="34" charset="-120"/>
              </a:rPr>
              <a:t>help per concept fades with fluency and returns after 30 days.</a:t>
            </a:r>
            <a:endParaRPr lang="en-US" sz="1707" dirty="0"/>
          </a:p>
        </p:txBody>
      </p:sp>
      <p:sp>
        <p:nvSpPr>
          <p:cNvPr id="6" name="Text 4"/>
          <p:cNvSpPr txBox="1"/>
          <p:nvPr/>
        </p:nvSpPr>
        <p:spPr>
          <a:xfrm>
            <a:off x="975360" y="6307328"/>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Editable output: </a:t>
            </a:r>
            <a:r>
              <a:rPr lang="en-US" sz="1707" dirty="0">
                <a:solidFill>
                  <a:srgbClr val="FFE9DF"/>
                </a:solidFill>
                <a:latin typeface="Helvetica Neue Light" pitchFamily="34" charset="0"/>
                <a:ea typeface="Helvetica Neue Light" pitchFamily="34" charset="-122"/>
                <a:cs typeface="Helvetica Neue Light" pitchFamily="34" charset="-120"/>
              </a:rPr>
              <a:t>AI writes filters, rules and columns, never chat bubbles.</a:t>
            </a:r>
            <a:endParaRPr lang="en-US" sz="1707" dirty="0"/>
          </a:p>
        </p:txBody>
      </p:sp>
      <p:sp>
        <p:nvSpPr>
          <p:cNvPr id="7" name="Text 5"/>
          <p:cNvSpPr txBox="1"/>
          <p:nvPr/>
        </p:nvSpPr>
        <p:spPr>
          <a:xfrm>
            <a:off x="975360" y="7542784"/>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Remembers your why: </a:t>
            </a:r>
            <a:r>
              <a:rPr lang="en-US" sz="1707" dirty="0">
                <a:solidFill>
                  <a:srgbClr val="FFE9DF"/>
                </a:solidFill>
                <a:latin typeface="Helvetica Neue Light" pitchFamily="34" charset="0"/>
                <a:ea typeface="Helvetica Neue Light" pitchFamily="34" charset="-122"/>
                <a:cs typeface="Helvetica Neue Light" pitchFamily="34" charset="-120"/>
              </a:rPr>
              <a:t>screens and watches keep the reasons they were created.</a:t>
            </a:r>
            <a:endParaRPr lang="en-US" sz="1707" dirty="0"/>
          </a:p>
        </p:txBody>
      </p:sp>
      <p:sp>
        <p:nvSpPr>
          <p:cNvPr id="8" name="Text 6"/>
          <p:cNvSpPr txBox="1"/>
          <p:nvPr/>
        </p:nvSpPr>
        <p:spPr>
          <a:xfrm>
            <a:off x="7074039" y="2600960"/>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Judgment stays with the trader: </a:t>
            </a:r>
            <a:r>
              <a:rPr lang="en-US" sz="1707" dirty="0">
                <a:solidFill>
                  <a:srgbClr val="FFE9DF"/>
                </a:solidFill>
                <a:latin typeface="Helvetica Neue Light" pitchFamily="34" charset="0"/>
                <a:ea typeface="Helvetica Neue Light" pitchFamily="34" charset="-122"/>
                <a:cs typeface="Helvetica Neue Light" pitchFamily="34" charset="-120"/>
              </a:rPr>
              <a:t>AI explains and verifies; it never recommends, predicts or places orders.</a:t>
            </a:r>
            <a:endParaRPr lang="en-US" sz="1707" dirty="0"/>
          </a:p>
        </p:txBody>
      </p:sp>
      <p:sp>
        <p:nvSpPr>
          <p:cNvPr id="9" name="Text 7"/>
          <p:cNvSpPr txBox="1"/>
          <p:nvPr/>
        </p:nvSpPr>
        <p:spPr>
          <a:xfrm>
            <a:off x="7074039" y="3836416"/>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Explain at the moment of doubt: </a:t>
            </a:r>
            <a:r>
              <a:rPr lang="en-US" sz="1707" dirty="0">
                <a:solidFill>
                  <a:srgbClr val="FFE9DF"/>
                </a:solidFill>
                <a:latin typeface="Helvetica Neue Light" pitchFamily="34" charset="0"/>
                <a:ea typeface="Helvetica Neue Light" pitchFamily="34" charset="-122"/>
                <a:cs typeface="Helvetica Neue Light" pitchFamily="34" charset="-120"/>
              </a:rPr>
              <a:t>“why it matched” on every row and every alert.</a:t>
            </a:r>
            <a:endParaRPr lang="en-US" sz="1707" dirty="0"/>
          </a:p>
        </p:txBody>
      </p:sp>
      <p:sp>
        <p:nvSpPr>
          <p:cNvPr id="10" name="Text 8"/>
          <p:cNvSpPr txBox="1"/>
          <p:nvPr/>
        </p:nvSpPr>
        <p:spPr>
          <a:xfrm>
            <a:off x="7074039" y="5071872"/>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Show consequences first: </a:t>
            </a:r>
            <a:r>
              <a:rPr lang="en-US" sz="1707" dirty="0">
                <a:solidFill>
                  <a:srgbClr val="FFE9DF"/>
                </a:solidFill>
                <a:latin typeface="Helvetica Neue Light" pitchFamily="34" charset="0"/>
                <a:ea typeface="Helvetica Neue Light" pitchFamily="34" charset="-122"/>
                <a:cs typeface="Helvetica Neue Light" pitchFamily="34" charset="-120"/>
              </a:rPr>
              <a:t>an alert is previewed against the last 30 days before it is saved.</a:t>
            </a:r>
            <a:endParaRPr lang="en-US" sz="1707" dirty="0"/>
          </a:p>
        </p:txBody>
      </p:sp>
      <p:sp>
        <p:nvSpPr>
          <p:cNvPr id="11" name="Text 9"/>
          <p:cNvSpPr txBox="1"/>
          <p:nvPr/>
        </p:nvSpPr>
        <p:spPr>
          <a:xfrm>
            <a:off x="7074039" y="6307328"/>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Honest history: </a:t>
            </a:r>
            <a:r>
              <a:rPr lang="en-US" sz="1707" dirty="0">
                <a:solidFill>
                  <a:srgbClr val="FFE9DF"/>
                </a:solidFill>
                <a:latin typeface="Helvetica Neue Light" pitchFamily="34" charset="0"/>
                <a:ea typeface="Helvetica Neue Light" pitchFamily="34" charset="-122"/>
                <a:cs typeface="Helvetica Neue Light" pitchFamily="34" charset="-120"/>
              </a:rPr>
              <a:t>base rates with sample sizes, never a confidence % on a trade.</a:t>
            </a:r>
            <a:endParaRPr lang="en-US" sz="1707" dirty="0"/>
          </a:p>
        </p:txBody>
      </p:sp>
      <p:sp>
        <p:nvSpPr>
          <p:cNvPr id="12" name="Text 10"/>
          <p:cNvSpPr txBox="1"/>
          <p:nvPr/>
        </p:nvSpPr>
        <p:spPr>
          <a:xfrm>
            <a:off x="7074039" y="7542784"/>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Grounded in research: </a:t>
            </a:r>
            <a:r>
              <a:rPr lang="en-US" sz="1707" dirty="0">
                <a:solidFill>
                  <a:srgbClr val="FFE9DF"/>
                </a:solidFill>
                <a:latin typeface="Helvetica Neue Light" pitchFamily="34" charset="0"/>
                <a:ea typeface="Helvetica Neue Light" pitchFamily="34" charset="-122"/>
                <a:cs typeface="Helvetica Neue Light" pitchFamily="34" charset="-120"/>
              </a:rPr>
              <a:t>Microsoft HAX guidelines and Google PAIR.</a:t>
            </a:r>
            <a:endParaRPr lang="en-US" sz="1707" dirty="0"/>
          </a:p>
        </p:txBody>
      </p:sp>
      <p:sp>
        <p:nvSpPr>
          <p:cNvPr id="13" name="design lead call"/>
          <p:cNvSpPr/>
          <p:nvPr/>
        </p:nvSpPr>
        <p:spPr>
          <a:xfrm>
            <a:off x="6853530" y="312115"/>
            <a:ext cx="5696102" cy="416154"/>
          </a:xfrm>
          <a:prstGeom prst="rect">
            <a:avLst/>
          </a:prstGeom>
          <a:solidFill>
            <a:srgbClr val="C45A35"/>
          </a:solidFill>
          <a:ln w="12700">
            <a:solidFill>
              <a:srgbClr val="C45A35"/>
            </a:solidFill>
            <a:prstDash val="solid"/>
          </a:ln>
        </p:spPr>
        <p:txBody>
          <a:bodyPr/>
          <a:lstStyle/>
          <a:p>
            <a:endParaRPr sz="2560"/>
          </a:p>
        </p:txBody>
      </p:sp>
      <p:sp>
        <p:nvSpPr>
          <p:cNvPr id="14" name="Text 12"/>
          <p:cNvSpPr txBox="1"/>
          <p:nvPr/>
        </p:nvSpPr>
        <p:spPr>
          <a:xfrm>
            <a:off x="6853530" y="312115"/>
            <a:ext cx="5696102" cy="416154"/>
          </a:xfrm>
          <a:prstGeom prst="rect">
            <a:avLst/>
          </a:prstGeom>
          <a:noFill/>
          <a:ln/>
        </p:spPr>
        <p:txBody>
          <a:bodyPr wrap="square" lIns="0" tIns="0" rIns="0" bIns="0" rtlCol="0" anchor="ctr"/>
          <a:lstStyle/>
          <a:p>
            <a:pPr algn="ctr"/>
            <a:r>
              <a:rPr lang="en-US" sz="1280" b="1" kern="0" spc="142" dirty="0">
                <a:solidFill>
                  <a:srgbClr val="FFFFFF"/>
                </a:solidFill>
                <a:latin typeface="Helvetica Neue" pitchFamily="34" charset="0"/>
                <a:ea typeface="Helvetica Neue" pitchFamily="34" charset="-122"/>
                <a:cs typeface="Helvetica Neue" pitchFamily="34" charset="-120"/>
              </a:rPr>
              <a:t>DESIGN LEAD CALL  </a:t>
            </a:r>
            <a:r>
              <a:rPr lang="en-US" sz="1280" dirty="0">
                <a:solidFill>
                  <a:srgbClr val="FFFFFF"/>
                </a:solidFill>
                <a:latin typeface="Helvetica Neue Light" pitchFamily="34" charset="0"/>
                <a:ea typeface="Helvetica Neue Light" pitchFamily="34" charset="-122"/>
                <a:cs typeface="Helvetica Neue Light" pitchFamily="34" charset="-120"/>
              </a:rPr>
              <a:t>One design for first-time and repeat users</a:t>
            </a:r>
            <a:endParaRPr lang="en-US" sz="1280" dirty="0"/>
          </a:p>
        </p:txBody>
      </p:sp>
      <p:pic>
        <p:nvPicPr>
          <p:cNvPr id="15" name="Picture 14"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07 · Methodology   FinViz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The AI UX workflow: AI drafts, the design lead decides</a:t>
            </a:r>
            <a:endParaRPr lang="en-US" sz="3200" dirty="0"/>
          </a:p>
        </p:txBody>
      </p:sp>
      <p:sp>
        <p:nvSpPr>
          <p:cNvPr id="4" name="1 · Frame"/>
          <p:cNvSpPr/>
          <p:nvPr/>
        </p:nvSpPr>
        <p:spPr>
          <a:xfrm>
            <a:off x="455168" y="2080768"/>
            <a:ext cx="2275840" cy="4681728"/>
          </a:xfrm>
          <a:prstGeom prst="rect">
            <a:avLst/>
          </a:prstGeom>
          <a:solidFill>
            <a:srgbClr val="A12A37"/>
          </a:solidFill>
          <a:ln w="12700">
            <a:solidFill>
              <a:srgbClr val="A12A37"/>
            </a:solidFill>
            <a:prstDash val="solid"/>
          </a:ln>
        </p:spPr>
        <p:txBody>
          <a:bodyPr/>
          <a:lstStyle/>
          <a:p>
            <a:endParaRPr sz="2560"/>
          </a:p>
        </p:txBody>
      </p:sp>
      <p:sp>
        <p:nvSpPr>
          <p:cNvPr id="5" name="Text 3"/>
          <p:cNvSpPr txBox="1"/>
          <p:nvPr/>
        </p:nvSpPr>
        <p:spPr>
          <a:xfrm>
            <a:off x="715264"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1 · Frame</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DESIGN LEAD</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Sets the question, audience, scope and rules: desktop only, no advice, purple means AI</a:t>
            </a:r>
            <a:endParaRPr lang="en-US" sz="1991" dirty="0"/>
          </a:p>
        </p:txBody>
      </p:sp>
      <p:sp>
        <p:nvSpPr>
          <p:cNvPr id="6" name="2 · Draft"/>
          <p:cNvSpPr/>
          <p:nvPr/>
        </p:nvSpPr>
        <p:spPr>
          <a:xfrm>
            <a:off x="2887066" y="2080768"/>
            <a:ext cx="2275840" cy="4681728"/>
          </a:xfrm>
          <a:prstGeom prst="rect">
            <a:avLst/>
          </a:prstGeom>
          <a:solidFill>
            <a:srgbClr val="5B3F96"/>
          </a:solidFill>
          <a:ln w="12700">
            <a:solidFill>
              <a:srgbClr val="5B3F96"/>
            </a:solidFill>
            <a:prstDash val="solid"/>
          </a:ln>
        </p:spPr>
        <p:txBody>
          <a:bodyPr/>
          <a:lstStyle/>
          <a:p>
            <a:endParaRPr sz="2560"/>
          </a:p>
        </p:txBody>
      </p:sp>
      <p:sp>
        <p:nvSpPr>
          <p:cNvPr id="7" name="Text 5"/>
          <p:cNvSpPr txBox="1"/>
          <p:nvPr/>
        </p:nvSpPr>
        <p:spPr>
          <a:xfrm>
            <a:off x="3147162"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2 · Draft</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AI AGENTS</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Research, docs, FigJam boards and Figma screens, drafted against those rules</a:t>
            </a:r>
            <a:endParaRPr lang="en-US" sz="1991" dirty="0"/>
          </a:p>
        </p:txBody>
      </p:sp>
      <p:sp>
        <p:nvSpPr>
          <p:cNvPr id="8" name="3 · Review"/>
          <p:cNvSpPr/>
          <p:nvPr/>
        </p:nvSpPr>
        <p:spPr>
          <a:xfrm>
            <a:off x="5318963" y="2080768"/>
            <a:ext cx="2275840" cy="4681728"/>
          </a:xfrm>
          <a:prstGeom prst="rect">
            <a:avLst/>
          </a:prstGeom>
          <a:solidFill>
            <a:srgbClr val="3A7D55"/>
          </a:solidFill>
          <a:ln w="12700">
            <a:solidFill>
              <a:srgbClr val="3A7D55"/>
            </a:solidFill>
            <a:prstDash val="solid"/>
          </a:ln>
        </p:spPr>
        <p:txBody>
          <a:bodyPr/>
          <a:lstStyle/>
          <a:p>
            <a:endParaRPr sz="2560"/>
          </a:p>
        </p:txBody>
      </p:sp>
      <p:sp>
        <p:nvSpPr>
          <p:cNvPr id="9" name="Text 7"/>
          <p:cNvSpPr txBox="1"/>
          <p:nvPr/>
        </p:nvSpPr>
        <p:spPr>
          <a:xfrm>
            <a:off x="5579059"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3 · Review</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LEAD + TEAM</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Fact checks on the live site; critique with the team; rule breaks caught</a:t>
            </a:r>
            <a:endParaRPr lang="en-US" sz="1991" dirty="0"/>
          </a:p>
        </p:txBody>
      </p:sp>
      <p:sp>
        <p:nvSpPr>
          <p:cNvPr id="10" name="4 · Decide"/>
          <p:cNvSpPr/>
          <p:nvPr/>
        </p:nvSpPr>
        <p:spPr>
          <a:xfrm>
            <a:off x="7750861" y="2080768"/>
            <a:ext cx="2275840" cy="4681728"/>
          </a:xfrm>
          <a:prstGeom prst="rect">
            <a:avLst/>
          </a:prstGeom>
          <a:solidFill>
            <a:srgbClr val="A12A37"/>
          </a:solidFill>
          <a:ln w="12700">
            <a:solidFill>
              <a:srgbClr val="A12A37"/>
            </a:solidFill>
            <a:prstDash val="solid"/>
          </a:ln>
        </p:spPr>
        <p:txBody>
          <a:bodyPr/>
          <a:lstStyle/>
          <a:p>
            <a:endParaRPr sz="2560"/>
          </a:p>
        </p:txBody>
      </p:sp>
      <p:sp>
        <p:nvSpPr>
          <p:cNvPr id="11" name="Text 9"/>
          <p:cNvSpPr txBox="1"/>
          <p:nvPr/>
        </p:nvSpPr>
        <p:spPr>
          <a:xfrm>
            <a:off x="8010957"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4 · Decide</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DESIGN LEAD</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What to adopt, rename, cut or lead with, and why</a:t>
            </a:r>
            <a:endParaRPr lang="en-US" sz="1991" dirty="0"/>
          </a:p>
        </p:txBody>
      </p:sp>
      <p:sp>
        <p:nvSpPr>
          <p:cNvPr id="12" name="5 · Propagate"/>
          <p:cNvSpPr/>
          <p:nvPr/>
        </p:nvSpPr>
        <p:spPr>
          <a:xfrm>
            <a:off x="10182758" y="2080768"/>
            <a:ext cx="2275840" cy="4681728"/>
          </a:xfrm>
          <a:prstGeom prst="rect">
            <a:avLst/>
          </a:prstGeom>
          <a:solidFill>
            <a:srgbClr val="5B3F96"/>
          </a:solidFill>
          <a:ln w="12700">
            <a:solidFill>
              <a:srgbClr val="5B3F96"/>
            </a:solidFill>
            <a:prstDash val="solid"/>
          </a:ln>
        </p:spPr>
        <p:txBody>
          <a:bodyPr/>
          <a:lstStyle/>
          <a:p>
            <a:endParaRPr sz="2560"/>
          </a:p>
        </p:txBody>
      </p:sp>
      <p:sp>
        <p:nvSpPr>
          <p:cNvPr id="13" name="Text 11"/>
          <p:cNvSpPr txBox="1"/>
          <p:nvPr/>
        </p:nvSpPr>
        <p:spPr>
          <a:xfrm>
            <a:off x="10442854"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5 · Propagate</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AI AGENTS</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Each decision applied across every doc, board and screen</a:t>
            </a:r>
            <a:endParaRPr lang="en-US" sz="1991" dirty="0"/>
          </a:p>
        </p:txBody>
      </p:sp>
      <p:sp>
        <p:nvSpPr>
          <p:cNvPr id="14" name="Text 12"/>
          <p:cNvSpPr txBox="1"/>
          <p:nvPr/>
        </p:nvSpPr>
        <p:spPr>
          <a:xfrm>
            <a:off x="455168" y="7152640"/>
            <a:ext cx="12094464" cy="910336"/>
          </a:xfrm>
          <a:prstGeom prst="rect">
            <a:avLst/>
          </a:prstGeom>
          <a:noFill/>
          <a:ln/>
        </p:spPr>
        <p:txBody>
          <a:bodyPr wrap="square" lIns="0" tIns="0" rIns="0" bIns="0" rtlCol="0" anchor="t"/>
          <a:lstStyle/>
          <a:p>
            <a:r>
              <a:rPr lang="en-US" sz="1849" dirty="0">
                <a:solidFill>
                  <a:srgbClr val="595959"/>
                </a:solidFill>
                <a:latin typeface="Helvetica Neue Light" pitchFamily="34" charset="0"/>
                <a:ea typeface="Helvetica Neue Light" pitchFamily="34" charset="-122"/>
                <a:cs typeface="Helvetica Neue Light" pitchFamily="34" charset="-120"/>
              </a:rPr>
              <a:t>Repeated in every phase: research → principles → concepts → screens. Rules set by the lead live in the project brief, so every AI draft starts from them.</a:t>
            </a:r>
            <a:endParaRPr lang="en-US" sz="1849" dirty="0"/>
          </a:p>
        </p:txBody>
      </p:sp>
      <p:pic>
        <p:nvPicPr>
          <p:cNvPr id="15" name="Picture 14"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09 · Results &amp; impact   FinViz AI Screener</a:t>
            </a:r>
            <a:endParaRPr lang="en-US" sz="1422" dirty="0"/>
          </a:p>
        </p:txBody>
      </p:sp>
      <p:sp>
        <p:nvSpPr>
          <p:cNvPr id="3" name="Text 1"/>
          <p:cNvSpPr txBox="1"/>
          <p:nvPr/>
        </p:nvSpPr>
        <p:spPr>
          <a:xfrm>
            <a:off x="455168" y="936346"/>
            <a:ext cx="624230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Trust is designed, then measured</a:t>
            </a:r>
            <a:endParaRPr lang="en-US" sz="3200" dirty="0"/>
          </a:p>
        </p:txBody>
      </p:sp>
      <p:sp>
        <p:nvSpPr>
          <p:cNvPr id="4" name="Text 2"/>
          <p:cNvSpPr txBox="1"/>
          <p:nvPr/>
        </p:nvSpPr>
        <p:spPr>
          <a:xfrm>
            <a:off x="975360" y="2015744"/>
            <a:ext cx="5201920" cy="1170432"/>
          </a:xfrm>
          <a:prstGeom prst="rect">
            <a:avLst/>
          </a:prstGeom>
          <a:noFill/>
          <a:ln/>
        </p:spPr>
        <p:txBody>
          <a:bodyPr wrap="square" lIns="0" tIns="0" rIns="0" bIns="0" rtlCol="0" anchor="t"/>
          <a:lstStyle/>
          <a:p>
            <a:r>
              <a:rPr lang="en-US" sz="7395" dirty="0">
                <a:solidFill>
                  <a:srgbClr val="1F5BFF"/>
                </a:solidFill>
                <a:latin typeface="Helvetica Neue Light" pitchFamily="34" charset="0"/>
                <a:ea typeface="Helvetica Neue Light" pitchFamily="34" charset="-122"/>
                <a:cs typeface="Helvetica Neue Light" pitchFamily="34" charset="-120"/>
              </a:rPr>
              <a:t>&lt; 2%</a:t>
            </a:r>
            <a:endParaRPr lang="en-US" sz="7395" dirty="0"/>
          </a:p>
        </p:txBody>
      </p:sp>
      <p:sp>
        <p:nvSpPr>
          <p:cNvPr id="5" name="Text 3"/>
          <p:cNvSpPr txBox="1"/>
          <p:nvPr/>
        </p:nvSpPr>
        <p:spPr>
          <a:xfrm>
            <a:off x="975360" y="3251200"/>
            <a:ext cx="4941824" cy="910336"/>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filter translations wrong (weekly audit)</a:t>
            </a:r>
            <a:endParaRPr lang="en-US" sz="1849" dirty="0"/>
          </a:p>
        </p:txBody>
      </p:sp>
      <p:sp>
        <p:nvSpPr>
          <p:cNvPr id="6" name="Text 4"/>
          <p:cNvSpPr txBox="1"/>
          <p:nvPr/>
        </p:nvSpPr>
        <p:spPr>
          <a:xfrm>
            <a:off x="6697472" y="2015744"/>
            <a:ext cx="5201920" cy="1170432"/>
          </a:xfrm>
          <a:prstGeom prst="rect">
            <a:avLst/>
          </a:prstGeom>
          <a:noFill/>
          <a:ln/>
        </p:spPr>
        <p:txBody>
          <a:bodyPr wrap="square" lIns="0" tIns="0" rIns="0" bIns="0" rtlCol="0" anchor="t"/>
          <a:lstStyle/>
          <a:p>
            <a:r>
              <a:rPr lang="en-US" sz="7395" dirty="0">
                <a:solidFill>
                  <a:srgbClr val="A100E8"/>
                </a:solidFill>
                <a:latin typeface="Helvetica Neue Light" pitchFamily="34" charset="0"/>
                <a:ea typeface="Helvetica Neue Light" pitchFamily="34" charset="-122"/>
                <a:cs typeface="Helvetica Neue Light" pitchFamily="34" charset="-120"/>
              </a:rPr>
              <a:t>100%</a:t>
            </a:r>
            <a:endParaRPr lang="en-US" sz="7395" dirty="0"/>
          </a:p>
        </p:txBody>
      </p:sp>
      <p:sp>
        <p:nvSpPr>
          <p:cNvPr id="7" name="Text 5"/>
          <p:cNvSpPr txBox="1"/>
          <p:nvPr/>
        </p:nvSpPr>
        <p:spPr>
          <a:xfrm>
            <a:off x="6697472" y="3251200"/>
            <a:ext cx="4941824" cy="910336"/>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explanation accuracy: “why it matched” built from real values</a:t>
            </a:r>
            <a:endParaRPr lang="en-US" sz="1849" dirty="0"/>
          </a:p>
        </p:txBody>
      </p:sp>
      <p:sp>
        <p:nvSpPr>
          <p:cNvPr id="8" name="Text 6"/>
          <p:cNvSpPr txBox="1"/>
          <p:nvPr/>
        </p:nvSpPr>
        <p:spPr>
          <a:xfrm>
            <a:off x="975360" y="4746752"/>
            <a:ext cx="5201920" cy="1170432"/>
          </a:xfrm>
          <a:prstGeom prst="rect">
            <a:avLst/>
          </a:prstGeom>
          <a:noFill/>
          <a:ln/>
        </p:spPr>
        <p:txBody>
          <a:bodyPr wrap="square" lIns="0" tIns="0" rIns="0" bIns="0" rtlCol="0" anchor="t"/>
          <a:lstStyle/>
          <a:p>
            <a:r>
              <a:rPr lang="en-US" sz="7395" dirty="0">
                <a:solidFill>
                  <a:srgbClr val="00B5CC"/>
                </a:solidFill>
                <a:latin typeface="Helvetica Neue Light" pitchFamily="34" charset="0"/>
                <a:ea typeface="Helvetica Neue Light" pitchFamily="34" charset="-122"/>
                <a:cs typeface="Helvetica Neue Light" pitchFamily="34" charset="-120"/>
              </a:rPr>
              <a:t>&lt; 40%</a:t>
            </a:r>
            <a:endParaRPr lang="en-US" sz="7395" dirty="0"/>
          </a:p>
        </p:txBody>
      </p:sp>
      <p:sp>
        <p:nvSpPr>
          <p:cNvPr id="9" name="Text 7"/>
          <p:cNvSpPr txBox="1"/>
          <p:nvPr/>
        </p:nvSpPr>
        <p:spPr>
          <a:xfrm>
            <a:off x="975360" y="5982208"/>
            <a:ext cx="4941824" cy="910336"/>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alerts with no action, the biggest driver of trust erosion</a:t>
            </a:r>
            <a:endParaRPr lang="en-US" sz="1849" dirty="0"/>
          </a:p>
        </p:txBody>
      </p:sp>
      <p:sp>
        <p:nvSpPr>
          <p:cNvPr id="10" name="Text 8"/>
          <p:cNvSpPr txBox="1"/>
          <p:nvPr/>
        </p:nvSpPr>
        <p:spPr>
          <a:xfrm>
            <a:off x="6697472" y="4746752"/>
            <a:ext cx="5201920" cy="1170432"/>
          </a:xfrm>
          <a:prstGeom prst="rect">
            <a:avLst/>
          </a:prstGeom>
          <a:noFill/>
          <a:ln/>
        </p:spPr>
        <p:txBody>
          <a:bodyPr wrap="square" lIns="0" tIns="0" rIns="0" bIns="0" rtlCol="0" anchor="t"/>
          <a:lstStyle/>
          <a:p>
            <a:r>
              <a:rPr lang="en-US" sz="7395" dirty="0">
                <a:solidFill>
                  <a:srgbClr val="F040E0"/>
                </a:solidFill>
                <a:latin typeface="Helvetica Neue Light" pitchFamily="34" charset="0"/>
                <a:ea typeface="Helvetica Neue Light" pitchFamily="34" charset="-122"/>
                <a:cs typeface="Helvetica Neue Light" pitchFamily="34" charset="-120"/>
              </a:rPr>
              <a:t>0</a:t>
            </a:r>
            <a:endParaRPr lang="en-US" sz="7395" dirty="0"/>
          </a:p>
        </p:txBody>
      </p:sp>
      <p:sp>
        <p:nvSpPr>
          <p:cNvPr id="11" name="Text 9"/>
          <p:cNvSpPr txBox="1"/>
          <p:nvPr/>
        </p:nvSpPr>
        <p:spPr>
          <a:xfrm>
            <a:off x="6697472" y="5982208"/>
            <a:ext cx="4941824" cy="910336"/>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compliance incidents: no advice, no forecasts, no orders</a:t>
            </a:r>
            <a:endParaRPr lang="en-US" sz="1849" dirty="0"/>
          </a:p>
        </p:txBody>
      </p:sp>
      <p:sp>
        <p:nvSpPr>
          <p:cNvPr id="12" name="Text 10"/>
          <p:cNvSpPr txBox="1"/>
          <p:nvPr/>
        </p:nvSpPr>
        <p:spPr>
          <a:xfrm>
            <a:off x="975360" y="7607808"/>
            <a:ext cx="11054080" cy="780288"/>
          </a:xfrm>
          <a:prstGeom prst="rect">
            <a:avLst/>
          </a:prstGeom>
          <a:noFill/>
          <a:ln/>
        </p:spPr>
        <p:txBody>
          <a:bodyPr wrap="square" lIns="0" tIns="0" rIns="0" bIns="0" rtlCol="0" anchor="t"/>
          <a:lstStyle/>
          <a:p>
            <a:r>
              <a:rPr lang="en-US" sz="1707" dirty="0">
                <a:solidFill>
                  <a:srgbClr val="595959"/>
                </a:solidFill>
                <a:latin typeface="Helvetica Neue Light" pitchFamily="34" charset="0"/>
                <a:ea typeface="Helvetica Neue Light" pitchFamily="34" charset="-122"/>
                <a:cs typeface="Helvetica Neue Light" pitchFamily="34" charset="-120"/>
              </a:rPr>
              <a:t>Targets from the KPI framework, sitting next to product metrics so a faster screen never comes at the cost of a wrong one.</a:t>
            </a:r>
            <a:endParaRPr lang="en-US" sz="1707" dirty="0"/>
          </a:p>
        </p:txBody>
      </p:sp>
      <p:pic>
        <p:nvPicPr>
          <p:cNvPr id="13" name="Picture 12"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09 · Results &amp; impact   FinViz AI Screener</a:t>
            </a:r>
            <a:endParaRPr lang="en-US" sz="1422" dirty="0"/>
          </a:p>
        </p:txBody>
      </p:sp>
      <p:sp>
        <p:nvSpPr>
          <p:cNvPr id="3" name="Text 1"/>
          <p:cNvSpPr txBox="1"/>
          <p:nvPr/>
        </p:nvSpPr>
        <p:spPr>
          <a:xfrm>
            <a:off x="455168" y="975360"/>
            <a:ext cx="12094464" cy="650240"/>
          </a:xfrm>
          <a:prstGeom prst="rect">
            <a:avLst/>
          </a:prstGeom>
          <a:noFill/>
          <a:ln/>
        </p:spPr>
        <p:txBody>
          <a:bodyPr wrap="square" lIns="0" tIns="0" rIns="0" bIns="0" rtlCol="0" anchor="t"/>
          <a:lstStyle/>
          <a:p>
            <a:r>
              <a:rPr lang="en-US" sz="3982" dirty="0">
                <a:solidFill>
                  <a:srgbClr val="1F1F1F"/>
                </a:solidFill>
                <a:latin typeface="Helvetica Neue Light" pitchFamily="34" charset="0"/>
                <a:ea typeface="Helvetica Neue Light" pitchFamily="34" charset="-122"/>
                <a:cs typeface="Helvetica Neue Light" pitchFamily="34" charset="-120"/>
              </a:rPr>
              <a:t>How success will be measured</a:t>
            </a:r>
            <a:endParaRPr lang="en-US" sz="3982" dirty="0"/>
          </a:p>
        </p:txBody>
      </p:sp>
      <p:sp>
        <p:nvSpPr>
          <p:cNvPr id="4" name="Text 2"/>
          <p:cNvSpPr txBox="1"/>
          <p:nvPr/>
        </p:nvSpPr>
        <p:spPr>
          <a:xfrm>
            <a:off x="975360" y="2015744"/>
            <a:ext cx="5201920" cy="1170432"/>
          </a:xfrm>
          <a:prstGeom prst="rect">
            <a:avLst/>
          </a:prstGeom>
          <a:noFill/>
          <a:ln/>
        </p:spPr>
        <p:txBody>
          <a:bodyPr wrap="square" lIns="0" tIns="0" rIns="0" bIns="0" rtlCol="0" anchor="t"/>
          <a:lstStyle/>
          <a:p>
            <a:r>
              <a:rPr lang="en-US" sz="6827" dirty="0">
                <a:solidFill>
                  <a:srgbClr val="1F5BFF"/>
                </a:solidFill>
                <a:latin typeface="Helvetica Neue Light" pitchFamily="34" charset="0"/>
                <a:ea typeface="Helvetica Neue Light" pitchFamily="34" charset="-122"/>
                <a:cs typeface="Helvetica Neue Light" pitchFamily="34" charset="-120"/>
              </a:rPr>
              <a:t>42 → 21</a:t>
            </a:r>
            <a:endParaRPr lang="en-US" sz="6827" dirty="0"/>
          </a:p>
        </p:txBody>
      </p:sp>
      <p:sp>
        <p:nvSpPr>
          <p:cNvPr id="5" name="Text 3"/>
          <p:cNvSpPr txBox="1"/>
          <p:nvPr/>
        </p:nvSpPr>
        <p:spPr>
          <a:xfrm>
            <a:off x="1543427" y="3186176"/>
            <a:ext cx="2858200" cy="598221"/>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days from sign-up to Elite</a:t>
            </a:r>
            <a:endParaRPr lang="en-US" sz="1849" dirty="0"/>
          </a:p>
        </p:txBody>
      </p:sp>
      <p:sp>
        <p:nvSpPr>
          <p:cNvPr id="6" name="Text 4"/>
          <p:cNvSpPr txBox="1"/>
          <p:nvPr/>
        </p:nvSpPr>
        <p:spPr>
          <a:xfrm>
            <a:off x="6697472" y="2015744"/>
            <a:ext cx="5201920" cy="1170432"/>
          </a:xfrm>
          <a:prstGeom prst="rect">
            <a:avLst/>
          </a:prstGeom>
          <a:noFill/>
          <a:ln/>
        </p:spPr>
        <p:txBody>
          <a:bodyPr wrap="square" lIns="0" tIns="0" rIns="0" bIns="0" rtlCol="0" anchor="t"/>
          <a:lstStyle/>
          <a:p>
            <a:r>
              <a:rPr lang="en-US" sz="6827" dirty="0">
                <a:solidFill>
                  <a:srgbClr val="A100E8"/>
                </a:solidFill>
                <a:latin typeface="Helvetica Neue Light" pitchFamily="34" charset="0"/>
                <a:ea typeface="Helvetica Neue Light" pitchFamily="34" charset="-122"/>
                <a:cs typeface="Helvetica Neue Light" pitchFamily="34" charset="-120"/>
              </a:rPr>
              <a:t>3+ days</a:t>
            </a:r>
            <a:endParaRPr lang="en-US" sz="6827" dirty="0"/>
          </a:p>
        </p:txBody>
      </p:sp>
      <p:sp>
        <p:nvSpPr>
          <p:cNvPr id="7" name="Text 5"/>
          <p:cNvSpPr txBox="1"/>
          <p:nvPr/>
        </p:nvSpPr>
        <p:spPr>
          <a:xfrm>
            <a:off x="7374148" y="3186176"/>
            <a:ext cx="2858200" cy="780288"/>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a week re-running a saved screen: the North Star</a:t>
            </a:r>
            <a:endParaRPr lang="en-US" sz="1849" dirty="0"/>
          </a:p>
        </p:txBody>
      </p:sp>
      <p:sp>
        <p:nvSpPr>
          <p:cNvPr id="8" name="Text 6"/>
          <p:cNvSpPr txBox="1"/>
          <p:nvPr/>
        </p:nvSpPr>
        <p:spPr>
          <a:xfrm>
            <a:off x="975360" y="4746752"/>
            <a:ext cx="5201920" cy="1170432"/>
          </a:xfrm>
          <a:prstGeom prst="rect">
            <a:avLst/>
          </a:prstGeom>
          <a:noFill/>
          <a:ln/>
        </p:spPr>
        <p:txBody>
          <a:bodyPr wrap="square" lIns="0" tIns="0" rIns="0" bIns="0" rtlCol="0" anchor="t"/>
          <a:lstStyle/>
          <a:p>
            <a:r>
              <a:rPr lang="en-US" sz="6827" dirty="0">
                <a:solidFill>
                  <a:srgbClr val="00B5CC"/>
                </a:solidFill>
                <a:latin typeface="Helvetica Neue Light" pitchFamily="34" charset="0"/>
                <a:ea typeface="Helvetica Neue Light" pitchFamily="34" charset="-122"/>
                <a:cs typeface="Helvetica Neue Light" pitchFamily="34" charset="-120"/>
              </a:rPr>
              <a:t>&lt; 5 min</a:t>
            </a:r>
            <a:endParaRPr lang="en-US" sz="6827" dirty="0"/>
          </a:p>
        </p:txBody>
      </p:sp>
      <p:sp>
        <p:nvSpPr>
          <p:cNvPr id="9" name="Text 7"/>
          <p:cNvSpPr txBox="1"/>
          <p:nvPr/>
        </p:nvSpPr>
        <p:spPr>
          <a:xfrm>
            <a:off x="1757791" y="5917184"/>
            <a:ext cx="2343724" cy="342269"/>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to a first saved screen</a:t>
            </a:r>
            <a:endParaRPr lang="en-US" sz="1849" dirty="0"/>
          </a:p>
        </p:txBody>
      </p:sp>
      <p:sp>
        <p:nvSpPr>
          <p:cNvPr id="10" name="Text 8"/>
          <p:cNvSpPr txBox="1"/>
          <p:nvPr/>
        </p:nvSpPr>
        <p:spPr>
          <a:xfrm>
            <a:off x="6697472" y="4746752"/>
            <a:ext cx="5201920" cy="1170432"/>
          </a:xfrm>
          <a:prstGeom prst="rect">
            <a:avLst/>
          </a:prstGeom>
          <a:noFill/>
          <a:ln/>
        </p:spPr>
        <p:txBody>
          <a:bodyPr wrap="square" lIns="0" tIns="0" rIns="0" bIns="0" rtlCol="0" anchor="t"/>
          <a:lstStyle/>
          <a:p>
            <a:r>
              <a:rPr lang="en-US" sz="6827" dirty="0">
                <a:solidFill>
                  <a:srgbClr val="F040E0"/>
                </a:solidFill>
                <a:latin typeface="Helvetica Neue Light" pitchFamily="34" charset="0"/>
                <a:ea typeface="Helvetica Neue Light" pitchFamily="34" charset="-122"/>
                <a:cs typeface="Helvetica Neue Light" pitchFamily="34" charset="-120"/>
              </a:rPr>
              <a:t>&gt; 40%</a:t>
            </a:r>
            <a:endParaRPr lang="en-US" sz="6827" dirty="0"/>
          </a:p>
        </p:txBody>
      </p:sp>
      <p:sp>
        <p:nvSpPr>
          <p:cNvPr id="11" name="Text 9"/>
          <p:cNvSpPr txBox="1"/>
          <p:nvPr/>
        </p:nvSpPr>
        <p:spPr>
          <a:xfrm>
            <a:off x="7374149" y="5917184"/>
            <a:ext cx="2758162" cy="342269"/>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of alerts lead to an action</a:t>
            </a:r>
            <a:endParaRPr lang="en-US" sz="1849" dirty="0"/>
          </a:p>
        </p:txBody>
      </p:sp>
      <p:sp>
        <p:nvSpPr>
          <p:cNvPr id="12" name="Text 10"/>
          <p:cNvSpPr txBox="1"/>
          <p:nvPr/>
        </p:nvSpPr>
        <p:spPr>
          <a:xfrm>
            <a:off x="975360" y="7672832"/>
            <a:ext cx="11054080" cy="650240"/>
          </a:xfrm>
          <a:prstGeom prst="rect">
            <a:avLst/>
          </a:prstGeom>
          <a:noFill/>
          <a:ln/>
        </p:spPr>
        <p:txBody>
          <a:bodyPr wrap="square" lIns="0" tIns="0" rIns="0" bIns="0" rtlCol="0" anchor="t"/>
          <a:lstStyle/>
          <a:p>
            <a:r>
              <a:rPr lang="en-US" sz="1707" dirty="0">
                <a:solidFill>
                  <a:srgbClr val="595959"/>
                </a:solidFill>
                <a:latin typeface="Helvetica Neue Light" pitchFamily="34" charset="0"/>
                <a:ea typeface="Helvetica Neue Light" pitchFamily="34" charset="-122"/>
                <a:cs typeface="Helvetica Neue Light" pitchFamily="34" charset="-120"/>
              </a:rPr>
              <a:t>Concept-stage work: these are targets with a plan to baseline them, not results.</a:t>
            </a:r>
            <a:endParaRPr lang="en-US" sz="1707" dirty="0"/>
          </a:p>
        </p:txBody>
      </p:sp>
      <p:pic>
        <p:nvPicPr>
          <p:cNvPr id="13" name="Picture 12"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10 · Learnings &amp; Next Steps   FinViz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What leading with AI taught me</a:t>
            </a:r>
            <a:endParaRPr lang="en-US" sz="3200" dirty="0"/>
          </a:p>
        </p:txBody>
      </p:sp>
      <p:sp>
        <p:nvSpPr>
          <p:cNvPr id="4" name="The bottleneck moves to judgment"/>
          <p:cNvSpPr/>
          <p:nvPr/>
        </p:nvSpPr>
        <p:spPr>
          <a:xfrm>
            <a:off x="455168" y="1950720"/>
            <a:ext cx="5982208" cy="3251200"/>
          </a:xfrm>
          <a:prstGeom prst="rect">
            <a:avLst/>
          </a:prstGeom>
          <a:solidFill>
            <a:srgbClr val="A12A37"/>
          </a:solidFill>
          <a:ln w="12700">
            <a:solidFill>
              <a:srgbClr val="A12A37"/>
            </a:solidFill>
            <a:prstDash val="solid"/>
          </a:ln>
        </p:spPr>
        <p:txBody>
          <a:bodyPr/>
          <a:lstStyle/>
          <a:p>
            <a:endParaRPr sz="2560"/>
          </a:p>
        </p:txBody>
      </p:sp>
      <p:sp>
        <p:nvSpPr>
          <p:cNvPr id="5" name="Text 3"/>
          <p:cNvSpPr txBox="1"/>
          <p:nvPr/>
        </p:nvSpPr>
        <p:spPr>
          <a:xfrm>
            <a:off x="715265" y="2210816"/>
            <a:ext cx="4515238" cy="2861056"/>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The bottleneck moves to judgment</a:t>
            </a:r>
            <a:endParaRPr lang="en-US" sz="1991" dirty="0"/>
          </a:p>
          <a:p>
            <a:pPr>
              <a:spcAft>
                <a:spcPts val="569"/>
              </a:spcAft>
            </a:pPr>
            <a:r>
              <a:rPr lang="en-US" dirty="0">
                <a:solidFill>
                  <a:srgbClr val="FFFFFF"/>
                </a:solidFill>
                <a:latin typeface="Helvetica Neue Light" pitchFamily="34" charset="0"/>
                <a:ea typeface="Helvetica Neue Light" pitchFamily="34" charset="-122"/>
                <a:cs typeface="Helvetica Neue Light" pitchFamily="34" charset="-120"/>
              </a:rPr>
              <a:t>Drafts take minutes. The lead’s value is framing, checking facts and deciding what to keep.</a:t>
            </a:r>
            <a:endParaRPr lang="en-US" dirty="0"/>
          </a:p>
        </p:txBody>
      </p:sp>
      <p:sp>
        <p:nvSpPr>
          <p:cNvPr id="6" name="Write the rules down once"/>
          <p:cNvSpPr/>
          <p:nvPr/>
        </p:nvSpPr>
        <p:spPr>
          <a:xfrm>
            <a:off x="6567424" y="1950720"/>
            <a:ext cx="5982208" cy="3251200"/>
          </a:xfrm>
          <a:prstGeom prst="rect">
            <a:avLst/>
          </a:prstGeom>
          <a:solidFill>
            <a:srgbClr val="5B3F96"/>
          </a:solidFill>
          <a:ln w="12700">
            <a:solidFill>
              <a:srgbClr val="5B3F96"/>
            </a:solidFill>
            <a:prstDash val="solid"/>
          </a:ln>
        </p:spPr>
        <p:txBody>
          <a:bodyPr/>
          <a:lstStyle/>
          <a:p>
            <a:endParaRPr sz="2560"/>
          </a:p>
        </p:txBody>
      </p:sp>
      <p:sp>
        <p:nvSpPr>
          <p:cNvPr id="7" name="Text 5"/>
          <p:cNvSpPr txBox="1"/>
          <p:nvPr/>
        </p:nvSpPr>
        <p:spPr>
          <a:xfrm>
            <a:off x="6827520" y="2210816"/>
            <a:ext cx="3804976" cy="2861056"/>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Write the rules down once</a:t>
            </a:r>
            <a:endParaRPr lang="en-US" sz="1991" dirty="0"/>
          </a:p>
          <a:p>
            <a:pPr>
              <a:spcAft>
                <a:spcPts val="569"/>
              </a:spcAft>
            </a:pPr>
            <a:r>
              <a:rPr lang="en-US" dirty="0">
                <a:solidFill>
                  <a:srgbClr val="FFFFFF"/>
                </a:solidFill>
                <a:latin typeface="Helvetica Neue Light" pitchFamily="34" charset="0"/>
                <a:ea typeface="Helvetica Neue Light" pitchFamily="34" charset="-122"/>
                <a:cs typeface="Helvetica Neue Light" pitchFamily="34" charset="-120"/>
              </a:rPr>
              <a:t>Rules in the project brief made every AI draft start compliant.</a:t>
            </a:r>
            <a:endParaRPr lang="en-US" dirty="0"/>
          </a:p>
        </p:txBody>
      </p:sp>
      <p:sp>
        <p:nvSpPr>
          <p:cNvPr id="8" name="Check the live product, not the docs"/>
          <p:cNvSpPr/>
          <p:nvPr/>
        </p:nvSpPr>
        <p:spPr>
          <a:xfrm>
            <a:off x="455168" y="5462016"/>
            <a:ext cx="5982208" cy="3251200"/>
          </a:xfrm>
          <a:prstGeom prst="rect">
            <a:avLst/>
          </a:prstGeom>
          <a:solidFill>
            <a:srgbClr val="3A7D55"/>
          </a:solidFill>
          <a:ln w="12700">
            <a:solidFill>
              <a:srgbClr val="3A7D55"/>
            </a:solidFill>
            <a:prstDash val="solid"/>
          </a:ln>
        </p:spPr>
        <p:txBody>
          <a:bodyPr/>
          <a:lstStyle/>
          <a:p>
            <a:endParaRPr sz="2560"/>
          </a:p>
        </p:txBody>
      </p:sp>
      <p:sp>
        <p:nvSpPr>
          <p:cNvPr id="9" name="Text 7"/>
          <p:cNvSpPr txBox="1"/>
          <p:nvPr/>
        </p:nvSpPr>
        <p:spPr>
          <a:xfrm>
            <a:off x="715265" y="5722112"/>
            <a:ext cx="4701020" cy="2861056"/>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Check the live product, not the docs</a:t>
            </a:r>
            <a:endParaRPr lang="en-US" sz="1991" dirty="0"/>
          </a:p>
          <a:p>
            <a:pPr>
              <a:spcAft>
                <a:spcPts val="569"/>
              </a:spcAft>
            </a:pPr>
            <a:r>
              <a:rPr lang="en-US" dirty="0">
                <a:solidFill>
                  <a:srgbClr val="FFFFFF"/>
                </a:solidFill>
                <a:latin typeface="Helvetica Neue Light" pitchFamily="34" charset="0"/>
                <a:ea typeface="Helvetica Neue Light" pitchFamily="34" charset="-122"/>
                <a:cs typeface="Helvetica Neue Light" pitchFamily="34" charset="-120"/>
              </a:rPr>
              <a:t>One live-site walk overturned two assumptions.</a:t>
            </a:r>
            <a:endParaRPr lang="en-US" dirty="0"/>
          </a:p>
        </p:txBody>
      </p:sp>
      <p:sp>
        <p:nvSpPr>
          <p:cNvPr id="10" name="Reconcile, don’t overwrite"/>
          <p:cNvSpPr/>
          <p:nvPr/>
        </p:nvSpPr>
        <p:spPr>
          <a:xfrm>
            <a:off x="6567424" y="5462016"/>
            <a:ext cx="5982208" cy="3251200"/>
          </a:xfrm>
          <a:prstGeom prst="rect">
            <a:avLst/>
          </a:prstGeom>
          <a:solidFill>
            <a:srgbClr val="744A6C"/>
          </a:solidFill>
          <a:ln w="12700">
            <a:solidFill>
              <a:srgbClr val="744A6C"/>
            </a:solidFill>
            <a:prstDash val="solid"/>
          </a:ln>
        </p:spPr>
        <p:txBody>
          <a:bodyPr/>
          <a:lstStyle/>
          <a:p>
            <a:endParaRPr sz="2560"/>
          </a:p>
        </p:txBody>
      </p:sp>
      <p:sp>
        <p:nvSpPr>
          <p:cNvPr id="11" name="Text 9"/>
          <p:cNvSpPr txBox="1"/>
          <p:nvPr/>
        </p:nvSpPr>
        <p:spPr>
          <a:xfrm>
            <a:off x="6827520" y="5722112"/>
            <a:ext cx="4719599" cy="2861056"/>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Reconcile, don’t overwrite</a:t>
            </a:r>
            <a:endParaRPr lang="en-US" sz="1991" dirty="0"/>
          </a:p>
          <a:p>
            <a:pPr>
              <a:spcAft>
                <a:spcPts val="569"/>
              </a:spcAft>
            </a:pPr>
            <a:r>
              <a:rPr lang="en-US" dirty="0">
                <a:solidFill>
                  <a:srgbClr val="FFFFFF"/>
                </a:solidFill>
                <a:latin typeface="Helvetica Neue Light" pitchFamily="34" charset="0"/>
                <a:ea typeface="Helvetica Neue Light" pitchFamily="34" charset="-122"/>
                <a:cs typeface="Helvetica Neue Light" pitchFamily="34" charset="-120"/>
              </a:rPr>
              <a:t>Teammates’ screens kept their best ideas and lost only what broke the rules.</a:t>
            </a:r>
            <a:endParaRPr lang="en-US" dirty="0"/>
          </a:p>
        </p:txBody>
      </p:sp>
      <p:pic>
        <p:nvPicPr>
          <p:cNvPr id="12" name="Picture 11"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975360" y="975360"/>
            <a:ext cx="4551680" cy="1170432"/>
          </a:xfrm>
          <a:prstGeom prst="rect">
            <a:avLst/>
          </a:prstGeom>
          <a:noFill/>
          <a:ln/>
        </p:spPr>
        <p:txBody>
          <a:bodyPr wrap="square" lIns="0" tIns="0" rIns="0" bIns="0" rtlCol="0" anchor="t"/>
          <a:lstStyle/>
          <a:p>
            <a:r>
              <a:rPr lang="en-US" sz="6000" dirty="0">
                <a:solidFill>
                  <a:srgbClr val="FFFFFF"/>
                </a:solidFill>
                <a:latin typeface="Helvetica Neue Light" pitchFamily="34" charset="0"/>
                <a:ea typeface="Helvetica Neue Light" pitchFamily="34" charset="-122"/>
                <a:cs typeface="Helvetica Neue Light" pitchFamily="34" charset="-120"/>
              </a:rPr>
              <a:t>Next Steps</a:t>
            </a:r>
            <a:endParaRPr lang="en-US" sz="6000" dirty="0"/>
          </a:p>
        </p:txBody>
      </p:sp>
      <p:sp>
        <p:nvSpPr>
          <p:cNvPr id="3" name="Text 1"/>
          <p:cNvSpPr txBox="1"/>
          <p:nvPr/>
        </p:nvSpPr>
        <p:spPr>
          <a:xfrm>
            <a:off x="975360" y="3121152"/>
            <a:ext cx="10924032" cy="4941824"/>
          </a:xfrm>
          <a:prstGeom prst="rect">
            <a:avLst/>
          </a:prstGeom>
          <a:noFill/>
          <a:ln/>
        </p:spPr>
        <p:txBody>
          <a:bodyPr wrap="square" lIns="0" tIns="0" rIns="0" bIns="0" rtlCol="0" anchor="t"/>
          <a:lstStyle/>
          <a:p>
            <a:pPr marL="487672" indent="-487672">
              <a:spcAft>
                <a:spcPts val="1422"/>
              </a:spcAft>
              <a:buSzPct val="100000"/>
              <a:buChar char="•"/>
            </a:pPr>
            <a:r>
              <a:rPr lang="en-US" sz="2418" dirty="0">
                <a:solidFill>
                  <a:srgbClr val="FFFFFF"/>
                </a:solidFill>
                <a:latin typeface="Helvetica Neue Light" pitchFamily="34" charset="0"/>
                <a:ea typeface="Helvetica Neue Light" pitchFamily="34" charset="-122"/>
                <a:cs typeface="Helvetica Neue Light" pitchFamily="34" charset="-120"/>
              </a:rPr>
              <a:t>Usability test the first-release flow with swing traders in their first 14 days</a:t>
            </a:r>
            <a:endParaRPr lang="en-US" sz="2418" dirty="0"/>
          </a:p>
          <a:p>
            <a:pPr marL="487672" indent="-487672">
              <a:spcAft>
                <a:spcPts val="1422"/>
              </a:spcAft>
              <a:buSzPct val="100000"/>
              <a:buChar char="•"/>
            </a:pPr>
            <a:r>
              <a:rPr lang="en-US" sz="2418" dirty="0">
                <a:solidFill>
                  <a:srgbClr val="FFFFFF"/>
                </a:solidFill>
                <a:latin typeface="Helvetica Neue Light" pitchFamily="34" charset="0"/>
                <a:ea typeface="Helvetica Neue Light" pitchFamily="34" charset="-122"/>
                <a:cs typeface="Helvetica Neue Light" pitchFamily="34" charset="-120"/>
              </a:rPr>
              <a:t>Baseline time to first success and habit before claiming improvement</a:t>
            </a:r>
            <a:endParaRPr lang="en-US" sz="2418" dirty="0"/>
          </a:p>
          <a:p>
            <a:pPr marL="487672" indent="-487672">
              <a:spcAft>
                <a:spcPts val="1422"/>
              </a:spcAft>
              <a:buSzPct val="100000"/>
              <a:buChar char="•"/>
            </a:pPr>
            <a:r>
              <a:rPr lang="en-US" sz="2418" dirty="0">
                <a:solidFill>
                  <a:srgbClr val="FFFFFF"/>
                </a:solidFill>
                <a:latin typeface="Helvetica Neue Light" pitchFamily="34" charset="0"/>
                <a:ea typeface="Helvetica Neue Light" pitchFamily="34" charset="-122"/>
                <a:cs typeface="Helvetica Neue Light" pitchFamily="34" charset="-120"/>
              </a:rPr>
              <a:t>Clear the advice line and attributed analyst views with compliance</a:t>
            </a:r>
            <a:endParaRPr lang="en-US" sz="2418" dirty="0"/>
          </a:p>
          <a:p>
            <a:pPr marL="487672" indent="-487672">
              <a:spcAft>
                <a:spcPts val="1422"/>
              </a:spcAft>
              <a:buSzPct val="100000"/>
              <a:buChar char="•"/>
            </a:pPr>
            <a:r>
              <a:rPr lang="en-US" sz="2418" dirty="0">
                <a:solidFill>
                  <a:srgbClr val="FFFFFF"/>
                </a:solidFill>
                <a:latin typeface="Helvetica Neue Light" pitchFamily="34" charset="0"/>
                <a:ea typeface="Helvetica Neue Light" pitchFamily="34" charset="-122"/>
                <a:cs typeface="Helvetica Neue Light" pitchFamily="34" charset="-120"/>
              </a:rPr>
              <a:t>Clickable hi-fi prototype of the 19-step flow for usability testing</a:t>
            </a:r>
            <a:endParaRPr lang="en-US" sz="2418" dirty="0"/>
          </a:p>
        </p:txBody>
      </p:sp>
      <p:pic>
        <p:nvPicPr>
          <p:cNvPr id="4" name="Picture 3"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92608"/>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B5531F"/>
                </a:solidFill>
                <a:latin typeface="Helvetica Neue Medium"/>
                <a:cs typeface="Helvetica Neue Medium"/>
              </a:rPr>
              <a:t>MORE WORK</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4400" spc="-40" dirty="0">
                <a:solidFill>
                  <a:srgbClr val="14161D"/>
                </a:solidFill>
                <a:latin typeface="Helvetica Neue Medium"/>
                <a:cs typeface="Helvetica Neue Medium"/>
              </a:rPr>
              <a:t>More work, </a:t>
            </a:r>
            <a:r>
              <a:rPr lang="en-US" sz="4400" spc="-40" dirty="0">
                <a:solidFill>
                  <a:srgbClr val="B5531F"/>
                </a:solidFill>
                <a:latin typeface="Helvetica Neue Medium"/>
                <a:cs typeface="Helvetica Neue Medium"/>
              </a:rPr>
              <a:t>on request</a:t>
            </a:r>
            <a:r>
              <a:rPr lang="en-US" sz="4400" spc="-40" dirty="0">
                <a:solidFill>
                  <a:srgbClr val="14161D"/>
                </a:solidFill>
                <a:latin typeface="Helvetica Neue Medium"/>
                <a:cs typeface="Helvetica Neue Medium"/>
              </a:rPr>
              <a:t>.</a:t>
            </a:r>
          </a:p>
        </p:txBody>
      </p:sp>
      <p:sp>
        <p:nvSpPr>
          <p:cNvPr id="103" name="Column label"/>
          <p:cNvSpPr txBox="1"/>
          <p:nvPr/>
        </p:nvSpPr>
        <p:spPr>
          <a:xfrm>
            <a:off x="822960" y="3566160"/>
            <a:ext cx="365760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PROJECT</a:t>
            </a:r>
          </a:p>
        </p:txBody>
      </p:sp>
      <p:sp>
        <p:nvSpPr>
          <p:cNvPr id="104" name="Column label"/>
          <p:cNvSpPr txBox="1"/>
          <p:nvPr/>
        </p:nvSpPr>
        <p:spPr>
          <a:xfrm>
            <a:off x="4754880" y="3566160"/>
            <a:ext cx="7426960" cy="274320"/>
          </a:xfrm>
          <a:prstGeom prst="rect">
            <a:avLst/>
          </a:prstGeom>
          <a:noFill/>
        </p:spPr>
        <p:txBody>
          <a:bodyPr wrap="square" lIns="0" tIns="0" rIns="0" bIns="0" anchor="t">
            <a:noAutofit/>
          </a:bodyPr>
          <a:lstStyle/>
          <a:p>
            <a:pPr algn="l">
              <a:lnSpc>
                <a:spcPct val="105000"/>
              </a:lnSpc>
              <a:spcAft>
                <a:spcPts val="300"/>
              </a:spcAft>
            </a:pPr>
            <a:r>
              <a:rPr lang="en-US" sz="1100" spc="200" dirty="0">
                <a:solidFill>
                  <a:srgbClr val="858A97"/>
                </a:solidFill>
                <a:latin typeface="Helvetica Neue Medium"/>
                <a:cs typeface="Helvetica Neue Medium"/>
              </a:rPr>
              <a:t>WHAT IT IS</a:t>
            </a:r>
          </a:p>
        </p:txBody>
      </p:sp>
      <p:cxnSp>
        <p:nvCxnSpPr>
          <p:cNvPr id="105" name="Divider"/>
          <p:cNvCxnSpPr/>
          <p:nvPr/>
        </p:nvCxnSpPr>
        <p:spPr>
          <a:xfrm>
            <a:off x="822960" y="3950208"/>
            <a:ext cx="11358880" cy="0"/>
          </a:xfrm>
          <a:prstGeom prst="line">
            <a:avLst/>
          </a:prstGeom>
          <a:ln w="9525">
            <a:solidFill>
              <a:srgbClr val="E1E3E8"/>
            </a:solidFill>
          </a:ln>
        </p:spPr>
      </p:cxnSp>
      <p:sp>
        <p:nvSpPr>
          <p:cNvPr id="106" name="Cell 1.1"/>
          <p:cNvSpPr txBox="1"/>
          <p:nvPr/>
        </p:nvSpPr>
        <p:spPr>
          <a:xfrm>
            <a:off x="822960" y="4096512"/>
            <a:ext cx="3657600" cy="73152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Wells Fargo mySMALLBUSINESS</a:t>
            </a:r>
          </a:p>
        </p:txBody>
      </p:sp>
      <p:sp>
        <p:nvSpPr>
          <p:cNvPr id="107" name="Cell 1.2"/>
          <p:cNvSpPr txBox="1"/>
          <p:nvPr/>
        </p:nvSpPr>
        <p:spPr>
          <a:xfrm>
            <a:off x="4754880" y="4096512"/>
            <a:ext cx="7426960" cy="73152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A B2B mobile app that helps small business owners track spending and plan</a:t>
            </a:r>
          </a:p>
        </p:txBody>
      </p:sp>
      <p:cxnSp>
        <p:nvCxnSpPr>
          <p:cNvPr id="108" name="Divider"/>
          <p:cNvCxnSpPr/>
          <p:nvPr/>
        </p:nvCxnSpPr>
        <p:spPr>
          <a:xfrm>
            <a:off x="822960" y="4864608"/>
            <a:ext cx="11358880" cy="0"/>
          </a:xfrm>
          <a:prstGeom prst="line">
            <a:avLst/>
          </a:prstGeom>
          <a:ln w="9525">
            <a:solidFill>
              <a:srgbClr val="E1E3E8"/>
            </a:solidFill>
          </a:ln>
        </p:spPr>
      </p:cxnSp>
      <p:sp>
        <p:nvSpPr>
          <p:cNvPr id="112" name="Cell 2.1"/>
          <p:cNvSpPr txBox="1"/>
          <p:nvPr/>
        </p:nvSpPr>
        <p:spPr>
          <a:xfrm>
            <a:off x="822960" y="5010912"/>
            <a:ext cx="3657600" cy="731520"/>
          </a:xfrm>
          <a:prstGeom prst="rect">
            <a:avLst/>
          </a:prstGeom>
          <a:noFill/>
        </p:spPr>
        <p:txBody>
          <a:bodyPr wrap="square" lIns="0" tIns="0" rIns="0" bIns="0" anchor="t">
            <a:noAutofit/>
          </a:bodyPr>
          <a:lstStyle/>
          <a:p>
            <a:pPr algn="l">
              <a:lnSpc>
                <a:spcPct val="105000"/>
              </a:lnSpc>
              <a:spcAft>
                <a:spcPts val="200"/>
              </a:spcAft>
            </a:pPr>
            <a:r>
              <a:rPr lang="en-US" sz="1700" spc="0" dirty="0">
                <a:solidFill>
                  <a:srgbClr val="14161D"/>
                </a:solidFill>
                <a:latin typeface="Helvetica Neue Medium"/>
                <a:cs typeface="Helvetica Neue Medium"/>
              </a:rPr>
              <a:t>Show It</a:t>
            </a:r>
          </a:p>
        </p:txBody>
      </p:sp>
      <p:sp>
        <p:nvSpPr>
          <p:cNvPr id="113" name="Cell 2.2"/>
          <p:cNvSpPr txBox="1"/>
          <p:nvPr/>
        </p:nvSpPr>
        <p:spPr>
          <a:xfrm>
            <a:off x="4754880" y="5010912"/>
            <a:ext cx="7426960" cy="731520"/>
          </a:xfrm>
          <a:prstGeom prst="rect">
            <a:avLst/>
          </a:prstGeom>
          <a:noFill/>
        </p:spPr>
        <p:txBody>
          <a:bodyPr wrap="square" lIns="0" tIns="0" rIns="0" bIns="0" anchor="t">
            <a:noAutofit/>
          </a:bodyPr>
          <a:lstStyle/>
          <a:p>
            <a:pPr algn="l">
              <a:lnSpc>
                <a:spcPct val="125000"/>
              </a:lnSpc>
              <a:spcAft>
                <a:spcPts val="200"/>
              </a:spcAft>
            </a:pPr>
            <a:r>
              <a:rPr lang="en-US" sz="1550" spc="0" dirty="0">
                <a:solidFill>
                  <a:srgbClr val="565C6B"/>
                </a:solidFill>
                <a:latin typeface="Helvetica Neue Light"/>
                <a:cs typeface="Helvetica Neue Light"/>
              </a:rPr>
              <a:t>A live prototype of FinViz’s hero mechanic, with an eval that scores the AI</a:t>
            </a:r>
          </a:p>
        </p:txBody>
      </p:sp>
      <p:cxnSp>
        <p:nvCxnSpPr>
          <p:cNvPr id="114" name="Divider"/>
          <p:cNvCxnSpPr/>
          <p:nvPr/>
        </p:nvCxnSpPr>
        <p:spPr>
          <a:xfrm>
            <a:off x="822960" y="5779008"/>
            <a:ext cx="11358880" cy="0"/>
          </a:xfrm>
          <a:prstGeom prst="line">
            <a:avLst/>
          </a:prstGeom>
          <a:ln w="9525">
            <a:solidFill>
              <a:srgbClr val="E1E3E8"/>
            </a:solidFill>
          </a:ln>
        </p:spPr>
      </p:cxnSp>
      <p:sp>
        <p:nvSpPr>
          <p:cNvPr id="115" name="Source"/>
          <p:cNvSpPr txBox="1"/>
          <p:nvPr/>
        </p:nvSpPr>
        <p:spPr>
          <a:xfrm>
            <a:off x="822960" y="8503920"/>
            <a:ext cx="11358880" cy="274320"/>
          </a:xfrm>
          <a:prstGeom prst="rect">
            <a:avLst/>
          </a:prstGeom>
          <a:noFill/>
        </p:spPr>
        <p:txBody>
          <a:bodyPr wrap="square" lIns="0" tIns="0" rIns="0" bIns="0" anchor="t">
            <a:noAutofit/>
          </a:bodyPr>
          <a:lstStyle/>
          <a:p>
            <a:pPr algn="l">
              <a:lnSpc>
                <a:spcPct val="105000"/>
              </a:lnSpc>
              <a:spcAft>
                <a:spcPts val="300"/>
              </a:spcAft>
            </a:pPr>
            <a:r>
              <a:rPr lang="en-US" sz="1200" spc="0" dirty="0">
                <a:solidFill>
                  <a:srgbClr val="858A97"/>
                </a:solidFill>
                <a:latin typeface="Helvetica Neue Light"/>
                <a:cs typeface="Helvetica Neue Light"/>
              </a:rPr>
              <a:t>Full archived case studies at michaeljthibodeau.com</a:t>
            </a:r>
          </a:p>
        </p:txBody>
      </p:sp>
      <p:pic>
        <p:nvPicPr>
          <p:cNvPr id="116"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bg>
      <p:bgPr>
        <a:solidFill>
          <a:srgbClr val="121318"/>
        </a:solidFill>
        <a:effectLst/>
      </p:bgPr>
    </p:bg>
    <p:spTree>
      <p:nvGrpSpPr>
        <p:cNvPr id="1" name=""/>
        <p:cNvGrpSpPr/>
        <p:nvPr/>
      </p:nvGrpSpPr>
      <p:grpSpPr>
        <a:xfrm>
          <a:off x="0" y="0"/>
          <a:ext cx="0" cy="0"/>
          <a:chOff x="0" y="0"/>
          <a:chExt cx="0" cy="0"/>
        </a:xfrm>
      </p:grpSpPr>
      <p:sp>
        <p:nvSpPr>
          <p:cNvPr id="101" name="Eyebrow"/>
          <p:cNvSpPr txBox="1"/>
          <p:nvPr/>
        </p:nvSpPr>
        <p:spPr>
          <a:xfrm>
            <a:off x="822960" y="914400"/>
            <a:ext cx="11358880" cy="274320"/>
          </a:xfrm>
          <a:prstGeom prst="rect">
            <a:avLst/>
          </a:prstGeom>
          <a:noFill/>
        </p:spPr>
        <p:txBody>
          <a:bodyPr wrap="square" lIns="0" tIns="0" rIns="0" bIns="0" anchor="t">
            <a:noAutofit/>
          </a:bodyPr>
          <a:lstStyle/>
          <a:p>
            <a:pPr algn="l">
              <a:lnSpc>
                <a:spcPct val="105000"/>
              </a:lnSpc>
              <a:spcAft>
                <a:spcPts val="300"/>
              </a:spcAft>
            </a:pPr>
            <a:r>
              <a:rPr lang="en-US" sz="1200" spc="300" dirty="0">
                <a:solidFill>
                  <a:srgbClr val="E98C64"/>
                </a:solidFill>
                <a:latin typeface="Helvetica Neue Medium"/>
                <a:cs typeface="Helvetica Neue Medium"/>
              </a:rPr>
              <a:t>CONTACT</a:t>
            </a:r>
          </a:p>
        </p:txBody>
      </p:sp>
      <p:sp>
        <p:nvSpPr>
          <p:cNvPr id="102" name="Headline"/>
          <p:cNvSpPr txBox="1"/>
          <p:nvPr/>
        </p:nvSpPr>
        <p:spPr>
          <a:xfrm>
            <a:off x="822960" y="1371600"/>
            <a:ext cx="11358880" cy="1828800"/>
          </a:xfrm>
          <a:prstGeom prst="rect">
            <a:avLst/>
          </a:prstGeom>
          <a:noFill/>
        </p:spPr>
        <p:txBody>
          <a:bodyPr wrap="square" lIns="0" tIns="0" rIns="0" bIns="0" anchor="t">
            <a:noAutofit/>
          </a:bodyPr>
          <a:lstStyle/>
          <a:p>
            <a:pPr algn="l">
              <a:lnSpc>
                <a:spcPct val="95000"/>
              </a:lnSpc>
              <a:spcAft>
                <a:spcPts val="300"/>
              </a:spcAft>
            </a:pPr>
            <a:r>
              <a:rPr lang="en-US" sz="5000" spc="-40" dirty="0">
                <a:solidFill>
                  <a:srgbClr val="F5F5F7"/>
                </a:solidFill>
                <a:latin typeface="Helvetica Neue Medium"/>
                <a:cs typeface="Helvetica Neue Medium"/>
              </a:rPr>
              <a:t>Let’s talk about </a:t>
            </a:r>
            <a:r>
              <a:rPr lang="en-US" sz="5000" spc="-40" dirty="0">
                <a:solidFill>
                  <a:srgbClr val="E98C64"/>
                </a:solidFill>
                <a:latin typeface="Helvetica Neue Medium"/>
                <a:cs typeface="Helvetica Neue Medium"/>
              </a:rPr>
              <a:t>your next product</a:t>
            </a:r>
            <a:r>
              <a:rPr lang="en-US" sz="5000" spc="-40" dirty="0">
                <a:solidFill>
                  <a:srgbClr val="F5F5F7"/>
                </a:solidFill>
                <a:latin typeface="Helvetica Neue Medium"/>
                <a:cs typeface="Helvetica Neue Medium"/>
              </a:rPr>
              <a:t>.</a:t>
            </a:r>
          </a:p>
        </p:txBody>
      </p:sp>
      <p:cxnSp>
        <p:nvCxnSpPr>
          <p:cNvPr id="103" name="Divider"/>
          <p:cNvCxnSpPr/>
          <p:nvPr/>
        </p:nvCxnSpPr>
        <p:spPr>
          <a:xfrm>
            <a:off x="822960" y="4572000"/>
            <a:ext cx="11358880" cy="0"/>
          </a:xfrm>
          <a:prstGeom prst="line">
            <a:avLst/>
          </a:prstGeom>
          <a:ln w="9525">
            <a:solidFill>
              <a:srgbClr val="2C2F38"/>
            </a:solidFill>
          </a:ln>
        </p:spPr>
      </p:cxnSp>
      <p:sp>
        <p:nvSpPr>
          <p:cNvPr id="104" name="Name"/>
          <p:cNvSpPr txBox="1"/>
          <p:nvPr/>
        </p:nvSpPr>
        <p:spPr>
          <a:xfrm>
            <a:off x="822960" y="4846320"/>
            <a:ext cx="11358880" cy="548640"/>
          </a:xfrm>
          <a:prstGeom prst="rect">
            <a:avLst/>
          </a:prstGeom>
          <a:noFill/>
        </p:spPr>
        <p:txBody>
          <a:bodyPr wrap="square" lIns="0" tIns="0" rIns="0" bIns="0" anchor="t">
            <a:noAutofit/>
          </a:bodyPr>
          <a:lstStyle/>
          <a:p>
            <a:pPr algn="l">
              <a:lnSpc>
                <a:spcPct val="115000"/>
              </a:lnSpc>
              <a:spcAft>
                <a:spcPts val="300"/>
              </a:spcAft>
            </a:pPr>
            <a:r>
              <a:rPr lang="en-US" sz="2400" spc="0" dirty="0">
                <a:solidFill>
                  <a:srgbClr val="A3A8B4"/>
                </a:solidFill>
                <a:latin typeface="Helvetica Neue Light"/>
                <a:cs typeface="Helvetica Neue Light"/>
              </a:rPr>
              <a:t>michael</a:t>
            </a:r>
            <a:r>
              <a:rPr lang="en-US" sz="2800" spc="0" dirty="0">
                <a:solidFill>
                  <a:srgbClr val="F5F5F7"/>
                </a:solidFill>
                <a:latin typeface="Helvetica Neue Medium"/>
                <a:cs typeface="Helvetica Neue Medium"/>
              </a:rPr>
              <a:t>thibodea(UX)</a:t>
            </a:r>
          </a:p>
        </p:txBody>
      </p:sp>
      <p:sp>
        <p:nvSpPr>
          <p:cNvPr id="105" name="Details"/>
          <p:cNvSpPr txBox="1"/>
          <p:nvPr/>
        </p:nvSpPr>
        <p:spPr>
          <a:xfrm>
            <a:off x="822960" y="5669280"/>
            <a:ext cx="11358880" cy="1463040"/>
          </a:xfrm>
          <a:prstGeom prst="rect">
            <a:avLst/>
          </a:prstGeom>
          <a:noFill/>
        </p:spPr>
        <p:txBody>
          <a:bodyPr wrap="square" lIns="0" tIns="0" rIns="0" bIns="0" anchor="t">
            <a:noAutofit/>
          </a:bodyPr>
          <a:lstStyle/>
          <a:p>
            <a:pPr algn="l">
              <a:lnSpc>
                <a:spcPct val="125000"/>
              </a:lnSpc>
              <a:spcAft>
                <a:spcPts val="300"/>
              </a:spcAft>
            </a:pPr>
            <a:r>
              <a:rPr lang="en-US" sz="1550" spc="0" dirty="0">
                <a:solidFill>
                  <a:srgbClr val="F5F5F7"/>
                </a:solidFill>
                <a:latin typeface="Helvetica Neue Light"/>
                <a:cs typeface="Helvetica Neue Light"/>
              </a:rPr>
              <a:t>michaelthbd@yahoo.com</a:t>
            </a:r>
          </a:p>
          <a:p>
            <a:pPr algn="l">
              <a:lnSpc>
                <a:spcPct val="125000"/>
              </a:lnSpc>
              <a:spcAft>
                <a:spcPts val="300"/>
              </a:spcAft>
            </a:pPr>
            <a:r>
              <a:rPr lang="en-US" sz="1550" spc="0" dirty="0">
                <a:solidFill>
                  <a:srgbClr val="F5F5F7"/>
                </a:solidFill>
                <a:latin typeface="Helvetica Neue Light"/>
                <a:cs typeface="Helvetica Neue Light"/>
              </a:rPr>
              <a:t>646 436 2876</a:t>
            </a:r>
          </a:p>
          <a:p>
            <a:pPr algn="l">
              <a:lnSpc>
                <a:spcPct val="125000"/>
              </a:lnSpc>
              <a:spcAft>
                <a:spcPts val="300"/>
              </a:spcAft>
            </a:pPr>
            <a:r>
              <a:rPr lang="en-US" sz="1550" spc="0" dirty="0">
                <a:solidFill>
                  <a:srgbClr val="A3A8B4"/>
                </a:solidFill>
                <a:latin typeface="Helvetica Neue Light"/>
                <a:cs typeface="Helvetica Neue Light"/>
              </a:rPr>
              <a:t>michaeljthibodeau.com</a:t>
            </a:r>
          </a:p>
        </p:txBody>
      </p:sp>
      <p:pic>
        <p:nvPicPr>
          <p:cNvPr id="106" name="gradient strip" descr="gradient strip"/>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48640" y="411480"/>
            <a:ext cx="11905488" cy="320040"/>
          </a:xfrm>
          <a:prstGeom prst="rect">
            <a:avLst/>
          </a:prstGeom>
          <a:noFill/>
          <a:ln/>
        </p:spPr>
        <p:txBody>
          <a:bodyPr wrap="square" lIns="0" tIns="0" rIns="0" bIns="0" rtlCol="0" anchor="ctr"/>
          <a:lstStyle/>
          <a:p>
            <a:pPr indent="0" marL="0">
              <a:buNone/>
            </a:pPr>
            <a:r>
              <a:rPr lang="en-US" sz="1400" dirty="0">
                <a:solidFill>
                  <a:srgbClr val="1B2A3A"/>
                </a:solidFill>
                <a:latin typeface="Helvetica Neue Light" pitchFamily="34" charset="0"/>
                <a:ea typeface="Helvetica Neue Light" pitchFamily="34" charset="-122"/>
                <a:cs typeface="Helvetica Neue Light" pitchFamily="34" charset="-120"/>
              </a:rPr>
              <a:t>MERIDIAN NAVIGATOR · AGENT EXPERIENCE</a:t>
            </a:r>
            <a:endParaRPr lang="en-US" sz="1400" dirty="0"/>
          </a:p>
        </p:txBody>
      </p:sp>
      <p:sp>
        <p:nvSpPr>
          <p:cNvPr id="3" name="Text 1"/>
          <p:cNvSpPr/>
          <p:nvPr/>
        </p:nvSpPr>
        <p:spPr>
          <a:xfrm>
            <a:off x="548640" y="914400"/>
            <a:ext cx="11905488" cy="731520"/>
          </a:xfrm>
          <a:prstGeom prst="rect">
            <a:avLst/>
          </a:prstGeom>
          <a:noFill/>
          <a:ln/>
        </p:spPr>
        <p:txBody>
          <a:bodyPr wrap="square" lIns="0" tIns="0" rIns="0" bIns="0" rtlCol="0" anchor="t"/>
          <a:lstStyle/>
          <a:p>
            <a:pPr indent="0" marL="0">
              <a:buNone/>
            </a:pPr>
            <a:r>
              <a:rPr lang="en-US" sz="3000" dirty="0">
                <a:solidFill>
                  <a:srgbClr val="1B2A3A"/>
                </a:solidFill>
                <a:latin typeface="Helvetica Neue Light" pitchFamily="34" charset="0"/>
                <a:ea typeface="Helvetica Neue Light" pitchFamily="34" charset="-122"/>
                <a:cs typeface="Helvetica Neue Light" pitchFamily="34" charset="-120"/>
              </a:rPr>
              <a:t>Agentic support, inside the trade flow</a:t>
            </a:r>
            <a:endParaRPr lang="en-US" sz="3000" dirty="0"/>
          </a:p>
        </p:txBody>
      </p:sp>
      <p:sp>
        <p:nvSpPr>
          <p:cNvPr id="4" name="Text 2"/>
          <p:cNvSpPr/>
          <p:nvPr/>
        </p:nvSpPr>
        <p:spPr>
          <a:xfrm>
            <a:off x="548640" y="1645920"/>
            <a:ext cx="11905488" cy="365760"/>
          </a:xfrm>
          <a:prstGeom prst="rect">
            <a:avLst/>
          </a:prstGeom>
          <a:noFill/>
          <a:ln/>
        </p:spPr>
        <p:txBody>
          <a:bodyPr wrap="square" lIns="0" tIns="0" rIns="0" bIns="0" rtlCol="0" anchor="ctr"/>
          <a:lstStyle/>
          <a:p>
            <a:pPr indent="0" marL="0">
              <a:buNone/>
            </a:pPr>
            <a:r>
              <a:rPr lang="en-US" sz="1600" dirty="0">
                <a:solidFill>
                  <a:srgbClr val="595959"/>
                </a:solidFill>
                <a:latin typeface="Helvetica Neue Light" pitchFamily="34" charset="0"/>
                <a:ea typeface="Helvetica Neue Light" pitchFamily="34" charset="-122"/>
                <a:cs typeface="Helvetica Neue Light" pitchFamily="34" charset="-120"/>
              </a:rPr>
              <a:t>Representative hi-fi screens. The agent proposes; the user approves each step.</a:t>
            </a:r>
            <a:endParaRPr lang="en-US" sz="1600" dirty="0"/>
          </a:p>
        </p:txBody>
      </p:sp>
      <p:pic>
        <p:nvPicPr>
          <p:cNvPr id="5" name="Picture 4" descr="image.png"/>
          <p:cNvPicPr>
            <a:picLocks noChangeAspect="1"/>
          </p:cNvPicPr>
          <p:nvPr/>
        </p:nvPicPr>
        <p:blipFill>
          <a:blip r:embed="rId2"/>
          <a:stretch>
            <a:fillRect/>
          </a:stretch>
        </p:blipFill>
        <p:spPr>
          <a:xfrm>
            <a:off x="0" y="9299448"/>
            <a:ext cx="13002768" cy="457200"/>
          </a:xfrm>
          <a:prstGeom prst="rect">
            <a:avLst/>
          </a:prstGeom>
        </p:spPr>
      </p:pic>
      <p:sp>
        <p:nvSpPr>
          <p:cNvPr id="6" name="Text 3"/>
          <p:cNvSpPr/>
          <p:nvPr/>
        </p:nvSpPr>
        <p:spPr>
          <a:xfrm>
            <a:off x="548640" y="8778240"/>
            <a:ext cx="11905488" cy="320040"/>
          </a:xfrm>
          <a:prstGeom prst="rect">
            <a:avLst/>
          </a:prstGeom>
          <a:noFill/>
          <a:ln/>
        </p:spPr>
        <p:txBody>
          <a:bodyPr wrap="square" lIns="0" tIns="0" rIns="0" bIns="0" rtlCol="0" anchor="ctr"/>
          <a:lstStyle/>
          <a:p>
            <a:pPr indent="0" marL="0">
              <a:buNone/>
            </a:pPr>
            <a:r>
              <a:rPr lang="en-US" sz="1200" dirty="0">
                <a:solidFill>
                  <a:srgbClr val="595959"/>
                </a:solidFill>
                <a:latin typeface="Helvetica Neue Light" pitchFamily="34" charset="0"/>
                <a:ea typeface="Helvetica Neue Light" pitchFamily="34" charset="-122"/>
                <a:cs typeface="Helvetica Neue Light" pitchFamily="34" charset="-120"/>
              </a:rPr>
              <a:t>Portfolio prototype. Mock data. Hypotheses until validated. Proposed-step language only.</a:t>
            </a:r>
            <a:endParaRPr lang="en-US" sz="1200" dirty="0"/>
          </a:p>
        </p:txBody>
      </p:sp>
      <p:pic>
        <p:nvPicPr>
          <p:cNvPr id="7" name="Picture 6" descr="image.png"/>
          <p:cNvPicPr>
            <a:picLocks noChangeAspect="1"/>
          </p:cNvPicPr>
          <p:nvPr/>
        </p:nvPicPr>
        <p:blipFill>
          <a:blip r:embed="rId3"/>
          <a:stretch>
            <a:fillRect/>
          </a:stretch>
        </p:blipFill>
        <p:spPr>
          <a:xfrm>
            <a:off x="548640" y="2286000"/>
            <a:ext cx="7132320" cy="4572000"/>
          </a:xfrm>
          <a:prstGeom prst="rect">
            <a:avLst/>
          </a:prstGeom>
        </p:spPr>
      </p:pic>
      <p:sp>
        <p:nvSpPr>
          <p:cNvPr id="8" name="Text 4"/>
          <p:cNvSpPr/>
          <p:nvPr/>
        </p:nvSpPr>
        <p:spPr>
          <a:xfrm>
            <a:off x="8046720" y="2286000"/>
            <a:ext cx="4389120" cy="274320"/>
          </a:xfrm>
          <a:prstGeom prst="rect">
            <a:avLst/>
          </a:prstGeom>
          <a:noFill/>
          <a:ln/>
        </p:spPr>
        <p:txBody>
          <a:bodyPr wrap="square" lIns="0" tIns="0" rIns="0" bIns="0" rtlCol="0" anchor="ctr"/>
          <a:lstStyle/>
          <a:p>
            <a:pPr indent="0" marL="0">
              <a:buNone/>
            </a:pPr>
            <a:r>
              <a:rPr lang="en-US" sz="1280" dirty="0">
                <a:solidFill>
                  <a:srgbClr val="B5532F"/>
                </a:solidFill>
                <a:latin typeface="Helvetica Neue Medium" pitchFamily="34" charset="0"/>
                <a:ea typeface="Helvetica Neue Medium" pitchFamily="34" charset="-122"/>
                <a:cs typeface="Helvetica Neue Medium" pitchFamily="34" charset="-120"/>
              </a:rPr>
              <a:t>THE PROBLEM IT ANSWERS</a:t>
            </a:r>
            <a:endParaRPr lang="en-US" sz="1280" dirty="0"/>
          </a:p>
        </p:txBody>
      </p:sp>
      <p:sp>
        <p:nvSpPr>
          <p:cNvPr id="9" name="Text 5"/>
          <p:cNvSpPr/>
          <p:nvPr/>
        </p:nvSpPr>
        <p:spPr>
          <a:xfrm>
            <a:off x="8046720" y="2615184"/>
            <a:ext cx="4389120" cy="2926080"/>
          </a:xfrm>
          <a:prstGeom prst="rect">
            <a:avLst/>
          </a:prstGeom>
          <a:noFill/>
          <a:ln/>
        </p:spPr>
        <p:txBody>
          <a:bodyPr wrap="square" lIns="0" tIns="0" rIns="0" bIns="0" rtlCol="0" anchor="t"/>
          <a:lstStyle/>
          <a:p>
            <a:pPr indent="0" marL="0">
              <a:spcAft>
                <a:spcPts val="600"/>
              </a:spcAft>
              <a:buNone/>
            </a:pPr>
            <a:r>
              <a:rPr lang="en-US" sz="1500" dirty="0">
                <a:solidFill>
                  <a:srgbClr val="1B2A3A"/>
                </a:solidFill>
                <a:latin typeface="Helvetica Neue Light" pitchFamily="34" charset="0"/>
                <a:ea typeface="Helvetica Neue Light" pitchFamily="34" charset="-122"/>
                <a:cs typeface="Helvetica Neue Light" pitchFamily="34" charset="-120"/>
              </a:rPr>
              <a:t>An agent that acts inside a trade flow needs visible limits and approval on every step, or it cannot be trusted.</a:t>
            </a:r>
            <a:endParaRPr lang="en-US" sz="1500" dirty="0"/>
          </a:p>
        </p:txBody>
      </p:sp>
      <p:sp>
        <p:nvSpPr>
          <p:cNvPr id="10" name="Text 6"/>
          <p:cNvSpPr/>
          <p:nvPr/>
        </p:nvSpPr>
        <p:spPr>
          <a:xfrm>
            <a:off x="8046720" y="4572000"/>
            <a:ext cx="4389120" cy="274320"/>
          </a:xfrm>
          <a:prstGeom prst="rect">
            <a:avLst/>
          </a:prstGeom>
          <a:noFill/>
          <a:ln/>
        </p:spPr>
        <p:txBody>
          <a:bodyPr wrap="square" lIns="0" tIns="0" rIns="0" bIns="0" rtlCol="0" anchor="ctr"/>
          <a:lstStyle/>
          <a:p>
            <a:pPr indent="0" marL="0">
              <a:buNone/>
            </a:pPr>
            <a:r>
              <a:rPr lang="en-US" sz="1280" dirty="0">
                <a:solidFill>
                  <a:srgbClr val="4F6D5A"/>
                </a:solidFill>
                <a:latin typeface="Helvetica Neue Medium" pitchFamily="34" charset="0"/>
                <a:ea typeface="Helvetica Neue Medium" pitchFamily="34" charset="-122"/>
                <a:cs typeface="Helvetica Neue Medium" pitchFamily="34" charset="-120"/>
              </a:rPr>
              <a:t>THE SOLUTION AND THE INNOVATION</a:t>
            </a:r>
            <a:endParaRPr lang="en-US" sz="1280" dirty="0"/>
          </a:p>
        </p:txBody>
      </p:sp>
      <p:sp>
        <p:nvSpPr>
          <p:cNvPr id="11" name="Text 7"/>
          <p:cNvSpPr/>
          <p:nvPr/>
        </p:nvSpPr>
        <p:spPr>
          <a:xfrm>
            <a:off x="8046720" y="4901184"/>
            <a:ext cx="4389120" cy="2926080"/>
          </a:xfrm>
          <a:prstGeom prst="rect">
            <a:avLst/>
          </a:prstGeom>
          <a:noFill/>
          <a:ln/>
        </p:spPr>
        <p:txBody>
          <a:bodyPr wrap="square" lIns="0" tIns="0" rIns="0" bIns="0" rtlCol="0" anchor="t"/>
          <a:lstStyle/>
          <a:p>
            <a:pPr indent="0" marL="0">
              <a:spcAft>
                <a:spcPts val="600"/>
              </a:spcAft>
              <a:buNone/>
            </a:pPr>
            <a:r>
              <a:rPr lang="en-US" sz="1500" dirty="0">
                <a:solidFill>
                  <a:srgbClr val="1B2A3A"/>
                </a:solidFill>
                <a:latin typeface="Helvetica Neue Light" pitchFamily="34" charset="0"/>
                <a:ea typeface="Helvetica Neue Light" pitchFamily="34" charset="-122"/>
                <a:cs typeface="Helvetica Neue Light" pitchFamily="34" charset="-120"/>
              </a:rPr>
              <a:t>Proposed steps sit beside the order, each with its source. Approval, undo, and limits are on the screen, not in a later release.</a:t>
            </a:r>
            <a:endParaRPr lang="en-US" sz="1500" dirty="0"/>
          </a:p>
        </p:txBody>
      </p:sp>
      <p:sp>
        <p:nvSpPr>
          <p:cNvPr id="12" name="Text 8"/>
          <p:cNvSpPr/>
          <p:nvPr/>
        </p:nvSpPr>
        <p:spPr>
          <a:xfrm>
            <a:off x="8046720" y="6858000"/>
            <a:ext cx="4389120" cy="274320"/>
          </a:xfrm>
          <a:prstGeom prst="rect">
            <a:avLst/>
          </a:prstGeom>
          <a:noFill/>
          <a:ln/>
        </p:spPr>
        <p:txBody>
          <a:bodyPr wrap="square" lIns="0" tIns="0" rIns="0" bIns="0" rtlCol="0" anchor="ctr"/>
          <a:lstStyle/>
          <a:p>
            <a:pPr indent="0" marL="0">
              <a:buNone/>
            </a:pPr>
            <a:r>
              <a:rPr lang="en-US" sz="1280" dirty="0">
                <a:solidFill>
                  <a:srgbClr val="2F4257"/>
                </a:solidFill>
                <a:latin typeface="Helvetica Neue Medium" pitchFamily="34" charset="0"/>
                <a:ea typeface="Helvetica Neue Medium" pitchFamily="34" charset="-122"/>
                <a:cs typeface="Helvetica Neue Medium" pitchFamily="34" charset="-120"/>
              </a:rPr>
              <a:t>WHAT IT SHOWS ABOUT MY LEADERSHIP</a:t>
            </a:r>
            <a:endParaRPr lang="en-US" sz="1280" dirty="0"/>
          </a:p>
        </p:txBody>
      </p:sp>
      <p:sp>
        <p:nvSpPr>
          <p:cNvPr id="13" name="Text 9"/>
          <p:cNvSpPr/>
          <p:nvPr/>
        </p:nvSpPr>
        <p:spPr>
          <a:xfrm>
            <a:off x="8046720" y="7187184"/>
            <a:ext cx="4389120" cy="2926080"/>
          </a:xfrm>
          <a:prstGeom prst="rect">
            <a:avLst/>
          </a:prstGeom>
          <a:noFill/>
          <a:ln/>
        </p:spPr>
        <p:txBody>
          <a:bodyPr wrap="square" lIns="0" tIns="0" rIns="0" bIns="0" rtlCol="0" anchor="t"/>
          <a:lstStyle/>
          <a:p>
            <a:pPr indent="0" marL="0">
              <a:spcAft>
                <a:spcPts val="600"/>
              </a:spcAft>
              <a:buNone/>
            </a:pPr>
            <a:r>
              <a:rPr lang="en-US" sz="1500" dirty="0">
                <a:solidFill>
                  <a:srgbClr val="1B2A3A"/>
                </a:solidFill>
                <a:latin typeface="Helvetica Neue Light" pitchFamily="34" charset="0"/>
                <a:ea typeface="Helvetica Neue Light" pitchFamily="34" charset="-122"/>
                <a:cs typeface="Helvetica Neue Light" pitchFamily="34" charset="-120"/>
              </a:rPr>
              <a:t>I designed agentic support as part of the trade flow itself, so the same pattern can extend to every new AI surface.</a:t>
            </a:r>
            <a:endParaRPr lang="en-US" sz="1500" dirty="0"/>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48640" y="411480"/>
            <a:ext cx="11905488" cy="320040"/>
          </a:xfrm>
          <a:prstGeom prst="rect">
            <a:avLst/>
          </a:prstGeom>
          <a:noFill/>
          <a:ln/>
        </p:spPr>
        <p:txBody>
          <a:bodyPr wrap="square" lIns="0" tIns="0" rIns="0" bIns="0" rtlCol="0" anchor="ctr"/>
          <a:lstStyle/>
          <a:p>
            <a:pPr indent="0" marL="0">
              <a:buNone/>
            </a:pPr>
            <a:r>
              <a:rPr lang="en-US" sz="1400" dirty="0">
                <a:solidFill>
                  <a:srgbClr val="1B2A3A"/>
                </a:solidFill>
                <a:latin typeface="Helvetica Neue Light" pitchFamily="34" charset="0"/>
                <a:ea typeface="Helvetica Neue Light" pitchFamily="34" charset="-122"/>
                <a:cs typeface="Helvetica Neue Light" pitchFamily="34" charset="-120"/>
              </a:rPr>
              <a:t>MERIDIAN NAVIGATOR · AGENT EXPERIENCE</a:t>
            </a:r>
            <a:endParaRPr lang="en-US" sz="1400" dirty="0"/>
          </a:p>
        </p:txBody>
      </p:sp>
      <p:sp>
        <p:nvSpPr>
          <p:cNvPr id="3" name="Text 1"/>
          <p:cNvSpPr/>
          <p:nvPr/>
        </p:nvSpPr>
        <p:spPr>
          <a:xfrm>
            <a:off x="548640" y="914400"/>
            <a:ext cx="11905488" cy="731520"/>
          </a:xfrm>
          <a:prstGeom prst="rect">
            <a:avLst/>
          </a:prstGeom>
          <a:noFill/>
          <a:ln/>
        </p:spPr>
        <p:txBody>
          <a:bodyPr wrap="square" lIns="0" tIns="0" rIns="0" bIns="0" rtlCol="0" anchor="t"/>
          <a:lstStyle/>
          <a:p>
            <a:pPr indent="0" marL="0">
              <a:buNone/>
            </a:pPr>
            <a:r>
              <a:rPr lang="en-US" sz="3000" dirty="0">
                <a:solidFill>
                  <a:srgbClr val="1B2A3A"/>
                </a:solidFill>
                <a:latin typeface="Helvetica Neue Light" pitchFamily="34" charset="0"/>
                <a:ea typeface="Helvetica Neue Light" pitchFamily="34" charset="-122"/>
                <a:cs typeface="Helvetica Neue Light" pitchFamily="34" charset="-120"/>
              </a:rPr>
              <a:t>Concept board: five innovations, one loop</a:t>
            </a:r>
            <a:endParaRPr lang="en-US" sz="3000" dirty="0"/>
          </a:p>
        </p:txBody>
      </p:sp>
      <p:sp>
        <p:nvSpPr>
          <p:cNvPr id="4" name="Text 2"/>
          <p:cNvSpPr/>
          <p:nvPr/>
        </p:nvSpPr>
        <p:spPr>
          <a:xfrm>
            <a:off x="548640" y="1645920"/>
            <a:ext cx="11905488" cy="365760"/>
          </a:xfrm>
          <a:prstGeom prst="rect">
            <a:avLst/>
          </a:prstGeom>
          <a:noFill/>
          <a:ln/>
        </p:spPr>
        <p:txBody>
          <a:bodyPr wrap="square" lIns="0" tIns="0" rIns="0" bIns="0" rtlCol="0" anchor="ctr"/>
          <a:lstStyle/>
          <a:p>
            <a:pPr indent="0" marL="0">
              <a:buNone/>
            </a:pPr>
            <a:r>
              <a:rPr lang="en-US" sz="1600" dirty="0">
                <a:solidFill>
                  <a:srgbClr val="595959"/>
                </a:solidFill>
                <a:latin typeface="Helvetica Neue Light" pitchFamily="34" charset="0"/>
                <a:ea typeface="Helvetica Neue Light" pitchFamily="34" charset="-122"/>
                <a:cs typeface="Helvetica Neue Light" pitchFamily="34" charset="-120"/>
              </a:rPr>
              <a:t>Each card names the breakdown it answers. Concepts for testing; proposals, not built.</a:t>
            </a:r>
            <a:endParaRPr lang="en-US" sz="1600" dirty="0"/>
          </a:p>
        </p:txBody>
      </p:sp>
      <p:pic>
        <p:nvPicPr>
          <p:cNvPr id="5" name="Picture 4" descr="image.png"/>
          <p:cNvPicPr>
            <a:picLocks noChangeAspect="1"/>
          </p:cNvPicPr>
          <p:nvPr/>
        </p:nvPicPr>
        <p:blipFill>
          <a:blip r:embed="rId2"/>
          <a:stretch>
            <a:fillRect/>
          </a:stretch>
        </p:blipFill>
        <p:spPr>
          <a:xfrm>
            <a:off x="0" y="9299448"/>
            <a:ext cx="13002768" cy="457200"/>
          </a:xfrm>
          <a:prstGeom prst="rect">
            <a:avLst/>
          </a:prstGeom>
        </p:spPr>
      </p:pic>
      <p:sp>
        <p:nvSpPr>
          <p:cNvPr id="6" name="Text 3"/>
          <p:cNvSpPr/>
          <p:nvPr/>
        </p:nvSpPr>
        <p:spPr>
          <a:xfrm>
            <a:off x="548640" y="8778240"/>
            <a:ext cx="11905488" cy="320040"/>
          </a:xfrm>
          <a:prstGeom prst="rect">
            <a:avLst/>
          </a:prstGeom>
          <a:noFill/>
          <a:ln/>
        </p:spPr>
        <p:txBody>
          <a:bodyPr wrap="square" lIns="0" tIns="0" rIns="0" bIns="0" rtlCol="0" anchor="ctr"/>
          <a:lstStyle/>
          <a:p>
            <a:pPr indent="0" marL="0">
              <a:buNone/>
            </a:pPr>
            <a:r>
              <a:rPr lang="en-US" sz="1200" dirty="0">
                <a:solidFill>
                  <a:srgbClr val="595959"/>
                </a:solidFill>
                <a:latin typeface="Helvetica Neue Light" pitchFamily="34" charset="0"/>
                <a:ea typeface="Helvetica Neue Light" pitchFamily="34" charset="-122"/>
                <a:cs typeface="Helvetica Neue Light" pitchFamily="34" charset="-120"/>
              </a:rPr>
              <a:t>Portfolio prototype. Mock data. Hypotheses until validated. Proposed-step language only.</a:t>
            </a:r>
            <a:endParaRPr lang="en-US" sz="1200" dirty="0"/>
          </a:p>
        </p:txBody>
      </p:sp>
      <p:sp>
        <p:nvSpPr>
          <p:cNvPr id="7" name="Shape 4"/>
          <p:cNvSpPr/>
          <p:nvPr/>
        </p:nvSpPr>
        <p:spPr>
          <a:xfrm>
            <a:off x="548640" y="2560320"/>
            <a:ext cx="2103120" cy="109728"/>
          </a:xfrm>
          <a:prstGeom prst="rect">
            <a:avLst/>
          </a:prstGeom>
          <a:solidFill>
            <a:srgbClr val="B5532F"/>
          </a:solidFill>
          <a:ln w="12700">
            <a:solidFill>
              <a:srgbClr val="B5532F"/>
            </a:solidFill>
            <a:prstDash val="solid"/>
          </a:ln>
        </p:spPr>
        <p:txBody>
          <a:bodyPr/>
          <a:p/>
        </p:txBody>
      </p:sp>
      <p:sp>
        <p:nvSpPr>
          <p:cNvPr id="8" name="Shape 5"/>
          <p:cNvSpPr/>
          <p:nvPr/>
        </p:nvSpPr>
        <p:spPr>
          <a:xfrm>
            <a:off x="548640" y="2670048"/>
            <a:ext cx="2103120" cy="3108960"/>
          </a:xfrm>
          <a:prstGeom prst="roundRect">
            <a:avLst>
              <a:gd name="adj" fmla="val 3478"/>
            </a:avLst>
          </a:prstGeom>
          <a:solidFill>
            <a:srgbClr val="FFFFFF"/>
          </a:solidFill>
          <a:ln w="12700">
            <a:solidFill>
              <a:srgbClr val="CFCFCF"/>
            </a:solidFill>
            <a:prstDash val="solid"/>
          </a:ln>
        </p:spPr>
        <p:txBody>
          <a:bodyPr/>
          <a:p/>
        </p:txBody>
      </p:sp>
      <p:sp>
        <p:nvSpPr>
          <p:cNvPr id="9" name="Text 6"/>
          <p:cNvSpPr/>
          <p:nvPr/>
        </p:nvSpPr>
        <p:spPr>
          <a:xfrm>
            <a:off x="685800" y="2880360"/>
            <a:ext cx="1828800" cy="640080"/>
          </a:xfrm>
          <a:prstGeom prst="rect">
            <a:avLst/>
          </a:prstGeom>
          <a:noFill/>
          <a:ln/>
        </p:spPr>
        <p:txBody>
          <a:bodyPr wrap="square" lIns="0" tIns="0" rIns="0" bIns="0" rtlCol="0" anchor="t"/>
          <a:lstStyle/>
          <a:p>
            <a:pPr indent="0" marL="0">
              <a:buNone/>
            </a:pPr>
            <a:r>
              <a:rPr lang="en-US" sz="1600" b="1" dirty="0">
                <a:solidFill>
                  <a:srgbClr val="1B2A3A"/>
                </a:solidFill>
                <a:latin typeface="Helvetica Neue Light" pitchFamily="34" charset="0"/>
                <a:ea typeface="Helvetica Neue Light" pitchFamily="34" charset="-122"/>
                <a:cs typeface="Helvetica Neue Light" pitchFamily="34" charset="-120"/>
              </a:rPr>
              <a:t>Decision Journal</a:t>
            </a:r>
            <a:endParaRPr lang="en-US" sz="1600" dirty="0"/>
          </a:p>
        </p:txBody>
      </p:sp>
      <p:sp>
        <p:nvSpPr>
          <p:cNvPr id="10" name="Text 7"/>
          <p:cNvSpPr/>
          <p:nvPr/>
        </p:nvSpPr>
        <p:spPr>
          <a:xfrm>
            <a:off x="685800" y="3611880"/>
            <a:ext cx="1828800" cy="274320"/>
          </a:xfrm>
          <a:prstGeom prst="rect">
            <a:avLst/>
          </a:prstGeom>
          <a:noFill/>
          <a:ln/>
        </p:spPr>
        <p:txBody>
          <a:bodyPr wrap="square" lIns="0" tIns="0" rIns="0" bIns="0" rtlCol="0" anchor="ctr"/>
          <a:lstStyle/>
          <a:p>
            <a:pPr indent="0" marL="0">
              <a:buNone/>
            </a:pPr>
            <a:r>
              <a:rPr lang="en-US" sz="1100" dirty="0">
                <a:solidFill>
                  <a:srgbClr val="B5532F"/>
                </a:solidFill>
                <a:latin typeface="Helvetica Neue Light" pitchFamily="34" charset="0"/>
                <a:ea typeface="Helvetica Neue Light" pitchFamily="34" charset="-122"/>
                <a:cs typeface="Helvetica Neue Light" pitchFamily="34" charset="-120"/>
              </a:rPr>
              <a:t>BREAKDOWNS 3 AND 5</a:t>
            </a:r>
            <a:endParaRPr lang="en-US" sz="1100" dirty="0"/>
          </a:p>
        </p:txBody>
      </p:sp>
      <p:sp>
        <p:nvSpPr>
          <p:cNvPr id="11" name="Text 8"/>
          <p:cNvSpPr/>
          <p:nvPr/>
        </p:nvSpPr>
        <p:spPr>
          <a:xfrm>
            <a:off x="685800" y="4023360"/>
            <a:ext cx="1828800" cy="1645920"/>
          </a:xfrm>
          <a:prstGeom prst="rect">
            <a:avLst/>
          </a:prstGeom>
          <a:noFill/>
          <a:ln/>
        </p:spPr>
        <p:txBody>
          <a:bodyPr wrap="square" lIns="0" tIns="0" rIns="0" bIns="0" rtlCol="0" anchor="t"/>
          <a:lstStyle/>
          <a:p>
            <a:pPr indent="0" marL="0">
              <a:buNone/>
            </a:pPr>
            <a:r>
              <a:rPr lang="en-US" sz="1400" dirty="0">
                <a:solidFill>
                  <a:srgbClr val="1B2A3A"/>
                </a:solidFill>
                <a:latin typeface="Helvetica Neue Light" pitchFamily="34" charset="0"/>
                <a:ea typeface="Helvetica Neue Light" pitchFamily="34" charset="-122"/>
                <a:cs typeface="Helvetica Neue Light" pitchFamily="34" charset="-120"/>
              </a:rPr>
              <a:t>Writes the reason; Guard re-checks it</a:t>
            </a:r>
            <a:endParaRPr lang="en-US" sz="1400" dirty="0"/>
          </a:p>
        </p:txBody>
      </p:sp>
      <p:sp>
        <p:nvSpPr>
          <p:cNvPr id="12" name="Shape 9"/>
          <p:cNvSpPr/>
          <p:nvPr/>
        </p:nvSpPr>
        <p:spPr>
          <a:xfrm>
            <a:off x="2990088" y="2560320"/>
            <a:ext cx="2103120" cy="109728"/>
          </a:xfrm>
          <a:prstGeom prst="rect">
            <a:avLst/>
          </a:prstGeom>
          <a:solidFill>
            <a:srgbClr val="4F6D5A"/>
          </a:solidFill>
          <a:ln w="12700">
            <a:solidFill>
              <a:srgbClr val="4F6D5A"/>
            </a:solidFill>
            <a:prstDash val="solid"/>
          </a:ln>
        </p:spPr>
        <p:txBody>
          <a:bodyPr/>
          <a:p/>
        </p:txBody>
      </p:sp>
      <p:sp>
        <p:nvSpPr>
          <p:cNvPr id="13" name="Shape 10"/>
          <p:cNvSpPr/>
          <p:nvPr/>
        </p:nvSpPr>
        <p:spPr>
          <a:xfrm>
            <a:off x="2990088" y="2670048"/>
            <a:ext cx="2103120" cy="3108960"/>
          </a:xfrm>
          <a:prstGeom prst="roundRect">
            <a:avLst>
              <a:gd name="adj" fmla="val 3478"/>
            </a:avLst>
          </a:prstGeom>
          <a:solidFill>
            <a:srgbClr val="FFFFFF"/>
          </a:solidFill>
          <a:ln w="12700">
            <a:solidFill>
              <a:srgbClr val="CFCFCF"/>
            </a:solidFill>
            <a:prstDash val="solid"/>
          </a:ln>
        </p:spPr>
        <p:txBody>
          <a:bodyPr/>
          <a:p/>
        </p:txBody>
      </p:sp>
      <p:sp>
        <p:nvSpPr>
          <p:cNvPr id="14" name="Text 11"/>
          <p:cNvSpPr/>
          <p:nvPr/>
        </p:nvSpPr>
        <p:spPr>
          <a:xfrm>
            <a:off x="3127248" y="2880360"/>
            <a:ext cx="1828800" cy="640080"/>
          </a:xfrm>
          <a:prstGeom prst="rect">
            <a:avLst/>
          </a:prstGeom>
          <a:noFill/>
          <a:ln/>
        </p:spPr>
        <p:txBody>
          <a:bodyPr wrap="square" lIns="0" tIns="0" rIns="0" bIns="0" rtlCol="0" anchor="t"/>
          <a:lstStyle/>
          <a:p>
            <a:pPr indent="0" marL="0">
              <a:buNone/>
            </a:pPr>
            <a:r>
              <a:rPr lang="en-US" sz="1600" b="1" dirty="0">
                <a:solidFill>
                  <a:srgbClr val="1B2A3A"/>
                </a:solidFill>
                <a:latin typeface="Helvetica Neue Light" pitchFamily="34" charset="0"/>
                <a:ea typeface="Helvetica Neue Light" pitchFamily="34" charset="-122"/>
                <a:cs typeface="Helvetica Neue Light" pitchFamily="34" charset="-120"/>
              </a:rPr>
              <a:t>Scenario Sandbox</a:t>
            </a:r>
            <a:endParaRPr lang="en-US" sz="1600" dirty="0"/>
          </a:p>
        </p:txBody>
      </p:sp>
      <p:sp>
        <p:nvSpPr>
          <p:cNvPr id="15" name="Text 12"/>
          <p:cNvSpPr/>
          <p:nvPr/>
        </p:nvSpPr>
        <p:spPr>
          <a:xfrm>
            <a:off x="3127248" y="3611880"/>
            <a:ext cx="1828800" cy="274320"/>
          </a:xfrm>
          <a:prstGeom prst="rect">
            <a:avLst/>
          </a:prstGeom>
          <a:noFill/>
          <a:ln/>
        </p:spPr>
        <p:txBody>
          <a:bodyPr wrap="square" lIns="0" tIns="0" rIns="0" bIns="0" rtlCol="0" anchor="ctr"/>
          <a:lstStyle/>
          <a:p>
            <a:pPr indent="0" marL="0">
              <a:buNone/>
            </a:pPr>
            <a:r>
              <a:rPr lang="en-US" sz="1100" dirty="0">
                <a:solidFill>
                  <a:srgbClr val="4F6D5A"/>
                </a:solidFill>
                <a:latin typeface="Helvetica Neue Light" pitchFamily="34" charset="0"/>
                <a:ea typeface="Helvetica Neue Light" pitchFamily="34" charset="-122"/>
                <a:cs typeface="Helvetica Neue Light" pitchFamily="34" charset="-120"/>
              </a:rPr>
              <a:t>BREAKDOWNS 1 AND 4</a:t>
            </a:r>
            <a:endParaRPr lang="en-US" sz="1100" dirty="0"/>
          </a:p>
        </p:txBody>
      </p:sp>
      <p:sp>
        <p:nvSpPr>
          <p:cNvPr id="16" name="Text 13"/>
          <p:cNvSpPr/>
          <p:nvPr/>
        </p:nvSpPr>
        <p:spPr>
          <a:xfrm>
            <a:off x="3127248" y="4023360"/>
            <a:ext cx="1828800" cy="1645920"/>
          </a:xfrm>
          <a:prstGeom prst="rect">
            <a:avLst/>
          </a:prstGeom>
          <a:noFill/>
          <a:ln/>
        </p:spPr>
        <p:txBody>
          <a:bodyPr wrap="square" lIns="0" tIns="0" rIns="0" bIns="0" rtlCol="0" anchor="t"/>
          <a:lstStyle/>
          <a:p>
            <a:pPr indent="0" marL="0">
              <a:buNone/>
            </a:pPr>
            <a:r>
              <a:rPr lang="en-US" sz="1400" dirty="0">
                <a:solidFill>
                  <a:srgbClr val="1B2A3A"/>
                </a:solidFill>
                <a:latin typeface="Helvetica Neue Light" pitchFamily="34" charset="0"/>
                <a:ea typeface="Helvetica Neue Light" pitchFamily="34" charset="-122"/>
                <a:cs typeface="Helvetica Neue Light" pitchFamily="34" charset="-120"/>
              </a:rPr>
              <a:t>Shows what would change a view</a:t>
            </a:r>
            <a:endParaRPr lang="en-US" sz="1400" dirty="0"/>
          </a:p>
        </p:txBody>
      </p:sp>
      <p:sp>
        <p:nvSpPr>
          <p:cNvPr id="17" name="Shape 14"/>
          <p:cNvSpPr/>
          <p:nvPr/>
        </p:nvSpPr>
        <p:spPr>
          <a:xfrm>
            <a:off x="5431536" y="2560320"/>
            <a:ext cx="2103120" cy="109728"/>
          </a:xfrm>
          <a:prstGeom prst="rect">
            <a:avLst/>
          </a:prstGeom>
          <a:solidFill>
            <a:srgbClr val="2F4257"/>
          </a:solidFill>
          <a:ln w="12700">
            <a:solidFill>
              <a:srgbClr val="2F4257"/>
            </a:solidFill>
            <a:prstDash val="solid"/>
          </a:ln>
        </p:spPr>
        <p:txBody>
          <a:bodyPr/>
          <a:p/>
        </p:txBody>
      </p:sp>
      <p:sp>
        <p:nvSpPr>
          <p:cNvPr id="18" name="Shape 15"/>
          <p:cNvSpPr/>
          <p:nvPr/>
        </p:nvSpPr>
        <p:spPr>
          <a:xfrm>
            <a:off x="5431536" y="2670048"/>
            <a:ext cx="2103120" cy="3108960"/>
          </a:xfrm>
          <a:prstGeom prst="roundRect">
            <a:avLst>
              <a:gd name="adj" fmla="val 3478"/>
            </a:avLst>
          </a:prstGeom>
          <a:solidFill>
            <a:srgbClr val="FFFFFF"/>
          </a:solidFill>
          <a:ln w="12700">
            <a:solidFill>
              <a:srgbClr val="CFCFCF"/>
            </a:solidFill>
            <a:prstDash val="solid"/>
          </a:ln>
        </p:spPr>
        <p:txBody>
          <a:bodyPr/>
          <a:p/>
        </p:txBody>
      </p:sp>
      <p:sp>
        <p:nvSpPr>
          <p:cNvPr id="19" name="Text 16"/>
          <p:cNvSpPr/>
          <p:nvPr/>
        </p:nvSpPr>
        <p:spPr>
          <a:xfrm>
            <a:off x="5568696" y="2880360"/>
            <a:ext cx="1828800" cy="640080"/>
          </a:xfrm>
          <a:prstGeom prst="rect">
            <a:avLst/>
          </a:prstGeom>
          <a:noFill/>
          <a:ln/>
        </p:spPr>
        <p:txBody>
          <a:bodyPr wrap="square" lIns="0" tIns="0" rIns="0" bIns="0" rtlCol="0" anchor="t"/>
          <a:lstStyle/>
          <a:p>
            <a:pPr indent="0" marL="0">
              <a:buNone/>
            </a:pPr>
            <a:r>
              <a:rPr lang="en-US" sz="1600" b="1" dirty="0">
                <a:solidFill>
                  <a:srgbClr val="1B2A3A"/>
                </a:solidFill>
                <a:latin typeface="Helvetica Neue Light" pitchFamily="34" charset="0"/>
                <a:ea typeface="Helvetica Neue Light" pitchFamily="34" charset="-122"/>
                <a:cs typeface="Helvetica Neue Light" pitchFamily="34" charset="-120"/>
              </a:rPr>
              <a:t>Plan Editor</a:t>
            </a:r>
            <a:endParaRPr lang="en-US" sz="1600" dirty="0"/>
          </a:p>
        </p:txBody>
      </p:sp>
      <p:sp>
        <p:nvSpPr>
          <p:cNvPr id="20" name="Text 17"/>
          <p:cNvSpPr/>
          <p:nvPr/>
        </p:nvSpPr>
        <p:spPr>
          <a:xfrm>
            <a:off x="5568696" y="3611880"/>
            <a:ext cx="1828800" cy="274320"/>
          </a:xfrm>
          <a:prstGeom prst="rect">
            <a:avLst/>
          </a:prstGeom>
          <a:noFill/>
          <a:ln/>
        </p:spPr>
        <p:txBody>
          <a:bodyPr wrap="square" lIns="0" tIns="0" rIns="0" bIns="0" rtlCol="0" anchor="ctr"/>
          <a:lstStyle/>
          <a:p>
            <a:pPr indent="0" marL="0">
              <a:buNone/>
            </a:pPr>
            <a:r>
              <a:rPr lang="en-US" sz="1100" dirty="0">
                <a:solidFill>
                  <a:srgbClr val="2F4257"/>
                </a:solidFill>
                <a:latin typeface="Helvetica Neue Light" pitchFamily="34" charset="0"/>
                <a:ea typeface="Helvetica Neue Light" pitchFamily="34" charset="-122"/>
                <a:cs typeface="Helvetica Neue Light" pitchFamily="34" charset="-120"/>
              </a:rPr>
              <a:t>BREAKDOWN 2</a:t>
            </a:r>
            <a:endParaRPr lang="en-US" sz="1100" dirty="0"/>
          </a:p>
        </p:txBody>
      </p:sp>
      <p:sp>
        <p:nvSpPr>
          <p:cNvPr id="21" name="Text 18"/>
          <p:cNvSpPr/>
          <p:nvPr/>
        </p:nvSpPr>
        <p:spPr>
          <a:xfrm>
            <a:off x="5568696" y="4023360"/>
            <a:ext cx="1828800" cy="1645920"/>
          </a:xfrm>
          <a:prstGeom prst="rect">
            <a:avLst/>
          </a:prstGeom>
          <a:noFill/>
          <a:ln/>
        </p:spPr>
        <p:txBody>
          <a:bodyPr wrap="square" lIns="0" tIns="0" rIns="0" bIns="0" rtlCol="0" anchor="t"/>
          <a:lstStyle/>
          <a:p>
            <a:pPr indent="0" marL="0">
              <a:buNone/>
            </a:pPr>
            <a:r>
              <a:rPr lang="en-US" sz="1400" dirty="0">
                <a:solidFill>
                  <a:srgbClr val="1B2A3A"/>
                </a:solidFill>
                <a:latin typeface="Helvetica Neue Light" pitchFamily="34" charset="0"/>
                <a:ea typeface="Helvetica Neue Light" pitchFamily="34" charset="-122"/>
                <a:cs typeface="Helvetica Neue Light" pitchFamily="34" charset="-120"/>
              </a:rPr>
              <a:t>Edits each proposed step</a:t>
            </a:r>
            <a:endParaRPr lang="en-US" sz="1400" dirty="0"/>
          </a:p>
        </p:txBody>
      </p:sp>
      <p:sp>
        <p:nvSpPr>
          <p:cNvPr id="22" name="Shape 19"/>
          <p:cNvSpPr/>
          <p:nvPr/>
        </p:nvSpPr>
        <p:spPr>
          <a:xfrm>
            <a:off x="7872984" y="2560320"/>
            <a:ext cx="2103120" cy="109728"/>
          </a:xfrm>
          <a:prstGeom prst="rect">
            <a:avLst/>
          </a:prstGeom>
          <a:solidFill>
            <a:srgbClr val="B5532F"/>
          </a:solidFill>
          <a:ln w="12700">
            <a:solidFill>
              <a:srgbClr val="B5532F"/>
            </a:solidFill>
            <a:prstDash val="solid"/>
          </a:ln>
        </p:spPr>
        <p:txBody>
          <a:bodyPr/>
          <a:p/>
        </p:txBody>
      </p:sp>
      <p:sp>
        <p:nvSpPr>
          <p:cNvPr id="23" name="Shape 20"/>
          <p:cNvSpPr/>
          <p:nvPr/>
        </p:nvSpPr>
        <p:spPr>
          <a:xfrm>
            <a:off x="7872984" y="2670048"/>
            <a:ext cx="2103120" cy="3108960"/>
          </a:xfrm>
          <a:prstGeom prst="roundRect">
            <a:avLst>
              <a:gd name="adj" fmla="val 3478"/>
            </a:avLst>
          </a:prstGeom>
          <a:solidFill>
            <a:srgbClr val="FFFFFF"/>
          </a:solidFill>
          <a:ln w="12700">
            <a:solidFill>
              <a:srgbClr val="CFCFCF"/>
            </a:solidFill>
            <a:prstDash val="solid"/>
          </a:ln>
        </p:spPr>
        <p:txBody>
          <a:bodyPr/>
          <a:p/>
        </p:txBody>
      </p:sp>
      <p:sp>
        <p:nvSpPr>
          <p:cNvPr id="24" name="Text 21"/>
          <p:cNvSpPr/>
          <p:nvPr/>
        </p:nvSpPr>
        <p:spPr>
          <a:xfrm>
            <a:off x="8010144" y="2880360"/>
            <a:ext cx="1828800" cy="640080"/>
          </a:xfrm>
          <a:prstGeom prst="rect">
            <a:avLst/>
          </a:prstGeom>
          <a:noFill/>
          <a:ln/>
        </p:spPr>
        <p:txBody>
          <a:bodyPr wrap="square" lIns="0" tIns="0" rIns="0" bIns="0" rtlCol="0" anchor="t"/>
          <a:lstStyle/>
          <a:p>
            <a:pPr indent="0" marL="0">
              <a:buNone/>
            </a:pPr>
            <a:r>
              <a:rPr lang="en-US" sz="1600" b="1" dirty="0">
                <a:solidFill>
                  <a:srgbClr val="1B2A3A"/>
                </a:solidFill>
                <a:latin typeface="Helvetica Neue Light" pitchFamily="34" charset="0"/>
                <a:ea typeface="Helvetica Neue Light" pitchFamily="34" charset="-122"/>
                <a:cs typeface="Helvetica Neue Light" pitchFamily="34" charset="-120"/>
              </a:rPr>
              <a:t>Attention Budget</a:t>
            </a:r>
            <a:endParaRPr lang="en-US" sz="1600" dirty="0"/>
          </a:p>
        </p:txBody>
      </p:sp>
      <p:sp>
        <p:nvSpPr>
          <p:cNvPr id="25" name="Text 22"/>
          <p:cNvSpPr/>
          <p:nvPr/>
        </p:nvSpPr>
        <p:spPr>
          <a:xfrm>
            <a:off x="8010144" y="3611880"/>
            <a:ext cx="1828800" cy="274320"/>
          </a:xfrm>
          <a:prstGeom prst="rect">
            <a:avLst/>
          </a:prstGeom>
          <a:noFill/>
          <a:ln/>
        </p:spPr>
        <p:txBody>
          <a:bodyPr wrap="square" lIns="0" tIns="0" rIns="0" bIns="0" rtlCol="0" anchor="ctr"/>
          <a:lstStyle/>
          <a:p>
            <a:pPr indent="0" marL="0">
              <a:buNone/>
            </a:pPr>
            <a:r>
              <a:rPr lang="en-US" sz="1100" dirty="0">
                <a:solidFill>
                  <a:srgbClr val="B5532F"/>
                </a:solidFill>
                <a:latin typeface="Helvetica Neue Light" pitchFamily="34" charset="0"/>
                <a:ea typeface="Helvetica Neue Light" pitchFamily="34" charset="-122"/>
                <a:cs typeface="Helvetica Neue Light" pitchFamily="34" charset="-120"/>
              </a:rPr>
              <a:t>BREAKDOWN 3</a:t>
            </a:r>
            <a:endParaRPr lang="en-US" sz="1100" dirty="0"/>
          </a:p>
        </p:txBody>
      </p:sp>
      <p:sp>
        <p:nvSpPr>
          <p:cNvPr id="26" name="Text 23"/>
          <p:cNvSpPr/>
          <p:nvPr/>
        </p:nvSpPr>
        <p:spPr>
          <a:xfrm>
            <a:off x="8010144" y="4023360"/>
            <a:ext cx="1828800" cy="1645920"/>
          </a:xfrm>
          <a:prstGeom prst="rect">
            <a:avLst/>
          </a:prstGeom>
          <a:noFill/>
          <a:ln/>
        </p:spPr>
        <p:txBody>
          <a:bodyPr wrap="square" lIns="0" tIns="0" rIns="0" bIns="0" rtlCol="0" anchor="t"/>
          <a:lstStyle/>
          <a:p>
            <a:pPr indent="0" marL="0">
              <a:buNone/>
            </a:pPr>
            <a:r>
              <a:rPr lang="en-US" sz="1400" dirty="0">
                <a:solidFill>
                  <a:srgbClr val="1B2A3A"/>
                </a:solidFill>
                <a:latin typeface="Helvetica Neue Light" pitchFamily="34" charset="0"/>
                <a:ea typeface="Helvetica Neue Light" pitchFamily="34" charset="-122"/>
                <a:cs typeface="Helvetica Neue Light" pitchFamily="34" charset="-120"/>
              </a:rPr>
              <a:t>Sets a daily alert budget</a:t>
            </a:r>
            <a:endParaRPr lang="en-US" sz="1400" dirty="0"/>
          </a:p>
        </p:txBody>
      </p:sp>
      <p:sp>
        <p:nvSpPr>
          <p:cNvPr id="27" name="Shape 24"/>
          <p:cNvSpPr/>
          <p:nvPr/>
        </p:nvSpPr>
        <p:spPr>
          <a:xfrm>
            <a:off x="10314432" y="2560320"/>
            <a:ext cx="2103120" cy="109728"/>
          </a:xfrm>
          <a:prstGeom prst="rect">
            <a:avLst/>
          </a:prstGeom>
          <a:solidFill>
            <a:srgbClr val="4F6D5A"/>
          </a:solidFill>
          <a:ln w="12700">
            <a:solidFill>
              <a:srgbClr val="4F6D5A"/>
            </a:solidFill>
            <a:prstDash val="solid"/>
          </a:ln>
        </p:spPr>
        <p:txBody>
          <a:bodyPr/>
          <a:p/>
        </p:txBody>
      </p:sp>
      <p:sp>
        <p:nvSpPr>
          <p:cNvPr id="28" name="Shape 25"/>
          <p:cNvSpPr/>
          <p:nvPr/>
        </p:nvSpPr>
        <p:spPr>
          <a:xfrm>
            <a:off x="10314432" y="2670048"/>
            <a:ext cx="2103120" cy="3108960"/>
          </a:xfrm>
          <a:prstGeom prst="roundRect">
            <a:avLst>
              <a:gd name="adj" fmla="val 3478"/>
            </a:avLst>
          </a:prstGeom>
          <a:solidFill>
            <a:srgbClr val="FFFFFF"/>
          </a:solidFill>
          <a:ln w="12700">
            <a:solidFill>
              <a:srgbClr val="CFCFCF"/>
            </a:solidFill>
            <a:prstDash val="solid"/>
          </a:ln>
        </p:spPr>
        <p:txBody>
          <a:bodyPr/>
          <a:p/>
        </p:txBody>
      </p:sp>
      <p:sp>
        <p:nvSpPr>
          <p:cNvPr id="29" name="Text 26"/>
          <p:cNvSpPr/>
          <p:nvPr/>
        </p:nvSpPr>
        <p:spPr>
          <a:xfrm>
            <a:off x="10451592" y="2880360"/>
            <a:ext cx="1828800" cy="640080"/>
          </a:xfrm>
          <a:prstGeom prst="rect">
            <a:avLst/>
          </a:prstGeom>
          <a:noFill/>
          <a:ln/>
        </p:spPr>
        <p:txBody>
          <a:bodyPr wrap="square" lIns="0" tIns="0" rIns="0" bIns="0" rtlCol="0" anchor="t"/>
          <a:lstStyle/>
          <a:p>
            <a:pPr indent="0" marL="0">
              <a:buNone/>
            </a:pPr>
            <a:r>
              <a:rPr lang="en-US" sz="1600" b="1" dirty="0">
                <a:solidFill>
                  <a:srgbClr val="1B2A3A"/>
                </a:solidFill>
                <a:latin typeface="Helvetica Neue Light" pitchFamily="34" charset="0"/>
                <a:ea typeface="Helvetica Neue Light" pitchFamily="34" charset="-122"/>
                <a:cs typeface="Helvetica Neue Light" pitchFamily="34" charset="-120"/>
              </a:rPr>
              <a:t>Autonomy Ledger</a:t>
            </a:r>
            <a:endParaRPr lang="en-US" sz="1600" dirty="0"/>
          </a:p>
        </p:txBody>
      </p:sp>
      <p:sp>
        <p:nvSpPr>
          <p:cNvPr id="30" name="Text 27"/>
          <p:cNvSpPr/>
          <p:nvPr/>
        </p:nvSpPr>
        <p:spPr>
          <a:xfrm>
            <a:off x="10451592" y="3611880"/>
            <a:ext cx="1828800" cy="274320"/>
          </a:xfrm>
          <a:prstGeom prst="rect">
            <a:avLst/>
          </a:prstGeom>
          <a:noFill/>
          <a:ln/>
        </p:spPr>
        <p:txBody>
          <a:bodyPr wrap="square" lIns="0" tIns="0" rIns="0" bIns="0" rtlCol="0" anchor="ctr"/>
          <a:lstStyle/>
          <a:p>
            <a:pPr indent="0" marL="0">
              <a:buNone/>
            </a:pPr>
            <a:r>
              <a:rPr lang="en-US" sz="1100" dirty="0">
                <a:solidFill>
                  <a:srgbClr val="4F6D5A"/>
                </a:solidFill>
                <a:latin typeface="Helvetica Neue Light" pitchFamily="34" charset="0"/>
                <a:ea typeface="Helvetica Neue Light" pitchFamily="34" charset="-122"/>
                <a:cs typeface="Helvetica Neue Light" pitchFamily="34" charset="-120"/>
              </a:rPr>
              <a:t>BREAKDOWNS 2 AND 4</a:t>
            </a:r>
            <a:endParaRPr lang="en-US" sz="1100" dirty="0"/>
          </a:p>
        </p:txBody>
      </p:sp>
      <p:sp>
        <p:nvSpPr>
          <p:cNvPr id="31" name="Text 28"/>
          <p:cNvSpPr/>
          <p:nvPr/>
        </p:nvSpPr>
        <p:spPr>
          <a:xfrm>
            <a:off x="10451592" y="4023360"/>
            <a:ext cx="1828800" cy="1645920"/>
          </a:xfrm>
          <a:prstGeom prst="rect">
            <a:avLst/>
          </a:prstGeom>
          <a:noFill/>
          <a:ln/>
        </p:spPr>
        <p:txBody>
          <a:bodyPr wrap="square" lIns="0" tIns="0" rIns="0" bIns="0" rtlCol="0" anchor="t"/>
          <a:lstStyle/>
          <a:p>
            <a:pPr indent="0" marL="0">
              <a:buNone/>
            </a:pPr>
            <a:r>
              <a:rPr lang="en-US" sz="1400" dirty="0">
                <a:solidFill>
                  <a:srgbClr val="1B2A3A"/>
                </a:solidFill>
                <a:latin typeface="Helvetica Neue Light" pitchFamily="34" charset="0"/>
                <a:ea typeface="Helvetica Neue Light" pitchFamily="34" charset="-122"/>
                <a:cs typeface="Helvetica Neue Light" pitchFamily="34" charset="-120"/>
              </a:rPr>
              <a:t>Levels, limits, and a 48-hour undo</a:t>
            </a:r>
            <a:endParaRPr lang="en-US" sz="1400" dirty="0"/>
          </a:p>
        </p:txBody>
      </p:sp>
      <p:sp>
        <p:nvSpPr>
          <p:cNvPr id="32" name="Text 29"/>
          <p:cNvSpPr/>
          <p:nvPr/>
        </p:nvSpPr>
        <p:spPr>
          <a:xfrm>
            <a:off x="548640" y="6217920"/>
            <a:ext cx="11905488" cy="457200"/>
          </a:xfrm>
          <a:prstGeom prst="rect">
            <a:avLst/>
          </a:prstGeom>
          <a:noFill/>
          <a:ln/>
        </p:spPr>
        <p:txBody>
          <a:bodyPr wrap="square" lIns="0" tIns="0" rIns="0" bIns="0" rtlCol="0" anchor="ctr"/>
          <a:lstStyle/>
          <a:p>
            <a:pPr indent="0" marL="0">
              <a:buNone/>
            </a:pPr>
            <a:r>
              <a:rPr lang="en-US" sz="1600" dirty="0">
                <a:solidFill>
                  <a:srgbClr val="1B2A3A"/>
                </a:solidFill>
                <a:latin typeface="Helvetica Neue Light" pitchFamily="34" charset="0"/>
                <a:ea typeface="Helvetica Neue Light" pitchFamily="34" charset="-122"/>
                <a:cs typeface="Helvetica Neue Light" pitchFamily="34" charset="-120"/>
              </a:rPr>
              <a:t>The loop: insight → condition → proposed steps → approval within limits → reason, re-checked → back to insight.</a:t>
            </a:r>
            <a:endParaRPr lang="en-US" sz="1600" dirty="0"/>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48640" y="411480"/>
            <a:ext cx="11905488" cy="320040"/>
          </a:xfrm>
          <a:prstGeom prst="rect">
            <a:avLst/>
          </a:prstGeom>
          <a:noFill/>
          <a:ln/>
        </p:spPr>
        <p:txBody>
          <a:bodyPr wrap="square" lIns="0" tIns="0" rIns="0" bIns="0" rtlCol="0" anchor="ctr"/>
          <a:lstStyle/>
          <a:p>
            <a:pPr indent="0" marL="0">
              <a:buNone/>
            </a:pPr>
            <a:r>
              <a:rPr lang="en-US" sz="1400" dirty="0">
                <a:solidFill>
                  <a:srgbClr val="1B2A3A"/>
                </a:solidFill>
                <a:latin typeface="Helvetica Neue Light" pitchFamily="34" charset="0"/>
                <a:ea typeface="Helvetica Neue Light" pitchFamily="34" charset="-122"/>
                <a:cs typeface="Helvetica Neue Light" pitchFamily="34" charset="-120"/>
              </a:rPr>
              <a:t>MERIDIAN NAVIGATOR · AGENT EXPERIENCE</a:t>
            </a:r>
            <a:endParaRPr lang="en-US" sz="1400" dirty="0"/>
          </a:p>
        </p:txBody>
      </p:sp>
      <p:sp>
        <p:nvSpPr>
          <p:cNvPr id="3" name="Text 1"/>
          <p:cNvSpPr/>
          <p:nvPr/>
        </p:nvSpPr>
        <p:spPr>
          <a:xfrm>
            <a:off x="548640" y="914400"/>
            <a:ext cx="11905488" cy="731520"/>
          </a:xfrm>
          <a:prstGeom prst="rect">
            <a:avLst/>
          </a:prstGeom>
          <a:noFill/>
          <a:ln/>
        </p:spPr>
        <p:txBody>
          <a:bodyPr wrap="square" lIns="0" tIns="0" rIns="0" bIns="0" rtlCol="0" anchor="t"/>
          <a:lstStyle/>
          <a:p>
            <a:pPr indent="0" marL="0">
              <a:buNone/>
            </a:pPr>
            <a:r>
              <a:rPr lang="en-US" sz="3000" dirty="0">
                <a:solidFill>
                  <a:srgbClr val="1B2A3A"/>
                </a:solidFill>
                <a:latin typeface="Helvetica Neue Light" pitchFamily="34" charset="0"/>
                <a:ea typeface="Helvetica Neue Light" pitchFamily="34" charset="-122"/>
                <a:cs typeface="Helvetica Neue Light" pitchFamily="34" charset="-120"/>
              </a:rPr>
              <a:t>Agentic support scales in three levels, each with limits</a:t>
            </a:r>
            <a:endParaRPr lang="en-US" sz="3000" dirty="0"/>
          </a:p>
        </p:txBody>
      </p:sp>
      <p:sp>
        <p:nvSpPr>
          <p:cNvPr id="4" name="Text 2"/>
          <p:cNvSpPr/>
          <p:nvPr/>
        </p:nvSpPr>
        <p:spPr>
          <a:xfrm>
            <a:off x="548640" y="1645920"/>
            <a:ext cx="11905488" cy="365760"/>
          </a:xfrm>
          <a:prstGeom prst="rect">
            <a:avLst/>
          </a:prstGeom>
          <a:noFill/>
          <a:ln/>
        </p:spPr>
        <p:txBody>
          <a:bodyPr wrap="square" lIns="0" tIns="0" rIns="0" bIns="0" rtlCol="0" anchor="ctr"/>
          <a:lstStyle/>
          <a:p>
            <a:pPr indent="0" marL="0">
              <a:buNone/>
            </a:pPr>
            <a:r>
              <a:rPr lang="en-US" sz="1600" dirty="0">
                <a:solidFill>
                  <a:srgbClr val="595959"/>
                </a:solidFill>
                <a:latin typeface="Helvetica Neue Light" pitchFamily="34" charset="0"/>
                <a:ea typeface="Helvetica Neue Light" pitchFamily="34" charset="-122"/>
                <a:cs typeface="Helvetica Neue Light" pitchFamily="34" charset="-120"/>
              </a:rPr>
              <a:t>The user sets the level for each goal. Act is off by default.</a:t>
            </a:r>
            <a:endParaRPr lang="en-US" sz="1600" dirty="0"/>
          </a:p>
        </p:txBody>
      </p:sp>
      <p:pic>
        <p:nvPicPr>
          <p:cNvPr id="5" name="Picture 4" descr="image.png"/>
          <p:cNvPicPr>
            <a:picLocks noChangeAspect="1"/>
          </p:cNvPicPr>
          <p:nvPr/>
        </p:nvPicPr>
        <p:blipFill>
          <a:blip r:embed="rId2"/>
          <a:stretch>
            <a:fillRect/>
          </a:stretch>
        </p:blipFill>
        <p:spPr>
          <a:xfrm>
            <a:off x="0" y="9299448"/>
            <a:ext cx="13002768" cy="457200"/>
          </a:xfrm>
          <a:prstGeom prst="rect">
            <a:avLst/>
          </a:prstGeom>
        </p:spPr>
      </p:pic>
      <p:sp>
        <p:nvSpPr>
          <p:cNvPr id="6" name="Text 3"/>
          <p:cNvSpPr/>
          <p:nvPr/>
        </p:nvSpPr>
        <p:spPr>
          <a:xfrm>
            <a:off x="548640" y="8778240"/>
            <a:ext cx="11905488" cy="320040"/>
          </a:xfrm>
          <a:prstGeom prst="rect">
            <a:avLst/>
          </a:prstGeom>
          <a:noFill/>
          <a:ln/>
        </p:spPr>
        <p:txBody>
          <a:bodyPr wrap="square" lIns="0" tIns="0" rIns="0" bIns="0" rtlCol="0" anchor="ctr"/>
          <a:lstStyle/>
          <a:p>
            <a:pPr indent="0" marL="0">
              <a:buNone/>
            </a:pPr>
            <a:r>
              <a:rPr lang="en-US" sz="1200" dirty="0">
                <a:solidFill>
                  <a:srgbClr val="595959"/>
                </a:solidFill>
                <a:latin typeface="Helvetica Neue Light" pitchFamily="34" charset="0"/>
                <a:ea typeface="Helvetica Neue Light" pitchFamily="34" charset="-122"/>
                <a:cs typeface="Helvetica Neue Light" pitchFamily="34" charset="-120"/>
              </a:rPr>
              <a:t>Portfolio prototype. Mock data. Hypotheses until validated. Proposed-step language only.</a:t>
            </a:r>
            <a:endParaRPr lang="en-US" sz="1200" dirty="0"/>
          </a:p>
        </p:txBody>
      </p:sp>
      <p:sp>
        <p:nvSpPr>
          <p:cNvPr id="7" name="Shape 4"/>
          <p:cNvSpPr/>
          <p:nvPr/>
        </p:nvSpPr>
        <p:spPr>
          <a:xfrm>
            <a:off x="548640" y="2560320"/>
            <a:ext cx="7315200" cy="1371600"/>
          </a:xfrm>
          <a:prstGeom prst="roundRect">
            <a:avLst>
              <a:gd name="adj" fmla="val 5333"/>
            </a:avLst>
          </a:prstGeom>
          <a:solidFill>
            <a:srgbClr val="EEF2F0"/>
          </a:solidFill>
          <a:ln w="12700">
            <a:solidFill>
              <a:srgbClr val="4F6D5A"/>
            </a:solidFill>
            <a:prstDash val="solid"/>
          </a:ln>
        </p:spPr>
        <p:txBody>
          <a:bodyPr/>
          <a:p/>
        </p:txBody>
      </p:sp>
      <p:sp>
        <p:nvSpPr>
          <p:cNvPr id="8" name="Text 5"/>
          <p:cNvSpPr/>
          <p:nvPr/>
        </p:nvSpPr>
        <p:spPr>
          <a:xfrm>
            <a:off x="777240" y="2743200"/>
            <a:ext cx="6858000" cy="365760"/>
          </a:xfrm>
          <a:prstGeom prst="rect">
            <a:avLst/>
          </a:prstGeom>
          <a:noFill/>
          <a:ln/>
        </p:spPr>
        <p:txBody>
          <a:bodyPr wrap="square" lIns="0" tIns="0" rIns="0" bIns="0" rtlCol="0" anchor="ctr"/>
          <a:lstStyle/>
          <a:p>
            <a:pPr indent="0" marL="0">
              <a:buNone/>
            </a:pPr>
            <a:r>
              <a:rPr lang="en-US" sz="1800" b="1" dirty="0">
                <a:solidFill>
                  <a:srgbClr val="1B2A3A"/>
                </a:solidFill>
                <a:latin typeface="Helvetica Neue Light" pitchFamily="34" charset="0"/>
                <a:ea typeface="Helvetica Neue Light" pitchFamily="34" charset="-122"/>
                <a:cs typeface="Helvetica Neue Light" pitchFamily="34" charset="-120"/>
              </a:rPr>
              <a:t>Observe</a:t>
            </a:r>
            <a:endParaRPr lang="en-US" sz="1800" dirty="0"/>
          </a:p>
        </p:txBody>
      </p:sp>
      <p:sp>
        <p:nvSpPr>
          <p:cNvPr id="9" name="Text 6"/>
          <p:cNvSpPr/>
          <p:nvPr/>
        </p:nvSpPr>
        <p:spPr>
          <a:xfrm>
            <a:off x="777240" y="3200400"/>
            <a:ext cx="6858000" cy="548640"/>
          </a:xfrm>
          <a:prstGeom prst="rect">
            <a:avLst/>
          </a:prstGeom>
          <a:noFill/>
          <a:ln/>
        </p:spPr>
        <p:txBody>
          <a:bodyPr wrap="square" lIns="0" tIns="0" rIns="0" bIns="0" rtlCol="0" anchor="ctr"/>
          <a:lstStyle/>
          <a:p>
            <a:pPr indent="0" marL="0">
              <a:buNone/>
            </a:pPr>
            <a:r>
              <a:rPr lang="en-US" sz="1400" dirty="0">
                <a:solidFill>
                  <a:srgbClr val="1B2A3A"/>
                </a:solidFill>
                <a:latin typeface="Helvetica Neue Light" pitchFamily="34" charset="0"/>
                <a:ea typeface="Helvetica Neue Light" pitchFamily="34" charset="-122"/>
                <a:cs typeface="Helvetica Neue Light" pitchFamily="34" charset="-120"/>
              </a:rPr>
              <a:t>The agent watches and reports. Nothing is proposed.</a:t>
            </a:r>
            <a:endParaRPr lang="en-US" sz="1400" dirty="0"/>
          </a:p>
        </p:txBody>
      </p:sp>
      <p:sp>
        <p:nvSpPr>
          <p:cNvPr id="10" name="Shape 7"/>
          <p:cNvSpPr/>
          <p:nvPr/>
        </p:nvSpPr>
        <p:spPr>
          <a:xfrm>
            <a:off x="1097280" y="4206240"/>
            <a:ext cx="6766560" cy="1371600"/>
          </a:xfrm>
          <a:prstGeom prst="roundRect">
            <a:avLst>
              <a:gd name="adj" fmla="val 5333"/>
            </a:avLst>
          </a:prstGeom>
          <a:solidFill>
            <a:srgbClr val="D5E3DC"/>
          </a:solidFill>
          <a:ln w="12700">
            <a:solidFill>
              <a:srgbClr val="4F6D5A"/>
            </a:solidFill>
            <a:prstDash val="solid"/>
          </a:ln>
        </p:spPr>
        <p:txBody>
          <a:bodyPr/>
          <a:p/>
        </p:txBody>
      </p:sp>
      <p:sp>
        <p:nvSpPr>
          <p:cNvPr id="11" name="Text 8"/>
          <p:cNvSpPr/>
          <p:nvPr/>
        </p:nvSpPr>
        <p:spPr>
          <a:xfrm>
            <a:off x="1325880" y="4389120"/>
            <a:ext cx="6309360" cy="365760"/>
          </a:xfrm>
          <a:prstGeom prst="rect">
            <a:avLst/>
          </a:prstGeom>
          <a:noFill/>
          <a:ln/>
        </p:spPr>
        <p:txBody>
          <a:bodyPr wrap="square" lIns="0" tIns="0" rIns="0" bIns="0" rtlCol="0" anchor="ctr"/>
          <a:lstStyle/>
          <a:p>
            <a:pPr indent="0" marL="0">
              <a:buNone/>
            </a:pPr>
            <a:r>
              <a:rPr lang="en-US" sz="1800" b="1" dirty="0">
                <a:solidFill>
                  <a:srgbClr val="1B2A3A"/>
                </a:solidFill>
                <a:latin typeface="Helvetica Neue Light" pitchFamily="34" charset="0"/>
                <a:ea typeface="Helvetica Neue Light" pitchFamily="34" charset="-122"/>
                <a:cs typeface="Helvetica Neue Light" pitchFamily="34" charset="-120"/>
              </a:rPr>
              <a:t>Suggest</a:t>
            </a:r>
            <a:endParaRPr lang="en-US" sz="1800" dirty="0"/>
          </a:p>
        </p:txBody>
      </p:sp>
      <p:sp>
        <p:nvSpPr>
          <p:cNvPr id="12" name="Text 9"/>
          <p:cNvSpPr/>
          <p:nvPr/>
        </p:nvSpPr>
        <p:spPr>
          <a:xfrm>
            <a:off x="1325880" y="4846320"/>
            <a:ext cx="6309360" cy="548640"/>
          </a:xfrm>
          <a:prstGeom prst="rect">
            <a:avLst/>
          </a:prstGeom>
          <a:noFill/>
          <a:ln/>
        </p:spPr>
        <p:txBody>
          <a:bodyPr wrap="square" lIns="0" tIns="0" rIns="0" bIns="0" rtlCol="0" anchor="ctr"/>
          <a:lstStyle/>
          <a:p>
            <a:pPr indent="0" marL="0">
              <a:buNone/>
            </a:pPr>
            <a:r>
              <a:rPr lang="en-US" sz="1400" dirty="0">
                <a:solidFill>
                  <a:srgbClr val="1B2A3A"/>
                </a:solidFill>
                <a:latin typeface="Helvetica Neue Light" pitchFamily="34" charset="0"/>
                <a:ea typeface="Helvetica Neue Light" pitchFamily="34" charset="-122"/>
                <a:cs typeface="Helvetica Neue Light" pitchFamily="34" charset="-120"/>
              </a:rPr>
              <a:t>The agent proposes steps with sources. The user decides each one.</a:t>
            </a:r>
            <a:endParaRPr lang="en-US" sz="1400" dirty="0"/>
          </a:p>
        </p:txBody>
      </p:sp>
      <p:sp>
        <p:nvSpPr>
          <p:cNvPr id="13" name="Shape 10"/>
          <p:cNvSpPr/>
          <p:nvPr/>
        </p:nvSpPr>
        <p:spPr>
          <a:xfrm>
            <a:off x="1645920" y="5852160"/>
            <a:ext cx="6217920" cy="1371600"/>
          </a:xfrm>
          <a:prstGeom prst="roundRect">
            <a:avLst>
              <a:gd name="adj" fmla="val 5333"/>
            </a:avLst>
          </a:prstGeom>
          <a:solidFill>
            <a:srgbClr val="4F6D5A"/>
          </a:solidFill>
          <a:ln w="12700">
            <a:solidFill>
              <a:srgbClr val="4F6D5A"/>
            </a:solidFill>
            <a:prstDash val="solid"/>
          </a:ln>
        </p:spPr>
        <p:txBody>
          <a:bodyPr/>
          <a:p/>
        </p:txBody>
      </p:sp>
      <p:sp>
        <p:nvSpPr>
          <p:cNvPr id="14" name="Text 11"/>
          <p:cNvSpPr/>
          <p:nvPr/>
        </p:nvSpPr>
        <p:spPr>
          <a:xfrm>
            <a:off x="1874520" y="6035040"/>
            <a:ext cx="5760720" cy="365760"/>
          </a:xfrm>
          <a:prstGeom prst="rect">
            <a:avLst/>
          </a:prstGeom>
          <a:noFill/>
          <a:ln/>
        </p:spPr>
        <p:txBody>
          <a:bodyPr wrap="square" lIns="0" tIns="0" rIns="0" bIns="0" rtlCol="0" anchor="ctr"/>
          <a:lstStyle/>
          <a:p>
            <a:pPr indent="0" marL="0">
              <a:buNone/>
            </a:pPr>
            <a:r>
              <a:rPr lang="en-US" sz="1800" b="1" dirty="0">
                <a:solidFill>
                  <a:srgbClr val="FFFFFF"/>
                </a:solidFill>
                <a:latin typeface="Helvetica Neue Light" pitchFamily="34" charset="0"/>
                <a:ea typeface="Helvetica Neue Light" pitchFamily="34" charset="-122"/>
                <a:cs typeface="Helvetica Neue Light" pitchFamily="34" charset="-120"/>
              </a:rPr>
              <a:t>Act within limits</a:t>
            </a:r>
            <a:endParaRPr lang="en-US" sz="1800" dirty="0"/>
          </a:p>
        </p:txBody>
      </p:sp>
      <p:sp>
        <p:nvSpPr>
          <p:cNvPr id="15" name="Text 12"/>
          <p:cNvSpPr/>
          <p:nvPr/>
        </p:nvSpPr>
        <p:spPr>
          <a:xfrm>
            <a:off x="1874520" y="6492240"/>
            <a:ext cx="5760720" cy="548640"/>
          </a:xfrm>
          <a:prstGeom prst="rect">
            <a:avLst/>
          </a:prstGeom>
          <a:noFill/>
          <a:ln/>
        </p:spPr>
        <p:txBody>
          <a:bodyPr wrap="square" lIns="0" tIns="0" rIns="0" bIns="0" rtlCol="0" anchor="ctr"/>
          <a:lstStyle/>
          <a:p>
            <a:pPr indent="0" marL="0">
              <a:buNone/>
            </a:pPr>
            <a:r>
              <a:rPr lang="en-US" sz="1400" dirty="0">
                <a:solidFill>
                  <a:srgbClr val="FFFFFF"/>
                </a:solidFill>
                <a:latin typeface="Helvetica Neue Light" pitchFamily="34" charset="0"/>
                <a:ea typeface="Helvetica Neue Light" pitchFamily="34" charset="-122"/>
                <a:cs typeface="Helvetica Neue Light" pitchFamily="34" charset="-120"/>
              </a:rPr>
              <a:t>The agent acts inside limits the user set. Every action is logged and can be undone within 48 hours.</a:t>
            </a:r>
            <a:endParaRPr lang="en-US" sz="1400" dirty="0"/>
          </a:p>
        </p:txBody>
      </p:sp>
      <p:sp>
        <p:nvSpPr>
          <p:cNvPr id="16" name="Text 13"/>
          <p:cNvSpPr/>
          <p:nvPr/>
        </p:nvSpPr>
        <p:spPr>
          <a:xfrm>
            <a:off x="8412480" y="2560320"/>
            <a:ext cx="3931920" cy="274320"/>
          </a:xfrm>
          <a:prstGeom prst="rect">
            <a:avLst/>
          </a:prstGeom>
          <a:noFill/>
          <a:ln/>
        </p:spPr>
        <p:txBody>
          <a:bodyPr wrap="square" lIns="0" tIns="0" rIns="0" bIns="0" rtlCol="0" anchor="ctr"/>
          <a:lstStyle/>
          <a:p>
            <a:pPr indent="0" marL="0">
              <a:buNone/>
            </a:pPr>
            <a:r>
              <a:rPr lang="en-US" sz="1280" dirty="0">
                <a:solidFill>
                  <a:srgbClr val="B5532F"/>
                </a:solidFill>
                <a:latin typeface="Helvetica Neue Medium" pitchFamily="34" charset="0"/>
                <a:ea typeface="Helvetica Neue Medium" pitchFamily="34" charset="-122"/>
                <a:cs typeface="Helvetica Neue Medium" pitchFamily="34" charset="-120"/>
              </a:rPr>
              <a:t>GUARDRAILS</a:t>
            </a:r>
            <a:endParaRPr lang="en-US" sz="1280" dirty="0"/>
          </a:p>
        </p:txBody>
      </p:sp>
      <p:sp>
        <p:nvSpPr>
          <p:cNvPr id="17" name="Text 14"/>
          <p:cNvSpPr/>
          <p:nvPr/>
        </p:nvSpPr>
        <p:spPr>
          <a:xfrm>
            <a:off x="8412480" y="2889504"/>
            <a:ext cx="3931920" cy="2926080"/>
          </a:xfrm>
          <a:prstGeom prst="rect">
            <a:avLst/>
          </a:prstGeom>
          <a:noFill/>
          <a:ln/>
        </p:spPr>
        <p:txBody>
          <a:bodyPr wrap="square" lIns="0" tIns="0" rIns="0" bIns="0" rtlCol="0" anchor="t"/>
          <a:lstStyle/>
          <a:p>
            <a:pPr indent="0" marL="0">
              <a:spcAft>
                <a:spcPts val="600"/>
              </a:spcAft>
              <a:buNone/>
            </a:pPr>
            <a:r>
              <a:rPr lang="en-US" sz="1500" dirty="0">
                <a:solidFill>
                  <a:srgbClr val="1B2A3A"/>
                </a:solidFill>
                <a:latin typeface="Helvetica Neue Light" pitchFamily="34" charset="0"/>
                <a:ea typeface="Helvetica Neue Light" pitchFamily="34" charset="-122"/>
                <a:cs typeface="Helvetica Neue Light" pitchFamily="34" charset="-120"/>
              </a:rPr>
              <a:t>Critical alerts always pass.</a:t>
            </a:r>
            <a:endParaRPr lang="en-US" sz="1500" dirty="0"/>
          </a:p>
          <a:p>
            <a:pPr indent="0" marL="0">
              <a:spcAft>
                <a:spcPts val="600"/>
              </a:spcAft>
              <a:buNone/>
            </a:pPr>
            <a:r>
              <a:rPr lang="en-US" sz="1500" dirty="0">
                <a:solidFill>
                  <a:srgbClr val="1B2A3A"/>
                </a:solidFill>
                <a:latin typeface="Helvetica Neue Light" pitchFamily="34" charset="0"/>
                <a:ea typeface="Helvetica Neue Light" pitchFamily="34" charset="-122"/>
                <a:cs typeface="Helvetica Neue Light" pitchFamily="34" charset="-120"/>
              </a:rPr>
              <a:t>The advice line holds: proposed-step wording only.</a:t>
            </a:r>
            <a:endParaRPr lang="en-US" sz="1500" dirty="0"/>
          </a:p>
          <a:p>
            <a:pPr indent="0" marL="0">
              <a:spcAft>
                <a:spcPts val="600"/>
              </a:spcAft>
              <a:buNone/>
            </a:pPr>
            <a:r>
              <a:rPr lang="en-US" sz="1500" dirty="0">
                <a:solidFill>
                  <a:srgbClr val="1B2A3A"/>
                </a:solidFill>
                <a:latin typeface="Helvetica Neue Light" pitchFamily="34" charset="0"/>
                <a:ea typeface="Helvetica Neue Light" pitchFamily="34" charset="-122"/>
                <a:cs typeface="Helvetica Neue Light" pitchFamily="34" charset="-120"/>
              </a:rPr>
              <a:t>Limits belong to the user, not the model.</a:t>
            </a:r>
            <a:endParaRPr lang="en-US" sz="1500" dirty="0"/>
          </a:p>
        </p:txBody>
      </p:sp>
      <p:sp>
        <p:nvSpPr>
          <p:cNvPr id="18" name="Text 15"/>
          <p:cNvSpPr/>
          <p:nvPr/>
        </p:nvSpPr>
        <p:spPr>
          <a:xfrm>
            <a:off x="8412480" y="5303520"/>
            <a:ext cx="3931920" cy="274320"/>
          </a:xfrm>
          <a:prstGeom prst="rect">
            <a:avLst/>
          </a:prstGeom>
          <a:noFill/>
          <a:ln/>
        </p:spPr>
        <p:txBody>
          <a:bodyPr wrap="square" lIns="0" tIns="0" rIns="0" bIns="0" rtlCol="0" anchor="ctr"/>
          <a:lstStyle/>
          <a:p>
            <a:pPr indent="0" marL="0">
              <a:buNone/>
            </a:pPr>
            <a:r>
              <a:rPr lang="en-US" sz="1280" dirty="0">
                <a:solidFill>
                  <a:srgbClr val="4F6D5A"/>
                </a:solidFill>
                <a:latin typeface="Helvetica Neue Medium" pitchFamily="34" charset="0"/>
                <a:ea typeface="Helvetica Neue Medium" pitchFamily="34" charset="-122"/>
                <a:cs typeface="Helvetica Neue Medium" pitchFamily="34" charset="-120"/>
              </a:rPr>
              <a:t>WHY IT SCALES</a:t>
            </a:r>
            <a:endParaRPr lang="en-US" sz="1280" dirty="0"/>
          </a:p>
        </p:txBody>
      </p:sp>
      <p:sp>
        <p:nvSpPr>
          <p:cNvPr id="19" name="Text 16"/>
          <p:cNvSpPr/>
          <p:nvPr/>
        </p:nvSpPr>
        <p:spPr>
          <a:xfrm>
            <a:off x="8412480" y="5632704"/>
            <a:ext cx="3931920" cy="2926080"/>
          </a:xfrm>
          <a:prstGeom prst="rect">
            <a:avLst/>
          </a:prstGeom>
          <a:noFill/>
          <a:ln/>
        </p:spPr>
        <p:txBody>
          <a:bodyPr wrap="square" lIns="0" tIns="0" rIns="0" bIns="0" rtlCol="0" anchor="t"/>
          <a:lstStyle/>
          <a:p>
            <a:pPr indent="0" marL="0">
              <a:spcAft>
                <a:spcPts val="600"/>
              </a:spcAft>
              <a:buNone/>
            </a:pPr>
            <a:r>
              <a:rPr lang="en-US" sz="1500" dirty="0">
                <a:solidFill>
                  <a:srgbClr val="1B2A3A"/>
                </a:solidFill>
                <a:latin typeface="Helvetica Neue Light" pitchFamily="34" charset="0"/>
                <a:ea typeface="Helvetica Neue Light" pitchFamily="34" charset="-122"/>
                <a:cs typeface="Helvetica Neue Light" pitchFamily="34" charset="-120"/>
              </a:rPr>
              <a:t>The same three levels apply to every goal and every new agent surface.</a:t>
            </a:r>
            <a:endParaRPr lang="en-US" sz="1500" dirty="0"/>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48640" y="411480"/>
            <a:ext cx="11905488" cy="320040"/>
          </a:xfrm>
          <a:prstGeom prst="rect">
            <a:avLst/>
          </a:prstGeom>
          <a:noFill/>
          <a:ln/>
        </p:spPr>
        <p:txBody>
          <a:bodyPr wrap="square" lIns="0" tIns="0" rIns="0" bIns="0" rtlCol="0" anchor="ctr"/>
          <a:lstStyle/>
          <a:p>
            <a:pPr indent="0" marL="0">
              <a:buNone/>
            </a:pPr>
            <a:r>
              <a:rPr lang="en-US" sz="1400" dirty="0">
                <a:solidFill>
                  <a:srgbClr val="1B2A3A"/>
                </a:solidFill>
                <a:latin typeface="Helvetica Neue Light" pitchFamily="34" charset="0"/>
                <a:ea typeface="Helvetica Neue Light" pitchFamily="34" charset="-122"/>
                <a:cs typeface="Helvetica Neue Light" pitchFamily="34" charset="-120"/>
              </a:rPr>
              <a:t>MERIDIAN NAVIGATOR · AGENT EXPERIENCE</a:t>
            </a:r>
            <a:endParaRPr lang="en-US" sz="1400" dirty="0"/>
          </a:p>
        </p:txBody>
      </p:sp>
      <p:sp>
        <p:nvSpPr>
          <p:cNvPr id="3" name="Text 1"/>
          <p:cNvSpPr/>
          <p:nvPr/>
        </p:nvSpPr>
        <p:spPr>
          <a:xfrm>
            <a:off x="548640" y="914400"/>
            <a:ext cx="11905488" cy="731520"/>
          </a:xfrm>
          <a:prstGeom prst="rect">
            <a:avLst/>
          </a:prstGeom>
          <a:noFill/>
          <a:ln/>
        </p:spPr>
        <p:txBody>
          <a:bodyPr wrap="square" lIns="0" tIns="0" rIns="0" bIns="0" rtlCol="0" anchor="t"/>
          <a:lstStyle/>
          <a:p>
            <a:pPr indent="0" marL="0">
              <a:buNone/>
            </a:pPr>
            <a:r>
              <a:rPr lang="en-US" sz="3000" dirty="0">
                <a:solidFill>
                  <a:srgbClr val="1B2A3A"/>
                </a:solidFill>
                <a:latin typeface="Helvetica Neue Light" pitchFamily="34" charset="0"/>
                <a:ea typeface="Helvetica Neue Light" pitchFamily="34" charset="-122"/>
                <a:cs typeface="Helvetica Neue Light" pitchFamily="34" charset="-120"/>
              </a:rPr>
              <a:t>How agentic support scales across the product</a:t>
            </a:r>
            <a:endParaRPr lang="en-US" sz="3000" dirty="0"/>
          </a:p>
        </p:txBody>
      </p:sp>
      <p:sp>
        <p:nvSpPr>
          <p:cNvPr id="4" name="Text 2"/>
          <p:cNvSpPr/>
          <p:nvPr/>
        </p:nvSpPr>
        <p:spPr>
          <a:xfrm>
            <a:off x="548640" y="1645920"/>
            <a:ext cx="11905488" cy="365760"/>
          </a:xfrm>
          <a:prstGeom prst="rect">
            <a:avLst/>
          </a:prstGeom>
          <a:noFill/>
          <a:ln/>
        </p:spPr>
        <p:txBody>
          <a:bodyPr wrap="square" lIns="0" tIns="0" rIns="0" bIns="0" rtlCol="0" anchor="ctr"/>
          <a:lstStyle/>
          <a:p>
            <a:pPr indent="0" marL="0">
              <a:buNone/>
            </a:pPr>
            <a:r>
              <a:rPr lang="en-US" sz="1600" dirty="0">
                <a:solidFill>
                  <a:srgbClr val="595959"/>
                </a:solidFill>
                <a:latin typeface="Helvetica Neue Light" pitchFamily="34" charset="0"/>
                <a:ea typeface="Helvetica Neue Light" pitchFamily="34" charset="-122"/>
                <a:cs typeface="Helvetica Neue Light" pitchFamily="34" charset="-120"/>
              </a:rPr>
              <a:t>One token source, one component registry, and one set of AI rules, shared by every surface.</a:t>
            </a:r>
            <a:endParaRPr lang="en-US" sz="1600" dirty="0"/>
          </a:p>
        </p:txBody>
      </p:sp>
      <p:pic>
        <p:nvPicPr>
          <p:cNvPr id="5" name="Picture 4" descr="image.png"/>
          <p:cNvPicPr>
            <a:picLocks noChangeAspect="1"/>
          </p:cNvPicPr>
          <p:nvPr/>
        </p:nvPicPr>
        <p:blipFill>
          <a:blip r:embed="rId2"/>
          <a:stretch>
            <a:fillRect/>
          </a:stretch>
        </p:blipFill>
        <p:spPr>
          <a:xfrm>
            <a:off x="0" y="9299448"/>
            <a:ext cx="13002768" cy="457200"/>
          </a:xfrm>
          <a:prstGeom prst="rect">
            <a:avLst/>
          </a:prstGeom>
        </p:spPr>
      </p:pic>
      <p:sp>
        <p:nvSpPr>
          <p:cNvPr id="6" name="Text 3"/>
          <p:cNvSpPr/>
          <p:nvPr/>
        </p:nvSpPr>
        <p:spPr>
          <a:xfrm>
            <a:off x="548640" y="8778240"/>
            <a:ext cx="11905488" cy="320040"/>
          </a:xfrm>
          <a:prstGeom prst="rect">
            <a:avLst/>
          </a:prstGeom>
          <a:noFill/>
          <a:ln/>
        </p:spPr>
        <p:txBody>
          <a:bodyPr wrap="square" lIns="0" tIns="0" rIns="0" bIns="0" rtlCol="0" anchor="ctr"/>
          <a:lstStyle/>
          <a:p>
            <a:pPr indent="0" marL="0">
              <a:buNone/>
            </a:pPr>
            <a:r>
              <a:rPr lang="en-US" sz="1200" dirty="0">
                <a:solidFill>
                  <a:srgbClr val="595959"/>
                </a:solidFill>
                <a:latin typeface="Helvetica Neue Light" pitchFamily="34" charset="0"/>
                <a:ea typeface="Helvetica Neue Light" pitchFamily="34" charset="-122"/>
                <a:cs typeface="Helvetica Neue Light" pitchFamily="34" charset="-120"/>
              </a:rPr>
              <a:t>Portfolio prototype. Mock data. Hypotheses until validated. Proposed-step language only.</a:t>
            </a:r>
            <a:endParaRPr lang="en-US" sz="1200" dirty="0"/>
          </a:p>
        </p:txBody>
      </p:sp>
      <p:sp>
        <p:nvSpPr>
          <p:cNvPr id="7" name="Shape 4"/>
          <p:cNvSpPr/>
          <p:nvPr/>
        </p:nvSpPr>
        <p:spPr>
          <a:xfrm>
            <a:off x="548640" y="2560320"/>
            <a:ext cx="2651760" cy="2377440"/>
          </a:xfrm>
          <a:prstGeom prst="roundRect">
            <a:avLst>
              <a:gd name="adj" fmla="val 3077"/>
            </a:avLst>
          </a:prstGeom>
          <a:solidFill>
            <a:srgbClr val="FFFFFF"/>
          </a:solidFill>
          <a:ln w="12700">
            <a:solidFill>
              <a:srgbClr val="4F6D5A"/>
            </a:solidFill>
            <a:prstDash val="solid"/>
          </a:ln>
        </p:spPr>
        <p:txBody>
          <a:bodyPr/>
          <a:p/>
        </p:txBody>
      </p:sp>
      <p:sp>
        <p:nvSpPr>
          <p:cNvPr id="8" name="Text 5"/>
          <p:cNvSpPr/>
          <p:nvPr/>
        </p:nvSpPr>
        <p:spPr>
          <a:xfrm>
            <a:off x="731520" y="2743200"/>
            <a:ext cx="2286000" cy="457200"/>
          </a:xfrm>
          <a:prstGeom prst="rect">
            <a:avLst/>
          </a:prstGeom>
          <a:noFill/>
          <a:ln/>
        </p:spPr>
        <p:txBody>
          <a:bodyPr wrap="square" lIns="0" tIns="0" rIns="0" bIns="0" rtlCol="0" anchor="ctr"/>
          <a:lstStyle/>
          <a:p>
            <a:pPr indent="0" marL="0">
              <a:buNone/>
            </a:pPr>
            <a:r>
              <a:rPr lang="en-US" sz="1800" b="1" dirty="0">
                <a:solidFill>
                  <a:srgbClr val="1B2A3A"/>
                </a:solidFill>
                <a:latin typeface="Helvetica Neue Light" pitchFamily="34" charset="0"/>
                <a:ea typeface="Helvetica Neue Light" pitchFamily="34" charset="-122"/>
                <a:cs typeface="Helvetica Neue Light" pitchFamily="34" charset="-120"/>
              </a:rPr>
              <a:t>Tokens</a:t>
            </a:r>
            <a:endParaRPr lang="en-US" sz="1800" dirty="0"/>
          </a:p>
        </p:txBody>
      </p:sp>
      <p:sp>
        <p:nvSpPr>
          <p:cNvPr id="9" name="Text 6"/>
          <p:cNvSpPr/>
          <p:nvPr/>
        </p:nvSpPr>
        <p:spPr>
          <a:xfrm>
            <a:off x="731520" y="3291840"/>
            <a:ext cx="2286000" cy="1554480"/>
          </a:xfrm>
          <a:prstGeom prst="rect">
            <a:avLst/>
          </a:prstGeom>
          <a:noFill/>
          <a:ln/>
        </p:spPr>
        <p:txBody>
          <a:bodyPr wrap="square" lIns="0" tIns="0" rIns="0" bIns="0" rtlCol="0" anchor="t"/>
          <a:lstStyle/>
          <a:p>
            <a:pPr indent="0" marL="0">
              <a:buNone/>
            </a:pPr>
            <a:r>
              <a:rPr lang="en-US" sz="1400" dirty="0">
                <a:solidFill>
                  <a:srgbClr val="1B2A3A"/>
                </a:solidFill>
                <a:latin typeface="Helvetica Neue Light" pitchFamily="34" charset="0"/>
                <a:ea typeface="Helvetica Neue Light" pitchFamily="34" charset="-122"/>
                <a:cs typeface="Helvetica Neue Light" pitchFamily="34" charset="-120"/>
              </a:rPr>
              <a:t>One source for colour, type, and spacing, shared by Figma and Swift.</a:t>
            </a:r>
            <a:endParaRPr lang="en-US" sz="1400" dirty="0"/>
          </a:p>
        </p:txBody>
      </p:sp>
      <p:sp>
        <p:nvSpPr>
          <p:cNvPr id="10" name="Text 7"/>
          <p:cNvSpPr/>
          <p:nvPr/>
        </p:nvSpPr>
        <p:spPr>
          <a:xfrm>
            <a:off x="3200400" y="3474720"/>
            <a:ext cx="457200" cy="548640"/>
          </a:xfrm>
          <a:prstGeom prst="rect">
            <a:avLst/>
          </a:prstGeom>
          <a:noFill/>
          <a:ln/>
        </p:spPr>
        <p:txBody>
          <a:bodyPr wrap="square" lIns="0" tIns="0" rIns="0" bIns="0" rtlCol="0" anchor="ctr"/>
          <a:lstStyle/>
          <a:p>
            <a:pPr algn="ctr" indent="0" marL="0">
              <a:buNone/>
            </a:pPr>
            <a:r>
              <a:rPr lang="en-US" sz="2400" dirty="0">
                <a:solidFill>
                  <a:srgbClr val="595959"/>
                </a:solidFill>
                <a:latin typeface="Helvetica Neue Light" pitchFamily="34" charset="0"/>
                <a:ea typeface="Helvetica Neue Light" pitchFamily="34" charset="-122"/>
                <a:cs typeface="Helvetica Neue Light" pitchFamily="34" charset="-120"/>
              </a:rPr>
              <a:t>→</a:t>
            </a:r>
            <a:endParaRPr lang="en-US" sz="2400" dirty="0"/>
          </a:p>
        </p:txBody>
      </p:sp>
      <p:sp>
        <p:nvSpPr>
          <p:cNvPr id="11" name="Shape 8"/>
          <p:cNvSpPr/>
          <p:nvPr/>
        </p:nvSpPr>
        <p:spPr>
          <a:xfrm>
            <a:off x="3657600" y="2560320"/>
            <a:ext cx="2651760" cy="2377440"/>
          </a:xfrm>
          <a:prstGeom prst="roundRect">
            <a:avLst>
              <a:gd name="adj" fmla="val 3077"/>
            </a:avLst>
          </a:prstGeom>
          <a:solidFill>
            <a:srgbClr val="FFFFFF"/>
          </a:solidFill>
          <a:ln w="12700">
            <a:solidFill>
              <a:srgbClr val="4F6D5A"/>
            </a:solidFill>
            <a:prstDash val="solid"/>
          </a:ln>
        </p:spPr>
        <p:txBody>
          <a:bodyPr/>
          <a:p/>
        </p:txBody>
      </p:sp>
      <p:sp>
        <p:nvSpPr>
          <p:cNvPr id="12" name="Text 9"/>
          <p:cNvSpPr/>
          <p:nvPr/>
        </p:nvSpPr>
        <p:spPr>
          <a:xfrm>
            <a:off x="3840480" y="2743200"/>
            <a:ext cx="2286000" cy="457200"/>
          </a:xfrm>
          <a:prstGeom prst="rect">
            <a:avLst/>
          </a:prstGeom>
          <a:noFill/>
          <a:ln/>
        </p:spPr>
        <p:txBody>
          <a:bodyPr wrap="square" lIns="0" tIns="0" rIns="0" bIns="0" rtlCol="0" anchor="ctr"/>
          <a:lstStyle/>
          <a:p>
            <a:pPr indent="0" marL="0">
              <a:buNone/>
            </a:pPr>
            <a:r>
              <a:rPr lang="en-US" sz="1800" b="1" dirty="0">
                <a:solidFill>
                  <a:srgbClr val="1B2A3A"/>
                </a:solidFill>
                <a:latin typeface="Helvetica Neue Light" pitchFamily="34" charset="0"/>
                <a:ea typeface="Helvetica Neue Light" pitchFamily="34" charset="-122"/>
                <a:cs typeface="Helvetica Neue Light" pitchFamily="34" charset="-120"/>
              </a:rPr>
              <a:t>Components</a:t>
            </a:r>
            <a:endParaRPr lang="en-US" sz="1800" dirty="0"/>
          </a:p>
        </p:txBody>
      </p:sp>
      <p:sp>
        <p:nvSpPr>
          <p:cNvPr id="13" name="Text 10"/>
          <p:cNvSpPr/>
          <p:nvPr/>
        </p:nvSpPr>
        <p:spPr>
          <a:xfrm>
            <a:off x="3840480" y="3291840"/>
            <a:ext cx="2286000" cy="1554480"/>
          </a:xfrm>
          <a:prstGeom prst="rect">
            <a:avLst/>
          </a:prstGeom>
          <a:noFill/>
          <a:ln/>
        </p:spPr>
        <p:txBody>
          <a:bodyPr wrap="square" lIns="0" tIns="0" rIns="0" bIns="0" rtlCol="0" anchor="t"/>
          <a:lstStyle/>
          <a:p>
            <a:pPr indent="0" marL="0">
              <a:buNone/>
            </a:pPr>
            <a:r>
              <a:rPr lang="en-US" sz="1400" dirty="0">
                <a:solidFill>
                  <a:srgbClr val="1B2A3A"/>
                </a:solidFill>
                <a:latin typeface="Helvetica Neue Light" pitchFamily="34" charset="0"/>
                <a:ea typeface="Helvetica Neue Light" pitchFamily="34" charset="-122"/>
                <a:cs typeface="Helvetica Neue Light" pitchFamily="34" charset="-120"/>
              </a:rPr>
              <a:t>Existing, Extended, or New. New components go through review first.</a:t>
            </a:r>
            <a:endParaRPr lang="en-US" sz="1400" dirty="0"/>
          </a:p>
        </p:txBody>
      </p:sp>
      <p:sp>
        <p:nvSpPr>
          <p:cNvPr id="14" name="Text 11"/>
          <p:cNvSpPr/>
          <p:nvPr/>
        </p:nvSpPr>
        <p:spPr>
          <a:xfrm>
            <a:off x="6309360" y="3474720"/>
            <a:ext cx="457200" cy="548640"/>
          </a:xfrm>
          <a:prstGeom prst="rect">
            <a:avLst/>
          </a:prstGeom>
          <a:noFill/>
          <a:ln/>
        </p:spPr>
        <p:txBody>
          <a:bodyPr wrap="square" lIns="0" tIns="0" rIns="0" bIns="0" rtlCol="0" anchor="ctr"/>
          <a:lstStyle/>
          <a:p>
            <a:pPr algn="ctr" indent="0" marL="0">
              <a:buNone/>
            </a:pPr>
            <a:r>
              <a:rPr lang="en-US" sz="2400" dirty="0">
                <a:solidFill>
                  <a:srgbClr val="595959"/>
                </a:solidFill>
                <a:latin typeface="Helvetica Neue Light" pitchFamily="34" charset="0"/>
                <a:ea typeface="Helvetica Neue Light" pitchFamily="34" charset="-122"/>
                <a:cs typeface="Helvetica Neue Light" pitchFamily="34" charset="-120"/>
              </a:rPr>
              <a:t>→</a:t>
            </a:r>
            <a:endParaRPr lang="en-US" sz="2400" dirty="0"/>
          </a:p>
        </p:txBody>
      </p:sp>
      <p:sp>
        <p:nvSpPr>
          <p:cNvPr id="15" name="Shape 12"/>
          <p:cNvSpPr/>
          <p:nvPr/>
        </p:nvSpPr>
        <p:spPr>
          <a:xfrm>
            <a:off x="6766560" y="2560320"/>
            <a:ext cx="2651760" cy="2377440"/>
          </a:xfrm>
          <a:prstGeom prst="roundRect">
            <a:avLst>
              <a:gd name="adj" fmla="val 3077"/>
            </a:avLst>
          </a:prstGeom>
          <a:solidFill>
            <a:srgbClr val="FFFFFF"/>
          </a:solidFill>
          <a:ln w="12700">
            <a:solidFill>
              <a:srgbClr val="4F6D5A"/>
            </a:solidFill>
            <a:prstDash val="solid"/>
          </a:ln>
        </p:spPr>
        <p:txBody>
          <a:bodyPr/>
          <a:p/>
        </p:txBody>
      </p:sp>
      <p:sp>
        <p:nvSpPr>
          <p:cNvPr id="16" name="Text 13"/>
          <p:cNvSpPr/>
          <p:nvPr/>
        </p:nvSpPr>
        <p:spPr>
          <a:xfrm>
            <a:off x="6949440" y="2743200"/>
            <a:ext cx="2286000" cy="457200"/>
          </a:xfrm>
          <a:prstGeom prst="rect">
            <a:avLst/>
          </a:prstGeom>
          <a:noFill/>
          <a:ln/>
        </p:spPr>
        <p:txBody>
          <a:bodyPr wrap="square" lIns="0" tIns="0" rIns="0" bIns="0" rtlCol="0" anchor="ctr"/>
          <a:lstStyle/>
          <a:p>
            <a:pPr indent="0" marL="0">
              <a:buNone/>
            </a:pPr>
            <a:r>
              <a:rPr lang="en-US" sz="1800" b="1" dirty="0">
                <a:solidFill>
                  <a:srgbClr val="1B2A3A"/>
                </a:solidFill>
                <a:latin typeface="Helvetica Neue Light" pitchFamily="34" charset="0"/>
                <a:ea typeface="Helvetica Neue Light" pitchFamily="34" charset="-122"/>
                <a:cs typeface="Helvetica Neue Light" pitchFamily="34" charset="-120"/>
              </a:rPr>
              <a:t>Screens</a:t>
            </a:r>
            <a:endParaRPr lang="en-US" sz="1800" dirty="0"/>
          </a:p>
        </p:txBody>
      </p:sp>
      <p:sp>
        <p:nvSpPr>
          <p:cNvPr id="17" name="Text 14"/>
          <p:cNvSpPr/>
          <p:nvPr/>
        </p:nvSpPr>
        <p:spPr>
          <a:xfrm>
            <a:off x="6949440" y="3291840"/>
            <a:ext cx="2286000" cy="1554480"/>
          </a:xfrm>
          <a:prstGeom prst="rect">
            <a:avLst/>
          </a:prstGeom>
          <a:noFill/>
          <a:ln/>
        </p:spPr>
        <p:txBody>
          <a:bodyPr wrap="square" lIns="0" tIns="0" rIns="0" bIns="0" rtlCol="0" anchor="t"/>
          <a:lstStyle/>
          <a:p>
            <a:pPr indent="0" marL="0">
              <a:buNone/>
            </a:pPr>
            <a:r>
              <a:rPr lang="en-US" sz="1400" dirty="0">
                <a:solidFill>
                  <a:srgbClr val="1B2A3A"/>
                </a:solidFill>
                <a:latin typeface="Helvetica Neue Light" pitchFamily="34" charset="0"/>
                <a:ea typeface="Helvetica Neue Light" pitchFamily="34" charset="-122"/>
                <a:cs typeface="Helvetica Neue Light" pitchFamily="34" charset="-120"/>
              </a:rPr>
              <a:t>Five screens, each with empty, loading, error, and offline states.</a:t>
            </a:r>
            <a:endParaRPr lang="en-US" sz="1400" dirty="0"/>
          </a:p>
        </p:txBody>
      </p:sp>
      <p:sp>
        <p:nvSpPr>
          <p:cNvPr id="18" name="Text 15"/>
          <p:cNvSpPr/>
          <p:nvPr/>
        </p:nvSpPr>
        <p:spPr>
          <a:xfrm>
            <a:off x="9418320" y="3474720"/>
            <a:ext cx="457200" cy="548640"/>
          </a:xfrm>
          <a:prstGeom prst="rect">
            <a:avLst/>
          </a:prstGeom>
          <a:noFill/>
          <a:ln/>
        </p:spPr>
        <p:txBody>
          <a:bodyPr wrap="square" lIns="0" tIns="0" rIns="0" bIns="0" rtlCol="0" anchor="ctr"/>
          <a:lstStyle/>
          <a:p>
            <a:pPr algn="ctr" indent="0" marL="0">
              <a:buNone/>
            </a:pPr>
            <a:r>
              <a:rPr lang="en-US" sz="2400" dirty="0">
                <a:solidFill>
                  <a:srgbClr val="595959"/>
                </a:solidFill>
                <a:latin typeface="Helvetica Neue Light" pitchFamily="34" charset="0"/>
                <a:ea typeface="Helvetica Neue Light" pitchFamily="34" charset="-122"/>
                <a:cs typeface="Helvetica Neue Light" pitchFamily="34" charset="-120"/>
              </a:rPr>
              <a:t>→</a:t>
            </a:r>
            <a:endParaRPr lang="en-US" sz="2400" dirty="0"/>
          </a:p>
        </p:txBody>
      </p:sp>
      <p:sp>
        <p:nvSpPr>
          <p:cNvPr id="19" name="Shape 16"/>
          <p:cNvSpPr/>
          <p:nvPr/>
        </p:nvSpPr>
        <p:spPr>
          <a:xfrm>
            <a:off x="9875520" y="2560320"/>
            <a:ext cx="2651760" cy="2377440"/>
          </a:xfrm>
          <a:prstGeom prst="roundRect">
            <a:avLst>
              <a:gd name="adj" fmla="val 3077"/>
            </a:avLst>
          </a:prstGeom>
          <a:solidFill>
            <a:srgbClr val="FFFFFF"/>
          </a:solidFill>
          <a:ln w="12700">
            <a:solidFill>
              <a:srgbClr val="4F6D5A"/>
            </a:solidFill>
            <a:prstDash val="solid"/>
          </a:ln>
        </p:spPr>
        <p:txBody>
          <a:bodyPr/>
          <a:p/>
        </p:txBody>
      </p:sp>
      <p:sp>
        <p:nvSpPr>
          <p:cNvPr id="20" name="Text 17"/>
          <p:cNvSpPr/>
          <p:nvPr/>
        </p:nvSpPr>
        <p:spPr>
          <a:xfrm>
            <a:off x="10058400" y="2743200"/>
            <a:ext cx="2286000" cy="457200"/>
          </a:xfrm>
          <a:prstGeom prst="rect">
            <a:avLst/>
          </a:prstGeom>
          <a:noFill/>
          <a:ln/>
        </p:spPr>
        <p:txBody>
          <a:bodyPr wrap="square" lIns="0" tIns="0" rIns="0" bIns="0" rtlCol="0" anchor="ctr"/>
          <a:lstStyle/>
          <a:p>
            <a:pPr indent="0" marL="0">
              <a:buNone/>
            </a:pPr>
            <a:r>
              <a:rPr lang="en-US" sz="1800" b="1" dirty="0">
                <a:solidFill>
                  <a:srgbClr val="1B2A3A"/>
                </a:solidFill>
                <a:latin typeface="Helvetica Neue Light" pitchFamily="34" charset="0"/>
                <a:ea typeface="Helvetica Neue Light" pitchFamily="34" charset="-122"/>
                <a:cs typeface="Helvetica Neue Light" pitchFamily="34" charset="-120"/>
              </a:rPr>
              <a:t>Agent surfaces</a:t>
            </a:r>
            <a:endParaRPr lang="en-US" sz="1800" dirty="0"/>
          </a:p>
        </p:txBody>
      </p:sp>
      <p:sp>
        <p:nvSpPr>
          <p:cNvPr id="21" name="Text 18"/>
          <p:cNvSpPr/>
          <p:nvPr/>
        </p:nvSpPr>
        <p:spPr>
          <a:xfrm>
            <a:off x="10058400" y="3291840"/>
            <a:ext cx="2286000" cy="1554480"/>
          </a:xfrm>
          <a:prstGeom prst="rect">
            <a:avLst/>
          </a:prstGeom>
          <a:noFill/>
          <a:ln/>
        </p:spPr>
        <p:txBody>
          <a:bodyPr wrap="square" lIns="0" tIns="0" rIns="0" bIns="0" rtlCol="0" anchor="t"/>
          <a:lstStyle/>
          <a:p>
            <a:pPr indent="0" marL="0">
              <a:buNone/>
            </a:pPr>
            <a:r>
              <a:rPr lang="en-US" sz="1400" dirty="0">
                <a:solidFill>
                  <a:srgbClr val="1B2A3A"/>
                </a:solidFill>
                <a:latin typeface="Helvetica Neue Light" pitchFamily="34" charset="0"/>
                <a:ea typeface="Helvetica Neue Light" pitchFamily="34" charset="-122"/>
                <a:cs typeface="Helvetica Neue Light" pitchFamily="34" charset="-120"/>
              </a:rPr>
              <a:t>Any new AI feature reuses the same levels, limits, and proposed-step wording.</a:t>
            </a:r>
            <a:endParaRPr lang="en-US" sz="1400" dirty="0"/>
          </a:p>
        </p:txBody>
      </p:sp>
      <p:sp>
        <p:nvSpPr>
          <p:cNvPr id="22" name="Text 19"/>
          <p:cNvSpPr/>
          <p:nvPr/>
        </p:nvSpPr>
        <p:spPr>
          <a:xfrm>
            <a:off x="548640" y="5394960"/>
            <a:ext cx="5486400" cy="274320"/>
          </a:xfrm>
          <a:prstGeom prst="rect">
            <a:avLst/>
          </a:prstGeom>
          <a:noFill/>
          <a:ln/>
        </p:spPr>
        <p:txBody>
          <a:bodyPr wrap="square" lIns="0" tIns="0" rIns="0" bIns="0" rtlCol="0" anchor="ctr"/>
          <a:lstStyle/>
          <a:p>
            <a:pPr indent="0" marL="0">
              <a:buNone/>
            </a:pPr>
            <a:r>
              <a:rPr lang="en-US" sz="1280" dirty="0">
                <a:solidFill>
                  <a:srgbClr val="B5532F"/>
                </a:solidFill>
                <a:latin typeface="Helvetica Neue Medium" pitchFamily="34" charset="0"/>
                <a:ea typeface="Helvetica Neue Medium" pitchFamily="34" charset="-122"/>
                <a:cs typeface="Helvetica Neue Medium" pitchFamily="34" charset="-120"/>
              </a:rPr>
              <a:t>THE AGENTIC STORY</a:t>
            </a:r>
            <a:endParaRPr lang="en-US" sz="1280" dirty="0"/>
          </a:p>
        </p:txBody>
      </p:sp>
      <p:sp>
        <p:nvSpPr>
          <p:cNvPr id="23" name="Text 20"/>
          <p:cNvSpPr/>
          <p:nvPr/>
        </p:nvSpPr>
        <p:spPr>
          <a:xfrm>
            <a:off x="548640" y="5724144"/>
            <a:ext cx="5486400" cy="2926080"/>
          </a:xfrm>
          <a:prstGeom prst="rect">
            <a:avLst/>
          </a:prstGeom>
          <a:noFill/>
          <a:ln/>
        </p:spPr>
        <p:txBody>
          <a:bodyPr wrap="square" lIns="0" tIns="0" rIns="0" bIns="0" rtlCol="0" anchor="t"/>
          <a:lstStyle/>
          <a:p>
            <a:pPr indent="0" marL="0">
              <a:spcAft>
                <a:spcPts val="600"/>
              </a:spcAft>
              <a:buNone/>
            </a:pPr>
            <a:r>
              <a:rPr lang="en-US" sz="1500" dirty="0">
                <a:solidFill>
                  <a:srgbClr val="1B2A3A"/>
                </a:solidFill>
                <a:latin typeface="Helvetica Neue Light" pitchFamily="34" charset="0"/>
                <a:ea typeface="Helvetica Neue Light" pitchFamily="34" charset="-122"/>
                <a:cs typeface="Helvetica Neue Light" pitchFamily="34" charset="-120"/>
              </a:rPr>
              <a:t>AI features are built from these parts, not one-off screens. Each new agent surface reuses the rules, so the product scales without losing the user’s control.</a:t>
            </a:r>
            <a:endParaRPr lang="en-US" sz="1500" dirty="0"/>
          </a:p>
        </p:txBody>
      </p:sp>
      <p:sp>
        <p:nvSpPr>
          <p:cNvPr id="24" name="Text 21"/>
          <p:cNvSpPr/>
          <p:nvPr/>
        </p:nvSpPr>
        <p:spPr>
          <a:xfrm>
            <a:off x="6400800" y="5394960"/>
            <a:ext cx="6035040" cy="274320"/>
          </a:xfrm>
          <a:prstGeom prst="rect">
            <a:avLst/>
          </a:prstGeom>
          <a:noFill/>
          <a:ln/>
        </p:spPr>
        <p:txBody>
          <a:bodyPr wrap="square" lIns="0" tIns="0" rIns="0" bIns="0" rtlCol="0" anchor="ctr"/>
          <a:lstStyle/>
          <a:p>
            <a:pPr indent="0" marL="0">
              <a:buNone/>
            </a:pPr>
            <a:r>
              <a:rPr lang="en-US" sz="1280" dirty="0">
                <a:solidFill>
                  <a:srgbClr val="2F4257"/>
                </a:solidFill>
                <a:latin typeface="Helvetica Neue Medium" pitchFamily="34" charset="0"/>
                <a:ea typeface="Helvetica Neue Medium" pitchFamily="34" charset="-122"/>
                <a:cs typeface="Helvetica Neue Medium" pitchFamily="34" charset="-120"/>
              </a:rPr>
              <a:t>WHAT IT SHOWS ABOUT MY LEADERSHIP</a:t>
            </a:r>
            <a:endParaRPr lang="en-US" sz="1280" dirty="0"/>
          </a:p>
        </p:txBody>
      </p:sp>
      <p:sp>
        <p:nvSpPr>
          <p:cNvPr id="25" name="Text 22"/>
          <p:cNvSpPr/>
          <p:nvPr/>
        </p:nvSpPr>
        <p:spPr>
          <a:xfrm>
            <a:off x="6400800" y="5724144"/>
            <a:ext cx="6035040" cy="2926080"/>
          </a:xfrm>
          <a:prstGeom prst="rect">
            <a:avLst/>
          </a:prstGeom>
          <a:noFill/>
          <a:ln/>
        </p:spPr>
        <p:txBody>
          <a:bodyPr wrap="square" lIns="0" tIns="0" rIns="0" bIns="0" rtlCol="0" anchor="t"/>
          <a:lstStyle/>
          <a:p>
            <a:pPr indent="0" marL="0">
              <a:spcAft>
                <a:spcPts val="600"/>
              </a:spcAft>
              <a:buNone/>
            </a:pPr>
            <a:r>
              <a:rPr lang="en-US" sz="1500" dirty="0">
                <a:solidFill>
                  <a:srgbClr val="1B2A3A"/>
                </a:solidFill>
                <a:latin typeface="Helvetica Neue Light" pitchFamily="34" charset="0"/>
                <a:ea typeface="Helvetica Neue Light" pitchFamily="34" charset="-122"/>
                <a:cs typeface="Helvetica Neue Light" pitchFamily="34" charset="-120"/>
              </a:rPr>
              <a:t>I designed the system that lets agentic support be built at scale, and I wrote its rules before the screens.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132</TotalTime>
  <Words>9541</Words>
  <Application>Microsoft Macintosh PowerPoint</Application>
  <PresentationFormat>Custom</PresentationFormat>
  <Paragraphs>1194</Paragraphs>
  <Slides>87</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87</vt:i4>
      </vt:variant>
    </vt:vector>
  </HeadingPairs>
  <TitlesOfParts>
    <vt:vector size="93" baseType="lpstr">
      <vt:lpstr>Aptos</vt:lpstr>
      <vt:lpstr>Arial</vt:lpstr>
      <vt:lpstr>Calibri</vt:lpstr>
      <vt:lpstr>Helvetica Neue Light</vt:lpstr>
      <vt:lpstr>Helvetica Neue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Michael Thibodeau</cp:lastModifiedBy>
  <cp:revision>32</cp:revision>
  <dcterms:created xsi:type="dcterms:W3CDTF">2013-01-27T09:14:16Z</dcterms:created>
  <dcterms:modified xsi:type="dcterms:W3CDTF">2026-10-14T01:12:06Z</dcterms:modified>
  <cp:category/>
</cp:coreProperties>
</file>
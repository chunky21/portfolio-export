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3"/>
  </p:notesMasterIdLst>
  <p:sldIdLst>
    <p:sldId id="256" r:id="rId2"/>
    <p:sldId id="336" r:id="rId3"/>
    <p:sldId id="338" r:id="rId5"/>
    <p:sldId id="340" r:id="rId7"/>
    <p:sldId id="437" r:id="rId42"/>
    <p:sldId id="344" r:id="rId11"/>
    <p:sldId id="346" r:id="rId13"/>
    <p:sldId id="351" r:id="rId16"/>
    <p:sldId id="349" r:id="rId17"/>
    <p:sldId id="352" r:id="rId20"/>
    <p:sldId id="354" r:id="rId22"/>
    <p:sldId id="357" r:id="rId25"/>
    <p:sldId id="359" r:id="rId27"/>
    <p:sldId id="361" r:id="rId29"/>
    <p:sldId id="363" r:id="rId31"/>
    <p:sldId id="368" r:id="rId19"/>
    <p:sldId id="373" r:id="rId40"/>
    <p:sldId id="374" r:id="rId41"/>
    <p:sldId id="377" r:id="rId44"/>
    <p:sldId id="378" r:id="rId45"/>
    <p:sldId id="379" r:id="rId46"/>
    <p:sldId id="381" r:id="rId48"/>
    <p:sldId id="438" r:id="rId30"/>
    <p:sldId id="439" r:id="rId28"/>
    <p:sldId id="440" r:id="rId32"/>
    <p:sldId id="441" r:id="rId33"/>
    <p:sldId id="442" r:id="rId34"/>
    <p:sldId id="443" r:id="rId35"/>
    <p:sldId id="444" r:id="rId36"/>
    <p:sldId id="445" r:id="rId37"/>
    <p:sldId id="446" r:id="rId38"/>
    <p:sldId id="447" r:id="rId39"/>
    <p:sldId id="448" r:id="rId26"/>
    <p:sldId id="449" r:id="rId24"/>
    <p:sldId id="450" r:id="rId23"/>
    <p:sldId id="451" r:id="rId21"/>
    <p:sldId id="452" r:id="rId18"/>
    <p:sldId id="453" r:id="rId15"/>
    <p:sldId id="454" r:id="rId14"/>
    <p:sldId id="455" r:id="rId47"/>
    <p:sldId id="456" r:id="rId12"/>
    <p:sldId id="457" r:id="rId49"/>
    <p:sldId id="458" r:id="rId50"/>
    <p:sldId id="459" r:id="rId51"/>
    <p:sldId id="460" r:id="rId52"/>
    <p:sldId id="461" r:id="rId53"/>
    <p:sldId id="462" r:id="rId54"/>
    <p:sldId id="463" r:id="rId55"/>
    <p:sldId id="435" r:id="rId43"/>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63"/>
    <p:restoredTop sz="94658"/>
  </p:normalViewPr>
  <p:slideViewPr>
    <p:cSldViewPr snapToGrid="0" snapToObjects="1">
      <p:cViewPr varScale="1">
        <p:scale>
          <a:sx n="84" d="100"/>
          <a:sy n="84" d="100"/>
        </p:scale>
        <p:origin x="205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7" Type="http://schemas.openxmlformats.org/officeDocument/2006/relationships/slide" Target="slides/slide4.xml"/><Relationship Id="rId11" Type="http://schemas.openxmlformats.org/officeDocument/2006/relationships/slide" Target="slides/slide6.xml"/><Relationship Id="rId12" Type="http://schemas.openxmlformats.org/officeDocument/2006/relationships/slide" Target="slides/slide42.xml"/><Relationship Id="rId13" Type="http://schemas.openxmlformats.org/officeDocument/2006/relationships/slide" Target="slides/slide7.xml"/><Relationship Id="rId14" Type="http://schemas.openxmlformats.org/officeDocument/2006/relationships/slide" Target="slides/slide40.xml"/><Relationship Id="rId15" Type="http://schemas.openxmlformats.org/officeDocument/2006/relationships/slide" Target="slides/slide39.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38.xml"/><Relationship Id="rId19" Type="http://schemas.openxmlformats.org/officeDocument/2006/relationships/slide" Target="slides/slide16.xml"/><Relationship Id="rId20" Type="http://schemas.openxmlformats.org/officeDocument/2006/relationships/slide" Target="slides/slide10.xml"/><Relationship Id="rId21" Type="http://schemas.openxmlformats.org/officeDocument/2006/relationships/slide" Target="slides/slide37.xml"/><Relationship Id="rId22" Type="http://schemas.openxmlformats.org/officeDocument/2006/relationships/slide" Target="slides/slide11.xml"/><Relationship Id="rId23" Type="http://schemas.openxmlformats.org/officeDocument/2006/relationships/slide" Target="slides/slide36.xml"/><Relationship Id="rId24" Type="http://schemas.openxmlformats.org/officeDocument/2006/relationships/slide" Target="slides/slide35.xml"/><Relationship Id="rId25" Type="http://schemas.openxmlformats.org/officeDocument/2006/relationships/slide" Target="slides/slide12.xml"/><Relationship Id="rId26" Type="http://schemas.openxmlformats.org/officeDocument/2006/relationships/slide" Target="slides/slide34.xml"/><Relationship Id="rId27" Type="http://schemas.openxmlformats.org/officeDocument/2006/relationships/slide" Target="slides/slide13.xml"/><Relationship Id="rId28" Type="http://schemas.openxmlformats.org/officeDocument/2006/relationships/slide" Target="slides/slide25.xml"/><Relationship Id="rId29" Type="http://schemas.openxmlformats.org/officeDocument/2006/relationships/slide" Target="slides/slide14.xml"/><Relationship Id="rId30" Type="http://schemas.openxmlformats.org/officeDocument/2006/relationships/slide" Target="slides/slide24.xml"/><Relationship Id="rId31" Type="http://schemas.openxmlformats.org/officeDocument/2006/relationships/slide" Target="slides/slide1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17.xml"/><Relationship Id="rId41" Type="http://schemas.openxmlformats.org/officeDocument/2006/relationships/slide" Target="slides/slide18.xml"/><Relationship Id="rId42" Type="http://schemas.openxmlformats.org/officeDocument/2006/relationships/slide" Target="slides/slide5.xml"/><Relationship Id="rId43" Type="http://schemas.openxmlformats.org/officeDocument/2006/relationships/slide" Target="slides/slide23.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21.xml"/><Relationship Id="rId47" Type="http://schemas.openxmlformats.org/officeDocument/2006/relationships/slide" Target="slides/slide41.xml"/><Relationship Id="rId48" Type="http://schemas.openxmlformats.org/officeDocument/2006/relationships/slide" Target="slides/slide2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163" Type="http://schemas.openxmlformats.org/officeDocument/2006/relationships/notesMaster" Target="notesMasters/notesMaster1.xml"/><Relationship Id="rId164" Type="http://schemas.openxmlformats.org/officeDocument/2006/relationships/presProps" Target="presProps.xml"/><Relationship Id="rId165" Type="http://schemas.openxmlformats.org/officeDocument/2006/relationships/viewProps" Target="viewProps.xml"/><Relationship Id="rId166" Type="http://schemas.openxmlformats.org/officeDocument/2006/relationships/theme" Target="theme/theme1.xml"/><Relationship Id="rId16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10/7/26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endParaRPr/>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endParaRPr/>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endParaRPr/>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endParaRPr/>
          </a:p>
          <a:p>
            <a:r>
              <a:t>[4 After the close · DB3] Technology is 46% of the portfolio, six points above his 40% target and outside his band; the cause is RMBS +18.4% this month. FinViz explains where he differs from his own plan; it doesn't rebalance or turn that into a trade instruction.</a:t>
            </a:r>
          </a:p>
          <a:p>
            <a:endParaRPr/>
          </a:p>
          <a:p>
            <a:r>
              <a:t>[5 Advisor · DB4] Mike manages 54 portfolios: 6 crossed one of his limits, 48 are within them. He starts with an exception queue; each shows evidence and when it appeared; uncertainty stays visible. Acknowledging records review, not resolution.</a:t>
            </a:r>
          </a:p>
          <a:p>
            <a:endParaRPr/>
          </a:p>
          <a:p>
            <a:r>
              <a:t>[6 Personalization · DB5] FinViz notices habits and offers to pin or hide cards, says why, and asks. "No thanks" is remembered; changes are reversible.</a:t>
            </a:r>
          </a:p>
          <a:p>
            <a:endParaRPr/>
          </a:p>
          <a:p>
            <a:r>
              <a:t>[Closing] AI has three jobs: notice relevant changes, explain them with evidence, keep a focused workflow. Sources, timestamps, uncertainty and approval are part of the experience. The user stays in control of criteria, attention and decisions.</a:t>
            </a:r>
          </a:p>
          <a:p>
            <a:endParaRPr/>
          </a:p>
          <a:p>
            <a:r>
              <a:t>Before presenting: conceptual screens with synthetic data; reliability labels describe the evidence, not investment performance; the "Ask about…" entry points are proposed.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[OW3] He pins three names. His reasons come with them, his own note too, and he drags an "out if" line straight onto the chart. The product remembers why he picked each one.</a:t>
            </a:r>
          </a:p>
          <a:p>
            <a:endParaRP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reflection; edit to match how I'd say it in an interview.</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 Id="rId3" Type="http://schemas.openxmlformats.org/officeDocument/2006/relationships/image" Target="../media/image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7.xml"/><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I-Portfolio/FinViz/Presentations/FinViz-Case-Study-Appendix.pptx" TargetMode="External"/><Relationship Id="rId3" Type="http://schemas.openxmlformats.org/officeDocument/2006/relationships/hyperlink" Target="Portfolio-Appendix-Other-Work.pptx"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4.png"/><Relationship Id="rId6"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4.png"/><Relationship Id="rId4"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board/OXpFHEhHcr2ZReOXKKPVxb" TargetMode="External"/><Relationship Id="rId3" Type="http://schemas.openxmlformats.org/officeDocument/2006/relationships/hyperlink" Target="https://www.figma.com/design/W9SuJ8HpznQuY6Fb3H442w" TargetMode="External"/><Relationship Id="rId4" Type="http://schemas.openxmlformats.org/officeDocument/2006/relationships/hyperlink" Target="https://www.figma.com/design/W9SuJ8HpznQuY6Fb3H442w?node-id=5123-3942" TargetMode="External"/><Relationship Id="rId5" Type="http://schemas.openxmlformats.org/officeDocument/2006/relationships/hyperlink" Target="https://www.figma.com/design/w9xAlgyQeXToR54UPbv7wG" TargetMode="External"/><Relationship Id="rId6" Type="http://schemas.openxmlformats.org/officeDocument/2006/relationships/hyperlink" Target="https://claude.ai/artifact/TwRA3JxYaMduyLo1MfpcZe" TargetMode="External"/><Relationship Id="rId7" Type="http://schemas.openxmlformats.org/officeDocument/2006/relationships/hyperlink" Target="https://claude.ai/artifact/QKAHav3ku5fRX5UTnohzsZ" TargetMode="External"/><Relationship Id="rId8" Type="http://schemas.openxmlformats.org/officeDocument/2006/relationships/hyperlink" Target="https://github.com/CHUNKY21/trading-platform" TargetMode="External"/><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r>
              <a:rPr sz="1400" dirty="0">
                <a:solidFill>
                  <a:srgbClr val="404040"/>
                </a:solidFill>
                <a:latin typeface="Helvetica Neue Light"/>
              </a:rPr>
              <a:t>Portfolio of case studies that show the conceptual </a:t>
            </a: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r>
              <a:rPr sz="1400" dirty="0">
                <a:solidFill>
                  <a:srgbClr val="404040"/>
                </a:solidFill>
                <a:latin typeface="Helvetica Neue Light"/>
              </a:rPr>
              <a:t>development, design process, artifact construction, </a:t>
            </a:r>
          </a:p>
        </p:txBody>
      </p:sp>
      <p:sp>
        <p:nvSpPr>
          <p:cNvPr id="8" name="TextBox 7"/>
          <p:cNvSpPr txBox="1"/>
          <p:nvPr/>
        </p:nvSpPr>
        <p:spPr>
          <a:xfrm>
            <a:off x="8372073" y="2580422"/>
            <a:ext cx="2597411" cy="216217"/>
          </a:xfrm>
          <a:prstGeom prst="rect">
            <a:avLst/>
          </a:prstGeom>
          <a:noFill/>
        </p:spPr>
        <p:txBody>
          <a:bodyPr wrap="none" lIns="0" tIns="0" rIns="0" bIns="0">
            <a:noAutofit/>
          </a:bodyPr>
          <a:lstStyle/>
          <a:p>
            <a:pPr algn="l"/>
            <a:r>
              <a:rPr sz="1400" dirty="0">
                <a:solidFill>
                  <a:srgbClr val="404040"/>
                </a:solidFill>
                <a:latin typeface="Helvetica Neue Light"/>
              </a:rPr>
              <a:t>and final released experiences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image.png"/>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9" name="Picture 8" descr="image.png"/>
          <p:cNvPicPr>
            <a:picLocks noChangeAspect="1"/>
          </p:cNvPicPr>
          <p:nvPr/>
        </p:nvPicPr>
        <p:blipFill>
          <a:blip r:embed="rId4"/>
          <a:stretch>
            <a:fillRect/>
          </a:stretch>
        </p:blipFill>
        <p:spPr>
          <a:xfrm>
            <a:off x="7201957" y="2122784"/>
            <a:ext cx="5652787" cy="5193499"/>
          </a:xfrm>
          <a:prstGeom prst="rect">
            <a:avLst/>
          </a:prstGeom>
          <a:ln w="9525">
            <a:solidFill>
              <a:srgbClr val="1F1F1F"/>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3"/>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wt-1-board.png"/>
          <p:cNvPicPr>
            <a:picLocks noChangeAspect="1"/>
          </p:cNvPicPr>
          <p:nvPr/>
        </p:nvPicPr>
        <p:blipFill>
          <a:blip r:embed="rId4"/>
          <a:stretch>
            <a:fillRect/>
          </a:stretch>
        </p:blipFill>
        <p:spPr>
          <a:xfrm>
            <a:off x="455168" y="2210817"/>
            <a:ext cx="3901440" cy="2105152"/>
          </a:xfrm>
          <a:prstGeom prst="rect">
            <a:avLst/>
          </a:prstGeom>
          <a:ln w="6350">
            <a:solidFill>
              <a:srgbClr val="1F1F1F"/>
            </a:solidFill>
          </a:ln>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wt-2-evidence.png"/>
          <p:cNvPicPr>
            <a:picLocks noChangeAspect="1"/>
          </p:cNvPicPr>
          <p:nvPr/>
        </p:nvPicPr>
        <p:blipFill>
          <a:blip r:embed="rId5"/>
          <a:stretch>
            <a:fillRect/>
          </a:stretch>
        </p:blipFill>
        <p:spPr>
          <a:xfrm>
            <a:off x="4525670" y="2210817"/>
            <a:ext cx="3901440" cy="2102970"/>
          </a:xfrm>
          <a:prstGeom prst="rect">
            <a:avLst/>
          </a:prstGeom>
          <a:ln w="6350">
            <a:solidFill>
              <a:srgbClr val="1F1F1F"/>
            </a:solidFill>
          </a:ln>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wt-3-refine.png"/>
          <p:cNvPicPr>
            <a:picLocks noChangeAspect="1"/>
          </p:cNvPicPr>
          <p:nvPr/>
        </p:nvPicPr>
        <p:blipFill>
          <a:blip r:embed="rId6"/>
          <a:stretch>
            <a:fillRect/>
          </a:stretch>
        </p:blipFill>
        <p:spPr>
          <a:xfrm>
            <a:off x="8596171" y="2210816"/>
            <a:ext cx="3901440" cy="2106778"/>
          </a:xfrm>
          <a:prstGeom prst="rect">
            <a:avLst/>
          </a:prstGeom>
          <a:ln w="6350">
            <a:solidFill>
              <a:srgbClr val="1F1F1F"/>
            </a:solidFill>
          </a:ln>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wt-4-plan.png"/>
          <p:cNvPicPr>
            <a:picLocks noChangeAspect="1"/>
          </p:cNvPicPr>
          <p:nvPr/>
        </p:nvPicPr>
        <p:blipFill>
          <a:blip r:embed="rId7"/>
          <a:stretch>
            <a:fillRect/>
          </a:stretch>
        </p:blipFill>
        <p:spPr>
          <a:xfrm>
            <a:off x="455168" y="5657087"/>
            <a:ext cx="3901440" cy="2105152"/>
          </a:xfrm>
          <a:prstGeom prst="rect">
            <a:avLst/>
          </a:prstGeom>
          <a:ln w="6350">
            <a:solidFill>
              <a:srgbClr val="1F1F1F"/>
            </a:solidFill>
          </a:ln>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wt-5-advisor.png"/>
          <p:cNvPicPr>
            <a:picLocks noChangeAspect="1"/>
          </p:cNvPicPr>
          <p:nvPr/>
        </p:nvPicPr>
        <p:blipFill>
          <a:blip r:embed="rId8"/>
          <a:stretch>
            <a:fillRect/>
          </a:stretch>
        </p:blipFill>
        <p:spPr>
          <a:xfrm>
            <a:off x="4525670" y="5657087"/>
            <a:ext cx="3901440" cy="2105152"/>
          </a:xfrm>
          <a:prstGeom prst="rect">
            <a:avLst/>
          </a:prstGeom>
          <a:ln w="6350">
            <a:solidFill>
              <a:srgbClr val="1F1F1F"/>
            </a:solidFill>
          </a:ln>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wt-6-board-builder.png"/>
          <p:cNvPicPr>
            <a:picLocks noChangeAspect="1"/>
          </p:cNvPicPr>
          <p:nvPr/>
        </p:nvPicPr>
        <p:blipFill>
          <a:blip r:embed="rId9"/>
          <a:stretch>
            <a:fillRect/>
          </a:stretch>
        </p:blipFill>
        <p:spPr>
          <a:xfrm>
            <a:off x="8596171" y="5657087"/>
            <a:ext cx="3901440" cy="2105152"/>
          </a:xfrm>
          <a:prstGeom prst="rect">
            <a:avLst/>
          </a:prstGeom>
          <a:ln w="6350">
            <a:solidFill>
              <a:srgbClr val="1F1F1F"/>
            </a:solidFill>
          </a:ln>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01-OW1-show-it.png"/>
          <p:cNvPicPr>
            <a:picLocks noChangeAspect="1"/>
          </p:cNvPicPr>
          <p:nvPr/>
        </p:nvPicPr>
        <p:blipFill>
          <a:blip r:embed="rId4"/>
          <a:stretch>
            <a:fillRect/>
          </a:stretch>
        </p:blipFill>
        <p:spPr>
          <a:xfrm>
            <a:off x="321354" y="2921620"/>
            <a:ext cx="6448980" cy="3699206"/>
          </a:xfrm>
          <a:prstGeom prst="rect">
            <a:avLst/>
          </a:prstGeom>
          <a:ln w="9525">
            <a:solidFill>
              <a:srgbClr val="1F1F1F"/>
            </a:solidFill>
          </a:ln>
        </p:spPr>
      </p:pic>
      <p:pic>
        <p:nvPicPr>
          <p:cNvPr id="7" name="Picture 6" descr="02-OW2-since-last-night.png"/>
          <p:cNvPicPr>
            <a:picLocks noChangeAspect="1"/>
          </p:cNvPicPr>
          <p:nvPr/>
        </p:nvPicPr>
        <p:blipFill>
          <a:blip r:embed="rId5"/>
          <a:stretch>
            <a:fillRect/>
          </a:stretch>
        </p:blipFill>
        <p:spPr>
          <a:xfrm>
            <a:off x="6808332" y="1942360"/>
            <a:ext cx="5761380" cy="2328557"/>
          </a:xfrm>
          <a:prstGeom prst="rect">
            <a:avLst/>
          </a:prstGeom>
          <a:ln w="9525">
            <a:solidFill>
              <a:srgbClr val="1F1F1F"/>
            </a:solidFill>
          </a:ln>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05-OW3-reasons-ledger.png"/>
          <p:cNvPicPr>
            <a:picLocks noChangeAspect="1"/>
          </p:cNvPicPr>
          <p:nvPr/>
        </p:nvPicPr>
        <p:blipFill>
          <a:blip r:embed="rId4"/>
          <a:stretch>
            <a:fillRect/>
          </a:stretch>
        </p:blipFill>
        <p:spPr>
          <a:xfrm>
            <a:off x="455167" y="2117357"/>
            <a:ext cx="6726217" cy="4133820"/>
          </a:xfrm>
          <a:prstGeom prst="rect">
            <a:avLst/>
          </a:prstGeom>
          <a:ln w="9525">
            <a:solidFill>
              <a:srgbClr val="1F1F1F"/>
            </a:solidFill>
          </a:ln>
        </p:spPr>
      </p:pic>
      <p:pic>
        <p:nvPicPr>
          <p:cNvPr id="7" name="Picture 6" descr="06-OW4-watch-these-for-me.png"/>
          <p:cNvPicPr>
            <a:picLocks noChangeAspect="1"/>
          </p:cNvPicPr>
          <p:nvPr/>
        </p:nvPicPr>
        <p:blipFill>
          <a:blip r:embed="rId5"/>
          <a:stretch>
            <a:fillRect/>
          </a:stretch>
        </p:blipFill>
        <p:spPr>
          <a:xfrm>
            <a:off x="7222044" y="2725806"/>
            <a:ext cx="5532255" cy="3227149"/>
          </a:xfrm>
          <a:prstGeom prst="rect">
            <a:avLst/>
          </a:prstGeom>
          <a:ln w="9525">
            <a:solidFill>
              <a:srgbClr val="1F1F1F"/>
            </a:solidFill>
          </a:ln>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4"/>
          <a:stretch>
            <a:fillRect/>
          </a:stretch>
        </p:blipFill>
        <p:spPr>
          <a:xfrm>
            <a:off x="1783558" y="2080768"/>
            <a:ext cx="943768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4"/>
          <a:stretch>
            <a:fillRect/>
          </a:stretch>
        </p:blipFill>
        <p:spPr>
          <a:xfrm>
            <a:off x="455169" y="2080768"/>
            <a:ext cx="7572863" cy="6957568"/>
          </a:xfrm>
          <a:prstGeom prst="rect">
            <a:avLst/>
          </a:prstGeom>
          <a:ln w="9525">
            <a:solidFill>
              <a:srgbClr val="1F1F1F"/>
            </a:solidFill>
          </a:ln>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4"/>
          <a:stretch>
            <a:fillRect/>
          </a:stretch>
        </p:blipFill>
        <p:spPr>
          <a:xfrm>
            <a:off x="1541999" y="2080768"/>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4"/>
          <a:stretch>
            <a:fillRect/>
          </a:stretch>
        </p:blipFill>
        <p:spPr>
          <a:xfrm>
            <a:off x="1820673" y="2080768"/>
            <a:ext cx="936345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097280"/>
            <a:ext cx="12070080" cy="914400"/>
          </a:xfrm>
          <a:prstGeom prst="rect">
            <a:avLst/>
          </a:prstGeom>
          <a:noFill/>
        </p:spPr>
        <p:txBody>
          <a:bodyPr wrap="none">
            <a:spAutoFit/>
          </a:bodyPr>
          <a:lstStyle/>
          <a:p>
            <a:r>
              <a:rPr sz="4000">
                <a:latin typeface="Helvetica Neue Light"/>
              </a:rPr>
              <a:t>Appendix</a:t>
            </a:r>
          </a:p>
        </p:txBody>
      </p:sp>
      <p:sp>
        <p:nvSpPr>
          <p:cNvPr id="3" name="TextBox 2"/>
          <p:cNvSpPr txBox="1"/>
          <p:nvPr/>
        </p:nvSpPr>
        <p:spPr>
          <a:xfrm>
            <a:off x="457200" y="2743200"/>
            <a:ext cx="12070080" cy="1097280"/>
          </a:xfrm>
          <a:prstGeom prst="rect">
            <a:avLst/>
          </a:prstGeom>
          <a:noFill/>
        </p:spPr>
        <p:txBody>
          <a:bodyPr wrap="none">
            <a:spAutoFit/>
          </a:bodyPr>
          <a:lstStyle/>
          <a:p>
            <a:r>
              <a:rPr sz="2400">
                <a:solidFill>
                  <a:srgbClr val="C45A35"/>
                </a:solidFill>
                <a:latin typeface="Helvetica Neue Light"/>
                <a:hlinkClick r:id="rId2"/>
              </a:rPr>
              <a:t>FinViz case study: full appendix (61 slides)</a:t>
            </a:r>
          </a:p>
          <a:p>
            <a:r>
              <a:rPr sz="1600">
                <a:solidFill>
                  <a:srgbClr val="595959"/>
                </a:solidFill>
                <a:latin typeface="Helvetica Neue Light"/>
              </a:rPr>
              <a:t>Concept work, hero features, lo-fi iterations, and the alerts and chart-lens journeys.</a:t>
            </a:r>
          </a:p>
        </p:txBody>
      </p:sp>
      <p:sp>
        <p:nvSpPr>
          <p:cNvPr id="4" name="TextBox 3"/>
          <p:cNvSpPr txBox="1"/>
          <p:nvPr/>
        </p:nvSpPr>
        <p:spPr>
          <a:xfrm>
            <a:off x="457200" y="4206240"/>
            <a:ext cx="12070080" cy="1097280"/>
          </a:xfrm>
          <a:prstGeom prst="rect">
            <a:avLst/>
          </a:prstGeom>
          <a:noFill/>
        </p:spPr>
        <p:txBody>
          <a:bodyPr wrap="none">
            <a:spAutoFit/>
          </a:bodyPr>
          <a:lstStyle/>
          <a:p>
            <a:r>
              <a:rPr sz="2400">
                <a:solidFill>
                  <a:srgbClr val="C45A35"/>
                </a:solidFill>
                <a:latin typeface="Helvetica Neue Light"/>
                <a:hlinkClick r:id="rId3"/>
              </a:rPr>
              <a:t>Other work: Wells Fargo</a:t>
            </a:r>
          </a:p>
          <a:p>
            <a:r>
              <a:rPr sz="1600">
                <a:solidFill>
                  <a:srgbClr val="595959"/>
                </a:solidFill>
                <a:latin typeface="Helvetica Neue Light"/>
              </a:rPr>
              <a:t>Enterprise B2B design work, with discovery, design sprints and results.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id="2" name="Image 0" descr="/tmp/meridian-deck/img/band-header.png">    </p:cNvPr>
          <p:cNvPicPr>
            <a:picLocks noChangeAspect="1"/>
          </p:cNvPicPr>
          <p:nvPr/>
        </p:nvPicPr>
        <p:blipFill>
          <a:blip r:embed="rId2"/>
          <a:stretch>
            <a:fillRect/>
          </a:stretch>
        </p:blipFill>
        <p:spPr>
          <a:xfrm>
            <a:off x="0" y="0"/>
            <a:ext cx="13004597" cy="438912"/>
          </a:xfrm>
          <a:prstGeom prst="rect">
            <a:avLst/>
          </a:prstGeom>
        </p:spPr>
      </p:pic>
      <p:sp>
        <p:nvSpPr>
          <p:cNvPr id="3" name="Text 0"/>
          <p:cNvSpPr txBox="1"/>
          <p:nvPr/>
        </p:nvSpPr>
        <p:spPr>
          <a:xfrm>
            <a:off x="457200" y="914400"/>
            <a:ext cx="6400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CASE STUDY · AI-ASSISTED TRADING PROTOTYPE</a:t>
            </a:r>
            <a:endParaRPr lang="en-US" sz="1280" dirty="0"/>
          </a:p>
        </p:txBody>
      </p:sp>
      <p:sp>
        <p:nvSpPr>
          <p:cNvPr id="4" name="Text 1"/>
          <p:cNvSpPr txBox="1"/>
          <p:nvPr/>
        </p:nvSpPr>
        <p:spPr>
          <a:xfrm>
            <a:off x="457200" y="1371600"/>
            <a:ext cx="6400800" cy="2377440"/>
          </a:xfrm>
          <a:prstGeom prst="rect">
            <a:avLst/>
          </a:prstGeom>
          <a:noFill/>
          <a:ln/>
        </p:spPr>
        <p:txBody>
          <a:bodyPr wrap="square" lIns="0" tIns="0" rIns="0" bIns="0" rtlCol="0" anchor="t"/>
          <a:lstStyle/>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Meridian</a:t>
            </a:r>
            <a:endParaRPr lang="en-US" sz="7200" dirty="0"/>
          </a:p>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Navigator</a:t>
            </a:r>
            <a:endParaRPr lang="en-US" sz="7200" dirty="0"/>
          </a:p>
        </p:txBody>
      </p:sp>
      <p:sp>
        <p:nvSpPr>
          <p:cNvPr id="5" name="Text 2"/>
          <p:cNvSpPr txBox="1"/>
          <p:nvPr/>
        </p:nvSpPr>
        <p:spPr>
          <a:xfrm>
            <a:off x="457200" y="4114800"/>
            <a:ext cx="6035040" cy="109728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Retail investors juggle research, orders and monitoring across separate tools. Does AI insight beside the trade help them decide?</a:t>
            </a:r>
            <a:endParaRPr lang="en-US" sz="2200" dirty="0"/>
          </a:p>
        </p:txBody>
      </p:sp>
      <p:sp>
        <p:nvSpPr>
          <p:cNvPr id="6" name="Text 3"/>
          <p:cNvSpPr txBox="1"/>
          <p:nvPr/>
        </p:nvSpPr>
        <p:spPr>
          <a:xfrm>
            <a:off x="457200" y="5486400"/>
            <a:ext cx="5852160" cy="914400"/>
          </a:xfrm>
          <a:prstGeom prst="rect">
            <a:avLst/>
          </a:prstGeom>
          <a:noFill/>
          <a:ln/>
        </p:spPr>
        <p:txBody>
          <a:bodyPr wrap="square" lIns="0" tIns="0" rIns="0" bIns="0" rtlCol="0" anchor="t"/>
          <a:lstStyle/>
          <a:p>
            <a:pPr indent="0" marL="0">
              <a:buNone/>
            </a:pPr>
            <a:r>
              <a:rPr lang="en-US" sz="1700" dirty="0">
                <a:solidFill>
                  <a:srgbClr val="6E6E6E"/>
                </a:solidFill>
                <a:latin typeface="Helvetica Neue Light" pitchFamily="34" charset="0"/>
                <a:ea typeface="Helvetica Neue Light" pitchFamily="34" charset="-122"/>
                <a:cs typeface="Helvetica Neue Light" pitchFamily="34" charset="-120"/>
              </a:rPr>
              <a:t>A mobile trading prototype: five AI and trading screens, built in SwiftUI and designed in Figma.</a:t>
            </a:r>
            <a:endParaRPr lang="en-US" sz="1700" dirty="0"/>
          </a:p>
        </p:txBody>
      </p:sp>
      <p:sp>
        <p:nvSpPr>
          <p:cNvPr id="7" name="Shape 4"/>
          <p:cNvSpPr/>
          <p:nvPr/>
        </p:nvSpPr>
        <p:spPr>
          <a:xfrm>
            <a:off x="7223760" y="1280160"/>
            <a:ext cx="5303520" cy="7406640"/>
          </a:xfrm>
          <a:prstGeom prst="rect">
            <a:avLst/>
          </a:prstGeom>
          <a:solidFill>
            <a:srgbClr val="14161D"/>
          </a:solidFill>
          <a:ln w="12700">
            <a:solidFill>
              <a:srgbClr val="14161D"/>
            </a:solidFill>
            <a:prstDash val="solid"/>
          </a:ln>
        </p:spPr>
      </p:sp>
      <p:sp>
        <p:nvSpPr>
          <p:cNvPr id="8" name="Shape 5"/>
          <p:cNvSpPr/>
          <p:nvPr/>
        </p:nvSpPr>
        <p:spPr>
          <a:xfrm>
            <a:off x="8092440" y="1737360"/>
            <a:ext cx="3043123" cy="6583680"/>
          </a:xfrm>
          <a:prstGeom prst="rect">
            <a:avLst/>
          </a:prstGeom>
          <a:solidFill>
            <a:srgbClr val="14161D"/>
          </a:solidFill>
          <a:ln w="12700">
            <a:solidFill>
              <a:srgbClr val="14161D"/>
            </a:solidFill>
            <a:prstDash val="solid"/>
          </a:ln>
        </p:spPr>
      </p:sp>
      <p:pic>
        <p:nvPicPr>
          <p:cNvPr id="9" name="Image 1" descr="/tmp/meridian-deck/img/insight.png">    </p:cNvPr>
          <p:cNvPicPr>
            <a:picLocks noChangeAspect="1"/>
          </p:cNvPicPr>
          <p:nvPr/>
        </p:nvPicPr>
        <p:blipFill>
          <a:blip r:embed="rId3"/>
          <a:stretch>
            <a:fillRect/>
          </a:stretch>
        </p:blipFill>
        <p:spPr>
          <a:xfrm>
            <a:off x="8092440" y="1737360"/>
            <a:ext cx="3043123" cy="6583680"/>
          </a:xfrm>
          <a:prstGeom prst="rect">
            <a:avLst/>
          </a:prstGeom>
        </p:spPr>
      </p:pic>
      <p:pic>
        <p:nvPicPr>
          <p:cNvPr id="10" name="Image 2" descr="/tmp/meridian-deck/img/band-footer.png">    </p:cNvPr>
          <p:cNvPicPr>
            <a:picLocks noChangeAspect="1"/>
          </p:cNvPicPr>
          <p:nvPr/>
        </p:nvPicPr>
        <p:blipFill>
          <a:blip r:embed="rId4"/>
          <a:stretch>
            <a:fillRect/>
          </a:stretch>
        </p:blipFill>
        <p:spPr>
          <a:xfrm>
            <a:off x="0" y="9281160"/>
            <a:ext cx="13004597" cy="466344"/>
          </a:xfrm>
          <a:prstGeom prst="rect">
            <a:avLst/>
          </a:prstGeom>
        </p:spPr>
      </p:pic>
      <p:sp>
        <p:nvSpPr>
          <p:cNvPr id="11" name="Text 6"/>
          <p:cNvSpPr txBox="1"/>
          <p:nvPr/>
        </p:nvSpPr>
        <p:spPr>
          <a:xfrm>
            <a:off x="457200" y="8686800"/>
            <a:ext cx="5486400" cy="27432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Working draft · 2026</a:t>
            </a:r>
            <a:endParaRPr lang="en-US" sz="135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this case study is organized</a:t>
            </a:r>
            <a:endParaRPr lang="en-US" sz="3200" dirty="0"/>
          </a:p>
        </p:txBody>
      </p:sp>
      <p:sp>
        <p:nvSpPr>
          <p:cNvPr id="3" name="Text 1"/>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final experience first, then the reasoning behind it.</a:t>
            </a:r>
            <a:endParaRPr lang="en-US" sz="1636"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651760"/>
            <a:ext cx="2286000" cy="2743200"/>
          </a:xfrm>
          <a:prstGeom prst="rect">
            <a:avLst/>
          </a:prstGeom>
          <a:solidFill>
            <a:srgbClr val="C45A35"/>
          </a:solidFill>
          <a:ln w="12700">
            <a:solidFill>
              <a:srgbClr val="C45A35"/>
            </a:solidFill>
            <a:prstDash val="solid"/>
          </a:ln>
        </p:spPr>
      </p:sp>
      <p:sp>
        <p:nvSpPr>
          <p:cNvPr id="6" name="Text 3"/>
          <p:cNvSpPr txBox="1"/>
          <p:nvPr/>
        </p:nvSpPr>
        <p:spPr>
          <a:xfrm>
            <a:off x="73152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01</a:t>
            </a:r>
            <a:endParaRPr lang="en-US" sz="3100" dirty="0"/>
          </a:p>
        </p:txBody>
      </p:sp>
      <p:sp>
        <p:nvSpPr>
          <p:cNvPr id="7" name="Text 4"/>
          <p:cNvSpPr txBox="1"/>
          <p:nvPr/>
        </p:nvSpPr>
        <p:spPr>
          <a:xfrm>
            <a:off x="73152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Overview</a:t>
            </a:r>
            <a:endParaRPr lang="en-US" sz="1778" dirty="0"/>
          </a:p>
        </p:txBody>
      </p:sp>
      <p:sp>
        <p:nvSpPr>
          <p:cNvPr id="8" name="Shape 5"/>
          <p:cNvSpPr/>
          <p:nvPr/>
        </p:nvSpPr>
        <p:spPr>
          <a:xfrm>
            <a:off x="2926080" y="2651760"/>
            <a:ext cx="2286000" cy="2743200"/>
          </a:xfrm>
          <a:prstGeom prst="rect">
            <a:avLst/>
          </a:prstGeom>
          <a:solidFill>
            <a:srgbClr val="5B3F96"/>
          </a:solidFill>
          <a:ln w="12700">
            <a:solidFill>
              <a:srgbClr val="5B3F96"/>
            </a:solidFill>
            <a:prstDash val="solid"/>
          </a:ln>
        </p:spPr>
      </p:sp>
      <p:sp>
        <p:nvSpPr>
          <p:cNvPr id="9" name="Text 6"/>
          <p:cNvSpPr txBox="1"/>
          <p:nvPr/>
        </p:nvSpPr>
        <p:spPr>
          <a:xfrm>
            <a:off x="320040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02</a:t>
            </a:r>
            <a:endParaRPr lang="en-US" sz="3100" dirty="0"/>
          </a:p>
        </p:txBody>
      </p:sp>
      <p:sp>
        <p:nvSpPr>
          <p:cNvPr id="10" name="Text 7"/>
          <p:cNvSpPr txBox="1"/>
          <p:nvPr/>
        </p:nvSpPr>
        <p:spPr>
          <a:xfrm>
            <a:off x="320040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Context &amp; constraints</a:t>
            </a:r>
            <a:endParaRPr lang="en-US" sz="1778" dirty="0"/>
          </a:p>
        </p:txBody>
      </p:sp>
      <p:sp>
        <p:nvSpPr>
          <p:cNvPr id="11" name="Shape 8"/>
          <p:cNvSpPr/>
          <p:nvPr/>
        </p:nvSpPr>
        <p:spPr>
          <a:xfrm>
            <a:off x="5394960" y="2651760"/>
            <a:ext cx="2286000" cy="2743200"/>
          </a:xfrm>
          <a:prstGeom prst="rect">
            <a:avLst/>
          </a:prstGeom>
          <a:solidFill>
            <a:srgbClr val="00868B"/>
          </a:solidFill>
          <a:ln w="12700">
            <a:solidFill>
              <a:srgbClr val="00868B"/>
            </a:solidFill>
            <a:prstDash val="solid"/>
          </a:ln>
        </p:spPr>
      </p:sp>
      <p:sp>
        <p:nvSpPr>
          <p:cNvPr id="12" name="Text 9"/>
          <p:cNvSpPr txBox="1"/>
          <p:nvPr/>
        </p:nvSpPr>
        <p:spPr>
          <a:xfrm>
            <a:off x="566928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03</a:t>
            </a:r>
            <a:endParaRPr lang="en-US" sz="3100" dirty="0"/>
          </a:p>
        </p:txBody>
      </p:sp>
      <p:sp>
        <p:nvSpPr>
          <p:cNvPr id="13" name="Text 10"/>
          <p:cNvSpPr txBox="1"/>
          <p:nvPr/>
        </p:nvSpPr>
        <p:spPr>
          <a:xfrm>
            <a:off x="566928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Problem: user and AI</a:t>
            </a:r>
            <a:endParaRPr lang="en-US" sz="1778" dirty="0"/>
          </a:p>
        </p:txBody>
      </p:sp>
      <p:sp>
        <p:nvSpPr>
          <p:cNvPr id="14" name="Shape 11"/>
          <p:cNvSpPr/>
          <p:nvPr/>
        </p:nvSpPr>
        <p:spPr>
          <a:xfrm>
            <a:off x="7863840" y="2651760"/>
            <a:ext cx="2286000" cy="2743200"/>
          </a:xfrm>
          <a:prstGeom prst="rect">
            <a:avLst/>
          </a:prstGeom>
          <a:solidFill>
            <a:srgbClr val="3A7D55"/>
          </a:solidFill>
          <a:ln w="12700">
            <a:solidFill>
              <a:srgbClr val="3A7D55"/>
            </a:solidFill>
            <a:prstDash val="solid"/>
          </a:ln>
        </p:spPr>
      </p:sp>
      <p:sp>
        <p:nvSpPr>
          <p:cNvPr id="15" name="Text 12"/>
          <p:cNvSpPr txBox="1"/>
          <p:nvPr/>
        </p:nvSpPr>
        <p:spPr>
          <a:xfrm>
            <a:off x="813816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04</a:t>
            </a:r>
            <a:endParaRPr lang="en-US" sz="3100" dirty="0"/>
          </a:p>
        </p:txBody>
      </p:sp>
      <p:sp>
        <p:nvSpPr>
          <p:cNvPr id="16" name="Text 13"/>
          <p:cNvSpPr txBox="1"/>
          <p:nvPr/>
        </p:nvSpPr>
        <p:spPr>
          <a:xfrm>
            <a:off x="813816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Users</a:t>
            </a:r>
            <a:endParaRPr lang="en-US" sz="1778" dirty="0"/>
          </a:p>
        </p:txBody>
      </p:sp>
      <p:sp>
        <p:nvSpPr>
          <p:cNvPr id="17" name="Shape 14"/>
          <p:cNvSpPr/>
          <p:nvPr/>
        </p:nvSpPr>
        <p:spPr>
          <a:xfrm>
            <a:off x="10332720" y="2651760"/>
            <a:ext cx="2286000" cy="2743200"/>
          </a:xfrm>
          <a:prstGeom prst="rect">
            <a:avLst/>
          </a:prstGeom>
          <a:solidFill>
            <a:srgbClr val="A12A37"/>
          </a:solidFill>
          <a:ln w="12700">
            <a:solidFill>
              <a:srgbClr val="A12A37"/>
            </a:solidFill>
            <a:prstDash val="solid"/>
          </a:ln>
        </p:spPr>
      </p:sp>
      <p:sp>
        <p:nvSpPr>
          <p:cNvPr id="18" name="Text 15"/>
          <p:cNvSpPr txBox="1"/>
          <p:nvPr/>
        </p:nvSpPr>
        <p:spPr>
          <a:xfrm>
            <a:off x="1060704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05</a:t>
            </a:r>
            <a:endParaRPr lang="en-US" sz="3100" dirty="0"/>
          </a:p>
        </p:txBody>
      </p:sp>
      <p:sp>
        <p:nvSpPr>
          <p:cNvPr id="19" name="Text 16"/>
          <p:cNvSpPr txBox="1"/>
          <p:nvPr/>
        </p:nvSpPr>
        <p:spPr>
          <a:xfrm>
            <a:off x="1060704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The solution, hi-fi</a:t>
            </a:r>
            <a:endParaRPr lang="en-US" sz="1778" dirty="0"/>
          </a:p>
        </p:txBody>
      </p:sp>
      <p:sp>
        <p:nvSpPr>
          <p:cNvPr id="20" name="Shape 17"/>
          <p:cNvSpPr/>
          <p:nvPr/>
        </p:nvSpPr>
        <p:spPr>
          <a:xfrm>
            <a:off x="457200" y="5760720"/>
            <a:ext cx="2286000" cy="2743200"/>
          </a:xfrm>
          <a:prstGeom prst="rect">
            <a:avLst/>
          </a:prstGeom>
          <a:solidFill>
            <a:srgbClr val="1F1F1F"/>
          </a:solidFill>
          <a:ln w="12700">
            <a:solidFill>
              <a:srgbClr val="1F1F1F"/>
            </a:solidFill>
            <a:prstDash val="solid"/>
          </a:ln>
        </p:spPr>
      </p:sp>
      <p:sp>
        <p:nvSpPr>
          <p:cNvPr id="21" name="Text 18"/>
          <p:cNvSpPr txBox="1"/>
          <p:nvPr/>
        </p:nvSpPr>
        <p:spPr>
          <a:xfrm>
            <a:off x="73152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06</a:t>
            </a:r>
            <a:endParaRPr lang="en-US" sz="3100" dirty="0"/>
          </a:p>
        </p:txBody>
      </p:sp>
      <p:sp>
        <p:nvSpPr>
          <p:cNvPr id="22" name="Text 19"/>
          <p:cNvSpPr txBox="1"/>
          <p:nvPr/>
        </p:nvSpPr>
        <p:spPr>
          <a:xfrm>
            <a:off x="73152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Reasoning &amp; trade-offs</a:t>
            </a:r>
            <a:endParaRPr lang="en-US" sz="1778" dirty="0"/>
          </a:p>
        </p:txBody>
      </p:sp>
      <p:sp>
        <p:nvSpPr>
          <p:cNvPr id="23" name="Shape 20"/>
          <p:cNvSpPr/>
          <p:nvPr/>
        </p:nvSpPr>
        <p:spPr>
          <a:xfrm>
            <a:off x="2926080" y="5760720"/>
            <a:ext cx="2286000" cy="2743200"/>
          </a:xfrm>
          <a:prstGeom prst="rect">
            <a:avLst/>
          </a:prstGeom>
          <a:solidFill>
            <a:srgbClr val="595959"/>
          </a:solidFill>
          <a:ln w="12700">
            <a:solidFill>
              <a:srgbClr val="595959"/>
            </a:solidFill>
            <a:prstDash val="solid"/>
          </a:ln>
        </p:spPr>
      </p:sp>
      <p:sp>
        <p:nvSpPr>
          <p:cNvPr id="24" name="Text 21"/>
          <p:cNvSpPr txBox="1"/>
          <p:nvPr/>
        </p:nvSpPr>
        <p:spPr>
          <a:xfrm>
            <a:off x="320040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07</a:t>
            </a:r>
            <a:endParaRPr lang="en-US" sz="3100" dirty="0"/>
          </a:p>
        </p:txBody>
      </p:sp>
      <p:sp>
        <p:nvSpPr>
          <p:cNvPr id="25" name="Text 22"/>
          <p:cNvSpPr txBox="1"/>
          <p:nvPr/>
        </p:nvSpPr>
        <p:spPr>
          <a:xfrm>
            <a:off x="320040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Methodology</a:t>
            </a:r>
            <a:endParaRPr lang="en-US" sz="1778" dirty="0"/>
          </a:p>
        </p:txBody>
      </p:sp>
      <p:sp>
        <p:nvSpPr>
          <p:cNvPr id="26" name="Shape 23"/>
          <p:cNvSpPr/>
          <p:nvPr/>
        </p:nvSpPr>
        <p:spPr>
          <a:xfrm>
            <a:off x="5394960" y="5760720"/>
            <a:ext cx="2286000" cy="2743200"/>
          </a:xfrm>
          <a:prstGeom prst="rect">
            <a:avLst/>
          </a:prstGeom>
          <a:solidFill>
            <a:srgbClr val="744A6C"/>
          </a:solidFill>
          <a:ln w="12700">
            <a:solidFill>
              <a:srgbClr val="744A6C"/>
            </a:solidFill>
            <a:prstDash val="solid"/>
          </a:ln>
        </p:spPr>
      </p:sp>
      <p:sp>
        <p:nvSpPr>
          <p:cNvPr id="27" name="Text 24"/>
          <p:cNvSpPr txBox="1"/>
          <p:nvPr/>
        </p:nvSpPr>
        <p:spPr>
          <a:xfrm>
            <a:off x="566928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08</a:t>
            </a:r>
            <a:endParaRPr lang="en-US" sz="3100" dirty="0"/>
          </a:p>
        </p:txBody>
      </p:sp>
      <p:sp>
        <p:nvSpPr>
          <p:cNvPr id="28" name="Text 25"/>
          <p:cNvSpPr txBox="1"/>
          <p:nvPr/>
        </p:nvSpPr>
        <p:spPr>
          <a:xfrm>
            <a:off x="566928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Implementation</a:t>
            </a:r>
            <a:endParaRPr lang="en-US" sz="1778" dirty="0"/>
          </a:p>
        </p:txBody>
      </p:sp>
      <p:sp>
        <p:nvSpPr>
          <p:cNvPr id="29" name="Shape 26"/>
          <p:cNvSpPr/>
          <p:nvPr/>
        </p:nvSpPr>
        <p:spPr>
          <a:xfrm>
            <a:off x="7863840" y="5760720"/>
            <a:ext cx="2286000" cy="2743200"/>
          </a:xfrm>
          <a:prstGeom prst="rect">
            <a:avLst/>
          </a:prstGeom>
          <a:solidFill>
            <a:srgbClr val="C45A35"/>
          </a:solidFill>
          <a:ln w="12700">
            <a:solidFill>
              <a:srgbClr val="C45A35"/>
            </a:solidFill>
            <a:prstDash val="solid"/>
          </a:ln>
        </p:spPr>
      </p:sp>
      <p:sp>
        <p:nvSpPr>
          <p:cNvPr id="30" name="Text 27"/>
          <p:cNvSpPr txBox="1"/>
          <p:nvPr/>
        </p:nvSpPr>
        <p:spPr>
          <a:xfrm>
            <a:off x="813816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09</a:t>
            </a:r>
            <a:endParaRPr lang="en-US" sz="3100" dirty="0"/>
          </a:p>
        </p:txBody>
      </p:sp>
      <p:sp>
        <p:nvSpPr>
          <p:cNvPr id="31" name="Text 28"/>
          <p:cNvSpPr txBox="1"/>
          <p:nvPr/>
        </p:nvSpPr>
        <p:spPr>
          <a:xfrm>
            <a:off x="813816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Results &amp; impact</a:t>
            </a:r>
            <a:endParaRPr lang="en-US" sz="1778" dirty="0"/>
          </a:p>
        </p:txBody>
      </p:sp>
      <p:sp>
        <p:nvSpPr>
          <p:cNvPr id="32" name="Shape 29"/>
          <p:cNvSpPr/>
          <p:nvPr/>
        </p:nvSpPr>
        <p:spPr>
          <a:xfrm>
            <a:off x="10332720" y="5760720"/>
            <a:ext cx="2286000" cy="2743200"/>
          </a:xfrm>
          <a:prstGeom prst="rect">
            <a:avLst/>
          </a:prstGeom>
          <a:solidFill>
            <a:srgbClr val="5B3F96"/>
          </a:solidFill>
          <a:ln w="12700">
            <a:solidFill>
              <a:srgbClr val="5B3F96"/>
            </a:solidFill>
            <a:prstDash val="solid"/>
          </a:ln>
        </p:spPr>
      </p:sp>
      <p:sp>
        <p:nvSpPr>
          <p:cNvPr id="33" name="Text 30"/>
          <p:cNvSpPr txBox="1"/>
          <p:nvPr/>
        </p:nvSpPr>
        <p:spPr>
          <a:xfrm>
            <a:off x="1060704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10</a:t>
            </a:r>
            <a:endParaRPr lang="en-US" sz="3100" dirty="0"/>
          </a:p>
        </p:txBody>
      </p:sp>
      <p:sp>
        <p:nvSpPr>
          <p:cNvPr id="34" name="Text 31"/>
          <p:cNvSpPr txBox="1"/>
          <p:nvPr/>
        </p:nvSpPr>
        <p:spPr>
          <a:xfrm>
            <a:off x="1060704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Learnings &amp; next steps</a:t>
            </a:r>
            <a:endParaRPr lang="en-US" sz="1778"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01 · Overview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one trade, one place for AI</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A mobile trading prototype with AI screens beside the order flow.</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6309360" cy="6766560"/>
          </a:xfrm>
          <a:prstGeom prst="rect">
            <a:avLst/>
          </a:prstGeom>
          <a:solidFill>
            <a:srgbClr val="14161D"/>
          </a:solidFill>
          <a:ln w="12700">
            <a:solidFill>
              <a:srgbClr val="14161D"/>
            </a:solidFill>
            <a:prstDash val="solid"/>
          </a:ln>
        </p:spPr>
      </p:sp>
      <p:sp>
        <p:nvSpPr>
          <p:cNvPr id="7" name="Shape 4"/>
          <p:cNvSpPr/>
          <p:nvPr/>
        </p:nvSpPr>
        <p:spPr>
          <a:xfrm>
            <a:off x="2286000" y="2651760"/>
            <a:ext cx="2789530" cy="6035040"/>
          </a:xfrm>
          <a:prstGeom prst="rect">
            <a:avLst/>
          </a:prstGeom>
          <a:solidFill>
            <a:srgbClr val="14161D"/>
          </a:solidFill>
          <a:ln w="12700">
            <a:solidFill>
              <a:srgbClr val="14161D"/>
            </a:solidFill>
            <a:prstDash val="solid"/>
          </a:ln>
        </p:spPr>
      </p:sp>
      <p:pic>
        <p:nvPicPr>
          <p:cNvPr id="8" name="Image 1" descr="/tmp/meridian-deck/img/dash.png">    </p:cNvPr>
          <p:cNvPicPr>
            <a:picLocks noChangeAspect="1"/>
          </p:cNvPicPr>
          <p:nvPr/>
        </p:nvPicPr>
        <p:blipFill>
          <a:blip r:embed="rId3"/>
          <a:stretch>
            <a:fillRect/>
          </a:stretch>
        </p:blipFill>
        <p:spPr>
          <a:xfrm>
            <a:off x="2286000" y="2651760"/>
            <a:ext cx="2789530" cy="6035040"/>
          </a:xfrm>
          <a:prstGeom prst="rect">
            <a:avLst/>
          </a:prstGeom>
        </p:spPr>
      </p:pic>
      <p:sp>
        <p:nvSpPr>
          <p:cNvPr id="9" name="Text 5"/>
          <p:cNvSpPr txBox="1"/>
          <p:nvPr/>
        </p:nvSpPr>
        <p:spPr>
          <a:xfrm>
            <a:off x="7223760" y="2377440"/>
            <a:ext cx="50292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PRODUCT</a:t>
            </a:r>
            <a:endParaRPr lang="en-US" sz="1280" dirty="0"/>
          </a:p>
        </p:txBody>
      </p:sp>
      <p:sp>
        <p:nvSpPr>
          <p:cNvPr id="10" name="Text 6"/>
          <p:cNvSpPr txBox="1"/>
          <p:nvPr/>
        </p:nvSpPr>
        <p:spPr>
          <a:xfrm>
            <a:off x="7223760" y="2743200"/>
            <a:ext cx="5303520" cy="2926080"/>
          </a:xfrm>
          <a:prstGeom prst="rect">
            <a:avLst/>
          </a:prstGeom>
          <a:noFill/>
          <a:ln/>
        </p:spPr>
        <p:txBody>
          <a:bodyPr wrap="square" lIns="0" tIns="0" rIns="0" bIns="0" rtlCol="0" anchor="t"/>
          <a:lstStyle/>
          <a:p>
            <a:pPr indent="0" marL="0">
              <a:buNone/>
            </a:pPr>
            <a:r>
              <a:rPr lang="en-US" sz="1849" dirty="0">
                <a:solidFill>
                  <a:srgbClr val="1F1F1F"/>
                </a:solidFill>
                <a:latin typeface="Helvetica Neue Light" pitchFamily="34" charset="0"/>
                <a:ea typeface="Helvetica Neue Light" pitchFamily="34" charset="-122"/>
                <a:cs typeface="Helvetica Neue Light" pitchFamily="34" charset="-120"/>
              </a:rPr>
              <a:t>An AI layer on a trading app. Users see what needs attention (Insight, Guard), what might fit their plan (Prospect), and whether their mix should change (Adapt), next to the order flow.</a:t>
            </a:r>
            <a:endParaRPr lang="en-US" sz="1849" dirty="0"/>
          </a:p>
        </p:txBody>
      </p:sp>
      <p:sp>
        <p:nvSpPr>
          <p:cNvPr id="11" name="Text 7"/>
          <p:cNvSpPr txBox="1"/>
          <p:nvPr/>
        </p:nvSpPr>
        <p:spPr>
          <a:xfrm>
            <a:off x="7223760" y="6035040"/>
            <a:ext cx="5029200" cy="274320"/>
          </a:xfrm>
          <a:prstGeom prst="rect">
            <a:avLst/>
          </a:prstGeom>
          <a:noFill/>
          <a:ln/>
        </p:spPr>
        <p:txBody>
          <a:bodyPr wrap="square" lIns="0" tIns="0" rIns="0" bIns="0" rtlCol="0" anchor="t"/>
          <a:lstStyle/>
          <a:p>
            <a:pPr indent="0" marL="0">
              <a:buNone/>
            </a:pPr>
            <a:r>
              <a:rPr lang="en-US" sz="1350" dirty="0">
                <a:solidFill>
                  <a:srgbClr val="5B3F96"/>
                </a:solidFill>
                <a:latin typeface="Helvetica Neue" pitchFamily="34" charset="0"/>
                <a:ea typeface="Helvetica Neue" pitchFamily="34" charset="-122"/>
                <a:cs typeface="Helvetica Neue" pitchFamily="34" charset="-120"/>
              </a:rPr>
              <a:t>Scope</a:t>
            </a:r>
            <a:endParaRPr lang="en-US" sz="1350" dirty="0"/>
          </a:p>
        </p:txBody>
      </p:sp>
      <p:sp>
        <p:nvSpPr>
          <p:cNvPr id="12" name="Text 8"/>
          <p:cNvSpPr txBox="1"/>
          <p:nvPr/>
        </p:nvSpPr>
        <p:spPr>
          <a:xfrm>
            <a:off x="7223760" y="6400800"/>
            <a:ext cx="5303520" cy="54864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5 core screens · 2 trade flows of 8 steps each · mock data only</a:t>
            </a:r>
            <a:endParaRPr lang="en-US" sz="1350" dirty="0"/>
          </a:p>
        </p:txBody>
      </p:sp>
      <p:sp>
        <p:nvSpPr>
          <p:cNvPr id="13" name="Text 9"/>
          <p:cNvSpPr txBox="1"/>
          <p:nvPr/>
        </p:nvSpPr>
        <p:spPr>
          <a:xfrm>
            <a:off x="7223760" y="7223760"/>
            <a:ext cx="5029200" cy="274320"/>
          </a:xfrm>
          <a:prstGeom prst="rect">
            <a:avLst/>
          </a:prstGeom>
          <a:noFill/>
          <a:ln/>
        </p:spPr>
        <p:txBody>
          <a:bodyPr wrap="square" lIns="0" tIns="0" rIns="0" bIns="0" rtlCol="0" anchor="t"/>
          <a:lstStyle/>
          <a:p>
            <a:pPr indent="0" marL="0">
              <a:buNone/>
            </a:pPr>
            <a:r>
              <a:rPr lang="en-US" sz="1350" dirty="0">
                <a:solidFill>
                  <a:srgbClr val="C45A35"/>
                </a:solidFill>
                <a:latin typeface="Helvetica Neue" pitchFamily="34" charset="0"/>
                <a:ea typeface="Helvetica Neue" pitchFamily="34" charset="-122"/>
                <a:cs typeface="Helvetica Neue" pitchFamily="34" charset="-120"/>
              </a:rPr>
              <a:t>My role</a:t>
            </a:r>
            <a:endParaRPr lang="en-US" sz="1350" dirty="0"/>
          </a:p>
        </p:txBody>
      </p:sp>
      <p:sp>
        <p:nvSpPr>
          <p:cNvPr id="14" name="Text 10"/>
          <p:cNvSpPr txBox="1"/>
          <p:nvPr/>
        </p:nvSpPr>
        <p:spPr>
          <a:xfrm>
            <a:off x="7223760" y="7589520"/>
            <a:ext cx="5303520" cy="1097280"/>
          </a:xfrm>
          <a:prstGeom prst="rect">
            <a:avLst/>
          </a:prstGeom>
          <a:noFill/>
          <a:ln/>
        </p:spPr>
        <p:txBody>
          <a:bodyPr wrap="square" lIns="0" tIns="0" rIns="0" bIns="0" rtlCol="0" anchor="t"/>
          <a:lstStyle/>
          <a:p>
            <a:pPr indent="0" marL="0">
              <a:buNone/>
            </a:pPr>
            <a:r>
              <a:rPr lang="en-US" sz="1500" dirty="0">
                <a:solidFill>
                  <a:srgbClr val="1F1F1F"/>
                </a:solidFill>
                <a:latin typeface="Helvetica Neue Light" pitchFamily="34" charset="0"/>
                <a:ea typeface="Helvetica Neue Light" pitchFamily="34" charset="-122"/>
                <a:cs typeface="Helvetica Neue Light" pitchFamily="34" charset="-120"/>
              </a:rPr>
              <a:t>Lead UX designer. I framed the problem, designed the trade and AI flows, built the Figma design system, and produced the SwiftUI prototype. AI agents helped with drafting.</a:t>
            </a:r>
            <a:endParaRPr lang="en-US" sz="1500" dirty="0"/>
          </a:p>
        </p:txBody>
      </p:sp>
      <p:pic>
        <p:nvPicPr>
          <p:cNvPr id="15"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Context and constraints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What the prototype has to prove, and what it cannot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468880"/>
            <a:ext cx="5669280" cy="32004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BUSINESS CHALLENGE</a:t>
            </a:r>
            <a:endParaRPr lang="en-US" sz="1280" dirty="0"/>
          </a:p>
        </p:txBody>
      </p:sp>
      <p:sp>
        <p:nvSpPr>
          <p:cNvPr id="7" name="Text 4"/>
          <p:cNvSpPr txBox="1"/>
          <p:nvPr/>
        </p:nvSpPr>
        <p:spPr>
          <a:xfrm>
            <a:off x="45720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Show one complete loop, from noticing a change to placing an order, in a prototype stakeholders can test.</a:t>
            </a:r>
            <a:endParaRPr lang="en-US" sz="2200" dirty="0"/>
          </a:p>
        </p:txBody>
      </p:sp>
      <p:sp>
        <p:nvSpPr>
          <p:cNvPr id="8" name="Text 5"/>
          <p:cNvSpPr txBox="1"/>
          <p:nvPr/>
        </p:nvSpPr>
        <p:spPr>
          <a:xfrm>
            <a:off x="6766560" y="2468880"/>
            <a:ext cx="5669280" cy="32004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STAKEHOLDERS</a:t>
            </a:r>
            <a:endParaRPr lang="en-US" sz="1280" dirty="0"/>
          </a:p>
        </p:txBody>
      </p:sp>
      <p:sp>
        <p:nvSpPr>
          <p:cNvPr id="9" name="Text 6"/>
          <p:cNvSpPr txBox="1"/>
          <p:nvPr/>
        </p:nvSpPr>
        <p:spPr>
          <a:xfrm>
            <a:off x="676656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Active traders, busy investors and first-time investors (draft personas), plus product, design, engineering and compliance.</a:t>
            </a:r>
            <a:endParaRPr lang="en-US" sz="2200" dirty="0"/>
          </a:p>
        </p:txBody>
      </p:sp>
      <p:sp>
        <p:nvSpPr>
          <p:cNvPr id="10" name="Text 7"/>
          <p:cNvSpPr txBox="1"/>
          <p:nvPr/>
        </p:nvSpPr>
        <p:spPr>
          <a:xfrm>
            <a:off x="457200" y="5760720"/>
            <a:ext cx="5669280" cy="32004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SUCCESS</a:t>
            </a:r>
            <a:endParaRPr lang="en-US" sz="1280" dirty="0"/>
          </a:p>
        </p:txBody>
      </p:sp>
      <p:sp>
        <p:nvSpPr>
          <p:cNvPr id="11" name="Text 8"/>
          <p:cNvSpPr txBox="1"/>
          <p:nvPr/>
        </p:nvSpPr>
        <p:spPr>
          <a:xfrm>
            <a:off x="45720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Stakeholders complete a trade and read the AI output without help. Targets are planned, to be set with stakeholders.</a:t>
            </a:r>
            <a:endParaRPr lang="en-US" sz="2200" dirty="0"/>
          </a:p>
        </p:txBody>
      </p:sp>
      <p:sp>
        <p:nvSpPr>
          <p:cNvPr id="12" name="Text 9"/>
          <p:cNvSpPr txBox="1"/>
          <p:nvPr/>
        </p:nvSpPr>
        <p:spPr>
          <a:xfrm>
            <a:off x="6766560" y="5760720"/>
            <a:ext cx="5669280" cy="32004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CONSTRAINTS</a:t>
            </a:r>
            <a:endParaRPr lang="en-US" sz="1280" dirty="0"/>
          </a:p>
        </p:txBody>
      </p:sp>
      <p:sp>
        <p:nvSpPr>
          <p:cNvPr id="13" name="Text 10"/>
          <p:cNvSpPr txBox="1"/>
          <p:nvPr/>
        </p:nvSpPr>
        <p:spPr>
          <a:xfrm>
            <a:off x="676656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Mock data and a mock API only. No live brokerage or market data. Trade and AI copy need compliance review.</a:t>
            </a:r>
            <a:endParaRPr lang="en-US" sz="2200" dirty="0"/>
          </a:p>
        </p:txBody>
      </p:sp>
      <p:pic>
        <p:nvPicPr>
          <p:cNvPr id="14"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work was done, and what is still open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3A7D55"/>
          </a:solidFill>
          <a:ln w="12700">
            <a:solidFill>
              <a:srgbClr val="3A7D55"/>
            </a:solidFill>
            <a:prstDash val="solid"/>
          </a:ln>
        </p:spPr>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Frame</a:t>
            </a:r>
            <a:endParaRPr lang="en-US" sz="2000" dirty="0"/>
          </a:p>
        </p:txBody>
      </p:sp>
      <p:sp>
        <p:nvSpPr>
          <p:cNvPr id="8" name="Text 5"/>
          <p:cNvSpPr txBox="1"/>
          <p:nvPr/>
        </p:nvSpPr>
        <p:spPr>
          <a:xfrm>
            <a:off x="457200" y="3657600"/>
            <a:ext cx="182880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DONE</a:t>
            </a:r>
            <a:endParaRPr lang="en-US" sz="1280" dirty="0"/>
          </a:p>
        </p:txBody>
      </p:sp>
      <p:sp>
        <p:nvSpPr>
          <p:cNvPr id="9" name="Text 6"/>
          <p:cNvSpPr txBox="1"/>
          <p:nvPr/>
        </p:nvSpPr>
        <p:spPr>
          <a:xfrm>
            <a:off x="457200"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Problem, scope and assumptions recorded on the FigJam board.</a:t>
            </a:r>
            <a:endParaRPr lang="en-US" sz="1500" dirty="0"/>
          </a:p>
        </p:txBody>
      </p:sp>
      <p:sp>
        <p:nvSpPr>
          <p:cNvPr id="10" name="Shape 7"/>
          <p:cNvSpPr/>
          <p:nvPr/>
        </p:nvSpPr>
        <p:spPr>
          <a:xfrm>
            <a:off x="2509479" y="2468880"/>
            <a:ext cx="420624" cy="420624"/>
          </a:xfrm>
          <a:prstGeom prst="ellipse">
            <a:avLst/>
          </a:prstGeom>
          <a:solidFill>
            <a:srgbClr val="C45A35"/>
          </a:solidFill>
          <a:ln w="12700">
            <a:solidFill>
              <a:srgbClr val="C45A35"/>
            </a:solidFill>
            <a:prstDash val="solid"/>
          </a:ln>
        </p:spPr>
      </p:sp>
      <p:sp>
        <p:nvSpPr>
          <p:cNvPr id="11" name="Text 8"/>
          <p:cNvSpPr txBox="1"/>
          <p:nvPr/>
        </p:nvSpPr>
        <p:spPr>
          <a:xfrm>
            <a:off x="250947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250947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Hypothesize</a:t>
            </a:r>
            <a:endParaRPr lang="en-US" sz="2000" dirty="0"/>
          </a:p>
        </p:txBody>
      </p:sp>
      <p:sp>
        <p:nvSpPr>
          <p:cNvPr id="13" name="Text 10"/>
          <p:cNvSpPr txBox="1"/>
          <p:nvPr/>
        </p:nvSpPr>
        <p:spPr>
          <a:xfrm>
            <a:off x="250947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4" name="Text 11"/>
          <p:cNvSpPr txBox="1"/>
          <p:nvPr/>
        </p:nvSpPr>
        <p:spPr>
          <a:xfrm>
            <a:off x="250947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Three draft personas, marked untested.</a:t>
            </a:r>
            <a:endParaRPr lang="en-US" sz="1500" dirty="0"/>
          </a:p>
        </p:txBody>
      </p:sp>
      <p:sp>
        <p:nvSpPr>
          <p:cNvPr id="15" name="Shape 12"/>
          <p:cNvSpPr/>
          <p:nvPr/>
        </p:nvSpPr>
        <p:spPr>
          <a:xfrm>
            <a:off x="4561759" y="2468880"/>
            <a:ext cx="420624" cy="420624"/>
          </a:xfrm>
          <a:prstGeom prst="ellipse">
            <a:avLst/>
          </a:prstGeom>
          <a:solidFill>
            <a:srgbClr val="C45A35"/>
          </a:solidFill>
          <a:ln w="12700">
            <a:solidFill>
              <a:srgbClr val="C45A35"/>
            </a:solidFill>
            <a:prstDash val="solid"/>
          </a:ln>
        </p:spPr>
      </p:sp>
      <p:sp>
        <p:nvSpPr>
          <p:cNvPr id="16" name="Text 13"/>
          <p:cNvSpPr txBox="1"/>
          <p:nvPr/>
        </p:nvSpPr>
        <p:spPr>
          <a:xfrm>
            <a:off x="456175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7" name="Text 14"/>
          <p:cNvSpPr txBox="1"/>
          <p:nvPr/>
        </p:nvSpPr>
        <p:spPr>
          <a:xfrm>
            <a:off x="456175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Map flows</a:t>
            </a:r>
            <a:endParaRPr lang="en-US" sz="2000" dirty="0"/>
          </a:p>
        </p:txBody>
      </p:sp>
      <p:sp>
        <p:nvSpPr>
          <p:cNvPr id="18" name="Text 15"/>
          <p:cNvSpPr txBox="1"/>
          <p:nvPr/>
        </p:nvSpPr>
        <p:spPr>
          <a:xfrm>
            <a:off x="456175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9" name="Text 16"/>
          <p:cNvSpPr txBox="1"/>
          <p:nvPr/>
        </p:nvSpPr>
        <p:spPr>
          <a:xfrm>
            <a:off x="456175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Share and dollar trade flows, and the AI feature flow, drafted in Figma.</a:t>
            </a:r>
            <a:endParaRPr lang="en-US" sz="1500" dirty="0"/>
          </a:p>
        </p:txBody>
      </p:sp>
      <p:sp>
        <p:nvSpPr>
          <p:cNvPr id="20" name="Shape 17"/>
          <p:cNvSpPr/>
          <p:nvPr/>
        </p:nvSpPr>
        <p:spPr>
          <a:xfrm>
            <a:off x="6614038" y="2468880"/>
            <a:ext cx="420624" cy="420624"/>
          </a:xfrm>
          <a:prstGeom prst="ellipse">
            <a:avLst/>
          </a:prstGeom>
          <a:solidFill>
            <a:srgbClr val="5B3F96"/>
          </a:solidFill>
          <a:ln w="12700">
            <a:solidFill>
              <a:srgbClr val="5B3F96"/>
            </a:solidFill>
            <a:prstDash val="solid"/>
          </a:ln>
        </p:spPr>
      </p:sp>
      <p:sp>
        <p:nvSpPr>
          <p:cNvPr id="21" name="Text 18"/>
          <p:cNvSpPr txBox="1"/>
          <p:nvPr/>
        </p:nvSpPr>
        <p:spPr>
          <a:xfrm>
            <a:off x="6614038"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2" name="Text 19"/>
          <p:cNvSpPr txBox="1"/>
          <p:nvPr/>
        </p:nvSpPr>
        <p:spPr>
          <a:xfrm>
            <a:off x="6614038"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system</a:t>
            </a:r>
            <a:endParaRPr lang="en-US" sz="2000" dirty="0"/>
          </a:p>
        </p:txBody>
      </p:sp>
      <p:sp>
        <p:nvSpPr>
          <p:cNvPr id="23" name="Text 20"/>
          <p:cNvSpPr txBox="1"/>
          <p:nvPr/>
        </p:nvSpPr>
        <p:spPr>
          <a:xfrm>
            <a:off x="6614038" y="3657600"/>
            <a:ext cx="182880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IN PROGRESS</a:t>
            </a:r>
            <a:endParaRPr lang="en-US" sz="1280" dirty="0"/>
          </a:p>
        </p:txBody>
      </p:sp>
      <p:sp>
        <p:nvSpPr>
          <p:cNvPr id="24" name="Text 21"/>
          <p:cNvSpPr txBox="1"/>
          <p:nvPr/>
        </p:nvSpPr>
        <p:spPr>
          <a:xfrm>
            <a:off x="6614038"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Tokens shared between Figma and SwiftUI. Component library not yet audited.</a:t>
            </a:r>
            <a:endParaRPr lang="en-US" sz="1500" dirty="0"/>
          </a:p>
        </p:txBody>
      </p:sp>
      <p:sp>
        <p:nvSpPr>
          <p:cNvPr id="25" name="Shape 22"/>
          <p:cNvSpPr/>
          <p:nvPr/>
        </p:nvSpPr>
        <p:spPr>
          <a:xfrm>
            <a:off x="8666317" y="2468880"/>
            <a:ext cx="420624" cy="420624"/>
          </a:xfrm>
          <a:prstGeom prst="ellipse">
            <a:avLst/>
          </a:prstGeom>
          <a:solidFill>
            <a:srgbClr val="C45A35"/>
          </a:solidFill>
          <a:ln w="12700">
            <a:solidFill>
              <a:srgbClr val="C45A35"/>
            </a:solidFill>
            <a:prstDash val="solid"/>
          </a:ln>
        </p:spPr>
      </p:sp>
      <p:sp>
        <p:nvSpPr>
          <p:cNvPr id="26" name="Text 23"/>
          <p:cNvSpPr txBox="1"/>
          <p:nvPr/>
        </p:nvSpPr>
        <p:spPr>
          <a:xfrm>
            <a:off x="866631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7" name="Text 24"/>
          <p:cNvSpPr txBox="1"/>
          <p:nvPr/>
        </p:nvSpPr>
        <p:spPr>
          <a:xfrm>
            <a:off x="866631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states</a:t>
            </a:r>
            <a:endParaRPr lang="en-US" sz="2000" dirty="0"/>
          </a:p>
        </p:txBody>
      </p:sp>
      <p:sp>
        <p:nvSpPr>
          <p:cNvPr id="28" name="Text 25"/>
          <p:cNvSpPr txBox="1"/>
          <p:nvPr/>
        </p:nvSpPr>
        <p:spPr>
          <a:xfrm>
            <a:off x="8666317"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29" name="Text 26"/>
          <p:cNvSpPr txBox="1"/>
          <p:nvPr/>
        </p:nvSpPr>
        <p:spPr>
          <a:xfrm>
            <a:off x="866631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Empty, loading, error and offline states on 06- Wireframes. Agent flows on 07-, full experience on 08-.</a:t>
            </a:r>
            <a:endParaRPr lang="en-US" sz="1500" dirty="0"/>
          </a:p>
        </p:txBody>
      </p:sp>
      <p:sp>
        <p:nvSpPr>
          <p:cNvPr id="30" name="Shape 27"/>
          <p:cNvSpPr/>
          <p:nvPr/>
        </p:nvSpPr>
        <p:spPr>
          <a:xfrm>
            <a:off x="10718597" y="2468880"/>
            <a:ext cx="420624" cy="420624"/>
          </a:xfrm>
          <a:prstGeom prst="ellipse">
            <a:avLst/>
          </a:prstGeom>
          <a:solidFill>
            <a:srgbClr val="6E6E6E"/>
          </a:solidFill>
          <a:ln w="12700">
            <a:solidFill>
              <a:srgbClr val="6E6E6E"/>
            </a:solidFill>
            <a:prstDash val="solid"/>
          </a:ln>
        </p:spPr>
      </p:sp>
      <p:sp>
        <p:nvSpPr>
          <p:cNvPr id="31" name="Text 28"/>
          <p:cNvSpPr txBox="1"/>
          <p:nvPr/>
        </p:nvSpPr>
        <p:spPr>
          <a:xfrm>
            <a:off x="1071859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6</a:t>
            </a:r>
            <a:endParaRPr lang="en-US" sz="1564" dirty="0"/>
          </a:p>
        </p:txBody>
      </p:sp>
      <p:sp>
        <p:nvSpPr>
          <p:cNvPr id="32" name="Text 29"/>
          <p:cNvSpPr txBox="1"/>
          <p:nvPr/>
        </p:nvSpPr>
        <p:spPr>
          <a:xfrm>
            <a:off x="1071859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Validate</a:t>
            </a:r>
            <a:endParaRPr lang="en-US" sz="2000" dirty="0"/>
          </a:p>
        </p:txBody>
      </p:sp>
      <p:sp>
        <p:nvSpPr>
          <p:cNvPr id="33" name="Text 30"/>
          <p:cNvSpPr txBox="1"/>
          <p:nvPr/>
        </p:nvSpPr>
        <p:spPr>
          <a:xfrm>
            <a:off x="10718597" y="3657600"/>
            <a:ext cx="1828800" cy="274320"/>
          </a:xfrm>
          <a:prstGeom prst="rect">
            <a:avLst/>
          </a:prstGeom>
          <a:noFill/>
          <a:ln/>
        </p:spPr>
        <p:txBody>
          <a:bodyPr wrap="square" lIns="0" tIns="0" rIns="0" bIns="0" rtlCol="0" anchor="t"/>
          <a:lstStyle/>
          <a:p>
            <a:pPr indent="0" marL="0">
              <a:buNone/>
            </a:pPr>
            <a:r>
              <a:rPr lang="en-US" sz="1280" spc="100" kern="0" dirty="0">
                <a:solidFill>
                  <a:srgbClr val="6E6E6E"/>
                </a:solidFill>
                <a:latin typeface="Helvetica Neue" pitchFamily="34" charset="0"/>
                <a:ea typeface="Helvetica Neue" pitchFamily="34" charset="-122"/>
                <a:cs typeface="Helvetica Neue" pitchFamily="34" charset="-120"/>
              </a:rPr>
              <a:t>PLANNED</a:t>
            </a:r>
            <a:endParaRPr lang="en-US" sz="1280" dirty="0"/>
          </a:p>
        </p:txBody>
      </p:sp>
      <p:sp>
        <p:nvSpPr>
          <p:cNvPr id="34" name="Text 31"/>
          <p:cNvSpPr txBox="1"/>
          <p:nvPr/>
        </p:nvSpPr>
        <p:spPr>
          <a:xfrm>
            <a:off x="1071859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Interviews, usability tests and compliance review. Not started.</a:t>
            </a:r>
            <a:endParaRPr lang="en-US" sz="1500" dirty="0"/>
          </a:p>
        </p:txBody>
      </p:sp>
      <p:sp>
        <p:nvSpPr>
          <p:cNvPr id="35" name="Text 32"/>
          <p:cNvSpPr txBox="1"/>
          <p:nvPr/>
        </p:nvSpPr>
        <p:spPr>
          <a:xfrm>
            <a:off x="457200" y="6949440"/>
            <a:ext cx="12070080" cy="365760"/>
          </a:xfrm>
          <a:prstGeom prst="rect">
            <a:avLst/>
          </a:prstGeom>
          <a:noFill/>
          <a:ln/>
        </p:spPr>
        <p:txBody>
          <a:bodyPr wrap="square" lIns="0" tIns="0" rIns="0" bIns="0" rtlCol="0" anchor="t"/>
          <a:lstStyle/>
          <a:p>
            <a:pPr indent="0" marL="0">
              <a:buNone/>
            </a:pPr>
            <a:r>
              <a:rPr lang="en-US" sz="1500" dirty="0">
                <a:solidFill>
                  <a:srgbClr val="6E6E6E"/>
                </a:solidFill>
                <a:latin typeface="Helvetica Neue Light" pitchFamily="34" charset="0"/>
                <a:ea typeface="Helvetica Neue Light" pitchFamily="34" charset="-122"/>
                <a:cs typeface="Helvetica Neue Light" pitchFamily="34" charset="-120"/>
              </a:rPr>
              <a:t>Status is a designer’s self-assessment. No interviews or usability tests have run yet.</a:t>
            </a:r>
            <a:endParaRPr lang="en-US" sz="1500" dirty="0"/>
          </a:p>
        </p:txBody>
      </p:sp>
      <p:pic>
        <p:nvPicPr>
          <p:cNvPr id="3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03 · Problem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user problem and the AI problem, defined separately</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C45A35"/>
          </a:solidFill>
          <a:ln w="12700">
            <a:solidFill>
              <a:srgbClr val="C45A35"/>
            </a:solidFill>
            <a:prstDash val="solid"/>
          </a:ln>
        </p:spPr>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User problem</a:t>
            </a:r>
            <a:endParaRPr lang="en-US" sz="2200" dirty="0"/>
          </a:p>
        </p:txBody>
      </p:sp>
      <p:sp>
        <p:nvSpPr>
          <p:cNvPr id="8" name="Text 5"/>
          <p:cNvSpPr txBox="1"/>
          <p:nvPr/>
        </p:nvSpPr>
        <p:spPr>
          <a:xfrm>
            <a:off x="45720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Research, order entry, watching positions and rebalancing live in different places. The hold-or-exit call gets made in the user’s head.</a:t>
            </a:r>
            <a:endParaRPr lang="en-US" sz="1700" dirty="0"/>
          </a:p>
        </p:txBody>
      </p:sp>
      <p:sp>
        <p:nvSpPr>
          <p:cNvPr id="9" name="Shape 6"/>
          <p:cNvSpPr/>
          <p:nvPr/>
        </p:nvSpPr>
        <p:spPr>
          <a:xfrm>
            <a:off x="4663440" y="2468880"/>
            <a:ext cx="420624" cy="420624"/>
          </a:xfrm>
          <a:prstGeom prst="ellipse">
            <a:avLst/>
          </a:prstGeom>
          <a:solidFill>
            <a:srgbClr val="5B3F96"/>
          </a:solidFill>
          <a:ln w="12700">
            <a:solidFill>
              <a:srgbClr val="5B3F96"/>
            </a:solidFill>
            <a:prstDash val="solid"/>
          </a:ln>
        </p:spPr>
      </p:sp>
      <p:sp>
        <p:nvSpPr>
          <p:cNvPr id="10" name="Text 7"/>
          <p:cNvSpPr txBox="1"/>
          <p:nvPr/>
        </p:nvSpPr>
        <p:spPr>
          <a:xfrm>
            <a:off x="466344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466344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AI problem</a:t>
            </a:r>
            <a:endParaRPr lang="en-US" sz="2200" dirty="0"/>
          </a:p>
        </p:txBody>
      </p:sp>
      <p:sp>
        <p:nvSpPr>
          <p:cNvPr id="12" name="Text 9"/>
          <p:cNvSpPr txBox="1"/>
          <p:nvPr/>
        </p:nvSpPr>
        <p:spPr>
          <a:xfrm>
            <a:off x="466344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Summarize what moved and why, with the source. Rank alerts by severity. Show prospects with upside and downside. Propose a rebalance the user reviews first.</a:t>
            </a:r>
            <a:endParaRPr lang="en-US" sz="1700" dirty="0"/>
          </a:p>
        </p:txBody>
      </p:sp>
      <p:sp>
        <p:nvSpPr>
          <p:cNvPr id="13" name="Shape 10"/>
          <p:cNvSpPr/>
          <p:nvPr/>
        </p:nvSpPr>
        <p:spPr>
          <a:xfrm>
            <a:off x="8869680" y="2468880"/>
            <a:ext cx="420624" cy="420624"/>
          </a:xfrm>
          <a:prstGeom prst="ellipse">
            <a:avLst/>
          </a:prstGeom>
          <a:solidFill>
            <a:srgbClr val="00868B"/>
          </a:solidFill>
          <a:ln w="12700">
            <a:solidFill>
              <a:srgbClr val="00868B"/>
            </a:solidFill>
            <a:prstDash val="solid"/>
          </a:ln>
        </p:spPr>
      </p:sp>
      <p:sp>
        <p:nvSpPr>
          <p:cNvPr id="14" name="Text 11"/>
          <p:cNvSpPr txBox="1"/>
          <p:nvPr/>
        </p:nvSpPr>
        <p:spPr>
          <a:xfrm>
            <a:off x="886968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5" name="Text 12"/>
          <p:cNvSpPr txBox="1"/>
          <p:nvPr/>
        </p:nvSpPr>
        <p:spPr>
          <a:xfrm>
            <a:off x="886968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Why AI</a:t>
            </a:r>
            <a:endParaRPr lang="en-US" sz="2200" dirty="0"/>
          </a:p>
        </p:txBody>
      </p:sp>
      <p:sp>
        <p:nvSpPr>
          <p:cNvPr id="16" name="Text 13"/>
          <p:cNvSpPr txBox="1"/>
          <p:nvPr/>
        </p:nvSpPr>
        <p:spPr>
          <a:xfrm>
            <a:off x="886968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Summarizing news and research is a language task. Watching many positions is repetitive. Where a simple rule works, such as sorting or thresholds, the design uses a rule.</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trading apps today, and the gap</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From the August 2026 competitive audit. Re-check features before publishing.</a:t>
            </a:r>
          </a:p>
        </p:txBody>
      </p:sp>
      <p:graphicFrame>
        <p:nvGraphicFramePr>
          <p:cNvPr id="5" name="Table 4"/>
          <p:cNvGraphicFramePr>
            <a:graphicFrameLocks noGrp="1"/>
          </p:cNvGraphicFramePr>
          <p:nvPr/>
        </p:nvGraphicFramePr>
        <p:xfrm>
          <a:off x="457200" y="2377440"/>
          <a:ext cx="12070080" cy="411480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Feature today</a:t>
                      </a:r>
                    </a:p>
                  </a:txBody>
                  <a:tcPr/>
                </a:tc>
                <a:tc>
                  <a:txBody>
                    <a:bodyPr/>
                    <a:lstStyle/>
                    <a:p>
                      <a:r>
                        <a:rPr sz="1500" b="1">
                          <a:solidFill>
                            <a:srgbClr val="C45A35"/>
                          </a:solidFill>
                          <a:latin typeface="Helvetica Neue"/>
                        </a:rPr>
                        <a:t>Limitation</a:t>
                      </a:r>
                    </a:p>
                  </a:txBody>
                  <a:tcPr/>
                </a:tc>
              </a:tr>
              <a:tr h="822960">
                <a:tc>
                  <a:txBody>
                    <a:bodyPr/>
                    <a:lstStyle/>
                    <a:p>
                      <a:r>
                        <a:rPr sz="1600" b="1">
                          <a:solidFill>
                            <a:srgbClr val="1F1F1F"/>
                          </a:solidFill>
                          <a:latin typeface="Helvetica Neue"/>
                        </a:rPr>
                        <a:t>Robinhood</a:t>
                      </a:r>
                    </a:p>
                  </a:txBody>
                  <a:tcPr/>
                </a:tc>
                <a:tc>
                  <a:txBody>
                    <a:bodyPr/>
                    <a:lstStyle/>
                    <a:p>
                      <a:r>
                        <a:rPr sz="1600" b="0">
                          <a:solidFill>
                            <a:srgbClr val="1F1F1F"/>
                          </a:solidFill>
                          <a:latin typeface="Helvetica Neue Light"/>
                        </a:rPr>
                        <a:t>Price alerts that notify when a stock moves.</a:t>
                      </a:r>
                    </a:p>
                  </a:txBody>
                  <a:tcPr/>
                </a:tc>
                <a:tc>
                  <a:txBody>
                    <a:bodyPr/>
                    <a:lstStyle/>
                    <a:p>
                      <a:r>
                        <a:rPr sz="1600" b="0">
                          <a:solidFill>
                            <a:srgbClr val="1F1F1F"/>
                          </a:solidFill>
                          <a:latin typeface="Helvetica Neue Light"/>
                        </a:rPr>
                        <a:t>Passive and user-initiated. No pattern-based guidance.</a:t>
                      </a:r>
                    </a:p>
                  </a:txBody>
                  <a:tcPr/>
                </a:tc>
              </a:tr>
              <a:tr h="822960">
                <a:tc>
                  <a:txBody>
                    <a:bodyPr/>
                    <a:lstStyle/>
                    <a:p>
                      <a:r>
                        <a:rPr sz="1600" b="1">
                          <a:solidFill>
                            <a:srgbClr val="1F1F1F"/>
                          </a:solidFill>
                          <a:latin typeface="Helvetica Neue"/>
                        </a:rPr>
                        <a:t>Schwab</a:t>
                      </a:r>
                    </a:p>
                  </a:txBody>
                  <a:tcPr/>
                </a:tc>
                <a:tc>
                  <a:txBody>
                    <a:bodyPr/>
                    <a:lstStyle/>
                    <a:p>
                      <a:r>
                        <a:rPr sz="1600" b="0">
                          <a:solidFill>
                            <a:srgbClr val="1F1F1F"/>
                          </a:solidFill>
                          <a:latin typeface="Helvetica Neue Light"/>
                        </a:rPr>
                        <a:t>Suitability checks that warn when an order breaks a risk profile.</a:t>
                      </a:r>
                    </a:p>
                  </a:txBody>
                  <a:tcPr/>
                </a:tc>
                <a:tc>
                  <a:txBody>
                    <a:bodyPr/>
                    <a:lstStyle/>
                    <a:p>
                      <a:r>
                        <a:rPr sz="1600" b="0">
                          <a:solidFill>
                            <a:srgbClr val="1F1F1F"/>
                          </a:solidFill>
                          <a:latin typeface="Helvetica Neue Light"/>
                        </a:rPr>
                        <a:t>Compliance-driven. Does not learn from the user.</a:t>
                      </a:r>
                    </a:p>
                  </a:txBody>
                  <a:tcPr/>
                </a:tc>
              </a:tr>
              <a:tr h="822960">
                <a:tc>
                  <a:txBody>
                    <a:bodyPr/>
                    <a:lstStyle/>
                    <a:p>
                      <a:r>
                        <a:rPr sz="1600" b="1">
                          <a:solidFill>
                            <a:srgbClr val="1F1F1F"/>
                          </a:solidFill>
                          <a:latin typeface="Helvetica Neue"/>
                        </a:rPr>
                        <a:t>Wealthfront</a:t>
                      </a:r>
                    </a:p>
                  </a:txBody>
                  <a:tcPr/>
                </a:tc>
                <a:tc>
                  <a:txBody>
                    <a:bodyPr/>
                    <a:lstStyle/>
                    <a:p>
                      <a:r>
                        <a:rPr sz="1600" b="0">
                          <a:solidFill>
                            <a:srgbClr val="1F1F1F"/>
                          </a:solidFill>
                          <a:latin typeface="Helvetica Neue Light"/>
                        </a:rPr>
                        <a:t>Volatility score on positions.</a:t>
                      </a:r>
                    </a:p>
                  </a:txBody>
                  <a:tcPr/>
                </a:tc>
                <a:tc>
                  <a:txBody>
                    <a:bodyPr/>
                    <a:lstStyle/>
                    <a:p>
                      <a:r>
                        <a:rPr sz="1600" b="0">
                          <a:solidFill>
                            <a:srgbClr val="1F1F1F"/>
                          </a:solidFill>
                          <a:latin typeface="Helvetica Neue Light"/>
                        </a:rPr>
                        <a:t>Generic, not based on the user’s own pattern.</a:t>
                      </a:r>
                    </a:p>
                  </a:txBody>
                  <a:tcPr/>
                </a:tc>
              </a:tr>
              <a:tr h="822960">
                <a:tc>
                  <a:txBody>
                    <a:bodyPr/>
                    <a:lstStyle/>
                    <a:p>
                      <a:r>
                        <a:rPr sz="1600" b="1">
                          <a:solidFill>
                            <a:srgbClr val="1F1F1F"/>
                          </a:solidFill>
                          <a:latin typeface="Helvetica Neue"/>
                        </a:rPr>
                        <a:t>Vanguard</a:t>
                      </a:r>
                    </a:p>
                  </a:txBody>
                  <a:tcPr/>
                </a:tc>
                <a:tc>
                  <a:txBody>
                    <a:bodyPr/>
                    <a:lstStyle/>
                    <a:p>
                      <a:r>
                        <a:rPr sz="1600" b="0">
                          <a:solidFill>
                            <a:srgbClr val="1F1F1F"/>
                          </a:solidFill>
                          <a:latin typeface="Helvetica Neue Light"/>
                        </a:rPr>
                        <a:t>Time-based rebalancing reminders.</a:t>
                      </a:r>
                    </a:p>
                  </a:txBody>
                  <a:tcPr/>
                </a:tc>
                <a:tc>
                  <a:txBody>
                    <a:bodyPr/>
                    <a:lstStyle/>
                    <a:p>
                      <a:r>
                        <a:rPr sz="1600" b="0">
                          <a:solidFill>
                            <a:srgbClr val="1F1F1F"/>
                          </a:solidFill>
                          <a:latin typeface="Helvetica Neue Light"/>
                        </a:rPr>
                        <a:t>Tied to the calendar, not to the user’s behavior.</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Meridian’s bet: nudges built from the user’s own history, shown next to the order. The audit found no platform doing this.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04 · Users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Three draft personas to validate before we rely on them</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38404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 PERSONA</a:t>
            </a:r>
            <a:endParaRPr lang="en-US" sz="1280" dirty="0"/>
          </a:p>
        </p:txBody>
      </p:sp>
      <p:sp>
        <p:nvSpPr>
          <p:cNvPr id="6" name="Text 3"/>
          <p:cNvSpPr txBox="1"/>
          <p:nvPr/>
        </p:nvSpPr>
        <p:spPr>
          <a:xfrm>
            <a:off x="45720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Maya</a:t>
            </a:r>
            <a:endParaRPr lang="en-US" sz="3600" dirty="0"/>
          </a:p>
        </p:txBody>
      </p:sp>
      <p:sp>
        <p:nvSpPr>
          <p:cNvPr id="7" name="Text 4"/>
          <p:cNvSpPr txBox="1"/>
          <p:nvPr/>
        </p:nvSpPr>
        <p:spPr>
          <a:xfrm>
            <a:off x="457200" y="3566160"/>
            <a:ext cx="3840480" cy="36576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Active self-directed trader</a:t>
            </a:r>
            <a:endParaRPr lang="en-US" sz="1500" dirty="0"/>
          </a:p>
        </p:txBody>
      </p:sp>
      <p:sp>
        <p:nvSpPr>
          <p:cNvPr id="8" name="Text 5"/>
          <p:cNvSpPr txBox="1"/>
          <p:nvPr/>
        </p:nvSpPr>
        <p:spPr>
          <a:xfrm>
            <a:off x="45720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Trades several times a week from her phone. Uses a brokerage app and a separate news source.</a:t>
            </a:r>
            <a:endParaRPr lang="en-US" sz="1700" dirty="0"/>
          </a:p>
        </p:txBody>
      </p:sp>
      <p:sp>
        <p:nvSpPr>
          <p:cNvPr id="9" name="Text 6"/>
          <p:cNvSpPr txBox="1"/>
          <p:nvPr/>
        </p:nvSpPr>
        <p:spPr>
          <a:xfrm>
            <a:off x="45720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Get in and out quickly; spot momentum early</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research is scattered; order entry takes too many taps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Insight, Prospect, Share flow</a:t>
            </a:r>
            <a:endParaRPr lang="en-US" sz="1636" dirty="0"/>
          </a:p>
        </p:txBody>
      </p:sp>
      <p:sp>
        <p:nvSpPr>
          <p:cNvPr id="10" name="Text 7"/>
          <p:cNvSpPr txBox="1"/>
          <p:nvPr/>
        </p:nvSpPr>
        <p:spPr>
          <a:xfrm>
            <a:off x="4663440" y="2468880"/>
            <a:ext cx="38404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DRAFT PERSONA</a:t>
            </a:r>
            <a:endParaRPr lang="en-US" sz="1280" dirty="0"/>
          </a:p>
        </p:txBody>
      </p:sp>
      <p:sp>
        <p:nvSpPr>
          <p:cNvPr id="11" name="Text 8"/>
          <p:cNvSpPr txBox="1"/>
          <p:nvPr/>
        </p:nvSpPr>
        <p:spPr>
          <a:xfrm>
            <a:off x="466344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Daniel</a:t>
            </a:r>
            <a:endParaRPr lang="en-US" sz="3600" dirty="0"/>
          </a:p>
        </p:txBody>
      </p:sp>
      <p:sp>
        <p:nvSpPr>
          <p:cNvPr id="12" name="Text 9"/>
          <p:cNvSpPr txBox="1"/>
          <p:nvPr/>
        </p:nvSpPr>
        <p:spPr>
          <a:xfrm>
            <a:off x="4663440" y="3566160"/>
            <a:ext cx="3840480" cy="36576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Busy professional investor</a:t>
            </a:r>
            <a:endParaRPr lang="en-US" sz="1500" dirty="0"/>
          </a:p>
        </p:txBody>
      </p:sp>
      <p:sp>
        <p:nvSpPr>
          <p:cNvPr id="13" name="Text 10"/>
          <p:cNvSpPr txBox="1"/>
          <p:nvPr/>
        </p:nvSpPr>
        <p:spPr>
          <a:xfrm>
            <a:off x="466344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Invests a fixed amount each month and checks his portfolio weekly.</a:t>
            </a:r>
            <a:endParaRPr lang="en-US" sz="1700" dirty="0"/>
          </a:p>
        </p:txBody>
      </p:sp>
      <p:sp>
        <p:nvSpPr>
          <p:cNvPr id="14" name="Text 11"/>
          <p:cNvSpPr txBox="1"/>
          <p:nvPr/>
        </p:nvSpPr>
        <p:spPr>
          <a:xfrm>
            <a:off x="466344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Grow long-term savings without big mistakes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no time to research; unsure when to rebalance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Guard, Adapt, Dashboard</a:t>
            </a:r>
            <a:endParaRPr lang="en-US" sz="1636" dirty="0"/>
          </a:p>
        </p:txBody>
      </p:sp>
      <p:sp>
        <p:nvSpPr>
          <p:cNvPr id="15" name="Text 12"/>
          <p:cNvSpPr txBox="1"/>
          <p:nvPr/>
        </p:nvSpPr>
        <p:spPr>
          <a:xfrm>
            <a:off x="8869680" y="2468880"/>
            <a:ext cx="38404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DRAFT PERSONA</a:t>
            </a:r>
            <a:endParaRPr lang="en-US" sz="1280" dirty="0"/>
          </a:p>
        </p:txBody>
      </p:sp>
      <p:sp>
        <p:nvSpPr>
          <p:cNvPr id="16" name="Text 13"/>
          <p:cNvSpPr txBox="1"/>
          <p:nvPr/>
        </p:nvSpPr>
        <p:spPr>
          <a:xfrm>
            <a:off x="886968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Priya</a:t>
            </a:r>
            <a:endParaRPr lang="en-US" sz="3600" dirty="0"/>
          </a:p>
        </p:txBody>
      </p:sp>
      <p:sp>
        <p:nvSpPr>
          <p:cNvPr id="17" name="Text 14"/>
          <p:cNvSpPr txBox="1"/>
          <p:nvPr/>
        </p:nvSpPr>
        <p:spPr>
          <a:xfrm>
            <a:off x="8869680" y="3566160"/>
            <a:ext cx="3840480" cy="36576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First-time investor</a:t>
            </a:r>
            <a:endParaRPr lang="en-US" sz="1500" dirty="0"/>
          </a:p>
        </p:txBody>
      </p:sp>
      <p:sp>
        <p:nvSpPr>
          <p:cNvPr id="18" name="Text 15"/>
          <p:cNvSpPr txBox="1"/>
          <p:nvPr/>
        </p:nvSpPr>
        <p:spPr>
          <a:xfrm>
            <a:off x="886968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New to investing. Wants to start small and learn while she invests.</a:t>
            </a:r>
            <a:endParaRPr lang="en-US" sz="1700" dirty="0"/>
          </a:p>
        </p:txBody>
      </p:sp>
      <p:sp>
        <p:nvSpPr>
          <p:cNvPr id="19" name="Text 16"/>
          <p:cNvSpPr txBox="1"/>
          <p:nvPr/>
        </p:nvSpPr>
        <p:spPr>
          <a:xfrm>
            <a:off x="886968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Learn by doing; avoid a wrong trade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jargon; fear of ordering the wrong amount</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Dollar flow, Insight explanations</a:t>
            </a:r>
            <a:endParaRPr lang="en-US" sz="1636" dirty="0"/>
          </a:p>
        </p:txBody>
      </p:sp>
      <p:sp>
        <p:nvSpPr>
          <p:cNvPr id="20" name="Text 17"/>
          <p:cNvSpPr txBox="1"/>
          <p:nvPr/>
        </p:nvSpPr>
        <p:spPr>
          <a:xfrm>
            <a:off x="457200" y="8549640"/>
            <a:ext cx="12070080" cy="320040"/>
          </a:xfrm>
          <a:prstGeom prst="rect">
            <a:avLst/>
          </a:prstGeom>
          <a:noFill/>
          <a:ln/>
        </p:spPr>
        <p:txBody>
          <a:bodyPr wrap="square" lIns="0" tIns="0" rIns="0" bIns="0" rtlCol="0" anchor="t"/>
          <a:lstStyle/>
          <a:p>
            <a:pP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Hypotheses from the FigJam board. Interviews come before any decision rests on them.</a:t>
            </a:r>
            <a:endParaRPr lang="en-US" sz="1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solution</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Hi-fi first: one trade through the app, then the AI screens that inform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each answering one question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282342" cy="4937760"/>
          </a:xfrm>
          <a:prstGeom prst="rect">
            <a:avLst/>
          </a:prstGeom>
          <a:solidFill>
            <a:srgbClr val="14161D"/>
          </a:solidFill>
          <a:ln w="12700">
            <a:solidFill>
              <a:srgbClr val="14161D"/>
            </a:solidFill>
            <a:prstDash val="solid"/>
          </a:ln>
        </p:spPr>
      </p:sp>
      <p:pic>
        <p:nvPicPr>
          <p:cNvPr id="6" name="Image 1" descr="/tmp/meridian-deck/img/dash.png">    </p:cNvPr>
          <p:cNvPicPr>
            <a:picLocks noChangeAspect="1"/>
          </p:cNvPicPr>
          <p:nvPr/>
        </p:nvPicPr>
        <p:blipFill>
          <a:blip r:embed="rId3"/>
          <a:stretch>
            <a:fillRect/>
          </a:stretch>
        </p:blipFill>
        <p:spPr>
          <a:xfrm>
            <a:off x="457200" y="2468880"/>
            <a:ext cx="2282342" cy="4937760"/>
          </a:xfrm>
          <a:prstGeom prst="rect">
            <a:avLst/>
          </a:prstGeom>
        </p:spPr>
      </p:pic>
      <p:sp>
        <p:nvSpPr>
          <p:cNvPr id="7" name="Text 3"/>
          <p:cNvSpPr txBox="1"/>
          <p:nvPr/>
        </p:nvSpPr>
        <p:spPr>
          <a:xfrm>
            <a:off x="457200" y="7680960"/>
            <a:ext cx="2282342"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Dashboard</a:t>
            </a:r>
            <a:endParaRPr lang="en-US" sz="1500" dirty="0"/>
          </a:p>
        </p:txBody>
      </p:sp>
      <p:sp>
        <p:nvSpPr>
          <p:cNvPr id="8" name="Text 4"/>
          <p:cNvSpPr txBox="1"/>
          <p:nvPr/>
        </p:nvSpPr>
        <p:spPr>
          <a:xfrm>
            <a:off x="457200"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do I own today?</a:t>
            </a:r>
            <a:endParaRPr lang="en-US" sz="1636" dirty="0"/>
          </a:p>
        </p:txBody>
      </p:sp>
      <p:sp>
        <p:nvSpPr>
          <p:cNvPr id="9" name="Shape 5"/>
          <p:cNvSpPr/>
          <p:nvPr/>
        </p:nvSpPr>
        <p:spPr>
          <a:xfrm>
            <a:off x="2909164" y="2468880"/>
            <a:ext cx="2282342" cy="4937760"/>
          </a:xfrm>
          <a:prstGeom prst="rect">
            <a:avLst/>
          </a:prstGeom>
          <a:solidFill>
            <a:srgbClr val="14161D"/>
          </a:solidFill>
          <a:ln w="12700">
            <a:solidFill>
              <a:srgbClr val="14161D"/>
            </a:solidFill>
            <a:prstDash val="solid"/>
          </a:ln>
        </p:spPr>
      </p:sp>
      <p:pic>
        <p:nvPicPr>
          <p:cNvPr id="10" name="Image 2" descr="/tmp/meridian-deck/img/insight.png">    </p:cNvPr>
          <p:cNvPicPr>
            <a:picLocks noChangeAspect="1"/>
          </p:cNvPicPr>
          <p:nvPr/>
        </p:nvPicPr>
        <p:blipFill>
          <a:blip r:embed="rId4"/>
          <a:stretch>
            <a:fillRect/>
          </a:stretch>
        </p:blipFill>
        <p:spPr>
          <a:xfrm>
            <a:off x="2909164" y="2468880"/>
            <a:ext cx="2282342" cy="4937760"/>
          </a:xfrm>
          <a:prstGeom prst="rect">
            <a:avLst/>
          </a:prstGeom>
        </p:spPr>
      </p:pic>
      <p:sp>
        <p:nvSpPr>
          <p:cNvPr id="11" name="Text 6"/>
          <p:cNvSpPr txBox="1"/>
          <p:nvPr/>
        </p:nvSpPr>
        <p:spPr>
          <a:xfrm>
            <a:off x="2909164" y="7680960"/>
            <a:ext cx="2282342"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a:t>
            </a:r>
            <a:endParaRPr lang="en-US" sz="1500" dirty="0"/>
          </a:p>
        </p:txBody>
      </p:sp>
      <p:sp>
        <p:nvSpPr>
          <p:cNvPr id="12" name="Text 7"/>
          <p:cNvSpPr txBox="1"/>
          <p:nvPr/>
        </p:nvSpPr>
        <p:spPr>
          <a:xfrm>
            <a:off x="290916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moved, and why?</a:t>
            </a:r>
            <a:endParaRPr lang="en-US" sz="1636" dirty="0"/>
          </a:p>
        </p:txBody>
      </p:sp>
      <p:sp>
        <p:nvSpPr>
          <p:cNvPr id="13" name="Shape 8"/>
          <p:cNvSpPr/>
          <p:nvPr/>
        </p:nvSpPr>
        <p:spPr>
          <a:xfrm>
            <a:off x="5361127" y="2468880"/>
            <a:ext cx="2282342" cy="4937760"/>
          </a:xfrm>
          <a:prstGeom prst="rect">
            <a:avLst/>
          </a:prstGeom>
          <a:solidFill>
            <a:srgbClr val="14161D"/>
          </a:solidFill>
          <a:ln w="12700">
            <a:solidFill>
              <a:srgbClr val="14161D"/>
            </a:solidFill>
            <a:prstDash val="solid"/>
          </a:ln>
        </p:spPr>
      </p:sp>
      <p:pic>
        <p:nvPicPr>
          <p:cNvPr id="14" name="Image 3" descr="/tmp/meridian-deck/img/prospect.png">    </p:cNvPr>
          <p:cNvPicPr>
            <a:picLocks noChangeAspect="1"/>
          </p:cNvPicPr>
          <p:nvPr/>
        </p:nvPicPr>
        <p:blipFill>
          <a:blip r:embed="rId5"/>
          <a:stretch>
            <a:fillRect/>
          </a:stretch>
        </p:blipFill>
        <p:spPr>
          <a:xfrm>
            <a:off x="5361127" y="2468880"/>
            <a:ext cx="2282342" cy="4937760"/>
          </a:xfrm>
          <a:prstGeom prst="rect">
            <a:avLst/>
          </a:prstGeom>
        </p:spPr>
      </p:pic>
      <p:sp>
        <p:nvSpPr>
          <p:cNvPr id="15" name="Text 9"/>
          <p:cNvSpPr txBox="1"/>
          <p:nvPr/>
        </p:nvSpPr>
        <p:spPr>
          <a:xfrm>
            <a:off x="5361127" y="7680960"/>
            <a:ext cx="2282342" cy="32004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Prospect</a:t>
            </a:r>
            <a:endParaRPr lang="en-US" sz="1500" dirty="0"/>
          </a:p>
        </p:txBody>
      </p:sp>
      <p:sp>
        <p:nvSpPr>
          <p:cNvPr id="16" name="Text 10"/>
          <p:cNvSpPr txBox="1"/>
          <p:nvPr/>
        </p:nvSpPr>
        <p:spPr>
          <a:xfrm>
            <a:off x="5361127"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might fit my plan?</a:t>
            </a:r>
            <a:endParaRPr lang="en-US" sz="1636" dirty="0"/>
          </a:p>
        </p:txBody>
      </p:sp>
      <p:sp>
        <p:nvSpPr>
          <p:cNvPr id="17" name="Shape 11"/>
          <p:cNvSpPr/>
          <p:nvPr/>
        </p:nvSpPr>
        <p:spPr>
          <a:xfrm>
            <a:off x="7813091" y="2468880"/>
            <a:ext cx="2282342" cy="4937760"/>
          </a:xfrm>
          <a:prstGeom prst="rect">
            <a:avLst/>
          </a:prstGeom>
          <a:solidFill>
            <a:srgbClr val="14161D"/>
          </a:solidFill>
          <a:ln w="12700">
            <a:solidFill>
              <a:srgbClr val="14161D"/>
            </a:solidFill>
            <a:prstDash val="solid"/>
          </a:ln>
        </p:spPr>
      </p:sp>
      <p:pic>
        <p:nvPicPr>
          <p:cNvPr id="18" name="Image 4" descr="/tmp/meridian-deck/img/guard.png">    </p:cNvPr>
          <p:cNvPicPr>
            <a:picLocks noChangeAspect="1"/>
          </p:cNvPicPr>
          <p:nvPr/>
        </p:nvPicPr>
        <p:blipFill>
          <a:blip r:embed="rId6"/>
          <a:stretch>
            <a:fillRect/>
          </a:stretch>
        </p:blipFill>
        <p:spPr>
          <a:xfrm>
            <a:off x="7813091" y="2468880"/>
            <a:ext cx="2282342" cy="4937760"/>
          </a:xfrm>
          <a:prstGeom prst="rect">
            <a:avLst/>
          </a:prstGeom>
        </p:spPr>
      </p:pic>
      <p:sp>
        <p:nvSpPr>
          <p:cNvPr id="19" name="Text 12"/>
          <p:cNvSpPr txBox="1"/>
          <p:nvPr/>
        </p:nvSpPr>
        <p:spPr>
          <a:xfrm>
            <a:off x="7813091" y="7680960"/>
            <a:ext cx="2282342"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Guard</a:t>
            </a:r>
            <a:endParaRPr lang="en-US" sz="1500" dirty="0"/>
          </a:p>
        </p:txBody>
      </p:sp>
      <p:sp>
        <p:nvSpPr>
          <p:cNvPr id="20" name="Text 13"/>
          <p:cNvSpPr txBox="1"/>
          <p:nvPr/>
        </p:nvSpPr>
        <p:spPr>
          <a:xfrm>
            <a:off x="7813091"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needs my attention?</a:t>
            </a:r>
            <a:endParaRPr lang="en-US" sz="1636" dirty="0"/>
          </a:p>
        </p:txBody>
      </p:sp>
      <p:sp>
        <p:nvSpPr>
          <p:cNvPr id="21" name="Shape 14"/>
          <p:cNvSpPr/>
          <p:nvPr/>
        </p:nvSpPr>
        <p:spPr>
          <a:xfrm>
            <a:off x="10265054" y="2468880"/>
            <a:ext cx="2282342" cy="4937760"/>
          </a:xfrm>
          <a:prstGeom prst="rect">
            <a:avLst/>
          </a:prstGeom>
          <a:solidFill>
            <a:srgbClr val="14161D"/>
          </a:solidFill>
          <a:ln w="12700">
            <a:solidFill>
              <a:srgbClr val="14161D"/>
            </a:solidFill>
            <a:prstDash val="solid"/>
          </a:ln>
        </p:spPr>
      </p:sp>
      <p:pic>
        <p:nvPicPr>
          <p:cNvPr id="22" name="Image 5" descr="/tmp/meridian-deck/img/adapt.png">    </p:cNvPr>
          <p:cNvPicPr>
            <a:picLocks noChangeAspect="1"/>
          </p:cNvPicPr>
          <p:nvPr/>
        </p:nvPicPr>
        <p:blipFill>
          <a:blip r:embed="rId7"/>
          <a:stretch>
            <a:fillRect/>
          </a:stretch>
        </p:blipFill>
        <p:spPr>
          <a:xfrm>
            <a:off x="10265054" y="2468880"/>
            <a:ext cx="2282342" cy="4937760"/>
          </a:xfrm>
          <a:prstGeom prst="rect">
            <a:avLst/>
          </a:prstGeom>
        </p:spPr>
      </p:pic>
      <p:sp>
        <p:nvSpPr>
          <p:cNvPr id="23" name="Text 15"/>
          <p:cNvSpPr txBox="1"/>
          <p:nvPr/>
        </p:nvSpPr>
        <p:spPr>
          <a:xfrm>
            <a:off x="10265054" y="7680960"/>
            <a:ext cx="2282342"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Adapt</a:t>
            </a:r>
            <a:endParaRPr lang="en-US" sz="1500" dirty="0"/>
          </a:p>
        </p:txBody>
      </p:sp>
      <p:sp>
        <p:nvSpPr>
          <p:cNvPr id="24" name="Text 16"/>
          <p:cNvSpPr txBox="1"/>
          <p:nvPr/>
        </p:nvSpPr>
        <p:spPr>
          <a:xfrm>
            <a:off x="1026505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Should my mix change?</a:t>
            </a:r>
            <a:endParaRPr lang="en-US" sz="1636"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One trade in eight steps, by share quantity or dollar amount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45720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SHARE FLOW</a:t>
            </a:r>
            <a:endParaRPr lang="en-US" sz="1280" dirty="0"/>
          </a:p>
        </p:txBody>
      </p:sp>
      <p:sp>
        <p:nvSpPr>
          <p:cNvPr id="6" name="Text 3"/>
          <p:cNvSpPr txBox="1"/>
          <p:nvPr/>
        </p:nvSpPr>
        <p:spPr>
          <a:xfrm>
            <a:off x="457200" y="2926080"/>
            <a:ext cx="4754880" cy="4389120"/>
          </a:xfrm>
          <a:prstGeom prst="rect">
            <a:avLst/>
          </a:prstGeom>
          <a:noFill/>
          <a:ln/>
        </p:spPr>
        <p:txBody>
          <a:bodyPr wrap="square" lIns="0" tIns="0" rIns="0" bIns="0" rtlCol="0" anchor="t"/>
          <a:lstStyle/>
          <a:p>
            <a:pPr indent="0" marL="0">
              <a:buNone/>
            </a:pPr>
            <a:r>
              <a:rPr lang="en-US" sz="1700" b="1" dirty="0">
                <a:solidFill>
                  <a:srgbClr val="C45A35"/>
                </a:solidFill>
                <a:latin typeface="Helvetica Neue" pitchFamily="34" charset="0"/>
                <a:ea typeface="Helvetica Neue" pitchFamily="34" charset="-122"/>
                <a:cs typeface="Helvetica Neue" pitchFamily="34" charset="-120"/>
              </a:rPr>
              <a:t>1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Trade Setup</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2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Action</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3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Enter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4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Confirm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5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Order Type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6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Review and Approve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7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Submission Outcome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8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Return to Dashboard</a:t>
            </a:r>
            <a:endParaRPr lang="en-US" sz="1700" dirty="0"/>
          </a:p>
        </p:txBody>
      </p:sp>
      <p:sp>
        <p:nvSpPr>
          <p:cNvPr id="7" name="Text 4"/>
          <p:cNvSpPr txBox="1"/>
          <p:nvPr/>
        </p:nvSpPr>
        <p:spPr>
          <a:xfrm>
            <a:off x="457200" y="7498080"/>
            <a:ext cx="4754880" cy="9144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The dollar flow runs the same eight steps, with Enter Dollar Amount and Confirm Dollar Amount in place of the share steps.</a:t>
            </a:r>
            <a:endParaRPr lang="en-US" sz="1500" dirty="0"/>
          </a:p>
        </p:txBody>
      </p:sp>
      <p:sp>
        <p:nvSpPr>
          <p:cNvPr id="8" name="Shape 5"/>
          <p:cNvSpPr/>
          <p:nvPr/>
        </p:nvSpPr>
        <p:spPr>
          <a:xfrm>
            <a:off x="5517032" y="2468880"/>
            <a:ext cx="1543304" cy="4480560"/>
          </a:xfrm>
          <a:prstGeom prst="rect">
            <a:avLst/>
          </a:prstGeom>
          <a:solidFill>
            <a:srgbClr val="14161D"/>
          </a:solidFill>
          <a:ln w="12700">
            <a:solidFill>
              <a:srgbClr val="14161D"/>
            </a:solidFill>
            <a:prstDash val="solid"/>
          </a:ln>
        </p:spPr>
      </p:sp>
      <p:pic>
        <p:nvPicPr>
          <p:cNvPr id="9" name="Image 1" descr="/tmp/meridian-deck/img/share-setup.png">    </p:cNvPr>
          <p:cNvPicPr>
            <a:picLocks noChangeAspect="1"/>
          </p:cNvPicPr>
          <p:nvPr/>
        </p:nvPicPr>
        <p:blipFill>
          <a:blip r:embed="rId3"/>
          <a:stretch>
            <a:fillRect/>
          </a:stretch>
        </p:blipFill>
        <p:spPr>
          <a:xfrm>
            <a:off x="5517032" y="2468880"/>
            <a:ext cx="1543304" cy="4480560"/>
          </a:xfrm>
          <a:prstGeom prst="rect">
            <a:avLst/>
          </a:prstGeom>
        </p:spPr>
      </p:pic>
      <p:sp>
        <p:nvSpPr>
          <p:cNvPr id="10" name="Shape 6"/>
          <p:cNvSpPr/>
          <p:nvPr/>
        </p:nvSpPr>
        <p:spPr>
          <a:xfrm>
            <a:off x="7288936" y="2468880"/>
            <a:ext cx="2071014" cy="4480560"/>
          </a:xfrm>
          <a:prstGeom prst="rect">
            <a:avLst/>
          </a:prstGeom>
          <a:solidFill>
            <a:srgbClr val="14161D"/>
          </a:solidFill>
          <a:ln w="12700">
            <a:solidFill>
              <a:srgbClr val="14161D"/>
            </a:solidFill>
            <a:prstDash val="solid"/>
          </a:ln>
        </p:spPr>
      </p:sp>
      <p:pic>
        <p:nvPicPr>
          <p:cNvPr id="11" name="Image 2" descr="/tmp/meridian-deck/img/share-quantity.png">    </p:cNvPr>
          <p:cNvPicPr>
            <a:picLocks noChangeAspect="1"/>
          </p:cNvPicPr>
          <p:nvPr/>
        </p:nvPicPr>
        <p:blipFill>
          <a:blip r:embed="rId4"/>
          <a:stretch>
            <a:fillRect/>
          </a:stretch>
        </p:blipFill>
        <p:spPr>
          <a:xfrm>
            <a:off x="7288936" y="2468880"/>
            <a:ext cx="2071014" cy="4480560"/>
          </a:xfrm>
          <a:prstGeom prst="rect">
            <a:avLst/>
          </a:prstGeom>
        </p:spPr>
      </p:pic>
      <p:sp>
        <p:nvSpPr>
          <p:cNvPr id="12" name="Shape 7"/>
          <p:cNvSpPr/>
          <p:nvPr/>
        </p:nvSpPr>
        <p:spPr>
          <a:xfrm>
            <a:off x="9588551" y="2468880"/>
            <a:ext cx="1130097" cy="4480560"/>
          </a:xfrm>
          <a:prstGeom prst="rect">
            <a:avLst/>
          </a:prstGeom>
          <a:solidFill>
            <a:srgbClr val="14161D"/>
          </a:solidFill>
          <a:ln w="12700">
            <a:solidFill>
              <a:srgbClr val="14161D"/>
            </a:solidFill>
            <a:prstDash val="solid"/>
          </a:ln>
        </p:spPr>
      </p:sp>
      <p:pic>
        <p:nvPicPr>
          <p:cNvPr id="13" name="Image 3" descr="/tmp/meridian-deck/img/share-review.png">    </p:cNvPr>
          <p:cNvPicPr>
            <a:picLocks noChangeAspect="1"/>
          </p:cNvPicPr>
          <p:nvPr/>
        </p:nvPicPr>
        <p:blipFill>
          <a:blip r:embed="rId5"/>
          <a:stretch>
            <a:fillRect/>
          </a:stretch>
        </p:blipFill>
        <p:spPr>
          <a:xfrm>
            <a:off x="9588551" y="2468880"/>
            <a:ext cx="1130097" cy="4480560"/>
          </a:xfrm>
          <a:prstGeom prst="rect">
            <a:avLst/>
          </a:prstGeom>
        </p:spPr>
      </p:pic>
      <p:sp>
        <p:nvSpPr>
          <p:cNvPr id="14" name="Shape 8"/>
          <p:cNvSpPr/>
          <p:nvPr/>
        </p:nvSpPr>
        <p:spPr>
          <a:xfrm>
            <a:off x="10947248" y="2468880"/>
            <a:ext cx="1752397" cy="4480560"/>
          </a:xfrm>
          <a:prstGeom prst="rect">
            <a:avLst/>
          </a:prstGeom>
          <a:solidFill>
            <a:srgbClr val="14161D"/>
          </a:solidFill>
          <a:ln w="12700">
            <a:solidFill>
              <a:srgbClr val="14161D"/>
            </a:solidFill>
            <a:prstDash val="solid"/>
          </a:ln>
        </p:spPr>
      </p:sp>
      <p:pic>
        <p:nvPicPr>
          <p:cNvPr id="15" name="Image 4" descr="/tmp/meridian-deck/img/share-outcome.png">    </p:cNvPr>
          <p:cNvPicPr>
            <a:picLocks noChangeAspect="1"/>
          </p:cNvPicPr>
          <p:nvPr/>
        </p:nvPicPr>
        <p:blipFill>
          <a:blip r:embed="rId6"/>
          <a:stretch>
            <a:fillRect/>
          </a:stretch>
        </p:blipFill>
        <p:spPr>
          <a:xfrm>
            <a:off x="10947248" y="2468880"/>
            <a:ext cx="1752397" cy="4480560"/>
          </a:xfrm>
          <a:prstGeom prst="rect">
            <a:avLst/>
          </a:prstGeom>
        </p:spPr>
      </p:pic>
      <p:sp>
        <p:nvSpPr>
          <p:cNvPr id="16" name="Text 9"/>
          <p:cNvSpPr txBox="1"/>
          <p:nvPr/>
        </p:nvSpPr>
        <p:spPr>
          <a:xfrm>
            <a:off x="5669280" y="7223760"/>
            <a:ext cx="6878117" cy="274320"/>
          </a:xfrm>
          <a:prstGeom prst="rect">
            <a:avLst/>
          </a:prstGeom>
          <a:noFill/>
          <a:ln/>
        </p:spPr>
        <p:txBody>
          <a:bodyPr wrap="square" lIns="0" tIns="0" rIns="0" bIns="0" rtlCol="0" anchor="t"/>
          <a:lstStyle/>
          <a:p>
            <a:pPr algn="ct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Setup  ·  Quantity  ·  Review  ·  Outcome</a:t>
            </a:r>
            <a:endParaRPr lang="en-US" sz="14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Designing for the states that mocked data hides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Dashboard in four states. The other four screens follow the same pattern.</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2366874" cy="5120640"/>
          </a:xfrm>
          <a:prstGeom prst="rect">
            <a:avLst/>
          </a:prstGeom>
          <a:solidFill>
            <a:srgbClr val="14161D"/>
          </a:solidFill>
          <a:ln w="12700">
            <a:solidFill>
              <a:srgbClr val="14161D"/>
            </a:solidFill>
            <a:prstDash val="solid"/>
          </a:ln>
        </p:spPr>
      </p:sp>
      <p:pic>
        <p:nvPicPr>
          <p:cNvPr id="7" name="Image 1" descr="/tmp/meridian-deck/img/wf-dash-empty.png">    </p:cNvPr>
          <p:cNvPicPr>
            <a:picLocks noChangeAspect="1"/>
          </p:cNvPicPr>
          <p:nvPr/>
        </p:nvPicPr>
        <p:blipFill>
          <a:blip r:embed="rId3"/>
          <a:stretch>
            <a:fillRect/>
          </a:stretch>
        </p:blipFill>
        <p:spPr>
          <a:xfrm>
            <a:off x="457200" y="2468880"/>
            <a:ext cx="2366874" cy="5120640"/>
          </a:xfrm>
          <a:prstGeom prst="rect">
            <a:avLst/>
          </a:prstGeom>
        </p:spPr>
      </p:pic>
      <p:sp>
        <p:nvSpPr>
          <p:cNvPr id="8" name="Text 4"/>
          <p:cNvSpPr txBox="1"/>
          <p:nvPr/>
        </p:nvSpPr>
        <p:spPr>
          <a:xfrm>
            <a:off x="457200" y="7772400"/>
            <a:ext cx="2366874"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Empty</a:t>
            </a:r>
            <a:endParaRPr lang="en-US" sz="1500" dirty="0"/>
          </a:p>
        </p:txBody>
      </p:sp>
      <p:sp>
        <p:nvSpPr>
          <p:cNvPr id="9" name="Text 5"/>
          <p:cNvSpPr txBox="1"/>
          <p:nvPr/>
        </p:nvSpPr>
        <p:spPr>
          <a:xfrm>
            <a:off x="457200"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No holdings yet. One clear next step.</a:t>
            </a:r>
            <a:endParaRPr lang="en-US" sz="1600" dirty="0"/>
          </a:p>
        </p:txBody>
      </p:sp>
      <p:sp>
        <p:nvSpPr>
          <p:cNvPr id="10" name="Shape 6"/>
          <p:cNvSpPr/>
          <p:nvPr/>
        </p:nvSpPr>
        <p:spPr>
          <a:xfrm>
            <a:off x="3698308" y="2468880"/>
            <a:ext cx="2366874" cy="5120640"/>
          </a:xfrm>
          <a:prstGeom prst="rect">
            <a:avLst/>
          </a:prstGeom>
          <a:solidFill>
            <a:srgbClr val="14161D"/>
          </a:solidFill>
          <a:ln w="12700">
            <a:solidFill>
              <a:srgbClr val="14161D"/>
            </a:solidFill>
            <a:prstDash val="solid"/>
          </a:ln>
        </p:spPr>
      </p:sp>
      <p:pic>
        <p:nvPicPr>
          <p:cNvPr id="11" name="Image 2" descr="/tmp/meridian-deck/img/wf-dash-loading.png">    </p:cNvPr>
          <p:cNvPicPr>
            <a:picLocks noChangeAspect="1"/>
          </p:cNvPicPr>
          <p:nvPr/>
        </p:nvPicPr>
        <p:blipFill>
          <a:blip r:embed="rId4"/>
          <a:stretch>
            <a:fillRect/>
          </a:stretch>
        </p:blipFill>
        <p:spPr>
          <a:xfrm>
            <a:off x="3698308" y="2468880"/>
            <a:ext cx="2366874" cy="5120640"/>
          </a:xfrm>
          <a:prstGeom prst="rect">
            <a:avLst/>
          </a:prstGeom>
        </p:spPr>
      </p:pic>
      <p:sp>
        <p:nvSpPr>
          <p:cNvPr id="12" name="Text 7"/>
          <p:cNvSpPr txBox="1"/>
          <p:nvPr/>
        </p:nvSpPr>
        <p:spPr>
          <a:xfrm>
            <a:off x="3698308" y="777240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Loading</a:t>
            </a:r>
            <a:endParaRPr lang="en-US" sz="1500" dirty="0"/>
          </a:p>
        </p:txBody>
      </p:sp>
      <p:sp>
        <p:nvSpPr>
          <p:cNvPr id="13" name="Text 8"/>
          <p:cNvSpPr txBox="1"/>
          <p:nvPr/>
        </p:nvSpPr>
        <p:spPr>
          <a:xfrm>
            <a:off x="3698308"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Skeleton cards hold the layout while data loads.</a:t>
            </a:r>
            <a:endParaRPr lang="en-US" sz="1600" dirty="0"/>
          </a:p>
        </p:txBody>
      </p:sp>
      <p:sp>
        <p:nvSpPr>
          <p:cNvPr id="14" name="Shape 9"/>
          <p:cNvSpPr/>
          <p:nvPr/>
        </p:nvSpPr>
        <p:spPr>
          <a:xfrm>
            <a:off x="6939415" y="2468880"/>
            <a:ext cx="2366874" cy="5120640"/>
          </a:xfrm>
          <a:prstGeom prst="rect">
            <a:avLst/>
          </a:prstGeom>
          <a:solidFill>
            <a:srgbClr val="14161D"/>
          </a:solidFill>
          <a:ln w="12700">
            <a:solidFill>
              <a:srgbClr val="14161D"/>
            </a:solidFill>
            <a:prstDash val="solid"/>
          </a:ln>
        </p:spPr>
      </p:sp>
      <p:pic>
        <p:nvPicPr>
          <p:cNvPr id="15" name="Image 3" descr="/tmp/meridian-deck/img/wf-dash-error.png">    </p:cNvPr>
          <p:cNvPicPr>
            <a:picLocks noChangeAspect="1"/>
          </p:cNvPicPr>
          <p:nvPr/>
        </p:nvPicPr>
        <p:blipFill>
          <a:blip r:embed="rId5"/>
          <a:stretch>
            <a:fillRect/>
          </a:stretch>
        </p:blipFill>
        <p:spPr>
          <a:xfrm>
            <a:off x="6939415" y="2468880"/>
            <a:ext cx="2366874" cy="5120640"/>
          </a:xfrm>
          <a:prstGeom prst="rect">
            <a:avLst/>
          </a:prstGeom>
        </p:spPr>
      </p:pic>
      <p:sp>
        <p:nvSpPr>
          <p:cNvPr id="16" name="Text 10"/>
          <p:cNvSpPr txBox="1"/>
          <p:nvPr/>
        </p:nvSpPr>
        <p:spPr>
          <a:xfrm>
            <a:off x="6939415" y="7772400"/>
            <a:ext cx="2366874"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Error</a:t>
            </a:r>
            <a:endParaRPr lang="en-US" sz="1500" dirty="0"/>
          </a:p>
        </p:txBody>
      </p:sp>
      <p:sp>
        <p:nvSpPr>
          <p:cNvPr id="17" name="Text 11"/>
          <p:cNvSpPr txBox="1"/>
          <p:nvPr/>
        </p:nvSpPr>
        <p:spPr>
          <a:xfrm>
            <a:off x="6939415"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Says what failed and offers a retry.</a:t>
            </a:r>
            <a:endParaRPr lang="en-US" sz="1600" dirty="0"/>
          </a:p>
        </p:txBody>
      </p:sp>
      <p:sp>
        <p:nvSpPr>
          <p:cNvPr id="18" name="Shape 12"/>
          <p:cNvSpPr/>
          <p:nvPr/>
        </p:nvSpPr>
        <p:spPr>
          <a:xfrm>
            <a:off x="10180523" y="2468880"/>
            <a:ext cx="2366874" cy="5120640"/>
          </a:xfrm>
          <a:prstGeom prst="rect">
            <a:avLst/>
          </a:prstGeom>
          <a:solidFill>
            <a:srgbClr val="14161D"/>
          </a:solidFill>
          <a:ln w="12700">
            <a:solidFill>
              <a:srgbClr val="14161D"/>
            </a:solidFill>
            <a:prstDash val="solid"/>
          </a:ln>
        </p:spPr>
      </p:sp>
      <p:pic>
        <p:nvPicPr>
          <p:cNvPr id="19" name="Image 4" descr="/tmp/meridian-deck/img/wf-dash-offline.png">    </p:cNvPr>
          <p:cNvPicPr>
            <a:picLocks noChangeAspect="1"/>
          </p:cNvPicPr>
          <p:nvPr/>
        </p:nvPicPr>
        <p:blipFill>
          <a:blip r:embed="rId6"/>
          <a:stretch>
            <a:fillRect/>
          </a:stretch>
        </p:blipFill>
        <p:spPr>
          <a:xfrm>
            <a:off x="10180523" y="2468880"/>
            <a:ext cx="2366874" cy="5120640"/>
          </a:xfrm>
          <a:prstGeom prst="rect">
            <a:avLst/>
          </a:prstGeom>
        </p:spPr>
      </p:pic>
      <p:sp>
        <p:nvSpPr>
          <p:cNvPr id="20" name="Text 13"/>
          <p:cNvSpPr txBox="1"/>
          <p:nvPr/>
        </p:nvSpPr>
        <p:spPr>
          <a:xfrm>
            <a:off x="10180523" y="777240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Offline</a:t>
            </a:r>
            <a:endParaRPr lang="en-US" sz="1500" dirty="0"/>
          </a:p>
        </p:txBody>
      </p:sp>
      <p:sp>
        <p:nvSpPr>
          <p:cNvPr id="21" name="Text 14"/>
          <p:cNvSpPr txBox="1"/>
          <p:nvPr/>
        </p:nvSpPr>
        <p:spPr>
          <a:xfrm>
            <a:off x="10180523"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Warns that data is stale and shows the last update.</a:t>
            </a:r>
            <a:endParaRPr lang="en-US" sz="1600" dirty="0"/>
          </a:p>
        </p:txBody>
      </p:sp>
      <p:pic>
        <p:nvPicPr>
          <p:cNvPr id="22" name="Image 5"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Reasoning &amp; trade-offs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calls, and what each one costs</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6" name="Text 3"/>
          <p:cNvSpPr txBox="1"/>
          <p:nvPr/>
        </p:nvSpPr>
        <p:spPr>
          <a:xfrm>
            <a:off x="45720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Keep both share and dollar entry</a:t>
            </a:r>
            <a:endParaRPr lang="en-US" sz="2400" dirty="0"/>
          </a:p>
        </p:txBody>
      </p:sp>
      <p:sp>
        <p:nvSpPr>
          <p:cNvPr id="7" name="Text 4"/>
          <p:cNvSpPr txBox="1"/>
          <p:nvPr/>
        </p:nvSpPr>
        <p:spPr>
          <a:xfrm>
            <a:off x="45720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Unclear which entry model new investors prefer.</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Two flows to maintain. Open question for testing.</a:t>
            </a:r>
            <a:endParaRPr lang="en-US" sz="1700" dirty="0"/>
          </a:p>
        </p:txBody>
      </p:sp>
      <p:sp>
        <p:nvSpPr>
          <p:cNvPr id="8" name="Text 5"/>
          <p:cNvSpPr txBox="1"/>
          <p:nvPr/>
        </p:nvSpPr>
        <p:spPr>
          <a:xfrm>
            <a:off x="676656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2</a:t>
            </a:r>
            <a:endParaRPr lang="en-US" sz="1280" dirty="0"/>
          </a:p>
        </p:txBody>
      </p:sp>
      <p:sp>
        <p:nvSpPr>
          <p:cNvPr id="9" name="Text 6"/>
          <p:cNvSpPr txBox="1"/>
          <p:nvPr/>
        </p:nvSpPr>
        <p:spPr>
          <a:xfrm>
            <a:off x="676656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Use a mock API with a 0.8-second delay</a:t>
            </a:r>
            <a:endParaRPr lang="en-US" sz="2400" dirty="0"/>
          </a:p>
        </p:txBody>
      </p:sp>
      <p:sp>
        <p:nvSpPr>
          <p:cNvPr id="10" name="Text 7"/>
          <p:cNvSpPr txBox="1"/>
          <p:nvPr/>
        </p:nvSpPr>
        <p:spPr>
          <a:xfrm>
            <a:off x="676656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Lets us test flows and loading states without a backend.</a:t>
            </a:r>
            <a:endParaRPr lang="en-US" sz="1700" dirty="0"/>
          </a:p>
          <a:p>
            <a:pPr indent="0" marL="0">
              <a:buNone/>
            </a:pPr>
            <a:r>
              <a:rPr lang="en-US" sz="1700" b="1" dirty="0">
                <a:solidFill>
                  <a:srgbClr val="5B3F96"/>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Real timing, errors and data limits stay untested.</a:t>
            </a:r>
            <a:endParaRPr lang="en-US" sz="1700" dirty="0"/>
          </a:p>
        </p:txBody>
      </p:sp>
      <p:sp>
        <p:nvSpPr>
          <p:cNvPr id="11" name="Text 8"/>
          <p:cNvSpPr txBox="1"/>
          <p:nvPr/>
        </p:nvSpPr>
        <p:spPr>
          <a:xfrm>
            <a:off x="457200" y="585216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3</a:t>
            </a:r>
            <a:endParaRPr lang="en-US" sz="1280" dirty="0"/>
          </a:p>
        </p:txBody>
      </p:sp>
      <p:sp>
        <p:nvSpPr>
          <p:cNvPr id="12" name="Text 9"/>
          <p:cNvSpPr txBox="1"/>
          <p:nvPr/>
        </p:nvSpPr>
        <p:spPr>
          <a:xfrm>
            <a:off x="45720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Adapt suggests buys and sells</a:t>
            </a:r>
            <a:endParaRPr lang="en-US" sz="2400" dirty="0"/>
          </a:p>
        </p:txBody>
      </p:sp>
      <p:sp>
        <p:nvSpPr>
          <p:cNvPr id="13" name="Text 10"/>
          <p:cNvSpPr txBox="1"/>
          <p:nvPr/>
        </p:nvSpPr>
        <p:spPr>
          <a:xfrm>
            <a:off x="45720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It is the screen’s job: a rebalance the user can review.</a:t>
            </a:r>
            <a:endParaRPr lang="en-US" sz="1700" dirty="0"/>
          </a:p>
          <a:p>
            <a:pPr indent="0" marL="0">
              <a:buNone/>
            </a:pPr>
            <a:r>
              <a:rPr lang="en-US" sz="1700" b="1" dirty="0">
                <a:solidFill>
                  <a:srgbClr val="A12A37"/>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Buy and sell language needs compliance review. It may need to become explanation only.</a:t>
            </a:r>
            <a:endParaRPr lang="en-US" sz="1700" dirty="0"/>
          </a:p>
        </p:txBody>
      </p:sp>
      <p:sp>
        <p:nvSpPr>
          <p:cNvPr id="14" name="Text 11"/>
          <p:cNvSpPr txBox="1"/>
          <p:nvPr/>
        </p:nvSpPr>
        <p:spPr>
          <a:xfrm>
            <a:off x="6766560" y="585216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5" name="Text 12"/>
          <p:cNvSpPr txBox="1"/>
          <p:nvPr/>
        </p:nvSpPr>
        <p:spPr>
          <a:xfrm>
            <a:off x="676656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Five tabs, one home screen</a:t>
            </a:r>
            <a:endParaRPr lang="en-US" sz="2400" dirty="0"/>
          </a:p>
        </p:txBody>
      </p:sp>
      <p:sp>
        <p:nvSpPr>
          <p:cNvPr id="16" name="Text 13"/>
          <p:cNvSpPr txBox="1"/>
          <p:nvPr/>
        </p:nvSpPr>
        <p:spPr>
          <a:xfrm>
            <a:off x="676656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A scannable set of areas, with trading one tap away.</a:t>
            </a:r>
            <a:endParaRPr lang="en-US" sz="1700" dirty="0"/>
          </a:p>
          <a:p>
            <a:pPr indent="0" marL="0">
              <a:buNone/>
            </a:pPr>
            <a:r>
              <a:rPr lang="en-US" sz="1700" b="1" dirty="0">
                <a:solidFill>
                  <a:srgbClr val="00868B"/>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AI screens compete with trade entry for attention. Test it.</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agent experience</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Reconceptualizing the AI from static cards to a bounded agent the user can see and steer.</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Where the AI experience breaks down today</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Five problems, from the current prototype and the competitive audit. Mock data throughout.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420624" cy="420624"/>
          </a:xfrm>
          <a:prstGeom prst="ellipse">
            <a:avLst/>
          </a:prstGeom>
          <a:solidFill>
            <a:srgbClr val="C45A35"/>
          </a:solidFill>
          <a:ln w="12700">
            <a:solidFill>
              <a:srgbClr val="C45A35"/>
            </a:solidFill>
            <a:prstDash val="solid"/>
          </a:ln>
        </p:spPr>
      </p:sp>
      <p:sp>
        <p:nvSpPr>
          <p:cNvPr id="7" name="Text 4"/>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48716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Outputs without reasoning</a:t>
            </a:r>
            <a:endParaRPr lang="en-US" sz="2200" dirty="0"/>
          </a:p>
        </p:txBody>
      </p:sp>
      <p:sp>
        <p:nvSpPr>
          <p:cNvPr id="9" name="Text 6"/>
          <p:cNvSpPr txBox="1"/>
          <p:nvPr/>
        </p:nvSpPr>
        <p:spPr>
          <a:xfrm>
            <a:off x="5943600" y="250545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Insight shows sentiment with no source, date, or data behind it.</a:t>
            </a:r>
            <a:endParaRPr lang="en-US" sz="1700" dirty="0"/>
          </a:p>
        </p:txBody>
      </p:sp>
      <p:sp>
        <p:nvSpPr>
          <p:cNvPr id="10" name="Shape 7"/>
          <p:cNvSpPr/>
          <p:nvPr/>
        </p:nvSpPr>
        <p:spPr>
          <a:xfrm>
            <a:off x="457200" y="3794760"/>
            <a:ext cx="420624" cy="420624"/>
          </a:xfrm>
          <a:prstGeom prst="ellipse">
            <a:avLst/>
          </a:prstGeom>
          <a:solidFill>
            <a:srgbClr val="C45A35"/>
          </a:solidFill>
          <a:ln w="12700">
            <a:solidFill>
              <a:srgbClr val="C45A35"/>
            </a:solidFill>
            <a:prstDash val="solid"/>
          </a:ln>
        </p:spPr>
      </p:sp>
      <p:sp>
        <p:nvSpPr>
          <p:cNvPr id="11" name="Text 8"/>
          <p:cNvSpPr txBox="1"/>
          <p:nvPr/>
        </p:nvSpPr>
        <p:spPr>
          <a:xfrm>
            <a:off x="457200" y="38587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381304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All or nothing</a:t>
            </a:r>
            <a:endParaRPr lang="en-US" sz="2200" dirty="0"/>
          </a:p>
        </p:txBody>
      </p:sp>
      <p:sp>
        <p:nvSpPr>
          <p:cNvPr id="13" name="Text 10"/>
          <p:cNvSpPr txBox="1"/>
          <p:nvPr/>
        </p:nvSpPr>
        <p:spPr>
          <a:xfrm>
            <a:off x="5943600" y="383133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Adapt proposes 5 buys and 3 sells. The user can approve or dismiss the batch, nothing else.</a:t>
            </a:r>
            <a:endParaRPr lang="en-US" sz="1700" dirty="0"/>
          </a:p>
        </p:txBody>
      </p:sp>
      <p:sp>
        <p:nvSpPr>
          <p:cNvPr id="14" name="Shape 11"/>
          <p:cNvSpPr/>
          <p:nvPr/>
        </p:nvSpPr>
        <p:spPr>
          <a:xfrm>
            <a:off x="457200" y="5120640"/>
            <a:ext cx="420624" cy="420624"/>
          </a:xfrm>
          <a:prstGeom prst="ellipse">
            <a:avLst/>
          </a:prstGeom>
          <a:solidFill>
            <a:srgbClr val="C45A35"/>
          </a:solidFill>
          <a:ln w="12700">
            <a:solidFill>
              <a:srgbClr val="C45A35"/>
            </a:solidFill>
            <a:prstDash val="solid"/>
          </a:ln>
        </p:spPr>
      </p:sp>
      <p:sp>
        <p:nvSpPr>
          <p:cNvPr id="15" name="Text 12"/>
          <p:cNvSpPr txBox="1"/>
          <p:nvPr/>
        </p:nvSpPr>
        <p:spPr>
          <a:xfrm>
            <a:off x="457200" y="51846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13892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No learning loop</a:t>
            </a:r>
            <a:endParaRPr lang="en-US" sz="2200" dirty="0"/>
          </a:p>
        </p:txBody>
      </p:sp>
      <p:sp>
        <p:nvSpPr>
          <p:cNvPr id="17" name="Text 14"/>
          <p:cNvSpPr txBox="1"/>
          <p:nvPr/>
        </p:nvSpPr>
        <p:spPr>
          <a:xfrm>
            <a:off x="5943600" y="515721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Dismissing or correcting an insight does not change future output.</a:t>
            </a:r>
            <a:endParaRPr lang="en-US" sz="1700" dirty="0"/>
          </a:p>
        </p:txBody>
      </p:sp>
      <p:sp>
        <p:nvSpPr>
          <p:cNvPr id="18" name="Shape 15"/>
          <p:cNvSpPr/>
          <p:nvPr/>
        </p:nvSpPr>
        <p:spPr>
          <a:xfrm>
            <a:off x="457200" y="6446520"/>
            <a:ext cx="420624" cy="420624"/>
          </a:xfrm>
          <a:prstGeom prst="ellipse">
            <a:avLst/>
          </a:prstGeom>
          <a:solidFill>
            <a:srgbClr val="C45A35"/>
          </a:solidFill>
          <a:ln w="12700">
            <a:solidFill>
              <a:srgbClr val="C45A35"/>
            </a:solidFill>
            <a:prstDash val="solid"/>
          </a:ln>
        </p:spPr>
      </p:sp>
      <p:sp>
        <p:nvSpPr>
          <p:cNvPr id="19" name="Text 16"/>
          <p:cNvSpPr txBox="1"/>
          <p:nvPr/>
        </p:nvSpPr>
        <p:spPr>
          <a:xfrm>
            <a:off x="457200" y="6510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46480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Advice line in conflict</a:t>
            </a:r>
            <a:endParaRPr lang="en-US" sz="2200" dirty="0"/>
          </a:p>
        </p:txBody>
      </p:sp>
      <p:sp>
        <p:nvSpPr>
          <p:cNvPr id="21" name="Text 18"/>
          <p:cNvSpPr txBox="1"/>
          <p:nvPr/>
        </p:nvSpPr>
        <p:spPr>
          <a:xfrm>
            <a:off x="5943600" y="648309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design rule says the AI never originates buy or sell advice. Adapt wording does. Compliance review is open.</a:t>
            </a:r>
            <a:endParaRPr lang="en-US" sz="1700" dirty="0"/>
          </a:p>
        </p:txBody>
      </p:sp>
      <p:sp>
        <p:nvSpPr>
          <p:cNvPr id="22" name="Shape 19"/>
          <p:cNvSpPr/>
          <p:nvPr/>
        </p:nvSpPr>
        <p:spPr>
          <a:xfrm>
            <a:off x="457200" y="7772400"/>
            <a:ext cx="420624" cy="420624"/>
          </a:xfrm>
          <a:prstGeom prst="ellipse">
            <a:avLst/>
          </a:prstGeom>
          <a:solidFill>
            <a:srgbClr val="C45A35"/>
          </a:solidFill>
          <a:ln w="12700">
            <a:solidFill>
              <a:srgbClr val="C45A35"/>
            </a:solidFill>
            <a:prstDash val="solid"/>
          </a:ln>
        </p:spPr>
      </p:sp>
      <p:sp>
        <p:nvSpPr>
          <p:cNvPr id="23" name="Text 20"/>
          <p:cNvSpPr txBox="1"/>
          <p:nvPr/>
        </p:nvSpPr>
        <p:spPr>
          <a:xfrm>
            <a:off x="457200" y="7836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4" name="Text 21"/>
          <p:cNvSpPr txBox="1"/>
          <p:nvPr/>
        </p:nvSpPr>
        <p:spPr>
          <a:xfrm>
            <a:off x="1188720" y="779068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Context lost between screens</a:t>
            </a:r>
            <a:endParaRPr lang="en-US" sz="2200" dirty="0"/>
          </a:p>
        </p:txBody>
      </p:sp>
      <p:sp>
        <p:nvSpPr>
          <p:cNvPr id="25" name="Text 22"/>
          <p:cNvSpPr txBox="1"/>
          <p:nvPr/>
        </p:nvSpPr>
        <p:spPr>
          <a:xfrm>
            <a:off x="5943600" y="780897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Moving from an insight to an order drops the reason, so the user re-enters it.</a:t>
            </a:r>
            <a:endParaRPr lang="en-US" sz="1700" dirty="0"/>
          </a:p>
        </p:txBody>
      </p:sp>
      <p:pic>
        <p:nvPicPr>
          <p:cNvPr id="2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concepts for a bounded agent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Each concept answers one of the breakdowns above.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56032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CONCEPT 1</a:t>
            </a:r>
            <a:endParaRPr lang="en-US" sz="1280" dirty="0"/>
          </a:p>
        </p:txBody>
      </p:sp>
      <p:sp>
        <p:nvSpPr>
          <p:cNvPr id="7" name="Text 4"/>
          <p:cNvSpPr txBox="1"/>
          <p:nvPr/>
        </p:nvSpPr>
        <p:spPr>
          <a:xfrm>
            <a:off x="45720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Goal to plan</a:t>
            </a:r>
            <a:endParaRPr lang="en-US" sz="2400" dirty="0"/>
          </a:p>
        </p:txBody>
      </p:sp>
      <p:sp>
        <p:nvSpPr>
          <p:cNvPr id="8" name="Text 5"/>
          <p:cNvSpPr txBox="1"/>
          <p:nvPr/>
        </p:nvSpPr>
        <p:spPr>
          <a:xfrm>
            <a:off x="45720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user states a target, such as "keep technology under 40%." The agent drafts editable steps and shows the impact of each one.</a:t>
            </a:r>
            <a:endParaRPr lang="en-US" sz="1700" dirty="0"/>
          </a:p>
        </p:txBody>
      </p:sp>
      <p:sp>
        <p:nvSpPr>
          <p:cNvPr id="9" name="Text 6"/>
          <p:cNvSpPr txBox="1"/>
          <p:nvPr/>
        </p:nvSpPr>
        <p:spPr>
          <a:xfrm>
            <a:off x="6766560" y="256032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CONCEPT 2</a:t>
            </a:r>
            <a:endParaRPr lang="en-US" sz="1280" dirty="0"/>
          </a:p>
        </p:txBody>
      </p:sp>
      <p:sp>
        <p:nvSpPr>
          <p:cNvPr id="10" name="Text 7"/>
          <p:cNvSpPr txBox="1"/>
          <p:nvPr/>
        </p:nvSpPr>
        <p:spPr>
          <a:xfrm>
            <a:off x="676656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Autonomy levels</a:t>
            </a:r>
            <a:endParaRPr lang="en-US" sz="2400" dirty="0"/>
          </a:p>
        </p:txBody>
      </p:sp>
      <p:sp>
        <p:nvSpPr>
          <p:cNvPr id="11" name="Text 8"/>
          <p:cNvSpPr txBox="1"/>
          <p:nvPr/>
        </p:nvSpPr>
        <p:spPr>
          <a:xfrm>
            <a:off x="676656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Observe, Suggest, or Act within limits. The current level is always visible, with the user-set limits beside it.</a:t>
            </a:r>
            <a:endParaRPr lang="en-US" sz="1700" dirty="0"/>
          </a:p>
        </p:txBody>
      </p:sp>
      <p:sp>
        <p:nvSpPr>
          <p:cNvPr id="12" name="Text 9"/>
          <p:cNvSpPr txBox="1"/>
          <p:nvPr/>
        </p:nvSpPr>
        <p:spPr>
          <a:xfrm>
            <a:off x="457200" y="594360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CONCEPT 3</a:t>
            </a:r>
            <a:endParaRPr lang="en-US" sz="1280" dirty="0"/>
          </a:p>
        </p:txBody>
      </p:sp>
      <p:sp>
        <p:nvSpPr>
          <p:cNvPr id="13" name="Text 10"/>
          <p:cNvSpPr txBox="1"/>
          <p:nvPr/>
        </p:nvSpPr>
        <p:spPr>
          <a:xfrm>
            <a:off x="45720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Evidence on every output</a:t>
            </a:r>
            <a:endParaRPr lang="en-US" sz="2400" dirty="0"/>
          </a:p>
        </p:txBody>
      </p:sp>
      <p:sp>
        <p:nvSpPr>
          <p:cNvPr id="14" name="Text 11"/>
          <p:cNvSpPr txBox="1"/>
          <p:nvPr/>
        </p:nvSpPr>
        <p:spPr>
          <a:xfrm>
            <a:off x="45720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Each insight links to its source, date, and data. No model-generated confidence percentage.</a:t>
            </a:r>
            <a:endParaRPr lang="en-US" sz="1700" dirty="0"/>
          </a:p>
        </p:txBody>
      </p:sp>
      <p:sp>
        <p:nvSpPr>
          <p:cNvPr id="15" name="Text 12"/>
          <p:cNvSpPr txBox="1"/>
          <p:nvPr/>
        </p:nvSpPr>
        <p:spPr>
          <a:xfrm>
            <a:off x="6766560" y="5943600"/>
            <a:ext cx="566928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CONCEPT 4</a:t>
            </a:r>
            <a:endParaRPr lang="en-US" sz="1280" dirty="0"/>
          </a:p>
        </p:txBody>
      </p:sp>
      <p:sp>
        <p:nvSpPr>
          <p:cNvPr id="16" name="Text 13"/>
          <p:cNvSpPr txBox="1"/>
          <p:nvPr/>
        </p:nvSpPr>
        <p:spPr>
          <a:xfrm>
            <a:off x="676656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Orders with their reason</a:t>
            </a:r>
            <a:endParaRPr lang="en-US" sz="2400" dirty="0"/>
          </a:p>
        </p:txBody>
      </p:sp>
      <p:sp>
        <p:nvSpPr>
          <p:cNvPr id="17" name="Text 14"/>
          <p:cNvSpPr txBox="1"/>
          <p:nvPr/>
        </p:nvSpPr>
        <p:spPr>
          <a:xfrm>
            <a:off x="676656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 trade started from an insight opens with its reason and the user’s own history, and offers a 48-hour pause.</a:t>
            </a:r>
            <a:endParaRPr lang="en-US" sz="1700" dirty="0"/>
          </a:p>
        </p:txBody>
      </p:sp>
      <p:pic>
        <p:nvPicPr>
          <p:cNvPr id="18"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Adapt as a plan, not a batch</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Set a goal, review the plan, then approve each trade. Nothing runs without approval.</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2366874" cy="5120640"/>
          </a:xfrm>
          <a:prstGeom prst="rect">
            <a:avLst/>
          </a:prstGeom>
          <a:solidFill>
            <a:srgbClr val="14161D"/>
          </a:solidFill>
          <a:ln w="12700">
            <a:solidFill>
              <a:srgbClr val="14161D"/>
            </a:solidFill>
            <a:prstDash val="solid"/>
          </a:ln>
        </p:spPr>
      </p:sp>
      <p:pic>
        <p:nvPicPr>
          <p:cNvPr id="7" name="Image 1" descr="/tmp/meridian-deck/img/ag-goal.png">    </p:cNvPr>
          <p:cNvPicPr>
            <a:picLocks noChangeAspect="1"/>
          </p:cNvPicPr>
          <p:nvPr/>
        </p:nvPicPr>
        <p:blipFill>
          <a:blip r:embed="rId3"/>
          <a:stretch>
            <a:fillRect/>
          </a:stretch>
        </p:blipFill>
        <p:spPr>
          <a:xfrm>
            <a:off x="457200" y="2286000"/>
            <a:ext cx="2366874" cy="5120640"/>
          </a:xfrm>
          <a:prstGeom prst="rect">
            <a:avLst/>
          </a:prstGeom>
        </p:spPr>
      </p:pic>
      <p:sp>
        <p:nvSpPr>
          <p:cNvPr id="8" name="Text 4"/>
          <p:cNvSpPr txBox="1"/>
          <p:nvPr/>
        </p:nvSpPr>
        <p:spPr>
          <a:xfrm>
            <a:off x="457200"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Set a goal</a:t>
            </a:r>
            <a:endParaRPr lang="en-US" sz="1500" dirty="0"/>
          </a:p>
        </p:txBody>
      </p:sp>
      <p:sp>
        <p:nvSpPr>
          <p:cNvPr id="9" name="Text 5"/>
          <p:cNvSpPr txBox="1"/>
          <p:nvPr/>
        </p:nvSpPr>
        <p:spPr>
          <a:xfrm>
            <a:off x="457200"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The user states a target. The agent drafts a plan.</a:t>
            </a:r>
            <a:endParaRPr lang="en-US" sz="1600" dirty="0"/>
          </a:p>
        </p:txBody>
      </p:sp>
      <p:sp>
        <p:nvSpPr>
          <p:cNvPr id="10" name="Shape 6"/>
          <p:cNvSpPr/>
          <p:nvPr/>
        </p:nvSpPr>
        <p:spPr>
          <a:xfrm>
            <a:off x="5318862" y="2286000"/>
            <a:ext cx="2366874" cy="5120640"/>
          </a:xfrm>
          <a:prstGeom prst="rect">
            <a:avLst/>
          </a:prstGeom>
          <a:solidFill>
            <a:srgbClr val="14161D"/>
          </a:solidFill>
          <a:ln w="12700">
            <a:solidFill>
              <a:srgbClr val="14161D"/>
            </a:solidFill>
            <a:prstDash val="solid"/>
          </a:ln>
        </p:spPr>
      </p:sp>
      <p:pic>
        <p:nvPicPr>
          <p:cNvPr id="11" name="Image 2" descr="/tmp/meridian-deck/img/ag-plan.png">    </p:cNvPr>
          <p:cNvPicPr>
            <a:picLocks noChangeAspect="1"/>
          </p:cNvPicPr>
          <p:nvPr/>
        </p:nvPicPr>
        <p:blipFill>
          <a:blip r:embed="rId4"/>
          <a:stretch>
            <a:fillRect/>
          </a:stretch>
        </p:blipFill>
        <p:spPr>
          <a:xfrm>
            <a:off x="5318862" y="2286000"/>
            <a:ext cx="2366874" cy="5120640"/>
          </a:xfrm>
          <a:prstGeom prst="rect">
            <a:avLst/>
          </a:prstGeom>
        </p:spPr>
      </p:pic>
      <p:sp>
        <p:nvSpPr>
          <p:cNvPr id="12" name="Text 7"/>
          <p:cNvSpPr txBox="1"/>
          <p:nvPr/>
        </p:nvSpPr>
        <p:spPr>
          <a:xfrm>
            <a:off x="5318862"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Plan preview</a:t>
            </a:r>
            <a:endParaRPr lang="en-US" sz="1500" dirty="0"/>
          </a:p>
        </p:txBody>
      </p:sp>
      <p:sp>
        <p:nvSpPr>
          <p:cNvPr id="13" name="Text 8"/>
          <p:cNvSpPr txBox="1"/>
          <p:nvPr/>
        </p:nvSpPr>
        <p:spPr>
          <a:xfrm>
            <a:off x="5318862"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step shows its effect on the allocation.</a:t>
            </a:r>
            <a:endParaRPr lang="en-US" sz="1600" dirty="0"/>
          </a:p>
        </p:txBody>
      </p:sp>
      <p:sp>
        <p:nvSpPr>
          <p:cNvPr id="14" name="Shape 9"/>
          <p:cNvSpPr/>
          <p:nvPr/>
        </p:nvSpPr>
        <p:spPr>
          <a:xfrm>
            <a:off x="10180523" y="2286000"/>
            <a:ext cx="2366874" cy="5120640"/>
          </a:xfrm>
          <a:prstGeom prst="rect">
            <a:avLst/>
          </a:prstGeom>
          <a:solidFill>
            <a:srgbClr val="14161D"/>
          </a:solidFill>
          <a:ln w="12700">
            <a:solidFill>
              <a:srgbClr val="14161D"/>
            </a:solidFill>
            <a:prstDash val="solid"/>
          </a:ln>
        </p:spPr>
      </p:sp>
      <p:pic>
        <p:nvPicPr>
          <p:cNvPr id="15" name="Image 3" descr="/tmp/meridian-deck/img/ag-review.png">    </p:cNvPr>
          <p:cNvPicPr>
            <a:picLocks noChangeAspect="1"/>
          </p:cNvPicPr>
          <p:nvPr/>
        </p:nvPicPr>
        <p:blipFill>
          <a:blip r:embed="rId5"/>
          <a:stretch>
            <a:fillRect/>
          </a:stretch>
        </p:blipFill>
        <p:spPr>
          <a:xfrm>
            <a:off x="10180523" y="2286000"/>
            <a:ext cx="2366874" cy="5120640"/>
          </a:xfrm>
          <a:prstGeom prst="rect">
            <a:avLst/>
          </a:prstGeom>
        </p:spPr>
      </p:pic>
      <p:sp>
        <p:nvSpPr>
          <p:cNvPr id="16" name="Text 10"/>
          <p:cNvSpPr txBox="1"/>
          <p:nvPr/>
        </p:nvSpPr>
        <p:spPr>
          <a:xfrm>
            <a:off x="10180523"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Trade review</a:t>
            </a:r>
            <a:endParaRPr lang="en-US" sz="1500" dirty="0"/>
          </a:p>
        </p:txBody>
      </p:sp>
      <p:sp>
        <p:nvSpPr>
          <p:cNvPr id="17" name="Text 11"/>
          <p:cNvSpPr txBox="1"/>
          <p:nvPr/>
        </p:nvSpPr>
        <p:spPr>
          <a:xfrm>
            <a:off x="10180523"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trade shows its reason and source. The user approves, edits, or skips.</a:t>
            </a:r>
            <a:endParaRPr lang="en-US" sz="1600" dirty="0"/>
          </a:p>
        </p:txBody>
      </p:sp>
      <p:pic>
        <p:nvPicPr>
          <p:cNvPr id="18" name="Image 4"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Evidence on every insight, and orders that carry their reason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reason travels with the order. Learned rules stay visible and reversible.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3769665" y="2286000"/>
            <a:ext cx="2366874" cy="5120640"/>
          </a:xfrm>
          <a:prstGeom prst="rect">
            <a:avLst/>
          </a:prstGeom>
          <a:solidFill>
            <a:srgbClr val="14161D"/>
          </a:solidFill>
          <a:ln w="12700">
            <a:solidFill>
              <a:srgbClr val="14161D"/>
            </a:solidFill>
            <a:prstDash val="solid"/>
          </a:ln>
        </p:spPr>
      </p:sp>
      <p:pic>
        <p:nvPicPr>
          <p:cNvPr id="7" name="Image 1" descr="/tmp/meridian-deck/img/ag-evidence.png">    </p:cNvPr>
          <p:cNvPicPr>
            <a:picLocks noChangeAspect="1"/>
          </p:cNvPicPr>
          <p:nvPr/>
        </p:nvPicPr>
        <p:blipFill>
          <a:blip r:embed="rId3"/>
          <a:stretch>
            <a:fillRect/>
          </a:stretch>
        </p:blipFill>
        <p:spPr>
          <a:xfrm>
            <a:off x="3769665" y="2286000"/>
            <a:ext cx="2366874" cy="5120640"/>
          </a:xfrm>
          <a:prstGeom prst="rect">
            <a:avLst/>
          </a:prstGeom>
        </p:spPr>
      </p:pic>
      <p:sp>
        <p:nvSpPr>
          <p:cNvPr id="8" name="Text 4"/>
          <p:cNvSpPr txBox="1"/>
          <p:nvPr/>
        </p:nvSpPr>
        <p:spPr>
          <a:xfrm>
            <a:off x="3769665"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 with evidence</a:t>
            </a:r>
            <a:endParaRPr lang="en-US" sz="1500" dirty="0"/>
          </a:p>
        </p:txBody>
      </p:sp>
      <p:sp>
        <p:nvSpPr>
          <p:cNvPr id="9" name="Text 5"/>
          <p:cNvSpPr txBox="1"/>
          <p:nvPr/>
        </p:nvSpPr>
        <p:spPr>
          <a:xfrm>
            <a:off x="3769665"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Source, date, and the data behind the claim. "What would change this view" is stated.</a:t>
            </a:r>
            <a:endParaRPr lang="en-US" sz="1600" dirty="0"/>
          </a:p>
        </p:txBody>
      </p:sp>
      <p:sp>
        <p:nvSpPr>
          <p:cNvPr id="10" name="Shape 6"/>
          <p:cNvSpPr/>
          <p:nvPr/>
        </p:nvSpPr>
        <p:spPr>
          <a:xfrm>
            <a:off x="6868058" y="2286000"/>
            <a:ext cx="2366874" cy="5120640"/>
          </a:xfrm>
          <a:prstGeom prst="rect">
            <a:avLst/>
          </a:prstGeom>
          <a:solidFill>
            <a:srgbClr val="14161D"/>
          </a:solidFill>
          <a:ln w="12700">
            <a:solidFill>
              <a:srgbClr val="14161D"/>
            </a:solidFill>
            <a:prstDash val="solid"/>
          </a:ln>
        </p:spPr>
      </p:sp>
      <p:pic>
        <p:nvPicPr>
          <p:cNvPr id="11" name="Image 2" descr="/tmp/meridian-deck/img/ag-prefilled.png">    </p:cNvPr>
          <p:cNvPicPr>
            <a:picLocks noChangeAspect="1"/>
          </p:cNvPicPr>
          <p:nvPr/>
        </p:nvPicPr>
        <p:blipFill>
          <a:blip r:embed="rId4"/>
          <a:stretch>
            <a:fillRect/>
          </a:stretch>
        </p:blipFill>
        <p:spPr>
          <a:xfrm>
            <a:off x="6868058" y="2286000"/>
            <a:ext cx="2366874" cy="5120640"/>
          </a:xfrm>
          <a:prstGeom prst="rect">
            <a:avLst/>
          </a:prstGeom>
        </p:spPr>
      </p:pic>
      <p:sp>
        <p:nvSpPr>
          <p:cNvPr id="12" name="Text 7"/>
          <p:cNvSpPr txBox="1"/>
          <p:nvPr/>
        </p:nvSpPr>
        <p:spPr>
          <a:xfrm>
            <a:off x="6868058"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Order with its reason</a:t>
            </a:r>
            <a:endParaRPr lang="en-US" sz="1500" dirty="0"/>
          </a:p>
        </p:txBody>
      </p:sp>
      <p:sp>
        <p:nvSpPr>
          <p:cNvPr id="13" name="Text 8"/>
          <p:cNvSpPr txBox="1"/>
          <p:nvPr/>
        </p:nvSpPr>
        <p:spPr>
          <a:xfrm>
            <a:off x="6868058"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Opened from Adapt with the reason, and a 48-hour option drawn from the user’s own history (example, mock data).</a:t>
            </a:r>
            <a:endParaRPr lang="en-US" sz="1600" dirty="0"/>
          </a:p>
        </p:txBody>
      </p:sp>
      <p:pic>
        <p:nvPicPr>
          <p:cNvPr id="14" name="Image 3"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we would measure (planned, not run)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Hypotheses to test before any claim about the agent. None of these has data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560320"/>
            <a:ext cx="420624" cy="420624"/>
          </a:xfrm>
          <a:prstGeom prst="ellipse">
            <a:avLst/>
          </a:prstGeom>
          <a:solidFill>
            <a:srgbClr val="5B3F96"/>
          </a:solidFill>
          <a:ln w="12700">
            <a:solidFill>
              <a:srgbClr val="5B3F96"/>
            </a:solidFill>
            <a:prstDash val="solid"/>
          </a:ln>
        </p:spPr>
      </p:sp>
      <p:sp>
        <p:nvSpPr>
          <p:cNvPr id="7" name="Text 4"/>
          <p:cNvSpPr txBox="1"/>
          <p:nvPr/>
        </p:nvSpPr>
        <p:spPr>
          <a:xfrm>
            <a:off x="457200"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57860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Time from insight to decision</a:t>
            </a:r>
            <a:endParaRPr lang="en-US" sz="2200" dirty="0"/>
          </a:p>
        </p:txBody>
      </p:sp>
      <p:sp>
        <p:nvSpPr>
          <p:cNvPr id="9" name="Text 6"/>
          <p:cNvSpPr txBox="1"/>
          <p:nvPr/>
        </p:nvSpPr>
        <p:spPr>
          <a:xfrm>
            <a:off x="6492240" y="259689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evidence on the card shorten the decision?</a:t>
            </a:r>
            <a:endParaRPr lang="en-US" sz="1700" dirty="0"/>
          </a:p>
        </p:txBody>
      </p:sp>
      <p:sp>
        <p:nvSpPr>
          <p:cNvPr id="10" name="Shape 7"/>
          <p:cNvSpPr/>
          <p:nvPr/>
        </p:nvSpPr>
        <p:spPr>
          <a:xfrm>
            <a:off x="457200" y="4023360"/>
            <a:ext cx="420624" cy="420624"/>
          </a:xfrm>
          <a:prstGeom prst="ellipse">
            <a:avLst/>
          </a:prstGeom>
          <a:solidFill>
            <a:srgbClr val="5B3F96"/>
          </a:solidFill>
          <a:ln w="12700">
            <a:solidFill>
              <a:srgbClr val="5B3F96"/>
            </a:solidFill>
            <a:prstDash val="solid"/>
          </a:ln>
        </p:spPr>
      </p:sp>
      <p:sp>
        <p:nvSpPr>
          <p:cNvPr id="11" name="Text 8"/>
          <p:cNvSpPr txBox="1"/>
          <p:nvPr/>
        </p:nvSpPr>
        <p:spPr>
          <a:xfrm>
            <a:off x="457200" y="40873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404164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Edit and reject rate on plan steps</a:t>
            </a:r>
            <a:endParaRPr lang="en-US" sz="2200" dirty="0"/>
          </a:p>
        </p:txBody>
      </p:sp>
      <p:sp>
        <p:nvSpPr>
          <p:cNvPr id="13" name="Text 10"/>
          <p:cNvSpPr txBox="1"/>
          <p:nvPr/>
        </p:nvSpPr>
        <p:spPr>
          <a:xfrm>
            <a:off x="6492240" y="405993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trust the plan enough to approve it as drafted?</a:t>
            </a:r>
            <a:endParaRPr lang="en-US" sz="1700" dirty="0"/>
          </a:p>
        </p:txBody>
      </p:sp>
      <p:sp>
        <p:nvSpPr>
          <p:cNvPr id="14" name="Shape 11"/>
          <p:cNvSpPr/>
          <p:nvPr/>
        </p:nvSpPr>
        <p:spPr>
          <a:xfrm>
            <a:off x="457200" y="5486400"/>
            <a:ext cx="420624" cy="420624"/>
          </a:xfrm>
          <a:prstGeom prst="ellipse">
            <a:avLst/>
          </a:prstGeom>
          <a:solidFill>
            <a:srgbClr val="5B3F96"/>
          </a:solidFill>
          <a:ln w="12700">
            <a:solidFill>
              <a:srgbClr val="5B3F96"/>
            </a:solidFill>
            <a:prstDash val="solid"/>
          </a:ln>
        </p:spPr>
      </p:sp>
      <p:sp>
        <p:nvSpPr>
          <p:cNvPr id="15" name="Text 12"/>
          <p:cNvSpPr txBox="1"/>
          <p:nvPr/>
        </p:nvSpPr>
        <p:spPr>
          <a:xfrm>
            <a:off x="457200" y="5550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50468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Reversal rate of agent actions</a:t>
            </a:r>
            <a:endParaRPr lang="en-US" sz="2200" dirty="0"/>
          </a:p>
        </p:txBody>
      </p:sp>
      <p:sp>
        <p:nvSpPr>
          <p:cNvPr id="17" name="Text 14"/>
          <p:cNvSpPr txBox="1"/>
          <p:nvPr/>
        </p:nvSpPr>
        <p:spPr>
          <a:xfrm>
            <a:off x="6492240" y="552297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Act within limits create regret, or stay trusted?</a:t>
            </a:r>
            <a:endParaRPr lang="en-US" sz="1700" dirty="0"/>
          </a:p>
        </p:txBody>
      </p:sp>
      <p:sp>
        <p:nvSpPr>
          <p:cNvPr id="18" name="Shape 15"/>
          <p:cNvSpPr/>
          <p:nvPr/>
        </p:nvSpPr>
        <p:spPr>
          <a:xfrm>
            <a:off x="457200" y="6949440"/>
            <a:ext cx="420624" cy="420624"/>
          </a:xfrm>
          <a:prstGeom prst="ellipse">
            <a:avLst/>
          </a:prstGeom>
          <a:solidFill>
            <a:srgbClr val="5B3F96"/>
          </a:solidFill>
          <a:ln w="12700">
            <a:solidFill>
              <a:srgbClr val="5B3F96"/>
            </a:solidFill>
            <a:prstDash val="solid"/>
          </a:ln>
        </p:spPr>
      </p:sp>
      <p:sp>
        <p:nvSpPr>
          <p:cNvPr id="19" name="Text 16"/>
          <p:cNvSpPr txBox="1"/>
          <p:nvPr/>
        </p:nvSpPr>
        <p:spPr>
          <a:xfrm>
            <a:off x="457200" y="70134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96772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Learned rules kept or reversed</a:t>
            </a:r>
            <a:endParaRPr lang="en-US" sz="2200" dirty="0"/>
          </a:p>
        </p:txBody>
      </p:sp>
      <p:sp>
        <p:nvSpPr>
          <p:cNvPr id="21" name="Text 18"/>
          <p:cNvSpPr txBox="1"/>
          <p:nvPr/>
        </p:nvSpPr>
        <p:spPr>
          <a:xfrm>
            <a:off x="6492240" y="698601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value the learning loop, or do they switch it off?</a:t>
            </a:r>
            <a:endParaRPr lang="en-US" sz="1700" dirty="0"/>
          </a:p>
        </p:txBody>
      </p:sp>
      <p:pic>
        <p:nvPicPr>
          <p:cNvPr id="22"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whole experience, end to end</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Entry, the five tabs, monitoring, Adapt, the trade flow, the learning loop, and the states. Proposal, mock data.</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pic>
        <p:nvPicPr>
          <p:cNvPr id="6" name="Image 1" descr="/tmp/meridian-deck/img/full-experience.png">    </p:cNvPr>
          <p:cNvPicPr>
            <a:picLocks noChangeAspect="1"/>
          </p:cNvPicPr>
          <p:nvPr/>
        </p:nvPicPr>
        <p:blipFill>
          <a:blip r:embed="rId3"/>
          <a:stretch>
            <a:fillRect/>
          </a:stretch>
        </p:blipFill>
        <p:spPr>
          <a:xfrm>
            <a:off x="457200" y="2194560"/>
            <a:ext cx="12070080" cy="5956663"/>
          </a:xfrm>
          <a:prstGeom prst="rect">
            <a:avLst/>
          </a:prstGeom>
        </p:spPr>
      </p:pic>
      <p:sp>
        <p:nvSpPr>
          <p:cNvPr id="7" name="Text 3"/>
          <p:cNvSpPr txBox="1"/>
          <p:nvPr/>
        </p:nvSpPr>
        <p:spPr>
          <a:xfrm>
            <a:off x="457200" y="8425543"/>
            <a:ext cx="12070080" cy="4572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Nothing trades unless the user approves, or has set Act within limits. Learned rules are visible and reversible.</a:t>
            </a:r>
            <a:endParaRPr lang="en-US" sz="1500" dirty="0"/>
          </a:p>
        </p:txBody>
      </p:sp>
      <p:pic>
        <p:nvPicPr>
          <p:cNvPr id="8"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Build and test</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How the AI behaves, how it is built, and how we will check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07 · Methodology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AI behaves, and how we will test it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AI BEHAVIOR · DESIGNED, MOCK DATA</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Insight: sentiment summaries, with the screen as the source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Prospect: opportunity cards with upside and downside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Guard: alerts ranked by severity; mark as read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Adapt: before and after allocation, and a reviewable buy and sell list</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VALIDATION · PLANNED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Five-person think-aloud on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Comprehension check on Insight, Prospect, Guard and Adapt labels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Card sort on the five tabs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Compliance review of trade and AI copy</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08 · Implementation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Built on SwiftUI, with tokens shared with Figma</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WHAT IS BUILT</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MVVM: one ViewModel per screen</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MockAPIService with realistic data and a delay</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DesignTokens.swift: colors, type and spacing</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AuthManager: Face ID and Touch ID, Keychain storage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Figma library mirrors the same tokens</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744A6C"/>
                </a:solidFill>
                <a:latin typeface="Helvetica Neue" pitchFamily="34" charset="0"/>
                <a:ea typeface="Helvetica Neue" pitchFamily="34" charset="-122"/>
                <a:cs typeface="Helvetica Neue" pitchFamily="34" charset="-120"/>
              </a:rPr>
              <a:t>NEXT TO BUILD · PROPOSED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Real market data and quotes behind the mock service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Brokerage connection for order placement</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Session and authentication with a real backend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Audit log for trade and AI actions</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09 · Results &amp; impact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exists today, and what we still need to measure</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851099" cy="2926080"/>
          </a:xfrm>
          <a:prstGeom prst="rect">
            <a:avLst/>
          </a:prstGeom>
          <a:solidFill>
            <a:srgbClr val="C45A35"/>
          </a:solidFill>
          <a:ln w="12700">
            <a:solidFill>
              <a:srgbClr val="C45A35"/>
            </a:solidFill>
            <a:prstDash val="solid"/>
          </a:ln>
        </p:spPr>
      </p:sp>
      <p:sp>
        <p:nvSpPr>
          <p:cNvPr id="6" name="Text 3"/>
          <p:cNvSpPr txBox="1"/>
          <p:nvPr/>
        </p:nvSpPr>
        <p:spPr>
          <a:xfrm>
            <a:off x="777240"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5</a:t>
            </a:r>
            <a:endParaRPr lang="en-US" sz="8000" dirty="0"/>
          </a:p>
        </p:txBody>
      </p:sp>
      <p:sp>
        <p:nvSpPr>
          <p:cNvPr id="7" name="Text 4"/>
          <p:cNvSpPr txBox="1"/>
          <p:nvPr/>
        </p:nvSpPr>
        <p:spPr>
          <a:xfrm>
            <a:off x="777240"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core iOS screens, each with a ViewModel</a:t>
            </a:r>
            <a:endParaRPr lang="en-US" sz="1700" dirty="0"/>
          </a:p>
        </p:txBody>
      </p:sp>
      <p:sp>
        <p:nvSpPr>
          <p:cNvPr id="8" name="Shape 5"/>
          <p:cNvSpPr/>
          <p:nvPr/>
        </p:nvSpPr>
        <p:spPr>
          <a:xfrm>
            <a:off x="3536899" y="2468880"/>
            <a:ext cx="2851099" cy="2926080"/>
          </a:xfrm>
          <a:prstGeom prst="rect">
            <a:avLst/>
          </a:prstGeom>
          <a:solidFill>
            <a:srgbClr val="5B3F96"/>
          </a:solidFill>
          <a:ln w="12700">
            <a:solidFill>
              <a:srgbClr val="5B3F96"/>
            </a:solidFill>
            <a:prstDash val="solid"/>
          </a:ln>
        </p:spPr>
      </p:sp>
      <p:sp>
        <p:nvSpPr>
          <p:cNvPr id="9" name="Text 6"/>
          <p:cNvSpPr txBox="1"/>
          <p:nvPr/>
        </p:nvSpPr>
        <p:spPr>
          <a:xfrm>
            <a:off x="3856939"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8</a:t>
            </a:r>
            <a:endParaRPr lang="en-US" sz="8000" dirty="0"/>
          </a:p>
        </p:txBody>
      </p:sp>
      <p:sp>
        <p:nvSpPr>
          <p:cNvPr id="10" name="Text 7"/>
          <p:cNvSpPr txBox="1"/>
          <p:nvPr/>
        </p:nvSpPr>
        <p:spPr>
          <a:xfrm>
            <a:off x="3856939"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steps in each trade flow: share and dollar</a:t>
            </a:r>
            <a:endParaRPr lang="en-US" sz="1700" dirty="0"/>
          </a:p>
        </p:txBody>
      </p:sp>
      <p:sp>
        <p:nvSpPr>
          <p:cNvPr id="11" name="Shape 8"/>
          <p:cNvSpPr/>
          <p:nvPr/>
        </p:nvSpPr>
        <p:spPr>
          <a:xfrm>
            <a:off x="6616598" y="2468880"/>
            <a:ext cx="2851099" cy="2926080"/>
          </a:xfrm>
          <a:prstGeom prst="rect">
            <a:avLst/>
          </a:prstGeom>
          <a:solidFill>
            <a:srgbClr val="00868B"/>
          </a:solidFill>
          <a:ln w="12700">
            <a:solidFill>
              <a:srgbClr val="00868B"/>
            </a:solidFill>
            <a:prstDash val="solid"/>
          </a:ln>
        </p:spPr>
      </p:sp>
      <p:sp>
        <p:nvSpPr>
          <p:cNvPr id="12" name="Text 9"/>
          <p:cNvSpPr txBox="1"/>
          <p:nvPr/>
        </p:nvSpPr>
        <p:spPr>
          <a:xfrm>
            <a:off x="69366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3" name="Text 10"/>
          <p:cNvSpPr txBox="1"/>
          <p:nvPr/>
        </p:nvSpPr>
        <p:spPr>
          <a:xfrm>
            <a:off x="69366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interactive prototypes published, plus this deck</a:t>
            </a:r>
            <a:endParaRPr lang="en-US" sz="1700" dirty="0"/>
          </a:p>
        </p:txBody>
      </p:sp>
      <p:sp>
        <p:nvSpPr>
          <p:cNvPr id="14" name="Shape 11"/>
          <p:cNvSpPr/>
          <p:nvPr/>
        </p:nvSpPr>
        <p:spPr>
          <a:xfrm>
            <a:off x="9696298" y="2468880"/>
            <a:ext cx="2851099" cy="2926080"/>
          </a:xfrm>
          <a:prstGeom prst="rect">
            <a:avLst/>
          </a:prstGeom>
          <a:solidFill>
            <a:srgbClr val="3A7D55"/>
          </a:solidFill>
          <a:ln w="12700">
            <a:solidFill>
              <a:srgbClr val="3A7D55"/>
            </a:solidFill>
            <a:prstDash val="solid"/>
          </a:ln>
        </p:spPr>
      </p:sp>
      <p:sp>
        <p:nvSpPr>
          <p:cNvPr id="15" name="Text 12"/>
          <p:cNvSpPr txBox="1"/>
          <p:nvPr/>
        </p:nvSpPr>
        <p:spPr>
          <a:xfrm>
            <a:off x="100163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6" name="Text 13"/>
          <p:cNvSpPr txBox="1"/>
          <p:nvPr/>
        </p:nvSpPr>
        <p:spPr>
          <a:xfrm>
            <a:off x="100163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wireframe pages: states, agent, and full experience (mock data)</a:t>
            </a:r>
            <a:endParaRPr lang="en-US" sz="1700" dirty="0"/>
          </a:p>
        </p:txBody>
      </p:sp>
      <p:sp>
        <p:nvSpPr>
          <p:cNvPr id="17" name="Text 14"/>
          <p:cNvSpPr txBox="1"/>
          <p:nvPr/>
        </p:nvSpPr>
        <p:spPr>
          <a:xfrm>
            <a:off x="457200" y="6035040"/>
            <a:ext cx="120700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OUTCOMES · NOT YET MEASURED</a:t>
            </a:r>
            <a:endParaRPr lang="en-US" sz="1280" dirty="0"/>
          </a:p>
        </p:txBody>
      </p:sp>
      <p:sp>
        <p:nvSpPr>
          <p:cNvPr id="18" name="Text 15"/>
          <p:cNvSpPr txBox="1"/>
          <p:nvPr/>
        </p:nvSpPr>
        <p:spPr>
          <a:xfrm>
            <a:off x="457200" y="6400800"/>
            <a:ext cx="12070080" cy="146304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Time to complete a trade, task success, the share of users who open an AI screen in week one, and a usability score. Targets are planned and will be set with stakeholders before the first test.</a:t>
            </a:r>
            <a:endParaRPr lang="en-US" sz="20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10 · Learnings &amp; next steps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building this taught me, and what comes next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LEARNINGS</a:t>
            </a:r>
            <a:endParaRPr lang="en-US" sz="1280" dirty="0"/>
          </a:p>
        </p:txBody>
      </p:sp>
      <p:sp>
        <p:nvSpPr>
          <p:cNvPr id="6" name="Shape 3"/>
          <p:cNvSpPr/>
          <p:nvPr/>
        </p:nvSpPr>
        <p:spPr>
          <a:xfrm>
            <a:off x="457200" y="3017520"/>
            <a:ext cx="420624" cy="420624"/>
          </a:xfrm>
          <a:prstGeom prst="ellipse">
            <a:avLst/>
          </a:prstGeom>
          <a:solidFill>
            <a:srgbClr val="C45A35"/>
          </a:solidFill>
          <a:ln w="12700">
            <a:solidFill>
              <a:srgbClr val="C45A35"/>
            </a:solidFill>
            <a:prstDash val="solid"/>
          </a:ln>
        </p:spPr>
      </p:sp>
      <p:sp>
        <p:nvSpPr>
          <p:cNvPr id="7" name="Text 4"/>
          <p:cNvSpPr txBox="1"/>
          <p:nvPr/>
        </p:nvSpPr>
        <p:spPr>
          <a:xfrm>
            <a:off x="457200" y="3081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097280" y="30358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One token source for Figma and Swift keeps the two in step.</a:t>
            </a:r>
            <a:endParaRPr lang="en-US" sz="1800" dirty="0"/>
          </a:p>
        </p:txBody>
      </p:sp>
      <p:sp>
        <p:nvSpPr>
          <p:cNvPr id="9" name="Shape 6"/>
          <p:cNvSpPr/>
          <p:nvPr/>
        </p:nvSpPr>
        <p:spPr>
          <a:xfrm>
            <a:off x="457200" y="4389120"/>
            <a:ext cx="420624" cy="420624"/>
          </a:xfrm>
          <a:prstGeom prst="ellipse">
            <a:avLst/>
          </a:prstGeom>
          <a:solidFill>
            <a:srgbClr val="C45A35"/>
          </a:solidFill>
          <a:ln w="12700">
            <a:solidFill>
              <a:srgbClr val="C45A35"/>
            </a:solidFill>
            <a:prstDash val="solid"/>
          </a:ln>
        </p:spPr>
      </p:sp>
      <p:sp>
        <p:nvSpPr>
          <p:cNvPr id="10" name="Text 7"/>
          <p:cNvSpPr txBox="1"/>
          <p:nvPr/>
        </p:nvSpPr>
        <p:spPr>
          <a:xfrm>
            <a:off x="457200" y="44531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1097280" y="44074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Settle AI boundaries before more screens. Adapt’s buy and sell wording needs compliance first.</a:t>
            </a:r>
            <a:endParaRPr lang="en-US" sz="1800" dirty="0"/>
          </a:p>
        </p:txBody>
      </p:sp>
      <p:sp>
        <p:nvSpPr>
          <p:cNvPr id="12" name="Shape 9"/>
          <p:cNvSpPr/>
          <p:nvPr/>
        </p:nvSpPr>
        <p:spPr>
          <a:xfrm>
            <a:off x="457200" y="5760720"/>
            <a:ext cx="420624" cy="420624"/>
          </a:xfrm>
          <a:prstGeom prst="ellipse">
            <a:avLst/>
          </a:prstGeom>
          <a:solidFill>
            <a:srgbClr val="C45A35"/>
          </a:solidFill>
          <a:ln w="12700">
            <a:solidFill>
              <a:srgbClr val="C45A35"/>
            </a:solidFill>
            <a:prstDash val="solid"/>
          </a:ln>
        </p:spPr>
      </p:sp>
      <p:sp>
        <p:nvSpPr>
          <p:cNvPr id="13" name="Text 10"/>
          <p:cNvSpPr txBox="1"/>
          <p:nvPr/>
        </p:nvSpPr>
        <p:spPr>
          <a:xfrm>
            <a:off x="457200" y="58247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4" name="Text 11"/>
          <p:cNvSpPr txBox="1"/>
          <p:nvPr/>
        </p:nvSpPr>
        <p:spPr>
          <a:xfrm>
            <a:off x="1097280" y="57790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Mock data hides timing and error states, so design them explicitly.</a:t>
            </a:r>
            <a:endParaRPr lang="en-US" sz="1800" dirty="0"/>
          </a:p>
        </p:txBody>
      </p:sp>
      <p:sp>
        <p:nvSpPr>
          <p:cNvPr id="15" name="Shape 12"/>
          <p:cNvSpPr/>
          <p:nvPr/>
        </p:nvSpPr>
        <p:spPr>
          <a:xfrm>
            <a:off x="457200" y="7132320"/>
            <a:ext cx="420624" cy="420624"/>
          </a:xfrm>
          <a:prstGeom prst="ellipse">
            <a:avLst/>
          </a:prstGeom>
          <a:solidFill>
            <a:srgbClr val="C45A35"/>
          </a:solidFill>
          <a:ln w="12700">
            <a:solidFill>
              <a:srgbClr val="C45A35"/>
            </a:solidFill>
            <a:prstDash val="solid"/>
          </a:ln>
        </p:spPr>
      </p:sp>
      <p:sp>
        <p:nvSpPr>
          <p:cNvPr id="16" name="Text 13"/>
          <p:cNvSpPr txBox="1"/>
          <p:nvPr/>
        </p:nvSpPr>
        <p:spPr>
          <a:xfrm>
            <a:off x="457200" y="7196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17" name="Text 14"/>
          <p:cNvSpPr txBox="1"/>
          <p:nvPr/>
        </p:nvSpPr>
        <p:spPr>
          <a:xfrm>
            <a:off x="1097280" y="71506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Keep working documents in one place: the FigJam board.</a:t>
            </a:r>
            <a:endParaRPr lang="en-US" sz="1800" dirty="0"/>
          </a:p>
        </p:txBody>
      </p:sp>
      <p:sp>
        <p:nvSpPr>
          <p:cNvPr id="18" name="Text 15"/>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NEXT STEPS</a:t>
            </a:r>
            <a:endParaRPr lang="en-US" sz="1280" dirty="0"/>
          </a:p>
        </p:txBody>
      </p:sp>
      <p:sp>
        <p:nvSpPr>
          <p:cNvPr id="19" name="Text 16"/>
          <p:cNvSpPr txBox="1"/>
          <p:nvPr/>
        </p:nvSpPr>
        <p:spPr>
          <a:xfrm>
            <a:off x="6583680" y="3017520"/>
            <a:ext cx="5669280" cy="50292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Validate the three personas with five to eight interviews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Usability-test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Review the three wireframe pages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Resolve the open questions on the FigJam board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Set metric targets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Replace Adapt buy and sell wording with proposed-step language, then schedule compliance review</a:t>
            </a:r>
            <a:endParaRPr lang="en-US" sz="1800" dirty="0"/>
          </a:p>
        </p:txBody>
      </p:sp>
      <p:pic>
        <p:nvPicPr>
          <p:cNvPr id="20"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Working documents and links</a:t>
            </a:r>
            <a:endParaRPr lang="en-US" sz="5700" dirty="0"/>
          </a:p>
        </p:txBody>
      </p:sp>
      <p:sp>
        <p:nvSpPr>
          <p:cNvPr id="3" name="Text 1"/>
          <p:cNvSpPr txBox="1"/>
          <p:nvPr/>
        </p:nvSpPr>
        <p:spPr>
          <a:xfrm>
            <a:off x="978408" y="29260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FigJam board (working documents)</a:t>
            </a:r>
            <a:endParaRPr lang="en-US" sz="1800" dirty="0"/>
          </a:p>
        </p:txBody>
      </p:sp>
      <p:sp>
        <p:nvSpPr>
          <p:cNvPr id="4" name="Text 2">
            <a:hlinkClick r:id="rId2" tooltip=""/>
          </p:cNvPr>
          <p:cNvSpPr txBox="1"/>
          <p:nvPr/>
        </p:nvSpPr>
        <p:spPr>
          <a:xfrm>
            <a:off x="6309360" y="29626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https://www.figma.com/board/OXpFHEhHcr2ZReOXKKPVxb</a:t>
            </a:r>
            <a:endParaRPr lang="en-US" sz="1500" dirty="0"/>
          </a:p>
        </p:txBody>
      </p:sp>
      <p:sp>
        <p:nvSpPr>
          <p:cNvPr id="5" name="Text 3"/>
          <p:cNvSpPr txBox="1"/>
          <p:nvPr/>
        </p:nvSpPr>
        <p:spPr>
          <a:xfrm>
            <a:off x="978408" y="37033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Wires (Figma)</a:t>
            </a:r>
            <a:endParaRPr lang="en-US" sz="1800" dirty="0"/>
          </a:p>
        </p:txBody>
      </p:sp>
      <p:sp>
        <p:nvSpPr>
          <p:cNvPr id="6" name="Text 4">
            <a:hlinkClick r:id="rId3" tooltip=""/>
          </p:cNvPr>
          <p:cNvSpPr txBox="1"/>
          <p:nvPr/>
        </p:nvSpPr>
        <p:spPr>
          <a:xfrm>
            <a:off x="6309360" y="37398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https://www.figma.com/design/W9SuJ8HpznQuY6Fb3H442w</a:t>
            </a:r>
            <a:endParaRPr lang="en-US" sz="1500" dirty="0"/>
          </a:p>
        </p:txBody>
      </p:sp>
      <p:sp>
        <p:nvSpPr>
          <p:cNvPr id="7" name="Text 5"/>
          <p:cNvSpPr txBox="1"/>
          <p:nvPr/>
        </p:nvSpPr>
        <p:spPr>
          <a:xfrm>
            <a:off x="978408" y="448056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06- Wireframes (hi-fi states)</a:t>
            </a:r>
            <a:endParaRPr lang="en-US" sz="1800" dirty="0"/>
          </a:p>
        </p:txBody>
      </p:sp>
      <p:sp>
        <p:nvSpPr>
          <p:cNvPr id="8" name="Text 6">
            <a:hlinkClick r:id="rId4" tooltip=""/>
          </p:cNvPr>
          <p:cNvSpPr txBox="1"/>
          <p:nvPr/>
        </p:nvSpPr>
        <p:spPr>
          <a:xfrm>
            <a:off x="6309360" y="451713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https://www.figma.com/design/W9SuJ8HpznQuY6Fb3H442w?node-id=5123-3942</a:t>
            </a:r>
            <a:endParaRPr lang="en-US" sz="1500" dirty="0"/>
          </a:p>
        </p:txBody>
      </p:sp>
      <p:sp>
        <p:nvSpPr>
          <p:cNvPr id="9" name="Text 7"/>
          <p:cNvSpPr txBox="1"/>
          <p:nvPr/>
        </p:nvSpPr>
        <p:spPr>
          <a:xfrm>
            <a:off x="978408" y="525780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New Trading Desk (Figma)</a:t>
            </a:r>
            <a:endParaRPr lang="en-US" sz="1800" dirty="0"/>
          </a:p>
        </p:txBody>
      </p:sp>
      <p:sp>
        <p:nvSpPr>
          <p:cNvPr id="10" name="Text 8">
            <a:hlinkClick r:id="rId5" tooltip=""/>
          </p:cNvPr>
          <p:cNvSpPr txBox="1"/>
          <p:nvPr/>
        </p:nvSpPr>
        <p:spPr>
          <a:xfrm>
            <a:off x="6309360" y="529437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https://www.figma.com/design/w9xAlgyQeXToR54UPbv7wG</a:t>
            </a:r>
            <a:endParaRPr lang="en-US" sz="1500" dirty="0"/>
          </a:p>
        </p:txBody>
      </p:sp>
      <p:sp>
        <p:nvSpPr>
          <p:cNvPr id="11" name="Text 9"/>
          <p:cNvSpPr txBox="1"/>
          <p:nvPr/>
        </p:nvSpPr>
        <p:spPr>
          <a:xfrm>
            <a:off x="978408" y="603504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Case study deck (web)</a:t>
            </a:r>
            <a:endParaRPr lang="en-US" sz="1800" dirty="0"/>
          </a:p>
        </p:txBody>
      </p:sp>
      <p:sp>
        <p:nvSpPr>
          <p:cNvPr id="12" name="Text 10">
            <a:hlinkClick r:id="rId6" tooltip=""/>
          </p:cNvPr>
          <p:cNvSpPr txBox="1"/>
          <p:nvPr/>
        </p:nvSpPr>
        <p:spPr>
          <a:xfrm>
            <a:off x="6309360" y="607161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https://claude.ai/artifact/TwRA3JxYaMduyLo1MfpcZe</a:t>
            </a:r>
            <a:endParaRPr lang="en-US" sz="1500" dirty="0"/>
          </a:p>
        </p:txBody>
      </p:sp>
      <p:sp>
        <p:nvSpPr>
          <p:cNvPr id="13" name="Text 11"/>
          <p:cNvSpPr txBox="1"/>
          <p:nvPr/>
        </p:nvSpPr>
        <p:spPr>
          <a:xfrm>
            <a:off x="978408" y="68122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HTML prototype</a:t>
            </a:r>
            <a:endParaRPr lang="en-US" sz="1800" dirty="0"/>
          </a:p>
        </p:txBody>
      </p:sp>
      <p:sp>
        <p:nvSpPr>
          <p:cNvPr id="14" name="Text 12">
            <a:hlinkClick r:id="rId7" tooltip=""/>
          </p:cNvPr>
          <p:cNvSpPr txBox="1"/>
          <p:nvPr/>
        </p:nvSpPr>
        <p:spPr>
          <a:xfrm>
            <a:off x="6309360" y="68488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https://claude.ai/artifact/QKAHav3ku5fRX5UTnohzsZ</a:t>
            </a:r>
            <a:endParaRPr lang="en-US" sz="1500" dirty="0"/>
          </a:p>
        </p:txBody>
      </p:sp>
      <p:sp>
        <p:nvSpPr>
          <p:cNvPr id="15" name="Text 13"/>
          <p:cNvSpPr txBox="1"/>
          <p:nvPr/>
        </p:nvSpPr>
        <p:spPr>
          <a:xfrm>
            <a:off x="978408" y="75895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Code and docs (GitHub)</a:t>
            </a:r>
            <a:endParaRPr lang="en-US" sz="1800" dirty="0"/>
          </a:p>
        </p:txBody>
      </p:sp>
      <p:sp>
        <p:nvSpPr>
          <p:cNvPr id="16" name="Text 14">
            <a:hlinkClick r:id="rId8" tooltip=""/>
          </p:cNvPr>
          <p:cNvSpPr txBox="1"/>
          <p:nvPr/>
        </p:nvSpPr>
        <p:spPr>
          <a:xfrm>
            <a:off x="6309360" y="76260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https://github.com/CHUNKY21/trading-platform</a:t>
            </a:r>
            <a:endParaRPr lang="en-US" sz="1500" dirty="0"/>
          </a:p>
        </p:txBody>
      </p:sp>
      <p:sp>
        <p:nvSpPr>
          <p:cNvPr id="17" name="Text 15"/>
          <p:cNvSpPr txBox="1"/>
          <p:nvPr/>
        </p:nvSpPr>
        <p:spPr>
          <a:xfrm>
            <a:off x="978408" y="8229600"/>
            <a:ext cx="10515600" cy="365760"/>
          </a:xfrm>
          <a:prstGeom prst="rect">
            <a:avLst/>
          </a:prstGeom>
          <a:noFill/>
          <a:ln/>
        </p:spPr>
        <p:txBody>
          <a:bodyPr wrap="square" lIns="0" tIns="0" rIns="0" bIns="0" rtlCol="0" anchor="t"/>
          <a:lstStyle/>
          <a:p>
            <a:pPr indent="0" marL="0">
              <a:buNone/>
            </a:pPr>
            <a:r>
              <a:rPr lang="en-US" sz="1400" dirty="0">
                <a:solidFill>
                  <a:srgbClr val="FFE9DF"/>
                </a:solidFill>
                <a:latin typeface="Helvetica Neue Light" pitchFamily="34" charset="0"/>
                <a:ea typeface="Helvetica Neue Light" pitchFamily="34" charset="-122"/>
                <a:cs typeface="Helvetica Neue Light" pitchFamily="34" charset="-120"/>
              </a:rPr>
              <a:t>Some links need access. Share the FigJam board and prototypes from each tool’s share menu.</a:t>
            </a:r>
            <a:endParaRPr lang="en-US" sz="1400" dirty="0"/>
          </a:p>
        </p:txBody>
      </p:sp>
      <p:pic>
        <p:nvPicPr>
          <p:cNvPr id="18" name="Image 0" descr="/tmp/meridian-deck/img/band-footer.png">    </p:cNvPr>
          <p:cNvPicPr>
            <a:picLocks noChangeAspect="1"/>
          </p:cNvPicPr>
          <p:nvPr/>
        </p:nvPicPr>
        <p:blipFill>
          <a:blip r:embed="rId9"/>
          <a:stretch>
            <a:fillRect/>
          </a:stretch>
        </p:blipFill>
        <p:spPr>
          <a:xfrm>
            <a:off x="0" y="9281160"/>
            <a:ext cx="13004597" cy="46634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24023</Words>
  <Application>Microsoft Macintosh PowerPoint</Application>
  <PresentationFormat>Custom</PresentationFormat>
  <Paragraphs>2417</Paragraphs>
  <Slides>161</Slides>
  <Notes>67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161</vt:i4>
      </vt:variant>
    </vt:vector>
  </HeadingPairs>
  <TitlesOfParts>
    <vt:vector size="170" baseType="lpstr">
      <vt:lpstr>Aptos</vt:lpstr>
      <vt:lpstr>Arial</vt:lpstr>
      <vt:lpstr>Calibri</vt:lpstr>
      <vt:lpstr>Helvetica</vt:lpstr>
      <vt:lpstr>Helvetica Neue</vt:lpstr>
      <vt:lpstr>HELVETICA NEUE LIGHT</vt:lpstr>
      <vt:lpstr>HELVETICA NEUE LIGHT</vt:lpstr>
      <vt:lpstr>Helvetica Neue Thin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19</cp:revision>
  <dcterms:created xsi:type="dcterms:W3CDTF">2013-01-27T09:14:16Z</dcterms:created>
  <dcterms:modified xsi:type="dcterms:W3CDTF">2026-10-08T01:28:10Z</dcterms:modified>
  <cp:category/>
</cp:coreProperties>
</file>
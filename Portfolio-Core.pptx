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3"/>
  </p:notesMasterIdLst>
  <p:sldIdLst>
    <p:sldId id="256" r:id="rId2"/>
    <p:sldId id="336" r:id="rId3"/>
    <p:sldId id="338" r:id="rId5"/>
    <p:sldId id="340" r:id="rId7"/>
    <p:sldId id="437" r:id="rId42"/>
    <p:sldId id="344" r:id="rId11"/>
    <p:sldId id="346" r:id="rId13"/>
    <p:sldId id="351" r:id="rId16"/>
    <p:sldId id="349" r:id="rId17"/>
    <p:sldId id="352" r:id="rId20"/>
    <p:sldId id="354" r:id="rId22"/>
    <p:sldId id="357" r:id="rId25"/>
    <p:sldId id="359" r:id="rId27"/>
    <p:sldId id="361" r:id="rId29"/>
    <p:sldId id="363" r:id="rId31"/>
    <p:sldId id="368" r:id="rId19"/>
    <p:sldId id="373" r:id="rId40"/>
    <p:sldId id="374" r:id="rId41"/>
    <p:sldId id="377" r:id="rId44"/>
    <p:sldId id="378" r:id="rId45"/>
    <p:sldId id="379" r:id="rId46"/>
    <p:sldId id="381" r:id="rId48"/>
    <p:sldId id="438" r:id="rId30"/>
    <p:sldId id="439" r:id="rId28"/>
    <p:sldId id="440" r:id="rId32"/>
    <p:sldId id="441" r:id="rId33"/>
    <p:sldId id="442" r:id="rId34"/>
    <p:sldId id="443" r:id="rId35"/>
    <p:sldId id="444" r:id="rId36"/>
    <p:sldId id="445" r:id="rId37"/>
    <p:sldId id="446" r:id="rId38"/>
    <p:sldId id="447" r:id="rId39"/>
    <p:sldId id="448" r:id="rId26"/>
    <p:sldId id="449" r:id="rId24"/>
    <p:sldId id="450" r:id="rId23"/>
    <p:sldId id="451" r:id="rId21"/>
    <p:sldId id="452" r:id="rId18"/>
    <p:sldId id="453" r:id="rId15"/>
    <p:sldId id="454" r:id="rId14"/>
    <p:sldId id="455" r:id="rId47"/>
    <p:sldId id="456" r:id="rId12"/>
    <p:sldId id="457" r:id="rId49"/>
    <p:sldId id="458" r:id="rId50"/>
    <p:sldId id="459" r:id="rId51"/>
    <p:sldId id="460" r:id="rId52"/>
    <p:sldId id="461" r:id="rId53"/>
    <p:sldId id="462" r:id="rId54"/>
    <p:sldId id="435" r:id="rId43"/>
  </p:sldIdLst>
  <p:sldSz cx="13004800" cy="975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63"/>
    <p:restoredTop sz="94658"/>
  </p:normalViewPr>
  <p:slideViewPr>
    <p:cSldViewPr snapToGrid="0" snapToObjects="1">
      <p:cViewPr varScale="1">
        <p:scale>
          <a:sx n="84" d="100"/>
          <a:sy n="84" d="100"/>
        </p:scale>
        <p:origin x="2056"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7" Type="http://schemas.openxmlformats.org/officeDocument/2006/relationships/slide" Target="slides/slide4.xml"/><Relationship Id="rId11" Type="http://schemas.openxmlformats.org/officeDocument/2006/relationships/slide" Target="slides/slide6.xml"/><Relationship Id="rId12" Type="http://schemas.openxmlformats.org/officeDocument/2006/relationships/slide" Target="slides/slide42.xml"/><Relationship Id="rId13" Type="http://schemas.openxmlformats.org/officeDocument/2006/relationships/slide" Target="slides/slide7.xml"/><Relationship Id="rId14" Type="http://schemas.openxmlformats.org/officeDocument/2006/relationships/slide" Target="slides/slide40.xml"/><Relationship Id="rId15" Type="http://schemas.openxmlformats.org/officeDocument/2006/relationships/slide" Target="slides/slide39.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38.xml"/><Relationship Id="rId19" Type="http://schemas.openxmlformats.org/officeDocument/2006/relationships/slide" Target="slides/slide16.xml"/><Relationship Id="rId20" Type="http://schemas.openxmlformats.org/officeDocument/2006/relationships/slide" Target="slides/slide10.xml"/><Relationship Id="rId21" Type="http://schemas.openxmlformats.org/officeDocument/2006/relationships/slide" Target="slides/slide37.xml"/><Relationship Id="rId22" Type="http://schemas.openxmlformats.org/officeDocument/2006/relationships/slide" Target="slides/slide11.xml"/><Relationship Id="rId23" Type="http://schemas.openxmlformats.org/officeDocument/2006/relationships/slide" Target="slides/slide36.xml"/><Relationship Id="rId24" Type="http://schemas.openxmlformats.org/officeDocument/2006/relationships/slide" Target="slides/slide35.xml"/><Relationship Id="rId25" Type="http://schemas.openxmlformats.org/officeDocument/2006/relationships/slide" Target="slides/slide12.xml"/><Relationship Id="rId26" Type="http://schemas.openxmlformats.org/officeDocument/2006/relationships/slide" Target="slides/slide34.xml"/><Relationship Id="rId27" Type="http://schemas.openxmlformats.org/officeDocument/2006/relationships/slide" Target="slides/slide13.xml"/><Relationship Id="rId28" Type="http://schemas.openxmlformats.org/officeDocument/2006/relationships/slide" Target="slides/slide25.xml"/><Relationship Id="rId29" Type="http://schemas.openxmlformats.org/officeDocument/2006/relationships/slide" Target="slides/slide14.xml"/><Relationship Id="rId30" Type="http://schemas.openxmlformats.org/officeDocument/2006/relationships/slide" Target="slides/slide24.xml"/><Relationship Id="rId31" Type="http://schemas.openxmlformats.org/officeDocument/2006/relationships/slide" Target="slides/slide1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17.xml"/><Relationship Id="rId41" Type="http://schemas.openxmlformats.org/officeDocument/2006/relationships/slide" Target="slides/slide18.xml"/><Relationship Id="rId42" Type="http://schemas.openxmlformats.org/officeDocument/2006/relationships/slide" Target="slides/slide5.xml"/><Relationship Id="rId43" Type="http://schemas.openxmlformats.org/officeDocument/2006/relationships/slide" Target="slides/slide23.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41.xml"/><Relationship Id="rId48" Type="http://schemas.openxmlformats.org/officeDocument/2006/relationships/slide" Target="slides/slide2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163" Type="http://schemas.openxmlformats.org/officeDocument/2006/relationships/notesMaster" Target="notesMasters/notesMaster1.xml"/><Relationship Id="rId164" Type="http://schemas.openxmlformats.org/officeDocument/2006/relationships/presProps" Target="presProps.xml"/><Relationship Id="rId165" Type="http://schemas.openxmlformats.org/officeDocument/2006/relationships/viewProps" Target="viewProps.xml"/><Relationship Id="rId166" Type="http://schemas.openxmlformats.org/officeDocument/2006/relationships/theme" Target="theme/theme1.xml"/><Relationship Id="rId16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164DF-5A26-5349-97CB-5F6E935D3C02}" type="datetimeFigureOut">
              <a:rPr lang="en-US" smtClean="0"/>
              <a:t>10/7/26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DF791-86A3-344B-9231-BE94FBB68C8C}" type="slidenum">
              <a:rPr lang="en-US" smtClean="0"/>
              <a:t>‹#›</a:t>
            </a:fld>
            <a:endParaRPr lang="en-US" dirty="0"/>
          </a:p>
        </p:txBody>
      </p:sp>
    </p:spTree>
    <p:extLst>
      <p:ext uri="{BB962C8B-B14F-4D97-AF65-F5344CB8AC3E}">
        <p14:creationId xmlns:p14="http://schemas.microsoft.com/office/powerpoint/2010/main" val="1940441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in the portfolio format. Concept-stage work; screens are illustrative with fictional tickers. The quote paraphrases reviewer point R3 from the 30 Sept design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Course brief summarized in Research-Notes/Course-Design-Brief.md (all 🔶 case-brief facts). Live-site facts win for the real product, e.g. 7-day card trial vs the brief’s 30-day money-back.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pain register (03c), P1, P9, P5, P3, P2, P10, P13: 27 pains in total, scored urgency × business impact.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endParaRPr/>
          </a:p>
          <a:p>
            <a:r>
              <a:t>This is what changes when FinViz keeps watch for him.</a:t>
            </a:r>
          </a:p>
          <a:p>
            <a:endParaRPr/>
          </a:p>
          <a:p>
            <a:r>
              <a:t>— Production notes —</a:t>
            </a:r>
          </a:p>
          <a:p>
            <a:r>
              <a:t>The one workflow this case study showcases: The Trading Day. Everything else in the deck either explains why (research), how it was led (leadership) or how it works (design).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WALKTHROUGH (5–7 min) · From market noise to a focused next step</a:t>
            </a:r>
          </a:p>
          <a:p>
            <a:r>
              <a:t>Positioning: AI is a contextual research and monitoring assistant, not a chat window. Monitoring and explanation are automatic; changes to preferences or layouts need approval; trading stays outside the agent's role.</a:t>
            </a:r>
          </a:p>
          <a:p>
            <a:endParaRPr/>
          </a:p>
          <a:p>
            <a:r>
              <a:t>[1 Morning · DB1] It's 7:45. Gary doesn't need another feed of headlines; he needs to know what changed for the names he follows. FinViz keeps the familiar context (futures, breadth, heatmap) but puts three findings first: DOCN is trading below its 50-day moving average before the open, so one of his saved reasons is at risk; QLYS reports after the close; semiconductor weakness may matter because RMBS is on his shortlist. Each has a source, a reliability label and somewhere to investigate.</a:t>
            </a:r>
          </a:p>
          <a:p>
            <a:endParaRPr/>
          </a:p>
          <a:p>
            <a:r>
              <a:t>[2 Investigating · DB2] He opens the semiconductor finding: measured moves, number of stocks, quote time, the Reuters report. His exposure is separated from the industry move: RMBS is up 1.1% on its own news while the industry falls 2.1%. FinViz measures the move; it attributes a cause only when a source supports it, otherwise "No reported cause". Research support, not a prediction or a trade recommendation.</a:t>
            </a:r>
          </a:p>
          <a:p>
            <a:endParaRPr/>
          </a:p>
          <a:p>
            <a:r>
              <a:t>[3 Refining · DB2] The move is too small to be useful to him. FinViz asks why and previews a change (only industry moves &gt; 3%; about two fewer cards a week). He applies or cancels. Borderline signals stay on the board without pushing. Reduce interruption, don't manufacture urgency.</a:t>
            </a:r>
          </a:p>
          <a:p>
            <a:endParaRPr/>
          </a:p>
          <a:p>
            <a:r>
              <a:t>[4 After the close · DB3] Technology is 46% of the portfolio, six points above his 40% target and outside his band; the cause is RMBS +18.4% this month. FinViz explains where he differs from his own plan; it doesn't rebalance or turn that into a trade instruction.</a:t>
            </a:r>
          </a:p>
          <a:p>
            <a:endParaRPr/>
          </a:p>
          <a:p>
            <a:r>
              <a:t>[5 Advisor · DB4] Mike manages 54 portfolios: 6 crossed one of his limits, 48 are within them. He starts with an exception queue; each shows evidence and when it appeared; uncertainty stays visible. Acknowledging records review, not resolution.</a:t>
            </a:r>
          </a:p>
          <a:p>
            <a:endParaRPr/>
          </a:p>
          <a:p>
            <a:r>
              <a:t>[6 Personalization · DB5] FinViz notices habits and offers to pin or hide cards, says why, and asks. "No thanks" is remembered; changes are reversible.</a:t>
            </a:r>
          </a:p>
          <a:p>
            <a:endParaRPr/>
          </a:p>
          <a:p>
            <a:r>
              <a:t>[Closing] AI has three jobs: notice relevant changes, explain them with evidence, keep a focused workflow. Sources, timestamps, uncertainty and approval are part of the experience. The user stays in control of criteria, attention and decisions.</a:t>
            </a:r>
          </a:p>
          <a:p>
            <a:endParaRPr/>
          </a:p>
          <a:p>
            <a:r>
              <a:t>Before presenting: conceptual screens with synthetic data; reliability labels describe the evidence, not investment performance; the "Ask about…" entry points are proposed.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[OW1] Gary doesn't start with 89 dropdowns or a chat box. He pastes three stocks he already likes. FinViz's AI works out what they have in common, and the result is real filter chips he can edit, with a live count. AI learns from his examples. It doesn't make him write a query.</a:t>
            </a:r>
          </a:p>
          <a:p>
            <a:endParaRPr/>
          </a:p>
          <a:p>
            <a:r>
              <a:t>[OW2] He opens his saved screen. The new names are at the top, and every row shows which of his criteria it meets, or how close it came. The "why it matched" comes from real values, never a score.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[OW3] He pins three names. His reasons come with them, his own note too, and he drags an "out if" line straight onto the chart. The product remembers why he picked each one.</a:t>
            </a:r>
          </a:p>
          <a:p>
            <a:endParaRPr/>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[CL4] His chart setups show up too, but only the clear ones. Tap "Why?" and he sees what FinViz measured: wick 2.6 times the body, at support, volume 2.4 times its norm. When it isn't sure, it says so. Reliable by design: measurements, not confidence scores.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[OW7] After the close, a checklist that ticks itself. RMBS and QLYS: all reasons hold. DOCN: two of three. FinViz shows what changed and when. It checks his reasons. It doesn't give advice. Hold or exit is Gary's call, made in his own broker. FinViz never places a trade.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Crimson = design lead checkpoints; violet = AI. The workflow I ran for this project.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reflection; edit to match how I'd say it in an interview.</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Pag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4994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ivider">
    <p:bg>
      <p:bgPr>
        <a:solidFill>
          <a:srgbClr val="C45A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998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I-Portfolio/FinViz/Presentations/FinViz-Case-Study-Appendix.pptx" TargetMode="External"/><Relationship Id="rId3" Type="http://schemas.openxmlformats.org/officeDocument/2006/relationships/hyperlink" Target="Portfolio-Appendix-Other-Work.pptx"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4.png"/><Relationship Id="rId6"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4.png"/><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gma.com/board/OXpFHEhHcr2ZReOXKKPVxb" TargetMode="External"/><Relationship Id="rId3" Type="http://schemas.openxmlformats.org/officeDocument/2006/relationships/hyperlink" Target="https://www.figma.com/design/W9SuJ8HpznQuY6Fb3H442w" TargetMode="External"/><Relationship Id="rId4" Type="http://schemas.openxmlformats.org/officeDocument/2006/relationships/hyperlink" Target="https://www.figma.com/design/W9SuJ8HpznQuY6Fb3H442w?node-id=5123-3942" TargetMode="External"/><Relationship Id="rId5" Type="http://schemas.openxmlformats.org/officeDocument/2006/relationships/hyperlink" Target="https://www.figma.com/design/w9xAlgyQeXToR54UPbv7wG" TargetMode="External"/><Relationship Id="rId6" Type="http://schemas.openxmlformats.org/officeDocument/2006/relationships/hyperlink" Target="https://claude.ai/artifact/TwRA3JxYaMduyLo1MfpcZe" TargetMode="External"/><Relationship Id="rId7" Type="http://schemas.openxmlformats.org/officeDocument/2006/relationships/hyperlink" Target="https://claude.ai/artifact/QKAHav3ku5fRX5UTnohzsZ" TargetMode="External"/><Relationship Id="rId8" Type="http://schemas.openxmlformats.org/officeDocument/2006/relationships/hyperlink" Target="https://github.com/CHUNKY21/trading-platform" TargetMode="External"/><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7569200" y="947022"/>
            <a:ext cx="4272714" cy="884192"/>
          </a:xfrm>
          <a:prstGeom prst="rect">
            <a:avLst/>
          </a:prstGeom>
          <a:noFill/>
        </p:spPr>
        <p:txBody>
          <a:bodyPr wrap="none" lIns="0" tIns="0" rIns="0" bIns="0">
            <a:noAutofit/>
          </a:bodyPr>
          <a:lstStyle/>
          <a:p>
            <a:pPr algn="l"/>
            <a:r>
              <a:rPr sz="5700" dirty="0">
                <a:solidFill>
                  <a:srgbClr val="E98C64"/>
                </a:solidFill>
                <a:latin typeface="Helvetica Neue Light"/>
              </a:rPr>
              <a:t>case studies</a:t>
            </a:r>
          </a:p>
        </p:txBody>
      </p:sp>
      <p:sp>
        <p:nvSpPr>
          <p:cNvPr id="4" name="TextBox 3"/>
          <p:cNvSpPr txBox="1"/>
          <p:nvPr/>
        </p:nvSpPr>
        <p:spPr>
          <a:xfrm>
            <a:off x="8349995" y="5285528"/>
            <a:ext cx="2645070" cy="391219"/>
          </a:xfrm>
          <a:prstGeom prst="rect">
            <a:avLst/>
          </a:prstGeom>
          <a:noFill/>
        </p:spPr>
        <p:txBody>
          <a:bodyPr wrap="none" lIns="0" tIns="0" rIns="0" bIns="0">
            <a:noAutofit/>
          </a:bodyPr>
          <a:lstStyle/>
          <a:p>
            <a:pPr algn="l"/>
            <a:r>
              <a:rPr sz="1400" dirty="0">
                <a:solidFill>
                  <a:srgbClr val="404040"/>
                </a:solidFill>
                <a:latin typeface="Helvetica Neue Light"/>
              </a:rPr>
              <a:t>michael</a:t>
            </a:r>
            <a:r>
              <a:rPr sz="2550" dirty="0">
                <a:solidFill>
                  <a:srgbClr val="404040"/>
                </a:solidFill>
                <a:latin typeface="Helvetica Neue Light"/>
              </a:rPr>
              <a:t>thibodea(UX)</a:t>
            </a:r>
          </a:p>
        </p:txBody>
      </p:sp>
      <p:sp>
        <p:nvSpPr>
          <p:cNvPr id="5" name="TextBox 4"/>
          <p:cNvSpPr txBox="1"/>
          <p:nvPr/>
        </p:nvSpPr>
        <p:spPr>
          <a:xfrm>
            <a:off x="8495044" y="5689279"/>
            <a:ext cx="2435347" cy="218353"/>
          </a:xfrm>
          <a:prstGeom prst="rect">
            <a:avLst/>
          </a:prstGeom>
          <a:noFill/>
        </p:spPr>
        <p:txBody>
          <a:bodyPr wrap="none" lIns="0" tIns="0" rIns="0" bIns="0">
            <a:noAutofit/>
          </a:bodyPr>
          <a:lstStyle/>
          <a:p>
            <a:pPr algn="l"/>
            <a:r>
              <a:rPr sz="1400" dirty="0">
                <a:solidFill>
                  <a:srgbClr val="404040"/>
                </a:solidFill>
                <a:latin typeface="Helvetica Neue Light"/>
              </a:rPr>
              <a:t>www.michaeljthibodeau.com</a:t>
            </a:r>
          </a:p>
        </p:txBody>
      </p:sp>
      <p:sp>
        <p:nvSpPr>
          <p:cNvPr id="6" name="TextBox 5"/>
          <p:cNvSpPr txBox="1"/>
          <p:nvPr/>
        </p:nvSpPr>
        <p:spPr>
          <a:xfrm>
            <a:off x="7651892" y="1945422"/>
            <a:ext cx="4202677" cy="216217"/>
          </a:xfrm>
          <a:prstGeom prst="rect">
            <a:avLst/>
          </a:prstGeom>
          <a:noFill/>
        </p:spPr>
        <p:txBody>
          <a:bodyPr wrap="none" lIns="0" tIns="0" rIns="0" bIns="0">
            <a:noAutofit/>
          </a:bodyPr>
          <a:lstStyle/>
          <a:p>
            <a:pPr algn="l"/>
            <a:r>
              <a:rPr sz="1400" dirty="0">
                <a:solidFill>
                  <a:srgbClr val="404040"/>
                </a:solidFill>
                <a:latin typeface="Helvetica Neue Light"/>
              </a:rPr>
              <a:t>Portfolio of case studies that show the conceptual </a:t>
            </a:r>
          </a:p>
        </p:txBody>
      </p:sp>
      <p:sp>
        <p:nvSpPr>
          <p:cNvPr id="7" name="TextBox 6"/>
          <p:cNvSpPr txBox="1"/>
          <p:nvPr/>
        </p:nvSpPr>
        <p:spPr>
          <a:xfrm>
            <a:off x="7604677" y="2262922"/>
            <a:ext cx="4304674" cy="216217"/>
          </a:xfrm>
          <a:prstGeom prst="rect">
            <a:avLst/>
          </a:prstGeom>
          <a:noFill/>
        </p:spPr>
        <p:txBody>
          <a:bodyPr wrap="none" lIns="0" tIns="0" rIns="0" bIns="0">
            <a:noAutofit/>
          </a:bodyPr>
          <a:lstStyle/>
          <a:p>
            <a:pPr algn="l"/>
            <a:r>
              <a:rPr sz="1400" dirty="0">
                <a:solidFill>
                  <a:srgbClr val="404040"/>
                </a:solidFill>
                <a:latin typeface="Helvetica Neue Light"/>
              </a:rPr>
              <a:t>development, design process, artifact construction, </a:t>
            </a:r>
          </a:p>
        </p:txBody>
      </p:sp>
      <p:sp>
        <p:nvSpPr>
          <p:cNvPr id="8" name="TextBox 7"/>
          <p:cNvSpPr txBox="1"/>
          <p:nvPr/>
        </p:nvSpPr>
        <p:spPr>
          <a:xfrm>
            <a:off x="8372073" y="2580422"/>
            <a:ext cx="2597411" cy="216217"/>
          </a:xfrm>
          <a:prstGeom prst="rect">
            <a:avLst/>
          </a:prstGeom>
          <a:noFill/>
        </p:spPr>
        <p:txBody>
          <a:bodyPr wrap="none" lIns="0" tIns="0" rIns="0" bIns="0">
            <a:noAutofit/>
          </a:bodyPr>
          <a:lstStyle/>
          <a:p>
            <a:pPr algn="l"/>
            <a:r>
              <a:rPr sz="1400" dirty="0">
                <a:solidFill>
                  <a:srgbClr val="404040"/>
                </a:solidFill>
                <a:latin typeface="Helvetica Neue Light"/>
              </a:rPr>
              <a:t>and final released experiences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image.png"/>
          <p:cNvPicPr>
            <a:picLocks noChangeAspect="1"/>
          </p:cNvPicPr>
          <p:nvPr/>
        </p:nvPicPr>
        <p:blipFill>
          <a:blip r:embed="rId3"/>
          <a:stretch>
            <a:fillRect/>
          </a:stretch>
        </p:blipFill>
        <p:spPr>
          <a:xfrm>
            <a:off x="0" y="0"/>
            <a:ext cx="13004800" cy="442163"/>
          </a:xfrm>
          <a:prstGeom prst="rect">
            <a:avLst/>
          </a:prstGeom>
        </p:spPr>
      </p:pic>
      <p:sp>
        <p:nvSpPr>
          <p:cNvPr id="3" name="Text 0"/>
          <p:cNvSpPr txBox="1"/>
          <p:nvPr/>
        </p:nvSpPr>
        <p:spPr>
          <a:xfrm>
            <a:off x="455169" y="650240"/>
            <a:ext cx="10577475" cy="715264"/>
          </a:xfrm>
          <a:prstGeom prst="rect">
            <a:avLst/>
          </a:prstGeom>
          <a:noFill/>
          <a:ln/>
        </p:spPr>
        <p:txBody>
          <a:bodyPr wrap="square" lIns="0" tIns="0" rIns="0" bIns="0" rtlCol="0" anchor="t"/>
          <a:lstStyle/>
          <a:p>
            <a:r>
              <a:rPr lang="en-US" sz="1564" dirty="0">
                <a:solidFill>
                  <a:srgbClr val="1F1F1F"/>
                </a:solidFill>
                <a:ea typeface="Helvetica Neue" pitchFamily="34" charset="-122"/>
                <a:cs typeface="Helvetica Neue" pitchFamily="34" charset="-120"/>
              </a:rPr>
              <a:t>End-to-end design process, including Design Thinking and AI-supported methods, for an AI layer on the FinViz stock screener that guides a swing trader through the trading day</a:t>
            </a:r>
            <a:endParaRPr lang="en-US" sz="1564" dirty="0"/>
          </a:p>
        </p:txBody>
      </p:sp>
      <p:sp>
        <p:nvSpPr>
          <p:cNvPr id="4" name="Text 1"/>
          <p:cNvSpPr txBox="1"/>
          <p:nvPr/>
        </p:nvSpPr>
        <p:spPr>
          <a:xfrm>
            <a:off x="455169" y="2122783"/>
            <a:ext cx="4932535" cy="1507126"/>
          </a:xfrm>
          <a:prstGeom prst="rect">
            <a:avLst/>
          </a:prstGeom>
          <a:noFill/>
          <a:ln/>
        </p:spPr>
        <p:txBody>
          <a:bodyPr wrap="square" lIns="0" tIns="0" rIns="0" bIns="0" rtlCol="0" anchor="t"/>
          <a:lstStyle/>
          <a:p>
            <a:r>
              <a:rPr lang="en-US" sz="8533" dirty="0">
                <a:solidFill>
                  <a:srgbClr val="1F1F1F"/>
                </a:solidFill>
                <a:latin typeface="Helvetica Neue Light" panose="02000403000000020004" pitchFamily="2" charset="0"/>
                <a:ea typeface="Helvetica Neue Light" panose="02000403000000020004" pitchFamily="2" charset="0"/>
                <a:cs typeface="Helvetica Neue" panose="02000503000000020004" pitchFamily="2" charset="0"/>
              </a:rPr>
              <a:t>FinViz</a:t>
            </a:r>
            <a:endParaRPr lang="en-US" sz="8533" dirty="0">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6" name="Text 3"/>
          <p:cNvSpPr txBox="1"/>
          <p:nvPr/>
        </p:nvSpPr>
        <p:spPr>
          <a:xfrm>
            <a:off x="455169" y="3863210"/>
            <a:ext cx="4375186" cy="2027180"/>
          </a:xfrm>
          <a:prstGeom prst="rect">
            <a:avLst/>
          </a:prstGeom>
          <a:noFill/>
          <a:ln/>
        </p:spPr>
        <p:txBody>
          <a:bodyPr wrap="square" lIns="0" tIns="0" rIns="0" bIns="0" rtlCol="0" anchor="t"/>
          <a:lstStyle/>
          <a:p>
            <a:pPr>
              <a:lnSpc>
                <a:spcPct val="130000"/>
              </a:lnSpc>
            </a:pPr>
            <a:r>
              <a:rPr lang="en-US" sz="1991" dirty="0">
                <a:solidFill>
                  <a:srgbClr val="1F1F1F"/>
                </a:solidFill>
                <a:latin typeface="Helvetica Neue Light" pitchFamily="34" charset="0"/>
                <a:ea typeface="Helvetica Neue Light" pitchFamily="34" charset="-122"/>
                <a:cs typeface="Helvetica Neue Light" pitchFamily="34" charset="-120"/>
              </a:rPr>
              <a:t>Helping FinViz cut the time from sign-up to Elite from 42 to 21 days by getting new traders to a screen they trust, then watching it for them</a:t>
            </a:r>
            <a:endParaRPr lang="en-US" sz="1991" dirty="0"/>
          </a:p>
        </p:txBody>
      </p:sp>
      <p:sp>
        <p:nvSpPr>
          <p:cNvPr id="7" name="Text 4"/>
          <p:cNvSpPr txBox="1"/>
          <p:nvPr/>
        </p:nvSpPr>
        <p:spPr>
          <a:xfrm>
            <a:off x="1155427" y="7802880"/>
            <a:ext cx="4795341" cy="1300480"/>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“Alerts are everything. Once you close FinViz, you get nothing.”</a:t>
            </a:r>
            <a:endParaRPr lang="en-US" sz="2276" dirty="0"/>
          </a:p>
        </p:txBody>
      </p:sp>
      <p:pic>
        <p:nvPicPr>
          <p:cNvPr id="9" name="Picture 8" descr="image.png"/>
          <p:cNvPicPr>
            <a:picLocks noChangeAspect="1"/>
          </p:cNvPicPr>
          <p:nvPr/>
        </p:nvPicPr>
        <p:blipFill>
          <a:blip r:embed="rId4"/>
          <a:stretch>
            <a:fillRect/>
          </a:stretch>
        </p:blipFill>
        <p:spPr>
          <a:xfrm>
            <a:off x="7201957" y="2122784"/>
            <a:ext cx="5652787" cy="5193499"/>
          </a:xfrm>
          <a:prstGeom prst="rect">
            <a:avLst/>
          </a:prstGeom>
          <a:ln w="9525">
            <a:solidFill>
              <a:srgbClr val="1F1F1F"/>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01 · Overview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How this case study is organized</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The final experience first, then the reasoning, data and method behind it. Process artifacts are in the appendix.</a:t>
            </a:r>
          </a:p>
        </p:txBody>
      </p:sp>
      <p:sp>
        <p:nvSpPr>
          <p:cNvPr id="6" name="Rectangle 5"/>
          <p:cNvSpPr/>
          <p:nvPr/>
        </p:nvSpPr>
        <p:spPr>
          <a:xfrm>
            <a:off x="455168" y="2535936"/>
            <a:ext cx="2314854" cy="279603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691993"/>
            <a:ext cx="2015744" cy="1193853"/>
          </a:xfrm>
          <a:prstGeom prst="rect">
            <a:avLst/>
          </a:prstGeom>
          <a:noFill/>
        </p:spPr>
        <p:txBody>
          <a:bodyPr wrap="square" lIns="0" tIns="0" rIns="0" bIns="0">
            <a:spAutoFit/>
          </a:bodyPr>
          <a:lstStyle/>
          <a:p>
            <a:pPr>
              <a:spcAft>
                <a:spcPts val="853"/>
              </a:spcAft>
            </a:pPr>
            <a:r>
              <a:rPr sz="3129">
                <a:solidFill>
                  <a:srgbClr val="FFFFFF"/>
                </a:solidFill>
                <a:latin typeface="Helvetica Neue"/>
              </a:rPr>
              <a:t>01</a:t>
            </a:r>
          </a:p>
          <a:p>
            <a:pPr>
              <a:spcAft>
                <a:spcPts val="853"/>
              </a:spcAft>
            </a:pPr>
            <a:r>
              <a:rPr sz="1778">
                <a:solidFill>
                  <a:srgbClr val="FFFFFF"/>
                </a:solidFill>
                <a:latin typeface="Helvetica Neue Light"/>
              </a:rPr>
              <a:t>Overview</a:t>
            </a:r>
          </a:p>
          <a:p>
            <a:r>
              <a:rPr sz="1351">
                <a:solidFill>
                  <a:srgbClr val="FFFFFF"/>
                </a:solidFill>
                <a:latin typeface="Helvetica Neue Light"/>
              </a:rPr>
              <a:t>Hero and contents</a:t>
            </a:r>
          </a:p>
        </p:txBody>
      </p:sp>
      <p:sp>
        <p:nvSpPr>
          <p:cNvPr id="8" name="Rectangle 7"/>
          <p:cNvSpPr/>
          <p:nvPr/>
        </p:nvSpPr>
        <p:spPr>
          <a:xfrm>
            <a:off x="2900071" y="2535936"/>
            <a:ext cx="2314854" cy="279603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056128" y="2691992"/>
            <a:ext cx="2015744" cy="1883208"/>
          </a:xfrm>
          <a:prstGeom prst="rect">
            <a:avLst/>
          </a:prstGeom>
          <a:noFill/>
        </p:spPr>
        <p:txBody>
          <a:bodyPr wrap="square" lIns="0" tIns="0" rIns="0" bIns="0">
            <a:spAutoFit/>
          </a:bodyPr>
          <a:lstStyle/>
          <a:p>
            <a:pPr>
              <a:spcAft>
                <a:spcPts val="853"/>
              </a:spcAft>
            </a:pPr>
            <a:r>
              <a:rPr sz="3129">
                <a:solidFill>
                  <a:srgbClr val="FFFFFF"/>
                </a:solidFill>
                <a:latin typeface="Helvetica Neue"/>
              </a:rPr>
              <a:t>02</a:t>
            </a:r>
          </a:p>
          <a:p>
            <a:pPr>
              <a:spcAft>
                <a:spcPts val="853"/>
              </a:spcAft>
            </a:pPr>
            <a:r>
              <a:rPr sz="1778">
                <a:solidFill>
                  <a:srgbClr val="FFFFFF"/>
                </a:solidFill>
                <a:latin typeface="Helvetica Neue Light"/>
              </a:rPr>
              <a:t>Context &amp; constraints</a:t>
            </a:r>
          </a:p>
          <a:p>
            <a:r>
              <a:rPr sz="1351">
                <a:solidFill>
                  <a:srgbClr val="FFFFFF"/>
                </a:solidFill>
                <a:latin typeface="Helvetica Neue Light"/>
              </a:rPr>
              <a:t>Business goal, stakeholders, success, limits</a:t>
            </a:r>
          </a:p>
        </p:txBody>
      </p:sp>
      <p:sp>
        <p:nvSpPr>
          <p:cNvPr id="10" name="Rectangle 9"/>
          <p:cNvSpPr/>
          <p:nvPr/>
        </p:nvSpPr>
        <p:spPr>
          <a:xfrm>
            <a:off x="5344972" y="2535936"/>
            <a:ext cx="2314854" cy="279603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5501029" y="269199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03</a:t>
            </a:r>
          </a:p>
          <a:p>
            <a:pPr>
              <a:spcAft>
                <a:spcPts val="853"/>
              </a:spcAft>
            </a:pPr>
            <a:r>
              <a:rPr sz="1778">
                <a:solidFill>
                  <a:srgbClr val="FFFFFF"/>
                </a:solidFill>
                <a:latin typeface="Helvetica Neue Light"/>
              </a:rPr>
              <a:t>Problem: user and AI</a:t>
            </a:r>
          </a:p>
          <a:p>
            <a:r>
              <a:rPr sz="1351">
                <a:solidFill>
                  <a:srgbClr val="FFFFFF"/>
                </a:solidFill>
                <a:latin typeface="Helvetica Neue Light"/>
              </a:rPr>
              <a:t>What users struggle with; what the AI must do</a:t>
            </a:r>
          </a:p>
        </p:txBody>
      </p:sp>
      <p:sp>
        <p:nvSpPr>
          <p:cNvPr id="12" name="Rectangle 11"/>
          <p:cNvSpPr/>
          <p:nvPr/>
        </p:nvSpPr>
        <p:spPr>
          <a:xfrm>
            <a:off x="7789874" y="2535936"/>
            <a:ext cx="2314854" cy="279603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7945931" y="269199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04</a:t>
            </a:r>
          </a:p>
          <a:p>
            <a:pPr>
              <a:spcAft>
                <a:spcPts val="853"/>
              </a:spcAft>
            </a:pPr>
            <a:r>
              <a:rPr sz="1778">
                <a:solidFill>
                  <a:srgbClr val="FFFFFF"/>
                </a:solidFill>
                <a:latin typeface="Helvetica Neue Light"/>
              </a:rPr>
              <a:t>Data foundation</a:t>
            </a:r>
          </a:p>
          <a:p>
            <a:r>
              <a:rPr sz="1351">
                <a:solidFill>
                  <a:srgbClr val="FFFFFF"/>
                </a:solidFill>
                <a:latin typeface="Helvetica Neue Light"/>
              </a:rPr>
              <a:t>Sources, volume, quality, labels</a:t>
            </a:r>
          </a:p>
        </p:txBody>
      </p:sp>
      <p:sp>
        <p:nvSpPr>
          <p:cNvPr id="14" name="Rectangle 13"/>
          <p:cNvSpPr/>
          <p:nvPr/>
        </p:nvSpPr>
        <p:spPr>
          <a:xfrm>
            <a:off x="10234776" y="2535936"/>
            <a:ext cx="2314854" cy="2796032"/>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5" name="TextBox 14"/>
          <p:cNvSpPr txBox="1"/>
          <p:nvPr/>
        </p:nvSpPr>
        <p:spPr>
          <a:xfrm>
            <a:off x="10390834" y="269199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05</a:t>
            </a:r>
          </a:p>
          <a:p>
            <a:pPr>
              <a:spcAft>
                <a:spcPts val="853"/>
              </a:spcAft>
            </a:pPr>
            <a:r>
              <a:rPr sz="1778">
                <a:solidFill>
                  <a:srgbClr val="FFFFFF"/>
                </a:solidFill>
                <a:latin typeface="Helvetica Neue Light"/>
              </a:rPr>
              <a:t>The solution, hi-fi</a:t>
            </a:r>
          </a:p>
          <a:p>
            <a:r>
              <a:rPr sz="1351">
                <a:solidFill>
                  <a:srgbClr val="FFFFFF"/>
                </a:solidFill>
                <a:latin typeface="Helvetica Neue Light"/>
              </a:rPr>
              <a:t>One trade through one trading day, 19 screens</a:t>
            </a:r>
          </a:p>
        </p:txBody>
      </p:sp>
      <p:sp>
        <p:nvSpPr>
          <p:cNvPr id="16" name="Rectangle 15"/>
          <p:cNvSpPr/>
          <p:nvPr/>
        </p:nvSpPr>
        <p:spPr>
          <a:xfrm>
            <a:off x="455168" y="5592064"/>
            <a:ext cx="2314854" cy="279603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611226" y="574812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06</a:t>
            </a:r>
          </a:p>
          <a:p>
            <a:pPr>
              <a:spcAft>
                <a:spcPts val="853"/>
              </a:spcAft>
            </a:pPr>
            <a:r>
              <a:rPr sz="1778">
                <a:solidFill>
                  <a:srgbClr val="FFFFFF"/>
                </a:solidFill>
                <a:latin typeface="Helvetica Neue Light"/>
              </a:rPr>
              <a:t>Reasoning &amp; trade-offs</a:t>
            </a:r>
          </a:p>
          <a:p>
            <a:r>
              <a:rPr sz="1351">
                <a:solidFill>
                  <a:srgbClr val="FFFFFF"/>
                </a:solidFill>
                <a:latin typeface="Helvetica Neue Light"/>
              </a:rPr>
              <a:t>Chosen vs rejected, accuracy vs control</a:t>
            </a:r>
          </a:p>
        </p:txBody>
      </p:sp>
      <p:sp>
        <p:nvSpPr>
          <p:cNvPr id="18" name="Rectangle 17"/>
          <p:cNvSpPr/>
          <p:nvPr/>
        </p:nvSpPr>
        <p:spPr>
          <a:xfrm>
            <a:off x="2900071" y="5592064"/>
            <a:ext cx="2314854" cy="279603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3056128"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07</a:t>
            </a:r>
          </a:p>
          <a:p>
            <a:pPr>
              <a:spcAft>
                <a:spcPts val="853"/>
              </a:spcAft>
            </a:pPr>
            <a:r>
              <a:rPr sz="1778">
                <a:solidFill>
                  <a:srgbClr val="FFFFFF"/>
                </a:solidFill>
                <a:latin typeface="Helvetica Neue Light"/>
              </a:rPr>
              <a:t>Methodology</a:t>
            </a:r>
          </a:p>
          <a:p>
            <a:r>
              <a:rPr sz="1351">
                <a:solidFill>
                  <a:srgbClr val="FFFFFF"/>
                </a:solidFill>
                <a:latin typeface="Helvetica Neue Light"/>
              </a:rPr>
              <a:t>AI methods, validation, UX research</a:t>
            </a:r>
          </a:p>
        </p:txBody>
      </p:sp>
      <p:sp>
        <p:nvSpPr>
          <p:cNvPr id="20" name="Rectangle 19"/>
          <p:cNvSpPr/>
          <p:nvPr/>
        </p:nvSpPr>
        <p:spPr>
          <a:xfrm>
            <a:off x="5344972" y="5592064"/>
            <a:ext cx="2314854" cy="279603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5501029"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08</a:t>
            </a:r>
          </a:p>
          <a:p>
            <a:pPr>
              <a:spcAft>
                <a:spcPts val="853"/>
              </a:spcAft>
            </a:pPr>
            <a:r>
              <a:rPr sz="1778">
                <a:solidFill>
                  <a:srgbClr val="FFFFFF"/>
                </a:solidFill>
                <a:latin typeface="Helvetica Neue Light"/>
              </a:rPr>
              <a:t>Implementation</a:t>
            </a:r>
          </a:p>
          <a:p>
            <a:r>
              <a:rPr sz="1351">
                <a:solidFill>
                  <a:srgbClr val="FFFFFF"/>
                </a:solidFill>
                <a:latin typeface="Helvetica Neue Light"/>
              </a:rPr>
              <a:t>Built on FinViz; new services; collaboration</a:t>
            </a:r>
          </a:p>
        </p:txBody>
      </p:sp>
      <p:sp>
        <p:nvSpPr>
          <p:cNvPr id="22" name="Rectangle 21"/>
          <p:cNvSpPr/>
          <p:nvPr/>
        </p:nvSpPr>
        <p:spPr>
          <a:xfrm>
            <a:off x="7789874" y="5592064"/>
            <a:ext cx="2314854" cy="279603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7945931"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09</a:t>
            </a:r>
          </a:p>
          <a:p>
            <a:pPr>
              <a:spcAft>
                <a:spcPts val="853"/>
              </a:spcAft>
            </a:pPr>
            <a:r>
              <a:rPr sz="1778">
                <a:solidFill>
                  <a:srgbClr val="FFFFFF"/>
                </a:solidFill>
                <a:latin typeface="Helvetica Neue Light"/>
              </a:rPr>
              <a:t>Results &amp; impact</a:t>
            </a:r>
          </a:p>
          <a:p>
            <a:r>
              <a:rPr sz="1351">
                <a:solidFill>
                  <a:srgbClr val="FFFFFF"/>
                </a:solidFill>
                <a:latin typeface="Helvetica Neue Light"/>
              </a:rPr>
              <a:t>Targets and how they’ll be measured</a:t>
            </a:r>
          </a:p>
        </p:txBody>
      </p:sp>
      <p:sp>
        <p:nvSpPr>
          <p:cNvPr id="24" name="Rectangle 23"/>
          <p:cNvSpPr/>
          <p:nvPr/>
        </p:nvSpPr>
        <p:spPr>
          <a:xfrm>
            <a:off x="10234776" y="5592064"/>
            <a:ext cx="2314854" cy="2796032"/>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5" name="TextBox 24"/>
          <p:cNvSpPr txBox="1"/>
          <p:nvPr/>
        </p:nvSpPr>
        <p:spPr>
          <a:xfrm>
            <a:off x="10390834" y="574812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10</a:t>
            </a:r>
          </a:p>
          <a:p>
            <a:pPr>
              <a:spcAft>
                <a:spcPts val="853"/>
              </a:spcAft>
            </a:pPr>
            <a:r>
              <a:rPr sz="1778">
                <a:solidFill>
                  <a:srgbClr val="FFFFFF"/>
                </a:solidFill>
                <a:latin typeface="Helvetica Neue Light"/>
              </a:rPr>
              <a:t>Learnings &amp; Next Steps</a:t>
            </a:r>
          </a:p>
          <a:p>
            <a:r>
              <a:rPr sz="1351">
                <a:solidFill>
                  <a:srgbClr val="FFFFFF"/>
                </a:solidFill>
                <a:latin typeface="Helvetica Neue Light"/>
              </a:rPr>
              <a:t>What I learned; what to validate before launch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02 · Context &amp; constraints   </a:t>
            </a:r>
            <a:r>
              <a:rPr sz="1422" dirty="0" err="1">
                <a:solidFill>
                  <a:srgbClr val="1F1F1F"/>
                </a:solidFill>
              </a:rPr>
              <a:t>FinViz</a:t>
            </a:r>
            <a:r>
              <a:rPr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The brief, and how </a:t>
            </a:r>
            <a:r>
              <a:rPr lang="en-US" sz="3200" dirty="0">
                <a:solidFill>
                  <a:srgbClr val="1F1F1F"/>
                </a:solidFill>
                <a:latin typeface="Helvetica Neue Light"/>
              </a:rPr>
              <a:t>we </a:t>
            </a:r>
            <a:r>
              <a:rPr sz="3200" dirty="0">
                <a:solidFill>
                  <a:srgbClr val="1F1F1F"/>
                </a:solidFill>
                <a:latin typeface="Helvetica Neue Light"/>
              </a:rPr>
              <a:t>answer it</a:t>
            </a:r>
          </a:p>
        </p:txBody>
      </p:sp>
      <p:sp>
        <p:nvSpPr>
          <p:cNvPr id="6" name="Rectangle 5"/>
          <p:cNvSpPr/>
          <p:nvPr/>
        </p:nvSpPr>
        <p:spPr>
          <a:xfrm>
            <a:off x="455168" y="1913924"/>
            <a:ext cx="2926080" cy="3186176"/>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043971"/>
            <a:ext cx="2600960" cy="1399870"/>
          </a:xfrm>
          <a:prstGeom prst="rect">
            <a:avLst/>
          </a:prstGeom>
          <a:noFill/>
        </p:spPr>
        <p:txBody>
          <a:bodyPr wrap="square" lIns="0" tIns="0" rIns="0" bIns="0">
            <a:spAutoFit/>
          </a:bodyPr>
          <a:lstStyle/>
          <a:p>
            <a:pPr>
              <a:spcAft>
                <a:spcPts val="569"/>
              </a:spcAft>
            </a:pPr>
            <a:r>
              <a:rPr sz="1280">
                <a:solidFill>
                  <a:srgbClr val="FFFFFF"/>
                </a:solidFill>
                <a:latin typeface="Helvetica Neue"/>
              </a:rPr>
              <a:t>WEEK 1</a:t>
            </a:r>
          </a:p>
          <a:p>
            <a:pPr>
              <a:spcAft>
                <a:spcPts val="1138"/>
              </a:spcAft>
            </a:pPr>
            <a:r>
              <a:rPr sz="1707">
                <a:solidFill>
                  <a:srgbClr val="FFFFFF"/>
                </a:solidFill>
                <a:latin typeface="Helvetica Neue Light"/>
              </a:rPr>
              <a:t>Domain, needs, pains, AI Solution Canvas</a:t>
            </a:r>
          </a:p>
          <a:p>
            <a:r>
              <a:rPr sz="1493">
                <a:solidFill>
                  <a:srgbClr val="FFFFFF"/>
                </a:solidFill>
                <a:latin typeface="Helvetica Neue Light"/>
              </a:rPr>
              <a:t>→ Context file, personas, 27 pains scored, KPI tree, canvas</a:t>
            </a:r>
          </a:p>
        </p:txBody>
      </p:sp>
      <p:sp>
        <p:nvSpPr>
          <p:cNvPr id="8" name="Rectangle 7"/>
          <p:cNvSpPr/>
          <p:nvPr/>
        </p:nvSpPr>
        <p:spPr>
          <a:xfrm>
            <a:off x="3511296" y="1913924"/>
            <a:ext cx="2926080" cy="3186176"/>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667354" y="2043971"/>
            <a:ext cx="2600960" cy="1629613"/>
          </a:xfrm>
          <a:prstGeom prst="rect">
            <a:avLst/>
          </a:prstGeom>
          <a:noFill/>
        </p:spPr>
        <p:txBody>
          <a:bodyPr wrap="square" lIns="0" tIns="0" rIns="0" bIns="0">
            <a:spAutoFit/>
          </a:bodyPr>
          <a:lstStyle/>
          <a:p>
            <a:pPr>
              <a:spcAft>
                <a:spcPts val="569"/>
              </a:spcAft>
            </a:pPr>
            <a:r>
              <a:rPr sz="1280">
                <a:solidFill>
                  <a:srgbClr val="FFFFFF"/>
                </a:solidFill>
                <a:latin typeface="Helvetica Neue"/>
              </a:rPr>
              <a:t>WEEK 2</a:t>
            </a:r>
          </a:p>
          <a:p>
            <a:pPr>
              <a:spcAft>
                <a:spcPts val="1138"/>
              </a:spcAft>
            </a:pPr>
            <a:r>
              <a:rPr sz="1707">
                <a:solidFill>
                  <a:srgbClr val="FFFFFF"/>
                </a:solidFill>
                <a:latin typeface="Helvetica Neue Light"/>
              </a:rPr>
              <a:t>Onboarding or filters: first success faster</a:t>
            </a:r>
          </a:p>
          <a:p>
            <a:r>
              <a:rPr sz="1493">
                <a:solidFill>
                  <a:srgbClr val="FFFFFF"/>
                </a:solidFill>
                <a:latin typeface="Helvetica Neue Light"/>
              </a:rPr>
              <a:t>→ First Steps + Filtering → The Trading Day · On Watch (OW1–OW7) → hi-fi flow</a:t>
            </a:r>
          </a:p>
        </p:txBody>
      </p:sp>
      <p:sp>
        <p:nvSpPr>
          <p:cNvPr id="10" name="Rectangle 9"/>
          <p:cNvSpPr/>
          <p:nvPr/>
        </p:nvSpPr>
        <p:spPr>
          <a:xfrm>
            <a:off x="6567424" y="1913924"/>
            <a:ext cx="2926080" cy="3186176"/>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723482" y="2043971"/>
            <a:ext cx="2600960" cy="1399870"/>
          </a:xfrm>
          <a:prstGeom prst="rect">
            <a:avLst/>
          </a:prstGeom>
          <a:noFill/>
        </p:spPr>
        <p:txBody>
          <a:bodyPr wrap="square" lIns="0" tIns="0" rIns="0" bIns="0">
            <a:spAutoFit/>
          </a:bodyPr>
          <a:lstStyle/>
          <a:p>
            <a:pPr>
              <a:spcAft>
                <a:spcPts val="569"/>
              </a:spcAft>
            </a:pPr>
            <a:r>
              <a:rPr sz="1280">
                <a:solidFill>
                  <a:srgbClr val="FFFFFF"/>
                </a:solidFill>
                <a:latin typeface="Helvetica Neue"/>
              </a:rPr>
              <a:t>WEEK 3</a:t>
            </a:r>
          </a:p>
          <a:p>
            <a:pPr>
              <a:spcAft>
                <a:spcPts val="1138"/>
              </a:spcAft>
            </a:pPr>
            <a:r>
              <a:rPr sz="1707">
                <a:solidFill>
                  <a:srgbClr val="FFFFFF"/>
                </a:solidFill>
                <a:latin typeface="Helvetica Neue Light"/>
              </a:rPr>
              <a:t>Alerts &amp; notifications: input, output, refinement</a:t>
            </a:r>
          </a:p>
          <a:p>
            <a:r>
              <a:rPr sz="1493">
                <a:solidFill>
                  <a:srgbClr val="FFFFFF"/>
                </a:solidFill>
                <a:latin typeface="Helvetica Neue Light"/>
              </a:rPr>
              <a:t>→ Canvas v2, three journeys, 18 ideas, AN7–AN8</a:t>
            </a:r>
          </a:p>
        </p:txBody>
      </p:sp>
      <p:sp>
        <p:nvSpPr>
          <p:cNvPr id="12" name="Rectangle 11"/>
          <p:cNvSpPr/>
          <p:nvPr/>
        </p:nvSpPr>
        <p:spPr>
          <a:xfrm>
            <a:off x="9623552" y="1913924"/>
            <a:ext cx="2926080" cy="3186176"/>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9779610" y="2043972"/>
            <a:ext cx="2600960" cy="1859355"/>
          </a:xfrm>
          <a:prstGeom prst="rect">
            <a:avLst/>
          </a:prstGeom>
          <a:noFill/>
        </p:spPr>
        <p:txBody>
          <a:bodyPr wrap="square" lIns="0" tIns="0" rIns="0" bIns="0">
            <a:spAutoFit/>
          </a:bodyPr>
          <a:lstStyle/>
          <a:p>
            <a:pPr>
              <a:spcAft>
                <a:spcPts val="569"/>
              </a:spcAft>
            </a:pPr>
            <a:r>
              <a:rPr sz="1280">
                <a:solidFill>
                  <a:srgbClr val="FFFFFF"/>
                </a:solidFill>
                <a:latin typeface="Helvetica Neue"/>
              </a:rPr>
              <a:t>WEEK 4</a:t>
            </a:r>
          </a:p>
          <a:p>
            <a:pPr>
              <a:spcAft>
                <a:spcPts val="1138"/>
              </a:spcAft>
            </a:pPr>
            <a:r>
              <a:rPr sz="1707">
                <a:solidFill>
                  <a:srgbClr val="FFFFFF"/>
                </a:solidFill>
                <a:latin typeface="Helvetica Neue Light"/>
              </a:rPr>
              <a:t>Charts UX: insights, accuracy, just in time</a:t>
            </a:r>
          </a:p>
          <a:p>
            <a:r>
              <a:rPr sz="1493">
                <a:solidFill>
                  <a:srgbClr val="FFFFFF"/>
                </a:solidFill>
                <a:latin typeface="Helvetica Neue Light"/>
              </a:rPr>
              <a:t>→ Chart Lens: lenses over a list, reliability layer (CL1–CL4) · Insight Board dashboard (DB1–DB5)</a:t>
            </a:r>
          </a:p>
        </p:txBody>
      </p:sp>
      <p:sp>
        <p:nvSpPr>
          <p:cNvPr id="14" name="TextBox 13"/>
          <p:cNvSpPr txBox="1"/>
          <p:nvPr/>
        </p:nvSpPr>
        <p:spPr>
          <a:xfrm>
            <a:off x="455168" y="5664700"/>
            <a:ext cx="7802880" cy="196977"/>
          </a:xfrm>
          <a:prstGeom prst="rect">
            <a:avLst/>
          </a:prstGeom>
          <a:noFill/>
        </p:spPr>
        <p:txBody>
          <a:bodyPr wrap="square" lIns="0" tIns="0" rIns="0" bIns="0">
            <a:spAutoFit/>
          </a:bodyPr>
          <a:lstStyle/>
          <a:p>
            <a:r>
              <a:rPr sz="1280" dirty="0">
                <a:solidFill>
                  <a:srgbClr val="C45A35"/>
                </a:solidFill>
                <a:latin typeface="Helvetica Neue"/>
              </a:rPr>
              <a:t>WHERE WE DELIBERATELY DEPART FROM THE BRIEF</a:t>
            </a:r>
          </a:p>
        </p:txBody>
      </p:sp>
      <p:sp>
        <p:nvSpPr>
          <p:cNvPr id="15" name="Rectangle 14"/>
          <p:cNvSpPr/>
          <p:nvPr/>
        </p:nvSpPr>
        <p:spPr>
          <a:xfrm>
            <a:off x="455168" y="6015829"/>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650240" y="6106863"/>
            <a:ext cx="3565602" cy="437684"/>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users are mostly expert day traders and multi-portfolio managers.</a:t>
            </a:r>
          </a:p>
        </p:txBody>
      </p:sp>
      <p:sp>
        <p:nvSpPr>
          <p:cNvPr id="17" name="TextBox 16"/>
          <p:cNvSpPr txBox="1"/>
          <p:nvPr/>
        </p:nvSpPr>
        <p:spPr>
          <a:xfrm>
            <a:off x="4876800" y="6106863"/>
            <a:ext cx="7477760" cy="459485"/>
          </a:xfrm>
          <a:prstGeom prst="rect">
            <a:avLst/>
          </a:prstGeom>
          <a:noFill/>
        </p:spPr>
        <p:txBody>
          <a:bodyPr wrap="square" lIns="0" tIns="0" rIns="0" bIns="0">
            <a:spAutoFit/>
          </a:bodyPr>
          <a:lstStyle/>
          <a:p>
            <a:r>
              <a:rPr sz="1493">
                <a:solidFill>
                  <a:srgbClr val="1F1F1F"/>
                </a:solidFill>
                <a:latin typeface="Helvetica Neue Light"/>
              </a:rPr>
              <a:t>We center Growth Gary, a swing trader with a day job: the largest new-user group that can’t watch the market at work, where alerts sell Elite. Day traders stay the conversion lever.</a:t>
            </a:r>
          </a:p>
        </p:txBody>
      </p:sp>
      <p:sp>
        <p:nvSpPr>
          <p:cNvPr id="18" name="Rectangle 17"/>
          <p:cNvSpPr/>
          <p:nvPr/>
        </p:nvSpPr>
        <p:spPr>
          <a:xfrm>
            <a:off x="455168" y="6952175"/>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650240" y="7043208"/>
            <a:ext cx="4031488" cy="437684"/>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users want expert recommendations with probability scores.</a:t>
            </a:r>
          </a:p>
        </p:txBody>
      </p:sp>
      <p:sp>
        <p:nvSpPr>
          <p:cNvPr id="20" name="TextBox 19"/>
          <p:cNvSpPr txBox="1"/>
          <p:nvPr/>
        </p:nvSpPr>
        <p:spPr>
          <a:xfrm>
            <a:off x="4876800" y="7043209"/>
            <a:ext cx="7477760" cy="459485"/>
          </a:xfrm>
          <a:prstGeom prst="rect">
            <a:avLst/>
          </a:prstGeom>
          <a:noFill/>
        </p:spPr>
        <p:txBody>
          <a:bodyPr wrap="square" lIns="0" tIns="0" rIns="0" bIns="0">
            <a:spAutoFit/>
          </a:bodyPr>
          <a:lstStyle/>
          <a:p>
            <a:r>
              <a:rPr sz="1493">
                <a:solidFill>
                  <a:srgbClr val="1F1F1F"/>
                </a:solidFill>
                <a:latin typeface="Helvetica Neue Light"/>
              </a:rPr>
              <a:t>No AI-originated probabilities or buy/sell. Attributed analyst views are allowed (pending compliance); history is shown as history, with sample sizes.</a:t>
            </a:r>
          </a:p>
        </p:txBody>
      </p:sp>
      <p:sp>
        <p:nvSpPr>
          <p:cNvPr id="21" name="Rectangle 20"/>
          <p:cNvSpPr/>
          <p:nvPr/>
        </p:nvSpPr>
        <p:spPr>
          <a:xfrm>
            <a:off x="455168" y="7888521"/>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650240" y="7979554"/>
            <a:ext cx="4031488" cy="218842"/>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mobile is a goal.</a:t>
            </a:r>
          </a:p>
        </p:txBody>
      </p:sp>
      <p:sp>
        <p:nvSpPr>
          <p:cNvPr id="23" name="TextBox 22"/>
          <p:cNvSpPr txBox="1"/>
          <p:nvPr/>
        </p:nvSpPr>
        <p:spPr>
          <a:xfrm>
            <a:off x="4876800" y="7979555"/>
            <a:ext cx="7477760" cy="459485"/>
          </a:xfrm>
          <a:prstGeom prst="rect">
            <a:avLst/>
          </a:prstGeom>
          <a:noFill/>
        </p:spPr>
        <p:txBody>
          <a:bodyPr wrap="square" lIns="0" tIns="0" rIns="0" bIns="0">
            <a:spAutoFit/>
          </a:bodyPr>
          <a:lstStyle/>
          <a:p>
            <a:r>
              <a:rPr sz="1493">
                <a:solidFill>
                  <a:srgbClr val="1F1F1F"/>
                </a:solidFill>
                <a:latin typeface="Helvetica Neue Light"/>
              </a:rPr>
              <a:t>Desktop only for this exploration, as Week 2 asks; FinViz has no native app. Mobile is deferred, not dropped.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24160" cy="274320"/>
          </a:xfrm>
          <a:prstGeom prst="rect">
            <a:avLst/>
          </a:prstGeom>
          <a:noFill/>
        </p:spPr>
        <p:txBody>
          <a:bodyPr wrap="square">
            <a:spAutoFit/>
          </a:bodyPr>
          <a:lstStyle/>
          <a:p>
            <a:r>
              <a:rPr sz="1400" b="0">
                <a:solidFill>
                  <a:srgbClr val="1F1F1F"/>
                </a:solidFill>
                <a:latin typeface="Helvetica Neue"/>
              </a:rPr>
              <a:t>Competitive landscape</a:t>
            </a:r>
          </a:p>
        </p:txBody>
      </p:sp>
      <p:sp>
        <p:nvSpPr>
          <p:cNvPr id="3" name="TextBox 2"/>
          <p:cNvSpPr txBox="1"/>
          <p:nvPr/>
        </p:nvSpPr>
        <p:spPr>
          <a:xfrm>
            <a:off x="457200" y="914400"/>
            <a:ext cx="12070080" cy="594360"/>
          </a:xfrm>
          <a:prstGeom prst="rect">
            <a:avLst/>
          </a:prstGeom>
          <a:noFill/>
        </p:spPr>
        <p:txBody>
          <a:bodyPr wrap="square">
            <a:spAutoFit/>
          </a:bodyPr>
          <a:lstStyle/>
          <a:p>
            <a:r>
              <a:rPr sz="2800" b="0">
                <a:solidFill>
                  <a:srgbClr val="1F1F1F"/>
                </a:solidFill>
                <a:latin typeface="Helvetica Neue Light"/>
              </a:rPr>
              <a:t>Competitive landscape: where FinViz is strong, and where the AI layer fits</a:t>
            </a:r>
          </a:p>
        </p:txBody>
      </p:sp>
      <p:sp>
        <p:nvSpPr>
          <p:cNvPr id="4" name="TextBox 3"/>
          <p:cNvSpPr txBox="1"/>
          <p:nvPr/>
        </p:nvSpPr>
        <p:spPr>
          <a:xfrm>
            <a:off x="457200" y="1554480"/>
            <a:ext cx="12070080" cy="365760"/>
          </a:xfrm>
          <a:prstGeom prst="rect">
            <a:avLst/>
          </a:prstGeom>
          <a:noFill/>
        </p:spPr>
        <p:txBody>
          <a:bodyPr wrap="square">
            <a:spAutoFit/>
          </a:bodyPr>
          <a:lstStyle/>
          <a:p>
            <a:r>
              <a:rPr sz="1600" b="0">
                <a:solidFill>
                  <a:srgbClr val="595959"/>
                </a:solidFill>
                <a:latin typeface="Helvetica Neue Light"/>
              </a:rPr>
              <a:t>Examples from the FinViz research notes, as of September 2026.</a:t>
            </a:r>
          </a:p>
        </p:txBody>
      </p:sp>
      <p:graphicFrame>
        <p:nvGraphicFramePr>
          <p:cNvPr id="5" name="Table 4"/>
          <p:cNvGraphicFramePr>
            <a:graphicFrameLocks noGrp="1"/>
          </p:cNvGraphicFramePr>
          <p:nvPr/>
        </p:nvGraphicFramePr>
        <p:xfrm>
          <a:off x="457200" y="2377440"/>
          <a:ext cx="12070080" cy="3291840"/>
        </p:xfrm>
        <a:graphic>
          <a:graphicData uri="http://schemas.openxmlformats.org/drawingml/2006/table">
            <a:tbl>
              <a:tblPr firstRow="1" bandRow="1">
                <a:tableStyleId>{5C22544A-7EE6-4342-B048-85BDC9FD1C3A}</a:tableStyleId>
              </a:tblPr>
              <a:tblGrid>
                <a:gridCol w="2743200"/>
                <a:gridCol w="4572000"/>
                <a:gridCol w="4754880"/>
              </a:tblGrid>
              <a:tr h="822960">
                <a:tc>
                  <a:txBody>
                    <a:bodyPr/>
                    <a:lstStyle/>
                    <a:p>
                      <a:r>
                        <a:rPr sz="1500" b="1">
                          <a:solidFill>
                            <a:srgbClr val="FFFFFF"/>
                          </a:solidFill>
                          <a:latin typeface="Helvetica Neue"/>
                        </a:rPr>
                        <a:t>Product</a:t>
                      </a:r>
                    </a:p>
                  </a:txBody>
                  <a:tcPr>
                    <a:solidFill>
                      <a:srgbClr val="C45A35"/>
                    </a:solidFill>
                  </a:tcPr>
                </a:tc>
                <a:tc>
                  <a:txBody>
                    <a:bodyPr/>
                    <a:lstStyle/>
                    <a:p>
                      <a:r>
                        <a:rPr sz="1500" b="1">
                          <a:solidFill>
                            <a:srgbClr val="FFFFFF"/>
                          </a:solidFill>
                          <a:latin typeface="Helvetica Neue"/>
                        </a:rPr>
                        <a:t>Where it is strong</a:t>
                      </a:r>
                    </a:p>
                  </a:txBody>
                  <a:tcPr>
                    <a:solidFill>
                      <a:srgbClr val="C45A35"/>
                    </a:solidFill>
                  </a:tcPr>
                </a:tc>
                <a:tc>
                  <a:txBody>
                    <a:bodyPr/>
                    <a:lstStyle/>
                    <a:p>
                      <a:r>
                        <a:rPr sz="1500" b="1">
                          <a:solidFill>
                            <a:srgbClr val="FFFFFF"/>
                          </a:solidFill>
                          <a:latin typeface="Helvetica Neue"/>
                        </a:rPr>
                        <a:t>Where the AI layer fits</a:t>
                      </a:r>
                    </a:p>
                  </a:txBody>
                  <a:tcPr>
                    <a:solidFill>
                      <a:srgbClr val="C45A35"/>
                    </a:solidFill>
                  </a:tcPr>
                </a:tc>
              </a:tr>
              <a:tr h="822960">
                <a:tc>
                  <a:txBody>
                    <a:bodyPr/>
                    <a:lstStyle/>
                    <a:p>
                      <a:r>
                        <a:rPr sz="1600" b="1">
                          <a:solidFill>
                            <a:srgbClr val="1F1F1F"/>
                          </a:solidFill>
                          <a:latin typeface="Helvetica Neue"/>
                        </a:rPr>
                        <a:t>TradingView</a:t>
                      </a:r>
                    </a:p>
                  </a:txBody>
                  <a:tcPr>
                    <a:solidFill>
                      <a:srgbClr val="FFFFFF"/>
                    </a:solidFill>
                  </a:tcPr>
                </a:tc>
                <a:tc>
                  <a:txBody>
                    <a:bodyPr/>
                    <a:lstStyle/>
                    <a:p>
                      <a:r>
                        <a:rPr sz="1600" b="0">
                          <a:solidFill>
                            <a:srgbClr val="1F1F1F"/>
                          </a:solidFill>
                          <a:latin typeface="Helvetica Neue Light"/>
                        </a:rPr>
                        <a:t>Charting and community. Ships AI chart analysis and document summaries.</a:t>
                      </a:r>
                    </a:p>
                  </a:txBody>
                  <a:tcPr>
                    <a:solidFill>
                      <a:srgbClr val="FFFFFF"/>
                    </a:solidFill>
                  </a:tcPr>
                </a:tc>
                <a:tc>
                  <a:txBody>
                    <a:bodyPr/>
                    <a:lstStyle/>
                    <a:p>
                      <a:r>
                        <a:rPr sz="1600" b="0">
                          <a:solidFill>
                            <a:srgbClr val="1F1F1F"/>
                          </a:solidFill>
                          <a:latin typeface="Helvetica Neue Light"/>
                        </a:rPr>
                        <a:t>Explains the trader’s own screen. FinViz stays the fastest place to find ideas.</a:t>
                      </a:r>
                    </a:p>
                  </a:txBody>
                  <a:tcPr>
                    <a:solidFill>
                      <a:srgbClr val="FFFFFF"/>
                    </a:solidFill>
                  </a:tcPr>
                </a:tc>
              </a:tr>
              <a:tr h="822960">
                <a:tc>
                  <a:txBody>
                    <a:bodyPr/>
                    <a:lstStyle/>
                    <a:p>
                      <a:r>
                        <a:rPr sz="1600" b="1">
                          <a:solidFill>
                            <a:srgbClr val="1F1F1F"/>
                          </a:solidFill>
                          <a:latin typeface="Helvetica Neue"/>
                        </a:rPr>
                        <a:t>Trade Ideas</a:t>
                      </a:r>
                    </a:p>
                  </a:txBody>
                  <a:tcPr>
                    <a:solidFill>
                      <a:srgbClr val="FAFAFA"/>
                    </a:solidFill>
                  </a:tcPr>
                </a:tc>
                <a:tc>
                  <a:txBody>
                    <a:bodyPr/>
                    <a:lstStyle/>
                    <a:p>
                      <a:r>
                        <a:rPr sz="1600" b="0">
                          <a:solidFill>
                            <a:srgbClr val="1F1F1F"/>
                          </a:solidFill>
                          <a:latin typeface="Helvetica Neue Light"/>
                        </a:rPr>
                        <a:t>Real-time scanning and alerts at tick speed.</a:t>
                      </a:r>
                    </a:p>
                  </a:txBody>
                  <a:tcPr>
                    <a:solidFill>
                      <a:srgbClr val="FAFAFA"/>
                    </a:solidFill>
                  </a:tcPr>
                </a:tc>
                <a:tc>
                  <a:txBody>
                    <a:bodyPr/>
                    <a:lstStyle/>
                    <a:p>
                      <a:r>
                        <a:rPr sz="1600" b="0">
                          <a:solidFill>
                            <a:srgbClr val="1F1F1F"/>
                          </a:solidFill>
                          <a:latin typeface="Helvetica Neue Light"/>
                        </a:rPr>
                        <a:t>FinViz does not compete on tick speed. Push alerts on a saved screen matter more to this user.</a:t>
                      </a:r>
                    </a:p>
                  </a:txBody>
                  <a:tcPr>
                    <a:solidFill>
                      <a:srgbClr val="FAFAFA"/>
                    </a:solidFill>
                  </a:tcPr>
                </a:tc>
              </a:tr>
              <a:tr h="822960">
                <a:tc>
                  <a:txBody>
                    <a:bodyPr/>
                    <a:lstStyle/>
                    <a:p>
                      <a:r>
                        <a:rPr sz="1600" b="1">
                          <a:solidFill>
                            <a:srgbClr val="1F1F1F"/>
                          </a:solidFill>
                          <a:latin typeface="Helvetica Neue"/>
                        </a:rPr>
                        <a:t>Bloomberg Terminal</a:t>
                      </a:r>
                    </a:p>
                  </a:txBody>
                  <a:tcPr>
                    <a:solidFill>
                      <a:srgbClr val="FFFFFF"/>
                    </a:solidFill>
                  </a:tcPr>
                </a:tc>
                <a:tc>
                  <a:txBody>
                    <a:bodyPr/>
                    <a:lstStyle/>
                    <a:p>
                      <a:r>
                        <a:rPr sz="1600" b="0">
                          <a:solidFill>
                            <a:srgbClr val="1F1F1F"/>
                          </a:solidFill>
                          <a:latin typeface="Helvetica Neue Light"/>
                        </a:rPr>
                        <a:t>Market data and news flow for professionals.</a:t>
                      </a:r>
                    </a:p>
                  </a:txBody>
                  <a:tcPr>
                    <a:solidFill>
                      <a:srgbClr val="FFFFFF"/>
                    </a:solidFill>
                  </a:tcPr>
                </a:tc>
                <a:tc>
                  <a:txBody>
                    <a:bodyPr/>
                    <a:lstStyle/>
                    <a:p>
                      <a:r>
                        <a:rPr sz="1600" b="0">
                          <a:solidFill>
                            <a:srgbClr val="1F1F1F"/>
                          </a:solidFill>
                          <a:latin typeface="Helvetica Neue Light"/>
                        </a:rPr>
                        <a:t>Cost and complexity. FinViz’s job is discovery for individual traders.</a:t>
                      </a:r>
                    </a:p>
                  </a:txBody>
                  <a:tcPr>
                    <a:solidFill>
                      <a:srgbClr val="FFFFFF"/>
                    </a:solidFill>
                  </a:tcPr>
                </a:tc>
              </a:tr>
            </a:tbl>
          </a:graphicData>
        </a:graphic>
      </p:graphicFrame>
      <p:sp>
        <p:nvSpPr>
          <p:cNvPr id="6" name="TextBox 5"/>
          <p:cNvSpPr txBox="1"/>
          <p:nvPr/>
        </p:nvSpPr>
        <p:spPr>
          <a:xfrm>
            <a:off x="457200" y="7955279"/>
            <a:ext cx="12070080" cy="822960"/>
          </a:xfrm>
          <a:prstGeom prst="rect">
            <a:avLst/>
          </a:prstGeom>
          <a:noFill/>
        </p:spPr>
        <p:txBody>
          <a:bodyPr wrap="square">
            <a:spAutoFit/>
          </a:bodyPr>
          <a:lstStyle/>
          <a:p>
            <a:r>
              <a:rPr sz="1500" b="0">
                <a:solidFill>
                  <a:srgbClr val="6E6E6E"/>
                </a:solidFill>
                <a:latin typeface="Helvetica Neue Light"/>
              </a:rPr>
              <a:t>Source: FinViz research notes. Competitor features change. Re-check before publishing.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03 · Problem   FinViz AI Screener</a:t>
            </a:r>
          </a:p>
        </p:txBody>
      </p:sp>
      <p:sp>
        <p:nvSpPr>
          <p:cNvPr id="4" name="TextBox 3"/>
          <p:cNvSpPr txBox="1"/>
          <p:nvPr/>
        </p:nvSpPr>
        <p:spPr>
          <a:xfrm>
            <a:off x="455168" y="936346"/>
            <a:ext cx="12094464" cy="459678"/>
          </a:xfrm>
          <a:prstGeom prst="rect">
            <a:avLst/>
          </a:prstGeom>
          <a:noFill/>
        </p:spPr>
        <p:txBody>
          <a:bodyPr wrap="square" lIns="0" tIns="0" rIns="0" bIns="0">
            <a:spAutoFit/>
          </a:bodyPr>
          <a:lstStyle/>
          <a:p>
            <a:r>
              <a:rPr sz="2987">
                <a:solidFill>
                  <a:srgbClr val="1F1F1F"/>
                </a:solidFill>
                <a:latin typeface="Helvetica Neue Light"/>
              </a:rPr>
              <a:t>The user problem and the AI problem</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Defined separately, so the AI only does what a rule can’t.</a:t>
            </a:r>
          </a:p>
        </p:txBody>
      </p:sp>
      <p:sp>
        <p:nvSpPr>
          <p:cNvPr id="6" name="Rectangle 5"/>
          <p:cNvSpPr/>
          <p:nvPr/>
        </p:nvSpPr>
        <p:spPr>
          <a:xfrm>
            <a:off x="455168" y="2405888"/>
            <a:ext cx="3901440" cy="6177280"/>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50240" y="2600960"/>
            <a:ext cx="3511296" cy="1848455"/>
          </a:xfrm>
          <a:prstGeom prst="rect">
            <a:avLst/>
          </a:prstGeom>
          <a:noFill/>
        </p:spPr>
        <p:txBody>
          <a:bodyPr wrap="square" lIns="0" tIns="0" rIns="0" bIns="0">
            <a:spAutoFit/>
          </a:bodyPr>
          <a:lstStyle/>
          <a:p>
            <a:pPr>
              <a:spcAft>
                <a:spcPts val="1138"/>
              </a:spcAft>
            </a:pPr>
            <a:r>
              <a:rPr sz="1280">
                <a:solidFill>
                  <a:srgbClr val="FFFFFF"/>
                </a:solidFill>
                <a:latin typeface="Helvetica Neue"/>
              </a:rPr>
              <a:t>USER PROBLEM</a:t>
            </a:r>
          </a:p>
          <a:p>
            <a:r>
              <a:rPr sz="1636">
                <a:solidFill>
                  <a:srgbClr val="FFFFFF"/>
                </a:solidFill>
                <a:latin typeface="Helvetica Neue Light"/>
              </a:rPr>
              <a:t>Gary can find ideas but can’t hold on to them. 89 filters with no explanation; a list that forgets why he picked each stock; nothing reaches him at work; the decision to hold or exit happens in his head (P1, P5, P8, P9, P13).</a:t>
            </a:r>
          </a:p>
        </p:txBody>
      </p:sp>
      <p:sp>
        <p:nvSpPr>
          <p:cNvPr id="8" name="Rectangle 7"/>
          <p:cNvSpPr/>
          <p:nvPr/>
        </p:nvSpPr>
        <p:spPr>
          <a:xfrm>
            <a:off x="4525670" y="2405888"/>
            <a:ext cx="3901440" cy="6177280"/>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4720742" y="2600960"/>
            <a:ext cx="3511296" cy="2603661"/>
          </a:xfrm>
          <a:prstGeom prst="rect">
            <a:avLst/>
          </a:prstGeom>
          <a:noFill/>
        </p:spPr>
        <p:txBody>
          <a:bodyPr wrap="square" lIns="0" tIns="0" rIns="0" bIns="0">
            <a:spAutoFit/>
          </a:bodyPr>
          <a:lstStyle/>
          <a:p>
            <a:pPr>
              <a:spcAft>
                <a:spcPts val="1138"/>
              </a:spcAft>
            </a:pPr>
            <a:r>
              <a:rPr sz="1280">
                <a:solidFill>
                  <a:srgbClr val="FFFFFF"/>
                </a:solidFill>
                <a:latin typeface="Helvetica Neue"/>
              </a:rPr>
              <a:t>AI PROBLEM</a:t>
            </a:r>
          </a:p>
          <a:p>
            <a:r>
              <a:rPr sz="1636">
                <a:solidFill>
                  <a:srgbClr val="FFFFFF"/>
                </a:solidFill>
                <a:latin typeface="Helvetica Neue Light"/>
              </a:rPr>
              <a:t>Infer a screen from 3 example tickers · explain why each row matched from real values · re-check his own reasons against fresh data 3× a day · detect chart patterns at support with measurable criteria · summarize overnight news on his names only, with sources · turn his corrections into proposed rule changes.</a:t>
            </a:r>
          </a:p>
        </p:txBody>
      </p:sp>
      <p:sp>
        <p:nvSpPr>
          <p:cNvPr id="10" name="Rectangle 9"/>
          <p:cNvSpPr/>
          <p:nvPr/>
        </p:nvSpPr>
        <p:spPr>
          <a:xfrm>
            <a:off x="8596171" y="2405888"/>
            <a:ext cx="3901440" cy="6177280"/>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8791245" y="2600961"/>
            <a:ext cx="3511296" cy="2603661"/>
          </a:xfrm>
          <a:prstGeom prst="rect">
            <a:avLst/>
          </a:prstGeom>
          <a:noFill/>
        </p:spPr>
        <p:txBody>
          <a:bodyPr wrap="square" lIns="0" tIns="0" rIns="0" bIns="0">
            <a:spAutoFit/>
          </a:bodyPr>
          <a:lstStyle/>
          <a:p>
            <a:pPr>
              <a:spcAft>
                <a:spcPts val="1138"/>
              </a:spcAft>
            </a:pPr>
            <a:r>
              <a:rPr sz="1280">
                <a:solidFill>
                  <a:srgbClr val="FFFFFF"/>
                </a:solidFill>
                <a:latin typeface="Helvetica Neue"/>
              </a:rPr>
              <a:t>WHY AI IS APPROPRIATE</a:t>
            </a:r>
          </a:p>
          <a:p>
            <a:r>
              <a:rPr sz="1636">
                <a:solidFill>
                  <a:srgbClr val="FFFFFF"/>
                </a:solidFill>
                <a:latin typeface="Helvetica Neue Light"/>
              </a:rPr>
              <a:t>Translating examples and plain English into 89 filters, and summarizing many sources, are language tasks. Scanning 30 charts for the same setup every day is repetitive perception. Remembering his reasons needs memory. Where a rule is enough we used a rule: the since-last-night diff, exit lines, quiet hours and the activity log are not AI.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03 · Problem   FinViz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2987" dirty="0">
                <a:solidFill>
                  <a:srgbClr val="1F1F1F"/>
                </a:solidFill>
                <a:latin typeface="Helvetica Neue Light" pitchFamily="34" charset="0"/>
                <a:ea typeface="Helvetica Neue Light" pitchFamily="34" charset="-122"/>
                <a:cs typeface="Helvetica Neue Light" pitchFamily="34" charset="-120"/>
              </a:rPr>
              <a:t>Pain points, scored by user and business impact</a:t>
            </a:r>
            <a:endParaRPr lang="en-US" sz="2987" dirty="0"/>
          </a:p>
        </p:txBody>
      </p:sp>
      <p:sp>
        <p:nvSpPr>
          <p:cNvPr id="4" name="Text 2"/>
          <p:cNvSpPr txBox="1"/>
          <p:nvPr/>
        </p:nvSpPr>
        <p:spPr>
          <a:xfrm>
            <a:off x="975360" y="2015744"/>
            <a:ext cx="8453120" cy="5592064"/>
          </a:xfrm>
          <a:prstGeom prst="rect">
            <a:avLst/>
          </a:prstGeom>
          <a:noFill/>
          <a:ln/>
        </p:spPr>
        <p:txBody>
          <a:bodyPr wrap="square" lIns="0" tIns="0" rIns="0" bIns="0" rtlCol="0" anchor="t"/>
          <a:lstStyle/>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1  Ideas can’t become a working, watched screen</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2  Blind during market hours</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3  Too many results, and no reason why they matched</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4  Which metric matters, and what counts as good?</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5  Filters in fixed buckets; exact values are Elite</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6  Alert noise</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7  Catalysts scattered across pages</a:t>
            </a:r>
            <a:endParaRPr lang="en-US" sz="2133" dirty="0"/>
          </a:p>
        </p:txBody>
      </p:sp>
      <p:sp>
        <p:nvSpPr>
          <p:cNvPr id="5" name="Text 3"/>
          <p:cNvSpPr txBox="1"/>
          <p:nvPr/>
        </p:nvSpPr>
        <p:spPr>
          <a:xfrm>
            <a:off x="7002586" y="7146138"/>
            <a:ext cx="5159047" cy="780288"/>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“Once you close FinViz you get nothing, and setting up alerts today is quirky.”</a:t>
            </a:r>
            <a:endParaRPr lang="en-US" sz="2276" dirty="0"/>
          </a:p>
        </p:txBody>
      </p:sp>
      <p:sp>
        <p:nvSpPr>
          <p:cNvPr id="6" name="Text 4"/>
          <p:cNvSpPr txBox="1"/>
          <p:nvPr/>
        </p:nvSpPr>
        <p:spPr>
          <a:xfrm>
            <a:off x="6502400" y="8258048"/>
            <a:ext cx="5852160" cy="390144"/>
          </a:xfrm>
          <a:prstGeom prst="rect">
            <a:avLst/>
          </a:prstGeom>
          <a:noFill/>
          <a:ln/>
        </p:spPr>
        <p:txBody>
          <a:bodyPr wrap="square" lIns="0" tIns="0" rIns="0" bIns="0" rtlCol="0" anchor="t"/>
          <a:lstStyle/>
          <a:p>
            <a:pPr algn="ctr"/>
            <a:r>
              <a:rPr lang="en-US" sz="1422" dirty="0">
                <a:solidFill>
                  <a:srgbClr val="6E6E6E"/>
                </a:solidFill>
                <a:latin typeface="Helvetica Neue" pitchFamily="34" charset="0"/>
                <a:ea typeface="Helvetica Neue" pitchFamily="34" charset="-122"/>
                <a:cs typeface="Helvetica Neue" pitchFamily="34" charset="-120"/>
              </a:rPr>
              <a:t>Design review feedback, Sept 30</a:t>
            </a:r>
            <a:endParaRPr lang="en-US" sz="1422" dirty="0"/>
          </a:p>
        </p:txBody>
      </p:sp>
      <p:pic>
        <p:nvPicPr>
          <p:cNvPr id="7"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403149"/>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05 · Solution   FinViz AI Screener</a:t>
            </a:r>
            <a:endParaRPr lang="en-US" sz="1422" dirty="0"/>
          </a:p>
        </p:txBody>
      </p:sp>
      <p:pic>
        <p:nvPicPr>
          <p:cNvPr id="3" name="Picture 2" descr="image.png"/>
          <p:cNvPicPr>
            <a:picLocks noChangeAspect="1"/>
          </p:cNvPicPr>
          <p:nvPr/>
        </p:nvPicPr>
        <p:blipFill>
          <a:blip r:embed="rId3"/>
          <a:stretch>
            <a:fillRect/>
          </a:stretch>
        </p:blipFill>
        <p:spPr>
          <a:xfrm>
            <a:off x="0" y="9548150"/>
            <a:ext cx="13004800" cy="468173"/>
          </a:xfrm>
          <a:prstGeom prst="rect">
            <a:avLst/>
          </a:prstGeom>
        </p:spPr>
      </p:pic>
      <p:sp>
        <p:nvSpPr>
          <p:cNvPr id="4" name="TextBox 3"/>
          <p:cNvSpPr txBox="1"/>
          <p:nvPr/>
        </p:nvSpPr>
        <p:spPr>
          <a:xfrm>
            <a:off x="455168" y="975360"/>
            <a:ext cx="12094464" cy="612796"/>
          </a:xfrm>
          <a:prstGeom prst="rect">
            <a:avLst/>
          </a:prstGeom>
          <a:noFill/>
        </p:spPr>
        <p:txBody>
          <a:bodyPr wrap="square" lIns="0" tIns="0" rIns="0" bIns="0">
            <a:spAutoFit/>
          </a:bodyPr>
          <a:lstStyle/>
          <a:p>
            <a:r>
              <a:rPr lang="en-US" sz="3982" dirty="0">
                <a:solidFill>
                  <a:srgbClr val="1F1F1F"/>
                </a:solidFill>
                <a:latin typeface="Helvetica Neue Light"/>
              </a:rPr>
              <a:t>O</a:t>
            </a:r>
            <a:r>
              <a:rPr sz="3982" dirty="0">
                <a:solidFill>
                  <a:srgbClr val="1F1F1F"/>
                </a:solidFill>
                <a:latin typeface="Helvetica Neue Light"/>
              </a:rPr>
              <a:t>ne trade, followed through one trading day</a:t>
            </a:r>
          </a:p>
        </p:txBody>
      </p:sp>
      <p:sp>
        <p:nvSpPr>
          <p:cNvPr id="5" name="TextBox 4"/>
          <p:cNvSpPr txBox="1"/>
          <p:nvPr/>
        </p:nvSpPr>
        <p:spPr>
          <a:xfrm>
            <a:off x="455168" y="2110996"/>
            <a:ext cx="10934750" cy="1225464"/>
          </a:xfrm>
          <a:prstGeom prst="rect">
            <a:avLst/>
          </a:prstGeom>
          <a:noFill/>
        </p:spPr>
        <p:txBody>
          <a:bodyPr wrap="square" lIns="0" tIns="0" rIns="0" bIns="0">
            <a:spAutoFit/>
          </a:bodyPr>
          <a:lstStyle/>
          <a:p>
            <a:r>
              <a:rPr sz="1991" dirty="0">
                <a:solidFill>
                  <a:srgbClr val="1F1F1F"/>
                </a:solidFill>
                <a:latin typeface="Helvetica Neue Light"/>
              </a:rPr>
              <a:t>This case study follows </a:t>
            </a:r>
            <a:r>
              <a:rPr sz="1991" dirty="0">
                <a:solidFill>
                  <a:srgbClr val="1F1F1F"/>
                </a:solidFill>
                <a:latin typeface="Helvetica Neue"/>
              </a:rPr>
              <a:t>Growth Gary</a:t>
            </a:r>
            <a:r>
              <a:rPr sz="1991" dirty="0">
                <a:solidFill>
                  <a:srgbClr val="1F1F1F"/>
                </a:solidFill>
                <a:latin typeface="Helvetica Neue Light"/>
              </a:rPr>
              <a:t>, a swing trader with a day job, through a single trade. He finds an idea at night, checks it before work, gets one alert while he’s busy, and decides after the close whether his reasons still hold. </a:t>
            </a:r>
            <a:r>
              <a:rPr sz="1991" dirty="0" err="1">
                <a:solidFill>
                  <a:srgbClr val="1F1F1F"/>
                </a:solidFill>
                <a:latin typeface="Helvetica Neue"/>
              </a:rPr>
              <a:t>FinViz</a:t>
            </a:r>
            <a:r>
              <a:rPr sz="1991" dirty="0">
                <a:solidFill>
                  <a:srgbClr val="1F1F1F"/>
                </a:solidFill>
                <a:latin typeface="Helvetica Neue"/>
              </a:rPr>
              <a:t> does the watching and explaining at the right moment; Gary makes every decision, in his own broker.</a:t>
            </a:r>
          </a:p>
        </p:txBody>
      </p:sp>
      <p:sp>
        <p:nvSpPr>
          <p:cNvPr id="6" name="Rectangle 5"/>
          <p:cNvSpPr/>
          <p:nvPr/>
        </p:nvSpPr>
        <p:spPr>
          <a:xfrm>
            <a:off x="1430528" y="4866422"/>
            <a:ext cx="10143744" cy="3901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Oval 6"/>
          <p:cNvSpPr/>
          <p:nvPr/>
        </p:nvSpPr>
        <p:spPr>
          <a:xfrm>
            <a:off x="1014374" y="4463273"/>
            <a:ext cx="832307" cy="832307"/>
          </a:xfrm>
          <a:prstGeom prst="ellipse">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1</a:t>
            </a:r>
          </a:p>
        </p:txBody>
      </p:sp>
      <p:sp>
        <p:nvSpPr>
          <p:cNvPr id="8" name="TextBox 7"/>
          <p:cNvSpPr txBox="1"/>
          <p:nvPr/>
        </p:nvSpPr>
        <p:spPr>
          <a:xfrm>
            <a:off x="260096" y="3839043"/>
            <a:ext cx="2340864" cy="240707"/>
          </a:xfrm>
          <a:prstGeom prst="rect">
            <a:avLst/>
          </a:prstGeom>
          <a:noFill/>
        </p:spPr>
        <p:txBody>
          <a:bodyPr wrap="square" lIns="0" tIns="0" rIns="0" bIns="0">
            <a:spAutoFit/>
          </a:bodyPr>
          <a:lstStyle/>
          <a:p>
            <a:pPr algn="ctr"/>
            <a:r>
              <a:rPr sz="1564">
                <a:solidFill>
                  <a:srgbClr val="5B3F96"/>
                </a:solidFill>
                <a:latin typeface="Helvetica Neue"/>
              </a:rPr>
              <a:t>☾  8–10 PM</a:t>
            </a:r>
          </a:p>
        </p:txBody>
      </p:sp>
      <p:sp>
        <p:nvSpPr>
          <p:cNvPr id="9" name="TextBox 8"/>
          <p:cNvSpPr txBox="1"/>
          <p:nvPr/>
        </p:nvSpPr>
        <p:spPr>
          <a:xfrm>
            <a:off x="260096"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Evening</a:t>
            </a:r>
          </a:p>
        </p:txBody>
      </p:sp>
      <p:sp>
        <p:nvSpPr>
          <p:cNvPr id="10" name="TextBox 9"/>
          <p:cNvSpPr txBox="1"/>
          <p:nvPr/>
        </p:nvSpPr>
        <p:spPr>
          <a:xfrm>
            <a:off x="780288" y="6114883"/>
            <a:ext cx="1820672" cy="962828"/>
          </a:xfrm>
          <a:prstGeom prst="rect">
            <a:avLst/>
          </a:prstGeom>
          <a:noFill/>
        </p:spPr>
        <p:txBody>
          <a:bodyPr wrap="square" lIns="0" tIns="0" rIns="0" bIns="0">
            <a:spAutoFit/>
          </a:bodyPr>
          <a:lstStyle/>
          <a:p>
            <a:pPr algn="ctr"/>
            <a:r>
              <a:rPr sz="1564" dirty="0">
                <a:solidFill>
                  <a:srgbClr val="595959"/>
                </a:solidFill>
                <a:latin typeface="Helvetica Neue Light"/>
              </a:rPr>
              <a:t>Reviews what’s new, pins 3–5 names, taps “Watch these for me”</a:t>
            </a:r>
          </a:p>
        </p:txBody>
      </p:sp>
      <p:sp>
        <p:nvSpPr>
          <p:cNvPr id="11" name="Oval 10"/>
          <p:cNvSpPr/>
          <p:nvPr/>
        </p:nvSpPr>
        <p:spPr>
          <a:xfrm>
            <a:off x="3550311" y="4463273"/>
            <a:ext cx="832307" cy="832307"/>
          </a:xfrm>
          <a:prstGeom prst="ellipse">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2</a:t>
            </a:r>
          </a:p>
        </p:txBody>
      </p:sp>
      <p:sp>
        <p:nvSpPr>
          <p:cNvPr id="12" name="TextBox 11"/>
          <p:cNvSpPr txBox="1"/>
          <p:nvPr/>
        </p:nvSpPr>
        <p:spPr>
          <a:xfrm>
            <a:off x="2796032" y="3839043"/>
            <a:ext cx="2340864" cy="240707"/>
          </a:xfrm>
          <a:prstGeom prst="rect">
            <a:avLst/>
          </a:prstGeom>
          <a:noFill/>
        </p:spPr>
        <p:txBody>
          <a:bodyPr wrap="square" lIns="0" tIns="0" rIns="0" bIns="0">
            <a:spAutoFit/>
          </a:bodyPr>
          <a:lstStyle/>
          <a:p>
            <a:pPr algn="ctr"/>
            <a:r>
              <a:rPr sz="1564">
                <a:solidFill>
                  <a:srgbClr val="744A6C"/>
                </a:solidFill>
                <a:latin typeface="Helvetica Neue"/>
              </a:rPr>
              <a:t>☾  while he sleeps</a:t>
            </a:r>
          </a:p>
        </p:txBody>
      </p:sp>
      <p:sp>
        <p:nvSpPr>
          <p:cNvPr id="13" name="TextBox 12"/>
          <p:cNvSpPr txBox="1"/>
          <p:nvPr/>
        </p:nvSpPr>
        <p:spPr>
          <a:xfrm>
            <a:off x="2796032"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Overnight</a:t>
            </a:r>
          </a:p>
        </p:txBody>
      </p:sp>
      <p:sp>
        <p:nvSpPr>
          <p:cNvPr id="14" name="TextBox 13"/>
          <p:cNvSpPr txBox="1"/>
          <p:nvPr/>
        </p:nvSpPr>
        <p:spPr>
          <a:xfrm>
            <a:off x="2796032" y="6114883"/>
            <a:ext cx="2340864" cy="240707"/>
          </a:xfrm>
          <a:prstGeom prst="rect">
            <a:avLst/>
          </a:prstGeom>
          <a:noFill/>
        </p:spPr>
        <p:txBody>
          <a:bodyPr wrap="square" lIns="0" tIns="0" rIns="0" bIns="0">
            <a:spAutoFit/>
          </a:bodyPr>
          <a:lstStyle/>
          <a:p>
            <a:pPr algn="ctr"/>
            <a:r>
              <a:rPr sz="1564" dirty="0">
                <a:solidFill>
                  <a:srgbClr val="595959"/>
                </a:solidFill>
                <a:latin typeface="Helvetica Neue Light"/>
              </a:rPr>
              <a:t>Nothing</a:t>
            </a:r>
          </a:p>
        </p:txBody>
      </p:sp>
      <p:sp>
        <p:nvSpPr>
          <p:cNvPr id="15" name="Oval 14"/>
          <p:cNvSpPr/>
          <p:nvPr/>
        </p:nvSpPr>
        <p:spPr>
          <a:xfrm>
            <a:off x="6086247" y="4463273"/>
            <a:ext cx="832307" cy="832307"/>
          </a:xfrm>
          <a:prstGeom prst="ellipse">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3</a:t>
            </a:r>
          </a:p>
        </p:txBody>
      </p:sp>
      <p:sp>
        <p:nvSpPr>
          <p:cNvPr id="16" name="TextBox 15"/>
          <p:cNvSpPr txBox="1"/>
          <p:nvPr/>
        </p:nvSpPr>
        <p:spPr>
          <a:xfrm>
            <a:off x="5331967" y="3839043"/>
            <a:ext cx="2340864" cy="240707"/>
          </a:xfrm>
          <a:prstGeom prst="rect">
            <a:avLst/>
          </a:prstGeom>
          <a:noFill/>
        </p:spPr>
        <p:txBody>
          <a:bodyPr wrap="square" lIns="0" tIns="0" rIns="0" bIns="0">
            <a:spAutoFit/>
          </a:bodyPr>
          <a:lstStyle/>
          <a:p>
            <a:pPr algn="ctr"/>
            <a:r>
              <a:rPr sz="1564">
                <a:solidFill>
                  <a:srgbClr val="00868B"/>
                </a:solidFill>
                <a:latin typeface="Helvetica Neue"/>
              </a:rPr>
              <a:t>☀  7:30 AM</a:t>
            </a:r>
          </a:p>
        </p:txBody>
      </p:sp>
      <p:sp>
        <p:nvSpPr>
          <p:cNvPr id="17" name="TextBox 16"/>
          <p:cNvSpPr txBox="1"/>
          <p:nvPr/>
        </p:nvSpPr>
        <p:spPr>
          <a:xfrm>
            <a:off x="5331967"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Before work</a:t>
            </a:r>
          </a:p>
        </p:txBody>
      </p:sp>
      <p:sp>
        <p:nvSpPr>
          <p:cNvPr id="18" name="TextBox 17"/>
          <p:cNvSpPr txBox="1"/>
          <p:nvPr/>
        </p:nvSpPr>
        <p:spPr>
          <a:xfrm>
            <a:off x="5331967" y="6114883"/>
            <a:ext cx="2340864" cy="240707"/>
          </a:xfrm>
          <a:prstGeom prst="rect">
            <a:avLst/>
          </a:prstGeom>
          <a:noFill/>
        </p:spPr>
        <p:txBody>
          <a:bodyPr wrap="square" lIns="0" tIns="0" rIns="0" bIns="0">
            <a:spAutoFit/>
          </a:bodyPr>
          <a:lstStyle/>
          <a:p>
            <a:pPr algn="ctr"/>
            <a:r>
              <a:rPr sz="1564">
                <a:solidFill>
                  <a:srgbClr val="595959"/>
                </a:solidFill>
                <a:latin typeface="Helvetica Neue Light"/>
              </a:rPr>
              <a:t>Reads one short note</a:t>
            </a:r>
          </a:p>
        </p:txBody>
      </p:sp>
      <p:sp>
        <p:nvSpPr>
          <p:cNvPr id="19" name="Oval 18"/>
          <p:cNvSpPr/>
          <p:nvPr/>
        </p:nvSpPr>
        <p:spPr>
          <a:xfrm>
            <a:off x="8622181" y="4463273"/>
            <a:ext cx="832307" cy="832307"/>
          </a:xfrm>
          <a:prstGeom prst="ellipse">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4</a:t>
            </a:r>
          </a:p>
        </p:txBody>
      </p:sp>
      <p:sp>
        <p:nvSpPr>
          <p:cNvPr id="20" name="TextBox 19"/>
          <p:cNvSpPr txBox="1"/>
          <p:nvPr/>
        </p:nvSpPr>
        <p:spPr>
          <a:xfrm>
            <a:off x="7867903" y="3839043"/>
            <a:ext cx="2340864" cy="240707"/>
          </a:xfrm>
          <a:prstGeom prst="rect">
            <a:avLst/>
          </a:prstGeom>
          <a:noFill/>
        </p:spPr>
        <p:txBody>
          <a:bodyPr wrap="square" lIns="0" tIns="0" rIns="0" bIns="0">
            <a:spAutoFit/>
          </a:bodyPr>
          <a:lstStyle/>
          <a:p>
            <a:pPr algn="ctr"/>
            <a:r>
              <a:rPr sz="1564">
                <a:solidFill>
                  <a:srgbClr val="A12A37"/>
                </a:solidFill>
                <a:latin typeface="Helvetica Neue"/>
              </a:rPr>
              <a:t>☀  9:30 AM–4 PM</a:t>
            </a:r>
          </a:p>
        </p:txBody>
      </p:sp>
      <p:sp>
        <p:nvSpPr>
          <p:cNvPr id="21" name="TextBox 20"/>
          <p:cNvSpPr txBox="1"/>
          <p:nvPr/>
        </p:nvSpPr>
        <p:spPr>
          <a:xfrm>
            <a:off x="7867903"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During work</a:t>
            </a:r>
          </a:p>
        </p:txBody>
      </p:sp>
      <p:sp>
        <p:nvSpPr>
          <p:cNvPr id="22" name="TextBox 21"/>
          <p:cNvSpPr txBox="1"/>
          <p:nvPr/>
        </p:nvSpPr>
        <p:spPr>
          <a:xfrm>
            <a:off x="7867903" y="6114883"/>
            <a:ext cx="2340864" cy="240707"/>
          </a:xfrm>
          <a:prstGeom prst="rect">
            <a:avLst/>
          </a:prstGeom>
          <a:noFill/>
        </p:spPr>
        <p:txBody>
          <a:bodyPr wrap="square" lIns="0" tIns="0" rIns="0" bIns="0">
            <a:spAutoFit/>
          </a:bodyPr>
          <a:lstStyle/>
          <a:p>
            <a:pPr algn="ctr"/>
            <a:r>
              <a:rPr sz="1564">
                <a:solidFill>
                  <a:srgbClr val="595959"/>
                </a:solidFill>
                <a:latin typeface="Helvetica Neue Light"/>
              </a:rPr>
              <a:t>Taps one alert, if it comes</a:t>
            </a:r>
          </a:p>
        </p:txBody>
      </p:sp>
      <p:sp>
        <p:nvSpPr>
          <p:cNvPr id="23" name="Oval 22"/>
          <p:cNvSpPr/>
          <p:nvPr/>
        </p:nvSpPr>
        <p:spPr>
          <a:xfrm>
            <a:off x="11158119" y="4463273"/>
            <a:ext cx="832307" cy="832307"/>
          </a:xfrm>
          <a:prstGeom prst="ellipse">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5</a:t>
            </a:r>
          </a:p>
        </p:txBody>
      </p:sp>
      <p:sp>
        <p:nvSpPr>
          <p:cNvPr id="24" name="TextBox 23"/>
          <p:cNvSpPr txBox="1"/>
          <p:nvPr/>
        </p:nvSpPr>
        <p:spPr>
          <a:xfrm>
            <a:off x="10403840" y="3839043"/>
            <a:ext cx="2340864" cy="240707"/>
          </a:xfrm>
          <a:prstGeom prst="rect">
            <a:avLst/>
          </a:prstGeom>
          <a:noFill/>
        </p:spPr>
        <p:txBody>
          <a:bodyPr wrap="square" lIns="0" tIns="0" rIns="0" bIns="0">
            <a:spAutoFit/>
          </a:bodyPr>
          <a:lstStyle/>
          <a:p>
            <a:pPr algn="ctr"/>
            <a:r>
              <a:rPr sz="1564">
                <a:solidFill>
                  <a:srgbClr val="3A7D55"/>
                </a:solidFill>
                <a:latin typeface="Helvetica Neue"/>
              </a:rPr>
              <a:t>☀  4:30 PM</a:t>
            </a:r>
          </a:p>
        </p:txBody>
      </p:sp>
      <p:sp>
        <p:nvSpPr>
          <p:cNvPr id="25" name="TextBox 24"/>
          <p:cNvSpPr txBox="1"/>
          <p:nvPr/>
        </p:nvSpPr>
        <p:spPr>
          <a:xfrm>
            <a:off x="10403840" y="5529667"/>
            <a:ext cx="2340864" cy="328231"/>
          </a:xfrm>
          <a:prstGeom prst="rect">
            <a:avLst/>
          </a:prstGeom>
          <a:noFill/>
        </p:spPr>
        <p:txBody>
          <a:bodyPr wrap="square" lIns="0" tIns="0" rIns="0" bIns="0">
            <a:spAutoFit/>
          </a:bodyPr>
          <a:lstStyle/>
          <a:p>
            <a:pPr algn="ctr"/>
            <a:r>
              <a:rPr sz="2133">
                <a:solidFill>
                  <a:srgbClr val="1F1F1F"/>
                </a:solidFill>
                <a:latin typeface="Helvetica Neue Light"/>
              </a:rPr>
              <a:t>After the close</a:t>
            </a:r>
          </a:p>
        </p:txBody>
      </p:sp>
      <p:sp>
        <p:nvSpPr>
          <p:cNvPr id="26" name="TextBox 25"/>
          <p:cNvSpPr txBox="1"/>
          <p:nvPr/>
        </p:nvSpPr>
        <p:spPr>
          <a:xfrm>
            <a:off x="10640291" y="6114883"/>
            <a:ext cx="1584222" cy="722121"/>
          </a:xfrm>
          <a:prstGeom prst="rect">
            <a:avLst/>
          </a:prstGeom>
          <a:noFill/>
        </p:spPr>
        <p:txBody>
          <a:bodyPr wrap="square" lIns="0" tIns="0" rIns="0" bIns="0">
            <a:spAutoFit/>
          </a:bodyPr>
          <a:lstStyle/>
          <a:p>
            <a:pPr algn="ctr"/>
            <a:r>
              <a:rPr sz="1564" dirty="0">
                <a:solidFill>
                  <a:srgbClr val="595959"/>
                </a:solidFill>
                <a:latin typeface="Helvetica Neue Light"/>
              </a:rPr>
              <a:t>Decides: hold, or exit in his own broker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5"/>
            <a:ext cx="12094464" cy="459678"/>
          </a:xfrm>
          <a:prstGeom prst="rect">
            <a:avLst/>
          </a:prstGeom>
          <a:noFill/>
        </p:spPr>
        <p:txBody>
          <a:bodyPr wrap="square" lIns="0" tIns="0" rIns="0" bIns="0">
            <a:spAutoFit/>
          </a:bodyPr>
          <a:lstStyle/>
          <a:p>
            <a:r>
              <a:rPr sz="2987" dirty="0">
                <a:solidFill>
                  <a:srgbClr val="1F1F1F"/>
                </a:solidFill>
                <a:latin typeface="Helvetica Neue Light"/>
              </a:rPr>
              <a:t>The </a:t>
            </a:r>
            <a:r>
              <a:rPr lang="en-US" sz="2987" dirty="0">
                <a:solidFill>
                  <a:srgbClr val="1F1F1F"/>
                </a:solidFill>
                <a:latin typeface="Helvetica Neue Light"/>
              </a:rPr>
              <a:t>U</a:t>
            </a:r>
            <a:r>
              <a:rPr sz="2987" dirty="0">
                <a:solidFill>
                  <a:srgbClr val="1F1F1F"/>
                </a:solidFill>
                <a:latin typeface="Helvetica Neue Light"/>
              </a:rPr>
              <a:t>ser </a:t>
            </a:r>
            <a:r>
              <a:rPr lang="en-US" sz="2987" dirty="0">
                <a:solidFill>
                  <a:srgbClr val="1F1F1F"/>
                </a:solidFill>
                <a:latin typeface="Helvetica Neue Light"/>
              </a:rPr>
              <a:t>J</a:t>
            </a:r>
            <a:r>
              <a:rPr sz="2987" dirty="0">
                <a:solidFill>
                  <a:srgbClr val="1F1F1F"/>
                </a:solidFill>
                <a:latin typeface="Helvetica Neue Light"/>
              </a:rPr>
              <a:t>ourney: From market noise to a focused next step</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Six beats on the Insight Board: Gary’s day around work, then Mike, an advisor. The board surfaces what changed; he decides.</a:t>
            </a:r>
          </a:p>
        </p:txBody>
      </p:sp>
      <p:pic>
        <p:nvPicPr>
          <p:cNvPr id="6" name="Picture 5" descr="wt-1-board.png"/>
          <p:cNvPicPr>
            <a:picLocks noChangeAspect="1"/>
          </p:cNvPicPr>
          <p:nvPr/>
        </p:nvPicPr>
        <p:blipFill>
          <a:blip r:embed="rId4"/>
          <a:stretch>
            <a:fillRect/>
          </a:stretch>
        </p:blipFill>
        <p:spPr>
          <a:xfrm>
            <a:off x="455168" y="2210817"/>
            <a:ext cx="3901440" cy="2105152"/>
          </a:xfrm>
          <a:prstGeom prst="rect">
            <a:avLst/>
          </a:prstGeom>
          <a:ln w="6350">
            <a:solidFill>
              <a:srgbClr val="1F1F1F"/>
            </a:solidFill>
          </a:ln>
        </p:spPr>
      </p:pic>
      <p:sp>
        <p:nvSpPr>
          <p:cNvPr id="7" name="Rectangle 6"/>
          <p:cNvSpPr/>
          <p:nvPr/>
        </p:nvSpPr>
        <p:spPr>
          <a:xfrm>
            <a:off x="455168" y="4380992"/>
            <a:ext cx="3901440" cy="78029"/>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455168" y="4524045"/>
            <a:ext cx="3901440" cy="856388"/>
          </a:xfrm>
          <a:prstGeom prst="rect">
            <a:avLst/>
          </a:prstGeom>
          <a:noFill/>
        </p:spPr>
        <p:txBody>
          <a:bodyPr wrap="square" lIns="0" tIns="0" rIns="0" bIns="0">
            <a:spAutoFit/>
          </a:bodyPr>
          <a:lstStyle/>
          <a:p>
            <a:r>
              <a:rPr sz="1422" dirty="0">
                <a:solidFill>
                  <a:srgbClr val="5B3F96"/>
                </a:solidFill>
                <a:latin typeface="Helvetica Neue"/>
              </a:rPr>
              <a:t>1 · Morning  </a:t>
            </a:r>
            <a:r>
              <a:rPr sz="1209" dirty="0">
                <a:solidFill>
                  <a:srgbClr val="8C8C8C"/>
                </a:solidFill>
                <a:latin typeface="Helvetica Neue Light"/>
              </a:rPr>
              <a:t>DB1 · 7:45 AM</a:t>
            </a:r>
          </a:p>
          <a:p>
            <a:pPr>
              <a:spcAft>
                <a:spcPts val="284"/>
              </a:spcAft>
            </a:pPr>
            <a:r>
              <a:rPr sz="1493" dirty="0">
                <a:solidFill>
                  <a:srgbClr val="1F1F1F"/>
                </a:solidFill>
                <a:latin typeface="Helvetica Neue"/>
              </a:rPr>
              <a:t>“What needs my attention?”</a:t>
            </a:r>
          </a:p>
          <a:p>
            <a:r>
              <a:rPr sz="1100" dirty="0">
                <a:solidFill>
                  <a:srgbClr val="595959"/>
                </a:solidFill>
                <a:latin typeface="Helvetica Neue Light"/>
              </a:rPr>
              <a:t>Three findings about his own names come first: DOCN at risk, QLYS earnings, semis down with RMBS exposed.</a:t>
            </a:r>
          </a:p>
        </p:txBody>
      </p:sp>
      <p:pic>
        <p:nvPicPr>
          <p:cNvPr id="9" name="Picture 8" descr="wt-2-evidence.png"/>
          <p:cNvPicPr>
            <a:picLocks noChangeAspect="1"/>
          </p:cNvPicPr>
          <p:nvPr/>
        </p:nvPicPr>
        <p:blipFill>
          <a:blip r:embed="rId5"/>
          <a:stretch>
            <a:fillRect/>
          </a:stretch>
        </p:blipFill>
        <p:spPr>
          <a:xfrm>
            <a:off x="4525670" y="2210817"/>
            <a:ext cx="3901440" cy="2102970"/>
          </a:xfrm>
          <a:prstGeom prst="rect">
            <a:avLst/>
          </a:prstGeom>
          <a:ln w="6350">
            <a:solidFill>
              <a:srgbClr val="1F1F1F"/>
            </a:solidFill>
          </a:ln>
        </p:spPr>
      </p:pic>
      <p:sp>
        <p:nvSpPr>
          <p:cNvPr id="10" name="Rectangle 9"/>
          <p:cNvSpPr/>
          <p:nvPr/>
        </p:nvSpPr>
        <p:spPr>
          <a:xfrm>
            <a:off x="4525670" y="4378810"/>
            <a:ext cx="3901440" cy="78029"/>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4525670" y="4521864"/>
            <a:ext cx="3901440" cy="856388"/>
          </a:xfrm>
          <a:prstGeom prst="rect">
            <a:avLst/>
          </a:prstGeom>
          <a:noFill/>
        </p:spPr>
        <p:txBody>
          <a:bodyPr wrap="square" lIns="0" tIns="0" rIns="0" bIns="0">
            <a:spAutoFit/>
          </a:bodyPr>
          <a:lstStyle/>
          <a:p>
            <a:r>
              <a:rPr sz="1422" dirty="0">
                <a:solidFill>
                  <a:srgbClr val="00868B"/>
                </a:solidFill>
                <a:latin typeface="Helvetica Neue"/>
              </a:rPr>
              <a:t>2 · Investigating  </a:t>
            </a:r>
            <a:r>
              <a:rPr sz="1209" dirty="0">
                <a:solidFill>
                  <a:srgbClr val="8C8C8C"/>
                </a:solidFill>
                <a:latin typeface="Helvetica Neue Light"/>
              </a:rPr>
              <a:t>DB2</a:t>
            </a:r>
          </a:p>
          <a:p>
            <a:pPr>
              <a:spcAft>
                <a:spcPts val="284"/>
              </a:spcAft>
            </a:pPr>
            <a:r>
              <a:rPr sz="1493" dirty="0">
                <a:solidFill>
                  <a:srgbClr val="1F1F1F"/>
                </a:solidFill>
                <a:latin typeface="Helvetica Neue"/>
              </a:rPr>
              <a:t>“Show me the evidence.”</a:t>
            </a:r>
          </a:p>
          <a:p>
            <a:r>
              <a:rPr sz="1100" dirty="0">
                <a:solidFill>
                  <a:srgbClr val="595959"/>
                </a:solidFill>
                <a:latin typeface="Helvetica Neue Light"/>
              </a:rPr>
              <a:t>The card shows measured moves, quote time and the Reuters source; RMBS +1.1% on its own news.</a:t>
            </a:r>
          </a:p>
        </p:txBody>
      </p:sp>
      <p:pic>
        <p:nvPicPr>
          <p:cNvPr id="12" name="Picture 11" descr="wt-3-refine.png"/>
          <p:cNvPicPr>
            <a:picLocks noChangeAspect="1"/>
          </p:cNvPicPr>
          <p:nvPr/>
        </p:nvPicPr>
        <p:blipFill>
          <a:blip r:embed="rId6"/>
          <a:stretch>
            <a:fillRect/>
          </a:stretch>
        </p:blipFill>
        <p:spPr>
          <a:xfrm>
            <a:off x="8596171" y="2210816"/>
            <a:ext cx="3901440" cy="2106778"/>
          </a:xfrm>
          <a:prstGeom prst="rect">
            <a:avLst/>
          </a:prstGeom>
          <a:ln w="6350">
            <a:solidFill>
              <a:srgbClr val="1F1F1F"/>
            </a:solidFill>
          </a:ln>
        </p:spPr>
      </p:pic>
      <p:sp>
        <p:nvSpPr>
          <p:cNvPr id="13" name="Rectangle 12"/>
          <p:cNvSpPr/>
          <p:nvPr/>
        </p:nvSpPr>
        <p:spPr>
          <a:xfrm>
            <a:off x="8596171" y="4382618"/>
            <a:ext cx="3901440" cy="78029"/>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8596171" y="4525671"/>
            <a:ext cx="3901440" cy="856388"/>
          </a:xfrm>
          <a:prstGeom prst="rect">
            <a:avLst/>
          </a:prstGeom>
          <a:noFill/>
        </p:spPr>
        <p:txBody>
          <a:bodyPr wrap="square" lIns="0" tIns="0" rIns="0" bIns="0">
            <a:spAutoFit/>
          </a:bodyPr>
          <a:lstStyle/>
          <a:p>
            <a:r>
              <a:rPr sz="1422" dirty="0">
                <a:solidFill>
                  <a:srgbClr val="A12A37"/>
                </a:solidFill>
                <a:latin typeface="Helvetica Neue"/>
              </a:rPr>
              <a:t>3 · Refining  </a:t>
            </a:r>
            <a:r>
              <a:rPr sz="1209" dirty="0">
                <a:solidFill>
                  <a:srgbClr val="8C8C8C"/>
                </a:solidFill>
                <a:latin typeface="Helvetica Neue Light"/>
              </a:rPr>
              <a:t>DB2 · feedback</a:t>
            </a:r>
          </a:p>
          <a:p>
            <a:pPr>
              <a:spcAft>
                <a:spcPts val="284"/>
              </a:spcAft>
            </a:pPr>
            <a:r>
              <a:rPr sz="1493" dirty="0">
                <a:solidFill>
                  <a:srgbClr val="1F1F1F"/>
                </a:solidFill>
                <a:latin typeface="Helvetica Neue"/>
              </a:rPr>
              <a:t>“Ask before changing it.”</a:t>
            </a:r>
          </a:p>
          <a:p>
            <a:r>
              <a:rPr sz="1100" dirty="0">
                <a:solidFill>
                  <a:srgbClr val="595959"/>
                </a:solidFill>
                <a:latin typeface="Helvetica Neue Light"/>
              </a:rPr>
              <a:t>“Move too small for me” → a previewed threshold change he applies or cancels.</a:t>
            </a:r>
          </a:p>
        </p:txBody>
      </p:sp>
      <p:pic>
        <p:nvPicPr>
          <p:cNvPr id="15" name="Picture 14" descr="wt-4-plan.png"/>
          <p:cNvPicPr>
            <a:picLocks noChangeAspect="1"/>
          </p:cNvPicPr>
          <p:nvPr/>
        </p:nvPicPr>
        <p:blipFill>
          <a:blip r:embed="rId7"/>
          <a:stretch>
            <a:fillRect/>
          </a:stretch>
        </p:blipFill>
        <p:spPr>
          <a:xfrm>
            <a:off x="455168" y="5657087"/>
            <a:ext cx="3901440" cy="2105152"/>
          </a:xfrm>
          <a:prstGeom prst="rect">
            <a:avLst/>
          </a:prstGeom>
          <a:ln w="6350">
            <a:solidFill>
              <a:srgbClr val="1F1F1F"/>
            </a:solidFill>
          </a:ln>
        </p:spPr>
      </p:pic>
      <p:sp>
        <p:nvSpPr>
          <p:cNvPr id="16" name="Rectangle 15"/>
          <p:cNvSpPr/>
          <p:nvPr/>
        </p:nvSpPr>
        <p:spPr>
          <a:xfrm>
            <a:off x="455168" y="7827264"/>
            <a:ext cx="3901440" cy="78029"/>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455168" y="7970317"/>
            <a:ext cx="3901440" cy="856388"/>
          </a:xfrm>
          <a:prstGeom prst="rect">
            <a:avLst/>
          </a:prstGeom>
          <a:noFill/>
        </p:spPr>
        <p:txBody>
          <a:bodyPr wrap="square" lIns="0" tIns="0" rIns="0" bIns="0">
            <a:spAutoFit/>
          </a:bodyPr>
          <a:lstStyle/>
          <a:p>
            <a:r>
              <a:rPr sz="1422" dirty="0">
                <a:solidFill>
                  <a:srgbClr val="3A7D55"/>
                </a:solidFill>
                <a:latin typeface="Helvetica Neue"/>
              </a:rPr>
              <a:t>4 · After the close  </a:t>
            </a:r>
            <a:r>
              <a:rPr sz="1209" dirty="0">
                <a:solidFill>
                  <a:srgbClr val="8C8C8C"/>
                </a:solidFill>
                <a:latin typeface="Helvetica Neue Light"/>
              </a:rPr>
              <a:t>DB3 · 4:45 PM</a:t>
            </a:r>
          </a:p>
          <a:p>
            <a:pPr>
              <a:spcAft>
                <a:spcPts val="284"/>
              </a:spcAft>
            </a:pPr>
            <a:r>
              <a:rPr sz="1493" dirty="0">
                <a:solidFill>
                  <a:srgbClr val="1F1F1F"/>
                </a:solidFill>
                <a:latin typeface="Helvetica Neue"/>
              </a:rPr>
              <a:t>“How do I compare with my plan?”</a:t>
            </a:r>
          </a:p>
          <a:p>
            <a:r>
              <a:rPr sz="1100" dirty="0">
                <a:solidFill>
                  <a:srgbClr val="595959"/>
                </a:solidFill>
                <a:latin typeface="Helvetica Neue Light"/>
              </a:rPr>
              <a:t>Tech 46% vs his 40% target; the cause is RMBS +18.4%. Explained, never rebalanced.</a:t>
            </a:r>
          </a:p>
        </p:txBody>
      </p:sp>
      <p:pic>
        <p:nvPicPr>
          <p:cNvPr id="18" name="Picture 17" descr="wt-5-advisor.png"/>
          <p:cNvPicPr>
            <a:picLocks noChangeAspect="1"/>
          </p:cNvPicPr>
          <p:nvPr/>
        </p:nvPicPr>
        <p:blipFill>
          <a:blip r:embed="rId8"/>
          <a:stretch>
            <a:fillRect/>
          </a:stretch>
        </p:blipFill>
        <p:spPr>
          <a:xfrm>
            <a:off x="4525670" y="5657087"/>
            <a:ext cx="3901440" cy="2105152"/>
          </a:xfrm>
          <a:prstGeom prst="rect">
            <a:avLst/>
          </a:prstGeom>
          <a:ln w="6350">
            <a:solidFill>
              <a:srgbClr val="1F1F1F"/>
            </a:solidFill>
          </a:ln>
        </p:spPr>
      </p:pic>
      <p:sp>
        <p:nvSpPr>
          <p:cNvPr id="19" name="Rectangle 18"/>
          <p:cNvSpPr/>
          <p:nvPr/>
        </p:nvSpPr>
        <p:spPr>
          <a:xfrm>
            <a:off x="4525670" y="7827264"/>
            <a:ext cx="3901440" cy="78029"/>
          </a:xfrm>
          <a:prstGeom prst="rect">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4525670" y="7970317"/>
            <a:ext cx="3901440" cy="856388"/>
          </a:xfrm>
          <a:prstGeom prst="rect">
            <a:avLst/>
          </a:prstGeom>
          <a:noFill/>
        </p:spPr>
        <p:txBody>
          <a:bodyPr wrap="square" lIns="0" tIns="0" rIns="0" bIns="0">
            <a:spAutoFit/>
          </a:bodyPr>
          <a:lstStyle/>
          <a:p>
            <a:r>
              <a:rPr sz="1422" dirty="0">
                <a:solidFill>
                  <a:srgbClr val="744A6C"/>
                </a:solidFill>
                <a:latin typeface="Helvetica Neue"/>
              </a:rPr>
              <a:t>5 · Advisor  </a:t>
            </a:r>
            <a:r>
              <a:rPr sz="1209" dirty="0">
                <a:solidFill>
                  <a:srgbClr val="8C8C8C"/>
                </a:solidFill>
                <a:latin typeface="Helvetica Neue Light"/>
              </a:rPr>
              <a:t>DB4 · Mike</a:t>
            </a:r>
          </a:p>
          <a:p>
            <a:pPr>
              <a:spcAft>
                <a:spcPts val="284"/>
              </a:spcAft>
            </a:pPr>
            <a:r>
              <a:rPr sz="1493" dirty="0">
                <a:solidFill>
                  <a:srgbClr val="1F1F1F"/>
                </a:solidFill>
                <a:latin typeface="Helvetica Neue"/>
              </a:rPr>
              <a:t>“Exceptions, not 54 dashboards.”</a:t>
            </a:r>
          </a:p>
          <a:p>
            <a:r>
              <a:rPr sz="1100" dirty="0">
                <a:solidFill>
                  <a:srgbClr val="595959"/>
                </a:solidFill>
                <a:latin typeface="Helvetica Neue Light"/>
              </a:rPr>
              <a:t>Mike starts with 6 portfolios that crossed his limits; uncertainty stays visible.</a:t>
            </a:r>
          </a:p>
        </p:txBody>
      </p:sp>
      <p:pic>
        <p:nvPicPr>
          <p:cNvPr id="21" name="Picture 20" descr="wt-6-board-builder.png"/>
          <p:cNvPicPr>
            <a:picLocks noChangeAspect="1"/>
          </p:cNvPicPr>
          <p:nvPr/>
        </p:nvPicPr>
        <p:blipFill>
          <a:blip r:embed="rId9"/>
          <a:stretch>
            <a:fillRect/>
          </a:stretch>
        </p:blipFill>
        <p:spPr>
          <a:xfrm>
            <a:off x="8596171" y="5657087"/>
            <a:ext cx="3901440" cy="2105152"/>
          </a:xfrm>
          <a:prstGeom prst="rect">
            <a:avLst/>
          </a:prstGeom>
          <a:ln w="6350">
            <a:solidFill>
              <a:srgbClr val="1F1F1F"/>
            </a:solidFill>
          </a:ln>
        </p:spPr>
      </p:pic>
      <p:sp>
        <p:nvSpPr>
          <p:cNvPr id="22" name="Rectangle 21"/>
          <p:cNvSpPr/>
          <p:nvPr/>
        </p:nvSpPr>
        <p:spPr>
          <a:xfrm>
            <a:off x="8596171" y="7827264"/>
            <a:ext cx="3901440" cy="78029"/>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8596171" y="7970317"/>
            <a:ext cx="3901440" cy="856388"/>
          </a:xfrm>
          <a:prstGeom prst="rect">
            <a:avLst/>
          </a:prstGeom>
          <a:noFill/>
        </p:spPr>
        <p:txBody>
          <a:bodyPr wrap="square" lIns="0" tIns="0" rIns="0" bIns="0">
            <a:spAutoFit/>
          </a:bodyPr>
          <a:lstStyle/>
          <a:p>
            <a:r>
              <a:rPr sz="1422" dirty="0">
                <a:solidFill>
                  <a:srgbClr val="C45A35"/>
                </a:solidFill>
                <a:latin typeface="Helvetica Neue"/>
              </a:rPr>
              <a:t>6 · Personalization  </a:t>
            </a:r>
            <a:r>
              <a:rPr sz="1209" dirty="0">
                <a:solidFill>
                  <a:srgbClr val="8C8C8C"/>
                </a:solidFill>
                <a:latin typeface="Helvetica Neue Light"/>
              </a:rPr>
              <a:t>DB5 · Sunday</a:t>
            </a:r>
          </a:p>
          <a:p>
            <a:pPr>
              <a:spcAft>
                <a:spcPts val="284"/>
              </a:spcAft>
            </a:pPr>
            <a:r>
              <a:rPr sz="1493" dirty="0">
                <a:solidFill>
                  <a:srgbClr val="1F1F1F"/>
                </a:solidFill>
                <a:latin typeface="Helvetica Neue"/>
              </a:rPr>
              <a:t>“Build the board around my routine.”</a:t>
            </a:r>
          </a:p>
          <a:p>
            <a:r>
              <a:rPr sz="1100" dirty="0">
                <a:solidFill>
                  <a:srgbClr val="595959"/>
                </a:solidFill>
                <a:latin typeface="Helvetica Neue Light"/>
              </a:rPr>
              <a:t>Habit-based suggestions he accepts or declines; every change reversible.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Evening: </a:t>
            </a:r>
            <a:r>
              <a:rPr lang="en-US" sz="3200" dirty="0">
                <a:solidFill>
                  <a:srgbClr val="1F1F1F"/>
                </a:solidFill>
                <a:latin typeface="Helvetica Neue Light"/>
              </a:rPr>
              <a:t>T</a:t>
            </a:r>
            <a:r>
              <a:rPr sz="3200" dirty="0">
                <a:solidFill>
                  <a:srgbClr val="1F1F1F"/>
                </a:solidFill>
                <a:latin typeface="Helvetica Neue Light"/>
              </a:rPr>
              <a:t>urn his idea into a screen he trusts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Oct 5, 8 PM, after Monday’s close. Free account.</a:t>
            </a:r>
          </a:p>
        </p:txBody>
      </p:sp>
      <p:pic>
        <p:nvPicPr>
          <p:cNvPr id="6" name="Picture 5" descr="01-OW1-show-it.png"/>
          <p:cNvPicPr>
            <a:picLocks noChangeAspect="1"/>
          </p:cNvPicPr>
          <p:nvPr/>
        </p:nvPicPr>
        <p:blipFill>
          <a:blip r:embed="rId4"/>
          <a:stretch>
            <a:fillRect/>
          </a:stretch>
        </p:blipFill>
        <p:spPr>
          <a:xfrm>
            <a:off x="321354" y="2921620"/>
            <a:ext cx="6448980" cy="3699206"/>
          </a:xfrm>
          <a:prstGeom prst="rect">
            <a:avLst/>
          </a:prstGeom>
          <a:ln w="9525">
            <a:solidFill>
              <a:srgbClr val="1F1F1F"/>
            </a:solidFill>
          </a:ln>
        </p:spPr>
      </p:pic>
      <p:pic>
        <p:nvPicPr>
          <p:cNvPr id="7" name="Picture 6" descr="02-OW2-since-last-night.png"/>
          <p:cNvPicPr>
            <a:picLocks noChangeAspect="1"/>
          </p:cNvPicPr>
          <p:nvPr/>
        </p:nvPicPr>
        <p:blipFill>
          <a:blip r:embed="rId5"/>
          <a:stretch>
            <a:fillRect/>
          </a:stretch>
        </p:blipFill>
        <p:spPr>
          <a:xfrm>
            <a:off x="6808332" y="1942360"/>
            <a:ext cx="5761380" cy="2328557"/>
          </a:xfrm>
          <a:prstGeom prst="rect">
            <a:avLst/>
          </a:prstGeom>
          <a:ln w="9525">
            <a:solidFill>
              <a:srgbClr val="1F1F1F"/>
            </a:solidFill>
          </a:ln>
        </p:spPr>
      </p:pic>
      <p:sp>
        <p:nvSpPr>
          <p:cNvPr id="8" name="TextBox 7"/>
          <p:cNvSpPr txBox="1"/>
          <p:nvPr/>
        </p:nvSpPr>
        <p:spPr>
          <a:xfrm>
            <a:off x="321354" y="6698856"/>
            <a:ext cx="5917184" cy="415755"/>
          </a:xfrm>
          <a:prstGeom prst="rect">
            <a:avLst/>
          </a:prstGeom>
          <a:noFill/>
        </p:spPr>
        <p:txBody>
          <a:bodyPr wrap="square" lIns="0" tIns="0" rIns="0" bIns="0">
            <a:spAutoFit/>
          </a:bodyPr>
          <a:lstStyle/>
          <a:p>
            <a:r>
              <a:rPr sz="1351">
                <a:solidFill>
                  <a:srgbClr val="5B3F96"/>
                </a:solidFill>
                <a:latin typeface="Helvetica Neue"/>
              </a:rPr>
              <a:t>STEP 1 · OW1  </a:t>
            </a:r>
            <a:r>
              <a:rPr sz="1351">
                <a:solidFill>
                  <a:srgbClr val="595959"/>
                </a:solidFill>
                <a:latin typeface="Helvetica Neue Light"/>
              </a:rPr>
              <a:t>Pastes 3 tickers; AI writes what they share as editable filter chips</a:t>
            </a:r>
          </a:p>
        </p:txBody>
      </p:sp>
      <p:sp>
        <p:nvSpPr>
          <p:cNvPr id="9" name="TextBox 8"/>
          <p:cNvSpPr txBox="1"/>
          <p:nvPr/>
        </p:nvSpPr>
        <p:spPr>
          <a:xfrm>
            <a:off x="7225989" y="4417968"/>
            <a:ext cx="4516245" cy="415755"/>
          </a:xfrm>
          <a:prstGeom prst="rect">
            <a:avLst/>
          </a:prstGeom>
          <a:noFill/>
        </p:spPr>
        <p:txBody>
          <a:bodyPr wrap="square" lIns="0" tIns="0" rIns="0" bIns="0">
            <a:spAutoFit/>
          </a:bodyPr>
          <a:lstStyle/>
          <a:p>
            <a:r>
              <a:rPr sz="1351" dirty="0">
                <a:solidFill>
                  <a:srgbClr val="5B3F96"/>
                </a:solidFill>
                <a:latin typeface="Helvetica Neue"/>
              </a:rPr>
              <a:t>STEP 2 · OW2  </a:t>
            </a:r>
            <a:r>
              <a:rPr sz="1351" dirty="0">
                <a:solidFill>
                  <a:srgbClr val="595959"/>
                </a:solidFill>
                <a:latin typeface="Helvetica Neue Light"/>
              </a:rPr>
              <a:t>New, dropped and near-miss rows first, each with which of his criteria it meets</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AI BEHAVIOR  </a:t>
            </a:r>
            <a:r>
              <a:rPr sz="1422">
                <a:solidFill>
                  <a:srgbClr val="1F1F1F"/>
                </a:solidFill>
                <a:latin typeface="Helvetica Neue Light"/>
              </a:rPr>
              <a:t>Programming by example, constrained to FinViz’s real filters. Decision point: he keeps or drops each chip (Tab / Esc).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Evening: </a:t>
            </a:r>
            <a:r>
              <a:rPr lang="en-US" sz="3200" dirty="0">
                <a:solidFill>
                  <a:srgbClr val="1F1F1F"/>
                </a:solidFill>
                <a:latin typeface="Helvetica Neue Light"/>
              </a:rPr>
              <a:t>R</a:t>
            </a:r>
            <a:r>
              <a:rPr sz="3200" dirty="0">
                <a:solidFill>
                  <a:srgbClr val="1F1F1F"/>
                </a:solidFill>
                <a:latin typeface="Helvetica Neue Light"/>
              </a:rPr>
              <a:t>emember why, then watch it for me</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8:32–8:52 PM. The one earned Elite moment.</a:t>
            </a:r>
          </a:p>
        </p:txBody>
      </p:sp>
      <p:pic>
        <p:nvPicPr>
          <p:cNvPr id="6" name="Picture 5" descr="05-OW3-reasons-ledger.png"/>
          <p:cNvPicPr>
            <a:picLocks noChangeAspect="1"/>
          </p:cNvPicPr>
          <p:nvPr/>
        </p:nvPicPr>
        <p:blipFill>
          <a:blip r:embed="rId4"/>
          <a:stretch>
            <a:fillRect/>
          </a:stretch>
        </p:blipFill>
        <p:spPr>
          <a:xfrm>
            <a:off x="455167" y="2117357"/>
            <a:ext cx="6726217" cy="4133820"/>
          </a:xfrm>
          <a:prstGeom prst="rect">
            <a:avLst/>
          </a:prstGeom>
          <a:ln w="9525">
            <a:solidFill>
              <a:srgbClr val="1F1F1F"/>
            </a:solidFill>
          </a:ln>
        </p:spPr>
      </p:pic>
      <p:pic>
        <p:nvPicPr>
          <p:cNvPr id="7" name="Picture 6" descr="06-OW4-watch-these-for-me.png"/>
          <p:cNvPicPr>
            <a:picLocks noChangeAspect="1"/>
          </p:cNvPicPr>
          <p:nvPr/>
        </p:nvPicPr>
        <p:blipFill>
          <a:blip r:embed="rId5"/>
          <a:stretch>
            <a:fillRect/>
          </a:stretch>
        </p:blipFill>
        <p:spPr>
          <a:xfrm>
            <a:off x="7222044" y="2725806"/>
            <a:ext cx="5532255" cy="3227149"/>
          </a:xfrm>
          <a:prstGeom prst="rect">
            <a:avLst/>
          </a:prstGeom>
          <a:ln w="9525">
            <a:solidFill>
              <a:srgbClr val="1F1F1F"/>
            </a:solidFill>
          </a:ln>
        </p:spPr>
      </p:pic>
      <p:sp>
        <p:nvSpPr>
          <p:cNvPr id="8" name="TextBox 7"/>
          <p:cNvSpPr txBox="1"/>
          <p:nvPr/>
        </p:nvSpPr>
        <p:spPr>
          <a:xfrm>
            <a:off x="455168" y="6329207"/>
            <a:ext cx="5917184" cy="415755"/>
          </a:xfrm>
          <a:prstGeom prst="rect">
            <a:avLst/>
          </a:prstGeom>
          <a:noFill/>
        </p:spPr>
        <p:txBody>
          <a:bodyPr wrap="square" lIns="0" tIns="0" rIns="0" bIns="0">
            <a:spAutoFit/>
          </a:bodyPr>
          <a:lstStyle/>
          <a:p>
            <a:r>
              <a:rPr sz="1351">
                <a:solidFill>
                  <a:srgbClr val="5B3F96"/>
                </a:solidFill>
                <a:latin typeface="Helvetica Neue"/>
              </a:rPr>
              <a:t>STEP 5 · OW3  </a:t>
            </a:r>
            <a:r>
              <a:rPr sz="1351">
                <a:solidFill>
                  <a:srgbClr val="595959"/>
                </a:solidFill>
                <a:latin typeface="Helvetica Neue Light"/>
              </a:rPr>
              <a:t>Pinned names keep their reasons as checkable conditions; exit lines dragged on the chart</a:t>
            </a:r>
          </a:p>
        </p:txBody>
      </p:sp>
      <p:sp>
        <p:nvSpPr>
          <p:cNvPr id="9" name="TextBox 8"/>
          <p:cNvSpPr txBox="1"/>
          <p:nvPr/>
        </p:nvSpPr>
        <p:spPr>
          <a:xfrm>
            <a:off x="7426712" y="6144294"/>
            <a:ext cx="5122920" cy="415755"/>
          </a:xfrm>
          <a:prstGeom prst="rect">
            <a:avLst/>
          </a:prstGeom>
          <a:noFill/>
        </p:spPr>
        <p:txBody>
          <a:bodyPr wrap="square" lIns="0" tIns="0" rIns="0" bIns="0">
            <a:spAutoFit/>
          </a:bodyPr>
          <a:lstStyle/>
          <a:p>
            <a:r>
              <a:rPr sz="1351" dirty="0">
                <a:solidFill>
                  <a:srgbClr val="5B3F96"/>
                </a:solidFill>
                <a:latin typeface="Helvetica Neue"/>
              </a:rPr>
              <a:t>STEP 6 · OW4  </a:t>
            </a:r>
            <a:r>
              <a:rPr sz="1351" dirty="0">
                <a:solidFill>
                  <a:srgbClr val="595959"/>
                </a:solidFill>
                <a:latin typeface="Helvetica Neue Light"/>
              </a:rPr>
              <a:t>Replay: “would have fired 4 times in the last 30 days”; noise dial; 7-day trial starts here</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DECISION POINT  </a:t>
            </a:r>
            <a:r>
              <a:rPr sz="1422">
                <a:solidFill>
                  <a:srgbClr val="1F1F1F"/>
                </a:solidFill>
                <a:latin typeface="Helvetica Neue Light"/>
              </a:rPr>
              <a:t>He commits only after seeing what watching would have done. History, never a forecast.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8 · CL4 · Why </a:t>
            </a:r>
            <a:r>
              <a:rPr sz="3200" dirty="0" err="1">
                <a:solidFill>
                  <a:srgbClr val="1F1F1F"/>
                </a:solidFill>
                <a:latin typeface="Helvetica Neue Light"/>
              </a:rPr>
              <a:t>FinViz</a:t>
            </a:r>
            <a:r>
              <a:rPr sz="3200" dirty="0">
                <a:solidFill>
                  <a:srgbClr val="1F1F1F"/>
                </a:solidFill>
                <a:latin typeface="Helvetica Neue Light"/>
              </a:rPr>
              <a:t> marked this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7:40 AM. Opened from “Why marked?” in the morning glance.</a:t>
            </a:r>
          </a:p>
        </p:txBody>
      </p:sp>
      <p:pic>
        <p:nvPicPr>
          <p:cNvPr id="6" name="Picture 5" descr="image.png"/>
          <p:cNvPicPr>
            <a:picLocks noChangeAspect="1"/>
          </p:cNvPicPr>
          <p:nvPr/>
        </p:nvPicPr>
        <p:blipFill>
          <a:blip r:embed="rId4"/>
          <a:stretch>
            <a:fillRect/>
          </a:stretch>
        </p:blipFill>
        <p:spPr>
          <a:xfrm>
            <a:off x="1783558" y="2080768"/>
            <a:ext cx="9437685" cy="5787136"/>
          </a:xfrm>
          <a:prstGeom prst="rect">
            <a:avLst/>
          </a:prstGeom>
          <a:ln w="9525">
            <a:solidFill>
              <a:srgbClr val="1F1F1F"/>
            </a:solidFill>
          </a:ln>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AI BEHAVIOR</a:t>
            </a:r>
          </a:p>
        </p:txBody>
      </p:sp>
      <p:sp>
        <p:nvSpPr>
          <p:cNvPr id="9" name="TextBox 8"/>
          <p:cNvSpPr txBox="1"/>
          <p:nvPr/>
        </p:nvSpPr>
        <p:spPr>
          <a:xfrm>
            <a:off x="650240" y="8414105"/>
            <a:ext cx="3771392" cy="459485"/>
          </a:xfrm>
          <a:prstGeom prst="rect">
            <a:avLst/>
          </a:prstGeom>
          <a:noFill/>
        </p:spPr>
        <p:txBody>
          <a:bodyPr wrap="square" lIns="0" tIns="0" rIns="0" bIns="0">
            <a:spAutoFit/>
          </a:bodyPr>
          <a:lstStyle/>
          <a:p>
            <a:r>
              <a:rPr sz="1493">
                <a:solidFill>
                  <a:srgbClr val="1F1F1F"/>
                </a:solidFill>
                <a:latin typeface="Helvetica Neue Light"/>
              </a:rPr>
              <a:t>Measurements, not a confidence score: wick 2.6× body, at support, volume 2.4× its norm</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Clear, borderline or not enough data; only clear findings reach his inbox</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History with its sample size (38 matches in 3 years) and a visible track record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30887"/>
          </a:xfrm>
          <a:prstGeom prst="rect">
            <a:avLst/>
          </a:prstGeom>
          <a:noFill/>
        </p:spPr>
        <p:txBody>
          <a:bodyPr wrap="square" lIns="0" tIns="0" rIns="0" bIns="0">
            <a:spAutoFit/>
          </a:bodyPr>
          <a:lstStyle/>
          <a:p>
            <a:r>
              <a:rPr sz="2800" dirty="0">
                <a:solidFill>
                  <a:srgbClr val="1F1F1F"/>
                </a:solidFill>
                <a:latin typeface="Helvetica Neue Light"/>
              </a:rPr>
              <a:t>Close-up · Step 9 · DB1 · Insight Board, pre-market</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7:45 AM. FinViz Home, upgraded.</a:t>
            </a:r>
          </a:p>
        </p:txBody>
      </p:sp>
      <p:pic>
        <p:nvPicPr>
          <p:cNvPr id="6" name="Picture 5" descr="image.png"/>
          <p:cNvPicPr>
            <a:picLocks noChangeAspect="1"/>
          </p:cNvPicPr>
          <p:nvPr/>
        </p:nvPicPr>
        <p:blipFill>
          <a:blip r:embed="rId4"/>
          <a:stretch>
            <a:fillRect/>
          </a:stretch>
        </p:blipFill>
        <p:spPr>
          <a:xfrm>
            <a:off x="455169" y="2080768"/>
            <a:ext cx="7572863" cy="6957568"/>
          </a:xfrm>
          <a:prstGeom prst="rect">
            <a:avLst/>
          </a:prstGeom>
          <a:ln w="9525">
            <a:solidFill>
              <a:srgbClr val="1F1F1F"/>
            </a:solidFill>
          </a:ln>
        </p:spPr>
      </p:pic>
      <p:sp>
        <p:nvSpPr>
          <p:cNvPr id="7" name="Rectangle 6"/>
          <p:cNvSpPr/>
          <p:nvPr/>
        </p:nvSpPr>
        <p:spPr>
          <a:xfrm>
            <a:off x="8418175" y="2080768"/>
            <a:ext cx="4131456" cy="695756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613247" y="2275840"/>
            <a:ext cx="3741312" cy="2064411"/>
          </a:xfrm>
          <a:prstGeom prst="rect">
            <a:avLst/>
          </a:prstGeom>
          <a:noFill/>
        </p:spPr>
        <p:txBody>
          <a:bodyPr wrap="square" lIns="0" tIns="0" rIns="0" bIns="0">
            <a:spAutoFit/>
          </a:bodyPr>
          <a:lstStyle/>
          <a:p>
            <a:pPr>
              <a:spcAft>
                <a:spcPts val="1138"/>
              </a:spcAft>
            </a:pPr>
            <a:r>
              <a:rPr sz="1280">
                <a:solidFill>
                  <a:srgbClr val="5B3F96"/>
                </a:solidFill>
                <a:latin typeface="Helvetica Neue"/>
              </a:rPr>
              <a:t>AI BEHAVIOR</a:t>
            </a:r>
          </a:p>
          <a:p>
            <a:pPr>
              <a:spcAft>
                <a:spcPts val="1138"/>
              </a:spcAft>
            </a:pPr>
            <a:r>
              <a:rPr sz="1564">
                <a:solidFill>
                  <a:srgbClr val="1F1F1F"/>
                </a:solidFill>
                <a:latin typeface="Helvetica Neue Light"/>
              </a:rPr>
              <a:t>• Three findings that need him today, each sourced and labelled Clear</a:t>
            </a:r>
          </a:p>
          <a:p>
            <a:pPr>
              <a:spcAft>
                <a:spcPts val="1138"/>
              </a:spcAft>
            </a:pPr>
            <a:r>
              <a:rPr sz="1564">
                <a:solidFill>
                  <a:srgbClr val="1F1F1F"/>
                </a:solidFill>
                <a:latin typeface="Helvetica Neue Light"/>
              </a:rPr>
              <a:t>• The familiar parts stay: index row, breadth bars, S&amp;P 500 map, now with AI notes</a:t>
            </a:r>
          </a:p>
          <a:p>
            <a:pPr>
              <a:spcAft>
                <a:spcPts val="1138"/>
              </a:spcAft>
            </a:pPr>
            <a:r>
              <a:rPr sz="1564">
                <a:solidFill>
                  <a:srgbClr val="1F1F1F"/>
                </a:solidFill>
                <a:latin typeface="Helvetica Neue Light"/>
              </a:rPr>
              <a:t>• Pre-market prices on his own names are the Elite moment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12 · AN7 · “This was wrong” → proposed fix</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10:31 AM. The alert opened on the RMBS quote page.</a:t>
            </a:r>
          </a:p>
        </p:txBody>
      </p:sp>
      <p:pic>
        <p:nvPicPr>
          <p:cNvPr id="6" name="Picture 5" descr="image.png"/>
          <p:cNvPicPr>
            <a:picLocks noChangeAspect="1"/>
          </p:cNvPicPr>
          <p:nvPr/>
        </p:nvPicPr>
        <p:blipFill>
          <a:blip r:embed="rId4"/>
          <a:stretch>
            <a:fillRect/>
          </a:stretch>
        </p:blipFill>
        <p:spPr>
          <a:xfrm>
            <a:off x="1541999" y="2080768"/>
            <a:ext cx="9920802" cy="5787136"/>
          </a:xfrm>
          <a:prstGeom prst="rect">
            <a:avLst/>
          </a:prstGeom>
          <a:ln w="9525">
            <a:solidFill>
              <a:srgbClr val="1F1F1F"/>
            </a:solidFill>
          </a:ln>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His reason (“too early”) becomes a specific change to his own rule</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Before/after replay: 4 → 2 alerts in 30 days, both acted-on alerts kept</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Nothing changes until he applies it; every change is logged with Undo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14 · OW7 · Reasons Still Hold?</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4:30 PM. DOCN closes below its SMA50: a reason breaks.</a:t>
            </a:r>
          </a:p>
        </p:txBody>
      </p:sp>
      <p:pic>
        <p:nvPicPr>
          <p:cNvPr id="6" name="Picture 5" descr="image.png"/>
          <p:cNvPicPr>
            <a:picLocks noChangeAspect="1"/>
          </p:cNvPicPr>
          <p:nvPr/>
        </p:nvPicPr>
        <p:blipFill>
          <a:blip r:embed="rId4"/>
          <a:stretch>
            <a:fillRect/>
          </a:stretch>
        </p:blipFill>
        <p:spPr>
          <a:xfrm>
            <a:off x="1820673" y="2080768"/>
            <a:ext cx="9363455" cy="5787136"/>
          </a:xfrm>
          <a:prstGeom prst="rect">
            <a:avLst/>
          </a:prstGeom>
          <a:ln w="9525">
            <a:solidFill>
              <a:srgbClr val="1F1F1F"/>
            </a:solidFill>
          </a:ln>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A checklist that ticks itself against today’s close</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What changed and when, on the chart; his exit line ($34.00) not met</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Hold or exit is his call, in his own broker; FinViz never places orders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06 · Reasoning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3413" dirty="0">
                <a:solidFill>
                  <a:srgbClr val="1F1F1F"/>
                </a:solidFill>
                <a:latin typeface="Helvetica Neue Light" pitchFamily="34" charset="0"/>
                <a:ea typeface="Helvetica Neue Light" pitchFamily="34" charset="-122"/>
                <a:cs typeface="Helvetica Neue Light" pitchFamily="34" charset="-120"/>
              </a:rPr>
              <a:t>Eight design lead calls that changed the work</a:t>
            </a:r>
            <a:endParaRPr lang="en-US" sz="3413" dirty="0"/>
          </a:p>
        </p:txBody>
      </p:sp>
      <p:sp>
        <p:nvSpPr>
          <p:cNvPr id="4" name="Shape 2"/>
          <p:cNvSpPr/>
          <p:nvPr/>
        </p:nvSpPr>
        <p:spPr>
          <a:xfrm>
            <a:off x="650240" y="3108147"/>
            <a:ext cx="11704320" cy="0"/>
          </a:xfrm>
          <a:prstGeom prst="line">
            <a:avLst/>
          </a:prstGeom>
          <a:noFill/>
          <a:ln w="19050">
            <a:solidFill>
              <a:srgbClr val="C45A35"/>
            </a:solidFill>
            <a:prstDash val="solid"/>
          </a:ln>
        </p:spPr>
        <p:txBody>
          <a:bodyPr/>
          <a:lstStyle/>
          <a:p>
            <a:endParaRPr sz="2560"/>
          </a:p>
        </p:txBody>
      </p:sp>
      <p:sp>
        <p:nvSpPr>
          <p:cNvPr id="5" name="Shape 3"/>
          <p:cNvSpPr/>
          <p:nvPr/>
        </p:nvSpPr>
        <p:spPr>
          <a:xfrm>
            <a:off x="520192"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6" name="Text 4"/>
          <p:cNvSpPr txBox="1"/>
          <p:nvPr/>
        </p:nvSpPr>
        <p:spPr>
          <a:xfrm>
            <a:off x="455168"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7" name="Text 5"/>
          <p:cNvSpPr txBox="1"/>
          <p:nvPr/>
        </p:nvSpPr>
        <p:spPr>
          <a:xfrm>
            <a:off x="455168"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1</a:t>
            </a:r>
            <a:endParaRPr lang="en-US" sz="3698" dirty="0"/>
          </a:p>
        </p:txBody>
      </p:sp>
      <p:sp>
        <p:nvSpPr>
          <p:cNvPr id="8" name="Text 6"/>
          <p:cNvSpPr txBox="1"/>
          <p:nvPr/>
        </p:nvSpPr>
        <p:spPr>
          <a:xfrm>
            <a:off x="455168"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Map today’s onboarding before designing</a:t>
            </a:r>
            <a:endParaRPr lang="en-US" sz="1564" dirty="0"/>
          </a:p>
        </p:txBody>
      </p:sp>
      <p:sp>
        <p:nvSpPr>
          <p:cNvPr id="9" name="Shape 7"/>
          <p:cNvSpPr/>
          <p:nvPr/>
        </p:nvSpPr>
        <p:spPr>
          <a:xfrm>
            <a:off x="2041754"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0" name="Text 8"/>
          <p:cNvSpPr txBox="1"/>
          <p:nvPr/>
        </p:nvSpPr>
        <p:spPr>
          <a:xfrm>
            <a:off x="1976730"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11" name="Text 9"/>
          <p:cNvSpPr txBox="1"/>
          <p:nvPr/>
        </p:nvSpPr>
        <p:spPr>
          <a:xfrm>
            <a:off x="1976730"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2</a:t>
            </a:r>
            <a:endParaRPr lang="en-US" sz="3698" dirty="0"/>
          </a:p>
        </p:txBody>
      </p:sp>
      <p:sp>
        <p:nvSpPr>
          <p:cNvPr id="12" name="Text 10"/>
          <p:cNvSpPr txBox="1"/>
          <p:nvPr/>
        </p:nvSpPr>
        <p:spPr>
          <a:xfrm>
            <a:off x="1976730"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Desktop only, for now</a:t>
            </a:r>
            <a:endParaRPr lang="en-US" sz="1564" dirty="0"/>
          </a:p>
        </p:txBody>
      </p:sp>
      <p:sp>
        <p:nvSpPr>
          <p:cNvPr id="13" name="Shape 11"/>
          <p:cNvSpPr/>
          <p:nvPr/>
        </p:nvSpPr>
        <p:spPr>
          <a:xfrm>
            <a:off x="3563315"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4" name="Text 12"/>
          <p:cNvSpPr txBox="1"/>
          <p:nvPr/>
        </p:nvSpPr>
        <p:spPr>
          <a:xfrm>
            <a:off x="3498291"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15" name="Text 13"/>
          <p:cNvSpPr txBox="1"/>
          <p:nvPr/>
        </p:nvSpPr>
        <p:spPr>
          <a:xfrm>
            <a:off x="3498291"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3</a:t>
            </a:r>
            <a:endParaRPr lang="en-US" sz="3698" dirty="0"/>
          </a:p>
        </p:txBody>
      </p:sp>
      <p:sp>
        <p:nvSpPr>
          <p:cNvPr id="16" name="Text 14"/>
          <p:cNvSpPr txBox="1"/>
          <p:nvPr/>
        </p:nvSpPr>
        <p:spPr>
          <a:xfrm>
            <a:off x="3498291"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One design for first-time and repeat users</a:t>
            </a:r>
            <a:endParaRPr lang="en-US" sz="1564" dirty="0"/>
          </a:p>
        </p:txBody>
      </p:sp>
      <p:sp>
        <p:nvSpPr>
          <p:cNvPr id="17" name="Shape 15"/>
          <p:cNvSpPr/>
          <p:nvPr/>
        </p:nvSpPr>
        <p:spPr>
          <a:xfrm>
            <a:off x="5084877"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8" name="Text 16"/>
          <p:cNvSpPr txBox="1"/>
          <p:nvPr/>
        </p:nvSpPr>
        <p:spPr>
          <a:xfrm>
            <a:off x="5019853"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24</a:t>
            </a:r>
            <a:endParaRPr lang="en-US" sz="1564" dirty="0"/>
          </a:p>
        </p:txBody>
      </p:sp>
      <p:sp>
        <p:nvSpPr>
          <p:cNvPr id="19" name="Text 17"/>
          <p:cNvSpPr txBox="1"/>
          <p:nvPr/>
        </p:nvSpPr>
        <p:spPr>
          <a:xfrm>
            <a:off x="5019853"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4</a:t>
            </a:r>
            <a:endParaRPr lang="en-US" sz="3698" dirty="0"/>
          </a:p>
        </p:txBody>
      </p:sp>
      <p:sp>
        <p:nvSpPr>
          <p:cNvPr id="20" name="Text 18"/>
          <p:cNvSpPr txBox="1"/>
          <p:nvPr/>
        </p:nvSpPr>
        <p:spPr>
          <a:xfrm>
            <a:off x="5019853"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Remove real frictions with new AI models</a:t>
            </a:r>
            <a:endParaRPr lang="en-US" sz="1564" dirty="0"/>
          </a:p>
        </p:txBody>
      </p:sp>
      <p:sp>
        <p:nvSpPr>
          <p:cNvPr id="21" name="Shape 19"/>
          <p:cNvSpPr/>
          <p:nvPr/>
        </p:nvSpPr>
        <p:spPr>
          <a:xfrm>
            <a:off x="6606438" y="2939085"/>
            <a:ext cx="338125" cy="338125"/>
          </a:xfrm>
          <a:prstGeom prst="ellipse">
            <a:avLst/>
          </a:prstGeom>
          <a:solidFill>
            <a:srgbClr val="00868B"/>
          </a:solidFill>
          <a:ln w="19050">
            <a:solidFill>
              <a:srgbClr val="FFFFFF"/>
            </a:solidFill>
            <a:prstDash val="solid"/>
          </a:ln>
        </p:spPr>
        <p:txBody>
          <a:bodyPr/>
          <a:lstStyle/>
          <a:p>
            <a:endParaRPr sz="2560"/>
          </a:p>
        </p:txBody>
      </p:sp>
      <p:sp>
        <p:nvSpPr>
          <p:cNvPr id="22" name="Text 20"/>
          <p:cNvSpPr txBox="1"/>
          <p:nvPr/>
        </p:nvSpPr>
        <p:spPr>
          <a:xfrm>
            <a:off x="6541414"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23" name="Text 21"/>
          <p:cNvSpPr txBox="1"/>
          <p:nvPr/>
        </p:nvSpPr>
        <p:spPr>
          <a:xfrm>
            <a:off x="6541414" y="3628339"/>
            <a:ext cx="1300480" cy="650240"/>
          </a:xfrm>
          <a:prstGeom prst="rect">
            <a:avLst/>
          </a:prstGeom>
          <a:noFill/>
          <a:ln/>
        </p:spPr>
        <p:txBody>
          <a:bodyPr wrap="square" lIns="0" tIns="0" rIns="0" bIns="0" rtlCol="0" anchor="t"/>
          <a:lstStyle/>
          <a:p>
            <a:r>
              <a:rPr lang="en-US" sz="3698" dirty="0">
                <a:solidFill>
                  <a:srgbClr val="00868B"/>
                </a:solidFill>
                <a:latin typeface="Helvetica Neue Light" pitchFamily="34" charset="0"/>
                <a:ea typeface="Helvetica Neue Light" pitchFamily="34" charset="-122"/>
                <a:cs typeface="Helvetica Neue Light" pitchFamily="34" charset="-120"/>
              </a:rPr>
              <a:t>5</a:t>
            </a:r>
            <a:endParaRPr lang="en-US" sz="3698" dirty="0"/>
          </a:p>
        </p:txBody>
      </p:sp>
      <p:sp>
        <p:nvSpPr>
          <p:cNvPr id="24" name="Text 22"/>
          <p:cNvSpPr txBox="1"/>
          <p:nvPr/>
        </p:nvSpPr>
        <p:spPr>
          <a:xfrm>
            <a:off x="6541414"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Optimize time to first success; no chat box first</a:t>
            </a:r>
            <a:endParaRPr lang="en-US" sz="1564" dirty="0"/>
          </a:p>
        </p:txBody>
      </p:sp>
      <p:sp>
        <p:nvSpPr>
          <p:cNvPr id="25" name="Shape 23"/>
          <p:cNvSpPr/>
          <p:nvPr/>
        </p:nvSpPr>
        <p:spPr>
          <a:xfrm>
            <a:off x="8128000"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26" name="Text 24"/>
          <p:cNvSpPr txBox="1"/>
          <p:nvPr/>
        </p:nvSpPr>
        <p:spPr>
          <a:xfrm>
            <a:off x="8062976"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27" name="Text 25"/>
          <p:cNvSpPr txBox="1"/>
          <p:nvPr/>
        </p:nvSpPr>
        <p:spPr>
          <a:xfrm>
            <a:off x="8062976"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6</a:t>
            </a:r>
            <a:endParaRPr lang="en-US" sz="3698" dirty="0"/>
          </a:p>
        </p:txBody>
      </p:sp>
      <p:sp>
        <p:nvSpPr>
          <p:cNvPr id="28" name="Text 26"/>
          <p:cNvSpPr txBox="1"/>
          <p:nvPr/>
        </p:nvSpPr>
        <p:spPr>
          <a:xfrm>
            <a:off x="8062976"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Set the advice line, pending compliance</a:t>
            </a:r>
            <a:endParaRPr lang="en-US" sz="1564" dirty="0"/>
          </a:p>
        </p:txBody>
      </p:sp>
      <p:sp>
        <p:nvSpPr>
          <p:cNvPr id="29" name="Shape 27"/>
          <p:cNvSpPr/>
          <p:nvPr/>
        </p:nvSpPr>
        <p:spPr>
          <a:xfrm>
            <a:off x="9649562"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30" name="Text 28"/>
          <p:cNvSpPr txBox="1"/>
          <p:nvPr/>
        </p:nvSpPr>
        <p:spPr>
          <a:xfrm>
            <a:off x="9584538"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31" name="Text 29"/>
          <p:cNvSpPr txBox="1"/>
          <p:nvPr/>
        </p:nvSpPr>
        <p:spPr>
          <a:xfrm>
            <a:off x="9584538"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7</a:t>
            </a:r>
            <a:endParaRPr lang="en-US" sz="3698" dirty="0"/>
          </a:p>
        </p:txBody>
      </p:sp>
      <p:sp>
        <p:nvSpPr>
          <p:cNvPr id="32" name="Text 30"/>
          <p:cNvSpPr txBox="1"/>
          <p:nvPr/>
        </p:nvSpPr>
        <p:spPr>
          <a:xfrm>
            <a:off x="9584538"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Lead with the swing trader’s trading day</a:t>
            </a:r>
            <a:endParaRPr lang="en-US" sz="1564" dirty="0"/>
          </a:p>
        </p:txBody>
      </p:sp>
      <p:sp>
        <p:nvSpPr>
          <p:cNvPr id="33" name="Shape 31"/>
          <p:cNvSpPr/>
          <p:nvPr/>
        </p:nvSpPr>
        <p:spPr>
          <a:xfrm>
            <a:off x="11171123"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34" name="Text 32"/>
          <p:cNvSpPr txBox="1"/>
          <p:nvPr/>
        </p:nvSpPr>
        <p:spPr>
          <a:xfrm>
            <a:off x="11106099"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Oct 1</a:t>
            </a:r>
            <a:endParaRPr lang="en-US" sz="1564" dirty="0"/>
          </a:p>
        </p:txBody>
      </p:sp>
      <p:sp>
        <p:nvSpPr>
          <p:cNvPr id="35" name="Text 33"/>
          <p:cNvSpPr txBox="1"/>
          <p:nvPr/>
        </p:nvSpPr>
        <p:spPr>
          <a:xfrm>
            <a:off x="11106099"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8</a:t>
            </a:r>
            <a:endParaRPr lang="en-US" sz="3698" dirty="0"/>
          </a:p>
        </p:txBody>
      </p:sp>
      <p:sp>
        <p:nvSpPr>
          <p:cNvPr id="36" name="Text 34"/>
          <p:cNvSpPr txBox="1"/>
          <p:nvPr/>
        </p:nvSpPr>
        <p:spPr>
          <a:xfrm>
            <a:off x="11106099"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Bring teammates’ screens in line with the rules</a:t>
            </a:r>
            <a:endParaRPr lang="en-US" sz="1564" dirty="0"/>
          </a:p>
        </p:txBody>
      </p:sp>
      <p:sp>
        <p:nvSpPr>
          <p:cNvPr id="37" name="Text 35"/>
          <p:cNvSpPr txBox="1"/>
          <p:nvPr/>
        </p:nvSpPr>
        <p:spPr>
          <a:xfrm>
            <a:off x="469458" y="7672832"/>
            <a:ext cx="3446272" cy="650240"/>
          </a:xfrm>
          <a:prstGeom prst="rect">
            <a:avLst/>
          </a:prstGeom>
          <a:noFill/>
          <a:ln/>
        </p:spPr>
        <p:txBody>
          <a:bodyPr wrap="square" lIns="0" tIns="0" rIns="0" bIns="0" rtlCol="0" anchor="t"/>
          <a:lstStyle/>
          <a:p>
            <a:r>
              <a:rPr lang="en-US" sz="1422" dirty="0">
                <a:solidFill>
                  <a:srgbClr val="6E6E6E"/>
                </a:solidFill>
                <a:latin typeface="Helvetica Neue" pitchFamily="34" charset="0"/>
                <a:ea typeface="Helvetica Neue" pitchFamily="34" charset="-122"/>
                <a:cs typeface="Helvetica Neue" pitchFamily="34" charset="-120"/>
              </a:rPr>
              <a:t>Teal marks the team design review </a:t>
            </a:r>
            <a:endParaRPr lang="en-US" sz="1422" dirty="0"/>
          </a:p>
        </p:txBody>
      </p:sp>
      <p:pic>
        <p:nvPicPr>
          <p:cNvPr id="38"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75360" y="910336"/>
            <a:ext cx="5771128"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AI UX Principles</a:t>
            </a:r>
            <a:endParaRPr lang="en-US" sz="6000" dirty="0"/>
          </a:p>
        </p:txBody>
      </p:sp>
      <p:sp>
        <p:nvSpPr>
          <p:cNvPr id="3" name="Text 1"/>
          <p:cNvSpPr txBox="1"/>
          <p:nvPr/>
        </p:nvSpPr>
        <p:spPr>
          <a:xfrm>
            <a:off x="975360" y="2600960"/>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Onboarding is not a phase: </a:t>
            </a:r>
            <a:r>
              <a:rPr lang="en-US" sz="1707" dirty="0">
                <a:solidFill>
                  <a:srgbClr val="FFE9DF"/>
                </a:solidFill>
                <a:latin typeface="Helvetica Neue Light" pitchFamily="34" charset="0"/>
                <a:ea typeface="Helvetica Neue Light" pitchFamily="34" charset="-122"/>
                <a:cs typeface="Helvetica Neue Light" pitchFamily="34" charset="-120"/>
              </a:rPr>
              <a:t>learnability is a property of every screen; no wizard, no tour.</a:t>
            </a:r>
            <a:endParaRPr lang="en-US" sz="1707" dirty="0"/>
          </a:p>
        </p:txBody>
      </p:sp>
      <p:sp>
        <p:nvSpPr>
          <p:cNvPr id="4" name="Text 2"/>
          <p:cNvSpPr txBox="1"/>
          <p:nvPr/>
        </p:nvSpPr>
        <p:spPr>
          <a:xfrm>
            <a:off x="975360" y="3836416"/>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Learn by doing: </a:t>
            </a:r>
            <a:r>
              <a:rPr lang="en-US" sz="1707" dirty="0">
                <a:solidFill>
                  <a:srgbClr val="FFE9DF"/>
                </a:solidFill>
                <a:latin typeface="Helvetica Neue Light" pitchFamily="34" charset="0"/>
                <a:ea typeface="Helvetica Neue Light" pitchFamily="34" charset="-122"/>
                <a:cs typeface="Helvetica Neue Light" pitchFamily="34" charset="-120"/>
              </a:rPr>
              <a:t>every explanation is attached to a chip, a row or an alert.</a:t>
            </a:r>
            <a:endParaRPr lang="en-US" sz="1707" dirty="0"/>
          </a:p>
        </p:txBody>
      </p:sp>
      <p:sp>
        <p:nvSpPr>
          <p:cNvPr id="5" name="Text 3"/>
          <p:cNvSpPr txBox="1"/>
          <p:nvPr/>
        </p:nvSpPr>
        <p:spPr>
          <a:xfrm>
            <a:off x="975360" y="5071872"/>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Scaffolds fade: </a:t>
            </a:r>
            <a:r>
              <a:rPr lang="en-US" sz="1707" dirty="0">
                <a:solidFill>
                  <a:srgbClr val="FFE9DF"/>
                </a:solidFill>
                <a:latin typeface="Helvetica Neue Light" pitchFamily="34" charset="0"/>
                <a:ea typeface="Helvetica Neue Light" pitchFamily="34" charset="-122"/>
                <a:cs typeface="Helvetica Neue Light" pitchFamily="34" charset="-120"/>
              </a:rPr>
              <a:t>help per concept fades with fluency and returns after 30 days.</a:t>
            </a:r>
            <a:endParaRPr lang="en-US" sz="1707" dirty="0"/>
          </a:p>
        </p:txBody>
      </p:sp>
      <p:sp>
        <p:nvSpPr>
          <p:cNvPr id="6" name="Text 4"/>
          <p:cNvSpPr txBox="1"/>
          <p:nvPr/>
        </p:nvSpPr>
        <p:spPr>
          <a:xfrm>
            <a:off x="975360" y="6307328"/>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Editable output: </a:t>
            </a:r>
            <a:r>
              <a:rPr lang="en-US" sz="1707" dirty="0">
                <a:solidFill>
                  <a:srgbClr val="FFE9DF"/>
                </a:solidFill>
                <a:latin typeface="Helvetica Neue Light" pitchFamily="34" charset="0"/>
                <a:ea typeface="Helvetica Neue Light" pitchFamily="34" charset="-122"/>
                <a:cs typeface="Helvetica Neue Light" pitchFamily="34" charset="-120"/>
              </a:rPr>
              <a:t>AI writes filters, rules and columns, never chat bubbles.</a:t>
            </a:r>
            <a:endParaRPr lang="en-US" sz="1707" dirty="0"/>
          </a:p>
        </p:txBody>
      </p:sp>
      <p:sp>
        <p:nvSpPr>
          <p:cNvPr id="7" name="Text 5"/>
          <p:cNvSpPr txBox="1"/>
          <p:nvPr/>
        </p:nvSpPr>
        <p:spPr>
          <a:xfrm>
            <a:off x="975360" y="7542784"/>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Remembers your why: </a:t>
            </a:r>
            <a:r>
              <a:rPr lang="en-US" sz="1707" dirty="0">
                <a:solidFill>
                  <a:srgbClr val="FFE9DF"/>
                </a:solidFill>
                <a:latin typeface="Helvetica Neue Light" pitchFamily="34" charset="0"/>
                <a:ea typeface="Helvetica Neue Light" pitchFamily="34" charset="-122"/>
                <a:cs typeface="Helvetica Neue Light" pitchFamily="34" charset="-120"/>
              </a:rPr>
              <a:t>screens and watches keep the reasons they were created.</a:t>
            </a:r>
            <a:endParaRPr lang="en-US" sz="1707" dirty="0"/>
          </a:p>
        </p:txBody>
      </p:sp>
      <p:sp>
        <p:nvSpPr>
          <p:cNvPr id="8" name="Text 6"/>
          <p:cNvSpPr txBox="1"/>
          <p:nvPr/>
        </p:nvSpPr>
        <p:spPr>
          <a:xfrm>
            <a:off x="7074039" y="2600960"/>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Judgment stays with the trader: </a:t>
            </a:r>
            <a:r>
              <a:rPr lang="en-US" sz="1707" dirty="0">
                <a:solidFill>
                  <a:srgbClr val="FFE9DF"/>
                </a:solidFill>
                <a:latin typeface="Helvetica Neue Light" pitchFamily="34" charset="0"/>
                <a:ea typeface="Helvetica Neue Light" pitchFamily="34" charset="-122"/>
                <a:cs typeface="Helvetica Neue Light" pitchFamily="34" charset="-120"/>
              </a:rPr>
              <a:t>AI explains and verifies; it never recommends, predicts or places orders.</a:t>
            </a:r>
            <a:endParaRPr lang="en-US" sz="1707" dirty="0"/>
          </a:p>
        </p:txBody>
      </p:sp>
      <p:sp>
        <p:nvSpPr>
          <p:cNvPr id="9" name="Text 7"/>
          <p:cNvSpPr txBox="1"/>
          <p:nvPr/>
        </p:nvSpPr>
        <p:spPr>
          <a:xfrm>
            <a:off x="7074039" y="3836416"/>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Explain at the moment of doubt: </a:t>
            </a:r>
            <a:r>
              <a:rPr lang="en-US" sz="1707" dirty="0">
                <a:solidFill>
                  <a:srgbClr val="FFE9DF"/>
                </a:solidFill>
                <a:latin typeface="Helvetica Neue Light" pitchFamily="34" charset="0"/>
                <a:ea typeface="Helvetica Neue Light" pitchFamily="34" charset="-122"/>
                <a:cs typeface="Helvetica Neue Light" pitchFamily="34" charset="-120"/>
              </a:rPr>
              <a:t>“why it matched” on every row and every alert.</a:t>
            </a:r>
            <a:endParaRPr lang="en-US" sz="1707" dirty="0"/>
          </a:p>
        </p:txBody>
      </p:sp>
      <p:sp>
        <p:nvSpPr>
          <p:cNvPr id="10" name="Text 8"/>
          <p:cNvSpPr txBox="1"/>
          <p:nvPr/>
        </p:nvSpPr>
        <p:spPr>
          <a:xfrm>
            <a:off x="7074039" y="5071872"/>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Show consequences first: </a:t>
            </a:r>
            <a:r>
              <a:rPr lang="en-US" sz="1707" dirty="0">
                <a:solidFill>
                  <a:srgbClr val="FFE9DF"/>
                </a:solidFill>
                <a:latin typeface="Helvetica Neue Light" pitchFamily="34" charset="0"/>
                <a:ea typeface="Helvetica Neue Light" pitchFamily="34" charset="-122"/>
                <a:cs typeface="Helvetica Neue Light" pitchFamily="34" charset="-120"/>
              </a:rPr>
              <a:t>an alert is previewed against the last 30 days before it is saved.</a:t>
            </a:r>
            <a:endParaRPr lang="en-US" sz="1707" dirty="0"/>
          </a:p>
        </p:txBody>
      </p:sp>
      <p:sp>
        <p:nvSpPr>
          <p:cNvPr id="11" name="Text 9"/>
          <p:cNvSpPr txBox="1"/>
          <p:nvPr/>
        </p:nvSpPr>
        <p:spPr>
          <a:xfrm>
            <a:off x="7074039" y="6307328"/>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Honest history: </a:t>
            </a:r>
            <a:r>
              <a:rPr lang="en-US" sz="1707" dirty="0">
                <a:solidFill>
                  <a:srgbClr val="FFE9DF"/>
                </a:solidFill>
                <a:latin typeface="Helvetica Neue Light" pitchFamily="34" charset="0"/>
                <a:ea typeface="Helvetica Neue Light" pitchFamily="34" charset="-122"/>
                <a:cs typeface="Helvetica Neue Light" pitchFamily="34" charset="-120"/>
              </a:rPr>
              <a:t>base rates with sample sizes, never a confidence % on a trade.</a:t>
            </a:r>
            <a:endParaRPr lang="en-US" sz="1707" dirty="0"/>
          </a:p>
        </p:txBody>
      </p:sp>
      <p:sp>
        <p:nvSpPr>
          <p:cNvPr id="12" name="Text 10"/>
          <p:cNvSpPr txBox="1"/>
          <p:nvPr/>
        </p:nvSpPr>
        <p:spPr>
          <a:xfrm>
            <a:off x="7074039" y="7542784"/>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Grounded in research: </a:t>
            </a:r>
            <a:r>
              <a:rPr lang="en-US" sz="1707" dirty="0">
                <a:solidFill>
                  <a:srgbClr val="FFE9DF"/>
                </a:solidFill>
                <a:latin typeface="Helvetica Neue Light" pitchFamily="34" charset="0"/>
                <a:ea typeface="Helvetica Neue Light" pitchFamily="34" charset="-122"/>
                <a:cs typeface="Helvetica Neue Light" pitchFamily="34" charset="-120"/>
              </a:rPr>
              <a:t>Microsoft HAX guidelines and Google PAIR.</a:t>
            </a:r>
            <a:endParaRPr lang="en-US" sz="1707" dirty="0"/>
          </a:p>
        </p:txBody>
      </p:sp>
      <p:sp>
        <p:nvSpPr>
          <p:cNvPr id="13" name="design lead call"/>
          <p:cNvSpPr/>
          <p:nvPr/>
        </p:nvSpPr>
        <p:spPr>
          <a:xfrm>
            <a:off x="6853530" y="312115"/>
            <a:ext cx="5696102" cy="416154"/>
          </a:xfrm>
          <a:prstGeom prst="rect">
            <a:avLst/>
          </a:prstGeom>
          <a:solidFill>
            <a:srgbClr val="C45A35"/>
          </a:solidFill>
          <a:ln w="12700">
            <a:solidFill>
              <a:srgbClr val="C45A35"/>
            </a:solidFill>
            <a:prstDash val="solid"/>
          </a:ln>
        </p:spPr>
        <p:txBody>
          <a:bodyPr/>
          <a:lstStyle/>
          <a:p>
            <a:endParaRPr sz="2560"/>
          </a:p>
        </p:txBody>
      </p:sp>
      <p:sp>
        <p:nvSpPr>
          <p:cNvPr id="14" name="Text 12"/>
          <p:cNvSpPr txBox="1"/>
          <p:nvPr/>
        </p:nvSpPr>
        <p:spPr>
          <a:xfrm>
            <a:off x="6853530" y="312115"/>
            <a:ext cx="5696102" cy="416154"/>
          </a:xfrm>
          <a:prstGeom prst="rect">
            <a:avLst/>
          </a:prstGeom>
          <a:noFill/>
          <a:ln/>
        </p:spPr>
        <p:txBody>
          <a:bodyPr wrap="square" lIns="0" tIns="0" rIns="0" bIns="0" rtlCol="0" anchor="ctr"/>
          <a:lstStyle/>
          <a:p>
            <a:pPr algn="ctr"/>
            <a:r>
              <a:rPr lang="en-US" sz="1280" b="1" kern="0" spc="142" dirty="0">
                <a:solidFill>
                  <a:srgbClr val="FFFFFF"/>
                </a:solidFill>
                <a:latin typeface="Helvetica Neue" pitchFamily="34" charset="0"/>
                <a:ea typeface="Helvetica Neue" pitchFamily="34" charset="-122"/>
                <a:cs typeface="Helvetica Neue" pitchFamily="34" charset="-120"/>
              </a:rPr>
              <a:t>DESIGN LEAD CALL  </a:t>
            </a:r>
            <a:r>
              <a:rPr lang="en-US" sz="1280" dirty="0">
                <a:solidFill>
                  <a:srgbClr val="FFFFFF"/>
                </a:solidFill>
                <a:latin typeface="Helvetica Neue Light" pitchFamily="34" charset="0"/>
                <a:ea typeface="Helvetica Neue Light" pitchFamily="34" charset="-122"/>
                <a:cs typeface="Helvetica Neue Light" pitchFamily="34" charset="-120"/>
              </a:rPr>
              <a:t>One design for first-time and repeat users</a:t>
            </a:r>
            <a:endParaRPr lang="en-US" sz="1280" dirty="0"/>
          </a:p>
        </p:txBody>
      </p:sp>
      <p:pic>
        <p:nvPicPr>
          <p:cNvPr id="1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07 · Methodology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The AI UX workflow: AI drafts, the design lead decides</a:t>
            </a:r>
            <a:endParaRPr lang="en-US" sz="3200" dirty="0"/>
          </a:p>
        </p:txBody>
      </p:sp>
      <p:sp>
        <p:nvSpPr>
          <p:cNvPr id="4" name="1 · Frame"/>
          <p:cNvSpPr/>
          <p:nvPr/>
        </p:nvSpPr>
        <p:spPr>
          <a:xfrm>
            <a:off x="455168" y="2080768"/>
            <a:ext cx="2275840" cy="4681728"/>
          </a:xfrm>
          <a:prstGeom prst="rect">
            <a:avLst/>
          </a:prstGeom>
          <a:solidFill>
            <a:srgbClr val="A12A37"/>
          </a:solidFill>
          <a:ln w="12700">
            <a:solidFill>
              <a:srgbClr val="A12A37"/>
            </a:solidFill>
            <a:prstDash val="solid"/>
          </a:ln>
        </p:spPr>
        <p:txBody>
          <a:bodyPr/>
          <a:lstStyle/>
          <a:p>
            <a:endParaRPr sz="2560"/>
          </a:p>
        </p:txBody>
      </p:sp>
      <p:sp>
        <p:nvSpPr>
          <p:cNvPr id="5" name="Text 3"/>
          <p:cNvSpPr txBox="1"/>
          <p:nvPr/>
        </p:nvSpPr>
        <p:spPr>
          <a:xfrm>
            <a:off x="715264"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1 · Frame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DESIGN LEAD</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Sets the question, audience, scope and rules: desktop only, no advice, purple means AI</a:t>
            </a:r>
            <a:endParaRPr lang="en-US" sz="1991" dirty="0"/>
          </a:p>
        </p:txBody>
      </p:sp>
      <p:sp>
        <p:nvSpPr>
          <p:cNvPr id="6" name="2 · Draft"/>
          <p:cNvSpPr/>
          <p:nvPr/>
        </p:nvSpPr>
        <p:spPr>
          <a:xfrm>
            <a:off x="2887066" y="2080768"/>
            <a:ext cx="2275840" cy="4681728"/>
          </a:xfrm>
          <a:prstGeom prst="rect">
            <a:avLst/>
          </a:prstGeom>
          <a:solidFill>
            <a:srgbClr val="5B3F96"/>
          </a:solidFill>
          <a:ln w="12700">
            <a:solidFill>
              <a:srgbClr val="5B3F96"/>
            </a:solidFill>
            <a:prstDash val="solid"/>
          </a:ln>
        </p:spPr>
        <p:txBody>
          <a:bodyPr/>
          <a:lstStyle/>
          <a:p>
            <a:endParaRPr sz="2560"/>
          </a:p>
        </p:txBody>
      </p:sp>
      <p:sp>
        <p:nvSpPr>
          <p:cNvPr id="7" name="Text 5"/>
          <p:cNvSpPr txBox="1"/>
          <p:nvPr/>
        </p:nvSpPr>
        <p:spPr>
          <a:xfrm>
            <a:off x="3147162"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2 · Draft</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AI AGENTS</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Research, docs, FigJam boards and Figma screens, drafted against those rules</a:t>
            </a:r>
            <a:endParaRPr lang="en-US" sz="1991" dirty="0"/>
          </a:p>
        </p:txBody>
      </p:sp>
      <p:sp>
        <p:nvSpPr>
          <p:cNvPr id="8" name="3 · Review"/>
          <p:cNvSpPr/>
          <p:nvPr/>
        </p:nvSpPr>
        <p:spPr>
          <a:xfrm>
            <a:off x="5318963" y="2080768"/>
            <a:ext cx="2275840" cy="4681728"/>
          </a:xfrm>
          <a:prstGeom prst="rect">
            <a:avLst/>
          </a:prstGeom>
          <a:solidFill>
            <a:srgbClr val="3A7D55"/>
          </a:solidFill>
          <a:ln w="12700">
            <a:solidFill>
              <a:srgbClr val="3A7D55"/>
            </a:solidFill>
            <a:prstDash val="solid"/>
          </a:ln>
        </p:spPr>
        <p:txBody>
          <a:bodyPr/>
          <a:lstStyle/>
          <a:p>
            <a:endParaRPr sz="2560"/>
          </a:p>
        </p:txBody>
      </p:sp>
      <p:sp>
        <p:nvSpPr>
          <p:cNvPr id="9" name="Text 7"/>
          <p:cNvSpPr txBox="1"/>
          <p:nvPr/>
        </p:nvSpPr>
        <p:spPr>
          <a:xfrm>
            <a:off x="5579059"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3 · Review</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LEAD + TEAM</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Fact checks on the live site; critique with the team; rule breaks caught</a:t>
            </a:r>
            <a:endParaRPr lang="en-US" sz="1991" dirty="0"/>
          </a:p>
        </p:txBody>
      </p:sp>
      <p:sp>
        <p:nvSpPr>
          <p:cNvPr id="10" name="4 · Decide"/>
          <p:cNvSpPr/>
          <p:nvPr/>
        </p:nvSpPr>
        <p:spPr>
          <a:xfrm>
            <a:off x="7750861" y="2080768"/>
            <a:ext cx="2275840" cy="4681728"/>
          </a:xfrm>
          <a:prstGeom prst="rect">
            <a:avLst/>
          </a:prstGeom>
          <a:solidFill>
            <a:srgbClr val="A12A37"/>
          </a:solidFill>
          <a:ln w="12700">
            <a:solidFill>
              <a:srgbClr val="A12A37"/>
            </a:solidFill>
            <a:prstDash val="solid"/>
          </a:ln>
        </p:spPr>
        <p:txBody>
          <a:bodyPr/>
          <a:lstStyle/>
          <a:p>
            <a:endParaRPr sz="2560"/>
          </a:p>
        </p:txBody>
      </p:sp>
      <p:sp>
        <p:nvSpPr>
          <p:cNvPr id="11" name="Text 9"/>
          <p:cNvSpPr txBox="1"/>
          <p:nvPr/>
        </p:nvSpPr>
        <p:spPr>
          <a:xfrm>
            <a:off x="8010957"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4 · Decide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DESIGN LEAD</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What to adopt, rename, cut or lead with, and why</a:t>
            </a:r>
            <a:endParaRPr lang="en-US" sz="1991" dirty="0"/>
          </a:p>
        </p:txBody>
      </p:sp>
      <p:sp>
        <p:nvSpPr>
          <p:cNvPr id="12" name="5 · Propagate"/>
          <p:cNvSpPr/>
          <p:nvPr/>
        </p:nvSpPr>
        <p:spPr>
          <a:xfrm>
            <a:off x="10182758" y="2080768"/>
            <a:ext cx="2275840" cy="4681728"/>
          </a:xfrm>
          <a:prstGeom prst="rect">
            <a:avLst/>
          </a:prstGeom>
          <a:solidFill>
            <a:srgbClr val="5B3F96"/>
          </a:solidFill>
          <a:ln w="12700">
            <a:solidFill>
              <a:srgbClr val="5B3F96"/>
            </a:solidFill>
            <a:prstDash val="solid"/>
          </a:ln>
        </p:spPr>
        <p:txBody>
          <a:bodyPr/>
          <a:lstStyle/>
          <a:p>
            <a:endParaRPr sz="2560"/>
          </a:p>
        </p:txBody>
      </p:sp>
      <p:sp>
        <p:nvSpPr>
          <p:cNvPr id="13" name="Text 11"/>
          <p:cNvSpPr txBox="1"/>
          <p:nvPr/>
        </p:nvSpPr>
        <p:spPr>
          <a:xfrm>
            <a:off x="10442854"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5 · Propagate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AI AGENTS</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Each decision applied across every doc, board and screen</a:t>
            </a:r>
            <a:endParaRPr lang="en-US" sz="1991" dirty="0"/>
          </a:p>
        </p:txBody>
      </p:sp>
      <p:sp>
        <p:nvSpPr>
          <p:cNvPr id="14" name="Text 12"/>
          <p:cNvSpPr txBox="1"/>
          <p:nvPr/>
        </p:nvSpPr>
        <p:spPr>
          <a:xfrm>
            <a:off x="455168" y="7152640"/>
            <a:ext cx="12094464" cy="910336"/>
          </a:xfrm>
          <a:prstGeom prst="rect">
            <a:avLst/>
          </a:prstGeom>
          <a:noFill/>
          <a:ln/>
        </p:spPr>
        <p:txBody>
          <a:bodyPr wrap="square" lIns="0" tIns="0" rIns="0" bIns="0" rtlCol="0" anchor="t"/>
          <a:lstStyle/>
          <a:p>
            <a:r>
              <a:rPr lang="en-US" sz="1849" dirty="0">
                <a:solidFill>
                  <a:srgbClr val="595959"/>
                </a:solidFill>
                <a:latin typeface="Helvetica Neue Light" pitchFamily="34" charset="0"/>
                <a:ea typeface="Helvetica Neue Light" pitchFamily="34" charset="-122"/>
                <a:cs typeface="Helvetica Neue Light" pitchFamily="34" charset="-120"/>
              </a:rPr>
              <a:t>Repeated in every phase: research → principles → concepts → screens. Rules set by the lead live in the project brief, so every AI draft starts from them.</a:t>
            </a:r>
            <a:endParaRPr lang="en-US" sz="1849" dirty="0"/>
          </a:p>
        </p:txBody>
      </p:sp>
      <p:pic>
        <p:nvPicPr>
          <p:cNvPr id="1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09 · Results &amp; impact   FinViz AI Screener</a:t>
            </a:r>
            <a:endParaRPr lang="en-US" sz="1422" dirty="0"/>
          </a:p>
        </p:txBody>
      </p:sp>
      <p:sp>
        <p:nvSpPr>
          <p:cNvPr id="3" name="Text 1"/>
          <p:cNvSpPr txBox="1"/>
          <p:nvPr/>
        </p:nvSpPr>
        <p:spPr>
          <a:xfrm>
            <a:off x="455168" y="936346"/>
            <a:ext cx="624230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Trust is designed, then measured</a:t>
            </a:r>
            <a:endParaRPr lang="en-US" sz="3200" dirty="0"/>
          </a:p>
        </p:txBody>
      </p:sp>
      <p:sp>
        <p:nvSpPr>
          <p:cNvPr id="4" name="Text 2"/>
          <p:cNvSpPr txBox="1"/>
          <p:nvPr/>
        </p:nvSpPr>
        <p:spPr>
          <a:xfrm>
            <a:off x="975360" y="2015744"/>
            <a:ext cx="5201920" cy="1170432"/>
          </a:xfrm>
          <a:prstGeom prst="rect">
            <a:avLst/>
          </a:prstGeom>
          <a:noFill/>
          <a:ln/>
        </p:spPr>
        <p:txBody>
          <a:bodyPr wrap="square" lIns="0" tIns="0" rIns="0" bIns="0" rtlCol="0" anchor="t"/>
          <a:lstStyle/>
          <a:p>
            <a:r>
              <a:rPr lang="en-US" sz="7395" dirty="0">
                <a:solidFill>
                  <a:srgbClr val="1F5BFF"/>
                </a:solidFill>
                <a:latin typeface="Helvetica Neue Light" pitchFamily="34" charset="0"/>
                <a:ea typeface="Helvetica Neue Light" pitchFamily="34" charset="-122"/>
                <a:cs typeface="Helvetica Neue Light" pitchFamily="34" charset="-120"/>
              </a:rPr>
              <a:t>&lt; 2%</a:t>
            </a:r>
            <a:endParaRPr lang="en-US" sz="7395" dirty="0"/>
          </a:p>
        </p:txBody>
      </p:sp>
      <p:sp>
        <p:nvSpPr>
          <p:cNvPr id="5" name="Text 3"/>
          <p:cNvSpPr txBox="1"/>
          <p:nvPr/>
        </p:nvSpPr>
        <p:spPr>
          <a:xfrm>
            <a:off x="975360" y="3251200"/>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filter translations wrong (weekly audit)</a:t>
            </a:r>
            <a:endParaRPr lang="en-US" sz="1849" dirty="0"/>
          </a:p>
        </p:txBody>
      </p:sp>
      <p:sp>
        <p:nvSpPr>
          <p:cNvPr id="6" name="Text 4"/>
          <p:cNvSpPr txBox="1"/>
          <p:nvPr/>
        </p:nvSpPr>
        <p:spPr>
          <a:xfrm>
            <a:off x="6697472" y="2015744"/>
            <a:ext cx="5201920" cy="1170432"/>
          </a:xfrm>
          <a:prstGeom prst="rect">
            <a:avLst/>
          </a:prstGeom>
          <a:noFill/>
          <a:ln/>
        </p:spPr>
        <p:txBody>
          <a:bodyPr wrap="square" lIns="0" tIns="0" rIns="0" bIns="0" rtlCol="0" anchor="t"/>
          <a:lstStyle/>
          <a:p>
            <a:r>
              <a:rPr lang="en-US" sz="7395" dirty="0">
                <a:solidFill>
                  <a:srgbClr val="A100E8"/>
                </a:solidFill>
                <a:latin typeface="Helvetica Neue Light" pitchFamily="34" charset="0"/>
                <a:ea typeface="Helvetica Neue Light" pitchFamily="34" charset="-122"/>
                <a:cs typeface="Helvetica Neue Light" pitchFamily="34" charset="-120"/>
              </a:rPr>
              <a:t>100%</a:t>
            </a:r>
            <a:endParaRPr lang="en-US" sz="7395" dirty="0"/>
          </a:p>
        </p:txBody>
      </p:sp>
      <p:sp>
        <p:nvSpPr>
          <p:cNvPr id="7" name="Text 5"/>
          <p:cNvSpPr txBox="1"/>
          <p:nvPr/>
        </p:nvSpPr>
        <p:spPr>
          <a:xfrm>
            <a:off x="6697472" y="3251200"/>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explanation accuracy: “why it matched” built from real values</a:t>
            </a:r>
            <a:endParaRPr lang="en-US" sz="1849" dirty="0"/>
          </a:p>
        </p:txBody>
      </p:sp>
      <p:sp>
        <p:nvSpPr>
          <p:cNvPr id="8" name="Text 6"/>
          <p:cNvSpPr txBox="1"/>
          <p:nvPr/>
        </p:nvSpPr>
        <p:spPr>
          <a:xfrm>
            <a:off x="975360" y="4746752"/>
            <a:ext cx="5201920" cy="1170432"/>
          </a:xfrm>
          <a:prstGeom prst="rect">
            <a:avLst/>
          </a:prstGeom>
          <a:noFill/>
          <a:ln/>
        </p:spPr>
        <p:txBody>
          <a:bodyPr wrap="square" lIns="0" tIns="0" rIns="0" bIns="0" rtlCol="0" anchor="t"/>
          <a:lstStyle/>
          <a:p>
            <a:r>
              <a:rPr lang="en-US" sz="7395" dirty="0">
                <a:solidFill>
                  <a:srgbClr val="00B5CC"/>
                </a:solidFill>
                <a:latin typeface="Helvetica Neue Light" pitchFamily="34" charset="0"/>
                <a:ea typeface="Helvetica Neue Light" pitchFamily="34" charset="-122"/>
                <a:cs typeface="Helvetica Neue Light" pitchFamily="34" charset="-120"/>
              </a:rPr>
              <a:t>&lt; 40%</a:t>
            </a:r>
            <a:endParaRPr lang="en-US" sz="7395" dirty="0"/>
          </a:p>
        </p:txBody>
      </p:sp>
      <p:sp>
        <p:nvSpPr>
          <p:cNvPr id="9" name="Text 7"/>
          <p:cNvSpPr txBox="1"/>
          <p:nvPr/>
        </p:nvSpPr>
        <p:spPr>
          <a:xfrm>
            <a:off x="975360" y="5982208"/>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alerts with no action, the biggest driver of trust erosion</a:t>
            </a:r>
            <a:endParaRPr lang="en-US" sz="1849" dirty="0"/>
          </a:p>
        </p:txBody>
      </p:sp>
      <p:sp>
        <p:nvSpPr>
          <p:cNvPr id="10" name="Text 8"/>
          <p:cNvSpPr txBox="1"/>
          <p:nvPr/>
        </p:nvSpPr>
        <p:spPr>
          <a:xfrm>
            <a:off x="6697472" y="4746752"/>
            <a:ext cx="5201920" cy="1170432"/>
          </a:xfrm>
          <a:prstGeom prst="rect">
            <a:avLst/>
          </a:prstGeom>
          <a:noFill/>
          <a:ln/>
        </p:spPr>
        <p:txBody>
          <a:bodyPr wrap="square" lIns="0" tIns="0" rIns="0" bIns="0" rtlCol="0" anchor="t"/>
          <a:lstStyle/>
          <a:p>
            <a:r>
              <a:rPr lang="en-US" sz="7395" dirty="0">
                <a:solidFill>
                  <a:srgbClr val="F040E0"/>
                </a:solidFill>
                <a:latin typeface="Helvetica Neue Light" pitchFamily="34" charset="0"/>
                <a:ea typeface="Helvetica Neue Light" pitchFamily="34" charset="-122"/>
                <a:cs typeface="Helvetica Neue Light" pitchFamily="34" charset="-120"/>
              </a:rPr>
              <a:t>0</a:t>
            </a:r>
            <a:endParaRPr lang="en-US" sz="7395" dirty="0"/>
          </a:p>
        </p:txBody>
      </p:sp>
      <p:sp>
        <p:nvSpPr>
          <p:cNvPr id="11" name="Text 9"/>
          <p:cNvSpPr txBox="1"/>
          <p:nvPr/>
        </p:nvSpPr>
        <p:spPr>
          <a:xfrm>
            <a:off x="6697472" y="5982208"/>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compliance incidents: no advice, no forecasts, no orders</a:t>
            </a:r>
            <a:endParaRPr lang="en-US" sz="1849" dirty="0"/>
          </a:p>
        </p:txBody>
      </p:sp>
      <p:sp>
        <p:nvSpPr>
          <p:cNvPr id="12" name="Text 10"/>
          <p:cNvSpPr txBox="1"/>
          <p:nvPr/>
        </p:nvSpPr>
        <p:spPr>
          <a:xfrm>
            <a:off x="975360" y="7607808"/>
            <a:ext cx="11054080" cy="780288"/>
          </a:xfrm>
          <a:prstGeom prst="rect">
            <a:avLst/>
          </a:prstGeom>
          <a:noFill/>
          <a:ln/>
        </p:spPr>
        <p:txBody>
          <a:bodyPr wrap="square" lIns="0" tIns="0" rIns="0" bIns="0" rtlCol="0" anchor="t"/>
          <a:lstStyle/>
          <a:p>
            <a:r>
              <a:rPr lang="en-US" sz="1707" dirty="0">
                <a:solidFill>
                  <a:srgbClr val="595959"/>
                </a:solidFill>
                <a:latin typeface="Helvetica Neue Light" pitchFamily="34" charset="0"/>
                <a:ea typeface="Helvetica Neue Light" pitchFamily="34" charset="-122"/>
                <a:cs typeface="Helvetica Neue Light" pitchFamily="34" charset="-120"/>
              </a:rPr>
              <a:t>Targets from the KPI framework, sitting next to product metrics so a faster screen never comes at the cost of a wrong one.</a:t>
            </a:r>
            <a:endParaRPr lang="en-US" sz="1707" dirty="0"/>
          </a:p>
        </p:txBody>
      </p:sp>
      <p:pic>
        <p:nvPicPr>
          <p:cNvPr id="1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09 · Results &amp; impact   FinViz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3982" dirty="0">
                <a:solidFill>
                  <a:srgbClr val="1F1F1F"/>
                </a:solidFill>
                <a:latin typeface="Helvetica Neue Light" pitchFamily="34" charset="0"/>
                <a:ea typeface="Helvetica Neue Light" pitchFamily="34" charset="-122"/>
                <a:cs typeface="Helvetica Neue Light" pitchFamily="34" charset="-120"/>
              </a:rPr>
              <a:t>How success will be measured</a:t>
            </a:r>
            <a:endParaRPr lang="en-US" sz="3982" dirty="0"/>
          </a:p>
        </p:txBody>
      </p:sp>
      <p:sp>
        <p:nvSpPr>
          <p:cNvPr id="4" name="Text 2"/>
          <p:cNvSpPr txBox="1"/>
          <p:nvPr/>
        </p:nvSpPr>
        <p:spPr>
          <a:xfrm>
            <a:off x="975360" y="2015744"/>
            <a:ext cx="5201920" cy="1170432"/>
          </a:xfrm>
          <a:prstGeom prst="rect">
            <a:avLst/>
          </a:prstGeom>
          <a:noFill/>
          <a:ln/>
        </p:spPr>
        <p:txBody>
          <a:bodyPr wrap="square" lIns="0" tIns="0" rIns="0" bIns="0" rtlCol="0" anchor="t"/>
          <a:lstStyle/>
          <a:p>
            <a:r>
              <a:rPr lang="en-US" sz="6827" dirty="0">
                <a:solidFill>
                  <a:srgbClr val="1F5BFF"/>
                </a:solidFill>
                <a:latin typeface="Helvetica Neue Light" pitchFamily="34" charset="0"/>
                <a:ea typeface="Helvetica Neue Light" pitchFamily="34" charset="-122"/>
                <a:cs typeface="Helvetica Neue Light" pitchFamily="34" charset="-120"/>
              </a:rPr>
              <a:t>42 → 21</a:t>
            </a:r>
            <a:endParaRPr lang="en-US" sz="6827" dirty="0"/>
          </a:p>
        </p:txBody>
      </p:sp>
      <p:sp>
        <p:nvSpPr>
          <p:cNvPr id="5" name="Text 3"/>
          <p:cNvSpPr txBox="1"/>
          <p:nvPr/>
        </p:nvSpPr>
        <p:spPr>
          <a:xfrm>
            <a:off x="1543427" y="3186176"/>
            <a:ext cx="2858200" cy="598221"/>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days from sign-up to Elite</a:t>
            </a:r>
            <a:endParaRPr lang="en-US" sz="1849" dirty="0"/>
          </a:p>
        </p:txBody>
      </p:sp>
      <p:sp>
        <p:nvSpPr>
          <p:cNvPr id="6" name="Text 4"/>
          <p:cNvSpPr txBox="1"/>
          <p:nvPr/>
        </p:nvSpPr>
        <p:spPr>
          <a:xfrm>
            <a:off x="6697472" y="2015744"/>
            <a:ext cx="5201920" cy="1170432"/>
          </a:xfrm>
          <a:prstGeom prst="rect">
            <a:avLst/>
          </a:prstGeom>
          <a:noFill/>
          <a:ln/>
        </p:spPr>
        <p:txBody>
          <a:bodyPr wrap="square" lIns="0" tIns="0" rIns="0" bIns="0" rtlCol="0" anchor="t"/>
          <a:lstStyle/>
          <a:p>
            <a:r>
              <a:rPr lang="en-US" sz="6827" dirty="0">
                <a:solidFill>
                  <a:srgbClr val="A100E8"/>
                </a:solidFill>
                <a:latin typeface="Helvetica Neue Light" pitchFamily="34" charset="0"/>
                <a:ea typeface="Helvetica Neue Light" pitchFamily="34" charset="-122"/>
                <a:cs typeface="Helvetica Neue Light" pitchFamily="34" charset="-120"/>
              </a:rPr>
              <a:t>3+ days</a:t>
            </a:r>
            <a:endParaRPr lang="en-US" sz="6827" dirty="0"/>
          </a:p>
        </p:txBody>
      </p:sp>
      <p:sp>
        <p:nvSpPr>
          <p:cNvPr id="7" name="Text 5"/>
          <p:cNvSpPr txBox="1"/>
          <p:nvPr/>
        </p:nvSpPr>
        <p:spPr>
          <a:xfrm>
            <a:off x="7374148" y="3186176"/>
            <a:ext cx="2858200" cy="780288"/>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 week re-running a saved screen: the North Star</a:t>
            </a:r>
            <a:endParaRPr lang="en-US" sz="1849" dirty="0"/>
          </a:p>
        </p:txBody>
      </p:sp>
      <p:sp>
        <p:nvSpPr>
          <p:cNvPr id="8" name="Text 6"/>
          <p:cNvSpPr txBox="1"/>
          <p:nvPr/>
        </p:nvSpPr>
        <p:spPr>
          <a:xfrm>
            <a:off x="975360" y="4746752"/>
            <a:ext cx="5201920" cy="1170432"/>
          </a:xfrm>
          <a:prstGeom prst="rect">
            <a:avLst/>
          </a:prstGeom>
          <a:noFill/>
          <a:ln/>
        </p:spPr>
        <p:txBody>
          <a:bodyPr wrap="square" lIns="0" tIns="0" rIns="0" bIns="0" rtlCol="0" anchor="t"/>
          <a:lstStyle/>
          <a:p>
            <a:r>
              <a:rPr lang="en-US" sz="6827" dirty="0">
                <a:solidFill>
                  <a:srgbClr val="00B5CC"/>
                </a:solidFill>
                <a:latin typeface="Helvetica Neue Light" pitchFamily="34" charset="0"/>
                <a:ea typeface="Helvetica Neue Light" pitchFamily="34" charset="-122"/>
                <a:cs typeface="Helvetica Neue Light" pitchFamily="34" charset="-120"/>
              </a:rPr>
              <a:t>&lt; 5 min</a:t>
            </a:r>
            <a:endParaRPr lang="en-US" sz="6827" dirty="0"/>
          </a:p>
        </p:txBody>
      </p:sp>
      <p:sp>
        <p:nvSpPr>
          <p:cNvPr id="9" name="Text 7"/>
          <p:cNvSpPr txBox="1"/>
          <p:nvPr/>
        </p:nvSpPr>
        <p:spPr>
          <a:xfrm>
            <a:off x="1757791" y="5917184"/>
            <a:ext cx="2343724" cy="342269"/>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to a first saved screen</a:t>
            </a:r>
            <a:endParaRPr lang="en-US" sz="1849" dirty="0"/>
          </a:p>
        </p:txBody>
      </p:sp>
      <p:sp>
        <p:nvSpPr>
          <p:cNvPr id="10" name="Text 8"/>
          <p:cNvSpPr txBox="1"/>
          <p:nvPr/>
        </p:nvSpPr>
        <p:spPr>
          <a:xfrm>
            <a:off x="6697472" y="4746752"/>
            <a:ext cx="5201920" cy="1170432"/>
          </a:xfrm>
          <a:prstGeom prst="rect">
            <a:avLst/>
          </a:prstGeom>
          <a:noFill/>
          <a:ln/>
        </p:spPr>
        <p:txBody>
          <a:bodyPr wrap="square" lIns="0" tIns="0" rIns="0" bIns="0" rtlCol="0" anchor="t"/>
          <a:lstStyle/>
          <a:p>
            <a:r>
              <a:rPr lang="en-US" sz="6827" dirty="0">
                <a:solidFill>
                  <a:srgbClr val="F040E0"/>
                </a:solidFill>
                <a:latin typeface="Helvetica Neue Light" pitchFamily="34" charset="0"/>
                <a:ea typeface="Helvetica Neue Light" pitchFamily="34" charset="-122"/>
                <a:cs typeface="Helvetica Neue Light" pitchFamily="34" charset="-120"/>
              </a:rPr>
              <a:t>&gt; 40%</a:t>
            </a:r>
            <a:endParaRPr lang="en-US" sz="6827" dirty="0"/>
          </a:p>
        </p:txBody>
      </p:sp>
      <p:sp>
        <p:nvSpPr>
          <p:cNvPr id="11" name="Text 9"/>
          <p:cNvSpPr txBox="1"/>
          <p:nvPr/>
        </p:nvSpPr>
        <p:spPr>
          <a:xfrm>
            <a:off x="7374149" y="5917184"/>
            <a:ext cx="2758162" cy="342269"/>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of alerts lead to an action</a:t>
            </a:r>
            <a:endParaRPr lang="en-US" sz="1849" dirty="0"/>
          </a:p>
        </p:txBody>
      </p:sp>
      <p:sp>
        <p:nvSpPr>
          <p:cNvPr id="12" name="Text 10"/>
          <p:cNvSpPr txBox="1"/>
          <p:nvPr/>
        </p:nvSpPr>
        <p:spPr>
          <a:xfrm>
            <a:off x="975360" y="7672832"/>
            <a:ext cx="11054080" cy="650240"/>
          </a:xfrm>
          <a:prstGeom prst="rect">
            <a:avLst/>
          </a:prstGeom>
          <a:noFill/>
          <a:ln/>
        </p:spPr>
        <p:txBody>
          <a:bodyPr wrap="square" lIns="0" tIns="0" rIns="0" bIns="0" rtlCol="0" anchor="t"/>
          <a:lstStyle/>
          <a:p>
            <a:r>
              <a:rPr lang="en-US" sz="1707" dirty="0">
                <a:solidFill>
                  <a:srgbClr val="595959"/>
                </a:solidFill>
                <a:latin typeface="Helvetica Neue Light" pitchFamily="34" charset="0"/>
                <a:ea typeface="Helvetica Neue Light" pitchFamily="34" charset="-122"/>
                <a:cs typeface="Helvetica Neue Light" pitchFamily="34" charset="-120"/>
              </a:rPr>
              <a:t>Concept-stage work: these are targets with a plan to baseline them, not results.</a:t>
            </a:r>
            <a:endParaRPr lang="en-US" sz="1707" dirty="0"/>
          </a:p>
        </p:txBody>
      </p:sp>
      <p:pic>
        <p:nvPicPr>
          <p:cNvPr id="1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10 · Learnings &amp; Next Steps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What leading with AI taught me</a:t>
            </a:r>
            <a:endParaRPr lang="en-US" sz="3200" dirty="0"/>
          </a:p>
        </p:txBody>
      </p:sp>
      <p:sp>
        <p:nvSpPr>
          <p:cNvPr id="4" name="The bottleneck moves to judgment"/>
          <p:cNvSpPr/>
          <p:nvPr/>
        </p:nvSpPr>
        <p:spPr>
          <a:xfrm>
            <a:off x="455168" y="1950720"/>
            <a:ext cx="5982208" cy="3251200"/>
          </a:xfrm>
          <a:prstGeom prst="rect">
            <a:avLst/>
          </a:prstGeom>
          <a:solidFill>
            <a:srgbClr val="A12A37"/>
          </a:solidFill>
          <a:ln w="12700">
            <a:solidFill>
              <a:srgbClr val="A12A37"/>
            </a:solidFill>
            <a:prstDash val="solid"/>
          </a:ln>
        </p:spPr>
        <p:txBody>
          <a:bodyPr/>
          <a:lstStyle/>
          <a:p>
            <a:endParaRPr sz="2560"/>
          </a:p>
        </p:txBody>
      </p:sp>
      <p:sp>
        <p:nvSpPr>
          <p:cNvPr id="5" name="Text 3"/>
          <p:cNvSpPr txBox="1"/>
          <p:nvPr/>
        </p:nvSpPr>
        <p:spPr>
          <a:xfrm>
            <a:off x="715265" y="2210816"/>
            <a:ext cx="4515238"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The bottleneck moves to judgment</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Drafts take minutes. The lead’s value is framing, checking facts and deciding what to keep.</a:t>
            </a:r>
            <a:endParaRPr lang="en-US" dirty="0"/>
          </a:p>
        </p:txBody>
      </p:sp>
      <p:sp>
        <p:nvSpPr>
          <p:cNvPr id="6" name="Write the rules down once"/>
          <p:cNvSpPr/>
          <p:nvPr/>
        </p:nvSpPr>
        <p:spPr>
          <a:xfrm>
            <a:off x="6567424" y="1950720"/>
            <a:ext cx="5982208" cy="3251200"/>
          </a:xfrm>
          <a:prstGeom prst="rect">
            <a:avLst/>
          </a:prstGeom>
          <a:solidFill>
            <a:srgbClr val="5B3F96"/>
          </a:solidFill>
          <a:ln w="12700">
            <a:solidFill>
              <a:srgbClr val="5B3F96"/>
            </a:solidFill>
            <a:prstDash val="solid"/>
          </a:ln>
        </p:spPr>
        <p:txBody>
          <a:bodyPr/>
          <a:lstStyle/>
          <a:p>
            <a:endParaRPr sz="2560"/>
          </a:p>
        </p:txBody>
      </p:sp>
      <p:sp>
        <p:nvSpPr>
          <p:cNvPr id="7" name="Text 5"/>
          <p:cNvSpPr txBox="1"/>
          <p:nvPr/>
        </p:nvSpPr>
        <p:spPr>
          <a:xfrm>
            <a:off x="6827520" y="2210816"/>
            <a:ext cx="3804976"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Write the rules down once</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Rules in the project brief made every AI draft start compliant.</a:t>
            </a:r>
            <a:endParaRPr lang="en-US" dirty="0"/>
          </a:p>
        </p:txBody>
      </p:sp>
      <p:sp>
        <p:nvSpPr>
          <p:cNvPr id="8" name="Check the live product, not the docs"/>
          <p:cNvSpPr/>
          <p:nvPr/>
        </p:nvSpPr>
        <p:spPr>
          <a:xfrm>
            <a:off x="455168" y="5462016"/>
            <a:ext cx="5982208" cy="3251200"/>
          </a:xfrm>
          <a:prstGeom prst="rect">
            <a:avLst/>
          </a:prstGeom>
          <a:solidFill>
            <a:srgbClr val="3A7D55"/>
          </a:solidFill>
          <a:ln w="12700">
            <a:solidFill>
              <a:srgbClr val="3A7D55"/>
            </a:solidFill>
            <a:prstDash val="solid"/>
          </a:ln>
        </p:spPr>
        <p:txBody>
          <a:bodyPr/>
          <a:lstStyle/>
          <a:p>
            <a:endParaRPr sz="2560"/>
          </a:p>
        </p:txBody>
      </p:sp>
      <p:sp>
        <p:nvSpPr>
          <p:cNvPr id="9" name="Text 7"/>
          <p:cNvSpPr txBox="1"/>
          <p:nvPr/>
        </p:nvSpPr>
        <p:spPr>
          <a:xfrm>
            <a:off x="715265" y="5722112"/>
            <a:ext cx="4701020"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Check the live product, not the docs</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One live-site walk overturned two assumptions.</a:t>
            </a:r>
            <a:endParaRPr lang="en-US" dirty="0"/>
          </a:p>
        </p:txBody>
      </p:sp>
      <p:sp>
        <p:nvSpPr>
          <p:cNvPr id="10" name="Reconcile, don’t overwrite"/>
          <p:cNvSpPr/>
          <p:nvPr/>
        </p:nvSpPr>
        <p:spPr>
          <a:xfrm>
            <a:off x="6567424" y="5462016"/>
            <a:ext cx="5982208" cy="3251200"/>
          </a:xfrm>
          <a:prstGeom prst="rect">
            <a:avLst/>
          </a:prstGeom>
          <a:solidFill>
            <a:srgbClr val="744A6C"/>
          </a:solidFill>
          <a:ln w="12700">
            <a:solidFill>
              <a:srgbClr val="744A6C"/>
            </a:solidFill>
            <a:prstDash val="solid"/>
          </a:ln>
        </p:spPr>
        <p:txBody>
          <a:bodyPr/>
          <a:lstStyle/>
          <a:p>
            <a:endParaRPr sz="2560"/>
          </a:p>
        </p:txBody>
      </p:sp>
      <p:sp>
        <p:nvSpPr>
          <p:cNvPr id="11" name="Text 9"/>
          <p:cNvSpPr txBox="1"/>
          <p:nvPr/>
        </p:nvSpPr>
        <p:spPr>
          <a:xfrm>
            <a:off x="6827520" y="5722112"/>
            <a:ext cx="4719599"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Reconcile, don’t overwrite</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Teammates’ screens kept their best ideas and lost only what broke the rules.</a:t>
            </a:r>
            <a:endParaRPr lang="en-US" dirty="0"/>
          </a:p>
        </p:txBody>
      </p:sp>
      <p:pic>
        <p:nvPicPr>
          <p:cNvPr id="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75360" y="975360"/>
            <a:ext cx="4551680"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Next Steps</a:t>
            </a:r>
            <a:endParaRPr lang="en-US" sz="6000" dirty="0"/>
          </a:p>
        </p:txBody>
      </p:sp>
      <p:sp>
        <p:nvSpPr>
          <p:cNvPr id="3" name="Text 1"/>
          <p:cNvSpPr txBox="1"/>
          <p:nvPr/>
        </p:nvSpPr>
        <p:spPr>
          <a:xfrm>
            <a:off x="975360" y="3121152"/>
            <a:ext cx="10924032" cy="4941824"/>
          </a:xfrm>
          <a:prstGeom prst="rect">
            <a:avLst/>
          </a:prstGeom>
          <a:noFill/>
          <a:ln/>
        </p:spPr>
        <p:txBody>
          <a:bodyPr wrap="square" lIns="0" tIns="0" rIns="0" bIns="0" rtlCol="0" anchor="t"/>
          <a:lstStyle/>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Usability test the first-release flow with swing traders in their first 14 days</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Baseline time to first success and habit before claiming improvement</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Clear the advice line and attributed analyst views with compliance</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Clickable hi-fi prototype of the 19-step flow for usability testing</a:t>
            </a:r>
            <a:endParaRPr lang="en-US" sz="2418" dirty="0"/>
          </a:p>
        </p:txBody>
      </p:sp>
      <p:pic>
        <p:nvPicPr>
          <p:cNvPr id="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097280"/>
            <a:ext cx="12070080" cy="914400"/>
          </a:xfrm>
          <a:prstGeom prst="rect">
            <a:avLst/>
          </a:prstGeom>
          <a:noFill/>
        </p:spPr>
        <p:txBody>
          <a:bodyPr wrap="none">
            <a:spAutoFit/>
          </a:bodyPr>
          <a:lstStyle/>
          <a:p>
            <a:r>
              <a:rPr sz="4000">
                <a:latin typeface="Helvetica Neue Light"/>
              </a:rPr>
              <a:t>Appendix</a:t>
            </a:r>
          </a:p>
        </p:txBody>
      </p:sp>
      <p:sp>
        <p:nvSpPr>
          <p:cNvPr id="3" name="TextBox 2"/>
          <p:cNvSpPr txBox="1"/>
          <p:nvPr/>
        </p:nvSpPr>
        <p:spPr>
          <a:xfrm>
            <a:off x="457200" y="2743200"/>
            <a:ext cx="12070080" cy="1097280"/>
          </a:xfrm>
          <a:prstGeom prst="rect">
            <a:avLst/>
          </a:prstGeom>
          <a:noFill/>
        </p:spPr>
        <p:txBody>
          <a:bodyPr wrap="none">
            <a:spAutoFit/>
          </a:bodyPr>
          <a:lstStyle/>
          <a:p>
            <a:r>
              <a:rPr sz="2400">
                <a:solidFill>
                  <a:srgbClr val="C45A35"/>
                </a:solidFill>
                <a:latin typeface="Helvetica Neue Light"/>
                <a:hlinkClick r:id="rId2"/>
              </a:rPr>
              <a:t>FinViz case study: full appendix (61 slides)</a:t>
            </a:r>
          </a:p>
          <a:p>
            <a:r>
              <a:rPr sz="1600">
                <a:solidFill>
                  <a:srgbClr val="595959"/>
                </a:solidFill>
                <a:latin typeface="Helvetica Neue Light"/>
              </a:rPr>
              <a:t>Concept work, hero features, lo-fi iterations, and the alerts and chart-lens journeys.</a:t>
            </a:r>
          </a:p>
        </p:txBody>
      </p:sp>
      <p:sp>
        <p:nvSpPr>
          <p:cNvPr id="4" name="TextBox 3"/>
          <p:cNvSpPr txBox="1"/>
          <p:nvPr/>
        </p:nvSpPr>
        <p:spPr>
          <a:xfrm>
            <a:off x="457200" y="4206240"/>
            <a:ext cx="12070080" cy="1097280"/>
          </a:xfrm>
          <a:prstGeom prst="rect">
            <a:avLst/>
          </a:prstGeom>
          <a:noFill/>
        </p:spPr>
        <p:txBody>
          <a:bodyPr wrap="none">
            <a:spAutoFit/>
          </a:bodyPr>
          <a:lstStyle/>
          <a:p>
            <a:r>
              <a:rPr sz="2400">
                <a:solidFill>
                  <a:srgbClr val="C45A35"/>
                </a:solidFill>
                <a:latin typeface="Helvetica Neue Light"/>
                <a:hlinkClick r:id="rId3"/>
              </a:rPr>
              <a:t>Other work: Wells Fargo</a:t>
            </a:r>
          </a:p>
          <a:p>
            <a:r>
              <a:rPr sz="1600">
                <a:solidFill>
                  <a:srgbClr val="595959"/>
                </a:solidFill>
                <a:latin typeface="Helvetica Neue Light"/>
              </a:rPr>
              <a:t>Enterprise B2B design work, with discovery, design sprints and results.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pic>
        <p:nvPicPr>
          <p:cNvPr id="2" name="Image 0" descr="/tmp/meridian-deck/img/band-header.png">    </p:cNvPr>
          <p:cNvPicPr>
            <a:picLocks noChangeAspect="1"/>
          </p:cNvPicPr>
          <p:nvPr/>
        </p:nvPicPr>
        <p:blipFill>
          <a:blip r:embed="rId2"/>
          <a:stretch>
            <a:fillRect/>
          </a:stretch>
        </p:blipFill>
        <p:spPr>
          <a:xfrm>
            <a:off x="0" y="0"/>
            <a:ext cx="13004597" cy="438912"/>
          </a:xfrm>
          <a:prstGeom prst="rect">
            <a:avLst/>
          </a:prstGeom>
        </p:spPr>
      </p:pic>
      <p:sp>
        <p:nvSpPr>
          <p:cNvPr id="3" name="Text 0"/>
          <p:cNvSpPr txBox="1"/>
          <p:nvPr/>
        </p:nvSpPr>
        <p:spPr>
          <a:xfrm>
            <a:off x="457200" y="914400"/>
            <a:ext cx="64008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CASE STUDY · AI-ASSISTED TRADING PROTOTYPE</a:t>
            </a:r>
            <a:endParaRPr lang="en-US" sz="1280" dirty="0"/>
          </a:p>
        </p:txBody>
      </p:sp>
      <p:sp>
        <p:nvSpPr>
          <p:cNvPr id="4" name="Text 1"/>
          <p:cNvSpPr txBox="1"/>
          <p:nvPr/>
        </p:nvSpPr>
        <p:spPr>
          <a:xfrm>
            <a:off x="457200" y="1371600"/>
            <a:ext cx="6400800" cy="2377440"/>
          </a:xfrm>
          <a:prstGeom prst="rect">
            <a:avLst/>
          </a:prstGeom>
          <a:noFill/>
          <a:ln/>
        </p:spPr>
        <p:txBody>
          <a:bodyPr wrap="square" lIns="0" tIns="0" rIns="0" bIns="0" rtlCol="0" anchor="t"/>
          <a:lstStyle/>
          <a:p>
            <a:pPr indent="0" marL="0">
              <a:buNone/>
            </a:pPr>
            <a:r>
              <a:rPr lang="en-US" sz="7200" dirty="0">
                <a:solidFill>
                  <a:srgbClr val="1F1F1F"/>
                </a:solidFill>
                <a:latin typeface="Helvetica Neue Light" pitchFamily="34" charset="0"/>
                <a:ea typeface="Helvetica Neue Light" pitchFamily="34" charset="-122"/>
                <a:cs typeface="Helvetica Neue Light" pitchFamily="34" charset="-120"/>
              </a:rPr>
              <a:t>Meridian</a:t>
            </a:r>
            <a:endParaRPr lang="en-US" sz="7200" dirty="0"/>
          </a:p>
          <a:p>
            <a:pPr indent="0" marL="0">
              <a:buNone/>
            </a:pPr>
            <a:r>
              <a:rPr lang="en-US" sz="7200" dirty="0">
                <a:solidFill>
                  <a:srgbClr val="1F1F1F"/>
                </a:solidFill>
                <a:latin typeface="Helvetica Neue Light" pitchFamily="34" charset="0"/>
                <a:ea typeface="Helvetica Neue Light" pitchFamily="34" charset="-122"/>
                <a:cs typeface="Helvetica Neue Light" pitchFamily="34" charset="-120"/>
              </a:rPr>
              <a:t>Navigator</a:t>
            </a:r>
            <a:endParaRPr lang="en-US" sz="7200" dirty="0"/>
          </a:p>
        </p:txBody>
      </p:sp>
      <p:sp>
        <p:nvSpPr>
          <p:cNvPr id="5" name="Text 2"/>
          <p:cNvSpPr txBox="1"/>
          <p:nvPr/>
        </p:nvSpPr>
        <p:spPr>
          <a:xfrm>
            <a:off x="457200" y="4114800"/>
            <a:ext cx="6035040" cy="109728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Retail investors juggle research, orders and monitoring across separate tools. Does AI insight beside the trade help them decide?</a:t>
            </a:r>
            <a:endParaRPr lang="en-US" sz="2200" dirty="0"/>
          </a:p>
        </p:txBody>
      </p:sp>
      <p:sp>
        <p:nvSpPr>
          <p:cNvPr id="6" name="Text 3"/>
          <p:cNvSpPr txBox="1"/>
          <p:nvPr/>
        </p:nvSpPr>
        <p:spPr>
          <a:xfrm>
            <a:off x="457200" y="5486400"/>
            <a:ext cx="5852160" cy="914400"/>
          </a:xfrm>
          <a:prstGeom prst="rect">
            <a:avLst/>
          </a:prstGeom>
          <a:noFill/>
          <a:ln/>
        </p:spPr>
        <p:txBody>
          <a:bodyPr wrap="square" lIns="0" tIns="0" rIns="0" bIns="0" rtlCol="0" anchor="t"/>
          <a:lstStyle/>
          <a:p>
            <a:pPr indent="0" marL="0">
              <a:buNone/>
            </a:pPr>
            <a:r>
              <a:rPr lang="en-US" sz="1700" dirty="0">
                <a:solidFill>
                  <a:srgbClr val="6E6E6E"/>
                </a:solidFill>
                <a:latin typeface="Helvetica Neue Light" pitchFamily="34" charset="0"/>
                <a:ea typeface="Helvetica Neue Light" pitchFamily="34" charset="-122"/>
                <a:cs typeface="Helvetica Neue Light" pitchFamily="34" charset="-120"/>
              </a:rPr>
              <a:t>A mobile trading prototype: five AI and trading screens, built in SwiftUI and designed in Figma.</a:t>
            </a:r>
            <a:endParaRPr lang="en-US" sz="1700" dirty="0"/>
          </a:p>
        </p:txBody>
      </p:sp>
      <p:sp>
        <p:nvSpPr>
          <p:cNvPr id="7" name="Shape 4"/>
          <p:cNvSpPr/>
          <p:nvPr/>
        </p:nvSpPr>
        <p:spPr>
          <a:xfrm>
            <a:off x="7223760" y="1280160"/>
            <a:ext cx="5303520" cy="7406640"/>
          </a:xfrm>
          <a:prstGeom prst="rect">
            <a:avLst/>
          </a:prstGeom>
          <a:solidFill>
            <a:srgbClr val="14161D"/>
          </a:solidFill>
          <a:ln w="12700">
            <a:solidFill>
              <a:srgbClr val="14161D"/>
            </a:solidFill>
            <a:prstDash val="solid"/>
          </a:ln>
        </p:spPr>
      </p:sp>
      <p:sp>
        <p:nvSpPr>
          <p:cNvPr id="8" name="Shape 5"/>
          <p:cNvSpPr/>
          <p:nvPr/>
        </p:nvSpPr>
        <p:spPr>
          <a:xfrm>
            <a:off x="8092440" y="1737360"/>
            <a:ext cx="3043123" cy="6583680"/>
          </a:xfrm>
          <a:prstGeom prst="rect">
            <a:avLst/>
          </a:prstGeom>
          <a:solidFill>
            <a:srgbClr val="14161D"/>
          </a:solidFill>
          <a:ln w="12700">
            <a:solidFill>
              <a:srgbClr val="14161D"/>
            </a:solidFill>
            <a:prstDash val="solid"/>
          </a:ln>
        </p:spPr>
      </p:sp>
      <p:pic>
        <p:nvPicPr>
          <p:cNvPr id="9" name="Image 1" descr="/tmp/meridian-deck/img/insight.png">    </p:cNvPr>
          <p:cNvPicPr>
            <a:picLocks noChangeAspect="1"/>
          </p:cNvPicPr>
          <p:nvPr/>
        </p:nvPicPr>
        <p:blipFill>
          <a:blip r:embed="rId3"/>
          <a:stretch>
            <a:fillRect/>
          </a:stretch>
        </p:blipFill>
        <p:spPr>
          <a:xfrm>
            <a:off x="8092440" y="1737360"/>
            <a:ext cx="3043123" cy="6583680"/>
          </a:xfrm>
          <a:prstGeom prst="rect">
            <a:avLst/>
          </a:prstGeom>
        </p:spPr>
      </p:pic>
      <p:pic>
        <p:nvPicPr>
          <p:cNvPr id="10" name="Image 2" descr="/tmp/meridian-deck/img/band-footer.png">    </p:cNvPr>
          <p:cNvPicPr>
            <a:picLocks noChangeAspect="1"/>
          </p:cNvPicPr>
          <p:nvPr/>
        </p:nvPicPr>
        <p:blipFill>
          <a:blip r:embed="rId4"/>
          <a:stretch>
            <a:fillRect/>
          </a:stretch>
        </p:blipFill>
        <p:spPr>
          <a:xfrm>
            <a:off x="0" y="9281160"/>
            <a:ext cx="13004597" cy="466344"/>
          </a:xfrm>
          <a:prstGeom prst="rect">
            <a:avLst/>
          </a:prstGeom>
        </p:spPr>
      </p:pic>
      <p:sp>
        <p:nvSpPr>
          <p:cNvPr id="11" name="Text 6"/>
          <p:cNvSpPr txBox="1"/>
          <p:nvPr/>
        </p:nvSpPr>
        <p:spPr>
          <a:xfrm>
            <a:off x="457200" y="8686800"/>
            <a:ext cx="5486400" cy="274320"/>
          </a:xfrm>
          <a:prstGeom prst="rect">
            <a:avLst/>
          </a:prstGeom>
          <a:noFill/>
          <a:ln/>
        </p:spPr>
        <p:txBody>
          <a:bodyPr wrap="square" lIns="0" tIns="0" rIns="0" bIns="0" rtlCol="0" anchor="t"/>
          <a:lstStyle/>
          <a:p>
            <a:pPr indent="0" marL="0">
              <a:buNone/>
            </a:pPr>
            <a:r>
              <a:rPr lang="en-US" sz="1350" dirty="0">
                <a:solidFill>
                  <a:srgbClr val="6E6E6E"/>
                </a:solidFill>
                <a:latin typeface="Helvetica Neue Light" pitchFamily="34" charset="0"/>
                <a:ea typeface="Helvetica Neue Light" pitchFamily="34" charset="-122"/>
                <a:cs typeface="Helvetica Neue Light" pitchFamily="34" charset="-120"/>
              </a:rPr>
              <a:t>Working draft · 2026</a:t>
            </a:r>
            <a:endParaRPr lang="en-US" sz="135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How this case study is organized</a:t>
            </a:r>
            <a:endParaRPr lang="en-US" sz="3200" dirty="0"/>
          </a:p>
        </p:txBody>
      </p:sp>
      <p:sp>
        <p:nvSpPr>
          <p:cNvPr id="3" name="Text 1"/>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The final experience first, then the reasoning behind it.</a:t>
            </a:r>
            <a:endParaRPr lang="en-US" sz="1636"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Shape 2"/>
          <p:cNvSpPr/>
          <p:nvPr/>
        </p:nvSpPr>
        <p:spPr>
          <a:xfrm>
            <a:off x="457200" y="2651760"/>
            <a:ext cx="2286000" cy="2743200"/>
          </a:xfrm>
          <a:prstGeom prst="rect">
            <a:avLst/>
          </a:prstGeom>
          <a:solidFill>
            <a:srgbClr val="C45A35"/>
          </a:solidFill>
          <a:ln w="12700">
            <a:solidFill>
              <a:srgbClr val="C45A35"/>
            </a:solidFill>
            <a:prstDash val="solid"/>
          </a:ln>
        </p:spPr>
      </p:sp>
      <p:sp>
        <p:nvSpPr>
          <p:cNvPr id="6" name="Text 3"/>
          <p:cNvSpPr txBox="1"/>
          <p:nvPr/>
        </p:nvSpPr>
        <p:spPr>
          <a:xfrm>
            <a:off x="731520" y="292608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01</a:t>
            </a:r>
            <a:endParaRPr lang="en-US" sz="3100" dirty="0"/>
          </a:p>
        </p:txBody>
      </p:sp>
      <p:sp>
        <p:nvSpPr>
          <p:cNvPr id="7" name="Text 4"/>
          <p:cNvSpPr txBox="1"/>
          <p:nvPr/>
        </p:nvSpPr>
        <p:spPr>
          <a:xfrm>
            <a:off x="731520" y="374904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Overview</a:t>
            </a:r>
            <a:endParaRPr lang="en-US" sz="1778" dirty="0"/>
          </a:p>
        </p:txBody>
      </p:sp>
      <p:sp>
        <p:nvSpPr>
          <p:cNvPr id="8" name="Shape 5"/>
          <p:cNvSpPr/>
          <p:nvPr/>
        </p:nvSpPr>
        <p:spPr>
          <a:xfrm>
            <a:off x="2926080" y="2651760"/>
            <a:ext cx="2286000" cy="2743200"/>
          </a:xfrm>
          <a:prstGeom prst="rect">
            <a:avLst/>
          </a:prstGeom>
          <a:solidFill>
            <a:srgbClr val="5B3F96"/>
          </a:solidFill>
          <a:ln w="12700">
            <a:solidFill>
              <a:srgbClr val="5B3F96"/>
            </a:solidFill>
            <a:prstDash val="solid"/>
          </a:ln>
        </p:spPr>
      </p:sp>
      <p:sp>
        <p:nvSpPr>
          <p:cNvPr id="9" name="Text 6"/>
          <p:cNvSpPr txBox="1"/>
          <p:nvPr/>
        </p:nvSpPr>
        <p:spPr>
          <a:xfrm>
            <a:off x="3200400" y="292608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02</a:t>
            </a:r>
            <a:endParaRPr lang="en-US" sz="3100" dirty="0"/>
          </a:p>
        </p:txBody>
      </p:sp>
      <p:sp>
        <p:nvSpPr>
          <p:cNvPr id="10" name="Text 7"/>
          <p:cNvSpPr txBox="1"/>
          <p:nvPr/>
        </p:nvSpPr>
        <p:spPr>
          <a:xfrm>
            <a:off x="3200400" y="374904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Context &amp; constraints</a:t>
            </a:r>
            <a:endParaRPr lang="en-US" sz="1778" dirty="0"/>
          </a:p>
        </p:txBody>
      </p:sp>
      <p:sp>
        <p:nvSpPr>
          <p:cNvPr id="11" name="Shape 8"/>
          <p:cNvSpPr/>
          <p:nvPr/>
        </p:nvSpPr>
        <p:spPr>
          <a:xfrm>
            <a:off x="5394960" y="2651760"/>
            <a:ext cx="2286000" cy="2743200"/>
          </a:xfrm>
          <a:prstGeom prst="rect">
            <a:avLst/>
          </a:prstGeom>
          <a:solidFill>
            <a:srgbClr val="00868B"/>
          </a:solidFill>
          <a:ln w="12700">
            <a:solidFill>
              <a:srgbClr val="00868B"/>
            </a:solidFill>
            <a:prstDash val="solid"/>
          </a:ln>
        </p:spPr>
      </p:sp>
      <p:sp>
        <p:nvSpPr>
          <p:cNvPr id="12" name="Text 9"/>
          <p:cNvSpPr txBox="1"/>
          <p:nvPr/>
        </p:nvSpPr>
        <p:spPr>
          <a:xfrm>
            <a:off x="5669280" y="292608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03</a:t>
            </a:r>
            <a:endParaRPr lang="en-US" sz="3100" dirty="0"/>
          </a:p>
        </p:txBody>
      </p:sp>
      <p:sp>
        <p:nvSpPr>
          <p:cNvPr id="13" name="Text 10"/>
          <p:cNvSpPr txBox="1"/>
          <p:nvPr/>
        </p:nvSpPr>
        <p:spPr>
          <a:xfrm>
            <a:off x="5669280" y="374904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Problem: user and AI</a:t>
            </a:r>
            <a:endParaRPr lang="en-US" sz="1778" dirty="0"/>
          </a:p>
        </p:txBody>
      </p:sp>
      <p:sp>
        <p:nvSpPr>
          <p:cNvPr id="14" name="Shape 11"/>
          <p:cNvSpPr/>
          <p:nvPr/>
        </p:nvSpPr>
        <p:spPr>
          <a:xfrm>
            <a:off x="7863840" y="2651760"/>
            <a:ext cx="2286000" cy="2743200"/>
          </a:xfrm>
          <a:prstGeom prst="rect">
            <a:avLst/>
          </a:prstGeom>
          <a:solidFill>
            <a:srgbClr val="3A7D55"/>
          </a:solidFill>
          <a:ln w="12700">
            <a:solidFill>
              <a:srgbClr val="3A7D55"/>
            </a:solidFill>
            <a:prstDash val="solid"/>
          </a:ln>
        </p:spPr>
      </p:sp>
      <p:sp>
        <p:nvSpPr>
          <p:cNvPr id="15" name="Text 12"/>
          <p:cNvSpPr txBox="1"/>
          <p:nvPr/>
        </p:nvSpPr>
        <p:spPr>
          <a:xfrm>
            <a:off x="8138160" y="292608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04</a:t>
            </a:r>
            <a:endParaRPr lang="en-US" sz="3100" dirty="0"/>
          </a:p>
        </p:txBody>
      </p:sp>
      <p:sp>
        <p:nvSpPr>
          <p:cNvPr id="16" name="Text 13"/>
          <p:cNvSpPr txBox="1"/>
          <p:nvPr/>
        </p:nvSpPr>
        <p:spPr>
          <a:xfrm>
            <a:off x="8138160" y="374904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Users</a:t>
            </a:r>
            <a:endParaRPr lang="en-US" sz="1778" dirty="0"/>
          </a:p>
        </p:txBody>
      </p:sp>
      <p:sp>
        <p:nvSpPr>
          <p:cNvPr id="17" name="Shape 14"/>
          <p:cNvSpPr/>
          <p:nvPr/>
        </p:nvSpPr>
        <p:spPr>
          <a:xfrm>
            <a:off x="10332720" y="2651760"/>
            <a:ext cx="2286000" cy="2743200"/>
          </a:xfrm>
          <a:prstGeom prst="rect">
            <a:avLst/>
          </a:prstGeom>
          <a:solidFill>
            <a:srgbClr val="A12A37"/>
          </a:solidFill>
          <a:ln w="12700">
            <a:solidFill>
              <a:srgbClr val="A12A37"/>
            </a:solidFill>
            <a:prstDash val="solid"/>
          </a:ln>
        </p:spPr>
      </p:sp>
      <p:sp>
        <p:nvSpPr>
          <p:cNvPr id="18" name="Text 15"/>
          <p:cNvSpPr txBox="1"/>
          <p:nvPr/>
        </p:nvSpPr>
        <p:spPr>
          <a:xfrm>
            <a:off x="10607040" y="292608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05</a:t>
            </a:r>
            <a:endParaRPr lang="en-US" sz="3100" dirty="0"/>
          </a:p>
        </p:txBody>
      </p:sp>
      <p:sp>
        <p:nvSpPr>
          <p:cNvPr id="19" name="Text 16"/>
          <p:cNvSpPr txBox="1"/>
          <p:nvPr/>
        </p:nvSpPr>
        <p:spPr>
          <a:xfrm>
            <a:off x="10607040" y="374904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The solution, hi-fi</a:t>
            </a:r>
            <a:endParaRPr lang="en-US" sz="1778" dirty="0"/>
          </a:p>
        </p:txBody>
      </p:sp>
      <p:sp>
        <p:nvSpPr>
          <p:cNvPr id="20" name="Shape 17"/>
          <p:cNvSpPr/>
          <p:nvPr/>
        </p:nvSpPr>
        <p:spPr>
          <a:xfrm>
            <a:off x="457200" y="5760720"/>
            <a:ext cx="2286000" cy="2743200"/>
          </a:xfrm>
          <a:prstGeom prst="rect">
            <a:avLst/>
          </a:prstGeom>
          <a:solidFill>
            <a:srgbClr val="1F1F1F"/>
          </a:solidFill>
          <a:ln w="12700">
            <a:solidFill>
              <a:srgbClr val="1F1F1F"/>
            </a:solidFill>
            <a:prstDash val="solid"/>
          </a:ln>
        </p:spPr>
      </p:sp>
      <p:sp>
        <p:nvSpPr>
          <p:cNvPr id="21" name="Text 18"/>
          <p:cNvSpPr txBox="1"/>
          <p:nvPr/>
        </p:nvSpPr>
        <p:spPr>
          <a:xfrm>
            <a:off x="731520" y="603504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06</a:t>
            </a:r>
            <a:endParaRPr lang="en-US" sz="3100" dirty="0"/>
          </a:p>
        </p:txBody>
      </p:sp>
      <p:sp>
        <p:nvSpPr>
          <p:cNvPr id="22" name="Text 19"/>
          <p:cNvSpPr txBox="1"/>
          <p:nvPr/>
        </p:nvSpPr>
        <p:spPr>
          <a:xfrm>
            <a:off x="731520" y="685800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Reasoning &amp; trade-offs</a:t>
            </a:r>
            <a:endParaRPr lang="en-US" sz="1778" dirty="0"/>
          </a:p>
        </p:txBody>
      </p:sp>
      <p:sp>
        <p:nvSpPr>
          <p:cNvPr id="23" name="Shape 20"/>
          <p:cNvSpPr/>
          <p:nvPr/>
        </p:nvSpPr>
        <p:spPr>
          <a:xfrm>
            <a:off x="2926080" y="5760720"/>
            <a:ext cx="2286000" cy="2743200"/>
          </a:xfrm>
          <a:prstGeom prst="rect">
            <a:avLst/>
          </a:prstGeom>
          <a:solidFill>
            <a:srgbClr val="595959"/>
          </a:solidFill>
          <a:ln w="12700">
            <a:solidFill>
              <a:srgbClr val="595959"/>
            </a:solidFill>
            <a:prstDash val="solid"/>
          </a:ln>
        </p:spPr>
      </p:sp>
      <p:sp>
        <p:nvSpPr>
          <p:cNvPr id="24" name="Text 21"/>
          <p:cNvSpPr txBox="1"/>
          <p:nvPr/>
        </p:nvSpPr>
        <p:spPr>
          <a:xfrm>
            <a:off x="3200400" y="603504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07</a:t>
            </a:r>
            <a:endParaRPr lang="en-US" sz="3100" dirty="0"/>
          </a:p>
        </p:txBody>
      </p:sp>
      <p:sp>
        <p:nvSpPr>
          <p:cNvPr id="25" name="Text 22"/>
          <p:cNvSpPr txBox="1"/>
          <p:nvPr/>
        </p:nvSpPr>
        <p:spPr>
          <a:xfrm>
            <a:off x="3200400" y="685800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Methodology</a:t>
            </a:r>
            <a:endParaRPr lang="en-US" sz="1778" dirty="0"/>
          </a:p>
        </p:txBody>
      </p:sp>
      <p:sp>
        <p:nvSpPr>
          <p:cNvPr id="26" name="Shape 23"/>
          <p:cNvSpPr/>
          <p:nvPr/>
        </p:nvSpPr>
        <p:spPr>
          <a:xfrm>
            <a:off x="5394960" y="5760720"/>
            <a:ext cx="2286000" cy="2743200"/>
          </a:xfrm>
          <a:prstGeom prst="rect">
            <a:avLst/>
          </a:prstGeom>
          <a:solidFill>
            <a:srgbClr val="744A6C"/>
          </a:solidFill>
          <a:ln w="12700">
            <a:solidFill>
              <a:srgbClr val="744A6C"/>
            </a:solidFill>
            <a:prstDash val="solid"/>
          </a:ln>
        </p:spPr>
      </p:sp>
      <p:sp>
        <p:nvSpPr>
          <p:cNvPr id="27" name="Text 24"/>
          <p:cNvSpPr txBox="1"/>
          <p:nvPr/>
        </p:nvSpPr>
        <p:spPr>
          <a:xfrm>
            <a:off x="5669280" y="603504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08</a:t>
            </a:r>
            <a:endParaRPr lang="en-US" sz="3100" dirty="0"/>
          </a:p>
        </p:txBody>
      </p:sp>
      <p:sp>
        <p:nvSpPr>
          <p:cNvPr id="28" name="Text 25"/>
          <p:cNvSpPr txBox="1"/>
          <p:nvPr/>
        </p:nvSpPr>
        <p:spPr>
          <a:xfrm>
            <a:off x="5669280" y="685800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Implementation</a:t>
            </a:r>
            <a:endParaRPr lang="en-US" sz="1778" dirty="0"/>
          </a:p>
        </p:txBody>
      </p:sp>
      <p:sp>
        <p:nvSpPr>
          <p:cNvPr id="29" name="Shape 26"/>
          <p:cNvSpPr/>
          <p:nvPr/>
        </p:nvSpPr>
        <p:spPr>
          <a:xfrm>
            <a:off x="7863840" y="5760720"/>
            <a:ext cx="2286000" cy="2743200"/>
          </a:xfrm>
          <a:prstGeom prst="rect">
            <a:avLst/>
          </a:prstGeom>
          <a:solidFill>
            <a:srgbClr val="C45A35"/>
          </a:solidFill>
          <a:ln w="12700">
            <a:solidFill>
              <a:srgbClr val="C45A35"/>
            </a:solidFill>
            <a:prstDash val="solid"/>
          </a:ln>
        </p:spPr>
      </p:sp>
      <p:sp>
        <p:nvSpPr>
          <p:cNvPr id="30" name="Text 27"/>
          <p:cNvSpPr txBox="1"/>
          <p:nvPr/>
        </p:nvSpPr>
        <p:spPr>
          <a:xfrm>
            <a:off x="8138160" y="603504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09</a:t>
            </a:r>
            <a:endParaRPr lang="en-US" sz="3100" dirty="0"/>
          </a:p>
        </p:txBody>
      </p:sp>
      <p:sp>
        <p:nvSpPr>
          <p:cNvPr id="31" name="Text 28"/>
          <p:cNvSpPr txBox="1"/>
          <p:nvPr/>
        </p:nvSpPr>
        <p:spPr>
          <a:xfrm>
            <a:off x="8138160" y="685800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Results &amp; impact</a:t>
            </a:r>
            <a:endParaRPr lang="en-US" sz="1778" dirty="0"/>
          </a:p>
        </p:txBody>
      </p:sp>
      <p:sp>
        <p:nvSpPr>
          <p:cNvPr id="32" name="Shape 29"/>
          <p:cNvSpPr/>
          <p:nvPr/>
        </p:nvSpPr>
        <p:spPr>
          <a:xfrm>
            <a:off x="10332720" y="5760720"/>
            <a:ext cx="2286000" cy="2743200"/>
          </a:xfrm>
          <a:prstGeom prst="rect">
            <a:avLst/>
          </a:prstGeom>
          <a:solidFill>
            <a:srgbClr val="5B3F96"/>
          </a:solidFill>
          <a:ln w="12700">
            <a:solidFill>
              <a:srgbClr val="5B3F96"/>
            </a:solidFill>
            <a:prstDash val="solid"/>
          </a:ln>
        </p:spPr>
      </p:sp>
      <p:sp>
        <p:nvSpPr>
          <p:cNvPr id="33" name="Text 30"/>
          <p:cNvSpPr txBox="1"/>
          <p:nvPr/>
        </p:nvSpPr>
        <p:spPr>
          <a:xfrm>
            <a:off x="10607040" y="603504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10</a:t>
            </a:r>
            <a:endParaRPr lang="en-US" sz="3100" dirty="0"/>
          </a:p>
        </p:txBody>
      </p:sp>
      <p:sp>
        <p:nvSpPr>
          <p:cNvPr id="34" name="Text 31"/>
          <p:cNvSpPr txBox="1"/>
          <p:nvPr/>
        </p:nvSpPr>
        <p:spPr>
          <a:xfrm>
            <a:off x="10607040" y="685800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Learnings &amp; next steps</a:t>
            </a:r>
            <a:endParaRPr lang="en-US" sz="1778"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01 · Overview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Five screens, one trade, one place for AI</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A mobile trading prototype with AI screens beside the order flow.</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Shape 3"/>
          <p:cNvSpPr/>
          <p:nvPr/>
        </p:nvSpPr>
        <p:spPr>
          <a:xfrm>
            <a:off x="457200" y="2286000"/>
            <a:ext cx="6309360" cy="6766560"/>
          </a:xfrm>
          <a:prstGeom prst="rect">
            <a:avLst/>
          </a:prstGeom>
          <a:solidFill>
            <a:srgbClr val="14161D"/>
          </a:solidFill>
          <a:ln w="12700">
            <a:solidFill>
              <a:srgbClr val="14161D"/>
            </a:solidFill>
            <a:prstDash val="solid"/>
          </a:ln>
        </p:spPr>
      </p:sp>
      <p:sp>
        <p:nvSpPr>
          <p:cNvPr id="7" name="Shape 4"/>
          <p:cNvSpPr/>
          <p:nvPr/>
        </p:nvSpPr>
        <p:spPr>
          <a:xfrm>
            <a:off x="2286000" y="2651760"/>
            <a:ext cx="2789530" cy="6035040"/>
          </a:xfrm>
          <a:prstGeom prst="rect">
            <a:avLst/>
          </a:prstGeom>
          <a:solidFill>
            <a:srgbClr val="14161D"/>
          </a:solidFill>
          <a:ln w="12700">
            <a:solidFill>
              <a:srgbClr val="14161D"/>
            </a:solidFill>
            <a:prstDash val="solid"/>
          </a:ln>
        </p:spPr>
      </p:sp>
      <p:pic>
        <p:nvPicPr>
          <p:cNvPr id="8" name="Image 1" descr="/tmp/meridian-deck/img/dash.png">    </p:cNvPr>
          <p:cNvPicPr>
            <a:picLocks noChangeAspect="1"/>
          </p:cNvPicPr>
          <p:nvPr/>
        </p:nvPicPr>
        <p:blipFill>
          <a:blip r:embed="rId3"/>
          <a:stretch>
            <a:fillRect/>
          </a:stretch>
        </p:blipFill>
        <p:spPr>
          <a:xfrm>
            <a:off x="2286000" y="2651760"/>
            <a:ext cx="2789530" cy="6035040"/>
          </a:xfrm>
          <a:prstGeom prst="rect">
            <a:avLst/>
          </a:prstGeom>
        </p:spPr>
      </p:pic>
      <p:sp>
        <p:nvSpPr>
          <p:cNvPr id="9" name="Text 5"/>
          <p:cNvSpPr txBox="1"/>
          <p:nvPr/>
        </p:nvSpPr>
        <p:spPr>
          <a:xfrm>
            <a:off x="7223760" y="2377440"/>
            <a:ext cx="50292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PRODUCT</a:t>
            </a:r>
            <a:endParaRPr lang="en-US" sz="1280" dirty="0"/>
          </a:p>
        </p:txBody>
      </p:sp>
      <p:sp>
        <p:nvSpPr>
          <p:cNvPr id="10" name="Text 6"/>
          <p:cNvSpPr txBox="1"/>
          <p:nvPr/>
        </p:nvSpPr>
        <p:spPr>
          <a:xfrm>
            <a:off x="7223760" y="2743200"/>
            <a:ext cx="5303520" cy="2926080"/>
          </a:xfrm>
          <a:prstGeom prst="rect">
            <a:avLst/>
          </a:prstGeom>
          <a:noFill/>
          <a:ln/>
        </p:spPr>
        <p:txBody>
          <a:bodyPr wrap="square" lIns="0" tIns="0" rIns="0" bIns="0" rtlCol="0" anchor="t"/>
          <a:lstStyle/>
          <a:p>
            <a:pPr indent="0" marL="0">
              <a:buNone/>
            </a:pPr>
            <a:r>
              <a:rPr lang="en-US" sz="1849" dirty="0">
                <a:solidFill>
                  <a:srgbClr val="1F1F1F"/>
                </a:solidFill>
                <a:latin typeface="Helvetica Neue Light" pitchFamily="34" charset="0"/>
                <a:ea typeface="Helvetica Neue Light" pitchFamily="34" charset="-122"/>
                <a:cs typeface="Helvetica Neue Light" pitchFamily="34" charset="-120"/>
              </a:rPr>
              <a:t>An AI layer on a trading app. Users see what needs attention (Insight, Guard), what might fit their plan (Prospect), and whether their mix should change (Adapt), next to the order flow.</a:t>
            </a:r>
            <a:endParaRPr lang="en-US" sz="1849" dirty="0"/>
          </a:p>
        </p:txBody>
      </p:sp>
      <p:sp>
        <p:nvSpPr>
          <p:cNvPr id="11" name="Text 7"/>
          <p:cNvSpPr txBox="1"/>
          <p:nvPr/>
        </p:nvSpPr>
        <p:spPr>
          <a:xfrm>
            <a:off x="7223760" y="6035040"/>
            <a:ext cx="5029200" cy="274320"/>
          </a:xfrm>
          <a:prstGeom prst="rect">
            <a:avLst/>
          </a:prstGeom>
          <a:noFill/>
          <a:ln/>
        </p:spPr>
        <p:txBody>
          <a:bodyPr wrap="square" lIns="0" tIns="0" rIns="0" bIns="0" rtlCol="0" anchor="t"/>
          <a:lstStyle/>
          <a:p>
            <a:pPr indent="0" marL="0">
              <a:buNone/>
            </a:pPr>
            <a:r>
              <a:rPr lang="en-US" sz="1350" dirty="0">
                <a:solidFill>
                  <a:srgbClr val="5B3F96"/>
                </a:solidFill>
                <a:latin typeface="Helvetica Neue" pitchFamily="34" charset="0"/>
                <a:ea typeface="Helvetica Neue" pitchFamily="34" charset="-122"/>
                <a:cs typeface="Helvetica Neue" pitchFamily="34" charset="-120"/>
              </a:rPr>
              <a:t>Scope</a:t>
            </a:r>
            <a:endParaRPr lang="en-US" sz="1350" dirty="0"/>
          </a:p>
        </p:txBody>
      </p:sp>
      <p:sp>
        <p:nvSpPr>
          <p:cNvPr id="12" name="Text 8"/>
          <p:cNvSpPr txBox="1"/>
          <p:nvPr/>
        </p:nvSpPr>
        <p:spPr>
          <a:xfrm>
            <a:off x="7223760" y="6400800"/>
            <a:ext cx="5303520" cy="548640"/>
          </a:xfrm>
          <a:prstGeom prst="rect">
            <a:avLst/>
          </a:prstGeom>
          <a:noFill/>
          <a:ln/>
        </p:spPr>
        <p:txBody>
          <a:bodyPr wrap="square" lIns="0" tIns="0" rIns="0" bIns="0" rtlCol="0" anchor="t"/>
          <a:lstStyle/>
          <a:p>
            <a:pPr indent="0" marL="0">
              <a:buNone/>
            </a:pPr>
            <a:r>
              <a:rPr lang="en-US" sz="1350" dirty="0">
                <a:solidFill>
                  <a:srgbClr val="6E6E6E"/>
                </a:solidFill>
                <a:latin typeface="Helvetica Neue Light" pitchFamily="34" charset="0"/>
                <a:ea typeface="Helvetica Neue Light" pitchFamily="34" charset="-122"/>
                <a:cs typeface="Helvetica Neue Light" pitchFamily="34" charset="-120"/>
              </a:rPr>
              <a:t>5 core screens · 2 trade flows of 8 steps each · mock data only</a:t>
            </a:r>
            <a:endParaRPr lang="en-US" sz="1350" dirty="0"/>
          </a:p>
        </p:txBody>
      </p:sp>
      <p:sp>
        <p:nvSpPr>
          <p:cNvPr id="13" name="Text 9"/>
          <p:cNvSpPr txBox="1"/>
          <p:nvPr/>
        </p:nvSpPr>
        <p:spPr>
          <a:xfrm>
            <a:off x="7223760" y="7223760"/>
            <a:ext cx="5029200" cy="274320"/>
          </a:xfrm>
          <a:prstGeom prst="rect">
            <a:avLst/>
          </a:prstGeom>
          <a:noFill/>
          <a:ln/>
        </p:spPr>
        <p:txBody>
          <a:bodyPr wrap="square" lIns="0" tIns="0" rIns="0" bIns="0" rtlCol="0" anchor="t"/>
          <a:lstStyle/>
          <a:p>
            <a:pPr indent="0" marL="0">
              <a:buNone/>
            </a:pPr>
            <a:r>
              <a:rPr lang="en-US" sz="1350" dirty="0">
                <a:solidFill>
                  <a:srgbClr val="C45A35"/>
                </a:solidFill>
                <a:latin typeface="Helvetica Neue" pitchFamily="34" charset="0"/>
                <a:ea typeface="Helvetica Neue" pitchFamily="34" charset="-122"/>
                <a:cs typeface="Helvetica Neue" pitchFamily="34" charset="-120"/>
              </a:rPr>
              <a:t>My role</a:t>
            </a:r>
            <a:endParaRPr lang="en-US" sz="1350" dirty="0"/>
          </a:p>
        </p:txBody>
      </p:sp>
      <p:sp>
        <p:nvSpPr>
          <p:cNvPr id="14" name="Text 10"/>
          <p:cNvSpPr txBox="1"/>
          <p:nvPr/>
        </p:nvSpPr>
        <p:spPr>
          <a:xfrm>
            <a:off x="7223760" y="7589520"/>
            <a:ext cx="5303520" cy="1097280"/>
          </a:xfrm>
          <a:prstGeom prst="rect">
            <a:avLst/>
          </a:prstGeom>
          <a:noFill/>
          <a:ln/>
        </p:spPr>
        <p:txBody>
          <a:bodyPr wrap="square" lIns="0" tIns="0" rIns="0" bIns="0" rtlCol="0" anchor="t"/>
          <a:lstStyle/>
          <a:p>
            <a:pPr indent="0" marL="0">
              <a:buNone/>
            </a:pPr>
            <a:r>
              <a:rPr lang="en-US" sz="1500" dirty="0">
                <a:solidFill>
                  <a:srgbClr val="1F1F1F"/>
                </a:solidFill>
                <a:latin typeface="Helvetica Neue Light" pitchFamily="34" charset="0"/>
                <a:ea typeface="Helvetica Neue Light" pitchFamily="34" charset="-122"/>
                <a:cs typeface="Helvetica Neue Light" pitchFamily="34" charset="-120"/>
              </a:rPr>
              <a:t>Lead UX designer. I framed the problem, designed the trade and AI flows, built the Figma design system, and produced the SwiftUI prototype. AI agents helped with drafting.</a:t>
            </a:r>
            <a:endParaRPr lang="en-US" sz="1500" dirty="0"/>
          </a:p>
        </p:txBody>
      </p:sp>
      <p:pic>
        <p:nvPicPr>
          <p:cNvPr id="15" name="Image 2"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02 · Context &amp; constraints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Context and constraints</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What the prototype has to prove, and what it cannot yet.</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Text 3"/>
          <p:cNvSpPr txBox="1"/>
          <p:nvPr/>
        </p:nvSpPr>
        <p:spPr>
          <a:xfrm>
            <a:off x="457200" y="2468880"/>
            <a:ext cx="5669280" cy="32004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BUSINESS CHALLENGE</a:t>
            </a:r>
            <a:endParaRPr lang="en-US" sz="1280" dirty="0"/>
          </a:p>
        </p:txBody>
      </p:sp>
      <p:sp>
        <p:nvSpPr>
          <p:cNvPr id="7" name="Text 4"/>
          <p:cNvSpPr txBox="1"/>
          <p:nvPr/>
        </p:nvSpPr>
        <p:spPr>
          <a:xfrm>
            <a:off x="457200" y="2971800"/>
            <a:ext cx="5669280" cy="173736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Show one complete loop, from noticing a change to placing an order, in a prototype stakeholders can test.</a:t>
            </a:r>
            <a:endParaRPr lang="en-US" sz="2200" dirty="0"/>
          </a:p>
        </p:txBody>
      </p:sp>
      <p:sp>
        <p:nvSpPr>
          <p:cNvPr id="8" name="Text 5"/>
          <p:cNvSpPr txBox="1"/>
          <p:nvPr/>
        </p:nvSpPr>
        <p:spPr>
          <a:xfrm>
            <a:off x="6766560" y="2468880"/>
            <a:ext cx="5669280" cy="32004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STAKEHOLDERS</a:t>
            </a:r>
            <a:endParaRPr lang="en-US" sz="1280" dirty="0"/>
          </a:p>
        </p:txBody>
      </p:sp>
      <p:sp>
        <p:nvSpPr>
          <p:cNvPr id="9" name="Text 6"/>
          <p:cNvSpPr txBox="1"/>
          <p:nvPr/>
        </p:nvSpPr>
        <p:spPr>
          <a:xfrm>
            <a:off x="6766560" y="2971800"/>
            <a:ext cx="5669280" cy="173736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Active traders, busy investors and first-time investors (draft personas), plus product, design, engineering and compliance.</a:t>
            </a:r>
            <a:endParaRPr lang="en-US" sz="2200" dirty="0"/>
          </a:p>
        </p:txBody>
      </p:sp>
      <p:sp>
        <p:nvSpPr>
          <p:cNvPr id="10" name="Text 7"/>
          <p:cNvSpPr txBox="1"/>
          <p:nvPr/>
        </p:nvSpPr>
        <p:spPr>
          <a:xfrm>
            <a:off x="457200" y="5760720"/>
            <a:ext cx="5669280" cy="32004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SUCCESS</a:t>
            </a:r>
            <a:endParaRPr lang="en-US" sz="1280" dirty="0"/>
          </a:p>
        </p:txBody>
      </p:sp>
      <p:sp>
        <p:nvSpPr>
          <p:cNvPr id="11" name="Text 8"/>
          <p:cNvSpPr txBox="1"/>
          <p:nvPr/>
        </p:nvSpPr>
        <p:spPr>
          <a:xfrm>
            <a:off x="457200" y="6263640"/>
            <a:ext cx="5669280" cy="173736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Stakeholders complete a trade and read the AI output without help. Targets are planned, to be set with stakeholders.</a:t>
            </a:r>
            <a:endParaRPr lang="en-US" sz="2200" dirty="0"/>
          </a:p>
        </p:txBody>
      </p:sp>
      <p:sp>
        <p:nvSpPr>
          <p:cNvPr id="12" name="Text 9"/>
          <p:cNvSpPr txBox="1"/>
          <p:nvPr/>
        </p:nvSpPr>
        <p:spPr>
          <a:xfrm>
            <a:off x="6766560" y="5760720"/>
            <a:ext cx="5669280" cy="320040"/>
          </a:xfrm>
          <a:prstGeom prst="rect">
            <a:avLst/>
          </a:prstGeom>
          <a:noFill/>
          <a:ln/>
        </p:spPr>
        <p:txBody>
          <a:bodyPr wrap="square" lIns="0" tIns="0" rIns="0" bIns="0" rtlCol="0" anchor="t"/>
          <a:lstStyle/>
          <a:p>
            <a:pPr indent="0" marL="0">
              <a:buNone/>
            </a:pPr>
            <a:r>
              <a:rPr lang="en-US" sz="1280" spc="100" kern="0" dirty="0">
                <a:solidFill>
                  <a:srgbClr val="A12A37"/>
                </a:solidFill>
                <a:latin typeface="Helvetica Neue" pitchFamily="34" charset="0"/>
                <a:ea typeface="Helvetica Neue" pitchFamily="34" charset="-122"/>
                <a:cs typeface="Helvetica Neue" pitchFamily="34" charset="-120"/>
              </a:rPr>
              <a:t>CONSTRAINTS</a:t>
            </a:r>
            <a:endParaRPr lang="en-US" sz="1280" dirty="0"/>
          </a:p>
        </p:txBody>
      </p:sp>
      <p:sp>
        <p:nvSpPr>
          <p:cNvPr id="13" name="Text 10"/>
          <p:cNvSpPr txBox="1"/>
          <p:nvPr/>
        </p:nvSpPr>
        <p:spPr>
          <a:xfrm>
            <a:off x="6766560" y="6263640"/>
            <a:ext cx="5669280" cy="173736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Mock data and a mock API only. No live brokerage or market data. Trade and AI copy need compliance review.</a:t>
            </a:r>
            <a:endParaRPr lang="en-US" sz="2200" dirty="0"/>
          </a:p>
        </p:txBody>
      </p:sp>
      <p:pic>
        <p:nvPicPr>
          <p:cNvPr id="14"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02 · Context &amp; constraints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How the work was done, and what is still open</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Shape 2"/>
          <p:cNvSpPr/>
          <p:nvPr/>
        </p:nvSpPr>
        <p:spPr>
          <a:xfrm>
            <a:off x="457200" y="2468880"/>
            <a:ext cx="420624" cy="420624"/>
          </a:xfrm>
          <a:prstGeom prst="ellipse">
            <a:avLst/>
          </a:prstGeom>
          <a:solidFill>
            <a:srgbClr val="3A7D55"/>
          </a:solidFill>
          <a:ln w="12700">
            <a:solidFill>
              <a:srgbClr val="3A7D55"/>
            </a:solidFill>
            <a:prstDash val="solid"/>
          </a:ln>
        </p:spPr>
      </p:sp>
      <p:sp>
        <p:nvSpPr>
          <p:cNvPr id="6" name="Text 3"/>
          <p:cNvSpPr txBox="1"/>
          <p:nvPr/>
        </p:nvSpPr>
        <p:spPr>
          <a:xfrm>
            <a:off x="457200"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1</a:t>
            </a:r>
            <a:endParaRPr lang="en-US" sz="1564" dirty="0"/>
          </a:p>
        </p:txBody>
      </p:sp>
      <p:sp>
        <p:nvSpPr>
          <p:cNvPr id="7" name="Text 4"/>
          <p:cNvSpPr txBox="1"/>
          <p:nvPr/>
        </p:nvSpPr>
        <p:spPr>
          <a:xfrm>
            <a:off x="457200"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Frame</a:t>
            </a:r>
            <a:endParaRPr lang="en-US" sz="2000" dirty="0"/>
          </a:p>
        </p:txBody>
      </p:sp>
      <p:sp>
        <p:nvSpPr>
          <p:cNvPr id="8" name="Text 5"/>
          <p:cNvSpPr txBox="1"/>
          <p:nvPr/>
        </p:nvSpPr>
        <p:spPr>
          <a:xfrm>
            <a:off x="457200" y="3657600"/>
            <a:ext cx="1828800" cy="274320"/>
          </a:xfrm>
          <a:prstGeom prst="rect">
            <a:avLst/>
          </a:prstGeom>
          <a:noFill/>
          <a:ln/>
        </p:spPr>
        <p:txBody>
          <a:bodyPr wrap="square" lIns="0" tIns="0" rIns="0" bIns="0" rtlCol="0" anchor="t"/>
          <a:lstStyle/>
          <a:p>
            <a:pPr indent="0" marL="0">
              <a:buNone/>
            </a:pPr>
            <a:r>
              <a:rPr lang="en-US" sz="1280" spc="100" kern="0" dirty="0">
                <a:solidFill>
                  <a:srgbClr val="3A7D55"/>
                </a:solidFill>
                <a:latin typeface="Helvetica Neue" pitchFamily="34" charset="0"/>
                <a:ea typeface="Helvetica Neue" pitchFamily="34" charset="-122"/>
                <a:cs typeface="Helvetica Neue" pitchFamily="34" charset="-120"/>
              </a:rPr>
              <a:t>DONE</a:t>
            </a:r>
            <a:endParaRPr lang="en-US" sz="1280" dirty="0"/>
          </a:p>
        </p:txBody>
      </p:sp>
      <p:sp>
        <p:nvSpPr>
          <p:cNvPr id="9" name="Text 6"/>
          <p:cNvSpPr txBox="1"/>
          <p:nvPr/>
        </p:nvSpPr>
        <p:spPr>
          <a:xfrm>
            <a:off x="457200"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Problem, scope and assumptions recorded on the FigJam board.</a:t>
            </a:r>
            <a:endParaRPr lang="en-US" sz="1500" dirty="0"/>
          </a:p>
        </p:txBody>
      </p:sp>
      <p:sp>
        <p:nvSpPr>
          <p:cNvPr id="10" name="Shape 7"/>
          <p:cNvSpPr/>
          <p:nvPr/>
        </p:nvSpPr>
        <p:spPr>
          <a:xfrm>
            <a:off x="2509479" y="2468880"/>
            <a:ext cx="420624" cy="420624"/>
          </a:xfrm>
          <a:prstGeom prst="ellipse">
            <a:avLst/>
          </a:prstGeom>
          <a:solidFill>
            <a:srgbClr val="C45A35"/>
          </a:solidFill>
          <a:ln w="12700">
            <a:solidFill>
              <a:srgbClr val="C45A35"/>
            </a:solidFill>
            <a:prstDash val="solid"/>
          </a:ln>
        </p:spPr>
      </p:sp>
      <p:sp>
        <p:nvSpPr>
          <p:cNvPr id="11" name="Text 8"/>
          <p:cNvSpPr txBox="1"/>
          <p:nvPr/>
        </p:nvSpPr>
        <p:spPr>
          <a:xfrm>
            <a:off x="2509479"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2</a:t>
            </a:r>
            <a:endParaRPr lang="en-US" sz="1564" dirty="0"/>
          </a:p>
        </p:txBody>
      </p:sp>
      <p:sp>
        <p:nvSpPr>
          <p:cNvPr id="12" name="Text 9"/>
          <p:cNvSpPr txBox="1"/>
          <p:nvPr/>
        </p:nvSpPr>
        <p:spPr>
          <a:xfrm>
            <a:off x="2509479"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Hypothesize</a:t>
            </a:r>
            <a:endParaRPr lang="en-US" sz="2000" dirty="0"/>
          </a:p>
        </p:txBody>
      </p:sp>
      <p:sp>
        <p:nvSpPr>
          <p:cNvPr id="13" name="Text 10"/>
          <p:cNvSpPr txBox="1"/>
          <p:nvPr/>
        </p:nvSpPr>
        <p:spPr>
          <a:xfrm>
            <a:off x="2509479" y="3657600"/>
            <a:ext cx="18288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DRAFTED</a:t>
            </a:r>
            <a:endParaRPr lang="en-US" sz="1280" dirty="0"/>
          </a:p>
        </p:txBody>
      </p:sp>
      <p:sp>
        <p:nvSpPr>
          <p:cNvPr id="14" name="Text 11"/>
          <p:cNvSpPr txBox="1"/>
          <p:nvPr/>
        </p:nvSpPr>
        <p:spPr>
          <a:xfrm>
            <a:off x="2509479"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Three draft personas, marked untested.</a:t>
            </a:r>
            <a:endParaRPr lang="en-US" sz="1500" dirty="0"/>
          </a:p>
        </p:txBody>
      </p:sp>
      <p:sp>
        <p:nvSpPr>
          <p:cNvPr id="15" name="Shape 12"/>
          <p:cNvSpPr/>
          <p:nvPr/>
        </p:nvSpPr>
        <p:spPr>
          <a:xfrm>
            <a:off x="4561759" y="2468880"/>
            <a:ext cx="420624" cy="420624"/>
          </a:xfrm>
          <a:prstGeom prst="ellipse">
            <a:avLst/>
          </a:prstGeom>
          <a:solidFill>
            <a:srgbClr val="C45A35"/>
          </a:solidFill>
          <a:ln w="12700">
            <a:solidFill>
              <a:srgbClr val="C45A35"/>
            </a:solidFill>
            <a:prstDash val="solid"/>
          </a:ln>
        </p:spPr>
      </p:sp>
      <p:sp>
        <p:nvSpPr>
          <p:cNvPr id="16" name="Text 13"/>
          <p:cNvSpPr txBox="1"/>
          <p:nvPr/>
        </p:nvSpPr>
        <p:spPr>
          <a:xfrm>
            <a:off x="4561759"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3</a:t>
            </a:r>
            <a:endParaRPr lang="en-US" sz="1564" dirty="0"/>
          </a:p>
        </p:txBody>
      </p:sp>
      <p:sp>
        <p:nvSpPr>
          <p:cNvPr id="17" name="Text 14"/>
          <p:cNvSpPr txBox="1"/>
          <p:nvPr/>
        </p:nvSpPr>
        <p:spPr>
          <a:xfrm>
            <a:off x="4561759"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Map flows</a:t>
            </a:r>
            <a:endParaRPr lang="en-US" sz="2000" dirty="0"/>
          </a:p>
        </p:txBody>
      </p:sp>
      <p:sp>
        <p:nvSpPr>
          <p:cNvPr id="18" name="Text 15"/>
          <p:cNvSpPr txBox="1"/>
          <p:nvPr/>
        </p:nvSpPr>
        <p:spPr>
          <a:xfrm>
            <a:off x="4561759" y="3657600"/>
            <a:ext cx="18288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DRAFTED</a:t>
            </a:r>
            <a:endParaRPr lang="en-US" sz="1280" dirty="0"/>
          </a:p>
        </p:txBody>
      </p:sp>
      <p:sp>
        <p:nvSpPr>
          <p:cNvPr id="19" name="Text 16"/>
          <p:cNvSpPr txBox="1"/>
          <p:nvPr/>
        </p:nvSpPr>
        <p:spPr>
          <a:xfrm>
            <a:off x="4561759"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Share and dollar trade flows, and the AI feature flow, drafted in Figma.</a:t>
            </a:r>
            <a:endParaRPr lang="en-US" sz="1500" dirty="0"/>
          </a:p>
        </p:txBody>
      </p:sp>
      <p:sp>
        <p:nvSpPr>
          <p:cNvPr id="20" name="Shape 17"/>
          <p:cNvSpPr/>
          <p:nvPr/>
        </p:nvSpPr>
        <p:spPr>
          <a:xfrm>
            <a:off x="6614038" y="2468880"/>
            <a:ext cx="420624" cy="420624"/>
          </a:xfrm>
          <a:prstGeom prst="ellipse">
            <a:avLst/>
          </a:prstGeom>
          <a:solidFill>
            <a:srgbClr val="5B3F96"/>
          </a:solidFill>
          <a:ln w="12700">
            <a:solidFill>
              <a:srgbClr val="5B3F96"/>
            </a:solidFill>
            <a:prstDash val="solid"/>
          </a:ln>
        </p:spPr>
      </p:sp>
      <p:sp>
        <p:nvSpPr>
          <p:cNvPr id="21" name="Text 18"/>
          <p:cNvSpPr txBox="1"/>
          <p:nvPr/>
        </p:nvSpPr>
        <p:spPr>
          <a:xfrm>
            <a:off x="6614038"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4</a:t>
            </a:r>
            <a:endParaRPr lang="en-US" sz="1564" dirty="0"/>
          </a:p>
        </p:txBody>
      </p:sp>
      <p:sp>
        <p:nvSpPr>
          <p:cNvPr id="22" name="Text 19"/>
          <p:cNvSpPr txBox="1"/>
          <p:nvPr/>
        </p:nvSpPr>
        <p:spPr>
          <a:xfrm>
            <a:off x="6614038"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Design system</a:t>
            </a:r>
            <a:endParaRPr lang="en-US" sz="2000" dirty="0"/>
          </a:p>
        </p:txBody>
      </p:sp>
      <p:sp>
        <p:nvSpPr>
          <p:cNvPr id="23" name="Text 20"/>
          <p:cNvSpPr txBox="1"/>
          <p:nvPr/>
        </p:nvSpPr>
        <p:spPr>
          <a:xfrm>
            <a:off x="6614038" y="3657600"/>
            <a:ext cx="182880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IN PROGRESS</a:t>
            </a:r>
            <a:endParaRPr lang="en-US" sz="1280" dirty="0"/>
          </a:p>
        </p:txBody>
      </p:sp>
      <p:sp>
        <p:nvSpPr>
          <p:cNvPr id="24" name="Text 21"/>
          <p:cNvSpPr txBox="1"/>
          <p:nvPr/>
        </p:nvSpPr>
        <p:spPr>
          <a:xfrm>
            <a:off x="6614038"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Tokens shared between Figma and SwiftUI. Component library not yet audited.</a:t>
            </a:r>
            <a:endParaRPr lang="en-US" sz="1500" dirty="0"/>
          </a:p>
        </p:txBody>
      </p:sp>
      <p:sp>
        <p:nvSpPr>
          <p:cNvPr id="25" name="Shape 22"/>
          <p:cNvSpPr/>
          <p:nvPr/>
        </p:nvSpPr>
        <p:spPr>
          <a:xfrm>
            <a:off x="8666317" y="2468880"/>
            <a:ext cx="420624" cy="420624"/>
          </a:xfrm>
          <a:prstGeom prst="ellipse">
            <a:avLst/>
          </a:prstGeom>
          <a:solidFill>
            <a:srgbClr val="C45A35"/>
          </a:solidFill>
          <a:ln w="12700">
            <a:solidFill>
              <a:srgbClr val="C45A35"/>
            </a:solidFill>
            <a:prstDash val="solid"/>
          </a:ln>
        </p:spPr>
      </p:sp>
      <p:sp>
        <p:nvSpPr>
          <p:cNvPr id="26" name="Text 23"/>
          <p:cNvSpPr txBox="1"/>
          <p:nvPr/>
        </p:nvSpPr>
        <p:spPr>
          <a:xfrm>
            <a:off x="8666317"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5</a:t>
            </a:r>
            <a:endParaRPr lang="en-US" sz="1564" dirty="0"/>
          </a:p>
        </p:txBody>
      </p:sp>
      <p:sp>
        <p:nvSpPr>
          <p:cNvPr id="27" name="Text 24"/>
          <p:cNvSpPr txBox="1"/>
          <p:nvPr/>
        </p:nvSpPr>
        <p:spPr>
          <a:xfrm>
            <a:off x="8666317"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Design states</a:t>
            </a:r>
            <a:endParaRPr lang="en-US" sz="2000" dirty="0"/>
          </a:p>
        </p:txBody>
      </p:sp>
      <p:sp>
        <p:nvSpPr>
          <p:cNvPr id="28" name="Text 25"/>
          <p:cNvSpPr txBox="1"/>
          <p:nvPr/>
        </p:nvSpPr>
        <p:spPr>
          <a:xfrm>
            <a:off x="8666317" y="3657600"/>
            <a:ext cx="18288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DRAFTED</a:t>
            </a:r>
            <a:endParaRPr lang="en-US" sz="1280" dirty="0"/>
          </a:p>
        </p:txBody>
      </p:sp>
      <p:sp>
        <p:nvSpPr>
          <p:cNvPr id="29" name="Text 26"/>
          <p:cNvSpPr txBox="1"/>
          <p:nvPr/>
        </p:nvSpPr>
        <p:spPr>
          <a:xfrm>
            <a:off x="8666317"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Empty, loading, error and offline states on 06- Wireframes.</a:t>
            </a:r>
            <a:endParaRPr lang="en-US" sz="1500" dirty="0"/>
          </a:p>
        </p:txBody>
      </p:sp>
      <p:sp>
        <p:nvSpPr>
          <p:cNvPr id="30" name="Shape 27"/>
          <p:cNvSpPr/>
          <p:nvPr/>
        </p:nvSpPr>
        <p:spPr>
          <a:xfrm>
            <a:off x="10718597" y="2468880"/>
            <a:ext cx="420624" cy="420624"/>
          </a:xfrm>
          <a:prstGeom prst="ellipse">
            <a:avLst/>
          </a:prstGeom>
          <a:solidFill>
            <a:srgbClr val="6E6E6E"/>
          </a:solidFill>
          <a:ln w="12700">
            <a:solidFill>
              <a:srgbClr val="6E6E6E"/>
            </a:solidFill>
            <a:prstDash val="solid"/>
          </a:ln>
        </p:spPr>
      </p:sp>
      <p:sp>
        <p:nvSpPr>
          <p:cNvPr id="31" name="Text 28"/>
          <p:cNvSpPr txBox="1"/>
          <p:nvPr/>
        </p:nvSpPr>
        <p:spPr>
          <a:xfrm>
            <a:off x="10718597"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6</a:t>
            </a:r>
            <a:endParaRPr lang="en-US" sz="1564" dirty="0"/>
          </a:p>
        </p:txBody>
      </p:sp>
      <p:sp>
        <p:nvSpPr>
          <p:cNvPr id="32" name="Text 29"/>
          <p:cNvSpPr txBox="1"/>
          <p:nvPr/>
        </p:nvSpPr>
        <p:spPr>
          <a:xfrm>
            <a:off x="10718597"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Validate</a:t>
            </a:r>
            <a:endParaRPr lang="en-US" sz="2000" dirty="0"/>
          </a:p>
        </p:txBody>
      </p:sp>
      <p:sp>
        <p:nvSpPr>
          <p:cNvPr id="33" name="Text 30"/>
          <p:cNvSpPr txBox="1"/>
          <p:nvPr/>
        </p:nvSpPr>
        <p:spPr>
          <a:xfrm>
            <a:off x="10718597" y="3657600"/>
            <a:ext cx="1828800" cy="274320"/>
          </a:xfrm>
          <a:prstGeom prst="rect">
            <a:avLst/>
          </a:prstGeom>
          <a:noFill/>
          <a:ln/>
        </p:spPr>
        <p:txBody>
          <a:bodyPr wrap="square" lIns="0" tIns="0" rIns="0" bIns="0" rtlCol="0" anchor="t"/>
          <a:lstStyle/>
          <a:p>
            <a:pPr indent="0" marL="0">
              <a:buNone/>
            </a:pPr>
            <a:r>
              <a:rPr lang="en-US" sz="1280" spc="100" kern="0" dirty="0">
                <a:solidFill>
                  <a:srgbClr val="6E6E6E"/>
                </a:solidFill>
                <a:latin typeface="Helvetica Neue" pitchFamily="34" charset="0"/>
                <a:ea typeface="Helvetica Neue" pitchFamily="34" charset="-122"/>
                <a:cs typeface="Helvetica Neue" pitchFamily="34" charset="-120"/>
              </a:rPr>
              <a:t>PLANNED</a:t>
            </a:r>
            <a:endParaRPr lang="en-US" sz="1280" dirty="0"/>
          </a:p>
        </p:txBody>
      </p:sp>
      <p:sp>
        <p:nvSpPr>
          <p:cNvPr id="34" name="Text 31"/>
          <p:cNvSpPr txBox="1"/>
          <p:nvPr/>
        </p:nvSpPr>
        <p:spPr>
          <a:xfrm>
            <a:off x="10718597"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Interviews, usability tests and compliance review. Not started.</a:t>
            </a:r>
            <a:endParaRPr lang="en-US" sz="1500" dirty="0"/>
          </a:p>
        </p:txBody>
      </p:sp>
      <p:sp>
        <p:nvSpPr>
          <p:cNvPr id="35" name="Text 32"/>
          <p:cNvSpPr txBox="1"/>
          <p:nvPr/>
        </p:nvSpPr>
        <p:spPr>
          <a:xfrm>
            <a:off x="457200" y="6949440"/>
            <a:ext cx="12070080" cy="365760"/>
          </a:xfrm>
          <a:prstGeom prst="rect">
            <a:avLst/>
          </a:prstGeom>
          <a:noFill/>
          <a:ln/>
        </p:spPr>
        <p:txBody>
          <a:bodyPr wrap="square" lIns="0" tIns="0" rIns="0" bIns="0" rtlCol="0" anchor="t"/>
          <a:lstStyle/>
          <a:p>
            <a:pPr indent="0" marL="0">
              <a:buNone/>
            </a:pPr>
            <a:r>
              <a:rPr lang="en-US" sz="1500" dirty="0">
                <a:solidFill>
                  <a:srgbClr val="6E6E6E"/>
                </a:solidFill>
                <a:latin typeface="Helvetica Neue Light" pitchFamily="34" charset="0"/>
                <a:ea typeface="Helvetica Neue Light" pitchFamily="34" charset="-122"/>
                <a:cs typeface="Helvetica Neue Light" pitchFamily="34" charset="-120"/>
              </a:rPr>
              <a:t>Status is a designer’s self-assessment. No interviews or usability tests have run yet.</a:t>
            </a:r>
            <a:endParaRPr lang="en-US" sz="1500" dirty="0"/>
          </a:p>
        </p:txBody>
      </p:sp>
      <p:pic>
        <p:nvPicPr>
          <p:cNvPr id="36"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03 · Problem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The user problem and the AI problem, defined separately</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Shape 2"/>
          <p:cNvSpPr/>
          <p:nvPr/>
        </p:nvSpPr>
        <p:spPr>
          <a:xfrm>
            <a:off x="457200" y="2468880"/>
            <a:ext cx="420624" cy="420624"/>
          </a:xfrm>
          <a:prstGeom prst="ellipse">
            <a:avLst/>
          </a:prstGeom>
          <a:solidFill>
            <a:srgbClr val="C45A35"/>
          </a:solidFill>
          <a:ln w="12700">
            <a:solidFill>
              <a:srgbClr val="C45A35"/>
            </a:solidFill>
            <a:prstDash val="solid"/>
          </a:ln>
        </p:spPr>
      </p:sp>
      <p:sp>
        <p:nvSpPr>
          <p:cNvPr id="6" name="Text 3"/>
          <p:cNvSpPr txBox="1"/>
          <p:nvPr/>
        </p:nvSpPr>
        <p:spPr>
          <a:xfrm>
            <a:off x="457200"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1</a:t>
            </a:r>
            <a:endParaRPr lang="en-US" sz="1564" dirty="0"/>
          </a:p>
        </p:txBody>
      </p:sp>
      <p:sp>
        <p:nvSpPr>
          <p:cNvPr id="7" name="Text 4"/>
          <p:cNvSpPr txBox="1"/>
          <p:nvPr/>
        </p:nvSpPr>
        <p:spPr>
          <a:xfrm>
            <a:off x="457200" y="3154680"/>
            <a:ext cx="384048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User problem</a:t>
            </a:r>
            <a:endParaRPr lang="en-US" sz="2200" dirty="0"/>
          </a:p>
        </p:txBody>
      </p:sp>
      <p:sp>
        <p:nvSpPr>
          <p:cNvPr id="8" name="Text 5"/>
          <p:cNvSpPr txBox="1"/>
          <p:nvPr/>
        </p:nvSpPr>
        <p:spPr>
          <a:xfrm>
            <a:off x="457200" y="3749040"/>
            <a:ext cx="3749040" cy="329184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Research, order entry, watching positions and rebalancing live in different places. The hold-or-exit call gets made in the user’s head.</a:t>
            </a:r>
            <a:endParaRPr lang="en-US" sz="1700" dirty="0"/>
          </a:p>
        </p:txBody>
      </p:sp>
      <p:sp>
        <p:nvSpPr>
          <p:cNvPr id="9" name="Shape 6"/>
          <p:cNvSpPr/>
          <p:nvPr/>
        </p:nvSpPr>
        <p:spPr>
          <a:xfrm>
            <a:off x="4663440" y="2468880"/>
            <a:ext cx="420624" cy="420624"/>
          </a:xfrm>
          <a:prstGeom prst="ellipse">
            <a:avLst/>
          </a:prstGeom>
          <a:solidFill>
            <a:srgbClr val="5B3F96"/>
          </a:solidFill>
          <a:ln w="12700">
            <a:solidFill>
              <a:srgbClr val="5B3F96"/>
            </a:solidFill>
            <a:prstDash val="solid"/>
          </a:ln>
        </p:spPr>
      </p:sp>
      <p:sp>
        <p:nvSpPr>
          <p:cNvPr id="10" name="Text 7"/>
          <p:cNvSpPr txBox="1"/>
          <p:nvPr/>
        </p:nvSpPr>
        <p:spPr>
          <a:xfrm>
            <a:off x="4663440"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2</a:t>
            </a:r>
            <a:endParaRPr lang="en-US" sz="1564" dirty="0"/>
          </a:p>
        </p:txBody>
      </p:sp>
      <p:sp>
        <p:nvSpPr>
          <p:cNvPr id="11" name="Text 8"/>
          <p:cNvSpPr txBox="1"/>
          <p:nvPr/>
        </p:nvSpPr>
        <p:spPr>
          <a:xfrm>
            <a:off x="4663440" y="3154680"/>
            <a:ext cx="384048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AI problem</a:t>
            </a:r>
            <a:endParaRPr lang="en-US" sz="2200" dirty="0"/>
          </a:p>
        </p:txBody>
      </p:sp>
      <p:sp>
        <p:nvSpPr>
          <p:cNvPr id="12" name="Text 9"/>
          <p:cNvSpPr txBox="1"/>
          <p:nvPr/>
        </p:nvSpPr>
        <p:spPr>
          <a:xfrm>
            <a:off x="4663440" y="3749040"/>
            <a:ext cx="3749040" cy="329184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Summarize what moved and why, with the source. Rank alerts by severity. Show prospects with upside and downside. Propose a rebalance the user reviews first.</a:t>
            </a:r>
            <a:endParaRPr lang="en-US" sz="1700" dirty="0"/>
          </a:p>
        </p:txBody>
      </p:sp>
      <p:sp>
        <p:nvSpPr>
          <p:cNvPr id="13" name="Shape 10"/>
          <p:cNvSpPr/>
          <p:nvPr/>
        </p:nvSpPr>
        <p:spPr>
          <a:xfrm>
            <a:off x="8869680" y="2468880"/>
            <a:ext cx="420624" cy="420624"/>
          </a:xfrm>
          <a:prstGeom prst="ellipse">
            <a:avLst/>
          </a:prstGeom>
          <a:solidFill>
            <a:srgbClr val="00868B"/>
          </a:solidFill>
          <a:ln w="12700">
            <a:solidFill>
              <a:srgbClr val="00868B"/>
            </a:solidFill>
            <a:prstDash val="solid"/>
          </a:ln>
        </p:spPr>
      </p:sp>
      <p:sp>
        <p:nvSpPr>
          <p:cNvPr id="14" name="Text 11"/>
          <p:cNvSpPr txBox="1"/>
          <p:nvPr/>
        </p:nvSpPr>
        <p:spPr>
          <a:xfrm>
            <a:off x="8869680"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3</a:t>
            </a:r>
            <a:endParaRPr lang="en-US" sz="1564" dirty="0"/>
          </a:p>
        </p:txBody>
      </p:sp>
      <p:sp>
        <p:nvSpPr>
          <p:cNvPr id="15" name="Text 12"/>
          <p:cNvSpPr txBox="1"/>
          <p:nvPr/>
        </p:nvSpPr>
        <p:spPr>
          <a:xfrm>
            <a:off x="8869680" y="3154680"/>
            <a:ext cx="384048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Why AI</a:t>
            </a:r>
            <a:endParaRPr lang="en-US" sz="2200" dirty="0"/>
          </a:p>
        </p:txBody>
      </p:sp>
      <p:sp>
        <p:nvSpPr>
          <p:cNvPr id="16" name="Text 13"/>
          <p:cNvSpPr txBox="1"/>
          <p:nvPr/>
        </p:nvSpPr>
        <p:spPr>
          <a:xfrm>
            <a:off x="8869680" y="3749040"/>
            <a:ext cx="3749040" cy="329184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Summarizing news and research is a language task. Watching many positions is repetitive. Where a simple rule works, such as sorting or thresholds, the design uses a rule.</a:t>
            </a:r>
            <a:endParaRPr lang="en-US" sz="1700" dirty="0"/>
          </a:p>
        </p:txBody>
      </p:sp>
      <p:pic>
        <p:nvPicPr>
          <p:cNvPr id="17"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24160" cy="274320"/>
          </a:xfrm>
          <a:prstGeom prst="rect">
            <a:avLst/>
          </a:prstGeom>
          <a:noFill/>
        </p:spPr>
        <p:txBody>
          <a:bodyPr wrap="square">
            <a:spAutoFit/>
          </a:bodyPr>
          <a:lstStyle/>
          <a:p>
            <a:r>
              <a:rPr sz="1400" b="0">
                <a:solidFill>
                  <a:srgbClr val="1F1F1F"/>
                </a:solidFill>
                <a:latin typeface="Helvetica Neue"/>
              </a:rPr>
              <a:t>Competitive landscape</a:t>
            </a:r>
          </a:p>
        </p:txBody>
      </p:sp>
      <p:sp>
        <p:nvSpPr>
          <p:cNvPr id="3" name="TextBox 2"/>
          <p:cNvSpPr txBox="1"/>
          <p:nvPr/>
        </p:nvSpPr>
        <p:spPr>
          <a:xfrm>
            <a:off x="457200" y="914400"/>
            <a:ext cx="12070080" cy="594360"/>
          </a:xfrm>
          <a:prstGeom prst="rect">
            <a:avLst/>
          </a:prstGeom>
          <a:noFill/>
        </p:spPr>
        <p:txBody>
          <a:bodyPr wrap="square">
            <a:spAutoFit/>
          </a:bodyPr>
          <a:lstStyle/>
          <a:p>
            <a:r>
              <a:rPr sz="2800" b="0">
                <a:solidFill>
                  <a:srgbClr val="1F1F1F"/>
                </a:solidFill>
                <a:latin typeface="Helvetica Neue Light"/>
              </a:rPr>
              <a:t>Competitive landscape: trading apps today, and the gap</a:t>
            </a:r>
          </a:p>
        </p:txBody>
      </p:sp>
      <p:sp>
        <p:nvSpPr>
          <p:cNvPr id="4" name="TextBox 3"/>
          <p:cNvSpPr txBox="1"/>
          <p:nvPr/>
        </p:nvSpPr>
        <p:spPr>
          <a:xfrm>
            <a:off x="457200" y="1554480"/>
            <a:ext cx="12070080" cy="365760"/>
          </a:xfrm>
          <a:prstGeom prst="rect">
            <a:avLst/>
          </a:prstGeom>
          <a:noFill/>
        </p:spPr>
        <p:txBody>
          <a:bodyPr wrap="square">
            <a:spAutoFit/>
          </a:bodyPr>
          <a:lstStyle/>
          <a:p>
            <a:r>
              <a:rPr sz="1600" b="0">
                <a:solidFill>
                  <a:srgbClr val="595959"/>
                </a:solidFill>
                <a:latin typeface="Helvetica Neue Light"/>
              </a:rPr>
              <a:t>From the August 2026 competitive audit. Re-check features before publishing.</a:t>
            </a:r>
          </a:p>
        </p:txBody>
      </p:sp>
      <p:graphicFrame>
        <p:nvGraphicFramePr>
          <p:cNvPr id="5" name="Table 4"/>
          <p:cNvGraphicFramePr>
            <a:graphicFrameLocks noGrp="1"/>
          </p:cNvGraphicFramePr>
          <p:nvPr/>
        </p:nvGraphicFramePr>
        <p:xfrm>
          <a:off x="457200" y="2377440"/>
          <a:ext cx="12070080" cy="4114800"/>
        </p:xfrm>
        <a:graphic>
          <a:graphicData uri="http://schemas.openxmlformats.org/drawingml/2006/table">
            <a:tbl>
              <a:tblPr firstRow="1" bandRow="1">
                <a:tableStyleId>{5C22544A-7EE6-4342-B048-85BDC9FD1C3A}</a:tableStyleId>
              </a:tblPr>
              <a:tblGrid>
                <a:gridCol w="2743200"/>
                <a:gridCol w="4572000"/>
                <a:gridCol w="4754880"/>
              </a:tblGrid>
              <a:tr h="822960">
                <a:tc>
                  <a:txBody>
                    <a:bodyPr/>
                    <a:lstStyle/>
                    <a:p>
                      <a:r>
                        <a:rPr sz="1500" b="1">
                          <a:solidFill>
                            <a:srgbClr val="C45A35"/>
                          </a:solidFill>
                          <a:latin typeface="Helvetica Neue"/>
                        </a:rPr>
                        <a:t>Product</a:t>
                      </a:r>
                    </a:p>
                  </a:txBody>
                  <a:tcPr/>
                </a:tc>
                <a:tc>
                  <a:txBody>
                    <a:bodyPr/>
                    <a:lstStyle/>
                    <a:p>
                      <a:r>
                        <a:rPr sz="1500" b="1">
                          <a:solidFill>
                            <a:srgbClr val="C45A35"/>
                          </a:solidFill>
                          <a:latin typeface="Helvetica Neue"/>
                        </a:rPr>
                        <a:t>Feature today</a:t>
                      </a:r>
                    </a:p>
                  </a:txBody>
                  <a:tcPr/>
                </a:tc>
                <a:tc>
                  <a:txBody>
                    <a:bodyPr/>
                    <a:lstStyle/>
                    <a:p>
                      <a:r>
                        <a:rPr sz="1500" b="1">
                          <a:solidFill>
                            <a:srgbClr val="C45A35"/>
                          </a:solidFill>
                          <a:latin typeface="Helvetica Neue"/>
                        </a:rPr>
                        <a:t>Limitation</a:t>
                      </a:r>
                    </a:p>
                  </a:txBody>
                  <a:tcPr/>
                </a:tc>
              </a:tr>
              <a:tr h="822960">
                <a:tc>
                  <a:txBody>
                    <a:bodyPr/>
                    <a:lstStyle/>
                    <a:p>
                      <a:r>
                        <a:rPr sz="1600" b="1">
                          <a:solidFill>
                            <a:srgbClr val="1F1F1F"/>
                          </a:solidFill>
                          <a:latin typeface="Helvetica Neue"/>
                        </a:rPr>
                        <a:t>Robinhood</a:t>
                      </a:r>
                    </a:p>
                  </a:txBody>
                  <a:tcPr/>
                </a:tc>
                <a:tc>
                  <a:txBody>
                    <a:bodyPr/>
                    <a:lstStyle/>
                    <a:p>
                      <a:r>
                        <a:rPr sz="1600" b="0">
                          <a:solidFill>
                            <a:srgbClr val="1F1F1F"/>
                          </a:solidFill>
                          <a:latin typeface="Helvetica Neue Light"/>
                        </a:rPr>
                        <a:t>Price alerts that notify when a stock moves.</a:t>
                      </a:r>
                    </a:p>
                  </a:txBody>
                  <a:tcPr/>
                </a:tc>
                <a:tc>
                  <a:txBody>
                    <a:bodyPr/>
                    <a:lstStyle/>
                    <a:p>
                      <a:r>
                        <a:rPr sz="1600" b="0">
                          <a:solidFill>
                            <a:srgbClr val="1F1F1F"/>
                          </a:solidFill>
                          <a:latin typeface="Helvetica Neue Light"/>
                        </a:rPr>
                        <a:t>Passive and user-initiated. No pattern-based guidance.</a:t>
                      </a:r>
                    </a:p>
                  </a:txBody>
                  <a:tcPr/>
                </a:tc>
              </a:tr>
              <a:tr h="822960">
                <a:tc>
                  <a:txBody>
                    <a:bodyPr/>
                    <a:lstStyle/>
                    <a:p>
                      <a:r>
                        <a:rPr sz="1600" b="1">
                          <a:solidFill>
                            <a:srgbClr val="1F1F1F"/>
                          </a:solidFill>
                          <a:latin typeface="Helvetica Neue"/>
                        </a:rPr>
                        <a:t>Schwab</a:t>
                      </a:r>
                    </a:p>
                  </a:txBody>
                  <a:tcPr/>
                </a:tc>
                <a:tc>
                  <a:txBody>
                    <a:bodyPr/>
                    <a:lstStyle/>
                    <a:p>
                      <a:r>
                        <a:rPr sz="1600" b="0">
                          <a:solidFill>
                            <a:srgbClr val="1F1F1F"/>
                          </a:solidFill>
                          <a:latin typeface="Helvetica Neue Light"/>
                        </a:rPr>
                        <a:t>Suitability checks that warn when an order breaks a risk profile.</a:t>
                      </a:r>
                    </a:p>
                  </a:txBody>
                  <a:tcPr/>
                </a:tc>
                <a:tc>
                  <a:txBody>
                    <a:bodyPr/>
                    <a:lstStyle/>
                    <a:p>
                      <a:r>
                        <a:rPr sz="1600" b="0">
                          <a:solidFill>
                            <a:srgbClr val="1F1F1F"/>
                          </a:solidFill>
                          <a:latin typeface="Helvetica Neue Light"/>
                        </a:rPr>
                        <a:t>Compliance-driven. Does not learn from the user.</a:t>
                      </a:r>
                    </a:p>
                  </a:txBody>
                  <a:tcPr/>
                </a:tc>
              </a:tr>
              <a:tr h="822960">
                <a:tc>
                  <a:txBody>
                    <a:bodyPr/>
                    <a:lstStyle/>
                    <a:p>
                      <a:r>
                        <a:rPr sz="1600" b="1">
                          <a:solidFill>
                            <a:srgbClr val="1F1F1F"/>
                          </a:solidFill>
                          <a:latin typeface="Helvetica Neue"/>
                        </a:rPr>
                        <a:t>Wealthfront</a:t>
                      </a:r>
                    </a:p>
                  </a:txBody>
                  <a:tcPr/>
                </a:tc>
                <a:tc>
                  <a:txBody>
                    <a:bodyPr/>
                    <a:lstStyle/>
                    <a:p>
                      <a:r>
                        <a:rPr sz="1600" b="0">
                          <a:solidFill>
                            <a:srgbClr val="1F1F1F"/>
                          </a:solidFill>
                          <a:latin typeface="Helvetica Neue Light"/>
                        </a:rPr>
                        <a:t>Volatility score on positions.</a:t>
                      </a:r>
                    </a:p>
                  </a:txBody>
                  <a:tcPr/>
                </a:tc>
                <a:tc>
                  <a:txBody>
                    <a:bodyPr/>
                    <a:lstStyle/>
                    <a:p>
                      <a:r>
                        <a:rPr sz="1600" b="0">
                          <a:solidFill>
                            <a:srgbClr val="1F1F1F"/>
                          </a:solidFill>
                          <a:latin typeface="Helvetica Neue Light"/>
                        </a:rPr>
                        <a:t>Generic, not based on the user’s own pattern.</a:t>
                      </a:r>
                    </a:p>
                  </a:txBody>
                  <a:tcPr/>
                </a:tc>
              </a:tr>
              <a:tr h="822960">
                <a:tc>
                  <a:txBody>
                    <a:bodyPr/>
                    <a:lstStyle/>
                    <a:p>
                      <a:r>
                        <a:rPr sz="1600" b="1">
                          <a:solidFill>
                            <a:srgbClr val="1F1F1F"/>
                          </a:solidFill>
                          <a:latin typeface="Helvetica Neue"/>
                        </a:rPr>
                        <a:t>Vanguard</a:t>
                      </a:r>
                    </a:p>
                  </a:txBody>
                  <a:tcPr/>
                </a:tc>
                <a:tc>
                  <a:txBody>
                    <a:bodyPr/>
                    <a:lstStyle/>
                    <a:p>
                      <a:r>
                        <a:rPr sz="1600" b="0">
                          <a:solidFill>
                            <a:srgbClr val="1F1F1F"/>
                          </a:solidFill>
                          <a:latin typeface="Helvetica Neue Light"/>
                        </a:rPr>
                        <a:t>Time-based rebalancing reminders.</a:t>
                      </a:r>
                    </a:p>
                  </a:txBody>
                  <a:tcPr/>
                </a:tc>
                <a:tc>
                  <a:txBody>
                    <a:bodyPr/>
                    <a:lstStyle/>
                    <a:p>
                      <a:r>
                        <a:rPr sz="1600" b="0">
                          <a:solidFill>
                            <a:srgbClr val="1F1F1F"/>
                          </a:solidFill>
                          <a:latin typeface="Helvetica Neue Light"/>
                        </a:rPr>
                        <a:t>Tied to the calendar, not to the user’s behavior.</a:t>
                      </a:r>
                    </a:p>
                  </a:txBody>
                  <a:tcPr/>
                </a:tc>
              </a:tr>
            </a:tbl>
          </a:graphicData>
        </a:graphic>
      </p:graphicFrame>
      <p:sp>
        <p:nvSpPr>
          <p:cNvPr id="6" name="TextBox 5"/>
          <p:cNvSpPr txBox="1"/>
          <p:nvPr/>
        </p:nvSpPr>
        <p:spPr>
          <a:xfrm>
            <a:off x="457200" y="7955279"/>
            <a:ext cx="12070080" cy="822960"/>
          </a:xfrm>
          <a:prstGeom prst="rect">
            <a:avLst/>
          </a:prstGeom>
          <a:noFill/>
        </p:spPr>
        <p:txBody>
          <a:bodyPr wrap="square">
            <a:spAutoFit/>
          </a:bodyPr>
          <a:lstStyle/>
          <a:p>
            <a:r>
              <a:rPr sz="1500" b="0">
                <a:solidFill>
                  <a:srgbClr val="6E6E6E"/>
                </a:solidFill>
                <a:latin typeface="Helvetica Neue Light"/>
              </a:rPr>
              <a:t>Meridian’s bet: nudges built from the user’s own history, shown next to the order. The audit found no platform doing this.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04 · Users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Three draft personas to validate before we rely on them</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38404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DRAFT PERSONA</a:t>
            </a:r>
            <a:endParaRPr lang="en-US" sz="1280" dirty="0"/>
          </a:p>
        </p:txBody>
      </p:sp>
      <p:sp>
        <p:nvSpPr>
          <p:cNvPr id="6" name="Text 3"/>
          <p:cNvSpPr txBox="1"/>
          <p:nvPr/>
        </p:nvSpPr>
        <p:spPr>
          <a:xfrm>
            <a:off x="457200" y="2834640"/>
            <a:ext cx="3840480" cy="640080"/>
          </a:xfrm>
          <a:prstGeom prst="rect">
            <a:avLst/>
          </a:prstGeom>
          <a:noFill/>
          <a:ln/>
        </p:spPr>
        <p:txBody>
          <a:bodyPr wrap="square" lIns="0" tIns="0" rIns="0" bIns="0" rtlCol="0" anchor="t"/>
          <a:lstStyle/>
          <a:p>
            <a:pPr indent="0" marL="0">
              <a:buNone/>
            </a:pPr>
            <a:r>
              <a:rPr lang="en-US" sz="3600" dirty="0">
                <a:solidFill>
                  <a:srgbClr val="1F1F1F"/>
                </a:solidFill>
                <a:latin typeface="Helvetica Neue Light" pitchFamily="34" charset="0"/>
                <a:ea typeface="Helvetica Neue Light" pitchFamily="34" charset="-122"/>
                <a:cs typeface="Helvetica Neue Light" pitchFamily="34" charset="-120"/>
              </a:rPr>
              <a:t>Maya</a:t>
            </a:r>
            <a:endParaRPr lang="en-US" sz="3600" dirty="0"/>
          </a:p>
        </p:txBody>
      </p:sp>
      <p:sp>
        <p:nvSpPr>
          <p:cNvPr id="7" name="Text 4"/>
          <p:cNvSpPr txBox="1"/>
          <p:nvPr/>
        </p:nvSpPr>
        <p:spPr>
          <a:xfrm>
            <a:off x="457200" y="3566160"/>
            <a:ext cx="3840480" cy="36576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Active self-directed trader</a:t>
            </a:r>
            <a:endParaRPr lang="en-US" sz="1500" dirty="0"/>
          </a:p>
        </p:txBody>
      </p:sp>
      <p:sp>
        <p:nvSpPr>
          <p:cNvPr id="8" name="Text 5"/>
          <p:cNvSpPr txBox="1"/>
          <p:nvPr/>
        </p:nvSpPr>
        <p:spPr>
          <a:xfrm>
            <a:off x="457200" y="4069080"/>
            <a:ext cx="374904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Trades several times a week from her phone. Uses a brokerage app and a separate news source.</a:t>
            </a:r>
            <a:endParaRPr lang="en-US" sz="1700" dirty="0"/>
          </a:p>
        </p:txBody>
      </p:sp>
      <p:sp>
        <p:nvSpPr>
          <p:cNvPr id="9" name="Text 6"/>
          <p:cNvSpPr txBox="1"/>
          <p:nvPr/>
        </p:nvSpPr>
        <p:spPr>
          <a:xfrm>
            <a:off x="457200" y="5257800"/>
            <a:ext cx="3749040" cy="2377440"/>
          </a:xfrm>
          <a:prstGeom prst="rect">
            <a:avLst/>
          </a:prstGeom>
          <a:noFill/>
          <a:ln/>
        </p:spPr>
        <p:txBody>
          <a:bodyPr wrap="square" lIns="0" tIns="0" rIns="0" bIns="0" rtlCol="0" anchor="t"/>
          <a:lstStyle/>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Get in and out quickly; spot momentum early</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Pain: research is scattered; order entry takes too many taps</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Features: Insight, Prospect, Share flow</a:t>
            </a:r>
            <a:endParaRPr lang="en-US" sz="1636" dirty="0"/>
          </a:p>
        </p:txBody>
      </p:sp>
      <p:sp>
        <p:nvSpPr>
          <p:cNvPr id="10" name="Text 7"/>
          <p:cNvSpPr txBox="1"/>
          <p:nvPr/>
        </p:nvSpPr>
        <p:spPr>
          <a:xfrm>
            <a:off x="4663440" y="2468880"/>
            <a:ext cx="38404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DRAFT PERSONA</a:t>
            </a:r>
            <a:endParaRPr lang="en-US" sz="1280" dirty="0"/>
          </a:p>
        </p:txBody>
      </p:sp>
      <p:sp>
        <p:nvSpPr>
          <p:cNvPr id="11" name="Text 8"/>
          <p:cNvSpPr txBox="1"/>
          <p:nvPr/>
        </p:nvSpPr>
        <p:spPr>
          <a:xfrm>
            <a:off x="4663440" y="2834640"/>
            <a:ext cx="3840480" cy="640080"/>
          </a:xfrm>
          <a:prstGeom prst="rect">
            <a:avLst/>
          </a:prstGeom>
          <a:noFill/>
          <a:ln/>
        </p:spPr>
        <p:txBody>
          <a:bodyPr wrap="square" lIns="0" tIns="0" rIns="0" bIns="0" rtlCol="0" anchor="t"/>
          <a:lstStyle/>
          <a:p>
            <a:pPr indent="0" marL="0">
              <a:buNone/>
            </a:pPr>
            <a:r>
              <a:rPr lang="en-US" sz="3600" dirty="0">
                <a:solidFill>
                  <a:srgbClr val="1F1F1F"/>
                </a:solidFill>
                <a:latin typeface="Helvetica Neue Light" pitchFamily="34" charset="0"/>
                <a:ea typeface="Helvetica Neue Light" pitchFamily="34" charset="-122"/>
                <a:cs typeface="Helvetica Neue Light" pitchFamily="34" charset="-120"/>
              </a:rPr>
              <a:t>Daniel</a:t>
            </a:r>
            <a:endParaRPr lang="en-US" sz="3600" dirty="0"/>
          </a:p>
        </p:txBody>
      </p:sp>
      <p:sp>
        <p:nvSpPr>
          <p:cNvPr id="12" name="Text 9"/>
          <p:cNvSpPr txBox="1"/>
          <p:nvPr/>
        </p:nvSpPr>
        <p:spPr>
          <a:xfrm>
            <a:off x="4663440" y="3566160"/>
            <a:ext cx="3840480" cy="365760"/>
          </a:xfrm>
          <a:prstGeom prst="rect">
            <a:avLst/>
          </a:prstGeom>
          <a:noFill/>
          <a:ln/>
        </p:spPr>
        <p:txBody>
          <a:bodyPr wrap="square" lIns="0" tIns="0" rIns="0" bIns="0" rtlCol="0" anchor="t"/>
          <a:lstStyle/>
          <a:p>
            <a:pPr indent="0" marL="0">
              <a:buNone/>
            </a:pPr>
            <a:r>
              <a:rPr lang="en-US" sz="1500" dirty="0">
                <a:solidFill>
                  <a:srgbClr val="5B3F96"/>
                </a:solidFill>
                <a:latin typeface="Helvetica Neue" pitchFamily="34" charset="0"/>
                <a:ea typeface="Helvetica Neue" pitchFamily="34" charset="-122"/>
                <a:cs typeface="Helvetica Neue" pitchFamily="34" charset="-120"/>
              </a:rPr>
              <a:t>Busy professional investor</a:t>
            </a:r>
            <a:endParaRPr lang="en-US" sz="1500" dirty="0"/>
          </a:p>
        </p:txBody>
      </p:sp>
      <p:sp>
        <p:nvSpPr>
          <p:cNvPr id="13" name="Text 10"/>
          <p:cNvSpPr txBox="1"/>
          <p:nvPr/>
        </p:nvSpPr>
        <p:spPr>
          <a:xfrm>
            <a:off x="4663440" y="4069080"/>
            <a:ext cx="374904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Invests a fixed amount each month and checks his portfolio weekly.</a:t>
            </a:r>
            <a:endParaRPr lang="en-US" sz="1700" dirty="0"/>
          </a:p>
        </p:txBody>
      </p:sp>
      <p:sp>
        <p:nvSpPr>
          <p:cNvPr id="14" name="Text 11"/>
          <p:cNvSpPr txBox="1"/>
          <p:nvPr/>
        </p:nvSpPr>
        <p:spPr>
          <a:xfrm>
            <a:off x="4663440" y="5257800"/>
            <a:ext cx="3749040" cy="2377440"/>
          </a:xfrm>
          <a:prstGeom prst="rect">
            <a:avLst/>
          </a:prstGeom>
          <a:noFill/>
          <a:ln/>
        </p:spPr>
        <p:txBody>
          <a:bodyPr wrap="square" lIns="0" tIns="0" rIns="0" bIns="0" rtlCol="0" anchor="t"/>
          <a:lstStyle/>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Grow long-term savings without big mistakes</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Pain: no time to research; unsure when to rebalance</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Features: Guard, Adapt, Dashboard</a:t>
            </a:r>
            <a:endParaRPr lang="en-US" sz="1636" dirty="0"/>
          </a:p>
        </p:txBody>
      </p:sp>
      <p:sp>
        <p:nvSpPr>
          <p:cNvPr id="15" name="Text 12"/>
          <p:cNvSpPr txBox="1"/>
          <p:nvPr/>
        </p:nvSpPr>
        <p:spPr>
          <a:xfrm>
            <a:off x="8869680" y="2468880"/>
            <a:ext cx="3840480" cy="27432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DRAFT PERSONA</a:t>
            </a:r>
            <a:endParaRPr lang="en-US" sz="1280" dirty="0"/>
          </a:p>
        </p:txBody>
      </p:sp>
      <p:sp>
        <p:nvSpPr>
          <p:cNvPr id="16" name="Text 13"/>
          <p:cNvSpPr txBox="1"/>
          <p:nvPr/>
        </p:nvSpPr>
        <p:spPr>
          <a:xfrm>
            <a:off x="8869680" y="2834640"/>
            <a:ext cx="3840480" cy="640080"/>
          </a:xfrm>
          <a:prstGeom prst="rect">
            <a:avLst/>
          </a:prstGeom>
          <a:noFill/>
          <a:ln/>
        </p:spPr>
        <p:txBody>
          <a:bodyPr wrap="square" lIns="0" tIns="0" rIns="0" bIns="0" rtlCol="0" anchor="t"/>
          <a:lstStyle/>
          <a:p>
            <a:pPr indent="0" marL="0">
              <a:buNone/>
            </a:pPr>
            <a:r>
              <a:rPr lang="en-US" sz="3600" dirty="0">
                <a:solidFill>
                  <a:srgbClr val="1F1F1F"/>
                </a:solidFill>
                <a:latin typeface="Helvetica Neue Light" pitchFamily="34" charset="0"/>
                <a:ea typeface="Helvetica Neue Light" pitchFamily="34" charset="-122"/>
                <a:cs typeface="Helvetica Neue Light" pitchFamily="34" charset="-120"/>
              </a:rPr>
              <a:t>Priya</a:t>
            </a:r>
            <a:endParaRPr lang="en-US" sz="3600" dirty="0"/>
          </a:p>
        </p:txBody>
      </p:sp>
      <p:sp>
        <p:nvSpPr>
          <p:cNvPr id="17" name="Text 14"/>
          <p:cNvSpPr txBox="1"/>
          <p:nvPr/>
        </p:nvSpPr>
        <p:spPr>
          <a:xfrm>
            <a:off x="8869680" y="3566160"/>
            <a:ext cx="3840480" cy="365760"/>
          </a:xfrm>
          <a:prstGeom prst="rect">
            <a:avLst/>
          </a:prstGeom>
          <a:noFill/>
          <a:ln/>
        </p:spPr>
        <p:txBody>
          <a:bodyPr wrap="square" lIns="0" tIns="0" rIns="0" bIns="0" rtlCol="0" anchor="t"/>
          <a:lstStyle/>
          <a:p>
            <a:pPr indent="0" marL="0">
              <a:buNone/>
            </a:pPr>
            <a:r>
              <a:rPr lang="en-US" sz="1500" dirty="0">
                <a:solidFill>
                  <a:srgbClr val="00868B"/>
                </a:solidFill>
                <a:latin typeface="Helvetica Neue" pitchFamily="34" charset="0"/>
                <a:ea typeface="Helvetica Neue" pitchFamily="34" charset="-122"/>
                <a:cs typeface="Helvetica Neue" pitchFamily="34" charset="-120"/>
              </a:rPr>
              <a:t>First-time investor</a:t>
            </a:r>
            <a:endParaRPr lang="en-US" sz="1500" dirty="0"/>
          </a:p>
        </p:txBody>
      </p:sp>
      <p:sp>
        <p:nvSpPr>
          <p:cNvPr id="18" name="Text 15"/>
          <p:cNvSpPr txBox="1"/>
          <p:nvPr/>
        </p:nvSpPr>
        <p:spPr>
          <a:xfrm>
            <a:off x="8869680" y="4069080"/>
            <a:ext cx="374904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New to investing. Wants to start small and learn while she invests.</a:t>
            </a:r>
            <a:endParaRPr lang="en-US" sz="1700" dirty="0"/>
          </a:p>
        </p:txBody>
      </p:sp>
      <p:sp>
        <p:nvSpPr>
          <p:cNvPr id="19" name="Text 16"/>
          <p:cNvSpPr txBox="1"/>
          <p:nvPr/>
        </p:nvSpPr>
        <p:spPr>
          <a:xfrm>
            <a:off x="8869680" y="5257800"/>
            <a:ext cx="3749040" cy="2377440"/>
          </a:xfrm>
          <a:prstGeom prst="rect">
            <a:avLst/>
          </a:prstGeom>
          <a:noFill/>
          <a:ln/>
        </p:spPr>
        <p:txBody>
          <a:bodyPr wrap="square" lIns="0" tIns="0" rIns="0" bIns="0" rtlCol="0" anchor="t"/>
          <a:lstStyle/>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Learn by doing; avoid a wrong trade</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Pain: jargon; fear of ordering the wrong amount</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Features: Dollar flow, Insight explanations</a:t>
            </a:r>
            <a:endParaRPr lang="en-US" sz="1636" dirty="0"/>
          </a:p>
        </p:txBody>
      </p:sp>
      <p:sp>
        <p:nvSpPr>
          <p:cNvPr id="20" name="Text 17"/>
          <p:cNvSpPr txBox="1"/>
          <p:nvPr/>
        </p:nvSpPr>
        <p:spPr>
          <a:xfrm>
            <a:off x="457200" y="8549640"/>
            <a:ext cx="12070080" cy="320040"/>
          </a:xfrm>
          <a:prstGeom prst="rect">
            <a:avLst/>
          </a:prstGeom>
          <a:noFill/>
          <a:ln/>
        </p:spPr>
        <p:txBody>
          <a:bodyPr wrap="square" lIns="0" tIns="0" rIns="0" bIns="0" rtlCol="0" anchor="t"/>
          <a:lstStyle/>
          <a:p>
            <a:pPr indent="0" marL="0">
              <a:buNone/>
            </a:pPr>
            <a:r>
              <a:rPr lang="en-US" sz="1400" dirty="0">
                <a:solidFill>
                  <a:srgbClr val="6E6E6E"/>
                </a:solidFill>
                <a:latin typeface="Helvetica Neue Light" pitchFamily="34" charset="0"/>
                <a:ea typeface="Helvetica Neue Light" pitchFamily="34" charset="-122"/>
                <a:cs typeface="Helvetica Neue Light" pitchFamily="34" charset="-120"/>
              </a:rPr>
              <a:t>Hypotheses from the FigJam board. Interviews come before any decision rests on them.</a:t>
            </a:r>
            <a:endParaRPr lang="en-US" sz="14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C45A35"/>
        </a:solidFill>
      </p:bgPr>
    </p:bg>
    <p:spTree>
      <p:nvGrpSpPr>
        <p:cNvPr id="1" name=""/>
        <p:cNvGrpSpPr/>
        <p:nvPr/>
      </p:nvGrpSpPr>
      <p:grpSpPr/>
      <p:sp>
        <p:nvSpPr>
          <p:cNvPr id="2" name="Text 0"/>
          <p:cNvSpPr txBox="1"/>
          <p:nvPr/>
        </p:nvSpPr>
        <p:spPr>
          <a:xfrm>
            <a:off x="978408" y="978408"/>
            <a:ext cx="10515600" cy="1097280"/>
          </a:xfrm>
          <a:prstGeom prst="rect">
            <a:avLst/>
          </a:prstGeom>
          <a:noFill/>
          <a:ln/>
        </p:spPr>
        <p:txBody>
          <a:bodyPr wrap="square" lIns="0" tIns="0" rIns="0" bIns="0" rtlCol="0" anchor="t"/>
          <a:lstStyle/>
          <a:p>
            <a:pPr indent="0" marL="0">
              <a:buNone/>
            </a:pPr>
            <a:r>
              <a:rPr lang="en-US" sz="5700" dirty="0">
                <a:solidFill>
                  <a:srgbClr val="FFFFFF"/>
                </a:solidFill>
                <a:latin typeface="Helvetica Neue Light" pitchFamily="34" charset="0"/>
                <a:ea typeface="Helvetica Neue Light" pitchFamily="34" charset="-122"/>
                <a:cs typeface="Helvetica Neue Light" pitchFamily="34" charset="-120"/>
              </a:rPr>
              <a:t>The solution</a:t>
            </a:r>
            <a:endParaRPr lang="en-US" sz="5700" dirty="0"/>
          </a:p>
        </p:txBody>
      </p:sp>
      <p:sp>
        <p:nvSpPr>
          <p:cNvPr id="3" name="Text 1"/>
          <p:cNvSpPr txBox="1"/>
          <p:nvPr/>
        </p:nvSpPr>
        <p:spPr>
          <a:xfrm>
            <a:off x="1078992" y="2286000"/>
            <a:ext cx="9601200" cy="822960"/>
          </a:xfrm>
          <a:prstGeom prst="rect">
            <a:avLst/>
          </a:prstGeom>
          <a:noFill/>
          <a:ln/>
        </p:spPr>
        <p:txBody>
          <a:bodyPr wrap="square" lIns="0" tIns="0" rIns="0" bIns="0" rtlCol="0" anchor="t"/>
          <a:lstStyle/>
          <a:p>
            <a:pPr indent="0" marL="0">
              <a:buNone/>
            </a:pPr>
            <a:r>
              <a:rPr lang="en-US" sz="1900" dirty="0">
                <a:solidFill>
                  <a:srgbClr val="FFE9DF"/>
                </a:solidFill>
                <a:latin typeface="Helvetica Neue Light" pitchFamily="34" charset="0"/>
                <a:ea typeface="Helvetica Neue Light" pitchFamily="34" charset="-122"/>
                <a:cs typeface="Helvetica Neue Light" pitchFamily="34" charset="-120"/>
              </a:rPr>
              <a:t>Hi-fi first: one trade through the app, then the AI screens that inform it.</a:t>
            </a:r>
            <a:endParaRPr lang="en-US" sz="19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05 · Solution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Five screens, each answering one question</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Shape 2"/>
          <p:cNvSpPr/>
          <p:nvPr/>
        </p:nvSpPr>
        <p:spPr>
          <a:xfrm>
            <a:off x="457200" y="2468880"/>
            <a:ext cx="2282342" cy="4937760"/>
          </a:xfrm>
          <a:prstGeom prst="rect">
            <a:avLst/>
          </a:prstGeom>
          <a:solidFill>
            <a:srgbClr val="14161D"/>
          </a:solidFill>
          <a:ln w="12700">
            <a:solidFill>
              <a:srgbClr val="14161D"/>
            </a:solidFill>
            <a:prstDash val="solid"/>
          </a:ln>
        </p:spPr>
      </p:sp>
      <p:pic>
        <p:nvPicPr>
          <p:cNvPr id="6" name="Image 1" descr="/tmp/meridian-deck/img/dash.png">    </p:cNvPr>
          <p:cNvPicPr>
            <a:picLocks noChangeAspect="1"/>
          </p:cNvPicPr>
          <p:nvPr/>
        </p:nvPicPr>
        <p:blipFill>
          <a:blip r:embed="rId3"/>
          <a:stretch>
            <a:fillRect/>
          </a:stretch>
        </p:blipFill>
        <p:spPr>
          <a:xfrm>
            <a:off x="457200" y="2468880"/>
            <a:ext cx="2282342" cy="4937760"/>
          </a:xfrm>
          <a:prstGeom prst="rect">
            <a:avLst/>
          </a:prstGeom>
        </p:spPr>
      </p:pic>
      <p:sp>
        <p:nvSpPr>
          <p:cNvPr id="7" name="Text 3"/>
          <p:cNvSpPr txBox="1"/>
          <p:nvPr/>
        </p:nvSpPr>
        <p:spPr>
          <a:xfrm>
            <a:off x="457200" y="7680960"/>
            <a:ext cx="2282342" cy="320040"/>
          </a:xfrm>
          <a:prstGeom prst="rect">
            <a:avLst/>
          </a:prstGeom>
          <a:noFill/>
          <a:ln/>
        </p:spPr>
        <p:txBody>
          <a:bodyPr wrap="square" lIns="0" tIns="0" rIns="0" bIns="0" rtlCol="0" anchor="t"/>
          <a:lstStyle/>
          <a:p>
            <a:pPr indent="0" marL="0">
              <a:buNone/>
            </a:pPr>
            <a:r>
              <a:rPr lang="en-US" sz="1500" dirty="0">
                <a:solidFill>
                  <a:srgbClr val="1F1F1F"/>
                </a:solidFill>
                <a:latin typeface="Helvetica Neue" pitchFamily="34" charset="0"/>
                <a:ea typeface="Helvetica Neue" pitchFamily="34" charset="-122"/>
                <a:cs typeface="Helvetica Neue" pitchFamily="34" charset="-120"/>
              </a:rPr>
              <a:t>Dashboard</a:t>
            </a:r>
            <a:endParaRPr lang="en-US" sz="1500" dirty="0"/>
          </a:p>
        </p:txBody>
      </p:sp>
      <p:sp>
        <p:nvSpPr>
          <p:cNvPr id="8" name="Text 4"/>
          <p:cNvSpPr txBox="1"/>
          <p:nvPr/>
        </p:nvSpPr>
        <p:spPr>
          <a:xfrm>
            <a:off x="457200" y="8046720"/>
            <a:ext cx="2282342" cy="457200"/>
          </a:xfrm>
          <a:prstGeom prst="rect">
            <a:avLst/>
          </a:prstGeom>
          <a:noFill/>
          <a:ln/>
        </p:spPr>
        <p:txBody>
          <a:bodyPr wrap="square" lIns="0" tIns="0" rIns="0" bIns="0" rtlCol="0" anchor="t"/>
          <a:lstStyle/>
          <a:p>
            <a:pPr indent="0" marL="0">
              <a:buNone/>
            </a:pPr>
            <a:r>
              <a:rPr lang="en-US" sz="1636" dirty="0">
                <a:solidFill>
                  <a:srgbClr val="1F1F1F"/>
                </a:solidFill>
                <a:latin typeface="Helvetica Neue Light" pitchFamily="34" charset="0"/>
                <a:ea typeface="Helvetica Neue Light" pitchFamily="34" charset="-122"/>
                <a:cs typeface="Helvetica Neue Light" pitchFamily="34" charset="-120"/>
              </a:rPr>
              <a:t>What do I own today?</a:t>
            </a:r>
            <a:endParaRPr lang="en-US" sz="1636" dirty="0"/>
          </a:p>
        </p:txBody>
      </p:sp>
      <p:sp>
        <p:nvSpPr>
          <p:cNvPr id="9" name="Shape 5"/>
          <p:cNvSpPr/>
          <p:nvPr/>
        </p:nvSpPr>
        <p:spPr>
          <a:xfrm>
            <a:off x="2909164" y="2468880"/>
            <a:ext cx="2282342" cy="4937760"/>
          </a:xfrm>
          <a:prstGeom prst="rect">
            <a:avLst/>
          </a:prstGeom>
          <a:solidFill>
            <a:srgbClr val="14161D"/>
          </a:solidFill>
          <a:ln w="12700">
            <a:solidFill>
              <a:srgbClr val="14161D"/>
            </a:solidFill>
            <a:prstDash val="solid"/>
          </a:ln>
        </p:spPr>
      </p:sp>
      <p:pic>
        <p:nvPicPr>
          <p:cNvPr id="10" name="Image 2" descr="/tmp/meridian-deck/img/insight.png">    </p:cNvPr>
          <p:cNvPicPr>
            <a:picLocks noChangeAspect="1"/>
          </p:cNvPicPr>
          <p:nvPr/>
        </p:nvPicPr>
        <p:blipFill>
          <a:blip r:embed="rId4"/>
          <a:stretch>
            <a:fillRect/>
          </a:stretch>
        </p:blipFill>
        <p:spPr>
          <a:xfrm>
            <a:off x="2909164" y="2468880"/>
            <a:ext cx="2282342" cy="4937760"/>
          </a:xfrm>
          <a:prstGeom prst="rect">
            <a:avLst/>
          </a:prstGeom>
        </p:spPr>
      </p:pic>
      <p:sp>
        <p:nvSpPr>
          <p:cNvPr id="11" name="Text 6"/>
          <p:cNvSpPr txBox="1"/>
          <p:nvPr/>
        </p:nvSpPr>
        <p:spPr>
          <a:xfrm>
            <a:off x="2909164" y="7680960"/>
            <a:ext cx="2282342" cy="320040"/>
          </a:xfrm>
          <a:prstGeom prst="rect">
            <a:avLst/>
          </a:prstGeom>
          <a:noFill/>
          <a:ln/>
        </p:spPr>
        <p:txBody>
          <a:bodyPr wrap="square" lIns="0" tIns="0" rIns="0" bIns="0" rtlCol="0" anchor="t"/>
          <a:lstStyle/>
          <a:p>
            <a:pPr indent="0" marL="0">
              <a:buNone/>
            </a:pPr>
            <a:r>
              <a:rPr lang="en-US" sz="1500" dirty="0">
                <a:solidFill>
                  <a:srgbClr val="00868B"/>
                </a:solidFill>
                <a:latin typeface="Helvetica Neue" pitchFamily="34" charset="0"/>
                <a:ea typeface="Helvetica Neue" pitchFamily="34" charset="-122"/>
                <a:cs typeface="Helvetica Neue" pitchFamily="34" charset="-120"/>
              </a:rPr>
              <a:t>Insight</a:t>
            </a:r>
            <a:endParaRPr lang="en-US" sz="1500" dirty="0"/>
          </a:p>
        </p:txBody>
      </p:sp>
      <p:sp>
        <p:nvSpPr>
          <p:cNvPr id="12" name="Text 7"/>
          <p:cNvSpPr txBox="1"/>
          <p:nvPr/>
        </p:nvSpPr>
        <p:spPr>
          <a:xfrm>
            <a:off x="2909164" y="8046720"/>
            <a:ext cx="2282342" cy="457200"/>
          </a:xfrm>
          <a:prstGeom prst="rect">
            <a:avLst/>
          </a:prstGeom>
          <a:noFill/>
          <a:ln/>
        </p:spPr>
        <p:txBody>
          <a:bodyPr wrap="square" lIns="0" tIns="0" rIns="0" bIns="0" rtlCol="0" anchor="t"/>
          <a:lstStyle/>
          <a:p>
            <a:pPr indent="0" marL="0">
              <a:buNone/>
            </a:pPr>
            <a:r>
              <a:rPr lang="en-US" sz="1636" dirty="0">
                <a:solidFill>
                  <a:srgbClr val="1F1F1F"/>
                </a:solidFill>
                <a:latin typeface="Helvetica Neue Light" pitchFamily="34" charset="0"/>
                <a:ea typeface="Helvetica Neue Light" pitchFamily="34" charset="-122"/>
                <a:cs typeface="Helvetica Neue Light" pitchFamily="34" charset="-120"/>
              </a:rPr>
              <a:t>What moved, and why?</a:t>
            </a:r>
            <a:endParaRPr lang="en-US" sz="1636" dirty="0"/>
          </a:p>
        </p:txBody>
      </p:sp>
      <p:sp>
        <p:nvSpPr>
          <p:cNvPr id="13" name="Shape 8"/>
          <p:cNvSpPr/>
          <p:nvPr/>
        </p:nvSpPr>
        <p:spPr>
          <a:xfrm>
            <a:off x="5361127" y="2468880"/>
            <a:ext cx="2282342" cy="4937760"/>
          </a:xfrm>
          <a:prstGeom prst="rect">
            <a:avLst/>
          </a:prstGeom>
          <a:solidFill>
            <a:srgbClr val="14161D"/>
          </a:solidFill>
          <a:ln w="12700">
            <a:solidFill>
              <a:srgbClr val="14161D"/>
            </a:solidFill>
            <a:prstDash val="solid"/>
          </a:ln>
        </p:spPr>
      </p:sp>
      <p:pic>
        <p:nvPicPr>
          <p:cNvPr id="14" name="Image 3" descr="/tmp/meridian-deck/img/prospect.png">    </p:cNvPr>
          <p:cNvPicPr>
            <a:picLocks noChangeAspect="1"/>
          </p:cNvPicPr>
          <p:nvPr/>
        </p:nvPicPr>
        <p:blipFill>
          <a:blip r:embed="rId5"/>
          <a:stretch>
            <a:fillRect/>
          </a:stretch>
        </p:blipFill>
        <p:spPr>
          <a:xfrm>
            <a:off x="5361127" y="2468880"/>
            <a:ext cx="2282342" cy="4937760"/>
          </a:xfrm>
          <a:prstGeom prst="rect">
            <a:avLst/>
          </a:prstGeom>
        </p:spPr>
      </p:pic>
      <p:sp>
        <p:nvSpPr>
          <p:cNvPr id="15" name="Text 9"/>
          <p:cNvSpPr txBox="1"/>
          <p:nvPr/>
        </p:nvSpPr>
        <p:spPr>
          <a:xfrm>
            <a:off x="5361127" y="7680960"/>
            <a:ext cx="2282342" cy="320040"/>
          </a:xfrm>
          <a:prstGeom prst="rect">
            <a:avLst/>
          </a:prstGeom>
          <a:noFill/>
          <a:ln/>
        </p:spPr>
        <p:txBody>
          <a:bodyPr wrap="square" lIns="0" tIns="0" rIns="0" bIns="0" rtlCol="0" anchor="t"/>
          <a:lstStyle/>
          <a:p>
            <a:pPr indent="0" marL="0">
              <a:buNone/>
            </a:pPr>
            <a:r>
              <a:rPr lang="en-US" sz="1500" dirty="0">
                <a:solidFill>
                  <a:srgbClr val="5B3F96"/>
                </a:solidFill>
                <a:latin typeface="Helvetica Neue" pitchFamily="34" charset="0"/>
                <a:ea typeface="Helvetica Neue" pitchFamily="34" charset="-122"/>
                <a:cs typeface="Helvetica Neue" pitchFamily="34" charset="-120"/>
              </a:rPr>
              <a:t>Prospect</a:t>
            </a:r>
            <a:endParaRPr lang="en-US" sz="1500" dirty="0"/>
          </a:p>
        </p:txBody>
      </p:sp>
      <p:sp>
        <p:nvSpPr>
          <p:cNvPr id="16" name="Text 10"/>
          <p:cNvSpPr txBox="1"/>
          <p:nvPr/>
        </p:nvSpPr>
        <p:spPr>
          <a:xfrm>
            <a:off x="5361127" y="8046720"/>
            <a:ext cx="2282342" cy="457200"/>
          </a:xfrm>
          <a:prstGeom prst="rect">
            <a:avLst/>
          </a:prstGeom>
          <a:noFill/>
          <a:ln/>
        </p:spPr>
        <p:txBody>
          <a:bodyPr wrap="square" lIns="0" tIns="0" rIns="0" bIns="0" rtlCol="0" anchor="t"/>
          <a:lstStyle/>
          <a:p>
            <a:pPr indent="0" marL="0">
              <a:buNone/>
            </a:pPr>
            <a:r>
              <a:rPr lang="en-US" sz="1636" dirty="0">
                <a:solidFill>
                  <a:srgbClr val="1F1F1F"/>
                </a:solidFill>
                <a:latin typeface="Helvetica Neue Light" pitchFamily="34" charset="0"/>
                <a:ea typeface="Helvetica Neue Light" pitchFamily="34" charset="-122"/>
                <a:cs typeface="Helvetica Neue Light" pitchFamily="34" charset="-120"/>
              </a:rPr>
              <a:t>What might fit my plan?</a:t>
            </a:r>
            <a:endParaRPr lang="en-US" sz="1636" dirty="0"/>
          </a:p>
        </p:txBody>
      </p:sp>
      <p:sp>
        <p:nvSpPr>
          <p:cNvPr id="17" name="Shape 11"/>
          <p:cNvSpPr/>
          <p:nvPr/>
        </p:nvSpPr>
        <p:spPr>
          <a:xfrm>
            <a:off x="7813091" y="2468880"/>
            <a:ext cx="2282342" cy="4937760"/>
          </a:xfrm>
          <a:prstGeom prst="rect">
            <a:avLst/>
          </a:prstGeom>
          <a:solidFill>
            <a:srgbClr val="14161D"/>
          </a:solidFill>
          <a:ln w="12700">
            <a:solidFill>
              <a:srgbClr val="14161D"/>
            </a:solidFill>
            <a:prstDash val="solid"/>
          </a:ln>
        </p:spPr>
      </p:sp>
      <p:pic>
        <p:nvPicPr>
          <p:cNvPr id="18" name="Image 4" descr="/tmp/meridian-deck/img/guard.png">    </p:cNvPr>
          <p:cNvPicPr>
            <a:picLocks noChangeAspect="1"/>
          </p:cNvPicPr>
          <p:nvPr/>
        </p:nvPicPr>
        <p:blipFill>
          <a:blip r:embed="rId6"/>
          <a:stretch>
            <a:fillRect/>
          </a:stretch>
        </p:blipFill>
        <p:spPr>
          <a:xfrm>
            <a:off x="7813091" y="2468880"/>
            <a:ext cx="2282342" cy="4937760"/>
          </a:xfrm>
          <a:prstGeom prst="rect">
            <a:avLst/>
          </a:prstGeom>
        </p:spPr>
      </p:pic>
      <p:sp>
        <p:nvSpPr>
          <p:cNvPr id="19" name="Text 12"/>
          <p:cNvSpPr txBox="1"/>
          <p:nvPr/>
        </p:nvSpPr>
        <p:spPr>
          <a:xfrm>
            <a:off x="7813091" y="7680960"/>
            <a:ext cx="2282342" cy="320040"/>
          </a:xfrm>
          <a:prstGeom prst="rect">
            <a:avLst/>
          </a:prstGeom>
          <a:noFill/>
          <a:ln/>
        </p:spPr>
        <p:txBody>
          <a:bodyPr wrap="square" lIns="0" tIns="0" rIns="0" bIns="0" rtlCol="0" anchor="t"/>
          <a:lstStyle/>
          <a:p>
            <a:pPr indent="0" marL="0">
              <a:buNone/>
            </a:pPr>
            <a:r>
              <a:rPr lang="en-US" sz="1500" dirty="0">
                <a:solidFill>
                  <a:srgbClr val="A12A37"/>
                </a:solidFill>
                <a:latin typeface="Helvetica Neue" pitchFamily="34" charset="0"/>
                <a:ea typeface="Helvetica Neue" pitchFamily="34" charset="-122"/>
                <a:cs typeface="Helvetica Neue" pitchFamily="34" charset="-120"/>
              </a:rPr>
              <a:t>Guard</a:t>
            </a:r>
            <a:endParaRPr lang="en-US" sz="1500" dirty="0"/>
          </a:p>
        </p:txBody>
      </p:sp>
      <p:sp>
        <p:nvSpPr>
          <p:cNvPr id="20" name="Text 13"/>
          <p:cNvSpPr txBox="1"/>
          <p:nvPr/>
        </p:nvSpPr>
        <p:spPr>
          <a:xfrm>
            <a:off x="7813091" y="8046720"/>
            <a:ext cx="2282342" cy="457200"/>
          </a:xfrm>
          <a:prstGeom prst="rect">
            <a:avLst/>
          </a:prstGeom>
          <a:noFill/>
          <a:ln/>
        </p:spPr>
        <p:txBody>
          <a:bodyPr wrap="square" lIns="0" tIns="0" rIns="0" bIns="0" rtlCol="0" anchor="t"/>
          <a:lstStyle/>
          <a:p>
            <a:pPr indent="0" marL="0">
              <a:buNone/>
            </a:pPr>
            <a:r>
              <a:rPr lang="en-US" sz="1636" dirty="0">
                <a:solidFill>
                  <a:srgbClr val="1F1F1F"/>
                </a:solidFill>
                <a:latin typeface="Helvetica Neue Light" pitchFamily="34" charset="0"/>
                <a:ea typeface="Helvetica Neue Light" pitchFamily="34" charset="-122"/>
                <a:cs typeface="Helvetica Neue Light" pitchFamily="34" charset="-120"/>
              </a:rPr>
              <a:t>What needs my attention?</a:t>
            </a:r>
            <a:endParaRPr lang="en-US" sz="1636" dirty="0"/>
          </a:p>
        </p:txBody>
      </p:sp>
      <p:sp>
        <p:nvSpPr>
          <p:cNvPr id="21" name="Shape 14"/>
          <p:cNvSpPr/>
          <p:nvPr/>
        </p:nvSpPr>
        <p:spPr>
          <a:xfrm>
            <a:off x="10265054" y="2468880"/>
            <a:ext cx="2282342" cy="4937760"/>
          </a:xfrm>
          <a:prstGeom prst="rect">
            <a:avLst/>
          </a:prstGeom>
          <a:solidFill>
            <a:srgbClr val="14161D"/>
          </a:solidFill>
          <a:ln w="12700">
            <a:solidFill>
              <a:srgbClr val="14161D"/>
            </a:solidFill>
            <a:prstDash val="solid"/>
          </a:ln>
        </p:spPr>
      </p:sp>
      <p:pic>
        <p:nvPicPr>
          <p:cNvPr id="22" name="Image 5" descr="/tmp/meridian-deck/img/adapt.png">    </p:cNvPr>
          <p:cNvPicPr>
            <a:picLocks noChangeAspect="1"/>
          </p:cNvPicPr>
          <p:nvPr/>
        </p:nvPicPr>
        <p:blipFill>
          <a:blip r:embed="rId7"/>
          <a:stretch>
            <a:fillRect/>
          </a:stretch>
        </p:blipFill>
        <p:spPr>
          <a:xfrm>
            <a:off x="10265054" y="2468880"/>
            <a:ext cx="2282342" cy="4937760"/>
          </a:xfrm>
          <a:prstGeom prst="rect">
            <a:avLst/>
          </a:prstGeom>
        </p:spPr>
      </p:pic>
      <p:sp>
        <p:nvSpPr>
          <p:cNvPr id="23" name="Text 15"/>
          <p:cNvSpPr txBox="1"/>
          <p:nvPr/>
        </p:nvSpPr>
        <p:spPr>
          <a:xfrm>
            <a:off x="10265054" y="7680960"/>
            <a:ext cx="2282342"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Adapt</a:t>
            </a:r>
            <a:endParaRPr lang="en-US" sz="1500" dirty="0"/>
          </a:p>
        </p:txBody>
      </p:sp>
      <p:sp>
        <p:nvSpPr>
          <p:cNvPr id="24" name="Text 16"/>
          <p:cNvSpPr txBox="1"/>
          <p:nvPr/>
        </p:nvSpPr>
        <p:spPr>
          <a:xfrm>
            <a:off x="10265054" y="8046720"/>
            <a:ext cx="2282342" cy="457200"/>
          </a:xfrm>
          <a:prstGeom prst="rect">
            <a:avLst/>
          </a:prstGeom>
          <a:noFill/>
          <a:ln/>
        </p:spPr>
        <p:txBody>
          <a:bodyPr wrap="square" lIns="0" tIns="0" rIns="0" bIns="0" rtlCol="0" anchor="t"/>
          <a:lstStyle/>
          <a:p>
            <a:pPr indent="0" marL="0">
              <a:buNone/>
            </a:pPr>
            <a:r>
              <a:rPr lang="en-US" sz="1636" dirty="0">
                <a:solidFill>
                  <a:srgbClr val="1F1F1F"/>
                </a:solidFill>
                <a:latin typeface="Helvetica Neue Light" pitchFamily="34" charset="0"/>
                <a:ea typeface="Helvetica Neue Light" pitchFamily="34" charset="-122"/>
                <a:cs typeface="Helvetica Neue Light" pitchFamily="34" charset="-120"/>
              </a:rPr>
              <a:t>Should my mix change?</a:t>
            </a:r>
            <a:endParaRPr lang="en-US" sz="1636"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05 · Solution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One trade in eight steps, by share quantity or dollar amount</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45720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SHARE FLOW</a:t>
            </a:r>
            <a:endParaRPr lang="en-US" sz="1280" dirty="0"/>
          </a:p>
        </p:txBody>
      </p:sp>
      <p:sp>
        <p:nvSpPr>
          <p:cNvPr id="6" name="Text 3"/>
          <p:cNvSpPr txBox="1"/>
          <p:nvPr/>
        </p:nvSpPr>
        <p:spPr>
          <a:xfrm>
            <a:off x="457200" y="2926080"/>
            <a:ext cx="4754880" cy="4389120"/>
          </a:xfrm>
          <a:prstGeom prst="rect">
            <a:avLst/>
          </a:prstGeom>
          <a:noFill/>
          <a:ln/>
        </p:spPr>
        <p:txBody>
          <a:bodyPr wrap="square" lIns="0" tIns="0" rIns="0" bIns="0" rtlCol="0" anchor="t"/>
          <a:lstStyle/>
          <a:p>
            <a:pPr indent="0" marL="0">
              <a:buNone/>
            </a:pPr>
            <a:r>
              <a:rPr lang="en-US" sz="1700" b="1" dirty="0">
                <a:solidFill>
                  <a:srgbClr val="C45A35"/>
                </a:solidFill>
                <a:latin typeface="Helvetica Neue" pitchFamily="34" charset="0"/>
                <a:ea typeface="Helvetica Neue" pitchFamily="34" charset="-122"/>
                <a:cs typeface="Helvetica Neue" pitchFamily="34" charset="-120"/>
              </a:rPr>
              <a:t>1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Trade Setup</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2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Choose Action</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3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Enter Share Quantity</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4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Confirm Share Quantity</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5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Choose Order Type</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6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Review and Approve</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7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Submission Outcome</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8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Return to Dashboard</a:t>
            </a:r>
            <a:endParaRPr lang="en-US" sz="1700" dirty="0"/>
          </a:p>
        </p:txBody>
      </p:sp>
      <p:sp>
        <p:nvSpPr>
          <p:cNvPr id="7" name="Text 4"/>
          <p:cNvSpPr txBox="1"/>
          <p:nvPr/>
        </p:nvSpPr>
        <p:spPr>
          <a:xfrm>
            <a:off x="457200" y="7498080"/>
            <a:ext cx="4754880" cy="91440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The dollar flow runs the same eight steps, with Enter Dollar Amount and Confirm Dollar Amount in place of the share steps.</a:t>
            </a:r>
            <a:endParaRPr lang="en-US" sz="1500" dirty="0"/>
          </a:p>
        </p:txBody>
      </p:sp>
      <p:sp>
        <p:nvSpPr>
          <p:cNvPr id="8" name="Shape 5"/>
          <p:cNvSpPr/>
          <p:nvPr/>
        </p:nvSpPr>
        <p:spPr>
          <a:xfrm>
            <a:off x="5517032" y="2468880"/>
            <a:ext cx="1543304" cy="4480560"/>
          </a:xfrm>
          <a:prstGeom prst="rect">
            <a:avLst/>
          </a:prstGeom>
          <a:solidFill>
            <a:srgbClr val="14161D"/>
          </a:solidFill>
          <a:ln w="12700">
            <a:solidFill>
              <a:srgbClr val="14161D"/>
            </a:solidFill>
            <a:prstDash val="solid"/>
          </a:ln>
        </p:spPr>
      </p:sp>
      <p:pic>
        <p:nvPicPr>
          <p:cNvPr id="9" name="Image 1" descr="/tmp/meridian-deck/img/share-setup.png">    </p:cNvPr>
          <p:cNvPicPr>
            <a:picLocks noChangeAspect="1"/>
          </p:cNvPicPr>
          <p:nvPr/>
        </p:nvPicPr>
        <p:blipFill>
          <a:blip r:embed="rId3"/>
          <a:stretch>
            <a:fillRect/>
          </a:stretch>
        </p:blipFill>
        <p:spPr>
          <a:xfrm>
            <a:off x="5517032" y="2468880"/>
            <a:ext cx="1543304" cy="4480560"/>
          </a:xfrm>
          <a:prstGeom prst="rect">
            <a:avLst/>
          </a:prstGeom>
        </p:spPr>
      </p:pic>
      <p:sp>
        <p:nvSpPr>
          <p:cNvPr id="10" name="Shape 6"/>
          <p:cNvSpPr/>
          <p:nvPr/>
        </p:nvSpPr>
        <p:spPr>
          <a:xfrm>
            <a:off x="7288936" y="2468880"/>
            <a:ext cx="2071014" cy="4480560"/>
          </a:xfrm>
          <a:prstGeom prst="rect">
            <a:avLst/>
          </a:prstGeom>
          <a:solidFill>
            <a:srgbClr val="14161D"/>
          </a:solidFill>
          <a:ln w="12700">
            <a:solidFill>
              <a:srgbClr val="14161D"/>
            </a:solidFill>
            <a:prstDash val="solid"/>
          </a:ln>
        </p:spPr>
      </p:sp>
      <p:pic>
        <p:nvPicPr>
          <p:cNvPr id="11" name="Image 2" descr="/tmp/meridian-deck/img/share-quantity.png">    </p:cNvPr>
          <p:cNvPicPr>
            <a:picLocks noChangeAspect="1"/>
          </p:cNvPicPr>
          <p:nvPr/>
        </p:nvPicPr>
        <p:blipFill>
          <a:blip r:embed="rId4"/>
          <a:stretch>
            <a:fillRect/>
          </a:stretch>
        </p:blipFill>
        <p:spPr>
          <a:xfrm>
            <a:off x="7288936" y="2468880"/>
            <a:ext cx="2071014" cy="4480560"/>
          </a:xfrm>
          <a:prstGeom prst="rect">
            <a:avLst/>
          </a:prstGeom>
        </p:spPr>
      </p:pic>
      <p:sp>
        <p:nvSpPr>
          <p:cNvPr id="12" name="Shape 7"/>
          <p:cNvSpPr/>
          <p:nvPr/>
        </p:nvSpPr>
        <p:spPr>
          <a:xfrm>
            <a:off x="9588551" y="2468880"/>
            <a:ext cx="1130097" cy="4480560"/>
          </a:xfrm>
          <a:prstGeom prst="rect">
            <a:avLst/>
          </a:prstGeom>
          <a:solidFill>
            <a:srgbClr val="14161D"/>
          </a:solidFill>
          <a:ln w="12700">
            <a:solidFill>
              <a:srgbClr val="14161D"/>
            </a:solidFill>
            <a:prstDash val="solid"/>
          </a:ln>
        </p:spPr>
      </p:sp>
      <p:pic>
        <p:nvPicPr>
          <p:cNvPr id="13" name="Image 3" descr="/tmp/meridian-deck/img/share-review.png">    </p:cNvPr>
          <p:cNvPicPr>
            <a:picLocks noChangeAspect="1"/>
          </p:cNvPicPr>
          <p:nvPr/>
        </p:nvPicPr>
        <p:blipFill>
          <a:blip r:embed="rId5"/>
          <a:stretch>
            <a:fillRect/>
          </a:stretch>
        </p:blipFill>
        <p:spPr>
          <a:xfrm>
            <a:off x="9588551" y="2468880"/>
            <a:ext cx="1130097" cy="4480560"/>
          </a:xfrm>
          <a:prstGeom prst="rect">
            <a:avLst/>
          </a:prstGeom>
        </p:spPr>
      </p:pic>
      <p:sp>
        <p:nvSpPr>
          <p:cNvPr id="14" name="Shape 8"/>
          <p:cNvSpPr/>
          <p:nvPr/>
        </p:nvSpPr>
        <p:spPr>
          <a:xfrm>
            <a:off x="10947248" y="2468880"/>
            <a:ext cx="1752397" cy="4480560"/>
          </a:xfrm>
          <a:prstGeom prst="rect">
            <a:avLst/>
          </a:prstGeom>
          <a:solidFill>
            <a:srgbClr val="14161D"/>
          </a:solidFill>
          <a:ln w="12700">
            <a:solidFill>
              <a:srgbClr val="14161D"/>
            </a:solidFill>
            <a:prstDash val="solid"/>
          </a:ln>
        </p:spPr>
      </p:sp>
      <p:pic>
        <p:nvPicPr>
          <p:cNvPr id="15" name="Image 4" descr="/tmp/meridian-deck/img/share-outcome.png">    </p:cNvPr>
          <p:cNvPicPr>
            <a:picLocks noChangeAspect="1"/>
          </p:cNvPicPr>
          <p:nvPr/>
        </p:nvPicPr>
        <p:blipFill>
          <a:blip r:embed="rId6"/>
          <a:stretch>
            <a:fillRect/>
          </a:stretch>
        </p:blipFill>
        <p:spPr>
          <a:xfrm>
            <a:off x="10947248" y="2468880"/>
            <a:ext cx="1752397" cy="4480560"/>
          </a:xfrm>
          <a:prstGeom prst="rect">
            <a:avLst/>
          </a:prstGeom>
        </p:spPr>
      </p:pic>
      <p:sp>
        <p:nvSpPr>
          <p:cNvPr id="16" name="Text 9"/>
          <p:cNvSpPr txBox="1"/>
          <p:nvPr/>
        </p:nvSpPr>
        <p:spPr>
          <a:xfrm>
            <a:off x="5669280" y="7223760"/>
            <a:ext cx="6878117" cy="274320"/>
          </a:xfrm>
          <a:prstGeom prst="rect">
            <a:avLst/>
          </a:prstGeom>
          <a:noFill/>
          <a:ln/>
        </p:spPr>
        <p:txBody>
          <a:bodyPr wrap="square" lIns="0" tIns="0" rIns="0" bIns="0" rtlCol="0" anchor="t"/>
          <a:lstStyle/>
          <a:p>
            <a:pPr algn="ctr" indent="0" marL="0">
              <a:buNone/>
            </a:pPr>
            <a:r>
              <a:rPr lang="en-US" sz="1400" dirty="0">
                <a:solidFill>
                  <a:srgbClr val="6E6E6E"/>
                </a:solidFill>
                <a:latin typeface="Helvetica Neue Light" pitchFamily="34" charset="0"/>
                <a:ea typeface="Helvetica Neue Light" pitchFamily="34" charset="-122"/>
                <a:cs typeface="Helvetica Neue Light" pitchFamily="34" charset="-120"/>
              </a:rPr>
              <a:t>Setup  ·  Quantity  ·  Review  ·  Outcome</a:t>
            </a:r>
            <a:endParaRPr lang="en-US" sz="140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05 · Solution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Designing for the states that mocked data hides</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Dashboard in four states. The other four screens follow the same pattern.</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Shape 3"/>
          <p:cNvSpPr/>
          <p:nvPr/>
        </p:nvSpPr>
        <p:spPr>
          <a:xfrm>
            <a:off x="457200" y="2468880"/>
            <a:ext cx="2366874" cy="5120640"/>
          </a:xfrm>
          <a:prstGeom prst="rect">
            <a:avLst/>
          </a:prstGeom>
          <a:solidFill>
            <a:srgbClr val="14161D"/>
          </a:solidFill>
          <a:ln w="12700">
            <a:solidFill>
              <a:srgbClr val="14161D"/>
            </a:solidFill>
            <a:prstDash val="solid"/>
          </a:ln>
        </p:spPr>
      </p:sp>
      <p:pic>
        <p:nvPicPr>
          <p:cNvPr id="7" name="Image 1" descr="/tmp/meridian-deck/img/wf-dash-empty.png">    </p:cNvPr>
          <p:cNvPicPr>
            <a:picLocks noChangeAspect="1"/>
          </p:cNvPicPr>
          <p:nvPr/>
        </p:nvPicPr>
        <p:blipFill>
          <a:blip r:embed="rId3"/>
          <a:stretch>
            <a:fillRect/>
          </a:stretch>
        </p:blipFill>
        <p:spPr>
          <a:xfrm>
            <a:off x="457200" y="2468880"/>
            <a:ext cx="2366874" cy="5120640"/>
          </a:xfrm>
          <a:prstGeom prst="rect">
            <a:avLst/>
          </a:prstGeom>
        </p:spPr>
      </p:pic>
      <p:sp>
        <p:nvSpPr>
          <p:cNvPr id="8" name="Text 4"/>
          <p:cNvSpPr txBox="1"/>
          <p:nvPr/>
        </p:nvSpPr>
        <p:spPr>
          <a:xfrm>
            <a:off x="457200" y="7772400"/>
            <a:ext cx="2366874" cy="320040"/>
          </a:xfrm>
          <a:prstGeom prst="rect">
            <a:avLst/>
          </a:prstGeom>
          <a:noFill/>
          <a:ln/>
        </p:spPr>
        <p:txBody>
          <a:bodyPr wrap="square" lIns="0" tIns="0" rIns="0" bIns="0" rtlCol="0" anchor="t"/>
          <a:lstStyle/>
          <a:p>
            <a:pPr indent="0" marL="0">
              <a:buNone/>
            </a:pPr>
            <a:r>
              <a:rPr lang="en-US" sz="1500" dirty="0">
                <a:solidFill>
                  <a:srgbClr val="1F1F1F"/>
                </a:solidFill>
                <a:latin typeface="Helvetica Neue" pitchFamily="34" charset="0"/>
                <a:ea typeface="Helvetica Neue" pitchFamily="34" charset="-122"/>
                <a:cs typeface="Helvetica Neue" pitchFamily="34" charset="-120"/>
              </a:rPr>
              <a:t>Empty</a:t>
            </a:r>
            <a:endParaRPr lang="en-US" sz="1500" dirty="0"/>
          </a:p>
        </p:txBody>
      </p:sp>
      <p:sp>
        <p:nvSpPr>
          <p:cNvPr id="9" name="Text 5"/>
          <p:cNvSpPr txBox="1"/>
          <p:nvPr/>
        </p:nvSpPr>
        <p:spPr>
          <a:xfrm>
            <a:off x="457200" y="8138160"/>
            <a:ext cx="2366874"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No holdings yet. One clear next step.</a:t>
            </a:r>
            <a:endParaRPr lang="en-US" sz="1600" dirty="0"/>
          </a:p>
        </p:txBody>
      </p:sp>
      <p:sp>
        <p:nvSpPr>
          <p:cNvPr id="10" name="Shape 6"/>
          <p:cNvSpPr/>
          <p:nvPr/>
        </p:nvSpPr>
        <p:spPr>
          <a:xfrm>
            <a:off x="3698308" y="2468880"/>
            <a:ext cx="2366874" cy="5120640"/>
          </a:xfrm>
          <a:prstGeom prst="rect">
            <a:avLst/>
          </a:prstGeom>
          <a:solidFill>
            <a:srgbClr val="14161D"/>
          </a:solidFill>
          <a:ln w="12700">
            <a:solidFill>
              <a:srgbClr val="14161D"/>
            </a:solidFill>
            <a:prstDash val="solid"/>
          </a:ln>
        </p:spPr>
      </p:sp>
      <p:pic>
        <p:nvPicPr>
          <p:cNvPr id="11" name="Image 2" descr="/tmp/meridian-deck/img/wf-dash-loading.png">    </p:cNvPr>
          <p:cNvPicPr>
            <a:picLocks noChangeAspect="1"/>
          </p:cNvPicPr>
          <p:nvPr/>
        </p:nvPicPr>
        <p:blipFill>
          <a:blip r:embed="rId4"/>
          <a:stretch>
            <a:fillRect/>
          </a:stretch>
        </p:blipFill>
        <p:spPr>
          <a:xfrm>
            <a:off x="3698308" y="2468880"/>
            <a:ext cx="2366874" cy="5120640"/>
          </a:xfrm>
          <a:prstGeom prst="rect">
            <a:avLst/>
          </a:prstGeom>
        </p:spPr>
      </p:pic>
      <p:sp>
        <p:nvSpPr>
          <p:cNvPr id="12" name="Text 7"/>
          <p:cNvSpPr txBox="1"/>
          <p:nvPr/>
        </p:nvSpPr>
        <p:spPr>
          <a:xfrm>
            <a:off x="3698308" y="7772400"/>
            <a:ext cx="2366874" cy="320040"/>
          </a:xfrm>
          <a:prstGeom prst="rect">
            <a:avLst/>
          </a:prstGeom>
          <a:noFill/>
          <a:ln/>
        </p:spPr>
        <p:txBody>
          <a:bodyPr wrap="square" lIns="0" tIns="0" rIns="0" bIns="0" rtlCol="0" anchor="t"/>
          <a:lstStyle/>
          <a:p>
            <a:pPr indent="0" marL="0">
              <a:buNone/>
            </a:pPr>
            <a:r>
              <a:rPr lang="en-US" sz="1500" dirty="0">
                <a:solidFill>
                  <a:srgbClr val="00868B"/>
                </a:solidFill>
                <a:latin typeface="Helvetica Neue" pitchFamily="34" charset="0"/>
                <a:ea typeface="Helvetica Neue" pitchFamily="34" charset="-122"/>
                <a:cs typeface="Helvetica Neue" pitchFamily="34" charset="-120"/>
              </a:rPr>
              <a:t>Loading</a:t>
            </a:r>
            <a:endParaRPr lang="en-US" sz="1500" dirty="0"/>
          </a:p>
        </p:txBody>
      </p:sp>
      <p:sp>
        <p:nvSpPr>
          <p:cNvPr id="13" name="Text 8"/>
          <p:cNvSpPr txBox="1"/>
          <p:nvPr/>
        </p:nvSpPr>
        <p:spPr>
          <a:xfrm>
            <a:off x="3698308" y="8138160"/>
            <a:ext cx="2366874"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Skeleton cards hold the layout while data loads.</a:t>
            </a:r>
            <a:endParaRPr lang="en-US" sz="1600" dirty="0"/>
          </a:p>
        </p:txBody>
      </p:sp>
      <p:sp>
        <p:nvSpPr>
          <p:cNvPr id="14" name="Shape 9"/>
          <p:cNvSpPr/>
          <p:nvPr/>
        </p:nvSpPr>
        <p:spPr>
          <a:xfrm>
            <a:off x="6939415" y="2468880"/>
            <a:ext cx="2366874" cy="5120640"/>
          </a:xfrm>
          <a:prstGeom prst="rect">
            <a:avLst/>
          </a:prstGeom>
          <a:solidFill>
            <a:srgbClr val="14161D"/>
          </a:solidFill>
          <a:ln w="12700">
            <a:solidFill>
              <a:srgbClr val="14161D"/>
            </a:solidFill>
            <a:prstDash val="solid"/>
          </a:ln>
        </p:spPr>
      </p:sp>
      <p:pic>
        <p:nvPicPr>
          <p:cNvPr id="15" name="Image 3" descr="/tmp/meridian-deck/img/wf-dash-error.png">    </p:cNvPr>
          <p:cNvPicPr>
            <a:picLocks noChangeAspect="1"/>
          </p:cNvPicPr>
          <p:nvPr/>
        </p:nvPicPr>
        <p:blipFill>
          <a:blip r:embed="rId5"/>
          <a:stretch>
            <a:fillRect/>
          </a:stretch>
        </p:blipFill>
        <p:spPr>
          <a:xfrm>
            <a:off x="6939415" y="2468880"/>
            <a:ext cx="2366874" cy="5120640"/>
          </a:xfrm>
          <a:prstGeom prst="rect">
            <a:avLst/>
          </a:prstGeom>
        </p:spPr>
      </p:pic>
      <p:sp>
        <p:nvSpPr>
          <p:cNvPr id="16" name="Text 10"/>
          <p:cNvSpPr txBox="1"/>
          <p:nvPr/>
        </p:nvSpPr>
        <p:spPr>
          <a:xfrm>
            <a:off x="6939415" y="7772400"/>
            <a:ext cx="2366874" cy="320040"/>
          </a:xfrm>
          <a:prstGeom prst="rect">
            <a:avLst/>
          </a:prstGeom>
          <a:noFill/>
          <a:ln/>
        </p:spPr>
        <p:txBody>
          <a:bodyPr wrap="square" lIns="0" tIns="0" rIns="0" bIns="0" rtlCol="0" anchor="t"/>
          <a:lstStyle/>
          <a:p>
            <a:pPr indent="0" marL="0">
              <a:buNone/>
            </a:pPr>
            <a:r>
              <a:rPr lang="en-US" sz="1500" dirty="0">
                <a:solidFill>
                  <a:srgbClr val="A12A37"/>
                </a:solidFill>
                <a:latin typeface="Helvetica Neue" pitchFamily="34" charset="0"/>
                <a:ea typeface="Helvetica Neue" pitchFamily="34" charset="-122"/>
                <a:cs typeface="Helvetica Neue" pitchFamily="34" charset="-120"/>
              </a:rPr>
              <a:t>Error</a:t>
            </a:r>
            <a:endParaRPr lang="en-US" sz="1500" dirty="0"/>
          </a:p>
        </p:txBody>
      </p:sp>
      <p:sp>
        <p:nvSpPr>
          <p:cNvPr id="17" name="Text 11"/>
          <p:cNvSpPr txBox="1"/>
          <p:nvPr/>
        </p:nvSpPr>
        <p:spPr>
          <a:xfrm>
            <a:off x="6939415" y="8138160"/>
            <a:ext cx="2366874"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Says what failed and offers a retry.</a:t>
            </a:r>
            <a:endParaRPr lang="en-US" sz="1600" dirty="0"/>
          </a:p>
        </p:txBody>
      </p:sp>
      <p:sp>
        <p:nvSpPr>
          <p:cNvPr id="18" name="Shape 12"/>
          <p:cNvSpPr/>
          <p:nvPr/>
        </p:nvSpPr>
        <p:spPr>
          <a:xfrm>
            <a:off x="10180523" y="2468880"/>
            <a:ext cx="2366874" cy="5120640"/>
          </a:xfrm>
          <a:prstGeom prst="rect">
            <a:avLst/>
          </a:prstGeom>
          <a:solidFill>
            <a:srgbClr val="14161D"/>
          </a:solidFill>
          <a:ln w="12700">
            <a:solidFill>
              <a:srgbClr val="14161D"/>
            </a:solidFill>
            <a:prstDash val="solid"/>
          </a:ln>
        </p:spPr>
      </p:sp>
      <p:pic>
        <p:nvPicPr>
          <p:cNvPr id="19" name="Image 4" descr="/tmp/meridian-deck/img/wf-dash-offline.png">    </p:cNvPr>
          <p:cNvPicPr>
            <a:picLocks noChangeAspect="1"/>
          </p:cNvPicPr>
          <p:nvPr/>
        </p:nvPicPr>
        <p:blipFill>
          <a:blip r:embed="rId6"/>
          <a:stretch>
            <a:fillRect/>
          </a:stretch>
        </p:blipFill>
        <p:spPr>
          <a:xfrm>
            <a:off x="10180523" y="2468880"/>
            <a:ext cx="2366874" cy="5120640"/>
          </a:xfrm>
          <a:prstGeom prst="rect">
            <a:avLst/>
          </a:prstGeom>
        </p:spPr>
      </p:pic>
      <p:sp>
        <p:nvSpPr>
          <p:cNvPr id="20" name="Text 13"/>
          <p:cNvSpPr txBox="1"/>
          <p:nvPr/>
        </p:nvSpPr>
        <p:spPr>
          <a:xfrm>
            <a:off x="10180523" y="7772400"/>
            <a:ext cx="2366874"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Offline</a:t>
            </a:r>
            <a:endParaRPr lang="en-US" sz="1500" dirty="0"/>
          </a:p>
        </p:txBody>
      </p:sp>
      <p:sp>
        <p:nvSpPr>
          <p:cNvPr id="21" name="Text 14"/>
          <p:cNvSpPr txBox="1"/>
          <p:nvPr/>
        </p:nvSpPr>
        <p:spPr>
          <a:xfrm>
            <a:off x="10180523" y="8138160"/>
            <a:ext cx="2366874"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Warns that data is stale and shows the last update.</a:t>
            </a:r>
            <a:endParaRPr lang="en-US" sz="1600" dirty="0"/>
          </a:p>
        </p:txBody>
      </p:sp>
      <p:pic>
        <p:nvPicPr>
          <p:cNvPr id="22" name="Image 5"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06 · Reasoning &amp; trade-offs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Four calls, and what each one costs</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56692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DECISION 1</a:t>
            </a:r>
            <a:endParaRPr lang="en-US" sz="1280" dirty="0"/>
          </a:p>
        </p:txBody>
      </p:sp>
      <p:sp>
        <p:nvSpPr>
          <p:cNvPr id="6" name="Text 3"/>
          <p:cNvSpPr txBox="1"/>
          <p:nvPr/>
        </p:nvSpPr>
        <p:spPr>
          <a:xfrm>
            <a:off x="457200" y="288036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Keep both share and dollar entry</a:t>
            </a:r>
            <a:endParaRPr lang="en-US" sz="2400" dirty="0"/>
          </a:p>
        </p:txBody>
      </p:sp>
      <p:sp>
        <p:nvSpPr>
          <p:cNvPr id="7" name="Text 4"/>
          <p:cNvSpPr txBox="1"/>
          <p:nvPr/>
        </p:nvSpPr>
        <p:spPr>
          <a:xfrm>
            <a:off x="457200" y="3566160"/>
            <a:ext cx="5669280" cy="1828800"/>
          </a:xfrm>
          <a:prstGeom prst="rect">
            <a:avLst/>
          </a:prstGeom>
          <a:noFill/>
          <a:ln/>
        </p:spPr>
        <p:txBody>
          <a:bodyPr wrap="square" lIns="0" tIns="0" rIns="0" bIns="0" rtlCol="0" anchor="t"/>
          <a:lstStyle/>
          <a:p>
            <a:pPr indent="0" marL="0">
              <a:buNone/>
            </a:pPr>
            <a:r>
              <a:rPr lang="en-US" sz="1700" b="1" dirty="0">
                <a:solidFill>
                  <a:srgbClr val="595959"/>
                </a:solidFill>
                <a:latin typeface="Helvetica Neue" pitchFamily="34" charset="0"/>
                <a:ea typeface="Helvetica Neue" pitchFamily="34" charset="-122"/>
                <a:cs typeface="Helvetica Neue" pitchFamily="34" charset="-120"/>
              </a:rPr>
              <a:t>Why: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Unclear which entry model new investors prefer.</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Trade-off: </a:t>
            </a:r>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Two flows to maintain. Open question for testing.</a:t>
            </a:r>
            <a:endParaRPr lang="en-US" sz="1700" dirty="0"/>
          </a:p>
        </p:txBody>
      </p:sp>
      <p:sp>
        <p:nvSpPr>
          <p:cNvPr id="8" name="Text 5"/>
          <p:cNvSpPr txBox="1"/>
          <p:nvPr/>
        </p:nvSpPr>
        <p:spPr>
          <a:xfrm>
            <a:off x="6766560" y="2468880"/>
            <a:ext cx="56692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DECISION 2</a:t>
            </a:r>
            <a:endParaRPr lang="en-US" sz="1280" dirty="0"/>
          </a:p>
        </p:txBody>
      </p:sp>
      <p:sp>
        <p:nvSpPr>
          <p:cNvPr id="9" name="Text 6"/>
          <p:cNvSpPr txBox="1"/>
          <p:nvPr/>
        </p:nvSpPr>
        <p:spPr>
          <a:xfrm>
            <a:off x="6766560" y="288036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Use a mock API with a 0.8-second delay</a:t>
            </a:r>
            <a:endParaRPr lang="en-US" sz="2400" dirty="0"/>
          </a:p>
        </p:txBody>
      </p:sp>
      <p:sp>
        <p:nvSpPr>
          <p:cNvPr id="10" name="Text 7"/>
          <p:cNvSpPr txBox="1"/>
          <p:nvPr/>
        </p:nvSpPr>
        <p:spPr>
          <a:xfrm>
            <a:off x="6766560" y="3566160"/>
            <a:ext cx="5669280" cy="1828800"/>
          </a:xfrm>
          <a:prstGeom prst="rect">
            <a:avLst/>
          </a:prstGeom>
          <a:noFill/>
          <a:ln/>
        </p:spPr>
        <p:txBody>
          <a:bodyPr wrap="square" lIns="0" tIns="0" rIns="0" bIns="0" rtlCol="0" anchor="t"/>
          <a:lstStyle/>
          <a:p>
            <a:pPr indent="0" marL="0">
              <a:buNone/>
            </a:pPr>
            <a:r>
              <a:rPr lang="en-US" sz="1700" b="1" dirty="0">
                <a:solidFill>
                  <a:srgbClr val="595959"/>
                </a:solidFill>
                <a:latin typeface="Helvetica Neue" pitchFamily="34" charset="0"/>
                <a:ea typeface="Helvetica Neue" pitchFamily="34" charset="-122"/>
                <a:cs typeface="Helvetica Neue" pitchFamily="34" charset="-120"/>
              </a:rPr>
              <a:t>Why: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Lets us test flows and loading states without a backend.</a:t>
            </a:r>
            <a:endParaRPr lang="en-US" sz="1700" dirty="0"/>
          </a:p>
          <a:p>
            <a:pPr indent="0" marL="0">
              <a:buNone/>
            </a:pPr>
            <a:r>
              <a:rPr lang="en-US" sz="1700" b="1" dirty="0">
                <a:solidFill>
                  <a:srgbClr val="5B3F96"/>
                </a:solidFill>
                <a:latin typeface="Helvetica Neue" pitchFamily="34" charset="0"/>
                <a:ea typeface="Helvetica Neue" pitchFamily="34" charset="-122"/>
                <a:cs typeface="Helvetica Neue" pitchFamily="34" charset="-120"/>
              </a:rPr>
              <a:t>Trade-off: </a:t>
            </a:r>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Real timing, errors and data limits stay untested.</a:t>
            </a:r>
            <a:endParaRPr lang="en-US" sz="1700" dirty="0"/>
          </a:p>
        </p:txBody>
      </p:sp>
      <p:sp>
        <p:nvSpPr>
          <p:cNvPr id="11" name="Text 8"/>
          <p:cNvSpPr txBox="1"/>
          <p:nvPr/>
        </p:nvSpPr>
        <p:spPr>
          <a:xfrm>
            <a:off x="457200" y="5852160"/>
            <a:ext cx="5669280" cy="274320"/>
          </a:xfrm>
          <a:prstGeom prst="rect">
            <a:avLst/>
          </a:prstGeom>
          <a:noFill/>
          <a:ln/>
        </p:spPr>
        <p:txBody>
          <a:bodyPr wrap="square" lIns="0" tIns="0" rIns="0" bIns="0" rtlCol="0" anchor="t"/>
          <a:lstStyle/>
          <a:p>
            <a:pPr indent="0" marL="0">
              <a:buNone/>
            </a:pPr>
            <a:r>
              <a:rPr lang="en-US" sz="1280" spc="100" kern="0" dirty="0">
                <a:solidFill>
                  <a:srgbClr val="A12A37"/>
                </a:solidFill>
                <a:latin typeface="Helvetica Neue" pitchFamily="34" charset="0"/>
                <a:ea typeface="Helvetica Neue" pitchFamily="34" charset="-122"/>
                <a:cs typeface="Helvetica Neue" pitchFamily="34" charset="-120"/>
              </a:rPr>
              <a:t>DECISION 3</a:t>
            </a:r>
            <a:endParaRPr lang="en-US" sz="1280" dirty="0"/>
          </a:p>
        </p:txBody>
      </p:sp>
      <p:sp>
        <p:nvSpPr>
          <p:cNvPr id="12" name="Text 9"/>
          <p:cNvSpPr txBox="1"/>
          <p:nvPr/>
        </p:nvSpPr>
        <p:spPr>
          <a:xfrm>
            <a:off x="457200" y="626364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Adapt suggests buys and sells</a:t>
            </a:r>
            <a:endParaRPr lang="en-US" sz="2400" dirty="0"/>
          </a:p>
        </p:txBody>
      </p:sp>
      <p:sp>
        <p:nvSpPr>
          <p:cNvPr id="13" name="Text 10"/>
          <p:cNvSpPr txBox="1"/>
          <p:nvPr/>
        </p:nvSpPr>
        <p:spPr>
          <a:xfrm>
            <a:off x="457200" y="6949440"/>
            <a:ext cx="5669280" cy="1828800"/>
          </a:xfrm>
          <a:prstGeom prst="rect">
            <a:avLst/>
          </a:prstGeom>
          <a:noFill/>
          <a:ln/>
        </p:spPr>
        <p:txBody>
          <a:bodyPr wrap="square" lIns="0" tIns="0" rIns="0" bIns="0" rtlCol="0" anchor="t"/>
          <a:lstStyle/>
          <a:p>
            <a:pPr indent="0" marL="0">
              <a:buNone/>
            </a:pPr>
            <a:r>
              <a:rPr lang="en-US" sz="1700" b="1" dirty="0">
                <a:solidFill>
                  <a:srgbClr val="595959"/>
                </a:solidFill>
                <a:latin typeface="Helvetica Neue" pitchFamily="34" charset="0"/>
                <a:ea typeface="Helvetica Neue" pitchFamily="34" charset="-122"/>
                <a:cs typeface="Helvetica Neue" pitchFamily="34" charset="-120"/>
              </a:rPr>
              <a:t>Why: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It is the screen’s job: a rebalance the user can review.</a:t>
            </a:r>
            <a:endParaRPr lang="en-US" sz="1700" dirty="0"/>
          </a:p>
          <a:p>
            <a:pPr indent="0" marL="0">
              <a:buNone/>
            </a:pPr>
            <a:r>
              <a:rPr lang="en-US" sz="1700" b="1" dirty="0">
                <a:solidFill>
                  <a:srgbClr val="A12A37"/>
                </a:solidFill>
                <a:latin typeface="Helvetica Neue" pitchFamily="34" charset="0"/>
                <a:ea typeface="Helvetica Neue" pitchFamily="34" charset="-122"/>
                <a:cs typeface="Helvetica Neue" pitchFamily="34" charset="-120"/>
              </a:rPr>
              <a:t>Trade-off: </a:t>
            </a:r>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Buy and sell language needs compliance review. It may need to become explanation only.</a:t>
            </a:r>
            <a:endParaRPr lang="en-US" sz="1700" dirty="0"/>
          </a:p>
        </p:txBody>
      </p:sp>
      <p:sp>
        <p:nvSpPr>
          <p:cNvPr id="14" name="Text 11"/>
          <p:cNvSpPr txBox="1"/>
          <p:nvPr/>
        </p:nvSpPr>
        <p:spPr>
          <a:xfrm>
            <a:off x="6766560" y="5852160"/>
            <a:ext cx="5669280" cy="27432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DECISION 4</a:t>
            </a:r>
            <a:endParaRPr lang="en-US" sz="1280" dirty="0"/>
          </a:p>
        </p:txBody>
      </p:sp>
      <p:sp>
        <p:nvSpPr>
          <p:cNvPr id="15" name="Text 12"/>
          <p:cNvSpPr txBox="1"/>
          <p:nvPr/>
        </p:nvSpPr>
        <p:spPr>
          <a:xfrm>
            <a:off x="6766560" y="626364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Five tabs, one home screen</a:t>
            </a:r>
            <a:endParaRPr lang="en-US" sz="2400" dirty="0"/>
          </a:p>
        </p:txBody>
      </p:sp>
      <p:sp>
        <p:nvSpPr>
          <p:cNvPr id="16" name="Text 13"/>
          <p:cNvSpPr txBox="1"/>
          <p:nvPr/>
        </p:nvSpPr>
        <p:spPr>
          <a:xfrm>
            <a:off x="6766560" y="6949440"/>
            <a:ext cx="5669280" cy="1828800"/>
          </a:xfrm>
          <a:prstGeom prst="rect">
            <a:avLst/>
          </a:prstGeom>
          <a:noFill/>
          <a:ln/>
        </p:spPr>
        <p:txBody>
          <a:bodyPr wrap="square" lIns="0" tIns="0" rIns="0" bIns="0" rtlCol="0" anchor="t"/>
          <a:lstStyle/>
          <a:p>
            <a:pPr indent="0" marL="0">
              <a:buNone/>
            </a:pPr>
            <a:r>
              <a:rPr lang="en-US" sz="1700" b="1" dirty="0">
                <a:solidFill>
                  <a:srgbClr val="595959"/>
                </a:solidFill>
                <a:latin typeface="Helvetica Neue" pitchFamily="34" charset="0"/>
                <a:ea typeface="Helvetica Neue" pitchFamily="34" charset="-122"/>
                <a:cs typeface="Helvetica Neue" pitchFamily="34" charset="-120"/>
              </a:rPr>
              <a:t>Why: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A scannable set of areas, with trading one tap away.</a:t>
            </a:r>
            <a:endParaRPr lang="en-US" sz="1700" dirty="0"/>
          </a:p>
          <a:p>
            <a:pPr indent="0" marL="0">
              <a:buNone/>
            </a:pPr>
            <a:r>
              <a:rPr lang="en-US" sz="1700" b="1" dirty="0">
                <a:solidFill>
                  <a:srgbClr val="00868B"/>
                </a:solidFill>
                <a:latin typeface="Helvetica Neue" pitchFamily="34" charset="0"/>
                <a:ea typeface="Helvetica Neue" pitchFamily="34" charset="-122"/>
                <a:cs typeface="Helvetica Neue" pitchFamily="34" charset="-120"/>
              </a:rPr>
              <a:t>Trade-off: </a:t>
            </a:r>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AI screens compete with trade entry for attention. Test it.</a:t>
            </a:r>
            <a:endParaRPr lang="en-US" sz="1700" dirty="0"/>
          </a:p>
        </p:txBody>
      </p:sp>
      <p:pic>
        <p:nvPicPr>
          <p:cNvPr id="17"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C45A35"/>
        </a:solidFill>
      </p:bgPr>
    </p:bg>
    <p:spTree>
      <p:nvGrpSpPr>
        <p:cNvPr id="1" name=""/>
        <p:cNvGrpSpPr/>
        <p:nvPr/>
      </p:nvGrpSpPr>
      <p:grpSpPr/>
      <p:sp>
        <p:nvSpPr>
          <p:cNvPr id="2" name="Text 0"/>
          <p:cNvSpPr txBox="1"/>
          <p:nvPr/>
        </p:nvSpPr>
        <p:spPr>
          <a:xfrm>
            <a:off x="978408" y="978408"/>
            <a:ext cx="10515600" cy="1097280"/>
          </a:xfrm>
          <a:prstGeom prst="rect">
            <a:avLst/>
          </a:prstGeom>
          <a:noFill/>
          <a:ln/>
        </p:spPr>
        <p:txBody>
          <a:bodyPr wrap="square" lIns="0" tIns="0" rIns="0" bIns="0" rtlCol="0" anchor="t"/>
          <a:lstStyle/>
          <a:p>
            <a:pPr indent="0" marL="0">
              <a:buNone/>
            </a:pPr>
            <a:r>
              <a:rPr lang="en-US" sz="5700" dirty="0">
                <a:solidFill>
                  <a:srgbClr val="FFFFFF"/>
                </a:solidFill>
                <a:latin typeface="Helvetica Neue Light" pitchFamily="34" charset="0"/>
                <a:ea typeface="Helvetica Neue Light" pitchFamily="34" charset="-122"/>
                <a:cs typeface="Helvetica Neue Light" pitchFamily="34" charset="-120"/>
              </a:rPr>
              <a:t>The agent experience</a:t>
            </a:r>
            <a:endParaRPr lang="en-US" sz="5700" dirty="0"/>
          </a:p>
        </p:txBody>
      </p:sp>
      <p:sp>
        <p:nvSpPr>
          <p:cNvPr id="3" name="Text 1"/>
          <p:cNvSpPr txBox="1"/>
          <p:nvPr/>
        </p:nvSpPr>
        <p:spPr>
          <a:xfrm>
            <a:off x="1078992" y="2286000"/>
            <a:ext cx="9601200" cy="822960"/>
          </a:xfrm>
          <a:prstGeom prst="rect">
            <a:avLst/>
          </a:prstGeom>
          <a:noFill/>
          <a:ln/>
        </p:spPr>
        <p:txBody>
          <a:bodyPr wrap="square" lIns="0" tIns="0" rIns="0" bIns="0" rtlCol="0" anchor="t"/>
          <a:lstStyle/>
          <a:p>
            <a:pPr indent="0" marL="0">
              <a:buNone/>
            </a:pPr>
            <a:r>
              <a:rPr lang="en-US" sz="1900" dirty="0">
                <a:solidFill>
                  <a:srgbClr val="FFE9DF"/>
                </a:solidFill>
                <a:latin typeface="Helvetica Neue Light" pitchFamily="34" charset="0"/>
                <a:ea typeface="Helvetica Neue Light" pitchFamily="34" charset="-122"/>
                <a:cs typeface="Helvetica Neue Light" pitchFamily="34" charset="-120"/>
              </a:rPr>
              <a:t>Reconceptualizing the AI from static cards to a bounded agent the user can see and steer.</a:t>
            </a:r>
            <a:endParaRPr lang="en-US" sz="19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06 · Agent experience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Where the AI experience breaks down today</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Five problems, from the current prototype and the competitive audit. Mock data throughout.</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Shape 3"/>
          <p:cNvSpPr/>
          <p:nvPr/>
        </p:nvSpPr>
        <p:spPr>
          <a:xfrm>
            <a:off x="457200" y="2468880"/>
            <a:ext cx="420624" cy="420624"/>
          </a:xfrm>
          <a:prstGeom prst="ellipse">
            <a:avLst/>
          </a:prstGeom>
          <a:solidFill>
            <a:srgbClr val="C45A35"/>
          </a:solidFill>
          <a:ln w="12700">
            <a:solidFill>
              <a:srgbClr val="C45A35"/>
            </a:solidFill>
            <a:prstDash val="solid"/>
          </a:ln>
        </p:spPr>
      </p:sp>
      <p:sp>
        <p:nvSpPr>
          <p:cNvPr id="7" name="Text 4"/>
          <p:cNvSpPr txBox="1"/>
          <p:nvPr/>
        </p:nvSpPr>
        <p:spPr>
          <a:xfrm>
            <a:off x="457200"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1</a:t>
            </a:r>
            <a:endParaRPr lang="en-US" sz="1564" dirty="0"/>
          </a:p>
        </p:txBody>
      </p:sp>
      <p:sp>
        <p:nvSpPr>
          <p:cNvPr id="8" name="Text 5"/>
          <p:cNvSpPr txBox="1"/>
          <p:nvPr/>
        </p:nvSpPr>
        <p:spPr>
          <a:xfrm>
            <a:off x="1188720" y="2487168"/>
            <a:ext cx="457200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Outputs without reasoning</a:t>
            </a:r>
            <a:endParaRPr lang="en-US" sz="2200" dirty="0"/>
          </a:p>
        </p:txBody>
      </p:sp>
      <p:sp>
        <p:nvSpPr>
          <p:cNvPr id="9" name="Text 6"/>
          <p:cNvSpPr txBox="1"/>
          <p:nvPr/>
        </p:nvSpPr>
        <p:spPr>
          <a:xfrm>
            <a:off x="5943600" y="2505456"/>
            <a:ext cx="612648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Insight shows sentiment with no source, date, or data behind it.</a:t>
            </a:r>
            <a:endParaRPr lang="en-US" sz="1700" dirty="0"/>
          </a:p>
        </p:txBody>
      </p:sp>
      <p:sp>
        <p:nvSpPr>
          <p:cNvPr id="10" name="Shape 7"/>
          <p:cNvSpPr/>
          <p:nvPr/>
        </p:nvSpPr>
        <p:spPr>
          <a:xfrm>
            <a:off x="457200" y="3794760"/>
            <a:ext cx="420624" cy="420624"/>
          </a:xfrm>
          <a:prstGeom prst="ellipse">
            <a:avLst/>
          </a:prstGeom>
          <a:solidFill>
            <a:srgbClr val="C45A35"/>
          </a:solidFill>
          <a:ln w="12700">
            <a:solidFill>
              <a:srgbClr val="C45A35"/>
            </a:solidFill>
            <a:prstDash val="solid"/>
          </a:ln>
        </p:spPr>
      </p:sp>
      <p:sp>
        <p:nvSpPr>
          <p:cNvPr id="11" name="Text 8"/>
          <p:cNvSpPr txBox="1"/>
          <p:nvPr/>
        </p:nvSpPr>
        <p:spPr>
          <a:xfrm>
            <a:off x="457200" y="385876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2</a:t>
            </a:r>
            <a:endParaRPr lang="en-US" sz="1564" dirty="0"/>
          </a:p>
        </p:txBody>
      </p:sp>
      <p:sp>
        <p:nvSpPr>
          <p:cNvPr id="12" name="Text 9"/>
          <p:cNvSpPr txBox="1"/>
          <p:nvPr/>
        </p:nvSpPr>
        <p:spPr>
          <a:xfrm>
            <a:off x="1188720" y="3813048"/>
            <a:ext cx="457200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All or nothing</a:t>
            </a:r>
            <a:endParaRPr lang="en-US" sz="2200" dirty="0"/>
          </a:p>
        </p:txBody>
      </p:sp>
      <p:sp>
        <p:nvSpPr>
          <p:cNvPr id="13" name="Text 10"/>
          <p:cNvSpPr txBox="1"/>
          <p:nvPr/>
        </p:nvSpPr>
        <p:spPr>
          <a:xfrm>
            <a:off x="5943600" y="3831336"/>
            <a:ext cx="612648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Adapt proposes 5 buys and 3 sells. The user can approve or dismiss the batch, nothing else.</a:t>
            </a:r>
            <a:endParaRPr lang="en-US" sz="1700" dirty="0"/>
          </a:p>
        </p:txBody>
      </p:sp>
      <p:sp>
        <p:nvSpPr>
          <p:cNvPr id="14" name="Shape 11"/>
          <p:cNvSpPr/>
          <p:nvPr/>
        </p:nvSpPr>
        <p:spPr>
          <a:xfrm>
            <a:off x="457200" y="5120640"/>
            <a:ext cx="420624" cy="420624"/>
          </a:xfrm>
          <a:prstGeom prst="ellipse">
            <a:avLst/>
          </a:prstGeom>
          <a:solidFill>
            <a:srgbClr val="C45A35"/>
          </a:solidFill>
          <a:ln w="12700">
            <a:solidFill>
              <a:srgbClr val="C45A35"/>
            </a:solidFill>
            <a:prstDash val="solid"/>
          </a:ln>
        </p:spPr>
      </p:sp>
      <p:sp>
        <p:nvSpPr>
          <p:cNvPr id="15" name="Text 12"/>
          <p:cNvSpPr txBox="1"/>
          <p:nvPr/>
        </p:nvSpPr>
        <p:spPr>
          <a:xfrm>
            <a:off x="457200" y="518464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3</a:t>
            </a:r>
            <a:endParaRPr lang="en-US" sz="1564" dirty="0"/>
          </a:p>
        </p:txBody>
      </p:sp>
      <p:sp>
        <p:nvSpPr>
          <p:cNvPr id="16" name="Text 13"/>
          <p:cNvSpPr txBox="1"/>
          <p:nvPr/>
        </p:nvSpPr>
        <p:spPr>
          <a:xfrm>
            <a:off x="1188720" y="5138928"/>
            <a:ext cx="457200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No learning loop</a:t>
            </a:r>
            <a:endParaRPr lang="en-US" sz="2200" dirty="0"/>
          </a:p>
        </p:txBody>
      </p:sp>
      <p:sp>
        <p:nvSpPr>
          <p:cNvPr id="17" name="Text 14"/>
          <p:cNvSpPr txBox="1"/>
          <p:nvPr/>
        </p:nvSpPr>
        <p:spPr>
          <a:xfrm>
            <a:off x="5943600" y="5157216"/>
            <a:ext cx="612648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Dismissing or correcting an insight does not change future output.</a:t>
            </a:r>
            <a:endParaRPr lang="en-US" sz="1700" dirty="0"/>
          </a:p>
        </p:txBody>
      </p:sp>
      <p:sp>
        <p:nvSpPr>
          <p:cNvPr id="18" name="Shape 15"/>
          <p:cNvSpPr/>
          <p:nvPr/>
        </p:nvSpPr>
        <p:spPr>
          <a:xfrm>
            <a:off x="457200" y="6446520"/>
            <a:ext cx="420624" cy="420624"/>
          </a:xfrm>
          <a:prstGeom prst="ellipse">
            <a:avLst/>
          </a:prstGeom>
          <a:solidFill>
            <a:srgbClr val="C45A35"/>
          </a:solidFill>
          <a:ln w="12700">
            <a:solidFill>
              <a:srgbClr val="C45A35"/>
            </a:solidFill>
            <a:prstDash val="solid"/>
          </a:ln>
        </p:spPr>
      </p:sp>
      <p:sp>
        <p:nvSpPr>
          <p:cNvPr id="19" name="Text 16"/>
          <p:cNvSpPr txBox="1"/>
          <p:nvPr/>
        </p:nvSpPr>
        <p:spPr>
          <a:xfrm>
            <a:off x="457200" y="65105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4</a:t>
            </a:r>
            <a:endParaRPr lang="en-US" sz="1564" dirty="0"/>
          </a:p>
        </p:txBody>
      </p:sp>
      <p:sp>
        <p:nvSpPr>
          <p:cNvPr id="20" name="Text 17"/>
          <p:cNvSpPr txBox="1"/>
          <p:nvPr/>
        </p:nvSpPr>
        <p:spPr>
          <a:xfrm>
            <a:off x="1188720" y="6464808"/>
            <a:ext cx="457200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Advice line in conflict</a:t>
            </a:r>
            <a:endParaRPr lang="en-US" sz="2200" dirty="0"/>
          </a:p>
        </p:txBody>
      </p:sp>
      <p:sp>
        <p:nvSpPr>
          <p:cNvPr id="21" name="Text 18"/>
          <p:cNvSpPr txBox="1"/>
          <p:nvPr/>
        </p:nvSpPr>
        <p:spPr>
          <a:xfrm>
            <a:off x="5943600" y="6483096"/>
            <a:ext cx="612648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The design rule says the AI never originates buy or sell advice. Adapt wording does. Compliance review is open.</a:t>
            </a:r>
            <a:endParaRPr lang="en-US" sz="1700" dirty="0"/>
          </a:p>
        </p:txBody>
      </p:sp>
      <p:sp>
        <p:nvSpPr>
          <p:cNvPr id="22" name="Shape 19"/>
          <p:cNvSpPr/>
          <p:nvPr/>
        </p:nvSpPr>
        <p:spPr>
          <a:xfrm>
            <a:off x="457200" y="7772400"/>
            <a:ext cx="420624" cy="420624"/>
          </a:xfrm>
          <a:prstGeom prst="ellipse">
            <a:avLst/>
          </a:prstGeom>
          <a:solidFill>
            <a:srgbClr val="C45A35"/>
          </a:solidFill>
          <a:ln w="12700">
            <a:solidFill>
              <a:srgbClr val="C45A35"/>
            </a:solidFill>
            <a:prstDash val="solid"/>
          </a:ln>
        </p:spPr>
      </p:sp>
      <p:sp>
        <p:nvSpPr>
          <p:cNvPr id="23" name="Text 20"/>
          <p:cNvSpPr txBox="1"/>
          <p:nvPr/>
        </p:nvSpPr>
        <p:spPr>
          <a:xfrm>
            <a:off x="457200" y="783640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5</a:t>
            </a:r>
            <a:endParaRPr lang="en-US" sz="1564" dirty="0"/>
          </a:p>
        </p:txBody>
      </p:sp>
      <p:sp>
        <p:nvSpPr>
          <p:cNvPr id="24" name="Text 21"/>
          <p:cNvSpPr txBox="1"/>
          <p:nvPr/>
        </p:nvSpPr>
        <p:spPr>
          <a:xfrm>
            <a:off x="1188720" y="7790688"/>
            <a:ext cx="457200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Context lost between screens</a:t>
            </a:r>
            <a:endParaRPr lang="en-US" sz="2200" dirty="0"/>
          </a:p>
        </p:txBody>
      </p:sp>
      <p:sp>
        <p:nvSpPr>
          <p:cNvPr id="25" name="Text 22"/>
          <p:cNvSpPr txBox="1"/>
          <p:nvPr/>
        </p:nvSpPr>
        <p:spPr>
          <a:xfrm>
            <a:off x="5943600" y="7808976"/>
            <a:ext cx="612648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Moving from an insight to an order drops the reason, so the user re-enters it.</a:t>
            </a:r>
            <a:endParaRPr lang="en-US" sz="1700" dirty="0"/>
          </a:p>
        </p:txBody>
      </p:sp>
      <p:pic>
        <p:nvPicPr>
          <p:cNvPr id="26"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06 · Agent experience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Four concepts for a bounded agent</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Each concept answers one of the breakdowns above.</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Text 3"/>
          <p:cNvSpPr txBox="1"/>
          <p:nvPr/>
        </p:nvSpPr>
        <p:spPr>
          <a:xfrm>
            <a:off x="457200" y="2560320"/>
            <a:ext cx="56692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CONCEPT 1</a:t>
            </a:r>
            <a:endParaRPr lang="en-US" sz="1280" dirty="0"/>
          </a:p>
        </p:txBody>
      </p:sp>
      <p:sp>
        <p:nvSpPr>
          <p:cNvPr id="7" name="Text 4"/>
          <p:cNvSpPr txBox="1"/>
          <p:nvPr/>
        </p:nvSpPr>
        <p:spPr>
          <a:xfrm>
            <a:off x="457200" y="297180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Goal to plan</a:t>
            </a:r>
            <a:endParaRPr lang="en-US" sz="2400" dirty="0"/>
          </a:p>
        </p:txBody>
      </p:sp>
      <p:sp>
        <p:nvSpPr>
          <p:cNvPr id="8" name="Text 5"/>
          <p:cNvSpPr txBox="1"/>
          <p:nvPr/>
        </p:nvSpPr>
        <p:spPr>
          <a:xfrm>
            <a:off x="457200" y="3657600"/>
            <a:ext cx="5669280" cy="18288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The user states a target, such as "keep technology under 40%." The agent drafts editable steps and shows the impact of each one.</a:t>
            </a:r>
            <a:endParaRPr lang="en-US" sz="1700" dirty="0"/>
          </a:p>
        </p:txBody>
      </p:sp>
      <p:sp>
        <p:nvSpPr>
          <p:cNvPr id="9" name="Text 6"/>
          <p:cNvSpPr txBox="1"/>
          <p:nvPr/>
        </p:nvSpPr>
        <p:spPr>
          <a:xfrm>
            <a:off x="6766560" y="2560320"/>
            <a:ext cx="56692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CONCEPT 2</a:t>
            </a:r>
            <a:endParaRPr lang="en-US" sz="1280" dirty="0"/>
          </a:p>
        </p:txBody>
      </p:sp>
      <p:sp>
        <p:nvSpPr>
          <p:cNvPr id="10" name="Text 7"/>
          <p:cNvSpPr txBox="1"/>
          <p:nvPr/>
        </p:nvSpPr>
        <p:spPr>
          <a:xfrm>
            <a:off x="6766560" y="297180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Autonomy levels</a:t>
            </a:r>
            <a:endParaRPr lang="en-US" sz="2400" dirty="0"/>
          </a:p>
        </p:txBody>
      </p:sp>
      <p:sp>
        <p:nvSpPr>
          <p:cNvPr id="11" name="Text 8"/>
          <p:cNvSpPr txBox="1"/>
          <p:nvPr/>
        </p:nvSpPr>
        <p:spPr>
          <a:xfrm>
            <a:off x="6766560" y="3657600"/>
            <a:ext cx="5669280" cy="18288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Observe, Suggest, or Act within limits. The current level is always visible, with the user-set limits beside it.</a:t>
            </a:r>
            <a:endParaRPr lang="en-US" sz="1700" dirty="0"/>
          </a:p>
        </p:txBody>
      </p:sp>
      <p:sp>
        <p:nvSpPr>
          <p:cNvPr id="12" name="Text 9"/>
          <p:cNvSpPr txBox="1"/>
          <p:nvPr/>
        </p:nvSpPr>
        <p:spPr>
          <a:xfrm>
            <a:off x="457200" y="5943600"/>
            <a:ext cx="5669280" cy="27432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CONCEPT 3</a:t>
            </a:r>
            <a:endParaRPr lang="en-US" sz="1280" dirty="0"/>
          </a:p>
        </p:txBody>
      </p:sp>
      <p:sp>
        <p:nvSpPr>
          <p:cNvPr id="13" name="Text 10"/>
          <p:cNvSpPr txBox="1"/>
          <p:nvPr/>
        </p:nvSpPr>
        <p:spPr>
          <a:xfrm>
            <a:off x="457200" y="635508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Evidence on every output</a:t>
            </a:r>
            <a:endParaRPr lang="en-US" sz="2400" dirty="0"/>
          </a:p>
        </p:txBody>
      </p:sp>
      <p:sp>
        <p:nvSpPr>
          <p:cNvPr id="14" name="Text 11"/>
          <p:cNvSpPr txBox="1"/>
          <p:nvPr/>
        </p:nvSpPr>
        <p:spPr>
          <a:xfrm>
            <a:off x="457200" y="7040880"/>
            <a:ext cx="5669280" cy="18288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Each insight links to its source, date, and data. No model-generated confidence percentage.</a:t>
            </a:r>
            <a:endParaRPr lang="en-US" sz="1700" dirty="0"/>
          </a:p>
        </p:txBody>
      </p:sp>
      <p:sp>
        <p:nvSpPr>
          <p:cNvPr id="15" name="Text 12"/>
          <p:cNvSpPr txBox="1"/>
          <p:nvPr/>
        </p:nvSpPr>
        <p:spPr>
          <a:xfrm>
            <a:off x="6766560" y="5943600"/>
            <a:ext cx="5669280" cy="274320"/>
          </a:xfrm>
          <a:prstGeom prst="rect">
            <a:avLst/>
          </a:prstGeom>
          <a:noFill/>
          <a:ln/>
        </p:spPr>
        <p:txBody>
          <a:bodyPr wrap="square" lIns="0" tIns="0" rIns="0" bIns="0" rtlCol="0" anchor="t"/>
          <a:lstStyle/>
          <a:p>
            <a:pPr indent="0" marL="0">
              <a:buNone/>
            </a:pPr>
            <a:r>
              <a:rPr lang="en-US" sz="1280" spc="100" kern="0" dirty="0">
                <a:solidFill>
                  <a:srgbClr val="3A7D55"/>
                </a:solidFill>
                <a:latin typeface="Helvetica Neue" pitchFamily="34" charset="0"/>
                <a:ea typeface="Helvetica Neue" pitchFamily="34" charset="-122"/>
                <a:cs typeface="Helvetica Neue" pitchFamily="34" charset="-120"/>
              </a:rPr>
              <a:t>CONCEPT 4</a:t>
            </a:r>
            <a:endParaRPr lang="en-US" sz="1280" dirty="0"/>
          </a:p>
        </p:txBody>
      </p:sp>
      <p:sp>
        <p:nvSpPr>
          <p:cNvPr id="16" name="Text 13"/>
          <p:cNvSpPr txBox="1"/>
          <p:nvPr/>
        </p:nvSpPr>
        <p:spPr>
          <a:xfrm>
            <a:off x="6766560" y="635508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Orders with their reason</a:t>
            </a:r>
            <a:endParaRPr lang="en-US" sz="2400" dirty="0"/>
          </a:p>
        </p:txBody>
      </p:sp>
      <p:sp>
        <p:nvSpPr>
          <p:cNvPr id="17" name="Text 14"/>
          <p:cNvSpPr txBox="1"/>
          <p:nvPr/>
        </p:nvSpPr>
        <p:spPr>
          <a:xfrm>
            <a:off x="6766560" y="7040880"/>
            <a:ext cx="5669280" cy="18288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A trade started from an insight opens with its reason and the user’s own history, and offers a 48-hour pause.</a:t>
            </a:r>
            <a:endParaRPr lang="en-US" sz="1700" dirty="0"/>
          </a:p>
        </p:txBody>
      </p:sp>
      <p:pic>
        <p:nvPicPr>
          <p:cNvPr id="18"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06 · Agent experience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Adapt as a plan, not a batch</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Set a goal, review the plan, then approve each trade. Nothing runs without approval.</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Shape 3"/>
          <p:cNvSpPr/>
          <p:nvPr/>
        </p:nvSpPr>
        <p:spPr>
          <a:xfrm>
            <a:off x="457200" y="2286000"/>
            <a:ext cx="2366874" cy="5120640"/>
          </a:xfrm>
          <a:prstGeom prst="rect">
            <a:avLst/>
          </a:prstGeom>
          <a:solidFill>
            <a:srgbClr val="14161D"/>
          </a:solidFill>
          <a:ln w="12700">
            <a:solidFill>
              <a:srgbClr val="14161D"/>
            </a:solidFill>
            <a:prstDash val="solid"/>
          </a:ln>
        </p:spPr>
      </p:sp>
      <p:pic>
        <p:nvPicPr>
          <p:cNvPr id="7" name="Image 1" descr="/tmp/meridian-deck/img/ag-goal.png">    </p:cNvPr>
          <p:cNvPicPr>
            <a:picLocks noChangeAspect="1"/>
          </p:cNvPicPr>
          <p:nvPr/>
        </p:nvPicPr>
        <p:blipFill>
          <a:blip r:embed="rId3"/>
          <a:stretch>
            <a:fillRect/>
          </a:stretch>
        </p:blipFill>
        <p:spPr>
          <a:xfrm>
            <a:off x="457200" y="2286000"/>
            <a:ext cx="2366874" cy="5120640"/>
          </a:xfrm>
          <a:prstGeom prst="rect">
            <a:avLst/>
          </a:prstGeom>
        </p:spPr>
      </p:pic>
      <p:sp>
        <p:nvSpPr>
          <p:cNvPr id="8" name="Text 4"/>
          <p:cNvSpPr txBox="1"/>
          <p:nvPr/>
        </p:nvSpPr>
        <p:spPr>
          <a:xfrm>
            <a:off x="457200" y="7680960"/>
            <a:ext cx="2366874"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Set a goal</a:t>
            </a:r>
            <a:endParaRPr lang="en-US" sz="1500" dirty="0"/>
          </a:p>
        </p:txBody>
      </p:sp>
      <p:sp>
        <p:nvSpPr>
          <p:cNvPr id="9" name="Text 5"/>
          <p:cNvSpPr txBox="1"/>
          <p:nvPr/>
        </p:nvSpPr>
        <p:spPr>
          <a:xfrm>
            <a:off x="457200" y="8046720"/>
            <a:ext cx="2366874" cy="82296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The user states a target. The agent drafts a plan.</a:t>
            </a:r>
            <a:endParaRPr lang="en-US" sz="1600" dirty="0"/>
          </a:p>
        </p:txBody>
      </p:sp>
      <p:sp>
        <p:nvSpPr>
          <p:cNvPr id="10" name="Shape 6"/>
          <p:cNvSpPr/>
          <p:nvPr/>
        </p:nvSpPr>
        <p:spPr>
          <a:xfrm>
            <a:off x="5318862" y="2286000"/>
            <a:ext cx="2366874" cy="5120640"/>
          </a:xfrm>
          <a:prstGeom prst="rect">
            <a:avLst/>
          </a:prstGeom>
          <a:solidFill>
            <a:srgbClr val="14161D"/>
          </a:solidFill>
          <a:ln w="12700">
            <a:solidFill>
              <a:srgbClr val="14161D"/>
            </a:solidFill>
            <a:prstDash val="solid"/>
          </a:ln>
        </p:spPr>
      </p:sp>
      <p:pic>
        <p:nvPicPr>
          <p:cNvPr id="11" name="Image 2" descr="/tmp/meridian-deck/img/ag-plan.png">    </p:cNvPr>
          <p:cNvPicPr>
            <a:picLocks noChangeAspect="1"/>
          </p:cNvPicPr>
          <p:nvPr/>
        </p:nvPicPr>
        <p:blipFill>
          <a:blip r:embed="rId4"/>
          <a:stretch>
            <a:fillRect/>
          </a:stretch>
        </p:blipFill>
        <p:spPr>
          <a:xfrm>
            <a:off x="5318862" y="2286000"/>
            <a:ext cx="2366874" cy="5120640"/>
          </a:xfrm>
          <a:prstGeom prst="rect">
            <a:avLst/>
          </a:prstGeom>
        </p:spPr>
      </p:pic>
      <p:sp>
        <p:nvSpPr>
          <p:cNvPr id="12" name="Text 7"/>
          <p:cNvSpPr txBox="1"/>
          <p:nvPr/>
        </p:nvSpPr>
        <p:spPr>
          <a:xfrm>
            <a:off x="5318862" y="7680960"/>
            <a:ext cx="2366874"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Plan preview</a:t>
            </a:r>
            <a:endParaRPr lang="en-US" sz="1500" dirty="0"/>
          </a:p>
        </p:txBody>
      </p:sp>
      <p:sp>
        <p:nvSpPr>
          <p:cNvPr id="13" name="Text 8"/>
          <p:cNvSpPr txBox="1"/>
          <p:nvPr/>
        </p:nvSpPr>
        <p:spPr>
          <a:xfrm>
            <a:off x="5318862" y="8046720"/>
            <a:ext cx="2366874" cy="82296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Each step shows its effect on the allocation.</a:t>
            </a:r>
            <a:endParaRPr lang="en-US" sz="1600" dirty="0"/>
          </a:p>
        </p:txBody>
      </p:sp>
      <p:sp>
        <p:nvSpPr>
          <p:cNvPr id="14" name="Shape 9"/>
          <p:cNvSpPr/>
          <p:nvPr/>
        </p:nvSpPr>
        <p:spPr>
          <a:xfrm>
            <a:off x="10180523" y="2286000"/>
            <a:ext cx="2366874" cy="5120640"/>
          </a:xfrm>
          <a:prstGeom prst="rect">
            <a:avLst/>
          </a:prstGeom>
          <a:solidFill>
            <a:srgbClr val="14161D"/>
          </a:solidFill>
          <a:ln w="12700">
            <a:solidFill>
              <a:srgbClr val="14161D"/>
            </a:solidFill>
            <a:prstDash val="solid"/>
          </a:ln>
        </p:spPr>
      </p:sp>
      <p:pic>
        <p:nvPicPr>
          <p:cNvPr id="15" name="Image 3" descr="/tmp/meridian-deck/img/ag-review.png">    </p:cNvPr>
          <p:cNvPicPr>
            <a:picLocks noChangeAspect="1"/>
          </p:cNvPicPr>
          <p:nvPr/>
        </p:nvPicPr>
        <p:blipFill>
          <a:blip r:embed="rId5"/>
          <a:stretch>
            <a:fillRect/>
          </a:stretch>
        </p:blipFill>
        <p:spPr>
          <a:xfrm>
            <a:off x="10180523" y="2286000"/>
            <a:ext cx="2366874" cy="5120640"/>
          </a:xfrm>
          <a:prstGeom prst="rect">
            <a:avLst/>
          </a:prstGeom>
        </p:spPr>
      </p:pic>
      <p:sp>
        <p:nvSpPr>
          <p:cNvPr id="16" name="Text 10"/>
          <p:cNvSpPr txBox="1"/>
          <p:nvPr/>
        </p:nvSpPr>
        <p:spPr>
          <a:xfrm>
            <a:off x="10180523" y="7680960"/>
            <a:ext cx="2366874"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Trade review</a:t>
            </a:r>
            <a:endParaRPr lang="en-US" sz="1500" dirty="0"/>
          </a:p>
        </p:txBody>
      </p:sp>
      <p:sp>
        <p:nvSpPr>
          <p:cNvPr id="17" name="Text 11"/>
          <p:cNvSpPr txBox="1"/>
          <p:nvPr/>
        </p:nvSpPr>
        <p:spPr>
          <a:xfrm>
            <a:off x="10180523" y="8046720"/>
            <a:ext cx="2366874" cy="82296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Each trade shows its reason and source. The user approves, edits, or skips.</a:t>
            </a:r>
            <a:endParaRPr lang="en-US" sz="1600" dirty="0"/>
          </a:p>
        </p:txBody>
      </p:sp>
      <p:pic>
        <p:nvPicPr>
          <p:cNvPr id="18" name="Image 4"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06 · Agent experience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Evidence on every insight, and orders that carry their reason</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The reason travels with the order. Learned rules stay visible and reversible.</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Shape 3"/>
          <p:cNvSpPr/>
          <p:nvPr/>
        </p:nvSpPr>
        <p:spPr>
          <a:xfrm>
            <a:off x="3769665" y="2286000"/>
            <a:ext cx="2366874" cy="5120640"/>
          </a:xfrm>
          <a:prstGeom prst="rect">
            <a:avLst/>
          </a:prstGeom>
          <a:solidFill>
            <a:srgbClr val="14161D"/>
          </a:solidFill>
          <a:ln w="12700">
            <a:solidFill>
              <a:srgbClr val="14161D"/>
            </a:solidFill>
            <a:prstDash val="solid"/>
          </a:ln>
        </p:spPr>
      </p:sp>
      <p:pic>
        <p:nvPicPr>
          <p:cNvPr id="7" name="Image 1" descr="/tmp/meridian-deck/img/ag-evidence.png">    </p:cNvPr>
          <p:cNvPicPr>
            <a:picLocks noChangeAspect="1"/>
          </p:cNvPicPr>
          <p:nvPr/>
        </p:nvPicPr>
        <p:blipFill>
          <a:blip r:embed="rId3"/>
          <a:stretch>
            <a:fillRect/>
          </a:stretch>
        </p:blipFill>
        <p:spPr>
          <a:xfrm>
            <a:off x="3769665" y="2286000"/>
            <a:ext cx="2366874" cy="5120640"/>
          </a:xfrm>
          <a:prstGeom prst="rect">
            <a:avLst/>
          </a:prstGeom>
        </p:spPr>
      </p:pic>
      <p:sp>
        <p:nvSpPr>
          <p:cNvPr id="8" name="Text 4"/>
          <p:cNvSpPr txBox="1"/>
          <p:nvPr/>
        </p:nvSpPr>
        <p:spPr>
          <a:xfrm>
            <a:off x="3769665" y="7680960"/>
            <a:ext cx="2366874" cy="320040"/>
          </a:xfrm>
          <a:prstGeom prst="rect">
            <a:avLst/>
          </a:prstGeom>
          <a:noFill/>
          <a:ln/>
        </p:spPr>
        <p:txBody>
          <a:bodyPr wrap="square" lIns="0" tIns="0" rIns="0" bIns="0" rtlCol="0" anchor="t"/>
          <a:lstStyle/>
          <a:p>
            <a:pPr indent="0" marL="0">
              <a:buNone/>
            </a:pPr>
            <a:r>
              <a:rPr lang="en-US" sz="1500" dirty="0">
                <a:solidFill>
                  <a:srgbClr val="00868B"/>
                </a:solidFill>
                <a:latin typeface="Helvetica Neue" pitchFamily="34" charset="0"/>
                <a:ea typeface="Helvetica Neue" pitchFamily="34" charset="-122"/>
                <a:cs typeface="Helvetica Neue" pitchFamily="34" charset="-120"/>
              </a:rPr>
              <a:t>Insight with evidence</a:t>
            </a:r>
            <a:endParaRPr lang="en-US" sz="1500" dirty="0"/>
          </a:p>
        </p:txBody>
      </p:sp>
      <p:sp>
        <p:nvSpPr>
          <p:cNvPr id="9" name="Text 5"/>
          <p:cNvSpPr txBox="1"/>
          <p:nvPr/>
        </p:nvSpPr>
        <p:spPr>
          <a:xfrm>
            <a:off x="3769665" y="8046720"/>
            <a:ext cx="2366874" cy="82296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Source, date, and the data behind the claim. "What would change this view" is stated.</a:t>
            </a:r>
            <a:endParaRPr lang="en-US" sz="1600" dirty="0"/>
          </a:p>
        </p:txBody>
      </p:sp>
      <p:sp>
        <p:nvSpPr>
          <p:cNvPr id="10" name="Shape 6"/>
          <p:cNvSpPr/>
          <p:nvPr/>
        </p:nvSpPr>
        <p:spPr>
          <a:xfrm>
            <a:off x="6868058" y="2286000"/>
            <a:ext cx="2366874" cy="5120640"/>
          </a:xfrm>
          <a:prstGeom prst="rect">
            <a:avLst/>
          </a:prstGeom>
          <a:solidFill>
            <a:srgbClr val="14161D"/>
          </a:solidFill>
          <a:ln w="12700">
            <a:solidFill>
              <a:srgbClr val="14161D"/>
            </a:solidFill>
            <a:prstDash val="solid"/>
          </a:ln>
        </p:spPr>
      </p:sp>
      <p:pic>
        <p:nvPicPr>
          <p:cNvPr id="11" name="Image 2" descr="/tmp/meridian-deck/img/ag-prefilled.png">    </p:cNvPr>
          <p:cNvPicPr>
            <a:picLocks noChangeAspect="1"/>
          </p:cNvPicPr>
          <p:nvPr/>
        </p:nvPicPr>
        <p:blipFill>
          <a:blip r:embed="rId4"/>
          <a:stretch>
            <a:fillRect/>
          </a:stretch>
        </p:blipFill>
        <p:spPr>
          <a:xfrm>
            <a:off x="6868058" y="2286000"/>
            <a:ext cx="2366874" cy="5120640"/>
          </a:xfrm>
          <a:prstGeom prst="rect">
            <a:avLst/>
          </a:prstGeom>
        </p:spPr>
      </p:pic>
      <p:sp>
        <p:nvSpPr>
          <p:cNvPr id="12" name="Text 7"/>
          <p:cNvSpPr txBox="1"/>
          <p:nvPr/>
        </p:nvSpPr>
        <p:spPr>
          <a:xfrm>
            <a:off x="6868058" y="7680960"/>
            <a:ext cx="2366874" cy="320040"/>
          </a:xfrm>
          <a:prstGeom prst="rect">
            <a:avLst/>
          </a:prstGeom>
          <a:noFill/>
          <a:ln/>
        </p:spPr>
        <p:txBody>
          <a:bodyPr wrap="square" lIns="0" tIns="0" rIns="0" bIns="0" rtlCol="0" anchor="t"/>
          <a:lstStyle/>
          <a:p>
            <a:pPr indent="0" marL="0">
              <a:buNone/>
            </a:pPr>
            <a:r>
              <a:rPr lang="en-US" sz="1500" dirty="0">
                <a:solidFill>
                  <a:srgbClr val="00868B"/>
                </a:solidFill>
                <a:latin typeface="Helvetica Neue" pitchFamily="34" charset="0"/>
                <a:ea typeface="Helvetica Neue" pitchFamily="34" charset="-122"/>
                <a:cs typeface="Helvetica Neue" pitchFamily="34" charset="-120"/>
              </a:rPr>
              <a:t>Order with its reason</a:t>
            </a:r>
            <a:endParaRPr lang="en-US" sz="1500" dirty="0"/>
          </a:p>
        </p:txBody>
      </p:sp>
      <p:sp>
        <p:nvSpPr>
          <p:cNvPr id="13" name="Text 8"/>
          <p:cNvSpPr txBox="1"/>
          <p:nvPr/>
        </p:nvSpPr>
        <p:spPr>
          <a:xfrm>
            <a:off x="6868058" y="8046720"/>
            <a:ext cx="2366874" cy="82296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Opened from Adapt with the reason, and a 48-hour option drawn from the user’s own history (example, mock data).</a:t>
            </a:r>
            <a:endParaRPr lang="en-US" sz="1600" dirty="0"/>
          </a:p>
        </p:txBody>
      </p:sp>
      <p:pic>
        <p:nvPicPr>
          <p:cNvPr id="14" name="Image 3"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06 · Agent experience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What we would measure (planned, not run)</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Hypotheses to test before any claim about the agent. None of these has data yet.</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Shape 3"/>
          <p:cNvSpPr/>
          <p:nvPr/>
        </p:nvSpPr>
        <p:spPr>
          <a:xfrm>
            <a:off x="457200" y="2560320"/>
            <a:ext cx="420624" cy="420624"/>
          </a:xfrm>
          <a:prstGeom prst="ellipse">
            <a:avLst/>
          </a:prstGeom>
          <a:solidFill>
            <a:srgbClr val="5B3F96"/>
          </a:solidFill>
          <a:ln w="12700">
            <a:solidFill>
              <a:srgbClr val="5B3F96"/>
            </a:solidFill>
            <a:prstDash val="solid"/>
          </a:ln>
        </p:spPr>
      </p:sp>
      <p:sp>
        <p:nvSpPr>
          <p:cNvPr id="7" name="Text 4"/>
          <p:cNvSpPr txBox="1"/>
          <p:nvPr/>
        </p:nvSpPr>
        <p:spPr>
          <a:xfrm>
            <a:off x="457200" y="26243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1</a:t>
            </a:r>
            <a:endParaRPr lang="en-US" sz="1564" dirty="0"/>
          </a:p>
        </p:txBody>
      </p:sp>
      <p:sp>
        <p:nvSpPr>
          <p:cNvPr id="8" name="Text 5"/>
          <p:cNvSpPr txBox="1"/>
          <p:nvPr/>
        </p:nvSpPr>
        <p:spPr>
          <a:xfrm>
            <a:off x="1188720" y="2578608"/>
            <a:ext cx="512064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Time from insight to decision</a:t>
            </a:r>
            <a:endParaRPr lang="en-US" sz="2200" dirty="0"/>
          </a:p>
        </p:txBody>
      </p:sp>
      <p:sp>
        <p:nvSpPr>
          <p:cNvPr id="9" name="Text 6"/>
          <p:cNvSpPr txBox="1"/>
          <p:nvPr/>
        </p:nvSpPr>
        <p:spPr>
          <a:xfrm>
            <a:off x="6492240" y="2596896"/>
            <a:ext cx="5760720" cy="9144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Does evidence on the card shorten the decision?</a:t>
            </a:r>
            <a:endParaRPr lang="en-US" sz="1700" dirty="0"/>
          </a:p>
        </p:txBody>
      </p:sp>
      <p:sp>
        <p:nvSpPr>
          <p:cNvPr id="10" name="Shape 7"/>
          <p:cNvSpPr/>
          <p:nvPr/>
        </p:nvSpPr>
        <p:spPr>
          <a:xfrm>
            <a:off x="457200" y="4023360"/>
            <a:ext cx="420624" cy="420624"/>
          </a:xfrm>
          <a:prstGeom prst="ellipse">
            <a:avLst/>
          </a:prstGeom>
          <a:solidFill>
            <a:srgbClr val="5B3F96"/>
          </a:solidFill>
          <a:ln w="12700">
            <a:solidFill>
              <a:srgbClr val="5B3F96"/>
            </a:solidFill>
            <a:prstDash val="solid"/>
          </a:ln>
        </p:spPr>
      </p:sp>
      <p:sp>
        <p:nvSpPr>
          <p:cNvPr id="11" name="Text 8"/>
          <p:cNvSpPr txBox="1"/>
          <p:nvPr/>
        </p:nvSpPr>
        <p:spPr>
          <a:xfrm>
            <a:off x="457200" y="408736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2</a:t>
            </a:r>
            <a:endParaRPr lang="en-US" sz="1564" dirty="0"/>
          </a:p>
        </p:txBody>
      </p:sp>
      <p:sp>
        <p:nvSpPr>
          <p:cNvPr id="12" name="Text 9"/>
          <p:cNvSpPr txBox="1"/>
          <p:nvPr/>
        </p:nvSpPr>
        <p:spPr>
          <a:xfrm>
            <a:off x="1188720" y="4041648"/>
            <a:ext cx="512064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Edit and reject rate on plan steps</a:t>
            </a:r>
            <a:endParaRPr lang="en-US" sz="2200" dirty="0"/>
          </a:p>
        </p:txBody>
      </p:sp>
      <p:sp>
        <p:nvSpPr>
          <p:cNvPr id="13" name="Text 10"/>
          <p:cNvSpPr txBox="1"/>
          <p:nvPr/>
        </p:nvSpPr>
        <p:spPr>
          <a:xfrm>
            <a:off x="6492240" y="4059936"/>
            <a:ext cx="5760720" cy="9144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Do users trust the plan enough to approve it as drafted?</a:t>
            </a:r>
            <a:endParaRPr lang="en-US" sz="1700" dirty="0"/>
          </a:p>
        </p:txBody>
      </p:sp>
      <p:sp>
        <p:nvSpPr>
          <p:cNvPr id="14" name="Shape 11"/>
          <p:cNvSpPr/>
          <p:nvPr/>
        </p:nvSpPr>
        <p:spPr>
          <a:xfrm>
            <a:off x="457200" y="5486400"/>
            <a:ext cx="420624" cy="420624"/>
          </a:xfrm>
          <a:prstGeom prst="ellipse">
            <a:avLst/>
          </a:prstGeom>
          <a:solidFill>
            <a:srgbClr val="5B3F96"/>
          </a:solidFill>
          <a:ln w="12700">
            <a:solidFill>
              <a:srgbClr val="5B3F96"/>
            </a:solidFill>
            <a:prstDash val="solid"/>
          </a:ln>
        </p:spPr>
      </p:sp>
      <p:sp>
        <p:nvSpPr>
          <p:cNvPr id="15" name="Text 12"/>
          <p:cNvSpPr txBox="1"/>
          <p:nvPr/>
        </p:nvSpPr>
        <p:spPr>
          <a:xfrm>
            <a:off x="457200" y="555040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3</a:t>
            </a:r>
            <a:endParaRPr lang="en-US" sz="1564" dirty="0"/>
          </a:p>
        </p:txBody>
      </p:sp>
      <p:sp>
        <p:nvSpPr>
          <p:cNvPr id="16" name="Text 13"/>
          <p:cNvSpPr txBox="1"/>
          <p:nvPr/>
        </p:nvSpPr>
        <p:spPr>
          <a:xfrm>
            <a:off x="1188720" y="5504688"/>
            <a:ext cx="512064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Reversal rate of agent actions</a:t>
            </a:r>
            <a:endParaRPr lang="en-US" sz="2200" dirty="0"/>
          </a:p>
        </p:txBody>
      </p:sp>
      <p:sp>
        <p:nvSpPr>
          <p:cNvPr id="17" name="Text 14"/>
          <p:cNvSpPr txBox="1"/>
          <p:nvPr/>
        </p:nvSpPr>
        <p:spPr>
          <a:xfrm>
            <a:off x="6492240" y="5522976"/>
            <a:ext cx="5760720" cy="9144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Does Act within limits create regret, or stay trusted?</a:t>
            </a:r>
            <a:endParaRPr lang="en-US" sz="1700" dirty="0"/>
          </a:p>
        </p:txBody>
      </p:sp>
      <p:sp>
        <p:nvSpPr>
          <p:cNvPr id="18" name="Shape 15"/>
          <p:cNvSpPr/>
          <p:nvPr/>
        </p:nvSpPr>
        <p:spPr>
          <a:xfrm>
            <a:off x="457200" y="6949440"/>
            <a:ext cx="420624" cy="420624"/>
          </a:xfrm>
          <a:prstGeom prst="ellipse">
            <a:avLst/>
          </a:prstGeom>
          <a:solidFill>
            <a:srgbClr val="5B3F96"/>
          </a:solidFill>
          <a:ln w="12700">
            <a:solidFill>
              <a:srgbClr val="5B3F96"/>
            </a:solidFill>
            <a:prstDash val="solid"/>
          </a:ln>
        </p:spPr>
      </p:sp>
      <p:sp>
        <p:nvSpPr>
          <p:cNvPr id="19" name="Text 16"/>
          <p:cNvSpPr txBox="1"/>
          <p:nvPr/>
        </p:nvSpPr>
        <p:spPr>
          <a:xfrm>
            <a:off x="457200" y="701344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4</a:t>
            </a:r>
            <a:endParaRPr lang="en-US" sz="1564" dirty="0"/>
          </a:p>
        </p:txBody>
      </p:sp>
      <p:sp>
        <p:nvSpPr>
          <p:cNvPr id="20" name="Text 17"/>
          <p:cNvSpPr txBox="1"/>
          <p:nvPr/>
        </p:nvSpPr>
        <p:spPr>
          <a:xfrm>
            <a:off x="1188720" y="6967728"/>
            <a:ext cx="512064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Learned rules kept or reversed</a:t>
            </a:r>
            <a:endParaRPr lang="en-US" sz="2200" dirty="0"/>
          </a:p>
        </p:txBody>
      </p:sp>
      <p:sp>
        <p:nvSpPr>
          <p:cNvPr id="21" name="Text 18"/>
          <p:cNvSpPr txBox="1"/>
          <p:nvPr/>
        </p:nvSpPr>
        <p:spPr>
          <a:xfrm>
            <a:off x="6492240" y="6986016"/>
            <a:ext cx="5760720" cy="9144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Do users value the learning loop, or do they switch it off?</a:t>
            </a:r>
            <a:endParaRPr lang="en-US" sz="1700" dirty="0"/>
          </a:p>
        </p:txBody>
      </p:sp>
      <p:pic>
        <p:nvPicPr>
          <p:cNvPr id="22"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C45A35"/>
        </a:solidFill>
      </p:bgPr>
    </p:bg>
    <p:spTree>
      <p:nvGrpSpPr>
        <p:cNvPr id="1" name=""/>
        <p:cNvGrpSpPr/>
        <p:nvPr/>
      </p:nvGrpSpPr>
      <p:grpSpPr/>
      <p:sp>
        <p:nvSpPr>
          <p:cNvPr id="2" name="Text 0"/>
          <p:cNvSpPr txBox="1"/>
          <p:nvPr/>
        </p:nvSpPr>
        <p:spPr>
          <a:xfrm>
            <a:off x="978408" y="978408"/>
            <a:ext cx="10515600" cy="1097280"/>
          </a:xfrm>
          <a:prstGeom prst="rect">
            <a:avLst/>
          </a:prstGeom>
          <a:noFill/>
          <a:ln/>
        </p:spPr>
        <p:txBody>
          <a:bodyPr wrap="square" lIns="0" tIns="0" rIns="0" bIns="0" rtlCol="0" anchor="t"/>
          <a:lstStyle/>
          <a:p>
            <a:pPr indent="0" marL="0">
              <a:buNone/>
            </a:pPr>
            <a:r>
              <a:rPr lang="en-US" sz="5700" dirty="0">
                <a:solidFill>
                  <a:srgbClr val="FFFFFF"/>
                </a:solidFill>
                <a:latin typeface="Helvetica Neue Light" pitchFamily="34" charset="0"/>
                <a:ea typeface="Helvetica Neue Light" pitchFamily="34" charset="-122"/>
                <a:cs typeface="Helvetica Neue Light" pitchFamily="34" charset="-120"/>
              </a:rPr>
              <a:t>Build and test</a:t>
            </a:r>
            <a:endParaRPr lang="en-US" sz="5700" dirty="0"/>
          </a:p>
        </p:txBody>
      </p:sp>
      <p:sp>
        <p:nvSpPr>
          <p:cNvPr id="3" name="Text 1"/>
          <p:cNvSpPr txBox="1"/>
          <p:nvPr/>
        </p:nvSpPr>
        <p:spPr>
          <a:xfrm>
            <a:off x="1078992" y="2286000"/>
            <a:ext cx="9601200" cy="822960"/>
          </a:xfrm>
          <a:prstGeom prst="rect">
            <a:avLst/>
          </a:prstGeom>
          <a:noFill/>
          <a:ln/>
        </p:spPr>
        <p:txBody>
          <a:bodyPr wrap="square" lIns="0" tIns="0" rIns="0" bIns="0" rtlCol="0" anchor="t"/>
          <a:lstStyle/>
          <a:p>
            <a:pPr indent="0" marL="0">
              <a:buNone/>
            </a:pPr>
            <a:r>
              <a:rPr lang="en-US" sz="1900" dirty="0">
                <a:solidFill>
                  <a:srgbClr val="FFE9DF"/>
                </a:solidFill>
                <a:latin typeface="Helvetica Neue Light" pitchFamily="34" charset="0"/>
                <a:ea typeface="Helvetica Neue Light" pitchFamily="34" charset="-122"/>
                <a:cs typeface="Helvetica Neue Light" pitchFamily="34" charset="-120"/>
              </a:rPr>
              <a:t>How the AI behaves, how it is built, and how we will check it.</a:t>
            </a:r>
            <a:endParaRPr lang="en-US" sz="19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07 · Methodology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How the AI behaves, and how we will test it</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56692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AI BEHAVIOR · DESIGNED, MOCK DATA</a:t>
            </a:r>
            <a:endParaRPr lang="en-US" sz="1280" dirty="0"/>
          </a:p>
        </p:txBody>
      </p:sp>
      <p:sp>
        <p:nvSpPr>
          <p:cNvPr id="6" name="Text 3"/>
          <p:cNvSpPr txBox="1"/>
          <p:nvPr/>
        </p:nvSpPr>
        <p:spPr>
          <a:xfrm>
            <a:off x="457200" y="2926080"/>
            <a:ext cx="5669280" cy="41148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Insight: sentiment summaries, with the screen as the source</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Prospect: opportunity cards with upside and downside</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Guard: alerts ranked by severity; mark as read</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Adapt: before and after allocation, and a reviewable buy and sell list</a:t>
            </a:r>
            <a:endParaRPr lang="en-US" sz="1800" dirty="0"/>
          </a:p>
        </p:txBody>
      </p:sp>
      <p:sp>
        <p:nvSpPr>
          <p:cNvPr id="7" name="Text 4"/>
          <p:cNvSpPr txBox="1"/>
          <p:nvPr/>
        </p:nvSpPr>
        <p:spPr>
          <a:xfrm>
            <a:off x="6583680" y="2468880"/>
            <a:ext cx="5669280" cy="27432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VALIDATION · PLANNED</a:t>
            </a:r>
            <a:endParaRPr lang="en-US" sz="1280" dirty="0"/>
          </a:p>
        </p:txBody>
      </p:sp>
      <p:sp>
        <p:nvSpPr>
          <p:cNvPr id="8" name="Text 5"/>
          <p:cNvSpPr txBox="1"/>
          <p:nvPr/>
        </p:nvSpPr>
        <p:spPr>
          <a:xfrm>
            <a:off x="6583680" y="2926080"/>
            <a:ext cx="5669280" cy="41148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Five-person think-aloud on the share and dollar flows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Comprehension check on Insight, Prospect, Guard and Adapt labels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Card sort on the five tabs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Compliance review of trade and AI copy</a:t>
            </a:r>
            <a:endParaRPr lang="en-US" sz="1800" dirty="0"/>
          </a:p>
        </p:txBody>
      </p:sp>
      <p:pic>
        <p:nvPicPr>
          <p:cNvPr id="9"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08 · Implementation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Built on SwiftUI, with tokens shared with Figma</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56692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WHAT IS BUILT</a:t>
            </a:r>
            <a:endParaRPr lang="en-US" sz="1280" dirty="0"/>
          </a:p>
        </p:txBody>
      </p:sp>
      <p:sp>
        <p:nvSpPr>
          <p:cNvPr id="6" name="Text 3"/>
          <p:cNvSpPr txBox="1"/>
          <p:nvPr/>
        </p:nvSpPr>
        <p:spPr>
          <a:xfrm>
            <a:off x="457200" y="2926080"/>
            <a:ext cx="5669280" cy="41148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MVVM: one ViewModel per screen</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MockAPIService with realistic data and a delay</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DesignTokens.swift: colors, type and spacing</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AuthManager: Face ID and Touch ID, Keychain storage</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Figma library mirrors the same tokens</a:t>
            </a:r>
            <a:endParaRPr lang="en-US" sz="1800" dirty="0"/>
          </a:p>
        </p:txBody>
      </p:sp>
      <p:sp>
        <p:nvSpPr>
          <p:cNvPr id="7" name="Text 4"/>
          <p:cNvSpPr txBox="1"/>
          <p:nvPr/>
        </p:nvSpPr>
        <p:spPr>
          <a:xfrm>
            <a:off x="6583680" y="2468880"/>
            <a:ext cx="5669280" cy="274320"/>
          </a:xfrm>
          <a:prstGeom prst="rect">
            <a:avLst/>
          </a:prstGeom>
          <a:noFill/>
          <a:ln/>
        </p:spPr>
        <p:txBody>
          <a:bodyPr wrap="square" lIns="0" tIns="0" rIns="0" bIns="0" rtlCol="0" anchor="t"/>
          <a:lstStyle/>
          <a:p>
            <a:pPr indent="0" marL="0">
              <a:buNone/>
            </a:pPr>
            <a:r>
              <a:rPr lang="en-US" sz="1280" spc="100" kern="0" dirty="0">
                <a:solidFill>
                  <a:srgbClr val="744A6C"/>
                </a:solidFill>
                <a:latin typeface="Helvetica Neue" pitchFamily="34" charset="0"/>
                <a:ea typeface="Helvetica Neue" pitchFamily="34" charset="-122"/>
                <a:cs typeface="Helvetica Neue" pitchFamily="34" charset="-120"/>
              </a:rPr>
              <a:t>NEXT TO BUILD · PROPOSED</a:t>
            </a:r>
            <a:endParaRPr lang="en-US" sz="1280" dirty="0"/>
          </a:p>
        </p:txBody>
      </p:sp>
      <p:sp>
        <p:nvSpPr>
          <p:cNvPr id="8" name="Text 5"/>
          <p:cNvSpPr txBox="1"/>
          <p:nvPr/>
        </p:nvSpPr>
        <p:spPr>
          <a:xfrm>
            <a:off x="6583680" y="2926080"/>
            <a:ext cx="5669280" cy="41148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Real market data and quotes behind the mock service</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Brokerage connection for order placement</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Session and authentication with a real backend</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Audit log for trade and AI actions</a:t>
            </a:r>
            <a:endParaRPr lang="en-US" sz="1800" dirty="0"/>
          </a:p>
        </p:txBody>
      </p:sp>
      <p:pic>
        <p:nvPicPr>
          <p:cNvPr id="9"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09 · Results &amp; impact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What exists today, and what we still need to measure</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Shape 2"/>
          <p:cNvSpPr/>
          <p:nvPr/>
        </p:nvSpPr>
        <p:spPr>
          <a:xfrm>
            <a:off x="457200" y="2468880"/>
            <a:ext cx="2851099" cy="2926080"/>
          </a:xfrm>
          <a:prstGeom prst="rect">
            <a:avLst/>
          </a:prstGeom>
          <a:solidFill>
            <a:srgbClr val="C45A35"/>
          </a:solidFill>
          <a:ln w="12700">
            <a:solidFill>
              <a:srgbClr val="C45A35"/>
            </a:solidFill>
            <a:prstDash val="solid"/>
          </a:ln>
        </p:spPr>
      </p:sp>
      <p:sp>
        <p:nvSpPr>
          <p:cNvPr id="6" name="Text 3"/>
          <p:cNvSpPr txBox="1"/>
          <p:nvPr/>
        </p:nvSpPr>
        <p:spPr>
          <a:xfrm>
            <a:off x="777240" y="2743200"/>
            <a:ext cx="2211019" cy="1371600"/>
          </a:xfrm>
          <a:prstGeom prst="rect">
            <a:avLst/>
          </a:prstGeom>
          <a:noFill/>
          <a:ln/>
        </p:spPr>
        <p:txBody>
          <a:bodyPr wrap="square" lIns="0" tIns="0" rIns="0" bIns="0" rtlCol="0" anchor="t"/>
          <a:lstStyle/>
          <a:p>
            <a:pPr indent="0" marL="0">
              <a:buNone/>
            </a:pPr>
            <a:r>
              <a:rPr lang="en-US" sz="8000" b="1" dirty="0">
                <a:solidFill>
                  <a:srgbClr val="FFFFFF"/>
                </a:solidFill>
                <a:latin typeface="Helvetica Neue" pitchFamily="34" charset="0"/>
                <a:ea typeface="Helvetica Neue" pitchFamily="34" charset="-122"/>
                <a:cs typeface="Helvetica Neue" pitchFamily="34" charset="-120"/>
              </a:rPr>
              <a:t>5</a:t>
            </a:r>
            <a:endParaRPr lang="en-US" sz="8000" dirty="0"/>
          </a:p>
        </p:txBody>
      </p:sp>
      <p:sp>
        <p:nvSpPr>
          <p:cNvPr id="7" name="Text 4"/>
          <p:cNvSpPr txBox="1"/>
          <p:nvPr/>
        </p:nvSpPr>
        <p:spPr>
          <a:xfrm>
            <a:off x="777240" y="4297680"/>
            <a:ext cx="2211019" cy="914400"/>
          </a:xfrm>
          <a:prstGeom prst="rect">
            <a:avLst/>
          </a:prstGeom>
          <a:noFill/>
          <a:ln/>
        </p:spPr>
        <p:txBody>
          <a:bodyPr wrap="square" lIns="0" tIns="0" rIns="0" bIns="0" rtlCol="0" anchor="t"/>
          <a:lstStyle/>
          <a:p>
            <a:pPr indent="0" marL="0">
              <a:buNone/>
            </a:pPr>
            <a:r>
              <a:rPr lang="en-US" sz="1700" dirty="0">
                <a:solidFill>
                  <a:srgbClr val="FFFFFF"/>
                </a:solidFill>
                <a:latin typeface="Helvetica Neue Light" pitchFamily="34" charset="0"/>
                <a:ea typeface="Helvetica Neue Light" pitchFamily="34" charset="-122"/>
                <a:cs typeface="Helvetica Neue Light" pitchFamily="34" charset="-120"/>
              </a:rPr>
              <a:t>core iOS screens, each with a ViewModel</a:t>
            </a:r>
            <a:endParaRPr lang="en-US" sz="1700" dirty="0"/>
          </a:p>
        </p:txBody>
      </p:sp>
      <p:sp>
        <p:nvSpPr>
          <p:cNvPr id="8" name="Shape 5"/>
          <p:cNvSpPr/>
          <p:nvPr/>
        </p:nvSpPr>
        <p:spPr>
          <a:xfrm>
            <a:off x="3536899" y="2468880"/>
            <a:ext cx="2851099" cy="2926080"/>
          </a:xfrm>
          <a:prstGeom prst="rect">
            <a:avLst/>
          </a:prstGeom>
          <a:solidFill>
            <a:srgbClr val="5B3F96"/>
          </a:solidFill>
          <a:ln w="12700">
            <a:solidFill>
              <a:srgbClr val="5B3F96"/>
            </a:solidFill>
            <a:prstDash val="solid"/>
          </a:ln>
        </p:spPr>
      </p:sp>
      <p:sp>
        <p:nvSpPr>
          <p:cNvPr id="9" name="Text 6"/>
          <p:cNvSpPr txBox="1"/>
          <p:nvPr/>
        </p:nvSpPr>
        <p:spPr>
          <a:xfrm>
            <a:off x="3856939" y="2743200"/>
            <a:ext cx="2211019" cy="1371600"/>
          </a:xfrm>
          <a:prstGeom prst="rect">
            <a:avLst/>
          </a:prstGeom>
          <a:noFill/>
          <a:ln/>
        </p:spPr>
        <p:txBody>
          <a:bodyPr wrap="square" lIns="0" tIns="0" rIns="0" bIns="0" rtlCol="0" anchor="t"/>
          <a:lstStyle/>
          <a:p>
            <a:pPr indent="0" marL="0">
              <a:buNone/>
            </a:pPr>
            <a:r>
              <a:rPr lang="en-US" sz="8000" b="1" dirty="0">
                <a:solidFill>
                  <a:srgbClr val="FFFFFF"/>
                </a:solidFill>
                <a:latin typeface="Helvetica Neue" pitchFamily="34" charset="0"/>
                <a:ea typeface="Helvetica Neue" pitchFamily="34" charset="-122"/>
                <a:cs typeface="Helvetica Neue" pitchFamily="34" charset="-120"/>
              </a:rPr>
              <a:t>8</a:t>
            </a:r>
            <a:endParaRPr lang="en-US" sz="8000" dirty="0"/>
          </a:p>
        </p:txBody>
      </p:sp>
      <p:sp>
        <p:nvSpPr>
          <p:cNvPr id="10" name="Text 7"/>
          <p:cNvSpPr txBox="1"/>
          <p:nvPr/>
        </p:nvSpPr>
        <p:spPr>
          <a:xfrm>
            <a:off x="3856939" y="4297680"/>
            <a:ext cx="2211019" cy="914400"/>
          </a:xfrm>
          <a:prstGeom prst="rect">
            <a:avLst/>
          </a:prstGeom>
          <a:noFill/>
          <a:ln/>
        </p:spPr>
        <p:txBody>
          <a:bodyPr wrap="square" lIns="0" tIns="0" rIns="0" bIns="0" rtlCol="0" anchor="t"/>
          <a:lstStyle/>
          <a:p>
            <a:pPr indent="0" marL="0">
              <a:buNone/>
            </a:pPr>
            <a:r>
              <a:rPr lang="en-US" sz="1700" dirty="0">
                <a:solidFill>
                  <a:srgbClr val="FFFFFF"/>
                </a:solidFill>
                <a:latin typeface="Helvetica Neue Light" pitchFamily="34" charset="0"/>
                <a:ea typeface="Helvetica Neue Light" pitchFamily="34" charset="-122"/>
                <a:cs typeface="Helvetica Neue Light" pitchFamily="34" charset="-120"/>
              </a:rPr>
              <a:t>steps in each trade flow: share and dollar</a:t>
            </a:r>
            <a:endParaRPr lang="en-US" sz="1700" dirty="0"/>
          </a:p>
        </p:txBody>
      </p:sp>
      <p:sp>
        <p:nvSpPr>
          <p:cNvPr id="11" name="Shape 8"/>
          <p:cNvSpPr/>
          <p:nvPr/>
        </p:nvSpPr>
        <p:spPr>
          <a:xfrm>
            <a:off x="6616598" y="2468880"/>
            <a:ext cx="2851099" cy="2926080"/>
          </a:xfrm>
          <a:prstGeom prst="rect">
            <a:avLst/>
          </a:prstGeom>
          <a:solidFill>
            <a:srgbClr val="00868B"/>
          </a:solidFill>
          <a:ln w="12700">
            <a:solidFill>
              <a:srgbClr val="00868B"/>
            </a:solidFill>
            <a:prstDash val="solid"/>
          </a:ln>
        </p:spPr>
      </p:sp>
      <p:sp>
        <p:nvSpPr>
          <p:cNvPr id="12" name="Text 9"/>
          <p:cNvSpPr txBox="1"/>
          <p:nvPr/>
        </p:nvSpPr>
        <p:spPr>
          <a:xfrm>
            <a:off x="6936638" y="2743200"/>
            <a:ext cx="2211019" cy="1371600"/>
          </a:xfrm>
          <a:prstGeom prst="rect">
            <a:avLst/>
          </a:prstGeom>
          <a:noFill/>
          <a:ln/>
        </p:spPr>
        <p:txBody>
          <a:bodyPr wrap="square" lIns="0" tIns="0" rIns="0" bIns="0" rtlCol="0" anchor="t"/>
          <a:lstStyle/>
          <a:p>
            <a:pPr indent="0" marL="0">
              <a:buNone/>
            </a:pPr>
            <a:r>
              <a:rPr lang="en-US" sz="8000" b="1" dirty="0">
                <a:solidFill>
                  <a:srgbClr val="FFFFFF"/>
                </a:solidFill>
                <a:latin typeface="Helvetica Neue" pitchFamily="34" charset="0"/>
                <a:ea typeface="Helvetica Neue" pitchFamily="34" charset="-122"/>
                <a:cs typeface="Helvetica Neue" pitchFamily="34" charset="-120"/>
              </a:rPr>
              <a:t>3</a:t>
            </a:r>
            <a:endParaRPr lang="en-US" sz="8000" dirty="0"/>
          </a:p>
        </p:txBody>
      </p:sp>
      <p:sp>
        <p:nvSpPr>
          <p:cNvPr id="13" name="Text 10"/>
          <p:cNvSpPr txBox="1"/>
          <p:nvPr/>
        </p:nvSpPr>
        <p:spPr>
          <a:xfrm>
            <a:off x="6936638" y="4297680"/>
            <a:ext cx="2211019" cy="914400"/>
          </a:xfrm>
          <a:prstGeom prst="rect">
            <a:avLst/>
          </a:prstGeom>
          <a:noFill/>
          <a:ln/>
        </p:spPr>
        <p:txBody>
          <a:bodyPr wrap="square" lIns="0" tIns="0" rIns="0" bIns="0" rtlCol="0" anchor="t"/>
          <a:lstStyle/>
          <a:p>
            <a:pPr indent="0" marL="0">
              <a:buNone/>
            </a:pPr>
            <a:r>
              <a:rPr lang="en-US" sz="1700" dirty="0">
                <a:solidFill>
                  <a:srgbClr val="FFFFFF"/>
                </a:solidFill>
                <a:latin typeface="Helvetica Neue Light" pitchFamily="34" charset="0"/>
                <a:ea typeface="Helvetica Neue Light" pitchFamily="34" charset="-122"/>
                <a:cs typeface="Helvetica Neue Light" pitchFamily="34" charset="-120"/>
              </a:rPr>
              <a:t>interactive prototypes published, plus this deck</a:t>
            </a:r>
            <a:endParaRPr lang="en-US" sz="1700" dirty="0"/>
          </a:p>
        </p:txBody>
      </p:sp>
      <p:sp>
        <p:nvSpPr>
          <p:cNvPr id="14" name="Shape 11"/>
          <p:cNvSpPr/>
          <p:nvPr/>
        </p:nvSpPr>
        <p:spPr>
          <a:xfrm>
            <a:off x="9696298" y="2468880"/>
            <a:ext cx="2851099" cy="2926080"/>
          </a:xfrm>
          <a:prstGeom prst="rect">
            <a:avLst/>
          </a:prstGeom>
          <a:solidFill>
            <a:srgbClr val="3A7D55"/>
          </a:solidFill>
          <a:ln w="12700">
            <a:solidFill>
              <a:srgbClr val="3A7D55"/>
            </a:solidFill>
            <a:prstDash val="solid"/>
          </a:ln>
        </p:spPr>
      </p:sp>
      <p:sp>
        <p:nvSpPr>
          <p:cNvPr id="15" name="Text 12"/>
          <p:cNvSpPr txBox="1"/>
          <p:nvPr/>
        </p:nvSpPr>
        <p:spPr>
          <a:xfrm>
            <a:off x="10016338" y="2743200"/>
            <a:ext cx="2211019" cy="1371600"/>
          </a:xfrm>
          <a:prstGeom prst="rect">
            <a:avLst/>
          </a:prstGeom>
          <a:noFill/>
          <a:ln/>
        </p:spPr>
        <p:txBody>
          <a:bodyPr wrap="square" lIns="0" tIns="0" rIns="0" bIns="0" rtlCol="0" anchor="t"/>
          <a:lstStyle/>
          <a:p>
            <a:pPr indent="0" marL="0">
              <a:buNone/>
            </a:pPr>
            <a:r>
              <a:rPr lang="en-US" sz="8000" b="1" dirty="0">
                <a:solidFill>
                  <a:srgbClr val="FFFFFF"/>
                </a:solidFill>
                <a:latin typeface="Helvetica Neue" pitchFamily="34" charset="0"/>
                <a:ea typeface="Helvetica Neue" pitchFamily="34" charset="-122"/>
                <a:cs typeface="Helvetica Neue" pitchFamily="34" charset="-120"/>
              </a:rPr>
              <a:t>20</a:t>
            </a:r>
            <a:endParaRPr lang="en-US" sz="8000" dirty="0"/>
          </a:p>
        </p:txBody>
      </p:sp>
      <p:sp>
        <p:nvSpPr>
          <p:cNvPr id="16" name="Text 13"/>
          <p:cNvSpPr txBox="1"/>
          <p:nvPr/>
        </p:nvSpPr>
        <p:spPr>
          <a:xfrm>
            <a:off x="10016338" y="4297680"/>
            <a:ext cx="2211019" cy="914400"/>
          </a:xfrm>
          <a:prstGeom prst="rect">
            <a:avLst/>
          </a:prstGeom>
          <a:noFill/>
          <a:ln/>
        </p:spPr>
        <p:txBody>
          <a:bodyPr wrap="square" lIns="0" tIns="0" rIns="0" bIns="0" rtlCol="0" anchor="t"/>
          <a:lstStyle/>
          <a:p>
            <a:pPr indent="0" marL="0">
              <a:buNone/>
            </a:pPr>
            <a:r>
              <a:rPr lang="en-US" sz="1700" dirty="0">
                <a:solidFill>
                  <a:srgbClr val="FFFFFF"/>
                </a:solidFill>
                <a:latin typeface="Helvetica Neue Light" pitchFamily="34" charset="0"/>
                <a:ea typeface="Helvetica Neue Light" pitchFamily="34" charset="-122"/>
                <a:cs typeface="Helvetica Neue Light" pitchFamily="34" charset="-120"/>
              </a:rPr>
              <a:t>hi-fi wireframe states on 06- Wireframes</a:t>
            </a:r>
            <a:endParaRPr lang="en-US" sz="1700" dirty="0"/>
          </a:p>
        </p:txBody>
      </p:sp>
      <p:sp>
        <p:nvSpPr>
          <p:cNvPr id="17" name="Text 14"/>
          <p:cNvSpPr txBox="1"/>
          <p:nvPr/>
        </p:nvSpPr>
        <p:spPr>
          <a:xfrm>
            <a:off x="457200" y="6035040"/>
            <a:ext cx="12070080" cy="274320"/>
          </a:xfrm>
          <a:prstGeom prst="rect">
            <a:avLst/>
          </a:prstGeom>
          <a:noFill/>
          <a:ln/>
        </p:spPr>
        <p:txBody>
          <a:bodyPr wrap="square" lIns="0" tIns="0" rIns="0" bIns="0" rtlCol="0" anchor="t"/>
          <a:lstStyle/>
          <a:p>
            <a:pPr indent="0" marL="0">
              <a:buNone/>
            </a:pPr>
            <a:r>
              <a:rPr lang="en-US" sz="1280" spc="100" kern="0" dirty="0">
                <a:solidFill>
                  <a:srgbClr val="A12A37"/>
                </a:solidFill>
                <a:latin typeface="Helvetica Neue" pitchFamily="34" charset="0"/>
                <a:ea typeface="Helvetica Neue" pitchFamily="34" charset="-122"/>
                <a:cs typeface="Helvetica Neue" pitchFamily="34" charset="-120"/>
              </a:rPr>
              <a:t>OUTCOMES · NOT YET MEASURED</a:t>
            </a:r>
            <a:endParaRPr lang="en-US" sz="1280" dirty="0"/>
          </a:p>
        </p:txBody>
      </p:sp>
      <p:sp>
        <p:nvSpPr>
          <p:cNvPr id="18" name="Text 15"/>
          <p:cNvSpPr txBox="1"/>
          <p:nvPr/>
        </p:nvSpPr>
        <p:spPr>
          <a:xfrm>
            <a:off x="457200" y="6400800"/>
            <a:ext cx="12070080" cy="146304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Time to complete a trade, task success, the share of users who open an AI screen in week one, and a usability score. Targets are planned and will be set with stakeholders before the first test.</a:t>
            </a:r>
            <a:endParaRPr lang="en-US" sz="2000" dirty="0"/>
          </a:p>
        </p:txBody>
      </p:sp>
      <p:pic>
        <p:nvPicPr>
          <p:cNvPr id="19"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10 · Learnings &amp; next steps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What building this taught me, and what comes next</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56692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LEARNINGS</a:t>
            </a:r>
            <a:endParaRPr lang="en-US" sz="1280" dirty="0"/>
          </a:p>
        </p:txBody>
      </p:sp>
      <p:sp>
        <p:nvSpPr>
          <p:cNvPr id="6" name="Shape 3"/>
          <p:cNvSpPr/>
          <p:nvPr/>
        </p:nvSpPr>
        <p:spPr>
          <a:xfrm>
            <a:off x="457200" y="3017520"/>
            <a:ext cx="420624" cy="420624"/>
          </a:xfrm>
          <a:prstGeom prst="ellipse">
            <a:avLst/>
          </a:prstGeom>
          <a:solidFill>
            <a:srgbClr val="C45A35"/>
          </a:solidFill>
          <a:ln w="12700">
            <a:solidFill>
              <a:srgbClr val="C45A35"/>
            </a:solidFill>
            <a:prstDash val="solid"/>
          </a:ln>
        </p:spPr>
      </p:sp>
      <p:sp>
        <p:nvSpPr>
          <p:cNvPr id="7" name="Text 4"/>
          <p:cNvSpPr txBox="1"/>
          <p:nvPr/>
        </p:nvSpPr>
        <p:spPr>
          <a:xfrm>
            <a:off x="457200" y="30815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1</a:t>
            </a:r>
            <a:endParaRPr lang="en-US" sz="1564" dirty="0"/>
          </a:p>
        </p:txBody>
      </p:sp>
      <p:sp>
        <p:nvSpPr>
          <p:cNvPr id="8" name="Text 5"/>
          <p:cNvSpPr txBox="1"/>
          <p:nvPr/>
        </p:nvSpPr>
        <p:spPr>
          <a:xfrm>
            <a:off x="1097280" y="3035808"/>
            <a:ext cx="5120640" cy="1097280"/>
          </a:xfrm>
          <a:prstGeom prst="rect">
            <a:avLst/>
          </a:prstGeom>
          <a:noFill/>
          <a:ln/>
        </p:spPr>
        <p:txBody>
          <a:bodyPr wrap="square" lIns="0" tIns="0" rIns="0" bIns="0" rtlCol="0" anchor="t"/>
          <a:lstStyle/>
          <a:p>
            <a:pPr indent="0" marL="0">
              <a:buNone/>
            </a:pPr>
            <a:r>
              <a:rPr lang="en-US" sz="1800" dirty="0">
                <a:solidFill>
                  <a:srgbClr val="1F1F1F"/>
                </a:solidFill>
                <a:latin typeface="Helvetica Neue Light" pitchFamily="34" charset="0"/>
                <a:ea typeface="Helvetica Neue Light" pitchFamily="34" charset="-122"/>
                <a:cs typeface="Helvetica Neue Light" pitchFamily="34" charset="-120"/>
              </a:rPr>
              <a:t>One token source for Figma and Swift keeps the two in step.</a:t>
            </a:r>
            <a:endParaRPr lang="en-US" sz="1800" dirty="0"/>
          </a:p>
        </p:txBody>
      </p:sp>
      <p:sp>
        <p:nvSpPr>
          <p:cNvPr id="9" name="Shape 6"/>
          <p:cNvSpPr/>
          <p:nvPr/>
        </p:nvSpPr>
        <p:spPr>
          <a:xfrm>
            <a:off x="457200" y="4389120"/>
            <a:ext cx="420624" cy="420624"/>
          </a:xfrm>
          <a:prstGeom prst="ellipse">
            <a:avLst/>
          </a:prstGeom>
          <a:solidFill>
            <a:srgbClr val="C45A35"/>
          </a:solidFill>
          <a:ln w="12700">
            <a:solidFill>
              <a:srgbClr val="C45A35"/>
            </a:solidFill>
            <a:prstDash val="solid"/>
          </a:ln>
        </p:spPr>
      </p:sp>
      <p:sp>
        <p:nvSpPr>
          <p:cNvPr id="10" name="Text 7"/>
          <p:cNvSpPr txBox="1"/>
          <p:nvPr/>
        </p:nvSpPr>
        <p:spPr>
          <a:xfrm>
            <a:off x="457200" y="44531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2</a:t>
            </a:r>
            <a:endParaRPr lang="en-US" sz="1564" dirty="0"/>
          </a:p>
        </p:txBody>
      </p:sp>
      <p:sp>
        <p:nvSpPr>
          <p:cNvPr id="11" name="Text 8"/>
          <p:cNvSpPr txBox="1"/>
          <p:nvPr/>
        </p:nvSpPr>
        <p:spPr>
          <a:xfrm>
            <a:off x="1097280" y="4407408"/>
            <a:ext cx="5120640" cy="1097280"/>
          </a:xfrm>
          <a:prstGeom prst="rect">
            <a:avLst/>
          </a:prstGeom>
          <a:noFill/>
          <a:ln/>
        </p:spPr>
        <p:txBody>
          <a:bodyPr wrap="square" lIns="0" tIns="0" rIns="0" bIns="0" rtlCol="0" anchor="t"/>
          <a:lstStyle/>
          <a:p>
            <a:pPr indent="0" marL="0">
              <a:buNone/>
            </a:pPr>
            <a:r>
              <a:rPr lang="en-US" sz="1800" dirty="0">
                <a:solidFill>
                  <a:srgbClr val="1F1F1F"/>
                </a:solidFill>
                <a:latin typeface="Helvetica Neue Light" pitchFamily="34" charset="0"/>
                <a:ea typeface="Helvetica Neue Light" pitchFamily="34" charset="-122"/>
                <a:cs typeface="Helvetica Neue Light" pitchFamily="34" charset="-120"/>
              </a:rPr>
              <a:t>Settle AI boundaries before more screens. Adapt’s buy and sell wording needs compliance first.</a:t>
            </a:r>
            <a:endParaRPr lang="en-US" sz="1800" dirty="0"/>
          </a:p>
        </p:txBody>
      </p:sp>
      <p:sp>
        <p:nvSpPr>
          <p:cNvPr id="12" name="Shape 9"/>
          <p:cNvSpPr/>
          <p:nvPr/>
        </p:nvSpPr>
        <p:spPr>
          <a:xfrm>
            <a:off x="457200" y="5760720"/>
            <a:ext cx="420624" cy="420624"/>
          </a:xfrm>
          <a:prstGeom prst="ellipse">
            <a:avLst/>
          </a:prstGeom>
          <a:solidFill>
            <a:srgbClr val="C45A35"/>
          </a:solidFill>
          <a:ln w="12700">
            <a:solidFill>
              <a:srgbClr val="C45A35"/>
            </a:solidFill>
            <a:prstDash val="solid"/>
          </a:ln>
        </p:spPr>
      </p:sp>
      <p:sp>
        <p:nvSpPr>
          <p:cNvPr id="13" name="Text 10"/>
          <p:cNvSpPr txBox="1"/>
          <p:nvPr/>
        </p:nvSpPr>
        <p:spPr>
          <a:xfrm>
            <a:off x="457200" y="58247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3</a:t>
            </a:r>
            <a:endParaRPr lang="en-US" sz="1564" dirty="0"/>
          </a:p>
        </p:txBody>
      </p:sp>
      <p:sp>
        <p:nvSpPr>
          <p:cNvPr id="14" name="Text 11"/>
          <p:cNvSpPr txBox="1"/>
          <p:nvPr/>
        </p:nvSpPr>
        <p:spPr>
          <a:xfrm>
            <a:off x="1097280" y="5779008"/>
            <a:ext cx="5120640" cy="1097280"/>
          </a:xfrm>
          <a:prstGeom prst="rect">
            <a:avLst/>
          </a:prstGeom>
          <a:noFill/>
          <a:ln/>
        </p:spPr>
        <p:txBody>
          <a:bodyPr wrap="square" lIns="0" tIns="0" rIns="0" bIns="0" rtlCol="0" anchor="t"/>
          <a:lstStyle/>
          <a:p>
            <a:pPr indent="0" marL="0">
              <a:buNone/>
            </a:pPr>
            <a:r>
              <a:rPr lang="en-US" sz="1800" dirty="0">
                <a:solidFill>
                  <a:srgbClr val="1F1F1F"/>
                </a:solidFill>
                <a:latin typeface="Helvetica Neue Light" pitchFamily="34" charset="0"/>
                <a:ea typeface="Helvetica Neue Light" pitchFamily="34" charset="-122"/>
                <a:cs typeface="Helvetica Neue Light" pitchFamily="34" charset="-120"/>
              </a:rPr>
              <a:t>Mock data hides timing and error states, so design them explicitly.</a:t>
            </a:r>
            <a:endParaRPr lang="en-US" sz="1800" dirty="0"/>
          </a:p>
        </p:txBody>
      </p:sp>
      <p:sp>
        <p:nvSpPr>
          <p:cNvPr id="15" name="Shape 12"/>
          <p:cNvSpPr/>
          <p:nvPr/>
        </p:nvSpPr>
        <p:spPr>
          <a:xfrm>
            <a:off x="457200" y="7132320"/>
            <a:ext cx="420624" cy="420624"/>
          </a:xfrm>
          <a:prstGeom prst="ellipse">
            <a:avLst/>
          </a:prstGeom>
          <a:solidFill>
            <a:srgbClr val="C45A35"/>
          </a:solidFill>
          <a:ln w="12700">
            <a:solidFill>
              <a:srgbClr val="C45A35"/>
            </a:solidFill>
            <a:prstDash val="solid"/>
          </a:ln>
        </p:spPr>
      </p:sp>
      <p:sp>
        <p:nvSpPr>
          <p:cNvPr id="16" name="Text 13"/>
          <p:cNvSpPr txBox="1"/>
          <p:nvPr/>
        </p:nvSpPr>
        <p:spPr>
          <a:xfrm>
            <a:off x="457200" y="71963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4</a:t>
            </a:r>
            <a:endParaRPr lang="en-US" sz="1564" dirty="0"/>
          </a:p>
        </p:txBody>
      </p:sp>
      <p:sp>
        <p:nvSpPr>
          <p:cNvPr id="17" name="Text 14"/>
          <p:cNvSpPr txBox="1"/>
          <p:nvPr/>
        </p:nvSpPr>
        <p:spPr>
          <a:xfrm>
            <a:off x="1097280" y="7150608"/>
            <a:ext cx="5120640" cy="1097280"/>
          </a:xfrm>
          <a:prstGeom prst="rect">
            <a:avLst/>
          </a:prstGeom>
          <a:noFill/>
          <a:ln/>
        </p:spPr>
        <p:txBody>
          <a:bodyPr wrap="square" lIns="0" tIns="0" rIns="0" bIns="0" rtlCol="0" anchor="t"/>
          <a:lstStyle/>
          <a:p>
            <a:pPr indent="0" marL="0">
              <a:buNone/>
            </a:pPr>
            <a:r>
              <a:rPr lang="en-US" sz="1800" dirty="0">
                <a:solidFill>
                  <a:srgbClr val="1F1F1F"/>
                </a:solidFill>
                <a:latin typeface="Helvetica Neue Light" pitchFamily="34" charset="0"/>
                <a:ea typeface="Helvetica Neue Light" pitchFamily="34" charset="-122"/>
                <a:cs typeface="Helvetica Neue Light" pitchFamily="34" charset="-120"/>
              </a:rPr>
              <a:t>Keep working documents in one place: the FigJam board.</a:t>
            </a:r>
            <a:endParaRPr lang="en-US" sz="1800" dirty="0"/>
          </a:p>
        </p:txBody>
      </p:sp>
      <p:sp>
        <p:nvSpPr>
          <p:cNvPr id="18" name="Text 15"/>
          <p:cNvSpPr txBox="1"/>
          <p:nvPr/>
        </p:nvSpPr>
        <p:spPr>
          <a:xfrm>
            <a:off x="6583680" y="2468880"/>
            <a:ext cx="56692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NEXT STEPS</a:t>
            </a:r>
            <a:endParaRPr lang="en-US" sz="1280" dirty="0"/>
          </a:p>
        </p:txBody>
      </p:sp>
      <p:sp>
        <p:nvSpPr>
          <p:cNvPr id="19" name="Text 16"/>
          <p:cNvSpPr txBox="1"/>
          <p:nvPr/>
        </p:nvSpPr>
        <p:spPr>
          <a:xfrm>
            <a:off x="6583680" y="3017520"/>
            <a:ext cx="5669280" cy="50292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Validate the three personas with five to eight interviews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Usability-test the share and dollar flows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Review the 20 wireframe states with stakeholders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Resolve the open questions on the FigJam board</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Set metric targets with stakeholders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Schedule the compliance review</a:t>
            </a:r>
            <a:endParaRPr lang="en-US" sz="1800" dirty="0"/>
          </a:p>
        </p:txBody>
      </p:sp>
      <p:pic>
        <p:nvPicPr>
          <p:cNvPr id="20"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C45A35"/>
        </a:solidFill>
      </p:bgPr>
    </p:bg>
    <p:spTree>
      <p:nvGrpSpPr>
        <p:cNvPr id="1" name=""/>
        <p:cNvGrpSpPr/>
        <p:nvPr/>
      </p:nvGrpSpPr>
      <p:grpSpPr/>
      <p:sp>
        <p:nvSpPr>
          <p:cNvPr id="2" name="Text 0"/>
          <p:cNvSpPr txBox="1"/>
          <p:nvPr/>
        </p:nvSpPr>
        <p:spPr>
          <a:xfrm>
            <a:off x="978408" y="978408"/>
            <a:ext cx="10515600" cy="1097280"/>
          </a:xfrm>
          <a:prstGeom prst="rect">
            <a:avLst/>
          </a:prstGeom>
          <a:noFill/>
          <a:ln/>
        </p:spPr>
        <p:txBody>
          <a:bodyPr wrap="square" lIns="0" tIns="0" rIns="0" bIns="0" rtlCol="0" anchor="t"/>
          <a:lstStyle/>
          <a:p>
            <a:pPr indent="0" marL="0">
              <a:buNone/>
            </a:pPr>
            <a:r>
              <a:rPr lang="en-US" sz="5700" dirty="0">
                <a:solidFill>
                  <a:srgbClr val="FFFFFF"/>
                </a:solidFill>
                <a:latin typeface="Helvetica Neue Light" pitchFamily="34" charset="0"/>
                <a:ea typeface="Helvetica Neue Light" pitchFamily="34" charset="-122"/>
                <a:cs typeface="Helvetica Neue Light" pitchFamily="34" charset="-120"/>
              </a:rPr>
              <a:t>Working documents and links</a:t>
            </a:r>
            <a:endParaRPr lang="en-US" sz="5700" dirty="0"/>
          </a:p>
        </p:txBody>
      </p:sp>
      <p:sp>
        <p:nvSpPr>
          <p:cNvPr id="3" name="Text 1"/>
          <p:cNvSpPr txBox="1"/>
          <p:nvPr/>
        </p:nvSpPr>
        <p:spPr>
          <a:xfrm>
            <a:off x="978408" y="292608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FigJam board (working documents)</a:t>
            </a:r>
            <a:endParaRPr lang="en-US" sz="1800" dirty="0"/>
          </a:p>
        </p:txBody>
      </p:sp>
      <p:sp>
        <p:nvSpPr>
          <p:cNvPr id="4" name="Text 2">
            <a:hlinkClick r:id="rId2" tooltip=""/>
          </p:cNvPr>
          <p:cNvSpPr txBox="1"/>
          <p:nvPr/>
        </p:nvSpPr>
        <p:spPr>
          <a:xfrm>
            <a:off x="6309360" y="296265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https://www.figma.com/board/OXpFHEhHcr2ZReOXKKPVxb</a:t>
            </a:r>
            <a:endParaRPr lang="en-US" sz="1500" dirty="0"/>
          </a:p>
        </p:txBody>
      </p:sp>
      <p:sp>
        <p:nvSpPr>
          <p:cNvPr id="5" name="Text 3"/>
          <p:cNvSpPr txBox="1"/>
          <p:nvPr/>
        </p:nvSpPr>
        <p:spPr>
          <a:xfrm>
            <a:off x="978408" y="370332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Meridian Wires (Figma)</a:t>
            </a:r>
            <a:endParaRPr lang="en-US" sz="1800" dirty="0"/>
          </a:p>
        </p:txBody>
      </p:sp>
      <p:sp>
        <p:nvSpPr>
          <p:cNvPr id="6" name="Text 4">
            <a:hlinkClick r:id="rId3" tooltip=""/>
          </p:cNvPr>
          <p:cNvSpPr txBox="1"/>
          <p:nvPr/>
        </p:nvSpPr>
        <p:spPr>
          <a:xfrm>
            <a:off x="6309360" y="373989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https://www.figma.com/design/W9SuJ8HpznQuY6Fb3H442w</a:t>
            </a:r>
            <a:endParaRPr lang="en-US" sz="1500" dirty="0"/>
          </a:p>
        </p:txBody>
      </p:sp>
      <p:sp>
        <p:nvSpPr>
          <p:cNvPr id="7" name="Text 5"/>
          <p:cNvSpPr txBox="1"/>
          <p:nvPr/>
        </p:nvSpPr>
        <p:spPr>
          <a:xfrm>
            <a:off x="978408" y="448056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06- Wireframes (hi-fi states)</a:t>
            </a:r>
            <a:endParaRPr lang="en-US" sz="1800" dirty="0"/>
          </a:p>
        </p:txBody>
      </p:sp>
      <p:sp>
        <p:nvSpPr>
          <p:cNvPr id="8" name="Text 6">
            <a:hlinkClick r:id="rId4" tooltip=""/>
          </p:cNvPr>
          <p:cNvSpPr txBox="1"/>
          <p:nvPr/>
        </p:nvSpPr>
        <p:spPr>
          <a:xfrm>
            <a:off x="6309360" y="451713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https://www.figma.com/design/W9SuJ8HpznQuY6Fb3H442w?node-id=5123-3942</a:t>
            </a:r>
            <a:endParaRPr lang="en-US" sz="1500" dirty="0"/>
          </a:p>
        </p:txBody>
      </p:sp>
      <p:sp>
        <p:nvSpPr>
          <p:cNvPr id="9" name="Text 7"/>
          <p:cNvSpPr txBox="1"/>
          <p:nvPr/>
        </p:nvSpPr>
        <p:spPr>
          <a:xfrm>
            <a:off x="978408" y="525780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New Trading Desk (Figma)</a:t>
            </a:r>
            <a:endParaRPr lang="en-US" sz="1800" dirty="0"/>
          </a:p>
        </p:txBody>
      </p:sp>
      <p:sp>
        <p:nvSpPr>
          <p:cNvPr id="10" name="Text 8">
            <a:hlinkClick r:id="rId5" tooltip=""/>
          </p:cNvPr>
          <p:cNvSpPr txBox="1"/>
          <p:nvPr/>
        </p:nvSpPr>
        <p:spPr>
          <a:xfrm>
            <a:off x="6309360" y="529437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https://www.figma.com/design/w9xAlgyQeXToR54UPbv7wG</a:t>
            </a:r>
            <a:endParaRPr lang="en-US" sz="1500" dirty="0"/>
          </a:p>
        </p:txBody>
      </p:sp>
      <p:sp>
        <p:nvSpPr>
          <p:cNvPr id="11" name="Text 9"/>
          <p:cNvSpPr txBox="1"/>
          <p:nvPr/>
        </p:nvSpPr>
        <p:spPr>
          <a:xfrm>
            <a:off x="978408" y="603504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Case study deck (web)</a:t>
            </a:r>
            <a:endParaRPr lang="en-US" sz="1800" dirty="0"/>
          </a:p>
        </p:txBody>
      </p:sp>
      <p:sp>
        <p:nvSpPr>
          <p:cNvPr id="12" name="Text 10">
            <a:hlinkClick r:id="rId6" tooltip=""/>
          </p:cNvPr>
          <p:cNvSpPr txBox="1"/>
          <p:nvPr/>
        </p:nvSpPr>
        <p:spPr>
          <a:xfrm>
            <a:off x="6309360" y="607161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https://claude.ai/artifact/TwRA3JxYaMduyLo1MfpcZe</a:t>
            </a:r>
            <a:endParaRPr lang="en-US" sz="1500" dirty="0"/>
          </a:p>
        </p:txBody>
      </p:sp>
      <p:sp>
        <p:nvSpPr>
          <p:cNvPr id="13" name="Text 11"/>
          <p:cNvSpPr txBox="1"/>
          <p:nvPr/>
        </p:nvSpPr>
        <p:spPr>
          <a:xfrm>
            <a:off x="978408" y="681228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Meridian HTML prototype</a:t>
            </a:r>
            <a:endParaRPr lang="en-US" sz="1800" dirty="0"/>
          </a:p>
        </p:txBody>
      </p:sp>
      <p:sp>
        <p:nvSpPr>
          <p:cNvPr id="14" name="Text 12">
            <a:hlinkClick r:id="rId7" tooltip=""/>
          </p:cNvPr>
          <p:cNvSpPr txBox="1"/>
          <p:nvPr/>
        </p:nvSpPr>
        <p:spPr>
          <a:xfrm>
            <a:off x="6309360" y="684885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https://claude.ai/artifact/QKAHav3ku5fRX5UTnohzsZ</a:t>
            </a:r>
            <a:endParaRPr lang="en-US" sz="1500" dirty="0"/>
          </a:p>
        </p:txBody>
      </p:sp>
      <p:sp>
        <p:nvSpPr>
          <p:cNvPr id="15" name="Text 13"/>
          <p:cNvSpPr txBox="1"/>
          <p:nvPr/>
        </p:nvSpPr>
        <p:spPr>
          <a:xfrm>
            <a:off x="978408" y="758952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Code and docs (GitHub)</a:t>
            </a:r>
            <a:endParaRPr lang="en-US" sz="1800" dirty="0"/>
          </a:p>
        </p:txBody>
      </p:sp>
      <p:sp>
        <p:nvSpPr>
          <p:cNvPr id="16" name="Text 14">
            <a:hlinkClick r:id="rId8" tooltip=""/>
          </p:cNvPr>
          <p:cNvSpPr txBox="1"/>
          <p:nvPr/>
        </p:nvSpPr>
        <p:spPr>
          <a:xfrm>
            <a:off x="6309360" y="762609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https://github.com/CHUNKY21/trading-platform</a:t>
            </a:r>
            <a:endParaRPr lang="en-US" sz="1500" dirty="0"/>
          </a:p>
        </p:txBody>
      </p:sp>
      <p:sp>
        <p:nvSpPr>
          <p:cNvPr id="17" name="Text 15"/>
          <p:cNvSpPr txBox="1"/>
          <p:nvPr/>
        </p:nvSpPr>
        <p:spPr>
          <a:xfrm>
            <a:off x="978408" y="8229600"/>
            <a:ext cx="10515600" cy="365760"/>
          </a:xfrm>
          <a:prstGeom prst="rect">
            <a:avLst/>
          </a:prstGeom>
          <a:noFill/>
          <a:ln/>
        </p:spPr>
        <p:txBody>
          <a:bodyPr wrap="square" lIns="0" tIns="0" rIns="0" bIns="0" rtlCol="0" anchor="t"/>
          <a:lstStyle/>
          <a:p>
            <a:pPr indent="0" marL="0">
              <a:buNone/>
            </a:pPr>
            <a:r>
              <a:rPr lang="en-US" sz="1400" dirty="0">
                <a:solidFill>
                  <a:srgbClr val="FFE9DF"/>
                </a:solidFill>
                <a:latin typeface="Helvetica Neue Light" pitchFamily="34" charset="0"/>
                <a:ea typeface="Helvetica Neue Light" pitchFamily="34" charset="-122"/>
                <a:cs typeface="Helvetica Neue Light" pitchFamily="34" charset="-120"/>
              </a:rPr>
              <a:t>Some links need access. Share the FigJam board and prototypes from each tool’s share menu.</a:t>
            </a:r>
            <a:endParaRPr lang="en-US" sz="1400" dirty="0"/>
          </a:p>
        </p:txBody>
      </p:sp>
      <p:pic>
        <p:nvPicPr>
          <p:cNvPr id="18" name="Image 0" descr="/tmp/meridian-deck/img/band-footer.png">    </p:cNvPr>
          <p:cNvPicPr>
            <a:picLocks noChangeAspect="1"/>
          </p:cNvPicPr>
          <p:nvPr/>
        </p:nvPicPr>
        <p:blipFill>
          <a:blip r:embed="rId9"/>
          <a:stretch>
            <a:fillRect/>
          </a:stretch>
        </p:blipFill>
        <p:spPr>
          <a:xfrm>
            <a:off x="0" y="9281160"/>
            <a:ext cx="13004597" cy="46634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24023</Words>
  <Application>Microsoft Macintosh PowerPoint</Application>
  <PresentationFormat>Custom</PresentationFormat>
  <Paragraphs>2417</Paragraphs>
  <Slides>161</Slides>
  <Notes>67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161</vt:i4>
      </vt:variant>
    </vt:vector>
  </HeadingPairs>
  <TitlesOfParts>
    <vt:vector size="170" baseType="lpstr">
      <vt:lpstr>Aptos</vt:lpstr>
      <vt:lpstr>Arial</vt:lpstr>
      <vt:lpstr>Calibri</vt:lpstr>
      <vt:lpstr>Helvetica</vt:lpstr>
      <vt:lpstr>Helvetica Neue</vt:lpstr>
      <vt:lpstr>HELVETICA NEUE LIGHT</vt:lpstr>
      <vt:lpstr>HELVETICA NEUE LIGHT</vt:lpstr>
      <vt:lpstr>Helvetica Neue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Thibodeau</cp:lastModifiedBy>
  <cp:revision>19</cp:revision>
  <dcterms:created xsi:type="dcterms:W3CDTF">2013-01-27T09:14:16Z</dcterms:created>
  <dcterms:modified xsi:type="dcterms:W3CDTF">2026-10-08T01:28:10Z</dcterms:modified>
  <cp:category/>
</cp:coreProperties>
</file>
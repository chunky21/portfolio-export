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8" r:id="rId5"/>
    <p:sldId id="340" r:id="rId7"/>
    <p:sldId id="437" r:id="rId42"/>
    <p:sldId id="344" r:id="rId11"/>
    <p:sldId id="346" r:id="rId13"/>
    <p:sldId id="351" r:id="rId16"/>
    <p:sldId id="349" r:id="rId17"/>
    <p:sldId id="352" r:id="rId20"/>
    <p:sldId id="354" r:id="rId22"/>
    <p:sldId id="357" r:id="rId25"/>
    <p:sldId id="359" r:id="rId27"/>
    <p:sldId id="361" r:id="rId29"/>
    <p:sldId id="363" r:id="rId31"/>
    <p:sldId id="368" r:id="rId19"/>
    <p:sldId id="373" r:id="rId40"/>
    <p:sldId id="374" r:id="rId41"/>
    <p:sldId id="377" r:id="rId44"/>
    <p:sldId id="378" r:id="rId45"/>
    <p:sldId id="379" r:id="rId46"/>
    <p:sldId id="381" r:id="rId48"/>
    <p:sldId id="438" r:id="rId30"/>
    <p:sldId id="439" r:id="rId28"/>
    <p:sldId id="440" r:id="rId32"/>
    <p:sldId id="441" r:id="rId33"/>
    <p:sldId id="442" r:id="rId34"/>
    <p:sldId id="443" r:id="rId35"/>
    <p:sldId id="444" r:id="rId36"/>
    <p:sldId id="445" r:id="rId37"/>
    <p:sldId id="446" r:id="rId38"/>
    <p:sldId id="447" r:id="rId39"/>
    <p:sldId id="448" r:id="rId26"/>
    <p:sldId id="449" r:id="rId24"/>
    <p:sldId id="450" r:id="rId23"/>
    <p:sldId id="451" r:id="rId21"/>
    <p:sldId id="452" r:id="rId18"/>
    <p:sldId id="453" r:id="rId15"/>
    <p:sldId id="454" r:id="rId14"/>
    <p:sldId id="455" r:id="rId47"/>
    <p:sldId id="456" r:id="rId12"/>
    <p:sldId id="457" r:id="rId49"/>
    <p:sldId id="458" r:id="rId50"/>
    <p:sldId id="459" r:id="rId51"/>
    <p:sldId id="460" r:id="rId52"/>
    <p:sldId id="461" r:id="rId53"/>
    <p:sldId id="462" r:id="rId54"/>
    <p:sldId id="463" r:id="rId55"/>
    <p:sldId id="435" r:id="rId43"/>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11" Type="http://schemas.openxmlformats.org/officeDocument/2006/relationships/slide" Target="slides/slide6.xml"/><Relationship Id="rId12" Type="http://schemas.openxmlformats.org/officeDocument/2006/relationships/slide" Target="slides/slide42.xml"/><Relationship Id="rId13" Type="http://schemas.openxmlformats.org/officeDocument/2006/relationships/slide" Target="slides/slide7.xml"/><Relationship Id="rId14" Type="http://schemas.openxmlformats.org/officeDocument/2006/relationships/slide" Target="slides/slide40.xml"/><Relationship Id="rId15" Type="http://schemas.openxmlformats.org/officeDocument/2006/relationships/slide" Target="slides/slide39.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38.xml"/><Relationship Id="rId19" Type="http://schemas.openxmlformats.org/officeDocument/2006/relationships/slide" Target="slides/slide16.xml"/><Relationship Id="rId20" Type="http://schemas.openxmlformats.org/officeDocument/2006/relationships/slide" Target="slides/slide10.xml"/><Relationship Id="rId21" Type="http://schemas.openxmlformats.org/officeDocument/2006/relationships/slide" Target="slides/slide37.xml"/><Relationship Id="rId22" Type="http://schemas.openxmlformats.org/officeDocument/2006/relationships/slide" Target="slides/slide11.xml"/><Relationship Id="rId23" Type="http://schemas.openxmlformats.org/officeDocument/2006/relationships/slide" Target="slides/slide36.xml"/><Relationship Id="rId24" Type="http://schemas.openxmlformats.org/officeDocument/2006/relationships/slide" Target="slides/slide35.xml"/><Relationship Id="rId25" Type="http://schemas.openxmlformats.org/officeDocument/2006/relationships/slide" Target="slides/slide12.xml"/><Relationship Id="rId26" Type="http://schemas.openxmlformats.org/officeDocument/2006/relationships/slide" Target="slides/slide34.xml"/><Relationship Id="rId27" Type="http://schemas.openxmlformats.org/officeDocument/2006/relationships/slide" Target="slides/slide13.xml"/><Relationship Id="rId28" Type="http://schemas.openxmlformats.org/officeDocument/2006/relationships/slide" Target="slides/slide25.xml"/><Relationship Id="rId29" Type="http://schemas.openxmlformats.org/officeDocument/2006/relationships/slide" Target="slides/slide14.xml"/><Relationship Id="rId30" Type="http://schemas.openxmlformats.org/officeDocument/2006/relationships/slide" Target="slides/slide24.xml"/><Relationship Id="rId31" Type="http://schemas.openxmlformats.org/officeDocument/2006/relationships/slide" Target="slides/slide1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5.xml"/><Relationship Id="rId43" Type="http://schemas.openxmlformats.org/officeDocument/2006/relationships/slide" Target="slides/slide23.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21.xml"/><Relationship Id="rId47" Type="http://schemas.openxmlformats.org/officeDocument/2006/relationships/slide" Target="slides/slide41.xml"/><Relationship Id="rId48" Type="http://schemas.openxmlformats.org/officeDocument/2006/relationships/slide" Target="slides/slide2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I-Portfolio/FinViz/Presentations/FinViz-Case-Study-Appendix.pptx" TargetMode="External"/><Relationship Id="rId3" Type="http://schemas.openxmlformats.org/officeDocument/2006/relationships/hyperlink" Target="Portfolio-Appendix-Other-Work.pptx"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4.png"/><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097280"/>
            <a:ext cx="12070080" cy="914400"/>
          </a:xfrm>
          <a:prstGeom prst="rect">
            <a:avLst/>
          </a:prstGeom>
          <a:noFill/>
        </p:spPr>
        <p:txBody>
          <a:bodyPr wrap="none">
            <a:spAutoFit/>
          </a:bodyPr>
          <a:lstStyle/>
          <a:p>
            <a:r>
              <a:rPr sz="4000">
                <a:latin typeface="Helvetica Neue Light"/>
              </a:rPr>
              <a:t>Appendix</a:t>
            </a:r>
          </a:p>
        </p:txBody>
      </p:sp>
      <p:sp>
        <p:nvSpPr>
          <p:cNvPr id="3" name="TextBox 2"/>
          <p:cNvSpPr txBox="1"/>
          <p:nvPr/>
        </p:nvSpPr>
        <p:spPr>
          <a:xfrm>
            <a:off x="457200" y="2743200"/>
            <a:ext cx="12070080" cy="1097280"/>
          </a:xfrm>
          <a:prstGeom prst="rect">
            <a:avLst/>
          </a:prstGeom>
          <a:noFill/>
        </p:spPr>
        <p:txBody>
          <a:bodyPr wrap="none">
            <a:spAutoFit/>
          </a:bodyPr>
          <a:lstStyle/>
          <a:p>
            <a:r>
              <a:rPr sz="2400">
                <a:solidFill>
                  <a:srgbClr val="C45A35"/>
                </a:solidFill>
                <a:latin typeface="Helvetica Neue Light"/>
                <a:hlinkClick r:id="rId2"/>
              </a:rPr>
              <a:t>FinViz case study: full appendix (61 slides)</a:t>
            </a:r>
          </a:p>
          <a:p>
            <a:r>
              <a:rPr sz="1600">
                <a:solidFill>
                  <a:srgbClr val="595959"/>
                </a:solidFill>
                <a:latin typeface="Helvetica Neue Light"/>
              </a:rPr>
              <a:t>Concept work, hero features, lo-fi iterations, and the alerts and chart-lens journeys.</a:t>
            </a:r>
          </a:p>
        </p:txBody>
      </p:sp>
      <p:sp>
        <p:nvSpPr>
          <p:cNvPr id="4" name="TextBox 3"/>
          <p:cNvSpPr txBox="1"/>
          <p:nvPr/>
        </p:nvSpPr>
        <p:spPr>
          <a:xfrm>
            <a:off x="457200" y="4206240"/>
            <a:ext cx="12070080" cy="1097280"/>
          </a:xfrm>
          <a:prstGeom prst="rect">
            <a:avLst/>
          </a:prstGeom>
          <a:noFill/>
        </p:spPr>
        <p:txBody>
          <a:bodyPr wrap="none">
            <a:spAutoFit/>
          </a:bodyPr>
          <a:lstStyle/>
          <a:p>
            <a:r>
              <a:rPr sz="2400">
                <a:solidFill>
                  <a:srgbClr val="C45A35"/>
                </a:solidFill>
                <a:latin typeface="Helvetica Neue Light"/>
                <a:hlinkClick r:id="rId3"/>
              </a:rPr>
              <a:t>Other work: Wells Fargo</a:t>
            </a:r>
          </a:p>
          <a:p>
            <a:r>
              <a:rPr sz="1600">
                <a:solidFill>
                  <a:srgbClr val="595959"/>
                </a:solidFill>
                <a:latin typeface="Helvetica Neue Light"/>
              </a:rPr>
              <a:t>Enterprise B2B design work, with discovery, design sprints and results.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whole experience, end to end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Entry, the five tabs, monitoring, Adapt, the trade flow, the learning loop, and the states. Proposal, mock data.</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pic>
        <p:nvPicPr>
          <p:cNvPr id="6" name="Image 1" descr="/tmp/meridian-deck/img/full-experience.png">    </p:cNvPr>
          <p:cNvPicPr>
            <a:picLocks noChangeAspect="1"/>
          </p:cNvPicPr>
          <p:nvPr/>
        </p:nvPicPr>
        <p:blipFill>
          <a:blip r:embed="rId3"/>
          <a:stretch>
            <a:fillRect/>
          </a:stretch>
        </p:blipFill>
        <p:spPr>
          <a:xfrm>
            <a:off x="457200" y="2194560"/>
            <a:ext cx="12070080" cy="5956663"/>
          </a:xfrm>
          <a:prstGeom prst="rect">
            <a:avLst/>
          </a:prstGeom>
        </p:spPr>
      </p:pic>
      <p:sp>
        <p:nvSpPr>
          <p:cNvPr id="7" name="Text 3"/>
          <p:cNvSpPr txBox="1"/>
          <p:nvPr/>
        </p:nvSpPr>
        <p:spPr>
          <a:xfrm>
            <a:off x="457200" y="8425543"/>
            <a:ext cx="12070080" cy="4572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Nothing trades unless the user approves, or has set Act within limits. Learned rules are visible and reversible.</a:t>
            </a:r>
            <a:endParaRPr lang="en-US" sz="1500" dirty="0"/>
          </a:p>
        </p:txBody>
      </p:sp>
      <p:pic>
        <p:nvPicPr>
          <p:cNvPr id="8"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
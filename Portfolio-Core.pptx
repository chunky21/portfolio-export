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8" r:id="rId5"/>
    <p:sldId id="340" r:id="rId7"/>
    <p:sldId id="437" r:id="rId42"/>
    <p:sldId id="344" r:id="rId11"/>
    <p:sldId id="346" r:id="rId13"/>
    <p:sldId id="351" r:id="rId16"/>
    <p:sldId id="349" r:id="rId17"/>
    <p:sldId id="352" r:id="rId20"/>
    <p:sldId id="354" r:id="rId22"/>
    <p:sldId id="357" r:id="rId25"/>
    <p:sldId id="359" r:id="rId27"/>
    <p:sldId id="361" r:id="rId29"/>
    <p:sldId id="363" r:id="rId31"/>
    <p:sldId id="368" r:id="rId19"/>
    <p:sldId id="373" r:id="rId40"/>
    <p:sldId id="374" r:id="rId41"/>
    <p:sldId id="377" r:id="rId44"/>
    <p:sldId id="378" r:id="rId45"/>
    <p:sldId id="379" r:id="rId46"/>
    <p:sldId id="381" r:id="rId48"/>
    <p:sldId id="417" r:id="rId168"/>
    <p:sldId id="418" r:id="rId169"/>
    <p:sldId id="419" r:id="rId170"/>
    <p:sldId id="420" r:id="rId171"/>
    <p:sldId id="421" r:id="rId172"/>
    <p:sldId id="422" r:id="rId173"/>
    <p:sldId id="423" r:id="rId174"/>
    <p:sldId id="436" r:id="rId47"/>
    <p:sldId id="424" r:id="rId175"/>
    <p:sldId id="425" r:id="rId176"/>
    <p:sldId id="426" r:id="rId177"/>
    <p:sldId id="427" r:id="rId178"/>
    <p:sldId id="428" r:id="rId179"/>
    <p:sldId id="429" r:id="rId180"/>
    <p:sldId id="430" r:id="rId181"/>
    <p:sldId id="431" r:id="rId182"/>
    <p:sldId id="432" r:id="rId183"/>
    <p:sldId id="433" r:id="rId184"/>
    <p:sldId id="434" r:id="rId185"/>
    <p:sldId id="435" r:id="rId43"/>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7" Type="http://schemas.openxmlformats.org/officeDocument/2006/relationships/slide" Target="slides/slide4.xml"/><Relationship Id="rId11" Type="http://schemas.openxmlformats.org/officeDocument/2006/relationships/slide" Target="slides/slide6.xml"/><Relationship Id="rId13"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9" Type="http://schemas.openxmlformats.org/officeDocument/2006/relationships/slide" Target="slides/slide16.xml"/><Relationship Id="rId20" Type="http://schemas.openxmlformats.org/officeDocument/2006/relationships/slide" Target="slides/slide10.xml"/><Relationship Id="rId22" Type="http://schemas.openxmlformats.org/officeDocument/2006/relationships/slide" Target="slides/slide11.xml"/><Relationship Id="rId25" Type="http://schemas.openxmlformats.org/officeDocument/2006/relationships/slide" Target="slides/slide12.xml"/><Relationship Id="rId27" Type="http://schemas.openxmlformats.org/officeDocument/2006/relationships/slide" Target="slides/slide13.xml"/><Relationship Id="rId29" Type="http://schemas.openxmlformats.org/officeDocument/2006/relationships/slide" Target="slides/slide14.xml"/><Relationship Id="rId31" Type="http://schemas.openxmlformats.org/officeDocument/2006/relationships/slide" Target="slides/slide15.xml"/><Relationship Id="rId40" Type="http://schemas.openxmlformats.org/officeDocument/2006/relationships/slide" Target="slides/slide17.xml"/><Relationship Id="rId41" Type="http://schemas.openxmlformats.org/officeDocument/2006/relationships/slide" Target="slides/slide18.xml"/><Relationship Id="rId42" Type="http://schemas.openxmlformats.org/officeDocument/2006/relationships/slide" Target="slides/slide5.xml"/><Relationship Id="rId43" Type="http://schemas.openxmlformats.org/officeDocument/2006/relationships/slide" Target="slides/slide42.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21.xml"/><Relationship Id="rId47" Type="http://schemas.openxmlformats.org/officeDocument/2006/relationships/slide" Target="slides/slide30.xml"/><Relationship Id="rId48" Type="http://schemas.openxmlformats.org/officeDocument/2006/relationships/slide" Target="slides/slide22.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 Id="rId168" Type="http://schemas.openxmlformats.org/officeDocument/2006/relationships/slide" Target="slides/slide23.xml"/><Relationship Id="rId169" Type="http://schemas.openxmlformats.org/officeDocument/2006/relationships/slide" Target="slides/slide24.xml"/><Relationship Id="rId170" Type="http://schemas.openxmlformats.org/officeDocument/2006/relationships/slide" Target="slides/slide25.xml"/><Relationship Id="rId171" Type="http://schemas.openxmlformats.org/officeDocument/2006/relationships/slide" Target="slides/slide26.xml"/><Relationship Id="rId172" Type="http://schemas.openxmlformats.org/officeDocument/2006/relationships/slide" Target="slides/slide27.xml"/><Relationship Id="rId173" Type="http://schemas.openxmlformats.org/officeDocument/2006/relationships/slide" Target="slides/slide28.xml"/><Relationship Id="rId174" Type="http://schemas.openxmlformats.org/officeDocument/2006/relationships/slide" Target="slides/slide29.xml"/><Relationship Id="rId175" Type="http://schemas.openxmlformats.org/officeDocument/2006/relationships/slide" Target="slides/slide31.xml"/><Relationship Id="rId176" Type="http://schemas.openxmlformats.org/officeDocument/2006/relationships/slide" Target="slides/slide32.xml"/><Relationship Id="rId177" Type="http://schemas.openxmlformats.org/officeDocument/2006/relationships/slide" Target="slides/slide33.xml"/><Relationship Id="rId178" Type="http://schemas.openxmlformats.org/officeDocument/2006/relationships/slide" Target="slides/slide34.xml"/><Relationship Id="rId179" Type="http://schemas.openxmlformats.org/officeDocument/2006/relationships/slide" Target="slides/slide35.xml"/><Relationship Id="rId180" Type="http://schemas.openxmlformats.org/officeDocument/2006/relationships/slide" Target="slides/slide36.xml"/><Relationship Id="rId181" Type="http://schemas.openxmlformats.org/officeDocument/2006/relationships/slide" Target="slides/slide37.xml"/><Relationship Id="rId182" Type="http://schemas.openxmlformats.org/officeDocument/2006/relationships/slide" Target="slides/slide38.xml"/><Relationship Id="rId183" Type="http://schemas.openxmlformats.org/officeDocument/2006/relationships/slide" Target="slides/slide39.xml"/><Relationship Id="rId184" Type="http://schemas.openxmlformats.org/officeDocument/2006/relationships/slide" Target="slides/slide40.xml"/><Relationship Id="rId185"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9.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 Id="rId4" Type="http://schemas.openxmlformats.org/officeDocument/2006/relationships/image" Target="../media/image249.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5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4.png"/><Relationship Id="rId4" Type="http://schemas.openxmlformats.org/officeDocument/2006/relationships/image" Target="../media/image255.png"/><Relationship Id="rId5" Type="http://schemas.openxmlformats.org/officeDocument/2006/relationships/image" Target="../media/image256.png"/><Relationship Id="rId6" Type="http://schemas.openxmlformats.org/officeDocument/2006/relationships/image" Target="../media/image25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8.png"/><Relationship Id="rId4" Type="http://schemas.openxmlformats.org/officeDocument/2006/relationships/image" Target="../media/image259.png"/><Relationship Id="rId5" Type="http://schemas.openxmlformats.org/officeDocument/2006/relationships/image" Target="../media/image260.png"/><Relationship Id="rId6" Type="http://schemas.openxmlformats.org/officeDocument/2006/relationships/image" Target="../media/image26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I-Portfolio/FinViz/Presentations/FinViz-Case-Study-Appendix.pptx" TargetMode="External"/><Relationship Id="rId3" Type="http://schemas.openxmlformats.org/officeDocument/2006/relationships/hyperlink" Target="Portfolio-Appendix-Other-Work.ppt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txBody>
          <a:bodyPr/>
          <a:p/>
        </p:txBody>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txBody>
          <a:bodyPr/>
          <a:p/>
        </p:txBody>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txBody>
          <a:bodyPr/>
          <a:p/>
        </p:txBody>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txBody>
          <a:bodyPr/>
          <a:p/>
        </p:txBody>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txBody>
          <a:bodyPr/>
          <a:p/>
        </p:txBody>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txBody>
          <a:bodyPr/>
          <a:p/>
        </p:txBody>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txBody>
          <a:bodyPr/>
          <a:p/>
        </p:txBody>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txBody>
          <a:bodyPr/>
          <a:p/>
        </p:txBody>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txBody>
          <a:bodyPr/>
          <a:p/>
        </p:txBody>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txBody>
          <a:bodyPr/>
          <a:p/>
        </p:txBody>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txBody>
          <a:bodyPr/>
          <a:p/>
        </p:txBody>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txBody>
          <a:bodyPr/>
          <a:p/>
        </p:txBody>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txBody>
          <a:bodyPr/>
          <a:p/>
        </p:txBody>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txBody>
          <a:bodyPr/>
          <a:p/>
        </p:txBody>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txBody>
          <a:bodyPr/>
          <a:p/>
        </p:txBody>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Feature today</a:t>
                      </a:r>
                    </a:p>
                  </a:txBody>
                  <a:tcPr>
                    <a:solidFill>
                      <a:srgbClr val="C45A35"/>
                    </a:solidFill>
                  </a:tcPr>
                </a:tc>
                <a:tc>
                  <a:txBody>
                    <a:bodyPr/>
                    <a:lstStyle/>
                    <a:p>
                      <a:r>
                        <a:rPr sz="1500" b="1">
                          <a:solidFill>
                            <a:srgbClr val="FFFFFF"/>
                          </a:solidFill>
                          <a:latin typeface="Helvetica Neue"/>
                        </a:rPr>
                        <a:t>Limitation</a:t>
                      </a:r>
                    </a:p>
                  </a:txBody>
                  <a:tcPr>
                    <a:solidFill>
                      <a:srgbClr val="C45A35"/>
                    </a:solidFill>
                  </a:tcPr>
                </a:tc>
              </a:tr>
              <a:tr h="822960">
                <a:tc>
                  <a:txBody>
                    <a:bodyPr/>
                    <a:lstStyle/>
                    <a:p>
                      <a:r>
                        <a:rPr sz="1600" b="1">
                          <a:solidFill>
                            <a:srgbClr val="1F1F1F"/>
                          </a:solidFill>
                          <a:latin typeface="Helvetica Neue"/>
                        </a:rPr>
                        <a:t>Robinhood</a:t>
                      </a:r>
                    </a:p>
                  </a:txBody>
                  <a:tcPr>
                    <a:solidFill>
                      <a:srgbClr val="FFFFFF"/>
                    </a:solidFill>
                  </a:tcPr>
                </a:tc>
                <a:tc>
                  <a:txBody>
                    <a:bodyPr/>
                    <a:lstStyle/>
                    <a:p>
                      <a:r>
                        <a:rPr sz="1600" b="0">
                          <a:solidFill>
                            <a:srgbClr val="1F1F1F"/>
                          </a:solidFill>
                          <a:latin typeface="Helvetica Neue Light"/>
                        </a:rPr>
                        <a:t>Price alerts that notify when a stock moves.</a:t>
                      </a:r>
                    </a:p>
                  </a:txBody>
                  <a:tcPr>
                    <a:solidFill>
                      <a:srgbClr val="FFFFFF"/>
                    </a:solidFill>
                  </a:tcPr>
                </a:tc>
                <a:tc>
                  <a:txBody>
                    <a:bodyPr/>
                    <a:lstStyle/>
                    <a:p>
                      <a:r>
                        <a:rPr sz="1600" b="0">
                          <a:solidFill>
                            <a:srgbClr val="1F1F1F"/>
                          </a:solidFill>
                          <a:latin typeface="Helvetica Neue Light"/>
                        </a:rPr>
                        <a:t>Passive and user-initiated. No pattern-based guidance.</a:t>
                      </a:r>
                    </a:p>
                  </a:txBody>
                  <a:tcPr>
                    <a:solidFill>
                      <a:srgbClr val="FFFFFF"/>
                    </a:solidFill>
                  </a:tcPr>
                </a:tc>
              </a:tr>
              <a:tr h="822960">
                <a:tc>
                  <a:txBody>
                    <a:bodyPr/>
                    <a:lstStyle/>
                    <a:p>
                      <a:r>
                        <a:rPr sz="1600" b="1">
                          <a:solidFill>
                            <a:srgbClr val="1F1F1F"/>
                          </a:solidFill>
                          <a:latin typeface="Helvetica Neue"/>
                        </a:rPr>
                        <a:t>Schwab</a:t>
                      </a:r>
                    </a:p>
                  </a:txBody>
                  <a:tcPr>
                    <a:solidFill>
                      <a:srgbClr val="FAFAFA"/>
                    </a:solidFill>
                  </a:tcPr>
                </a:tc>
                <a:tc>
                  <a:txBody>
                    <a:bodyPr/>
                    <a:lstStyle/>
                    <a:p>
                      <a:r>
                        <a:rPr sz="1600" b="0">
                          <a:solidFill>
                            <a:srgbClr val="1F1F1F"/>
                          </a:solidFill>
                          <a:latin typeface="Helvetica Neue Light"/>
                        </a:rPr>
                        <a:t>Suitability checks that warn when an order breaks a risk profile.</a:t>
                      </a:r>
                    </a:p>
                  </a:txBody>
                  <a:tcPr>
                    <a:solidFill>
                      <a:srgbClr val="FAFAFA"/>
                    </a:solidFill>
                  </a:tcPr>
                </a:tc>
                <a:tc>
                  <a:txBody>
                    <a:bodyPr/>
                    <a:lstStyle/>
                    <a:p>
                      <a:r>
                        <a:rPr sz="1600" b="0">
                          <a:solidFill>
                            <a:srgbClr val="1F1F1F"/>
                          </a:solidFill>
                          <a:latin typeface="Helvetica Neue Light"/>
                        </a:rPr>
                        <a:t>Compliance-driven. Does not learn from the user.</a:t>
                      </a:r>
                    </a:p>
                  </a:txBody>
                  <a:tcPr>
                    <a:solidFill>
                      <a:srgbClr val="FAFAFA"/>
                    </a:solidFill>
                  </a:tcPr>
                </a:tc>
              </a:tr>
              <a:tr h="822960">
                <a:tc>
                  <a:txBody>
                    <a:bodyPr/>
                    <a:lstStyle/>
                    <a:p>
                      <a:r>
                        <a:rPr sz="1600" b="1">
                          <a:solidFill>
                            <a:srgbClr val="1F1F1F"/>
                          </a:solidFill>
                          <a:latin typeface="Helvetica Neue"/>
                        </a:rPr>
                        <a:t>Wealthfront</a:t>
                      </a:r>
                    </a:p>
                  </a:txBody>
                  <a:tcPr>
                    <a:solidFill>
                      <a:srgbClr val="FFFFFF"/>
                    </a:solidFill>
                  </a:tcPr>
                </a:tc>
                <a:tc>
                  <a:txBody>
                    <a:bodyPr/>
                    <a:lstStyle/>
                    <a:p>
                      <a:r>
                        <a:rPr sz="1600" b="0">
                          <a:solidFill>
                            <a:srgbClr val="1F1F1F"/>
                          </a:solidFill>
                          <a:latin typeface="Helvetica Neue Light"/>
                        </a:rPr>
                        <a:t>Volatility score on positions.</a:t>
                      </a:r>
                    </a:p>
                  </a:txBody>
                  <a:tcPr>
                    <a:solidFill>
                      <a:srgbClr val="FFFFFF"/>
                    </a:solidFill>
                  </a:tcPr>
                </a:tc>
                <a:tc>
                  <a:txBody>
                    <a:bodyPr/>
                    <a:lstStyle/>
                    <a:p>
                      <a:r>
                        <a:rPr sz="1600" b="0">
                          <a:solidFill>
                            <a:srgbClr val="1F1F1F"/>
                          </a:solidFill>
                          <a:latin typeface="Helvetica Neue Light"/>
                        </a:rPr>
                        <a:t>Generic, not based on the user’s own pattern.</a:t>
                      </a:r>
                    </a:p>
                  </a:txBody>
                  <a:tcPr>
                    <a:solidFill>
                      <a:srgbClr val="FFFFFF"/>
                    </a:solidFill>
                  </a:tcPr>
                </a:tc>
              </a:tr>
              <a:tr h="822960">
                <a:tc>
                  <a:txBody>
                    <a:bodyPr/>
                    <a:lstStyle/>
                    <a:p>
                      <a:r>
                        <a:rPr sz="1600" b="1">
                          <a:solidFill>
                            <a:srgbClr val="1F1F1F"/>
                          </a:solidFill>
                          <a:latin typeface="Helvetica Neue"/>
                        </a:rPr>
                        <a:t>Vanguard</a:t>
                      </a:r>
                    </a:p>
                  </a:txBody>
                  <a:tcPr>
                    <a:solidFill>
                      <a:srgbClr val="FAFAFA"/>
                    </a:solidFill>
                  </a:tcPr>
                </a:tc>
                <a:tc>
                  <a:txBody>
                    <a:bodyPr/>
                    <a:lstStyle/>
                    <a:p>
                      <a:r>
                        <a:rPr sz="1600" b="0">
                          <a:solidFill>
                            <a:srgbClr val="1F1F1F"/>
                          </a:solidFill>
                          <a:latin typeface="Helvetica Neue Light"/>
                        </a:rPr>
                        <a:t>Time-based rebalancing reminders.</a:t>
                      </a:r>
                    </a:p>
                  </a:txBody>
                  <a:tcPr>
                    <a:solidFill>
                      <a:srgbClr val="FAFAFA"/>
                    </a:solidFill>
                  </a:tcPr>
                </a:tc>
                <a:tc>
                  <a:txBody>
                    <a:bodyPr/>
                    <a:lstStyle/>
                    <a:p>
                      <a:r>
                        <a:rPr sz="1600" b="0">
                          <a:solidFill>
                            <a:srgbClr val="1F1F1F"/>
                          </a:solidFill>
                          <a:latin typeface="Helvetica Neue Light"/>
                        </a:rPr>
                        <a:t>Tied to the calendar, not to the user’s behavior.</a:t>
                      </a:r>
                    </a:p>
                  </a:txBody>
                  <a:tcPr>
                    <a:solidFill>
                      <a:srgbClr val="FAFAFA"/>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txBody>
          <a:bodyPr/>
          <a:p/>
        </p:txBody>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txBody>
          <a:bodyPr/>
          <a:p/>
        </p:txBody>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txBody>
          <a:bodyPr/>
          <a:p/>
        </p:txBody>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txBody>
          <a:bodyPr/>
          <a:p/>
        </p:txBody>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txBody>
          <a:bodyPr/>
          <a:p/>
        </p:txBody>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txBody>
          <a:bodyPr/>
          <a:p/>
        </p:txBody>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txBody>
          <a:bodyPr/>
          <a:p/>
        </p:txBody>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txBody>
          <a:bodyPr/>
          <a:p/>
        </p:txBody>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txBody>
          <a:bodyPr/>
          <a:p/>
        </p:txBody>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txBody>
          <a:bodyPr/>
          <a:p/>
        </p:txBody>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20</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hi-fi wireframe states on 06- Wireframes</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txBody>
          <a:bodyPr/>
          <a:p/>
        </p:txBody>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txBody>
          <a:bodyPr/>
          <a:p/>
        </p:txBody>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20 wireframe states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Schedule the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097280"/>
            <a:ext cx="12070080" cy="914400"/>
          </a:xfrm>
          <a:prstGeom prst="rect">
            <a:avLst/>
          </a:prstGeom>
          <a:noFill/>
        </p:spPr>
        <p:txBody>
          <a:bodyPr wrap="none">
            <a:spAutoFit/>
          </a:bodyPr>
          <a:lstStyle/>
          <a:p>
            <a:r>
              <a:rPr sz="4000">
                <a:latin typeface="Helvetica Neue Light"/>
              </a:rPr>
              <a:t>Appendix</a:t>
            </a:r>
          </a:p>
        </p:txBody>
      </p:sp>
      <p:sp>
        <p:nvSpPr>
          <p:cNvPr id="3" name="TextBox 2"/>
          <p:cNvSpPr txBox="1"/>
          <p:nvPr/>
        </p:nvSpPr>
        <p:spPr>
          <a:xfrm>
            <a:off x="457200" y="2743200"/>
            <a:ext cx="12070080" cy="1097280"/>
          </a:xfrm>
          <a:prstGeom prst="rect">
            <a:avLst/>
          </a:prstGeom>
          <a:noFill/>
        </p:spPr>
        <p:txBody>
          <a:bodyPr wrap="none">
            <a:spAutoFit/>
          </a:bodyPr>
          <a:lstStyle/>
          <a:p>
            <a:r>
              <a:rPr sz="2400">
                <a:solidFill>
                  <a:srgbClr val="C45A35"/>
                </a:solidFill>
                <a:latin typeface="Helvetica Neue Light"/>
                <a:hlinkClick r:id="rId2"/>
              </a:rPr>
              <a:t>FinViz case study: full appendix (61 slides)</a:t>
            </a:r>
          </a:p>
          <a:p>
            <a:r>
              <a:rPr sz="1600">
                <a:solidFill>
                  <a:srgbClr val="595959"/>
                </a:solidFill>
                <a:latin typeface="Helvetica Neue Light"/>
              </a:rPr>
              <a:t>Concept work, hero features, lo-fi iterations, and the alerts and chart-lens journeys.</a:t>
            </a:r>
          </a:p>
        </p:txBody>
      </p:sp>
      <p:sp>
        <p:nvSpPr>
          <p:cNvPr id="4" name="TextBox 3"/>
          <p:cNvSpPr txBox="1"/>
          <p:nvPr/>
        </p:nvSpPr>
        <p:spPr>
          <a:xfrm>
            <a:off x="457200" y="4206240"/>
            <a:ext cx="12070080" cy="1097280"/>
          </a:xfrm>
          <a:prstGeom prst="rect">
            <a:avLst/>
          </a:prstGeom>
          <a:noFill/>
        </p:spPr>
        <p:txBody>
          <a:bodyPr wrap="none">
            <a:spAutoFit/>
          </a:bodyPr>
          <a:lstStyle/>
          <a:p>
            <a:r>
              <a:rPr sz="2400">
                <a:solidFill>
                  <a:srgbClr val="C45A35"/>
                </a:solidFill>
                <a:latin typeface="Helvetica Neue Light"/>
                <a:hlinkClick r:id="rId3"/>
              </a:rPr>
              <a:t>Other work: Wells Fargo</a:t>
            </a:r>
          </a:p>
          <a:p>
            <a:r>
              <a:rPr sz="1600">
                <a:solidFill>
                  <a:srgbClr val="595959"/>
                </a:solidFill>
                <a:latin typeface="Helvetica Neue Light"/>
              </a:rPr>
              <a:t>Enterprise B2B design work, with discovery, design sprints and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
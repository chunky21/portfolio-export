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542" r:id="rId172"/>
    <p:sldId id="543" r:id="rId173"/>
    <p:sldId id="546" r:id="rId164"/>
    <p:sldId id="477" r:id="rId107"/>
    <p:sldId id="478" r:id="rId108"/>
    <p:sldId id="479" r:id="rId109"/>
    <p:sldId id="480" r:id="rId110"/>
    <p:sldId id="481" r:id="rId111"/>
    <p:sldId id="482" r:id="rId112"/>
    <p:sldId id="483" r:id="rId113"/>
    <p:sldId id="484" r:id="rId114"/>
    <p:sldId id="485" r:id="rId115"/>
    <p:sldId id="486" r:id="rId116"/>
    <p:sldId id="487" r:id="rId117"/>
    <p:sldId id="544" r:id="rId162"/>
    <p:sldId id="545" r:id="rId163"/>
    <p:sldId id="488" r:id="rId118"/>
    <p:sldId id="489" r:id="rId119"/>
    <p:sldId id="490" r:id="rId120"/>
    <p:sldId id="491" r:id="rId12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56.xml"/><Relationship Id="rId88" Type="http://schemas.openxmlformats.org/officeDocument/2006/relationships/slide" Target="slides/slide15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2" Type="http://schemas.openxmlformats.org/officeDocument/2006/relationships/slide" Target="slides/slide111.xml"/><Relationship Id="rId163" Type="http://schemas.openxmlformats.org/officeDocument/2006/relationships/slide" Target="slides/slide112.xml"/><Relationship Id="rId164" Type="http://schemas.openxmlformats.org/officeDocument/2006/relationships/slide" Target="slides/slide158.xml"/><Relationship Id="rId172" Type="http://schemas.openxmlformats.org/officeDocument/2006/relationships/slide" Target="slides/slide98.xml"/><Relationship Id="rId173"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6.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 Id="rId4" Type="http://schemas.openxmlformats.org/officeDocument/2006/relationships/image" Target="../media/image152.png"/><Relationship Id="rId5" Type="http://schemas.openxmlformats.org/officeDocument/2006/relationships/image" Target="../media/image15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set the AI rules and five innovation concepts, designed the trade, AI and workflow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Set the AI rules and the five innovation concepts, each tied to a breakdown. Designed the trade, AI and workflow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five concepts and one workflow for testing,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WIREFRAMES</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Lo-fi first: the trade flow before the look</a:t>
            </a:r>
            <a:endParaRPr lang="en-US" sz="3000" dirty="0"/>
          </a:p>
        </p:txBody>
      </p:sp>
      <p:pic>
        <p:nvPicPr>
          <p:cNvPr id="4" name="Picture 3" descr="image.png"/>
          <p:cNvPicPr>
            <a:picLocks noChangeAspect="1"/>
          </p:cNvPicPr>
          <p:nvPr/>
        </p:nvPicPr>
        <p:blipFill>
          <a:blip r:embed="rId2"/>
          <a:stretch>
            <a:fillRect/>
          </a:stretch>
        </p:blipFill>
        <p:spPr>
          <a:xfrm>
            <a:off x="0" y="9299448"/>
            <a:ext cx="13002768" cy="457200"/>
          </a:xfrm>
          <a:prstGeom prst="rect">
            <a:avLst/>
          </a:prstGeom>
        </p:spPr>
      </p:pic>
      <p:sp>
        <p:nvSpPr>
          <p:cNvPr id="5" name="Text 2"/>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6" name="Picture 5" descr="image.png"/>
          <p:cNvPicPr>
            <a:picLocks noChangeAspect="1"/>
          </p:cNvPicPr>
          <p:nvPr/>
        </p:nvPicPr>
        <p:blipFill>
          <a:blip r:embed="rId3"/>
          <a:stretch>
            <a:fillRect/>
          </a:stretch>
        </p:blipFill>
        <p:spPr>
          <a:xfrm>
            <a:off x="548640" y="2103120"/>
            <a:ext cx="5486400" cy="2696705"/>
          </a:xfrm>
          <a:prstGeom prst="rect">
            <a:avLst/>
          </a:prstGeom>
        </p:spPr>
      </p:pic>
      <p:sp>
        <p:nvSpPr>
          <p:cNvPr id="7" name="Text 3"/>
          <p:cNvSpPr/>
          <p:nvPr/>
        </p:nvSpPr>
        <p:spPr>
          <a:xfrm>
            <a:off x="6583680" y="2103120"/>
            <a:ext cx="585216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8" name="Text 4"/>
          <p:cNvSpPr/>
          <p:nvPr/>
        </p:nvSpPr>
        <p:spPr>
          <a:xfrm>
            <a:off x="6583680" y="243230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The trade flow had to hold together first: steps, choices, and where approval sits. Light, sketch-level screens tested that structure.</a:t>
            </a:r>
            <a:endParaRPr lang="en-US" sz="1400" dirty="0"/>
          </a:p>
        </p:txBody>
      </p:sp>
      <p:sp>
        <p:nvSpPr>
          <p:cNvPr id="9" name="Text 5"/>
          <p:cNvSpPr/>
          <p:nvPr/>
        </p:nvSpPr>
        <p:spPr>
          <a:xfrm>
            <a:off x="6583680" y="4572000"/>
            <a:ext cx="585216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0" name="Text 6"/>
          <p:cNvSpPr/>
          <p:nvPr/>
        </p:nvSpPr>
        <p:spPr>
          <a:xfrm>
            <a:off x="6583680" y="4901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No colour or type decisions yet. Home, order entry, and review were shown with the approval point visible on each step.</a:t>
            </a:r>
            <a:endParaRPr lang="en-US" sz="1400" dirty="0"/>
          </a:p>
        </p:txBody>
      </p:sp>
      <p:sp>
        <p:nvSpPr>
          <p:cNvPr id="11" name="Text 7"/>
          <p:cNvSpPr/>
          <p:nvPr/>
        </p:nvSpPr>
        <p:spPr>
          <a:xfrm>
            <a:off x="6583680" y="6858000"/>
            <a:ext cx="585216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2" name="Text 8"/>
          <p:cNvSpPr/>
          <p:nvPr/>
        </p:nvSpPr>
        <p:spPr>
          <a:xfrm>
            <a:off x="6583680" y="7187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I settled the structure before the styling, so the team reviewed the flow itself, not the look.</a:t>
            </a:r>
            <a:endParaRPr lang="en-US" sz="14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WIREFRAMES</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Hi-fi: the same flow in the design system</a:t>
            </a:r>
            <a:endParaRPr lang="en-US" sz="3000" dirty="0"/>
          </a:p>
        </p:txBody>
      </p:sp>
      <p:pic>
        <p:nvPicPr>
          <p:cNvPr id="4" name="Picture 3" descr="image.png"/>
          <p:cNvPicPr>
            <a:picLocks noChangeAspect="1"/>
          </p:cNvPicPr>
          <p:nvPr/>
        </p:nvPicPr>
        <p:blipFill>
          <a:blip r:embed="rId2"/>
          <a:stretch>
            <a:fillRect/>
          </a:stretch>
        </p:blipFill>
        <p:spPr>
          <a:xfrm>
            <a:off x="0" y="9299448"/>
            <a:ext cx="13002768" cy="457200"/>
          </a:xfrm>
          <a:prstGeom prst="rect">
            <a:avLst/>
          </a:prstGeom>
        </p:spPr>
      </p:pic>
      <p:sp>
        <p:nvSpPr>
          <p:cNvPr id="5" name="Text 2"/>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6" name="Picture 5" descr="image.png"/>
          <p:cNvPicPr>
            <a:picLocks noChangeAspect="1"/>
          </p:cNvPicPr>
          <p:nvPr/>
        </p:nvPicPr>
        <p:blipFill>
          <a:blip r:embed="rId3"/>
          <a:stretch>
            <a:fillRect/>
          </a:stretch>
        </p:blipFill>
        <p:spPr>
          <a:xfrm>
            <a:off x="548640" y="2103120"/>
            <a:ext cx="5486400" cy="3947050"/>
          </a:xfrm>
          <a:prstGeom prst="rect">
            <a:avLst/>
          </a:prstGeom>
        </p:spPr>
      </p:pic>
      <p:sp>
        <p:nvSpPr>
          <p:cNvPr id="7" name="Text 3"/>
          <p:cNvSpPr/>
          <p:nvPr/>
        </p:nvSpPr>
        <p:spPr>
          <a:xfrm>
            <a:off x="6583680" y="2103120"/>
            <a:ext cx="585216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8" name="Text 4"/>
          <p:cNvSpPr/>
          <p:nvPr/>
        </p:nvSpPr>
        <p:spPr>
          <a:xfrm>
            <a:off x="6583680" y="243230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A structure that works on paper can still fail on screen: contrast, density, and the advice wording all need checking.</a:t>
            </a:r>
            <a:endParaRPr lang="en-US" sz="1400" dirty="0"/>
          </a:p>
        </p:txBody>
      </p:sp>
      <p:sp>
        <p:nvSpPr>
          <p:cNvPr id="9" name="Text 5"/>
          <p:cNvSpPr/>
          <p:nvPr/>
        </p:nvSpPr>
        <p:spPr>
          <a:xfrm>
            <a:off x="6583680" y="4572000"/>
            <a:ext cx="585216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0" name="Text 6"/>
          <p:cNvSpPr/>
          <p:nvPr/>
        </p:nvSpPr>
        <p:spPr>
          <a:xfrm>
            <a:off x="6583680" y="4901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The same flows in the design system: dark surfaces, the action colour, icon-and-word status, and proposed-step wording.</a:t>
            </a:r>
            <a:endParaRPr lang="en-US" sz="1400" dirty="0"/>
          </a:p>
        </p:txBody>
      </p:sp>
      <p:sp>
        <p:nvSpPr>
          <p:cNvPr id="11" name="Text 7"/>
          <p:cNvSpPr/>
          <p:nvPr/>
        </p:nvSpPr>
        <p:spPr>
          <a:xfrm>
            <a:off x="6583680" y="6858000"/>
            <a:ext cx="585216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2" name="Text 8"/>
          <p:cNvSpPr/>
          <p:nvPr/>
        </p:nvSpPr>
        <p:spPr>
          <a:xfrm>
            <a:off x="6583680" y="7187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Every hi-fi screen was checked against the design rules, so each one shows its source and status.</a:t>
            </a:r>
            <a:endParaRPr lang="en-US" sz="14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3" name="Picture 12"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15" name="Picture 14" descr="image.png"/>
          <p:cNvPicPr>
            <a:picLocks noChangeAspect="1"/>
          </p:cNvPicPr>
          <p:nvPr/>
        </p:nvPicPr>
        <p:blipFill>
          <a:blip r:embed="rId5"/>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 FLOW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AI flow, as the board now writes it</a:t>
            </a:r>
          </a:p>
        </p:txBody>
      </p:sp>
      <p:pic>
        <p:nvPicPr>
          <p:cNvPr id="5" name="Picture 4" descr="figjam_workflows.png"/>
          <p:cNvPicPr>
            <a:picLocks noChangeAspect="1"/>
          </p:cNvPicPr>
          <p:nvPr/>
        </p:nvPicPr>
        <p:blipFill>
          <a:blip r:embed="rId3"/>
          <a:stretch>
            <a:fillRect/>
          </a:stretch>
        </p:blipFill>
        <p:spPr>
          <a:xfrm>
            <a:off x="822960" y="2103120"/>
            <a:ext cx="5427194"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AI flow is one dashboard leading to four steps: Insight, Prospect, Guard, and Adapt. Each step is a choice the user makes.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is where the advice rule is most at risk. Its wording must read as proposed steps, not buy or sell advice.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found agent wording that broke the advice rule and changed it on the board, so the flow and the rule agree.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The AI advancements, from breakdown to test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Each row links a breakdown to the concept that answers it, the workflow step where it shows, and what is drawn today.</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905488" cy="914400"/>
        </p:xfrm>
        <a:graphic>
          <a:graphicData uri="http://schemas.openxmlformats.org/drawingml/2006/table">
            <a:tbl>
              <a:tblPr/>
              <a:tblGrid>
                <a:gridCol w="2743200"/>
                <a:gridCol w="2743200"/>
                <a:gridCol w="3749040"/>
                <a:gridCol w="2103120"/>
              </a:tblGrid>
              <a:tr h="0">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BREAKDOWN</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ADVANCEMENT</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WHERE IT SHOWS IN THE WORKFLOW</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STATUS</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1 · Outputs without reasoning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Scenario Sandbox</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1 and 2: source on each insight; the condition the user sets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Insight with source drawn; sandbox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2 · All or nothing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Plan Editor and Autonomy Ledger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each proposed step is editable; Act is opt-in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Adapt plan drawn; ledger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3 · No learning loop</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 and Attention Budget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is kept and re-checked</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4 · Advice line in conflict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Proposed-step wording and the Autonomy Ledger limits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wording and limits on every screen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Wording fix on the board; compliance review open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5 · Context lost between screens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travels with the order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Full experience drawn; reason field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
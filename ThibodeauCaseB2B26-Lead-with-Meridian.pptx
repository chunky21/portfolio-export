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4.xml" ContentType="application/vnd.openxmlformats-officedocument.presentationml.notesSlide+xml"/>
  <Override PartName="/ppt/notesSlides/notesSlide3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9"/>
  </p:notesMasterIdLst>
  <p:sldIdLst>
    <p:sldId id="256" r:id="rId2"/>
    <p:sldId id="445" r:id="rId3"/>
    <p:sldId id="336" r:id="rId4"/>
    <p:sldId id="555" r:id="rId36"/>
    <p:sldId id="556" r:id="rId35"/>
    <p:sldId id="557" r:id="rId34"/>
    <p:sldId id="558" r:id="rId33"/>
    <p:sldId id="559" r:id="rId32"/>
    <p:sldId id="560" r:id="rId31"/>
    <p:sldId id="561" r:id="rId30"/>
    <p:sldId id="562" r:id="rId94"/>
    <p:sldId id="563" r:id="rId95"/>
    <p:sldId id="564" r:id="rId29"/>
    <p:sldId id="565" r:id="rId28"/>
    <p:sldId id="566" r:id="rId27"/>
    <p:sldId id="567" r:id="rId99"/>
    <p:sldId id="568" r:id="rId26"/>
    <p:sldId id="569" r:id="rId101"/>
    <p:sldId id="570" r:id="rId102"/>
    <p:sldId id="571" r:id="rId103"/>
    <p:sldId id="572" r:id="rId25"/>
    <p:sldId id="573" r:id="rId24"/>
    <p:sldId id="574" r:id="rId106"/>
    <p:sldId id="575" r:id="rId107"/>
    <p:sldId id="576" r:id="rId108"/>
    <p:sldId id="313" r:id="rId37"/>
    <p:sldId id="314" r:id="rId38"/>
    <p:sldId id="315" r:id="rId39"/>
    <p:sldId id="316" r:id="rId40"/>
    <p:sldId id="317" r:id="rId41"/>
    <p:sldId id="318" r:id="rId42"/>
    <p:sldId id="321" r:id="rId43"/>
    <p:sldId id="322" r:id="rId44"/>
    <p:sldId id="323" r:id="rId45"/>
    <p:sldId id="458" r:id="rId46"/>
    <p:sldId id="324" r:id="rId47"/>
    <p:sldId id="326" r:id="rId48"/>
    <p:sldId id="328" r:id="rId49"/>
    <p:sldId id="330" r:id="rId50"/>
    <p:sldId id="332" r:id="rId51"/>
    <p:sldId id="334" r:id="rId52"/>
    <p:sldId id="448" r:id="rId53"/>
    <p:sldId id="451" r:id="rId54"/>
    <p:sldId id="459" r:id="rId55"/>
    <p:sldId id="257" r:id="rId56"/>
    <p:sldId id="258" r:id="rId57"/>
    <p:sldId id="259" r:id="rId58"/>
    <p:sldId id="260" r:id="rId59"/>
    <p:sldId id="263" r:id="rId60"/>
    <p:sldId id="265" r:id="rId61"/>
    <p:sldId id="266" r:id="rId62"/>
    <p:sldId id="269" r:id="rId63"/>
    <p:sldId id="270" r:id="rId64"/>
    <p:sldId id="271" r:id="rId65"/>
    <p:sldId id="272" r:id="rId66"/>
    <p:sldId id="273" r:id="rId67"/>
    <p:sldId id="460" r:id="rId68"/>
    <p:sldId id="449" r:id="rId69"/>
    <p:sldId id="452" r:id="rId70"/>
    <p:sldId id="461" r:id="rId71"/>
    <p:sldId id="292" r:id="rId72"/>
    <p:sldId id="293" r:id="rId73"/>
    <p:sldId id="294" r:id="rId74"/>
    <p:sldId id="295" r:id="rId75"/>
    <p:sldId id="297" r:id="rId76"/>
    <p:sldId id="298" r:id="rId77"/>
    <p:sldId id="301" r:id="rId78"/>
    <p:sldId id="302" r:id="rId79"/>
    <p:sldId id="305" r:id="rId80"/>
    <p:sldId id="306" r:id="rId81"/>
    <p:sldId id="310" r:id="rId82"/>
    <p:sldId id="462" r:id="rId83"/>
    <p:sldId id="450" r:id="rId84"/>
    <p:sldId id="312" r:id="rId85"/>
    <p:sldId id="463" r:id="rId86"/>
    <p:sldId id="466" r:id="rId96"/>
    <p:sldId id="467" r:id="rId97"/>
    <p:sldId id="468" r:id="rId98"/>
    <p:sldId id="470" r:id="rId100"/>
    <p:sldId id="474" r:id="rId104"/>
    <p:sldId id="475" r:id="rId105"/>
    <p:sldId id="542" r:id="rId172"/>
    <p:sldId id="554" r:id="rId123"/>
    <p:sldId id="543" r:id="rId173"/>
    <p:sldId id="546" r:id="rId164"/>
    <p:sldId id="551" r:id="rId169"/>
    <p:sldId id="552" r:id="rId170"/>
    <p:sldId id="547" r:id="rId165"/>
    <p:sldId id="550" r:id="rId168"/>
    <p:sldId id="479" r:id="rId109"/>
    <p:sldId id="480" r:id="rId110"/>
    <p:sldId id="482" r:id="rId112"/>
    <p:sldId id="485" r:id="rId115"/>
    <p:sldId id="487" r:id="rId117"/>
    <p:sldId id="488" r:id="rId118"/>
    <p:sldId id="553" r:id="rId171"/>
    <p:sldId id="492" r:id="rId122"/>
    <p:sldId id="495" r:id="rId125"/>
    <p:sldId id="525" r:id="rId155"/>
    <p:sldId id="530" r:id="rId160"/>
    <p:sldId id="444" r:id="rId87"/>
    <p:sldId id="335" r:id="rId88"/>
  </p:sldIdLst>
  <p:sldSz cx="13004800" cy="97536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7ACFFF"/>
    <a:srgbClr val="FF6600"/>
    <a:srgbClr val="99C9FF"/>
    <a:srgbClr val="41587E"/>
    <a:srgbClr val="2F7D72"/>
    <a:srgbClr val="483176"/>
    <a:srgbClr val="78202A"/>
    <a:srgbClr val="703596"/>
    <a:srgbClr val="397D72"/>
    <a:srgbClr val="80202A"/>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731"/>
    <p:restoredTop sz="94658"/>
  </p:normalViewPr>
  <p:slideViewPr>
    <p:cSldViewPr snapToGrid="0" snapToObjects="1">
      <p:cViewPr varScale="1">
        <p:scale>
          <a:sx n="84" d="100"/>
          <a:sy n="84" d="100"/>
        </p:scale>
        <p:origin x="2224" y="20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24" Type="http://schemas.openxmlformats.org/officeDocument/2006/relationships/slide" Target="slides/slide99.xml"/><Relationship Id="rId25" Type="http://schemas.openxmlformats.org/officeDocument/2006/relationships/slide" Target="slides/slide98.xml"/><Relationship Id="rId26" Type="http://schemas.openxmlformats.org/officeDocument/2006/relationships/slide" Target="slides/slide94.xml"/><Relationship Id="rId27" Type="http://schemas.openxmlformats.org/officeDocument/2006/relationships/slide" Target="slides/slide92.xml"/><Relationship Id="rId28" Type="http://schemas.openxmlformats.org/officeDocument/2006/relationships/slide" Target="slides/slide91.xml"/><Relationship Id="rId29" Type="http://schemas.openxmlformats.org/officeDocument/2006/relationships/slide" Target="slides/slide90.xml"/><Relationship Id="rId30" Type="http://schemas.openxmlformats.org/officeDocument/2006/relationships/slide" Target="slides/slide87.xml"/><Relationship Id="rId31" Type="http://schemas.openxmlformats.org/officeDocument/2006/relationships/slide" Target="slides/slide86.xml"/><Relationship Id="rId32" Type="http://schemas.openxmlformats.org/officeDocument/2006/relationships/slide" Target="slides/slide85.xml"/><Relationship Id="rId33" Type="http://schemas.openxmlformats.org/officeDocument/2006/relationships/slide" Target="slides/slide84.xml"/><Relationship Id="rId34" Type="http://schemas.openxmlformats.org/officeDocument/2006/relationships/slide" Target="slides/slide83.xml"/><Relationship Id="rId35" Type="http://schemas.openxmlformats.org/officeDocument/2006/relationships/slide" Target="slides/slide82.xml"/><Relationship Id="rId36" Type="http://schemas.openxmlformats.org/officeDocument/2006/relationships/slide" Target="slides/slide81.xml"/><Relationship Id="rId37" Type="http://schemas.openxmlformats.org/officeDocument/2006/relationships/slide" Target="slides/slide4.xml"/><Relationship Id="rId38" Type="http://schemas.openxmlformats.org/officeDocument/2006/relationships/slide" Target="slides/slide5.xml"/><Relationship Id="rId39" Type="http://schemas.openxmlformats.org/officeDocument/2006/relationships/slide" Target="slides/slide6.xml"/><Relationship Id="rId40" Type="http://schemas.openxmlformats.org/officeDocument/2006/relationships/slide" Target="slides/slide7.xml"/><Relationship Id="rId41" Type="http://schemas.openxmlformats.org/officeDocument/2006/relationships/slide" Target="slides/slide8.xml"/><Relationship Id="rId42" Type="http://schemas.openxmlformats.org/officeDocument/2006/relationships/slide" Target="slides/slide9.xml"/><Relationship Id="rId43" Type="http://schemas.openxmlformats.org/officeDocument/2006/relationships/slide" Target="slides/slide10.xml"/><Relationship Id="rId44" Type="http://schemas.openxmlformats.org/officeDocument/2006/relationships/slide" Target="slides/slide11.xml"/><Relationship Id="rId45" Type="http://schemas.openxmlformats.org/officeDocument/2006/relationships/slide" Target="slides/slide12.xml"/><Relationship Id="rId46" Type="http://schemas.openxmlformats.org/officeDocument/2006/relationships/slide" Target="slides/slide13.xml"/><Relationship Id="rId47" Type="http://schemas.openxmlformats.org/officeDocument/2006/relationships/slide" Target="slides/slide14.xml"/><Relationship Id="rId48" Type="http://schemas.openxmlformats.org/officeDocument/2006/relationships/slide" Target="slides/slide15.xml"/><Relationship Id="rId49" Type="http://schemas.openxmlformats.org/officeDocument/2006/relationships/slide" Target="slides/slide16.xml"/><Relationship Id="rId50" Type="http://schemas.openxmlformats.org/officeDocument/2006/relationships/slide" Target="slides/slide17.xml"/><Relationship Id="rId51" Type="http://schemas.openxmlformats.org/officeDocument/2006/relationships/slide" Target="slides/slide18.xml"/><Relationship Id="rId52" Type="http://schemas.openxmlformats.org/officeDocument/2006/relationships/slide" Target="slides/slide19.xml"/><Relationship Id="rId53" Type="http://schemas.openxmlformats.org/officeDocument/2006/relationships/slide" Target="slides/slide20.xml"/><Relationship Id="rId54" Type="http://schemas.openxmlformats.org/officeDocument/2006/relationships/slide" Target="slides/slide21.xml"/><Relationship Id="rId55" Type="http://schemas.openxmlformats.org/officeDocument/2006/relationships/slide" Target="slides/slide22.xml"/><Relationship Id="rId56" Type="http://schemas.openxmlformats.org/officeDocument/2006/relationships/slide" Target="slides/slide23.xml"/><Relationship Id="rId57" Type="http://schemas.openxmlformats.org/officeDocument/2006/relationships/slide" Target="slides/slide24.xml"/><Relationship Id="rId58" Type="http://schemas.openxmlformats.org/officeDocument/2006/relationships/slide" Target="slides/slide25.xml"/><Relationship Id="rId59" Type="http://schemas.openxmlformats.org/officeDocument/2006/relationships/slide" Target="slides/slide26.xml"/><Relationship Id="rId60" Type="http://schemas.openxmlformats.org/officeDocument/2006/relationships/slide" Target="slides/slide27.xml"/><Relationship Id="rId61" Type="http://schemas.openxmlformats.org/officeDocument/2006/relationships/slide" Target="slides/slide28.xml"/><Relationship Id="rId62" Type="http://schemas.openxmlformats.org/officeDocument/2006/relationships/slide" Target="slides/slide29.xml"/><Relationship Id="rId63" Type="http://schemas.openxmlformats.org/officeDocument/2006/relationships/slide" Target="slides/slide30.xml"/><Relationship Id="rId64" Type="http://schemas.openxmlformats.org/officeDocument/2006/relationships/slide" Target="slides/slide31.xml"/><Relationship Id="rId65" Type="http://schemas.openxmlformats.org/officeDocument/2006/relationships/slide" Target="slides/slide32.xml"/><Relationship Id="rId66" Type="http://schemas.openxmlformats.org/officeDocument/2006/relationships/slide" Target="slides/slide33.xml"/><Relationship Id="rId67" Type="http://schemas.openxmlformats.org/officeDocument/2006/relationships/slide" Target="slides/slide34.xml"/><Relationship Id="rId68" Type="http://schemas.openxmlformats.org/officeDocument/2006/relationships/slide" Target="slides/slide35.xml"/><Relationship Id="rId69" Type="http://schemas.openxmlformats.org/officeDocument/2006/relationships/slide" Target="slides/slide36.xml"/><Relationship Id="rId70" Type="http://schemas.openxmlformats.org/officeDocument/2006/relationships/slide" Target="slides/slide37.xml"/><Relationship Id="rId71" Type="http://schemas.openxmlformats.org/officeDocument/2006/relationships/slide" Target="slides/slide38.xml"/><Relationship Id="rId72" Type="http://schemas.openxmlformats.org/officeDocument/2006/relationships/slide" Target="slides/slide39.xml"/><Relationship Id="rId73" Type="http://schemas.openxmlformats.org/officeDocument/2006/relationships/slide" Target="slides/slide40.xml"/><Relationship Id="rId74" Type="http://schemas.openxmlformats.org/officeDocument/2006/relationships/slide" Target="slides/slide41.xml"/><Relationship Id="rId75" Type="http://schemas.openxmlformats.org/officeDocument/2006/relationships/slide" Target="slides/slide42.xml"/><Relationship Id="rId76" Type="http://schemas.openxmlformats.org/officeDocument/2006/relationships/slide" Target="slides/slide43.xml"/><Relationship Id="rId77" Type="http://schemas.openxmlformats.org/officeDocument/2006/relationships/slide" Target="slides/slide44.xml"/><Relationship Id="rId78" Type="http://schemas.openxmlformats.org/officeDocument/2006/relationships/slide" Target="slides/slide45.xml"/><Relationship Id="rId79" Type="http://schemas.openxmlformats.org/officeDocument/2006/relationships/slide" Target="slides/slide46.xml"/><Relationship Id="rId80" Type="http://schemas.openxmlformats.org/officeDocument/2006/relationships/slide" Target="slides/slide47.xml"/><Relationship Id="rId81" Type="http://schemas.openxmlformats.org/officeDocument/2006/relationships/slide" Target="slides/slide48.xml"/><Relationship Id="rId82" Type="http://schemas.openxmlformats.org/officeDocument/2006/relationships/slide" Target="slides/slide49.xml"/><Relationship Id="rId83" Type="http://schemas.openxmlformats.org/officeDocument/2006/relationships/slide" Target="slides/slide50.xml"/><Relationship Id="rId84" Type="http://schemas.openxmlformats.org/officeDocument/2006/relationships/slide" Target="slides/slide51.xml"/><Relationship Id="rId85" Type="http://schemas.openxmlformats.org/officeDocument/2006/relationships/slide" Target="slides/slide52.xml"/><Relationship Id="rId86" Type="http://schemas.openxmlformats.org/officeDocument/2006/relationships/slide" Target="slides/slide53.xml"/><Relationship Id="rId87" Type="http://schemas.openxmlformats.org/officeDocument/2006/relationships/slide" Target="slides/slide79.xml"/><Relationship Id="rId88" Type="http://schemas.openxmlformats.org/officeDocument/2006/relationships/slide" Target="slides/slide80.xml"/><Relationship Id="rId89" Type="http://schemas.openxmlformats.org/officeDocument/2006/relationships/notesMaster" Target="notesMasters/notesMaster1.xml"/><Relationship Id="rId90" Type="http://schemas.openxmlformats.org/officeDocument/2006/relationships/presProps" Target="presProps.xml"/><Relationship Id="rId91" Type="http://schemas.openxmlformats.org/officeDocument/2006/relationships/viewProps" Target="viewProps.xml"/><Relationship Id="rId92" Type="http://schemas.openxmlformats.org/officeDocument/2006/relationships/theme" Target="theme/theme1.xml"/><Relationship Id="rId93" Type="http://schemas.openxmlformats.org/officeDocument/2006/relationships/tableStyles" Target="tableStyles.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54.xml"/><Relationship Id="rId97" Type="http://schemas.openxmlformats.org/officeDocument/2006/relationships/slide" Target="slides/slide55.xml"/><Relationship Id="rId98" Type="http://schemas.openxmlformats.org/officeDocument/2006/relationships/slide" Target="slides/slide56.xml"/><Relationship Id="rId99" Type="http://schemas.openxmlformats.org/officeDocument/2006/relationships/slide" Target="slides/slide93.xml"/><Relationship Id="rId100" Type="http://schemas.openxmlformats.org/officeDocument/2006/relationships/slide" Target="slides/slide57.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58.xml"/><Relationship Id="rId105" Type="http://schemas.openxmlformats.org/officeDocument/2006/relationships/slide" Target="slides/slide5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68.xml"/><Relationship Id="rId110" Type="http://schemas.openxmlformats.org/officeDocument/2006/relationships/slide" Target="slides/slide69.xml"/><Relationship Id="rId112" Type="http://schemas.openxmlformats.org/officeDocument/2006/relationships/slide" Target="slides/slide70.xml"/><Relationship Id="rId115" Type="http://schemas.openxmlformats.org/officeDocument/2006/relationships/slide" Target="slides/slide71.xml"/><Relationship Id="rId117" Type="http://schemas.openxmlformats.org/officeDocument/2006/relationships/slide" Target="slides/slide72.xml"/><Relationship Id="rId118" Type="http://schemas.openxmlformats.org/officeDocument/2006/relationships/slide" Target="slides/slide73.xml"/><Relationship Id="rId122" Type="http://schemas.openxmlformats.org/officeDocument/2006/relationships/slide" Target="slides/slide75.xml"/><Relationship Id="rId123" Type="http://schemas.openxmlformats.org/officeDocument/2006/relationships/slide" Target="slides/slide61.xml"/><Relationship Id="rId125" Type="http://schemas.openxmlformats.org/officeDocument/2006/relationships/slide" Target="slides/slide76.xml"/><Relationship Id="rId155" Type="http://schemas.openxmlformats.org/officeDocument/2006/relationships/slide" Target="slides/slide77.xml"/><Relationship Id="rId160" Type="http://schemas.openxmlformats.org/officeDocument/2006/relationships/slide" Target="slides/slide78.xml"/><Relationship Id="rId164" Type="http://schemas.openxmlformats.org/officeDocument/2006/relationships/slide" Target="slides/slide63.xml"/><Relationship Id="rId165" Type="http://schemas.openxmlformats.org/officeDocument/2006/relationships/slide" Target="slides/slide66.xml"/><Relationship Id="rId168" Type="http://schemas.openxmlformats.org/officeDocument/2006/relationships/slide" Target="slides/slide67.xml"/><Relationship Id="rId169" Type="http://schemas.openxmlformats.org/officeDocument/2006/relationships/slide" Target="slides/slide64.xml"/><Relationship Id="rId170" Type="http://schemas.openxmlformats.org/officeDocument/2006/relationships/slide" Target="slides/slide65.xml"/><Relationship Id="rId171" Type="http://schemas.openxmlformats.org/officeDocument/2006/relationships/slide" Target="slides/slide74.xml"/><Relationship Id="rId172" Type="http://schemas.openxmlformats.org/officeDocument/2006/relationships/slide" Target="slides/slide60.xml"/><Relationship Id="rId173" Type="http://schemas.openxmlformats.org/officeDocument/2006/relationships/slide" Target="slides/slide6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B164DF-5A26-5349-97CB-5F6E935D3C02}" type="datetimeFigureOut">
              <a:rPr lang="en-US" smtClean="0"/>
              <a:t>10/13/26</a:t>
            </a:fld>
            <a:endParaRPr lang="en-US" dirty="0"/>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58DF791-86A3-344B-9231-BE94FBB68C8C}" type="slidenum">
              <a:rPr lang="en-US" smtClean="0"/>
              <a:t>‹#›</a:t>
            </a:fld>
            <a:endParaRPr lang="en-US" dirty="0"/>
          </a:p>
        </p:txBody>
      </p:sp>
    </p:spTree>
    <p:extLst>
      <p:ext uri="{BB962C8B-B14F-4D97-AF65-F5344CB8AC3E}">
        <p14:creationId xmlns:p14="http://schemas.microsoft.com/office/powerpoint/2010/main" val="194044183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Opener in the portfolio format. Concept-stage work; screens are illustrative with fictional tickers. The quote paraphrases reviewer point R3 from the 30 Sept design review.</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58DF791-86A3-344B-9231-BE94FBB68C8C}" type="slidenum">
              <a:rPr lang="en-US" smtClean="0"/>
              <a:t>43</a:t>
            </a:fld>
            <a:endParaRPr lang="en-US" dirty="0"/>
          </a:p>
        </p:txBody>
      </p:sp>
    </p:spTree>
    <p:extLst>
      <p:ext uri="{BB962C8B-B14F-4D97-AF65-F5344CB8AC3E}">
        <p14:creationId xmlns:p14="http://schemas.microsoft.com/office/powerpoint/2010/main" val="25326779"/>
      </p:ext>
    </p:extLst>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Opener in the portfolio format. Concept-stage work; screens are illustrative with fictional tickers. The quote paraphrases reviewer point R3 from the 30 Sept design review.</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Page">
    <p:bg>
      <p:bgPr>
        <a:solidFill>
          <a:srgbClr val="FFFFFF"/>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149944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Divider">
    <p:bg>
      <p:bgPr>
        <a:solidFill>
          <a:srgbClr val="C45A35"/>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439989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10/13/26</a:t>
            </a:fld>
            <a:endParaRPr lang="en-US" dirty="0"/>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dirty="0"/>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jpg"/><Relationship Id="rId3" Type="http://schemas.openxmlformats.org/officeDocument/2006/relationships/image" Target="../media/image31.jpg"/><Relationship Id="rId4" Type="http://schemas.openxmlformats.org/officeDocument/2006/relationships/image" Target="../media/image32.jpg"/><Relationship Id="rId5" Type="http://schemas.openxmlformats.org/officeDocument/2006/relationships/image" Target="../media/image33.jpg"/><Relationship Id="rId6" Type="http://schemas.openxmlformats.org/officeDocument/2006/relationships/image" Target="../media/image34.jpg"/><Relationship Id="rId7" Type="http://schemas.openxmlformats.org/officeDocument/2006/relationships/image" Target="../media/image35.jpg"/><Relationship Id="rId8" Type="http://schemas.openxmlformats.org/officeDocument/2006/relationships/image" Target="../media/image36.jpg"/><Relationship Id="rId9" Type="http://schemas.openxmlformats.org/officeDocument/2006/relationships/image" Target="../media/image37.jpg"/><Relationship Id="rId10" Type="http://schemas.openxmlformats.org/officeDocument/2006/relationships/image" Target="../media/image38.jpg"/><Relationship Id="rId11" Type="http://schemas.openxmlformats.org/officeDocument/2006/relationships/image" Target="../media/image39.jpg"/><Relationship Id="rId12" Type="http://schemas.openxmlformats.org/officeDocument/2006/relationships/image" Target="../media/image40.jpg"/><Relationship Id="rId13" Type="http://schemas.openxmlformats.org/officeDocument/2006/relationships/image" Target="../media/image41.jpg"/><Relationship Id="rId14" Type="http://schemas.openxmlformats.org/officeDocument/2006/relationships/image" Target="../media/image42.jpg"/><Relationship Id="rId15" Type="http://schemas.openxmlformats.org/officeDocument/2006/relationships/image" Target="../media/image43.jpg"/><Relationship Id="rId16" Type="http://schemas.openxmlformats.org/officeDocument/2006/relationships/hyperlink" Target="https://www.figma.com/proto/vZrnrHgaWOOgf1fIzX9sBy?node-id=1-2&amp;starting-point-node-id=1%3A2&amp;page-id=0%3A1&amp;scaling=scale-down" TargetMode="External"/><Relationship Id="rId17"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image" Target="../media/image47.png"/><Relationship Id="rId6" Type="http://schemas.openxmlformats.org/officeDocument/2006/relationships/image" Target="../media/image48.png"/><Relationship Id="rId7"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image" Target="../media/image51.png"/><Relationship Id="rId4"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image" Target="../media/image54.png"/><Relationship Id="rId4" Type="http://schemas.openxmlformats.org/officeDocument/2006/relationships/image" Target="../media/image55.png"/><Relationship Id="rId5"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hyperlink" Target="https://www.figma.com/proto/vZrnrHgaWOOgf1fIzX9sBy?node-id=1-2&amp;starting-point-node-id=1%3A2&amp;page-id=0%3A1&amp;scaling=scale-down" TargetMode="External"/><Relationship Id="rId3" Type="http://schemas.openxmlformats.org/officeDocument/2006/relationships/image" Target="../media/image30.jpg"/><Relationship Id="rId4" Type="http://schemas.openxmlformats.org/officeDocument/2006/relationships/image" Target="../media/image2.png"/><Relationship Id="rId5" Type="http://schemas.openxmlformats.org/officeDocument/2006/relationships/hyperlink" Target="https://www.figma.com/proto/vZrnrHgaWOOgf1fIzX9sBy?node-id=5-2&amp;starting-point-node-id=5%3A2&amp;page-id=0%3A1&amp;scaling=scale-down"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image" Target="../media/image61.png"/><Relationship Id="rId6" Type="http://schemas.openxmlformats.org/officeDocument/2006/relationships/image" Target="../media/image62.png"/><Relationship Id="rId7" Type="http://schemas.openxmlformats.org/officeDocument/2006/relationships/image" Target="../media/image63.png"/><Relationship Id="rId8" Type="http://schemas.openxmlformats.org/officeDocument/2006/relationships/image" Target="../media/image64.png"/><Relationship Id="rId9" Type="http://schemas.openxmlformats.org/officeDocument/2006/relationships/image" Target="../media/image65.png"/><Relationship Id="rId10" Type="http://schemas.openxmlformats.org/officeDocument/2006/relationships/image" Target="../media/image66.png"/><Relationship Id="rId11" Type="http://schemas.openxmlformats.org/officeDocument/2006/relationships/image" Target="../media/image67.png"/><Relationship Id="rId12" Type="http://schemas.openxmlformats.org/officeDocument/2006/relationships/image" Target="../media/image68.png"/><Relationship Id="rId13" Type="http://schemas.openxmlformats.org/officeDocument/2006/relationships/image" Target="../media/image69.png"/><Relationship Id="rId14" Type="http://schemas.openxmlformats.org/officeDocument/2006/relationships/image" Target="../media/image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 Id="rId3" Type="http://schemas.openxmlformats.org/officeDocument/2006/relationships/image" Target="../media/image71.png"/><Relationship Id="rId4" Type="http://schemas.openxmlformats.org/officeDocument/2006/relationships/image" Target="../media/image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image" Target="../media/image75.png"/><Relationship Id="rId4" Type="http://schemas.openxmlformats.org/officeDocument/2006/relationships/image" Target="../media/image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 Id="rId3" Type="http://schemas.openxmlformats.org/officeDocument/2006/relationships/image" Target="../media/image77.png"/><Relationship Id="rId4" Type="http://schemas.openxmlformats.org/officeDocument/2006/relationships/image" Target="../media/image78.png"/><Relationship Id="rId5" Type="http://schemas.openxmlformats.org/officeDocument/2006/relationships/image" Target="../media/image79.png"/><Relationship Id="rId6" Type="http://schemas.openxmlformats.org/officeDocument/2006/relationships/image" Target="../media/image80.png"/><Relationship Id="rId7" Type="http://schemas.openxmlformats.org/officeDocument/2006/relationships/image" Target="../media/image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 Id="rId3" Type="http://schemas.openxmlformats.org/officeDocument/2006/relationships/image" Target="../media/image82.png"/><Relationship Id="rId4" Type="http://schemas.openxmlformats.org/officeDocument/2006/relationships/image" Target="../media/image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3.png"/><Relationship Id="rId3" Type="http://schemas.openxmlformats.org/officeDocument/2006/relationships/image" Target="../media/image84.png"/><Relationship Id="rId4" Type="http://schemas.openxmlformats.org/officeDocument/2006/relationships/image" Target="../media/image85.png"/><Relationship Id="rId5" Type="http://schemas.openxmlformats.org/officeDocument/2006/relationships/image" Target="../media/image86.png"/><Relationship Id="rId6" Type="http://schemas.openxmlformats.org/officeDocument/2006/relationships/image" Target="../media/image87.png"/><Relationship Id="rId7" Type="http://schemas.openxmlformats.org/officeDocument/2006/relationships/image" Target="../media/image88.png"/><Relationship Id="rId8" Type="http://schemas.openxmlformats.org/officeDocument/2006/relationships/image" Target="../media/image89.png"/><Relationship Id="rId9" Type="http://schemas.openxmlformats.org/officeDocument/2006/relationships/image" Target="../media/image90.png"/><Relationship Id="rId10" Type="http://schemas.openxmlformats.org/officeDocument/2006/relationships/image" Target="../media/image91.png"/><Relationship Id="rId11" Type="http://schemas.openxmlformats.org/officeDocument/2006/relationships/image" Target="../media/image92.png"/><Relationship Id="rId12" Type="http://schemas.openxmlformats.org/officeDocument/2006/relationships/image" Target="../media/image93.png"/><Relationship Id="rId13" Type="http://schemas.openxmlformats.org/officeDocument/2006/relationships/image" Target="../media/image94.png"/><Relationship Id="rId14" Type="http://schemas.openxmlformats.org/officeDocument/2006/relationships/image" Target="../media/image95.png"/><Relationship Id="rId15" Type="http://schemas.openxmlformats.org/officeDocument/2006/relationships/image" Target="../media/image96.png"/><Relationship Id="rId16" Type="http://schemas.openxmlformats.org/officeDocument/2006/relationships/hyperlink" Target="https://www.figma.com/proto/vZrnrHgaWOOgf1fIzX9sBy?node-id=1-120&amp;starting-point-node-id=1%3A120&amp;page-id=1%3A119&amp;scaling=scale-down" TargetMode="External"/><Relationship Id="rId17" Type="http://schemas.openxmlformats.org/officeDocument/2006/relationships/image" Target="../media/image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hyperlink" Target="https://www.figma.com/proto/vZrnrHgaWOOgf1fIzX9sBy?node-id=1-120&amp;starting-point-node-id=1%3A120&amp;page-id=1%3A119&amp;scaling=scale-down" TargetMode="External"/><Relationship Id="rId3" Type="http://schemas.openxmlformats.org/officeDocument/2006/relationships/hyperlink" Target="https://www.figma.com/proto/w9xAlgyQeXToR54UPbv7wG/New-Trading-Desk?node-id=470-1889&amp;starting-point-node-id=470%3A1889" TargetMode="External"/><Relationship Id="rId4" Type="http://schemas.openxmlformats.org/officeDocument/2006/relationships/image" Target="../media/image94.png"/><Relationship Id="rId5" Type="http://schemas.openxmlformats.org/officeDocument/2006/relationships/image" Target="../media/image2.png"/><Relationship Id="rId6" Type="http://schemas.openxmlformats.org/officeDocument/2006/relationships/hyperlink" Target="https://www.figma.com/proto/vZrnrHgaWOOgf1fIzX9sBy?node-id=6-145&amp;starting-point-node-id=6%3A145&amp;page-id=1%3A119&amp;scaling=scale-down"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7.png"/><Relationship Id="rId3" Type="http://schemas.openxmlformats.org/officeDocument/2006/relationships/image" Target="../media/image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8.png"/><Relationship Id="rId3" Type="http://schemas.openxmlformats.org/officeDocument/2006/relationships/image" Target="../media/image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9.png"/><Relationship Id="rId3" Type="http://schemas.openxmlformats.org/officeDocument/2006/relationships/image" Target="../media/image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0.png"/><Relationship Id="rId3" Type="http://schemas.openxmlformats.org/officeDocument/2006/relationships/image" Target="../media/image101.png"/><Relationship Id="rId4" Type="http://schemas.openxmlformats.org/officeDocument/2006/relationships/image" Target="../media/image102.png"/><Relationship Id="rId5" Type="http://schemas.openxmlformats.org/officeDocument/2006/relationships/image" Target="../media/image2.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 Id="rId3" Type="http://schemas.openxmlformats.org/officeDocument/2006/relationships/image" Target="../media/image104.png"/><Relationship Id="rId4" Type="http://schemas.openxmlformats.org/officeDocument/2006/relationships/image" Target="../media/image2.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5.png"/><Relationship Id="rId3" Type="http://schemas.openxmlformats.org/officeDocument/2006/relationships/image" Target="../media/image2.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06.jpg"/><Relationship Id="rId3" Type="http://schemas.openxmlformats.org/officeDocument/2006/relationships/image" Target="../media/image107.jpg"/><Relationship Id="rId4" Type="http://schemas.openxmlformats.org/officeDocument/2006/relationships/image" Target="../media/image108.jpg"/><Relationship Id="rId5" Type="http://schemas.openxmlformats.org/officeDocument/2006/relationships/image" Target="../media/image109.jpg"/><Relationship Id="rId6" Type="http://schemas.openxmlformats.org/officeDocument/2006/relationships/image" Target="../media/image110.jpg"/><Relationship Id="rId7" Type="http://schemas.openxmlformats.org/officeDocument/2006/relationships/image" Target="../media/image111.jpg"/><Relationship Id="rId8" Type="http://schemas.openxmlformats.org/officeDocument/2006/relationships/image" Target="../media/image112.jpg"/><Relationship Id="rId9" Type="http://schemas.openxmlformats.org/officeDocument/2006/relationships/image" Target="../media/image113.jpg"/><Relationship Id="rId10" Type="http://schemas.openxmlformats.org/officeDocument/2006/relationships/image" Target="../media/image114.jpg"/><Relationship Id="rId11" Type="http://schemas.openxmlformats.org/officeDocument/2006/relationships/image" Target="../media/image115.jpg"/><Relationship Id="rId12" Type="http://schemas.openxmlformats.org/officeDocument/2006/relationships/image" Target="../media/image116.jpg"/><Relationship Id="rId13" Type="http://schemas.openxmlformats.org/officeDocument/2006/relationships/hyperlink" Target="https://www.figma.com/proto/vZrnrHgaWOOgf1fIzX9sBy?node-id=1-70&amp;starting-point-node-id=1%3A70&amp;page-id=1%3A69&amp;scaling=scale-down" TargetMode="External"/><Relationship Id="rId14" Type="http://schemas.openxmlformats.org/officeDocument/2006/relationships/image" Target="../media/image2.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hyperlink" Target="https://www.figma.com/proto/vZrnrHgaWOOgf1fIzX9sBy?node-id=1-70&amp;starting-point-node-id=1%3A70&amp;page-id=1%3A69&amp;scaling=scale-down" TargetMode="External"/><Relationship Id="rId3" Type="http://schemas.openxmlformats.org/officeDocument/2006/relationships/image" Target="../media/image116.jpg"/><Relationship Id="rId4" Type="http://schemas.openxmlformats.org/officeDocument/2006/relationships/image" Target="../media/image2.png"/><Relationship Id="rId5" Type="http://schemas.openxmlformats.org/officeDocument/2006/relationships/hyperlink" Target="https://www.figma.com/proto/vZrnrHgaWOOgf1fIzX9sBy?node-id=6-2&amp;starting-point-node-id=6%3A2&amp;page-id=1%3A69&amp;scaling=scale-down"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4.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58.png"/><Relationship Id="rId4" Type="http://schemas.openxmlformats.org/officeDocument/2006/relationships/image" Target="../media/image159.png"/><Relationship Id="rId5" Type="http://schemas.openxmlformats.org/officeDocument/2006/relationships/image" Target="../media/image160.png"/><Relationship Id="rId6" Type="http://schemas.openxmlformats.org/officeDocument/2006/relationships/image" Target="../media/image161.png"/><Relationship Id="rId7" Type="http://schemas.openxmlformats.org/officeDocument/2006/relationships/image" Target="../media/image162.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4.png"/><Relationship Id="rId3" Type="http://schemas.openxmlformats.org/officeDocument/2006/relationships/image" Target="../media/image157.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4.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17.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19.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20.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4.png"/><Relationship Id="rId3" Type="http://schemas.openxmlformats.org/officeDocument/2006/relationships/image" Target="../media/image3.png"/><Relationship Id="rId4" Type="http://schemas.openxmlformats.org/officeDocument/2006/relationships/notesSlide" Target="../notesSlides/notesSlide2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4.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9.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9.png"/><Relationship Id="rId9" Type="http://schemas.openxmlformats.org/officeDocument/2006/relationships/image" Target="../media/image10.png"/><Relationship Id="rId10" Type="http://schemas.openxmlformats.org/officeDocument/2006/relationships/image" Target="../media/image11.png"/><Relationship Id="rId11" Type="http://schemas.openxmlformats.org/officeDocument/2006/relationships/image" Target="../media/image3.png"/><Relationship Id="rId12" Type="http://schemas.openxmlformats.org/officeDocument/2006/relationships/image" Target="../media/image12.png"/><Relationship Id="rId13" Type="http://schemas.openxmlformats.org/officeDocument/2006/relationships/image" Target="../media/image13.png"/><Relationship Id="rId14" Type="http://schemas.openxmlformats.org/officeDocument/2006/relationships/image" Target="../media/image14.png"/><Relationship Id="rId15" Type="http://schemas.openxmlformats.org/officeDocument/2006/relationships/image" Target="../media/image15.png"/><Relationship Id="rId16" Type="http://schemas.openxmlformats.org/officeDocument/2006/relationships/image" Target="../media/image16.png"/><Relationship Id="rId17" Type="http://schemas.openxmlformats.org/officeDocument/2006/relationships/image" Target="../media/image17.png"/><Relationship Id="rId18" Type="http://schemas.openxmlformats.org/officeDocument/2006/relationships/image" Target="../media/image18.png"/><Relationship Id="rId19" Type="http://schemas.openxmlformats.org/officeDocument/2006/relationships/image" Target="../media/image19.png"/><Relationship Id="rId20" Type="http://schemas.openxmlformats.org/officeDocument/2006/relationships/image" Target="../media/image20.png"/><Relationship Id="rId21" Type="http://schemas.openxmlformats.org/officeDocument/2006/relationships/image" Target="../media/image2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118.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2.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3.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5.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6.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7.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8.png"/><Relationship Id="rId3" Type="http://schemas.openxmlformats.org/officeDocument/2006/relationships/image" Target="../media/image129.png"/><Relationship Id="rId4" Type="http://schemas.openxmlformats.org/officeDocument/2006/relationships/image" Target="../media/image130.png"/><Relationship Id="rId5" Type="http://schemas.openxmlformats.org/officeDocument/2006/relationships/image" Target="../media/image13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7569200" y="947022"/>
            <a:ext cx="4272714" cy="884192"/>
          </a:xfrm>
          <a:prstGeom prst="rect">
            <a:avLst/>
          </a:prstGeom>
          <a:noFill/>
        </p:spPr>
        <p:txBody>
          <a:bodyPr wrap="none" lIns="0" tIns="0" rIns="0" bIns="0">
            <a:noAutofit/>
          </a:bodyPr>
          <a:lstStyle/>
          <a:p>
            <a:pPr algn="l"/>
            <a:r>
              <a:rPr sz="5700" dirty="0">
                <a:solidFill>
                  <a:srgbClr val="E98C64"/>
                </a:solidFill>
                <a:latin typeface="Helvetica Neue Light"/>
              </a:rPr>
              <a:t>case studies</a:t>
            </a:r>
          </a:p>
        </p:txBody>
      </p:sp>
      <p:sp>
        <p:nvSpPr>
          <p:cNvPr id="4" name="TextBox 3"/>
          <p:cNvSpPr txBox="1"/>
          <p:nvPr/>
        </p:nvSpPr>
        <p:spPr>
          <a:xfrm>
            <a:off x="8349995" y="5285528"/>
            <a:ext cx="2645070" cy="391219"/>
          </a:xfrm>
          <a:prstGeom prst="rect">
            <a:avLst/>
          </a:prstGeom>
          <a:noFill/>
        </p:spPr>
        <p:txBody>
          <a:bodyPr wrap="none" lIns="0" tIns="0" rIns="0" bIns="0">
            <a:noAutofit/>
          </a:bodyPr>
          <a:lstStyle/>
          <a:p>
            <a:pPr algn="l"/>
            <a:r>
              <a:rPr sz="1400" dirty="0">
                <a:solidFill>
                  <a:srgbClr val="404040"/>
                </a:solidFill>
                <a:latin typeface="Helvetica Neue Light"/>
              </a:rPr>
              <a:t>michael</a:t>
            </a:r>
            <a:r>
              <a:rPr sz="2550" dirty="0">
                <a:solidFill>
                  <a:srgbClr val="404040"/>
                </a:solidFill>
                <a:latin typeface="Helvetica Neue Light"/>
              </a:rPr>
              <a:t>thibodea(UX)</a:t>
            </a:r>
          </a:p>
        </p:txBody>
      </p:sp>
      <p:sp>
        <p:nvSpPr>
          <p:cNvPr id="5" name="TextBox 4"/>
          <p:cNvSpPr txBox="1"/>
          <p:nvPr/>
        </p:nvSpPr>
        <p:spPr>
          <a:xfrm>
            <a:off x="8495044" y="5689279"/>
            <a:ext cx="2435347" cy="218353"/>
          </a:xfrm>
          <a:prstGeom prst="rect">
            <a:avLst/>
          </a:prstGeom>
          <a:noFill/>
        </p:spPr>
        <p:txBody>
          <a:bodyPr wrap="none" lIns="0" tIns="0" rIns="0" bIns="0">
            <a:noAutofit/>
          </a:bodyPr>
          <a:lstStyle/>
          <a:p>
            <a:pPr algn="l"/>
            <a:r>
              <a:rPr sz="1400" dirty="0">
                <a:solidFill>
                  <a:srgbClr val="404040"/>
                </a:solidFill>
                <a:latin typeface="Helvetica Neue Light"/>
              </a:rPr>
              <a:t>www.michaeljthibodeau.com</a:t>
            </a:r>
          </a:p>
        </p:txBody>
      </p:sp>
      <p:sp>
        <p:nvSpPr>
          <p:cNvPr id="6" name="TextBox 5"/>
          <p:cNvSpPr txBox="1"/>
          <p:nvPr/>
        </p:nvSpPr>
        <p:spPr>
          <a:xfrm>
            <a:off x="7651892" y="1945422"/>
            <a:ext cx="4202677" cy="216217"/>
          </a:xfrm>
          <a:prstGeom prst="rect">
            <a:avLst/>
          </a:prstGeom>
          <a:noFill/>
        </p:spPr>
        <p:txBody>
          <a:bodyPr wrap="none" lIns="0" tIns="0" rIns="0" bIns="0">
            <a:noAutofit/>
          </a:bodyPr>
          <a:lstStyle/>
          <a:p>
            <a:pPr algn="l"/>
            <a:endParaRPr sz="1400" dirty="0">
              <a:solidFill>
                <a:srgbClr val="404040"/>
              </a:solidFill>
              <a:latin typeface="Helvetica Neue Light"/>
            </a:endParaRPr>
          </a:p>
        </p:txBody>
      </p:sp>
      <p:sp>
        <p:nvSpPr>
          <p:cNvPr id="7" name="TextBox 6"/>
          <p:cNvSpPr txBox="1"/>
          <p:nvPr/>
        </p:nvSpPr>
        <p:spPr>
          <a:xfrm>
            <a:off x="7604677" y="2262922"/>
            <a:ext cx="4304674" cy="216217"/>
          </a:xfrm>
          <a:prstGeom prst="rect">
            <a:avLst/>
          </a:prstGeom>
          <a:noFill/>
        </p:spPr>
        <p:txBody>
          <a:bodyPr wrap="none" lIns="0" tIns="0" rIns="0" bIns="0">
            <a:noAutofit/>
          </a:bodyPr>
          <a:lstStyle/>
          <a:p>
            <a:pPr algn="l"/>
            <a:endParaRPr sz="1400" dirty="0">
              <a:solidFill>
                <a:srgbClr val="404040"/>
              </a:solidFill>
              <a:latin typeface="Helvetica Neue Light"/>
            </a:endParaRPr>
          </a:p>
        </p:txBody>
      </p:sp>
      <p:sp>
        <p:nvSpPr>
          <p:cNvPr id="8" name="TextBox 7"/>
          <p:cNvSpPr txBox="1"/>
          <p:nvPr/>
        </p:nvSpPr>
        <p:spPr>
          <a:xfrm>
            <a:off x="7651893" y="1904602"/>
            <a:ext cx="4414624" cy="1082438"/>
          </a:xfrm>
          <a:prstGeom prst="rect">
            <a:avLst/>
          </a:prstGeom>
          <a:noFill/>
        </p:spPr>
        <p:txBody>
          <a:bodyPr wrap="none" lIns="0" tIns="0" rIns="0" bIns="0">
            <a:noAutofit/>
          </a:bodyPr>
          <a:lstStyle/>
          <a:p>
            <a:pPr>
              <a:lnSpc>
                <a:spcPct val="150000"/>
              </a:lnSpc>
            </a:pPr>
            <a:r>
              <a:rPr lang="en-US" sz="1400" dirty="0">
                <a:solidFill>
                  <a:srgbClr val="404040"/>
                </a:solidFill>
                <a:latin typeface="Helvetica Neue Light"/>
              </a:rPr>
              <a:t>Lead UX designer for AI products. </a:t>
            </a:r>
          </a:p>
          <a:p>
            <a:pPr>
              <a:lnSpc>
                <a:spcPct val="150000"/>
              </a:lnSpc>
            </a:pPr>
            <a:r>
              <a:rPr lang="en-US" sz="1400" dirty="0">
                <a:solidFill>
                  <a:srgbClr val="404040"/>
                </a:solidFill>
                <a:latin typeface="Helvetica Neue Light"/>
              </a:rPr>
              <a:t>Four case studies, each with the calls I made, </a:t>
            </a:r>
            <a:br>
              <a:rPr lang="en-US" sz="1400" dirty="0">
                <a:solidFill>
                  <a:srgbClr val="404040"/>
                </a:solidFill>
                <a:latin typeface="Helvetica Neue Light"/>
              </a:rPr>
            </a:br>
            <a:r>
              <a:rPr sz="1400" dirty="0">
                <a:solidFill>
                  <a:srgbClr val="404040"/>
                </a:solidFill>
                <a:latin typeface="Helvetica Neue Light"/>
              </a:rPr>
              <a:t>how I led the team, and what came of them.</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320040"/>
          </a:xfrm>
          <a:prstGeom prst="rect">
            <a:avLst/>
          </a:prstGeom>
          <a:noFill/>
        </p:spPr>
        <p:txBody>
          <a:bodyPr wrap="square" lIns="0" tIns="0" rIns="0" bIns="0" anchor="t">
            <a:noAutofit/>
          </a:bodyPr>
          <a:lstStyle/>
          <a:p>
            <a:pPr algn="l">
              <a:lnSpc>
                <a:spcPct val="100000"/>
              </a:lnSpc>
            </a:pPr>
            <a:r>
              <a:rPr lang="en-US" sz="1200" spc="300" dirty="0">
                <a:solidFill>
                  <a:srgbClr val="E98C64"/>
                </a:solidFill>
                <a:latin typeface="Helvetica Neue Medium"/>
                <a:cs typeface="Helvetica Neue Medium"/>
              </a:rPr>
              <a:t>POINT OF VIEW</a:t>
            </a:r>
          </a:p>
        </p:txBody>
      </p:sp>
      <p:sp>
        <p:nvSpPr>
          <p:cNvPr id="102" name="Headline"/>
          <p:cNvSpPr txBox="1"/>
          <p:nvPr/>
        </p:nvSpPr>
        <p:spPr>
          <a:xfrm>
            <a:off x="822960" y="1371600"/>
            <a:ext cx="11358880" cy="2103120"/>
          </a:xfrm>
          <a:prstGeom prst="rect">
            <a:avLst/>
          </a:prstGeom>
          <a:noFill/>
        </p:spPr>
        <p:txBody>
          <a:bodyPr wrap="square" lIns="0" tIns="0" rIns="0" bIns="0" anchor="t">
            <a:noAutofit/>
          </a:bodyPr>
          <a:lstStyle/>
          <a:p>
            <a:pPr algn="l">
              <a:lnSpc>
                <a:spcPct val="92000"/>
              </a:lnSpc>
            </a:pPr>
            <a:r>
              <a:rPr lang="en-US" sz="5400" spc="-50" dirty="0">
                <a:solidFill>
                  <a:srgbClr val="F5F5F7"/>
                </a:solidFill>
                <a:latin typeface="Helvetica Neue Medium"/>
                <a:cs typeface="Helvetica Neue Medium"/>
              </a:rPr>
              <a:t>I design </a:t>
            </a:r>
            <a:r>
              <a:rPr lang="en-US" sz="5400" spc="-50" dirty="0">
                <a:solidFill>
                  <a:srgbClr val="E98C64"/>
                </a:solidFill>
                <a:latin typeface="Helvetica Neue Medium"/>
                <a:cs typeface="Helvetica Neue Medium"/>
              </a:rPr>
              <a:t>trust</a:t>
            </a:r>
            <a:r>
              <a:rPr lang="en-US" sz="5400" spc="-50" dirty="0">
                <a:solidFill>
                  <a:srgbClr val="F5F5F7"/>
                </a:solidFill>
                <a:latin typeface="Helvetica Neue Medium"/>
                <a:cs typeface="Helvetica Neue Medium"/>
              </a:rPr>
              <a:t> into </a:t>
            </a:r>
            <a:r>
              <a:rPr lang="en-US" sz="5400" spc="-50">
                <a:solidFill>
                  <a:srgbClr val="F5F5F7"/>
                </a:solidFill>
                <a:latin typeface="Helvetica Neue Medium"/>
                <a:cs typeface="Helvetica Neue Medium"/>
              </a:rPr>
              <a:t>high-stakes business decisions</a:t>
            </a:r>
            <a:r>
              <a:rPr lang="en-US" sz="5400" spc="-50" dirty="0">
                <a:solidFill>
                  <a:srgbClr val="F5F5F7"/>
                </a:solidFill>
                <a:latin typeface="Helvetica Neue Medium"/>
                <a:cs typeface="Helvetica Neue Medium"/>
              </a:rPr>
              <a:t>.</a:t>
            </a:r>
          </a:p>
        </p:txBody>
      </p:sp>
      <p:sp>
        <p:nvSpPr>
          <p:cNvPr id="103" name="Principle 1 title"/>
          <p:cNvSpPr txBox="1"/>
          <p:nvPr/>
        </p:nvSpPr>
        <p:spPr>
          <a:xfrm>
            <a:off x="822960" y="4480560"/>
            <a:ext cx="5427980" cy="411480"/>
          </a:xfrm>
          <a:prstGeom prst="rect">
            <a:avLst/>
          </a:prstGeom>
          <a:noFill/>
        </p:spPr>
        <p:txBody>
          <a:bodyPr wrap="square" lIns="0" tIns="0" rIns="0" bIns="0" anchor="t">
            <a:noAutofit/>
          </a:bodyPr>
          <a:lstStyle/>
          <a:p>
            <a:pPr algn="l">
              <a:lnSpc>
                <a:spcPct val="100000"/>
              </a:lnSpc>
            </a:pPr>
            <a:r>
              <a:rPr lang="en-US" sz="2200" spc="0" dirty="0">
                <a:solidFill>
                  <a:srgbClr val="F5F5F7"/>
                </a:solidFill>
                <a:latin typeface="Helvetica Neue Medium"/>
                <a:cs typeface="Helvetica Neue Medium"/>
              </a:rPr>
              <a:t>AI verifies; the person decides</a:t>
            </a:r>
          </a:p>
        </p:txBody>
      </p:sp>
      <p:sp>
        <p:nvSpPr>
          <p:cNvPr id="104" name="Principle 1 body"/>
          <p:cNvSpPr txBox="1"/>
          <p:nvPr/>
        </p:nvSpPr>
        <p:spPr>
          <a:xfrm>
            <a:off x="822960" y="4983480"/>
            <a:ext cx="5427980" cy="1097280"/>
          </a:xfrm>
          <a:prstGeom prst="rect">
            <a:avLst/>
          </a:prstGeom>
          <a:noFill/>
        </p:spPr>
        <p:txBody>
          <a:bodyPr wrap="square" lIns="0" tIns="0" rIns="0" bIns="0" anchor="t">
            <a:noAutofit/>
          </a:bodyPr>
          <a:lstStyle/>
          <a:p>
            <a:pPr algn="l">
              <a:lnSpc>
                <a:spcPct val="120000"/>
              </a:lnSpc>
            </a:pPr>
            <a:r>
              <a:rPr lang="en-US" sz="1500" spc="0" dirty="0">
                <a:solidFill>
                  <a:srgbClr val="A3A8B4"/>
                </a:solidFill>
                <a:latin typeface="Helvetica Neue Light"/>
                <a:cs typeface="Helvetica Neue Light"/>
              </a:rPr>
              <a:t>AI translates, explains and checks the user’s own criteria. It never recommends, predicts or places orders.</a:t>
            </a:r>
          </a:p>
        </p:txBody>
      </p:sp>
      <p:sp>
        <p:nvSpPr>
          <p:cNvPr id="105" name="Principle 2 title"/>
          <p:cNvSpPr txBox="1"/>
          <p:nvPr/>
        </p:nvSpPr>
        <p:spPr>
          <a:xfrm>
            <a:off x="6753860" y="4480560"/>
            <a:ext cx="5427980" cy="411480"/>
          </a:xfrm>
          <a:prstGeom prst="rect">
            <a:avLst/>
          </a:prstGeom>
          <a:noFill/>
        </p:spPr>
        <p:txBody>
          <a:bodyPr wrap="square" lIns="0" tIns="0" rIns="0" bIns="0" anchor="t">
            <a:noAutofit/>
          </a:bodyPr>
          <a:lstStyle/>
          <a:p>
            <a:pPr algn="l">
              <a:lnSpc>
                <a:spcPct val="100000"/>
              </a:lnSpc>
            </a:pPr>
            <a:r>
              <a:rPr lang="en-US" sz="2200" spc="0" dirty="0">
                <a:solidFill>
                  <a:srgbClr val="F5F5F7"/>
                </a:solidFill>
                <a:latin typeface="Helvetica Neue Medium"/>
                <a:cs typeface="Helvetica Neue Medium"/>
              </a:rPr>
              <a:t>Measurements, not confidence scores</a:t>
            </a:r>
          </a:p>
        </p:txBody>
      </p:sp>
      <p:sp>
        <p:nvSpPr>
          <p:cNvPr id="106" name="Principle 2 body"/>
          <p:cNvSpPr txBox="1"/>
          <p:nvPr/>
        </p:nvSpPr>
        <p:spPr>
          <a:xfrm>
            <a:off x="6753860" y="4983480"/>
            <a:ext cx="5427980" cy="1097280"/>
          </a:xfrm>
          <a:prstGeom prst="rect">
            <a:avLst/>
          </a:prstGeom>
          <a:noFill/>
        </p:spPr>
        <p:txBody>
          <a:bodyPr wrap="square" lIns="0" tIns="0" rIns="0" bIns="0" anchor="t">
            <a:noAutofit/>
          </a:bodyPr>
          <a:lstStyle/>
          <a:p>
            <a:pPr algn="l">
              <a:lnSpc>
                <a:spcPct val="120000"/>
              </a:lnSpc>
            </a:pPr>
            <a:r>
              <a:rPr lang="en-US" sz="1500" spc="0" dirty="0">
                <a:solidFill>
                  <a:srgbClr val="A3A8B4"/>
                </a:solidFill>
                <a:latin typeface="Helvetica Neue Light"/>
                <a:cs typeface="Helvetica Neue Light"/>
              </a:rPr>
              <a:t>Show what was measured and how often it held, with sample sizes. Abstain when the data isn’t there.</a:t>
            </a:r>
          </a:p>
        </p:txBody>
      </p:sp>
      <p:sp>
        <p:nvSpPr>
          <p:cNvPr id="107" name="Principle 3 title"/>
          <p:cNvSpPr txBox="1"/>
          <p:nvPr/>
        </p:nvSpPr>
        <p:spPr>
          <a:xfrm>
            <a:off x="822960" y="6355080"/>
            <a:ext cx="5427980" cy="411480"/>
          </a:xfrm>
          <a:prstGeom prst="rect">
            <a:avLst/>
          </a:prstGeom>
          <a:noFill/>
        </p:spPr>
        <p:txBody>
          <a:bodyPr wrap="square" lIns="0" tIns="0" rIns="0" bIns="0" anchor="t">
            <a:noAutofit/>
          </a:bodyPr>
          <a:lstStyle/>
          <a:p>
            <a:pPr algn="l">
              <a:lnSpc>
                <a:spcPct val="100000"/>
              </a:lnSpc>
            </a:pPr>
            <a:r>
              <a:rPr lang="en-US" sz="2200" spc="0" dirty="0">
                <a:solidFill>
                  <a:srgbClr val="F5F5F7"/>
                </a:solidFill>
                <a:latin typeface="Helvetica Neue Medium"/>
                <a:cs typeface="Helvetica Neue Medium"/>
              </a:rPr>
              <a:t>Consequences before commitment</a:t>
            </a:r>
          </a:p>
        </p:txBody>
      </p:sp>
      <p:sp>
        <p:nvSpPr>
          <p:cNvPr id="108" name="Principle 3 body"/>
          <p:cNvSpPr txBox="1"/>
          <p:nvPr/>
        </p:nvSpPr>
        <p:spPr>
          <a:xfrm>
            <a:off x="822960" y="6858000"/>
            <a:ext cx="5427980" cy="1097280"/>
          </a:xfrm>
          <a:prstGeom prst="rect">
            <a:avLst/>
          </a:prstGeom>
          <a:noFill/>
        </p:spPr>
        <p:txBody>
          <a:bodyPr wrap="square" lIns="0" tIns="0" rIns="0" bIns="0" anchor="t">
            <a:noAutofit/>
          </a:bodyPr>
          <a:lstStyle/>
          <a:p>
            <a:pPr algn="l">
              <a:lnSpc>
                <a:spcPct val="120000"/>
              </a:lnSpc>
            </a:pPr>
            <a:r>
              <a:rPr lang="en-US" sz="1500" spc="0" dirty="0">
                <a:solidFill>
                  <a:srgbClr val="A3A8B4"/>
                </a:solidFill>
                <a:latin typeface="Helvetica Neue Light"/>
                <a:cs typeface="Helvetica Neue Light"/>
              </a:rPr>
              <a:t>Rules are replayed on recent history before they’re saved. Every change is logged, with Undo.</a:t>
            </a:r>
          </a:p>
        </p:txBody>
      </p:sp>
      <p:sp>
        <p:nvSpPr>
          <p:cNvPr id="109" name="Principle 4 title"/>
          <p:cNvSpPr txBox="1"/>
          <p:nvPr/>
        </p:nvSpPr>
        <p:spPr>
          <a:xfrm>
            <a:off x="6753860" y="6355080"/>
            <a:ext cx="5427980" cy="411480"/>
          </a:xfrm>
          <a:prstGeom prst="rect">
            <a:avLst/>
          </a:prstGeom>
          <a:noFill/>
        </p:spPr>
        <p:txBody>
          <a:bodyPr wrap="square" lIns="0" tIns="0" rIns="0" bIns="0" anchor="t">
            <a:noAutofit/>
          </a:bodyPr>
          <a:lstStyle/>
          <a:p>
            <a:pPr algn="l">
              <a:lnSpc>
                <a:spcPct val="100000"/>
              </a:lnSpc>
            </a:pPr>
            <a:r>
              <a:rPr lang="en-US" sz="2200" spc="0" dirty="0">
                <a:solidFill>
                  <a:srgbClr val="F5F5F7"/>
                </a:solidFill>
                <a:latin typeface="Helvetica Neue Medium"/>
                <a:cs typeface="Helvetica Neue Medium"/>
              </a:rPr>
              <a:t>Guidance that fits the frequency</a:t>
            </a:r>
          </a:p>
        </p:txBody>
      </p:sp>
      <p:sp>
        <p:nvSpPr>
          <p:cNvPr id="110" name="Principle 4 body"/>
          <p:cNvSpPr txBox="1"/>
          <p:nvPr/>
        </p:nvSpPr>
        <p:spPr>
          <a:xfrm>
            <a:off x="6753860" y="6858000"/>
            <a:ext cx="5427980" cy="1097280"/>
          </a:xfrm>
          <a:prstGeom prst="rect">
            <a:avLst/>
          </a:prstGeom>
          <a:noFill/>
        </p:spPr>
        <p:txBody>
          <a:bodyPr wrap="square" lIns="0" tIns="0" rIns="0" bIns="0" anchor="t">
            <a:noAutofit/>
          </a:bodyPr>
          <a:lstStyle/>
          <a:p>
            <a:pPr algn="l">
              <a:lnSpc>
                <a:spcPct val="120000"/>
              </a:lnSpc>
            </a:pPr>
            <a:r>
              <a:rPr lang="en-US" sz="1500" spc="0" dirty="0">
                <a:solidFill>
                  <a:srgbClr val="A3A8B4"/>
                </a:solidFill>
                <a:latin typeface="Helvetica Neue Light"/>
                <a:cs typeface="Helvetica Neue Light"/>
              </a:rPr>
              <a:t>Daily users get help that fades with fluency. Rare tasks, like OBI and MOCA, get a short guided path.</a:t>
            </a:r>
          </a:p>
        </p:txBody>
      </p:sp>
      <p:sp>
        <p:nvSpPr>
          <p:cNvPr id="111" name="Thread"/>
          <p:cNvSpPr txBox="1"/>
          <p:nvPr/>
        </p:nvSpPr>
        <p:spPr>
          <a:xfrm>
            <a:off x="822960" y="8503920"/>
            <a:ext cx="11358880" cy="274320"/>
          </a:xfrm>
          <a:prstGeom prst="rect">
            <a:avLst/>
          </a:prstGeom>
          <a:noFill/>
        </p:spPr>
        <p:txBody>
          <a:bodyPr wrap="square" lIns="0" tIns="0" rIns="0" bIns="0" anchor="t">
            <a:noAutofit/>
          </a:bodyPr>
          <a:lstStyle/>
          <a:p>
            <a:pPr algn="l">
              <a:lnSpc>
                <a:spcPct val="100000"/>
              </a:lnSpc>
            </a:pPr>
            <a:r>
              <a:rPr lang="en-US" sz="1200" spc="200" dirty="0">
                <a:solidFill>
                  <a:srgbClr val="6E7380"/>
                </a:solidFill>
                <a:latin typeface="Helvetica Neue Medium"/>
                <a:cs typeface="Helvetica Neue Medium"/>
              </a:rPr>
              <a:t>CREDIT SUISSE   ·   WELLS FARGO   ·   AMEX   ·   FINVIZ</a:t>
            </a:r>
          </a:p>
        </p:txBody>
      </p:sp>
      <p:pic>
        <p:nvPicPr>
          <p:cNvPr id="12"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822960"/>
            <a:ext cx="548640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CASE STUDY 01 · AI PRODUCT · CONCEPT</a:t>
            </a:r>
          </a:p>
        </p:txBody>
      </p:sp>
      <p:sp>
        <p:nvSpPr>
          <p:cNvPr id="102" name="Company"/>
          <p:cNvSpPr txBox="1"/>
          <p:nvPr/>
        </p:nvSpPr>
        <p:spPr>
          <a:xfrm>
            <a:off x="822960" y="1234440"/>
            <a:ext cx="5486400" cy="914400"/>
          </a:xfrm>
          <a:prstGeom prst="rect">
            <a:avLst/>
          </a:prstGeom>
          <a:noFill/>
        </p:spPr>
        <p:txBody>
          <a:bodyPr wrap="square" lIns="0" tIns="0" rIns="0" bIns="0" anchor="t">
            <a:noAutofit/>
          </a:bodyPr>
          <a:lstStyle/>
          <a:p>
            <a:pPr algn="l">
              <a:lnSpc>
                <a:spcPct val="90000"/>
              </a:lnSpc>
              <a:spcAft>
                <a:spcPts val="300"/>
              </a:spcAft>
            </a:pPr>
            <a:r>
              <a:rPr lang="en-US" sz="5400" spc="-40" dirty="0">
                <a:solidFill>
                  <a:srgbClr val="F5F5F7"/>
                </a:solidFill>
                <a:latin typeface="Helvetica Neue Medium"/>
                <a:cs typeface="Helvetica Neue Medium"/>
              </a:rPr>
              <a:t>FinViz</a:t>
            </a:r>
          </a:p>
        </p:txBody>
      </p:sp>
      <p:sp>
        <p:nvSpPr>
          <p:cNvPr id="103" name="Project"/>
          <p:cNvSpPr txBox="1"/>
          <p:nvPr/>
        </p:nvSpPr>
        <p:spPr>
          <a:xfrm>
            <a:off x="822960" y="2240280"/>
            <a:ext cx="5486400" cy="548640"/>
          </a:xfrm>
          <a:prstGeom prst="rect">
            <a:avLst/>
          </a:prstGeom>
          <a:noFill/>
        </p:spPr>
        <p:txBody>
          <a:bodyPr wrap="square" lIns="0" tIns="0" rIns="0" bIns="0" anchor="t">
            <a:noAutofit/>
          </a:bodyPr>
          <a:lstStyle/>
          <a:p>
            <a:pPr algn="l">
              <a:lnSpc>
                <a:spcPct val="115000"/>
              </a:lnSpc>
              <a:spcAft>
                <a:spcPts val="300"/>
              </a:spcAft>
            </a:pPr>
            <a:r>
              <a:rPr lang="en-US" sz="2600" spc="0" dirty="0">
                <a:solidFill>
                  <a:srgbClr val="E98C64"/>
                </a:solidFill>
                <a:latin typeface="Helvetica Neue Medium"/>
                <a:cs typeface="Helvetica Neue Medium"/>
              </a:rPr>
              <a:t>AI Screener: The Trading Day</a:t>
            </a:r>
          </a:p>
        </p:txBody>
      </p:sp>
      <p:sp>
        <p:nvSpPr>
          <p:cNvPr id="104" name="Hook"/>
          <p:cNvSpPr txBox="1"/>
          <p:nvPr/>
        </p:nvSpPr>
        <p:spPr>
          <a:xfrm>
            <a:off x="822960" y="2926080"/>
            <a:ext cx="5486400" cy="128016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Getting new traders to a screen they trust in their first session, then watching it for them. Goal: cut sign-up to Elite from 42 to 21 days.</a:t>
            </a:r>
          </a:p>
        </p:txBody>
      </p:sp>
      <p:cxnSp>
        <p:nvCxnSpPr>
          <p:cNvPr id="105" name="Divider"/>
          <p:cNvCxnSpPr/>
          <p:nvPr/>
        </p:nvCxnSpPr>
        <p:spPr>
          <a:xfrm>
            <a:off x="822960" y="4343400"/>
            <a:ext cx="5486400" cy="0"/>
          </a:xfrm>
          <a:prstGeom prst="line">
            <a:avLst/>
          </a:prstGeom>
          <a:ln w="9525">
            <a:solidFill>
              <a:srgbClr val="2C2F38"/>
            </a:solidFill>
          </a:ln>
        </p:spPr>
      </p:cxnSp>
      <p:sp>
        <p:nvSpPr>
          <p:cNvPr id="106" name="ROLE"/>
          <p:cNvSpPr txBox="1"/>
          <p:nvPr/>
        </p:nvSpPr>
        <p:spPr>
          <a:xfrm>
            <a:off x="822960" y="4471416"/>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ROLE</a:t>
            </a:r>
          </a:p>
        </p:txBody>
      </p:sp>
      <p:sp>
        <p:nvSpPr>
          <p:cNvPr id="107" name="ROLE value"/>
          <p:cNvSpPr txBox="1"/>
          <p:nvPr/>
        </p:nvSpPr>
        <p:spPr>
          <a:xfrm>
            <a:off x="2148840" y="4443984"/>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Lead UX designer</a:t>
            </a:r>
          </a:p>
        </p:txBody>
      </p:sp>
      <p:cxnSp>
        <p:nvCxnSpPr>
          <p:cNvPr id="108" name="Divider"/>
          <p:cNvCxnSpPr/>
          <p:nvPr/>
        </p:nvCxnSpPr>
        <p:spPr>
          <a:xfrm>
            <a:off x="822960" y="5056632"/>
            <a:ext cx="5486400" cy="0"/>
          </a:xfrm>
          <a:prstGeom prst="line">
            <a:avLst/>
          </a:prstGeom>
          <a:ln w="9525">
            <a:solidFill>
              <a:srgbClr val="2C2F38"/>
            </a:solidFill>
          </a:ln>
        </p:spPr>
      </p:cxnSp>
      <p:sp>
        <p:nvSpPr>
          <p:cNvPr id="109" name="TEAM"/>
          <p:cNvSpPr txBox="1"/>
          <p:nvPr/>
        </p:nvSpPr>
        <p:spPr>
          <a:xfrm>
            <a:off x="822960" y="5184648"/>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TEAM</a:t>
            </a:r>
          </a:p>
        </p:txBody>
      </p:sp>
      <p:sp>
        <p:nvSpPr>
          <p:cNvPr id="110" name="TEAM value"/>
          <p:cNvSpPr txBox="1"/>
          <p:nvPr/>
        </p:nvSpPr>
        <p:spPr>
          <a:xfrm>
            <a:off x="2148840" y="5157216"/>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Solo lead with AI agents for drafting; four design reviewers</a:t>
            </a:r>
          </a:p>
        </p:txBody>
      </p:sp>
      <p:cxnSp>
        <p:nvCxnSpPr>
          <p:cNvPr id="111" name="Divider"/>
          <p:cNvCxnSpPr/>
          <p:nvPr/>
        </p:nvCxnSpPr>
        <p:spPr>
          <a:xfrm>
            <a:off x="822960" y="5769864"/>
            <a:ext cx="5486400" cy="0"/>
          </a:xfrm>
          <a:prstGeom prst="line">
            <a:avLst/>
          </a:prstGeom>
          <a:ln w="9525">
            <a:solidFill>
              <a:srgbClr val="2C2F38"/>
            </a:solidFill>
          </a:ln>
        </p:spPr>
      </p:cxnSp>
      <p:sp>
        <p:nvSpPr>
          <p:cNvPr id="112" name="SCOPE"/>
          <p:cNvSpPr txBox="1"/>
          <p:nvPr/>
        </p:nvSpPr>
        <p:spPr>
          <a:xfrm>
            <a:off x="822960" y="5897880"/>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SCOPE</a:t>
            </a:r>
          </a:p>
        </p:txBody>
      </p:sp>
      <p:sp>
        <p:nvSpPr>
          <p:cNvPr id="113" name="SCOPE value"/>
          <p:cNvSpPr txBox="1"/>
          <p:nvPr/>
        </p:nvSpPr>
        <p:spPr>
          <a:xfrm>
            <a:off x="2148840" y="5870448"/>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Research to hi-fi: 19 screens, design system, live prototype</a:t>
            </a:r>
          </a:p>
        </p:txBody>
      </p:sp>
      <p:cxnSp>
        <p:nvCxnSpPr>
          <p:cNvPr id="114" name="Divider"/>
          <p:cNvCxnSpPr/>
          <p:nvPr/>
        </p:nvCxnSpPr>
        <p:spPr>
          <a:xfrm>
            <a:off x="822960" y="6483096"/>
            <a:ext cx="5486400" cy="0"/>
          </a:xfrm>
          <a:prstGeom prst="line">
            <a:avLst/>
          </a:prstGeom>
          <a:ln w="9525">
            <a:solidFill>
              <a:srgbClr val="2C2F38"/>
            </a:solidFill>
          </a:ln>
        </p:spPr>
      </p:cxnSp>
      <p:sp>
        <p:nvSpPr>
          <p:cNvPr id="115" name="STATUS"/>
          <p:cNvSpPr txBox="1"/>
          <p:nvPr/>
        </p:nvSpPr>
        <p:spPr>
          <a:xfrm>
            <a:off x="822960" y="6611112"/>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STATUS</a:t>
            </a:r>
          </a:p>
        </p:txBody>
      </p:sp>
      <p:sp>
        <p:nvSpPr>
          <p:cNvPr id="116" name="STATUS value"/>
          <p:cNvSpPr txBox="1"/>
          <p:nvPr/>
        </p:nvSpPr>
        <p:spPr>
          <a:xfrm>
            <a:off x="2148840" y="6583680"/>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Concept. Tests are set; none has run yet</a:t>
            </a:r>
          </a:p>
        </p:txBody>
      </p:sp>
      <p:cxnSp>
        <p:nvCxnSpPr>
          <p:cNvPr id="117" name="Divider"/>
          <p:cNvCxnSpPr/>
          <p:nvPr/>
        </p:nvCxnSpPr>
        <p:spPr>
          <a:xfrm>
            <a:off x="822960" y="7196328"/>
            <a:ext cx="5486400" cy="0"/>
          </a:xfrm>
          <a:prstGeom prst="line">
            <a:avLst/>
          </a:prstGeom>
          <a:ln w="9525">
            <a:solidFill>
              <a:srgbClr val="2C2F38"/>
            </a:solidFill>
          </a:ln>
        </p:spPr>
      </p:cxnSp>
      <p:sp>
        <p:nvSpPr>
          <p:cNvPr id="118" name="Quote"/>
          <p:cNvSpPr txBox="1"/>
          <p:nvPr/>
        </p:nvSpPr>
        <p:spPr>
          <a:xfrm>
            <a:off x="822960" y="7516368"/>
            <a:ext cx="5486400" cy="1188720"/>
          </a:xfrm>
          <a:prstGeom prst="rect">
            <a:avLst/>
          </a:prstGeom>
          <a:noFill/>
        </p:spPr>
        <p:txBody>
          <a:bodyPr wrap="square" lIns="0" tIns="0" rIns="0" bIns="0" anchor="t">
            <a:noAutofit/>
          </a:bodyPr>
          <a:lstStyle/>
          <a:p>
            <a:pPr algn="l">
              <a:lnSpc>
                <a:spcPct val="115000"/>
              </a:lnSpc>
              <a:spcAft>
                <a:spcPts val="300"/>
              </a:spcAft>
            </a:pPr>
            <a:r>
              <a:rPr lang="en-US" sz="1500" spc="0" dirty="0">
                <a:solidFill>
                  <a:srgbClr val="F5F5F7"/>
                </a:solidFill>
                <a:latin typeface="Helvetica Neue Light"/>
                <a:cs typeface="Helvetica Neue Light"/>
              </a:rPr>
              <a:t>“Alerts are everything. Once you close FinViz, you get nothing.”</a:t>
            </a:r>
          </a:p>
        </p:txBody>
      </p:sp>
      <p:pic>
        <p:nvPicPr>
          <p:cNvPr id="119" name="Picture 8" descr="image.png"/>
          <p:cNvPicPr>
            <a:picLocks noChangeAspect="1"/>
          </p:cNvPicPr>
          <p:nvPr/>
        </p:nvPicPr>
        <p:blipFill>
          <a:blip r:embed="rId3"/>
          <a:stretch>
            <a:fillRect/>
          </a:stretch>
        </p:blipFill>
        <p:spPr>
          <a:xfrm>
            <a:off x="6720840" y="1972845"/>
            <a:ext cx="5458968" cy="5015428"/>
          </a:xfrm>
          <a:prstGeom prst="rect">
            <a:avLst/>
          </a:prstGeom>
          <a:ln w="9525">
            <a:solidFill>
              <a:srgbClr val="3A3E49"/>
            </a:solidFill>
          </a:ln>
        </p:spPr>
      </p:pic>
      <p:pic>
        <p:nvPicPr>
          <p:cNvPr id="120"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822960"/>
            <a:ext cx="548640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CASE STUDY 02 · ENTERPRISE · DELIVERED</a:t>
            </a:r>
          </a:p>
        </p:txBody>
      </p:sp>
      <p:sp>
        <p:nvSpPr>
          <p:cNvPr id="102" name="Company"/>
          <p:cNvSpPr txBox="1"/>
          <p:nvPr/>
        </p:nvSpPr>
        <p:spPr>
          <a:xfrm>
            <a:off x="822960" y="1234440"/>
            <a:ext cx="5486400" cy="914400"/>
          </a:xfrm>
          <a:prstGeom prst="rect">
            <a:avLst/>
          </a:prstGeom>
          <a:noFill/>
        </p:spPr>
        <p:txBody>
          <a:bodyPr wrap="square" lIns="0" tIns="0" rIns="0" bIns="0" anchor="t">
            <a:noAutofit/>
          </a:bodyPr>
          <a:lstStyle/>
          <a:p>
            <a:pPr algn="l">
              <a:lnSpc>
                <a:spcPct val="90000"/>
              </a:lnSpc>
              <a:spcAft>
                <a:spcPts val="300"/>
              </a:spcAft>
            </a:pPr>
            <a:r>
              <a:rPr lang="en-US" sz="5400" spc="-40" dirty="0">
                <a:solidFill>
                  <a:srgbClr val="F5F5F7"/>
                </a:solidFill>
                <a:latin typeface="Helvetica Neue Medium"/>
                <a:cs typeface="Helvetica Neue Medium"/>
              </a:rPr>
              <a:t>Credit Suisse</a:t>
            </a:r>
          </a:p>
        </p:txBody>
      </p:sp>
      <p:sp>
        <p:nvSpPr>
          <p:cNvPr id="103" name="Project"/>
          <p:cNvSpPr txBox="1"/>
          <p:nvPr/>
        </p:nvSpPr>
        <p:spPr>
          <a:xfrm>
            <a:off x="822960" y="2240280"/>
            <a:ext cx="5486400" cy="548640"/>
          </a:xfrm>
          <a:prstGeom prst="rect">
            <a:avLst/>
          </a:prstGeom>
          <a:noFill/>
        </p:spPr>
        <p:txBody>
          <a:bodyPr wrap="square" lIns="0" tIns="0" rIns="0" bIns="0" anchor="t">
            <a:noAutofit/>
          </a:bodyPr>
          <a:lstStyle/>
          <a:p>
            <a:pPr algn="l">
              <a:lnSpc>
                <a:spcPct val="115000"/>
              </a:lnSpc>
              <a:spcAft>
                <a:spcPts val="300"/>
              </a:spcAft>
            </a:pPr>
            <a:r>
              <a:rPr lang="en-US" sz="2600" spc="0" dirty="0">
                <a:solidFill>
                  <a:srgbClr val="E98C64"/>
                </a:solidFill>
                <a:latin typeface="Helvetica Neue Medium"/>
                <a:cs typeface="Helvetica Neue Medium"/>
              </a:rPr>
              <a:t>Outside Business Interests (OBI)</a:t>
            </a:r>
          </a:p>
        </p:txBody>
      </p:sp>
      <p:sp>
        <p:nvSpPr>
          <p:cNvPr id="104" name="Hook"/>
          <p:cNvSpPr txBox="1"/>
          <p:nvPr/>
        </p:nvSpPr>
        <p:spPr>
          <a:xfrm>
            <a:off x="822960" y="2926080"/>
            <a:ext cx="5486400" cy="128016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Saving money by reducing friction, educating employees and removing risk from pre-clearance for outside activities.</a:t>
            </a:r>
          </a:p>
        </p:txBody>
      </p:sp>
      <p:cxnSp>
        <p:nvCxnSpPr>
          <p:cNvPr id="105" name="Divider"/>
          <p:cNvCxnSpPr/>
          <p:nvPr/>
        </p:nvCxnSpPr>
        <p:spPr>
          <a:xfrm>
            <a:off x="822960" y="4343400"/>
            <a:ext cx="5486400" cy="0"/>
          </a:xfrm>
          <a:prstGeom prst="line">
            <a:avLst/>
          </a:prstGeom>
          <a:ln w="9525">
            <a:solidFill>
              <a:srgbClr val="2C2F38"/>
            </a:solidFill>
          </a:ln>
        </p:spPr>
      </p:cxnSp>
      <p:sp>
        <p:nvSpPr>
          <p:cNvPr id="106" name="ROLE"/>
          <p:cNvSpPr txBox="1"/>
          <p:nvPr/>
        </p:nvSpPr>
        <p:spPr>
          <a:xfrm>
            <a:off x="822960" y="4471416"/>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ROLE</a:t>
            </a:r>
          </a:p>
        </p:txBody>
      </p:sp>
      <p:sp>
        <p:nvSpPr>
          <p:cNvPr id="107" name="ROLE value"/>
          <p:cNvSpPr txBox="1"/>
          <p:nvPr/>
        </p:nvSpPr>
        <p:spPr>
          <a:xfrm>
            <a:off x="2148840" y="4443984"/>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Led the project team</a:t>
            </a:r>
          </a:p>
        </p:txBody>
      </p:sp>
      <p:cxnSp>
        <p:nvCxnSpPr>
          <p:cNvPr id="108" name="Divider"/>
          <p:cNvCxnSpPr/>
          <p:nvPr/>
        </p:nvCxnSpPr>
        <p:spPr>
          <a:xfrm>
            <a:off x="822960" y="5056632"/>
            <a:ext cx="5486400" cy="0"/>
          </a:xfrm>
          <a:prstGeom prst="line">
            <a:avLst/>
          </a:prstGeom>
          <a:ln w="9525">
            <a:solidFill>
              <a:srgbClr val="2C2F38"/>
            </a:solidFill>
          </a:ln>
        </p:spPr>
      </p:cxnSp>
      <p:sp>
        <p:nvSpPr>
          <p:cNvPr id="109" name="TEAM"/>
          <p:cNvSpPr txBox="1"/>
          <p:nvPr/>
        </p:nvSpPr>
        <p:spPr>
          <a:xfrm>
            <a:off x="822960" y="5184648"/>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TEAM</a:t>
            </a:r>
          </a:p>
        </p:txBody>
      </p:sp>
      <p:sp>
        <p:nvSpPr>
          <p:cNvPr id="110" name="TEAM value"/>
          <p:cNvSpPr txBox="1"/>
          <p:nvPr/>
        </p:nvSpPr>
        <p:spPr>
          <a:xfrm>
            <a:off x="2148840" y="5157216"/>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2 UX designers and a content designer</a:t>
            </a:r>
          </a:p>
        </p:txBody>
      </p:sp>
      <p:cxnSp>
        <p:nvCxnSpPr>
          <p:cNvPr id="111" name="Divider"/>
          <p:cNvCxnSpPr/>
          <p:nvPr/>
        </p:nvCxnSpPr>
        <p:spPr>
          <a:xfrm>
            <a:off x="822960" y="5769864"/>
            <a:ext cx="5486400" cy="0"/>
          </a:xfrm>
          <a:prstGeom prst="line">
            <a:avLst/>
          </a:prstGeom>
          <a:ln w="9525">
            <a:solidFill>
              <a:srgbClr val="2C2F38"/>
            </a:solidFill>
          </a:ln>
        </p:spPr>
      </p:cxnSp>
      <p:sp>
        <p:nvSpPr>
          <p:cNvPr id="112" name="SCOPE"/>
          <p:cNvSpPr txBox="1"/>
          <p:nvPr/>
        </p:nvSpPr>
        <p:spPr>
          <a:xfrm>
            <a:off x="822960" y="5897880"/>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SCOPE</a:t>
            </a:r>
          </a:p>
        </p:txBody>
      </p:sp>
      <p:sp>
        <p:nvSpPr>
          <p:cNvPr id="113" name="SCOPE value"/>
          <p:cNvSpPr txBox="1"/>
          <p:nvPr/>
        </p:nvSpPr>
        <p:spPr>
          <a:xfrm>
            <a:off x="2148840" y="5870448"/>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Discovery to delivery: 33 Agile sprints, usability testing every week</a:t>
            </a:r>
          </a:p>
        </p:txBody>
      </p:sp>
      <p:cxnSp>
        <p:nvCxnSpPr>
          <p:cNvPr id="114" name="Divider"/>
          <p:cNvCxnSpPr/>
          <p:nvPr/>
        </p:nvCxnSpPr>
        <p:spPr>
          <a:xfrm>
            <a:off x="822960" y="6483096"/>
            <a:ext cx="5486400" cy="0"/>
          </a:xfrm>
          <a:prstGeom prst="line">
            <a:avLst/>
          </a:prstGeom>
          <a:ln w="9525">
            <a:solidFill>
              <a:srgbClr val="2C2F38"/>
            </a:solidFill>
          </a:ln>
        </p:spPr>
      </p:cxnSp>
      <p:sp>
        <p:nvSpPr>
          <p:cNvPr id="115" name="USERS"/>
          <p:cNvSpPr txBox="1"/>
          <p:nvPr/>
        </p:nvSpPr>
        <p:spPr>
          <a:xfrm>
            <a:off x="822960" y="6611112"/>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USERS</a:t>
            </a:r>
          </a:p>
        </p:txBody>
      </p:sp>
      <p:sp>
        <p:nvSpPr>
          <p:cNvPr id="116" name="USERS value"/>
          <p:cNvSpPr txBox="1"/>
          <p:nvPr/>
        </p:nvSpPr>
        <p:spPr>
          <a:xfrm>
            <a:off x="2148840" y="6583680"/>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All employees and managers, reviewers, and Risk &amp; Compliance managers</a:t>
            </a:r>
          </a:p>
        </p:txBody>
      </p:sp>
      <p:cxnSp>
        <p:nvCxnSpPr>
          <p:cNvPr id="117" name="Divider"/>
          <p:cNvCxnSpPr/>
          <p:nvPr/>
        </p:nvCxnSpPr>
        <p:spPr>
          <a:xfrm>
            <a:off x="822960" y="7196328"/>
            <a:ext cx="5486400" cy="0"/>
          </a:xfrm>
          <a:prstGeom prst="line">
            <a:avLst/>
          </a:prstGeom>
          <a:ln w="9525">
            <a:solidFill>
              <a:srgbClr val="2C2F38"/>
            </a:solidFill>
          </a:ln>
        </p:spPr>
      </p:cxnSp>
      <p:sp>
        <p:nvSpPr>
          <p:cNvPr id="118" name="Quote"/>
          <p:cNvSpPr txBox="1"/>
          <p:nvPr/>
        </p:nvSpPr>
        <p:spPr>
          <a:xfrm>
            <a:off x="822960" y="7516368"/>
            <a:ext cx="5486400" cy="1188720"/>
          </a:xfrm>
          <a:prstGeom prst="rect">
            <a:avLst/>
          </a:prstGeom>
          <a:noFill/>
        </p:spPr>
        <p:txBody>
          <a:bodyPr wrap="square" lIns="0" tIns="0" rIns="0" bIns="0" anchor="t">
            <a:noAutofit/>
          </a:bodyPr>
          <a:lstStyle/>
          <a:p>
            <a:pPr algn="l">
              <a:lnSpc>
                <a:spcPct val="115000"/>
              </a:lnSpc>
              <a:spcAft>
                <a:spcPts val="300"/>
              </a:spcAft>
            </a:pPr>
            <a:r>
              <a:rPr lang="en-US" sz="1500" spc="0" dirty="0">
                <a:solidFill>
                  <a:srgbClr val="F5F5F7"/>
                </a:solidFill>
                <a:latin typeface="Helvetica Neue Light"/>
                <a:cs typeface="Helvetica Neue Light"/>
              </a:rPr>
              <a:t>“It’s too limited in its functionality to be of use for an Approver. Too much time is wasted trying to do more complex tasks.”</a:t>
            </a:r>
          </a:p>
        </p:txBody>
      </p:sp>
      <p:pic>
        <p:nvPicPr>
          <p:cNvPr id="119" name="Picture 1" descr="image.png"/>
          <p:cNvPicPr>
            <a:picLocks noChangeAspect="1"/>
          </p:cNvPicPr>
          <p:nvPr/>
        </p:nvPicPr>
        <p:blipFill>
          <a:blip r:embed="rId2"/>
          <a:stretch>
            <a:fillRect/>
          </a:stretch>
        </p:blipFill>
        <p:spPr>
          <a:xfrm>
            <a:off x="6720840" y="2170237"/>
            <a:ext cx="5458968" cy="4620645"/>
          </a:xfrm>
          <a:prstGeom prst="rect">
            <a:avLst/>
          </a:prstGeom>
          <a:ln w="9525">
            <a:solidFill>
              <a:srgbClr val="3A3E49"/>
            </a:solidFill>
          </a:ln>
        </p:spPr>
      </p:pic>
      <p:pic>
        <p:nvPicPr>
          <p:cNvPr id="12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INTRODUCTION</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A browser-based tool that gives employees </a:t>
            </a:r>
            <a:r>
              <a:rPr lang="en-US" sz="3600" spc="-40" dirty="0">
                <a:solidFill>
                  <a:srgbClr val="B5531F"/>
                </a:solidFill>
                <a:latin typeface="Helvetica Neue Medium"/>
                <a:cs typeface="Helvetica Neue Medium"/>
              </a:rPr>
              <a:t>pre-clearance for outside activities</a:t>
            </a:r>
            <a:r>
              <a:rPr lang="en-US" sz="3600" spc="-40" dirty="0">
                <a:solidFill>
                  <a:srgbClr val="14161D"/>
                </a:solidFill>
                <a:latin typeface="Helvetica Neue Medium"/>
                <a:cs typeface="Helvetica Neue Medium"/>
              </a:rPr>
              <a:t>, reviewed by two lines of defense.</a:t>
            </a:r>
          </a:p>
        </p:txBody>
      </p:sp>
      <p:sp>
        <p:nvSpPr>
          <p:cNvPr id="103" name="Audience"/>
          <p:cNvSpPr txBox="1"/>
          <p:nvPr/>
        </p:nvSpPr>
        <p:spPr>
          <a:xfrm>
            <a:off x="822960" y="3611880"/>
            <a:ext cx="3511973" cy="420624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TARGET AUDIENCE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Risk and Compliance managers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All Credit Suisse employees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All Credit Suisse managers</a:t>
            </a:r>
          </a:p>
        </p:txBody>
      </p:sp>
      <p:sp>
        <p:nvSpPr>
          <p:cNvPr id="104" name="Problems"/>
          <p:cNvSpPr txBox="1"/>
          <p:nvPr/>
        </p:nvSpPr>
        <p:spPr>
          <a:xfrm>
            <a:off x="4746413"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THE PROBLEMS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Submission status tracking isn’t clear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Lines of responsibility aren’t transparent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No reporting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Navigation is hard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People don’t know why and when to submit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No mobile access for Risk &amp; Compliance managers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confusing submission process, with no education</a:t>
            </a:r>
          </a:p>
        </p:txBody>
      </p:sp>
      <p:sp>
        <p:nvSpPr>
          <p:cNvPr id="105" name="Team"/>
          <p:cNvSpPr txBox="1"/>
          <p:nvPr/>
        </p:nvSpPr>
        <p:spPr>
          <a:xfrm>
            <a:off x="8669866"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TEAM AND MY PART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led a project team of 2 UX designers and a content designer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managed discovery, including research, strategy and hands-on design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led every deliverable in Sketch and Figma, with Lean UX and usability testing, and presented to the client and stakeholders</a:t>
            </a:r>
          </a:p>
        </p:txBody>
      </p:sp>
      <p:pic>
        <p:nvPicPr>
          <p:cNvPr id="106"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DISCOVERY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Where we started: the original application</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The tool employees used to request pre-clearance before the redesign.</a:t>
            </a:r>
          </a:p>
        </p:txBody>
      </p:sp>
      <p:pic>
        <p:nvPicPr>
          <p:cNvPr id="104" name="Background" descr="image.png"/>
          <p:cNvPicPr>
            <a:picLocks noChangeAspect="1"/>
          </p:cNvPicPr>
          <p:nvPr/>
        </p:nvPicPr>
        <p:blipFill>
          <a:blip r:embed="rId2"/>
          <a:srcRect l="4000" t="15000" r="4000" b="34500"/>
          <a:stretch>
            <a:fillRect/>
          </a:stretch>
        </p:blipFill>
        <p:spPr>
          <a:xfrm>
            <a:off x="822960" y="2828639"/>
            <a:ext cx="11356848" cy="4675441"/>
          </a:xfrm>
          <a:prstGeom prst="rect">
            <a:avLst/>
          </a:prstGeom>
          <a:ln w="9525">
            <a:solidFill>
              <a:srgbClr val="D3D6DC"/>
            </a:solidFill>
          </a:ln>
        </p:spPr>
      </p:pic>
      <p:pic>
        <p:nvPicPr>
          <p:cNvPr id="10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WHY REDESIGN</a:t>
            </a:r>
          </a:p>
        </p:txBody>
      </p:sp>
      <p:sp>
        <p:nvSpPr>
          <p:cNvPr id="102" name="Headline"/>
          <p:cNvSpPr txBox="1"/>
          <p:nvPr/>
        </p:nvSpPr>
        <p:spPr>
          <a:xfrm>
            <a:off x="822960" y="1371600"/>
            <a:ext cx="11358880" cy="9144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Why redesign </a:t>
            </a:r>
            <a:r>
              <a:rPr lang="en-US" sz="4000" spc="-40" dirty="0">
                <a:solidFill>
                  <a:srgbClr val="B5531F"/>
                </a:solidFill>
                <a:latin typeface="Helvetica Neue Medium"/>
                <a:cs typeface="Helvetica Neue Medium"/>
              </a:rPr>
              <a:t>OBI</a:t>
            </a:r>
            <a:r>
              <a:rPr lang="en-US" sz="4000" spc="-40" dirty="0">
                <a:solidFill>
                  <a:srgbClr val="14161D"/>
                </a:solidFill>
                <a:latin typeface="Helvetica Neue Medium"/>
                <a:cs typeface="Helvetica Neue Medium"/>
              </a:rPr>
              <a:t>?</a:t>
            </a:r>
          </a:p>
        </p:txBody>
      </p:sp>
      <p:sp>
        <p:nvSpPr>
          <p:cNvPr id="3017" name="Tile"/>
          <p:cNvSpPr/>
          <p:nvPr/>
        </p:nvSpPr>
        <p:spPr>
          <a:xfrm>
            <a:off x="822960" y="2606040"/>
            <a:ext cx="3840480" cy="5623560"/>
          </a:xfrm>
          <a:prstGeom prst="roundRect">
            <a:avLst>
              <a:gd name="adj" fmla="val 3333"/>
            </a:avLst>
          </a:prstGeom>
          <a:solidFill>
            <a:srgbClr val="B5531F"/>
          </a:solidFill>
          <a:ln>
            <a:noFill/>
          </a:ln>
        </p:spPr>
        <p:txBody>
          <a:bodyPr/>
          <a:lstStyle/>
          <a:p>
            <a:endParaRPr lang="en-US"/>
          </a:p>
        </p:txBody>
      </p:sp>
      <p:sp>
        <p:nvSpPr>
          <p:cNvPr id="103" name="Number"/>
          <p:cNvSpPr txBox="1"/>
          <p:nvPr/>
        </p:nvSpPr>
        <p:spPr>
          <a:xfrm>
            <a:off x="1097280" y="2807208"/>
            <a:ext cx="3291840" cy="1733550"/>
          </a:xfrm>
          <a:prstGeom prst="rect">
            <a:avLst/>
          </a:prstGeom>
          <a:noFill/>
        </p:spPr>
        <p:txBody>
          <a:bodyPr wrap="square" lIns="0" tIns="0" rIns="0" bIns="0" anchor="t">
            <a:noAutofit/>
          </a:bodyPr>
          <a:lstStyle/>
          <a:p>
            <a:pPr algn="l">
              <a:lnSpc>
                <a:spcPct val="88000"/>
              </a:lnSpc>
              <a:spcAft>
                <a:spcPts val="300"/>
              </a:spcAft>
            </a:pPr>
            <a:r>
              <a:rPr lang="en-US" sz="13000" spc="-60" dirty="0">
                <a:solidFill>
                  <a:srgbClr val="FFFFFF"/>
                </a:solidFill>
                <a:latin typeface="Helvetica Neue Medium"/>
                <a:cs typeface="Helvetica Neue Medium"/>
              </a:rPr>
              <a:t>475</a:t>
            </a:r>
          </a:p>
        </p:txBody>
      </p:sp>
      <p:sp>
        <p:nvSpPr>
          <p:cNvPr id="104" name="Label"/>
          <p:cNvSpPr txBox="1"/>
          <p:nvPr/>
        </p:nvSpPr>
        <p:spPr>
          <a:xfrm>
            <a:off x="1097280" y="4613910"/>
            <a:ext cx="3291840" cy="914400"/>
          </a:xfrm>
          <a:prstGeom prst="rect">
            <a:avLst/>
          </a:prstGeom>
          <a:noFill/>
        </p:spPr>
        <p:txBody>
          <a:bodyPr wrap="square" lIns="0" tIns="0" rIns="0" bIns="0" anchor="t">
            <a:noAutofit/>
          </a:bodyPr>
          <a:lstStyle/>
          <a:p>
            <a:pPr algn="l">
              <a:lnSpc>
                <a:spcPct val="115000"/>
              </a:lnSpc>
              <a:spcAft>
                <a:spcPts val="300"/>
              </a:spcAft>
            </a:pPr>
            <a:r>
              <a:rPr lang="en-US" sz="1600" spc="0" dirty="0">
                <a:solidFill>
                  <a:srgbClr val="FBE3D8"/>
                </a:solidFill>
                <a:latin typeface="Helvetica Neue Light"/>
                <a:cs typeface="Helvetica Neue Light"/>
              </a:rPr>
              <a:t>returned submissions missing required information, every year</a:t>
            </a:r>
          </a:p>
        </p:txBody>
      </p:sp>
      <p:sp>
        <p:nvSpPr>
          <p:cNvPr id="3018" name="Tile"/>
          <p:cNvSpPr/>
          <p:nvPr/>
        </p:nvSpPr>
        <p:spPr>
          <a:xfrm>
            <a:off x="4846320" y="2606040"/>
            <a:ext cx="3575303" cy="2743200"/>
          </a:xfrm>
          <a:prstGeom prst="roundRect">
            <a:avLst>
              <a:gd name="adj" fmla="val 4666"/>
            </a:avLst>
          </a:prstGeom>
          <a:solidFill>
            <a:srgbClr val="1B1D24"/>
          </a:solidFill>
          <a:ln>
            <a:noFill/>
          </a:ln>
        </p:spPr>
        <p:txBody>
          <a:bodyPr/>
          <a:lstStyle/>
          <a:p>
            <a:endParaRPr lang="en-US"/>
          </a:p>
        </p:txBody>
      </p:sp>
      <p:sp>
        <p:nvSpPr>
          <p:cNvPr id="105" name="Number"/>
          <p:cNvSpPr txBox="1"/>
          <p:nvPr/>
        </p:nvSpPr>
        <p:spPr>
          <a:xfrm>
            <a:off x="5120640" y="2807208"/>
            <a:ext cx="3026663" cy="880110"/>
          </a:xfrm>
          <a:prstGeom prst="rect">
            <a:avLst/>
          </a:prstGeom>
          <a:noFill/>
        </p:spPr>
        <p:txBody>
          <a:bodyPr wrap="square" lIns="0" tIns="0" rIns="0" bIns="0" anchor="t">
            <a:noAutofit/>
          </a:bodyPr>
          <a:lstStyle/>
          <a:p>
            <a:pPr algn="l">
              <a:lnSpc>
                <a:spcPct val="88000"/>
              </a:lnSpc>
              <a:spcAft>
                <a:spcPts val="300"/>
              </a:spcAft>
            </a:pPr>
            <a:r>
              <a:rPr lang="en-US" sz="6600" spc="-60" dirty="0">
                <a:solidFill>
                  <a:srgbClr val="F5F5F7"/>
                </a:solidFill>
                <a:latin typeface="Helvetica Neue Medium"/>
                <a:cs typeface="Helvetica Neue Medium"/>
              </a:rPr>
              <a:t>22 min</a:t>
            </a:r>
          </a:p>
        </p:txBody>
      </p:sp>
      <p:sp>
        <p:nvSpPr>
          <p:cNvPr id="106" name="Label"/>
          <p:cNvSpPr txBox="1"/>
          <p:nvPr/>
        </p:nvSpPr>
        <p:spPr>
          <a:xfrm>
            <a:off x="5120640" y="3760470"/>
            <a:ext cx="3026663"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average time employees need to resubmit</a:t>
            </a:r>
          </a:p>
        </p:txBody>
      </p:sp>
      <p:sp>
        <p:nvSpPr>
          <p:cNvPr id="3019" name="Tile"/>
          <p:cNvSpPr/>
          <p:nvPr/>
        </p:nvSpPr>
        <p:spPr>
          <a:xfrm>
            <a:off x="8604503" y="2606040"/>
            <a:ext cx="3575303" cy="2743200"/>
          </a:xfrm>
          <a:prstGeom prst="roundRect">
            <a:avLst>
              <a:gd name="adj" fmla="val 4666"/>
            </a:avLst>
          </a:prstGeom>
          <a:solidFill>
            <a:srgbClr val="F1F2F5"/>
          </a:solidFill>
          <a:ln>
            <a:noFill/>
          </a:ln>
        </p:spPr>
        <p:txBody>
          <a:bodyPr/>
          <a:lstStyle/>
          <a:p>
            <a:endParaRPr lang="en-US"/>
          </a:p>
        </p:txBody>
      </p:sp>
      <p:sp>
        <p:nvSpPr>
          <p:cNvPr id="107" name="Number"/>
          <p:cNvSpPr txBox="1"/>
          <p:nvPr/>
        </p:nvSpPr>
        <p:spPr>
          <a:xfrm>
            <a:off x="8878823" y="2807208"/>
            <a:ext cx="3026663" cy="880110"/>
          </a:xfrm>
          <a:prstGeom prst="rect">
            <a:avLst/>
          </a:prstGeom>
          <a:noFill/>
        </p:spPr>
        <p:txBody>
          <a:bodyPr wrap="square" lIns="0" tIns="0" rIns="0" bIns="0" anchor="t">
            <a:noAutofit/>
          </a:bodyPr>
          <a:lstStyle/>
          <a:p>
            <a:pPr algn="l">
              <a:lnSpc>
                <a:spcPct val="88000"/>
              </a:lnSpc>
              <a:spcAft>
                <a:spcPts val="300"/>
              </a:spcAft>
            </a:pPr>
            <a:r>
              <a:rPr lang="en-US" sz="6600" spc="-60" dirty="0">
                <a:solidFill>
                  <a:srgbClr val="14161D"/>
                </a:solidFill>
                <a:latin typeface="Helvetica Neue Medium"/>
                <a:cs typeface="Helvetica Neue Medium"/>
              </a:rPr>
              <a:t>58%</a:t>
            </a:r>
          </a:p>
        </p:txBody>
      </p:sp>
      <p:sp>
        <p:nvSpPr>
          <p:cNvPr id="108" name="Label"/>
          <p:cNvSpPr txBox="1"/>
          <p:nvPr/>
        </p:nvSpPr>
        <p:spPr>
          <a:xfrm>
            <a:off x="8878823" y="3760470"/>
            <a:ext cx="3026663"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565C6B"/>
                </a:solidFill>
                <a:latin typeface="Helvetica Neue Light"/>
                <a:cs typeface="Helvetica Neue Light"/>
              </a:rPr>
              <a:t>approval rating from Risk &amp; Compliance managers</a:t>
            </a:r>
          </a:p>
        </p:txBody>
      </p:sp>
      <p:sp>
        <p:nvSpPr>
          <p:cNvPr id="3020" name="Tile"/>
          <p:cNvSpPr/>
          <p:nvPr/>
        </p:nvSpPr>
        <p:spPr>
          <a:xfrm>
            <a:off x="8878823" y="4965192"/>
            <a:ext cx="3026663" cy="100584"/>
          </a:xfrm>
          <a:prstGeom prst="roundRect">
            <a:avLst>
              <a:gd name="adj" fmla="val 45454"/>
            </a:avLst>
          </a:prstGeom>
          <a:solidFill>
            <a:srgbClr val="DDE0E6"/>
          </a:solidFill>
          <a:ln>
            <a:noFill/>
          </a:ln>
        </p:spPr>
        <p:txBody>
          <a:bodyPr/>
          <a:lstStyle/>
          <a:p>
            <a:endParaRPr lang="en-US"/>
          </a:p>
        </p:txBody>
      </p:sp>
      <p:sp>
        <p:nvSpPr>
          <p:cNvPr id="3021" name="Tile"/>
          <p:cNvSpPr/>
          <p:nvPr/>
        </p:nvSpPr>
        <p:spPr>
          <a:xfrm>
            <a:off x="8878823" y="4965192"/>
            <a:ext cx="1755465" cy="100584"/>
          </a:xfrm>
          <a:prstGeom prst="roundRect">
            <a:avLst>
              <a:gd name="adj" fmla="val 45454"/>
            </a:avLst>
          </a:prstGeom>
          <a:solidFill>
            <a:srgbClr val="FF6600"/>
          </a:solidFill>
          <a:ln>
            <a:noFill/>
          </a:ln>
        </p:spPr>
        <p:txBody>
          <a:bodyPr/>
          <a:lstStyle/>
          <a:p>
            <a:endParaRPr lang="en-US"/>
          </a:p>
        </p:txBody>
      </p:sp>
      <p:sp>
        <p:nvSpPr>
          <p:cNvPr id="3022" name="Tile"/>
          <p:cNvSpPr/>
          <p:nvPr/>
        </p:nvSpPr>
        <p:spPr>
          <a:xfrm>
            <a:off x="4846320" y="5532120"/>
            <a:ext cx="2322575" cy="2697480"/>
          </a:xfrm>
          <a:prstGeom prst="roundRect">
            <a:avLst>
              <a:gd name="adj" fmla="val 5511"/>
            </a:avLst>
          </a:prstGeom>
          <a:solidFill>
            <a:srgbClr val="1B1D24"/>
          </a:solidFill>
          <a:ln>
            <a:noFill/>
          </a:ln>
        </p:spPr>
        <p:txBody>
          <a:bodyPr/>
          <a:lstStyle/>
          <a:p>
            <a:endParaRPr lang="en-US"/>
          </a:p>
        </p:txBody>
      </p:sp>
      <p:sp>
        <p:nvSpPr>
          <p:cNvPr id="109" name="Number"/>
          <p:cNvSpPr txBox="1"/>
          <p:nvPr/>
        </p:nvSpPr>
        <p:spPr>
          <a:xfrm>
            <a:off x="5120640" y="5733288"/>
            <a:ext cx="1773935" cy="666750"/>
          </a:xfrm>
          <a:prstGeom prst="rect">
            <a:avLst/>
          </a:prstGeom>
          <a:noFill/>
        </p:spPr>
        <p:txBody>
          <a:bodyPr wrap="square" lIns="0" tIns="0" rIns="0" bIns="0" anchor="t">
            <a:noAutofit/>
          </a:bodyPr>
          <a:lstStyle/>
          <a:p>
            <a:pPr algn="l">
              <a:lnSpc>
                <a:spcPct val="88000"/>
              </a:lnSpc>
              <a:spcAft>
                <a:spcPts val="300"/>
              </a:spcAft>
            </a:pPr>
            <a:r>
              <a:rPr lang="en-US" sz="5000" spc="-60" dirty="0">
                <a:solidFill>
                  <a:srgbClr val="F5F5F7"/>
                </a:solidFill>
                <a:latin typeface="Helvetica Neue Medium"/>
                <a:cs typeface="Helvetica Neue Medium"/>
              </a:rPr>
              <a:t>5.4%</a:t>
            </a:r>
          </a:p>
        </p:txBody>
      </p:sp>
      <p:sp>
        <p:nvSpPr>
          <p:cNvPr id="110" name="Label"/>
          <p:cNvSpPr txBox="1"/>
          <p:nvPr/>
        </p:nvSpPr>
        <p:spPr>
          <a:xfrm>
            <a:off x="5120640" y="6473190"/>
            <a:ext cx="1773935"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drop-off on Outside Business Activities forms</a:t>
            </a:r>
          </a:p>
        </p:txBody>
      </p:sp>
      <p:sp>
        <p:nvSpPr>
          <p:cNvPr id="3023" name="Tile"/>
          <p:cNvSpPr/>
          <p:nvPr/>
        </p:nvSpPr>
        <p:spPr>
          <a:xfrm>
            <a:off x="7351775" y="5532120"/>
            <a:ext cx="2322575" cy="2697480"/>
          </a:xfrm>
          <a:prstGeom prst="roundRect">
            <a:avLst>
              <a:gd name="adj" fmla="val 5511"/>
            </a:avLst>
          </a:prstGeom>
          <a:solidFill>
            <a:srgbClr val="1B1D24"/>
          </a:solidFill>
          <a:ln>
            <a:noFill/>
          </a:ln>
        </p:spPr>
        <p:txBody>
          <a:bodyPr/>
          <a:lstStyle/>
          <a:p>
            <a:endParaRPr lang="en-US"/>
          </a:p>
        </p:txBody>
      </p:sp>
      <p:sp>
        <p:nvSpPr>
          <p:cNvPr id="111" name="Number"/>
          <p:cNvSpPr txBox="1"/>
          <p:nvPr/>
        </p:nvSpPr>
        <p:spPr>
          <a:xfrm>
            <a:off x="7626095" y="5733288"/>
            <a:ext cx="1773935" cy="666750"/>
          </a:xfrm>
          <a:prstGeom prst="rect">
            <a:avLst/>
          </a:prstGeom>
          <a:noFill/>
        </p:spPr>
        <p:txBody>
          <a:bodyPr wrap="square" lIns="0" tIns="0" rIns="0" bIns="0" anchor="t">
            <a:noAutofit/>
          </a:bodyPr>
          <a:lstStyle/>
          <a:p>
            <a:pPr algn="l">
              <a:lnSpc>
                <a:spcPct val="88000"/>
              </a:lnSpc>
              <a:spcAft>
                <a:spcPts val="300"/>
              </a:spcAft>
            </a:pPr>
            <a:r>
              <a:rPr lang="en-US" sz="5000" spc="-60" dirty="0">
                <a:solidFill>
                  <a:srgbClr val="F5F5F7"/>
                </a:solidFill>
                <a:latin typeface="Helvetica Neue Medium"/>
                <a:cs typeface="Helvetica Neue Medium"/>
              </a:rPr>
              <a:t>6.1%</a:t>
            </a:r>
          </a:p>
        </p:txBody>
      </p:sp>
      <p:sp>
        <p:nvSpPr>
          <p:cNvPr id="112" name="Label"/>
          <p:cNvSpPr txBox="1"/>
          <p:nvPr/>
        </p:nvSpPr>
        <p:spPr>
          <a:xfrm>
            <a:off x="7626095" y="6473190"/>
            <a:ext cx="1773935"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drop-off on Private Investments forms</a:t>
            </a:r>
          </a:p>
        </p:txBody>
      </p:sp>
      <p:sp>
        <p:nvSpPr>
          <p:cNvPr id="3024" name="Tile"/>
          <p:cNvSpPr/>
          <p:nvPr/>
        </p:nvSpPr>
        <p:spPr>
          <a:xfrm>
            <a:off x="9857232" y="5532120"/>
            <a:ext cx="2322575" cy="2697480"/>
          </a:xfrm>
          <a:prstGeom prst="roundRect">
            <a:avLst>
              <a:gd name="adj" fmla="val 5511"/>
            </a:avLst>
          </a:prstGeom>
          <a:solidFill>
            <a:srgbClr val="F1F2F5"/>
          </a:solidFill>
          <a:ln>
            <a:noFill/>
          </a:ln>
        </p:spPr>
        <p:txBody>
          <a:bodyPr/>
          <a:lstStyle/>
          <a:p>
            <a:endParaRPr lang="en-US"/>
          </a:p>
        </p:txBody>
      </p:sp>
      <p:sp>
        <p:nvSpPr>
          <p:cNvPr id="113" name="Number"/>
          <p:cNvSpPr txBox="1"/>
          <p:nvPr/>
        </p:nvSpPr>
        <p:spPr>
          <a:xfrm>
            <a:off x="10131552" y="5733288"/>
            <a:ext cx="1773935" cy="666750"/>
          </a:xfrm>
          <a:prstGeom prst="rect">
            <a:avLst/>
          </a:prstGeom>
          <a:noFill/>
        </p:spPr>
        <p:txBody>
          <a:bodyPr wrap="square" lIns="0" tIns="0" rIns="0" bIns="0" anchor="t">
            <a:noAutofit/>
          </a:bodyPr>
          <a:lstStyle/>
          <a:p>
            <a:pPr algn="l">
              <a:lnSpc>
                <a:spcPct val="88000"/>
              </a:lnSpc>
              <a:spcAft>
                <a:spcPts val="300"/>
              </a:spcAft>
            </a:pPr>
            <a:r>
              <a:rPr lang="en-US" sz="5000" spc="-60" dirty="0">
                <a:solidFill>
                  <a:srgbClr val="14161D"/>
                </a:solidFill>
                <a:latin typeface="Helvetica Neue Medium"/>
                <a:cs typeface="Helvetica Neue Medium"/>
              </a:rPr>
              <a:t>61%</a:t>
            </a:r>
          </a:p>
        </p:txBody>
      </p:sp>
      <p:sp>
        <p:nvSpPr>
          <p:cNvPr id="114" name="Label"/>
          <p:cNvSpPr txBox="1"/>
          <p:nvPr/>
        </p:nvSpPr>
        <p:spPr>
          <a:xfrm>
            <a:off x="10131552" y="6473190"/>
            <a:ext cx="1773935"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565C6B"/>
                </a:solidFill>
                <a:latin typeface="Helvetica Neue Light"/>
                <a:cs typeface="Helvetica Neue Light"/>
              </a:rPr>
              <a:t>approval rating from employees</a:t>
            </a:r>
          </a:p>
        </p:txBody>
      </p:sp>
      <p:sp>
        <p:nvSpPr>
          <p:cNvPr id="3025" name="Tile"/>
          <p:cNvSpPr/>
          <p:nvPr/>
        </p:nvSpPr>
        <p:spPr>
          <a:xfrm>
            <a:off x="10131552" y="7845552"/>
            <a:ext cx="1773935" cy="100584"/>
          </a:xfrm>
          <a:prstGeom prst="roundRect">
            <a:avLst>
              <a:gd name="adj" fmla="val 45454"/>
            </a:avLst>
          </a:prstGeom>
          <a:solidFill>
            <a:srgbClr val="DDE0E6"/>
          </a:solidFill>
          <a:ln>
            <a:noFill/>
          </a:ln>
        </p:spPr>
        <p:txBody>
          <a:bodyPr/>
          <a:lstStyle/>
          <a:p>
            <a:endParaRPr lang="en-US"/>
          </a:p>
        </p:txBody>
      </p:sp>
      <p:sp>
        <p:nvSpPr>
          <p:cNvPr id="3026" name="Tile"/>
          <p:cNvSpPr/>
          <p:nvPr/>
        </p:nvSpPr>
        <p:spPr>
          <a:xfrm>
            <a:off x="10131552" y="7845552"/>
            <a:ext cx="1082100" cy="100584"/>
          </a:xfrm>
          <a:prstGeom prst="roundRect">
            <a:avLst>
              <a:gd name="adj" fmla="val 45454"/>
            </a:avLst>
          </a:prstGeom>
          <a:solidFill>
            <a:srgbClr val="FF6600"/>
          </a:solidFill>
          <a:ln>
            <a:noFill/>
          </a:ln>
        </p:spPr>
        <p:txBody>
          <a:bodyPr/>
          <a:lstStyle/>
          <a:p>
            <a:endParaRPr lang="en-US"/>
          </a:p>
        </p:txBody>
      </p:sp>
      <p:pic>
        <p:nvPicPr>
          <p:cNvPr id="11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DISCOVERY</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We set out to find real user needs, </a:t>
            </a:r>
            <a:r>
              <a:rPr lang="en-US" sz="3600" spc="-40" dirty="0">
                <a:solidFill>
                  <a:srgbClr val="B5531F"/>
                </a:solidFill>
                <a:latin typeface="Helvetica Neue Medium"/>
                <a:cs typeface="Helvetica Neue Medium"/>
              </a:rPr>
              <a:t>test the business’s assumptions</a:t>
            </a:r>
            <a:r>
              <a:rPr lang="en-US" sz="3600" spc="-40" dirty="0">
                <a:solidFill>
                  <a:srgbClr val="14161D"/>
                </a:solidFill>
                <a:latin typeface="Helvetica Neue Medium"/>
                <a:cs typeface="Helvetica Neue Medium"/>
              </a:rPr>
              <a:t> and generate new ideas.</a:t>
            </a:r>
          </a:p>
        </p:txBody>
      </p:sp>
      <p:sp>
        <p:nvSpPr>
          <p:cNvPr id="103" name="Methods"/>
          <p:cNvSpPr txBox="1"/>
          <p:nvPr/>
        </p:nvSpPr>
        <p:spPr>
          <a:xfrm>
            <a:off x="822960" y="3611880"/>
            <a:ext cx="5427980"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METHODS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Interviews with reviewers, Risk &amp; Compliance managers and their managers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Contextual interviews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Persona development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Research synthesis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Design thinking exercises</a:t>
            </a:r>
          </a:p>
        </p:txBody>
      </p:sp>
      <p:sp>
        <p:nvSpPr>
          <p:cNvPr id="104" name="Problem"/>
          <p:cNvSpPr txBox="1"/>
          <p:nvPr/>
        </p:nvSpPr>
        <p:spPr>
          <a:xfrm>
            <a:off x="6753860" y="3611880"/>
            <a:ext cx="5427980" cy="438912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PROBLEM STATEMENT</a:t>
            </a:r>
          </a:p>
          <a:p>
            <a:pPr algn="l">
              <a:lnSpc>
                <a:spcPct val="125000"/>
              </a:lnSpc>
              <a:spcAft>
                <a:spcPts val="500"/>
              </a:spcAft>
            </a:pPr>
            <a:r>
              <a:rPr lang="en-US" sz="1550" spc="0" dirty="0">
                <a:solidFill>
                  <a:srgbClr val="14161D"/>
                </a:solidFill>
                <a:latin typeface="Helvetica Neue Light"/>
                <a:cs typeface="Helvetica Neue Light"/>
              </a:rPr>
              <a:t>As part of the iComply ecosystem of Employee Compliance, users need an interactive, web-based pre-clearance application for outside activities, where requests flow through an integrated, pre-defined workflow for review by first-line Reviewers and second-line Risk &amp; Compliance Managers.</a:t>
            </a:r>
          </a:p>
        </p:txBody>
      </p:sp>
      <p:pic>
        <p:nvPicPr>
          <p:cNvPr id="10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DISCOVERY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What we heard: major themes from the interviews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Reviewers, Risk &amp; Compliance managers and their managers</a:t>
            </a:r>
          </a:p>
        </p:txBody>
      </p:sp>
      <p:pic>
        <p:nvPicPr>
          <p:cNvPr id="104" name="Picture 2" descr="image.png"/>
          <p:cNvPicPr>
            <a:picLocks noChangeAspect="1"/>
          </p:cNvPicPr>
          <p:nvPr/>
        </p:nvPicPr>
        <p:blipFill>
          <a:blip r:embed="rId2"/>
          <a:stretch>
            <a:fillRect/>
          </a:stretch>
        </p:blipFill>
        <p:spPr>
          <a:xfrm>
            <a:off x="4846320" y="3673402"/>
            <a:ext cx="3123144" cy="2985914"/>
          </a:xfrm>
          <a:prstGeom prst="rect">
            <a:avLst/>
          </a:prstGeom>
          <a:ln w="9525">
            <a:solidFill>
              <a:srgbClr val="D3D6DC"/>
            </a:solidFill>
          </a:ln>
        </p:spPr>
      </p:pic>
      <p:pic>
        <p:nvPicPr>
          <p:cNvPr id="105" name="Picture 1" descr="image.png"/>
          <p:cNvPicPr>
            <a:picLocks noChangeAspect="1"/>
          </p:cNvPicPr>
          <p:nvPr/>
        </p:nvPicPr>
        <p:blipFill>
          <a:blip r:embed="rId3"/>
          <a:stretch>
            <a:fillRect/>
          </a:stretch>
        </p:blipFill>
        <p:spPr>
          <a:xfrm>
            <a:off x="8289504" y="3673402"/>
            <a:ext cx="3872015" cy="2985914"/>
          </a:xfrm>
          <a:prstGeom prst="rect">
            <a:avLst/>
          </a:prstGeom>
          <a:ln w="9525">
            <a:solidFill>
              <a:srgbClr val="D3D6DC"/>
            </a:solidFill>
          </a:ln>
        </p:spPr>
      </p:pic>
      <p:sp>
        <p:nvSpPr>
          <p:cNvPr id="106" name="Themes"/>
          <p:cNvSpPr txBox="1"/>
          <p:nvPr/>
        </p:nvSpPr>
        <p:spPr>
          <a:xfrm>
            <a:off x="822960" y="2194560"/>
            <a:ext cx="3749039" cy="603504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MAJOR THEMES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Integration with other systems on the platform</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Search</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Reporting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Shadowing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Everyone understanding the policies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Mobile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Clear navigation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Clear workflow</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Status awareness</a:t>
            </a:r>
          </a:p>
        </p:txBody>
      </p:sp>
      <p:pic>
        <p:nvPicPr>
          <p:cNvPr id="107"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DISCOVERY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Design thinking: 5 concepts with 30 participants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Concepts for the dashboard, reporting and submission, for every type of end user</a:t>
            </a:r>
          </a:p>
        </p:txBody>
      </p:sp>
      <p:pic>
        <p:nvPicPr>
          <p:cNvPr id="104" name="Background" descr="image.png"/>
          <p:cNvPicPr>
            <a:picLocks noChangeAspect="1"/>
          </p:cNvPicPr>
          <p:nvPr/>
        </p:nvPicPr>
        <p:blipFill>
          <a:blip r:embed="rId2"/>
          <a:srcRect l="3500" t="27000"/>
          <a:stretch>
            <a:fillRect/>
          </a:stretch>
        </p:blipFill>
        <p:spPr>
          <a:xfrm>
            <a:off x="822960" y="2857736"/>
            <a:ext cx="8138160" cy="4617246"/>
          </a:xfrm>
          <a:prstGeom prst="rect">
            <a:avLst/>
          </a:prstGeom>
          <a:ln w="9525">
            <a:solidFill>
              <a:srgbClr val="D3D6DC"/>
            </a:solidFill>
          </a:ln>
        </p:spPr>
      </p:pic>
      <p:sp>
        <p:nvSpPr>
          <p:cNvPr id="105" name="Format"/>
          <p:cNvSpPr txBox="1"/>
          <p:nvPr/>
        </p:nvSpPr>
        <p:spPr>
          <a:xfrm>
            <a:off x="9418320" y="2286000"/>
            <a:ext cx="2763520" cy="54864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SESSION FORMAT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Ice breaker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What would the headlines say?</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How do we…?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Concepts and interfaces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Voting</a:t>
            </a:r>
          </a:p>
        </p:txBody>
      </p:sp>
      <p:pic>
        <p:nvPicPr>
          <p:cNvPr id="106"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STRATEGY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Pain points + business goals + UX strategy = feature set</a:t>
            </a:r>
          </a:p>
        </p:txBody>
      </p:sp>
      <p:cxnSp>
        <p:nvCxnSpPr>
          <p:cNvPr id="103" name="Divider"/>
          <p:cNvCxnSpPr/>
          <p:nvPr/>
        </p:nvCxnSpPr>
        <p:spPr>
          <a:xfrm>
            <a:off x="822960" y="2651760"/>
            <a:ext cx="2668270" cy="0"/>
          </a:xfrm>
          <a:prstGeom prst="line">
            <a:avLst/>
          </a:prstGeom>
          <a:ln w="9525">
            <a:solidFill>
              <a:srgbClr val="E1E3E8"/>
            </a:solidFill>
          </a:ln>
        </p:spPr>
      </p:cxnSp>
      <p:sp>
        <p:nvSpPr>
          <p:cNvPr id="104" name="PAIN POINTS"/>
          <p:cNvSpPr txBox="1"/>
          <p:nvPr/>
        </p:nvSpPr>
        <p:spPr>
          <a:xfrm>
            <a:off x="82296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PAIN POINTS</a:t>
            </a:r>
          </a:p>
          <a:p>
            <a:pPr algn="l">
              <a:lnSpc>
                <a:spcPct val="115000"/>
              </a:lnSpc>
              <a:spcAft>
                <a:spcPts val="900"/>
              </a:spcAft>
            </a:pPr>
            <a:r>
              <a:rPr lang="en-US" sz="1700" spc="0" dirty="0">
                <a:solidFill>
                  <a:srgbClr val="565C6B"/>
                </a:solidFill>
                <a:latin typeface="Helvetica Neue Light"/>
                <a:cs typeface="Helvetica Neue Light"/>
              </a:rPr>
              <a:t>Integration with other systems on the platform</a:t>
            </a:r>
          </a:p>
          <a:p>
            <a:pPr algn="l">
              <a:lnSpc>
                <a:spcPct val="115000"/>
              </a:lnSpc>
              <a:spcAft>
                <a:spcPts val="900"/>
              </a:spcAft>
            </a:pPr>
            <a:r>
              <a:rPr lang="en-US" sz="1700" spc="0" dirty="0">
                <a:solidFill>
                  <a:srgbClr val="565C6B"/>
                </a:solidFill>
                <a:latin typeface="Helvetica Neue Light"/>
                <a:cs typeface="Helvetica Neue Light"/>
              </a:rPr>
              <a:t>Navigation</a:t>
            </a:r>
          </a:p>
          <a:p>
            <a:pPr algn="l">
              <a:lnSpc>
                <a:spcPct val="115000"/>
              </a:lnSpc>
              <a:spcAft>
                <a:spcPts val="900"/>
              </a:spcAft>
            </a:pPr>
            <a:r>
              <a:rPr lang="en-US" sz="1700" spc="0" dirty="0">
                <a:solidFill>
                  <a:srgbClr val="565C6B"/>
                </a:solidFill>
                <a:latin typeface="Helvetica Neue Light"/>
                <a:cs typeface="Helvetica Neue Light"/>
              </a:rPr>
              <a:t>Clear workflows</a:t>
            </a:r>
          </a:p>
          <a:p>
            <a:pPr algn="l">
              <a:lnSpc>
                <a:spcPct val="115000"/>
              </a:lnSpc>
              <a:spcAft>
                <a:spcPts val="900"/>
              </a:spcAft>
            </a:pPr>
            <a:r>
              <a:rPr lang="en-US" sz="1700" spc="0" dirty="0">
                <a:solidFill>
                  <a:srgbClr val="565C6B"/>
                </a:solidFill>
                <a:latin typeface="Helvetica Neue Light"/>
                <a:cs typeface="Helvetica Neue Light"/>
              </a:rPr>
              <a:t>Status awareness</a:t>
            </a:r>
          </a:p>
          <a:p>
            <a:pPr algn="l">
              <a:lnSpc>
                <a:spcPct val="115000"/>
              </a:lnSpc>
              <a:spcAft>
                <a:spcPts val="900"/>
              </a:spcAft>
            </a:pPr>
            <a:r>
              <a:rPr lang="en-US" sz="1700" spc="0" dirty="0">
                <a:solidFill>
                  <a:srgbClr val="565C6B"/>
                </a:solidFill>
                <a:latin typeface="Helvetica Neue Light"/>
                <a:cs typeface="Helvetica Neue Light"/>
              </a:rPr>
              <a:t>Lack of features</a:t>
            </a:r>
          </a:p>
        </p:txBody>
      </p:sp>
      <p:sp>
        <p:nvSpPr>
          <p:cNvPr id="105" name="op"/>
          <p:cNvSpPr txBox="1"/>
          <p:nvPr/>
        </p:nvSpPr>
        <p:spPr>
          <a:xfrm>
            <a:off x="344551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06" name="Divider"/>
          <p:cNvCxnSpPr/>
          <p:nvPr/>
        </p:nvCxnSpPr>
        <p:spPr>
          <a:xfrm>
            <a:off x="3719830" y="2651760"/>
            <a:ext cx="2668270" cy="0"/>
          </a:xfrm>
          <a:prstGeom prst="line">
            <a:avLst/>
          </a:prstGeom>
          <a:ln w="9525">
            <a:solidFill>
              <a:srgbClr val="E1E3E8"/>
            </a:solidFill>
          </a:ln>
        </p:spPr>
      </p:cxnSp>
      <p:sp>
        <p:nvSpPr>
          <p:cNvPr id="107" name="BUSINESS GOALS"/>
          <p:cNvSpPr txBox="1"/>
          <p:nvPr/>
        </p:nvSpPr>
        <p:spPr>
          <a:xfrm>
            <a:off x="371983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BUSINESS GOALS</a:t>
            </a:r>
          </a:p>
          <a:p>
            <a:pPr algn="l">
              <a:lnSpc>
                <a:spcPct val="115000"/>
              </a:lnSpc>
              <a:spcAft>
                <a:spcPts val="900"/>
              </a:spcAft>
            </a:pPr>
            <a:r>
              <a:rPr lang="en-US" sz="1700" spc="0" dirty="0">
                <a:solidFill>
                  <a:srgbClr val="565C6B"/>
                </a:solidFill>
                <a:latin typeface="Helvetica Neue Light"/>
                <a:cs typeface="Helvetica Neue Light"/>
              </a:rPr>
              <a:t>Education</a:t>
            </a:r>
          </a:p>
          <a:p>
            <a:pPr algn="l">
              <a:lnSpc>
                <a:spcPct val="115000"/>
              </a:lnSpc>
              <a:spcAft>
                <a:spcPts val="900"/>
              </a:spcAft>
            </a:pPr>
            <a:r>
              <a:rPr lang="en-US" sz="1700" spc="0" dirty="0">
                <a:solidFill>
                  <a:srgbClr val="565C6B"/>
                </a:solidFill>
                <a:latin typeface="Helvetica Neue Light"/>
                <a:cs typeface="Helvetica Neue Light"/>
              </a:rPr>
              <a:t>Functionality parity</a:t>
            </a:r>
          </a:p>
          <a:p>
            <a:pPr algn="l">
              <a:lnSpc>
                <a:spcPct val="115000"/>
              </a:lnSpc>
              <a:spcAft>
                <a:spcPts val="900"/>
              </a:spcAft>
            </a:pPr>
            <a:r>
              <a:rPr lang="en-US" sz="1700" spc="0" dirty="0">
                <a:solidFill>
                  <a:srgbClr val="565C6B"/>
                </a:solidFill>
                <a:latin typeface="Helvetica Neue Light"/>
                <a:cs typeface="Helvetica Neue Light"/>
              </a:rPr>
              <a:t>Platform parity</a:t>
            </a:r>
          </a:p>
          <a:p>
            <a:pPr algn="l">
              <a:lnSpc>
                <a:spcPct val="115000"/>
              </a:lnSpc>
              <a:spcAft>
                <a:spcPts val="900"/>
              </a:spcAft>
            </a:pPr>
            <a:r>
              <a:rPr lang="en-US" sz="1700" spc="0" dirty="0">
                <a:solidFill>
                  <a:srgbClr val="565C6B"/>
                </a:solidFill>
                <a:latin typeface="Helvetica Neue Light"/>
                <a:cs typeface="Helvetica Neue Light"/>
              </a:rPr>
              <a:t>Mobile</a:t>
            </a:r>
          </a:p>
        </p:txBody>
      </p:sp>
      <p:sp>
        <p:nvSpPr>
          <p:cNvPr id="108" name="op"/>
          <p:cNvSpPr txBox="1"/>
          <p:nvPr/>
        </p:nvSpPr>
        <p:spPr>
          <a:xfrm>
            <a:off x="634238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09" name="Divider"/>
          <p:cNvCxnSpPr/>
          <p:nvPr/>
        </p:nvCxnSpPr>
        <p:spPr>
          <a:xfrm>
            <a:off x="6616700" y="2651760"/>
            <a:ext cx="2668270" cy="0"/>
          </a:xfrm>
          <a:prstGeom prst="line">
            <a:avLst/>
          </a:prstGeom>
          <a:ln w="9525">
            <a:solidFill>
              <a:srgbClr val="E1E3E8"/>
            </a:solidFill>
          </a:ln>
        </p:spPr>
      </p:cxnSp>
      <p:sp>
        <p:nvSpPr>
          <p:cNvPr id="110" name="UX STRATEGY"/>
          <p:cNvSpPr txBox="1"/>
          <p:nvPr/>
        </p:nvSpPr>
        <p:spPr>
          <a:xfrm>
            <a:off x="661670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UX STRATEGY</a:t>
            </a:r>
          </a:p>
          <a:p>
            <a:pPr algn="l">
              <a:lnSpc>
                <a:spcPct val="115000"/>
              </a:lnSpc>
              <a:spcAft>
                <a:spcPts val="900"/>
              </a:spcAft>
            </a:pPr>
            <a:r>
              <a:rPr lang="en-US" sz="1700" spc="0" dirty="0">
                <a:solidFill>
                  <a:srgbClr val="565C6B"/>
                </a:solidFill>
                <a:latin typeface="Helvetica Neue Light"/>
                <a:cs typeface="Helvetica Neue Light"/>
              </a:rPr>
              <a:t>Integrations with other systems on the platform</a:t>
            </a:r>
          </a:p>
          <a:p>
            <a:pPr algn="l">
              <a:lnSpc>
                <a:spcPct val="115000"/>
              </a:lnSpc>
              <a:spcAft>
                <a:spcPts val="900"/>
              </a:spcAft>
            </a:pPr>
            <a:r>
              <a:rPr lang="en-US" sz="1700" spc="0" dirty="0">
                <a:solidFill>
                  <a:srgbClr val="565C6B"/>
                </a:solidFill>
                <a:latin typeface="Helvetica Neue Light"/>
                <a:cs typeface="Helvetica Neue Light"/>
              </a:rPr>
              <a:t>Everyone understanding the policies</a:t>
            </a:r>
          </a:p>
          <a:p>
            <a:pPr algn="l">
              <a:lnSpc>
                <a:spcPct val="115000"/>
              </a:lnSpc>
              <a:spcAft>
                <a:spcPts val="900"/>
              </a:spcAft>
            </a:pPr>
            <a:r>
              <a:rPr lang="en-US" sz="1700" spc="0" dirty="0">
                <a:solidFill>
                  <a:srgbClr val="565C6B"/>
                </a:solidFill>
                <a:latin typeface="Helvetica Neue Light"/>
                <a:cs typeface="Helvetica Neue Light"/>
              </a:rPr>
              <a:t>Access for all in the platform</a:t>
            </a:r>
          </a:p>
          <a:p>
            <a:pPr algn="l">
              <a:lnSpc>
                <a:spcPct val="115000"/>
              </a:lnSpc>
              <a:spcAft>
                <a:spcPts val="900"/>
              </a:spcAft>
            </a:pPr>
            <a:r>
              <a:rPr lang="en-US" sz="1700" spc="0" dirty="0">
                <a:solidFill>
                  <a:srgbClr val="565C6B"/>
                </a:solidFill>
                <a:latin typeface="Helvetica Neue Light"/>
                <a:cs typeface="Helvetica Neue Light"/>
              </a:rPr>
              <a:t>Mobile</a:t>
            </a:r>
          </a:p>
          <a:p>
            <a:pPr algn="l">
              <a:lnSpc>
                <a:spcPct val="115000"/>
              </a:lnSpc>
              <a:spcAft>
                <a:spcPts val="900"/>
              </a:spcAft>
            </a:pPr>
            <a:r>
              <a:rPr lang="en-US" sz="1700" spc="0" dirty="0">
                <a:solidFill>
                  <a:srgbClr val="565C6B"/>
                </a:solidFill>
                <a:latin typeface="Helvetica Neue Light"/>
                <a:cs typeface="Helvetica Neue Light"/>
              </a:rPr>
              <a:t>Clear navigation</a:t>
            </a:r>
          </a:p>
          <a:p>
            <a:pPr algn="l">
              <a:lnSpc>
                <a:spcPct val="115000"/>
              </a:lnSpc>
              <a:spcAft>
                <a:spcPts val="900"/>
              </a:spcAft>
            </a:pPr>
            <a:r>
              <a:rPr lang="en-US" sz="1700" spc="0" dirty="0">
                <a:solidFill>
                  <a:srgbClr val="565C6B"/>
                </a:solidFill>
                <a:latin typeface="Helvetica Neue Light"/>
                <a:cs typeface="Helvetica Neue Light"/>
              </a:rPr>
              <a:t>Clear workflows</a:t>
            </a:r>
          </a:p>
        </p:txBody>
      </p:sp>
      <p:sp>
        <p:nvSpPr>
          <p:cNvPr id="111" name="op"/>
          <p:cNvSpPr txBox="1"/>
          <p:nvPr/>
        </p:nvSpPr>
        <p:spPr>
          <a:xfrm>
            <a:off x="923925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12" name="Divider"/>
          <p:cNvCxnSpPr/>
          <p:nvPr/>
        </p:nvCxnSpPr>
        <p:spPr>
          <a:xfrm>
            <a:off x="9513570" y="2651760"/>
            <a:ext cx="2668270" cy="0"/>
          </a:xfrm>
          <a:prstGeom prst="line">
            <a:avLst/>
          </a:prstGeom>
          <a:ln w="28575">
            <a:solidFill>
              <a:srgbClr val="B5531F"/>
            </a:solidFill>
          </a:ln>
        </p:spPr>
      </p:cxnSp>
      <p:sp>
        <p:nvSpPr>
          <p:cNvPr id="113" name="FEATURE SET"/>
          <p:cNvSpPr txBox="1"/>
          <p:nvPr/>
        </p:nvSpPr>
        <p:spPr>
          <a:xfrm>
            <a:off x="951357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FEATURE SET</a:t>
            </a:r>
          </a:p>
          <a:p>
            <a:pPr algn="l">
              <a:lnSpc>
                <a:spcPct val="115000"/>
              </a:lnSpc>
              <a:spcAft>
                <a:spcPts val="900"/>
              </a:spcAft>
            </a:pPr>
            <a:r>
              <a:rPr lang="en-US" sz="1700" spc="0" dirty="0">
                <a:solidFill>
                  <a:srgbClr val="14161D"/>
                </a:solidFill>
                <a:latin typeface="Helvetica Neue Light"/>
                <a:cs typeface="Helvetica Neue Light"/>
              </a:rPr>
              <a:t>Search</a:t>
            </a:r>
          </a:p>
          <a:p>
            <a:pPr algn="l">
              <a:lnSpc>
                <a:spcPct val="115000"/>
              </a:lnSpc>
              <a:spcAft>
                <a:spcPts val="900"/>
              </a:spcAft>
            </a:pPr>
            <a:r>
              <a:rPr lang="en-US" sz="1700" spc="0" dirty="0">
                <a:solidFill>
                  <a:srgbClr val="14161D"/>
                </a:solidFill>
                <a:latin typeface="Helvetica Neue Light"/>
                <a:cs typeface="Helvetica Neue Light"/>
              </a:rPr>
              <a:t>Reporting</a:t>
            </a:r>
          </a:p>
          <a:p>
            <a:pPr algn="l">
              <a:lnSpc>
                <a:spcPct val="115000"/>
              </a:lnSpc>
              <a:spcAft>
                <a:spcPts val="900"/>
              </a:spcAft>
            </a:pPr>
            <a:r>
              <a:rPr lang="en-US" sz="1700" spc="0" dirty="0">
                <a:solidFill>
                  <a:srgbClr val="14161D"/>
                </a:solidFill>
                <a:latin typeface="Helvetica Neue Light"/>
                <a:cs typeface="Helvetica Neue Light"/>
              </a:rPr>
              <a:t>Shadowing</a:t>
            </a:r>
          </a:p>
          <a:p>
            <a:pPr algn="l">
              <a:lnSpc>
                <a:spcPct val="115000"/>
              </a:lnSpc>
              <a:spcAft>
                <a:spcPts val="900"/>
              </a:spcAft>
            </a:pPr>
            <a:r>
              <a:rPr lang="en-US" sz="1700" spc="0" dirty="0">
                <a:solidFill>
                  <a:srgbClr val="14161D"/>
                </a:solidFill>
                <a:latin typeface="Helvetica Neue Light"/>
                <a:cs typeface="Helvetica Neue Light"/>
              </a:rPr>
              <a:t>Proxies</a:t>
            </a:r>
          </a:p>
          <a:p>
            <a:pPr algn="l">
              <a:lnSpc>
                <a:spcPct val="115000"/>
              </a:lnSpc>
              <a:spcAft>
                <a:spcPts val="900"/>
              </a:spcAft>
            </a:pPr>
            <a:r>
              <a:rPr lang="en-US" sz="1700" spc="0" dirty="0">
                <a:solidFill>
                  <a:srgbClr val="14161D"/>
                </a:solidFill>
                <a:latin typeface="Helvetica Neue Light"/>
                <a:cs typeface="Helvetica Neue Light"/>
              </a:rPr>
              <a:t>Queries</a:t>
            </a:r>
          </a:p>
          <a:p>
            <a:pPr algn="l">
              <a:lnSpc>
                <a:spcPct val="115000"/>
              </a:lnSpc>
              <a:spcAft>
                <a:spcPts val="900"/>
              </a:spcAft>
            </a:pPr>
            <a:r>
              <a:rPr lang="en-US" sz="1700" spc="0" dirty="0">
                <a:solidFill>
                  <a:srgbClr val="14161D"/>
                </a:solidFill>
                <a:latin typeface="Helvetica Neue Light"/>
                <a:cs typeface="Helvetica Neue Light"/>
              </a:rPr>
              <a:t>Mobile</a:t>
            </a:r>
          </a:p>
        </p:txBody>
      </p:sp>
      <p:pic>
        <p:nvPicPr>
          <p:cNvPr id="114"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DELIVERY</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800" spc="-40" dirty="0">
                <a:solidFill>
                  <a:srgbClr val="14161D"/>
                </a:solidFill>
                <a:latin typeface="Helvetica Neue Medium"/>
                <a:cs typeface="Helvetica Neue Medium"/>
              </a:rPr>
              <a:t>One dashboard for </a:t>
            </a:r>
            <a:r>
              <a:rPr lang="en-US" sz="3800" spc="-40" dirty="0">
                <a:solidFill>
                  <a:srgbClr val="B5531F"/>
                </a:solidFill>
                <a:latin typeface="Helvetica Neue Medium"/>
                <a:cs typeface="Helvetica Neue Medium"/>
              </a:rPr>
              <a:t>Submitters, Reviewers and Risk &amp; Compliance Managers</a:t>
            </a:r>
            <a:r>
              <a:rPr lang="en-US" sz="3800" spc="-40" dirty="0">
                <a:solidFill>
                  <a:srgbClr val="14161D"/>
                </a:solidFill>
                <a:latin typeface="Helvetica Neue Medium"/>
                <a:cs typeface="Helvetica Neue Medium"/>
              </a:rPr>
              <a:t>.</a:t>
            </a:r>
          </a:p>
        </p:txBody>
      </p:sp>
      <p:sp>
        <p:nvSpPr>
          <p:cNvPr id="103" name="Body"/>
          <p:cNvSpPr txBox="1"/>
          <p:nvPr/>
        </p:nvSpPr>
        <p:spPr>
          <a:xfrm>
            <a:off x="822960" y="3611880"/>
            <a:ext cx="5427980" cy="4114800"/>
          </a:xfrm>
          <a:prstGeom prst="rect">
            <a:avLst/>
          </a:prstGeom>
          <a:noFill/>
        </p:spPr>
        <p:txBody>
          <a:bodyPr wrap="square" lIns="0" tIns="0" rIns="0" bIns="0" anchor="t">
            <a:noAutofit/>
          </a:bodyPr>
          <a:lstStyle/>
          <a:p>
            <a:pPr algn="l">
              <a:lnSpc>
                <a:spcPct val="125000"/>
              </a:lnSpc>
              <a:spcAft>
                <a:spcPts val="300"/>
              </a:spcAft>
            </a:pPr>
            <a:r>
              <a:rPr lang="en-US" sz="1550" spc="0" dirty="0">
                <a:solidFill>
                  <a:srgbClr val="565C6B"/>
                </a:solidFill>
                <a:latin typeface="Helvetica Neue Light"/>
                <a:cs typeface="Helvetica Neue Light"/>
              </a:rPr>
              <a:t>The dashboard was the main starting point for all three user types, so it got the most attention. It went through many iterations shaped by company goals, line-of-business goals, UX strategy, legal, risk and ADA requirements, and the design system.</a:t>
            </a:r>
          </a:p>
        </p:txBody>
      </p:sp>
      <p:sp>
        <p:nvSpPr>
          <p:cNvPr id="104" name="Process"/>
          <p:cNvSpPr txBox="1"/>
          <p:nvPr/>
        </p:nvSpPr>
        <p:spPr>
          <a:xfrm>
            <a:off x="6753860" y="3611880"/>
            <a:ext cx="5427980" cy="41148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HOW WE DELIVERED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Feature refinement and road map</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33 Agile sprints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Usability testing every week</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Demos and QA</a:t>
            </a:r>
          </a:p>
        </p:txBody>
      </p:sp>
      <p:pic>
        <p:nvPicPr>
          <p:cNvPr id="10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DELIVERY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The delivered app, one request end to end</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The employee submits, the manager reviews, Compliance decides. Screens from the OBI Training Guide.</a:t>
            </a:r>
          </a:p>
        </p:txBody>
      </p:sp>
      <p:pic>
        <p:nvPicPr>
          <p:cNvPr id="104" name="Hi-fi screen"/>
          <p:cNvPicPr>
            <a:picLocks noChangeAspect="1"/>
          </p:cNvPicPr>
          <p:nvPr/>
        </p:nvPicPr>
        <p:blipFill>
          <a:blip r:embed="rId2"/>
          <a:srcRect b="8685"/>
          <a:stretch>
            <a:fillRect/>
          </a:stretch>
        </p:blipFill>
        <p:spPr>
          <a:xfrm>
            <a:off x="822960" y="2057400"/>
            <a:ext cx="2140102" cy="1337563"/>
          </a:xfrm>
          <a:prstGeom prst="rect">
            <a:avLst/>
          </a:prstGeom>
          <a:ln w="9525">
            <a:solidFill>
              <a:srgbClr val="D3D6DC"/>
            </a:solidFill>
          </a:ln>
        </p:spPr>
      </p:pic>
      <p:sp>
        <p:nvSpPr>
          <p:cNvPr id="105" name="Cap 1"/>
          <p:cNvSpPr txBox="1"/>
          <p:nvPr/>
        </p:nvSpPr>
        <p:spPr>
          <a:xfrm>
            <a:off x="822960" y="344982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01  </a:t>
            </a:r>
            <a:r>
              <a:rPr lang="en-US" sz="1050" spc="0" dirty="0">
                <a:solidFill>
                  <a:srgbClr val="14161D"/>
                </a:solidFill>
                <a:latin typeface="Helvetica Neue Medium"/>
                <a:cs typeface="Helvetica Neue Medium"/>
              </a:rPr>
              <a:t>Welcome and wizard</a:t>
            </a:r>
          </a:p>
          <a:p>
            <a:pPr algn="l">
              <a:lnSpc>
                <a:spcPct val="100000"/>
              </a:lnSpc>
              <a:spcAft>
                <a:spcPts val="0"/>
              </a:spcAft>
            </a:pPr>
            <a:r>
              <a:rPr lang="en-US" sz="950" spc="0" dirty="0">
                <a:solidFill>
                  <a:srgbClr val="858A97"/>
                </a:solidFill>
                <a:latin typeface="Helvetica Neue Light"/>
                <a:cs typeface="Helvetica Neue Light"/>
              </a:rPr>
              <a:t>Employee</a:t>
            </a:r>
          </a:p>
        </p:txBody>
      </p:sp>
      <p:pic>
        <p:nvPicPr>
          <p:cNvPr id="106" name="Hi-fi screen"/>
          <p:cNvPicPr>
            <a:picLocks noChangeAspect="1"/>
          </p:cNvPicPr>
          <p:nvPr/>
        </p:nvPicPr>
        <p:blipFill>
          <a:blip r:embed="rId3"/>
          <a:srcRect b="1918"/>
          <a:stretch>
            <a:fillRect/>
          </a:stretch>
        </p:blipFill>
        <p:spPr>
          <a:xfrm>
            <a:off x="3127654" y="2057400"/>
            <a:ext cx="2140102" cy="1337563"/>
          </a:xfrm>
          <a:prstGeom prst="rect">
            <a:avLst/>
          </a:prstGeom>
          <a:ln w="9525">
            <a:solidFill>
              <a:srgbClr val="D3D6DC"/>
            </a:solidFill>
          </a:ln>
        </p:spPr>
      </p:pic>
      <p:sp>
        <p:nvSpPr>
          <p:cNvPr id="107" name="Cap 2"/>
          <p:cNvSpPr txBox="1"/>
          <p:nvPr/>
        </p:nvSpPr>
        <p:spPr>
          <a:xfrm>
            <a:off x="3127654" y="344982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02  </a:t>
            </a:r>
            <a:r>
              <a:rPr lang="en-US" sz="1050" spc="0" dirty="0">
                <a:solidFill>
                  <a:srgbClr val="14161D"/>
                </a:solidFill>
                <a:latin typeface="Helvetica Neue Medium"/>
                <a:cs typeface="Helvetica Neue Medium"/>
              </a:rPr>
              <a:t>Create request</a:t>
            </a:r>
          </a:p>
          <a:p>
            <a:pPr algn="l">
              <a:lnSpc>
                <a:spcPct val="100000"/>
              </a:lnSpc>
              <a:spcAft>
                <a:spcPts val="0"/>
              </a:spcAft>
            </a:pPr>
            <a:r>
              <a:rPr lang="en-US" sz="950" spc="0" dirty="0">
                <a:solidFill>
                  <a:srgbClr val="858A97"/>
                </a:solidFill>
                <a:latin typeface="Helvetica Neue Light"/>
                <a:cs typeface="Helvetica Neue Light"/>
              </a:rPr>
              <a:t>Employee</a:t>
            </a:r>
          </a:p>
        </p:txBody>
      </p:sp>
      <p:pic>
        <p:nvPicPr>
          <p:cNvPr id="108" name="Hi-fi screen"/>
          <p:cNvPicPr>
            <a:picLocks noChangeAspect="1"/>
          </p:cNvPicPr>
          <p:nvPr/>
        </p:nvPicPr>
        <p:blipFill>
          <a:blip r:embed="rId4"/>
          <a:srcRect b="8685"/>
          <a:stretch>
            <a:fillRect/>
          </a:stretch>
        </p:blipFill>
        <p:spPr>
          <a:xfrm>
            <a:off x="5432348" y="2057400"/>
            <a:ext cx="2140102" cy="1337563"/>
          </a:xfrm>
          <a:prstGeom prst="rect">
            <a:avLst/>
          </a:prstGeom>
          <a:ln w="9525">
            <a:solidFill>
              <a:srgbClr val="D3D6DC"/>
            </a:solidFill>
          </a:ln>
        </p:spPr>
      </p:pic>
      <p:sp>
        <p:nvSpPr>
          <p:cNvPr id="109" name="Cap 3"/>
          <p:cNvSpPr txBox="1"/>
          <p:nvPr/>
        </p:nvSpPr>
        <p:spPr>
          <a:xfrm>
            <a:off x="5432348" y="344982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03  </a:t>
            </a:r>
            <a:r>
              <a:rPr lang="en-US" sz="1050" spc="0" dirty="0">
                <a:solidFill>
                  <a:srgbClr val="14161D"/>
                </a:solidFill>
                <a:latin typeface="Helvetica Neue Medium"/>
                <a:cs typeface="Helvetica Neue Medium"/>
              </a:rPr>
              <a:t>Certify and submit</a:t>
            </a:r>
          </a:p>
          <a:p>
            <a:pPr algn="l">
              <a:lnSpc>
                <a:spcPct val="100000"/>
              </a:lnSpc>
              <a:spcAft>
                <a:spcPts val="0"/>
              </a:spcAft>
            </a:pPr>
            <a:r>
              <a:rPr lang="en-US" sz="950" spc="0" dirty="0">
                <a:solidFill>
                  <a:srgbClr val="858A97"/>
                </a:solidFill>
                <a:latin typeface="Helvetica Neue Light"/>
                <a:cs typeface="Helvetica Neue Light"/>
              </a:rPr>
              <a:t>Employee</a:t>
            </a:r>
          </a:p>
        </p:txBody>
      </p:sp>
      <p:pic>
        <p:nvPicPr>
          <p:cNvPr id="110" name="Hi-fi screen"/>
          <p:cNvPicPr>
            <a:picLocks noChangeAspect="1"/>
          </p:cNvPicPr>
          <p:nvPr/>
        </p:nvPicPr>
        <p:blipFill>
          <a:blip r:embed="rId5"/>
          <a:srcRect b="8685"/>
          <a:stretch>
            <a:fillRect/>
          </a:stretch>
        </p:blipFill>
        <p:spPr>
          <a:xfrm>
            <a:off x="7737043" y="2057400"/>
            <a:ext cx="2140102" cy="1337563"/>
          </a:xfrm>
          <a:prstGeom prst="rect">
            <a:avLst/>
          </a:prstGeom>
          <a:ln w="9525">
            <a:solidFill>
              <a:srgbClr val="D3D6DC"/>
            </a:solidFill>
          </a:ln>
        </p:spPr>
      </p:pic>
      <p:sp>
        <p:nvSpPr>
          <p:cNvPr id="111" name="Cap 4"/>
          <p:cNvSpPr txBox="1"/>
          <p:nvPr/>
        </p:nvSpPr>
        <p:spPr>
          <a:xfrm>
            <a:off x="7737043" y="344982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04  </a:t>
            </a:r>
            <a:r>
              <a:rPr lang="en-US" sz="1050" spc="0" dirty="0">
                <a:solidFill>
                  <a:srgbClr val="14161D"/>
                </a:solidFill>
                <a:latin typeface="Helvetica Neue Medium"/>
                <a:cs typeface="Helvetica Neue Medium"/>
              </a:rPr>
              <a:t>Submitted</a:t>
            </a:r>
          </a:p>
          <a:p>
            <a:pPr algn="l">
              <a:lnSpc>
                <a:spcPct val="100000"/>
              </a:lnSpc>
              <a:spcAft>
                <a:spcPts val="0"/>
              </a:spcAft>
            </a:pPr>
            <a:r>
              <a:rPr lang="en-US" sz="950" spc="0" dirty="0">
                <a:solidFill>
                  <a:srgbClr val="858A97"/>
                </a:solidFill>
                <a:latin typeface="Helvetica Neue Light"/>
                <a:cs typeface="Helvetica Neue Light"/>
              </a:rPr>
              <a:t>Employee</a:t>
            </a:r>
          </a:p>
        </p:txBody>
      </p:sp>
      <p:pic>
        <p:nvPicPr>
          <p:cNvPr id="112" name="Hi-fi screen"/>
          <p:cNvPicPr>
            <a:picLocks noChangeAspect="1"/>
          </p:cNvPicPr>
          <p:nvPr/>
        </p:nvPicPr>
        <p:blipFill>
          <a:blip r:embed="rId6"/>
          <a:srcRect b="25497"/>
          <a:stretch>
            <a:fillRect/>
          </a:stretch>
        </p:blipFill>
        <p:spPr>
          <a:xfrm>
            <a:off x="10041737" y="2057400"/>
            <a:ext cx="2140102" cy="1337563"/>
          </a:xfrm>
          <a:prstGeom prst="rect">
            <a:avLst/>
          </a:prstGeom>
          <a:ln w="9525">
            <a:solidFill>
              <a:srgbClr val="D3D6DC"/>
            </a:solidFill>
          </a:ln>
        </p:spPr>
      </p:pic>
      <p:sp>
        <p:nvSpPr>
          <p:cNvPr id="113" name="Cap 5"/>
          <p:cNvSpPr txBox="1"/>
          <p:nvPr/>
        </p:nvSpPr>
        <p:spPr>
          <a:xfrm>
            <a:off x="10041737" y="344982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05  </a:t>
            </a:r>
            <a:r>
              <a:rPr lang="en-US" sz="1050" spc="0" dirty="0">
                <a:solidFill>
                  <a:srgbClr val="14161D"/>
                </a:solidFill>
                <a:latin typeface="Helvetica Neue Medium"/>
                <a:cs typeface="Helvetica Neue Medium"/>
              </a:rPr>
              <a:t>Manager notified</a:t>
            </a:r>
          </a:p>
          <a:p>
            <a:pPr algn="l">
              <a:lnSpc>
                <a:spcPct val="100000"/>
              </a:lnSpc>
              <a:spcAft>
                <a:spcPts val="0"/>
              </a:spcAft>
            </a:pPr>
            <a:r>
              <a:rPr lang="en-US" sz="950" spc="0" dirty="0">
                <a:solidFill>
                  <a:srgbClr val="858A97"/>
                </a:solidFill>
                <a:latin typeface="Helvetica Neue Light"/>
                <a:cs typeface="Helvetica Neue Light"/>
              </a:rPr>
              <a:t>Manager</a:t>
            </a:r>
          </a:p>
        </p:txBody>
      </p:sp>
      <p:pic>
        <p:nvPicPr>
          <p:cNvPr id="114" name="Hi-fi screen"/>
          <p:cNvPicPr>
            <a:picLocks noChangeAspect="1"/>
          </p:cNvPicPr>
          <p:nvPr/>
        </p:nvPicPr>
        <p:blipFill>
          <a:blip r:embed="rId7"/>
          <a:srcRect b="8685"/>
          <a:stretch>
            <a:fillRect/>
          </a:stretch>
        </p:blipFill>
        <p:spPr>
          <a:xfrm>
            <a:off x="822960" y="3961892"/>
            <a:ext cx="2140102" cy="1337563"/>
          </a:xfrm>
          <a:prstGeom prst="rect">
            <a:avLst/>
          </a:prstGeom>
          <a:ln w="9525">
            <a:solidFill>
              <a:srgbClr val="D3D6DC"/>
            </a:solidFill>
          </a:ln>
        </p:spPr>
      </p:pic>
      <p:sp>
        <p:nvSpPr>
          <p:cNvPr id="115" name="Cap 6"/>
          <p:cNvSpPr txBox="1"/>
          <p:nvPr/>
        </p:nvSpPr>
        <p:spPr>
          <a:xfrm>
            <a:off x="822960" y="535432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06  </a:t>
            </a:r>
            <a:r>
              <a:rPr lang="en-US" sz="1050" spc="0" dirty="0">
                <a:solidFill>
                  <a:srgbClr val="14161D"/>
                </a:solidFill>
                <a:latin typeface="Helvetica Neue Medium"/>
                <a:cs typeface="Helvetica Neue Medium"/>
              </a:rPr>
              <a:t>Pending my review</a:t>
            </a:r>
          </a:p>
          <a:p>
            <a:pPr algn="l">
              <a:lnSpc>
                <a:spcPct val="100000"/>
              </a:lnSpc>
              <a:spcAft>
                <a:spcPts val="0"/>
              </a:spcAft>
            </a:pPr>
            <a:r>
              <a:rPr lang="en-US" sz="950" spc="0" dirty="0">
                <a:solidFill>
                  <a:srgbClr val="858A97"/>
                </a:solidFill>
                <a:latin typeface="Helvetica Neue Light"/>
                <a:cs typeface="Helvetica Neue Light"/>
              </a:rPr>
              <a:t>Manager</a:t>
            </a:r>
          </a:p>
        </p:txBody>
      </p:sp>
      <p:pic>
        <p:nvPicPr>
          <p:cNvPr id="116" name="Hi-fi screen"/>
          <p:cNvPicPr>
            <a:picLocks noChangeAspect="1"/>
          </p:cNvPicPr>
          <p:nvPr/>
        </p:nvPicPr>
        <p:blipFill>
          <a:blip r:embed="rId8"/>
          <a:srcRect b="8685"/>
          <a:stretch>
            <a:fillRect/>
          </a:stretch>
        </p:blipFill>
        <p:spPr>
          <a:xfrm>
            <a:off x="3127654" y="3961892"/>
            <a:ext cx="2140102" cy="1337563"/>
          </a:xfrm>
          <a:prstGeom prst="rect">
            <a:avLst/>
          </a:prstGeom>
          <a:ln w="9525">
            <a:solidFill>
              <a:srgbClr val="D3D6DC"/>
            </a:solidFill>
          </a:ln>
        </p:spPr>
      </p:pic>
      <p:sp>
        <p:nvSpPr>
          <p:cNvPr id="117" name="Cap 7"/>
          <p:cNvSpPr txBox="1"/>
          <p:nvPr/>
        </p:nvSpPr>
        <p:spPr>
          <a:xfrm>
            <a:off x="3127654" y="535432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07  </a:t>
            </a:r>
            <a:r>
              <a:rPr lang="en-US" sz="1050" spc="0" dirty="0">
                <a:solidFill>
                  <a:srgbClr val="14161D"/>
                </a:solidFill>
                <a:latin typeface="Helvetica Neue Medium"/>
                <a:cs typeface="Helvetica Neue Medium"/>
              </a:rPr>
              <a:t>Read-only request</a:t>
            </a:r>
          </a:p>
          <a:p>
            <a:pPr algn="l">
              <a:lnSpc>
                <a:spcPct val="100000"/>
              </a:lnSpc>
              <a:spcAft>
                <a:spcPts val="0"/>
              </a:spcAft>
            </a:pPr>
            <a:r>
              <a:rPr lang="en-US" sz="950" spc="0" dirty="0">
                <a:solidFill>
                  <a:srgbClr val="858A97"/>
                </a:solidFill>
                <a:latin typeface="Helvetica Neue Light"/>
                <a:cs typeface="Helvetica Neue Light"/>
              </a:rPr>
              <a:t>Manager</a:t>
            </a:r>
          </a:p>
        </p:txBody>
      </p:sp>
      <p:pic>
        <p:nvPicPr>
          <p:cNvPr id="118" name="Hi-fi screen"/>
          <p:cNvPicPr>
            <a:picLocks noChangeAspect="1"/>
          </p:cNvPicPr>
          <p:nvPr/>
        </p:nvPicPr>
        <p:blipFill>
          <a:blip r:embed="rId9"/>
          <a:srcRect b="8685"/>
          <a:stretch>
            <a:fillRect/>
          </a:stretch>
        </p:blipFill>
        <p:spPr>
          <a:xfrm>
            <a:off x="5432348" y="3961892"/>
            <a:ext cx="2140102" cy="1337563"/>
          </a:xfrm>
          <a:prstGeom prst="rect">
            <a:avLst/>
          </a:prstGeom>
          <a:ln w="9525">
            <a:solidFill>
              <a:srgbClr val="D3D6DC"/>
            </a:solidFill>
          </a:ln>
        </p:spPr>
      </p:pic>
      <p:sp>
        <p:nvSpPr>
          <p:cNvPr id="119" name="Cap 8"/>
          <p:cNvSpPr txBox="1"/>
          <p:nvPr/>
        </p:nvSpPr>
        <p:spPr>
          <a:xfrm>
            <a:off x="5432348" y="535432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08  </a:t>
            </a:r>
            <a:r>
              <a:rPr lang="en-US" sz="1050" spc="0" dirty="0">
                <a:solidFill>
                  <a:srgbClr val="14161D"/>
                </a:solidFill>
                <a:latin typeface="Helvetica Neue Medium"/>
                <a:cs typeface="Helvetica Neue Medium"/>
              </a:rPr>
              <a:t>Workflow history</a:t>
            </a:r>
          </a:p>
          <a:p>
            <a:pPr algn="l">
              <a:lnSpc>
                <a:spcPct val="100000"/>
              </a:lnSpc>
              <a:spcAft>
                <a:spcPts val="0"/>
              </a:spcAft>
            </a:pPr>
            <a:r>
              <a:rPr lang="en-US" sz="950" spc="0" dirty="0">
                <a:solidFill>
                  <a:srgbClr val="858A97"/>
                </a:solidFill>
                <a:latin typeface="Helvetica Neue Light"/>
                <a:cs typeface="Helvetica Neue Light"/>
              </a:rPr>
              <a:t>Manager</a:t>
            </a:r>
          </a:p>
        </p:txBody>
      </p:sp>
      <p:pic>
        <p:nvPicPr>
          <p:cNvPr id="120" name="Hi-fi screen"/>
          <p:cNvPicPr>
            <a:picLocks noChangeAspect="1"/>
          </p:cNvPicPr>
          <p:nvPr/>
        </p:nvPicPr>
        <p:blipFill>
          <a:blip r:embed="rId10"/>
          <a:srcRect b="8759"/>
          <a:stretch>
            <a:fillRect/>
          </a:stretch>
        </p:blipFill>
        <p:spPr>
          <a:xfrm>
            <a:off x="7737043" y="3961892"/>
            <a:ext cx="2140102" cy="1337563"/>
          </a:xfrm>
          <a:prstGeom prst="rect">
            <a:avLst/>
          </a:prstGeom>
          <a:ln w="9525">
            <a:solidFill>
              <a:srgbClr val="D3D6DC"/>
            </a:solidFill>
          </a:ln>
        </p:spPr>
      </p:pic>
      <p:sp>
        <p:nvSpPr>
          <p:cNvPr id="121" name="Cap 9"/>
          <p:cNvSpPr txBox="1"/>
          <p:nvPr/>
        </p:nvSpPr>
        <p:spPr>
          <a:xfrm>
            <a:off x="7737043" y="535432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09  </a:t>
            </a:r>
            <a:r>
              <a:rPr lang="en-US" sz="1050" spc="0" dirty="0">
                <a:solidFill>
                  <a:srgbClr val="14161D"/>
                </a:solidFill>
                <a:latin typeface="Helvetica Neue Medium"/>
                <a:cs typeface="Helvetica Neue Medium"/>
              </a:rPr>
              <a:t>Compliance digest</a:t>
            </a:r>
          </a:p>
          <a:p>
            <a:pPr algn="l">
              <a:lnSpc>
                <a:spcPct val="100000"/>
              </a:lnSpc>
              <a:spcAft>
                <a:spcPts val="0"/>
              </a:spcAft>
            </a:pPr>
            <a:r>
              <a:rPr lang="en-US" sz="950" spc="0" dirty="0">
                <a:solidFill>
                  <a:srgbClr val="858A97"/>
                </a:solidFill>
                <a:latin typeface="Helvetica Neue Light"/>
                <a:cs typeface="Helvetica Neue Light"/>
              </a:rPr>
              <a:t>Compliance</a:t>
            </a:r>
          </a:p>
        </p:txBody>
      </p:sp>
      <p:pic>
        <p:nvPicPr>
          <p:cNvPr id="122" name="Hi-fi screen"/>
          <p:cNvPicPr>
            <a:picLocks noChangeAspect="1"/>
          </p:cNvPicPr>
          <p:nvPr/>
        </p:nvPicPr>
        <p:blipFill>
          <a:blip r:embed="rId11"/>
          <a:srcRect b="8685"/>
          <a:stretch>
            <a:fillRect/>
          </a:stretch>
        </p:blipFill>
        <p:spPr>
          <a:xfrm>
            <a:off x="10041737" y="3961892"/>
            <a:ext cx="2140102" cy="1337563"/>
          </a:xfrm>
          <a:prstGeom prst="rect">
            <a:avLst/>
          </a:prstGeom>
          <a:ln w="9525">
            <a:solidFill>
              <a:srgbClr val="D3D6DC"/>
            </a:solidFill>
          </a:ln>
        </p:spPr>
      </p:pic>
      <p:sp>
        <p:nvSpPr>
          <p:cNvPr id="123" name="Cap 10"/>
          <p:cNvSpPr txBox="1"/>
          <p:nvPr/>
        </p:nvSpPr>
        <p:spPr>
          <a:xfrm>
            <a:off x="10041737" y="535432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10  </a:t>
            </a:r>
            <a:r>
              <a:rPr lang="en-US" sz="1050" spc="0" dirty="0">
                <a:solidFill>
                  <a:srgbClr val="14161D"/>
                </a:solidFill>
                <a:latin typeface="Helvetica Neue Medium"/>
                <a:cs typeface="Helvetica Neue Medium"/>
              </a:rPr>
              <a:t>Pending queue</a:t>
            </a:r>
          </a:p>
          <a:p>
            <a:pPr algn="l">
              <a:lnSpc>
                <a:spcPct val="100000"/>
              </a:lnSpc>
              <a:spcAft>
                <a:spcPts val="0"/>
              </a:spcAft>
            </a:pPr>
            <a:r>
              <a:rPr lang="en-US" sz="950" spc="0" dirty="0">
                <a:solidFill>
                  <a:srgbClr val="858A97"/>
                </a:solidFill>
                <a:latin typeface="Helvetica Neue Light"/>
                <a:cs typeface="Helvetica Neue Light"/>
              </a:rPr>
              <a:t>Compliance</a:t>
            </a:r>
          </a:p>
        </p:txBody>
      </p:sp>
      <p:pic>
        <p:nvPicPr>
          <p:cNvPr id="124" name="Hi-fi screen"/>
          <p:cNvPicPr>
            <a:picLocks noChangeAspect="1"/>
          </p:cNvPicPr>
          <p:nvPr/>
        </p:nvPicPr>
        <p:blipFill>
          <a:blip r:embed="rId12"/>
          <a:srcRect b="8685"/>
          <a:stretch>
            <a:fillRect/>
          </a:stretch>
        </p:blipFill>
        <p:spPr>
          <a:xfrm>
            <a:off x="822960" y="5866384"/>
            <a:ext cx="2140102" cy="1337563"/>
          </a:xfrm>
          <a:prstGeom prst="rect">
            <a:avLst/>
          </a:prstGeom>
          <a:ln w="9525">
            <a:solidFill>
              <a:srgbClr val="D3D6DC"/>
            </a:solidFill>
          </a:ln>
        </p:spPr>
      </p:pic>
      <p:sp>
        <p:nvSpPr>
          <p:cNvPr id="125" name="Cap 11"/>
          <p:cNvSpPr txBox="1"/>
          <p:nvPr/>
        </p:nvSpPr>
        <p:spPr>
          <a:xfrm>
            <a:off x="822960" y="7258812"/>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11  </a:t>
            </a:r>
            <a:r>
              <a:rPr lang="en-US" sz="1050" spc="0" dirty="0">
                <a:solidFill>
                  <a:srgbClr val="14161D"/>
                </a:solidFill>
                <a:latin typeface="Helvetica Neue Medium"/>
                <a:cs typeface="Helvetica Neue Medium"/>
              </a:rPr>
              <a:t>Pipeline</a:t>
            </a:r>
          </a:p>
          <a:p>
            <a:pPr algn="l">
              <a:lnSpc>
                <a:spcPct val="100000"/>
              </a:lnSpc>
              <a:spcAft>
                <a:spcPts val="0"/>
              </a:spcAft>
            </a:pPr>
            <a:r>
              <a:rPr lang="en-US" sz="950" spc="0" dirty="0">
                <a:solidFill>
                  <a:srgbClr val="858A97"/>
                </a:solidFill>
                <a:latin typeface="Helvetica Neue Light"/>
                <a:cs typeface="Helvetica Neue Light"/>
              </a:rPr>
              <a:t>Compliance</a:t>
            </a:r>
          </a:p>
        </p:txBody>
      </p:sp>
      <p:pic>
        <p:nvPicPr>
          <p:cNvPr id="126" name="Hi-fi screen"/>
          <p:cNvPicPr>
            <a:picLocks noChangeAspect="1"/>
          </p:cNvPicPr>
          <p:nvPr/>
        </p:nvPicPr>
        <p:blipFill>
          <a:blip r:embed="rId13"/>
          <a:srcRect b="8685"/>
          <a:stretch>
            <a:fillRect/>
          </a:stretch>
        </p:blipFill>
        <p:spPr>
          <a:xfrm>
            <a:off x="3127654" y="5866384"/>
            <a:ext cx="2140102" cy="1337563"/>
          </a:xfrm>
          <a:prstGeom prst="rect">
            <a:avLst/>
          </a:prstGeom>
          <a:ln w="9525">
            <a:solidFill>
              <a:srgbClr val="D3D6DC"/>
            </a:solidFill>
          </a:ln>
        </p:spPr>
      </p:pic>
      <p:sp>
        <p:nvSpPr>
          <p:cNvPr id="127" name="Cap 12"/>
          <p:cNvSpPr txBox="1"/>
          <p:nvPr/>
        </p:nvSpPr>
        <p:spPr>
          <a:xfrm>
            <a:off x="3127654" y="7258812"/>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12  </a:t>
            </a:r>
            <a:r>
              <a:rPr lang="en-US" sz="1050" spc="0" dirty="0">
                <a:solidFill>
                  <a:srgbClr val="14161D"/>
                </a:solidFill>
                <a:latin typeface="Helvetica Neue Medium"/>
                <a:cs typeface="Helvetica Neue Medium"/>
              </a:rPr>
              <a:t>Reporting search</a:t>
            </a:r>
          </a:p>
          <a:p>
            <a:pPr algn="l">
              <a:lnSpc>
                <a:spcPct val="100000"/>
              </a:lnSpc>
              <a:spcAft>
                <a:spcPts val="0"/>
              </a:spcAft>
            </a:pPr>
            <a:r>
              <a:rPr lang="en-US" sz="950" spc="0" dirty="0">
                <a:solidFill>
                  <a:srgbClr val="858A97"/>
                </a:solidFill>
                <a:latin typeface="Helvetica Neue Light"/>
                <a:cs typeface="Helvetica Neue Light"/>
              </a:rPr>
              <a:t>Compliance</a:t>
            </a:r>
          </a:p>
        </p:txBody>
      </p:sp>
      <p:pic>
        <p:nvPicPr>
          <p:cNvPr id="128" name="Hi-fi screen"/>
          <p:cNvPicPr>
            <a:picLocks noChangeAspect="1"/>
          </p:cNvPicPr>
          <p:nvPr/>
        </p:nvPicPr>
        <p:blipFill>
          <a:blip r:embed="rId14"/>
          <a:srcRect b="8685"/>
          <a:stretch>
            <a:fillRect/>
          </a:stretch>
        </p:blipFill>
        <p:spPr>
          <a:xfrm>
            <a:off x="5432348" y="5866384"/>
            <a:ext cx="2140102" cy="1337563"/>
          </a:xfrm>
          <a:prstGeom prst="rect">
            <a:avLst/>
          </a:prstGeom>
          <a:ln w="9525">
            <a:solidFill>
              <a:srgbClr val="D3D6DC"/>
            </a:solidFill>
          </a:ln>
        </p:spPr>
      </p:pic>
      <p:sp>
        <p:nvSpPr>
          <p:cNvPr id="129" name="Cap 13"/>
          <p:cNvSpPr txBox="1"/>
          <p:nvPr/>
        </p:nvSpPr>
        <p:spPr>
          <a:xfrm>
            <a:off x="5432348" y="7258812"/>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13  </a:t>
            </a:r>
            <a:r>
              <a:rPr lang="en-US" sz="1050" spc="0" dirty="0">
                <a:solidFill>
                  <a:srgbClr val="14161D"/>
                </a:solidFill>
                <a:latin typeface="Helvetica Neue Medium"/>
                <a:cs typeface="Helvetica Neue Medium"/>
              </a:rPr>
              <a:t>Reporting results</a:t>
            </a:r>
          </a:p>
          <a:p>
            <a:pPr algn="l">
              <a:lnSpc>
                <a:spcPct val="100000"/>
              </a:lnSpc>
              <a:spcAft>
                <a:spcPts val="0"/>
              </a:spcAft>
            </a:pPr>
            <a:r>
              <a:rPr lang="en-US" sz="950" spc="0" dirty="0">
                <a:solidFill>
                  <a:srgbClr val="858A97"/>
                </a:solidFill>
                <a:latin typeface="Helvetica Neue Light"/>
                <a:cs typeface="Helvetica Neue Light"/>
              </a:rPr>
              <a:t>Compliance</a:t>
            </a:r>
          </a:p>
        </p:txBody>
      </p:sp>
      <p:pic>
        <p:nvPicPr>
          <p:cNvPr id="130" name="Hi-fi screen"/>
          <p:cNvPicPr>
            <a:picLocks noChangeAspect="1"/>
          </p:cNvPicPr>
          <p:nvPr/>
        </p:nvPicPr>
        <p:blipFill>
          <a:blip r:embed="rId15"/>
          <a:srcRect b="22521"/>
          <a:stretch>
            <a:fillRect/>
          </a:stretch>
        </p:blipFill>
        <p:spPr>
          <a:xfrm>
            <a:off x="7737043" y="5866384"/>
            <a:ext cx="2140102" cy="1337563"/>
          </a:xfrm>
          <a:prstGeom prst="rect">
            <a:avLst/>
          </a:prstGeom>
          <a:ln w="9525">
            <a:solidFill>
              <a:srgbClr val="D3D6DC"/>
            </a:solidFill>
          </a:ln>
        </p:spPr>
      </p:pic>
      <p:sp>
        <p:nvSpPr>
          <p:cNvPr id="131" name="Cap 14"/>
          <p:cNvSpPr txBox="1"/>
          <p:nvPr/>
        </p:nvSpPr>
        <p:spPr>
          <a:xfrm>
            <a:off x="7737043" y="7258812"/>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14  </a:t>
            </a:r>
            <a:r>
              <a:rPr lang="en-US" sz="1050" spc="0" dirty="0">
                <a:solidFill>
                  <a:srgbClr val="14161D"/>
                </a:solidFill>
                <a:latin typeface="Helvetica Neue Medium"/>
                <a:cs typeface="Helvetica Neue Medium"/>
              </a:rPr>
              <a:t>Decision email</a:t>
            </a:r>
          </a:p>
          <a:p>
            <a:pPr algn="l">
              <a:lnSpc>
                <a:spcPct val="100000"/>
              </a:lnSpc>
              <a:spcAft>
                <a:spcPts val="0"/>
              </a:spcAft>
            </a:pPr>
            <a:r>
              <a:rPr lang="en-US" sz="950" spc="0" dirty="0">
                <a:solidFill>
                  <a:srgbClr val="858A97"/>
                </a:solidFill>
                <a:latin typeface="Helvetica Neue Light"/>
                <a:cs typeface="Helvetica Neue Light"/>
              </a:rPr>
              <a:t>Employee</a:t>
            </a:r>
          </a:p>
        </p:txBody>
      </p:sp>
      <p:cxnSp>
        <p:nvCxnSpPr>
          <p:cNvPr id="132" name="Divider"/>
          <p:cNvCxnSpPr/>
          <p:nvPr/>
        </p:nvCxnSpPr>
        <p:spPr>
          <a:xfrm>
            <a:off x="10041737" y="5866384"/>
            <a:ext cx="2140102" cy="0"/>
          </a:xfrm>
          <a:prstGeom prst="line">
            <a:avLst/>
          </a:prstGeom>
          <a:ln w="28575">
            <a:solidFill>
              <a:srgbClr val="B5531F"/>
            </a:solidFill>
          </a:ln>
        </p:spPr>
      </p:cxnSp>
      <p:sp>
        <p:nvSpPr>
          <p:cNvPr id="133" name="Prototype tile">
            <a:hlinkClick r:id="rId16"/>
          </p:cNvPr>
          <p:cNvSpPr txBox="1"/>
          <p:nvPr/>
        </p:nvSpPr>
        <p:spPr>
          <a:xfrm>
            <a:off x="10041737" y="6003544"/>
            <a:ext cx="2140102" cy="1337563"/>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B5531F"/>
                </a:solidFill>
                <a:latin typeface="Helvetica Neue Medium"/>
                <a:cs typeface="Helvetica Neue Medium"/>
              </a:rPr>
              <a:t>TRY IT</a:t>
            </a:r>
          </a:p>
          <a:p>
            <a:pPr algn="l">
              <a:lnSpc>
                <a:spcPct val="115000"/>
              </a:lnSpc>
              <a:spcAft>
                <a:spcPts val="300"/>
              </a:spcAft>
            </a:pPr>
            <a:r>
              <a:rPr lang="en-US" sz="1400" u="sng" spc="0" dirty="0">
                <a:solidFill>
                  <a:srgbClr val="B5531F"/>
                </a:solidFill>
                <a:latin typeface="Helvetica Neue Medium"/>
                <a:cs typeface="Helvetica Neue Medium"/>
              </a:rPr>
              <a:t>Open the prototype →</a:t>
            </a:r>
          </a:p>
          <a:p>
            <a:pPr algn="l">
              <a:lnSpc>
                <a:spcPct val="115000"/>
              </a:lnSpc>
              <a:spcAft>
                <a:spcPts val="300"/>
              </a:spcAft>
            </a:pPr>
            <a:r>
              <a:rPr lang="en-US" sz="1050" spc="0" dirty="0">
                <a:solidFill>
                  <a:srgbClr val="858A97"/>
                </a:solidFill>
                <a:latin typeface="Helvetica Neue Light"/>
                <a:cs typeface="Helvetica Neue Light"/>
              </a:rPr>
              <a:t>Starts at the welcome screen</a:t>
            </a:r>
          </a:p>
        </p:txBody>
      </p:sp>
      <p:pic>
        <p:nvPicPr>
          <p:cNvPr id="134" name="gradient strip" descr="gradient strip"/>
          <p:cNvPicPr>
            <a:picLocks noChangeAspect="1"/>
          </p:cNvPicPr>
          <p:nvPr/>
        </p:nvPicPr>
        <p:blipFill>
          <a:blip r:embed="rId17"/>
          <a:stretch>
            <a:fillRect/>
          </a:stretch>
        </p:blipFill>
        <p:spPr>
          <a:xfrm>
            <a:off x="0" y="9285427"/>
            <a:ext cx="13004800" cy="468173"/>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Experience design strategy</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Based on POC 2 from the design thinking process, and thumbnail sketches.</a:t>
            </a:r>
          </a:p>
        </p:txBody>
      </p:sp>
      <p:pic>
        <p:nvPicPr>
          <p:cNvPr id="104" name="Picture 1" descr="image.png"/>
          <p:cNvPicPr>
            <a:picLocks noChangeAspect="1"/>
          </p:cNvPicPr>
          <p:nvPr/>
        </p:nvPicPr>
        <p:blipFill>
          <a:blip r:embed="rId2"/>
          <a:stretch>
            <a:fillRect/>
          </a:stretch>
        </p:blipFill>
        <p:spPr>
          <a:xfrm>
            <a:off x="9423711" y="2011680"/>
            <a:ext cx="2756095" cy="3580347"/>
          </a:xfrm>
          <a:prstGeom prst="rect">
            <a:avLst/>
          </a:prstGeom>
          <a:ln w="9525">
            <a:solidFill>
              <a:srgbClr val="D3D6DC"/>
            </a:solidFill>
          </a:ln>
        </p:spPr>
      </p:pic>
      <p:pic>
        <p:nvPicPr>
          <p:cNvPr id="105" name="Picture 2" descr="image.png"/>
          <p:cNvPicPr>
            <a:picLocks noChangeAspect="1"/>
          </p:cNvPicPr>
          <p:nvPr/>
        </p:nvPicPr>
        <p:blipFill>
          <a:blip r:embed="rId3"/>
          <a:stretch>
            <a:fillRect/>
          </a:stretch>
        </p:blipFill>
        <p:spPr>
          <a:xfrm>
            <a:off x="9746880" y="5263566"/>
            <a:ext cx="2030375" cy="1830035"/>
          </a:xfrm>
          <a:prstGeom prst="rect">
            <a:avLst/>
          </a:prstGeom>
          <a:ln w="9525">
            <a:solidFill>
              <a:srgbClr val="D3D6DC"/>
            </a:solidFill>
          </a:ln>
        </p:spPr>
      </p:pic>
      <p:pic>
        <p:nvPicPr>
          <p:cNvPr id="106" name="Picture 3" descr="image.png"/>
          <p:cNvPicPr>
            <a:picLocks noChangeAspect="1"/>
          </p:cNvPicPr>
          <p:nvPr/>
        </p:nvPicPr>
        <p:blipFill>
          <a:blip r:embed="rId4"/>
          <a:stretch>
            <a:fillRect/>
          </a:stretch>
        </p:blipFill>
        <p:spPr>
          <a:xfrm>
            <a:off x="8169826" y="3234501"/>
            <a:ext cx="1688382" cy="1815196"/>
          </a:xfrm>
          <a:prstGeom prst="rect">
            <a:avLst/>
          </a:prstGeom>
          <a:ln w="9525">
            <a:solidFill>
              <a:srgbClr val="D3D6DC"/>
            </a:solidFill>
          </a:ln>
        </p:spPr>
      </p:pic>
      <p:pic>
        <p:nvPicPr>
          <p:cNvPr id="107" name="Picture 4" descr="image.png"/>
          <p:cNvPicPr>
            <a:picLocks noChangeAspect="1"/>
          </p:cNvPicPr>
          <p:nvPr/>
        </p:nvPicPr>
        <p:blipFill>
          <a:blip r:embed="rId5"/>
          <a:stretch>
            <a:fillRect/>
          </a:stretch>
        </p:blipFill>
        <p:spPr>
          <a:xfrm>
            <a:off x="7524314" y="5409122"/>
            <a:ext cx="2453369" cy="2911917"/>
          </a:xfrm>
          <a:prstGeom prst="rect">
            <a:avLst/>
          </a:prstGeom>
          <a:ln w="9525">
            <a:solidFill>
              <a:srgbClr val="D3D6DC"/>
            </a:solidFill>
          </a:ln>
        </p:spPr>
      </p:pic>
      <p:pic>
        <p:nvPicPr>
          <p:cNvPr id="108" name="Picture 5" descr="image.png"/>
          <p:cNvPicPr>
            <a:picLocks noChangeAspect="1"/>
          </p:cNvPicPr>
          <p:nvPr/>
        </p:nvPicPr>
        <p:blipFill>
          <a:blip r:embed="rId6"/>
          <a:stretch>
            <a:fillRect/>
          </a:stretch>
        </p:blipFill>
        <p:spPr>
          <a:xfrm>
            <a:off x="10344447" y="6877758"/>
            <a:ext cx="1835360" cy="1442637"/>
          </a:xfrm>
          <a:prstGeom prst="rect">
            <a:avLst/>
          </a:prstGeom>
          <a:ln w="9525">
            <a:solidFill>
              <a:srgbClr val="D3D6DC"/>
            </a:solidFill>
          </a:ln>
        </p:spPr>
      </p:pic>
      <p:sp>
        <p:nvSpPr>
          <p:cNvPr id="109" name="Learned"/>
          <p:cNvSpPr txBox="1"/>
          <p:nvPr/>
        </p:nvSpPr>
        <p:spPr>
          <a:xfrm>
            <a:off x="822960" y="2194560"/>
            <a:ext cx="493776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FROM DISCOVERY AND DESIGN THINKING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Risk &amp; Compliance managers need a dashboard to understand and filter request statuses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Reporting and other major functions, with sharing and alerts to second-line managers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Employees were often confused about which form they needed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They needed education on why, how and when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They needed to know what to expect when they came back</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One central place to see every submitted request</a:t>
            </a:r>
          </a:p>
        </p:txBody>
      </p:sp>
      <p:pic>
        <p:nvPicPr>
          <p:cNvPr id="110" name="gradient strip" descr="gradient strip"/>
          <p:cNvPicPr>
            <a:picLocks noChangeAspect="1"/>
          </p:cNvPicPr>
          <p:nvPr/>
        </p:nvPicPr>
        <p:blipFill>
          <a:blip r:embed="rId7"/>
          <a:stretch>
            <a:fillRect/>
          </a:stretch>
        </p:blipFill>
        <p:spPr>
          <a:xfrm>
            <a:off x="0" y="9285427"/>
            <a:ext cx="13004800" cy="468173"/>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Dashboard design sprint: second iteration</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The first iterations put education front and center. Testing showed newer users needed it, but not all.</a:t>
            </a:r>
          </a:p>
        </p:txBody>
      </p:sp>
      <p:pic>
        <p:nvPicPr>
          <p:cNvPr id="104" name="Picture 1" descr="image.png"/>
          <p:cNvPicPr>
            <a:picLocks noChangeAspect="1"/>
          </p:cNvPicPr>
          <p:nvPr/>
        </p:nvPicPr>
        <p:blipFill>
          <a:blip r:embed="rId2"/>
          <a:stretch>
            <a:fillRect/>
          </a:stretch>
        </p:blipFill>
        <p:spPr>
          <a:xfrm>
            <a:off x="8611720" y="2103120"/>
            <a:ext cx="3568087" cy="6217920"/>
          </a:xfrm>
          <a:prstGeom prst="rect">
            <a:avLst/>
          </a:prstGeom>
          <a:ln w="9525">
            <a:solidFill>
              <a:srgbClr val="D3D6DC"/>
            </a:solidFill>
          </a:ln>
        </p:spPr>
      </p:pic>
      <p:sp>
        <p:nvSpPr>
          <p:cNvPr id="105" name="Learned"/>
          <p:cNvSpPr txBox="1"/>
          <p:nvPr/>
        </p:nvSpPr>
        <p:spPr>
          <a:xfrm>
            <a:off x="822960" y="2194560"/>
            <a:ext cx="484632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IN TESTING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Education was a priority for all users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Users responded to friendlier copy that described the situations they might be in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Content for Swiss users could be surfaced by user ID and location</a:t>
            </a:r>
          </a:p>
        </p:txBody>
      </p:sp>
      <p:pic>
        <p:nvPicPr>
          <p:cNvPr id="106"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Dashboard design sprint: final version</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Submitters reach a wizard that asks only 2 questions to find the right form.</a:t>
            </a:r>
          </a:p>
        </p:txBody>
      </p:sp>
      <p:pic>
        <p:nvPicPr>
          <p:cNvPr id="104" name="Picture 1" descr="image.png"/>
          <p:cNvPicPr>
            <a:picLocks noChangeAspect="1"/>
          </p:cNvPicPr>
          <p:nvPr/>
        </p:nvPicPr>
        <p:blipFill>
          <a:blip r:embed="rId2"/>
          <a:stretch>
            <a:fillRect/>
          </a:stretch>
        </p:blipFill>
        <p:spPr>
          <a:xfrm>
            <a:off x="5120640" y="3121472"/>
            <a:ext cx="4414870" cy="4056630"/>
          </a:xfrm>
          <a:prstGeom prst="rect">
            <a:avLst/>
          </a:prstGeom>
          <a:ln w="9525">
            <a:solidFill>
              <a:srgbClr val="D3D6DC"/>
            </a:solidFill>
          </a:ln>
        </p:spPr>
      </p:pic>
      <p:pic>
        <p:nvPicPr>
          <p:cNvPr id="105" name="Picture 2" descr="image.png"/>
          <p:cNvPicPr>
            <a:picLocks noChangeAspect="1"/>
          </p:cNvPicPr>
          <p:nvPr/>
        </p:nvPicPr>
        <p:blipFill>
          <a:blip r:embed="rId3"/>
          <a:stretch>
            <a:fillRect/>
          </a:stretch>
        </p:blipFill>
        <p:spPr>
          <a:xfrm>
            <a:off x="7564392" y="5696941"/>
            <a:ext cx="4615415" cy="1605746"/>
          </a:xfrm>
          <a:prstGeom prst="rect">
            <a:avLst/>
          </a:prstGeom>
          <a:ln w="9525">
            <a:solidFill>
              <a:srgbClr val="D3D6DC"/>
            </a:solidFill>
          </a:ln>
        </p:spPr>
      </p:pic>
      <p:sp>
        <p:nvSpPr>
          <p:cNvPr id="106" name="Caption"/>
          <p:cNvSpPr txBox="1"/>
          <p:nvPr/>
        </p:nvSpPr>
        <p:spPr>
          <a:xfrm>
            <a:off x="9740212" y="3106415"/>
            <a:ext cx="1463040" cy="274320"/>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565C6B"/>
                </a:solidFill>
                <a:latin typeface="Helvetica Neue Light"/>
                <a:cs typeface="Helvetica Neue Light"/>
              </a:rPr>
              <a:t>Final Version</a:t>
            </a:r>
          </a:p>
        </p:txBody>
      </p:sp>
      <p:sp>
        <p:nvSpPr>
          <p:cNvPr id="107" name="Learned"/>
          <p:cNvSpPr txBox="1"/>
          <p:nvPr/>
        </p:nvSpPr>
        <p:spPr>
          <a:xfrm>
            <a:off x="822960" y="2194560"/>
            <a:ext cx="393192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Easy access to education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cleaner interface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quick way to start a request</a:t>
            </a:r>
          </a:p>
        </p:txBody>
      </p:sp>
      <p:pic>
        <p:nvPicPr>
          <p:cNvPr id="108"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Landing page design sprint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Legacy requests from the previous system, OIRS, were migrated into OBI.</a:t>
            </a:r>
          </a:p>
        </p:txBody>
      </p:sp>
      <p:pic>
        <p:nvPicPr>
          <p:cNvPr id="104" name="Picture 1" descr="image.png"/>
          <p:cNvPicPr>
            <a:picLocks noChangeAspect="1"/>
          </p:cNvPicPr>
          <p:nvPr/>
        </p:nvPicPr>
        <p:blipFill>
          <a:blip r:embed="rId2"/>
          <a:stretch>
            <a:fillRect/>
          </a:stretch>
        </p:blipFill>
        <p:spPr>
          <a:xfrm>
            <a:off x="4572000" y="2692708"/>
            <a:ext cx="7607808" cy="5038742"/>
          </a:xfrm>
          <a:prstGeom prst="rect">
            <a:avLst/>
          </a:prstGeom>
          <a:ln w="9525">
            <a:solidFill>
              <a:srgbClr val="D3D6DC"/>
            </a:solidFill>
          </a:ln>
        </p:spPr>
      </p:pic>
      <p:sp>
        <p:nvSpPr>
          <p:cNvPr id="105" name="Learned"/>
          <p:cNvSpPr txBox="1"/>
          <p:nvPr/>
        </p:nvSpPr>
        <p:spPr>
          <a:xfrm>
            <a:off x="822960" y="2194560"/>
            <a:ext cx="338328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YOUR REQUESTS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Opens by default on the requester dashboard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Drafts saved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Pending requests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Completed requests</a:t>
            </a:r>
          </a:p>
        </p:txBody>
      </p:sp>
      <p:pic>
        <p:nvPicPr>
          <p:cNvPr id="106" name="gradient strip" descr="gradient strip"/>
          <p:cNvPicPr>
            <a:picLocks noChangeAspect="1"/>
          </p:cNvPicPr>
          <p:nvPr/>
        </p:nvPicPr>
        <p:blipFill>
          <a:blip r:embed="rId3"/>
          <a:stretch>
            <a:fillRect/>
          </a:stretch>
        </p:blipFill>
        <p:spPr>
          <a:xfrm>
            <a:off x="0" y="9285427"/>
            <a:ext cx="13004800" cy="468173"/>
          </a:xfrm>
          <a:prstGeom prst="rect">
            <a:avLst/>
          </a:prstGeom>
        </p:spPr>
      </p:pic>
      <p:sp>
        <p:nvSpPr>
          <p:cNvPr id="901" name="Callout text"/>
          <p:cNvSpPr txBox="1"/>
          <p:nvPr/>
        </p:nvSpPr>
        <p:spPr>
          <a:xfrm>
            <a:off x="9893808" y="6053328"/>
            <a:ext cx="2148840" cy="1627632"/>
          </a:xfrm>
          <a:prstGeom prst="rect">
            <a:avLst/>
          </a:prstGeom>
          <a:noFill/>
        </p:spPr>
        <p:txBody>
          <a:bodyPr wrap="square" lIns="45720" tIns="45720" rIns="45720" bIns="45720" anchor="ctr">
            <a:noAutofit/>
          </a:bodyPr>
          <a:lstStyle/>
          <a:p>
            <a:pPr>
              <a:lnSpc>
                <a:spcPct val="110000"/>
              </a:lnSpc>
              <a:spcAft>
                <a:spcPts val="200"/>
              </a:spcAft>
            </a:pPr>
            <a:r>
              <a:rPr lang="en-US" sz="1050" dirty="0">
                <a:solidFill>
                  <a:srgbClr val="FFFFFF"/>
                </a:solidFill>
                <a:latin typeface="Helvetica Neue Light"/>
                <a:cs typeface="Helvetica Neue Light"/>
              </a:rPr>
              <a:t>The landing page shows the requester dashboard. “Your Requests” opens by default, in three sections:</a:t>
            </a:r>
          </a:p>
          <a:p>
            <a:pPr>
              <a:lnSpc>
                <a:spcPct val="110000"/>
              </a:lnSpc>
              <a:spcAft>
                <a:spcPts val="200"/>
              </a:spcAft>
            </a:pPr>
            <a:r>
              <a:rPr lang="en-US" sz="1050" dirty="0">
                <a:solidFill>
                  <a:srgbClr val="FFFFFF"/>
                </a:solidFill>
                <a:latin typeface="Helvetica Neue Light"/>
                <a:cs typeface="Helvetica Neue Light"/>
              </a:rPr>
              <a:t>1. Drafts saved</a:t>
            </a:r>
          </a:p>
          <a:p>
            <a:pPr>
              <a:lnSpc>
                <a:spcPct val="110000"/>
              </a:lnSpc>
              <a:spcAft>
                <a:spcPts val="200"/>
              </a:spcAft>
            </a:pPr>
            <a:r>
              <a:rPr lang="en-US" sz="1050" dirty="0">
                <a:solidFill>
                  <a:srgbClr val="FFFFFF"/>
                </a:solidFill>
                <a:latin typeface="Helvetica Neue Light"/>
                <a:cs typeface="Helvetica Neue Light"/>
              </a:rPr>
              <a:t>2. Pending requests</a:t>
            </a:r>
          </a:p>
          <a:p>
            <a:pPr>
              <a:lnSpc>
                <a:spcPct val="110000"/>
              </a:lnSpc>
              <a:spcAft>
                <a:spcPts val="200"/>
              </a:spcAft>
            </a:pPr>
            <a:r>
              <a:rPr lang="en-US" sz="1050" dirty="0">
                <a:solidFill>
                  <a:srgbClr val="FFFFFF"/>
                </a:solidFill>
                <a:latin typeface="Helvetica Neue Light"/>
                <a:cs typeface="Helvetica Neue Light"/>
              </a:rPr>
              <a:t>3. Completed requests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Proxy request design sprint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For people who can’t access OBI to make the disclosures they need to.</a:t>
            </a:r>
          </a:p>
        </p:txBody>
      </p:sp>
      <p:pic>
        <p:nvPicPr>
          <p:cNvPr id="104" name="Picture 2" descr="image.png"/>
          <p:cNvPicPr>
            <a:picLocks noChangeAspect="1"/>
          </p:cNvPicPr>
          <p:nvPr/>
        </p:nvPicPr>
        <p:blipFill>
          <a:blip r:embed="rId2"/>
          <a:stretch>
            <a:fillRect/>
          </a:stretch>
        </p:blipFill>
        <p:spPr>
          <a:xfrm>
            <a:off x="822960" y="2286000"/>
            <a:ext cx="6949440" cy="4594929"/>
          </a:xfrm>
          <a:prstGeom prst="rect">
            <a:avLst/>
          </a:prstGeom>
          <a:ln w="9525">
            <a:solidFill>
              <a:srgbClr val="D3D6DC"/>
            </a:solidFill>
          </a:ln>
        </p:spPr>
      </p:pic>
      <p:pic>
        <p:nvPicPr>
          <p:cNvPr id="105" name="Picture 3" descr="image.png"/>
          <p:cNvPicPr>
            <a:picLocks noChangeAspect="1"/>
          </p:cNvPicPr>
          <p:nvPr/>
        </p:nvPicPr>
        <p:blipFill>
          <a:blip r:embed="rId3"/>
          <a:stretch>
            <a:fillRect/>
          </a:stretch>
        </p:blipFill>
        <p:spPr>
          <a:xfrm>
            <a:off x="8993220" y="4301231"/>
            <a:ext cx="2285806" cy="2579697"/>
          </a:xfrm>
          <a:prstGeom prst="rect">
            <a:avLst/>
          </a:prstGeom>
          <a:ln w="9525">
            <a:solidFill>
              <a:srgbClr val="D3D6DC"/>
            </a:solidFill>
          </a:ln>
        </p:spPr>
      </p:pic>
      <p:pic>
        <p:nvPicPr>
          <p:cNvPr id="106" name="Picture 1" descr="image.png"/>
          <p:cNvPicPr>
            <a:picLocks noChangeAspect="1"/>
          </p:cNvPicPr>
          <p:nvPr/>
        </p:nvPicPr>
        <p:blipFill>
          <a:blip r:embed="rId4"/>
          <a:stretch>
            <a:fillRect/>
          </a:stretch>
        </p:blipFill>
        <p:spPr>
          <a:xfrm>
            <a:off x="8993220" y="2286000"/>
            <a:ext cx="2285806" cy="1832351"/>
          </a:xfrm>
          <a:prstGeom prst="rect">
            <a:avLst/>
          </a:prstGeom>
          <a:ln w="9525">
            <a:solidFill>
              <a:srgbClr val="D3D6DC"/>
            </a:solidFill>
          </a:ln>
        </p:spPr>
      </p:pic>
      <p:pic>
        <p:nvPicPr>
          <p:cNvPr id="108" name="gradient strip" descr="gradient strip"/>
          <p:cNvPicPr>
            <a:picLocks noChangeAspect="1"/>
          </p:cNvPicPr>
          <p:nvPr/>
        </p:nvPicPr>
        <p:blipFill>
          <a:blip r:embed="rId5"/>
          <a:stretch>
            <a:fillRect/>
          </a:stretch>
        </p:blipFill>
        <p:spPr>
          <a:xfrm>
            <a:off x="0" y="9285427"/>
            <a:ext cx="13004800" cy="468173"/>
          </a:xfrm>
          <a:prstGeom prst="rect">
            <a:avLst/>
          </a:prstGeom>
        </p:spPr>
      </p:pic>
      <p:sp>
        <p:nvSpPr>
          <p:cNvPr id="902" name="Callout text"/>
          <p:cNvSpPr txBox="1"/>
          <p:nvPr/>
        </p:nvSpPr>
        <p:spPr>
          <a:xfrm>
            <a:off x="4890924" y="3387740"/>
            <a:ext cx="2542478" cy="677994"/>
          </a:xfrm>
          <a:prstGeom prst="rect">
            <a:avLst/>
          </a:prstGeom>
          <a:noFill/>
        </p:spPr>
        <p:txBody>
          <a:bodyPr wrap="square" lIns="45720" tIns="45720" rIns="45720" bIns="45720" anchor="ctr">
            <a:noAutofit/>
          </a:bodyPr>
          <a:lstStyle/>
          <a:p>
            <a:pPr>
              <a:lnSpc>
                <a:spcPct val="110000"/>
              </a:lnSpc>
              <a:spcAft>
                <a:spcPts val="200"/>
              </a:spcAft>
            </a:pPr>
            <a:r>
              <a:rPr lang="en-US" sz="950" dirty="0">
                <a:solidFill>
                  <a:srgbClr val="FFFFFF"/>
                </a:solidFill>
                <a:latin typeface="Helvetica Neue Light"/>
                <a:cs typeface="Helvetica Neue Light"/>
              </a:rPr>
              <a:t>For people who can’t access OBI themselves to make the disclosures they need to, OBI has proxy functions.</a:t>
            </a:r>
          </a:p>
        </p:txBody>
      </p:sp>
      <p:sp>
        <p:nvSpPr>
          <p:cNvPr id="903" name="Callout text"/>
          <p:cNvSpPr txBox="1"/>
          <p:nvPr/>
        </p:nvSpPr>
        <p:spPr>
          <a:xfrm>
            <a:off x="1161957" y="6014967"/>
            <a:ext cx="2542478" cy="847492"/>
          </a:xfrm>
          <a:prstGeom prst="rect">
            <a:avLst/>
          </a:prstGeom>
          <a:noFill/>
        </p:spPr>
        <p:txBody>
          <a:bodyPr wrap="square" lIns="45720" tIns="45720" rIns="45720" bIns="45720" anchor="ctr">
            <a:noAutofit/>
          </a:bodyPr>
          <a:lstStyle/>
          <a:p>
            <a:pPr>
              <a:lnSpc>
                <a:spcPct val="110000"/>
              </a:lnSpc>
              <a:spcAft>
                <a:spcPts val="200"/>
              </a:spcAft>
            </a:pPr>
            <a:r>
              <a:rPr lang="en-US" sz="950" dirty="0">
                <a:solidFill>
                  <a:srgbClr val="FFFFFF"/>
                </a:solidFill>
                <a:latin typeface="Helvetica Neue Light"/>
                <a:cs typeface="Helvetica Neue Light"/>
              </a:rPr>
              <a:t>Staff can name colleagues to act as proxies. A proxy can submit requests on behalf of anyone who has given them permission.</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Reporting design sprint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Risk &amp; Compliance managers find any request and export the results.</a:t>
            </a:r>
          </a:p>
        </p:txBody>
      </p:sp>
      <p:pic>
        <p:nvPicPr>
          <p:cNvPr id="104" name="Picture 1" descr="image.png"/>
          <p:cNvPicPr>
            <a:picLocks noChangeAspect="1"/>
          </p:cNvPicPr>
          <p:nvPr/>
        </p:nvPicPr>
        <p:blipFill>
          <a:blip r:embed="rId2"/>
          <a:stretch>
            <a:fillRect/>
          </a:stretch>
        </p:blipFill>
        <p:spPr>
          <a:xfrm>
            <a:off x="6902266" y="2011680"/>
            <a:ext cx="5277541" cy="6309360"/>
          </a:xfrm>
          <a:prstGeom prst="rect">
            <a:avLst/>
          </a:prstGeom>
          <a:ln w="9525">
            <a:solidFill>
              <a:srgbClr val="D3D6DC"/>
            </a:solidFill>
          </a:ln>
        </p:spPr>
      </p:pic>
      <p:sp>
        <p:nvSpPr>
          <p:cNvPr id="105" name="Learned"/>
          <p:cNvSpPr txBox="1"/>
          <p:nvPr/>
        </p:nvSpPr>
        <p:spPr>
          <a:xfrm>
            <a:off x="822960" y="2194560"/>
            <a:ext cx="384048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SEARCH BY</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Request ID and requester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Status and type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Submission dates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Company and office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Export to Excel or PDF</a:t>
            </a:r>
          </a:p>
        </p:txBody>
      </p:sp>
      <p:pic>
        <p:nvPicPr>
          <p:cNvPr id="106"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KEY CALLS</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14161D"/>
                </a:solidFill>
                <a:latin typeface="Helvetica Neue Medium"/>
                <a:cs typeface="Helvetica Neue Medium"/>
              </a:rPr>
              <a:t>Four calls that </a:t>
            </a:r>
            <a:r>
              <a:rPr lang="en-US" sz="4400" spc="-40" dirty="0">
                <a:solidFill>
                  <a:srgbClr val="B5531F"/>
                </a:solidFill>
                <a:latin typeface="Helvetica Neue Medium"/>
                <a:cs typeface="Helvetica Neue Medium"/>
              </a:rPr>
              <a:t>shaped OBI</a:t>
            </a:r>
            <a:r>
              <a:rPr lang="en-US" sz="4400" spc="-40" dirty="0">
                <a:solidFill>
                  <a:srgbClr val="14161D"/>
                </a:solidFill>
                <a:latin typeface="Helvetica Neue Medium"/>
                <a:cs typeface="Helvetica Neue Medium"/>
              </a:rPr>
              <a:t>.</a:t>
            </a:r>
          </a:p>
        </p:txBody>
      </p:sp>
      <p:cxnSp>
        <p:nvCxnSpPr>
          <p:cNvPr id="103" name="Divider"/>
          <p:cNvCxnSpPr/>
          <p:nvPr/>
        </p:nvCxnSpPr>
        <p:spPr>
          <a:xfrm>
            <a:off x="822960" y="3566160"/>
            <a:ext cx="5427980" cy="0"/>
          </a:xfrm>
          <a:prstGeom prst="line">
            <a:avLst/>
          </a:prstGeom>
          <a:ln w="9525">
            <a:solidFill>
              <a:srgbClr val="E1E3E8"/>
            </a:solidFill>
          </a:ln>
        </p:spPr>
      </p:cxnSp>
      <p:sp>
        <p:nvSpPr>
          <p:cNvPr id="104" name="A separate dashboard for submitters title"/>
          <p:cNvSpPr txBox="1"/>
          <p:nvPr/>
        </p:nvSpPr>
        <p:spPr>
          <a:xfrm>
            <a:off x="8229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A separate dashboard for submitters</a:t>
            </a:r>
          </a:p>
        </p:txBody>
      </p:sp>
      <p:sp>
        <p:nvSpPr>
          <p:cNvPr id="105" name="A separate dashboard for submitters body"/>
          <p:cNvSpPr txBox="1"/>
          <p:nvPr/>
        </p:nvSpPr>
        <p:spPr>
          <a:xfrm>
            <a:off x="8229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Testing showed submitters needed their own starting point, with forms that reveal one step at a time.</a:t>
            </a:r>
          </a:p>
        </p:txBody>
      </p:sp>
      <p:cxnSp>
        <p:nvCxnSpPr>
          <p:cNvPr id="106" name="Divider"/>
          <p:cNvCxnSpPr/>
          <p:nvPr/>
        </p:nvCxnSpPr>
        <p:spPr>
          <a:xfrm>
            <a:off x="6753860" y="3566160"/>
            <a:ext cx="5427980" cy="0"/>
          </a:xfrm>
          <a:prstGeom prst="line">
            <a:avLst/>
          </a:prstGeom>
          <a:ln w="9525">
            <a:solidFill>
              <a:srgbClr val="E1E3E8"/>
            </a:solidFill>
          </a:ln>
        </p:spPr>
      </p:cxnSp>
      <p:sp>
        <p:nvSpPr>
          <p:cNvPr id="107" name="Two questions pick the form title"/>
          <p:cNvSpPr txBox="1"/>
          <p:nvPr/>
        </p:nvSpPr>
        <p:spPr>
          <a:xfrm>
            <a:off x="67538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Two questions pick the form</a:t>
            </a:r>
          </a:p>
        </p:txBody>
      </p:sp>
      <p:sp>
        <p:nvSpPr>
          <p:cNvPr id="108" name="Two questions pick the form body"/>
          <p:cNvSpPr txBox="1"/>
          <p:nvPr/>
        </p:nvSpPr>
        <p:spPr>
          <a:xfrm>
            <a:off x="67538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Employees didn’t know which form applied. A short wizard asks two questions and opens the right one.</a:t>
            </a:r>
          </a:p>
        </p:txBody>
      </p:sp>
      <p:cxnSp>
        <p:nvCxnSpPr>
          <p:cNvPr id="109" name="Divider"/>
          <p:cNvCxnSpPr/>
          <p:nvPr/>
        </p:nvCxnSpPr>
        <p:spPr>
          <a:xfrm>
            <a:off x="822960" y="5806440"/>
            <a:ext cx="5427980" cy="0"/>
          </a:xfrm>
          <a:prstGeom prst="line">
            <a:avLst/>
          </a:prstGeom>
          <a:ln w="9525">
            <a:solidFill>
              <a:srgbClr val="E1E3E8"/>
            </a:solidFill>
          </a:ln>
        </p:spPr>
      </p:cxnSp>
      <p:sp>
        <p:nvSpPr>
          <p:cNvPr id="110" name="Education written as scenarios title"/>
          <p:cNvSpPr txBox="1"/>
          <p:nvPr/>
        </p:nvSpPr>
        <p:spPr>
          <a:xfrm>
            <a:off x="8229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Education written as scenarios</a:t>
            </a:r>
          </a:p>
        </p:txBody>
      </p:sp>
      <p:sp>
        <p:nvSpPr>
          <p:cNvPr id="111" name="Education written as scenarios body"/>
          <p:cNvSpPr txBox="1"/>
          <p:nvPr/>
        </p:nvSpPr>
        <p:spPr>
          <a:xfrm>
            <a:off x="8229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Every user group asked for education. Copy built around real situations tested best, after three iterations.</a:t>
            </a:r>
          </a:p>
        </p:txBody>
      </p:sp>
      <p:cxnSp>
        <p:nvCxnSpPr>
          <p:cNvPr id="112" name="Divider"/>
          <p:cNvCxnSpPr/>
          <p:nvPr/>
        </p:nvCxnSpPr>
        <p:spPr>
          <a:xfrm>
            <a:off x="6753860" y="5806440"/>
            <a:ext cx="5427980" cy="0"/>
          </a:xfrm>
          <a:prstGeom prst="line">
            <a:avLst/>
          </a:prstGeom>
          <a:ln w="9525">
            <a:solidFill>
              <a:srgbClr val="E1E3E8"/>
            </a:solidFill>
          </a:ln>
        </p:spPr>
      </p:cxnSp>
      <p:sp>
        <p:nvSpPr>
          <p:cNvPr id="113" name="Tools for approvers too title"/>
          <p:cNvSpPr txBox="1"/>
          <p:nvPr/>
        </p:nvSpPr>
        <p:spPr>
          <a:xfrm>
            <a:off x="67538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Tools for approvers too</a:t>
            </a:r>
          </a:p>
        </p:txBody>
      </p:sp>
      <p:sp>
        <p:nvSpPr>
          <p:cNvPr id="114" name="Tools for approvers too body"/>
          <p:cNvSpPr txBox="1"/>
          <p:nvPr/>
        </p:nvSpPr>
        <p:spPr>
          <a:xfrm>
            <a:off x="67538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Proxy submissions for people who can’t access OBI, and reporting by ID, status, office and date, exported to Excel or PDF.</a:t>
            </a:r>
          </a:p>
        </p:txBody>
      </p:sp>
      <p:pic>
        <p:nvPicPr>
          <p:cNvPr id="11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OUTCOME</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800" spc="-40" dirty="0">
                <a:solidFill>
                  <a:srgbClr val="14161D"/>
                </a:solidFill>
                <a:latin typeface="Helvetica Neue Medium"/>
                <a:cs typeface="Helvetica Neue Medium"/>
              </a:rPr>
              <a:t>Delivered: one place to submit, review and report, </a:t>
            </a:r>
            <a:r>
              <a:rPr lang="en-US" sz="3800" spc="-40" dirty="0">
                <a:solidFill>
                  <a:srgbClr val="B5531F"/>
                </a:solidFill>
                <a:latin typeface="Helvetica Neue Medium"/>
                <a:cs typeface="Helvetica Neue Medium"/>
              </a:rPr>
              <a:t>with education built in</a:t>
            </a:r>
            <a:r>
              <a:rPr lang="en-US" sz="3800" spc="-40" dirty="0">
                <a:solidFill>
                  <a:srgbClr val="14161D"/>
                </a:solidFill>
                <a:latin typeface="Helvetica Neue Medium"/>
                <a:cs typeface="Helvetica Neue Medium"/>
              </a:rPr>
              <a:t>.</a:t>
            </a:r>
          </a:p>
        </p:txBody>
      </p:sp>
      <p:sp>
        <p:nvSpPr>
          <p:cNvPr id="103" name="Shipped"/>
          <p:cNvSpPr txBox="1"/>
          <p:nvPr/>
        </p:nvSpPr>
        <p:spPr>
          <a:xfrm>
            <a:off x="822960" y="3611880"/>
            <a:ext cx="5427980" cy="429768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SHIPPED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A submitter dashboard with a 2-question wizard that opens the right form</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Your Requests: drafts, pending and completed, with legacy OIRS requests migrated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Proxy submissions for people who can’t access OBI themselves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Reporting by ID, requester, status, type, dates, company and office, exported to Excel or PDF</a:t>
            </a:r>
          </a:p>
        </p:txBody>
      </p:sp>
      <p:sp>
        <p:nvSpPr>
          <p:cNvPr id="104" name="Learned"/>
          <p:cNvSpPr txBox="1"/>
          <p:nvPr/>
        </p:nvSpPr>
        <p:spPr>
          <a:xfrm>
            <a:off x="6753860" y="3611880"/>
            <a:ext cx="5427980" cy="429768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TESTING TAUGHT US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Education matters to every user, but only newer users need it front and center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Copy that describes real situations works better than policy language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cleaner interface and a quick start beat more options on the dashboard</a:t>
            </a:r>
          </a:p>
        </p:txBody>
      </p:sp>
      <p:pic>
        <p:nvPicPr>
          <p:cNvPr id="10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CREDIT SUISSE OBI · PROTOTYPE</a:t>
            </a:r>
          </a:p>
        </p:txBody>
      </p:sp>
      <p:sp>
        <p:nvSpPr>
          <p:cNvPr id="102" name="Headline"/>
          <p:cNvSpPr txBox="1"/>
          <p:nvPr/>
        </p:nvSpPr>
        <p:spPr>
          <a:xfrm>
            <a:off x="822960" y="1371600"/>
            <a:ext cx="11750040" cy="173736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F5F5F7"/>
                </a:solidFill>
                <a:latin typeface="Helvetica Neue Medium"/>
                <a:cs typeface="Helvetica Neue Medium"/>
              </a:rPr>
              <a:t>Follow 1 request through </a:t>
            </a:r>
            <a:r>
              <a:rPr lang="en-US" sz="4400" spc="-40" dirty="0">
                <a:solidFill>
                  <a:srgbClr val="E98C64"/>
                </a:solidFill>
                <a:latin typeface="Helvetica Neue Medium"/>
                <a:cs typeface="Helvetica Neue Medium"/>
              </a:rPr>
              <a:t>the delivered app</a:t>
            </a:r>
            <a:r>
              <a:rPr lang="en-US" sz="4400" spc="-40" dirty="0">
                <a:solidFill>
                  <a:srgbClr val="F5F5F7"/>
                </a:solidFill>
                <a:latin typeface="Helvetica Neue Medium"/>
                <a:cs typeface="Helvetica Neue Medium"/>
              </a:rPr>
              <a:t>.</a:t>
            </a:r>
          </a:p>
        </p:txBody>
      </p:sp>
      <p:sp>
        <p:nvSpPr>
          <p:cNvPr id="103" name="Body"/>
          <p:cNvSpPr txBox="1"/>
          <p:nvPr/>
        </p:nvSpPr>
        <p:spPr>
          <a:xfrm>
            <a:off x="822960" y="3246120"/>
            <a:ext cx="5120640" cy="182880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14 screens from the OBI Training Guide, linked in order: the employee submits, the manager reviews, Compliance decides, and the employee hears back.</a:t>
            </a:r>
          </a:p>
        </p:txBody>
      </p:sp>
      <p:sp>
        <p:nvSpPr>
          <p:cNvPr id="104" name="Link">
            <a:hlinkClick r:id="rId2"/>
          </p:cNvPr>
          <p:cNvSpPr txBox="1"/>
          <p:nvPr/>
        </p:nvSpPr>
        <p:spPr>
          <a:xfrm>
            <a:off x="822960" y="5257800"/>
            <a:ext cx="5120640" cy="457200"/>
          </a:xfrm>
          <a:prstGeom prst="rect">
            <a:avLst/>
          </a:prstGeom>
          <a:noFill/>
        </p:spPr>
        <p:txBody>
          <a:bodyPr wrap="square" lIns="0" tIns="0" rIns="0" bIns="0" anchor="t">
            <a:noAutofit/>
          </a:bodyPr>
          <a:lstStyle/>
          <a:p>
            <a:pPr algn="l">
              <a:lnSpc>
                <a:spcPct val="115000"/>
              </a:lnSpc>
              <a:spcAft>
                <a:spcPts val="300"/>
              </a:spcAft>
            </a:pPr>
            <a:r>
              <a:rPr lang="en-US" sz="2200" u="sng" spc="0" dirty="0">
                <a:solidFill>
                  <a:srgbClr val="E98C64"/>
                </a:solidFill>
                <a:latin typeface="Helvetica Neue Medium"/>
                <a:cs typeface="Helvetica Neue Medium"/>
              </a:rPr>
              <a:t>Open the OBI prototype →</a:t>
            </a:r>
          </a:p>
        </p:txBody>
      </p:sp>
      <p:cxnSp>
        <p:nvCxnSpPr>
          <p:cNvPr id="105" name="Divider"/>
          <p:cNvCxnSpPr/>
          <p:nvPr/>
        </p:nvCxnSpPr>
        <p:spPr>
          <a:xfrm>
            <a:off x="822960" y="6080760"/>
            <a:ext cx="5120640" cy="0"/>
          </a:xfrm>
          <a:prstGeom prst="line">
            <a:avLst/>
          </a:prstGeom>
          <a:ln w="9525">
            <a:solidFill>
              <a:srgbClr val="2C2F38"/>
            </a:solidFill>
          </a:ln>
        </p:spPr>
      </p:cxnSp>
      <p:sp>
        <p:nvSpPr>
          <p:cNvPr id="106" name="Also"/>
          <p:cNvSpPr txBox="1"/>
          <p:nvPr/>
        </p:nvSpPr>
        <p:spPr>
          <a:xfrm>
            <a:off x="822960" y="6263640"/>
            <a:ext cx="5120640" cy="146304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ALSO AVAILABLE</a:t>
            </a:r>
          </a:p>
          <a:p>
            <a:pPr algn="l">
              <a:lnSpc>
                <a:spcPct val="125000"/>
              </a:lnSpc>
              <a:spcAft>
                <a:spcPts val="300"/>
              </a:spcAft>
            </a:pPr>
            <a:r>
              <a:rPr lang="en-US" sz="1550" spc="0" dirty="0">
                <a:solidFill>
                  <a:srgbClr val="A3A8B4"/>
                </a:solidFill>
                <a:latin typeface="Helvetica Neue Light"/>
                <a:cs typeface="Helvetica Neue Light"/>
              </a:rPr>
              <a:t>An offline version with the narrative for every step and a full link map: OBI-Request-Prototype.html.</a:t>
            </a:r>
          </a:p>
        </p:txBody>
      </p:sp>
      <p:pic>
        <p:nvPicPr>
          <p:cNvPr id="107" name="Hi-fi screen"/>
          <p:cNvPicPr>
            <a:picLocks noChangeAspect="1"/>
          </p:cNvPicPr>
          <p:nvPr/>
        </p:nvPicPr>
        <p:blipFill>
          <a:blip r:embed="rId3"/>
          <a:stretch>
            <a:fillRect/>
          </a:stretch>
        </p:blipFill>
        <p:spPr>
          <a:xfrm>
            <a:off x="6400800" y="2777175"/>
            <a:ext cx="5779008" cy="3955409"/>
          </a:xfrm>
          <a:prstGeom prst="rect">
            <a:avLst/>
          </a:prstGeom>
          <a:ln w="9525">
            <a:solidFill>
              <a:srgbClr val="3A3E49"/>
            </a:solidFill>
          </a:ln>
        </p:spPr>
      </p:pic>
      <p:pic>
        <p:nvPicPr>
          <p:cNvPr id="108" name="gradient strip" descr="gradient strip"/>
          <p:cNvPicPr>
            <a:picLocks noChangeAspect="1"/>
          </p:cNvPicPr>
          <p:nvPr/>
        </p:nvPicPr>
        <p:blipFill>
          <a:blip r:embed="rId4"/>
          <a:stretch>
            <a:fillRect/>
          </a:stretch>
        </p:blipFill>
        <p:spPr>
          <a:xfrm>
            <a:off x="0" y="9285427"/>
            <a:ext cx="13004800" cy="468173"/>
          </a:xfrm>
          <a:prstGeom prst="rect">
            <a:avLst/>
          </a:prstGeom>
        </p:spPr>
      </p:pic>
      <p:sp>
        <p:nvSpPr>
          <p:cNvPr id="109" name="Workflow map link">
            <a:hlinkClick r:id="rId5"/>
          </p:cNvPr>
          <p:cNvSpPr txBox="1"/>
          <p:nvPr/>
        </p:nvSpPr>
        <p:spPr>
          <a:xfrm>
            <a:off x="822960" y="5791200"/>
            <a:ext cx="5120640" cy="355600"/>
          </a:xfrm>
          <a:prstGeom prst="rect">
            <a:avLst/>
          </a:prstGeom>
          <a:noFill/>
        </p:spPr>
        <p:txBody>
          <a:bodyPr wrap="square" lIns="0" tIns="0" rIns="0" bIns="0" anchor="t">
            <a:noAutofit/>
          </a:bodyPr>
          <a:lstStyle/>
          <a:p>
            <a:pPr algn="l">
              <a:lnSpc>
                <a:spcPct val="115000"/>
              </a:lnSpc>
              <a:spcAft>
                <a:spcPts val="300"/>
              </a:spcAft>
            </a:pPr>
            <a:r>
              <a:rPr lang="en-US" sz="1500" u="sng" spc="0" dirty="0">
                <a:solidFill>
                  <a:srgbClr val="E98C64"/>
                </a:solidFill>
                <a:latin typeface="Helvetica Neue Medium"/>
                <a:cs typeface="Helvetica Neue Medium"/>
              </a:rPr>
              <a:t>Or start at the workflow map →</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822960"/>
            <a:ext cx="548640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CASE STUDY 03 · CONSUMER MOBILE · DELIVERED</a:t>
            </a:r>
          </a:p>
        </p:txBody>
      </p:sp>
      <p:sp>
        <p:nvSpPr>
          <p:cNvPr id="102" name="Company"/>
          <p:cNvSpPr txBox="1"/>
          <p:nvPr/>
        </p:nvSpPr>
        <p:spPr>
          <a:xfrm>
            <a:off x="822960" y="1234440"/>
            <a:ext cx="5486400" cy="914400"/>
          </a:xfrm>
          <a:prstGeom prst="rect">
            <a:avLst/>
          </a:prstGeom>
          <a:noFill/>
        </p:spPr>
        <p:txBody>
          <a:bodyPr wrap="square" lIns="0" tIns="0" rIns="0" bIns="0" anchor="t">
            <a:noAutofit/>
          </a:bodyPr>
          <a:lstStyle/>
          <a:p>
            <a:pPr algn="l">
              <a:lnSpc>
                <a:spcPct val="90000"/>
              </a:lnSpc>
              <a:spcAft>
                <a:spcPts val="300"/>
              </a:spcAft>
            </a:pPr>
            <a:r>
              <a:rPr lang="en-US" sz="5400" spc="-40" dirty="0">
                <a:solidFill>
                  <a:srgbClr val="F5F5F7"/>
                </a:solidFill>
                <a:latin typeface="Helvetica Neue Medium"/>
                <a:cs typeface="Helvetica Neue Medium"/>
              </a:rPr>
              <a:t>Wells Fargo</a:t>
            </a:r>
          </a:p>
        </p:txBody>
      </p:sp>
      <p:sp>
        <p:nvSpPr>
          <p:cNvPr id="103" name="Project"/>
          <p:cNvSpPr txBox="1"/>
          <p:nvPr/>
        </p:nvSpPr>
        <p:spPr>
          <a:xfrm>
            <a:off x="822960" y="2240280"/>
            <a:ext cx="5486400" cy="548640"/>
          </a:xfrm>
          <a:prstGeom prst="rect">
            <a:avLst/>
          </a:prstGeom>
          <a:noFill/>
        </p:spPr>
        <p:txBody>
          <a:bodyPr wrap="square" lIns="0" tIns="0" rIns="0" bIns="0" anchor="t">
            <a:noAutofit/>
          </a:bodyPr>
          <a:lstStyle/>
          <a:p>
            <a:pPr algn="l">
              <a:lnSpc>
                <a:spcPct val="115000"/>
              </a:lnSpc>
              <a:spcAft>
                <a:spcPts val="300"/>
              </a:spcAft>
            </a:pPr>
            <a:r>
              <a:rPr lang="en-US" sz="2600" spc="0" dirty="0">
                <a:solidFill>
                  <a:srgbClr val="E98C64"/>
                </a:solidFill>
                <a:latin typeface="Helvetica Neue Medium"/>
                <a:cs typeface="Helvetica Neue Medium"/>
              </a:rPr>
              <a:t>Integrated Trade Ticket</a:t>
            </a:r>
          </a:p>
        </p:txBody>
      </p:sp>
      <p:sp>
        <p:nvSpPr>
          <p:cNvPr id="104" name="Hook"/>
          <p:cNvSpPr txBox="1"/>
          <p:nvPr/>
        </p:nvSpPr>
        <p:spPr>
          <a:xfrm>
            <a:off x="822960" y="2926080"/>
            <a:ext cx="5486400" cy="128016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Increasing revenue by letting investors trade by share quantity or dollar amount, in one simpler mobile ticket.</a:t>
            </a:r>
          </a:p>
        </p:txBody>
      </p:sp>
      <p:cxnSp>
        <p:nvCxnSpPr>
          <p:cNvPr id="105" name="Divider"/>
          <p:cNvCxnSpPr/>
          <p:nvPr/>
        </p:nvCxnSpPr>
        <p:spPr>
          <a:xfrm>
            <a:off x="822960" y="4343400"/>
            <a:ext cx="5486400" cy="0"/>
          </a:xfrm>
          <a:prstGeom prst="line">
            <a:avLst/>
          </a:prstGeom>
          <a:ln w="9525">
            <a:solidFill>
              <a:srgbClr val="2C2F38"/>
            </a:solidFill>
          </a:ln>
        </p:spPr>
      </p:cxnSp>
      <p:sp>
        <p:nvSpPr>
          <p:cNvPr id="106" name="ROLE"/>
          <p:cNvSpPr txBox="1"/>
          <p:nvPr/>
        </p:nvSpPr>
        <p:spPr>
          <a:xfrm>
            <a:off x="822960" y="4471416"/>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ROLE</a:t>
            </a:r>
          </a:p>
        </p:txBody>
      </p:sp>
      <p:sp>
        <p:nvSpPr>
          <p:cNvPr id="107" name="ROLE value"/>
          <p:cNvSpPr txBox="1"/>
          <p:nvPr/>
        </p:nvSpPr>
        <p:spPr>
          <a:xfrm>
            <a:off x="2148840" y="4443984"/>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Led the project team</a:t>
            </a:r>
          </a:p>
        </p:txBody>
      </p:sp>
      <p:cxnSp>
        <p:nvCxnSpPr>
          <p:cNvPr id="108" name="Divider"/>
          <p:cNvCxnSpPr/>
          <p:nvPr/>
        </p:nvCxnSpPr>
        <p:spPr>
          <a:xfrm>
            <a:off x="822960" y="5056632"/>
            <a:ext cx="5486400" cy="0"/>
          </a:xfrm>
          <a:prstGeom prst="line">
            <a:avLst/>
          </a:prstGeom>
          <a:ln w="9525">
            <a:solidFill>
              <a:srgbClr val="2C2F38"/>
            </a:solidFill>
          </a:ln>
        </p:spPr>
      </p:cxnSp>
      <p:sp>
        <p:nvSpPr>
          <p:cNvPr id="109" name="TEAM"/>
          <p:cNvSpPr txBox="1"/>
          <p:nvPr/>
        </p:nvSpPr>
        <p:spPr>
          <a:xfrm>
            <a:off x="822960" y="5184648"/>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TEAM</a:t>
            </a:r>
          </a:p>
        </p:txBody>
      </p:sp>
      <p:sp>
        <p:nvSpPr>
          <p:cNvPr id="110" name="TEAM value"/>
          <p:cNvSpPr txBox="1"/>
          <p:nvPr/>
        </p:nvSpPr>
        <p:spPr>
          <a:xfrm>
            <a:off x="2148840" y="5157216"/>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2 UX designers</a:t>
            </a:r>
          </a:p>
        </p:txBody>
      </p:sp>
      <p:cxnSp>
        <p:nvCxnSpPr>
          <p:cNvPr id="111" name="Divider"/>
          <p:cNvCxnSpPr/>
          <p:nvPr/>
        </p:nvCxnSpPr>
        <p:spPr>
          <a:xfrm>
            <a:off x="822960" y="5769864"/>
            <a:ext cx="5486400" cy="0"/>
          </a:xfrm>
          <a:prstGeom prst="line">
            <a:avLst/>
          </a:prstGeom>
          <a:ln w="9525">
            <a:solidFill>
              <a:srgbClr val="2C2F38"/>
            </a:solidFill>
          </a:ln>
        </p:spPr>
      </p:cxnSp>
      <p:sp>
        <p:nvSpPr>
          <p:cNvPr id="112" name="SCOPE"/>
          <p:cNvSpPr txBox="1"/>
          <p:nvPr/>
        </p:nvSpPr>
        <p:spPr>
          <a:xfrm>
            <a:off x="822960" y="5897880"/>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SCOPE</a:t>
            </a:r>
          </a:p>
        </p:txBody>
      </p:sp>
      <p:sp>
        <p:nvSpPr>
          <p:cNvPr id="113" name="SCOPE value"/>
          <p:cNvSpPr txBox="1"/>
          <p:nvPr/>
        </p:nvSpPr>
        <p:spPr>
          <a:xfrm>
            <a:off x="2148840" y="5870448"/>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Discovery, competitive analysis, 3 tested iterations, 6 Agile sprints</a:t>
            </a:r>
          </a:p>
        </p:txBody>
      </p:sp>
      <p:cxnSp>
        <p:nvCxnSpPr>
          <p:cNvPr id="114" name="Divider"/>
          <p:cNvCxnSpPr/>
          <p:nvPr/>
        </p:nvCxnSpPr>
        <p:spPr>
          <a:xfrm>
            <a:off x="822960" y="6483096"/>
            <a:ext cx="5486400" cy="0"/>
          </a:xfrm>
          <a:prstGeom prst="line">
            <a:avLst/>
          </a:prstGeom>
          <a:ln w="9525">
            <a:solidFill>
              <a:srgbClr val="2C2F38"/>
            </a:solidFill>
          </a:ln>
        </p:spPr>
      </p:cxnSp>
      <p:sp>
        <p:nvSpPr>
          <p:cNvPr id="115" name="USERS"/>
          <p:cNvSpPr txBox="1"/>
          <p:nvPr/>
        </p:nvSpPr>
        <p:spPr>
          <a:xfrm>
            <a:off x="822960" y="6611112"/>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USERS</a:t>
            </a:r>
          </a:p>
        </p:txBody>
      </p:sp>
      <p:sp>
        <p:nvSpPr>
          <p:cNvPr id="116" name="USERS value"/>
          <p:cNvSpPr txBox="1"/>
          <p:nvPr/>
        </p:nvSpPr>
        <p:spPr>
          <a:xfrm>
            <a:off x="2148840" y="6583680"/>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Experienced and novice self-directed traders</a:t>
            </a:r>
          </a:p>
        </p:txBody>
      </p:sp>
      <p:cxnSp>
        <p:nvCxnSpPr>
          <p:cNvPr id="117" name="Divider"/>
          <p:cNvCxnSpPr/>
          <p:nvPr/>
        </p:nvCxnSpPr>
        <p:spPr>
          <a:xfrm>
            <a:off x="822960" y="7196328"/>
            <a:ext cx="5486400" cy="0"/>
          </a:xfrm>
          <a:prstGeom prst="line">
            <a:avLst/>
          </a:prstGeom>
          <a:ln w="9525">
            <a:solidFill>
              <a:srgbClr val="2C2F38"/>
            </a:solidFill>
          </a:ln>
        </p:spPr>
      </p:cxnSp>
      <p:sp>
        <p:nvSpPr>
          <p:cNvPr id="118" name="Quote"/>
          <p:cNvSpPr txBox="1"/>
          <p:nvPr/>
        </p:nvSpPr>
        <p:spPr>
          <a:xfrm>
            <a:off x="822960" y="7516368"/>
            <a:ext cx="5486400" cy="1188720"/>
          </a:xfrm>
          <a:prstGeom prst="rect">
            <a:avLst/>
          </a:prstGeom>
          <a:noFill/>
        </p:spPr>
        <p:txBody>
          <a:bodyPr wrap="square" lIns="0" tIns="0" rIns="0" bIns="0" anchor="t">
            <a:noAutofit/>
          </a:bodyPr>
          <a:lstStyle/>
          <a:p>
            <a:pPr algn="l">
              <a:lnSpc>
                <a:spcPct val="115000"/>
              </a:lnSpc>
              <a:spcAft>
                <a:spcPts val="300"/>
              </a:spcAft>
            </a:pPr>
            <a:r>
              <a:rPr lang="en-US" sz="1500" spc="0" dirty="0">
                <a:solidFill>
                  <a:srgbClr val="F5F5F7"/>
                </a:solidFill>
                <a:latin typeface="Helvetica Neue Light"/>
                <a:cs typeface="Helvetica Neue Light"/>
              </a:rPr>
              <a:t>“It’s a confusing interface, the app’s interface is non-intuitive, making it difficult to navigate and find specific functions or features.”</a:t>
            </a:r>
          </a:p>
        </p:txBody>
      </p:sp>
      <p:pic>
        <p:nvPicPr>
          <p:cNvPr id="119" name="Picture 1" descr="image.png"/>
          <p:cNvPicPr>
            <a:picLocks noChangeAspect="1"/>
          </p:cNvPicPr>
          <p:nvPr/>
        </p:nvPicPr>
        <p:blipFill>
          <a:blip r:embed="rId2"/>
          <a:stretch>
            <a:fillRect/>
          </a:stretch>
        </p:blipFill>
        <p:spPr>
          <a:xfrm>
            <a:off x="7124020" y="822960"/>
            <a:ext cx="4652607" cy="7315200"/>
          </a:xfrm>
          <a:prstGeom prst="rect">
            <a:avLst/>
          </a:prstGeom>
          <a:ln w="9525">
            <a:solidFill>
              <a:srgbClr val="3A3E49"/>
            </a:solidFill>
          </a:ln>
        </p:spPr>
      </p:pic>
      <p:pic>
        <p:nvPicPr>
          <p:cNvPr id="12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INTRODUCTION</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One trade ticket that lets investors trade in </a:t>
            </a:r>
            <a:r>
              <a:rPr lang="en-US" sz="3600" spc="-40" dirty="0">
                <a:solidFill>
                  <a:srgbClr val="B5531F"/>
                </a:solidFill>
                <a:latin typeface="Helvetica Neue Medium"/>
                <a:cs typeface="Helvetica Neue Medium"/>
              </a:rPr>
              <a:t>shares or dollars</a:t>
            </a:r>
            <a:r>
              <a:rPr lang="en-US" sz="3600" spc="-40" dirty="0">
                <a:solidFill>
                  <a:srgbClr val="14161D"/>
                </a:solidFill>
                <a:latin typeface="Helvetica Neue Medium"/>
                <a:cs typeface="Helvetica Neue Medium"/>
              </a:rPr>
              <a:t>, with fewer errors and less effort.</a:t>
            </a:r>
          </a:p>
        </p:txBody>
      </p:sp>
      <p:sp>
        <p:nvSpPr>
          <p:cNvPr id="103" name="Audience"/>
          <p:cNvSpPr txBox="1"/>
          <p:nvPr/>
        </p:nvSpPr>
        <p:spPr>
          <a:xfrm>
            <a:off x="822960" y="3611880"/>
            <a:ext cx="3511973" cy="420624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TARGET AUDIENCE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Experienced consumer traders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Novice consumer traders</a:t>
            </a:r>
          </a:p>
        </p:txBody>
      </p:sp>
      <p:sp>
        <p:nvSpPr>
          <p:cNvPr id="104" name="Problems"/>
          <p:cNvSpPr txBox="1"/>
          <p:nvPr/>
        </p:nvSpPr>
        <p:spPr>
          <a:xfrm>
            <a:off x="4746413"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THE PROBLEMS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Wealth &amp; Investment Management investors can’t trade in both shares and dollars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The mobile trading process needs simplifying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confusing interface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Limited functionality</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Technical issues and no real-time updates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Poor customer support</a:t>
            </a:r>
          </a:p>
        </p:txBody>
      </p:sp>
      <p:sp>
        <p:nvSpPr>
          <p:cNvPr id="105" name="Team"/>
          <p:cNvSpPr txBox="1"/>
          <p:nvPr/>
        </p:nvSpPr>
        <p:spPr>
          <a:xfrm>
            <a:off x="8669866"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TEAM AND MY PART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led a project team of 2 UX designers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managed discovery, including research, strategy and hands-on design, supported by AI applications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led every deliverable in Figma, with Lean UX and usability testing, and presented to the client and stakeholders</a:t>
            </a:r>
          </a:p>
        </p:txBody>
      </p:sp>
      <p:pic>
        <p:nvPicPr>
          <p:cNvPr id="106"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WHY REDESIGN</a:t>
            </a:r>
          </a:p>
        </p:txBody>
      </p:sp>
      <p:sp>
        <p:nvSpPr>
          <p:cNvPr id="102" name="Headline"/>
          <p:cNvSpPr txBox="1"/>
          <p:nvPr/>
        </p:nvSpPr>
        <p:spPr>
          <a:xfrm>
            <a:off x="822960" y="1371600"/>
            <a:ext cx="11358880" cy="9144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Why redesign the </a:t>
            </a:r>
            <a:r>
              <a:rPr lang="en-US" sz="4000" spc="-40" dirty="0">
                <a:solidFill>
                  <a:srgbClr val="B5531F"/>
                </a:solidFill>
                <a:latin typeface="Helvetica Neue Medium"/>
                <a:cs typeface="Helvetica Neue Medium"/>
              </a:rPr>
              <a:t>trade ticket</a:t>
            </a:r>
            <a:r>
              <a:rPr lang="en-US" sz="4000" spc="-40" dirty="0">
                <a:solidFill>
                  <a:srgbClr val="14161D"/>
                </a:solidFill>
                <a:latin typeface="Helvetica Neue Medium"/>
                <a:cs typeface="Helvetica Neue Medium"/>
              </a:rPr>
              <a:t>?</a:t>
            </a:r>
          </a:p>
        </p:txBody>
      </p:sp>
      <p:sp>
        <p:nvSpPr>
          <p:cNvPr id="3027" name="Tile"/>
          <p:cNvSpPr/>
          <p:nvPr/>
        </p:nvSpPr>
        <p:spPr>
          <a:xfrm>
            <a:off x="822960" y="2606040"/>
            <a:ext cx="4572000" cy="3931920"/>
          </a:xfrm>
          <a:prstGeom prst="roundRect">
            <a:avLst>
              <a:gd name="adj" fmla="val 3255"/>
            </a:avLst>
          </a:prstGeom>
          <a:solidFill>
            <a:srgbClr val="B5531F"/>
          </a:solidFill>
          <a:ln>
            <a:noFill/>
          </a:ln>
        </p:spPr>
        <p:txBody>
          <a:bodyPr/>
          <a:lstStyle/>
          <a:p>
            <a:endParaRPr lang="en-US"/>
          </a:p>
        </p:txBody>
      </p:sp>
      <p:sp>
        <p:nvSpPr>
          <p:cNvPr id="103" name="Number"/>
          <p:cNvSpPr txBox="1"/>
          <p:nvPr/>
        </p:nvSpPr>
        <p:spPr>
          <a:xfrm>
            <a:off x="1097280" y="2807208"/>
            <a:ext cx="4023360" cy="1280160"/>
          </a:xfrm>
          <a:prstGeom prst="rect">
            <a:avLst/>
          </a:prstGeom>
          <a:noFill/>
        </p:spPr>
        <p:txBody>
          <a:bodyPr wrap="square" lIns="0" tIns="0" rIns="0" bIns="0" anchor="t">
            <a:noAutofit/>
          </a:bodyPr>
          <a:lstStyle/>
          <a:p>
            <a:pPr algn="l">
              <a:lnSpc>
                <a:spcPct val="88000"/>
              </a:lnSpc>
              <a:spcAft>
                <a:spcPts val="300"/>
              </a:spcAft>
            </a:pPr>
            <a:r>
              <a:rPr lang="en-US" sz="9600" spc="-60" dirty="0">
                <a:solidFill>
                  <a:srgbClr val="FFFFFF"/>
                </a:solidFill>
                <a:latin typeface="Helvetica Neue Medium"/>
                <a:cs typeface="Helvetica Neue Medium"/>
              </a:rPr>
              <a:t>18.3%</a:t>
            </a:r>
          </a:p>
        </p:txBody>
      </p:sp>
      <p:sp>
        <p:nvSpPr>
          <p:cNvPr id="104" name="Label"/>
          <p:cNvSpPr txBox="1"/>
          <p:nvPr/>
        </p:nvSpPr>
        <p:spPr>
          <a:xfrm>
            <a:off x="1097280" y="4160520"/>
            <a:ext cx="4023360" cy="914400"/>
          </a:xfrm>
          <a:prstGeom prst="rect">
            <a:avLst/>
          </a:prstGeom>
          <a:noFill/>
        </p:spPr>
        <p:txBody>
          <a:bodyPr wrap="square" lIns="0" tIns="0" rIns="0" bIns="0" anchor="t">
            <a:noAutofit/>
          </a:bodyPr>
          <a:lstStyle/>
          <a:p>
            <a:pPr algn="l">
              <a:lnSpc>
                <a:spcPct val="115000"/>
              </a:lnSpc>
              <a:spcAft>
                <a:spcPts val="300"/>
              </a:spcAft>
            </a:pPr>
            <a:r>
              <a:rPr lang="en-US" sz="1600" spc="0" dirty="0">
                <a:solidFill>
                  <a:srgbClr val="FBE3D8"/>
                </a:solidFill>
                <a:latin typeface="Helvetica Neue Light"/>
                <a:cs typeface="Helvetica Neue Light"/>
              </a:rPr>
              <a:t>of users ask to trade in both shares and dollars</a:t>
            </a:r>
          </a:p>
        </p:txBody>
      </p:sp>
      <p:sp>
        <p:nvSpPr>
          <p:cNvPr id="3028" name="Tile"/>
          <p:cNvSpPr/>
          <p:nvPr/>
        </p:nvSpPr>
        <p:spPr>
          <a:xfrm>
            <a:off x="1097280" y="6153912"/>
            <a:ext cx="4023360" cy="100584"/>
          </a:xfrm>
          <a:prstGeom prst="roundRect">
            <a:avLst>
              <a:gd name="adj" fmla="val 45454"/>
            </a:avLst>
          </a:prstGeom>
          <a:solidFill>
            <a:srgbClr val="FFFFFF">
              <a:alpha val="30000"/>
            </a:srgbClr>
          </a:solidFill>
          <a:ln>
            <a:noFill/>
          </a:ln>
        </p:spPr>
        <p:txBody>
          <a:bodyPr/>
          <a:lstStyle/>
          <a:p>
            <a:endParaRPr lang="en-US"/>
          </a:p>
        </p:txBody>
      </p:sp>
      <p:sp>
        <p:nvSpPr>
          <p:cNvPr id="3029" name="Tile"/>
          <p:cNvSpPr/>
          <p:nvPr/>
        </p:nvSpPr>
        <p:spPr>
          <a:xfrm>
            <a:off x="1097280" y="6153912"/>
            <a:ext cx="736274" cy="100584"/>
          </a:xfrm>
          <a:prstGeom prst="roundRect">
            <a:avLst>
              <a:gd name="adj" fmla="val 45454"/>
            </a:avLst>
          </a:prstGeom>
          <a:solidFill>
            <a:srgbClr val="7ACFFF"/>
          </a:solidFill>
          <a:ln>
            <a:noFill/>
          </a:ln>
        </p:spPr>
        <p:txBody>
          <a:bodyPr/>
          <a:lstStyle/>
          <a:p>
            <a:endParaRPr lang="en-US"/>
          </a:p>
        </p:txBody>
      </p:sp>
      <p:sp>
        <p:nvSpPr>
          <p:cNvPr id="3030" name="Tile"/>
          <p:cNvSpPr/>
          <p:nvPr/>
        </p:nvSpPr>
        <p:spPr>
          <a:xfrm>
            <a:off x="5577840" y="2606040"/>
            <a:ext cx="6601968" cy="1188720"/>
          </a:xfrm>
          <a:prstGeom prst="roundRect">
            <a:avLst>
              <a:gd name="adj" fmla="val 10769"/>
            </a:avLst>
          </a:prstGeom>
          <a:solidFill>
            <a:srgbClr val="1B1D24"/>
          </a:solidFill>
          <a:ln>
            <a:noFill/>
          </a:ln>
        </p:spPr>
        <p:txBody>
          <a:bodyPr/>
          <a:lstStyle/>
          <a:p>
            <a:endParaRPr lang="en-US"/>
          </a:p>
        </p:txBody>
      </p:sp>
      <p:sp>
        <p:nvSpPr>
          <p:cNvPr id="105" name="Number"/>
          <p:cNvSpPr txBox="1"/>
          <p:nvPr/>
        </p:nvSpPr>
        <p:spPr>
          <a:xfrm>
            <a:off x="5852160" y="2606040"/>
            <a:ext cx="2772826" cy="1188720"/>
          </a:xfrm>
          <a:prstGeom prst="rect">
            <a:avLst/>
          </a:prstGeom>
          <a:noFill/>
        </p:spPr>
        <p:txBody>
          <a:bodyPr wrap="square" lIns="0" tIns="0" rIns="0" bIns="0" anchor="ctr">
            <a:noAutofit/>
          </a:bodyPr>
          <a:lstStyle/>
          <a:p>
            <a:pPr algn="l">
              <a:lnSpc>
                <a:spcPct val="90000"/>
              </a:lnSpc>
              <a:spcAft>
                <a:spcPts val="300"/>
              </a:spcAft>
            </a:pPr>
            <a:r>
              <a:rPr lang="en-US" sz="4800" spc="-40" dirty="0">
                <a:solidFill>
                  <a:srgbClr val="F5F5F7"/>
                </a:solidFill>
                <a:latin typeface="Helvetica Neue Medium"/>
                <a:cs typeface="Helvetica Neue Medium"/>
              </a:rPr>
              <a:t>8.2 min</a:t>
            </a:r>
          </a:p>
        </p:txBody>
      </p:sp>
      <p:sp>
        <p:nvSpPr>
          <p:cNvPr id="106" name="Label"/>
          <p:cNvSpPr txBox="1"/>
          <p:nvPr/>
        </p:nvSpPr>
        <p:spPr>
          <a:xfrm>
            <a:off x="8092440" y="2606040"/>
            <a:ext cx="3813047" cy="1188720"/>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A3A8B4"/>
                </a:solidFill>
                <a:latin typeface="Helvetica Neue Light"/>
                <a:cs typeface="Helvetica Neue Light"/>
              </a:rPr>
              <a:t>for a new user to complete their first trade</a:t>
            </a:r>
          </a:p>
        </p:txBody>
      </p:sp>
      <p:sp>
        <p:nvSpPr>
          <p:cNvPr id="3031" name="Tile"/>
          <p:cNvSpPr/>
          <p:nvPr/>
        </p:nvSpPr>
        <p:spPr>
          <a:xfrm>
            <a:off x="5577840" y="3977639"/>
            <a:ext cx="6601968" cy="1188720"/>
          </a:xfrm>
          <a:prstGeom prst="roundRect">
            <a:avLst>
              <a:gd name="adj" fmla="val 10769"/>
            </a:avLst>
          </a:prstGeom>
          <a:solidFill>
            <a:srgbClr val="F1F2F5"/>
          </a:solidFill>
          <a:ln>
            <a:noFill/>
          </a:ln>
        </p:spPr>
        <p:txBody>
          <a:bodyPr/>
          <a:lstStyle/>
          <a:p>
            <a:endParaRPr lang="en-US"/>
          </a:p>
        </p:txBody>
      </p:sp>
      <p:sp>
        <p:nvSpPr>
          <p:cNvPr id="107" name="Number"/>
          <p:cNvSpPr txBox="1"/>
          <p:nvPr/>
        </p:nvSpPr>
        <p:spPr>
          <a:xfrm>
            <a:off x="5852160" y="3977639"/>
            <a:ext cx="2772826" cy="1188720"/>
          </a:xfrm>
          <a:prstGeom prst="rect">
            <a:avLst/>
          </a:prstGeom>
          <a:noFill/>
        </p:spPr>
        <p:txBody>
          <a:bodyPr wrap="square" lIns="0" tIns="0" rIns="0" bIns="0" anchor="ctr">
            <a:noAutofit/>
          </a:bodyPr>
          <a:lstStyle/>
          <a:p>
            <a:pPr algn="l">
              <a:lnSpc>
                <a:spcPct val="90000"/>
              </a:lnSpc>
              <a:spcAft>
                <a:spcPts val="300"/>
              </a:spcAft>
            </a:pPr>
            <a:r>
              <a:rPr lang="en-US" sz="4800" spc="-40" dirty="0">
                <a:solidFill>
                  <a:srgbClr val="14161D"/>
                </a:solidFill>
                <a:latin typeface="Helvetica Neue Medium"/>
                <a:cs typeface="Helvetica Neue Medium"/>
              </a:rPr>
              <a:t>1.4%</a:t>
            </a:r>
          </a:p>
        </p:txBody>
      </p:sp>
      <p:sp>
        <p:nvSpPr>
          <p:cNvPr id="108" name="Label"/>
          <p:cNvSpPr txBox="1"/>
          <p:nvPr/>
        </p:nvSpPr>
        <p:spPr>
          <a:xfrm>
            <a:off x="7406640" y="3977639"/>
            <a:ext cx="4498847" cy="1188720"/>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565C6B"/>
                </a:solidFill>
                <a:latin typeface="Helvetica Neue Light"/>
                <a:cs typeface="Helvetica Neue Light"/>
              </a:rPr>
              <a:t>error rate on submissions</a:t>
            </a:r>
          </a:p>
        </p:txBody>
      </p:sp>
      <p:sp>
        <p:nvSpPr>
          <p:cNvPr id="3032" name="Tile"/>
          <p:cNvSpPr/>
          <p:nvPr/>
        </p:nvSpPr>
        <p:spPr>
          <a:xfrm>
            <a:off x="5577840" y="5349240"/>
            <a:ext cx="6601968" cy="1188720"/>
          </a:xfrm>
          <a:prstGeom prst="roundRect">
            <a:avLst>
              <a:gd name="adj" fmla="val 10769"/>
            </a:avLst>
          </a:prstGeom>
          <a:solidFill>
            <a:srgbClr val="1B1D24"/>
          </a:solidFill>
          <a:ln>
            <a:noFill/>
          </a:ln>
        </p:spPr>
        <p:txBody>
          <a:bodyPr/>
          <a:lstStyle/>
          <a:p>
            <a:endParaRPr lang="en-US"/>
          </a:p>
        </p:txBody>
      </p:sp>
      <p:sp>
        <p:nvSpPr>
          <p:cNvPr id="109" name="Number"/>
          <p:cNvSpPr txBox="1"/>
          <p:nvPr/>
        </p:nvSpPr>
        <p:spPr>
          <a:xfrm>
            <a:off x="5852160" y="5349240"/>
            <a:ext cx="2772826" cy="1188720"/>
          </a:xfrm>
          <a:prstGeom prst="rect">
            <a:avLst/>
          </a:prstGeom>
          <a:noFill/>
        </p:spPr>
        <p:txBody>
          <a:bodyPr wrap="square" lIns="0" tIns="0" rIns="0" bIns="0" anchor="ctr">
            <a:noAutofit/>
          </a:bodyPr>
          <a:lstStyle/>
          <a:p>
            <a:pPr algn="l">
              <a:lnSpc>
                <a:spcPct val="90000"/>
              </a:lnSpc>
              <a:spcAft>
                <a:spcPts val="300"/>
              </a:spcAft>
            </a:pPr>
            <a:r>
              <a:rPr lang="en-US" sz="4800" spc="-40" dirty="0">
                <a:solidFill>
                  <a:srgbClr val="F5F5F7"/>
                </a:solidFill>
                <a:latin typeface="Helvetica Neue Medium"/>
                <a:cs typeface="Helvetica Neue Medium"/>
              </a:rPr>
              <a:t>6.1%</a:t>
            </a:r>
          </a:p>
        </p:txBody>
      </p:sp>
      <p:sp>
        <p:nvSpPr>
          <p:cNvPr id="110" name="Label"/>
          <p:cNvSpPr txBox="1"/>
          <p:nvPr/>
        </p:nvSpPr>
        <p:spPr>
          <a:xfrm>
            <a:off x="7406640" y="5349240"/>
            <a:ext cx="4498847" cy="1188720"/>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A3A8B4"/>
                </a:solidFill>
                <a:latin typeface="Helvetica Neue Light"/>
                <a:cs typeface="Helvetica Neue Light"/>
              </a:rPr>
              <a:t>drop-off on trades in the mobile app</a:t>
            </a:r>
          </a:p>
        </p:txBody>
      </p:sp>
      <p:sp>
        <p:nvSpPr>
          <p:cNvPr id="3033" name="Tile"/>
          <p:cNvSpPr/>
          <p:nvPr/>
        </p:nvSpPr>
        <p:spPr>
          <a:xfrm>
            <a:off x="822960" y="6720840"/>
            <a:ext cx="11356848" cy="1508760"/>
          </a:xfrm>
          <a:prstGeom prst="roundRect">
            <a:avLst>
              <a:gd name="adj" fmla="val 8484"/>
            </a:avLst>
          </a:prstGeom>
          <a:solidFill>
            <a:srgbClr val="F1F2F5"/>
          </a:solidFill>
          <a:ln>
            <a:noFill/>
          </a:ln>
        </p:spPr>
        <p:txBody>
          <a:bodyPr/>
          <a:lstStyle/>
          <a:p>
            <a:endParaRPr lang="en-US"/>
          </a:p>
        </p:txBody>
      </p:sp>
      <p:sp>
        <p:nvSpPr>
          <p:cNvPr id="111" name="Band"/>
          <p:cNvSpPr txBox="1"/>
          <p:nvPr/>
        </p:nvSpPr>
        <p:spPr>
          <a:xfrm>
            <a:off x="1143000" y="6720840"/>
            <a:ext cx="10716768" cy="1508760"/>
          </a:xfrm>
          <a:prstGeom prst="rect">
            <a:avLst/>
          </a:prstGeom>
          <a:noFill/>
        </p:spPr>
        <p:txBody>
          <a:bodyPr wrap="square" lIns="0" tIns="0" rIns="0" bIns="0" anchor="ctr">
            <a:noAutofit/>
          </a:bodyPr>
          <a:lstStyle/>
          <a:p>
            <a:pPr algn="l">
              <a:lnSpc>
                <a:spcPct val="115000"/>
              </a:lnSpc>
              <a:spcAft>
                <a:spcPts val="300"/>
              </a:spcAft>
            </a:pPr>
            <a:r>
              <a:rPr lang="en-US" sz="1800" spc="0" dirty="0">
                <a:solidFill>
                  <a:srgbClr val="14161D"/>
                </a:solidFill>
                <a:latin typeface="Helvetica Neue Light"/>
                <a:cs typeface="Helvetica Neue Light"/>
              </a:rPr>
              <a:t>“The app lacks advanced features like drawing tools or technical indicators. Customer support options are limited, with no chat support available.”</a:t>
            </a:r>
          </a:p>
        </p:txBody>
      </p:sp>
      <p:pic>
        <p:nvPicPr>
          <p:cNvPr id="112"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DISCOVERY</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We set out to find real user needs, </a:t>
            </a:r>
            <a:r>
              <a:rPr lang="en-US" sz="3600" spc="-40" dirty="0">
                <a:solidFill>
                  <a:srgbClr val="B5531F"/>
                </a:solidFill>
                <a:latin typeface="Helvetica Neue Medium"/>
                <a:cs typeface="Helvetica Neue Medium"/>
              </a:rPr>
              <a:t>test the business’s assumptions</a:t>
            </a:r>
            <a:r>
              <a:rPr lang="en-US" sz="3600" spc="-40" dirty="0">
                <a:solidFill>
                  <a:srgbClr val="14161D"/>
                </a:solidFill>
                <a:latin typeface="Helvetica Neue Medium"/>
                <a:cs typeface="Helvetica Neue Medium"/>
              </a:rPr>
              <a:t> and generate new ideas.</a:t>
            </a:r>
          </a:p>
        </p:txBody>
      </p:sp>
      <p:sp>
        <p:nvSpPr>
          <p:cNvPr id="103" name="Methods"/>
          <p:cNvSpPr txBox="1"/>
          <p:nvPr/>
        </p:nvSpPr>
        <p:spPr>
          <a:xfrm>
            <a:off x="822960" y="3611880"/>
            <a:ext cx="5427980"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METHODS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Interviews with external users, internal stakeholders and SMEs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Experienced and novice traders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Persona development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Google design thinking exercises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Competitive analysis</a:t>
            </a:r>
          </a:p>
        </p:txBody>
      </p:sp>
      <p:sp>
        <p:nvSpPr>
          <p:cNvPr id="104" name="Problem"/>
          <p:cNvSpPr txBox="1"/>
          <p:nvPr/>
        </p:nvSpPr>
        <p:spPr>
          <a:xfrm>
            <a:off x="6753860" y="3611880"/>
            <a:ext cx="5427980" cy="438912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PROBLEM STATEMENT</a:t>
            </a:r>
          </a:p>
          <a:p>
            <a:pPr algn="l">
              <a:lnSpc>
                <a:spcPct val="125000"/>
              </a:lnSpc>
              <a:spcAft>
                <a:spcPts val="500"/>
              </a:spcAft>
            </a:pPr>
            <a:r>
              <a:rPr lang="en-US" sz="1550" spc="0" dirty="0">
                <a:solidFill>
                  <a:srgbClr val="14161D"/>
                </a:solidFill>
                <a:latin typeface="Helvetica Neue Light"/>
                <a:cs typeface="Helvetica Neue Light"/>
              </a:rPr>
              <a:t>As the most important part of the trading experience, experienced and novice users need an integrated trade ticket that simplifies trading, reduces errors and improves efficiency, while letting them trade in shares or dollar amounts.</a:t>
            </a:r>
          </a:p>
        </p:txBody>
      </p:sp>
      <p:pic>
        <p:nvPicPr>
          <p:cNvPr id="10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DISCOVERY</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“…so non-intuitive, it makes it hard to navigate, find specific functions and </a:t>
            </a:r>
            <a:r>
              <a:rPr lang="en-US" sz="3600" spc="-40" dirty="0">
                <a:solidFill>
                  <a:srgbClr val="B5531F"/>
                </a:solidFill>
                <a:latin typeface="Helvetica Neue Medium"/>
                <a:cs typeface="Helvetica Neue Medium"/>
              </a:rPr>
              <a:t>just make a quick trade</a:t>
            </a:r>
            <a:r>
              <a:rPr lang="en-US" sz="3600" spc="-40" dirty="0">
                <a:solidFill>
                  <a:srgbClr val="14161D"/>
                </a:solidFill>
                <a:latin typeface="Helvetica Neue Medium"/>
                <a:cs typeface="Helvetica Neue Medium"/>
              </a:rPr>
              <a:t>.”</a:t>
            </a:r>
          </a:p>
        </p:txBody>
      </p:sp>
      <p:sp>
        <p:nvSpPr>
          <p:cNvPr id="103" name="List label"/>
          <p:cNvSpPr txBox="1"/>
          <p:nvPr/>
        </p:nvSpPr>
        <p:spPr>
          <a:xfrm>
            <a:off x="822960" y="370332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PAIN POINTS WE HEARD IN INTERVIEWS</a:t>
            </a:r>
          </a:p>
        </p:txBody>
      </p:sp>
      <p:cxnSp>
        <p:nvCxnSpPr>
          <p:cNvPr id="104" name="Divider"/>
          <p:cNvCxnSpPr/>
          <p:nvPr/>
        </p:nvCxnSpPr>
        <p:spPr>
          <a:xfrm>
            <a:off x="822960" y="4114800"/>
            <a:ext cx="5427980" cy="0"/>
          </a:xfrm>
          <a:prstGeom prst="line">
            <a:avLst/>
          </a:prstGeom>
          <a:ln w="9525">
            <a:solidFill>
              <a:srgbClr val="E1E3E8"/>
            </a:solidFill>
          </a:ln>
        </p:spPr>
      </p:cxnSp>
      <p:sp>
        <p:nvSpPr>
          <p:cNvPr id="105" name="n"/>
          <p:cNvSpPr txBox="1"/>
          <p:nvPr/>
        </p:nvSpPr>
        <p:spPr>
          <a:xfrm>
            <a:off x="822960" y="4297680"/>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01</a:t>
            </a:r>
          </a:p>
        </p:txBody>
      </p:sp>
      <p:sp>
        <p:nvSpPr>
          <p:cNvPr id="106" name="p"/>
          <p:cNvSpPr txBox="1"/>
          <p:nvPr/>
        </p:nvSpPr>
        <p:spPr>
          <a:xfrm>
            <a:off x="1371600" y="4297680"/>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14161D"/>
                </a:solidFill>
                <a:latin typeface="Helvetica Neue Medium"/>
                <a:cs typeface="Helvetica Neue Medium"/>
              </a:rPr>
              <a:t>Can’t trade in both shares and dollars on mobile</a:t>
            </a:r>
          </a:p>
        </p:txBody>
      </p:sp>
      <p:cxnSp>
        <p:nvCxnSpPr>
          <p:cNvPr id="107" name="Divider"/>
          <p:cNvCxnSpPr/>
          <p:nvPr/>
        </p:nvCxnSpPr>
        <p:spPr>
          <a:xfrm>
            <a:off x="822960" y="5102352"/>
            <a:ext cx="5427980" cy="0"/>
          </a:xfrm>
          <a:prstGeom prst="line">
            <a:avLst/>
          </a:prstGeom>
          <a:ln w="9525">
            <a:solidFill>
              <a:srgbClr val="E1E3E8"/>
            </a:solidFill>
          </a:ln>
        </p:spPr>
      </p:cxnSp>
      <p:sp>
        <p:nvSpPr>
          <p:cNvPr id="108" name="n"/>
          <p:cNvSpPr txBox="1"/>
          <p:nvPr/>
        </p:nvSpPr>
        <p:spPr>
          <a:xfrm>
            <a:off x="822960" y="5285232"/>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02</a:t>
            </a:r>
          </a:p>
        </p:txBody>
      </p:sp>
      <p:sp>
        <p:nvSpPr>
          <p:cNvPr id="109" name="p"/>
          <p:cNvSpPr txBox="1"/>
          <p:nvPr/>
        </p:nvSpPr>
        <p:spPr>
          <a:xfrm>
            <a:off x="1371600" y="5285232"/>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14161D"/>
                </a:solidFill>
                <a:latin typeface="Helvetica Neue Medium"/>
                <a:cs typeface="Helvetica Neue Medium"/>
              </a:rPr>
              <a:t>Several interfaces aren’t intuitive</a:t>
            </a:r>
          </a:p>
        </p:txBody>
      </p:sp>
      <p:cxnSp>
        <p:nvCxnSpPr>
          <p:cNvPr id="110" name="Divider"/>
          <p:cNvCxnSpPr/>
          <p:nvPr/>
        </p:nvCxnSpPr>
        <p:spPr>
          <a:xfrm>
            <a:off x="822960" y="6089904"/>
            <a:ext cx="5427980" cy="0"/>
          </a:xfrm>
          <a:prstGeom prst="line">
            <a:avLst/>
          </a:prstGeom>
          <a:ln w="9525">
            <a:solidFill>
              <a:srgbClr val="E1E3E8"/>
            </a:solidFill>
          </a:ln>
        </p:spPr>
      </p:cxnSp>
      <p:sp>
        <p:nvSpPr>
          <p:cNvPr id="111" name="n"/>
          <p:cNvSpPr txBox="1"/>
          <p:nvPr/>
        </p:nvSpPr>
        <p:spPr>
          <a:xfrm>
            <a:off x="822960" y="6272784"/>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03</a:t>
            </a:r>
          </a:p>
        </p:txBody>
      </p:sp>
      <p:sp>
        <p:nvSpPr>
          <p:cNvPr id="112" name="p"/>
          <p:cNvSpPr txBox="1"/>
          <p:nvPr/>
        </p:nvSpPr>
        <p:spPr>
          <a:xfrm>
            <a:off x="1371600" y="6272784"/>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565C6B"/>
                </a:solidFill>
                <a:latin typeface="Helvetica Neue Light"/>
                <a:cs typeface="Helvetica Neue Light"/>
              </a:rPr>
              <a:t>Need more of the right trade detail</a:t>
            </a:r>
          </a:p>
        </p:txBody>
      </p:sp>
      <p:cxnSp>
        <p:nvCxnSpPr>
          <p:cNvPr id="113" name="Divider"/>
          <p:cNvCxnSpPr/>
          <p:nvPr/>
        </p:nvCxnSpPr>
        <p:spPr>
          <a:xfrm>
            <a:off x="822960" y="7077456"/>
            <a:ext cx="5427980" cy="0"/>
          </a:xfrm>
          <a:prstGeom prst="line">
            <a:avLst/>
          </a:prstGeom>
          <a:ln w="9525">
            <a:solidFill>
              <a:srgbClr val="E1E3E8"/>
            </a:solidFill>
          </a:ln>
        </p:spPr>
      </p:cxnSp>
      <p:sp>
        <p:nvSpPr>
          <p:cNvPr id="114" name="n"/>
          <p:cNvSpPr txBox="1"/>
          <p:nvPr/>
        </p:nvSpPr>
        <p:spPr>
          <a:xfrm>
            <a:off x="822960" y="7260336"/>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04</a:t>
            </a:r>
          </a:p>
        </p:txBody>
      </p:sp>
      <p:sp>
        <p:nvSpPr>
          <p:cNvPr id="115" name="p"/>
          <p:cNvSpPr txBox="1"/>
          <p:nvPr/>
        </p:nvSpPr>
        <p:spPr>
          <a:xfrm>
            <a:off x="1371600" y="7260336"/>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565C6B"/>
                </a:solidFill>
                <a:latin typeface="Helvetica Neue Light"/>
                <a:cs typeface="Helvetica Neue Light"/>
              </a:rPr>
              <a:t>Flexibility needs to improve</a:t>
            </a:r>
          </a:p>
        </p:txBody>
      </p:sp>
      <p:cxnSp>
        <p:nvCxnSpPr>
          <p:cNvPr id="116" name="Divider"/>
          <p:cNvCxnSpPr/>
          <p:nvPr/>
        </p:nvCxnSpPr>
        <p:spPr>
          <a:xfrm>
            <a:off x="6753860" y="4114800"/>
            <a:ext cx="5427980" cy="0"/>
          </a:xfrm>
          <a:prstGeom prst="line">
            <a:avLst/>
          </a:prstGeom>
          <a:ln w="9525">
            <a:solidFill>
              <a:srgbClr val="E1E3E8"/>
            </a:solidFill>
          </a:ln>
        </p:spPr>
      </p:cxnSp>
      <p:sp>
        <p:nvSpPr>
          <p:cNvPr id="117" name="n"/>
          <p:cNvSpPr txBox="1"/>
          <p:nvPr/>
        </p:nvSpPr>
        <p:spPr>
          <a:xfrm>
            <a:off x="6753860" y="4297680"/>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05</a:t>
            </a:r>
          </a:p>
        </p:txBody>
      </p:sp>
      <p:sp>
        <p:nvSpPr>
          <p:cNvPr id="118" name="p"/>
          <p:cNvSpPr txBox="1"/>
          <p:nvPr/>
        </p:nvSpPr>
        <p:spPr>
          <a:xfrm>
            <a:off x="7302500" y="4297680"/>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565C6B"/>
                </a:solidFill>
                <a:latin typeface="Helvetica Neue Light"/>
                <a:cs typeface="Helvetica Neue Light"/>
              </a:rPr>
              <a:t>More trading options</a:t>
            </a:r>
          </a:p>
        </p:txBody>
      </p:sp>
      <p:cxnSp>
        <p:nvCxnSpPr>
          <p:cNvPr id="119" name="Divider"/>
          <p:cNvCxnSpPr/>
          <p:nvPr/>
        </p:nvCxnSpPr>
        <p:spPr>
          <a:xfrm>
            <a:off x="6753860" y="5102352"/>
            <a:ext cx="5427980" cy="0"/>
          </a:xfrm>
          <a:prstGeom prst="line">
            <a:avLst/>
          </a:prstGeom>
          <a:ln w="9525">
            <a:solidFill>
              <a:srgbClr val="E1E3E8"/>
            </a:solidFill>
          </a:ln>
        </p:spPr>
      </p:cxnSp>
      <p:sp>
        <p:nvSpPr>
          <p:cNvPr id="120" name="n"/>
          <p:cNvSpPr txBox="1"/>
          <p:nvPr/>
        </p:nvSpPr>
        <p:spPr>
          <a:xfrm>
            <a:off x="6753860" y="5285232"/>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06</a:t>
            </a:r>
          </a:p>
        </p:txBody>
      </p:sp>
      <p:sp>
        <p:nvSpPr>
          <p:cNvPr id="121" name="p"/>
          <p:cNvSpPr txBox="1"/>
          <p:nvPr/>
        </p:nvSpPr>
        <p:spPr>
          <a:xfrm>
            <a:off x="7302500" y="5285232"/>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565C6B"/>
                </a:solidFill>
                <a:latin typeface="Helvetica Neue Light"/>
                <a:cs typeface="Helvetica Neue Light"/>
              </a:rPr>
              <a:t>Speed</a:t>
            </a:r>
          </a:p>
        </p:txBody>
      </p:sp>
      <p:cxnSp>
        <p:nvCxnSpPr>
          <p:cNvPr id="122" name="Divider"/>
          <p:cNvCxnSpPr/>
          <p:nvPr/>
        </p:nvCxnSpPr>
        <p:spPr>
          <a:xfrm>
            <a:off x="6753860" y="6089904"/>
            <a:ext cx="5427980" cy="0"/>
          </a:xfrm>
          <a:prstGeom prst="line">
            <a:avLst/>
          </a:prstGeom>
          <a:ln w="9525">
            <a:solidFill>
              <a:srgbClr val="E1E3E8"/>
            </a:solidFill>
          </a:ln>
        </p:spPr>
      </p:cxnSp>
      <p:sp>
        <p:nvSpPr>
          <p:cNvPr id="123" name="n"/>
          <p:cNvSpPr txBox="1"/>
          <p:nvPr/>
        </p:nvSpPr>
        <p:spPr>
          <a:xfrm>
            <a:off x="6753860" y="6272784"/>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07</a:t>
            </a:r>
          </a:p>
        </p:txBody>
      </p:sp>
      <p:sp>
        <p:nvSpPr>
          <p:cNvPr id="124" name="p"/>
          <p:cNvSpPr txBox="1"/>
          <p:nvPr/>
        </p:nvSpPr>
        <p:spPr>
          <a:xfrm>
            <a:off x="7302500" y="6272784"/>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565C6B"/>
                </a:solidFill>
                <a:latin typeface="Helvetica Neue Light"/>
                <a:cs typeface="Helvetica Neue Light"/>
              </a:rPr>
              <a:t>Mobile native</a:t>
            </a:r>
          </a:p>
        </p:txBody>
      </p:sp>
      <p:pic>
        <p:nvPicPr>
          <p:cNvPr id="12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STRATEGY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Pain points + business goals + UX strategy = feature set</a:t>
            </a:r>
          </a:p>
        </p:txBody>
      </p:sp>
      <p:cxnSp>
        <p:nvCxnSpPr>
          <p:cNvPr id="103" name="Divider"/>
          <p:cNvCxnSpPr/>
          <p:nvPr/>
        </p:nvCxnSpPr>
        <p:spPr>
          <a:xfrm>
            <a:off x="822960" y="2651760"/>
            <a:ext cx="2668270" cy="0"/>
          </a:xfrm>
          <a:prstGeom prst="line">
            <a:avLst/>
          </a:prstGeom>
          <a:ln w="9525">
            <a:solidFill>
              <a:srgbClr val="E1E3E8"/>
            </a:solidFill>
          </a:ln>
        </p:spPr>
      </p:cxnSp>
      <p:sp>
        <p:nvSpPr>
          <p:cNvPr id="104" name="PAIN POINTS"/>
          <p:cNvSpPr txBox="1"/>
          <p:nvPr/>
        </p:nvSpPr>
        <p:spPr>
          <a:xfrm>
            <a:off x="82296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PAIN POINTS</a:t>
            </a:r>
          </a:p>
          <a:p>
            <a:pPr algn="l">
              <a:lnSpc>
                <a:spcPct val="115000"/>
              </a:lnSpc>
              <a:spcAft>
                <a:spcPts val="900"/>
              </a:spcAft>
            </a:pPr>
            <a:r>
              <a:rPr lang="en-US" sz="1700" spc="0" dirty="0">
                <a:solidFill>
                  <a:srgbClr val="565C6B"/>
                </a:solidFill>
                <a:latin typeface="Helvetica Neue Light"/>
                <a:cs typeface="Helvetica Neue Light"/>
              </a:rPr>
              <a:t>Can’t trade in both shares and dollars</a:t>
            </a:r>
          </a:p>
          <a:p>
            <a:pPr algn="l">
              <a:lnSpc>
                <a:spcPct val="115000"/>
              </a:lnSpc>
              <a:spcAft>
                <a:spcPts val="900"/>
              </a:spcAft>
            </a:pPr>
            <a:r>
              <a:rPr lang="en-US" sz="1700" spc="0" dirty="0">
                <a:solidFill>
                  <a:srgbClr val="565C6B"/>
                </a:solidFill>
                <a:latin typeface="Helvetica Neue Light"/>
                <a:cs typeface="Helvetica Neue Light"/>
              </a:rPr>
              <a:t>Interfaces aren’t intuitive</a:t>
            </a:r>
          </a:p>
          <a:p>
            <a:pPr algn="l">
              <a:lnSpc>
                <a:spcPct val="115000"/>
              </a:lnSpc>
              <a:spcAft>
                <a:spcPts val="900"/>
              </a:spcAft>
            </a:pPr>
            <a:r>
              <a:rPr lang="en-US" sz="1700" spc="0" dirty="0">
                <a:solidFill>
                  <a:srgbClr val="565C6B"/>
                </a:solidFill>
                <a:latin typeface="Helvetica Neue Light"/>
                <a:cs typeface="Helvetica Neue Light"/>
              </a:rPr>
              <a:t>Need more of the right trade detail</a:t>
            </a:r>
          </a:p>
          <a:p>
            <a:pPr algn="l">
              <a:lnSpc>
                <a:spcPct val="115000"/>
              </a:lnSpc>
              <a:spcAft>
                <a:spcPts val="900"/>
              </a:spcAft>
            </a:pPr>
            <a:r>
              <a:rPr lang="en-US" sz="1700" spc="0" dirty="0">
                <a:solidFill>
                  <a:srgbClr val="565C6B"/>
                </a:solidFill>
                <a:latin typeface="Helvetica Neue Light"/>
                <a:cs typeface="Helvetica Neue Light"/>
              </a:rPr>
              <a:t>Flexibility</a:t>
            </a:r>
          </a:p>
          <a:p>
            <a:pPr algn="l">
              <a:lnSpc>
                <a:spcPct val="115000"/>
              </a:lnSpc>
              <a:spcAft>
                <a:spcPts val="900"/>
              </a:spcAft>
            </a:pPr>
            <a:r>
              <a:rPr lang="en-US" sz="1700" spc="0" dirty="0">
                <a:solidFill>
                  <a:srgbClr val="565C6B"/>
                </a:solidFill>
                <a:latin typeface="Helvetica Neue Light"/>
                <a:cs typeface="Helvetica Neue Light"/>
              </a:rPr>
              <a:t>More trading options</a:t>
            </a:r>
          </a:p>
          <a:p>
            <a:pPr algn="l">
              <a:lnSpc>
                <a:spcPct val="115000"/>
              </a:lnSpc>
              <a:spcAft>
                <a:spcPts val="900"/>
              </a:spcAft>
            </a:pPr>
            <a:r>
              <a:rPr lang="en-US" sz="1700" spc="0" dirty="0">
                <a:solidFill>
                  <a:srgbClr val="565C6B"/>
                </a:solidFill>
                <a:latin typeface="Helvetica Neue Light"/>
                <a:cs typeface="Helvetica Neue Light"/>
              </a:rPr>
              <a:t>Transaction speed</a:t>
            </a:r>
          </a:p>
          <a:p>
            <a:pPr algn="l">
              <a:lnSpc>
                <a:spcPct val="115000"/>
              </a:lnSpc>
              <a:spcAft>
                <a:spcPts val="900"/>
              </a:spcAft>
            </a:pPr>
            <a:r>
              <a:rPr lang="en-US" sz="1700" spc="0" dirty="0">
                <a:solidFill>
                  <a:srgbClr val="565C6B"/>
                </a:solidFill>
                <a:latin typeface="Helvetica Neue Light"/>
                <a:cs typeface="Helvetica Neue Light"/>
              </a:rPr>
              <a:t>Mobile native</a:t>
            </a:r>
          </a:p>
        </p:txBody>
      </p:sp>
      <p:sp>
        <p:nvSpPr>
          <p:cNvPr id="105" name="op"/>
          <p:cNvSpPr txBox="1"/>
          <p:nvPr/>
        </p:nvSpPr>
        <p:spPr>
          <a:xfrm>
            <a:off x="344551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06" name="Divider"/>
          <p:cNvCxnSpPr/>
          <p:nvPr/>
        </p:nvCxnSpPr>
        <p:spPr>
          <a:xfrm>
            <a:off x="3719830" y="2651760"/>
            <a:ext cx="2668270" cy="0"/>
          </a:xfrm>
          <a:prstGeom prst="line">
            <a:avLst/>
          </a:prstGeom>
          <a:ln w="9525">
            <a:solidFill>
              <a:srgbClr val="E1E3E8"/>
            </a:solidFill>
          </a:ln>
        </p:spPr>
      </p:cxnSp>
      <p:sp>
        <p:nvSpPr>
          <p:cNvPr id="107" name="BUSINESS GOALS"/>
          <p:cNvSpPr txBox="1"/>
          <p:nvPr/>
        </p:nvSpPr>
        <p:spPr>
          <a:xfrm>
            <a:off x="371983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BUSINESS GOALS</a:t>
            </a:r>
          </a:p>
          <a:p>
            <a:pPr algn="l">
              <a:lnSpc>
                <a:spcPct val="115000"/>
              </a:lnSpc>
              <a:spcAft>
                <a:spcPts val="900"/>
              </a:spcAft>
            </a:pPr>
            <a:r>
              <a:rPr lang="en-US" sz="1700" spc="0" dirty="0">
                <a:solidFill>
                  <a:srgbClr val="565C6B"/>
                </a:solidFill>
                <a:latin typeface="Helvetica Neue Light"/>
                <a:cs typeface="Helvetica Neue Light"/>
              </a:rPr>
              <a:t>Speed</a:t>
            </a:r>
          </a:p>
          <a:p>
            <a:pPr algn="l">
              <a:lnSpc>
                <a:spcPct val="115000"/>
              </a:lnSpc>
              <a:spcAft>
                <a:spcPts val="900"/>
              </a:spcAft>
            </a:pPr>
            <a:r>
              <a:rPr lang="en-US" sz="1700" spc="0" dirty="0">
                <a:solidFill>
                  <a:srgbClr val="565C6B"/>
                </a:solidFill>
                <a:latin typeface="Helvetica Neue Light"/>
                <a:cs typeface="Helvetica Neue Light"/>
              </a:rPr>
              <a:t>Education</a:t>
            </a:r>
          </a:p>
          <a:p>
            <a:pPr algn="l">
              <a:lnSpc>
                <a:spcPct val="115000"/>
              </a:lnSpc>
              <a:spcAft>
                <a:spcPts val="900"/>
              </a:spcAft>
            </a:pPr>
            <a:r>
              <a:rPr lang="en-US" sz="1700" spc="0" dirty="0">
                <a:solidFill>
                  <a:srgbClr val="565C6B"/>
                </a:solidFill>
                <a:latin typeface="Helvetica Neue Light"/>
                <a:cs typeface="Helvetica Neue Light"/>
              </a:rPr>
              <a:t>Platform parity</a:t>
            </a:r>
          </a:p>
          <a:p>
            <a:pPr algn="l">
              <a:lnSpc>
                <a:spcPct val="115000"/>
              </a:lnSpc>
              <a:spcAft>
                <a:spcPts val="900"/>
              </a:spcAft>
            </a:pPr>
            <a:r>
              <a:rPr lang="en-US" sz="1700" spc="0" dirty="0">
                <a:solidFill>
                  <a:srgbClr val="565C6B"/>
                </a:solidFill>
                <a:latin typeface="Helvetica Neue Light"/>
                <a:cs typeface="Helvetica Neue Light"/>
              </a:rPr>
              <a:t>Integrated systems</a:t>
            </a:r>
          </a:p>
          <a:p>
            <a:pPr algn="l">
              <a:lnSpc>
                <a:spcPct val="115000"/>
              </a:lnSpc>
              <a:spcAft>
                <a:spcPts val="900"/>
              </a:spcAft>
            </a:pPr>
            <a:r>
              <a:rPr lang="en-US" sz="1700" spc="0" dirty="0">
                <a:solidFill>
                  <a:srgbClr val="565C6B"/>
                </a:solidFill>
                <a:latin typeface="Helvetica Neue Light"/>
                <a:cs typeface="Helvetica Neue Light"/>
              </a:rPr>
              <a:t>Data</a:t>
            </a:r>
          </a:p>
        </p:txBody>
      </p:sp>
      <p:sp>
        <p:nvSpPr>
          <p:cNvPr id="108" name="op"/>
          <p:cNvSpPr txBox="1"/>
          <p:nvPr/>
        </p:nvSpPr>
        <p:spPr>
          <a:xfrm>
            <a:off x="634238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09" name="Divider"/>
          <p:cNvCxnSpPr/>
          <p:nvPr/>
        </p:nvCxnSpPr>
        <p:spPr>
          <a:xfrm>
            <a:off x="6616700" y="2651760"/>
            <a:ext cx="2668270" cy="0"/>
          </a:xfrm>
          <a:prstGeom prst="line">
            <a:avLst/>
          </a:prstGeom>
          <a:ln w="9525">
            <a:solidFill>
              <a:srgbClr val="E1E3E8"/>
            </a:solidFill>
          </a:ln>
        </p:spPr>
      </p:cxnSp>
      <p:sp>
        <p:nvSpPr>
          <p:cNvPr id="110" name="UX STRATEGY"/>
          <p:cNvSpPr txBox="1"/>
          <p:nvPr/>
        </p:nvSpPr>
        <p:spPr>
          <a:xfrm>
            <a:off x="661670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UX STRATEGY</a:t>
            </a:r>
          </a:p>
          <a:p>
            <a:pPr algn="l">
              <a:lnSpc>
                <a:spcPct val="115000"/>
              </a:lnSpc>
              <a:spcAft>
                <a:spcPts val="900"/>
              </a:spcAft>
            </a:pPr>
            <a:r>
              <a:rPr lang="en-US" sz="1700" spc="0" dirty="0">
                <a:solidFill>
                  <a:srgbClr val="565C6B"/>
                </a:solidFill>
                <a:latin typeface="Helvetica Neue Light"/>
                <a:cs typeface="Helvetica Neue Light"/>
              </a:rPr>
              <a:t>Simplified interface</a:t>
            </a:r>
          </a:p>
          <a:p>
            <a:pPr algn="l">
              <a:lnSpc>
                <a:spcPct val="115000"/>
              </a:lnSpc>
              <a:spcAft>
                <a:spcPts val="900"/>
              </a:spcAft>
            </a:pPr>
            <a:r>
              <a:rPr lang="en-US" sz="1700" spc="0" dirty="0">
                <a:solidFill>
                  <a:srgbClr val="565C6B"/>
                </a:solidFill>
                <a:latin typeface="Helvetica Neue Light"/>
                <a:cs typeface="Helvetica Neue Light"/>
              </a:rPr>
              <a:t>Dynamic functionality</a:t>
            </a:r>
          </a:p>
          <a:p>
            <a:pPr algn="l">
              <a:lnSpc>
                <a:spcPct val="115000"/>
              </a:lnSpc>
              <a:spcAft>
                <a:spcPts val="900"/>
              </a:spcAft>
            </a:pPr>
            <a:r>
              <a:rPr lang="en-US" sz="1700" spc="0" dirty="0">
                <a:solidFill>
                  <a:srgbClr val="565C6B"/>
                </a:solidFill>
                <a:latin typeface="Helvetica Neue Light"/>
                <a:cs typeface="Helvetica Neue Light"/>
              </a:rPr>
              <a:t>Trade speed</a:t>
            </a:r>
          </a:p>
          <a:p>
            <a:pPr algn="l">
              <a:lnSpc>
                <a:spcPct val="115000"/>
              </a:lnSpc>
              <a:spcAft>
                <a:spcPts val="900"/>
              </a:spcAft>
            </a:pPr>
            <a:r>
              <a:rPr lang="en-US" sz="1700" spc="0" dirty="0">
                <a:solidFill>
                  <a:srgbClr val="565C6B"/>
                </a:solidFill>
                <a:latin typeface="Helvetica Neue Light"/>
                <a:cs typeface="Helvetica Neue Light"/>
              </a:rPr>
              <a:t>Real-time updates</a:t>
            </a:r>
          </a:p>
        </p:txBody>
      </p:sp>
      <p:sp>
        <p:nvSpPr>
          <p:cNvPr id="111" name="op"/>
          <p:cNvSpPr txBox="1"/>
          <p:nvPr/>
        </p:nvSpPr>
        <p:spPr>
          <a:xfrm>
            <a:off x="923925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12" name="Divider"/>
          <p:cNvCxnSpPr/>
          <p:nvPr/>
        </p:nvCxnSpPr>
        <p:spPr>
          <a:xfrm>
            <a:off x="9513570" y="2651760"/>
            <a:ext cx="2668270" cy="0"/>
          </a:xfrm>
          <a:prstGeom prst="line">
            <a:avLst/>
          </a:prstGeom>
          <a:ln w="28575">
            <a:solidFill>
              <a:srgbClr val="B5531F"/>
            </a:solidFill>
          </a:ln>
        </p:spPr>
      </p:cxnSp>
      <p:sp>
        <p:nvSpPr>
          <p:cNvPr id="113" name="FEATURE SET"/>
          <p:cNvSpPr txBox="1"/>
          <p:nvPr/>
        </p:nvSpPr>
        <p:spPr>
          <a:xfrm>
            <a:off x="951357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FEATURE SET</a:t>
            </a:r>
          </a:p>
          <a:p>
            <a:pPr algn="l">
              <a:lnSpc>
                <a:spcPct val="115000"/>
              </a:lnSpc>
              <a:spcAft>
                <a:spcPts val="900"/>
              </a:spcAft>
            </a:pPr>
            <a:r>
              <a:rPr lang="en-US" sz="1700" spc="0" dirty="0">
                <a:solidFill>
                  <a:srgbClr val="14161D"/>
                </a:solidFill>
                <a:latin typeface="Helvetica Neue Light"/>
                <a:cs typeface="Helvetica Neue Light"/>
              </a:rPr>
              <a:t>Order entry</a:t>
            </a:r>
          </a:p>
          <a:p>
            <a:pPr algn="l">
              <a:lnSpc>
                <a:spcPct val="115000"/>
              </a:lnSpc>
              <a:spcAft>
                <a:spcPts val="900"/>
              </a:spcAft>
            </a:pPr>
            <a:r>
              <a:rPr lang="en-US" sz="1700" spc="0" dirty="0">
                <a:solidFill>
                  <a:srgbClr val="14161D"/>
                </a:solidFill>
                <a:latin typeface="Helvetica Neue Light"/>
                <a:cs typeface="Helvetica Neue Light"/>
              </a:rPr>
              <a:t>Execution management</a:t>
            </a:r>
          </a:p>
          <a:p>
            <a:pPr algn="l">
              <a:lnSpc>
                <a:spcPct val="115000"/>
              </a:lnSpc>
              <a:spcAft>
                <a:spcPts val="900"/>
              </a:spcAft>
            </a:pPr>
            <a:r>
              <a:rPr lang="en-US" sz="1700" spc="0" dirty="0">
                <a:solidFill>
                  <a:srgbClr val="14161D"/>
                </a:solidFill>
                <a:latin typeface="Helvetica Neue Light"/>
                <a:cs typeface="Helvetica Neue Light"/>
              </a:rPr>
              <a:t>Real-time monitoring</a:t>
            </a:r>
          </a:p>
          <a:p>
            <a:pPr algn="l">
              <a:lnSpc>
                <a:spcPct val="115000"/>
              </a:lnSpc>
              <a:spcAft>
                <a:spcPts val="900"/>
              </a:spcAft>
            </a:pPr>
            <a:r>
              <a:rPr lang="en-US" sz="1700" spc="0" dirty="0">
                <a:solidFill>
                  <a:srgbClr val="14161D"/>
                </a:solidFill>
                <a:latin typeface="Helvetica Neue Light"/>
                <a:cs typeface="Helvetica Neue Light"/>
              </a:rPr>
              <a:t>Risk management</a:t>
            </a:r>
          </a:p>
          <a:p>
            <a:pPr algn="l">
              <a:lnSpc>
                <a:spcPct val="115000"/>
              </a:lnSpc>
              <a:spcAft>
                <a:spcPts val="900"/>
              </a:spcAft>
            </a:pPr>
            <a:r>
              <a:rPr lang="en-US" sz="1700" spc="0" dirty="0">
                <a:solidFill>
                  <a:srgbClr val="14161D"/>
                </a:solidFill>
                <a:latin typeface="Helvetica Neue Light"/>
                <a:cs typeface="Helvetica Neue Light"/>
              </a:rPr>
              <a:t>Post-trade processing</a:t>
            </a:r>
          </a:p>
          <a:p>
            <a:pPr algn="l">
              <a:lnSpc>
                <a:spcPct val="115000"/>
              </a:lnSpc>
              <a:spcAft>
                <a:spcPts val="900"/>
              </a:spcAft>
            </a:pPr>
            <a:r>
              <a:rPr lang="en-US" sz="1700" spc="0" dirty="0">
                <a:solidFill>
                  <a:srgbClr val="14161D"/>
                </a:solidFill>
                <a:latin typeface="Helvetica Neue Light"/>
                <a:cs typeface="Helvetica Neue Light"/>
              </a:rPr>
              <a:t>Integration with other systems</a:t>
            </a:r>
          </a:p>
          <a:p>
            <a:pPr algn="l">
              <a:lnSpc>
                <a:spcPct val="115000"/>
              </a:lnSpc>
              <a:spcAft>
                <a:spcPts val="900"/>
              </a:spcAft>
            </a:pPr>
            <a:r>
              <a:rPr lang="en-US" sz="1700" spc="0" dirty="0">
                <a:solidFill>
                  <a:srgbClr val="14161D"/>
                </a:solidFill>
                <a:latin typeface="Helvetica Neue Light"/>
                <a:cs typeface="Helvetica Neue Light"/>
              </a:rPr>
              <a:t>Shares vs. dollars</a:t>
            </a:r>
          </a:p>
          <a:p>
            <a:pPr algn="l">
              <a:lnSpc>
                <a:spcPct val="115000"/>
              </a:lnSpc>
              <a:spcAft>
                <a:spcPts val="900"/>
              </a:spcAft>
            </a:pPr>
            <a:r>
              <a:rPr lang="en-US" sz="1700" spc="0" dirty="0">
                <a:solidFill>
                  <a:srgbClr val="14161D"/>
                </a:solidFill>
                <a:latin typeface="Helvetica Neue Light"/>
                <a:cs typeface="Helvetica Neue Light"/>
              </a:rPr>
              <a:t>Analytics and reporting</a:t>
            </a:r>
          </a:p>
        </p:txBody>
      </p:sp>
      <p:pic>
        <p:nvPicPr>
          <p:cNvPr id="114"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DISCOVERY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Competitive analysis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How the leading trading apps handle shares, dollars and the ticket itself</a:t>
            </a:r>
          </a:p>
        </p:txBody>
      </p:sp>
      <p:pic>
        <p:nvPicPr>
          <p:cNvPr id="104" name="Picture 1" descr="image.png"/>
          <p:cNvPicPr>
            <a:picLocks noChangeAspect="1"/>
          </p:cNvPicPr>
          <p:nvPr/>
        </p:nvPicPr>
        <p:blipFill>
          <a:blip r:embed="rId2"/>
          <a:stretch>
            <a:fillRect/>
          </a:stretch>
        </p:blipFill>
        <p:spPr>
          <a:xfrm>
            <a:off x="8763715" y="2634234"/>
            <a:ext cx="663567" cy="1240196"/>
          </a:xfrm>
          <a:prstGeom prst="rect">
            <a:avLst/>
          </a:prstGeom>
          <a:ln w="9525">
            <a:solidFill>
              <a:srgbClr val="D3D6DC"/>
            </a:solidFill>
          </a:ln>
        </p:spPr>
      </p:pic>
      <p:pic>
        <p:nvPicPr>
          <p:cNvPr id="105" name="Picture 2" descr="image.png"/>
          <p:cNvPicPr>
            <a:picLocks noChangeAspect="1"/>
          </p:cNvPicPr>
          <p:nvPr/>
        </p:nvPicPr>
        <p:blipFill>
          <a:blip r:embed="rId3"/>
          <a:stretch>
            <a:fillRect/>
          </a:stretch>
        </p:blipFill>
        <p:spPr>
          <a:xfrm>
            <a:off x="8058409" y="2634234"/>
            <a:ext cx="668889" cy="1345763"/>
          </a:xfrm>
          <a:prstGeom prst="rect">
            <a:avLst/>
          </a:prstGeom>
          <a:ln w="9525">
            <a:solidFill>
              <a:srgbClr val="D3D6DC"/>
            </a:solidFill>
          </a:ln>
        </p:spPr>
      </p:pic>
      <p:pic>
        <p:nvPicPr>
          <p:cNvPr id="106" name="Picture 3" descr="image.png"/>
          <p:cNvPicPr>
            <a:picLocks noChangeAspect="1"/>
          </p:cNvPicPr>
          <p:nvPr/>
        </p:nvPicPr>
        <p:blipFill>
          <a:blip r:embed="rId4"/>
          <a:stretch>
            <a:fillRect/>
          </a:stretch>
        </p:blipFill>
        <p:spPr>
          <a:xfrm>
            <a:off x="9463698" y="2634233"/>
            <a:ext cx="663567" cy="1333344"/>
          </a:xfrm>
          <a:prstGeom prst="rect">
            <a:avLst/>
          </a:prstGeom>
          <a:ln w="9525">
            <a:solidFill>
              <a:srgbClr val="D3D6DC"/>
            </a:solidFill>
          </a:ln>
        </p:spPr>
      </p:pic>
      <p:pic>
        <p:nvPicPr>
          <p:cNvPr id="107" name="Picture 4" descr="image.png"/>
          <p:cNvPicPr>
            <a:picLocks noChangeAspect="1"/>
          </p:cNvPicPr>
          <p:nvPr/>
        </p:nvPicPr>
        <p:blipFill>
          <a:blip r:embed="rId5"/>
          <a:stretch>
            <a:fillRect/>
          </a:stretch>
        </p:blipFill>
        <p:spPr>
          <a:xfrm>
            <a:off x="10168134" y="2629355"/>
            <a:ext cx="660905" cy="1355522"/>
          </a:xfrm>
          <a:prstGeom prst="rect">
            <a:avLst/>
          </a:prstGeom>
          <a:ln w="9525">
            <a:solidFill>
              <a:srgbClr val="D3D6DC"/>
            </a:solidFill>
          </a:ln>
        </p:spPr>
      </p:pic>
      <p:pic>
        <p:nvPicPr>
          <p:cNvPr id="108" name="Picture 5" descr="image.png"/>
          <p:cNvPicPr>
            <a:picLocks noChangeAspect="1"/>
          </p:cNvPicPr>
          <p:nvPr/>
        </p:nvPicPr>
        <p:blipFill>
          <a:blip r:embed="rId6"/>
          <a:stretch>
            <a:fillRect/>
          </a:stretch>
        </p:blipFill>
        <p:spPr>
          <a:xfrm>
            <a:off x="9613971" y="7313645"/>
            <a:ext cx="664241" cy="1123130"/>
          </a:xfrm>
          <a:prstGeom prst="rect">
            <a:avLst/>
          </a:prstGeom>
          <a:ln w="9525">
            <a:solidFill>
              <a:srgbClr val="D3D6DC"/>
            </a:solidFill>
          </a:ln>
        </p:spPr>
      </p:pic>
      <p:pic>
        <p:nvPicPr>
          <p:cNvPr id="109" name="Picture 6" descr="image.png"/>
          <p:cNvPicPr>
            <a:picLocks noChangeAspect="1"/>
          </p:cNvPicPr>
          <p:nvPr/>
        </p:nvPicPr>
        <p:blipFill>
          <a:blip r:embed="rId7"/>
          <a:stretch>
            <a:fillRect/>
          </a:stretch>
        </p:blipFill>
        <p:spPr>
          <a:xfrm>
            <a:off x="10333805" y="7313646"/>
            <a:ext cx="656827" cy="1127578"/>
          </a:xfrm>
          <a:prstGeom prst="rect">
            <a:avLst/>
          </a:prstGeom>
          <a:ln w="9525">
            <a:solidFill>
              <a:srgbClr val="D3D6DC"/>
            </a:solidFill>
          </a:ln>
        </p:spPr>
      </p:pic>
      <p:pic>
        <p:nvPicPr>
          <p:cNvPr id="110" name="Picture 7" descr="image.png"/>
          <p:cNvPicPr>
            <a:picLocks noChangeAspect="1"/>
          </p:cNvPicPr>
          <p:nvPr/>
        </p:nvPicPr>
        <p:blipFill>
          <a:blip r:embed="rId8"/>
          <a:stretch>
            <a:fillRect/>
          </a:stretch>
        </p:blipFill>
        <p:spPr>
          <a:xfrm>
            <a:off x="8200097" y="7313646"/>
            <a:ext cx="671476" cy="1139180"/>
          </a:xfrm>
          <a:prstGeom prst="rect">
            <a:avLst/>
          </a:prstGeom>
          <a:ln w="9525">
            <a:solidFill>
              <a:srgbClr val="D3D6DC"/>
            </a:solidFill>
          </a:ln>
        </p:spPr>
      </p:pic>
      <p:pic>
        <p:nvPicPr>
          <p:cNvPr id="111" name="Picture 8" descr="image.png"/>
          <p:cNvPicPr>
            <a:picLocks noChangeAspect="1"/>
          </p:cNvPicPr>
          <p:nvPr/>
        </p:nvPicPr>
        <p:blipFill>
          <a:blip r:embed="rId9"/>
          <a:stretch>
            <a:fillRect/>
          </a:stretch>
        </p:blipFill>
        <p:spPr>
          <a:xfrm>
            <a:off x="8931900" y="7313646"/>
            <a:ext cx="640315" cy="1078537"/>
          </a:xfrm>
          <a:prstGeom prst="rect">
            <a:avLst/>
          </a:prstGeom>
          <a:ln w="9525">
            <a:solidFill>
              <a:srgbClr val="D3D6DC"/>
            </a:solidFill>
          </a:ln>
        </p:spPr>
      </p:pic>
      <p:pic>
        <p:nvPicPr>
          <p:cNvPr id="112" name="Picture 9" descr="image.png"/>
          <p:cNvPicPr>
            <a:picLocks noChangeAspect="1"/>
          </p:cNvPicPr>
          <p:nvPr/>
        </p:nvPicPr>
        <p:blipFill>
          <a:blip r:embed="rId10"/>
          <a:stretch>
            <a:fillRect/>
          </a:stretch>
        </p:blipFill>
        <p:spPr>
          <a:xfrm>
            <a:off x="8392854" y="4878833"/>
            <a:ext cx="664241" cy="1072946"/>
          </a:xfrm>
          <a:prstGeom prst="rect">
            <a:avLst/>
          </a:prstGeom>
          <a:ln w="9525">
            <a:solidFill>
              <a:srgbClr val="D3D6DC"/>
            </a:solidFill>
          </a:ln>
        </p:spPr>
      </p:pic>
      <p:pic>
        <p:nvPicPr>
          <p:cNvPr id="113" name="Picture 10" descr="image.png"/>
          <p:cNvPicPr>
            <a:picLocks noChangeAspect="1"/>
          </p:cNvPicPr>
          <p:nvPr/>
        </p:nvPicPr>
        <p:blipFill>
          <a:blip r:embed="rId11"/>
          <a:stretch>
            <a:fillRect/>
          </a:stretch>
        </p:blipFill>
        <p:spPr>
          <a:xfrm>
            <a:off x="9089420" y="4886589"/>
            <a:ext cx="656827" cy="1135748"/>
          </a:xfrm>
          <a:prstGeom prst="rect">
            <a:avLst/>
          </a:prstGeom>
          <a:ln w="9525">
            <a:solidFill>
              <a:srgbClr val="D3D6DC"/>
            </a:solidFill>
          </a:ln>
        </p:spPr>
      </p:pic>
      <p:pic>
        <p:nvPicPr>
          <p:cNvPr id="114" name="Picture 11" descr="image.png"/>
          <p:cNvPicPr>
            <a:picLocks noChangeAspect="1"/>
          </p:cNvPicPr>
          <p:nvPr/>
        </p:nvPicPr>
        <p:blipFill>
          <a:blip r:embed="rId12"/>
          <a:stretch>
            <a:fillRect/>
          </a:stretch>
        </p:blipFill>
        <p:spPr>
          <a:xfrm>
            <a:off x="6978981" y="4886589"/>
            <a:ext cx="671476" cy="1147170"/>
          </a:xfrm>
          <a:prstGeom prst="rect">
            <a:avLst/>
          </a:prstGeom>
          <a:ln w="9525">
            <a:solidFill>
              <a:srgbClr val="D3D6DC"/>
            </a:solidFill>
          </a:ln>
        </p:spPr>
      </p:pic>
      <p:pic>
        <p:nvPicPr>
          <p:cNvPr id="115" name="Picture 12" descr="image.png"/>
          <p:cNvPicPr>
            <a:picLocks noChangeAspect="1"/>
          </p:cNvPicPr>
          <p:nvPr/>
        </p:nvPicPr>
        <p:blipFill>
          <a:blip r:embed="rId13"/>
          <a:stretch>
            <a:fillRect/>
          </a:stretch>
        </p:blipFill>
        <p:spPr>
          <a:xfrm>
            <a:off x="7710783" y="4886589"/>
            <a:ext cx="640314" cy="1086705"/>
          </a:xfrm>
          <a:prstGeom prst="rect">
            <a:avLst/>
          </a:prstGeom>
          <a:ln w="9525">
            <a:solidFill>
              <a:srgbClr val="D3D6DC"/>
            </a:solidFill>
          </a:ln>
        </p:spPr>
      </p:pic>
      <p:cxnSp>
        <p:nvCxnSpPr>
          <p:cNvPr id="116" name="Divider"/>
          <p:cNvCxnSpPr/>
          <p:nvPr/>
        </p:nvCxnSpPr>
        <p:spPr>
          <a:xfrm>
            <a:off x="822960" y="2194560"/>
            <a:ext cx="5120640" cy="0"/>
          </a:xfrm>
          <a:prstGeom prst="line">
            <a:avLst/>
          </a:prstGeom>
          <a:ln w="9525">
            <a:solidFill>
              <a:srgbClr val="E1E3E8"/>
            </a:solidFill>
          </a:ln>
        </p:spPr>
      </p:cxnSp>
      <p:sp>
        <p:nvSpPr>
          <p:cNvPr id="117" name="Robinhood"/>
          <p:cNvSpPr txBox="1"/>
          <p:nvPr/>
        </p:nvSpPr>
        <p:spPr>
          <a:xfrm>
            <a:off x="822960" y="2359152"/>
            <a:ext cx="5120640" cy="18288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Robinhood</a:t>
            </a:r>
          </a:p>
          <a:p>
            <a:pPr algn="l">
              <a:lnSpc>
                <a:spcPct val="125000"/>
              </a:lnSpc>
              <a:spcAft>
                <a:spcPts val="200"/>
              </a:spcAft>
            </a:pPr>
            <a:r>
              <a:rPr lang="en-US" sz="1550" spc="0" dirty="0">
                <a:solidFill>
                  <a:srgbClr val="565C6B"/>
                </a:solidFill>
                <a:latin typeface="Helvetica Neue Light"/>
                <a:cs typeface="Helvetica Neue Light"/>
              </a:rPr>
              <a:t>Whole and fractional shares in dollar amounts. A simple switch between shares and dollars, tickets with every detail, and instant trade notifications.</a:t>
            </a:r>
          </a:p>
        </p:txBody>
      </p:sp>
      <p:cxnSp>
        <p:nvCxnSpPr>
          <p:cNvPr id="118" name="Divider"/>
          <p:cNvCxnSpPr/>
          <p:nvPr/>
        </p:nvCxnSpPr>
        <p:spPr>
          <a:xfrm>
            <a:off x="822960" y="4160520"/>
            <a:ext cx="5120640" cy="0"/>
          </a:xfrm>
          <a:prstGeom prst="line">
            <a:avLst/>
          </a:prstGeom>
          <a:ln w="9525">
            <a:solidFill>
              <a:srgbClr val="E1E3E8"/>
            </a:solidFill>
          </a:ln>
        </p:spPr>
      </p:cxnSp>
      <p:sp>
        <p:nvSpPr>
          <p:cNvPr id="119" name="Charles Schwab"/>
          <p:cNvSpPr txBox="1"/>
          <p:nvPr/>
        </p:nvSpPr>
        <p:spPr>
          <a:xfrm>
            <a:off x="822960" y="4325112"/>
            <a:ext cx="5120640" cy="18288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Charles Schwab</a:t>
            </a:r>
          </a:p>
          <a:p>
            <a:pPr algn="l">
              <a:lnSpc>
                <a:spcPct val="125000"/>
              </a:lnSpc>
              <a:spcAft>
                <a:spcPts val="200"/>
              </a:spcAft>
            </a:pPr>
            <a:r>
              <a:rPr lang="en-US" sz="1550" spc="0" dirty="0">
                <a:solidFill>
                  <a:srgbClr val="565C6B"/>
                </a:solidFill>
                <a:latin typeface="Helvetica Neue Light"/>
                <a:cs typeface="Helvetica Neue Light"/>
              </a:rPr>
              <a:t>Fractional shares from $5 with Stock Slices. Clear, complete trade tickets and an intuitive design.</a:t>
            </a:r>
          </a:p>
        </p:txBody>
      </p:sp>
      <p:cxnSp>
        <p:nvCxnSpPr>
          <p:cNvPr id="120" name="Divider"/>
          <p:cNvCxnSpPr/>
          <p:nvPr/>
        </p:nvCxnSpPr>
        <p:spPr>
          <a:xfrm>
            <a:off x="822960" y="6126479"/>
            <a:ext cx="5120640" cy="0"/>
          </a:xfrm>
          <a:prstGeom prst="line">
            <a:avLst/>
          </a:prstGeom>
          <a:ln w="9525">
            <a:solidFill>
              <a:srgbClr val="E1E3E8"/>
            </a:solidFill>
          </a:ln>
        </p:spPr>
      </p:cxnSp>
      <p:sp>
        <p:nvSpPr>
          <p:cNvPr id="121" name="Fidelity"/>
          <p:cNvSpPr txBox="1"/>
          <p:nvPr/>
        </p:nvSpPr>
        <p:spPr>
          <a:xfrm>
            <a:off x="822960" y="6291071"/>
            <a:ext cx="5120640" cy="18288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Fidelity</a:t>
            </a:r>
          </a:p>
          <a:p>
            <a:pPr algn="l">
              <a:lnSpc>
                <a:spcPct val="125000"/>
              </a:lnSpc>
              <a:spcAft>
                <a:spcPts val="200"/>
              </a:spcAft>
            </a:pPr>
            <a:r>
              <a:rPr lang="en-US" sz="1550" spc="0" dirty="0">
                <a:solidFill>
                  <a:srgbClr val="565C6B"/>
                </a:solidFill>
                <a:latin typeface="Helvetica Neue Light"/>
                <a:cs typeface="Helvetica Neue Light"/>
              </a:rPr>
              <a:t>Shares or dollars, with fractional shares across stocks and ETFs. Detailed tickets with execution time, and easy navigation.</a:t>
            </a:r>
          </a:p>
        </p:txBody>
      </p:sp>
      <p:pic>
        <p:nvPicPr>
          <p:cNvPr id="122" name="gradient strip" descr="gradient strip"/>
          <p:cNvPicPr>
            <a:picLocks noChangeAspect="1"/>
          </p:cNvPicPr>
          <p:nvPr/>
        </p:nvPicPr>
        <p:blipFill>
          <a:blip r:embed="rId14"/>
          <a:stretch>
            <a:fillRect/>
          </a:stretch>
        </p:blipFill>
        <p:spPr>
          <a:xfrm>
            <a:off x="0" y="9285427"/>
            <a:ext cx="13004800" cy="468173"/>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Trade ticket design sprint: discovery</a:t>
            </a:r>
          </a:p>
        </p:txBody>
      </p:sp>
      <p:pic>
        <p:nvPicPr>
          <p:cNvPr id="103" name="Picture 2" descr="image.png"/>
          <p:cNvPicPr>
            <a:picLocks noChangeAspect="1"/>
          </p:cNvPicPr>
          <p:nvPr/>
        </p:nvPicPr>
        <p:blipFill>
          <a:blip r:embed="rId2"/>
          <a:stretch>
            <a:fillRect/>
          </a:stretch>
        </p:blipFill>
        <p:spPr>
          <a:xfrm>
            <a:off x="6502400" y="3078233"/>
            <a:ext cx="2647896" cy="5603690"/>
          </a:xfrm>
          <a:prstGeom prst="rect">
            <a:avLst/>
          </a:prstGeom>
          <a:ln w="9525">
            <a:solidFill>
              <a:srgbClr val="D3D6DC"/>
            </a:solidFill>
          </a:ln>
        </p:spPr>
      </p:pic>
      <p:pic>
        <p:nvPicPr>
          <p:cNvPr id="105" name="Picture 3" descr="image.png"/>
          <p:cNvPicPr>
            <a:picLocks noChangeAspect="1"/>
          </p:cNvPicPr>
          <p:nvPr/>
        </p:nvPicPr>
        <p:blipFill>
          <a:blip r:embed="rId3"/>
          <a:stretch>
            <a:fillRect/>
          </a:stretch>
        </p:blipFill>
        <p:spPr>
          <a:xfrm>
            <a:off x="9607496" y="3078233"/>
            <a:ext cx="2585393" cy="5603690"/>
          </a:xfrm>
          <a:prstGeom prst="rect">
            <a:avLst/>
          </a:prstGeom>
          <a:ln w="9525">
            <a:solidFill>
              <a:srgbClr val="D3D6DC"/>
            </a:solidFill>
          </a:ln>
        </p:spPr>
      </p:pic>
      <p:sp>
        <p:nvSpPr>
          <p:cNvPr id="106" name="Learned"/>
          <p:cNvSpPr txBox="1"/>
          <p:nvPr/>
        </p:nvSpPr>
        <p:spPr>
          <a:xfrm>
            <a:off x="822960" y="2194560"/>
            <a:ext cx="475488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FROM DISCOVERY AND DESIGN THINKING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Account switching would serve most experienced traders and 60% of novice users, and fit the new mobile-native navigation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Dark mode is important</a:t>
            </a:r>
          </a:p>
        </p:txBody>
      </p:sp>
      <p:pic>
        <p:nvPicPr>
          <p:cNvPr id="107"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First iteration: start from what they hold</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If a user holds the asset, they go straight into a ticket to buy or sell.</a:t>
            </a:r>
          </a:p>
        </p:txBody>
      </p:sp>
      <p:pic>
        <p:nvPicPr>
          <p:cNvPr id="104" name="Picture 2" descr="image.png"/>
          <p:cNvPicPr>
            <a:picLocks noChangeAspect="1"/>
          </p:cNvPicPr>
          <p:nvPr/>
        </p:nvPicPr>
        <p:blipFill>
          <a:blip r:embed="rId2"/>
          <a:stretch>
            <a:fillRect/>
          </a:stretch>
        </p:blipFill>
        <p:spPr>
          <a:xfrm>
            <a:off x="5852160" y="2974438"/>
            <a:ext cx="2536496" cy="4841043"/>
          </a:xfrm>
          <a:prstGeom prst="rect">
            <a:avLst/>
          </a:prstGeom>
          <a:ln w="9525">
            <a:solidFill>
              <a:srgbClr val="D3D6DC"/>
            </a:solidFill>
          </a:ln>
        </p:spPr>
      </p:pic>
      <p:pic>
        <p:nvPicPr>
          <p:cNvPr id="105" name="Picture 1" descr="image.png"/>
          <p:cNvPicPr>
            <a:picLocks noChangeAspect="1"/>
          </p:cNvPicPr>
          <p:nvPr/>
        </p:nvPicPr>
        <p:blipFill>
          <a:blip r:embed="rId3"/>
          <a:stretch>
            <a:fillRect/>
          </a:stretch>
        </p:blipFill>
        <p:spPr>
          <a:xfrm>
            <a:off x="8708696" y="2974438"/>
            <a:ext cx="3471111" cy="4841043"/>
          </a:xfrm>
          <a:prstGeom prst="rect">
            <a:avLst/>
          </a:prstGeom>
          <a:ln w="9525">
            <a:solidFill>
              <a:srgbClr val="D3D6DC"/>
            </a:solidFill>
          </a:ln>
        </p:spPr>
      </p:pic>
      <p:sp>
        <p:nvSpPr>
          <p:cNvPr id="106" name="Caption"/>
          <p:cNvSpPr txBox="1"/>
          <p:nvPr/>
        </p:nvSpPr>
        <p:spPr>
          <a:xfrm>
            <a:off x="5852160" y="2626966"/>
            <a:ext cx="274320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First iteration</a:t>
            </a:r>
          </a:p>
        </p:txBody>
      </p:sp>
      <p:sp>
        <p:nvSpPr>
          <p:cNvPr id="107" name="Learned"/>
          <p:cNvSpPr txBox="1"/>
          <p:nvPr/>
        </p:nvSpPr>
        <p:spPr>
          <a:xfrm>
            <a:off x="822960" y="2194560"/>
            <a:ext cx="457200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THE IDEA</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The asset is already held, so the user lands straight in the funnel</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One toggle switches between dollars and shares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predictive interface: only the choices that apply, never too many</a:t>
            </a:r>
          </a:p>
        </p:txBody>
      </p:sp>
      <p:pic>
        <p:nvPicPr>
          <p:cNvPr id="108"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Second and third iterations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A flexible ticket with detail on the stock and on the holding itself.</a:t>
            </a:r>
          </a:p>
        </p:txBody>
      </p:sp>
      <p:pic>
        <p:nvPicPr>
          <p:cNvPr id="104" name="Picture 2" descr="image.png"/>
          <p:cNvPicPr>
            <a:picLocks noChangeAspect="1"/>
          </p:cNvPicPr>
          <p:nvPr/>
        </p:nvPicPr>
        <p:blipFill>
          <a:blip r:embed="rId2"/>
          <a:stretch>
            <a:fillRect/>
          </a:stretch>
        </p:blipFill>
        <p:spPr>
          <a:xfrm>
            <a:off x="5933457" y="2468880"/>
            <a:ext cx="2817033" cy="5852160"/>
          </a:xfrm>
          <a:prstGeom prst="rect">
            <a:avLst/>
          </a:prstGeom>
          <a:ln w="9525">
            <a:solidFill>
              <a:srgbClr val="D3D6DC"/>
            </a:solidFill>
          </a:ln>
        </p:spPr>
      </p:pic>
      <p:pic>
        <p:nvPicPr>
          <p:cNvPr id="105" name="Picture 1" descr="image.png"/>
          <p:cNvPicPr>
            <a:picLocks noChangeAspect="1"/>
          </p:cNvPicPr>
          <p:nvPr/>
        </p:nvPicPr>
        <p:blipFill>
          <a:blip r:embed="rId3"/>
          <a:stretch>
            <a:fillRect/>
          </a:stretch>
        </p:blipFill>
        <p:spPr>
          <a:xfrm>
            <a:off x="9070531" y="2468880"/>
            <a:ext cx="3109276" cy="5852160"/>
          </a:xfrm>
          <a:prstGeom prst="rect">
            <a:avLst/>
          </a:prstGeom>
          <a:ln w="9525">
            <a:solidFill>
              <a:srgbClr val="D3D6DC"/>
            </a:solidFill>
          </a:ln>
        </p:spPr>
      </p:pic>
      <p:sp>
        <p:nvSpPr>
          <p:cNvPr id="106" name="Caption"/>
          <p:cNvSpPr txBox="1"/>
          <p:nvPr/>
        </p:nvSpPr>
        <p:spPr>
          <a:xfrm>
            <a:off x="5933457" y="2121408"/>
            <a:ext cx="274320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Second iteration</a:t>
            </a:r>
          </a:p>
        </p:txBody>
      </p:sp>
      <p:sp>
        <p:nvSpPr>
          <p:cNvPr id="107" name="Caption"/>
          <p:cNvSpPr txBox="1"/>
          <p:nvPr/>
        </p:nvSpPr>
        <p:spPr>
          <a:xfrm>
            <a:off x="9070531" y="2121408"/>
            <a:ext cx="274320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Third iteration</a:t>
            </a:r>
          </a:p>
        </p:txBody>
      </p:sp>
      <p:sp>
        <p:nvSpPr>
          <p:cNvPr id="108" name="Learned"/>
          <p:cNvSpPr txBox="1"/>
          <p:nvPr/>
        </p:nvSpPr>
        <p:spPr>
          <a:xfrm>
            <a:off x="822960" y="2194560"/>
            <a:ext cx="457200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IN TESTING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Education was a priority for all users, but shouldn’t distract or slow them down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Trading in quick amounts is good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Feedback on the share amount is valuable too</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custom keyboard was tried in several iterations, then replaced by the system keyboard</a:t>
            </a:r>
          </a:p>
        </p:txBody>
      </p:sp>
      <p:pic>
        <p:nvPicPr>
          <p:cNvPr id="109"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Testing two versions: list or tabs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Every order type stays available, whether trading by shares or dollars.</a:t>
            </a:r>
          </a:p>
        </p:txBody>
      </p:sp>
      <p:pic>
        <p:nvPicPr>
          <p:cNvPr id="104" name="Picture 3" descr="image.png"/>
          <p:cNvPicPr>
            <a:picLocks noChangeAspect="1"/>
          </p:cNvPicPr>
          <p:nvPr/>
        </p:nvPicPr>
        <p:blipFill>
          <a:blip r:embed="rId2"/>
          <a:stretch>
            <a:fillRect/>
          </a:stretch>
        </p:blipFill>
        <p:spPr>
          <a:xfrm>
            <a:off x="822960" y="4242201"/>
            <a:ext cx="2479078" cy="3951436"/>
          </a:xfrm>
          <a:prstGeom prst="rect">
            <a:avLst/>
          </a:prstGeom>
          <a:ln w="9525">
            <a:solidFill>
              <a:srgbClr val="D3D6DC"/>
            </a:solidFill>
          </a:ln>
        </p:spPr>
      </p:pic>
      <p:pic>
        <p:nvPicPr>
          <p:cNvPr id="105" name="Picture 1" descr="image.png"/>
          <p:cNvPicPr>
            <a:picLocks noChangeAspect="1"/>
          </p:cNvPicPr>
          <p:nvPr/>
        </p:nvPicPr>
        <p:blipFill>
          <a:blip r:embed="rId3"/>
          <a:stretch>
            <a:fillRect/>
          </a:stretch>
        </p:blipFill>
        <p:spPr>
          <a:xfrm>
            <a:off x="3622078" y="4242201"/>
            <a:ext cx="1975718" cy="3951436"/>
          </a:xfrm>
          <a:prstGeom prst="rect">
            <a:avLst/>
          </a:prstGeom>
          <a:ln w="9525">
            <a:solidFill>
              <a:srgbClr val="D3D6DC"/>
            </a:solidFill>
          </a:ln>
        </p:spPr>
      </p:pic>
      <p:pic>
        <p:nvPicPr>
          <p:cNvPr id="106" name="Picture 2" descr="image.png"/>
          <p:cNvPicPr>
            <a:picLocks noChangeAspect="1"/>
          </p:cNvPicPr>
          <p:nvPr/>
        </p:nvPicPr>
        <p:blipFill>
          <a:blip r:embed="rId4"/>
          <a:stretch>
            <a:fillRect/>
          </a:stretch>
        </p:blipFill>
        <p:spPr>
          <a:xfrm>
            <a:off x="5917836" y="4242201"/>
            <a:ext cx="1975717" cy="3951436"/>
          </a:xfrm>
          <a:prstGeom prst="rect">
            <a:avLst/>
          </a:prstGeom>
          <a:ln w="9525">
            <a:solidFill>
              <a:srgbClr val="D3D6DC"/>
            </a:solidFill>
          </a:ln>
        </p:spPr>
      </p:pic>
      <p:pic>
        <p:nvPicPr>
          <p:cNvPr id="107" name="Picture 4" descr="image.png"/>
          <p:cNvPicPr>
            <a:picLocks noChangeAspect="1"/>
          </p:cNvPicPr>
          <p:nvPr/>
        </p:nvPicPr>
        <p:blipFill>
          <a:blip r:embed="rId5"/>
          <a:stretch>
            <a:fillRect/>
          </a:stretch>
        </p:blipFill>
        <p:spPr>
          <a:xfrm>
            <a:off x="8213594" y="4242201"/>
            <a:ext cx="1823086" cy="3951436"/>
          </a:xfrm>
          <a:prstGeom prst="rect">
            <a:avLst/>
          </a:prstGeom>
          <a:ln w="9525">
            <a:solidFill>
              <a:srgbClr val="D3D6DC"/>
            </a:solidFill>
          </a:ln>
        </p:spPr>
      </p:pic>
      <p:pic>
        <p:nvPicPr>
          <p:cNvPr id="108" name="Picture 5" descr="image.png"/>
          <p:cNvPicPr>
            <a:picLocks noChangeAspect="1"/>
          </p:cNvPicPr>
          <p:nvPr/>
        </p:nvPicPr>
        <p:blipFill>
          <a:blip r:embed="rId6"/>
          <a:stretch>
            <a:fillRect/>
          </a:stretch>
        </p:blipFill>
        <p:spPr>
          <a:xfrm>
            <a:off x="10356721" y="4242201"/>
            <a:ext cx="1823086" cy="3951436"/>
          </a:xfrm>
          <a:prstGeom prst="rect">
            <a:avLst/>
          </a:prstGeom>
          <a:ln w="9525">
            <a:solidFill>
              <a:srgbClr val="D3D6DC"/>
            </a:solidFill>
          </a:ln>
        </p:spPr>
      </p:pic>
      <p:sp>
        <p:nvSpPr>
          <p:cNvPr id="109" name="Caption"/>
          <p:cNvSpPr txBox="1"/>
          <p:nvPr/>
        </p:nvSpPr>
        <p:spPr>
          <a:xfrm>
            <a:off x="822960" y="3894729"/>
            <a:ext cx="274320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Test version 1</a:t>
            </a:r>
          </a:p>
        </p:txBody>
      </p:sp>
      <p:sp>
        <p:nvSpPr>
          <p:cNvPr id="110" name="Learned"/>
          <p:cNvSpPr txBox="1"/>
          <p:nvPr/>
        </p:nvSpPr>
        <p:spPr>
          <a:xfrm>
            <a:off x="822960" y="2194560"/>
            <a:ext cx="438912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IN TESTING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People preferred the list view to tabs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The icon next to “Action” scored high</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Quantity and order sheets that appear only when needed made sense to many</a:t>
            </a:r>
          </a:p>
        </p:txBody>
      </p:sp>
      <p:pic>
        <p:nvPicPr>
          <p:cNvPr id="111" name="gradient strip" descr="gradient strip"/>
          <p:cNvPicPr>
            <a:picLocks noChangeAspect="1"/>
          </p:cNvPicPr>
          <p:nvPr/>
        </p:nvPicPr>
        <p:blipFill>
          <a:blip r:embed="rId7"/>
          <a:stretch>
            <a:fillRect/>
          </a:stretch>
        </p:blipFill>
        <p:spPr>
          <a:xfrm>
            <a:off x="0" y="9285427"/>
            <a:ext cx="13004800" cy="468173"/>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Final delivered solution</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Every field stays editable if the user needs to change the order.</a:t>
            </a:r>
          </a:p>
        </p:txBody>
      </p:sp>
      <p:pic>
        <p:nvPicPr>
          <p:cNvPr id="104" name="Picture 1" descr="image.png"/>
          <p:cNvPicPr>
            <a:picLocks noChangeAspect="1"/>
          </p:cNvPicPr>
          <p:nvPr/>
        </p:nvPicPr>
        <p:blipFill>
          <a:blip r:embed="rId2"/>
          <a:stretch>
            <a:fillRect/>
          </a:stretch>
        </p:blipFill>
        <p:spPr>
          <a:xfrm>
            <a:off x="6370446" y="2377440"/>
            <a:ext cx="2747102" cy="5943600"/>
          </a:xfrm>
          <a:prstGeom prst="rect">
            <a:avLst/>
          </a:prstGeom>
          <a:ln w="9525">
            <a:solidFill>
              <a:srgbClr val="D3D6DC"/>
            </a:solidFill>
          </a:ln>
        </p:spPr>
      </p:pic>
      <p:pic>
        <p:nvPicPr>
          <p:cNvPr id="105" name="Picture 2" descr="image.png"/>
          <p:cNvPicPr>
            <a:picLocks noChangeAspect="1"/>
          </p:cNvPicPr>
          <p:nvPr/>
        </p:nvPicPr>
        <p:blipFill>
          <a:blip r:embed="rId3"/>
          <a:stretch>
            <a:fillRect/>
          </a:stretch>
        </p:blipFill>
        <p:spPr>
          <a:xfrm>
            <a:off x="9437589" y="2377440"/>
            <a:ext cx="2742218" cy="5943600"/>
          </a:xfrm>
          <a:prstGeom prst="rect">
            <a:avLst/>
          </a:prstGeom>
          <a:ln w="9525">
            <a:solidFill>
              <a:srgbClr val="D3D6DC"/>
            </a:solidFill>
          </a:ln>
        </p:spPr>
      </p:pic>
      <p:sp>
        <p:nvSpPr>
          <p:cNvPr id="106" name="Caption"/>
          <p:cNvSpPr txBox="1"/>
          <p:nvPr/>
        </p:nvSpPr>
        <p:spPr>
          <a:xfrm>
            <a:off x="6370446" y="2029968"/>
            <a:ext cx="274320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Final delivered solution</a:t>
            </a:r>
          </a:p>
        </p:txBody>
      </p:sp>
      <p:sp>
        <p:nvSpPr>
          <p:cNvPr id="107" name="Learned"/>
          <p:cNvSpPr txBox="1"/>
          <p:nvPr/>
        </p:nvSpPr>
        <p:spPr>
          <a:xfrm>
            <a:off x="822960" y="2194560"/>
            <a:ext cx="448056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IN TESTING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Order types vary</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Color and status changes show where an order is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Seeing the status right away is vital</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cleaner interface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Quick transactions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Watchlist alerts you can act on</a:t>
            </a:r>
          </a:p>
        </p:txBody>
      </p:sp>
      <p:pic>
        <p:nvPicPr>
          <p:cNvPr id="108"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DELIVERY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One buy order, on the phone</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Account, stock, Buy, a dollar amount on the keypad, order type, review in shares, submit, executed.</a:t>
            </a:r>
          </a:p>
        </p:txBody>
      </p:sp>
      <p:pic>
        <p:nvPicPr>
          <p:cNvPr id="104" name="Hi-fi screen"/>
          <p:cNvPicPr>
            <a:picLocks noChangeAspect="1"/>
          </p:cNvPicPr>
          <p:nvPr/>
        </p:nvPicPr>
        <p:blipFill>
          <a:blip r:embed="rId2"/>
          <a:srcRect b="22747"/>
          <a:stretch>
            <a:fillRect/>
          </a:stretch>
        </p:blipFill>
        <p:spPr>
          <a:xfrm>
            <a:off x="822960" y="2240280"/>
            <a:ext cx="1275842" cy="2136293"/>
          </a:xfrm>
          <a:prstGeom prst="rect">
            <a:avLst/>
          </a:prstGeom>
          <a:ln w="9525">
            <a:solidFill>
              <a:srgbClr val="D3D6DC"/>
            </a:solidFill>
          </a:ln>
        </p:spPr>
      </p:pic>
      <p:sp>
        <p:nvSpPr>
          <p:cNvPr id="105" name="Cap 1"/>
          <p:cNvSpPr txBox="1"/>
          <p:nvPr/>
        </p:nvSpPr>
        <p:spPr>
          <a:xfrm>
            <a:off x="822960"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01  </a:t>
            </a:r>
            <a:r>
              <a:rPr lang="en-US" sz="1050" spc="0" dirty="0">
                <a:solidFill>
                  <a:srgbClr val="14161D"/>
                </a:solidFill>
                <a:latin typeface="Helvetica Neue Medium"/>
                <a:cs typeface="Helvetica Neue Medium"/>
              </a:rPr>
              <a:t>Accounts home</a:t>
            </a:r>
          </a:p>
          <a:p>
            <a:pPr algn="l">
              <a:lnSpc>
                <a:spcPct val="100000"/>
              </a:lnSpc>
              <a:spcAft>
                <a:spcPts val="0"/>
              </a:spcAft>
            </a:pPr>
            <a:r>
              <a:rPr lang="en-US" sz="950" spc="0" dirty="0">
                <a:solidFill>
                  <a:srgbClr val="858A97"/>
                </a:solidFill>
                <a:latin typeface="Helvetica Neue Light"/>
                <a:cs typeface="Helvetica Neue Light"/>
              </a:rPr>
              <a:t>Pick</a:t>
            </a:r>
          </a:p>
        </p:txBody>
      </p:sp>
      <p:pic>
        <p:nvPicPr>
          <p:cNvPr id="106" name="Hi-fi screen"/>
          <p:cNvPicPr>
            <a:picLocks noChangeAspect="1"/>
          </p:cNvPicPr>
          <p:nvPr/>
        </p:nvPicPr>
        <p:blipFill>
          <a:blip r:embed="rId3"/>
          <a:srcRect b="22747"/>
          <a:stretch>
            <a:fillRect/>
          </a:stretch>
        </p:blipFill>
        <p:spPr>
          <a:xfrm>
            <a:off x="2263394" y="2240280"/>
            <a:ext cx="1275842" cy="2136293"/>
          </a:xfrm>
          <a:prstGeom prst="rect">
            <a:avLst/>
          </a:prstGeom>
          <a:ln w="9525">
            <a:solidFill>
              <a:srgbClr val="D3D6DC"/>
            </a:solidFill>
          </a:ln>
        </p:spPr>
      </p:pic>
      <p:sp>
        <p:nvSpPr>
          <p:cNvPr id="107" name="Cap 2"/>
          <p:cNvSpPr txBox="1"/>
          <p:nvPr/>
        </p:nvSpPr>
        <p:spPr>
          <a:xfrm>
            <a:off x="2263394"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02  </a:t>
            </a:r>
            <a:r>
              <a:rPr lang="en-US" sz="1050" spc="0" dirty="0">
                <a:solidFill>
                  <a:srgbClr val="14161D"/>
                </a:solidFill>
                <a:latin typeface="Helvetica Neue Medium"/>
                <a:cs typeface="Helvetica Neue Medium"/>
              </a:rPr>
              <a:t>The ticket</a:t>
            </a:r>
          </a:p>
          <a:p>
            <a:pPr algn="l">
              <a:lnSpc>
                <a:spcPct val="100000"/>
              </a:lnSpc>
              <a:spcAft>
                <a:spcPts val="0"/>
              </a:spcAft>
            </a:pPr>
            <a:r>
              <a:rPr lang="en-US" sz="950" spc="0" dirty="0">
                <a:solidFill>
                  <a:srgbClr val="858A97"/>
                </a:solidFill>
                <a:latin typeface="Helvetica Neue Light"/>
                <a:cs typeface="Helvetica Neue Light"/>
              </a:rPr>
              <a:t>Pick</a:t>
            </a:r>
          </a:p>
        </p:txBody>
      </p:sp>
      <p:pic>
        <p:nvPicPr>
          <p:cNvPr id="108" name="Hi-fi screen"/>
          <p:cNvPicPr>
            <a:picLocks noChangeAspect="1"/>
          </p:cNvPicPr>
          <p:nvPr/>
        </p:nvPicPr>
        <p:blipFill>
          <a:blip r:embed="rId4"/>
          <a:srcRect b="22747"/>
          <a:stretch>
            <a:fillRect/>
          </a:stretch>
        </p:blipFill>
        <p:spPr>
          <a:xfrm>
            <a:off x="3703828" y="2240280"/>
            <a:ext cx="1275842" cy="2136293"/>
          </a:xfrm>
          <a:prstGeom prst="rect">
            <a:avLst/>
          </a:prstGeom>
          <a:ln w="9525">
            <a:solidFill>
              <a:srgbClr val="D3D6DC"/>
            </a:solidFill>
          </a:ln>
        </p:spPr>
      </p:pic>
      <p:sp>
        <p:nvSpPr>
          <p:cNvPr id="109" name="Cap 3"/>
          <p:cNvSpPr txBox="1"/>
          <p:nvPr/>
        </p:nvSpPr>
        <p:spPr>
          <a:xfrm>
            <a:off x="3703828"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03  </a:t>
            </a:r>
            <a:r>
              <a:rPr lang="en-US" sz="1050" spc="0" dirty="0">
                <a:solidFill>
                  <a:srgbClr val="14161D"/>
                </a:solidFill>
                <a:latin typeface="Helvetica Neue Medium"/>
                <a:cs typeface="Helvetica Neue Medium"/>
              </a:rPr>
              <a:t>Account menu</a:t>
            </a:r>
          </a:p>
          <a:p>
            <a:pPr algn="l">
              <a:lnSpc>
                <a:spcPct val="100000"/>
              </a:lnSpc>
              <a:spcAft>
                <a:spcPts val="0"/>
              </a:spcAft>
            </a:pPr>
            <a:r>
              <a:rPr lang="en-US" sz="950" spc="0" dirty="0">
                <a:solidFill>
                  <a:srgbClr val="858A97"/>
                </a:solidFill>
                <a:latin typeface="Helvetica Neue Light"/>
                <a:cs typeface="Helvetica Neue Light"/>
              </a:rPr>
              <a:t>Pick</a:t>
            </a:r>
          </a:p>
        </p:txBody>
      </p:sp>
      <p:pic>
        <p:nvPicPr>
          <p:cNvPr id="110" name="Hi-fi screen"/>
          <p:cNvPicPr>
            <a:picLocks noChangeAspect="1"/>
          </p:cNvPicPr>
          <p:nvPr/>
        </p:nvPicPr>
        <p:blipFill>
          <a:blip r:embed="rId5"/>
          <a:srcRect b="22747"/>
          <a:stretch>
            <a:fillRect/>
          </a:stretch>
        </p:blipFill>
        <p:spPr>
          <a:xfrm>
            <a:off x="5144262" y="2240280"/>
            <a:ext cx="1275842" cy="2136293"/>
          </a:xfrm>
          <a:prstGeom prst="rect">
            <a:avLst/>
          </a:prstGeom>
          <a:ln w="9525">
            <a:solidFill>
              <a:srgbClr val="D3D6DC"/>
            </a:solidFill>
          </a:ln>
        </p:spPr>
      </p:pic>
      <p:sp>
        <p:nvSpPr>
          <p:cNvPr id="111" name="Cap 4"/>
          <p:cNvSpPr txBox="1"/>
          <p:nvPr/>
        </p:nvSpPr>
        <p:spPr>
          <a:xfrm>
            <a:off x="5144262"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04  </a:t>
            </a:r>
            <a:r>
              <a:rPr lang="en-US" sz="1050" spc="0" dirty="0">
                <a:solidFill>
                  <a:srgbClr val="14161D"/>
                </a:solidFill>
                <a:latin typeface="Helvetica Neue Medium"/>
                <a:cs typeface="Helvetica Neue Medium"/>
              </a:rPr>
              <a:t>Account 3</a:t>
            </a:r>
          </a:p>
          <a:p>
            <a:pPr algn="l">
              <a:lnSpc>
                <a:spcPct val="100000"/>
              </a:lnSpc>
              <a:spcAft>
                <a:spcPts val="0"/>
              </a:spcAft>
            </a:pPr>
            <a:r>
              <a:rPr lang="en-US" sz="950" spc="0" dirty="0">
                <a:solidFill>
                  <a:srgbClr val="858A97"/>
                </a:solidFill>
                <a:latin typeface="Helvetica Neue Light"/>
                <a:cs typeface="Helvetica Neue Light"/>
              </a:rPr>
              <a:t>Pick</a:t>
            </a:r>
          </a:p>
        </p:txBody>
      </p:sp>
      <p:pic>
        <p:nvPicPr>
          <p:cNvPr id="112" name="Hi-fi screen"/>
          <p:cNvPicPr>
            <a:picLocks noChangeAspect="1"/>
          </p:cNvPicPr>
          <p:nvPr/>
        </p:nvPicPr>
        <p:blipFill>
          <a:blip r:embed="rId6"/>
          <a:srcRect b="22747"/>
          <a:stretch>
            <a:fillRect/>
          </a:stretch>
        </p:blipFill>
        <p:spPr>
          <a:xfrm>
            <a:off x="6584696" y="2240280"/>
            <a:ext cx="1275842" cy="2136293"/>
          </a:xfrm>
          <a:prstGeom prst="rect">
            <a:avLst/>
          </a:prstGeom>
          <a:ln w="9525">
            <a:solidFill>
              <a:srgbClr val="D3D6DC"/>
            </a:solidFill>
          </a:ln>
        </p:spPr>
      </p:pic>
      <p:sp>
        <p:nvSpPr>
          <p:cNvPr id="113" name="Cap 5"/>
          <p:cNvSpPr txBox="1"/>
          <p:nvPr/>
        </p:nvSpPr>
        <p:spPr>
          <a:xfrm>
            <a:off x="6584696"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05  </a:t>
            </a:r>
            <a:r>
              <a:rPr lang="en-US" sz="1050" spc="0" dirty="0">
                <a:solidFill>
                  <a:srgbClr val="14161D"/>
                </a:solidFill>
                <a:latin typeface="Helvetica Neue Medium"/>
                <a:cs typeface="Helvetica Neue Medium"/>
              </a:rPr>
              <a:t>Search</a:t>
            </a:r>
          </a:p>
          <a:p>
            <a:pPr algn="l">
              <a:lnSpc>
                <a:spcPct val="100000"/>
              </a:lnSpc>
              <a:spcAft>
                <a:spcPts val="0"/>
              </a:spcAft>
            </a:pPr>
            <a:r>
              <a:rPr lang="en-US" sz="950" spc="0" dirty="0">
                <a:solidFill>
                  <a:srgbClr val="858A97"/>
                </a:solidFill>
                <a:latin typeface="Helvetica Neue Light"/>
                <a:cs typeface="Helvetica Neue Light"/>
              </a:rPr>
              <a:t>Pick</a:t>
            </a:r>
          </a:p>
        </p:txBody>
      </p:sp>
      <p:pic>
        <p:nvPicPr>
          <p:cNvPr id="114" name="Hi-fi screen"/>
          <p:cNvPicPr>
            <a:picLocks noChangeAspect="1"/>
          </p:cNvPicPr>
          <p:nvPr/>
        </p:nvPicPr>
        <p:blipFill>
          <a:blip r:embed="rId7"/>
          <a:srcRect b="22747"/>
          <a:stretch>
            <a:fillRect/>
          </a:stretch>
        </p:blipFill>
        <p:spPr>
          <a:xfrm>
            <a:off x="8025130" y="2240280"/>
            <a:ext cx="1275842" cy="2136293"/>
          </a:xfrm>
          <a:prstGeom prst="rect">
            <a:avLst/>
          </a:prstGeom>
          <a:ln w="9525">
            <a:solidFill>
              <a:srgbClr val="D3D6DC"/>
            </a:solidFill>
          </a:ln>
        </p:spPr>
      </p:pic>
      <p:sp>
        <p:nvSpPr>
          <p:cNvPr id="115" name="Cap 6"/>
          <p:cNvSpPr txBox="1"/>
          <p:nvPr/>
        </p:nvSpPr>
        <p:spPr>
          <a:xfrm>
            <a:off x="8025130"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06  </a:t>
            </a:r>
            <a:r>
              <a:rPr lang="en-US" sz="1050" spc="0" dirty="0">
                <a:solidFill>
                  <a:srgbClr val="14161D"/>
                </a:solidFill>
                <a:latin typeface="Helvetica Neue Medium"/>
                <a:cs typeface="Helvetica Neue Medium"/>
              </a:rPr>
              <a:t>AAPL</a:t>
            </a:r>
          </a:p>
          <a:p>
            <a:pPr algn="l">
              <a:lnSpc>
                <a:spcPct val="100000"/>
              </a:lnSpc>
              <a:spcAft>
                <a:spcPts val="0"/>
              </a:spcAft>
            </a:pPr>
            <a:r>
              <a:rPr lang="en-US" sz="950" spc="0" dirty="0">
                <a:solidFill>
                  <a:srgbClr val="858A97"/>
                </a:solidFill>
                <a:latin typeface="Helvetica Neue Light"/>
                <a:cs typeface="Helvetica Neue Light"/>
              </a:rPr>
              <a:t>Pick</a:t>
            </a:r>
          </a:p>
        </p:txBody>
      </p:sp>
      <p:pic>
        <p:nvPicPr>
          <p:cNvPr id="116" name="Hi-fi screen"/>
          <p:cNvPicPr>
            <a:picLocks noChangeAspect="1"/>
          </p:cNvPicPr>
          <p:nvPr/>
        </p:nvPicPr>
        <p:blipFill>
          <a:blip r:embed="rId8"/>
          <a:srcRect b="22747"/>
          <a:stretch>
            <a:fillRect/>
          </a:stretch>
        </p:blipFill>
        <p:spPr>
          <a:xfrm>
            <a:off x="9465564" y="2240280"/>
            <a:ext cx="1275842" cy="2136293"/>
          </a:xfrm>
          <a:prstGeom prst="rect">
            <a:avLst/>
          </a:prstGeom>
          <a:ln w="9525">
            <a:solidFill>
              <a:srgbClr val="D3D6DC"/>
            </a:solidFill>
          </a:ln>
        </p:spPr>
      </p:pic>
      <p:sp>
        <p:nvSpPr>
          <p:cNvPr id="117" name="Cap 7"/>
          <p:cNvSpPr txBox="1"/>
          <p:nvPr/>
        </p:nvSpPr>
        <p:spPr>
          <a:xfrm>
            <a:off x="9465564"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07  </a:t>
            </a:r>
            <a:r>
              <a:rPr lang="en-US" sz="1050" spc="0" dirty="0">
                <a:solidFill>
                  <a:srgbClr val="14161D"/>
                </a:solidFill>
                <a:latin typeface="Helvetica Neue Medium"/>
                <a:cs typeface="Helvetica Neue Medium"/>
              </a:rPr>
              <a:t>Position, then Buy</a:t>
            </a:r>
          </a:p>
          <a:p>
            <a:pPr algn="l">
              <a:lnSpc>
                <a:spcPct val="100000"/>
              </a:lnSpc>
              <a:spcAft>
                <a:spcPts val="0"/>
              </a:spcAft>
            </a:pPr>
            <a:r>
              <a:rPr lang="en-US" sz="950" spc="0" dirty="0">
                <a:solidFill>
                  <a:srgbClr val="858A97"/>
                </a:solidFill>
                <a:latin typeface="Helvetica Neue Light"/>
                <a:cs typeface="Helvetica Neue Light"/>
              </a:rPr>
              <a:t>Build</a:t>
            </a:r>
          </a:p>
        </p:txBody>
      </p:sp>
      <p:pic>
        <p:nvPicPr>
          <p:cNvPr id="118" name="Hi-fi screen"/>
          <p:cNvPicPr>
            <a:picLocks noChangeAspect="1"/>
          </p:cNvPicPr>
          <p:nvPr/>
        </p:nvPicPr>
        <p:blipFill>
          <a:blip r:embed="rId9"/>
          <a:srcRect b="22747"/>
          <a:stretch>
            <a:fillRect/>
          </a:stretch>
        </p:blipFill>
        <p:spPr>
          <a:xfrm>
            <a:off x="10905998" y="2240280"/>
            <a:ext cx="1275842" cy="2136293"/>
          </a:xfrm>
          <a:prstGeom prst="rect">
            <a:avLst/>
          </a:prstGeom>
          <a:ln w="9525">
            <a:solidFill>
              <a:srgbClr val="D3D6DC"/>
            </a:solidFill>
          </a:ln>
        </p:spPr>
      </p:pic>
      <p:sp>
        <p:nvSpPr>
          <p:cNvPr id="119" name="Cap 8"/>
          <p:cNvSpPr txBox="1"/>
          <p:nvPr/>
        </p:nvSpPr>
        <p:spPr>
          <a:xfrm>
            <a:off x="10905998"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08  </a:t>
            </a:r>
            <a:r>
              <a:rPr lang="en-US" sz="1050" spc="0" dirty="0">
                <a:solidFill>
                  <a:srgbClr val="14161D"/>
                </a:solidFill>
                <a:latin typeface="Helvetica Neue Medium"/>
                <a:cs typeface="Helvetica Neue Medium"/>
              </a:rPr>
              <a:t>Keypad</a:t>
            </a:r>
          </a:p>
          <a:p>
            <a:pPr algn="l">
              <a:lnSpc>
                <a:spcPct val="100000"/>
              </a:lnSpc>
              <a:spcAft>
                <a:spcPts val="0"/>
              </a:spcAft>
            </a:pPr>
            <a:r>
              <a:rPr lang="en-US" sz="950" spc="0" dirty="0">
                <a:solidFill>
                  <a:srgbClr val="858A97"/>
                </a:solidFill>
                <a:latin typeface="Helvetica Neue Light"/>
                <a:cs typeface="Helvetica Neue Light"/>
              </a:rPr>
              <a:t>Build</a:t>
            </a:r>
          </a:p>
        </p:txBody>
      </p:sp>
      <p:pic>
        <p:nvPicPr>
          <p:cNvPr id="120" name="Hi-fi screen"/>
          <p:cNvPicPr>
            <a:picLocks noChangeAspect="1"/>
          </p:cNvPicPr>
          <p:nvPr/>
        </p:nvPicPr>
        <p:blipFill>
          <a:blip r:embed="rId10"/>
          <a:srcRect b="22747"/>
          <a:stretch>
            <a:fillRect/>
          </a:stretch>
        </p:blipFill>
        <p:spPr>
          <a:xfrm>
            <a:off x="822960" y="4943501"/>
            <a:ext cx="1275842" cy="2136293"/>
          </a:xfrm>
          <a:prstGeom prst="rect">
            <a:avLst/>
          </a:prstGeom>
          <a:ln w="9525">
            <a:solidFill>
              <a:srgbClr val="D3D6DC"/>
            </a:solidFill>
          </a:ln>
        </p:spPr>
      </p:pic>
      <p:sp>
        <p:nvSpPr>
          <p:cNvPr id="121" name="Cap 9"/>
          <p:cNvSpPr txBox="1"/>
          <p:nvPr/>
        </p:nvSpPr>
        <p:spPr>
          <a:xfrm>
            <a:off x="822960" y="7134659"/>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09  </a:t>
            </a:r>
            <a:r>
              <a:rPr lang="en-US" sz="1050" spc="0" dirty="0">
                <a:solidFill>
                  <a:srgbClr val="14161D"/>
                </a:solidFill>
                <a:latin typeface="Helvetica Neue Medium"/>
                <a:cs typeface="Helvetica Neue Medium"/>
              </a:rPr>
              <a:t>Dollar amount</a:t>
            </a:r>
          </a:p>
          <a:p>
            <a:pPr algn="l">
              <a:lnSpc>
                <a:spcPct val="100000"/>
              </a:lnSpc>
              <a:spcAft>
                <a:spcPts val="0"/>
              </a:spcAft>
            </a:pPr>
            <a:r>
              <a:rPr lang="en-US" sz="950" spc="0" dirty="0">
                <a:solidFill>
                  <a:srgbClr val="858A97"/>
                </a:solidFill>
                <a:latin typeface="Helvetica Neue Light"/>
                <a:cs typeface="Helvetica Neue Light"/>
              </a:rPr>
              <a:t>Build</a:t>
            </a:r>
          </a:p>
        </p:txBody>
      </p:sp>
      <p:pic>
        <p:nvPicPr>
          <p:cNvPr id="122" name="Hi-fi screen"/>
          <p:cNvPicPr>
            <a:picLocks noChangeAspect="1"/>
          </p:cNvPicPr>
          <p:nvPr/>
        </p:nvPicPr>
        <p:blipFill>
          <a:blip r:embed="rId11"/>
          <a:srcRect b="22747"/>
          <a:stretch>
            <a:fillRect/>
          </a:stretch>
        </p:blipFill>
        <p:spPr>
          <a:xfrm>
            <a:off x="2263394" y="4943501"/>
            <a:ext cx="1275842" cy="2136293"/>
          </a:xfrm>
          <a:prstGeom prst="rect">
            <a:avLst/>
          </a:prstGeom>
          <a:ln w="9525">
            <a:solidFill>
              <a:srgbClr val="D3D6DC"/>
            </a:solidFill>
          </a:ln>
        </p:spPr>
      </p:pic>
      <p:sp>
        <p:nvSpPr>
          <p:cNvPr id="123" name="Cap 10"/>
          <p:cNvSpPr txBox="1"/>
          <p:nvPr/>
        </p:nvSpPr>
        <p:spPr>
          <a:xfrm>
            <a:off x="2263394" y="7134659"/>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10  </a:t>
            </a:r>
            <a:r>
              <a:rPr lang="en-US" sz="1050" spc="0" dirty="0">
                <a:solidFill>
                  <a:srgbClr val="14161D"/>
                </a:solidFill>
                <a:latin typeface="Helvetica Neue Medium"/>
                <a:cs typeface="Helvetica Neue Medium"/>
              </a:rPr>
              <a:t>Order type</a:t>
            </a:r>
          </a:p>
          <a:p>
            <a:pPr algn="l">
              <a:lnSpc>
                <a:spcPct val="100000"/>
              </a:lnSpc>
              <a:spcAft>
                <a:spcPts val="0"/>
              </a:spcAft>
            </a:pPr>
            <a:r>
              <a:rPr lang="en-US" sz="950" spc="0" dirty="0">
                <a:solidFill>
                  <a:srgbClr val="858A97"/>
                </a:solidFill>
                <a:latin typeface="Helvetica Neue Light"/>
                <a:cs typeface="Helvetica Neue Light"/>
              </a:rPr>
              <a:t>Build</a:t>
            </a:r>
          </a:p>
        </p:txBody>
      </p:sp>
      <p:pic>
        <p:nvPicPr>
          <p:cNvPr id="124" name="Hi-fi screen"/>
          <p:cNvPicPr>
            <a:picLocks noChangeAspect="1"/>
          </p:cNvPicPr>
          <p:nvPr/>
        </p:nvPicPr>
        <p:blipFill>
          <a:blip r:embed="rId12"/>
          <a:srcRect b="22747"/>
          <a:stretch>
            <a:fillRect/>
          </a:stretch>
        </p:blipFill>
        <p:spPr>
          <a:xfrm>
            <a:off x="3703828" y="4943501"/>
            <a:ext cx="1275842" cy="2136293"/>
          </a:xfrm>
          <a:prstGeom prst="rect">
            <a:avLst/>
          </a:prstGeom>
          <a:ln w="9525">
            <a:solidFill>
              <a:srgbClr val="D3D6DC"/>
            </a:solidFill>
          </a:ln>
        </p:spPr>
      </p:pic>
      <p:sp>
        <p:nvSpPr>
          <p:cNvPr id="125" name="Cap 11"/>
          <p:cNvSpPr txBox="1"/>
          <p:nvPr/>
        </p:nvSpPr>
        <p:spPr>
          <a:xfrm>
            <a:off x="3703828" y="7134659"/>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11  </a:t>
            </a:r>
            <a:r>
              <a:rPr lang="en-US" sz="1050" spc="0" dirty="0">
                <a:solidFill>
                  <a:srgbClr val="14161D"/>
                </a:solidFill>
                <a:latin typeface="Helvetica Neue Medium"/>
                <a:cs typeface="Helvetica Neue Medium"/>
              </a:rPr>
              <a:t>Review Order</a:t>
            </a:r>
          </a:p>
          <a:p>
            <a:pPr algn="l">
              <a:lnSpc>
                <a:spcPct val="100000"/>
              </a:lnSpc>
              <a:spcAft>
                <a:spcPts val="0"/>
              </a:spcAft>
            </a:pPr>
            <a:r>
              <a:rPr lang="en-US" sz="950" spc="0" dirty="0">
                <a:solidFill>
                  <a:srgbClr val="858A97"/>
                </a:solidFill>
                <a:latin typeface="Helvetica Neue Light"/>
                <a:cs typeface="Helvetica Neue Light"/>
              </a:rPr>
              <a:t>Review</a:t>
            </a:r>
          </a:p>
        </p:txBody>
      </p:sp>
      <p:pic>
        <p:nvPicPr>
          <p:cNvPr id="126" name="Hi-fi screen"/>
          <p:cNvPicPr>
            <a:picLocks noChangeAspect="1"/>
          </p:cNvPicPr>
          <p:nvPr/>
        </p:nvPicPr>
        <p:blipFill>
          <a:blip r:embed="rId13"/>
          <a:srcRect b="22747"/>
          <a:stretch>
            <a:fillRect/>
          </a:stretch>
        </p:blipFill>
        <p:spPr>
          <a:xfrm>
            <a:off x="5144262" y="4943501"/>
            <a:ext cx="1275842" cy="2136293"/>
          </a:xfrm>
          <a:prstGeom prst="rect">
            <a:avLst/>
          </a:prstGeom>
          <a:ln w="9525">
            <a:solidFill>
              <a:srgbClr val="D3D6DC"/>
            </a:solidFill>
          </a:ln>
        </p:spPr>
      </p:pic>
      <p:sp>
        <p:nvSpPr>
          <p:cNvPr id="127" name="Cap 12"/>
          <p:cNvSpPr txBox="1"/>
          <p:nvPr/>
        </p:nvSpPr>
        <p:spPr>
          <a:xfrm>
            <a:off x="5144262" y="7134659"/>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12  </a:t>
            </a:r>
            <a:r>
              <a:rPr lang="en-US" sz="1050" spc="0" dirty="0">
                <a:solidFill>
                  <a:srgbClr val="14161D"/>
                </a:solidFill>
                <a:latin typeface="Helvetica Neue Medium"/>
                <a:cs typeface="Helvetica Neue Medium"/>
              </a:rPr>
              <a:t>In shares, submit</a:t>
            </a:r>
          </a:p>
          <a:p>
            <a:pPr algn="l">
              <a:lnSpc>
                <a:spcPct val="100000"/>
              </a:lnSpc>
              <a:spcAft>
                <a:spcPts val="0"/>
              </a:spcAft>
            </a:pPr>
            <a:r>
              <a:rPr lang="en-US" sz="950" spc="0" dirty="0">
                <a:solidFill>
                  <a:srgbClr val="858A97"/>
                </a:solidFill>
                <a:latin typeface="Helvetica Neue Light"/>
                <a:cs typeface="Helvetica Neue Light"/>
              </a:rPr>
              <a:t>Review</a:t>
            </a:r>
          </a:p>
        </p:txBody>
      </p:sp>
      <p:pic>
        <p:nvPicPr>
          <p:cNvPr id="128" name="Hi-fi screen"/>
          <p:cNvPicPr>
            <a:picLocks noChangeAspect="1"/>
          </p:cNvPicPr>
          <p:nvPr/>
        </p:nvPicPr>
        <p:blipFill>
          <a:blip r:embed="rId14"/>
          <a:srcRect b="22747"/>
          <a:stretch>
            <a:fillRect/>
          </a:stretch>
        </p:blipFill>
        <p:spPr>
          <a:xfrm>
            <a:off x="6584696" y="4943501"/>
            <a:ext cx="1275842" cy="2136293"/>
          </a:xfrm>
          <a:prstGeom prst="rect">
            <a:avLst/>
          </a:prstGeom>
          <a:ln w="9525">
            <a:solidFill>
              <a:srgbClr val="D3D6DC"/>
            </a:solidFill>
          </a:ln>
        </p:spPr>
      </p:pic>
      <p:sp>
        <p:nvSpPr>
          <p:cNvPr id="129" name="Cap 13"/>
          <p:cNvSpPr txBox="1"/>
          <p:nvPr/>
        </p:nvSpPr>
        <p:spPr>
          <a:xfrm>
            <a:off x="6584696" y="7134659"/>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13  </a:t>
            </a:r>
            <a:r>
              <a:rPr lang="en-US" sz="1050" spc="0" dirty="0">
                <a:solidFill>
                  <a:srgbClr val="14161D"/>
                </a:solidFill>
                <a:latin typeface="Helvetica Neue Medium"/>
                <a:cs typeface="Helvetica Neue Medium"/>
              </a:rPr>
              <a:t>Executed</a:t>
            </a:r>
          </a:p>
          <a:p>
            <a:pPr algn="l">
              <a:lnSpc>
                <a:spcPct val="100000"/>
              </a:lnSpc>
              <a:spcAft>
                <a:spcPts val="0"/>
              </a:spcAft>
            </a:pPr>
            <a:r>
              <a:rPr lang="en-US" sz="950" spc="0" dirty="0">
                <a:solidFill>
                  <a:srgbClr val="858A97"/>
                </a:solidFill>
                <a:latin typeface="Helvetica Neue Light"/>
                <a:cs typeface="Helvetica Neue Light"/>
              </a:rPr>
              <a:t>Status</a:t>
            </a:r>
          </a:p>
        </p:txBody>
      </p:sp>
      <p:pic>
        <p:nvPicPr>
          <p:cNvPr id="130" name="Hi-fi screen"/>
          <p:cNvPicPr>
            <a:picLocks noChangeAspect="1"/>
          </p:cNvPicPr>
          <p:nvPr/>
        </p:nvPicPr>
        <p:blipFill>
          <a:blip r:embed="rId15"/>
          <a:srcRect b="22747"/>
          <a:stretch>
            <a:fillRect/>
          </a:stretch>
        </p:blipFill>
        <p:spPr>
          <a:xfrm>
            <a:off x="8025130" y="4943501"/>
            <a:ext cx="1275842" cy="2136293"/>
          </a:xfrm>
          <a:prstGeom prst="rect">
            <a:avLst/>
          </a:prstGeom>
          <a:ln w="9525">
            <a:solidFill>
              <a:srgbClr val="D3D6DC"/>
            </a:solidFill>
          </a:ln>
        </p:spPr>
      </p:pic>
      <p:sp>
        <p:nvSpPr>
          <p:cNvPr id="131" name="Cap 14"/>
          <p:cNvSpPr txBox="1"/>
          <p:nvPr/>
        </p:nvSpPr>
        <p:spPr>
          <a:xfrm>
            <a:off x="8025130" y="7134659"/>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14  </a:t>
            </a:r>
            <a:r>
              <a:rPr lang="en-US" sz="1050" spc="0" dirty="0">
                <a:solidFill>
                  <a:srgbClr val="14161D"/>
                </a:solidFill>
                <a:latin typeface="Helvetica Neue Medium"/>
                <a:cs typeface="Helvetica Neue Medium"/>
              </a:rPr>
              <a:t>Next trade</a:t>
            </a:r>
          </a:p>
          <a:p>
            <a:pPr algn="l">
              <a:lnSpc>
                <a:spcPct val="100000"/>
              </a:lnSpc>
              <a:spcAft>
                <a:spcPts val="0"/>
              </a:spcAft>
            </a:pPr>
            <a:r>
              <a:rPr lang="en-US" sz="950" spc="0" dirty="0">
                <a:solidFill>
                  <a:srgbClr val="858A97"/>
                </a:solidFill>
                <a:latin typeface="Helvetica Neue Light"/>
                <a:cs typeface="Helvetica Neue Light"/>
              </a:rPr>
              <a:t>Status</a:t>
            </a:r>
          </a:p>
        </p:txBody>
      </p:sp>
      <p:cxnSp>
        <p:nvCxnSpPr>
          <p:cNvPr id="132" name="Divider"/>
          <p:cNvCxnSpPr/>
          <p:nvPr/>
        </p:nvCxnSpPr>
        <p:spPr>
          <a:xfrm>
            <a:off x="9465564" y="4943501"/>
            <a:ext cx="1275842" cy="0"/>
          </a:xfrm>
          <a:prstGeom prst="line">
            <a:avLst/>
          </a:prstGeom>
          <a:ln w="28575">
            <a:solidFill>
              <a:srgbClr val="B5531F"/>
            </a:solidFill>
          </a:ln>
        </p:spPr>
      </p:cxnSp>
      <p:sp>
        <p:nvSpPr>
          <p:cNvPr id="133" name="Prototype tile">
            <a:hlinkClick r:id="rId16"/>
          </p:cNvPr>
          <p:cNvSpPr txBox="1"/>
          <p:nvPr/>
        </p:nvSpPr>
        <p:spPr>
          <a:xfrm>
            <a:off x="9465564" y="5080661"/>
            <a:ext cx="1275842" cy="2136293"/>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B5531F"/>
                </a:solidFill>
                <a:latin typeface="Helvetica Neue Medium"/>
                <a:cs typeface="Helvetica Neue Medium"/>
              </a:rPr>
              <a:t>TRY IT</a:t>
            </a:r>
          </a:p>
          <a:p>
            <a:pPr algn="l">
              <a:lnSpc>
                <a:spcPct val="115000"/>
              </a:lnSpc>
              <a:spcAft>
                <a:spcPts val="300"/>
              </a:spcAft>
            </a:pPr>
            <a:r>
              <a:rPr lang="en-US" sz="1400" u="sng" spc="0" dirty="0">
                <a:solidFill>
                  <a:srgbClr val="B5531F"/>
                </a:solidFill>
                <a:latin typeface="Helvetica Neue Medium"/>
                <a:cs typeface="Helvetica Neue Medium"/>
                <a:hlinkClick r:id="rId16"/>
              </a:rPr>
              <a:t>Open the prototype →</a:t>
            </a:r>
            <a:endParaRPr lang="en-US" sz="1400" u="sng" spc="0" dirty="0">
              <a:solidFill>
                <a:srgbClr val="B5531F"/>
              </a:solidFill>
              <a:latin typeface="Helvetica Neue Medium"/>
              <a:cs typeface="Helvetica Neue Medium"/>
            </a:endParaRPr>
          </a:p>
          <a:p>
            <a:pPr algn="l">
              <a:lnSpc>
                <a:spcPct val="115000"/>
              </a:lnSpc>
              <a:spcAft>
                <a:spcPts val="300"/>
              </a:spcAft>
            </a:pPr>
            <a:r>
              <a:rPr lang="en-US" sz="1050" spc="0" dirty="0">
                <a:solidFill>
                  <a:srgbClr val="858A97"/>
                </a:solidFill>
                <a:latin typeface="Helvetica Neue Light"/>
                <a:cs typeface="Helvetica Neue Light"/>
              </a:rPr>
              <a:t>Starts at the accounts home</a:t>
            </a:r>
          </a:p>
        </p:txBody>
      </p:sp>
      <p:pic>
        <p:nvPicPr>
          <p:cNvPr id="134" name="gradient strip" descr="gradient strip"/>
          <p:cNvPicPr>
            <a:picLocks noChangeAspect="1"/>
          </p:cNvPicPr>
          <p:nvPr/>
        </p:nvPicPr>
        <p:blipFill>
          <a:blip r:embed="rId17"/>
          <a:stretch>
            <a:fillRect/>
          </a:stretch>
        </p:blipFill>
        <p:spPr>
          <a:xfrm>
            <a:off x="0" y="9285427"/>
            <a:ext cx="13004800" cy="468173"/>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KEY CALLS</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14161D"/>
                </a:solidFill>
                <a:latin typeface="Helvetica Neue Medium"/>
                <a:cs typeface="Helvetica Neue Medium"/>
              </a:rPr>
              <a:t>Four calls that shaped </a:t>
            </a:r>
            <a:r>
              <a:rPr lang="en-US" sz="4400" spc="-40" dirty="0">
                <a:solidFill>
                  <a:srgbClr val="B5531F"/>
                </a:solidFill>
                <a:latin typeface="Helvetica Neue Medium"/>
                <a:cs typeface="Helvetica Neue Medium"/>
              </a:rPr>
              <a:t>the trade ticket</a:t>
            </a:r>
            <a:r>
              <a:rPr lang="en-US" sz="4400" spc="-40" dirty="0">
                <a:solidFill>
                  <a:srgbClr val="14161D"/>
                </a:solidFill>
                <a:latin typeface="Helvetica Neue Medium"/>
                <a:cs typeface="Helvetica Neue Medium"/>
              </a:rPr>
              <a:t>.</a:t>
            </a:r>
          </a:p>
        </p:txBody>
      </p:sp>
      <p:cxnSp>
        <p:nvCxnSpPr>
          <p:cNvPr id="103" name="Divider"/>
          <p:cNvCxnSpPr/>
          <p:nvPr/>
        </p:nvCxnSpPr>
        <p:spPr>
          <a:xfrm>
            <a:off x="822960" y="3566160"/>
            <a:ext cx="5427980" cy="0"/>
          </a:xfrm>
          <a:prstGeom prst="line">
            <a:avLst/>
          </a:prstGeom>
          <a:ln w="9525">
            <a:solidFill>
              <a:srgbClr val="E1E3E8"/>
            </a:solidFill>
          </a:ln>
        </p:spPr>
      </p:cxnSp>
      <p:sp>
        <p:nvSpPr>
          <p:cNvPr id="104" name="Shares or dollars in one ticket title"/>
          <p:cNvSpPr txBox="1"/>
          <p:nvPr/>
        </p:nvSpPr>
        <p:spPr>
          <a:xfrm>
            <a:off x="8229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Shares or dollars in one ticket</a:t>
            </a:r>
          </a:p>
        </p:txBody>
      </p:sp>
      <p:sp>
        <p:nvSpPr>
          <p:cNvPr id="105" name="Shares or dollars in one ticket body"/>
          <p:cNvSpPr txBox="1"/>
          <p:nvPr/>
        </p:nvSpPr>
        <p:spPr>
          <a:xfrm>
            <a:off x="8229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One toggle switches between trading by share quantity and by dollar amount, instead of two flows.</a:t>
            </a:r>
          </a:p>
        </p:txBody>
      </p:sp>
      <p:cxnSp>
        <p:nvCxnSpPr>
          <p:cNvPr id="106" name="Divider"/>
          <p:cNvCxnSpPr/>
          <p:nvPr/>
        </p:nvCxnSpPr>
        <p:spPr>
          <a:xfrm>
            <a:off x="6753860" y="3566160"/>
            <a:ext cx="5427980" cy="0"/>
          </a:xfrm>
          <a:prstGeom prst="line">
            <a:avLst/>
          </a:prstGeom>
          <a:ln w="9525">
            <a:solidFill>
              <a:srgbClr val="E1E3E8"/>
            </a:solidFill>
          </a:ln>
        </p:spPr>
      </p:cxnSp>
      <p:sp>
        <p:nvSpPr>
          <p:cNvPr id="107" name="Start from what they hold title"/>
          <p:cNvSpPr txBox="1"/>
          <p:nvPr/>
        </p:nvSpPr>
        <p:spPr>
          <a:xfrm>
            <a:off x="67538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Start from what they hold</a:t>
            </a:r>
          </a:p>
        </p:txBody>
      </p:sp>
      <p:sp>
        <p:nvSpPr>
          <p:cNvPr id="108" name="Start from what they hold body"/>
          <p:cNvSpPr txBox="1"/>
          <p:nvPr/>
        </p:nvSpPr>
        <p:spPr>
          <a:xfrm>
            <a:off x="67538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If a user already holds the asset, they go straight into the ticket with their position shown.</a:t>
            </a:r>
          </a:p>
        </p:txBody>
      </p:sp>
      <p:cxnSp>
        <p:nvCxnSpPr>
          <p:cNvPr id="109" name="Divider"/>
          <p:cNvCxnSpPr/>
          <p:nvPr/>
        </p:nvCxnSpPr>
        <p:spPr>
          <a:xfrm>
            <a:off x="822960" y="5806440"/>
            <a:ext cx="5427980" cy="0"/>
          </a:xfrm>
          <a:prstGeom prst="line">
            <a:avLst/>
          </a:prstGeom>
          <a:ln w="9525">
            <a:solidFill>
              <a:srgbClr val="E1E3E8"/>
            </a:solidFill>
          </a:ln>
        </p:spPr>
      </p:cxnSp>
      <p:sp>
        <p:nvSpPr>
          <p:cNvPr id="110" name="Lists over tabs; fields on demand title"/>
          <p:cNvSpPr txBox="1"/>
          <p:nvPr/>
        </p:nvSpPr>
        <p:spPr>
          <a:xfrm>
            <a:off x="8229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Lists over tabs; fields on demand</a:t>
            </a:r>
          </a:p>
        </p:txBody>
      </p:sp>
      <p:sp>
        <p:nvSpPr>
          <p:cNvPr id="111" name="Lists over tabs; fields on demand body"/>
          <p:cNvSpPr txBox="1"/>
          <p:nvPr/>
        </p:nvSpPr>
        <p:spPr>
          <a:xfrm>
            <a:off x="8229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Testers preferred a list view to tabs. Quantity and order sheets appear only when they apply.</a:t>
            </a:r>
          </a:p>
        </p:txBody>
      </p:sp>
      <p:cxnSp>
        <p:nvCxnSpPr>
          <p:cNvPr id="112" name="Divider"/>
          <p:cNvCxnSpPr/>
          <p:nvPr/>
        </p:nvCxnSpPr>
        <p:spPr>
          <a:xfrm>
            <a:off x="6753860" y="5806440"/>
            <a:ext cx="5427980" cy="0"/>
          </a:xfrm>
          <a:prstGeom prst="line">
            <a:avLst/>
          </a:prstGeom>
          <a:ln w="9525">
            <a:solidFill>
              <a:srgbClr val="E1E3E8"/>
            </a:solidFill>
          </a:ln>
        </p:spPr>
      </p:cxnSp>
      <p:sp>
        <p:nvSpPr>
          <p:cNvPr id="113" name="Status at a glance title"/>
          <p:cNvSpPr txBox="1"/>
          <p:nvPr/>
        </p:nvSpPr>
        <p:spPr>
          <a:xfrm>
            <a:off x="67538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Status at a glance</a:t>
            </a:r>
          </a:p>
        </p:txBody>
      </p:sp>
      <p:sp>
        <p:nvSpPr>
          <p:cNvPr id="114" name="Status at a glance body"/>
          <p:cNvSpPr txBox="1"/>
          <p:nvPr/>
        </p:nvSpPr>
        <p:spPr>
          <a:xfrm>
            <a:off x="67538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Order status changes color as it moves. Testers said seeing the status right away was vital.</a:t>
            </a:r>
          </a:p>
        </p:txBody>
      </p:sp>
      <p:pic>
        <p:nvPicPr>
          <p:cNvPr id="11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OUTCOME</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800" spc="-40" dirty="0">
                <a:solidFill>
                  <a:srgbClr val="14161D"/>
                </a:solidFill>
                <a:latin typeface="Helvetica Neue Medium"/>
                <a:cs typeface="Helvetica Neue Medium"/>
              </a:rPr>
              <a:t>Delivered: one ticket for </a:t>
            </a:r>
            <a:r>
              <a:rPr lang="en-US" sz="3800" spc="-40" dirty="0">
                <a:solidFill>
                  <a:srgbClr val="B5531F"/>
                </a:solidFill>
                <a:latin typeface="Helvetica Neue Medium"/>
                <a:cs typeface="Helvetica Neue Medium"/>
              </a:rPr>
              <a:t>shares or dollars</a:t>
            </a:r>
            <a:r>
              <a:rPr lang="en-US" sz="3800" spc="-40" dirty="0">
                <a:solidFill>
                  <a:srgbClr val="14161D"/>
                </a:solidFill>
                <a:latin typeface="Helvetica Neue Medium"/>
                <a:cs typeface="Helvetica Neue Medium"/>
              </a:rPr>
              <a:t>, tested in three rounds.</a:t>
            </a:r>
          </a:p>
        </p:txBody>
      </p:sp>
      <p:sp>
        <p:nvSpPr>
          <p:cNvPr id="103" name="Shipped"/>
          <p:cNvSpPr txBox="1"/>
          <p:nvPr/>
        </p:nvSpPr>
        <p:spPr>
          <a:xfrm>
            <a:off x="822960" y="3611880"/>
            <a:ext cx="5427980" cy="429768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SHIPPED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A single ticket with a shares / dollars toggle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Held assets go straight into a ticket to buy or sell</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A list view, with quantity and order sheets that appear only when needed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Order status that changes color as it moves, and every field editable</a:t>
            </a:r>
          </a:p>
        </p:txBody>
      </p:sp>
      <p:sp>
        <p:nvSpPr>
          <p:cNvPr id="104" name="Learned"/>
          <p:cNvSpPr txBox="1"/>
          <p:nvPr/>
        </p:nvSpPr>
        <p:spPr>
          <a:xfrm>
            <a:off x="6753860" y="3611880"/>
            <a:ext cx="5427980" cy="429768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TESTING TAUGHT US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Education matters, but it must never slow a trade down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Quick amounts and feedback on the share amount build confidence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Seeing the status right away is vital</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The system keyboard beat a custom one</a:t>
            </a:r>
          </a:p>
        </p:txBody>
      </p:sp>
      <p:pic>
        <p:nvPicPr>
          <p:cNvPr id="10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WELLS FARGO TRADE TICKET · PROTOTYPE</a:t>
            </a:r>
          </a:p>
        </p:txBody>
      </p:sp>
      <p:sp>
        <p:nvSpPr>
          <p:cNvPr id="102" name="Headline"/>
          <p:cNvSpPr txBox="1"/>
          <p:nvPr/>
        </p:nvSpPr>
        <p:spPr>
          <a:xfrm>
            <a:off x="822960" y="1371600"/>
            <a:ext cx="11358880" cy="173736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F5F5F7"/>
                </a:solidFill>
                <a:latin typeface="Helvetica Neue Medium"/>
                <a:cs typeface="Helvetica Neue Medium"/>
              </a:rPr>
              <a:t>Place one order, in </a:t>
            </a:r>
            <a:r>
              <a:rPr lang="en-US" sz="4400" spc="-40" dirty="0">
                <a:solidFill>
                  <a:srgbClr val="E98C64"/>
                </a:solidFill>
                <a:latin typeface="Helvetica Neue Medium"/>
                <a:cs typeface="Helvetica Neue Medium"/>
              </a:rPr>
              <a:t>dollars or shares</a:t>
            </a:r>
            <a:r>
              <a:rPr lang="en-US" sz="4400" spc="-40" dirty="0">
                <a:solidFill>
                  <a:srgbClr val="F5F5F7"/>
                </a:solidFill>
                <a:latin typeface="Helvetica Neue Medium"/>
                <a:cs typeface="Helvetica Neue Medium"/>
              </a:rPr>
              <a:t>.</a:t>
            </a:r>
          </a:p>
        </p:txBody>
      </p:sp>
      <p:sp>
        <p:nvSpPr>
          <p:cNvPr id="103" name="Body"/>
          <p:cNvSpPr txBox="1"/>
          <p:nvPr/>
        </p:nvSpPr>
        <p:spPr>
          <a:xfrm>
            <a:off x="822960" y="3246120"/>
            <a:ext cx="5120640" cy="182880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14 hi-fi screens of the mobile ticket, linked as in the Figma prototype: pick the account and stock, choose Buy, type a dollar amount, pick the order type, review it in shares, submit, and see it executed.</a:t>
            </a:r>
          </a:p>
        </p:txBody>
      </p:sp>
      <p:sp>
        <p:nvSpPr>
          <p:cNvPr id="104" name="Link">
            <a:hlinkClick r:id="rId2"/>
          </p:cNvPr>
          <p:cNvSpPr txBox="1"/>
          <p:nvPr/>
        </p:nvSpPr>
        <p:spPr>
          <a:xfrm>
            <a:off x="822960" y="5257800"/>
            <a:ext cx="5120640" cy="457200"/>
          </a:xfrm>
          <a:prstGeom prst="rect">
            <a:avLst/>
          </a:prstGeom>
          <a:noFill/>
        </p:spPr>
        <p:txBody>
          <a:bodyPr wrap="square" lIns="0" tIns="0" rIns="0" bIns="0" anchor="t">
            <a:noAutofit/>
          </a:bodyPr>
          <a:lstStyle/>
          <a:p>
            <a:pPr algn="l">
              <a:lnSpc>
                <a:spcPct val="115000"/>
              </a:lnSpc>
              <a:spcAft>
                <a:spcPts val="300"/>
              </a:spcAft>
            </a:pPr>
            <a:r>
              <a:rPr lang="en-US" sz="2200" u="sng" spc="0" dirty="0">
                <a:solidFill>
                  <a:srgbClr val="E98C64"/>
                </a:solidFill>
                <a:latin typeface="Helvetica Neue Medium"/>
                <a:cs typeface="Helvetica Neue Medium"/>
              </a:rPr>
              <a:t>Open the trade ticket prototype →</a:t>
            </a:r>
          </a:p>
        </p:txBody>
      </p:sp>
      <p:cxnSp>
        <p:nvCxnSpPr>
          <p:cNvPr id="105" name="Divider"/>
          <p:cNvCxnSpPr/>
          <p:nvPr/>
        </p:nvCxnSpPr>
        <p:spPr>
          <a:xfrm>
            <a:off x="822960" y="6080760"/>
            <a:ext cx="5120640" cy="0"/>
          </a:xfrm>
          <a:prstGeom prst="line">
            <a:avLst/>
          </a:prstGeom>
          <a:ln w="9525">
            <a:solidFill>
              <a:srgbClr val="2C2F38"/>
            </a:solidFill>
          </a:ln>
        </p:spPr>
      </p:cxnSp>
      <p:sp>
        <p:nvSpPr>
          <p:cNvPr id="106" name="Also"/>
          <p:cNvSpPr txBox="1"/>
          <p:nvPr/>
        </p:nvSpPr>
        <p:spPr>
          <a:xfrm>
            <a:off x="822960" y="6263640"/>
            <a:ext cx="5120640" cy="146304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ALSO AVAILABLE</a:t>
            </a:r>
          </a:p>
          <a:p>
            <a:pPr algn="l">
              <a:lnSpc>
                <a:spcPct val="125000"/>
              </a:lnSpc>
              <a:spcAft>
                <a:spcPts val="300"/>
              </a:spcAft>
            </a:pPr>
            <a:r>
              <a:rPr lang="en-US" sz="1550" spc="0" dirty="0">
                <a:solidFill>
                  <a:srgbClr val="A3A8B4"/>
                </a:solidFill>
                <a:latin typeface="Helvetica Neue Light"/>
                <a:cs typeface="Helvetica Neue Light"/>
              </a:rPr>
              <a:t>An offline version with the narrative for every step and a full link map: Trade-Ticket-Prototype.html.</a:t>
            </a:r>
          </a:p>
        </p:txBody>
      </p:sp>
      <p:sp>
        <p:nvSpPr>
          <p:cNvPr id="107" name="Figma link">
            <a:hlinkClick r:id="rId3"/>
          </p:cNvPr>
          <p:cNvSpPr txBox="1"/>
          <p:nvPr/>
        </p:nvSpPr>
        <p:spPr>
          <a:xfrm>
            <a:off x="822960" y="7635240"/>
            <a:ext cx="5120640" cy="457200"/>
          </a:xfrm>
          <a:prstGeom prst="rect">
            <a:avLst/>
          </a:prstGeom>
          <a:noFill/>
        </p:spPr>
        <p:txBody>
          <a:bodyPr wrap="square" lIns="0" tIns="0" rIns="0" bIns="0" anchor="t">
            <a:noAutofit/>
          </a:bodyPr>
          <a:lstStyle/>
          <a:p>
            <a:pPr algn="l">
              <a:lnSpc>
                <a:spcPct val="115000"/>
              </a:lnSpc>
              <a:spcAft>
                <a:spcPts val="300"/>
              </a:spcAft>
            </a:pPr>
            <a:r>
              <a:rPr lang="en-US" sz="1500" u="sng" spc="0" dirty="0">
                <a:solidFill>
                  <a:srgbClr val="E98C64"/>
                </a:solidFill>
                <a:latin typeface="Helvetica Neue Medium"/>
                <a:cs typeface="Helvetica Neue Medium"/>
              </a:rPr>
              <a:t>Or open the original Figma design file →</a:t>
            </a:r>
          </a:p>
        </p:txBody>
      </p:sp>
      <p:pic>
        <p:nvPicPr>
          <p:cNvPr id="108" name="Hi-fi screen"/>
          <p:cNvPicPr>
            <a:picLocks noChangeAspect="1"/>
          </p:cNvPicPr>
          <p:nvPr/>
        </p:nvPicPr>
        <p:blipFill>
          <a:blip r:embed="rId4"/>
          <a:stretch>
            <a:fillRect/>
          </a:stretch>
        </p:blipFill>
        <p:spPr>
          <a:xfrm>
            <a:off x="7705736" y="2491696"/>
            <a:ext cx="3044606" cy="6599007"/>
          </a:xfrm>
          <a:prstGeom prst="rect">
            <a:avLst/>
          </a:prstGeom>
          <a:ln w="9525">
            <a:solidFill>
              <a:srgbClr val="3A3E49"/>
            </a:solidFill>
          </a:ln>
        </p:spPr>
      </p:pic>
      <p:pic>
        <p:nvPicPr>
          <p:cNvPr id="109" name="gradient strip" descr="gradient strip"/>
          <p:cNvPicPr>
            <a:picLocks noChangeAspect="1"/>
          </p:cNvPicPr>
          <p:nvPr/>
        </p:nvPicPr>
        <p:blipFill>
          <a:blip r:embed="rId5"/>
          <a:stretch>
            <a:fillRect/>
          </a:stretch>
        </p:blipFill>
        <p:spPr>
          <a:xfrm>
            <a:off x="0" y="9285427"/>
            <a:ext cx="13004800" cy="468173"/>
          </a:xfrm>
          <a:prstGeom prst="rect">
            <a:avLst/>
          </a:prstGeom>
        </p:spPr>
      </p:pic>
      <p:sp>
        <p:nvSpPr>
          <p:cNvPr id="110" name="Workflow map link">
            <a:hlinkClick r:id="rId6"/>
          </p:cNvPr>
          <p:cNvSpPr txBox="1"/>
          <p:nvPr/>
        </p:nvSpPr>
        <p:spPr>
          <a:xfrm>
            <a:off x="822960" y="5791200"/>
            <a:ext cx="5120640" cy="355600"/>
          </a:xfrm>
          <a:prstGeom prst="rect">
            <a:avLst/>
          </a:prstGeom>
          <a:noFill/>
        </p:spPr>
        <p:txBody>
          <a:bodyPr wrap="square" lIns="0" tIns="0" rIns="0" bIns="0" anchor="t">
            <a:noAutofit/>
          </a:bodyPr>
          <a:lstStyle/>
          <a:p>
            <a:pPr algn="l">
              <a:lnSpc>
                <a:spcPct val="115000"/>
              </a:lnSpc>
              <a:spcAft>
                <a:spcPts val="300"/>
              </a:spcAft>
            </a:pPr>
            <a:r>
              <a:rPr lang="en-US" sz="1500" u="sng" spc="0" dirty="0">
                <a:solidFill>
                  <a:srgbClr val="E98C64"/>
                </a:solidFill>
                <a:latin typeface="Helvetica Neue Medium"/>
                <a:cs typeface="Helvetica Neue Medium"/>
              </a:rPr>
              <a:t>Or start at the workflow map →</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822960"/>
            <a:ext cx="548640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CASE STUDY 04 · B2B DESKTOP · DELIVERED</a:t>
            </a:r>
          </a:p>
        </p:txBody>
      </p:sp>
      <p:sp>
        <p:nvSpPr>
          <p:cNvPr id="102" name="Company"/>
          <p:cNvSpPr txBox="1"/>
          <p:nvPr/>
        </p:nvSpPr>
        <p:spPr>
          <a:xfrm>
            <a:off x="822960" y="1234440"/>
            <a:ext cx="5486400" cy="914400"/>
          </a:xfrm>
          <a:prstGeom prst="rect">
            <a:avLst/>
          </a:prstGeom>
          <a:noFill/>
        </p:spPr>
        <p:txBody>
          <a:bodyPr wrap="square" lIns="0" tIns="0" rIns="0" bIns="0" anchor="t">
            <a:noAutofit/>
          </a:bodyPr>
          <a:lstStyle/>
          <a:p>
            <a:pPr algn="l">
              <a:lnSpc>
                <a:spcPct val="90000"/>
              </a:lnSpc>
              <a:spcAft>
                <a:spcPts val="300"/>
              </a:spcAft>
            </a:pPr>
            <a:r>
              <a:rPr lang="en-US" sz="4600" spc="-40" dirty="0">
                <a:solidFill>
                  <a:srgbClr val="F5F5F7"/>
                </a:solidFill>
                <a:latin typeface="Helvetica Neue Medium"/>
                <a:cs typeface="Helvetica Neue Medium"/>
              </a:rPr>
              <a:t>American Express</a:t>
            </a:r>
          </a:p>
        </p:txBody>
      </p:sp>
      <p:sp>
        <p:nvSpPr>
          <p:cNvPr id="103" name="Project"/>
          <p:cNvSpPr txBox="1"/>
          <p:nvPr/>
        </p:nvSpPr>
        <p:spPr>
          <a:xfrm>
            <a:off x="822960" y="2240280"/>
            <a:ext cx="5486400" cy="548640"/>
          </a:xfrm>
          <a:prstGeom prst="rect">
            <a:avLst/>
          </a:prstGeom>
          <a:noFill/>
        </p:spPr>
        <p:txBody>
          <a:bodyPr wrap="square" lIns="0" tIns="0" rIns="0" bIns="0" anchor="t">
            <a:noAutofit/>
          </a:bodyPr>
          <a:lstStyle/>
          <a:p>
            <a:pPr algn="l">
              <a:lnSpc>
                <a:spcPct val="115000"/>
              </a:lnSpc>
              <a:spcAft>
                <a:spcPts val="300"/>
              </a:spcAft>
            </a:pPr>
            <a:r>
              <a:rPr lang="en-US" sz="2600" spc="0" dirty="0">
                <a:solidFill>
                  <a:srgbClr val="E98C64"/>
                </a:solidFill>
                <a:latin typeface="Helvetica Neue Medium"/>
                <a:cs typeface="Helvetica Neue Medium"/>
              </a:rPr>
              <a:t>MOCA</a:t>
            </a:r>
          </a:p>
        </p:txBody>
      </p:sp>
      <p:sp>
        <p:nvSpPr>
          <p:cNvPr id="104" name="Hook"/>
          <p:cNvSpPr txBox="1"/>
          <p:nvPr/>
        </p:nvSpPr>
        <p:spPr>
          <a:xfrm>
            <a:off x="822960" y="2926080"/>
            <a:ext cx="5486400" cy="128016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Increasing revenue by helping advertisers and marketers decide their advertising budgets with AMEX sales partners.</a:t>
            </a:r>
          </a:p>
        </p:txBody>
      </p:sp>
      <p:cxnSp>
        <p:nvCxnSpPr>
          <p:cNvPr id="105" name="Divider"/>
          <p:cNvCxnSpPr/>
          <p:nvPr/>
        </p:nvCxnSpPr>
        <p:spPr>
          <a:xfrm>
            <a:off x="822960" y="4343400"/>
            <a:ext cx="5486400" cy="0"/>
          </a:xfrm>
          <a:prstGeom prst="line">
            <a:avLst/>
          </a:prstGeom>
          <a:ln w="9525">
            <a:solidFill>
              <a:srgbClr val="2C2F38"/>
            </a:solidFill>
          </a:ln>
        </p:spPr>
      </p:cxnSp>
      <p:sp>
        <p:nvSpPr>
          <p:cNvPr id="106" name="ROLE"/>
          <p:cNvSpPr txBox="1"/>
          <p:nvPr/>
        </p:nvSpPr>
        <p:spPr>
          <a:xfrm>
            <a:off x="822960" y="4471416"/>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ROLE</a:t>
            </a:r>
          </a:p>
        </p:txBody>
      </p:sp>
      <p:sp>
        <p:nvSpPr>
          <p:cNvPr id="107" name="ROLE value"/>
          <p:cNvSpPr txBox="1"/>
          <p:nvPr/>
        </p:nvSpPr>
        <p:spPr>
          <a:xfrm>
            <a:off x="2148840" y="4443984"/>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Led discovery and all design deliverables</a:t>
            </a:r>
          </a:p>
        </p:txBody>
      </p:sp>
      <p:cxnSp>
        <p:nvCxnSpPr>
          <p:cNvPr id="108" name="Divider"/>
          <p:cNvCxnSpPr/>
          <p:nvPr/>
        </p:nvCxnSpPr>
        <p:spPr>
          <a:xfrm>
            <a:off x="822960" y="5056632"/>
            <a:ext cx="5486400" cy="0"/>
          </a:xfrm>
          <a:prstGeom prst="line">
            <a:avLst/>
          </a:prstGeom>
          <a:ln w="9525">
            <a:solidFill>
              <a:srgbClr val="2C2F38"/>
            </a:solidFill>
          </a:ln>
        </p:spPr>
      </p:cxnSp>
      <p:sp>
        <p:nvSpPr>
          <p:cNvPr id="109" name="TEAM"/>
          <p:cNvSpPr txBox="1"/>
          <p:nvPr/>
        </p:nvSpPr>
        <p:spPr>
          <a:xfrm>
            <a:off x="822960" y="5184648"/>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TEAM</a:t>
            </a:r>
          </a:p>
        </p:txBody>
      </p:sp>
      <p:sp>
        <p:nvSpPr>
          <p:cNvPr id="110" name="TEAM value"/>
          <p:cNvSpPr txBox="1"/>
          <p:nvPr/>
        </p:nvSpPr>
        <p:spPr>
          <a:xfrm>
            <a:off x="2148840" y="5157216"/>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Partnered with AMEX data scientists, who built the projection and optimization engines</a:t>
            </a:r>
          </a:p>
        </p:txBody>
      </p:sp>
      <p:cxnSp>
        <p:nvCxnSpPr>
          <p:cNvPr id="111" name="Divider"/>
          <p:cNvCxnSpPr/>
          <p:nvPr/>
        </p:nvCxnSpPr>
        <p:spPr>
          <a:xfrm>
            <a:off x="822960" y="5769864"/>
            <a:ext cx="5486400" cy="0"/>
          </a:xfrm>
          <a:prstGeom prst="line">
            <a:avLst/>
          </a:prstGeom>
          <a:ln w="9525">
            <a:solidFill>
              <a:srgbClr val="2C2F38"/>
            </a:solidFill>
          </a:ln>
        </p:spPr>
      </p:cxnSp>
      <p:sp>
        <p:nvSpPr>
          <p:cNvPr id="112" name="SCOPE"/>
          <p:cNvSpPr txBox="1"/>
          <p:nvPr/>
        </p:nvSpPr>
        <p:spPr>
          <a:xfrm>
            <a:off x="822960" y="5897880"/>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SCOPE</a:t>
            </a:r>
          </a:p>
        </p:txBody>
      </p:sp>
      <p:sp>
        <p:nvSpPr>
          <p:cNvPr id="113" name="SCOPE value"/>
          <p:cNvSpPr txBox="1"/>
          <p:nvPr/>
        </p:nvSpPr>
        <p:spPr>
          <a:xfrm>
            <a:off x="2148840" y="5870448"/>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Wizard, scenario builder and data visualizer for a desktop app</a:t>
            </a:r>
          </a:p>
        </p:txBody>
      </p:sp>
      <p:cxnSp>
        <p:nvCxnSpPr>
          <p:cNvPr id="114" name="Divider"/>
          <p:cNvCxnSpPr/>
          <p:nvPr/>
        </p:nvCxnSpPr>
        <p:spPr>
          <a:xfrm>
            <a:off x="822960" y="6483096"/>
            <a:ext cx="5486400" cy="0"/>
          </a:xfrm>
          <a:prstGeom prst="line">
            <a:avLst/>
          </a:prstGeom>
          <a:ln w="9525">
            <a:solidFill>
              <a:srgbClr val="2C2F38"/>
            </a:solidFill>
          </a:ln>
        </p:spPr>
      </p:cxnSp>
      <p:sp>
        <p:nvSpPr>
          <p:cNvPr id="115" name="RESULTS"/>
          <p:cNvSpPr txBox="1"/>
          <p:nvPr/>
        </p:nvSpPr>
        <p:spPr>
          <a:xfrm>
            <a:off x="822960" y="6611112"/>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RESULTS</a:t>
            </a:r>
          </a:p>
        </p:txBody>
      </p:sp>
      <p:sp>
        <p:nvSpPr>
          <p:cNvPr id="116" name="RESULTS value"/>
          <p:cNvSpPr txBox="1"/>
          <p:nvPr/>
        </p:nvSpPr>
        <p:spPr>
          <a:xfrm>
            <a:off x="2148840" y="6583680"/>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Partner approval 58% → 88%; average client budget $1.34M → $1.8M</a:t>
            </a:r>
          </a:p>
        </p:txBody>
      </p:sp>
      <p:cxnSp>
        <p:nvCxnSpPr>
          <p:cNvPr id="117" name="Divider"/>
          <p:cNvCxnSpPr/>
          <p:nvPr/>
        </p:nvCxnSpPr>
        <p:spPr>
          <a:xfrm>
            <a:off x="822960" y="7196328"/>
            <a:ext cx="5486400" cy="0"/>
          </a:xfrm>
          <a:prstGeom prst="line">
            <a:avLst/>
          </a:prstGeom>
          <a:ln w="9525">
            <a:solidFill>
              <a:srgbClr val="2C2F38"/>
            </a:solidFill>
          </a:ln>
        </p:spPr>
      </p:cxnSp>
      <p:sp>
        <p:nvSpPr>
          <p:cNvPr id="118" name="Quote"/>
          <p:cNvSpPr txBox="1"/>
          <p:nvPr/>
        </p:nvSpPr>
        <p:spPr>
          <a:xfrm>
            <a:off x="822960" y="7516368"/>
            <a:ext cx="5486400" cy="1188720"/>
          </a:xfrm>
          <a:prstGeom prst="rect">
            <a:avLst/>
          </a:prstGeom>
          <a:noFill/>
        </p:spPr>
        <p:txBody>
          <a:bodyPr wrap="square" lIns="0" tIns="0" rIns="0" bIns="0" anchor="t">
            <a:noAutofit/>
          </a:bodyPr>
          <a:lstStyle/>
          <a:p>
            <a:pPr algn="l">
              <a:lnSpc>
                <a:spcPct val="115000"/>
              </a:lnSpc>
              <a:spcAft>
                <a:spcPts val="300"/>
              </a:spcAft>
            </a:pPr>
            <a:r>
              <a:rPr lang="en-US" sz="1500" spc="0" dirty="0">
                <a:solidFill>
                  <a:srgbClr val="F5F5F7"/>
                </a:solidFill>
                <a:latin typeface="Helvetica Neue Light"/>
                <a:cs typeface="Helvetica Neue Light"/>
              </a:rPr>
              <a:t>“Comparing budgets and then optimizing it would allow me to have the confidence to increase the budget.”</a:t>
            </a:r>
          </a:p>
        </p:txBody>
      </p:sp>
      <p:pic>
        <p:nvPicPr>
          <p:cNvPr id="119" name="Picture 1" descr="image.png"/>
          <p:cNvPicPr>
            <a:picLocks noChangeAspect="1"/>
          </p:cNvPicPr>
          <p:nvPr/>
        </p:nvPicPr>
        <p:blipFill>
          <a:blip r:embed="rId2"/>
          <a:stretch>
            <a:fillRect/>
          </a:stretch>
        </p:blipFill>
        <p:spPr>
          <a:xfrm>
            <a:off x="6720840" y="2395180"/>
            <a:ext cx="6283960" cy="4801068"/>
          </a:xfrm>
          <a:prstGeom prst="rect">
            <a:avLst/>
          </a:prstGeom>
          <a:ln w="9525">
            <a:solidFill>
              <a:srgbClr val="3A3E49"/>
            </a:solidFill>
          </a:ln>
        </p:spPr>
      </p:pic>
      <p:pic>
        <p:nvPicPr>
          <p:cNvPr id="12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INTRODUCTION</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A desktop app that projects a marketer’s budget and </a:t>
            </a:r>
            <a:r>
              <a:rPr lang="en-US" sz="3600" spc="-40" dirty="0">
                <a:solidFill>
                  <a:srgbClr val="B5531F"/>
                </a:solidFill>
                <a:latin typeface="Helvetica Neue Medium"/>
                <a:cs typeface="Helvetica Neue Medium"/>
              </a:rPr>
              <a:t>compares built and optimized scenarios</a:t>
            </a:r>
            <a:r>
              <a:rPr lang="en-US" sz="3600" spc="-40" dirty="0">
                <a:solidFill>
                  <a:srgbClr val="14161D"/>
                </a:solidFill>
                <a:latin typeface="Helvetica Neue Medium"/>
                <a:cs typeface="Helvetica Neue Medium"/>
              </a:rPr>
              <a:t>.</a:t>
            </a:r>
          </a:p>
        </p:txBody>
      </p:sp>
      <p:sp>
        <p:nvSpPr>
          <p:cNvPr id="103" name="Audience"/>
          <p:cNvSpPr txBox="1"/>
          <p:nvPr/>
        </p:nvSpPr>
        <p:spPr>
          <a:xfrm>
            <a:off x="822960" y="3611880"/>
            <a:ext cx="3511973" cy="420624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TARGET AUDIENCE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American Express sales managers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American Express sales advisors</a:t>
            </a:r>
          </a:p>
        </p:txBody>
      </p:sp>
      <p:sp>
        <p:nvSpPr>
          <p:cNvPr id="104" name="Problems"/>
          <p:cNvSpPr txBox="1"/>
          <p:nvPr/>
        </p:nvSpPr>
        <p:spPr>
          <a:xfrm>
            <a:off x="4746413"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THE PROBLEMS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Sales partners had no effective tool for clients to budget their AMEX advertising dollars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No way to compare scenarios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No way to understand how well an investment works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Need for a more customizable, predictive app using nascent AI technology</a:t>
            </a:r>
          </a:p>
        </p:txBody>
      </p:sp>
      <p:sp>
        <p:nvSpPr>
          <p:cNvPr id="105" name="Team"/>
          <p:cNvSpPr txBox="1"/>
          <p:nvPr/>
        </p:nvSpPr>
        <p:spPr>
          <a:xfrm>
            <a:off x="8669866"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TEAM AND MY PART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partnered with AMEX data scientists, who built the projection and optimization engines; I designed how partners build, compare and trust scenarios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managed discovery, including research, strategy and hands-on design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led every deliverable in Sketch and Figma, with Lean UX and usability testing</a:t>
            </a:r>
          </a:p>
        </p:txBody>
      </p:sp>
      <p:pic>
        <p:nvPicPr>
          <p:cNvPr id="106"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WHY</a:t>
            </a:r>
          </a:p>
        </p:txBody>
      </p:sp>
      <p:sp>
        <p:nvSpPr>
          <p:cNvPr id="102" name="Headline"/>
          <p:cNvSpPr txBox="1"/>
          <p:nvPr/>
        </p:nvSpPr>
        <p:spPr>
          <a:xfrm>
            <a:off x="822960" y="1371600"/>
            <a:ext cx="11358880" cy="9144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Why design </a:t>
            </a:r>
            <a:r>
              <a:rPr lang="en-US" sz="4000" spc="-40" dirty="0">
                <a:solidFill>
                  <a:srgbClr val="B5531F"/>
                </a:solidFill>
                <a:latin typeface="Helvetica Neue Medium"/>
                <a:cs typeface="Helvetica Neue Medium"/>
              </a:rPr>
              <a:t>MOCA</a:t>
            </a:r>
            <a:r>
              <a:rPr lang="en-US" sz="4000" spc="-40" dirty="0">
                <a:solidFill>
                  <a:srgbClr val="14161D"/>
                </a:solidFill>
                <a:latin typeface="Helvetica Neue Medium"/>
                <a:cs typeface="Helvetica Neue Medium"/>
              </a:rPr>
              <a:t>?</a:t>
            </a:r>
          </a:p>
        </p:txBody>
      </p:sp>
      <p:sp>
        <p:nvSpPr>
          <p:cNvPr id="3034" name="Tile"/>
          <p:cNvSpPr/>
          <p:nvPr/>
        </p:nvSpPr>
        <p:spPr>
          <a:xfrm>
            <a:off x="822960" y="2606040"/>
            <a:ext cx="5577840" cy="5623560"/>
          </a:xfrm>
          <a:prstGeom prst="roundRect">
            <a:avLst>
              <a:gd name="adj" fmla="val 2295"/>
            </a:avLst>
          </a:prstGeom>
          <a:solidFill>
            <a:srgbClr val="B5531F"/>
          </a:solidFill>
          <a:ln>
            <a:noFill/>
          </a:ln>
        </p:spPr>
        <p:txBody>
          <a:bodyPr/>
          <a:lstStyle/>
          <a:p>
            <a:endParaRPr lang="en-US"/>
          </a:p>
        </p:txBody>
      </p:sp>
      <p:sp>
        <p:nvSpPr>
          <p:cNvPr id="103" name="Number"/>
          <p:cNvSpPr txBox="1"/>
          <p:nvPr/>
        </p:nvSpPr>
        <p:spPr>
          <a:xfrm>
            <a:off x="1097280" y="2807208"/>
            <a:ext cx="5029200" cy="1466850"/>
          </a:xfrm>
          <a:prstGeom prst="rect">
            <a:avLst/>
          </a:prstGeom>
          <a:noFill/>
        </p:spPr>
        <p:txBody>
          <a:bodyPr wrap="square" lIns="0" tIns="0" rIns="0" bIns="0" anchor="t">
            <a:noAutofit/>
          </a:bodyPr>
          <a:lstStyle/>
          <a:p>
            <a:pPr algn="l">
              <a:lnSpc>
                <a:spcPct val="88000"/>
              </a:lnSpc>
              <a:spcAft>
                <a:spcPts val="300"/>
              </a:spcAft>
            </a:pPr>
            <a:r>
              <a:rPr lang="en-US" sz="11000" spc="-60" dirty="0">
                <a:solidFill>
                  <a:srgbClr val="FFFFFF"/>
                </a:solidFill>
                <a:latin typeface="Helvetica Neue Medium"/>
                <a:cs typeface="Helvetica Neue Medium"/>
              </a:rPr>
              <a:t>$1.34M</a:t>
            </a:r>
          </a:p>
        </p:txBody>
      </p:sp>
      <p:sp>
        <p:nvSpPr>
          <p:cNvPr id="104" name="Label"/>
          <p:cNvSpPr txBox="1"/>
          <p:nvPr/>
        </p:nvSpPr>
        <p:spPr>
          <a:xfrm>
            <a:off x="1097280" y="4347210"/>
            <a:ext cx="5029200" cy="914400"/>
          </a:xfrm>
          <a:prstGeom prst="rect">
            <a:avLst/>
          </a:prstGeom>
          <a:noFill/>
        </p:spPr>
        <p:txBody>
          <a:bodyPr wrap="square" lIns="0" tIns="0" rIns="0" bIns="0" anchor="t">
            <a:noAutofit/>
          </a:bodyPr>
          <a:lstStyle/>
          <a:p>
            <a:pPr algn="l">
              <a:lnSpc>
                <a:spcPct val="115000"/>
              </a:lnSpc>
              <a:spcAft>
                <a:spcPts val="300"/>
              </a:spcAft>
            </a:pPr>
            <a:r>
              <a:rPr lang="en-US" sz="1600" spc="0" dirty="0">
                <a:solidFill>
                  <a:srgbClr val="FBE3D8"/>
                </a:solidFill>
                <a:latin typeface="Helvetica Neue Light"/>
                <a:cs typeface="Helvetica Neue Light"/>
              </a:rPr>
              <a:t>average client budget, before MOCA</a:t>
            </a:r>
          </a:p>
        </p:txBody>
      </p:sp>
      <p:sp>
        <p:nvSpPr>
          <p:cNvPr id="105" name="Bar label"/>
          <p:cNvSpPr txBox="1"/>
          <p:nvPr/>
        </p:nvSpPr>
        <p:spPr>
          <a:xfrm>
            <a:off x="1097280" y="7104888"/>
            <a:ext cx="5029200" cy="201168"/>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FFFFFF"/>
                </a:solidFill>
                <a:latin typeface="Helvetica Neue Medium"/>
                <a:cs typeface="Helvetica Neue Medium"/>
              </a:rPr>
              <a:t>Before MOCA: $1.34M</a:t>
            </a:r>
          </a:p>
        </p:txBody>
      </p:sp>
      <p:sp>
        <p:nvSpPr>
          <p:cNvPr id="3035" name="Tile"/>
          <p:cNvSpPr/>
          <p:nvPr/>
        </p:nvSpPr>
        <p:spPr>
          <a:xfrm>
            <a:off x="1097280" y="7324344"/>
            <a:ext cx="5029200" cy="146304"/>
          </a:xfrm>
          <a:prstGeom prst="roundRect">
            <a:avLst>
              <a:gd name="adj" fmla="val 37500"/>
            </a:avLst>
          </a:prstGeom>
          <a:solidFill>
            <a:srgbClr val="FFFFFF">
              <a:alpha val="30000"/>
            </a:srgbClr>
          </a:solidFill>
          <a:ln>
            <a:noFill/>
          </a:ln>
        </p:spPr>
        <p:txBody>
          <a:bodyPr/>
          <a:lstStyle/>
          <a:p>
            <a:endParaRPr lang="en-US"/>
          </a:p>
        </p:txBody>
      </p:sp>
      <p:sp>
        <p:nvSpPr>
          <p:cNvPr id="3036" name="Tile"/>
          <p:cNvSpPr/>
          <p:nvPr/>
        </p:nvSpPr>
        <p:spPr>
          <a:xfrm>
            <a:off x="1097280" y="7324344"/>
            <a:ext cx="3743960" cy="146304"/>
          </a:xfrm>
          <a:prstGeom prst="roundRect">
            <a:avLst>
              <a:gd name="adj" fmla="val 37500"/>
            </a:avLst>
          </a:prstGeom>
          <a:solidFill>
            <a:srgbClr val="7ACFFF"/>
          </a:solidFill>
          <a:ln>
            <a:noFill/>
          </a:ln>
        </p:spPr>
        <p:txBody>
          <a:bodyPr/>
          <a:lstStyle/>
          <a:p>
            <a:endParaRPr lang="en-US"/>
          </a:p>
        </p:txBody>
      </p:sp>
      <p:sp>
        <p:nvSpPr>
          <p:cNvPr id="106" name="Bar label"/>
          <p:cNvSpPr txBox="1"/>
          <p:nvPr/>
        </p:nvSpPr>
        <p:spPr>
          <a:xfrm>
            <a:off x="1097280" y="7488936"/>
            <a:ext cx="5029200" cy="201168"/>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FBE3D8"/>
                </a:solidFill>
                <a:latin typeface="Helvetica Neue Light"/>
                <a:cs typeface="Helvetica Neue Light"/>
              </a:rPr>
              <a:t>After launch: $1.8M (see Results)</a:t>
            </a:r>
          </a:p>
        </p:txBody>
      </p:sp>
      <p:sp>
        <p:nvSpPr>
          <p:cNvPr id="3037" name="Tile"/>
          <p:cNvSpPr/>
          <p:nvPr/>
        </p:nvSpPr>
        <p:spPr>
          <a:xfrm>
            <a:off x="1097280" y="7708392"/>
            <a:ext cx="5029200" cy="146304"/>
          </a:xfrm>
          <a:prstGeom prst="roundRect">
            <a:avLst>
              <a:gd name="adj" fmla="val 37500"/>
            </a:avLst>
          </a:prstGeom>
          <a:solidFill>
            <a:srgbClr val="FFFFFF">
              <a:alpha val="30000"/>
            </a:srgbClr>
          </a:solidFill>
          <a:ln>
            <a:noFill/>
          </a:ln>
        </p:spPr>
        <p:txBody>
          <a:bodyPr/>
          <a:lstStyle/>
          <a:p>
            <a:endParaRPr lang="en-US"/>
          </a:p>
        </p:txBody>
      </p:sp>
      <p:sp>
        <p:nvSpPr>
          <p:cNvPr id="3038" name="Tile"/>
          <p:cNvSpPr/>
          <p:nvPr/>
        </p:nvSpPr>
        <p:spPr>
          <a:xfrm>
            <a:off x="1097280" y="7708392"/>
            <a:ext cx="5029200" cy="146304"/>
          </a:xfrm>
          <a:prstGeom prst="roundRect">
            <a:avLst>
              <a:gd name="adj" fmla="val 37500"/>
            </a:avLst>
          </a:prstGeom>
          <a:solidFill>
            <a:srgbClr val="FFFFFF">
              <a:alpha val="60000"/>
            </a:srgbClr>
          </a:solidFill>
          <a:ln>
            <a:noFill/>
          </a:ln>
        </p:spPr>
        <p:txBody>
          <a:bodyPr/>
          <a:lstStyle/>
          <a:p>
            <a:endParaRPr lang="en-US"/>
          </a:p>
        </p:txBody>
      </p:sp>
      <p:sp>
        <p:nvSpPr>
          <p:cNvPr id="3039" name="Tile"/>
          <p:cNvSpPr/>
          <p:nvPr/>
        </p:nvSpPr>
        <p:spPr>
          <a:xfrm>
            <a:off x="6583680" y="2606040"/>
            <a:ext cx="5596128" cy="1752600"/>
          </a:xfrm>
          <a:prstGeom prst="roundRect">
            <a:avLst>
              <a:gd name="adj" fmla="val 7304"/>
            </a:avLst>
          </a:prstGeom>
          <a:solidFill>
            <a:srgbClr val="F1F2F5"/>
          </a:solidFill>
          <a:ln>
            <a:noFill/>
          </a:ln>
        </p:spPr>
        <p:txBody>
          <a:bodyPr/>
          <a:lstStyle/>
          <a:p>
            <a:endParaRPr lang="en-US"/>
          </a:p>
        </p:txBody>
      </p:sp>
      <p:sp>
        <p:nvSpPr>
          <p:cNvPr id="107" name="Number"/>
          <p:cNvSpPr txBox="1"/>
          <p:nvPr/>
        </p:nvSpPr>
        <p:spPr>
          <a:xfrm>
            <a:off x="6858000" y="2606040"/>
            <a:ext cx="2350373" cy="1752600"/>
          </a:xfrm>
          <a:prstGeom prst="rect">
            <a:avLst/>
          </a:prstGeom>
          <a:noFill/>
        </p:spPr>
        <p:txBody>
          <a:bodyPr wrap="square" lIns="0" tIns="0" rIns="0" bIns="0" anchor="ctr">
            <a:noAutofit/>
          </a:bodyPr>
          <a:lstStyle/>
          <a:p>
            <a:pPr algn="l">
              <a:lnSpc>
                <a:spcPct val="90000"/>
              </a:lnSpc>
              <a:spcAft>
                <a:spcPts val="300"/>
              </a:spcAft>
            </a:pPr>
            <a:r>
              <a:rPr lang="en-US" sz="5400" spc="-40" dirty="0">
                <a:solidFill>
                  <a:srgbClr val="14161D"/>
                </a:solidFill>
                <a:latin typeface="Helvetica Neue Medium"/>
                <a:cs typeface="Helvetica Neue Medium"/>
              </a:rPr>
              <a:t>58%</a:t>
            </a:r>
          </a:p>
        </p:txBody>
      </p:sp>
      <p:sp>
        <p:nvSpPr>
          <p:cNvPr id="108" name="Label"/>
          <p:cNvSpPr txBox="1"/>
          <p:nvPr/>
        </p:nvSpPr>
        <p:spPr>
          <a:xfrm>
            <a:off x="8473440" y="2606040"/>
            <a:ext cx="3432047" cy="1752600"/>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565C6B"/>
                </a:solidFill>
                <a:latin typeface="Helvetica Neue Light"/>
                <a:cs typeface="Helvetica Neue Light"/>
              </a:rPr>
              <a:t>approval from internal business partners</a:t>
            </a:r>
          </a:p>
        </p:txBody>
      </p:sp>
      <p:sp>
        <p:nvSpPr>
          <p:cNvPr id="3040" name="Tile"/>
          <p:cNvSpPr/>
          <p:nvPr/>
        </p:nvSpPr>
        <p:spPr>
          <a:xfrm>
            <a:off x="6583680" y="4541520"/>
            <a:ext cx="5596128" cy="1752600"/>
          </a:xfrm>
          <a:prstGeom prst="roundRect">
            <a:avLst>
              <a:gd name="adj" fmla="val 7304"/>
            </a:avLst>
          </a:prstGeom>
          <a:solidFill>
            <a:srgbClr val="1B1D24"/>
          </a:solidFill>
          <a:ln>
            <a:noFill/>
          </a:ln>
        </p:spPr>
        <p:txBody>
          <a:bodyPr/>
          <a:lstStyle/>
          <a:p>
            <a:endParaRPr lang="en-US"/>
          </a:p>
        </p:txBody>
      </p:sp>
      <p:sp>
        <p:nvSpPr>
          <p:cNvPr id="109" name="Number"/>
          <p:cNvSpPr txBox="1"/>
          <p:nvPr/>
        </p:nvSpPr>
        <p:spPr>
          <a:xfrm>
            <a:off x="6858000" y="4541520"/>
            <a:ext cx="2350373" cy="1752600"/>
          </a:xfrm>
          <a:prstGeom prst="rect">
            <a:avLst/>
          </a:prstGeom>
          <a:noFill/>
        </p:spPr>
        <p:txBody>
          <a:bodyPr wrap="square" lIns="0" tIns="0" rIns="0" bIns="0" anchor="ctr">
            <a:noAutofit/>
          </a:bodyPr>
          <a:lstStyle/>
          <a:p>
            <a:pPr algn="l">
              <a:lnSpc>
                <a:spcPct val="90000"/>
              </a:lnSpc>
              <a:spcAft>
                <a:spcPts val="300"/>
              </a:spcAft>
            </a:pPr>
            <a:r>
              <a:rPr lang="en-US" sz="5400" spc="-40" dirty="0">
                <a:solidFill>
                  <a:srgbClr val="F5F5F7"/>
                </a:solidFill>
                <a:latin typeface="Helvetica Neue Medium"/>
                <a:cs typeface="Helvetica Neue Medium"/>
              </a:rPr>
              <a:t>12 min</a:t>
            </a:r>
          </a:p>
        </p:txBody>
      </p:sp>
      <p:sp>
        <p:nvSpPr>
          <p:cNvPr id="110" name="Label"/>
          <p:cNvSpPr txBox="1"/>
          <p:nvPr/>
        </p:nvSpPr>
        <p:spPr>
          <a:xfrm>
            <a:off x="9208373" y="4541520"/>
            <a:ext cx="2697114" cy="1752600"/>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A3A8B4"/>
                </a:solidFill>
                <a:latin typeface="Helvetica Neue Light"/>
                <a:cs typeface="Helvetica Neue Light"/>
              </a:rPr>
              <a:t>average time for partners to complete a budget</a:t>
            </a:r>
          </a:p>
        </p:txBody>
      </p:sp>
      <p:sp>
        <p:nvSpPr>
          <p:cNvPr id="3041" name="Tile"/>
          <p:cNvSpPr/>
          <p:nvPr/>
        </p:nvSpPr>
        <p:spPr>
          <a:xfrm>
            <a:off x="6583680" y="6477000"/>
            <a:ext cx="5596128" cy="1752600"/>
          </a:xfrm>
          <a:prstGeom prst="roundRect">
            <a:avLst>
              <a:gd name="adj" fmla="val 7304"/>
            </a:avLst>
          </a:prstGeom>
          <a:solidFill>
            <a:srgbClr val="1B1D24"/>
          </a:solidFill>
          <a:ln>
            <a:noFill/>
          </a:ln>
        </p:spPr>
        <p:txBody>
          <a:bodyPr/>
          <a:lstStyle/>
          <a:p>
            <a:endParaRPr lang="en-US"/>
          </a:p>
        </p:txBody>
      </p:sp>
      <p:sp>
        <p:nvSpPr>
          <p:cNvPr id="111" name="Number"/>
          <p:cNvSpPr txBox="1"/>
          <p:nvPr/>
        </p:nvSpPr>
        <p:spPr>
          <a:xfrm>
            <a:off x="6858000" y="6477000"/>
            <a:ext cx="2350373" cy="1752600"/>
          </a:xfrm>
          <a:prstGeom prst="rect">
            <a:avLst/>
          </a:prstGeom>
          <a:noFill/>
        </p:spPr>
        <p:txBody>
          <a:bodyPr wrap="square" lIns="0" tIns="0" rIns="0" bIns="0" anchor="ctr">
            <a:noAutofit/>
          </a:bodyPr>
          <a:lstStyle/>
          <a:p>
            <a:pPr algn="l">
              <a:lnSpc>
                <a:spcPct val="90000"/>
              </a:lnSpc>
              <a:spcAft>
                <a:spcPts val="300"/>
              </a:spcAft>
            </a:pPr>
            <a:r>
              <a:rPr lang="en-US" sz="5400" spc="-40" dirty="0">
                <a:solidFill>
                  <a:srgbClr val="F5F5F7"/>
                </a:solidFill>
                <a:latin typeface="Helvetica Neue Medium"/>
                <a:cs typeface="Helvetica Neue Medium"/>
              </a:rPr>
              <a:t>5.4%</a:t>
            </a:r>
          </a:p>
        </p:txBody>
      </p:sp>
      <p:sp>
        <p:nvSpPr>
          <p:cNvPr id="112" name="Label"/>
          <p:cNvSpPr txBox="1"/>
          <p:nvPr/>
        </p:nvSpPr>
        <p:spPr>
          <a:xfrm>
            <a:off x="8717280" y="6477000"/>
            <a:ext cx="3188207" cy="1752600"/>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A3A8B4"/>
                </a:solidFill>
                <a:latin typeface="Helvetica Neue Light"/>
                <a:cs typeface="Helvetica Neue Light"/>
              </a:rPr>
              <a:t>drop-off on the current budget process</a:t>
            </a:r>
          </a:p>
        </p:txBody>
      </p:sp>
      <p:pic>
        <p:nvPicPr>
          <p:cNvPr id="113"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DISCOVERY</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We set out to find real user needs, </a:t>
            </a:r>
            <a:r>
              <a:rPr lang="en-US" sz="3600" spc="-40" dirty="0">
                <a:solidFill>
                  <a:srgbClr val="B5531F"/>
                </a:solidFill>
                <a:latin typeface="Helvetica Neue Medium"/>
                <a:cs typeface="Helvetica Neue Medium"/>
              </a:rPr>
              <a:t>test the business’s assumptions</a:t>
            </a:r>
            <a:r>
              <a:rPr lang="en-US" sz="3600" spc="-40" dirty="0">
                <a:solidFill>
                  <a:srgbClr val="14161D"/>
                </a:solidFill>
                <a:latin typeface="Helvetica Neue Medium"/>
                <a:cs typeface="Helvetica Neue Medium"/>
              </a:rPr>
              <a:t> and generate new ideas.</a:t>
            </a:r>
          </a:p>
        </p:txBody>
      </p:sp>
      <p:sp>
        <p:nvSpPr>
          <p:cNvPr id="103" name="Methods"/>
          <p:cNvSpPr txBox="1"/>
          <p:nvPr/>
        </p:nvSpPr>
        <p:spPr>
          <a:xfrm>
            <a:off x="822960" y="3611880"/>
            <a:ext cx="5427980"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METHODS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Interviews with internal stakeholders, SMEs and users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Sales managers and sales advisors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Contextual interviews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Persona development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Co-design sessions with data scientists</a:t>
            </a:r>
          </a:p>
        </p:txBody>
      </p:sp>
      <p:sp>
        <p:nvSpPr>
          <p:cNvPr id="104" name="Problem"/>
          <p:cNvSpPr txBox="1"/>
          <p:nvPr/>
        </p:nvSpPr>
        <p:spPr>
          <a:xfrm>
            <a:off x="6753860" y="3611880"/>
            <a:ext cx="5427980" cy="438912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PROBLEM STATEMENT</a:t>
            </a:r>
          </a:p>
          <a:p>
            <a:pPr algn="l">
              <a:lnSpc>
                <a:spcPct val="125000"/>
              </a:lnSpc>
              <a:spcAft>
                <a:spcPts val="500"/>
              </a:spcAft>
            </a:pPr>
            <a:r>
              <a:rPr lang="en-US" sz="1550" spc="0" dirty="0">
                <a:solidFill>
                  <a:srgbClr val="14161D"/>
                </a:solidFill>
                <a:latin typeface="Helvetica Neue Light"/>
                <a:cs typeface="Helvetica Neue Light"/>
              </a:rPr>
              <a:t>Internal business partners have no tool to help their clients budget AMEX advertising dollars effectively. Users need an application to allocate marketing budgets across the AMEX product lines.</a:t>
            </a:r>
          </a:p>
        </p:txBody>
      </p:sp>
      <p:pic>
        <p:nvPicPr>
          <p:cNvPr id="10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STRATEGY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Pain points + business goals + UX strategy = feature set</a:t>
            </a:r>
          </a:p>
        </p:txBody>
      </p:sp>
      <p:cxnSp>
        <p:nvCxnSpPr>
          <p:cNvPr id="103" name="Divider"/>
          <p:cNvCxnSpPr/>
          <p:nvPr/>
        </p:nvCxnSpPr>
        <p:spPr>
          <a:xfrm>
            <a:off x="822960" y="2651760"/>
            <a:ext cx="2668270" cy="0"/>
          </a:xfrm>
          <a:prstGeom prst="line">
            <a:avLst/>
          </a:prstGeom>
          <a:ln w="9525">
            <a:solidFill>
              <a:srgbClr val="E1E3E8"/>
            </a:solidFill>
          </a:ln>
        </p:spPr>
      </p:cxnSp>
      <p:sp>
        <p:nvSpPr>
          <p:cNvPr id="104" name="PAIN POINTS"/>
          <p:cNvSpPr txBox="1"/>
          <p:nvPr/>
        </p:nvSpPr>
        <p:spPr>
          <a:xfrm>
            <a:off x="82296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PAIN POINTS</a:t>
            </a:r>
          </a:p>
          <a:p>
            <a:pPr algn="l">
              <a:lnSpc>
                <a:spcPct val="115000"/>
              </a:lnSpc>
              <a:spcAft>
                <a:spcPts val="900"/>
              </a:spcAft>
            </a:pPr>
            <a:r>
              <a:rPr lang="en-US" sz="1700" spc="0" dirty="0">
                <a:solidFill>
                  <a:srgbClr val="565C6B"/>
                </a:solidFill>
                <a:latin typeface="Helvetica Neue Light"/>
                <a:cs typeface="Helvetica Neue Light"/>
              </a:rPr>
              <a:t>Scenario builder</a:t>
            </a:r>
          </a:p>
          <a:p>
            <a:pPr algn="l">
              <a:lnSpc>
                <a:spcPct val="115000"/>
              </a:lnSpc>
              <a:spcAft>
                <a:spcPts val="900"/>
              </a:spcAft>
            </a:pPr>
            <a:r>
              <a:rPr lang="en-US" sz="1700" spc="0" dirty="0">
                <a:solidFill>
                  <a:srgbClr val="565C6B"/>
                </a:solidFill>
                <a:latin typeface="Helvetica Neue Light"/>
                <a:cs typeface="Helvetica Neue Light"/>
              </a:rPr>
              <a:t>Data visualizer</a:t>
            </a:r>
          </a:p>
          <a:p>
            <a:pPr algn="l">
              <a:lnSpc>
                <a:spcPct val="115000"/>
              </a:lnSpc>
              <a:spcAft>
                <a:spcPts val="900"/>
              </a:spcAft>
            </a:pPr>
            <a:r>
              <a:rPr lang="en-US" sz="1700" spc="0" dirty="0">
                <a:solidFill>
                  <a:srgbClr val="565C6B"/>
                </a:solidFill>
                <a:latin typeface="Helvetica Neue Light"/>
                <a:cs typeface="Helvetica Neue Light"/>
              </a:rPr>
              <a:t>Comparison</a:t>
            </a:r>
          </a:p>
          <a:p>
            <a:pPr algn="l">
              <a:lnSpc>
                <a:spcPct val="115000"/>
              </a:lnSpc>
              <a:spcAft>
                <a:spcPts val="900"/>
              </a:spcAft>
            </a:pPr>
            <a:r>
              <a:rPr lang="en-US" sz="1700" spc="0" dirty="0">
                <a:solidFill>
                  <a:srgbClr val="565C6B"/>
                </a:solidFill>
                <a:latin typeface="Helvetica Neue Light"/>
                <a:cs typeface="Helvetica Neue Light"/>
              </a:rPr>
              <a:t>Importing data sets from Excel</a:t>
            </a:r>
          </a:p>
          <a:p>
            <a:pPr algn="l">
              <a:lnSpc>
                <a:spcPct val="115000"/>
              </a:lnSpc>
              <a:spcAft>
                <a:spcPts val="900"/>
              </a:spcAft>
            </a:pPr>
            <a:r>
              <a:rPr lang="en-US" sz="1700" spc="0" dirty="0">
                <a:solidFill>
                  <a:srgbClr val="565C6B"/>
                </a:solidFill>
                <a:latin typeface="Helvetica Neue Light"/>
                <a:cs typeface="Helvetica Neue Light"/>
              </a:rPr>
              <a:t>Changing each allocation by channel or product</a:t>
            </a:r>
          </a:p>
        </p:txBody>
      </p:sp>
      <p:sp>
        <p:nvSpPr>
          <p:cNvPr id="105" name="op"/>
          <p:cNvSpPr txBox="1"/>
          <p:nvPr/>
        </p:nvSpPr>
        <p:spPr>
          <a:xfrm>
            <a:off x="344551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06" name="Divider"/>
          <p:cNvCxnSpPr/>
          <p:nvPr/>
        </p:nvCxnSpPr>
        <p:spPr>
          <a:xfrm>
            <a:off x="3719830" y="2651760"/>
            <a:ext cx="2668270" cy="0"/>
          </a:xfrm>
          <a:prstGeom prst="line">
            <a:avLst/>
          </a:prstGeom>
          <a:ln w="9525">
            <a:solidFill>
              <a:srgbClr val="E1E3E8"/>
            </a:solidFill>
          </a:ln>
        </p:spPr>
      </p:cxnSp>
      <p:sp>
        <p:nvSpPr>
          <p:cNvPr id="107" name="BUSINESS GOALS"/>
          <p:cNvSpPr txBox="1"/>
          <p:nvPr/>
        </p:nvSpPr>
        <p:spPr>
          <a:xfrm>
            <a:off x="371983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BUSINESS GOALS</a:t>
            </a:r>
          </a:p>
          <a:p>
            <a:pPr algn="l">
              <a:lnSpc>
                <a:spcPct val="115000"/>
              </a:lnSpc>
              <a:spcAft>
                <a:spcPts val="900"/>
              </a:spcAft>
            </a:pPr>
            <a:r>
              <a:rPr lang="en-US" sz="1700" spc="0" dirty="0">
                <a:solidFill>
                  <a:srgbClr val="565C6B"/>
                </a:solidFill>
                <a:latin typeface="Helvetica Neue Light"/>
                <a:cs typeface="Helvetica Neue Light"/>
              </a:rPr>
              <a:t>Education</a:t>
            </a:r>
          </a:p>
          <a:p>
            <a:pPr algn="l">
              <a:lnSpc>
                <a:spcPct val="115000"/>
              </a:lnSpc>
              <a:spcAft>
                <a:spcPts val="900"/>
              </a:spcAft>
            </a:pPr>
            <a:r>
              <a:rPr lang="en-US" sz="1700" spc="0" dirty="0">
                <a:solidFill>
                  <a:srgbClr val="565C6B"/>
                </a:solidFill>
                <a:latin typeface="Helvetica Neue Light"/>
                <a:cs typeface="Helvetica Neue Light"/>
              </a:rPr>
              <a:t>Platform parity</a:t>
            </a:r>
          </a:p>
          <a:p>
            <a:pPr algn="l">
              <a:lnSpc>
                <a:spcPct val="115000"/>
              </a:lnSpc>
              <a:spcAft>
                <a:spcPts val="900"/>
              </a:spcAft>
            </a:pPr>
            <a:r>
              <a:rPr lang="en-US" sz="1700" spc="0" dirty="0">
                <a:solidFill>
                  <a:srgbClr val="565C6B"/>
                </a:solidFill>
                <a:latin typeface="Helvetica Neue Light"/>
                <a:cs typeface="Helvetica Neue Light"/>
              </a:rPr>
              <a:t>Integrated systems</a:t>
            </a:r>
          </a:p>
          <a:p>
            <a:pPr algn="l">
              <a:lnSpc>
                <a:spcPct val="115000"/>
              </a:lnSpc>
              <a:spcAft>
                <a:spcPts val="900"/>
              </a:spcAft>
            </a:pPr>
            <a:r>
              <a:rPr lang="en-US" sz="1700" spc="0" dirty="0">
                <a:solidFill>
                  <a:srgbClr val="565C6B"/>
                </a:solidFill>
                <a:latin typeface="Helvetica Neue Light"/>
                <a:cs typeface="Helvetica Neue Light"/>
              </a:rPr>
              <a:t>Data</a:t>
            </a:r>
          </a:p>
        </p:txBody>
      </p:sp>
      <p:sp>
        <p:nvSpPr>
          <p:cNvPr id="108" name="op"/>
          <p:cNvSpPr txBox="1"/>
          <p:nvPr/>
        </p:nvSpPr>
        <p:spPr>
          <a:xfrm>
            <a:off x="634238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09" name="Divider"/>
          <p:cNvCxnSpPr/>
          <p:nvPr/>
        </p:nvCxnSpPr>
        <p:spPr>
          <a:xfrm>
            <a:off x="6616700" y="2651760"/>
            <a:ext cx="2668270" cy="0"/>
          </a:xfrm>
          <a:prstGeom prst="line">
            <a:avLst/>
          </a:prstGeom>
          <a:ln w="9525">
            <a:solidFill>
              <a:srgbClr val="E1E3E8"/>
            </a:solidFill>
          </a:ln>
        </p:spPr>
      </p:cxnSp>
      <p:sp>
        <p:nvSpPr>
          <p:cNvPr id="110" name="UX STRATEGY"/>
          <p:cNvSpPr txBox="1"/>
          <p:nvPr/>
        </p:nvSpPr>
        <p:spPr>
          <a:xfrm>
            <a:off x="661670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UX STRATEGY</a:t>
            </a:r>
          </a:p>
          <a:p>
            <a:pPr algn="l">
              <a:lnSpc>
                <a:spcPct val="115000"/>
              </a:lnSpc>
              <a:spcAft>
                <a:spcPts val="900"/>
              </a:spcAft>
            </a:pPr>
            <a:r>
              <a:rPr lang="en-US" sz="1700" spc="0" dirty="0">
                <a:solidFill>
                  <a:srgbClr val="565C6B"/>
                </a:solidFill>
                <a:latin typeface="Helvetica Neue Light"/>
                <a:cs typeface="Helvetica Neue Light"/>
              </a:rPr>
              <a:t>Walk-through wizard</a:t>
            </a:r>
          </a:p>
          <a:p>
            <a:pPr algn="l">
              <a:lnSpc>
                <a:spcPct val="115000"/>
              </a:lnSpc>
              <a:spcAft>
                <a:spcPts val="900"/>
              </a:spcAft>
            </a:pPr>
            <a:r>
              <a:rPr lang="en-US" sz="1700" spc="0" dirty="0">
                <a:solidFill>
                  <a:srgbClr val="565C6B"/>
                </a:solidFill>
                <a:latin typeface="Helvetica Neue Light"/>
                <a:cs typeface="Helvetica Neue Light"/>
              </a:rPr>
              <a:t>Scenario builder</a:t>
            </a:r>
          </a:p>
          <a:p>
            <a:pPr algn="l">
              <a:lnSpc>
                <a:spcPct val="115000"/>
              </a:lnSpc>
              <a:spcAft>
                <a:spcPts val="900"/>
              </a:spcAft>
            </a:pPr>
            <a:r>
              <a:rPr lang="en-US" sz="1700" spc="0" dirty="0">
                <a:solidFill>
                  <a:srgbClr val="565C6B"/>
                </a:solidFill>
                <a:latin typeface="Helvetica Neue Light"/>
                <a:cs typeface="Helvetica Neue Light"/>
              </a:rPr>
              <a:t>Data visualizer</a:t>
            </a:r>
          </a:p>
          <a:p>
            <a:pPr algn="l">
              <a:lnSpc>
                <a:spcPct val="115000"/>
              </a:lnSpc>
              <a:spcAft>
                <a:spcPts val="900"/>
              </a:spcAft>
            </a:pPr>
            <a:r>
              <a:rPr lang="en-US" sz="1700" spc="0" dirty="0">
                <a:solidFill>
                  <a:srgbClr val="565C6B"/>
                </a:solidFill>
                <a:latin typeface="Helvetica Neue Light"/>
                <a:cs typeface="Helvetica Neue Light"/>
              </a:rPr>
              <a:t>Import data sets</a:t>
            </a:r>
          </a:p>
          <a:p>
            <a:pPr algn="l">
              <a:lnSpc>
                <a:spcPct val="115000"/>
              </a:lnSpc>
              <a:spcAft>
                <a:spcPts val="900"/>
              </a:spcAft>
            </a:pPr>
            <a:r>
              <a:rPr lang="en-US" sz="1700" spc="0" dirty="0">
                <a:solidFill>
                  <a:srgbClr val="565C6B"/>
                </a:solidFill>
                <a:latin typeface="Helvetica Neue Light"/>
                <a:cs typeface="Helvetica Neue Light"/>
              </a:rPr>
              <a:t>Channel and product allocation</a:t>
            </a:r>
          </a:p>
          <a:p>
            <a:pPr algn="l">
              <a:lnSpc>
                <a:spcPct val="115000"/>
              </a:lnSpc>
              <a:spcAft>
                <a:spcPts val="900"/>
              </a:spcAft>
            </a:pPr>
            <a:r>
              <a:rPr lang="en-US" sz="1700" spc="0" dirty="0">
                <a:solidFill>
                  <a:srgbClr val="565C6B"/>
                </a:solidFill>
                <a:latin typeface="Helvetica Neue Light"/>
                <a:cs typeface="Helvetica Neue Light"/>
              </a:rPr>
              <a:t>Optimization budget tool</a:t>
            </a:r>
          </a:p>
        </p:txBody>
      </p:sp>
      <p:sp>
        <p:nvSpPr>
          <p:cNvPr id="111" name="op"/>
          <p:cNvSpPr txBox="1"/>
          <p:nvPr/>
        </p:nvSpPr>
        <p:spPr>
          <a:xfrm>
            <a:off x="923925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12" name="Divider"/>
          <p:cNvCxnSpPr/>
          <p:nvPr/>
        </p:nvCxnSpPr>
        <p:spPr>
          <a:xfrm>
            <a:off x="9513570" y="2651760"/>
            <a:ext cx="2668270" cy="0"/>
          </a:xfrm>
          <a:prstGeom prst="line">
            <a:avLst/>
          </a:prstGeom>
          <a:ln w="28575">
            <a:solidFill>
              <a:srgbClr val="B5531F"/>
            </a:solidFill>
          </a:ln>
        </p:spPr>
      </p:cxnSp>
      <p:sp>
        <p:nvSpPr>
          <p:cNvPr id="113" name="FEATURE SET"/>
          <p:cNvSpPr txBox="1"/>
          <p:nvPr/>
        </p:nvSpPr>
        <p:spPr>
          <a:xfrm>
            <a:off x="951357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FEATURE SET</a:t>
            </a:r>
          </a:p>
          <a:p>
            <a:pPr algn="l">
              <a:lnSpc>
                <a:spcPct val="115000"/>
              </a:lnSpc>
              <a:spcAft>
                <a:spcPts val="900"/>
              </a:spcAft>
            </a:pPr>
            <a:r>
              <a:rPr lang="en-US" sz="1700" spc="0" dirty="0">
                <a:solidFill>
                  <a:srgbClr val="14161D"/>
                </a:solidFill>
                <a:latin typeface="Helvetica Neue Light"/>
                <a:cs typeface="Helvetica Neue Light"/>
              </a:rPr>
              <a:t>Walk-through wizard</a:t>
            </a:r>
          </a:p>
          <a:p>
            <a:pPr algn="l">
              <a:lnSpc>
                <a:spcPct val="115000"/>
              </a:lnSpc>
              <a:spcAft>
                <a:spcPts val="900"/>
              </a:spcAft>
            </a:pPr>
            <a:r>
              <a:rPr lang="en-US" sz="1700" spc="0" dirty="0">
                <a:solidFill>
                  <a:srgbClr val="14161D"/>
                </a:solidFill>
                <a:latin typeface="Helvetica Neue Light"/>
                <a:cs typeface="Helvetica Neue Light"/>
              </a:rPr>
              <a:t>Scenario builder</a:t>
            </a:r>
          </a:p>
          <a:p>
            <a:pPr algn="l">
              <a:lnSpc>
                <a:spcPct val="115000"/>
              </a:lnSpc>
              <a:spcAft>
                <a:spcPts val="900"/>
              </a:spcAft>
            </a:pPr>
            <a:r>
              <a:rPr lang="en-US" sz="1700" spc="0" dirty="0">
                <a:solidFill>
                  <a:srgbClr val="14161D"/>
                </a:solidFill>
                <a:latin typeface="Helvetica Neue Light"/>
                <a:cs typeface="Helvetica Neue Light"/>
              </a:rPr>
              <a:t>Data visualizer</a:t>
            </a:r>
          </a:p>
          <a:p>
            <a:pPr algn="l">
              <a:lnSpc>
                <a:spcPct val="115000"/>
              </a:lnSpc>
              <a:spcAft>
                <a:spcPts val="900"/>
              </a:spcAft>
            </a:pPr>
            <a:r>
              <a:rPr lang="en-US" sz="1700" spc="0" dirty="0">
                <a:solidFill>
                  <a:srgbClr val="14161D"/>
                </a:solidFill>
                <a:latin typeface="Helvetica Neue Light"/>
                <a:cs typeface="Helvetica Neue Light"/>
              </a:rPr>
              <a:t>Comparison</a:t>
            </a:r>
          </a:p>
          <a:p>
            <a:pPr algn="l">
              <a:lnSpc>
                <a:spcPct val="115000"/>
              </a:lnSpc>
              <a:spcAft>
                <a:spcPts val="900"/>
              </a:spcAft>
            </a:pPr>
            <a:r>
              <a:rPr lang="en-US" sz="1700" spc="0" dirty="0">
                <a:solidFill>
                  <a:srgbClr val="14161D"/>
                </a:solidFill>
                <a:latin typeface="Helvetica Neue Light"/>
                <a:cs typeface="Helvetica Neue Light"/>
              </a:rPr>
              <a:t>Import data sets</a:t>
            </a:r>
          </a:p>
          <a:p>
            <a:pPr algn="l">
              <a:lnSpc>
                <a:spcPct val="115000"/>
              </a:lnSpc>
              <a:spcAft>
                <a:spcPts val="900"/>
              </a:spcAft>
            </a:pPr>
            <a:r>
              <a:rPr lang="en-US" sz="1700" spc="0" dirty="0">
                <a:solidFill>
                  <a:srgbClr val="14161D"/>
                </a:solidFill>
                <a:latin typeface="Helvetica Neue Light"/>
                <a:cs typeface="Helvetica Neue Light"/>
              </a:rPr>
              <a:t>Channel and product allocation</a:t>
            </a:r>
          </a:p>
          <a:p>
            <a:pPr algn="l">
              <a:lnSpc>
                <a:spcPct val="115000"/>
              </a:lnSpc>
              <a:spcAft>
                <a:spcPts val="900"/>
              </a:spcAft>
            </a:pPr>
            <a:r>
              <a:rPr lang="en-US" sz="1700" spc="0" dirty="0">
                <a:solidFill>
                  <a:srgbClr val="14161D"/>
                </a:solidFill>
                <a:latin typeface="Helvetica Neue Light"/>
                <a:cs typeface="Helvetica Neue Light"/>
              </a:rPr>
              <a:t>Optimization budget tool</a:t>
            </a:r>
          </a:p>
          <a:p>
            <a:pPr algn="l">
              <a:lnSpc>
                <a:spcPct val="115000"/>
              </a:lnSpc>
              <a:spcAft>
                <a:spcPts val="900"/>
              </a:spcAft>
            </a:pPr>
            <a:r>
              <a:rPr lang="en-US" sz="1700" spc="0" dirty="0">
                <a:solidFill>
                  <a:srgbClr val="14161D"/>
                </a:solidFill>
                <a:latin typeface="Helvetica Neue Light"/>
                <a:cs typeface="Helvetica Neue Light"/>
              </a:rPr>
              <a:t>Integration with internal systems</a:t>
            </a:r>
          </a:p>
        </p:txBody>
      </p:sp>
      <p:pic>
        <p:nvPicPr>
          <p:cNvPr id="114"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DISCOVERY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The journey, distilled into 3 steps</a:t>
            </a:r>
          </a:p>
        </p:txBody>
      </p:sp>
      <p:pic>
        <p:nvPicPr>
          <p:cNvPr id="103" name="Picture 1" descr="image.png"/>
          <p:cNvPicPr>
            <a:picLocks noChangeAspect="1"/>
          </p:cNvPicPr>
          <p:nvPr/>
        </p:nvPicPr>
        <p:blipFill>
          <a:blip r:embed="rId2"/>
          <a:stretch>
            <a:fillRect/>
          </a:stretch>
        </p:blipFill>
        <p:spPr>
          <a:xfrm>
            <a:off x="2686468" y="4572000"/>
            <a:ext cx="7629831" cy="3703320"/>
          </a:xfrm>
          <a:prstGeom prst="rect">
            <a:avLst/>
          </a:prstGeom>
          <a:ln w="9525">
            <a:solidFill>
              <a:srgbClr val="D3D6DC"/>
            </a:solidFill>
          </a:ln>
        </p:spPr>
      </p:pic>
      <p:cxnSp>
        <p:nvCxnSpPr>
          <p:cNvPr id="104" name="Divider"/>
          <p:cNvCxnSpPr/>
          <p:nvPr/>
        </p:nvCxnSpPr>
        <p:spPr>
          <a:xfrm>
            <a:off x="822960" y="2057400"/>
            <a:ext cx="3542453" cy="0"/>
          </a:xfrm>
          <a:prstGeom prst="line">
            <a:avLst/>
          </a:prstGeom>
          <a:ln w="28575">
            <a:solidFill>
              <a:srgbClr val="B5531F"/>
            </a:solidFill>
          </a:ln>
        </p:spPr>
      </p:cxnSp>
      <p:sp>
        <p:nvSpPr>
          <p:cNvPr id="105" name="Walk-through wizard"/>
          <p:cNvSpPr txBox="1"/>
          <p:nvPr/>
        </p:nvSpPr>
        <p:spPr>
          <a:xfrm>
            <a:off x="822960" y="2240280"/>
            <a:ext cx="3542453" cy="2103120"/>
          </a:xfrm>
          <a:prstGeom prst="rect">
            <a:avLst/>
          </a:prstGeom>
          <a:noFill/>
        </p:spPr>
        <p:txBody>
          <a:bodyPr wrap="square" lIns="0" tIns="0" rIns="0" bIns="0" anchor="t">
            <a:noAutofit/>
          </a:bodyPr>
          <a:lstStyle/>
          <a:p>
            <a:pPr algn="l">
              <a:lnSpc>
                <a:spcPct val="105000"/>
              </a:lnSpc>
              <a:spcAft>
                <a:spcPts val="250"/>
              </a:spcAft>
            </a:pPr>
            <a:r>
              <a:rPr lang="en-US" sz="2400" spc="0" dirty="0">
                <a:solidFill>
                  <a:srgbClr val="B5531F"/>
                </a:solidFill>
                <a:latin typeface="Helvetica Neue Medium"/>
                <a:cs typeface="Helvetica Neue Medium"/>
              </a:rPr>
              <a:t>1</a:t>
            </a:r>
          </a:p>
          <a:p>
            <a:pPr algn="l">
              <a:lnSpc>
                <a:spcPct val="105000"/>
              </a:lnSpc>
              <a:spcAft>
                <a:spcPts val="250"/>
              </a:spcAft>
            </a:pPr>
            <a:r>
              <a:rPr lang="en-US" sz="1700" spc="0" dirty="0">
                <a:solidFill>
                  <a:srgbClr val="14161D"/>
                </a:solidFill>
                <a:latin typeface="Helvetica Neue Medium"/>
                <a:cs typeface="Helvetica Neue Medium"/>
              </a:rPr>
              <a:t>Walk-through wizard</a:t>
            </a:r>
          </a:p>
          <a:p>
            <a:pPr algn="l">
              <a:lnSpc>
                <a:spcPct val="125000"/>
              </a:lnSpc>
              <a:spcAft>
                <a:spcPts val="250"/>
              </a:spcAft>
            </a:pPr>
            <a:r>
              <a:rPr lang="en-US" sz="1550" spc="0" dirty="0">
                <a:solidFill>
                  <a:srgbClr val="565C6B"/>
                </a:solidFill>
                <a:latin typeface="Helvetica Neue Light"/>
                <a:cs typeface="Helvetica Neue Light"/>
              </a:rPr>
              <a:t>Guides users through the budget projection: import data, set dates, adjust each allocation by channel and product.</a:t>
            </a:r>
          </a:p>
        </p:txBody>
      </p:sp>
      <p:cxnSp>
        <p:nvCxnSpPr>
          <p:cNvPr id="106" name="Divider"/>
          <p:cNvCxnSpPr/>
          <p:nvPr/>
        </p:nvCxnSpPr>
        <p:spPr>
          <a:xfrm>
            <a:off x="4731173" y="2057400"/>
            <a:ext cx="3542453" cy="0"/>
          </a:xfrm>
          <a:prstGeom prst="line">
            <a:avLst/>
          </a:prstGeom>
          <a:ln w="28575">
            <a:solidFill>
              <a:srgbClr val="B5531F"/>
            </a:solidFill>
          </a:ln>
        </p:spPr>
      </p:cxnSp>
      <p:sp>
        <p:nvSpPr>
          <p:cNvPr id="107" name="Scenario builder"/>
          <p:cNvSpPr txBox="1"/>
          <p:nvPr/>
        </p:nvSpPr>
        <p:spPr>
          <a:xfrm>
            <a:off x="4731173" y="2240280"/>
            <a:ext cx="3542453" cy="2103120"/>
          </a:xfrm>
          <a:prstGeom prst="rect">
            <a:avLst/>
          </a:prstGeom>
          <a:noFill/>
        </p:spPr>
        <p:txBody>
          <a:bodyPr wrap="square" lIns="0" tIns="0" rIns="0" bIns="0" anchor="t">
            <a:noAutofit/>
          </a:bodyPr>
          <a:lstStyle/>
          <a:p>
            <a:pPr algn="l">
              <a:lnSpc>
                <a:spcPct val="105000"/>
              </a:lnSpc>
              <a:spcAft>
                <a:spcPts val="250"/>
              </a:spcAft>
            </a:pPr>
            <a:r>
              <a:rPr lang="en-US" sz="2400" spc="0" dirty="0">
                <a:solidFill>
                  <a:srgbClr val="B5531F"/>
                </a:solidFill>
                <a:latin typeface="Helvetica Neue Medium"/>
                <a:cs typeface="Helvetica Neue Medium"/>
              </a:rPr>
              <a:t>2</a:t>
            </a:r>
          </a:p>
          <a:p>
            <a:pPr algn="l">
              <a:lnSpc>
                <a:spcPct val="105000"/>
              </a:lnSpc>
              <a:spcAft>
                <a:spcPts val="250"/>
              </a:spcAft>
            </a:pPr>
            <a:r>
              <a:rPr lang="en-US" sz="1700" spc="0" dirty="0">
                <a:solidFill>
                  <a:srgbClr val="14161D"/>
                </a:solidFill>
                <a:latin typeface="Helvetica Neue Medium"/>
                <a:cs typeface="Helvetica Neue Medium"/>
              </a:rPr>
              <a:t>Scenario builder</a:t>
            </a:r>
          </a:p>
          <a:p>
            <a:pPr algn="l">
              <a:lnSpc>
                <a:spcPct val="125000"/>
              </a:lnSpc>
              <a:spcAft>
                <a:spcPts val="250"/>
              </a:spcAft>
            </a:pPr>
            <a:r>
              <a:rPr lang="en-US" sz="1550" spc="0" dirty="0">
                <a:solidFill>
                  <a:srgbClr val="565C6B"/>
                </a:solidFill>
                <a:latin typeface="Helvetica Neue Light"/>
                <a:cs typeface="Helvetica Neue Light"/>
              </a:rPr>
              <a:t>Build separate scenarios, compare them, and optimize a selected budget using the tool’s business intelligence and data.</a:t>
            </a:r>
          </a:p>
        </p:txBody>
      </p:sp>
      <p:cxnSp>
        <p:nvCxnSpPr>
          <p:cNvPr id="108" name="Divider"/>
          <p:cNvCxnSpPr/>
          <p:nvPr/>
        </p:nvCxnSpPr>
        <p:spPr>
          <a:xfrm>
            <a:off x="8639386" y="2057400"/>
            <a:ext cx="3542453" cy="0"/>
          </a:xfrm>
          <a:prstGeom prst="line">
            <a:avLst/>
          </a:prstGeom>
          <a:ln w="28575">
            <a:solidFill>
              <a:srgbClr val="B5531F"/>
            </a:solidFill>
          </a:ln>
        </p:spPr>
      </p:cxnSp>
      <p:sp>
        <p:nvSpPr>
          <p:cNvPr id="109" name="Data visualizer"/>
          <p:cNvSpPr txBox="1"/>
          <p:nvPr/>
        </p:nvSpPr>
        <p:spPr>
          <a:xfrm>
            <a:off x="8639386" y="2240280"/>
            <a:ext cx="3542453" cy="2103120"/>
          </a:xfrm>
          <a:prstGeom prst="rect">
            <a:avLst/>
          </a:prstGeom>
          <a:noFill/>
        </p:spPr>
        <p:txBody>
          <a:bodyPr wrap="square" lIns="0" tIns="0" rIns="0" bIns="0" anchor="t">
            <a:noAutofit/>
          </a:bodyPr>
          <a:lstStyle/>
          <a:p>
            <a:pPr algn="l">
              <a:lnSpc>
                <a:spcPct val="105000"/>
              </a:lnSpc>
              <a:spcAft>
                <a:spcPts val="250"/>
              </a:spcAft>
            </a:pPr>
            <a:r>
              <a:rPr lang="en-US" sz="2400" spc="0" dirty="0">
                <a:solidFill>
                  <a:srgbClr val="B5531F"/>
                </a:solidFill>
                <a:latin typeface="Helvetica Neue Medium"/>
                <a:cs typeface="Helvetica Neue Medium"/>
              </a:rPr>
              <a:t>3</a:t>
            </a:r>
          </a:p>
          <a:p>
            <a:pPr algn="l">
              <a:lnSpc>
                <a:spcPct val="105000"/>
              </a:lnSpc>
              <a:spcAft>
                <a:spcPts val="250"/>
              </a:spcAft>
            </a:pPr>
            <a:r>
              <a:rPr lang="en-US" sz="1700" spc="0" dirty="0">
                <a:solidFill>
                  <a:srgbClr val="14161D"/>
                </a:solidFill>
                <a:latin typeface="Helvetica Neue Medium"/>
                <a:cs typeface="Helvetica Neue Medium"/>
              </a:rPr>
              <a:t>Data visualizer</a:t>
            </a:r>
          </a:p>
          <a:p>
            <a:pPr algn="l">
              <a:lnSpc>
                <a:spcPct val="125000"/>
              </a:lnSpc>
              <a:spcAft>
                <a:spcPts val="250"/>
              </a:spcAft>
            </a:pPr>
            <a:r>
              <a:rPr lang="en-US" sz="1550" spc="0" dirty="0">
                <a:solidFill>
                  <a:srgbClr val="565C6B"/>
                </a:solidFill>
                <a:latin typeface="Helvetica Neue Light"/>
                <a:cs typeface="Helvetica Neue Light"/>
              </a:rPr>
              <a:t>Visualizations show how each plan breaks down and how the plans compare.</a:t>
            </a:r>
          </a:p>
        </p:txBody>
      </p:sp>
      <p:pic>
        <p:nvPicPr>
          <p:cNvPr id="11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Experience design sprint: start from a past budget</a:t>
            </a:r>
          </a:p>
        </p:txBody>
      </p:sp>
      <p:pic>
        <p:nvPicPr>
          <p:cNvPr id="103" name="Picture 1" descr="image.png"/>
          <p:cNvPicPr>
            <a:picLocks noChangeAspect="1"/>
          </p:cNvPicPr>
          <p:nvPr/>
        </p:nvPicPr>
        <p:blipFill>
          <a:blip r:embed="rId2"/>
          <a:stretch>
            <a:fillRect/>
          </a:stretch>
        </p:blipFill>
        <p:spPr>
          <a:xfrm>
            <a:off x="5029199" y="2643512"/>
            <a:ext cx="7480841" cy="4991728"/>
          </a:xfrm>
          <a:prstGeom prst="rect">
            <a:avLst/>
          </a:prstGeom>
          <a:ln w="9525">
            <a:solidFill>
              <a:srgbClr val="D3D6DC"/>
            </a:solidFill>
          </a:ln>
        </p:spPr>
      </p:pic>
      <p:sp>
        <p:nvSpPr>
          <p:cNvPr id="104" name="Learned"/>
          <p:cNvSpPr txBox="1"/>
          <p:nvPr/>
        </p:nvSpPr>
        <p:spPr>
          <a:xfrm>
            <a:off x="822960" y="2194560"/>
            <a:ext cx="384048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FROM DISCOVERY</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Users wanted to import one budget and keep it as a template for the next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So a new budget can start from an imported one, by duplicating it</a:t>
            </a:r>
          </a:p>
        </p:txBody>
      </p:sp>
      <p:pic>
        <p:nvPicPr>
          <p:cNvPr id="10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Unexpected challenge: the rest of the desktop</a:t>
            </a:r>
          </a:p>
        </p:txBody>
      </p:sp>
      <p:pic>
        <p:nvPicPr>
          <p:cNvPr id="103" name="Picture 1" descr="image.png"/>
          <p:cNvPicPr>
            <a:picLocks noChangeAspect="1"/>
          </p:cNvPicPr>
          <p:nvPr/>
        </p:nvPicPr>
        <p:blipFill>
          <a:blip r:embed="rId2"/>
          <a:stretch>
            <a:fillRect/>
          </a:stretch>
        </p:blipFill>
        <p:spPr>
          <a:xfrm>
            <a:off x="9510677" y="4945482"/>
            <a:ext cx="3205268" cy="2141118"/>
          </a:xfrm>
          <a:prstGeom prst="rect">
            <a:avLst/>
          </a:prstGeom>
          <a:ln w="9525">
            <a:solidFill>
              <a:srgbClr val="D3D6DC"/>
            </a:solidFill>
          </a:ln>
        </p:spPr>
      </p:pic>
      <p:pic>
        <p:nvPicPr>
          <p:cNvPr id="104" name="Picture 2" descr="image.png"/>
          <p:cNvPicPr>
            <a:picLocks noChangeAspect="1"/>
          </p:cNvPicPr>
          <p:nvPr/>
        </p:nvPicPr>
        <p:blipFill>
          <a:blip r:embed="rId3"/>
          <a:stretch>
            <a:fillRect/>
          </a:stretch>
        </p:blipFill>
        <p:spPr>
          <a:xfrm>
            <a:off x="9467824" y="2567055"/>
            <a:ext cx="3333775" cy="2226961"/>
          </a:xfrm>
          <a:prstGeom prst="rect">
            <a:avLst/>
          </a:prstGeom>
          <a:ln w="9525">
            <a:solidFill>
              <a:srgbClr val="D3D6DC"/>
            </a:solidFill>
          </a:ln>
        </p:spPr>
      </p:pic>
      <p:pic>
        <p:nvPicPr>
          <p:cNvPr id="105" name="Picture 3" descr="image.png"/>
          <p:cNvPicPr>
            <a:picLocks noChangeAspect="1"/>
          </p:cNvPicPr>
          <p:nvPr/>
        </p:nvPicPr>
        <p:blipFill>
          <a:blip r:embed="rId4"/>
          <a:stretch>
            <a:fillRect/>
          </a:stretch>
        </p:blipFill>
        <p:spPr>
          <a:xfrm>
            <a:off x="3279601" y="4206770"/>
            <a:ext cx="6136273" cy="4099030"/>
          </a:xfrm>
          <a:prstGeom prst="rect">
            <a:avLst/>
          </a:prstGeom>
          <a:ln w="9525">
            <a:solidFill>
              <a:srgbClr val="D3D6DC"/>
            </a:solidFill>
          </a:ln>
        </p:spPr>
      </p:pic>
      <p:sp>
        <p:nvSpPr>
          <p:cNvPr id="106" name="Learned"/>
          <p:cNvSpPr txBox="1"/>
          <p:nvPr/>
        </p:nvSpPr>
        <p:spPr>
          <a:xfrm>
            <a:off x="822960" y="2194560"/>
            <a:ext cx="393192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THE CHALLENGE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As a desktop app, MOCA had to account for the other applications on the desktop</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And how it would connect to them through APIs</a:t>
            </a:r>
          </a:p>
        </p:txBody>
      </p:sp>
      <p:pic>
        <p:nvPicPr>
          <p:cNvPr id="107" name="gradient strip" descr="gradient strip"/>
          <p:cNvPicPr>
            <a:picLocks noChangeAspect="1"/>
          </p:cNvPicPr>
          <p:nvPr/>
        </p:nvPicPr>
        <p:blipFill>
          <a:blip r:embed="rId5"/>
          <a:stretch>
            <a:fillRect/>
          </a:stretch>
        </p:blipFill>
        <p:spPr>
          <a:xfrm>
            <a:off x="0" y="9285427"/>
            <a:ext cx="13004800" cy="468173"/>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DESIGN</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Partners want to compare budget scenarios, </a:t>
            </a:r>
            <a:r>
              <a:rPr lang="en-US" sz="4000" spc="-40" dirty="0">
                <a:solidFill>
                  <a:srgbClr val="B5531F"/>
                </a:solidFill>
                <a:latin typeface="Helvetica Neue Medium"/>
                <a:cs typeface="Helvetica Neue Medium"/>
              </a:rPr>
              <a:t>down to each channel and product</a:t>
            </a:r>
            <a:r>
              <a:rPr lang="en-US" sz="4000" spc="-40" dirty="0">
                <a:solidFill>
                  <a:srgbClr val="14161D"/>
                </a:solidFill>
                <a:latin typeface="Helvetica Neue Medium"/>
                <a:cs typeface="Helvetica Neue Medium"/>
              </a:rPr>
              <a:t>.</a:t>
            </a:r>
          </a:p>
        </p:txBody>
      </p:sp>
      <p:sp>
        <p:nvSpPr>
          <p:cNvPr id="103" name="Body"/>
          <p:cNvSpPr txBox="1"/>
          <p:nvPr/>
        </p:nvSpPr>
        <p:spPr>
          <a:xfrm>
            <a:off x="822960" y="4023360"/>
            <a:ext cx="9601200" cy="182880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Users want to see, through data visualizations, how scenarios differ. For a deeper understanding of their allocations, they want to adjust each channel and the products inside it.</a:t>
            </a:r>
          </a:p>
        </p:txBody>
      </p:sp>
      <p:pic>
        <p:nvPicPr>
          <p:cNvPr id="104"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Wizard design sprint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A short, efficient wizard for budget details and time frame.</a:t>
            </a:r>
          </a:p>
        </p:txBody>
      </p:sp>
      <p:pic>
        <p:nvPicPr>
          <p:cNvPr id="104" name="Picture 2" descr="image.png"/>
          <p:cNvPicPr>
            <a:picLocks noChangeAspect="1"/>
          </p:cNvPicPr>
          <p:nvPr/>
        </p:nvPicPr>
        <p:blipFill>
          <a:blip r:embed="rId2"/>
          <a:stretch>
            <a:fillRect/>
          </a:stretch>
        </p:blipFill>
        <p:spPr>
          <a:xfrm>
            <a:off x="1975874" y="5458161"/>
            <a:ext cx="4322902" cy="2616797"/>
          </a:xfrm>
          <a:prstGeom prst="rect">
            <a:avLst/>
          </a:prstGeom>
          <a:ln w="9525">
            <a:solidFill>
              <a:srgbClr val="D3D6DC"/>
            </a:solidFill>
          </a:ln>
        </p:spPr>
      </p:pic>
      <p:pic>
        <p:nvPicPr>
          <p:cNvPr id="105" name="Picture 1" descr="image.png"/>
          <p:cNvPicPr>
            <a:picLocks noChangeAspect="1"/>
          </p:cNvPicPr>
          <p:nvPr/>
        </p:nvPicPr>
        <p:blipFill>
          <a:blip r:embed="rId3"/>
          <a:stretch>
            <a:fillRect/>
          </a:stretch>
        </p:blipFill>
        <p:spPr>
          <a:xfrm>
            <a:off x="6706026" y="5458160"/>
            <a:ext cx="4202564" cy="2616797"/>
          </a:xfrm>
          <a:prstGeom prst="rect">
            <a:avLst/>
          </a:prstGeom>
          <a:ln w="9525">
            <a:solidFill>
              <a:srgbClr val="D3D6DC"/>
            </a:solidFill>
          </a:ln>
        </p:spPr>
      </p:pic>
      <p:sp>
        <p:nvSpPr>
          <p:cNvPr id="106" name="Learned"/>
          <p:cNvSpPr txBox="1"/>
          <p:nvPr/>
        </p:nvSpPr>
        <p:spPr>
          <a:xfrm>
            <a:off x="822960" y="2194560"/>
            <a:ext cx="3749039"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FROM RESEARCH</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Partners use the tool only once every 6–12 months, so many needed more structured guidance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First-time users wanted a friction-free way to start</a:t>
            </a:r>
          </a:p>
        </p:txBody>
      </p:sp>
      <p:pic>
        <p:nvPicPr>
          <p:cNvPr id="107"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Scenario comparison design sprint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Testers called the channel breakdown vital, and a game changer.</a:t>
            </a:r>
          </a:p>
        </p:txBody>
      </p:sp>
      <p:pic>
        <p:nvPicPr>
          <p:cNvPr id="104" name="Picture 1" descr="image.png"/>
          <p:cNvPicPr>
            <a:picLocks noChangeAspect="1"/>
          </p:cNvPicPr>
          <p:nvPr/>
        </p:nvPicPr>
        <p:blipFill>
          <a:blip r:embed="rId2"/>
          <a:stretch>
            <a:fillRect/>
          </a:stretch>
        </p:blipFill>
        <p:spPr>
          <a:xfrm>
            <a:off x="1703606" y="2103120"/>
            <a:ext cx="10478234" cy="6789896"/>
          </a:xfrm>
          <a:prstGeom prst="rect">
            <a:avLst/>
          </a:prstGeom>
          <a:ln w="9525">
            <a:solidFill>
              <a:srgbClr val="D3D6DC"/>
            </a:solidFill>
          </a:ln>
        </p:spPr>
      </p:pic>
      <p:pic>
        <p:nvPicPr>
          <p:cNvPr id="10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DELIVERY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One client budget, end to end</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Import, the three-step wizard, the ROI projection, then scenarios, the optimizer and the comparison.</a:t>
            </a:r>
          </a:p>
        </p:txBody>
      </p:sp>
      <p:pic>
        <p:nvPicPr>
          <p:cNvPr id="104" name="Hi-fi screen"/>
          <p:cNvPicPr>
            <a:picLocks noChangeAspect="1"/>
          </p:cNvPicPr>
          <p:nvPr/>
        </p:nvPicPr>
        <p:blipFill>
          <a:blip r:embed="rId2"/>
          <a:srcRect b="18921"/>
          <a:stretch>
            <a:fillRect/>
          </a:stretch>
        </p:blipFill>
        <p:spPr>
          <a:xfrm>
            <a:off x="822960" y="2240280"/>
            <a:ext cx="2140102" cy="1337563"/>
          </a:xfrm>
          <a:prstGeom prst="rect">
            <a:avLst/>
          </a:prstGeom>
          <a:ln w="9525">
            <a:solidFill>
              <a:srgbClr val="D3D6DC"/>
            </a:solidFill>
          </a:ln>
        </p:spPr>
      </p:pic>
      <p:sp>
        <p:nvSpPr>
          <p:cNvPr id="105" name="Cap 1"/>
          <p:cNvSpPr txBox="1"/>
          <p:nvPr/>
        </p:nvSpPr>
        <p:spPr>
          <a:xfrm>
            <a:off x="822960" y="363270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01  </a:t>
            </a:r>
            <a:r>
              <a:rPr lang="en-US" sz="1050" spc="0" dirty="0">
                <a:solidFill>
                  <a:srgbClr val="14161D"/>
                </a:solidFill>
                <a:latin typeface="Helvetica Neue Medium"/>
                <a:cs typeface="Helvetica Neue Medium"/>
              </a:rPr>
              <a:t>Import the budget</a:t>
            </a:r>
          </a:p>
          <a:p>
            <a:pPr algn="l">
              <a:lnSpc>
                <a:spcPct val="100000"/>
              </a:lnSpc>
              <a:spcAft>
                <a:spcPts val="0"/>
              </a:spcAft>
            </a:pPr>
            <a:r>
              <a:rPr lang="en-US" sz="950" spc="0" dirty="0">
                <a:solidFill>
                  <a:srgbClr val="858A97"/>
                </a:solidFill>
                <a:latin typeface="Helvetica Neue Light"/>
                <a:cs typeface="Helvetica Neue Light"/>
              </a:rPr>
              <a:t>Wizard · step 1</a:t>
            </a:r>
          </a:p>
        </p:txBody>
      </p:sp>
      <p:pic>
        <p:nvPicPr>
          <p:cNvPr id="106" name="Hi-fi screen"/>
          <p:cNvPicPr>
            <a:picLocks noChangeAspect="1"/>
          </p:cNvPicPr>
          <p:nvPr/>
        </p:nvPicPr>
        <p:blipFill>
          <a:blip r:embed="rId3"/>
          <a:srcRect b="18921"/>
          <a:stretch>
            <a:fillRect/>
          </a:stretch>
        </p:blipFill>
        <p:spPr>
          <a:xfrm>
            <a:off x="3127654" y="2240280"/>
            <a:ext cx="2140102" cy="1337563"/>
          </a:xfrm>
          <a:prstGeom prst="rect">
            <a:avLst/>
          </a:prstGeom>
          <a:ln w="9525">
            <a:solidFill>
              <a:srgbClr val="D3D6DC"/>
            </a:solidFill>
          </a:ln>
        </p:spPr>
      </p:pic>
      <p:sp>
        <p:nvSpPr>
          <p:cNvPr id="107" name="Cap 2"/>
          <p:cNvSpPr txBox="1"/>
          <p:nvPr/>
        </p:nvSpPr>
        <p:spPr>
          <a:xfrm>
            <a:off x="3127654" y="363270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02  </a:t>
            </a:r>
            <a:r>
              <a:rPr lang="en-US" sz="1050" spc="0" dirty="0">
                <a:solidFill>
                  <a:srgbClr val="14161D"/>
                </a:solidFill>
                <a:latin typeface="Helvetica Neue Medium"/>
                <a:cs typeface="Helvetica Neue Medium"/>
              </a:rPr>
              <a:t>File imported</a:t>
            </a:r>
          </a:p>
          <a:p>
            <a:pPr algn="l">
              <a:lnSpc>
                <a:spcPct val="100000"/>
              </a:lnSpc>
              <a:spcAft>
                <a:spcPts val="0"/>
              </a:spcAft>
            </a:pPr>
            <a:r>
              <a:rPr lang="en-US" sz="950" spc="0" dirty="0">
                <a:solidFill>
                  <a:srgbClr val="858A97"/>
                </a:solidFill>
                <a:latin typeface="Helvetica Neue Light"/>
                <a:cs typeface="Helvetica Neue Light"/>
              </a:rPr>
              <a:t>Wizard · step 1</a:t>
            </a:r>
          </a:p>
        </p:txBody>
      </p:sp>
      <p:pic>
        <p:nvPicPr>
          <p:cNvPr id="108" name="Hi-fi screen"/>
          <p:cNvPicPr>
            <a:picLocks noChangeAspect="1"/>
          </p:cNvPicPr>
          <p:nvPr/>
        </p:nvPicPr>
        <p:blipFill>
          <a:blip r:embed="rId4"/>
          <a:srcRect b="18921"/>
          <a:stretch>
            <a:fillRect/>
          </a:stretch>
        </p:blipFill>
        <p:spPr>
          <a:xfrm>
            <a:off x="5432348" y="2240280"/>
            <a:ext cx="2140102" cy="1337563"/>
          </a:xfrm>
          <a:prstGeom prst="rect">
            <a:avLst/>
          </a:prstGeom>
          <a:ln w="9525">
            <a:solidFill>
              <a:srgbClr val="D3D6DC"/>
            </a:solidFill>
          </a:ln>
        </p:spPr>
      </p:pic>
      <p:sp>
        <p:nvSpPr>
          <p:cNvPr id="109" name="Cap 3"/>
          <p:cNvSpPr txBox="1"/>
          <p:nvPr/>
        </p:nvSpPr>
        <p:spPr>
          <a:xfrm>
            <a:off x="5432348" y="363270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03  </a:t>
            </a:r>
            <a:r>
              <a:rPr lang="en-US" sz="1050" spc="0" dirty="0">
                <a:solidFill>
                  <a:srgbClr val="14161D"/>
                </a:solidFill>
                <a:latin typeface="Helvetica Neue Medium"/>
                <a:cs typeface="Helvetica Neue Medium"/>
              </a:rPr>
              <a:t>Time period</a:t>
            </a:r>
          </a:p>
          <a:p>
            <a:pPr algn="l">
              <a:lnSpc>
                <a:spcPct val="100000"/>
              </a:lnSpc>
              <a:spcAft>
                <a:spcPts val="0"/>
              </a:spcAft>
            </a:pPr>
            <a:r>
              <a:rPr lang="en-US" sz="950" spc="0" dirty="0">
                <a:solidFill>
                  <a:srgbClr val="858A97"/>
                </a:solidFill>
                <a:latin typeface="Helvetica Neue Light"/>
                <a:cs typeface="Helvetica Neue Light"/>
              </a:rPr>
              <a:t>Wizard · step 2</a:t>
            </a:r>
          </a:p>
        </p:txBody>
      </p:sp>
      <p:pic>
        <p:nvPicPr>
          <p:cNvPr id="110" name="Hi-fi screen"/>
          <p:cNvPicPr>
            <a:picLocks noChangeAspect="1"/>
          </p:cNvPicPr>
          <p:nvPr/>
        </p:nvPicPr>
        <p:blipFill>
          <a:blip r:embed="rId5"/>
          <a:srcRect b="18921"/>
          <a:stretch>
            <a:fillRect/>
          </a:stretch>
        </p:blipFill>
        <p:spPr>
          <a:xfrm>
            <a:off x="7737043" y="2240280"/>
            <a:ext cx="2140102" cy="1337563"/>
          </a:xfrm>
          <a:prstGeom prst="rect">
            <a:avLst/>
          </a:prstGeom>
          <a:ln w="9525">
            <a:solidFill>
              <a:srgbClr val="D3D6DC"/>
            </a:solidFill>
          </a:ln>
        </p:spPr>
      </p:pic>
      <p:sp>
        <p:nvSpPr>
          <p:cNvPr id="111" name="Cap 4"/>
          <p:cNvSpPr txBox="1"/>
          <p:nvPr/>
        </p:nvSpPr>
        <p:spPr>
          <a:xfrm>
            <a:off x="7737043" y="363270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04  </a:t>
            </a:r>
            <a:r>
              <a:rPr lang="en-US" sz="1050" spc="0" dirty="0">
                <a:solidFill>
                  <a:srgbClr val="14161D"/>
                </a:solidFill>
                <a:latin typeface="Helvetica Neue Medium"/>
                <a:cs typeface="Helvetica Neue Medium"/>
              </a:rPr>
              <a:t>Dates set</a:t>
            </a:r>
          </a:p>
          <a:p>
            <a:pPr algn="l">
              <a:lnSpc>
                <a:spcPct val="100000"/>
              </a:lnSpc>
              <a:spcAft>
                <a:spcPts val="0"/>
              </a:spcAft>
            </a:pPr>
            <a:r>
              <a:rPr lang="en-US" sz="950" spc="0" dirty="0">
                <a:solidFill>
                  <a:srgbClr val="858A97"/>
                </a:solidFill>
                <a:latin typeface="Helvetica Neue Light"/>
                <a:cs typeface="Helvetica Neue Light"/>
              </a:rPr>
              <a:t>Wizard · step 2</a:t>
            </a:r>
          </a:p>
        </p:txBody>
      </p:sp>
      <p:pic>
        <p:nvPicPr>
          <p:cNvPr id="112" name="Hi-fi screen"/>
          <p:cNvPicPr>
            <a:picLocks noChangeAspect="1"/>
          </p:cNvPicPr>
          <p:nvPr/>
        </p:nvPicPr>
        <p:blipFill>
          <a:blip r:embed="rId6"/>
          <a:srcRect b="18921"/>
          <a:stretch>
            <a:fillRect/>
          </a:stretch>
        </p:blipFill>
        <p:spPr>
          <a:xfrm>
            <a:off x="10041737" y="2240280"/>
            <a:ext cx="2140102" cy="1337563"/>
          </a:xfrm>
          <a:prstGeom prst="rect">
            <a:avLst/>
          </a:prstGeom>
          <a:ln w="9525">
            <a:solidFill>
              <a:srgbClr val="D3D6DC"/>
            </a:solidFill>
          </a:ln>
        </p:spPr>
      </p:pic>
      <p:sp>
        <p:nvSpPr>
          <p:cNvPr id="113" name="Cap 5"/>
          <p:cNvSpPr txBox="1"/>
          <p:nvPr/>
        </p:nvSpPr>
        <p:spPr>
          <a:xfrm>
            <a:off x="10041737" y="363270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05  </a:t>
            </a:r>
            <a:r>
              <a:rPr lang="en-US" sz="1050" spc="0" dirty="0">
                <a:solidFill>
                  <a:srgbClr val="14161D"/>
                </a:solidFill>
                <a:latin typeface="Helvetica Neue Medium"/>
                <a:cs typeface="Helvetica Neue Medium"/>
              </a:rPr>
              <a:t>Allocations</a:t>
            </a:r>
          </a:p>
          <a:p>
            <a:pPr algn="l">
              <a:lnSpc>
                <a:spcPct val="100000"/>
              </a:lnSpc>
              <a:spcAft>
                <a:spcPts val="0"/>
              </a:spcAft>
            </a:pPr>
            <a:r>
              <a:rPr lang="en-US" sz="950" spc="0" dirty="0">
                <a:solidFill>
                  <a:srgbClr val="858A97"/>
                </a:solidFill>
                <a:latin typeface="Helvetica Neue Light"/>
                <a:cs typeface="Helvetica Neue Light"/>
              </a:rPr>
              <a:t>Wizard · step 3</a:t>
            </a:r>
          </a:p>
        </p:txBody>
      </p:sp>
      <p:pic>
        <p:nvPicPr>
          <p:cNvPr id="114" name="Hi-fi screen"/>
          <p:cNvPicPr>
            <a:picLocks noChangeAspect="1"/>
          </p:cNvPicPr>
          <p:nvPr/>
        </p:nvPicPr>
        <p:blipFill>
          <a:blip r:embed="rId7"/>
          <a:srcRect b="18921"/>
          <a:stretch>
            <a:fillRect/>
          </a:stretch>
        </p:blipFill>
        <p:spPr>
          <a:xfrm>
            <a:off x="822960" y="4144772"/>
            <a:ext cx="2140102" cy="1337563"/>
          </a:xfrm>
          <a:prstGeom prst="rect">
            <a:avLst/>
          </a:prstGeom>
          <a:ln w="9525">
            <a:solidFill>
              <a:srgbClr val="D3D6DC"/>
            </a:solidFill>
          </a:ln>
        </p:spPr>
      </p:pic>
      <p:sp>
        <p:nvSpPr>
          <p:cNvPr id="115" name="Cap 6"/>
          <p:cNvSpPr txBox="1"/>
          <p:nvPr/>
        </p:nvSpPr>
        <p:spPr>
          <a:xfrm>
            <a:off x="822960" y="553720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06  </a:t>
            </a:r>
            <a:r>
              <a:rPr lang="en-US" sz="1050" spc="0" dirty="0">
                <a:solidFill>
                  <a:srgbClr val="14161D"/>
                </a:solidFill>
                <a:latin typeface="Helvetica Neue Medium"/>
                <a:cs typeface="Helvetica Neue Medium"/>
              </a:rPr>
              <a:t>Shift and watch the gauge</a:t>
            </a:r>
          </a:p>
          <a:p>
            <a:pPr algn="l">
              <a:lnSpc>
                <a:spcPct val="100000"/>
              </a:lnSpc>
              <a:spcAft>
                <a:spcPts val="0"/>
              </a:spcAft>
            </a:pPr>
            <a:r>
              <a:rPr lang="en-US" sz="950" spc="0" dirty="0">
                <a:solidFill>
                  <a:srgbClr val="858A97"/>
                </a:solidFill>
                <a:latin typeface="Helvetica Neue Light"/>
                <a:cs typeface="Helvetica Neue Light"/>
              </a:rPr>
              <a:t>Wizard · step 3</a:t>
            </a:r>
          </a:p>
        </p:txBody>
      </p:sp>
      <p:pic>
        <p:nvPicPr>
          <p:cNvPr id="116" name="Hi-fi screen"/>
          <p:cNvPicPr>
            <a:picLocks noChangeAspect="1"/>
          </p:cNvPicPr>
          <p:nvPr/>
        </p:nvPicPr>
        <p:blipFill>
          <a:blip r:embed="rId8"/>
          <a:srcRect b="18921"/>
          <a:stretch>
            <a:fillRect/>
          </a:stretch>
        </p:blipFill>
        <p:spPr>
          <a:xfrm>
            <a:off x="3127654" y="4144772"/>
            <a:ext cx="2140102" cy="1337563"/>
          </a:xfrm>
          <a:prstGeom prst="rect">
            <a:avLst/>
          </a:prstGeom>
          <a:ln w="9525">
            <a:solidFill>
              <a:srgbClr val="D3D6DC"/>
            </a:solidFill>
          </a:ln>
        </p:spPr>
      </p:pic>
      <p:sp>
        <p:nvSpPr>
          <p:cNvPr id="117" name="Cap 7"/>
          <p:cNvSpPr txBox="1"/>
          <p:nvPr/>
        </p:nvSpPr>
        <p:spPr>
          <a:xfrm>
            <a:off x="3127654" y="553720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07  </a:t>
            </a:r>
            <a:r>
              <a:rPr lang="en-US" sz="1050" spc="0" dirty="0">
                <a:solidFill>
                  <a:srgbClr val="14161D"/>
                </a:solidFill>
                <a:latin typeface="Helvetica Neue Medium"/>
                <a:cs typeface="Helvetica Neue Medium"/>
              </a:rPr>
              <a:t>ROI projection</a:t>
            </a:r>
          </a:p>
          <a:p>
            <a:pPr algn="l">
              <a:lnSpc>
                <a:spcPct val="100000"/>
              </a:lnSpc>
              <a:spcAft>
                <a:spcPts val="0"/>
              </a:spcAft>
            </a:pPr>
            <a:r>
              <a:rPr lang="en-US" sz="950" spc="0" dirty="0">
                <a:solidFill>
                  <a:srgbClr val="858A97"/>
                </a:solidFill>
                <a:latin typeface="Helvetica Neue Light"/>
                <a:cs typeface="Helvetica Neue Light"/>
              </a:rPr>
              <a:t>Results</a:t>
            </a:r>
          </a:p>
        </p:txBody>
      </p:sp>
      <p:pic>
        <p:nvPicPr>
          <p:cNvPr id="118" name="Hi-fi screen"/>
          <p:cNvPicPr>
            <a:picLocks noChangeAspect="1"/>
          </p:cNvPicPr>
          <p:nvPr/>
        </p:nvPicPr>
        <p:blipFill>
          <a:blip r:embed="rId9"/>
          <a:srcRect b="18921"/>
          <a:stretch>
            <a:fillRect/>
          </a:stretch>
        </p:blipFill>
        <p:spPr>
          <a:xfrm>
            <a:off x="5432348" y="4144772"/>
            <a:ext cx="2140102" cy="1337563"/>
          </a:xfrm>
          <a:prstGeom prst="rect">
            <a:avLst/>
          </a:prstGeom>
          <a:ln w="9525">
            <a:solidFill>
              <a:srgbClr val="D3D6DC"/>
            </a:solidFill>
          </a:ln>
        </p:spPr>
      </p:pic>
      <p:sp>
        <p:nvSpPr>
          <p:cNvPr id="119" name="Cap 8"/>
          <p:cNvSpPr txBox="1"/>
          <p:nvPr/>
        </p:nvSpPr>
        <p:spPr>
          <a:xfrm>
            <a:off x="5432348" y="553720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08  </a:t>
            </a:r>
            <a:r>
              <a:rPr lang="en-US" sz="1050" spc="0" dirty="0">
                <a:solidFill>
                  <a:srgbClr val="14161D"/>
                </a:solidFill>
                <a:latin typeface="Helvetica Neue Medium"/>
                <a:cs typeface="Helvetica Neue Medium"/>
              </a:rPr>
              <a:t>Scenario workspace</a:t>
            </a:r>
          </a:p>
          <a:p>
            <a:pPr algn="l">
              <a:lnSpc>
                <a:spcPct val="100000"/>
              </a:lnSpc>
              <a:spcAft>
                <a:spcPts val="0"/>
              </a:spcAft>
            </a:pPr>
            <a:r>
              <a:rPr lang="en-US" sz="950" spc="0" dirty="0">
                <a:solidFill>
                  <a:srgbClr val="858A97"/>
                </a:solidFill>
                <a:latin typeface="Helvetica Neue Light"/>
                <a:cs typeface="Helvetica Neue Light"/>
              </a:rPr>
              <a:t>Scenarios</a:t>
            </a:r>
          </a:p>
        </p:txBody>
      </p:sp>
      <p:pic>
        <p:nvPicPr>
          <p:cNvPr id="120" name="Hi-fi screen"/>
          <p:cNvPicPr>
            <a:picLocks noChangeAspect="1"/>
          </p:cNvPicPr>
          <p:nvPr/>
        </p:nvPicPr>
        <p:blipFill>
          <a:blip r:embed="rId10"/>
          <a:srcRect b="18921"/>
          <a:stretch>
            <a:fillRect/>
          </a:stretch>
        </p:blipFill>
        <p:spPr>
          <a:xfrm>
            <a:off x="7737043" y="4144772"/>
            <a:ext cx="2140102" cy="1337563"/>
          </a:xfrm>
          <a:prstGeom prst="rect">
            <a:avLst/>
          </a:prstGeom>
          <a:ln w="9525">
            <a:solidFill>
              <a:srgbClr val="D3D6DC"/>
            </a:solidFill>
          </a:ln>
        </p:spPr>
      </p:pic>
      <p:sp>
        <p:nvSpPr>
          <p:cNvPr id="121" name="Cap 9"/>
          <p:cNvSpPr txBox="1"/>
          <p:nvPr/>
        </p:nvSpPr>
        <p:spPr>
          <a:xfrm>
            <a:off x="7737043" y="553720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09  </a:t>
            </a:r>
            <a:r>
              <a:rPr lang="en-US" sz="1050" spc="0" dirty="0">
                <a:solidFill>
                  <a:srgbClr val="14161D"/>
                </a:solidFill>
                <a:latin typeface="Helvetica Neue Medium"/>
                <a:cs typeface="Helvetica Neue Medium"/>
              </a:rPr>
              <a:t>Second scenario</a:t>
            </a:r>
          </a:p>
          <a:p>
            <a:pPr algn="l">
              <a:lnSpc>
                <a:spcPct val="100000"/>
              </a:lnSpc>
              <a:spcAft>
                <a:spcPts val="0"/>
              </a:spcAft>
            </a:pPr>
            <a:r>
              <a:rPr lang="en-US" sz="950" spc="0" dirty="0">
                <a:solidFill>
                  <a:srgbClr val="858A97"/>
                </a:solidFill>
                <a:latin typeface="Helvetica Neue Light"/>
                <a:cs typeface="Helvetica Neue Light"/>
              </a:rPr>
              <a:t>Scenarios</a:t>
            </a:r>
          </a:p>
        </p:txBody>
      </p:sp>
      <p:pic>
        <p:nvPicPr>
          <p:cNvPr id="122" name="Hi-fi screen"/>
          <p:cNvPicPr>
            <a:picLocks noChangeAspect="1"/>
          </p:cNvPicPr>
          <p:nvPr/>
        </p:nvPicPr>
        <p:blipFill>
          <a:blip r:embed="rId11"/>
          <a:srcRect b="18921"/>
          <a:stretch>
            <a:fillRect/>
          </a:stretch>
        </p:blipFill>
        <p:spPr>
          <a:xfrm>
            <a:off x="10041737" y="4144772"/>
            <a:ext cx="2140102" cy="1337563"/>
          </a:xfrm>
          <a:prstGeom prst="rect">
            <a:avLst/>
          </a:prstGeom>
          <a:ln w="9525">
            <a:solidFill>
              <a:srgbClr val="D3D6DC"/>
            </a:solidFill>
          </a:ln>
        </p:spPr>
      </p:pic>
      <p:sp>
        <p:nvSpPr>
          <p:cNvPr id="123" name="Cap 10"/>
          <p:cNvSpPr txBox="1"/>
          <p:nvPr/>
        </p:nvSpPr>
        <p:spPr>
          <a:xfrm>
            <a:off x="10041737" y="553720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10  </a:t>
            </a:r>
            <a:r>
              <a:rPr lang="en-US" sz="1050" spc="0" dirty="0">
                <a:solidFill>
                  <a:srgbClr val="14161D"/>
                </a:solidFill>
                <a:latin typeface="Helvetica Neue Medium"/>
                <a:cs typeface="Helvetica Neue Medium"/>
              </a:rPr>
              <a:t>Optimized, still editable</a:t>
            </a:r>
          </a:p>
          <a:p>
            <a:pPr algn="l">
              <a:lnSpc>
                <a:spcPct val="100000"/>
              </a:lnSpc>
              <a:spcAft>
                <a:spcPts val="0"/>
              </a:spcAft>
            </a:pPr>
            <a:r>
              <a:rPr lang="en-US" sz="950" spc="0" dirty="0">
                <a:solidFill>
                  <a:srgbClr val="858A97"/>
                </a:solidFill>
                <a:latin typeface="Helvetica Neue Light"/>
                <a:cs typeface="Helvetica Neue Light"/>
              </a:rPr>
              <a:t>Scenarios</a:t>
            </a:r>
          </a:p>
        </p:txBody>
      </p:sp>
      <p:pic>
        <p:nvPicPr>
          <p:cNvPr id="124" name="Hi-fi screen"/>
          <p:cNvPicPr>
            <a:picLocks noChangeAspect="1"/>
          </p:cNvPicPr>
          <p:nvPr/>
        </p:nvPicPr>
        <p:blipFill>
          <a:blip r:embed="rId12"/>
          <a:srcRect b="18921"/>
          <a:stretch>
            <a:fillRect/>
          </a:stretch>
        </p:blipFill>
        <p:spPr>
          <a:xfrm>
            <a:off x="822960" y="6049264"/>
            <a:ext cx="2140102" cy="1337563"/>
          </a:xfrm>
          <a:prstGeom prst="rect">
            <a:avLst/>
          </a:prstGeom>
          <a:ln w="9525">
            <a:solidFill>
              <a:srgbClr val="D3D6DC"/>
            </a:solidFill>
          </a:ln>
        </p:spPr>
      </p:pic>
      <p:sp>
        <p:nvSpPr>
          <p:cNvPr id="125" name="Cap 11"/>
          <p:cNvSpPr txBox="1"/>
          <p:nvPr/>
        </p:nvSpPr>
        <p:spPr>
          <a:xfrm>
            <a:off x="822960" y="7441692"/>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11  </a:t>
            </a:r>
            <a:r>
              <a:rPr lang="en-US" sz="1050" spc="0" dirty="0">
                <a:solidFill>
                  <a:srgbClr val="14161D"/>
                </a:solidFill>
                <a:latin typeface="Helvetica Neue Medium"/>
                <a:cs typeface="Helvetica Neue Medium"/>
              </a:rPr>
              <a:t>Compare all three</a:t>
            </a:r>
          </a:p>
          <a:p>
            <a:pPr algn="l">
              <a:lnSpc>
                <a:spcPct val="100000"/>
              </a:lnSpc>
              <a:spcAft>
                <a:spcPts val="0"/>
              </a:spcAft>
            </a:pPr>
            <a:r>
              <a:rPr lang="en-US" sz="950" spc="0" dirty="0">
                <a:solidFill>
                  <a:srgbClr val="858A97"/>
                </a:solidFill>
                <a:latin typeface="Helvetica Neue Light"/>
                <a:cs typeface="Helvetica Neue Light"/>
              </a:rPr>
              <a:t>Comparison</a:t>
            </a:r>
          </a:p>
        </p:txBody>
      </p:sp>
      <p:cxnSp>
        <p:nvCxnSpPr>
          <p:cNvPr id="126" name="Divider"/>
          <p:cNvCxnSpPr/>
          <p:nvPr/>
        </p:nvCxnSpPr>
        <p:spPr>
          <a:xfrm>
            <a:off x="3127654" y="6049264"/>
            <a:ext cx="2140102" cy="0"/>
          </a:xfrm>
          <a:prstGeom prst="line">
            <a:avLst/>
          </a:prstGeom>
          <a:ln w="28575">
            <a:solidFill>
              <a:srgbClr val="B5531F"/>
            </a:solidFill>
          </a:ln>
        </p:spPr>
      </p:cxnSp>
      <p:sp>
        <p:nvSpPr>
          <p:cNvPr id="127" name="Prototype tile">
            <a:hlinkClick r:id="rId13"/>
          </p:cNvPr>
          <p:cNvSpPr txBox="1"/>
          <p:nvPr/>
        </p:nvSpPr>
        <p:spPr>
          <a:xfrm>
            <a:off x="3127654" y="6186424"/>
            <a:ext cx="2140102" cy="1337563"/>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B5531F"/>
                </a:solidFill>
                <a:latin typeface="Helvetica Neue Medium"/>
                <a:cs typeface="Helvetica Neue Medium"/>
              </a:rPr>
              <a:t>TRY IT</a:t>
            </a:r>
          </a:p>
          <a:p>
            <a:pPr algn="l">
              <a:lnSpc>
                <a:spcPct val="115000"/>
              </a:lnSpc>
              <a:spcAft>
                <a:spcPts val="300"/>
              </a:spcAft>
            </a:pPr>
            <a:r>
              <a:rPr lang="en-US" sz="1400" u="sng" spc="0" dirty="0">
                <a:solidFill>
                  <a:srgbClr val="B5531F"/>
                </a:solidFill>
                <a:latin typeface="Helvetica Neue Medium"/>
                <a:cs typeface="Helvetica Neue Medium"/>
              </a:rPr>
              <a:t>Open the prototype →</a:t>
            </a:r>
          </a:p>
          <a:p>
            <a:pPr algn="l">
              <a:lnSpc>
                <a:spcPct val="115000"/>
              </a:lnSpc>
              <a:spcAft>
                <a:spcPts val="300"/>
              </a:spcAft>
            </a:pPr>
            <a:r>
              <a:rPr lang="en-US" sz="1050" spc="0" dirty="0">
                <a:solidFill>
                  <a:srgbClr val="858A97"/>
                </a:solidFill>
                <a:latin typeface="Helvetica Neue Light"/>
                <a:cs typeface="Helvetica Neue Light"/>
              </a:rPr>
              <a:t>Starts at the import step</a:t>
            </a:r>
          </a:p>
        </p:txBody>
      </p:sp>
      <p:pic>
        <p:nvPicPr>
          <p:cNvPr id="128" name="gradient strip" descr="gradient strip"/>
          <p:cNvPicPr>
            <a:picLocks noChangeAspect="1"/>
          </p:cNvPicPr>
          <p:nvPr/>
        </p:nvPicPr>
        <p:blipFill>
          <a:blip r:embed="rId14"/>
          <a:stretch>
            <a:fillRect/>
          </a:stretch>
        </p:blipFill>
        <p:spPr>
          <a:xfrm>
            <a:off x="0" y="9285427"/>
            <a:ext cx="13004800" cy="468173"/>
          </a:xfrm>
          <a:prstGeom prst="rect">
            <a:avLst/>
          </a:prstGeom>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KEY CALLS</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14161D"/>
                </a:solidFill>
                <a:latin typeface="Helvetica Neue Medium"/>
                <a:cs typeface="Helvetica Neue Medium"/>
              </a:rPr>
              <a:t>Four calls that shaped </a:t>
            </a:r>
            <a:r>
              <a:rPr lang="en-US" sz="4400" spc="-40" dirty="0">
                <a:solidFill>
                  <a:srgbClr val="B5531F"/>
                </a:solidFill>
                <a:latin typeface="Helvetica Neue Medium"/>
                <a:cs typeface="Helvetica Neue Medium"/>
              </a:rPr>
              <a:t>MOCA</a:t>
            </a:r>
            <a:r>
              <a:rPr lang="en-US" sz="4400" spc="-40" dirty="0">
                <a:solidFill>
                  <a:srgbClr val="14161D"/>
                </a:solidFill>
                <a:latin typeface="Helvetica Neue Medium"/>
                <a:cs typeface="Helvetica Neue Medium"/>
              </a:rPr>
              <a:t>.</a:t>
            </a:r>
          </a:p>
        </p:txBody>
      </p:sp>
      <p:cxnSp>
        <p:nvCxnSpPr>
          <p:cNvPr id="103" name="Divider"/>
          <p:cNvCxnSpPr/>
          <p:nvPr/>
        </p:nvCxnSpPr>
        <p:spPr>
          <a:xfrm>
            <a:off x="822960" y="3566160"/>
            <a:ext cx="5427980" cy="0"/>
          </a:xfrm>
          <a:prstGeom prst="line">
            <a:avLst/>
          </a:prstGeom>
          <a:ln w="9525">
            <a:solidFill>
              <a:srgbClr val="E1E3E8"/>
            </a:solidFill>
          </a:ln>
        </p:spPr>
      </p:cxnSp>
      <p:sp>
        <p:nvSpPr>
          <p:cNvPr id="104" name="A wizard, because use is rare title"/>
          <p:cNvSpPr txBox="1"/>
          <p:nvPr/>
        </p:nvSpPr>
        <p:spPr>
          <a:xfrm>
            <a:off x="8229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A wizard, because use is rare</a:t>
            </a:r>
          </a:p>
        </p:txBody>
      </p:sp>
      <p:sp>
        <p:nvSpPr>
          <p:cNvPr id="105" name="A wizard, because use is rare body"/>
          <p:cNvSpPr txBox="1"/>
          <p:nvPr/>
        </p:nvSpPr>
        <p:spPr>
          <a:xfrm>
            <a:off x="8229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Partners plan once every 6–12 months, so a guided wizard walks them through each parameter.</a:t>
            </a:r>
          </a:p>
        </p:txBody>
      </p:sp>
      <p:cxnSp>
        <p:nvCxnSpPr>
          <p:cNvPr id="106" name="Divider"/>
          <p:cNvCxnSpPr/>
          <p:nvPr/>
        </p:nvCxnSpPr>
        <p:spPr>
          <a:xfrm>
            <a:off x="6753860" y="3566160"/>
            <a:ext cx="5427980" cy="0"/>
          </a:xfrm>
          <a:prstGeom prst="line">
            <a:avLst/>
          </a:prstGeom>
          <a:ln w="9525">
            <a:solidFill>
              <a:srgbClr val="E1E3E8"/>
            </a:solidFill>
          </a:ln>
        </p:spPr>
      </p:cxnSp>
      <p:sp>
        <p:nvSpPr>
          <p:cNvPr id="107" name="Start from last year’s budget title"/>
          <p:cNvSpPr txBox="1"/>
          <p:nvPr/>
        </p:nvSpPr>
        <p:spPr>
          <a:xfrm>
            <a:off x="67538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Start from last year’s budget</a:t>
            </a:r>
          </a:p>
        </p:txBody>
      </p:sp>
      <p:sp>
        <p:nvSpPr>
          <p:cNvPr id="108" name="Start from last year’s budget body"/>
          <p:cNvSpPr txBox="1"/>
          <p:nvPr/>
        </p:nvSpPr>
        <p:spPr>
          <a:xfrm>
            <a:off x="67538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Users import a budget and duplicate it as the template for the next one.</a:t>
            </a:r>
          </a:p>
        </p:txBody>
      </p:sp>
      <p:cxnSp>
        <p:nvCxnSpPr>
          <p:cNvPr id="109" name="Divider"/>
          <p:cNvCxnSpPr/>
          <p:nvPr/>
        </p:nvCxnSpPr>
        <p:spPr>
          <a:xfrm>
            <a:off x="822960" y="5806440"/>
            <a:ext cx="5427980" cy="0"/>
          </a:xfrm>
          <a:prstGeom prst="line">
            <a:avLst/>
          </a:prstGeom>
          <a:ln w="9525">
            <a:solidFill>
              <a:srgbClr val="E1E3E8"/>
            </a:solidFill>
          </a:ln>
        </p:spPr>
      </p:cxnSp>
      <p:sp>
        <p:nvSpPr>
          <p:cNvPr id="110" name="Allocate down to channel and product title"/>
          <p:cNvSpPr txBox="1"/>
          <p:nvPr/>
        </p:nvSpPr>
        <p:spPr>
          <a:xfrm>
            <a:off x="8229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Allocate down to channel and product</a:t>
            </a:r>
          </a:p>
        </p:txBody>
      </p:sp>
      <p:sp>
        <p:nvSpPr>
          <p:cNvPr id="111" name="Allocate down to channel and product body"/>
          <p:cNvSpPr txBox="1"/>
          <p:nvPr/>
        </p:nvSpPr>
        <p:spPr>
          <a:xfrm>
            <a:off x="8229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Allocations go down to product line or channel, so partners see which part of the budget works.</a:t>
            </a:r>
          </a:p>
        </p:txBody>
      </p:sp>
      <p:cxnSp>
        <p:nvCxnSpPr>
          <p:cNvPr id="112" name="Divider"/>
          <p:cNvCxnSpPr/>
          <p:nvPr/>
        </p:nvCxnSpPr>
        <p:spPr>
          <a:xfrm>
            <a:off x="6753860" y="5806440"/>
            <a:ext cx="5427980" cy="0"/>
          </a:xfrm>
          <a:prstGeom prst="line">
            <a:avLst/>
          </a:prstGeom>
          <a:ln w="9525">
            <a:solidFill>
              <a:srgbClr val="E1E3E8"/>
            </a:solidFill>
          </a:ln>
        </p:spPr>
      </p:cxnSp>
      <p:sp>
        <p:nvSpPr>
          <p:cNvPr id="113" name="Compare scenarios side by side title"/>
          <p:cNvSpPr txBox="1"/>
          <p:nvPr/>
        </p:nvSpPr>
        <p:spPr>
          <a:xfrm>
            <a:off x="67538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Compare scenarios side by side</a:t>
            </a:r>
          </a:p>
        </p:txBody>
      </p:sp>
      <p:sp>
        <p:nvSpPr>
          <p:cNvPr id="114" name="Compare scenarios side by side body"/>
          <p:cNvSpPr txBox="1"/>
          <p:nvPr/>
        </p:nvSpPr>
        <p:spPr>
          <a:xfrm>
            <a:off x="67538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Scenarios are compared visually with switchable chart types; testers called the channel breakdown a game changer.</a:t>
            </a:r>
          </a:p>
        </p:txBody>
      </p:sp>
      <p:pic>
        <p:nvPicPr>
          <p:cNvPr id="11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AMEX MOCA · RESULTS</a:t>
            </a:r>
          </a:p>
        </p:txBody>
      </p:sp>
      <p:sp>
        <p:nvSpPr>
          <p:cNvPr id="102" name="Headline"/>
          <p:cNvSpPr txBox="1"/>
          <p:nvPr/>
        </p:nvSpPr>
        <p:spPr>
          <a:xfrm>
            <a:off x="822960" y="1371600"/>
            <a:ext cx="11358880" cy="128016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F5F5F7"/>
                </a:solidFill>
                <a:latin typeface="Helvetica Neue Medium"/>
                <a:cs typeface="Helvetica Neue Medium"/>
              </a:rPr>
              <a:t>Partner approval rose from 58% to </a:t>
            </a:r>
            <a:r>
              <a:rPr lang="en-US" sz="4000" spc="-40" dirty="0">
                <a:solidFill>
                  <a:srgbClr val="E98C64"/>
                </a:solidFill>
                <a:latin typeface="Helvetica Neue Medium"/>
                <a:cs typeface="Helvetica Neue Medium"/>
              </a:rPr>
              <a:t>88%</a:t>
            </a:r>
            <a:r>
              <a:rPr lang="en-US" sz="4000" spc="-40" dirty="0">
                <a:solidFill>
                  <a:srgbClr val="F5F5F7"/>
                </a:solidFill>
                <a:latin typeface="Helvetica Neue Medium"/>
                <a:cs typeface="Helvetica Neue Medium"/>
              </a:rPr>
              <a:t>, and budgets grew.</a:t>
            </a:r>
          </a:p>
        </p:txBody>
      </p:sp>
      <p:sp>
        <p:nvSpPr>
          <p:cNvPr id="3042" name="Tile"/>
          <p:cNvSpPr/>
          <p:nvPr/>
        </p:nvSpPr>
        <p:spPr>
          <a:xfrm>
            <a:off x="822960" y="3063240"/>
            <a:ext cx="4937760" cy="5166360"/>
          </a:xfrm>
          <a:prstGeom prst="roundRect">
            <a:avLst>
              <a:gd name="adj" fmla="val 2592"/>
            </a:avLst>
          </a:prstGeom>
          <a:solidFill>
            <a:srgbClr val="B5531F"/>
          </a:solidFill>
          <a:ln>
            <a:noFill/>
          </a:ln>
        </p:spPr>
        <p:txBody>
          <a:bodyPr/>
          <a:lstStyle/>
          <a:p>
            <a:endParaRPr lang="en-US"/>
          </a:p>
        </p:txBody>
      </p:sp>
      <p:sp>
        <p:nvSpPr>
          <p:cNvPr id="103" name="Number"/>
          <p:cNvSpPr txBox="1"/>
          <p:nvPr/>
        </p:nvSpPr>
        <p:spPr>
          <a:xfrm>
            <a:off x="1097280" y="3264408"/>
            <a:ext cx="4389120" cy="1733550"/>
          </a:xfrm>
          <a:prstGeom prst="rect">
            <a:avLst/>
          </a:prstGeom>
          <a:noFill/>
        </p:spPr>
        <p:txBody>
          <a:bodyPr wrap="square" lIns="0" tIns="0" rIns="0" bIns="0" anchor="t">
            <a:noAutofit/>
          </a:bodyPr>
          <a:lstStyle/>
          <a:p>
            <a:pPr algn="l">
              <a:lnSpc>
                <a:spcPct val="88000"/>
              </a:lnSpc>
              <a:spcAft>
                <a:spcPts val="300"/>
              </a:spcAft>
            </a:pPr>
            <a:r>
              <a:rPr lang="en-US" sz="13000" spc="-60" dirty="0">
                <a:solidFill>
                  <a:srgbClr val="FFFFFF"/>
                </a:solidFill>
                <a:latin typeface="Helvetica Neue Medium"/>
                <a:cs typeface="Helvetica Neue Medium"/>
              </a:rPr>
              <a:t>88%</a:t>
            </a:r>
          </a:p>
        </p:txBody>
      </p:sp>
      <p:sp>
        <p:nvSpPr>
          <p:cNvPr id="104" name="Label"/>
          <p:cNvSpPr txBox="1"/>
          <p:nvPr/>
        </p:nvSpPr>
        <p:spPr>
          <a:xfrm>
            <a:off x="1097280" y="5071110"/>
            <a:ext cx="4389120" cy="914400"/>
          </a:xfrm>
          <a:prstGeom prst="rect">
            <a:avLst/>
          </a:prstGeom>
          <a:noFill/>
        </p:spPr>
        <p:txBody>
          <a:bodyPr wrap="square" lIns="0" tIns="0" rIns="0" bIns="0" anchor="t">
            <a:noAutofit/>
          </a:bodyPr>
          <a:lstStyle/>
          <a:p>
            <a:pPr algn="l">
              <a:lnSpc>
                <a:spcPct val="115000"/>
              </a:lnSpc>
              <a:spcAft>
                <a:spcPts val="300"/>
              </a:spcAft>
            </a:pPr>
            <a:r>
              <a:rPr lang="en-US" sz="1600" spc="0" dirty="0">
                <a:solidFill>
                  <a:srgbClr val="FBE3D8"/>
                </a:solidFill>
                <a:latin typeface="Helvetica Neue Light"/>
                <a:cs typeface="Helvetica Neue Light"/>
              </a:rPr>
              <a:t>approval from internal business partners</a:t>
            </a:r>
          </a:p>
        </p:txBody>
      </p:sp>
      <p:sp>
        <p:nvSpPr>
          <p:cNvPr id="105" name="Bar label"/>
          <p:cNvSpPr txBox="1"/>
          <p:nvPr/>
        </p:nvSpPr>
        <p:spPr>
          <a:xfrm>
            <a:off x="1097280" y="7104888"/>
            <a:ext cx="4389120" cy="201168"/>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FBE3D8"/>
                </a:solidFill>
                <a:latin typeface="Helvetica Neue Light"/>
                <a:cs typeface="Helvetica Neue Light"/>
              </a:rPr>
              <a:t>Before MOCA: 58%</a:t>
            </a:r>
          </a:p>
        </p:txBody>
      </p:sp>
      <p:sp>
        <p:nvSpPr>
          <p:cNvPr id="3043" name="Tile"/>
          <p:cNvSpPr/>
          <p:nvPr/>
        </p:nvSpPr>
        <p:spPr>
          <a:xfrm>
            <a:off x="1097280" y="7324344"/>
            <a:ext cx="4389120" cy="146304"/>
          </a:xfrm>
          <a:prstGeom prst="roundRect">
            <a:avLst>
              <a:gd name="adj" fmla="val 37500"/>
            </a:avLst>
          </a:prstGeom>
          <a:solidFill>
            <a:srgbClr val="FFFFFF">
              <a:alpha val="30000"/>
            </a:srgbClr>
          </a:solidFill>
          <a:ln>
            <a:noFill/>
          </a:ln>
        </p:spPr>
        <p:txBody>
          <a:bodyPr/>
          <a:lstStyle/>
          <a:p>
            <a:endParaRPr lang="en-US"/>
          </a:p>
        </p:txBody>
      </p:sp>
      <p:sp>
        <p:nvSpPr>
          <p:cNvPr id="3044" name="Tile"/>
          <p:cNvSpPr/>
          <p:nvPr/>
        </p:nvSpPr>
        <p:spPr>
          <a:xfrm>
            <a:off x="1097280" y="7324344"/>
            <a:ext cx="2545689" cy="146304"/>
          </a:xfrm>
          <a:prstGeom prst="roundRect">
            <a:avLst>
              <a:gd name="adj" fmla="val 37500"/>
            </a:avLst>
          </a:prstGeom>
          <a:solidFill>
            <a:srgbClr val="FFFFFF">
              <a:alpha val="60000"/>
            </a:srgbClr>
          </a:solidFill>
          <a:ln>
            <a:noFill/>
          </a:ln>
        </p:spPr>
        <p:txBody>
          <a:bodyPr/>
          <a:lstStyle/>
          <a:p>
            <a:endParaRPr lang="en-US"/>
          </a:p>
        </p:txBody>
      </p:sp>
      <p:sp>
        <p:nvSpPr>
          <p:cNvPr id="106" name="Bar label"/>
          <p:cNvSpPr txBox="1"/>
          <p:nvPr/>
        </p:nvSpPr>
        <p:spPr>
          <a:xfrm>
            <a:off x="1097280" y="7488936"/>
            <a:ext cx="4389120" cy="201168"/>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FFFFFF"/>
                </a:solidFill>
                <a:latin typeface="Helvetica Neue Medium"/>
                <a:cs typeface="Helvetica Neue Medium"/>
              </a:rPr>
              <a:t>After: 88%  (+30 pts)</a:t>
            </a:r>
          </a:p>
        </p:txBody>
      </p:sp>
      <p:sp>
        <p:nvSpPr>
          <p:cNvPr id="3045" name="Tile"/>
          <p:cNvSpPr/>
          <p:nvPr/>
        </p:nvSpPr>
        <p:spPr>
          <a:xfrm>
            <a:off x="1097280" y="7708392"/>
            <a:ext cx="4389120" cy="146304"/>
          </a:xfrm>
          <a:prstGeom prst="roundRect">
            <a:avLst>
              <a:gd name="adj" fmla="val 37500"/>
            </a:avLst>
          </a:prstGeom>
          <a:solidFill>
            <a:srgbClr val="FFFFFF">
              <a:alpha val="30000"/>
            </a:srgbClr>
          </a:solidFill>
          <a:ln>
            <a:noFill/>
          </a:ln>
        </p:spPr>
        <p:txBody>
          <a:bodyPr/>
          <a:lstStyle/>
          <a:p>
            <a:endParaRPr lang="en-US"/>
          </a:p>
        </p:txBody>
      </p:sp>
      <p:sp>
        <p:nvSpPr>
          <p:cNvPr id="3046" name="Tile"/>
          <p:cNvSpPr/>
          <p:nvPr/>
        </p:nvSpPr>
        <p:spPr>
          <a:xfrm>
            <a:off x="1097280" y="7708392"/>
            <a:ext cx="3862425" cy="146304"/>
          </a:xfrm>
          <a:prstGeom prst="roundRect">
            <a:avLst>
              <a:gd name="adj" fmla="val 37500"/>
            </a:avLst>
          </a:prstGeom>
          <a:solidFill>
            <a:srgbClr val="7ACFFF"/>
          </a:solidFill>
          <a:ln>
            <a:noFill/>
          </a:ln>
        </p:spPr>
        <p:txBody>
          <a:bodyPr/>
          <a:lstStyle/>
          <a:p>
            <a:endParaRPr lang="en-US"/>
          </a:p>
        </p:txBody>
      </p:sp>
      <p:sp>
        <p:nvSpPr>
          <p:cNvPr id="3047" name="Tile"/>
          <p:cNvSpPr/>
          <p:nvPr/>
        </p:nvSpPr>
        <p:spPr>
          <a:xfrm>
            <a:off x="5943600" y="3063240"/>
            <a:ext cx="3026664" cy="2491740"/>
          </a:xfrm>
          <a:prstGeom prst="roundRect">
            <a:avLst>
              <a:gd name="adj" fmla="val 5137"/>
            </a:avLst>
          </a:prstGeom>
          <a:solidFill>
            <a:srgbClr val="262A33"/>
          </a:solidFill>
          <a:ln>
            <a:noFill/>
          </a:ln>
        </p:spPr>
        <p:txBody>
          <a:bodyPr/>
          <a:lstStyle/>
          <a:p>
            <a:endParaRPr lang="en-US"/>
          </a:p>
        </p:txBody>
      </p:sp>
      <p:sp>
        <p:nvSpPr>
          <p:cNvPr id="107" name="Number"/>
          <p:cNvSpPr txBox="1"/>
          <p:nvPr/>
        </p:nvSpPr>
        <p:spPr>
          <a:xfrm>
            <a:off x="6217920" y="3264408"/>
            <a:ext cx="2478024" cy="800100"/>
          </a:xfrm>
          <a:prstGeom prst="rect">
            <a:avLst/>
          </a:prstGeom>
          <a:noFill/>
        </p:spPr>
        <p:txBody>
          <a:bodyPr wrap="square" lIns="0" tIns="0" rIns="0" bIns="0" anchor="t">
            <a:noAutofit/>
          </a:bodyPr>
          <a:lstStyle/>
          <a:p>
            <a:pPr algn="l">
              <a:lnSpc>
                <a:spcPct val="88000"/>
              </a:lnSpc>
              <a:spcAft>
                <a:spcPts val="300"/>
              </a:spcAft>
            </a:pPr>
            <a:r>
              <a:rPr lang="en-US" sz="6000" spc="-60" dirty="0">
                <a:solidFill>
                  <a:srgbClr val="F5F5F7"/>
                </a:solidFill>
                <a:latin typeface="Helvetica Neue Medium"/>
                <a:cs typeface="Helvetica Neue Medium"/>
              </a:rPr>
              <a:t>$1.8M</a:t>
            </a:r>
          </a:p>
        </p:txBody>
      </p:sp>
      <p:sp>
        <p:nvSpPr>
          <p:cNvPr id="108" name="Label"/>
          <p:cNvSpPr txBox="1"/>
          <p:nvPr/>
        </p:nvSpPr>
        <p:spPr>
          <a:xfrm>
            <a:off x="6217920" y="4137660"/>
            <a:ext cx="2478024"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average client budget</a:t>
            </a:r>
          </a:p>
        </p:txBody>
      </p:sp>
      <p:sp>
        <p:nvSpPr>
          <p:cNvPr id="109" name="Extra"/>
          <p:cNvSpPr txBox="1"/>
          <p:nvPr/>
        </p:nvSpPr>
        <p:spPr>
          <a:xfrm>
            <a:off x="6217920" y="5006340"/>
            <a:ext cx="2478024" cy="365760"/>
          </a:xfrm>
          <a:prstGeom prst="rect">
            <a:avLst/>
          </a:prstGeom>
          <a:noFill/>
        </p:spPr>
        <p:txBody>
          <a:bodyPr wrap="square" lIns="0" tIns="0" rIns="0" bIns="0" anchor="t">
            <a:noAutofit/>
          </a:bodyPr>
          <a:lstStyle/>
          <a:p>
            <a:pPr algn="l">
              <a:lnSpc>
                <a:spcPct val="115000"/>
              </a:lnSpc>
              <a:spcAft>
                <a:spcPts val="300"/>
              </a:spcAft>
            </a:pPr>
            <a:r>
              <a:rPr lang="en-US" sz="1300" spc="0" dirty="0">
                <a:solidFill>
                  <a:srgbClr val="F5F5F7"/>
                </a:solidFill>
                <a:latin typeface="Helvetica Neue Medium"/>
                <a:cs typeface="Helvetica Neue Medium"/>
              </a:rPr>
              <a:t>Up from $1.34M · +34%</a:t>
            </a:r>
          </a:p>
        </p:txBody>
      </p:sp>
      <p:sp>
        <p:nvSpPr>
          <p:cNvPr id="3048" name="Tile"/>
          <p:cNvSpPr/>
          <p:nvPr/>
        </p:nvSpPr>
        <p:spPr>
          <a:xfrm>
            <a:off x="9153144" y="3063240"/>
            <a:ext cx="3026664" cy="2491740"/>
          </a:xfrm>
          <a:prstGeom prst="roundRect">
            <a:avLst>
              <a:gd name="adj" fmla="val 5137"/>
            </a:avLst>
          </a:prstGeom>
          <a:solidFill>
            <a:srgbClr val="262A33"/>
          </a:solidFill>
          <a:ln>
            <a:noFill/>
          </a:ln>
        </p:spPr>
        <p:txBody>
          <a:bodyPr/>
          <a:lstStyle/>
          <a:p>
            <a:endParaRPr lang="en-US"/>
          </a:p>
        </p:txBody>
      </p:sp>
      <p:sp>
        <p:nvSpPr>
          <p:cNvPr id="110" name="Number"/>
          <p:cNvSpPr txBox="1"/>
          <p:nvPr/>
        </p:nvSpPr>
        <p:spPr>
          <a:xfrm>
            <a:off x="9427464" y="3264408"/>
            <a:ext cx="2478024" cy="800100"/>
          </a:xfrm>
          <a:prstGeom prst="rect">
            <a:avLst/>
          </a:prstGeom>
          <a:noFill/>
        </p:spPr>
        <p:txBody>
          <a:bodyPr wrap="square" lIns="0" tIns="0" rIns="0" bIns="0" anchor="t">
            <a:noAutofit/>
          </a:bodyPr>
          <a:lstStyle/>
          <a:p>
            <a:pPr algn="l">
              <a:lnSpc>
                <a:spcPct val="88000"/>
              </a:lnSpc>
              <a:spcAft>
                <a:spcPts val="300"/>
              </a:spcAft>
            </a:pPr>
            <a:r>
              <a:rPr lang="en-US" sz="6000" spc="-60" dirty="0">
                <a:solidFill>
                  <a:srgbClr val="F5F5F7"/>
                </a:solidFill>
                <a:latin typeface="Helvetica Neue Medium"/>
                <a:cs typeface="Helvetica Neue Medium"/>
              </a:rPr>
              <a:t>3.4%</a:t>
            </a:r>
          </a:p>
        </p:txBody>
      </p:sp>
      <p:sp>
        <p:nvSpPr>
          <p:cNvPr id="111" name="Label"/>
          <p:cNvSpPr txBox="1"/>
          <p:nvPr/>
        </p:nvSpPr>
        <p:spPr>
          <a:xfrm>
            <a:off x="9427464" y="4137660"/>
            <a:ext cx="2478024"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drop-off on the budget process</a:t>
            </a:r>
          </a:p>
        </p:txBody>
      </p:sp>
      <p:sp>
        <p:nvSpPr>
          <p:cNvPr id="112" name="Extra"/>
          <p:cNvSpPr txBox="1"/>
          <p:nvPr/>
        </p:nvSpPr>
        <p:spPr>
          <a:xfrm>
            <a:off x="9427464" y="5006340"/>
            <a:ext cx="2478024" cy="365760"/>
          </a:xfrm>
          <a:prstGeom prst="rect">
            <a:avLst/>
          </a:prstGeom>
          <a:noFill/>
        </p:spPr>
        <p:txBody>
          <a:bodyPr wrap="square" lIns="0" tIns="0" rIns="0" bIns="0" anchor="t">
            <a:noAutofit/>
          </a:bodyPr>
          <a:lstStyle/>
          <a:p>
            <a:pPr algn="l">
              <a:lnSpc>
                <a:spcPct val="115000"/>
              </a:lnSpc>
              <a:spcAft>
                <a:spcPts val="300"/>
              </a:spcAft>
            </a:pPr>
            <a:r>
              <a:rPr lang="en-US" sz="1300" spc="0" dirty="0">
                <a:solidFill>
                  <a:srgbClr val="F5F5F7"/>
                </a:solidFill>
                <a:latin typeface="Helvetica Neue Medium"/>
                <a:cs typeface="Helvetica Neue Medium"/>
              </a:rPr>
              <a:t>Down from 5.4%</a:t>
            </a:r>
          </a:p>
        </p:txBody>
      </p:sp>
      <p:sp>
        <p:nvSpPr>
          <p:cNvPr id="3049" name="Tile"/>
          <p:cNvSpPr/>
          <p:nvPr/>
        </p:nvSpPr>
        <p:spPr>
          <a:xfrm>
            <a:off x="5943600" y="5737860"/>
            <a:ext cx="3026664" cy="2491740"/>
          </a:xfrm>
          <a:prstGeom prst="roundRect">
            <a:avLst>
              <a:gd name="adj" fmla="val 5137"/>
            </a:avLst>
          </a:prstGeom>
          <a:solidFill>
            <a:srgbClr val="262A33"/>
          </a:solidFill>
          <a:ln>
            <a:noFill/>
          </a:ln>
        </p:spPr>
        <p:txBody>
          <a:bodyPr/>
          <a:lstStyle/>
          <a:p>
            <a:endParaRPr lang="en-US"/>
          </a:p>
        </p:txBody>
      </p:sp>
      <p:sp>
        <p:nvSpPr>
          <p:cNvPr id="113" name="Number"/>
          <p:cNvSpPr txBox="1"/>
          <p:nvPr/>
        </p:nvSpPr>
        <p:spPr>
          <a:xfrm>
            <a:off x="6217920" y="5939028"/>
            <a:ext cx="2478024" cy="800100"/>
          </a:xfrm>
          <a:prstGeom prst="rect">
            <a:avLst/>
          </a:prstGeom>
          <a:noFill/>
        </p:spPr>
        <p:txBody>
          <a:bodyPr wrap="square" lIns="0" tIns="0" rIns="0" bIns="0" anchor="t">
            <a:noAutofit/>
          </a:bodyPr>
          <a:lstStyle/>
          <a:p>
            <a:pPr algn="l">
              <a:lnSpc>
                <a:spcPct val="88000"/>
              </a:lnSpc>
              <a:spcAft>
                <a:spcPts val="300"/>
              </a:spcAft>
            </a:pPr>
            <a:r>
              <a:rPr lang="en-US" sz="6000" spc="-60" dirty="0">
                <a:solidFill>
                  <a:srgbClr val="F5F5F7"/>
                </a:solidFill>
                <a:latin typeface="Helvetica Neue Medium"/>
                <a:cs typeface="Helvetica Neue Medium"/>
              </a:rPr>
              <a:t>10 min</a:t>
            </a:r>
          </a:p>
        </p:txBody>
      </p:sp>
      <p:sp>
        <p:nvSpPr>
          <p:cNvPr id="114" name="Label"/>
          <p:cNvSpPr txBox="1"/>
          <p:nvPr/>
        </p:nvSpPr>
        <p:spPr>
          <a:xfrm>
            <a:off x="6217920" y="6812280"/>
            <a:ext cx="2478024"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to complete a budget</a:t>
            </a:r>
          </a:p>
        </p:txBody>
      </p:sp>
      <p:sp>
        <p:nvSpPr>
          <p:cNvPr id="115" name="Extra"/>
          <p:cNvSpPr txBox="1"/>
          <p:nvPr/>
        </p:nvSpPr>
        <p:spPr>
          <a:xfrm>
            <a:off x="6217920" y="7680960"/>
            <a:ext cx="2478024" cy="365760"/>
          </a:xfrm>
          <a:prstGeom prst="rect">
            <a:avLst/>
          </a:prstGeom>
          <a:noFill/>
        </p:spPr>
        <p:txBody>
          <a:bodyPr wrap="square" lIns="0" tIns="0" rIns="0" bIns="0" anchor="t">
            <a:noAutofit/>
          </a:bodyPr>
          <a:lstStyle/>
          <a:p>
            <a:pPr algn="l">
              <a:lnSpc>
                <a:spcPct val="115000"/>
              </a:lnSpc>
              <a:spcAft>
                <a:spcPts val="300"/>
              </a:spcAft>
            </a:pPr>
            <a:r>
              <a:rPr lang="en-US" sz="1300" spc="0" dirty="0">
                <a:solidFill>
                  <a:srgbClr val="F5F5F7"/>
                </a:solidFill>
                <a:latin typeface="Helvetica Neue Medium"/>
                <a:cs typeface="Helvetica Neue Medium"/>
              </a:rPr>
              <a:t>Down from 12 min</a:t>
            </a:r>
          </a:p>
        </p:txBody>
      </p:sp>
      <p:sp>
        <p:nvSpPr>
          <p:cNvPr id="3050" name="Tile"/>
          <p:cNvSpPr/>
          <p:nvPr/>
        </p:nvSpPr>
        <p:spPr>
          <a:xfrm>
            <a:off x="9153144" y="5737860"/>
            <a:ext cx="3026664" cy="2491740"/>
          </a:xfrm>
          <a:prstGeom prst="roundRect">
            <a:avLst>
              <a:gd name="adj" fmla="val 5137"/>
            </a:avLst>
          </a:prstGeom>
          <a:solidFill>
            <a:srgbClr val="262A33"/>
          </a:solidFill>
          <a:ln>
            <a:noFill/>
          </a:ln>
        </p:spPr>
        <p:txBody>
          <a:bodyPr/>
          <a:lstStyle/>
          <a:p>
            <a:endParaRPr lang="en-US"/>
          </a:p>
        </p:txBody>
      </p:sp>
      <p:sp>
        <p:nvSpPr>
          <p:cNvPr id="116" name="Number"/>
          <p:cNvSpPr txBox="1"/>
          <p:nvPr/>
        </p:nvSpPr>
        <p:spPr>
          <a:xfrm>
            <a:off x="9427464" y="5939028"/>
            <a:ext cx="2478024" cy="800100"/>
          </a:xfrm>
          <a:prstGeom prst="rect">
            <a:avLst/>
          </a:prstGeom>
          <a:noFill/>
        </p:spPr>
        <p:txBody>
          <a:bodyPr wrap="square" lIns="0" tIns="0" rIns="0" bIns="0" anchor="t">
            <a:noAutofit/>
          </a:bodyPr>
          <a:lstStyle/>
          <a:p>
            <a:pPr algn="l">
              <a:lnSpc>
                <a:spcPct val="88000"/>
              </a:lnSpc>
              <a:spcAft>
                <a:spcPts val="300"/>
              </a:spcAft>
            </a:pPr>
            <a:r>
              <a:rPr lang="en-US" sz="6000" spc="-60" dirty="0">
                <a:solidFill>
                  <a:srgbClr val="F5F5F7"/>
                </a:solidFill>
                <a:latin typeface="Helvetica Neue Medium"/>
                <a:cs typeface="Helvetica Neue Medium"/>
              </a:rPr>
              <a:t>5 min</a:t>
            </a:r>
          </a:p>
        </p:txBody>
      </p:sp>
      <p:sp>
        <p:nvSpPr>
          <p:cNvPr id="117" name="Label"/>
          <p:cNvSpPr txBox="1"/>
          <p:nvPr/>
        </p:nvSpPr>
        <p:spPr>
          <a:xfrm>
            <a:off x="9427464" y="6812280"/>
            <a:ext cx="2478024"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to compare budget scenarios</a:t>
            </a:r>
          </a:p>
        </p:txBody>
      </p:sp>
      <p:sp>
        <p:nvSpPr>
          <p:cNvPr id="118" name="Extra"/>
          <p:cNvSpPr txBox="1"/>
          <p:nvPr/>
        </p:nvSpPr>
        <p:spPr>
          <a:xfrm>
            <a:off x="9427464" y="7680960"/>
            <a:ext cx="2478024" cy="365760"/>
          </a:xfrm>
          <a:prstGeom prst="rect">
            <a:avLst/>
          </a:prstGeom>
          <a:noFill/>
        </p:spPr>
        <p:txBody>
          <a:bodyPr wrap="square" lIns="0" tIns="0" rIns="0" bIns="0" anchor="t">
            <a:noAutofit/>
          </a:bodyPr>
          <a:lstStyle/>
          <a:p>
            <a:pPr algn="l">
              <a:lnSpc>
                <a:spcPct val="115000"/>
              </a:lnSpc>
              <a:spcAft>
                <a:spcPts val="300"/>
              </a:spcAft>
            </a:pPr>
            <a:r>
              <a:rPr lang="en-US" sz="1300" spc="0" dirty="0">
                <a:solidFill>
                  <a:srgbClr val="F5F5F7"/>
                </a:solidFill>
                <a:latin typeface="Helvetica Neue Medium"/>
                <a:cs typeface="Helvetica Neue Medium"/>
              </a:rPr>
              <a:t>A new capability</a:t>
            </a:r>
          </a:p>
        </p:txBody>
      </p:sp>
      <p:pic>
        <p:nvPicPr>
          <p:cNvPr id="119"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AMEX MOCA · PROTOTYPE</a:t>
            </a:r>
          </a:p>
        </p:txBody>
      </p:sp>
      <p:sp>
        <p:nvSpPr>
          <p:cNvPr id="102" name="Headline"/>
          <p:cNvSpPr txBox="1"/>
          <p:nvPr/>
        </p:nvSpPr>
        <p:spPr>
          <a:xfrm>
            <a:off x="822960" y="1371600"/>
            <a:ext cx="11358880" cy="173736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F5F5F7"/>
                </a:solidFill>
                <a:latin typeface="Helvetica Neue Medium"/>
                <a:cs typeface="Helvetica Neue Medium"/>
              </a:rPr>
              <a:t>Build, project and compare </a:t>
            </a:r>
            <a:r>
              <a:rPr lang="en-US" sz="4400" spc="-40" dirty="0">
                <a:solidFill>
                  <a:srgbClr val="E98C64"/>
                </a:solidFill>
                <a:latin typeface="Helvetica Neue Medium"/>
                <a:cs typeface="Helvetica Neue Medium"/>
              </a:rPr>
              <a:t>a client budget</a:t>
            </a:r>
            <a:r>
              <a:rPr lang="en-US" sz="4400" spc="-40" dirty="0">
                <a:solidFill>
                  <a:srgbClr val="F5F5F7"/>
                </a:solidFill>
                <a:latin typeface="Helvetica Neue Medium"/>
                <a:cs typeface="Helvetica Neue Medium"/>
              </a:rPr>
              <a:t>.</a:t>
            </a:r>
          </a:p>
        </p:txBody>
      </p:sp>
      <p:sp>
        <p:nvSpPr>
          <p:cNvPr id="103" name="Body"/>
          <p:cNvSpPr txBox="1"/>
          <p:nvPr/>
        </p:nvSpPr>
        <p:spPr>
          <a:xfrm>
            <a:off x="822960" y="3246120"/>
            <a:ext cx="5120640" cy="182880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11 hi-fi screens linked in order: import the client’s budget, set the period, shape the allocations, see the ROI projection, then add, optimize and compare scenarios.</a:t>
            </a:r>
          </a:p>
        </p:txBody>
      </p:sp>
      <p:sp>
        <p:nvSpPr>
          <p:cNvPr id="104" name="Link">
            <a:hlinkClick r:id="rId2"/>
          </p:cNvPr>
          <p:cNvSpPr txBox="1"/>
          <p:nvPr/>
        </p:nvSpPr>
        <p:spPr>
          <a:xfrm>
            <a:off x="822960" y="5257800"/>
            <a:ext cx="5120640" cy="457200"/>
          </a:xfrm>
          <a:prstGeom prst="rect">
            <a:avLst/>
          </a:prstGeom>
          <a:noFill/>
        </p:spPr>
        <p:txBody>
          <a:bodyPr wrap="square" lIns="0" tIns="0" rIns="0" bIns="0" anchor="t">
            <a:noAutofit/>
          </a:bodyPr>
          <a:lstStyle/>
          <a:p>
            <a:pPr algn="l">
              <a:lnSpc>
                <a:spcPct val="115000"/>
              </a:lnSpc>
              <a:spcAft>
                <a:spcPts val="300"/>
              </a:spcAft>
            </a:pPr>
            <a:r>
              <a:rPr lang="en-US" sz="2200" u="sng" spc="0" dirty="0">
                <a:solidFill>
                  <a:srgbClr val="E98C64"/>
                </a:solidFill>
                <a:latin typeface="Helvetica Neue Medium"/>
                <a:cs typeface="Helvetica Neue Medium"/>
              </a:rPr>
              <a:t>Open the MOCA prototype →</a:t>
            </a:r>
          </a:p>
        </p:txBody>
      </p:sp>
      <p:cxnSp>
        <p:nvCxnSpPr>
          <p:cNvPr id="105" name="Divider"/>
          <p:cNvCxnSpPr/>
          <p:nvPr/>
        </p:nvCxnSpPr>
        <p:spPr>
          <a:xfrm>
            <a:off x="822960" y="6080760"/>
            <a:ext cx="5120640" cy="0"/>
          </a:xfrm>
          <a:prstGeom prst="line">
            <a:avLst/>
          </a:prstGeom>
          <a:ln w="9525">
            <a:solidFill>
              <a:srgbClr val="2C2F38"/>
            </a:solidFill>
          </a:ln>
        </p:spPr>
      </p:cxnSp>
      <p:sp>
        <p:nvSpPr>
          <p:cNvPr id="106" name="Also"/>
          <p:cNvSpPr txBox="1"/>
          <p:nvPr/>
        </p:nvSpPr>
        <p:spPr>
          <a:xfrm>
            <a:off x="822960" y="6263640"/>
            <a:ext cx="5120640" cy="146304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ALSO AVAILABLE</a:t>
            </a:r>
          </a:p>
          <a:p>
            <a:pPr algn="l">
              <a:lnSpc>
                <a:spcPct val="125000"/>
              </a:lnSpc>
              <a:spcAft>
                <a:spcPts val="300"/>
              </a:spcAft>
            </a:pPr>
            <a:r>
              <a:rPr lang="en-US" sz="1550" spc="0" dirty="0">
                <a:solidFill>
                  <a:srgbClr val="A3A8B4"/>
                </a:solidFill>
                <a:latin typeface="Helvetica Neue Light"/>
                <a:cs typeface="Helvetica Neue Light"/>
              </a:rPr>
              <a:t>An offline version with the narrative for every step and a full link map: MOCA-Budget-Prototype.html.</a:t>
            </a:r>
          </a:p>
        </p:txBody>
      </p:sp>
      <p:pic>
        <p:nvPicPr>
          <p:cNvPr id="107" name="Hi-fi screen"/>
          <p:cNvPicPr>
            <a:picLocks noChangeAspect="1"/>
          </p:cNvPicPr>
          <p:nvPr/>
        </p:nvPicPr>
        <p:blipFill>
          <a:blip r:embed="rId3"/>
          <a:stretch>
            <a:fillRect/>
          </a:stretch>
        </p:blipFill>
        <p:spPr>
          <a:xfrm>
            <a:off x="6233160" y="3396177"/>
            <a:ext cx="6467932" cy="4985823"/>
          </a:xfrm>
          <a:prstGeom prst="rect">
            <a:avLst/>
          </a:prstGeom>
          <a:ln w="9525">
            <a:solidFill>
              <a:srgbClr val="3A3E49"/>
            </a:solidFill>
          </a:ln>
        </p:spPr>
      </p:pic>
      <p:pic>
        <p:nvPicPr>
          <p:cNvPr id="108" name="gradient strip" descr="gradient strip"/>
          <p:cNvPicPr>
            <a:picLocks noChangeAspect="1"/>
          </p:cNvPicPr>
          <p:nvPr/>
        </p:nvPicPr>
        <p:blipFill>
          <a:blip r:embed="rId4"/>
          <a:stretch>
            <a:fillRect/>
          </a:stretch>
        </p:blipFill>
        <p:spPr>
          <a:xfrm>
            <a:off x="0" y="9285427"/>
            <a:ext cx="13004800" cy="468173"/>
          </a:xfrm>
          <a:prstGeom prst="rect">
            <a:avLst/>
          </a:prstGeom>
        </p:spPr>
      </p:pic>
      <p:sp>
        <p:nvSpPr>
          <p:cNvPr id="109" name="Workflow map link">
            <a:hlinkClick r:id="rId5"/>
          </p:cNvPr>
          <p:cNvSpPr txBox="1"/>
          <p:nvPr/>
        </p:nvSpPr>
        <p:spPr>
          <a:xfrm>
            <a:off x="822960" y="5791200"/>
            <a:ext cx="5120640" cy="355600"/>
          </a:xfrm>
          <a:prstGeom prst="rect">
            <a:avLst/>
          </a:prstGeom>
          <a:noFill/>
        </p:spPr>
        <p:txBody>
          <a:bodyPr wrap="square" lIns="0" tIns="0" rIns="0" bIns="0" anchor="t">
            <a:noAutofit/>
          </a:bodyPr>
          <a:lstStyle/>
          <a:p>
            <a:pPr algn="l">
              <a:lnSpc>
                <a:spcPct val="115000"/>
              </a:lnSpc>
              <a:spcAft>
                <a:spcPts val="300"/>
              </a:spcAft>
            </a:pPr>
            <a:r>
              <a:rPr lang="en-US" sz="1500" u="sng" spc="0" dirty="0">
                <a:solidFill>
                  <a:srgbClr val="E98C64"/>
                </a:solidFill>
                <a:latin typeface="Helvetica Neue Medium"/>
                <a:cs typeface="Helvetica Neue Medium"/>
              </a:rPr>
              <a:t>Or start at the workflow map →</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121318"/>
        </a:solidFill>
        <a:effectLst/>
      </p:bgPr>
    </p:bg>
    <p:spTree>
      <p:nvGrpSpPr>
        <p:cNvPr id="1" name=""/>
        <p:cNvGrpSpPr/>
        <p:nvPr/>
      </p:nvGrpSpPr>
      <p:grpSpPr/>
      <p:sp>
        <p:nvSpPr>
          <p:cNvPr id="2" name="TextBox 1"/>
          <p:cNvSpPr txBox="1"/>
          <p:nvPr/>
        </p:nvSpPr>
        <p:spPr>
          <a:xfrm>
            <a:off x="822960" y="822960"/>
            <a:ext cx="5486400" cy="274320"/>
          </a:xfrm>
          <a:prstGeom prst="rect">
            <a:avLst/>
          </a:prstGeom>
          <a:noFill/>
        </p:spPr>
        <p:txBody>
          <a:bodyPr wrap="square" lIns="0" rIns="0" tIns="0" bIns="0">
            <a:spAutoFit/>
          </a:bodyPr>
          <a:lstStyle/>
          <a:p>
            <a:pPr algn="l"/>
            <a:r>
              <a:rPr sz="1200">
                <a:solidFill>
                  <a:srgbClr val="E98C64"/>
                </a:solidFill>
                <a:latin typeface="Helvetica Neue Medium"/>
              </a:rPr>
              <a:t>CASE STUDY 05 · AI PRODUCT · PROTOTYPE</a:t>
            </a:r>
          </a:p>
        </p:txBody>
      </p:sp>
      <p:sp>
        <p:nvSpPr>
          <p:cNvPr id="3" name="TextBox 2"/>
          <p:cNvSpPr txBox="1"/>
          <p:nvPr/>
        </p:nvSpPr>
        <p:spPr>
          <a:xfrm>
            <a:off x="822960" y="1234440"/>
            <a:ext cx="10515600" cy="914400"/>
          </a:xfrm>
          <a:prstGeom prst="rect">
            <a:avLst/>
          </a:prstGeom>
          <a:noFill/>
        </p:spPr>
        <p:txBody>
          <a:bodyPr wrap="square" lIns="0" rIns="0" tIns="0" bIns="0">
            <a:spAutoFit/>
          </a:bodyPr>
          <a:lstStyle/>
          <a:p>
            <a:pPr algn="l"/>
            <a:r>
              <a:rPr sz="5400">
                <a:solidFill>
                  <a:srgbClr val="F5F5F7"/>
                </a:solidFill>
                <a:latin typeface="Helvetica Neue Medium"/>
              </a:rPr>
              <a:t>Meridian Navigator</a:t>
            </a:r>
          </a:p>
        </p:txBody>
      </p:sp>
      <p:sp>
        <p:nvSpPr>
          <p:cNvPr id="4" name="TextBox 3"/>
          <p:cNvSpPr txBox="1"/>
          <p:nvPr/>
        </p:nvSpPr>
        <p:spPr>
          <a:xfrm>
            <a:off x="822960" y="2240280"/>
            <a:ext cx="5486400" cy="548640"/>
          </a:xfrm>
          <a:prstGeom prst="rect">
            <a:avLst/>
          </a:prstGeom>
          <a:noFill/>
        </p:spPr>
        <p:txBody>
          <a:bodyPr wrap="square" lIns="0" rIns="0" tIns="0" bIns="0">
            <a:spAutoFit/>
          </a:bodyPr>
          <a:lstStyle/>
          <a:p>
            <a:pPr algn="l"/>
            <a:r>
              <a:rPr sz="2600">
                <a:solidFill>
                  <a:srgbClr val="E98C64"/>
                </a:solidFill>
                <a:latin typeface="Helvetica Neue Medium"/>
              </a:rPr>
              <a:t>AI-assisted trading prototype</a:t>
            </a:r>
          </a:p>
        </p:txBody>
      </p:sp>
      <p:sp>
        <p:nvSpPr>
          <p:cNvPr id="5" name="TextBox 4"/>
          <p:cNvSpPr txBox="1"/>
          <p:nvPr/>
        </p:nvSpPr>
        <p:spPr>
          <a:xfrm>
            <a:off x="822960" y="2926080"/>
            <a:ext cx="5486400" cy="1280160"/>
          </a:xfrm>
          <a:prstGeom prst="rect">
            <a:avLst/>
          </a:prstGeom>
          <a:noFill/>
        </p:spPr>
        <p:txBody>
          <a:bodyPr wrap="square" lIns="0" rIns="0" tIns="0" bIns="0">
            <a:spAutoFit/>
          </a:bodyPr>
          <a:lstStyle/>
          <a:p>
            <a:pPr algn="l"/>
            <a:r>
              <a:rPr sz="1700">
                <a:solidFill>
                  <a:srgbClr val="A3A8B4"/>
                </a:solidFill>
                <a:latin typeface="Helvetica Neue Light"/>
              </a:rPr>
              <a:t>Retail investors juggle research, orders, and monitoring across separate tools. Does AI insight beside the trade help them decide?</a:t>
            </a:r>
          </a:p>
        </p:txBody>
      </p:sp>
      <p:cxnSp>
        <p:nvCxnSpPr>
          <p:cNvPr id="6" name="Connector 5"/>
          <p:cNvCxnSpPr/>
          <p:nvPr/>
        </p:nvCxnSpPr>
        <p:spPr>
          <a:xfrm>
            <a:off x="822960" y="4343400"/>
            <a:ext cx="5486400" cy="0"/>
          </a:xfrm>
          <a:prstGeom prst="line">
            <a:avLst/>
          </a:prstGeom>
          <a:ln w="9525">
            <a:solidFill>
              <a:srgbClr val="2A2D37"/>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822960" y="4471416"/>
            <a:ext cx="1188720" cy="365760"/>
          </a:xfrm>
          <a:prstGeom prst="rect">
            <a:avLst/>
          </a:prstGeom>
          <a:noFill/>
        </p:spPr>
        <p:txBody>
          <a:bodyPr wrap="square" lIns="0" rIns="0" tIns="0" bIns="0">
            <a:spAutoFit/>
          </a:bodyPr>
          <a:lstStyle/>
          <a:p>
            <a:pPr algn="l"/>
            <a:r>
              <a:rPr sz="1100">
                <a:solidFill>
                  <a:srgbClr val="7A7F8C"/>
                </a:solidFill>
                <a:latin typeface="Helvetica Neue Medium"/>
              </a:rPr>
              <a:t>ROLE</a:t>
            </a:r>
          </a:p>
        </p:txBody>
      </p:sp>
      <p:sp>
        <p:nvSpPr>
          <p:cNvPr id="8" name="TextBox 7"/>
          <p:cNvSpPr txBox="1"/>
          <p:nvPr/>
        </p:nvSpPr>
        <p:spPr>
          <a:xfrm>
            <a:off x="2148840" y="4443984"/>
            <a:ext cx="4160520" cy="822960"/>
          </a:xfrm>
          <a:prstGeom prst="rect">
            <a:avLst/>
          </a:prstGeom>
          <a:noFill/>
        </p:spPr>
        <p:txBody>
          <a:bodyPr wrap="square" lIns="0" rIns="0" tIns="0" bIns="0">
            <a:spAutoFit/>
          </a:bodyPr>
          <a:lstStyle/>
          <a:p>
            <a:pPr algn="l"/>
            <a:r>
              <a:rPr sz="1550">
                <a:solidFill>
                  <a:srgbClr val="F5F5F7"/>
                </a:solidFill>
                <a:latin typeface="Helvetica Neue Light"/>
              </a:rPr>
              <a:t>Lead UX designer</a:t>
            </a:r>
          </a:p>
        </p:txBody>
      </p:sp>
      <p:cxnSp>
        <p:nvCxnSpPr>
          <p:cNvPr id="9" name="Connector 8"/>
          <p:cNvCxnSpPr/>
          <p:nvPr/>
        </p:nvCxnSpPr>
        <p:spPr>
          <a:xfrm>
            <a:off x="822960" y="5367528"/>
            <a:ext cx="5486400" cy="0"/>
          </a:xfrm>
          <a:prstGeom prst="line">
            <a:avLst/>
          </a:prstGeom>
          <a:ln w="9525">
            <a:solidFill>
              <a:srgbClr val="2A2D37"/>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22960" y="5495544"/>
            <a:ext cx="1188720" cy="365760"/>
          </a:xfrm>
          <a:prstGeom prst="rect">
            <a:avLst/>
          </a:prstGeom>
          <a:noFill/>
        </p:spPr>
        <p:txBody>
          <a:bodyPr wrap="square" lIns="0" rIns="0" tIns="0" bIns="0">
            <a:spAutoFit/>
          </a:bodyPr>
          <a:lstStyle/>
          <a:p>
            <a:pPr algn="l"/>
            <a:r>
              <a:rPr sz="1100">
                <a:solidFill>
                  <a:srgbClr val="7A7F8C"/>
                </a:solidFill>
                <a:latin typeface="Helvetica Neue Medium"/>
              </a:rPr>
              <a:t>TEAM</a:t>
            </a:r>
          </a:p>
        </p:txBody>
      </p:sp>
      <p:sp>
        <p:nvSpPr>
          <p:cNvPr id="11" name="TextBox 10"/>
          <p:cNvSpPr txBox="1"/>
          <p:nvPr/>
        </p:nvSpPr>
        <p:spPr>
          <a:xfrm>
            <a:off x="2148840" y="5468112"/>
            <a:ext cx="4160520" cy="822960"/>
          </a:xfrm>
          <a:prstGeom prst="rect">
            <a:avLst/>
          </a:prstGeom>
          <a:noFill/>
        </p:spPr>
        <p:txBody>
          <a:bodyPr wrap="square" lIns="0" rIns="0" tIns="0" bIns="0">
            <a:spAutoFit/>
          </a:bodyPr>
          <a:lstStyle/>
          <a:p>
            <a:pPr algn="l"/>
            <a:r>
              <a:rPr sz="1550">
                <a:solidFill>
                  <a:srgbClr val="F5F5F7"/>
                </a:solidFill>
                <a:latin typeface="Helvetica Neue Light"/>
              </a:rPr>
              <a:t>Solo lead, with AI agents for drafting</a:t>
            </a:r>
          </a:p>
        </p:txBody>
      </p:sp>
      <p:cxnSp>
        <p:nvCxnSpPr>
          <p:cNvPr id="12" name="Connector 11"/>
          <p:cNvCxnSpPr/>
          <p:nvPr/>
        </p:nvCxnSpPr>
        <p:spPr>
          <a:xfrm>
            <a:off x="822960" y="6391656"/>
            <a:ext cx="5486400" cy="0"/>
          </a:xfrm>
          <a:prstGeom prst="line">
            <a:avLst/>
          </a:prstGeom>
          <a:ln w="9525">
            <a:solidFill>
              <a:srgbClr val="2A2D37"/>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22960" y="6519672"/>
            <a:ext cx="1188720" cy="365760"/>
          </a:xfrm>
          <a:prstGeom prst="rect">
            <a:avLst/>
          </a:prstGeom>
          <a:noFill/>
        </p:spPr>
        <p:txBody>
          <a:bodyPr wrap="square" lIns="0" rIns="0" tIns="0" bIns="0">
            <a:spAutoFit/>
          </a:bodyPr>
          <a:lstStyle/>
          <a:p>
            <a:pPr algn="l"/>
            <a:r>
              <a:rPr sz="1100">
                <a:solidFill>
                  <a:srgbClr val="7A7F8C"/>
                </a:solidFill>
                <a:latin typeface="Helvetica Neue Medium"/>
              </a:rPr>
              <a:t>SCOPE</a:t>
            </a:r>
          </a:p>
        </p:txBody>
      </p:sp>
      <p:sp>
        <p:nvSpPr>
          <p:cNvPr id="14" name="TextBox 13"/>
          <p:cNvSpPr txBox="1"/>
          <p:nvPr/>
        </p:nvSpPr>
        <p:spPr>
          <a:xfrm>
            <a:off x="2148840" y="6492240"/>
            <a:ext cx="4160520" cy="822960"/>
          </a:xfrm>
          <a:prstGeom prst="rect">
            <a:avLst/>
          </a:prstGeom>
          <a:noFill/>
        </p:spPr>
        <p:txBody>
          <a:bodyPr wrap="square" lIns="0" rIns="0" tIns="0" bIns="0">
            <a:spAutoFit/>
          </a:bodyPr>
          <a:lstStyle/>
          <a:p>
            <a:pPr algn="l"/>
            <a:r>
              <a:rPr sz="1550">
                <a:solidFill>
                  <a:srgbClr val="F5F5F7"/>
                </a:solidFill>
                <a:latin typeface="Helvetica Neue Light"/>
              </a:rPr>
              <a:t>Five screens, two eight-step trade flows, agent concepts, design system</a:t>
            </a:r>
          </a:p>
        </p:txBody>
      </p:sp>
      <p:cxnSp>
        <p:nvCxnSpPr>
          <p:cNvPr id="15" name="Connector 14"/>
          <p:cNvCxnSpPr/>
          <p:nvPr/>
        </p:nvCxnSpPr>
        <p:spPr>
          <a:xfrm>
            <a:off x="822960" y="7415783"/>
            <a:ext cx="5486400" cy="0"/>
          </a:xfrm>
          <a:prstGeom prst="line">
            <a:avLst/>
          </a:prstGeom>
          <a:ln w="9525">
            <a:solidFill>
              <a:srgbClr val="2A2D37"/>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22960" y="7543800"/>
            <a:ext cx="1188720" cy="365760"/>
          </a:xfrm>
          <a:prstGeom prst="rect">
            <a:avLst/>
          </a:prstGeom>
          <a:noFill/>
        </p:spPr>
        <p:txBody>
          <a:bodyPr wrap="square" lIns="0" rIns="0" tIns="0" bIns="0">
            <a:spAutoFit/>
          </a:bodyPr>
          <a:lstStyle/>
          <a:p>
            <a:pPr algn="l"/>
            <a:r>
              <a:rPr sz="1100">
                <a:solidFill>
                  <a:srgbClr val="7A7F8C"/>
                </a:solidFill>
                <a:latin typeface="Helvetica Neue Medium"/>
              </a:rPr>
              <a:t>STATUS</a:t>
            </a:r>
          </a:p>
        </p:txBody>
      </p:sp>
      <p:sp>
        <p:nvSpPr>
          <p:cNvPr id="17" name="TextBox 16"/>
          <p:cNvSpPr txBox="1"/>
          <p:nvPr/>
        </p:nvSpPr>
        <p:spPr>
          <a:xfrm>
            <a:off x="2148840" y="7516367"/>
            <a:ext cx="4160520" cy="822960"/>
          </a:xfrm>
          <a:prstGeom prst="rect">
            <a:avLst/>
          </a:prstGeom>
          <a:noFill/>
        </p:spPr>
        <p:txBody>
          <a:bodyPr wrap="square" lIns="0" rIns="0" tIns="0" bIns="0">
            <a:spAutoFit/>
          </a:bodyPr>
          <a:lstStyle/>
          <a:p>
            <a:pPr algn="l"/>
            <a:r>
              <a:rPr sz="1550">
                <a:solidFill>
                  <a:srgbClr val="F5F5F7"/>
                </a:solidFill>
                <a:latin typeface="Helvetica Neue Light"/>
              </a:rPr>
              <a:t>Prototype. Mock data. Tests are set; none has run yet</a:t>
            </a:r>
          </a:p>
        </p:txBody>
      </p:sp>
      <p:cxnSp>
        <p:nvCxnSpPr>
          <p:cNvPr id="18" name="Connector 17"/>
          <p:cNvCxnSpPr/>
          <p:nvPr/>
        </p:nvCxnSpPr>
        <p:spPr>
          <a:xfrm>
            <a:off x="822960" y="8439912"/>
            <a:ext cx="5486400" cy="0"/>
          </a:xfrm>
          <a:prstGeom prst="line">
            <a:avLst/>
          </a:prstGeom>
          <a:ln w="9525">
            <a:solidFill>
              <a:srgbClr val="2A2D37"/>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22960" y="8503920"/>
            <a:ext cx="11356848" cy="274320"/>
          </a:xfrm>
          <a:prstGeom prst="rect">
            <a:avLst/>
          </a:prstGeom>
          <a:noFill/>
        </p:spPr>
        <p:txBody>
          <a:bodyPr wrap="square" lIns="0" rIns="0" tIns="0" bIns="0">
            <a:spAutoFit/>
          </a:bodyPr>
          <a:lstStyle/>
          <a:p>
            <a:pPr algn="l"/>
            <a:r>
              <a:rPr sz="1200">
                <a:solidFill>
                  <a:srgbClr val="7A7F8C"/>
                </a:solidFill>
                <a:latin typeface="Helvetica Neue Light"/>
              </a:rPr>
              <a:t>Portfolio prototype. Mock data only. Hypotheses until validated.</a:t>
            </a:r>
          </a:p>
        </p:txBody>
      </p:sp>
      <p:pic>
        <p:nvPicPr>
          <p:cNvPr id="20" name="Picture 19" descr="image.png"/>
          <p:cNvPicPr>
            <a:picLocks noChangeAspect="1"/>
          </p:cNvPicPr>
          <p:nvPr/>
        </p:nvPicPr>
        <p:blipFill>
          <a:blip r:embed="rId2"/>
          <a:stretch>
            <a:fillRect/>
          </a:stretch>
        </p:blipFill>
        <p:spPr>
          <a:xfrm>
            <a:off x="0" y="9281160"/>
            <a:ext cx="13004800" cy="466344"/>
          </a:xfrm>
          <a:prstGeom prst="rect">
            <a:avLst/>
          </a:prstGeom>
        </p:spPr>
      </p:pic>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OVERVIEW</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Five screens, one trade, one place for AI</a:t>
            </a:r>
          </a:p>
        </p:txBody>
      </p:sp>
      <p:sp>
        <p:nvSpPr>
          <p:cNvPr id="5" name="TextBox 4"/>
          <p:cNvSpPr txBox="1"/>
          <p:nvPr/>
        </p:nvSpPr>
        <p:spPr>
          <a:xfrm>
            <a:off x="822960" y="2011680"/>
            <a:ext cx="6309360" cy="274320"/>
          </a:xfrm>
          <a:prstGeom prst="rect">
            <a:avLst/>
          </a:prstGeom>
          <a:noFill/>
        </p:spPr>
        <p:txBody>
          <a:bodyPr wrap="square" lIns="0" rIns="0" tIns="0" bIns="0">
            <a:spAutoFit/>
          </a:bodyPr>
          <a:lstStyle/>
          <a:p>
            <a:pPr algn="l"/>
            <a:r>
              <a:rPr sz="1100">
                <a:solidFill>
                  <a:srgbClr val="858A97"/>
                </a:solidFill>
                <a:latin typeface="Helvetica Neue Medium"/>
              </a:rPr>
              <a:t>THE FIVE SCREENS, EACH ANSWERING ONE QUESTION</a:t>
            </a:r>
          </a:p>
        </p:txBody>
      </p:sp>
      <p:cxnSp>
        <p:nvCxnSpPr>
          <p:cNvPr id="6" name="Connector 5"/>
          <p:cNvCxnSpPr/>
          <p:nvPr/>
        </p:nvCxnSpPr>
        <p:spPr>
          <a:xfrm>
            <a:off x="822960" y="2468880"/>
            <a:ext cx="6126480"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822960" y="2651760"/>
            <a:ext cx="2011680" cy="457200"/>
          </a:xfrm>
          <a:prstGeom prst="rect">
            <a:avLst/>
          </a:prstGeom>
          <a:noFill/>
        </p:spPr>
        <p:txBody>
          <a:bodyPr wrap="square" lIns="0" rIns="0" tIns="0" bIns="0">
            <a:spAutoFit/>
          </a:bodyPr>
          <a:lstStyle/>
          <a:p>
            <a:pPr algn="l"/>
            <a:r>
              <a:rPr sz="1700">
                <a:solidFill>
                  <a:srgbClr val="14161D"/>
                </a:solidFill>
                <a:latin typeface="Helvetica Neue Medium"/>
              </a:rPr>
              <a:t>Dashboard</a:t>
            </a:r>
          </a:p>
        </p:txBody>
      </p:sp>
      <p:sp>
        <p:nvSpPr>
          <p:cNvPr id="8" name="TextBox 7"/>
          <p:cNvSpPr txBox="1"/>
          <p:nvPr/>
        </p:nvSpPr>
        <p:spPr>
          <a:xfrm>
            <a:off x="2926080" y="2670048"/>
            <a:ext cx="4023360" cy="457200"/>
          </a:xfrm>
          <a:prstGeom prst="rect">
            <a:avLst/>
          </a:prstGeom>
          <a:noFill/>
        </p:spPr>
        <p:txBody>
          <a:bodyPr wrap="square" lIns="0" rIns="0" tIns="0" bIns="0">
            <a:spAutoFit/>
          </a:bodyPr>
          <a:lstStyle/>
          <a:p>
            <a:pPr algn="l"/>
            <a:r>
              <a:rPr sz="1600">
                <a:solidFill>
                  <a:srgbClr val="14161D"/>
                </a:solidFill>
                <a:latin typeface="Helvetica Neue Light"/>
              </a:rPr>
              <a:t>What do I own today?</a:t>
            </a:r>
          </a:p>
        </p:txBody>
      </p:sp>
      <p:cxnSp>
        <p:nvCxnSpPr>
          <p:cNvPr id="9" name="Connector 8"/>
          <p:cNvCxnSpPr/>
          <p:nvPr/>
        </p:nvCxnSpPr>
        <p:spPr>
          <a:xfrm>
            <a:off x="822960" y="3337560"/>
            <a:ext cx="6126480"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22960" y="3520440"/>
            <a:ext cx="2011680" cy="457200"/>
          </a:xfrm>
          <a:prstGeom prst="rect">
            <a:avLst/>
          </a:prstGeom>
          <a:noFill/>
        </p:spPr>
        <p:txBody>
          <a:bodyPr wrap="square" lIns="0" rIns="0" tIns="0" bIns="0">
            <a:spAutoFit/>
          </a:bodyPr>
          <a:lstStyle/>
          <a:p>
            <a:pPr algn="l"/>
            <a:r>
              <a:rPr sz="1700">
                <a:solidFill>
                  <a:srgbClr val="14161D"/>
                </a:solidFill>
                <a:latin typeface="Helvetica Neue Medium"/>
              </a:rPr>
              <a:t>Insight</a:t>
            </a:r>
          </a:p>
        </p:txBody>
      </p:sp>
      <p:sp>
        <p:nvSpPr>
          <p:cNvPr id="11" name="TextBox 10"/>
          <p:cNvSpPr txBox="1"/>
          <p:nvPr/>
        </p:nvSpPr>
        <p:spPr>
          <a:xfrm>
            <a:off x="2926080" y="3538728"/>
            <a:ext cx="4023360" cy="457200"/>
          </a:xfrm>
          <a:prstGeom prst="rect">
            <a:avLst/>
          </a:prstGeom>
          <a:noFill/>
        </p:spPr>
        <p:txBody>
          <a:bodyPr wrap="square" lIns="0" rIns="0" tIns="0" bIns="0">
            <a:spAutoFit/>
          </a:bodyPr>
          <a:lstStyle/>
          <a:p>
            <a:pPr algn="l"/>
            <a:r>
              <a:rPr sz="1600">
                <a:solidFill>
                  <a:srgbClr val="14161D"/>
                </a:solidFill>
                <a:latin typeface="Helvetica Neue Light"/>
              </a:rPr>
              <a:t>What moved, and why?</a:t>
            </a:r>
          </a:p>
        </p:txBody>
      </p:sp>
      <p:cxnSp>
        <p:nvCxnSpPr>
          <p:cNvPr id="12" name="Connector 11"/>
          <p:cNvCxnSpPr/>
          <p:nvPr/>
        </p:nvCxnSpPr>
        <p:spPr>
          <a:xfrm>
            <a:off x="822960" y="4206240"/>
            <a:ext cx="6126480"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22960" y="4389120"/>
            <a:ext cx="2011680" cy="457200"/>
          </a:xfrm>
          <a:prstGeom prst="rect">
            <a:avLst/>
          </a:prstGeom>
          <a:noFill/>
        </p:spPr>
        <p:txBody>
          <a:bodyPr wrap="square" lIns="0" rIns="0" tIns="0" bIns="0">
            <a:spAutoFit/>
          </a:bodyPr>
          <a:lstStyle/>
          <a:p>
            <a:pPr algn="l"/>
            <a:r>
              <a:rPr sz="1700">
                <a:solidFill>
                  <a:srgbClr val="14161D"/>
                </a:solidFill>
                <a:latin typeface="Helvetica Neue Medium"/>
              </a:rPr>
              <a:t>Prospect</a:t>
            </a:r>
          </a:p>
        </p:txBody>
      </p:sp>
      <p:sp>
        <p:nvSpPr>
          <p:cNvPr id="14" name="TextBox 13"/>
          <p:cNvSpPr txBox="1"/>
          <p:nvPr/>
        </p:nvSpPr>
        <p:spPr>
          <a:xfrm>
            <a:off x="2926080" y="4407408"/>
            <a:ext cx="4023360" cy="457200"/>
          </a:xfrm>
          <a:prstGeom prst="rect">
            <a:avLst/>
          </a:prstGeom>
          <a:noFill/>
        </p:spPr>
        <p:txBody>
          <a:bodyPr wrap="square" lIns="0" rIns="0" tIns="0" bIns="0">
            <a:spAutoFit/>
          </a:bodyPr>
          <a:lstStyle/>
          <a:p>
            <a:pPr algn="l"/>
            <a:r>
              <a:rPr sz="1600">
                <a:solidFill>
                  <a:srgbClr val="14161D"/>
                </a:solidFill>
                <a:latin typeface="Helvetica Neue Light"/>
              </a:rPr>
              <a:t>What might fit my plan?</a:t>
            </a:r>
          </a:p>
        </p:txBody>
      </p:sp>
      <p:cxnSp>
        <p:nvCxnSpPr>
          <p:cNvPr id="15" name="Connector 14"/>
          <p:cNvCxnSpPr/>
          <p:nvPr/>
        </p:nvCxnSpPr>
        <p:spPr>
          <a:xfrm>
            <a:off x="822960" y="5074920"/>
            <a:ext cx="6126480"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22960" y="5257800"/>
            <a:ext cx="2011680" cy="457200"/>
          </a:xfrm>
          <a:prstGeom prst="rect">
            <a:avLst/>
          </a:prstGeom>
          <a:noFill/>
        </p:spPr>
        <p:txBody>
          <a:bodyPr wrap="square" lIns="0" rIns="0" tIns="0" bIns="0">
            <a:spAutoFit/>
          </a:bodyPr>
          <a:lstStyle/>
          <a:p>
            <a:pPr algn="l"/>
            <a:r>
              <a:rPr sz="1700">
                <a:solidFill>
                  <a:srgbClr val="14161D"/>
                </a:solidFill>
                <a:latin typeface="Helvetica Neue Medium"/>
              </a:rPr>
              <a:t>Guard</a:t>
            </a:r>
          </a:p>
        </p:txBody>
      </p:sp>
      <p:sp>
        <p:nvSpPr>
          <p:cNvPr id="17" name="TextBox 16"/>
          <p:cNvSpPr txBox="1"/>
          <p:nvPr/>
        </p:nvSpPr>
        <p:spPr>
          <a:xfrm>
            <a:off x="2926080" y="5276088"/>
            <a:ext cx="4023360" cy="457200"/>
          </a:xfrm>
          <a:prstGeom prst="rect">
            <a:avLst/>
          </a:prstGeom>
          <a:noFill/>
        </p:spPr>
        <p:txBody>
          <a:bodyPr wrap="square" lIns="0" rIns="0" tIns="0" bIns="0">
            <a:spAutoFit/>
          </a:bodyPr>
          <a:lstStyle/>
          <a:p>
            <a:pPr algn="l"/>
            <a:r>
              <a:rPr sz="1600">
                <a:solidFill>
                  <a:srgbClr val="14161D"/>
                </a:solidFill>
                <a:latin typeface="Helvetica Neue Light"/>
              </a:rPr>
              <a:t>What needs my attention?</a:t>
            </a:r>
          </a:p>
        </p:txBody>
      </p:sp>
      <p:cxnSp>
        <p:nvCxnSpPr>
          <p:cNvPr id="18" name="Connector 17"/>
          <p:cNvCxnSpPr/>
          <p:nvPr/>
        </p:nvCxnSpPr>
        <p:spPr>
          <a:xfrm>
            <a:off x="822960" y="5943600"/>
            <a:ext cx="6126480"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22960" y="6126480"/>
            <a:ext cx="2011680" cy="457200"/>
          </a:xfrm>
          <a:prstGeom prst="rect">
            <a:avLst/>
          </a:prstGeom>
          <a:noFill/>
        </p:spPr>
        <p:txBody>
          <a:bodyPr wrap="square" lIns="0" rIns="0" tIns="0" bIns="0">
            <a:spAutoFit/>
          </a:bodyPr>
          <a:lstStyle/>
          <a:p>
            <a:pPr algn="l"/>
            <a:r>
              <a:rPr sz="1700">
                <a:solidFill>
                  <a:srgbClr val="14161D"/>
                </a:solidFill>
                <a:latin typeface="Helvetica Neue Medium"/>
              </a:rPr>
              <a:t>Adapt</a:t>
            </a:r>
          </a:p>
        </p:txBody>
      </p:sp>
      <p:sp>
        <p:nvSpPr>
          <p:cNvPr id="20" name="TextBox 19"/>
          <p:cNvSpPr txBox="1"/>
          <p:nvPr/>
        </p:nvSpPr>
        <p:spPr>
          <a:xfrm>
            <a:off x="2926080" y="6144768"/>
            <a:ext cx="4023360" cy="457200"/>
          </a:xfrm>
          <a:prstGeom prst="rect">
            <a:avLst/>
          </a:prstGeom>
          <a:noFill/>
        </p:spPr>
        <p:txBody>
          <a:bodyPr wrap="square" lIns="0" rIns="0" tIns="0" bIns="0">
            <a:spAutoFit/>
          </a:bodyPr>
          <a:lstStyle/>
          <a:p>
            <a:pPr algn="l"/>
            <a:r>
              <a:rPr sz="1600">
                <a:solidFill>
                  <a:srgbClr val="14161D"/>
                </a:solidFill>
                <a:latin typeface="Helvetica Neue Light"/>
              </a:rPr>
              <a:t>Should my mix change?</a:t>
            </a:r>
          </a:p>
        </p:txBody>
      </p:sp>
      <p:cxnSp>
        <p:nvCxnSpPr>
          <p:cNvPr id="21" name="Connector 20"/>
          <p:cNvCxnSpPr/>
          <p:nvPr/>
        </p:nvCxnSpPr>
        <p:spPr>
          <a:xfrm>
            <a:off x="822960" y="6812280"/>
            <a:ext cx="6126480"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543800" y="2011680"/>
            <a:ext cx="4636008" cy="274320"/>
          </a:xfrm>
          <a:prstGeom prst="rect">
            <a:avLst/>
          </a:prstGeom>
          <a:noFill/>
        </p:spPr>
        <p:txBody>
          <a:bodyPr wrap="square" lIns="0" rIns="0" tIns="0" bIns="0">
            <a:spAutoFit/>
          </a:bodyPr>
          <a:lstStyle/>
          <a:p>
            <a:pPr algn="l"/>
            <a:r>
              <a:rPr sz="1100">
                <a:solidFill>
                  <a:srgbClr val="858A97"/>
                </a:solidFill>
                <a:latin typeface="Helvetica Neue Medium"/>
              </a:rPr>
              <a:t>PRODUCT</a:t>
            </a:r>
          </a:p>
        </p:txBody>
      </p:sp>
      <p:sp>
        <p:nvSpPr>
          <p:cNvPr id="23" name="TextBox 22"/>
          <p:cNvSpPr txBox="1"/>
          <p:nvPr/>
        </p:nvSpPr>
        <p:spPr>
          <a:xfrm>
            <a:off x="7543800" y="2322576"/>
            <a:ext cx="4636008"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An AI layer on a trading app, next to the order flow.</a:t>
            </a:r>
          </a:p>
        </p:txBody>
      </p:sp>
      <p:sp>
        <p:nvSpPr>
          <p:cNvPr id="24" name="TextBox 23"/>
          <p:cNvSpPr txBox="1"/>
          <p:nvPr/>
        </p:nvSpPr>
        <p:spPr>
          <a:xfrm>
            <a:off x="7543800" y="3200400"/>
            <a:ext cx="4636008" cy="274320"/>
          </a:xfrm>
          <a:prstGeom prst="rect">
            <a:avLst/>
          </a:prstGeom>
          <a:noFill/>
        </p:spPr>
        <p:txBody>
          <a:bodyPr wrap="square" lIns="0" rIns="0" tIns="0" bIns="0">
            <a:spAutoFit/>
          </a:bodyPr>
          <a:lstStyle/>
          <a:p>
            <a:pPr algn="l"/>
            <a:r>
              <a:rPr sz="1100">
                <a:solidFill>
                  <a:srgbClr val="858A97"/>
                </a:solidFill>
                <a:latin typeface="Helvetica Neue Medium"/>
              </a:rPr>
              <a:t>PROBLEM</a:t>
            </a:r>
          </a:p>
        </p:txBody>
      </p:sp>
      <p:sp>
        <p:nvSpPr>
          <p:cNvPr id="25" name="TextBox 24"/>
          <p:cNvSpPr txBox="1"/>
          <p:nvPr/>
        </p:nvSpPr>
        <p:spPr>
          <a:xfrm>
            <a:off x="7543800" y="3511296"/>
            <a:ext cx="4636008"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Research, order entry, position watching, and rebalancing sit in different places. The hold-or-exit call gets made in the user’s head.</a:t>
            </a:r>
          </a:p>
        </p:txBody>
      </p:sp>
      <p:sp>
        <p:nvSpPr>
          <p:cNvPr id="26" name="TextBox 25"/>
          <p:cNvSpPr txBox="1"/>
          <p:nvPr/>
        </p:nvSpPr>
        <p:spPr>
          <a:xfrm>
            <a:off x="7543800" y="5120640"/>
            <a:ext cx="4636008" cy="274320"/>
          </a:xfrm>
          <a:prstGeom prst="rect">
            <a:avLst/>
          </a:prstGeom>
          <a:noFill/>
        </p:spPr>
        <p:txBody>
          <a:bodyPr wrap="square" lIns="0" rIns="0" tIns="0" bIns="0">
            <a:spAutoFit/>
          </a:bodyPr>
          <a:lstStyle/>
          <a:p>
            <a:pPr algn="l"/>
            <a:r>
              <a:rPr sz="1100">
                <a:solidFill>
                  <a:srgbClr val="858A97"/>
                </a:solidFill>
                <a:latin typeface="Helvetica Neue Medium"/>
              </a:rPr>
              <a:t>AI SOLUTION</a:t>
            </a:r>
          </a:p>
        </p:txBody>
      </p:sp>
      <p:sp>
        <p:nvSpPr>
          <p:cNvPr id="27" name="TextBox 26"/>
          <p:cNvSpPr txBox="1"/>
          <p:nvPr/>
        </p:nvSpPr>
        <p:spPr>
          <a:xfrm>
            <a:off x="7543800" y="5431536"/>
            <a:ext cx="4636008"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Summaries with their source, alerts ranked by severity, and plans the user reviews one step at a time.</a:t>
            </a:r>
          </a:p>
        </p:txBody>
      </p:sp>
      <p:sp>
        <p:nvSpPr>
          <p:cNvPr id="28" name="TextBox 27"/>
          <p:cNvSpPr txBox="1"/>
          <p:nvPr/>
        </p:nvSpPr>
        <p:spPr>
          <a:xfrm>
            <a:off x="7543800" y="6858000"/>
            <a:ext cx="4636008" cy="274320"/>
          </a:xfrm>
          <a:prstGeom prst="rect">
            <a:avLst/>
          </a:prstGeom>
          <a:noFill/>
        </p:spPr>
        <p:txBody>
          <a:bodyPr wrap="square" lIns="0" rIns="0" tIns="0" bIns="0">
            <a:spAutoFit/>
          </a:bodyPr>
          <a:lstStyle/>
          <a:p>
            <a:pPr algn="l"/>
            <a:r>
              <a:rPr sz="1100">
                <a:solidFill>
                  <a:srgbClr val="858A97"/>
                </a:solidFill>
                <a:latin typeface="Helvetica Neue Medium"/>
              </a:rPr>
              <a:t>MY ROLE</a:t>
            </a:r>
          </a:p>
        </p:txBody>
      </p:sp>
      <p:sp>
        <p:nvSpPr>
          <p:cNvPr id="29" name="TextBox 28"/>
          <p:cNvSpPr txBox="1"/>
          <p:nvPr/>
        </p:nvSpPr>
        <p:spPr>
          <a:xfrm>
            <a:off x="7543800" y="7168896"/>
            <a:ext cx="4636008"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Lead UX designer: framed the problem, set the AI rules and five innovation concepts, designed the trade, AI and workflow flows, built the design system, and produced the prototype.</a:t>
            </a:r>
          </a:p>
        </p:txBody>
      </p:sp>
      <p:sp>
        <p:nvSpPr>
          <p:cNvPr id="30" name="TextBox 29"/>
          <p:cNvSpPr txBox="1"/>
          <p:nvPr/>
        </p:nvSpPr>
        <p:spPr>
          <a:xfrm>
            <a:off x="822960" y="8503920"/>
            <a:ext cx="11356848" cy="274320"/>
          </a:xfrm>
          <a:prstGeom prst="rect">
            <a:avLst/>
          </a:prstGeom>
          <a:noFill/>
        </p:spPr>
        <p:txBody>
          <a:bodyPr wrap="square" lIns="0" rIns="0" tIns="0" bIns="0">
            <a:spAutoFit/>
          </a:bodyPr>
          <a:lstStyle/>
          <a:p>
            <a:pPr algn="l"/>
            <a:r>
              <a:rPr sz="1200">
                <a:solidFill>
                  <a:srgbClr val="858A97"/>
                </a:solidFill>
                <a:latin typeface="Helvetica Neue Light"/>
              </a:rPr>
              <a:t>Scope: five screens, two trade flows of eight steps each. Mock data only.</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MY ROLE AND APPROACH</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What I did, how, why, with whom, and what came of it</a:t>
            </a:r>
          </a:p>
        </p:txBody>
      </p:sp>
      <p:sp>
        <p:nvSpPr>
          <p:cNvPr id="5" name="TextBox 4"/>
          <p:cNvSpPr txBox="1"/>
          <p:nvPr/>
        </p:nvSpPr>
        <p:spPr>
          <a:xfrm>
            <a:off x="822960" y="2194560"/>
            <a:ext cx="5394960" cy="274320"/>
          </a:xfrm>
          <a:prstGeom prst="rect">
            <a:avLst/>
          </a:prstGeom>
          <a:noFill/>
        </p:spPr>
        <p:txBody>
          <a:bodyPr wrap="square" lIns="0" rIns="0" tIns="0" bIns="0">
            <a:spAutoFit/>
          </a:bodyPr>
          <a:lstStyle/>
          <a:p>
            <a:pPr algn="l"/>
            <a:r>
              <a:rPr sz="1100">
                <a:solidFill>
                  <a:srgbClr val="858A97"/>
                </a:solidFill>
                <a:latin typeface="Helvetica Neue Medium"/>
              </a:rPr>
              <a:t>WHAT I DID</a:t>
            </a:r>
          </a:p>
        </p:txBody>
      </p:sp>
      <p:sp>
        <p:nvSpPr>
          <p:cNvPr id="6" name="TextBox 5"/>
          <p:cNvSpPr txBox="1"/>
          <p:nvPr/>
        </p:nvSpPr>
        <p:spPr>
          <a:xfrm>
            <a:off x="822960" y="250545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Framed the problem and scope. Set the AI rules and the five innovation concepts, each tied to a breakdown. Designed the trade, AI and workflow flows. Built the Figma design system. Produced the SwiftUI prototype.</a:t>
            </a:r>
          </a:p>
        </p:txBody>
      </p:sp>
      <p:sp>
        <p:nvSpPr>
          <p:cNvPr id="7" name="TextBox 6"/>
          <p:cNvSpPr txBox="1"/>
          <p:nvPr/>
        </p:nvSpPr>
        <p:spPr>
          <a:xfrm>
            <a:off x="6766560" y="2194560"/>
            <a:ext cx="5394960" cy="274320"/>
          </a:xfrm>
          <a:prstGeom prst="rect">
            <a:avLst/>
          </a:prstGeom>
          <a:noFill/>
        </p:spPr>
        <p:txBody>
          <a:bodyPr wrap="square" lIns="0" rIns="0" tIns="0" bIns="0">
            <a:spAutoFit/>
          </a:bodyPr>
          <a:lstStyle/>
          <a:p>
            <a:pPr algn="l"/>
            <a:r>
              <a:rPr sz="1100">
                <a:solidFill>
                  <a:srgbClr val="858A97"/>
                </a:solidFill>
                <a:latin typeface="Helvetica Neue Medium"/>
              </a:rPr>
              <a:t>HOW I DID IT</a:t>
            </a:r>
          </a:p>
        </p:txBody>
      </p:sp>
      <p:sp>
        <p:nvSpPr>
          <p:cNvPr id="8" name="TextBox 7"/>
          <p:cNvSpPr txBox="1"/>
          <p:nvPr/>
        </p:nvSpPr>
        <p:spPr>
          <a:xfrm>
            <a:off x="6766560" y="250545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Frame, hypothesize, map flows, design every state, prototype, then test. Testing is planned, not yet run.</a:t>
            </a:r>
          </a:p>
        </p:txBody>
      </p:sp>
      <p:sp>
        <p:nvSpPr>
          <p:cNvPr id="9" name="TextBox 8"/>
          <p:cNvSpPr txBox="1"/>
          <p:nvPr/>
        </p:nvSpPr>
        <p:spPr>
          <a:xfrm>
            <a:off x="822960" y="4572000"/>
            <a:ext cx="5394960" cy="274320"/>
          </a:xfrm>
          <a:prstGeom prst="rect">
            <a:avLst/>
          </a:prstGeom>
          <a:noFill/>
        </p:spPr>
        <p:txBody>
          <a:bodyPr wrap="square" lIns="0" rIns="0" tIns="0" bIns="0">
            <a:spAutoFit/>
          </a:bodyPr>
          <a:lstStyle/>
          <a:p>
            <a:pPr algn="l"/>
            <a:r>
              <a:rPr sz="1100">
                <a:solidFill>
                  <a:srgbClr val="858A97"/>
                </a:solidFill>
                <a:latin typeface="Helvetica Neue Medium"/>
              </a:rPr>
              <a:t>WHY I DID IT</a:t>
            </a:r>
          </a:p>
        </p:txBody>
      </p:sp>
      <p:sp>
        <p:nvSpPr>
          <p:cNvPr id="10" name="TextBox 9"/>
          <p:cNvSpPr txBox="1"/>
          <p:nvPr/>
        </p:nvSpPr>
        <p:spPr>
          <a:xfrm>
            <a:off x="822960" y="488289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Insight, Prospect, Guard, and Adapt show what the trade needs without making the call. Each decision has a stated trade-off.</a:t>
            </a:r>
          </a:p>
        </p:txBody>
      </p:sp>
      <p:sp>
        <p:nvSpPr>
          <p:cNvPr id="11" name="TextBox 10"/>
          <p:cNvSpPr txBox="1"/>
          <p:nvPr/>
        </p:nvSpPr>
        <p:spPr>
          <a:xfrm>
            <a:off x="6766560" y="4572000"/>
            <a:ext cx="5394960" cy="274320"/>
          </a:xfrm>
          <a:prstGeom prst="rect">
            <a:avLst/>
          </a:prstGeom>
          <a:noFill/>
        </p:spPr>
        <p:txBody>
          <a:bodyPr wrap="square" lIns="0" rIns="0" tIns="0" bIns="0">
            <a:spAutoFit/>
          </a:bodyPr>
          <a:lstStyle/>
          <a:p>
            <a:pPr algn="l"/>
            <a:r>
              <a:rPr sz="1100">
                <a:solidFill>
                  <a:srgbClr val="858A97"/>
                </a:solidFill>
                <a:latin typeface="Helvetica Neue Medium"/>
              </a:rPr>
              <a:t>WHO WAS INVOLVED</a:t>
            </a:r>
          </a:p>
        </p:txBody>
      </p:sp>
      <p:sp>
        <p:nvSpPr>
          <p:cNvPr id="12" name="TextBox 11"/>
          <p:cNvSpPr txBox="1"/>
          <p:nvPr/>
        </p:nvSpPr>
        <p:spPr>
          <a:xfrm>
            <a:off x="6766560" y="488289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Solo lead designer. AI agents helped with drafting; every call is mine. Personas are drafts for validation, not user research yet.</a:t>
            </a:r>
          </a:p>
        </p:txBody>
      </p:sp>
      <p:sp>
        <p:nvSpPr>
          <p:cNvPr id="13" name="TextBox 12"/>
          <p:cNvSpPr txBox="1"/>
          <p:nvPr/>
        </p:nvSpPr>
        <p:spPr>
          <a:xfrm>
            <a:off x="822960" y="6949440"/>
            <a:ext cx="5394960" cy="274320"/>
          </a:xfrm>
          <a:prstGeom prst="rect">
            <a:avLst/>
          </a:prstGeom>
          <a:noFill/>
        </p:spPr>
        <p:txBody>
          <a:bodyPr wrap="square" lIns="0" rIns="0" tIns="0" bIns="0">
            <a:spAutoFit/>
          </a:bodyPr>
          <a:lstStyle/>
          <a:p>
            <a:pPr algn="l"/>
            <a:r>
              <a:rPr sz="1100">
                <a:solidFill>
                  <a:srgbClr val="858A97"/>
                </a:solidFill>
                <a:latin typeface="Helvetica Neue Medium"/>
              </a:rPr>
              <a:t>WHAT CAME OF IT</a:t>
            </a:r>
          </a:p>
        </p:txBody>
      </p:sp>
      <p:sp>
        <p:nvSpPr>
          <p:cNvPr id="14" name="TextBox 13"/>
          <p:cNvSpPr txBox="1"/>
          <p:nvPr/>
        </p:nvSpPr>
        <p:spPr>
          <a:xfrm>
            <a:off x="822960" y="726033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Five screens, two eight-step trade flows, five concepts and one workflow for testing, a design system shared with the code, and wireframes for states, agent, and full experience.</a:t>
            </a:r>
          </a:p>
        </p:txBody>
      </p:sp>
      <p:sp>
        <p:nvSpPr>
          <p:cNvPr id="15" name="TextBox 14"/>
          <p:cNvSpPr txBox="1"/>
          <p:nvPr/>
        </p:nvSpPr>
        <p:spPr>
          <a:xfrm>
            <a:off x="6766560" y="6949440"/>
            <a:ext cx="5394960" cy="274320"/>
          </a:xfrm>
          <a:prstGeom prst="rect">
            <a:avLst/>
          </a:prstGeom>
          <a:noFill/>
        </p:spPr>
        <p:txBody>
          <a:bodyPr wrap="square" lIns="0" rIns="0" tIns="0" bIns="0">
            <a:spAutoFit/>
          </a:bodyPr>
          <a:lstStyle/>
          <a:p>
            <a:pPr algn="l"/>
            <a:r>
              <a:rPr sz="1100">
                <a:solidFill>
                  <a:srgbClr val="858A97"/>
                </a:solidFill>
                <a:latin typeface="Helvetica Neue Medium"/>
              </a:rPr>
              <a:t>RESULT</a:t>
            </a:r>
          </a:p>
        </p:txBody>
      </p:sp>
      <p:sp>
        <p:nvSpPr>
          <p:cNvPr id="16" name="TextBox 15"/>
          <p:cNvSpPr txBox="1"/>
          <p:nvPr/>
        </p:nvSpPr>
        <p:spPr>
          <a:xfrm>
            <a:off x="6766560" y="726033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Not yet measured. The planned measures are listed in the methodology section, with targets set before any test.</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THE PROBLEM</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The user problem and the AI problem, defined separately</a:t>
            </a:r>
          </a:p>
        </p:txBody>
      </p:sp>
      <p:sp>
        <p:nvSpPr>
          <p:cNvPr id="5" name="TextBox 4"/>
          <p:cNvSpPr txBox="1"/>
          <p:nvPr/>
        </p:nvSpPr>
        <p:spPr>
          <a:xfrm>
            <a:off x="8229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USER PROBLEM</a:t>
            </a:r>
          </a:p>
        </p:txBody>
      </p:sp>
      <p:sp>
        <p:nvSpPr>
          <p:cNvPr id="6" name="TextBox 5"/>
          <p:cNvSpPr txBox="1"/>
          <p:nvPr/>
        </p:nvSpPr>
        <p:spPr>
          <a:xfrm>
            <a:off x="822960" y="26883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Research, order entry, watching positions, and rebalancing live in different places. The hold-or-exit call gets made in the user’s head.</a:t>
            </a:r>
          </a:p>
        </p:txBody>
      </p:sp>
      <p:sp>
        <p:nvSpPr>
          <p:cNvPr id="7" name="TextBox 6"/>
          <p:cNvSpPr txBox="1"/>
          <p:nvPr/>
        </p:nvSpPr>
        <p:spPr>
          <a:xfrm>
            <a:off x="67665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AI PROBLEM</a:t>
            </a:r>
          </a:p>
        </p:txBody>
      </p:sp>
      <p:sp>
        <p:nvSpPr>
          <p:cNvPr id="8" name="TextBox 7"/>
          <p:cNvSpPr txBox="1"/>
          <p:nvPr/>
        </p:nvSpPr>
        <p:spPr>
          <a:xfrm>
            <a:off x="6766560" y="26883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Summarize what moved and why, with the source. Rank alerts by how much they need attention. Propose a rebalance the user can review.</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REASONING</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Four calls, and what each one cost</a:t>
            </a:r>
          </a:p>
        </p:txBody>
      </p:sp>
      <p:sp>
        <p:nvSpPr>
          <p:cNvPr id="5" name="TextBox 4"/>
          <p:cNvSpPr txBox="1"/>
          <p:nvPr/>
        </p:nvSpPr>
        <p:spPr>
          <a:xfrm>
            <a:off x="822960" y="2194560"/>
            <a:ext cx="3383279" cy="274320"/>
          </a:xfrm>
          <a:prstGeom prst="rect">
            <a:avLst/>
          </a:prstGeom>
          <a:noFill/>
        </p:spPr>
        <p:txBody>
          <a:bodyPr wrap="square" lIns="0" rIns="0" tIns="0" bIns="0">
            <a:spAutoFit/>
          </a:bodyPr>
          <a:lstStyle/>
          <a:p>
            <a:pPr algn="l"/>
            <a:r>
              <a:rPr sz="1100">
                <a:solidFill>
                  <a:srgbClr val="858A97"/>
                </a:solidFill>
                <a:latin typeface="Helvetica Neue Medium"/>
              </a:rPr>
              <a:t>WE CHOSE</a:t>
            </a:r>
          </a:p>
        </p:txBody>
      </p:sp>
      <p:sp>
        <p:nvSpPr>
          <p:cNvPr id="6" name="TextBox 5"/>
          <p:cNvSpPr txBox="1"/>
          <p:nvPr/>
        </p:nvSpPr>
        <p:spPr>
          <a:xfrm>
            <a:off x="4389120" y="2194560"/>
            <a:ext cx="3383279" cy="274320"/>
          </a:xfrm>
          <a:prstGeom prst="rect">
            <a:avLst/>
          </a:prstGeom>
          <a:noFill/>
        </p:spPr>
        <p:txBody>
          <a:bodyPr wrap="square" lIns="0" rIns="0" tIns="0" bIns="0">
            <a:spAutoFit/>
          </a:bodyPr>
          <a:lstStyle/>
          <a:p>
            <a:pPr algn="l"/>
            <a:r>
              <a:rPr sz="1100">
                <a:solidFill>
                  <a:srgbClr val="858A97"/>
                </a:solidFill>
                <a:latin typeface="Helvetica Neue Medium"/>
              </a:rPr>
              <a:t>WE REJECTED</a:t>
            </a:r>
          </a:p>
        </p:txBody>
      </p:sp>
      <p:sp>
        <p:nvSpPr>
          <p:cNvPr id="7" name="TextBox 6"/>
          <p:cNvSpPr txBox="1"/>
          <p:nvPr/>
        </p:nvSpPr>
        <p:spPr>
          <a:xfrm>
            <a:off x="7955279" y="2194560"/>
            <a:ext cx="4590288" cy="274320"/>
          </a:xfrm>
          <a:prstGeom prst="rect">
            <a:avLst/>
          </a:prstGeom>
          <a:noFill/>
        </p:spPr>
        <p:txBody>
          <a:bodyPr wrap="square" lIns="0" rIns="0" tIns="0" bIns="0">
            <a:spAutoFit/>
          </a:bodyPr>
          <a:lstStyle/>
          <a:p>
            <a:pPr algn="l"/>
            <a:r>
              <a:rPr sz="1100">
                <a:solidFill>
                  <a:srgbClr val="858A97"/>
                </a:solidFill>
                <a:latin typeface="Helvetica Neue Medium"/>
              </a:rPr>
              <a:t>WHY, AND THE TRADE-OFF</a:t>
            </a:r>
          </a:p>
        </p:txBody>
      </p:sp>
      <p:cxnSp>
        <p:nvCxnSpPr>
          <p:cNvPr id="8" name="Connector 7"/>
          <p:cNvCxnSpPr/>
          <p:nvPr/>
        </p:nvCxnSpPr>
        <p:spPr>
          <a:xfrm>
            <a:off x="822960" y="2523744"/>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2651760"/>
            <a:ext cx="3337560" cy="1005839"/>
          </a:xfrm>
          <a:prstGeom prst="rect">
            <a:avLst/>
          </a:prstGeom>
          <a:noFill/>
        </p:spPr>
        <p:txBody>
          <a:bodyPr wrap="square" lIns="0" rIns="0" tIns="0" bIns="0">
            <a:spAutoFit/>
          </a:bodyPr>
          <a:lstStyle/>
          <a:p>
            <a:pPr algn="l"/>
            <a:r>
              <a:rPr sz="1400">
                <a:solidFill>
                  <a:srgbClr val="14161D"/>
                </a:solidFill>
                <a:latin typeface="Helvetica Neue Light"/>
              </a:rPr>
              <a:t>Share and dollar entry in one ticket</a:t>
            </a:r>
          </a:p>
        </p:txBody>
      </p:sp>
      <p:sp>
        <p:nvSpPr>
          <p:cNvPr id="10" name="TextBox 9"/>
          <p:cNvSpPr txBox="1"/>
          <p:nvPr/>
        </p:nvSpPr>
        <p:spPr>
          <a:xfrm>
            <a:off x="4389120" y="2651760"/>
            <a:ext cx="3337560" cy="1005839"/>
          </a:xfrm>
          <a:prstGeom prst="rect">
            <a:avLst/>
          </a:prstGeom>
          <a:noFill/>
        </p:spPr>
        <p:txBody>
          <a:bodyPr wrap="square" lIns="0" rIns="0" tIns="0" bIns="0">
            <a:spAutoFit/>
          </a:bodyPr>
          <a:lstStyle/>
          <a:p>
            <a:pPr algn="l"/>
            <a:r>
              <a:rPr sz="1400">
                <a:solidFill>
                  <a:srgbClr val="14161D"/>
                </a:solidFill>
                <a:latin typeface="Helvetica Neue Light"/>
              </a:rPr>
              <a:t>One entry model only</a:t>
            </a:r>
          </a:p>
        </p:txBody>
      </p:sp>
      <p:sp>
        <p:nvSpPr>
          <p:cNvPr id="11" name="TextBox 10"/>
          <p:cNvSpPr txBox="1"/>
          <p:nvPr/>
        </p:nvSpPr>
        <p:spPr>
          <a:xfrm>
            <a:off x="7955279" y="2651760"/>
            <a:ext cx="4544568" cy="1005839"/>
          </a:xfrm>
          <a:prstGeom prst="rect">
            <a:avLst/>
          </a:prstGeom>
          <a:noFill/>
        </p:spPr>
        <p:txBody>
          <a:bodyPr wrap="square" lIns="0" rIns="0" tIns="0" bIns="0">
            <a:spAutoFit/>
          </a:bodyPr>
          <a:lstStyle/>
          <a:p>
            <a:pPr algn="l"/>
            <a:r>
              <a:rPr sz="1400">
                <a:solidFill>
                  <a:srgbClr val="14161D"/>
                </a:solidFill>
                <a:latin typeface="Helvetica Neue Light"/>
              </a:rPr>
              <a:t>Unclear which model new investors prefer. Trade-off: two flows to maintain; open question for testing.</a:t>
            </a:r>
          </a:p>
        </p:txBody>
      </p:sp>
      <p:cxnSp>
        <p:nvCxnSpPr>
          <p:cNvPr id="12" name="Connector 11"/>
          <p:cNvCxnSpPr/>
          <p:nvPr/>
        </p:nvCxnSpPr>
        <p:spPr>
          <a:xfrm>
            <a:off x="822960" y="3639311"/>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22960" y="3749039"/>
            <a:ext cx="3337560" cy="1005839"/>
          </a:xfrm>
          <a:prstGeom prst="rect">
            <a:avLst/>
          </a:prstGeom>
          <a:noFill/>
        </p:spPr>
        <p:txBody>
          <a:bodyPr wrap="square" lIns="0" rIns="0" tIns="0" bIns="0">
            <a:spAutoFit/>
          </a:bodyPr>
          <a:lstStyle/>
          <a:p>
            <a:pPr algn="l"/>
            <a:r>
              <a:rPr sz="1400">
                <a:solidFill>
                  <a:srgbClr val="14161D"/>
                </a:solidFill>
                <a:latin typeface="Helvetica Neue Light"/>
              </a:rPr>
              <a:t>A mock API with a 0.8-second delay</a:t>
            </a:r>
          </a:p>
        </p:txBody>
      </p:sp>
      <p:sp>
        <p:nvSpPr>
          <p:cNvPr id="14" name="TextBox 13"/>
          <p:cNvSpPr txBox="1"/>
          <p:nvPr/>
        </p:nvSpPr>
        <p:spPr>
          <a:xfrm>
            <a:off x="4389120" y="3749039"/>
            <a:ext cx="3337560" cy="1005839"/>
          </a:xfrm>
          <a:prstGeom prst="rect">
            <a:avLst/>
          </a:prstGeom>
          <a:noFill/>
        </p:spPr>
        <p:txBody>
          <a:bodyPr wrap="square" lIns="0" rIns="0" tIns="0" bIns="0">
            <a:spAutoFit/>
          </a:bodyPr>
          <a:lstStyle/>
          <a:p>
            <a:pPr algn="l"/>
            <a:r>
              <a:rPr sz="1400">
                <a:solidFill>
                  <a:srgbClr val="14161D"/>
                </a:solidFill>
                <a:latin typeface="Helvetica Neue Light"/>
              </a:rPr>
              <a:t>A live backend now</a:t>
            </a:r>
          </a:p>
        </p:txBody>
      </p:sp>
      <p:sp>
        <p:nvSpPr>
          <p:cNvPr id="15" name="TextBox 14"/>
          <p:cNvSpPr txBox="1"/>
          <p:nvPr/>
        </p:nvSpPr>
        <p:spPr>
          <a:xfrm>
            <a:off x="7955279" y="3749039"/>
            <a:ext cx="4544568" cy="1005839"/>
          </a:xfrm>
          <a:prstGeom prst="rect">
            <a:avLst/>
          </a:prstGeom>
          <a:noFill/>
        </p:spPr>
        <p:txBody>
          <a:bodyPr wrap="square" lIns="0" rIns="0" tIns="0" bIns="0">
            <a:spAutoFit/>
          </a:bodyPr>
          <a:lstStyle/>
          <a:p>
            <a:pPr algn="l"/>
            <a:r>
              <a:rPr sz="1400">
                <a:solidFill>
                  <a:srgbClr val="14161D"/>
                </a:solidFill>
                <a:latin typeface="Helvetica Neue Light"/>
              </a:rPr>
              <a:t>Tests flows and loading states without a backend. Trade-off: real timing, errors, and data limits stay untested.</a:t>
            </a:r>
          </a:p>
        </p:txBody>
      </p:sp>
      <p:cxnSp>
        <p:nvCxnSpPr>
          <p:cNvPr id="16" name="Connector 15"/>
          <p:cNvCxnSpPr/>
          <p:nvPr/>
        </p:nvCxnSpPr>
        <p:spPr>
          <a:xfrm>
            <a:off x="822960" y="473659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22960" y="4846320"/>
            <a:ext cx="3337560" cy="1005839"/>
          </a:xfrm>
          <a:prstGeom prst="rect">
            <a:avLst/>
          </a:prstGeom>
          <a:noFill/>
        </p:spPr>
        <p:txBody>
          <a:bodyPr wrap="square" lIns="0" rIns="0" tIns="0" bIns="0">
            <a:spAutoFit/>
          </a:bodyPr>
          <a:lstStyle/>
          <a:p>
            <a:pPr algn="l"/>
            <a:r>
              <a:rPr sz="1400">
                <a:solidFill>
                  <a:srgbClr val="14161D"/>
                </a:solidFill>
                <a:latin typeface="Helvetica Neue Light"/>
              </a:rPr>
              <a:t>Adapt proposes steps the user can review</a:t>
            </a:r>
          </a:p>
        </p:txBody>
      </p:sp>
      <p:sp>
        <p:nvSpPr>
          <p:cNvPr id="18" name="TextBox 17"/>
          <p:cNvSpPr txBox="1"/>
          <p:nvPr/>
        </p:nvSpPr>
        <p:spPr>
          <a:xfrm>
            <a:off x="4389120" y="4846320"/>
            <a:ext cx="3337560" cy="1005839"/>
          </a:xfrm>
          <a:prstGeom prst="rect">
            <a:avLst/>
          </a:prstGeom>
          <a:noFill/>
        </p:spPr>
        <p:txBody>
          <a:bodyPr wrap="square" lIns="0" rIns="0" tIns="0" bIns="0">
            <a:spAutoFit/>
          </a:bodyPr>
          <a:lstStyle/>
          <a:p>
            <a:pPr algn="l"/>
            <a:r>
              <a:rPr sz="1400">
                <a:solidFill>
                  <a:srgbClr val="14161D"/>
                </a:solidFill>
                <a:latin typeface="Helvetica Neue Light"/>
              </a:rPr>
              <a:t>A batch the user approves or dismisses</a:t>
            </a:r>
          </a:p>
        </p:txBody>
      </p:sp>
      <p:sp>
        <p:nvSpPr>
          <p:cNvPr id="19" name="TextBox 18"/>
          <p:cNvSpPr txBox="1"/>
          <p:nvPr/>
        </p:nvSpPr>
        <p:spPr>
          <a:xfrm>
            <a:off x="7955279" y="4846320"/>
            <a:ext cx="4544568" cy="1005839"/>
          </a:xfrm>
          <a:prstGeom prst="rect">
            <a:avLst/>
          </a:prstGeom>
          <a:noFill/>
        </p:spPr>
        <p:txBody>
          <a:bodyPr wrap="square" lIns="0" rIns="0" tIns="0" bIns="0">
            <a:spAutoFit/>
          </a:bodyPr>
          <a:lstStyle/>
          <a:p>
            <a:pPr algn="l"/>
            <a:r>
              <a:rPr sz="1400">
                <a:solidFill>
                  <a:srgbClr val="14161D"/>
                </a:solidFill>
                <a:latin typeface="Helvetica Neue Light"/>
              </a:rPr>
              <a:t>It is the screen’s job. Trade-off: trade wording needs compliance review; it may become explanation only.</a:t>
            </a:r>
          </a:p>
        </p:txBody>
      </p:sp>
      <p:cxnSp>
        <p:nvCxnSpPr>
          <p:cNvPr id="20" name="Connector 19"/>
          <p:cNvCxnSpPr/>
          <p:nvPr/>
        </p:nvCxnSpPr>
        <p:spPr>
          <a:xfrm>
            <a:off x="822960" y="583387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22960" y="5943600"/>
            <a:ext cx="3337560" cy="1005839"/>
          </a:xfrm>
          <a:prstGeom prst="rect">
            <a:avLst/>
          </a:prstGeom>
          <a:noFill/>
        </p:spPr>
        <p:txBody>
          <a:bodyPr wrap="square" lIns="0" rIns="0" tIns="0" bIns="0">
            <a:spAutoFit/>
          </a:bodyPr>
          <a:lstStyle/>
          <a:p>
            <a:pPr algn="l"/>
            <a:r>
              <a:rPr sz="1400">
                <a:solidFill>
                  <a:srgbClr val="14161D"/>
                </a:solidFill>
                <a:latin typeface="Helvetica Neue Light"/>
              </a:rPr>
              <a:t>Five tabs, one home screen</a:t>
            </a:r>
          </a:p>
        </p:txBody>
      </p:sp>
      <p:sp>
        <p:nvSpPr>
          <p:cNvPr id="22" name="TextBox 21"/>
          <p:cNvSpPr txBox="1"/>
          <p:nvPr/>
        </p:nvSpPr>
        <p:spPr>
          <a:xfrm>
            <a:off x="4389120" y="5943600"/>
            <a:ext cx="3337560" cy="1005839"/>
          </a:xfrm>
          <a:prstGeom prst="rect">
            <a:avLst/>
          </a:prstGeom>
          <a:noFill/>
        </p:spPr>
        <p:txBody>
          <a:bodyPr wrap="square" lIns="0" rIns="0" tIns="0" bIns="0">
            <a:spAutoFit/>
          </a:bodyPr>
          <a:lstStyle/>
          <a:p>
            <a:pPr algn="l"/>
            <a:r>
              <a:rPr sz="1400">
                <a:solidFill>
                  <a:srgbClr val="14161D"/>
                </a:solidFill>
                <a:latin typeface="Helvetica Neue Light"/>
              </a:rPr>
              <a:t>Trading as a separate app area</a:t>
            </a:r>
          </a:p>
        </p:txBody>
      </p:sp>
      <p:sp>
        <p:nvSpPr>
          <p:cNvPr id="23" name="TextBox 22"/>
          <p:cNvSpPr txBox="1"/>
          <p:nvPr/>
        </p:nvSpPr>
        <p:spPr>
          <a:xfrm>
            <a:off x="7955279" y="5943600"/>
            <a:ext cx="4544568" cy="1005839"/>
          </a:xfrm>
          <a:prstGeom prst="rect">
            <a:avLst/>
          </a:prstGeom>
          <a:noFill/>
        </p:spPr>
        <p:txBody>
          <a:bodyPr wrap="square" lIns="0" rIns="0" tIns="0" bIns="0">
            <a:spAutoFit/>
          </a:bodyPr>
          <a:lstStyle/>
          <a:p>
            <a:pPr algn="l"/>
            <a:r>
              <a:rPr sz="1400">
                <a:solidFill>
                  <a:srgbClr val="14161D"/>
                </a:solidFill>
                <a:latin typeface="Helvetica Neue Light"/>
              </a:rPr>
              <a:t>A scannable set of areas, with trading one tap away. Trade-off: AI screens compete with trade entry; test it.</a:t>
            </a:r>
          </a:p>
        </p:txBody>
      </p:sp>
      <p:cxnSp>
        <p:nvCxnSpPr>
          <p:cNvPr id="24" name="Connector 23"/>
          <p:cNvCxnSpPr/>
          <p:nvPr/>
        </p:nvCxnSpPr>
        <p:spPr>
          <a:xfrm>
            <a:off x="822960" y="693115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AGENT EXPERIENCE</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Where the AI experience breaks down today</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Five problems, from the current prototype and the design review. Mock data throughout.</a:t>
            </a:r>
          </a:p>
        </p:txBody>
      </p:sp>
      <p:sp>
        <p:nvSpPr>
          <p:cNvPr id="6" name="TextBox 5"/>
          <p:cNvSpPr txBox="1"/>
          <p:nvPr/>
        </p:nvSpPr>
        <p:spPr>
          <a:xfrm>
            <a:off x="8229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1 · OUTPUTS WITHOUT REASONING</a:t>
            </a:r>
          </a:p>
        </p:txBody>
      </p:sp>
      <p:sp>
        <p:nvSpPr>
          <p:cNvPr id="7" name="TextBox 6"/>
          <p:cNvSpPr txBox="1"/>
          <p:nvPr/>
        </p:nvSpPr>
        <p:spPr>
          <a:xfrm>
            <a:off x="822960" y="26883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Insight shows sentiment with no source, date, or data behind it.</a:t>
            </a:r>
          </a:p>
        </p:txBody>
      </p:sp>
      <p:sp>
        <p:nvSpPr>
          <p:cNvPr id="8" name="TextBox 7"/>
          <p:cNvSpPr txBox="1"/>
          <p:nvPr/>
        </p:nvSpPr>
        <p:spPr>
          <a:xfrm>
            <a:off x="67665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2 · ALL OR NOTHING</a:t>
            </a:r>
          </a:p>
        </p:txBody>
      </p:sp>
      <p:sp>
        <p:nvSpPr>
          <p:cNvPr id="9" name="TextBox 8"/>
          <p:cNvSpPr txBox="1"/>
          <p:nvPr/>
        </p:nvSpPr>
        <p:spPr>
          <a:xfrm>
            <a:off x="6766560" y="26883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Adapt offers one batch of proposed steps. The user can approve or dismiss the batch, nothing else.</a:t>
            </a:r>
          </a:p>
        </p:txBody>
      </p:sp>
      <p:sp>
        <p:nvSpPr>
          <p:cNvPr id="10" name="TextBox 9"/>
          <p:cNvSpPr txBox="1"/>
          <p:nvPr/>
        </p:nvSpPr>
        <p:spPr>
          <a:xfrm>
            <a:off x="822960" y="4754880"/>
            <a:ext cx="5394960" cy="274320"/>
          </a:xfrm>
          <a:prstGeom prst="rect">
            <a:avLst/>
          </a:prstGeom>
          <a:noFill/>
        </p:spPr>
        <p:txBody>
          <a:bodyPr wrap="square" lIns="0" rIns="0" tIns="0" bIns="0">
            <a:spAutoFit/>
          </a:bodyPr>
          <a:lstStyle/>
          <a:p>
            <a:pPr algn="l"/>
            <a:r>
              <a:rPr sz="1100">
                <a:solidFill>
                  <a:srgbClr val="858A97"/>
                </a:solidFill>
                <a:latin typeface="Helvetica Neue Medium"/>
              </a:rPr>
              <a:t>3 · NO LEARNING LOOP</a:t>
            </a:r>
          </a:p>
        </p:txBody>
      </p:sp>
      <p:sp>
        <p:nvSpPr>
          <p:cNvPr id="11" name="TextBox 10"/>
          <p:cNvSpPr txBox="1"/>
          <p:nvPr/>
        </p:nvSpPr>
        <p:spPr>
          <a:xfrm>
            <a:off x="822960" y="506577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Dismissing or correcting an insight does not change future output.</a:t>
            </a:r>
          </a:p>
        </p:txBody>
      </p:sp>
      <p:sp>
        <p:nvSpPr>
          <p:cNvPr id="12" name="TextBox 11"/>
          <p:cNvSpPr txBox="1"/>
          <p:nvPr/>
        </p:nvSpPr>
        <p:spPr>
          <a:xfrm>
            <a:off x="6766560" y="4754880"/>
            <a:ext cx="5394960" cy="274320"/>
          </a:xfrm>
          <a:prstGeom prst="rect">
            <a:avLst/>
          </a:prstGeom>
          <a:noFill/>
        </p:spPr>
        <p:txBody>
          <a:bodyPr wrap="square" lIns="0" rIns="0" tIns="0" bIns="0">
            <a:spAutoFit/>
          </a:bodyPr>
          <a:lstStyle/>
          <a:p>
            <a:pPr algn="l"/>
            <a:r>
              <a:rPr sz="1100">
                <a:solidFill>
                  <a:srgbClr val="858A97"/>
                </a:solidFill>
                <a:latin typeface="Helvetica Neue Medium"/>
              </a:rPr>
              <a:t>4 · ADVICE LINE IN CONFLICT</a:t>
            </a:r>
          </a:p>
        </p:txBody>
      </p:sp>
      <p:sp>
        <p:nvSpPr>
          <p:cNvPr id="13" name="TextBox 12"/>
          <p:cNvSpPr txBox="1"/>
          <p:nvPr/>
        </p:nvSpPr>
        <p:spPr>
          <a:xfrm>
            <a:off x="6766560" y="506577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The design rule says the AI never originates buy or sell advice. Adapt wording does. Compliance review is open.</a:t>
            </a:r>
          </a:p>
        </p:txBody>
      </p:sp>
      <p:sp>
        <p:nvSpPr>
          <p:cNvPr id="14" name="TextBox 13"/>
          <p:cNvSpPr txBox="1"/>
          <p:nvPr/>
        </p:nvSpPr>
        <p:spPr>
          <a:xfrm>
            <a:off x="822960" y="7132320"/>
            <a:ext cx="5394960" cy="274320"/>
          </a:xfrm>
          <a:prstGeom prst="rect">
            <a:avLst/>
          </a:prstGeom>
          <a:noFill/>
        </p:spPr>
        <p:txBody>
          <a:bodyPr wrap="square" lIns="0" rIns="0" tIns="0" bIns="0">
            <a:spAutoFit/>
          </a:bodyPr>
          <a:lstStyle/>
          <a:p>
            <a:pPr algn="l"/>
            <a:r>
              <a:rPr sz="1100">
                <a:solidFill>
                  <a:srgbClr val="858A97"/>
                </a:solidFill>
                <a:latin typeface="Helvetica Neue Medium"/>
              </a:rPr>
              <a:t>5 · CONTEXT LOST BETWEEN SCREENS</a:t>
            </a:r>
          </a:p>
        </p:txBody>
      </p:sp>
      <p:sp>
        <p:nvSpPr>
          <p:cNvPr id="15" name="TextBox 14"/>
          <p:cNvSpPr txBox="1"/>
          <p:nvPr/>
        </p:nvSpPr>
        <p:spPr>
          <a:xfrm>
            <a:off x="822960" y="744321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Moving from an insight to an order drops the reason, so the user enters it again.</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AGENT EXPERIENCE</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Five concepts, each answering one breakdown</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Concepts for testing. Proposals, not built. Each one follows the AI rules.</a:t>
            </a:r>
          </a:p>
        </p:txBody>
      </p:sp>
      <p:sp>
        <p:nvSpPr>
          <p:cNvPr id="6" name="TextBox 5"/>
          <p:cNvSpPr txBox="1"/>
          <p:nvPr/>
        </p:nvSpPr>
        <p:spPr>
          <a:xfrm>
            <a:off x="8229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DECISION JOURNAL</a:t>
            </a:r>
          </a:p>
        </p:txBody>
      </p:sp>
      <p:sp>
        <p:nvSpPr>
          <p:cNvPr id="7" name="TextBox 6"/>
          <p:cNvSpPr txBox="1"/>
          <p:nvPr/>
        </p:nvSpPr>
        <p:spPr>
          <a:xfrm>
            <a:off x="822960" y="268833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Breakdowns 3 and 5. The user writes one line of their reason when acting. Guard later checks whether the reason still holds.</a:t>
            </a:r>
          </a:p>
        </p:txBody>
      </p:sp>
      <p:sp>
        <p:nvSpPr>
          <p:cNvPr id="8" name="TextBox 7"/>
          <p:cNvSpPr txBox="1"/>
          <p:nvPr/>
        </p:nvSpPr>
        <p:spPr>
          <a:xfrm>
            <a:off x="67665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SCENARIO SANDBOX</a:t>
            </a:r>
          </a:p>
        </p:txBody>
      </p:sp>
      <p:sp>
        <p:nvSpPr>
          <p:cNvPr id="9" name="TextBox 8"/>
          <p:cNvSpPr txBox="1"/>
          <p:nvPr/>
        </p:nvSpPr>
        <p:spPr>
          <a:xfrm>
            <a:off x="6766560" y="268833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Breakdowns 1 and 4. Each insight lists what would change it. The user adjusts an input and sees the view update, with sources.</a:t>
            </a:r>
          </a:p>
        </p:txBody>
      </p:sp>
      <p:sp>
        <p:nvSpPr>
          <p:cNvPr id="10" name="TextBox 9"/>
          <p:cNvSpPr txBox="1"/>
          <p:nvPr/>
        </p:nvSpPr>
        <p:spPr>
          <a:xfrm>
            <a:off x="822960" y="5120640"/>
            <a:ext cx="5394960" cy="274320"/>
          </a:xfrm>
          <a:prstGeom prst="rect">
            <a:avLst/>
          </a:prstGeom>
          <a:noFill/>
        </p:spPr>
        <p:txBody>
          <a:bodyPr wrap="square" lIns="0" rIns="0" tIns="0" bIns="0">
            <a:spAutoFit/>
          </a:bodyPr>
          <a:lstStyle/>
          <a:p>
            <a:pPr algn="l"/>
            <a:r>
              <a:rPr sz="1100">
                <a:solidFill>
                  <a:srgbClr val="858A97"/>
                </a:solidFill>
                <a:latin typeface="Helvetica Neue Medium"/>
              </a:rPr>
              <a:t>PLAN EDITOR</a:t>
            </a:r>
          </a:p>
        </p:txBody>
      </p:sp>
      <p:sp>
        <p:nvSpPr>
          <p:cNvPr id="11" name="TextBox 10"/>
          <p:cNvSpPr txBox="1"/>
          <p:nvPr/>
        </p:nvSpPr>
        <p:spPr>
          <a:xfrm>
            <a:off x="822960" y="543153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Breakdown 2. The user edits each proposed step, and the allocation preview recalculates after each change.</a:t>
            </a:r>
          </a:p>
        </p:txBody>
      </p:sp>
      <p:sp>
        <p:nvSpPr>
          <p:cNvPr id="12" name="TextBox 11"/>
          <p:cNvSpPr txBox="1"/>
          <p:nvPr/>
        </p:nvSpPr>
        <p:spPr>
          <a:xfrm>
            <a:off x="6766560" y="5120640"/>
            <a:ext cx="5394960" cy="274320"/>
          </a:xfrm>
          <a:prstGeom prst="rect">
            <a:avLst/>
          </a:prstGeom>
          <a:noFill/>
        </p:spPr>
        <p:txBody>
          <a:bodyPr wrap="square" lIns="0" rIns="0" tIns="0" bIns="0">
            <a:spAutoFit/>
          </a:bodyPr>
          <a:lstStyle/>
          <a:p>
            <a:pPr algn="l"/>
            <a:r>
              <a:rPr sz="1100">
                <a:solidFill>
                  <a:srgbClr val="858A97"/>
                </a:solidFill>
                <a:latin typeface="Helvetica Neue Medium"/>
              </a:rPr>
              <a:t>ATTENTION BUDGET</a:t>
            </a:r>
          </a:p>
        </p:txBody>
      </p:sp>
      <p:sp>
        <p:nvSpPr>
          <p:cNvPr id="13" name="TextBox 12"/>
          <p:cNvSpPr txBox="1"/>
          <p:nvPr/>
        </p:nvSpPr>
        <p:spPr>
          <a:xfrm>
            <a:off x="6766560" y="543153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Breakdown 3. The user sets a daily budget of interruptions. Critical alerts always pass; the rest go to a digest.</a:t>
            </a:r>
          </a:p>
        </p:txBody>
      </p:sp>
      <p:sp>
        <p:nvSpPr>
          <p:cNvPr id="14" name="TextBox 13"/>
          <p:cNvSpPr txBox="1"/>
          <p:nvPr/>
        </p:nvSpPr>
        <p:spPr>
          <a:xfrm>
            <a:off x="822960" y="7863840"/>
            <a:ext cx="11338560" cy="274320"/>
          </a:xfrm>
          <a:prstGeom prst="rect">
            <a:avLst/>
          </a:prstGeom>
          <a:noFill/>
        </p:spPr>
        <p:txBody>
          <a:bodyPr wrap="square" lIns="0" rIns="0" tIns="0" bIns="0">
            <a:spAutoFit/>
          </a:bodyPr>
          <a:lstStyle/>
          <a:p>
            <a:pPr algn="l"/>
            <a:r>
              <a:rPr sz="1100">
                <a:solidFill>
                  <a:srgbClr val="858A97"/>
                </a:solidFill>
                <a:latin typeface="Helvetica Neue Medium"/>
              </a:rPr>
              <a:t>AUTONOMY LEDGER</a:t>
            </a:r>
          </a:p>
        </p:txBody>
      </p:sp>
      <p:sp>
        <p:nvSpPr>
          <p:cNvPr id="15" name="TextBox 14"/>
          <p:cNvSpPr txBox="1"/>
          <p:nvPr/>
        </p:nvSpPr>
        <p:spPr>
          <a:xfrm>
            <a:off x="822960" y="8174736"/>
            <a:ext cx="113385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Breakdowns 2 and 4. Each goal shows its level and limits. Every action is logged and can be undone within 48 hours.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2768" cy="466344"/>
          </a:xfrm>
          <a:prstGeom prst="rect">
            <a:avLst/>
          </a:prstGeom>
        </p:spPr>
      </p:pic>
      <p:sp>
        <p:nvSpPr>
          <p:cNvPr id="3" name="TextBox 2"/>
          <p:cNvSpPr txBox="1"/>
          <p:nvPr/>
        </p:nvSpPr>
        <p:spPr>
          <a:xfrm>
            <a:off x="548640" y="393192"/>
            <a:ext cx="10515600" cy="274320"/>
          </a:xfrm>
          <a:prstGeom prst="rect">
            <a:avLst/>
          </a:prstGeom>
          <a:noFill/>
        </p:spPr>
        <p:txBody>
          <a:bodyPr wrap="square" lIns="0" rIns="0" tIns="0" bIns="0">
            <a:spAutoFit/>
          </a:bodyPr>
          <a:lstStyle/>
          <a:p>
            <a:r>
              <a:rPr sz="1400">
                <a:solidFill>
                  <a:srgbClr val="1B2A3A"/>
                </a:solidFill>
                <a:latin typeface="Helvetica Neue Medium"/>
              </a:rPr>
              <a:t>MERIDIAN NAVIGATOR · AGENT EXPERIENCE</a:t>
            </a:r>
          </a:p>
        </p:txBody>
      </p:sp>
      <p:sp>
        <p:nvSpPr>
          <p:cNvPr id="4" name="TextBox 3"/>
          <p:cNvSpPr txBox="1"/>
          <p:nvPr/>
        </p:nvSpPr>
        <p:spPr>
          <a:xfrm>
            <a:off x="548640" y="932688"/>
            <a:ext cx="11887200" cy="548640"/>
          </a:xfrm>
          <a:prstGeom prst="rect">
            <a:avLst/>
          </a:prstGeom>
          <a:noFill/>
        </p:spPr>
        <p:txBody>
          <a:bodyPr wrap="square" lIns="0" rIns="0" tIns="0" bIns="0">
            <a:spAutoFit/>
          </a:bodyPr>
          <a:lstStyle/>
          <a:p>
            <a:r>
              <a:rPr sz="3000">
                <a:solidFill>
                  <a:srgbClr val="1B2A3A"/>
                </a:solidFill>
                <a:latin typeface="Helvetica Neue Light"/>
              </a:rPr>
              <a:t>Where the five concepts would sit on the screens</a:t>
            </a:r>
          </a:p>
        </p:txBody>
      </p:sp>
      <p:sp>
        <p:nvSpPr>
          <p:cNvPr id="5" name="TextBox 4"/>
          <p:cNvSpPr txBox="1"/>
          <p:nvPr/>
        </p:nvSpPr>
        <p:spPr>
          <a:xfrm>
            <a:off x="548640" y="1563624"/>
            <a:ext cx="11887200" cy="320040"/>
          </a:xfrm>
          <a:prstGeom prst="rect">
            <a:avLst/>
          </a:prstGeom>
          <a:noFill/>
        </p:spPr>
        <p:txBody>
          <a:bodyPr wrap="square" lIns="0" rIns="0" tIns="0" bIns="0">
            <a:spAutoFit/>
          </a:bodyPr>
          <a:lstStyle/>
          <a:p>
            <a:r>
              <a:rPr sz="1600">
                <a:solidFill>
                  <a:srgbClr val="595959"/>
                </a:solidFill>
                <a:latin typeface="Helvetica Neue Light"/>
              </a:rPr>
              <a:t>Each concept lives on the screen where its decision is made. Proposed placement, not yet drawn.</a:t>
            </a:r>
          </a:p>
        </p:txBody>
      </p:sp>
      <p:pic>
        <p:nvPicPr>
          <p:cNvPr id="6" name="Picture 5" descr="image.png"/>
          <p:cNvPicPr>
            <a:picLocks noChangeAspect="1"/>
          </p:cNvPicPr>
          <p:nvPr/>
        </p:nvPicPr>
        <p:blipFill>
          <a:blip r:embed="rId3"/>
          <a:stretch>
            <a:fillRect/>
          </a:stretch>
        </p:blipFill>
        <p:spPr>
          <a:xfrm>
            <a:off x="548640" y="2194560"/>
            <a:ext cx="1801131" cy="4023360"/>
          </a:xfrm>
          <a:prstGeom prst="rect">
            <a:avLst/>
          </a:prstGeom>
        </p:spPr>
      </p:pic>
      <p:sp>
        <p:nvSpPr>
          <p:cNvPr id="7" name="TextBox 6"/>
          <p:cNvSpPr txBox="1"/>
          <p:nvPr/>
        </p:nvSpPr>
        <p:spPr>
          <a:xfrm>
            <a:off x="548640" y="6355080"/>
            <a:ext cx="1801131" cy="274320"/>
          </a:xfrm>
          <a:prstGeom prst="rect">
            <a:avLst/>
          </a:prstGeom>
          <a:noFill/>
        </p:spPr>
        <p:txBody>
          <a:bodyPr wrap="square" lIns="0" rIns="0" tIns="0" bIns="0">
            <a:spAutoFit/>
          </a:bodyPr>
          <a:lstStyle/>
          <a:p>
            <a:r>
              <a:rPr sz="1220">
                <a:solidFill>
                  <a:srgbClr val="B5532F"/>
                </a:solidFill>
                <a:latin typeface="Helvetica Neue Medium"/>
              </a:rPr>
              <a:t>AUTONOMY LEDGER</a:t>
            </a:r>
          </a:p>
        </p:txBody>
      </p:sp>
      <p:sp>
        <p:nvSpPr>
          <p:cNvPr id="8" name="TextBox 7"/>
          <p:cNvSpPr txBox="1"/>
          <p:nvPr/>
        </p:nvSpPr>
        <p:spPr>
          <a:xfrm>
            <a:off x="548640" y="6675120"/>
            <a:ext cx="1801131" cy="457200"/>
          </a:xfrm>
          <a:prstGeom prst="rect">
            <a:avLst/>
          </a:prstGeom>
          <a:noFill/>
        </p:spPr>
        <p:txBody>
          <a:bodyPr wrap="square" lIns="0" rIns="0" tIns="0" bIns="0">
            <a:spAutoFit/>
          </a:bodyPr>
          <a:lstStyle/>
          <a:p>
            <a:r>
              <a:rPr sz="1200">
                <a:solidFill>
                  <a:srgbClr val="595959"/>
                </a:solidFill>
                <a:latin typeface="Helvetica Neue Light"/>
              </a:rPr>
              <a:t>Dashboard: goal level and limits</a:t>
            </a:r>
          </a:p>
        </p:txBody>
      </p:sp>
      <p:pic>
        <p:nvPicPr>
          <p:cNvPr id="9" name="Picture 8" descr="image.png"/>
          <p:cNvPicPr>
            <a:picLocks noChangeAspect="1"/>
          </p:cNvPicPr>
          <p:nvPr/>
        </p:nvPicPr>
        <p:blipFill>
          <a:blip r:embed="rId4"/>
          <a:stretch>
            <a:fillRect/>
          </a:stretch>
        </p:blipFill>
        <p:spPr>
          <a:xfrm>
            <a:off x="3074729" y="2194560"/>
            <a:ext cx="1801131" cy="4023360"/>
          </a:xfrm>
          <a:prstGeom prst="rect">
            <a:avLst/>
          </a:prstGeom>
        </p:spPr>
      </p:pic>
      <p:sp>
        <p:nvSpPr>
          <p:cNvPr id="10" name="TextBox 9"/>
          <p:cNvSpPr txBox="1"/>
          <p:nvPr/>
        </p:nvSpPr>
        <p:spPr>
          <a:xfrm>
            <a:off x="3074729" y="6355080"/>
            <a:ext cx="1801131" cy="274320"/>
          </a:xfrm>
          <a:prstGeom prst="rect">
            <a:avLst/>
          </a:prstGeom>
          <a:noFill/>
        </p:spPr>
        <p:txBody>
          <a:bodyPr wrap="square" lIns="0" rIns="0" tIns="0" bIns="0">
            <a:spAutoFit/>
          </a:bodyPr>
          <a:lstStyle/>
          <a:p>
            <a:r>
              <a:rPr sz="1220">
                <a:solidFill>
                  <a:srgbClr val="B5532F"/>
                </a:solidFill>
                <a:latin typeface="Helvetica Neue Medium"/>
              </a:rPr>
              <a:t>SCENARIO SANDBOX</a:t>
            </a:r>
          </a:p>
        </p:txBody>
      </p:sp>
      <p:sp>
        <p:nvSpPr>
          <p:cNvPr id="11" name="TextBox 10"/>
          <p:cNvSpPr txBox="1"/>
          <p:nvPr/>
        </p:nvSpPr>
        <p:spPr>
          <a:xfrm>
            <a:off x="3074729" y="6675120"/>
            <a:ext cx="1801131" cy="457200"/>
          </a:xfrm>
          <a:prstGeom prst="rect">
            <a:avLst/>
          </a:prstGeom>
          <a:noFill/>
        </p:spPr>
        <p:txBody>
          <a:bodyPr wrap="square" lIns="0" rIns="0" tIns="0" bIns="0">
            <a:spAutoFit/>
          </a:bodyPr>
          <a:lstStyle/>
          <a:p>
            <a:r>
              <a:rPr sz="1200">
                <a:solidFill>
                  <a:srgbClr val="595959"/>
                </a:solidFill>
                <a:latin typeface="Helvetica Neue Light"/>
              </a:rPr>
              <a:t>Insight: what would change this view</a:t>
            </a:r>
          </a:p>
        </p:txBody>
      </p:sp>
      <p:pic>
        <p:nvPicPr>
          <p:cNvPr id="12" name="Picture 11" descr="image.png"/>
          <p:cNvPicPr>
            <a:picLocks noChangeAspect="1"/>
          </p:cNvPicPr>
          <p:nvPr/>
        </p:nvPicPr>
        <p:blipFill>
          <a:blip r:embed="rId5"/>
          <a:stretch>
            <a:fillRect/>
          </a:stretch>
        </p:blipFill>
        <p:spPr>
          <a:xfrm>
            <a:off x="5600818" y="2194560"/>
            <a:ext cx="1801131" cy="4023360"/>
          </a:xfrm>
          <a:prstGeom prst="rect">
            <a:avLst/>
          </a:prstGeom>
        </p:spPr>
      </p:pic>
      <p:sp>
        <p:nvSpPr>
          <p:cNvPr id="13" name="TextBox 12"/>
          <p:cNvSpPr txBox="1"/>
          <p:nvPr/>
        </p:nvSpPr>
        <p:spPr>
          <a:xfrm>
            <a:off x="5600818" y="6355080"/>
            <a:ext cx="1801131" cy="274320"/>
          </a:xfrm>
          <a:prstGeom prst="rect">
            <a:avLst/>
          </a:prstGeom>
          <a:noFill/>
        </p:spPr>
        <p:txBody>
          <a:bodyPr wrap="square" lIns="0" rIns="0" tIns="0" bIns="0">
            <a:spAutoFit/>
          </a:bodyPr>
          <a:lstStyle/>
          <a:p>
            <a:r>
              <a:rPr sz="1220">
                <a:solidFill>
                  <a:srgbClr val="B5532F"/>
                </a:solidFill>
                <a:latin typeface="Helvetica Neue Medium"/>
              </a:rPr>
              <a:t>DECISION JOURNAL</a:t>
            </a:r>
          </a:p>
        </p:txBody>
      </p:sp>
      <p:sp>
        <p:nvSpPr>
          <p:cNvPr id="14" name="TextBox 13"/>
          <p:cNvSpPr txBox="1"/>
          <p:nvPr/>
        </p:nvSpPr>
        <p:spPr>
          <a:xfrm>
            <a:off x="5600818" y="6675120"/>
            <a:ext cx="1801131" cy="457200"/>
          </a:xfrm>
          <a:prstGeom prst="rect">
            <a:avLst/>
          </a:prstGeom>
          <a:noFill/>
        </p:spPr>
        <p:txBody>
          <a:bodyPr wrap="square" lIns="0" rIns="0" tIns="0" bIns="0">
            <a:spAutoFit/>
          </a:bodyPr>
          <a:lstStyle/>
          <a:p>
            <a:r>
              <a:rPr sz="1200">
                <a:solidFill>
                  <a:srgbClr val="595959"/>
                </a:solidFill>
                <a:latin typeface="Helvetica Neue Light"/>
              </a:rPr>
              <a:t>Prospect: reason kept when saving</a:t>
            </a:r>
          </a:p>
        </p:txBody>
      </p:sp>
      <p:pic>
        <p:nvPicPr>
          <p:cNvPr id="15" name="Picture 14" descr="image.png"/>
          <p:cNvPicPr>
            <a:picLocks noChangeAspect="1"/>
          </p:cNvPicPr>
          <p:nvPr/>
        </p:nvPicPr>
        <p:blipFill>
          <a:blip r:embed="rId6"/>
          <a:stretch>
            <a:fillRect/>
          </a:stretch>
        </p:blipFill>
        <p:spPr>
          <a:xfrm>
            <a:off x="8126907" y="2194560"/>
            <a:ext cx="1801131" cy="4023360"/>
          </a:xfrm>
          <a:prstGeom prst="rect">
            <a:avLst/>
          </a:prstGeom>
        </p:spPr>
      </p:pic>
      <p:sp>
        <p:nvSpPr>
          <p:cNvPr id="16" name="TextBox 15"/>
          <p:cNvSpPr txBox="1"/>
          <p:nvPr/>
        </p:nvSpPr>
        <p:spPr>
          <a:xfrm>
            <a:off x="8126907" y="6355080"/>
            <a:ext cx="1801131" cy="274320"/>
          </a:xfrm>
          <a:prstGeom prst="rect">
            <a:avLst/>
          </a:prstGeom>
          <a:noFill/>
        </p:spPr>
        <p:txBody>
          <a:bodyPr wrap="square" lIns="0" rIns="0" tIns="0" bIns="0">
            <a:spAutoFit/>
          </a:bodyPr>
          <a:lstStyle/>
          <a:p>
            <a:r>
              <a:rPr sz="1220">
                <a:solidFill>
                  <a:srgbClr val="B5532F"/>
                </a:solidFill>
                <a:latin typeface="Helvetica Neue Medium"/>
              </a:rPr>
              <a:t>ATTENTION BUDGET</a:t>
            </a:r>
          </a:p>
        </p:txBody>
      </p:sp>
      <p:sp>
        <p:nvSpPr>
          <p:cNvPr id="17" name="TextBox 16"/>
          <p:cNvSpPr txBox="1"/>
          <p:nvPr/>
        </p:nvSpPr>
        <p:spPr>
          <a:xfrm>
            <a:off x="8126907" y="6675120"/>
            <a:ext cx="1801131" cy="457200"/>
          </a:xfrm>
          <a:prstGeom prst="rect">
            <a:avLst/>
          </a:prstGeom>
          <a:noFill/>
        </p:spPr>
        <p:txBody>
          <a:bodyPr wrap="square" lIns="0" rIns="0" tIns="0" bIns="0">
            <a:spAutoFit/>
          </a:bodyPr>
          <a:lstStyle/>
          <a:p>
            <a:r>
              <a:rPr sz="1200">
                <a:solidFill>
                  <a:srgbClr val="595959"/>
                </a:solidFill>
                <a:latin typeface="Helvetica Neue Light"/>
              </a:rPr>
              <a:t>Guard: daily alert budget</a:t>
            </a:r>
          </a:p>
        </p:txBody>
      </p:sp>
      <p:pic>
        <p:nvPicPr>
          <p:cNvPr id="18" name="Picture 17" descr="image.png"/>
          <p:cNvPicPr>
            <a:picLocks noChangeAspect="1"/>
          </p:cNvPicPr>
          <p:nvPr/>
        </p:nvPicPr>
        <p:blipFill>
          <a:blip r:embed="rId7"/>
          <a:stretch>
            <a:fillRect/>
          </a:stretch>
        </p:blipFill>
        <p:spPr>
          <a:xfrm>
            <a:off x="10652996" y="2194560"/>
            <a:ext cx="1801131" cy="4023360"/>
          </a:xfrm>
          <a:prstGeom prst="rect">
            <a:avLst/>
          </a:prstGeom>
        </p:spPr>
      </p:pic>
      <p:sp>
        <p:nvSpPr>
          <p:cNvPr id="19" name="TextBox 18"/>
          <p:cNvSpPr txBox="1"/>
          <p:nvPr/>
        </p:nvSpPr>
        <p:spPr>
          <a:xfrm>
            <a:off x="10652996" y="6355080"/>
            <a:ext cx="1801131" cy="274320"/>
          </a:xfrm>
          <a:prstGeom prst="rect">
            <a:avLst/>
          </a:prstGeom>
          <a:noFill/>
        </p:spPr>
        <p:txBody>
          <a:bodyPr wrap="square" lIns="0" rIns="0" tIns="0" bIns="0">
            <a:spAutoFit/>
          </a:bodyPr>
          <a:lstStyle/>
          <a:p>
            <a:r>
              <a:rPr sz="1220">
                <a:solidFill>
                  <a:srgbClr val="B5532F"/>
                </a:solidFill>
                <a:latin typeface="Helvetica Neue Medium"/>
              </a:rPr>
              <a:t>PLAN EDITOR</a:t>
            </a:r>
          </a:p>
        </p:txBody>
      </p:sp>
      <p:sp>
        <p:nvSpPr>
          <p:cNvPr id="20" name="TextBox 19"/>
          <p:cNvSpPr txBox="1"/>
          <p:nvPr/>
        </p:nvSpPr>
        <p:spPr>
          <a:xfrm>
            <a:off x="10652996" y="6675120"/>
            <a:ext cx="1801131" cy="457200"/>
          </a:xfrm>
          <a:prstGeom prst="rect">
            <a:avLst/>
          </a:prstGeom>
          <a:noFill/>
        </p:spPr>
        <p:txBody>
          <a:bodyPr wrap="square" lIns="0" rIns="0" tIns="0" bIns="0">
            <a:spAutoFit/>
          </a:bodyPr>
          <a:lstStyle/>
          <a:p>
            <a:r>
              <a:rPr sz="1200">
                <a:solidFill>
                  <a:srgbClr val="595959"/>
                </a:solidFill>
                <a:latin typeface="Helvetica Neue Light"/>
              </a:rPr>
              <a:t>Adapt: edit each proposed step</a:t>
            </a:r>
          </a:p>
        </p:txBody>
      </p:sp>
      <p:sp>
        <p:nvSpPr>
          <p:cNvPr id="21" name="TextBox 20"/>
          <p:cNvSpPr txBox="1"/>
          <p:nvPr/>
        </p:nvSpPr>
        <p:spPr>
          <a:xfrm>
            <a:off x="548640" y="7406640"/>
            <a:ext cx="3657600" cy="274320"/>
          </a:xfrm>
          <a:prstGeom prst="rect">
            <a:avLst/>
          </a:prstGeom>
          <a:noFill/>
        </p:spPr>
        <p:txBody>
          <a:bodyPr wrap="square" lIns="0" rIns="0" tIns="0" bIns="0">
            <a:spAutoFit/>
          </a:bodyPr>
          <a:lstStyle/>
          <a:p>
            <a:r>
              <a:rPr sz="1280">
                <a:solidFill>
                  <a:srgbClr val="B5532F"/>
                </a:solidFill>
                <a:latin typeface="Helvetica Neue Medium"/>
              </a:rPr>
              <a:t>THE PROBLEM IT ANSWERS</a:t>
            </a:r>
          </a:p>
        </p:txBody>
      </p:sp>
      <p:sp>
        <p:nvSpPr>
          <p:cNvPr id="22" name="TextBox 21"/>
          <p:cNvSpPr txBox="1"/>
          <p:nvPr/>
        </p:nvSpPr>
        <p:spPr>
          <a:xfrm>
            <a:off x="548640" y="7717536"/>
            <a:ext cx="3657600" cy="1097280"/>
          </a:xfrm>
          <a:prstGeom prst="rect">
            <a:avLst/>
          </a:prstGeom>
          <a:noFill/>
        </p:spPr>
        <p:txBody>
          <a:bodyPr wrap="square" lIns="0" rIns="0" tIns="0" bIns="0">
            <a:spAutoFit/>
          </a:bodyPr>
          <a:lstStyle/>
          <a:p>
            <a:r>
              <a:rPr sz="1400">
                <a:solidFill>
                  <a:srgbClr val="1B2A3A"/>
                </a:solidFill>
                <a:latin typeface="Helvetica Neue Light"/>
              </a:rPr>
              <a:t>Concepts described only in text are hard to place. A reviewer cannot see where each one would appear.</a:t>
            </a:r>
          </a:p>
        </p:txBody>
      </p:sp>
      <p:sp>
        <p:nvSpPr>
          <p:cNvPr id="23" name="TextBox 22"/>
          <p:cNvSpPr txBox="1"/>
          <p:nvPr/>
        </p:nvSpPr>
        <p:spPr>
          <a:xfrm>
            <a:off x="4480560" y="7406640"/>
            <a:ext cx="3657600" cy="274320"/>
          </a:xfrm>
          <a:prstGeom prst="rect">
            <a:avLst/>
          </a:prstGeom>
          <a:noFill/>
        </p:spPr>
        <p:txBody>
          <a:bodyPr wrap="square" lIns="0" rIns="0" tIns="0" bIns="0">
            <a:spAutoFit/>
          </a:bodyPr>
          <a:lstStyle/>
          <a:p>
            <a:r>
              <a:rPr sz="1280">
                <a:solidFill>
                  <a:srgbClr val="4F6D5A"/>
                </a:solidFill>
                <a:latin typeface="Helvetica Neue Medium"/>
              </a:rPr>
              <a:t>THE SOLUTION AND THE INNOVATION</a:t>
            </a:r>
          </a:p>
        </p:txBody>
      </p:sp>
      <p:sp>
        <p:nvSpPr>
          <p:cNvPr id="24" name="TextBox 23"/>
          <p:cNvSpPr txBox="1"/>
          <p:nvPr/>
        </p:nvSpPr>
        <p:spPr>
          <a:xfrm>
            <a:off x="4480560" y="7717536"/>
            <a:ext cx="3657600" cy="1097280"/>
          </a:xfrm>
          <a:prstGeom prst="rect">
            <a:avLst/>
          </a:prstGeom>
          <a:noFill/>
        </p:spPr>
        <p:txBody>
          <a:bodyPr wrap="square" lIns="0" rIns="0" tIns="0" bIns="0">
            <a:spAutoFit/>
          </a:bodyPr>
          <a:lstStyle/>
          <a:p>
            <a:r>
              <a:rPr sz="1400">
                <a:solidFill>
                  <a:srgbClr val="1B2A3A"/>
                </a:solidFill>
                <a:latin typeface="Helvetica Neue Light"/>
              </a:rPr>
              <a:t>Each concept sits on the screen where its decision happens, so the innovation has a home in the product.</a:t>
            </a:r>
          </a:p>
        </p:txBody>
      </p:sp>
      <p:sp>
        <p:nvSpPr>
          <p:cNvPr id="25" name="TextBox 24"/>
          <p:cNvSpPr txBox="1"/>
          <p:nvPr/>
        </p:nvSpPr>
        <p:spPr>
          <a:xfrm>
            <a:off x="8412480" y="7406640"/>
            <a:ext cx="3657600" cy="274320"/>
          </a:xfrm>
          <a:prstGeom prst="rect">
            <a:avLst/>
          </a:prstGeom>
          <a:noFill/>
        </p:spPr>
        <p:txBody>
          <a:bodyPr wrap="square" lIns="0" rIns="0" tIns="0" bIns="0">
            <a:spAutoFit/>
          </a:bodyPr>
          <a:lstStyle/>
          <a:p>
            <a:r>
              <a:rPr sz="1280">
                <a:solidFill>
                  <a:srgbClr val="2F4257"/>
                </a:solidFill>
                <a:latin typeface="Helvetica Neue Medium"/>
              </a:rPr>
              <a:t>WHAT IT SHOWS ABOUT MY LEADERSHIP</a:t>
            </a:r>
          </a:p>
        </p:txBody>
      </p:sp>
      <p:sp>
        <p:nvSpPr>
          <p:cNvPr id="26" name="TextBox 25"/>
          <p:cNvSpPr txBox="1"/>
          <p:nvPr/>
        </p:nvSpPr>
        <p:spPr>
          <a:xfrm>
            <a:off x="8412480" y="7717536"/>
            <a:ext cx="3657600" cy="1097280"/>
          </a:xfrm>
          <a:prstGeom prst="rect">
            <a:avLst/>
          </a:prstGeom>
          <a:noFill/>
        </p:spPr>
        <p:txBody>
          <a:bodyPr wrap="square" lIns="0" rIns="0" tIns="0" bIns="0">
            <a:spAutoFit/>
          </a:bodyPr>
          <a:lstStyle/>
          <a:p>
            <a:r>
              <a:rPr sz="1400">
                <a:solidFill>
                  <a:srgbClr val="1B2A3A"/>
                </a:solidFill>
                <a:latin typeface="Helvetica Neue Light"/>
              </a:rPr>
              <a:t>I placed each concept on a screen before drawing it, so the next wireframe pass has a clear scope.</a:t>
            </a:r>
          </a:p>
        </p:txBody>
      </p:sp>
      <p:sp>
        <p:nvSpPr>
          <p:cNvPr id="27" name="TextBox 26"/>
          <p:cNvSpPr txBox="1"/>
          <p:nvPr/>
        </p:nvSpPr>
        <p:spPr>
          <a:xfrm>
            <a:off x="548640" y="8778240"/>
            <a:ext cx="10972800" cy="274320"/>
          </a:xfrm>
          <a:prstGeom prst="rect">
            <a:avLst/>
          </a:prstGeom>
          <a:noFill/>
        </p:spPr>
        <p:txBody>
          <a:bodyPr wrap="square" lIns="0" rIns="0" tIns="0" bIns="0">
            <a:spAutoFit/>
          </a:bodyPr>
          <a:lstStyle/>
          <a:p>
            <a:r>
              <a:rPr sz="1200">
                <a:solidFill>
                  <a:srgbClr val="595959"/>
                </a:solidFill>
                <a:latin typeface="Helvetica Neue Light"/>
              </a:rPr>
              <a:t>Portfolio prototype. Mock data. Hypotheses until validated. Proposed-step language only. Placement is proposed, not yet drawn.</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AGENT EXPERIENCE</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The workflow: from insight to a reasoned decision</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Each step names the concept behind it. Nothing runs without approval.</a:t>
            </a:r>
          </a:p>
        </p:txBody>
      </p:sp>
      <p:sp>
        <p:nvSpPr>
          <p:cNvPr id="6" name="TextBox 5"/>
          <p:cNvSpPr txBox="1"/>
          <p:nvPr/>
        </p:nvSpPr>
        <p:spPr>
          <a:xfrm>
            <a:off x="822960" y="2560320"/>
            <a:ext cx="2148840" cy="274320"/>
          </a:xfrm>
          <a:prstGeom prst="rect">
            <a:avLst/>
          </a:prstGeom>
          <a:noFill/>
        </p:spPr>
        <p:txBody>
          <a:bodyPr wrap="square" lIns="0" rIns="0" tIns="0" bIns="0">
            <a:spAutoFit/>
          </a:bodyPr>
          <a:lstStyle/>
          <a:p>
            <a:pPr algn="l"/>
            <a:r>
              <a:rPr sz="1100">
                <a:solidFill>
                  <a:srgbClr val="858A97"/>
                </a:solidFill>
                <a:latin typeface="Helvetica Neue Medium"/>
              </a:rPr>
              <a:t>1 · INSIGHT</a:t>
            </a:r>
          </a:p>
        </p:txBody>
      </p:sp>
      <p:sp>
        <p:nvSpPr>
          <p:cNvPr id="7" name="TextBox 6"/>
          <p:cNvSpPr txBox="1"/>
          <p:nvPr/>
        </p:nvSpPr>
        <p:spPr>
          <a:xfrm>
            <a:off x="822960" y="2871215"/>
            <a:ext cx="214884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Shows its source, date, and data. No confidence percentage.</a:t>
            </a:r>
          </a:p>
        </p:txBody>
      </p:sp>
      <p:sp>
        <p:nvSpPr>
          <p:cNvPr id="8" name="TextBox 7"/>
          <p:cNvSpPr txBox="1"/>
          <p:nvPr/>
        </p:nvSpPr>
        <p:spPr>
          <a:xfrm>
            <a:off x="3108960" y="2560320"/>
            <a:ext cx="2148840" cy="274320"/>
          </a:xfrm>
          <a:prstGeom prst="rect">
            <a:avLst/>
          </a:prstGeom>
          <a:noFill/>
        </p:spPr>
        <p:txBody>
          <a:bodyPr wrap="square" lIns="0" rIns="0" tIns="0" bIns="0">
            <a:spAutoFit/>
          </a:bodyPr>
          <a:lstStyle/>
          <a:p>
            <a:pPr algn="l"/>
            <a:r>
              <a:rPr sz="1100">
                <a:solidFill>
                  <a:srgbClr val="858A97"/>
                </a:solidFill>
                <a:latin typeface="Helvetica Neue Medium"/>
              </a:rPr>
              <a:t>2 · CONDITION</a:t>
            </a:r>
          </a:p>
        </p:txBody>
      </p:sp>
      <p:sp>
        <p:nvSpPr>
          <p:cNvPr id="9" name="TextBox 8"/>
          <p:cNvSpPr txBox="1"/>
          <p:nvPr/>
        </p:nvSpPr>
        <p:spPr>
          <a:xfrm>
            <a:off x="3108960" y="2871215"/>
            <a:ext cx="214884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The user sets what would change the view (Scenario Sandbox).</a:t>
            </a:r>
          </a:p>
        </p:txBody>
      </p:sp>
      <p:sp>
        <p:nvSpPr>
          <p:cNvPr id="10" name="TextBox 9"/>
          <p:cNvSpPr txBox="1"/>
          <p:nvPr/>
        </p:nvSpPr>
        <p:spPr>
          <a:xfrm>
            <a:off x="5394960" y="2560320"/>
            <a:ext cx="2148840" cy="274320"/>
          </a:xfrm>
          <a:prstGeom prst="rect">
            <a:avLst/>
          </a:prstGeom>
          <a:noFill/>
        </p:spPr>
        <p:txBody>
          <a:bodyPr wrap="square" lIns="0" rIns="0" tIns="0" bIns="0">
            <a:spAutoFit/>
          </a:bodyPr>
          <a:lstStyle/>
          <a:p>
            <a:pPr algn="l"/>
            <a:r>
              <a:rPr sz="1100">
                <a:solidFill>
                  <a:srgbClr val="858A97"/>
                </a:solidFill>
                <a:latin typeface="Helvetica Neue Medium"/>
              </a:rPr>
              <a:t>3 · PROPOSED STEPS</a:t>
            </a:r>
          </a:p>
        </p:txBody>
      </p:sp>
      <p:sp>
        <p:nvSpPr>
          <p:cNvPr id="11" name="TextBox 10"/>
          <p:cNvSpPr txBox="1"/>
          <p:nvPr/>
        </p:nvSpPr>
        <p:spPr>
          <a:xfrm>
            <a:off x="5394960" y="2871215"/>
            <a:ext cx="214884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The agent drafts steps; the user edits each one (Plan Editor).</a:t>
            </a:r>
          </a:p>
        </p:txBody>
      </p:sp>
      <p:sp>
        <p:nvSpPr>
          <p:cNvPr id="12" name="TextBox 11"/>
          <p:cNvSpPr txBox="1"/>
          <p:nvPr/>
        </p:nvSpPr>
        <p:spPr>
          <a:xfrm>
            <a:off x="7680960" y="2560320"/>
            <a:ext cx="2148840" cy="274320"/>
          </a:xfrm>
          <a:prstGeom prst="rect">
            <a:avLst/>
          </a:prstGeom>
          <a:noFill/>
        </p:spPr>
        <p:txBody>
          <a:bodyPr wrap="square" lIns="0" rIns="0" tIns="0" bIns="0">
            <a:spAutoFit/>
          </a:bodyPr>
          <a:lstStyle/>
          <a:p>
            <a:pPr algn="l"/>
            <a:r>
              <a:rPr sz="1100">
                <a:solidFill>
                  <a:srgbClr val="858A97"/>
                </a:solidFill>
                <a:latin typeface="Helvetica Neue Medium"/>
              </a:rPr>
              <a:t>4 · APPROVE WITHIN LIMITS</a:t>
            </a:r>
          </a:p>
        </p:txBody>
      </p:sp>
      <p:sp>
        <p:nvSpPr>
          <p:cNvPr id="13" name="TextBox 12"/>
          <p:cNvSpPr txBox="1"/>
          <p:nvPr/>
        </p:nvSpPr>
        <p:spPr>
          <a:xfrm>
            <a:off x="7680960" y="2871215"/>
            <a:ext cx="214884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The user approves. Act is opt-in, with limits beside it (Autonomy Ledger).</a:t>
            </a:r>
          </a:p>
        </p:txBody>
      </p:sp>
      <p:sp>
        <p:nvSpPr>
          <p:cNvPr id="14" name="TextBox 13"/>
          <p:cNvSpPr txBox="1"/>
          <p:nvPr/>
        </p:nvSpPr>
        <p:spPr>
          <a:xfrm>
            <a:off x="9966960" y="2560320"/>
            <a:ext cx="2148840" cy="274320"/>
          </a:xfrm>
          <a:prstGeom prst="rect">
            <a:avLst/>
          </a:prstGeom>
          <a:noFill/>
        </p:spPr>
        <p:txBody>
          <a:bodyPr wrap="square" lIns="0" rIns="0" tIns="0" bIns="0">
            <a:spAutoFit/>
          </a:bodyPr>
          <a:lstStyle/>
          <a:p>
            <a:pPr algn="l"/>
            <a:r>
              <a:rPr sz="1100">
                <a:solidFill>
                  <a:srgbClr val="858A97"/>
                </a:solidFill>
                <a:latin typeface="Helvetica Neue Medium"/>
              </a:rPr>
              <a:t>5 · REASON, RE-CHECKED</a:t>
            </a:r>
          </a:p>
        </p:txBody>
      </p:sp>
      <p:sp>
        <p:nvSpPr>
          <p:cNvPr id="15" name="TextBox 14"/>
          <p:cNvSpPr txBox="1"/>
          <p:nvPr/>
        </p:nvSpPr>
        <p:spPr>
          <a:xfrm>
            <a:off x="9966960" y="2871215"/>
            <a:ext cx="214884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The user writes why they acted. Guard re-checks it later (Decision Journal).</a:t>
            </a:r>
          </a:p>
        </p:txBody>
      </p:sp>
      <p:sp>
        <p:nvSpPr>
          <p:cNvPr id="16" name="TextBox 15"/>
          <p:cNvSpPr txBox="1"/>
          <p:nvPr/>
        </p:nvSpPr>
        <p:spPr>
          <a:xfrm>
            <a:off x="822960" y="8503920"/>
            <a:ext cx="11356848" cy="274320"/>
          </a:xfrm>
          <a:prstGeom prst="rect">
            <a:avLst/>
          </a:prstGeom>
          <a:noFill/>
        </p:spPr>
        <p:txBody>
          <a:bodyPr wrap="square" lIns="0" rIns="0" tIns="0" bIns="0">
            <a:spAutoFit/>
          </a:bodyPr>
          <a:lstStyle/>
          <a:p>
            <a:pPr algn="l"/>
            <a:r>
              <a:rPr sz="1200">
                <a:solidFill>
                  <a:srgbClr val="858A97"/>
                </a:solidFill>
                <a:latin typeface="Helvetica Neue Light"/>
              </a:rPr>
              <a:t>Each step shows its source. Changes can be reversed within 48 hours. The AI proposes; the user decides.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548640" y="411480"/>
            <a:ext cx="11905488" cy="320040"/>
          </a:xfrm>
          <a:prstGeom prst="rect">
            <a:avLst/>
          </a:prstGeom>
          <a:noFill/>
          <a:ln/>
        </p:spPr>
        <p:txBody>
          <a:bodyPr wrap="square" lIns="0" tIns="0" rIns="0" bIns="0" rtlCol="0" anchor="ctr"/>
          <a:lstStyle/>
          <a:p>
            <a:pPr indent="0" marL="0">
              <a:buNone/>
            </a:pPr>
            <a:r>
              <a:rPr lang="en-US" sz="1400" dirty="0">
                <a:solidFill>
                  <a:srgbClr val="1B2A3A"/>
                </a:solidFill>
                <a:latin typeface="Helvetica Neue Light" pitchFamily="34" charset="0"/>
                <a:ea typeface="Helvetica Neue Light" pitchFamily="34" charset="-122"/>
                <a:cs typeface="Helvetica Neue Light" pitchFamily="34" charset="-120"/>
              </a:rPr>
              <a:t>MERIDIAN NAVIGATOR · AGENT EXPERIENCE</a:t>
            </a:r>
            <a:endParaRPr lang="en-US" sz="1400" dirty="0"/>
          </a:p>
        </p:txBody>
      </p:sp>
      <p:sp>
        <p:nvSpPr>
          <p:cNvPr id="3" name="Text 1"/>
          <p:cNvSpPr/>
          <p:nvPr/>
        </p:nvSpPr>
        <p:spPr>
          <a:xfrm>
            <a:off x="548640" y="914400"/>
            <a:ext cx="11905488" cy="731520"/>
          </a:xfrm>
          <a:prstGeom prst="rect">
            <a:avLst/>
          </a:prstGeom>
          <a:noFill/>
          <a:ln/>
        </p:spPr>
        <p:txBody>
          <a:bodyPr wrap="square" lIns="0" tIns="0" rIns="0" bIns="0" rtlCol="0" anchor="t"/>
          <a:lstStyle/>
          <a:p>
            <a:pPr indent="0" marL="0">
              <a:buNone/>
            </a:pPr>
            <a:r>
              <a:rPr lang="en-US" sz="3000" dirty="0">
                <a:solidFill>
                  <a:srgbClr val="1B2A3A"/>
                </a:solidFill>
                <a:latin typeface="Helvetica Neue Light" pitchFamily="34" charset="0"/>
                <a:ea typeface="Helvetica Neue Light" pitchFamily="34" charset="-122"/>
                <a:cs typeface="Helvetica Neue Light" pitchFamily="34" charset="-120"/>
              </a:rPr>
              <a:t>The AI advancements, from breakdown to test</a:t>
            </a:r>
            <a:endParaRPr lang="en-US" sz="3000" dirty="0"/>
          </a:p>
        </p:txBody>
      </p:sp>
      <p:sp>
        <p:nvSpPr>
          <p:cNvPr id="4" name="Text 2"/>
          <p:cNvSpPr/>
          <p:nvPr/>
        </p:nvSpPr>
        <p:spPr>
          <a:xfrm>
            <a:off x="548640" y="1645920"/>
            <a:ext cx="11905488" cy="365760"/>
          </a:xfrm>
          <a:prstGeom prst="rect">
            <a:avLst/>
          </a:prstGeom>
          <a:noFill/>
          <a:ln/>
        </p:spPr>
        <p:txBody>
          <a:bodyPr wrap="square" lIns="0" tIns="0" rIns="0" bIns="0" rtlCol="0" anchor="ctr"/>
          <a:lstStyle/>
          <a:p>
            <a:pPr indent="0" marL="0">
              <a:buNone/>
            </a:pPr>
            <a:r>
              <a:rPr lang="en-US" sz="1600" dirty="0">
                <a:solidFill>
                  <a:srgbClr val="595959"/>
                </a:solidFill>
                <a:latin typeface="Helvetica Neue Light" pitchFamily="34" charset="0"/>
                <a:ea typeface="Helvetica Neue Light" pitchFamily="34" charset="-122"/>
                <a:cs typeface="Helvetica Neue Light" pitchFamily="34" charset="-120"/>
              </a:rPr>
              <a:t>Each row links a breakdown to the concept that answers it, the workflow step where it shows, and what is drawn today.</a:t>
            </a:r>
            <a:endParaRPr lang="en-US" sz="1600" dirty="0"/>
          </a:p>
        </p:txBody>
      </p:sp>
      <p:pic>
        <p:nvPicPr>
          <p:cNvPr id="5" name="Picture 4" descr="image.png"/>
          <p:cNvPicPr>
            <a:picLocks noChangeAspect="1"/>
          </p:cNvPicPr>
          <p:nvPr/>
        </p:nvPicPr>
        <p:blipFill>
          <a:blip r:embed="rId2"/>
          <a:stretch>
            <a:fillRect/>
          </a:stretch>
        </p:blipFill>
        <p:spPr>
          <a:xfrm>
            <a:off x="0" y="9299448"/>
            <a:ext cx="13002768" cy="457200"/>
          </a:xfrm>
          <a:prstGeom prst="rect">
            <a:avLst/>
          </a:prstGeom>
        </p:spPr>
      </p:pic>
      <p:sp>
        <p:nvSpPr>
          <p:cNvPr id="6" name="Text 3"/>
          <p:cNvSpPr/>
          <p:nvPr/>
        </p:nvSpPr>
        <p:spPr>
          <a:xfrm>
            <a:off x="548640" y="8778240"/>
            <a:ext cx="11905488" cy="320040"/>
          </a:xfrm>
          <a:prstGeom prst="rect">
            <a:avLst/>
          </a:prstGeom>
          <a:noFill/>
          <a:ln/>
        </p:spPr>
        <p:txBody>
          <a:bodyPr wrap="square" lIns="0" tIns="0" rIns="0" bIns="0" rtlCol="0" anchor="ctr"/>
          <a:lstStyle/>
          <a:p>
            <a:pPr indent="0" marL="0">
              <a:buNone/>
            </a:pPr>
            <a:r>
              <a:rPr lang="en-US" sz="1200" dirty="0">
                <a:solidFill>
                  <a:srgbClr val="595959"/>
                </a:solidFill>
                <a:latin typeface="Helvetica Neue Light" pitchFamily="34" charset="0"/>
                <a:ea typeface="Helvetica Neue Light" pitchFamily="34" charset="-122"/>
                <a:cs typeface="Helvetica Neue Light" pitchFamily="34" charset="-120"/>
              </a:rPr>
              <a:t>Portfolio prototype. Mock data. Hypotheses until validated. Proposed-step language only.</a:t>
            </a:r>
            <a:endParaRPr lang="en-US" sz="1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2377440"/>
          <a:ext cx="11905488" cy="914400"/>
        </p:xfrm>
        <a:graphic>
          <a:graphicData uri="http://schemas.openxmlformats.org/drawingml/2006/table">
            <a:tbl>
              <a:tblPr/>
              <a:tblGrid>
                <a:gridCol w="2743200"/>
                <a:gridCol w="2743200"/>
                <a:gridCol w="3749040"/>
                <a:gridCol w="2103120"/>
              </a:tblGrid>
              <a:tr h="0">
                <a:tc>
                  <a:txBody>
                    <a:bodyPr/>
                    <a:lstStyle/>
                    <a:p>
                      <a:pPr indent="0" marL="0">
                        <a:buNone/>
                      </a:pPr>
                      <a:r>
                        <a:rPr lang="en-US" sz="1280" dirty="0">
                          <a:solidFill>
                            <a:srgbClr val="B5532F"/>
                          </a:solidFill>
                          <a:latin typeface="Helvetica Neue Medium" pitchFamily="34" charset="0"/>
                          <a:ea typeface="Helvetica Neue Medium" pitchFamily="34" charset="-122"/>
                          <a:cs typeface="Helvetica Neue Medium" pitchFamily="34" charset="-120"/>
                        </a:rPr>
                        <a:t>THE BREAKDOWN</a:t>
                      </a:r>
                      <a:endParaRPr lang="en-US" sz="1280" dirty="0">
                        <a:latin typeface="Helvetica Neue Medium" charset="0"/>
                        <a:ea typeface="Helvetica Neue Medium" charset="0"/>
                        <a:cs typeface="Helvetica Neue Medium"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280" dirty="0">
                          <a:solidFill>
                            <a:srgbClr val="B5532F"/>
                          </a:solidFill>
                          <a:latin typeface="Helvetica Neue Medium" pitchFamily="34" charset="0"/>
                          <a:ea typeface="Helvetica Neue Medium" pitchFamily="34" charset="-122"/>
                          <a:cs typeface="Helvetica Neue Medium" pitchFamily="34" charset="-120"/>
                        </a:rPr>
                        <a:t>THE ADVANCEMENT</a:t>
                      </a:r>
                      <a:endParaRPr lang="en-US" sz="1280" dirty="0">
                        <a:latin typeface="Helvetica Neue Medium" charset="0"/>
                        <a:ea typeface="Helvetica Neue Medium" charset="0"/>
                        <a:cs typeface="Helvetica Neue Medium"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280" dirty="0">
                          <a:solidFill>
                            <a:srgbClr val="B5532F"/>
                          </a:solidFill>
                          <a:latin typeface="Helvetica Neue Medium" pitchFamily="34" charset="0"/>
                          <a:ea typeface="Helvetica Neue Medium" pitchFamily="34" charset="-122"/>
                          <a:cs typeface="Helvetica Neue Medium" pitchFamily="34" charset="-120"/>
                        </a:rPr>
                        <a:t>WHERE IT SHOWS IN THE WORKFLOW</a:t>
                      </a:r>
                      <a:endParaRPr lang="en-US" sz="1280" dirty="0">
                        <a:latin typeface="Helvetica Neue Medium" charset="0"/>
                        <a:ea typeface="Helvetica Neue Medium" charset="0"/>
                        <a:cs typeface="Helvetica Neue Medium"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280" dirty="0">
                          <a:solidFill>
                            <a:srgbClr val="B5532F"/>
                          </a:solidFill>
                          <a:latin typeface="Helvetica Neue Medium" pitchFamily="34" charset="0"/>
                          <a:ea typeface="Helvetica Neue Medium" pitchFamily="34" charset="-122"/>
                          <a:cs typeface="Helvetica Neue Medium" pitchFamily="34" charset="-120"/>
                        </a:rPr>
                        <a:t>STATUS</a:t>
                      </a:r>
                      <a:endParaRPr lang="en-US" sz="1280" dirty="0">
                        <a:latin typeface="Helvetica Neue Medium" charset="0"/>
                        <a:ea typeface="Helvetica Neue Medium" charset="0"/>
                        <a:cs typeface="Helvetica Neue Medium"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1 · Outputs without reasoning</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Scenario Sandbox</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Steps 1 and 2: source on each insight; the condition the user sets</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Insight with source drawn; sandbox not drawn</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2 · All or nothing</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Plan Editor and Autonomy Ledger</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Steps 3 and 4: each proposed step is editable; Act is opt-in</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Adapt plan drawn; ledger not drawn</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3 · No learning loop</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Decision Journal and Attention Budget</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Step 5: the reason is kept and re-checked</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Not drawn</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4 · Advice line in conflict</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Proposed-step wording and the Autonomy Ledger limits</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Steps 3 and 4: wording and limits on every screen</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Wording fix on the board; compliance review open</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5 · Context lost between screens</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Decision Journal</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Step 5: the reason travels with the order</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Full experience drawn; reason field not drawn</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2768" cy="466344"/>
          </a:xfrm>
          <a:prstGeom prst="rect">
            <a:avLst/>
          </a:prstGeom>
        </p:spPr>
      </p:pic>
      <p:sp>
        <p:nvSpPr>
          <p:cNvPr id="3" name="TextBox 2"/>
          <p:cNvSpPr txBox="1"/>
          <p:nvPr/>
        </p:nvSpPr>
        <p:spPr>
          <a:xfrm>
            <a:off x="548640" y="393192"/>
            <a:ext cx="10515600" cy="274320"/>
          </a:xfrm>
          <a:prstGeom prst="rect">
            <a:avLst/>
          </a:prstGeom>
          <a:noFill/>
        </p:spPr>
        <p:txBody>
          <a:bodyPr wrap="square" lIns="0" rIns="0" tIns="0" bIns="0">
            <a:spAutoFit/>
          </a:bodyPr>
          <a:lstStyle/>
          <a:p>
            <a:r>
              <a:rPr sz="1400">
                <a:solidFill>
                  <a:srgbClr val="1B2A3A"/>
                </a:solidFill>
                <a:latin typeface="Helvetica Neue Medium"/>
              </a:rPr>
              <a:t>MERIDIAN NAVIGATOR · WIREFRAMES</a:t>
            </a:r>
          </a:p>
        </p:txBody>
      </p:sp>
      <p:sp>
        <p:nvSpPr>
          <p:cNvPr id="4" name="TextBox 3"/>
          <p:cNvSpPr txBox="1"/>
          <p:nvPr/>
        </p:nvSpPr>
        <p:spPr>
          <a:xfrm>
            <a:off x="548640" y="932688"/>
            <a:ext cx="11887200" cy="548640"/>
          </a:xfrm>
          <a:prstGeom prst="rect">
            <a:avLst/>
          </a:prstGeom>
          <a:noFill/>
        </p:spPr>
        <p:txBody>
          <a:bodyPr wrap="square" lIns="0" rIns="0" tIns="0" bIns="0">
            <a:spAutoFit/>
          </a:bodyPr>
          <a:lstStyle/>
          <a:p>
            <a:r>
              <a:rPr sz="3000">
                <a:solidFill>
                  <a:srgbClr val="1B2A3A"/>
                </a:solidFill>
                <a:latin typeface="Helvetica Neue Light"/>
              </a:rPr>
              <a:t>Lo-fi screens: the five AI screens, first pass</a:t>
            </a:r>
          </a:p>
        </p:txBody>
      </p:sp>
      <p:sp>
        <p:nvSpPr>
          <p:cNvPr id="5" name="TextBox 4"/>
          <p:cNvSpPr txBox="1"/>
          <p:nvPr/>
        </p:nvSpPr>
        <p:spPr>
          <a:xfrm>
            <a:off x="548640" y="1563624"/>
            <a:ext cx="11887200" cy="320040"/>
          </a:xfrm>
          <a:prstGeom prst="rect">
            <a:avLst/>
          </a:prstGeom>
          <a:noFill/>
        </p:spPr>
        <p:txBody>
          <a:bodyPr wrap="square" lIns="0" rIns="0" tIns="0" bIns="0">
            <a:spAutoFit/>
          </a:bodyPr>
          <a:lstStyle/>
          <a:p>
            <a:r>
              <a:rPr sz="1600">
                <a:solidFill>
                  <a:srgbClr val="595959"/>
                </a:solidFill>
                <a:latin typeface="Helvetica Neue Light"/>
              </a:rPr>
              <a:t>Dashboard, Insight, Prospect, Guard, and Adapt. Structure first; no visual decisions yet.</a:t>
            </a:r>
          </a:p>
        </p:txBody>
      </p:sp>
      <p:pic>
        <p:nvPicPr>
          <p:cNvPr id="6" name="Picture 5" descr="lo_dashboard.png"/>
          <p:cNvPicPr>
            <a:picLocks noChangeAspect="1"/>
          </p:cNvPicPr>
          <p:nvPr/>
        </p:nvPicPr>
        <p:blipFill>
          <a:blip r:embed="rId3"/>
          <a:stretch>
            <a:fillRect/>
          </a:stretch>
        </p:blipFill>
        <p:spPr>
          <a:xfrm>
            <a:off x="548640" y="2194560"/>
            <a:ext cx="1801131" cy="4023360"/>
          </a:xfrm>
          <a:prstGeom prst="rect">
            <a:avLst/>
          </a:prstGeom>
        </p:spPr>
      </p:pic>
      <p:sp>
        <p:nvSpPr>
          <p:cNvPr id="7" name="TextBox 6"/>
          <p:cNvSpPr txBox="1"/>
          <p:nvPr/>
        </p:nvSpPr>
        <p:spPr>
          <a:xfrm>
            <a:off x="548640" y="6355080"/>
            <a:ext cx="1801131" cy="274320"/>
          </a:xfrm>
          <a:prstGeom prst="rect">
            <a:avLst/>
          </a:prstGeom>
          <a:noFill/>
        </p:spPr>
        <p:txBody>
          <a:bodyPr wrap="square" lIns="0" rIns="0" tIns="0" bIns="0">
            <a:spAutoFit/>
          </a:bodyPr>
          <a:lstStyle/>
          <a:p>
            <a:r>
              <a:rPr sz="1280">
                <a:solidFill>
                  <a:srgbClr val="B5532F"/>
                </a:solidFill>
                <a:latin typeface="Helvetica Neue Medium"/>
              </a:rPr>
              <a:t>DASHBOARD</a:t>
            </a:r>
          </a:p>
        </p:txBody>
      </p:sp>
      <p:pic>
        <p:nvPicPr>
          <p:cNvPr id="8" name="Picture 7" descr="lo_insight.png"/>
          <p:cNvPicPr>
            <a:picLocks noChangeAspect="1"/>
          </p:cNvPicPr>
          <p:nvPr/>
        </p:nvPicPr>
        <p:blipFill>
          <a:blip r:embed="rId4"/>
          <a:stretch>
            <a:fillRect/>
          </a:stretch>
        </p:blipFill>
        <p:spPr>
          <a:xfrm>
            <a:off x="2624091" y="2194560"/>
            <a:ext cx="1801131" cy="4023360"/>
          </a:xfrm>
          <a:prstGeom prst="rect">
            <a:avLst/>
          </a:prstGeom>
        </p:spPr>
      </p:pic>
      <p:sp>
        <p:nvSpPr>
          <p:cNvPr id="9" name="TextBox 8"/>
          <p:cNvSpPr txBox="1"/>
          <p:nvPr/>
        </p:nvSpPr>
        <p:spPr>
          <a:xfrm>
            <a:off x="2624091" y="6355080"/>
            <a:ext cx="1801131" cy="274320"/>
          </a:xfrm>
          <a:prstGeom prst="rect">
            <a:avLst/>
          </a:prstGeom>
          <a:noFill/>
        </p:spPr>
        <p:txBody>
          <a:bodyPr wrap="square" lIns="0" rIns="0" tIns="0" bIns="0">
            <a:spAutoFit/>
          </a:bodyPr>
          <a:lstStyle/>
          <a:p>
            <a:r>
              <a:rPr sz="1280">
                <a:solidFill>
                  <a:srgbClr val="B5532F"/>
                </a:solidFill>
                <a:latin typeface="Helvetica Neue Medium"/>
              </a:rPr>
              <a:t>INSIGHT</a:t>
            </a:r>
          </a:p>
        </p:txBody>
      </p:sp>
      <p:pic>
        <p:nvPicPr>
          <p:cNvPr id="10" name="Picture 9" descr="lo_prospect.png"/>
          <p:cNvPicPr>
            <a:picLocks noChangeAspect="1"/>
          </p:cNvPicPr>
          <p:nvPr/>
        </p:nvPicPr>
        <p:blipFill>
          <a:blip r:embed="rId5"/>
          <a:stretch>
            <a:fillRect/>
          </a:stretch>
        </p:blipFill>
        <p:spPr>
          <a:xfrm>
            <a:off x="4699542" y="2194560"/>
            <a:ext cx="1801131" cy="4023360"/>
          </a:xfrm>
          <a:prstGeom prst="rect">
            <a:avLst/>
          </a:prstGeom>
        </p:spPr>
      </p:pic>
      <p:sp>
        <p:nvSpPr>
          <p:cNvPr id="11" name="TextBox 10"/>
          <p:cNvSpPr txBox="1"/>
          <p:nvPr/>
        </p:nvSpPr>
        <p:spPr>
          <a:xfrm>
            <a:off x="4699542" y="6355080"/>
            <a:ext cx="1801131" cy="274320"/>
          </a:xfrm>
          <a:prstGeom prst="rect">
            <a:avLst/>
          </a:prstGeom>
          <a:noFill/>
        </p:spPr>
        <p:txBody>
          <a:bodyPr wrap="square" lIns="0" rIns="0" tIns="0" bIns="0">
            <a:spAutoFit/>
          </a:bodyPr>
          <a:lstStyle/>
          <a:p>
            <a:r>
              <a:rPr sz="1280">
                <a:solidFill>
                  <a:srgbClr val="B5532F"/>
                </a:solidFill>
                <a:latin typeface="Helvetica Neue Medium"/>
              </a:rPr>
              <a:t>PROSPECT</a:t>
            </a:r>
          </a:p>
        </p:txBody>
      </p:sp>
      <p:pic>
        <p:nvPicPr>
          <p:cNvPr id="12" name="Picture 11" descr="lo_guard.png"/>
          <p:cNvPicPr>
            <a:picLocks noChangeAspect="1"/>
          </p:cNvPicPr>
          <p:nvPr/>
        </p:nvPicPr>
        <p:blipFill>
          <a:blip r:embed="rId6"/>
          <a:stretch>
            <a:fillRect/>
          </a:stretch>
        </p:blipFill>
        <p:spPr>
          <a:xfrm>
            <a:off x="6774993" y="2194560"/>
            <a:ext cx="1801131" cy="4023360"/>
          </a:xfrm>
          <a:prstGeom prst="rect">
            <a:avLst/>
          </a:prstGeom>
        </p:spPr>
      </p:pic>
      <p:sp>
        <p:nvSpPr>
          <p:cNvPr id="13" name="TextBox 12"/>
          <p:cNvSpPr txBox="1"/>
          <p:nvPr/>
        </p:nvSpPr>
        <p:spPr>
          <a:xfrm>
            <a:off x="6774993" y="6355080"/>
            <a:ext cx="1801131" cy="274320"/>
          </a:xfrm>
          <a:prstGeom prst="rect">
            <a:avLst/>
          </a:prstGeom>
          <a:noFill/>
        </p:spPr>
        <p:txBody>
          <a:bodyPr wrap="square" lIns="0" rIns="0" tIns="0" bIns="0">
            <a:spAutoFit/>
          </a:bodyPr>
          <a:lstStyle/>
          <a:p>
            <a:r>
              <a:rPr sz="1280">
                <a:solidFill>
                  <a:srgbClr val="B5532F"/>
                </a:solidFill>
                <a:latin typeface="Helvetica Neue Medium"/>
              </a:rPr>
              <a:t>GUARD</a:t>
            </a:r>
          </a:p>
        </p:txBody>
      </p:sp>
      <p:pic>
        <p:nvPicPr>
          <p:cNvPr id="14" name="Picture 13" descr="lo_adapt.png"/>
          <p:cNvPicPr>
            <a:picLocks noChangeAspect="1"/>
          </p:cNvPicPr>
          <p:nvPr/>
        </p:nvPicPr>
        <p:blipFill>
          <a:blip r:embed="rId7"/>
          <a:stretch>
            <a:fillRect/>
          </a:stretch>
        </p:blipFill>
        <p:spPr>
          <a:xfrm>
            <a:off x="8850444" y="2194560"/>
            <a:ext cx="1801131" cy="4023360"/>
          </a:xfrm>
          <a:prstGeom prst="rect">
            <a:avLst/>
          </a:prstGeom>
        </p:spPr>
      </p:pic>
      <p:sp>
        <p:nvSpPr>
          <p:cNvPr id="15" name="TextBox 14"/>
          <p:cNvSpPr txBox="1"/>
          <p:nvPr/>
        </p:nvSpPr>
        <p:spPr>
          <a:xfrm>
            <a:off x="8850444" y="6355080"/>
            <a:ext cx="1801131" cy="274320"/>
          </a:xfrm>
          <a:prstGeom prst="rect">
            <a:avLst/>
          </a:prstGeom>
          <a:noFill/>
        </p:spPr>
        <p:txBody>
          <a:bodyPr wrap="square" lIns="0" rIns="0" tIns="0" bIns="0">
            <a:spAutoFit/>
          </a:bodyPr>
          <a:lstStyle/>
          <a:p>
            <a:r>
              <a:rPr sz="1280">
                <a:solidFill>
                  <a:srgbClr val="B5532F"/>
                </a:solidFill>
                <a:latin typeface="Helvetica Neue Medium"/>
              </a:rPr>
              <a:t>ADAPT</a:t>
            </a:r>
          </a:p>
        </p:txBody>
      </p:sp>
      <p:sp>
        <p:nvSpPr>
          <p:cNvPr id="16" name="TextBox 15"/>
          <p:cNvSpPr txBox="1"/>
          <p:nvPr/>
        </p:nvSpPr>
        <p:spPr>
          <a:xfrm>
            <a:off x="548640" y="7223760"/>
            <a:ext cx="3657600" cy="274320"/>
          </a:xfrm>
          <a:prstGeom prst="rect">
            <a:avLst/>
          </a:prstGeom>
          <a:noFill/>
        </p:spPr>
        <p:txBody>
          <a:bodyPr wrap="square" lIns="0" rIns="0" tIns="0" bIns="0">
            <a:spAutoFit/>
          </a:bodyPr>
          <a:lstStyle/>
          <a:p>
            <a:r>
              <a:rPr sz="1280">
                <a:solidFill>
                  <a:srgbClr val="B5532F"/>
                </a:solidFill>
                <a:latin typeface="Helvetica Neue Medium"/>
              </a:rPr>
              <a:t>THE PROBLEM IT ANSWERS</a:t>
            </a:r>
          </a:p>
        </p:txBody>
      </p:sp>
      <p:sp>
        <p:nvSpPr>
          <p:cNvPr id="17" name="TextBox 16"/>
          <p:cNvSpPr txBox="1"/>
          <p:nvPr/>
        </p:nvSpPr>
        <p:spPr>
          <a:xfrm>
            <a:off x="548640" y="7534656"/>
            <a:ext cx="3657600" cy="1280160"/>
          </a:xfrm>
          <a:prstGeom prst="rect">
            <a:avLst/>
          </a:prstGeom>
          <a:noFill/>
        </p:spPr>
        <p:txBody>
          <a:bodyPr wrap="square" lIns="0" rIns="0" tIns="0" bIns="0">
            <a:spAutoFit/>
          </a:bodyPr>
          <a:lstStyle/>
          <a:p>
            <a:r>
              <a:rPr sz="1400">
                <a:solidFill>
                  <a:srgbClr val="1B2A3A"/>
                </a:solidFill>
                <a:latin typeface="Helvetica Neue Light"/>
              </a:rPr>
              <a:t>Five AI screens could drift apart if each were styled alone. The structure had to agree first.</a:t>
            </a:r>
          </a:p>
        </p:txBody>
      </p:sp>
      <p:sp>
        <p:nvSpPr>
          <p:cNvPr id="18" name="TextBox 17"/>
          <p:cNvSpPr txBox="1"/>
          <p:nvPr/>
        </p:nvSpPr>
        <p:spPr>
          <a:xfrm>
            <a:off x="4480560" y="7223760"/>
            <a:ext cx="3657600" cy="274320"/>
          </a:xfrm>
          <a:prstGeom prst="rect">
            <a:avLst/>
          </a:prstGeom>
          <a:noFill/>
        </p:spPr>
        <p:txBody>
          <a:bodyPr wrap="square" lIns="0" rIns="0" tIns="0" bIns="0">
            <a:spAutoFit/>
          </a:bodyPr>
          <a:lstStyle/>
          <a:p>
            <a:r>
              <a:rPr sz="1280">
                <a:solidFill>
                  <a:srgbClr val="4F6D5A"/>
                </a:solidFill>
                <a:latin typeface="Helvetica Neue Medium"/>
              </a:rPr>
              <a:t>THE SOLUTION AND THE INNOVATION</a:t>
            </a:r>
          </a:p>
        </p:txBody>
      </p:sp>
      <p:sp>
        <p:nvSpPr>
          <p:cNvPr id="19" name="TextBox 18"/>
          <p:cNvSpPr txBox="1"/>
          <p:nvPr/>
        </p:nvSpPr>
        <p:spPr>
          <a:xfrm>
            <a:off x="4480560" y="7534656"/>
            <a:ext cx="3657600" cy="1280160"/>
          </a:xfrm>
          <a:prstGeom prst="rect">
            <a:avLst/>
          </a:prstGeom>
          <a:noFill/>
        </p:spPr>
        <p:txBody>
          <a:bodyPr wrap="square" lIns="0" rIns="0" tIns="0" bIns="0">
            <a:spAutoFit/>
          </a:bodyPr>
          <a:lstStyle/>
          <a:p>
            <a:r>
              <a:rPr sz="1400">
                <a:solidFill>
                  <a:srgbClr val="1B2A3A"/>
                </a:solidFill>
                <a:latin typeface="Helvetica Neue Light"/>
              </a:rPr>
              <a:t>Light, sketch-level screens for each one. Evidence and approval points are visible before any visual decision.</a:t>
            </a:r>
          </a:p>
        </p:txBody>
      </p:sp>
      <p:sp>
        <p:nvSpPr>
          <p:cNvPr id="20" name="TextBox 19"/>
          <p:cNvSpPr txBox="1"/>
          <p:nvPr/>
        </p:nvSpPr>
        <p:spPr>
          <a:xfrm>
            <a:off x="8412480" y="7223760"/>
            <a:ext cx="3657600" cy="274320"/>
          </a:xfrm>
          <a:prstGeom prst="rect">
            <a:avLst/>
          </a:prstGeom>
          <a:noFill/>
        </p:spPr>
        <p:txBody>
          <a:bodyPr wrap="square" lIns="0" rIns="0" tIns="0" bIns="0">
            <a:spAutoFit/>
          </a:bodyPr>
          <a:lstStyle/>
          <a:p>
            <a:r>
              <a:rPr sz="1280">
                <a:solidFill>
                  <a:srgbClr val="2F4257"/>
                </a:solidFill>
                <a:latin typeface="Helvetica Neue Medium"/>
              </a:rPr>
              <a:t>WHAT IT SHOWS ABOUT MY LEADERSHIP</a:t>
            </a:r>
          </a:p>
        </p:txBody>
      </p:sp>
      <p:sp>
        <p:nvSpPr>
          <p:cNvPr id="21" name="TextBox 20"/>
          <p:cNvSpPr txBox="1"/>
          <p:nvPr/>
        </p:nvSpPr>
        <p:spPr>
          <a:xfrm>
            <a:off x="8412480" y="7534656"/>
            <a:ext cx="3657600" cy="1280160"/>
          </a:xfrm>
          <a:prstGeom prst="rect">
            <a:avLst/>
          </a:prstGeom>
          <a:noFill/>
        </p:spPr>
        <p:txBody>
          <a:bodyPr wrap="square" lIns="0" rIns="0" tIns="0" bIns="0">
            <a:spAutoFit/>
          </a:bodyPr>
          <a:lstStyle/>
          <a:p>
            <a:r>
              <a:rPr sz="1400">
                <a:solidFill>
                  <a:srgbClr val="1B2A3A"/>
                </a:solidFill>
                <a:latin typeface="Helvetica Neue Light"/>
              </a:rPr>
              <a:t>I set the screen structure first, so the five screens shared one logic before the styling.</a:t>
            </a:r>
          </a:p>
        </p:txBody>
      </p:sp>
      <p:sp>
        <p:nvSpPr>
          <p:cNvPr id="22" name="TextBox 21"/>
          <p:cNvSpPr txBox="1"/>
          <p:nvPr/>
        </p:nvSpPr>
        <p:spPr>
          <a:xfrm>
            <a:off x="548640" y="8778240"/>
            <a:ext cx="10972800" cy="274320"/>
          </a:xfrm>
          <a:prstGeom prst="rect">
            <a:avLst/>
          </a:prstGeom>
          <a:noFill/>
        </p:spPr>
        <p:txBody>
          <a:bodyPr wrap="square" lIns="0" rIns="0" tIns="0" bIns="0">
            <a:spAutoFit/>
          </a:bodyPr>
          <a:lstStyle/>
          <a:p>
            <a:r>
              <a:rPr sz="1200">
                <a:solidFill>
                  <a:srgbClr val="595959"/>
                </a:solidFill>
                <a:latin typeface="Helvetica Neue Light"/>
              </a:rPr>
              <a:t>Portfolio prototype. Mock data. Hypotheses until validated. Proposed-step language only.</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2768" cy="466344"/>
          </a:xfrm>
          <a:prstGeom prst="rect">
            <a:avLst/>
          </a:prstGeom>
        </p:spPr>
      </p:pic>
      <p:sp>
        <p:nvSpPr>
          <p:cNvPr id="3" name="TextBox 2"/>
          <p:cNvSpPr txBox="1"/>
          <p:nvPr/>
        </p:nvSpPr>
        <p:spPr>
          <a:xfrm>
            <a:off x="548640" y="393192"/>
            <a:ext cx="10515600" cy="274320"/>
          </a:xfrm>
          <a:prstGeom prst="rect">
            <a:avLst/>
          </a:prstGeom>
          <a:noFill/>
        </p:spPr>
        <p:txBody>
          <a:bodyPr wrap="square" lIns="0" rIns="0" tIns="0" bIns="0">
            <a:spAutoFit/>
          </a:bodyPr>
          <a:lstStyle/>
          <a:p>
            <a:r>
              <a:rPr sz="1400">
                <a:solidFill>
                  <a:srgbClr val="1B2A3A"/>
                </a:solidFill>
                <a:latin typeface="Helvetica Neue Medium"/>
              </a:rPr>
              <a:t>MERIDIAN NAVIGATOR · WIREFRAMES</a:t>
            </a:r>
          </a:p>
        </p:txBody>
      </p:sp>
      <p:sp>
        <p:nvSpPr>
          <p:cNvPr id="4" name="TextBox 3"/>
          <p:cNvSpPr txBox="1"/>
          <p:nvPr/>
        </p:nvSpPr>
        <p:spPr>
          <a:xfrm>
            <a:off x="548640" y="932688"/>
            <a:ext cx="11887200" cy="548640"/>
          </a:xfrm>
          <a:prstGeom prst="rect">
            <a:avLst/>
          </a:prstGeom>
          <a:noFill/>
        </p:spPr>
        <p:txBody>
          <a:bodyPr wrap="square" lIns="0" rIns="0" tIns="0" bIns="0">
            <a:spAutoFit/>
          </a:bodyPr>
          <a:lstStyle/>
          <a:p>
            <a:r>
              <a:rPr sz="3000">
                <a:solidFill>
                  <a:srgbClr val="1B2A3A"/>
                </a:solidFill>
                <a:latin typeface="Helvetica Neue Light"/>
              </a:rPr>
              <a:t>Hi-fi screens: the same five, in the design system</a:t>
            </a:r>
          </a:p>
        </p:txBody>
      </p:sp>
      <p:sp>
        <p:nvSpPr>
          <p:cNvPr id="5" name="TextBox 4"/>
          <p:cNvSpPr txBox="1"/>
          <p:nvPr/>
        </p:nvSpPr>
        <p:spPr>
          <a:xfrm>
            <a:off x="548640" y="1563624"/>
            <a:ext cx="11887200" cy="320040"/>
          </a:xfrm>
          <a:prstGeom prst="rect">
            <a:avLst/>
          </a:prstGeom>
          <a:noFill/>
        </p:spPr>
        <p:txBody>
          <a:bodyPr wrap="square" lIns="0" rIns="0" tIns="0" bIns="0">
            <a:spAutoFit/>
          </a:bodyPr>
          <a:lstStyle/>
          <a:p>
            <a:r>
              <a:rPr sz="1600">
                <a:solidFill>
                  <a:srgbClr val="595959"/>
                </a:solidFill>
                <a:latin typeface="Helvetica Neue Light"/>
              </a:rPr>
              <a:t>The same screens with design-system tokens: dark surfaces, the action colour, icon-and-word status.</a:t>
            </a:r>
          </a:p>
        </p:txBody>
      </p:sp>
      <p:pic>
        <p:nvPicPr>
          <p:cNvPr id="6" name="Picture 5" descr="hi_dashboard.png"/>
          <p:cNvPicPr>
            <a:picLocks noChangeAspect="1"/>
          </p:cNvPicPr>
          <p:nvPr/>
        </p:nvPicPr>
        <p:blipFill>
          <a:blip r:embed="rId3"/>
          <a:stretch>
            <a:fillRect/>
          </a:stretch>
        </p:blipFill>
        <p:spPr>
          <a:xfrm>
            <a:off x="548640" y="2194560"/>
            <a:ext cx="1801131" cy="4023360"/>
          </a:xfrm>
          <a:prstGeom prst="rect">
            <a:avLst/>
          </a:prstGeom>
        </p:spPr>
      </p:pic>
      <p:sp>
        <p:nvSpPr>
          <p:cNvPr id="7" name="TextBox 6"/>
          <p:cNvSpPr txBox="1"/>
          <p:nvPr/>
        </p:nvSpPr>
        <p:spPr>
          <a:xfrm>
            <a:off x="548640" y="6355080"/>
            <a:ext cx="1801131" cy="274320"/>
          </a:xfrm>
          <a:prstGeom prst="rect">
            <a:avLst/>
          </a:prstGeom>
          <a:noFill/>
        </p:spPr>
        <p:txBody>
          <a:bodyPr wrap="square" lIns="0" rIns="0" tIns="0" bIns="0">
            <a:spAutoFit/>
          </a:bodyPr>
          <a:lstStyle/>
          <a:p>
            <a:r>
              <a:rPr sz="1280">
                <a:solidFill>
                  <a:srgbClr val="B5532F"/>
                </a:solidFill>
                <a:latin typeface="Helvetica Neue Medium"/>
              </a:rPr>
              <a:t>DASHBOARD</a:t>
            </a:r>
          </a:p>
        </p:txBody>
      </p:sp>
      <p:pic>
        <p:nvPicPr>
          <p:cNvPr id="8" name="Picture 7" descr="hi_insight.png"/>
          <p:cNvPicPr>
            <a:picLocks noChangeAspect="1"/>
          </p:cNvPicPr>
          <p:nvPr/>
        </p:nvPicPr>
        <p:blipFill>
          <a:blip r:embed="rId4"/>
          <a:stretch>
            <a:fillRect/>
          </a:stretch>
        </p:blipFill>
        <p:spPr>
          <a:xfrm>
            <a:off x="2624091" y="2194560"/>
            <a:ext cx="1801131" cy="4023360"/>
          </a:xfrm>
          <a:prstGeom prst="rect">
            <a:avLst/>
          </a:prstGeom>
        </p:spPr>
      </p:pic>
      <p:sp>
        <p:nvSpPr>
          <p:cNvPr id="9" name="TextBox 8"/>
          <p:cNvSpPr txBox="1"/>
          <p:nvPr/>
        </p:nvSpPr>
        <p:spPr>
          <a:xfrm>
            <a:off x="2624091" y="6355080"/>
            <a:ext cx="1801131" cy="274320"/>
          </a:xfrm>
          <a:prstGeom prst="rect">
            <a:avLst/>
          </a:prstGeom>
          <a:noFill/>
        </p:spPr>
        <p:txBody>
          <a:bodyPr wrap="square" lIns="0" rIns="0" tIns="0" bIns="0">
            <a:spAutoFit/>
          </a:bodyPr>
          <a:lstStyle/>
          <a:p>
            <a:r>
              <a:rPr sz="1280">
                <a:solidFill>
                  <a:srgbClr val="B5532F"/>
                </a:solidFill>
                <a:latin typeface="Helvetica Neue Medium"/>
              </a:rPr>
              <a:t>INSIGHT</a:t>
            </a:r>
          </a:p>
        </p:txBody>
      </p:sp>
      <p:pic>
        <p:nvPicPr>
          <p:cNvPr id="10" name="Picture 9" descr="hi_prospect.png"/>
          <p:cNvPicPr>
            <a:picLocks noChangeAspect="1"/>
          </p:cNvPicPr>
          <p:nvPr/>
        </p:nvPicPr>
        <p:blipFill>
          <a:blip r:embed="rId5"/>
          <a:stretch>
            <a:fillRect/>
          </a:stretch>
        </p:blipFill>
        <p:spPr>
          <a:xfrm>
            <a:off x="4699542" y="2194560"/>
            <a:ext cx="1801131" cy="4023360"/>
          </a:xfrm>
          <a:prstGeom prst="rect">
            <a:avLst/>
          </a:prstGeom>
        </p:spPr>
      </p:pic>
      <p:sp>
        <p:nvSpPr>
          <p:cNvPr id="11" name="TextBox 10"/>
          <p:cNvSpPr txBox="1"/>
          <p:nvPr/>
        </p:nvSpPr>
        <p:spPr>
          <a:xfrm>
            <a:off x="4699542" y="6355080"/>
            <a:ext cx="1801131" cy="274320"/>
          </a:xfrm>
          <a:prstGeom prst="rect">
            <a:avLst/>
          </a:prstGeom>
          <a:noFill/>
        </p:spPr>
        <p:txBody>
          <a:bodyPr wrap="square" lIns="0" rIns="0" tIns="0" bIns="0">
            <a:spAutoFit/>
          </a:bodyPr>
          <a:lstStyle/>
          <a:p>
            <a:r>
              <a:rPr sz="1280">
                <a:solidFill>
                  <a:srgbClr val="B5532F"/>
                </a:solidFill>
                <a:latin typeface="Helvetica Neue Medium"/>
              </a:rPr>
              <a:t>PROSPECT</a:t>
            </a:r>
          </a:p>
        </p:txBody>
      </p:sp>
      <p:pic>
        <p:nvPicPr>
          <p:cNvPr id="12" name="Picture 11" descr="hi_guard.png"/>
          <p:cNvPicPr>
            <a:picLocks noChangeAspect="1"/>
          </p:cNvPicPr>
          <p:nvPr/>
        </p:nvPicPr>
        <p:blipFill>
          <a:blip r:embed="rId6"/>
          <a:stretch>
            <a:fillRect/>
          </a:stretch>
        </p:blipFill>
        <p:spPr>
          <a:xfrm>
            <a:off x="6774993" y="2194560"/>
            <a:ext cx="1801131" cy="4023360"/>
          </a:xfrm>
          <a:prstGeom prst="rect">
            <a:avLst/>
          </a:prstGeom>
        </p:spPr>
      </p:pic>
      <p:sp>
        <p:nvSpPr>
          <p:cNvPr id="13" name="TextBox 12"/>
          <p:cNvSpPr txBox="1"/>
          <p:nvPr/>
        </p:nvSpPr>
        <p:spPr>
          <a:xfrm>
            <a:off x="6774993" y="6355080"/>
            <a:ext cx="1801131" cy="274320"/>
          </a:xfrm>
          <a:prstGeom prst="rect">
            <a:avLst/>
          </a:prstGeom>
          <a:noFill/>
        </p:spPr>
        <p:txBody>
          <a:bodyPr wrap="square" lIns="0" rIns="0" tIns="0" bIns="0">
            <a:spAutoFit/>
          </a:bodyPr>
          <a:lstStyle/>
          <a:p>
            <a:r>
              <a:rPr sz="1280">
                <a:solidFill>
                  <a:srgbClr val="B5532F"/>
                </a:solidFill>
                <a:latin typeface="Helvetica Neue Medium"/>
              </a:rPr>
              <a:t>GUARD</a:t>
            </a:r>
          </a:p>
        </p:txBody>
      </p:sp>
      <p:pic>
        <p:nvPicPr>
          <p:cNvPr id="14" name="Picture 13" descr="hi_adapt.png"/>
          <p:cNvPicPr>
            <a:picLocks noChangeAspect="1"/>
          </p:cNvPicPr>
          <p:nvPr/>
        </p:nvPicPr>
        <p:blipFill>
          <a:blip r:embed="rId7"/>
          <a:stretch>
            <a:fillRect/>
          </a:stretch>
        </p:blipFill>
        <p:spPr>
          <a:xfrm>
            <a:off x="8850444" y="2194560"/>
            <a:ext cx="1801131" cy="4023360"/>
          </a:xfrm>
          <a:prstGeom prst="rect">
            <a:avLst/>
          </a:prstGeom>
        </p:spPr>
      </p:pic>
      <p:sp>
        <p:nvSpPr>
          <p:cNvPr id="15" name="TextBox 14"/>
          <p:cNvSpPr txBox="1"/>
          <p:nvPr/>
        </p:nvSpPr>
        <p:spPr>
          <a:xfrm>
            <a:off x="8850444" y="6355080"/>
            <a:ext cx="1801131" cy="274320"/>
          </a:xfrm>
          <a:prstGeom prst="rect">
            <a:avLst/>
          </a:prstGeom>
          <a:noFill/>
        </p:spPr>
        <p:txBody>
          <a:bodyPr wrap="square" lIns="0" rIns="0" tIns="0" bIns="0">
            <a:spAutoFit/>
          </a:bodyPr>
          <a:lstStyle/>
          <a:p>
            <a:r>
              <a:rPr sz="1280">
                <a:solidFill>
                  <a:srgbClr val="B5532F"/>
                </a:solidFill>
                <a:latin typeface="Helvetica Neue Medium"/>
              </a:rPr>
              <a:t>ADAPT</a:t>
            </a:r>
          </a:p>
        </p:txBody>
      </p:sp>
      <p:sp>
        <p:nvSpPr>
          <p:cNvPr id="16" name="TextBox 15"/>
          <p:cNvSpPr txBox="1"/>
          <p:nvPr/>
        </p:nvSpPr>
        <p:spPr>
          <a:xfrm>
            <a:off x="548640" y="7223760"/>
            <a:ext cx="3657600" cy="274320"/>
          </a:xfrm>
          <a:prstGeom prst="rect">
            <a:avLst/>
          </a:prstGeom>
          <a:noFill/>
        </p:spPr>
        <p:txBody>
          <a:bodyPr wrap="square" lIns="0" rIns="0" tIns="0" bIns="0">
            <a:spAutoFit/>
          </a:bodyPr>
          <a:lstStyle/>
          <a:p>
            <a:r>
              <a:rPr sz="1280">
                <a:solidFill>
                  <a:srgbClr val="B5532F"/>
                </a:solidFill>
                <a:latin typeface="Helvetica Neue Medium"/>
              </a:rPr>
              <a:t>THE PROBLEM IT ANSWERS</a:t>
            </a:r>
          </a:p>
        </p:txBody>
      </p:sp>
      <p:sp>
        <p:nvSpPr>
          <p:cNvPr id="17" name="TextBox 16"/>
          <p:cNvSpPr txBox="1"/>
          <p:nvPr/>
        </p:nvSpPr>
        <p:spPr>
          <a:xfrm>
            <a:off x="548640" y="7534656"/>
            <a:ext cx="3657600" cy="1280160"/>
          </a:xfrm>
          <a:prstGeom prst="rect">
            <a:avLst/>
          </a:prstGeom>
          <a:noFill/>
        </p:spPr>
        <p:txBody>
          <a:bodyPr wrap="square" lIns="0" rIns="0" tIns="0" bIns="0">
            <a:spAutoFit/>
          </a:bodyPr>
          <a:lstStyle/>
          <a:p>
            <a:r>
              <a:rPr sz="1400">
                <a:solidFill>
                  <a:srgbClr val="1B2A3A"/>
                </a:solidFill>
                <a:latin typeface="Helvetica Neue Light"/>
              </a:rPr>
              <a:t>Structure that works in light sketches still has to read at speed: contrast, density, and status.</a:t>
            </a:r>
          </a:p>
        </p:txBody>
      </p:sp>
      <p:sp>
        <p:nvSpPr>
          <p:cNvPr id="18" name="TextBox 17"/>
          <p:cNvSpPr txBox="1"/>
          <p:nvPr/>
        </p:nvSpPr>
        <p:spPr>
          <a:xfrm>
            <a:off x="4480560" y="7223760"/>
            <a:ext cx="3657600" cy="274320"/>
          </a:xfrm>
          <a:prstGeom prst="rect">
            <a:avLst/>
          </a:prstGeom>
          <a:noFill/>
        </p:spPr>
        <p:txBody>
          <a:bodyPr wrap="square" lIns="0" rIns="0" tIns="0" bIns="0">
            <a:spAutoFit/>
          </a:bodyPr>
          <a:lstStyle/>
          <a:p>
            <a:r>
              <a:rPr sz="1280">
                <a:solidFill>
                  <a:srgbClr val="4F6D5A"/>
                </a:solidFill>
                <a:latin typeface="Helvetica Neue Medium"/>
              </a:rPr>
              <a:t>THE SOLUTION AND THE INNOVATION</a:t>
            </a:r>
          </a:p>
        </p:txBody>
      </p:sp>
      <p:sp>
        <p:nvSpPr>
          <p:cNvPr id="19" name="TextBox 18"/>
          <p:cNvSpPr txBox="1"/>
          <p:nvPr/>
        </p:nvSpPr>
        <p:spPr>
          <a:xfrm>
            <a:off x="4480560" y="7534656"/>
            <a:ext cx="3657600" cy="1280160"/>
          </a:xfrm>
          <a:prstGeom prst="rect">
            <a:avLst/>
          </a:prstGeom>
          <a:noFill/>
        </p:spPr>
        <p:txBody>
          <a:bodyPr wrap="square" lIns="0" rIns="0" tIns="0" bIns="0">
            <a:spAutoFit/>
          </a:bodyPr>
          <a:lstStyle/>
          <a:p>
            <a:r>
              <a:rPr sz="1400">
                <a:solidFill>
                  <a:srgbClr val="1B2A3A"/>
                </a:solidFill>
                <a:latin typeface="Helvetica Neue Light"/>
              </a:rPr>
              <a:t>The same five screens in the design system, with proposed-step wording and a source on every insight.</a:t>
            </a:r>
          </a:p>
        </p:txBody>
      </p:sp>
      <p:sp>
        <p:nvSpPr>
          <p:cNvPr id="20" name="TextBox 19"/>
          <p:cNvSpPr txBox="1"/>
          <p:nvPr/>
        </p:nvSpPr>
        <p:spPr>
          <a:xfrm>
            <a:off x="8412480" y="7223760"/>
            <a:ext cx="3657600" cy="274320"/>
          </a:xfrm>
          <a:prstGeom prst="rect">
            <a:avLst/>
          </a:prstGeom>
          <a:noFill/>
        </p:spPr>
        <p:txBody>
          <a:bodyPr wrap="square" lIns="0" rIns="0" tIns="0" bIns="0">
            <a:spAutoFit/>
          </a:bodyPr>
          <a:lstStyle/>
          <a:p>
            <a:r>
              <a:rPr sz="1280">
                <a:solidFill>
                  <a:srgbClr val="2F4257"/>
                </a:solidFill>
                <a:latin typeface="Helvetica Neue Medium"/>
              </a:rPr>
              <a:t>WHAT IT SHOWS ABOUT MY LEADERSHIP</a:t>
            </a:r>
          </a:p>
        </p:txBody>
      </p:sp>
      <p:sp>
        <p:nvSpPr>
          <p:cNvPr id="21" name="TextBox 20"/>
          <p:cNvSpPr txBox="1"/>
          <p:nvPr/>
        </p:nvSpPr>
        <p:spPr>
          <a:xfrm>
            <a:off x="8412480" y="7534656"/>
            <a:ext cx="3657600" cy="1280160"/>
          </a:xfrm>
          <a:prstGeom prst="rect">
            <a:avLst/>
          </a:prstGeom>
          <a:noFill/>
        </p:spPr>
        <p:txBody>
          <a:bodyPr wrap="square" lIns="0" rIns="0" tIns="0" bIns="0">
            <a:spAutoFit/>
          </a:bodyPr>
          <a:lstStyle/>
          <a:p>
            <a:r>
              <a:rPr sz="1400">
                <a:solidFill>
                  <a:srgbClr val="1B2A3A"/>
                </a:solidFill>
                <a:latin typeface="Helvetica Neue Light"/>
              </a:rPr>
              <a:t>Each hi-fi screen is checked against the design rules, so the advice line and the sources hold on screen.</a:t>
            </a:r>
          </a:p>
        </p:txBody>
      </p:sp>
      <p:sp>
        <p:nvSpPr>
          <p:cNvPr id="22" name="TextBox 21"/>
          <p:cNvSpPr txBox="1"/>
          <p:nvPr/>
        </p:nvSpPr>
        <p:spPr>
          <a:xfrm>
            <a:off x="548640" y="8778240"/>
            <a:ext cx="10972800" cy="274320"/>
          </a:xfrm>
          <a:prstGeom prst="rect">
            <a:avLst/>
          </a:prstGeom>
          <a:noFill/>
        </p:spPr>
        <p:txBody>
          <a:bodyPr wrap="square" lIns="0" rIns="0" tIns="0" bIns="0">
            <a:spAutoFit/>
          </a:bodyPr>
          <a:lstStyle/>
          <a:p>
            <a:r>
              <a:rPr sz="1200">
                <a:solidFill>
                  <a:srgbClr val="595959"/>
                </a:solidFill>
                <a:latin typeface="Helvetica Neue Light"/>
              </a:rPr>
              <a:t>Portfolio prototype. Mock data. Hypotheses until validated. Proposed-step language only.</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548640" y="411480"/>
            <a:ext cx="11905488" cy="320040"/>
          </a:xfrm>
          <a:prstGeom prst="rect">
            <a:avLst/>
          </a:prstGeom>
          <a:noFill/>
          <a:ln/>
        </p:spPr>
        <p:txBody>
          <a:bodyPr wrap="square" lIns="0" tIns="0" rIns="0" bIns="0" rtlCol="0" anchor="ctr"/>
          <a:lstStyle/>
          <a:p>
            <a:pPr indent="0" marL="0">
              <a:buNone/>
            </a:pPr>
            <a:r>
              <a:rPr lang="en-US" sz="1400" dirty="0">
                <a:solidFill>
                  <a:srgbClr val="1B2A3A"/>
                </a:solidFill>
                <a:latin typeface="Helvetica Neue Light" pitchFamily="34" charset="0"/>
                <a:ea typeface="Helvetica Neue Light" pitchFamily="34" charset="-122"/>
                <a:cs typeface="Helvetica Neue Light" pitchFamily="34" charset="-120"/>
              </a:rPr>
              <a:t>MERIDIAN NAVIGATOR · AGENT EXPERIENCE</a:t>
            </a:r>
            <a:endParaRPr lang="en-US" sz="1400" dirty="0"/>
          </a:p>
        </p:txBody>
      </p:sp>
      <p:sp>
        <p:nvSpPr>
          <p:cNvPr id="3" name="Text 1"/>
          <p:cNvSpPr/>
          <p:nvPr/>
        </p:nvSpPr>
        <p:spPr>
          <a:xfrm>
            <a:off x="548640" y="914400"/>
            <a:ext cx="11905488" cy="731520"/>
          </a:xfrm>
          <a:prstGeom prst="rect">
            <a:avLst/>
          </a:prstGeom>
          <a:noFill/>
          <a:ln/>
        </p:spPr>
        <p:txBody>
          <a:bodyPr wrap="square" lIns="0" tIns="0" rIns="0" bIns="0" rtlCol="0" anchor="t"/>
          <a:lstStyle/>
          <a:p>
            <a:pPr indent="0" marL="0">
              <a:buNone/>
            </a:pPr>
            <a:r>
              <a:rPr lang="en-US" sz="3000" dirty="0">
                <a:solidFill>
                  <a:srgbClr val="1B2A3A"/>
                </a:solidFill>
                <a:latin typeface="Helvetica Neue Light" pitchFamily="34" charset="0"/>
                <a:ea typeface="Helvetica Neue Light" pitchFamily="34" charset="-122"/>
                <a:cs typeface="Helvetica Neue Light" pitchFamily="34" charset="-120"/>
              </a:rPr>
              <a:t>Agentic support, inside the trade flow</a:t>
            </a:r>
            <a:endParaRPr lang="en-US" sz="3000" dirty="0"/>
          </a:p>
        </p:txBody>
      </p:sp>
      <p:sp>
        <p:nvSpPr>
          <p:cNvPr id="4" name="Text 2"/>
          <p:cNvSpPr/>
          <p:nvPr/>
        </p:nvSpPr>
        <p:spPr>
          <a:xfrm>
            <a:off x="548640" y="1645920"/>
            <a:ext cx="11905488" cy="365760"/>
          </a:xfrm>
          <a:prstGeom prst="rect">
            <a:avLst/>
          </a:prstGeom>
          <a:noFill/>
          <a:ln/>
        </p:spPr>
        <p:txBody>
          <a:bodyPr wrap="square" lIns="0" tIns="0" rIns="0" bIns="0" rtlCol="0" anchor="ctr"/>
          <a:lstStyle/>
          <a:p>
            <a:pPr indent="0" marL="0">
              <a:buNone/>
            </a:pPr>
            <a:r>
              <a:rPr lang="en-US" sz="1600" dirty="0">
                <a:solidFill>
                  <a:srgbClr val="595959"/>
                </a:solidFill>
                <a:latin typeface="Helvetica Neue Light" pitchFamily="34" charset="0"/>
                <a:ea typeface="Helvetica Neue Light" pitchFamily="34" charset="-122"/>
                <a:cs typeface="Helvetica Neue Light" pitchFamily="34" charset="-120"/>
              </a:rPr>
              <a:t>Representative hi-fi screens. The agent proposes; the user approves each step.</a:t>
            </a:r>
            <a:endParaRPr lang="en-US" sz="1600" dirty="0"/>
          </a:p>
        </p:txBody>
      </p:sp>
      <p:pic>
        <p:nvPicPr>
          <p:cNvPr id="5" name="Picture 4" descr="image.png"/>
          <p:cNvPicPr>
            <a:picLocks noChangeAspect="1"/>
          </p:cNvPicPr>
          <p:nvPr/>
        </p:nvPicPr>
        <p:blipFill>
          <a:blip r:embed="rId2"/>
          <a:stretch>
            <a:fillRect/>
          </a:stretch>
        </p:blipFill>
        <p:spPr>
          <a:xfrm>
            <a:off x="0" y="9299448"/>
            <a:ext cx="13002768" cy="457200"/>
          </a:xfrm>
          <a:prstGeom prst="rect">
            <a:avLst/>
          </a:prstGeom>
        </p:spPr>
      </p:pic>
      <p:sp>
        <p:nvSpPr>
          <p:cNvPr id="6" name="Text 3"/>
          <p:cNvSpPr/>
          <p:nvPr/>
        </p:nvSpPr>
        <p:spPr>
          <a:xfrm>
            <a:off x="548640" y="8778240"/>
            <a:ext cx="11905488" cy="320040"/>
          </a:xfrm>
          <a:prstGeom prst="rect">
            <a:avLst/>
          </a:prstGeom>
          <a:noFill/>
          <a:ln/>
        </p:spPr>
        <p:txBody>
          <a:bodyPr wrap="square" lIns="0" tIns="0" rIns="0" bIns="0" rtlCol="0" anchor="ctr"/>
          <a:lstStyle/>
          <a:p>
            <a:pPr indent="0" marL="0">
              <a:buNone/>
            </a:pPr>
            <a:r>
              <a:rPr lang="en-US" sz="1200" dirty="0">
                <a:solidFill>
                  <a:srgbClr val="595959"/>
                </a:solidFill>
                <a:latin typeface="Helvetica Neue Light" pitchFamily="34" charset="0"/>
                <a:ea typeface="Helvetica Neue Light" pitchFamily="34" charset="-122"/>
                <a:cs typeface="Helvetica Neue Light" pitchFamily="34" charset="-120"/>
              </a:rPr>
              <a:t>Portfolio prototype. Mock data. Hypotheses until validated. Proposed-step language only.</a:t>
            </a:r>
            <a:endParaRPr lang="en-US" sz="1200" dirty="0"/>
          </a:p>
        </p:txBody>
      </p:sp>
      <p:pic>
        <p:nvPicPr>
          <p:cNvPr id="7" name="Picture 6" descr="image.png"/>
          <p:cNvPicPr>
            <a:picLocks noChangeAspect="1"/>
          </p:cNvPicPr>
          <p:nvPr/>
        </p:nvPicPr>
        <p:blipFill>
          <a:blip r:embed="rId3"/>
          <a:stretch>
            <a:fillRect/>
          </a:stretch>
        </p:blipFill>
        <p:spPr>
          <a:xfrm>
            <a:off x="548640" y="2286000"/>
            <a:ext cx="7132320" cy="4572000"/>
          </a:xfrm>
          <a:prstGeom prst="rect">
            <a:avLst/>
          </a:prstGeom>
        </p:spPr>
      </p:pic>
      <p:sp>
        <p:nvSpPr>
          <p:cNvPr id="8" name="Text 4"/>
          <p:cNvSpPr/>
          <p:nvPr/>
        </p:nvSpPr>
        <p:spPr>
          <a:xfrm>
            <a:off x="8046720" y="2286000"/>
            <a:ext cx="4389120" cy="274320"/>
          </a:xfrm>
          <a:prstGeom prst="rect">
            <a:avLst/>
          </a:prstGeom>
          <a:noFill/>
          <a:ln/>
        </p:spPr>
        <p:txBody>
          <a:bodyPr wrap="square" lIns="0" tIns="0" rIns="0" bIns="0" rtlCol="0" anchor="ctr"/>
          <a:lstStyle/>
          <a:p>
            <a:pPr indent="0" marL="0">
              <a:buNone/>
            </a:pPr>
            <a:r>
              <a:rPr lang="en-US" sz="1280" dirty="0">
                <a:solidFill>
                  <a:srgbClr val="B5532F"/>
                </a:solidFill>
                <a:latin typeface="Helvetica Neue Medium" pitchFamily="34" charset="0"/>
                <a:ea typeface="Helvetica Neue Medium" pitchFamily="34" charset="-122"/>
                <a:cs typeface="Helvetica Neue Medium" pitchFamily="34" charset="-120"/>
              </a:rPr>
              <a:t>THE PROBLEM IT ANSWERS</a:t>
            </a:r>
            <a:endParaRPr lang="en-US" sz="1280" dirty="0"/>
          </a:p>
        </p:txBody>
      </p:sp>
      <p:sp>
        <p:nvSpPr>
          <p:cNvPr id="9" name="Text 5"/>
          <p:cNvSpPr/>
          <p:nvPr/>
        </p:nvSpPr>
        <p:spPr>
          <a:xfrm>
            <a:off x="8046720" y="2615184"/>
            <a:ext cx="4389120" cy="2926080"/>
          </a:xfrm>
          <a:prstGeom prst="rect">
            <a:avLst/>
          </a:prstGeom>
          <a:noFill/>
          <a:ln/>
        </p:spPr>
        <p:txBody>
          <a:bodyPr wrap="square" lIns="0" tIns="0" rIns="0" bIns="0" rtlCol="0" anchor="t"/>
          <a:lstStyle/>
          <a:p>
            <a:pPr indent="0" marL="0">
              <a:spcAft>
                <a:spcPts val="600"/>
              </a:spcAft>
              <a:buNone/>
            </a:pPr>
            <a:r>
              <a:rPr lang="en-US" sz="1500" dirty="0">
                <a:solidFill>
                  <a:srgbClr val="1B2A3A"/>
                </a:solidFill>
                <a:latin typeface="Helvetica Neue Light" pitchFamily="34" charset="0"/>
                <a:ea typeface="Helvetica Neue Light" pitchFamily="34" charset="-122"/>
                <a:cs typeface="Helvetica Neue Light" pitchFamily="34" charset="-120"/>
              </a:rPr>
              <a:t>An agent that acts inside a trade flow needs visible limits and approval on every step, or it cannot be trusted.</a:t>
            </a:r>
            <a:endParaRPr lang="en-US" sz="1500" dirty="0"/>
          </a:p>
        </p:txBody>
      </p:sp>
      <p:sp>
        <p:nvSpPr>
          <p:cNvPr id="10" name="Text 6"/>
          <p:cNvSpPr/>
          <p:nvPr/>
        </p:nvSpPr>
        <p:spPr>
          <a:xfrm>
            <a:off x="8046720" y="4572000"/>
            <a:ext cx="4389120" cy="274320"/>
          </a:xfrm>
          <a:prstGeom prst="rect">
            <a:avLst/>
          </a:prstGeom>
          <a:noFill/>
          <a:ln/>
        </p:spPr>
        <p:txBody>
          <a:bodyPr wrap="square" lIns="0" tIns="0" rIns="0" bIns="0" rtlCol="0" anchor="ctr"/>
          <a:lstStyle/>
          <a:p>
            <a:pPr indent="0" marL="0">
              <a:buNone/>
            </a:pPr>
            <a:r>
              <a:rPr lang="en-US" sz="1280" dirty="0">
                <a:solidFill>
                  <a:srgbClr val="4F6D5A"/>
                </a:solidFill>
                <a:latin typeface="Helvetica Neue Medium" pitchFamily="34" charset="0"/>
                <a:ea typeface="Helvetica Neue Medium" pitchFamily="34" charset="-122"/>
                <a:cs typeface="Helvetica Neue Medium" pitchFamily="34" charset="-120"/>
              </a:rPr>
              <a:t>THE SOLUTION AND THE INNOVATION</a:t>
            </a:r>
            <a:endParaRPr lang="en-US" sz="1280" dirty="0"/>
          </a:p>
        </p:txBody>
      </p:sp>
      <p:sp>
        <p:nvSpPr>
          <p:cNvPr id="11" name="Text 7"/>
          <p:cNvSpPr/>
          <p:nvPr/>
        </p:nvSpPr>
        <p:spPr>
          <a:xfrm>
            <a:off x="8046720" y="4901184"/>
            <a:ext cx="4389120" cy="2926080"/>
          </a:xfrm>
          <a:prstGeom prst="rect">
            <a:avLst/>
          </a:prstGeom>
          <a:noFill/>
          <a:ln/>
        </p:spPr>
        <p:txBody>
          <a:bodyPr wrap="square" lIns="0" tIns="0" rIns="0" bIns="0" rtlCol="0" anchor="t"/>
          <a:lstStyle/>
          <a:p>
            <a:pPr indent="0" marL="0">
              <a:spcAft>
                <a:spcPts val="600"/>
              </a:spcAft>
              <a:buNone/>
            </a:pPr>
            <a:r>
              <a:rPr lang="en-US" sz="1500" dirty="0">
                <a:solidFill>
                  <a:srgbClr val="1B2A3A"/>
                </a:solidFill>
                <a:latin typeface="Helvetica Neue Light" pitchFamily="34" charset="0"/>
                <a:ea typeface="Helvetica Neue Light" pitchFamily="34" charset="-122"/>
                <a:cs typeface="Helvetica Neue Light" pitchFamily="34" charset="-120"/>
              </a:rPr>
              <a:t>Proposed steps sit beside the order, each with its source. Approval, undo, and limits are on the screen, not in a later release.</a:t>
            </a:r>
            <a:endParaRPr lang="en-US" sz="1500" dirty="0"/>
          </a:p>
        </p:txBody>
      </p:sp>
      <p:sp>
        <p:nvSpPr>
          <p:cNvPr id="12" name="Text 8"/>
          <p:cNvSpPr/>
          <p:nvPr/>
        </p:nvSpPr>
        <p:spPr>
          <a:xfrm>
            <a:off x="8046720" y="6858000"/>
            <a:ext cx="4389120" cy="274320"/>
          </a:xfrm>
          <a:prstGeom prst="rect">
            <a:avLst/>
          </a:prstGeom>
          <a:noFill/>
          <a:ln/>
        </p:spPr>
        <p:txBody>
          <a:bodyPr wrap="square" lIns="0" tIns="0" rIns="0" bIns="0" rtlCol="0" anchor="ctr"/>
          <a:lstStyle/>
          <a:p>
            <a:pPr indent="0" marL="0">
              <a:buNone/>
            </a:pPr>
            <a:r>
              <a:rPr lang="en-US" sz="1280" dirty="0">
                <a:solidFill>
                  <a:srgbClr val="2F4257"/>
                </a:solidFill>
                <a:latin typeface="Helvetica Neue Medium" pitchFamily="34" charset="0"/>
                <a:ea typeface="Helvetica Neue Medium" pitchFamily="34" charset="-122"/>
                <a:cs typeface="Helvetica Neue Medium" pitchFamily="34" charset="-120"/>
              </a:rPr>
              <a:t>WHAT IT SHOWS ABOUT MY LEADERSHIP</a:t>
            </a:r>
            <a:endParaRPr lang="en-US" sz="1280" dirty="0"/>
          </a:p>
        </p:txBody>
      </p:sp>
      <p:sp>
        <p:nvSpPr>
          <p:cNvPr id="13" name="Text 9"/>
          <p:cNvSpPr/>
          <p:nvPr/>
        </p:nvSpPr>
        <p:spPr>
          <a:xfrm>
            <a:off x="8046720" y="7187184"/>
            <a:ext cx="4389120" cy="2926080"/>
          </a:xfrm>
          <a:prstGeom prst="rect">
            <a:avLst/>
          </a:prstGeom>
          <a:noFill/>
          <a:ln/>
        </p:spPr>
        <p:txBody>
          <a:bodyPr wrap="square" lIns="0" tIns="0" rIns="0" bIns="0" rtlCol="0" anchor="t"/>
          <a:lstStyle/>
          <a:p>
            <a:pPr indent="0" marL="0">
              <a:spcAft>
                <a:spcPts val="600"/>
              </a:spcAft>
              <a:buNone/>
            </a:pPr>
            <a:r>
              <a:rPr lang="en-US" sz="1500" dirty="0">
                <a:solidFill>
                  <a:srgbClr val="1B2A3A"/>
                </a:solidFill>
                <a:latin typeface="Helvetica Neue Light" pitchFamily="34" charset="0"/>
                <a:ea typeface="Helvetica Neue Light" pitchFamily="34" charset="-122"/>
                <a:cs typeface="Helvetica Neue Light" pitchFamily="34" charset="-120"/>
              </a:rPr>
              <a:t>I designed agentic support as part of the trade flow itself, so the same pattern can extend to every new AI surface.</a:t>
            </a:r>
            <a:endParaRPr lang="en-US" sz="150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548640" y="411480"/>
            <a:ext cx="11905488" cy="320040"/>
          </a:xfrm>
          <a:prstGeom prst="rect">
            <a:avLst/>
          </a:prstGeom>
          <a:noFill/>
          <a:ln/>
        </p:spPr>
        <p:txBody>
          <a:bodyPr wrap="square" lIns="0" tIns="0" rIns="0" bIns="0" rtlCol="0" anchor="ctr"/>
          <a:lstStyle/>
          <a:p>
            <a:pPr indent="0" marL="0">
              <a:buNone/>
            </a:pPr>
            <a:r>
              <a:rPr lang="en-US" sz="1400" dirty="0">
                <a:solidFill>
                  <a:srgbClr val="1B2A3A"/>
                </a:solidFill>
                <a:latin typeface="Helvetica Neue Light" pitchFamily="34" charset="0"/>
                <a:ea typeface="Helvetica Neue Light" pitchFamily="34" charset="-122"/>
                <a:cs typeface="Helvetica Neue Light" pitchFamily="34" charset="-120"/>
              </a:rPr>
              <a:t>MERIDIAN NAVIGATOR · AGENT EXPERIENCE</a:t>
            </a:r>
            <a:endParaRPr lang="en-US" sz="1400" dirty="0"/>
          </a:p>
        </p:txBody>
      </p:sp>
      <p:sp>
        <p:nvSpPr>
          <p:cNvPr id="3" name="Text 1"/>
          <p:cNvSpPr/>
          <p:nvPr/>
        </p:nvSpPr>
        <p:spPr>
          <a:xfrm>
            <a:off x="548640" y="914400"/>
            <a:ext cx="11905488" cy="731520"/>
          </a:xfrm>
          <a:prstGeom prst="rect">
            <a:avLst/>
          </a:prstGeom>
          <a:noFill/>
          <a:ln/>
        </p:spPr>
        <p:txBody>
          <a:bodyPr wrap="square" lIns="0" tIns="0" rIns="0" bIns="0" rtlCol="0" anchor="t"/>
          <a:lstStyle/>
          <a:p>
            <a:pPr indent="0" marL="0">
              <a:buNone/>
            </a:pPr>
            <a:r>
              <a:rPr lang="en-US" sz="3000" dirty="0">
                <a:solidFill>
                  <a:srgbClr val="1B2A3A"/>
                </a:solidFill>
                <a:latin typeface="Helvetica Neue Light" pitchFamily="34" charset="0"/>
                <a:ea typeface="Helvetica Neue Light" pitchFamily="34" charset="-122"/>
                <a:cs typeface="Helvetica Neue Light" pitchFamily="34" charset="-120"/>
              </a:rPr>
              <a:t>How agentic support scales across the product</a:t>
            </a:r>
            <a:endParaRPr lang="en-US" sz="3000" dirty="0"/>
          </a:p>
        </p:txBody>
      </p:sp>
      <p:sp>
        <p:nvSpPr>
          <p:cNvPr id="4" name="Text 2"/>
          <p:cNvSpPr/>
          <p:nvPr/>
        </p:nvSpPr>
        <p:spPr>
          <a:xfrm>
            <a:off x="548640" y="1645920"/>
            <a:ext cx="11905488" cy="365760"/>
          </a:xfrm>
          <a:prstGeom prst="rect">
            <a:avLst/>
          </a:prstGeom>
          <a:noFill/>
          <a:ln/>
        </p:spPr>
        <p:txBody>
          <a:bodyPr wrap="square" lIns="0" tIns="0" rIns="0" bIns="0" rtlCol="0" anchor="ctr"/>
          <a:lstStyle/>
          <a:p>
            <a:pPr indent="0" marL="0">
              <a:buNone/>
            </a:pPr>
            <a:r>
              <a:rPr lang="en-US" sz="1600" dirty="0">
                <a:solidFill>
                  <a:srgbClr val="595959"/>
                </a:solidFill>
                <a:latin typeface="Helvetica Neue Light" pitchFamily="34" charset="0"/>
                <a:ea typeface="Helvetica Neue Light" pitchFamily="34" charset="-122"/>
                <a:cs typeface="Helvetica Neue Light" pitchFamily="34" charset="-120"/>
              </a:rPr>
              <a:t>One token source, one component registry, and one set of AI rules, shared by every surface.</a:t>
            </a:r>
            <a:endParaRPr lang="en-US" sz="1600" dirty="0"/>
          </a:p>
        </p:txBody>
      </p:sp>
      <p:pic>
        <p:nvPicPr>
          <p:cNvPr id="5" name="Picture 4" descr="image.png"/>
          <p:cNvPicPr>
            <a:picLocks noChangeAspect="1"/>
          </p:cNvPicPr>
          <p:nvPr/>
        </p:nvPicPr>
        <p:blipFill>
          <a:blip r:embed="rId2"/>
          <a:stretch>
            <a:fillRect/>
          </a:stretch>
        </p:blipFill>
        <p:spPr>
          <a:xfrm>
            <a:off x="0" y="9299448"/>
            <a:ext cx="13002768" cy="457200"/>
          </a:xfrm>
          <a:prstGeom prst="rect">
            <a:avLst/>
          </a:prstGeom>
        </p:spPr>
      </p:pic>
      <p:sp>
        <p:nvSpPr>
          <p:cNvPr id="6" name="Text 3"/>
          <p:cNvSpPr/>
          <p:nvPr/>
        </p:nvSpPr>
        <p:spPr>
          <a:xfrm>
            <a:off x="548640" y="8778240"/>
            <a:ext cx="11905488" cy="320040"/>
          </a:xfrm>
          <a:prstGeom prst="rect">
            <a:avLst/>
          </a:prstGeom>
          <a:noFill/>
          <a:ln/>
        </p:spPr>
        <p:txBody>
          <a:bodyPr wrap="square" lIns="0" tIns="0" rIns="0" bIns="0" rtlCol="0" anchor="ctr"/>
          <a:lstStyle/>
          <a:p>
            <a:pPr indent="0" marL="0">
              <a:buNone/>
            </a:pPr>
            <a:r>
              <a:rPr lang="en-US" sz="1200" dirty="0">
                <a:solidFill>
                  <a:srgbClr val="595959"/>
                </a:solidFill>
                <a:latin typeface="Helvetica Neue Light" pitchFamily="34" charset="0"/>
                <a:ea typeface="Helvetica Neue Light" pitchFamily="34" charset="-122"/>
                <a:cs typeface="Helvetica Neue Light" pitchFamily="34" charset="-120"/>
              </a:rPr>
              <a:t>Portfolio prototype. Mock data. Hypotheses until validated. Proposed-step language only.</a:t>
            </a:r>
            <a:endParaRPr lang="en-US" sz="1200" dirty="0"/>
          </a:p>
        </p:txBody>
      </p:sp>
      <p:sp>
        <p:nvSpPr>
          <p:cNvPr id="7" name="Shape 4"/>
          <p:cNvSpPr/>
          <p:nvPr/>
        </p:nvSpPr>
        <p:spPr>
          <a:xfrm>
            <a:off x="548640" y="2560320"/>
            <a:ext cx="2651760" cy="2377440"/>
          </a:xfrm>
          <a:prstGeom prst="roundRect">
            <a:avLst>
              <a:gd name="adj" fmla="val 3077"/>
            </a:avLst>
          </a:prstGeom>
          <a:solidFill>
            <a:srgbClr val="FFFFFF"/>
          </a:solidFill>
          <a:ln w="12700">
            <a:solidFill>
              <a:srgbClr val="4F6D5A"/>
            </a:solidFill>
            <a:prstDash val="solid"/>
          </a:ln>
        </p:spPr>
        <p:txBody>
          <a:bodyPr/>
          <a:p/>
        </p:txBody>
      </p:sp>
      <p:sp>
        <p:nvSpPr>
          <p:cNvPr id="8" name="Text 5"/>
          <p:cNvSpPr/>
          <p:nvPr/>
        </p:nvSpPr>
        <p:spPr>
          <a:xfrm>
            <a:off x="731520" y="2743200"/>
            <a:ext cx="2286000" cy="457200"/>
          </a:xfrm>
          <a:prstGeom prst="rect">
            <a:avLst/>
          </a:prstGeom>
          <a:noFill/>
          <a:ln/>
        </p:spPr>
        <p:txBody>
          <a:bodyPr wrap="square" lIns="0" tIns="0" rIns="0" bIns="0" rtlCol="0" anchor="ctr"/>
          <a:lstStyle/>
          <a:p>
            <a:pPr indent="0" marL="0">
              <a:buNone/>
            </a:pPr>
            <a:r>
              <a:rPr lang="en-US" sz="1800" b="1" dirty="0">
                <a:solidFill>
                  <a:srgbClr val="1B2A3A"/>
                </a:solidFill>
                <a:latin typeface="Helvetica Neue Light" pitchFamily="34" charset="0"/>
                <a:ea typeface="Helvetica Neue Light" pitchFamily="34" charset="-122"/>
                <a:cs typeface="Helvetica Neue Light" pitchFamily="34" charset="-120"/>
              </a:rPr>
              <a:t>Tokens</a:t>
            </a:r>
            <a:endParaRPr lang="en-US" sz="1800" dirty="0"/>
          </a:p>
        </p:txBody>
      </p:sp>
      <p:sp>
        <p:nvSpPr>
          <p:cNvPr id="9" name="Text 6"/>
          <p:cNvSpPr/>
          <p:nvPr/>
        </p:nvSpPr>
        <p:spPr>
          <a:xfrm>
            <a:off x="731520" y="3291840"/>
            <a:ext cx="2286000" cy="1554480"/>
          </a:xfrm>
          <a:prstGeom prst="rect">
            <a:avLst/>
          </a:prstGeom>
          <a:noFill/>
          <a:ln/>
        </p:spPr>
        <p:txBody>
          <a:bodyPr wrap="square" lIns="0" tIns="0" rIns="0" bIns="0" rtlCol="0" anchor="t"/>
          <a:lstStyle/>
          <a:p>
            <a:pPr indent="0" marL="0">
              <a:buNone/>
            </a:pPr>
            <a:r>
              <a:rPr lang="en-US" sz="1400" dirty="0">
                <a:solidFill>
                  <a:srgbClr val="1B2A3A"/>
                </a:solidFill>
                <a:latin typeface="Helvetica Neue Light" pitchFamily="34" charset="0"/>
                <a:ea typeface="Helvetica Neue Light" pitchFamily="34" charset="-122"/>
                <a:cs typeface="Helvetica Neue Light" pitchFamily="34" charset="-120"/>
              </a:rPr>
              <a:t>One source for colour, type, and spacing, shared by Figma and Swift.</a:t>
            </a:r>
            <a:endParaRPr lang="en-US" sz="1400" dirty="0"/>
          </a:p>
        </p:txBody>
      </p:sp>
      <p:sp>
        <p:nvSpPr>
          <p:cNvPr id="10" name="Text 7"/>
          <p:cNvSpPr/>
          <p:nvPr/>
        </p:nvSpPr>
        <p:spPr>
          <a:xfrm>
            <a:off x="3200400" y="3474720"/>
            <a:ext cx="45720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Helvetica Neue Light" pitchFamily="34" charset="0"/>
                <a:ea typeface="Helvetica Neue Light" pitchFamily="34" charset="-122"/>
                <a:cs typeface="Helvetica Neue Light" pitchFamily="34" charset="-120"/>
              </a:rPr>
              <a:t>→</a:t>
            </a:r>
            <a:endParaRPr lang="en-US" sz="2400" dirty="0"/>
          </a:p>
        </p:txBody>
      </p:sp>
      <p:sp>
        <p:nvSpPr>
          <p:cNvPr id="11" name="Shape 8"/>
          <p:cNvSpPr/>
          <p:nvPr/>
        </p:nvSpPr>
        <p:spPr>
          <a:xfrm>
            <a:off x="3657600" y="2560320"/>
            <a:ext cx="2651760" cy="2377440"/>
          </a:xfrm>
          <a:prstGeom prst="roundRect">
            <a:avLst>
              <a:gd name="adj" fmla="val 3077"/>
            </a:avLst>
          </a:prstGeom>
          <a:solidFill>
            <a:srgbClr val="FFFFFF"/>
          </a:solidFill>
          <a:ln w="12700">
            <a:solidFill>
              <a:srgbClr val="4F6D5A"/>
            </a:solidFill>
            <a:prstDash val="solid"/>
          </a:ln>
        </p:spPr>
        <p:txBody>
          <a:bodyPr/>
          <a:p/>
        </p:txBody>
      </p:sp>
      <p:sp>
        <p:nvSpPr>
          <p:cNvPr id="12" name="Text 9"/>
          <p:cNvSpPr/>
          <p:nvPr/>
        </p:nvSpPr>
        <p:spPr>
          <a:xfrm>
            <a:off x="3840480" y="2743200"/>
            <a:ext cx="2286000" cy="457200"/>
          </a:xfrm>
          <a:prstGeom prst="rect">
            <a:avLst/>
          </a:prstGeom>
          <a:noFill/>
          <a:ln/>
        </p:spPr>
        <p:txBody>
          <a:bodyPr wrap="square" lIns="0" tIns="0" rIns="0" bIns="0" rtlCol="0" anchor="ctr"/>
          <a:lstStyle/>
          <a:p>
            <a:pPr indent="0" marL="0">
              <a:buNone/>
            </a:pPr>
            <a:r>
              <a:rPr lang="en-US" sz="1800" b="1" dirty="0">
                <a:solidFill>
                  <a:srgbClr val="1B2A3A"/>
                </a:solidFill>
                <a:latin typeface="Helvetica Neue Light" pitchFamily="34" charset="0"/>
                <a:ea typeface="Helvetica Neue Light" pitchFamily="34" charset="-122"/>
                <a:cs typeface="Helvetica Neue Light" pitchFamily="34" charset="-120"/>
              </a:rPr>
              <a:t>Components</a:t>
            </a:r>
            <a:endParaRPr lang="en-US" sz="1800" dirty="0"/>
          </a:p>
        </p:txBody>
      </p:sp>
      <p:sp>
        <p:nvSpPr>
          <p:cNvPr id="13" name="Text 10"/>
          <p:cNvSpPr/>
          <p:nvPr/>
        </p:nvSpPr>
        <p:spPr>
          <a:xfrm>
            <a:off x="3840480" y="3291840"/>
            <a:ext cx="2286000" cy="1554480"/>
          </a:xfrm>
          <a:prstGeom prst="rect">
            <a:avLst/>
          </a:prstGeom>
          <a:noFill/>
          <a:ln/>
        </p:spPr>
        <p:txBody>
          <a:bodyPr wrap="square" lIns="0" tIns="0" rIns="0" bIns="0" rtlCol="0" anchor="t"/>
          <a:lstStyle/>
          <a:p>
            <a:pPr indent="0" marL="0">
              <a:buNone/>
            </a:pPr>
            <a:r>
              <a:rPr lang="en-US" sz="1400" dirty="0">
                <a:solidFill>
                  <a:srgbClr val="1B2A3A"/>
                </a:solidFill>
                <a:latin typeface="Helvetica Neue Light" pitchFamily="34" charset="0"/>
                <a:ea typeface="Helvetica Neue Light" pitchFamily="34" charset="-122"/>
                <a:cs typeface="Helvetica Neue Light" pitchFamily="34" charset="-120"/>
              </a:rPr>
              <a:t>Existing, Extended, or New. New components go through review first.</a:t>
            </a:r>
            <a:endParaRPr lang="en-US" sz="1400" dirty="0"/>
          </a:p>
        </p:txBody>
      </p:sp>
      <p:sp>
        <p:nvSpPr>
          <p:cNvPr id="14" name="Text 11"/>
          <p:cNvSpPr/>
          <p:nvPr/>
        </p:nvSpPr>
        <p:spPr>
          <a:xfrm>
            <a:off x="6309360" y="3474720"/>
            <a:ext cx="45720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Helvetica Neue Light" pitchFamily="34" charset="0"/>
                <a:ea typeface="Helvetica Neue Light" pitchFamily="34" charset="-122"/>
                <a:cs typeface="Helvetica Neue Light" pitchFamily="34" charset="-120"/>
              </a:rPr>
              <a:t>→</a:t>
            </a:r>
            <a:endParaRPr lang="en-US" sz="2400" dirty="0"/>
          </a:p>
        </p:txBody>
      </p:sp>
      <p:sp>
        <p:nvSpPr>
          <p:cNvPr id="15" name="Shape 12"/>
          <p:cNvSpPr/>
          <p:nvPr/>
        </p:nvSpPr>
        <p:spPr>
          <a:xfrm>
            <a:off x="6766560" y="2560320"/>
            <a:ext cx="2651760" cy="2377440"/>
          </a:xfrm>
          <a:prstGeom prst="roundRect">
            <a:avLst>
              <a:gd name="adj" fmla="val 3077"/>
            </a:avLst>
          </a:prstGeom>
          <a:solidFill>
            <a:srgbClr val="FFFFFF"/>
          </a:solidFill>
          <a:ln w="12700">
            <a:solidFill>
              <a:srgbClr val="4F6D5A"/>
            </a:solidFill>
            <a:prstDash val="solid"/>
          </a:ln>
        </p:spPr>
        <p:txBody>
          <a:bodyPr/>
          <a:p/>
        </p:txBody>
      </p:sp>
      <p:sp>
        <p:nvSpPr>
          <p:cNvPr id="16" name="Text 13"/>
          <p:cNvSpPr/>
          <p:nvPr/>
        </p:nvSpPr>
        <p:spPr>
          <a:xfrm>
            <a:off x="6949440" y="2743200"/>
            <a:ext cx="2286000" cy="457200"/>
          </a:xfrm>
          <a:prstGeom prst="rect">
            <a:avLst/>
          </a:prstGeom>
          <a:noFill/>
          <a:ln/>
        </p:spPr>
        <p:txBody>
          <a:bodyPr wrap="square" lIns="0" tIns="0" rIns="0" bIns="0" rtlCol="0" anchor="ctr"/>
          <a:lstStyle/>
          <a:p>
            <a:pPr indent="0" marL="0">
              <a:buNone/>
            </a:pPr>
            <a:r>
              <a:rPr lang="en-US" sz="1800" b="1" dirty="0">
                <a:solidFill>
                  <a:srgbClr val="1B2A3A"/>
                </a:solidFill>
                <a:latin typeface="Helvetica Neue Light" pitchFamily="34" charset="0"/>
                <a:ea typeface="Helvetica Neue Light" pitchFamily="34" charset="-122"/>
                <a:cs typeface="Helvetica Neue Light" pitchFamily="34" charset="-120"/>
              </a:rPr>
              <a:t>Screens</a:t>
            </a:r>
            <a:endParaRPr lang="en-US" sz="1800" dirty="0"/>
          </a:p>
        </p:txBody>
      </p:sp>
      <p:sp>
        <p:nvSpPr>
          <p:cNvPr id="17" name="Text 14"/>
          <p:cNvSpPr/>
          <p:nvPr/>
        </p:nvSpPr>
        <p:spPr>
          <a:xfrm>
            <a:off x="6949440" y="3291840"/>
            <a:ext cx="2286000" cy="1554480"/>
          </a:xfrm>
          <a:prstGeom prst="rect">
            <a:avLst/>
          </a:prstGeom>
          <a:noFill/>
          <a:ln/>
        </p:spPr>
        <p:txBody>
          <a:bodyPr wrap="square" lIns="0" tIns="0" rIns="0" bIns="0" rtlCol="0" anchor="t"/>
          <a:lstStyle/>
          <a:p>
            <a:pPr indent="0" marL="0">
              <a:buNone/>
            </a:pPr>
            <a:r>
              <a:rPr lang="en-US" sz="1400" dirty="0">
                <a:solidFill>
                  <a:srgbClr val="1B2A3A"/>
                </a:solidFill>
                <a:latin typeface="Helvetica Neue Light" pitchFamily="34" charset="0"/>
                <a:ea typeface="Helvetica Neue Light" pitchFamily="34" charset="-122"/>
                <a:cs typeface="Helvetica Neue Light" pitchFamily="34" charset="-120"/>
              </a:rPr>
              <a:t>Five screens, each with empty, loading, error, and offline states.</a:t>
            </a:r>
            <a:endParaRPr lang="en-US" sz="1400" dirty="0"/>
          </a:p>
        </p:txBody>
      </p:sp>
      <p:sp>
        <p:nvSpPr>
          <p:cNvPr id="18" name="Text 15"/>
          <p:cNvSpPr/>
          <p:nvPr/>
        </p:nvSpPr>
        <p:spPr>
          <a:xfrm>
            <a:off x="9418320" y="3474720"/>
            <a:ext cx="45720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Helvetica Neue Light" pitchFamily="34" charset="0"/>
                <a:ea typeface="Helvetica Neue Light" pitchFamily="34" charset="-122"/>
                <a:cs typeface="Helvetica Neue Light" pitchFamily="34" charset="-120"/>
              </a:rPr>
              <a:t>→</a:t>
            </a:r>
            <a:endParaRPr lang="en-US" sz="2400" dirty="0"/>
          </a:p>
        </p:txBody>
      </p:sp>
      <p:sp>
        <p:nvSpPr>
          <p:cNvPr id="19" name="Shape 16"/>
          <p:cNvSpPr/>
          <p:nvPr/>
        </p:nvSpPr>
        <p:spPr>
          <a:xfrm>
            <a:off x="9875520" y="2560320"/>
            <a:ext cx="2651760" cy="2377440"/>
          </a:xfrm>
          <a:prstGeom prst="roundRect">
            <a:avLst>
              <a:gd name="adj" fmla="val 3077"/>
            </a:avLst>
          </a:prstGeom>
          <a:solidFill>
            <a:srgbClr val="FFFFFF"/>
          </a:solidFill>
          <a:ln w="12700">
            <a:solidFill>
              <a:srgbClr val="4F6D5A"/>
            </a:solidFill>
            <a:prstDash val="solid"/>
          </a:ln>
        </p:spPr>
        <p:txBody>
          <a:bodyPr/>
          <a:p/>
        </p:txBody>
      </p:sp>
      <p:sp>
        <p:nvSpPr>
          <p:cNvPr id="20" name="Text 17"/>
          <p:cNvSpPr/>
          <p:nvPr/>
        </p:nvSpPr>
        <p:spPr>
          <a:xfrm>
            <a:off x="10058400" y="2743200"/>
            <a:ext cx="2286000" cy="457200"/>
          </a:xfrm>
          <a:prstGeom prst="rect">
            <a:avLst/>
          </a:prstGeom>
          <a:noFill/>
          <a:ln/>
        </p:spPr>
        <p:txBody>
          <a:bodyPr wrap="square" lIns="0" tIns="0" rIns="0" bIns="0" rtlCol="0" anchor="ctr"/>
          <a:lstStyle/>
          <a:p>
            <a:pPr indent="0" marL="0">
              <a:buNone/>
            </a:pPr>
            <a:r>
              <a:rPr lang="en-US" sz="1800" b="1" dirty="0">
                <a:solidFill>
                  <a:srgbClr val="1B2A3A"/>
                </a:solidFill>
                <a:latin typeface="Helvetica Neue Light" pitchFamily="34" charset="0"/>
                <a:ea typeface="Helvetica Neue Light" pitchFamily="34" charset="-122"/>
                <a:cs typeface="Helvetica Neue Light" pitchFamily="34" charset="-120"/>
              </a:rPr>
              <a:t>Agent surfaces</a:t>
            </a:r>
            <a:endParaRPr lang="en-US" sz="1800" dirty="0"/>
          </a:p>
        </p:txBody>
      </p:sp>
      <p:sp>
        <p:nvSpPr>
          <p:cNvPr id="21" name="Text 18"/>
          <p:cNvSpPr/>
          <p:nvPr/>
        </p:nvSpPr>
        <p:spPr>
          <a:xfrm>
            <a:off x="10058400" y="3291840"/>
            <a:ext cx="2286000" cy="1554480"/>
          </a:xfrm>
          <a:prstGeom prst="rect">
            <a:avLst/>
          </a:prstGeom>
          <a:noFill/>
          <a:ln/>
        </p:spPr>
        <p:txBody>
          <a:bodyPr wrap="square" lIns="0" tIns="0" rIns="0" bIns="0" rtlCol="0" anchor="t"/>
          <a:lstStyle/>
          <a:p>
            <a:pPr indent="0" marL="0">
              <a:buNone/>
            </a:pPr>
            <a:r>
              <a:rPr lang="en-US" sz="1400" dirty="0">
                <a:solidFill>
                  <a:srgbClr val="1B2A3A"/>
                </a:solidFill>
                <a:latin typeface="Helvetica Neue Light" pitchFamily="34" charset="0"/>
                <a:ea typeface="Helvetica Neue Light" pitchFamily="34" charset="-122"/>
                <a:cs typeface="Helvetica Neue Light" pitchFamily="34" charset="-120"/>
              </a:rPr>
              <a:t>Any new AI feature reuses the same levels, limits, and proposed-step wording.</a:t>
            </a:r>
            <a:endParaRPr lang="en-US" sz="1400" dirty="0"/>
          </a:p>
        </p:txBody>
      </p:sp>
      <p:sp>
        <p:nvSpPr>
          <p:cNvPr id="22" name="Text 19"/>
          <p:cNvSpPr/>
          <p:nvPr/>
        </p:nvSpPr>
        <p:spPr>
          <a:xfrm>
            <a:off x="548640" y="5394960"/>
            <a:ext cx="5486400" cy="274320"/>
          </a:xfrm>
          <a:prstGeom prst="rect">
            <a:avLst/>
          </a:prstGeom>
          <a:noFill/>
          <a:ln/>
        </p:spPr>
        <p:txBody>
          <a:bodyPr wrap="square" lIns="0" tIns="0" rIns="0" bIns="0" rtlCol="0" anchor="ctr"/>
          <a:lstStyle/>
          <a:p>
            <a:pPr indent="0" marL="0">
              <a:buNone/>
            </a:pPr>
            <a:r>
              <a:rPr lang="en-US" sz="1280" dirty="0">
                <a:solidFill>
                  <a:srgbClr val="B5532F"/>
                </a:solidFill>
                <a:latin typeface="Helvetica Neue Medium" pitchFamily="34" charset="0"/>
                <a:ea typeface="Helvetica Neue Medium" pitchFamily="34" charset="-122"/>
                <a:cs typeface="Helvetica Neue Medium" pitchFamily="34" charset="-120"/>
              </a:rPr>
              <a:t>THE AGENTIC STORY</a:t>
            </a:r>
            <a:endParaRPr lang="en-US" sz="1280" dirty="0"/>
          </a:p>
        </p:txBody>
      </p:sp>
      <p:sp>
        <p:nvSpPr>
          <p:cNvPr id="23" name="Text 20"/>
          <p:cNvSpPr/>
          <p:nvPr/>
        </p:nvSpPr>
        <p:spPr>
          <a:xfrm>
            <a:off x="548640" y="5724144"/>
            <a:ext cx="5486400" cy="2926080"/>
          </a:xfrm>
          <a:prstGeom prst="rect">
            <a:avLst/>
          </a:prstGeom>
          <a:noFill/>
          <a:ln/>
        </p:spPr>
        <p:txBody>
          <a:bodyPr wrap="square" lIns="0" tIns="0" rIns="0" bIns="0" rtlCol="0" anchor="t"/>
          <a:lstStyle/>
          <a:p>
            <a:pPr indent="0" marL="0">
              <a:spcAft>
                <a:spcPts val="600"/>
              </a:spcAft>
              <a:buNone/>
            </a:pPr>
            <a:r>
              <a:rPr lang="en-US" sz="1500" dirty="0">
                <a:solidFill>
                  <a:srgbClr val="1B2A3A"/>
                </a:solidFill>
                <a:latin typeface="Helvetica Neue Light" pitchFamily="34" charset="0"/>
                <a:ea typeface="Helvetica Neue Light" pitchFamily="34" charset="-122"/>
                <a:cs typeface="Helvetica Neue Light" pitchFamily="34" charset="-120"/>
              </a:rPr>
              <a:t>AI features are built from these parts, not one-off screens. Each new agent surface reuses the rules, so the product scales without losing the user’s control.</a:t>
            </a:r>
            <a:endParaRPr lang="en-US" sz="1500" dirty="0"/>
          </a:p>
        </p:txBody>
      </p:sp>
      <p:sp>
        <p:nvSpPr>
          <p:cNvPr id="24" name="Text 21"/>
          <p:cNvSpPr/>
          <p:nvPr/>
        </p:nvSpPr>
        <p:spPr>
          <a:xfrm>
            <a:off x="6400800" y="5394960"/>
            <a:ext cx="6035040" cy="274320"/>
          </a:xfrm>
          <a:prstGeom prst="rect">
            <a:avLst/>
          </a:prstGeom>
          <a:noFill/>
          <a:ln/>
        </p:spPr>
        <p:txBody>
          <a:bodyPr wrap="square" lIns="0" tIns="0" rIns="0" bIns="0" rtlCol="0" anchor="ctr"/>
          <a:lstStyle/>
          <a:p>
            <a:pPr indent="0" marL="0">
              <a:buNone/>
            </a:pPr>
            <a:r>
              <a:rPr lang="en-US" sz="1280" dirty="0">
                <a:solidFill>
                  <a:srgbClr val="2F4257"/>
                </a:solidFill>
                <a:latin typeface="Helvetica Neue Medium" pitchFamily="34" charset="0"/>
                <a:ea typeface="Helvetica Neue Medium" pitchFamily="34" charset="-122"/>
                <a:cs typeface="Helvetica Neue Medium" pitchFamily="34" charset="-120"/>
              </a:rPr>
              <a:t>WHAT IT SHOWS ABOUT MY LEADERSHIP</a:t>
            </a:r>
            <a:endParaRPr lang="en-US" sz="1280" dirty="0"/>
          </a:p>
        </p:txBody>
      </p:sp>
      <p:sp>
        <p:nvSpPr>
          <p:cNvPr id="25" name="Text 22"/>
          <p:cNvSpPr/>
          <p:nvPr/>
        </p:nvSpPr>
        <p:spPr>
          <a:xfrm>
            <a:off x="6400800" y="5724144"/>
            <a:ext cx="6035040" cy="2926080"/>
          </a:xfrm>
          <a:prstGeom prst="rect">
            <a:avLst/>
          </a:prstGeom>
          <a:noFill/>
          <a:ln/>
        </p:spPr>
        <p:txBody>
          <a:bodyPr wrap="square" lIns="0" tIns="0" rIns="0" bIns="0" rtlCol="0" anchor="t"/>
          <a:lstStyle/>
          <a:p>
            <a:pPr indent="0" marL="0">
              <a:spcAft>
                <a:spcPts val="600"/>
              </a:spcAft>
              <a:buNone/>
            </a:pPr>
            <a:r>
              <a:rPr lang="en-US" sz="1500" dirty="0">
                <a:solidFill>
                  <a:srgbClr val="1B2A3A"/>
                </a:solidFill>
                <a:latin typeface="Helvetica Neue Light" pitchFamily="34" charset="0"/>
                <a:ea typeface="Helvetica Neue Light" pitchFamily="34" charset="-122"/>
                <a:cs typeface="Helvetica Neue Light" pitchFamily="34" charset="-120"/>
              </a:rPr>
              <a:t>I designed the system that lets agentic support be built at scale, and I wrote its rules before the screens.</a:t>
            </a:r>
            <a:endParaRPr lang="en-US" sz="15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MEASURES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What we would measure (planned, not run)</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Hypotheses to test before any claim about the agent. None of these has data yet.</a:t>
            </a:r>
          </a:p>
        </p:txBody>
      </p:sp>
      <p:sp>
        <p:nvSpPr>
          <p:cNvPr id="6" name="TextBox 5"/>
          <p:cNvSpPr txBox="1"/>
          <p:nvPr/>
        </p:nvSpPr>
        <p:spPr>
          <a:xfrm>
            <a:off x="822960" y="2560320"/>
            <a:ext cx="4389120" cy="274320"/>
          </a:xfrm>
          <a:prstGeom prst="rect">
            <a:avLst/>
          </a:prstGeom>
          <a:noFill/>
        </p:spPr>
        <p:txBody>
          <a:bodyPr wrap="square" lIns="0" rIns="0" tIns="0" bIns="0">
            <a:spAutoFit/>
          </a:bodyPr>
          <a:lstStyle/>
          <a:p>
            <a:pPr algn="l"/>
            <a:r>
              <a:rPr sz="1100">
                <a:solidFill>
                  <a:srgbClr val="858A97"/>
                </a:solidFill>
                <a:latin typeface="Helvetica Neue Medium"/>
              </a:rPr>
              <a:t>MEASURE</a:t>
            </a:r>
          </a:p>
        </p:txBody>
      </p:sp>
      <p:sp>
        <p:nvSpPr>
          <p:cNvPr id="7" name="TextBox 6"/>
          <p:cNvSpPr txBox="1"/>
          <p:nvPr/>
        </p:nvSpPr>
        <p:spPr>
          <a:xfrm>
            <a:off x="5394960" y="2560320"/>
            <a:ext cx="7150607" cy="274320"/>
          </a:xfrm>
          <a:prstGeom prst="rect">
            <a:avLst/>
          </a:prstGeom>
          <a:noFill/>
        </p:spPr>
        <p:txBody>
          <a:bodyPr wrap="square" lIns="0" rIns="0" tIns="0" bIns="0">
            <a:spAutoFit/>
          </a:bodyPr>
          <a:lstStyle/>
          <a:p>
            <a:pPr algn="l"/>
            <a:r>
              <a:rPr sz="1100">
                <a:solidFill>
                  <a:srgbClr val="858A97"/>
                </a:solidFill>
                <a:latin typeface="Helvetica Neue Medium"/>
              </a:rPr>
              <a:t>QUESTION IT ANSWERS</a:t>
            </a:r>
          </a:p>
        </p:txBody>
      </p:sp>
      <p:cxnSp>
        <p:nvCxnSpPr>
          <p:cNvPr id="8" name="Connector 7"/>
          <p:cNvCxnSpPr/>
          <p:nvPr/>
        </p:nvCxnSpPr>
        <p:spPr>
          <a:xfrm>
            <a:off x="822960" y="2889503"/>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3017520"/>
            <a:ext cx="4343400" cy="777240"/>
          </a:xfrm>
          <a:prstGeom prst="rect">
            <a:avLst/>
          </a:prstGeom>
          <a:noFill/>
        </p:spPr>
        <p:txBody>
          <a:bodyPr wrap="square" lIns="0" rIns="0" tIns="0" bIns="0">
            <a:spAutoFit/>
          </a:bodyPr>
          <a:lstStyle/>
          <a:p>
            <a:pPr algn="l"/>
            <a:r>
              <a:rPr sz="1400">
                <a:solidFill>
                  <a:srgbClr val="14161D"/>
                </a:solidFill>
                <a:latin typeface="Helvetica Neue Light"/>
              </a:rPr>
              <a:t>Time from insight to decision</a:t>
            </a:r>
          </a:p>
        </p:txBody>
      </p:sp>
      <p:sp>
        <p:nvSpPr>
          <p:cNvPr id="10" name="TextBox 9"/>
          <p:cNvSpPr txBox="1"/>
          <p:nvPr/>
        </p:nvSpPr>
        <p:spPr>
          <a:xfrm>
            <a:off x="5394960" y="3017520"/>
            <a:ext cx="7104888" cy="777240"/>
          </a:xfrm>
          <a:prstGeom prst="rect">
            <a:avLst/>
          </a:prstGeom>
          <a:noFill/>
        </p:spPr>
        <p:txBody>
          <a:bodyPr wrap="square" lIns="0" rIns="0" tIns="0" bIns="0">
            <a:spAutoFit/>
          </a:bodyPr>
          <a:lstStyle/>
          <a:p>
            <a:pPr algn="l"/>
            <a:r>
              <a:rPr sz="1400">
                <a:solidFill>
                  <a:srgbClr val="14161D"/>
                </a:solidFill>
                <a:latin typeface="Helvetica Neue Light"/>
              </a:rPr>
              <a:t>Does evidence on the card shorten the decision?</a:t>
            </a:r>
          </a:p>
        </p:txBody>
      </p:sp>
      <p:cxnSp>
        <p:nvCxnSpPr>
          <p:cNvPr id="11" name="Connector 10"/>
          <p:cNvCxnSpPr/>
          <p:nvPr/>
        </p:nvCxnSpPr>
        <p:spPr>
          <a:xfrm>
            <a:off x="822960" y="377647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22960" y="3886200"/>
            <a:ext cx="4343400" cy="777240"/>
          </a:xfrm>
          <a:prstGeom prst="rect">
            <a:avLst/>
          </a:prstGeom>
          <a:noFill/>
        </p:spPr>
        <p:txBody>
          <a:bodyPr wrap="square" lIns="0" rIns="0" tIns="0" bIns="0">
            <a:spAutoFit/>
          </a:bodyPr>
          <a:lstStyle/>
          <a:p>
            <a:pPr algn="l"/>
            <a:r>
              <a:rPr sz="1400">
                <a:solidFill>
                  <a:srgbClr val="14161D"/>
                </a:solidFill>
                <a:latin typeface="Helvetica Neue Light"/>
              </a:rPr>
              <a:t>Edit and reject rate on proposed steps</a:t>
            </a:r>
          </a:p>
        </p:txBody>
      </p:sp>
      <p:sp>
        <p:nvSpPr>
          <p:cNvPr id="13" name="TextBox 12"/>
          <p:cNvSpPr txBox="1"/>
          <p:nvPr/>
        </p:nvSpPr>
        <p:spPr>
          <a:xfrm>
            <a:off x="5394960" y="3886200"/>
            <a:ext cx="7104888" cy="777240"/>
          </a:xfrm>
          <a:prstGeom prst="rect">
            <a:avLst/>
          </a:prstGeom>
          <a:noFill/>
        </p:spPr>
        <p:txBody>
          <a:bodyPr wrap="square" lIns="0" rIns="0" tIns="0" bIns="0">
            <a:spAutoFit/>
          </a:bodyPr>
          <a:lstStyle/>
          <a:p>
            <a:pPr algn="l"/>
            <a:r>
              <a:rPr sz="1400">
                <a:solidFill>
                  <a:srgbClr val="14161D"/>
                </a:solidFill>
                <a:latin typeface="Helvetica Neue Light"/>
              </a:rPr>
              <a:t>Do users trust the plan enough to approve it as drafted?</a:t>
            </a:r>
          </a:p>
        </p:txBody>
      </p:sp>
      <p:cxnSp>
        <p:nvCxnSpPr>
          <p:cNvPr id="14" name="Connector 13"/>
          <p:cNvCxnSpPr/>
          <p:nvPr/>
        </p:nvCxnSpPr>
        <p:spPr>
          <a:xfrm>
            <a:off x="822960" y="464515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822960" y="4754880"/>
            <a:ext cx="4343400" cy="777240"/>
          </a:xfrm>
          <a:prstGeom prst="rect">
            <a:avLst/>
          </a:prstGeom>
          <a:noFill/>
        </p:spPr>
        <p:txBody>
          <a:bodyPr wrap="square" lIns="0" rIns="0" tIns="0" bIns="0">
            <a:spAutoFit/>
          </a:bodyPr>
          <a:lstStyle/>
          <a:p>
            <a:pPr algn="l"/>
            <a:r>
              <a:rPr sz="1400">
                <a:solidFill>
                  <a:srgbClr val="14161D"/>
                </a:solidFill>
                <a:latin typeface="Helvetica Neue Light"/>
              </a:rPr>
              <a:t>Reversal rate of agent actions</a:t>
            </a:r>
          </a:p>
        </p:txBody>
      </p:sp>
      <p:sp>
        <p:nvSpPr>
          <p:cNvPr id="16" name="TextBox 15"/>
          <p:cNvSpPr txBox="1"/>
          <p:nvPr/>
        </p:nvSpPr>
        <p:spPr>
          <a:xfrm>
            <a:off x="5394960" y="4754880"/>
            <a:ext cx="7104888" cy="777240"/>
          </a:xfrm>
          <a:prstGeom prst="rect">
            <a:avLst/>
          </a:prstGeom>
          <a:noFill/>
        </p:spPr>
        <p:txBody>
          <a:bodyPr wrap="square" lIns="0" rIns="0" tIns="0" bIns="0">
            <a:spAutoFit/>
          </a:bodyPr>
          <a:lstStyle/>
          <a:p>
            <a:pPr algn="l"/>
            <a:r>
              <a:rPr sz="1400">
                <a:solidFill>
                  <a:srgbClr val="14161D"/>
                </a:solidFill>
                <a:latin typeface="Helvetica Neue Light"/>
              </a:rPr>
              <a:t>Does acting within limits create regret, or stay trusted?</a:t>
            </a:r>
          </a:p>
        </p:txBody>
      </p:sp>
      <p:cxnSp>
        <p:nvCxnSpPr>
          <p:cNvPr id="17" name="Connector 16"/>
          <p:cNvCxnSpPr/>
          <p:nvPr/>
        </p:nvCxnSpPr>
        <p:spPr>
          <a:xfrm>
            <a:off x="822960" y="551383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22960" y="5623560"/>
            <a:ext cx="4343400" cy="777240"/>
          </a:xfrm>
          <a:prstGeom prst="rect">
            <a:avLst/>
          </a:prstGeom>
          <a:noFill/>
        </p:spPr>
        <p:txBody>
          <a:bodyPr wrap="square" lIns="0" rIns="0" tIns="0" bIns="0">
            <a:spAutoFit/>
          </a:bodyPr>
          <a:lstStyle/>
          <a:p>
            <a:pPr algn="l"/>
            <a:r>
              <a:rPr sz="1400">
                <a:solidFill>
                  <a:srgbClr val="14161D"/>
                </a:solidFill>
                <a:latin typeface="Helvetica Neue Light"/>
              </a:rPr>
              <a:t>Learned rules kept or reversed</a:t>
            </a:r>
          </a:p>
        </p:txBody>
      </p:sp>
      <p:sp>
        <p:nvSpPr>
          <p:cNvPr id="19" name="TextBox 18"/>
          <p:cNvSpPr txBox="1"/>
          <p:nvPr/>
        </p:nvSpPr>
        <p:spPr>
          <a:xfrm>
            <a:off x="5394960" y="5623560"/>
            <a:ext cx="7104888" cy="777240"/>
          </a:xfrm>
          <a:prstGeom prst="rect">
            <a:avLst/>
          </a:prstGeom>
          <a:noFill/>
        </p:spPr>
        <p:txBody>
          <a:bodyPr wrap="square" lIns="0" rIns="0" tIns="0" bIns="0">
            <a:spAutoFit/>
          </a:bodyPr>
          <a:lstStyle/>
          <a:p>
            <a:pPr algn="l"/>
            <a:r>
              <a:rPr sz="1400">
                <a:solidFill>
                  <a:srgbClr val="14161D"/>
                </a:solidFill>
                <a:latin typeface="Helvetica Neue Light"/>
              </a:rPr>
              <a:t>Do users value the learning loop, or switch it off?</a:t>
            </a:r>
          </a:p>
        </p:txBody>
      </p:sp>
      <p:cxnSp>
        <p:nvCxnSpPr>
          <p:cNvPr id="20" name="Connector 19"/>
          <p:cNvCxnSpPr/>
          <p:nvPr/>
        </p:nvCxnSpPr>
        <p:spPr>
          <a:xfrm>
            <a:off x="822960" y="638251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IMPLEMENTATION</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Built on SwiftUI, with tokens shared with Figma</a:t>
            </a:r>
          </a:p>
        </p:txBody>
      </p:sp>
      <p:sp>
        <p:nvSpPr>
          <p:cNvPr id="5" name="TextBox 4"/>
          <p:cNvSpPr txBox="1"/>
          <p:nvPr/>
        </p:nvSpPr>
        <p:spPr>
          <a:xfrm>
            <a:off x="8229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WHAT IS BUILT</a:t>
            </a:r>
          </a:p>
        </p:txBody>
      </p:sp>
      <p:sp>
        <p:nvSpPr>
          <p:cNvPr id="6" name="TextBox 5"/>
          <p:cNvSpPr txBox="1"/>
          <p:nvPr/>
        </p:nvSpPr>
        <p:spPr>
          <a:xfrm>
            <a:off x="8229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MVVM: one ViewModel per screen.</a:t>
            </a:r>
          </a:p>
          <a:p>
            <a:pPr algn="l">
              <a:spcAft>
                <a:spcPts val="600"/>
              </a:spcAft>
            </a:pPr>
            <a:r>
              <a:rPr sz="1600">
                <a:solidFill>
                  <a:srgbClr val="14161D"/>
                </a:solidFill>
                <a:latin typeface="Helvetica Neue Light"/>
              </a:rPr>
              <a:t>MockAPIService with realistic data and a delay.</a:t>
            </a:r>
          </a:p>
          <a:p>
            <a:pPr algn="l">
              <a:spcAft>
                <a:spcPts val="600"/>
              </a:spcAft>
            </a:pPr>
            <a:r>
              <a:rPr sz="1600">
                <a:solidFill>
                  <a:srgbClr val="14161D"/>
                </a:solidFill>
                <a:latin typeface="Helvetica Neue Light"/>
              </a:rPr>
              <a:t>DesignTokens.swift: colors, type, and spacing.</a:t>
            </a:r>
          </a:p>
          <a:p>
            <a:pPr algn="l">
              <a:spcAft>
                <a:spcPts val="600"/>
              </a:spcAft>
            </a:pPr>
            <a:r>
              <a:rPr sz="1600">
                <a:solidFill>
                  <a:srgbClr val="14161D"/>
                </a:solidFill>
                <a:latin typeface="Helvetica Neue Light"/>
              </a:rPr>
              <a:t>AuthManager: Face ID and Touch ID, with Keychain storage.</a:t>
            </a:r>
          </a:p>
          <a:p>
            <a:pPr algn="l">
              <a:spcAft>
                <a:spcPts val="600"/>
              </a:spcAft>
            </a:pPr>
            <a:r>
              <a:rPr sz="1600">
                <a:solidFill>
                  <a:srgbClr val="14161D"/>
                </a:solidFill>
                <a:latin typeface="Helvetica Neue Light"/>
              </a:rPr>
              <a:t>Figma library mirrors the same tokens.</a:t>
            </a:r>
          </a:p>
        </p:txBody>
      </p:sp>
      <p:sp>
        <p:nvSpPr>
          <p:cNvPr id="7" name="TextBox 6"/>
          <p:cNvSpPr txBox="1"/>
          <p:nvPr/>
        </p:nvSpPr>
        <p:spPr>
          <a:xfrm>
            <a:off x="67665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NEXT TO BUILD · PROPOSED</a:t>
            </a:r>
          </a:p>
        </p:txBody>
      </p:sp>
      <p:sp>
        <p:nvSpPr>
          <p:cNvPr id="8" name="TextBox 7"/>
          <p:cNvSpPr txBox="1"/>
          <p:nvPr/>
        </p:nvSpPr>
        <p:spPr>
          <a:xfrm>
            <a:off x="67665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Real market data and quotes behind the mock service.</a:t>
            </a:r>
          </a:p>
          <a:p>
            <a:pPr algn="l">
              <a:spcAft>
                <a:spcPts val="600"/>
              </a:spcAft>
            </a:pPr>
            <a:r>
              <a:rPr sz="1600">
                <a:solidFill>
                  <a:srgbClr val="14161D"/>
                </a:solidFill>
                <a:latin typeface="Helvetica Neue Light"/>
              </a:rPr>
              <a:t>Brokerage connection for order placement.</a:t>
            </a:r>
          </a:p>
          <a:p>
            <a:pPr algn="l">
              <a:spcAft>
                <a:spcPts val="600"/>
              </a:spcAft>
            </a:pPr>
            <a:r>
              <a:rPr sz="1600">
                <a:solidFill>
                  <a:srgbClr val="14161D"/>
                </a:solidFill>
                <a:latin typeface="Helvetica Neue Light"/>
              </a:rPr>
              <a:t>Session and authentication with a real backend.</a:t>
            </a:r>
          </a:p>
          <a:p>
            <a:pPr algn="l">
              <a:spcAft>
                <a:spcPts val="600"/>
              </a:spcAft>
            </a:pPr>
            <a:r>
              <a:rPr sz="1600">
                <a:solidFill>
                  <a:srgbClr val="14161D"/>
                </a:solidFill>
                <a:latin typeface="Helvetica Neue Light"/>
              </a:rPr>
              <a:t>Audit log for trade and AI actions.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LEARNINGS AND NEXT STEPS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What building this taught me, and what comes next</a:t>
            </a:r>
          </a:p>
        </p:txBody>
      </p:sp>
      <p:sp>
        <p:nvSpPr>
          <p:cNvPr id="5" name="TextBox 4"/>
          <p:cNvSpPr txBox="1"/>
          <p:nvPr/>
        </p:nvSpPr>
        <p:spPr>
          <a:xfrm>
            <a:off x="8229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LEARNINGS</a:t>
            </a:r>
          </a:p>
        </p:txBody>
      </p:sp>
      <p:sp>
        <p:nvSpPr>
          <p:cNvPr id="6" name="TextBox 5"/>
          <p:cNvSpPr txBox="1"/>
          <p:nvPr/>
        </p:nvSpPr>
        <p:spPr>
          <a:xfrm>
            <a:off x="8229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One token source for Figma and Swift keeps the two in step.</a:t>
            </a:r>
          </a:p>
          <a:p>
            <a:pPr algn="l">
              <a:spcAft>
                <a:spcPts val="600"/>
              </a:spcAft>
            </a:pPr>
            <a:r>
              <a:rPr sz="1600">
                <a:solidFill>
                  <a:srgbClr val="14161D"/>
                </a:solidFill>
                <a:latin typeface="Helvetica Neue Light"/>
              </a:rPr>
              <a:t>Settle AI boundaries before more screens. Proposed-step wording needs compliance review first.</a:t>
            </a:r>
          </a:p>
          <a:p>
            <a:pPr algn="l">
              <a:spcAft>
                <a:spcPts val="600"/>
              </a:spcAft>
            </a:pPr>
            <a:r>
              <a:rPr sz="1600">
                <a:solidFill>
                  <a:srgbClr val="14161D"/>
                </a:solidFill>
                <a:latin typeface="Helvetica Neue Light"/>
              </a:rPr>
              <a:t>Mock data hides timing and error states, so design them explicitly.</a:t>
            </a:r>
          </a:p>
          <a:p>
            <a:pPr algn="l">
              <a:spcAft>
                <a:spcPts val="600"/>
              </a:spcAft>
            </a:pPr>
            <a:r>
              <a:rPr sz="1600">
                <a:solidFill>
                  <a:srgbClr val="14161D"/>
                </a:solidFill>
                <a:latin typeface="Helvetica Neue Light"/>
              </a:rPr>
              <a:t>Keep working documents in one place: the FigJam board.</a:t>
            </a:r>
          </a:p>
        </p:txBody>
      </p:sp>
      <p:sp>
        <p:nvSpPr>
          <p:cNvPr id="7" name="TextBox 6"/>
          <p:cNvSpPr txBox="1"/>
          <p:nvPr/>
        </p:nvSpPr>
        <p:spPr>
          <a:xfrm>
            <a:off x="67665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NEXT STEPS</a:t>
            </a:r>
          </a:p>
        </p:txBody>
      </p:sp>
      <p:sp>
        <p:nvSpPr>
          <p:cNvPr id="8" name="TextBox 7"/>
          <p:cNvSpPr txBox="1"/>
          <p:nvPr/>
        </p:nvSpPr>
        <p:spPr>
          <a:xfrm>
            <a:off x="67665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Validate the three personas with five to eight interviews.</a:t>
            </a:r>
          </a:p>
          <a:p>
            <a:pPr algn="l">
              <a:spcAft>
                <a:spcPts val="600"/>
              </a:spcAft>
            </a:pPr>
            <a:r>
              <a:rPr sz="1600">
                <a:solidFill>
                  <a:srgbClr val="14161D"/>
                </a:solidFill>
                <a:latin typeface="Helvetica Neue Light"/>
              </a:rPr>
              <a:t>Usability-test the share and dollar flows.</a:t>
            </a:r>
          </a:p>
          <a:p>
            <a:pPr algn="l">
              <a:spcAft>
                <a:spcPts val="600"/>
              </a:spcAft>
            </a:pPr>
            <a:r>
              <a:rPr sz="1600">
                <a:solidFill>
                  <a:srgbClr val="14161D"/>
                </a:solidFill>
                <a:latin typeface="Helvetica Neue Light"/>
              </a:rPr>
              <a:t>Review the three wireframe pages with stakeholders.</a:t>
            </a:r>
          </a:p>
          <a:p>
            <a:pPr algn="l">
              <a:spcAft>
                <a:spcPts val="600"/>
              </a:spcAft>
            </a:pPr>
            <a:r>
              <a:rPr sz="1600">
                <a:solidFill>
                  <a:srgbClr val="14161D"/>
                </a:solidFill>
                <a:latin typeface="Helvetica Neue Light"/>
              </a:rPr>
              <a:t>Resolve the open questions on the FigJam board.</a:t>
            </a:r>
          </a:p>
          <a:p>
            <a:pPr algn="l">
              <a:spcAft>
                <a:spcPts val="600"/>
              </a:spcAft>
            </a:pPr>
            <a:r>
              <a:rPr sz="1600">
                <a:solidFill>
                  <a:srgbClr val="14161D"/>
                </a:solidFill>
                <a:latin typeface="Helvetica Neue Light"/>
              </a:rPr>
              <a:t>Set metric targets with stakeholders.</a:t>
            </a:r>
          </a:p>
          <a:p>
            <a:pPr algn="l">
              <a:spcAft>
                <a:spcPts val="600"/>
              </a:spcAft>
            </a:pPr>
            <a:r>
              <a:rPr sz="1600">
                <a:solidFill>
                  <a:srgbClr val="14161D"/>
                </a:solidFill>
                <a:latin typeface="Helvetica Neue Light"/>
              </a:rPr>
              <a:t>Complete compliance review before the screens go further.</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WIREFRAMES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Every state designed before the screens</a:t>
            </a:r>
          </a:p>
        </p:txBody>
      </p:sp>
      <p:pic>
        <p:nvPicPr>
          <p:cNvPr id="5" name="Picture 4" descr="states_wires.png"/>
          <p:cNvPicPr>
            <a:picLocks noChangeAspect="1"/>
          </p:cNvPicPr>
          <p:nvPr/>
        </p:nvPicPr>
        <p:blipFill>
          <a:blip r:embed="rId3"/>
          <a:stretch>
            <a:fillRect/>
          </a:stretch>
        </p:blipFill>
        <p:spPr>
          <a:xfrm>
            <a:off x="822960" y="2103120"/>
            <a:ext cx="2190216" cy="6035040"/>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Mock data shows only the happy path. A user who meets an empty or failed screen with no guidance stops trusting the app.</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Every screen designs five states before the build: empty, loading, error, offline, and the reviewed path. This is design-system rule 10.</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I set the states as the review standard, and reviewers judged the hard cases, not only the happy path.</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WIREFRAMES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The whole experience, end to end</a:t>
            </a:r>
          </a:p>
        </p:txBody>
      </p:sp>
      <p:pic>
        <p:nvPicPr>
          <p:cNvPr id="5" name="Picture 4" descr="full_experience_wires.png"/>
          <p:cNvPicPr>
            <a:picLocks noChangeAspect="1"/>
          </p:cNvPicPr>
          <p:nvPr/>
        </p:nvPicPr>
        <p:blipFill>
          <a:blip r:embed="rId3"/>
          <a:stretch>
            <a:fillRect/>
          </a:stretch>
        </p:blipFill>
        <p:spPr>
          <a:xfrm>
            <a:off x="822960" y="2103120"/>
            <a:ext cx="1651337" cy="6035040"/>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Context lost between screens (breakdown 5). Approval, undo, and the learning loop each sit on a different screen, so no one sees the whole decision.</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One set of frames: entry, the five tabs, Adapt, the trade flow, the learning loop, and the states. Each trade-off is visible where the decision is made.</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I designed the whole experience, not separate screens, and checked that the parts agree. Reviewers see one story.</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WORKING DOCUMENTS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One FigJam board as the working record</a:t>
            </a:r>
          </a:p>
        </p:txBody>
      </p:sp>
      <p:pic>
        <p:nvPicPr>
          <p:cNvPr id="5" name="Picture 4" descr="experience_section_figjam.png"/>
          <p:cNvPicPr>
            <a:picLocks noChangeAspect="1"/>
          </p:cNvPicPr>
          <p:nvPr/>
        </p:nvPicPr>
        <p:blipFill>
          <a:blip r:embed="rId3"/>
          <a:stretch>
            <a:fillRect/>
          </a:stretch>
        </p:blipFill>
        <p:spPr>
          <a:xfrm>
            <a:off x="822960" y="2103120"/>
            <a:ext cx="5486400" cy="2707574"/>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No learning loop (breakdown 3). Decisions and their reasons disappear into chat and slides, so the agent cannot learn from them.</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Decisions, reasons, and open questions live on one board, each linked to the breakdown it answers. This is the record the Decision Journal concept builds on.</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I ran the design in the open, so the team could challenge each call and its trade-off. The record shows who decided what.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2768" cy="466344"/>
          </a:xfrm>
          <a:prstGeom prst="rect">
            <a:avLst/>
          </a:prstGeom>
        </p:spPr>
      </p:pic>
      <p:sp>
        <p:nvSpPr>
          <p:cNvPr id="3" name="TextBox 2"/>
          <p:cNvSpPr txBox="1"/>
          <p:nvPr/>
        </p:nvSpPr>
        <p:spPr>
          <a:xfrm>
            <a:off x="548640" y="393192"/>
            <a:ext cx="10515600" cy="274320"/>
          </a:xfrm>
          <a:prstGeom prst="rect">
            <a:avLst/>
          </a:prstGeom>
          <a:noFill/>
        </p:spPr>
        <p:txBody>
          <a:bodyPr wrap="square" lIns="0" rIns="0" tIns="0" bIns="0">
            <a:spAutoFit/>
          </a:bodyPr>
          <a:lstStyle/>
          <a:p>
            <a:r>
              <a:rPr sz="1400">
                <a:solidFill>
                  <a:srgbClr val="1B2A3A"/>
                </a:solidFill>
                <a:latin typeface="Helvetica Neue Medium"/>
              </a:rPr>
              <a:t>MERIDIAN NAVIGATOR · WIREFRAMES</a:t>
            </a:r>
          </a:p>
        </p:txBody>
      </p:sp>
      <p:sp>
        <p:nvSpPr>
          <p:cNvPr id="4" name="TextBox 3"/>
          <p:cNvSpPr txBox="1"/>
          <p:nvPr/>
        </p:nvSpPr>
        <p:spPr>
          <a:xfrm>
            <a:off x="548640" y="932688"/>
            <a:ext cx="11887200" cy="548640"/>
          </a:xfrm>
          <a:prstGeom prst="rect">
            <a:avLst/>
          </a:prstGeom>
          <a:noFill/>
        </p:spPr>
        <p:txBody>
          <a:bodyPr wrap="square" lIns="0" rIns="0" tIns="0" bIns="0">
            <a:spAutoFit/>
          </a:bodyPr>
          <a:lstStyle/>
          <a:p>
            <a:r>
              <a:rPr sz="3000">
                <a:solidFill>
                  <a:srgbClr val="1B2A3A"/>
                </a:solidFill>
                <a:latin typeface="Helvetica Neue Light"/>
              </a:rPr>
              <a:t>The AI flow, screen by screen</a:t>
            </a:r>
          </a:p>
        </p:txBody>
      </p:sp>
      <p:sp>
        <p:nvSpPr>
          <p:cNvPr id="5" name="TextBox 4"/>
          <p:cNvSpPr txBox="1"/>
          <p:nvPr/>
        </p:nvSpPr>
        <p:spPr>
          <a:xfrm>
            <a:off x="548640" y="1563624"/>
            <a:ext cx="11887200" cy="320040"/>
          </a:xfrm>
          <a:prstGeom prst="rect">
            <a:avLst/>
          </a:prstGeom>
          <a:noFill/>
        </p:spPr>
        <p:txBody>
          <a:bodyPr wrap="square" lIns="0" rIns="0" tIns="0" bIns="0">
            <a:spAutoFit/>
          </a:bodyPr>
          <a:lstStyle/>
          <a:p>
            <a:r>
              <a:rPr sz="1600">
                <a:solidFill>
                  <a:srgbClr val="595959"/>
                </a:solidFill>
                <a:latin typeface="Helvetica Neue Light"/>
              </a:rPr>
              <a:t>Dashboard leads to Insight, Prospect, Guard, and Adapt. Each step is a choice the user makes.</a:t>
            </a:r>
          </a:p>
        </p:txBody>
      </p:sp>
      <p:pic>
        <p:nvPicPr>
          <p:cNvPr id="6" name="Picture 5" descr="image.png"/>
          <p:cNvPicPr>
            <a:picLocks noChangeAspect="1"/>
          </p:cNvPicPr>
          <p:nvPr/>
        </p:nvPicPr>
        <p:blipFill>
          <a:blip r:embed="rId3"/>
          <a:stretch>
            <a:fillRect/>
          </a:stretch>
        </p:blipFill>
        <p:spPr>
          <a:xfrm>
            <a:off x="548640" y="2194560"/>
            <a:ext cx="1801131" cy="4023360"/>
          </a:xfrm>
          <a:prstGeom prst="rect">
            <a:avLst/>
          </a:prstGeom>
        </p:spPr>
      </p:pic>
      <p:sp>
        <p:nvSpPr>
          <p:cNvPr id="7" name="TextBox 6"/>
          <p:cNvSpPr txBox="1"/>
          <p:nvPr/>
        </p:nvSpPr>
        <p:spPr>
          <a:xfrm>
            <a:off x="548640" y="6355080"/>
            <a:ext cx="1801131" cy="274320"/>
          </a:xfrm>
          <a:prstGeom prst="rect">
            <a:avLst/>
          </a:prstGeom>
          <a:noFill/>
        </p:spPr>
        <p:txBody>
          <a:bodyPr wrap="square" lIns="0" rIns="0" tIns="0" bIns="0">
            <a:spAutoFit/>
          </a:bodyPr>
          <a:lstStyle/>
          <a:p>
            <a:r>
              <a:rPr sz="1280">
                <a:solidFill>
                  <a:srgbClr val="B5532F"/>
                </a:solidFill>
                <a:latin typeface="Helvetica Neue Medium"/>
              </a:rPr>
              <a:t>1 · DASHBOARD</a:t>
            </a:r>
          </a:p>
        </p:txBody>
      </p:sp>
      <p:sp>
        <p:nvSpPr>
          <p:cNvPr id="8" name="TextBox 7"/>
          <p:cNvSpPr txBox="1"/>
          <p:nvPr/>
        </p:nvSpPr>
        <p:spPr>
          <a:xfrm>
            <a:off x="2349771" y="3566160"/>
            <a:ext cx="724958" cy="548640"/>
          </a:xfrm>
          <a:prstGeom prst="rect">
            <a:avLst/>
          </a:prstGeom>
          <a:noFill/>
        </p:spPr>
        <p:txBody>
          <a:bodyPr wrap="square" lIns="0" rIns="0" tIns="0" bIns="0">
            <a:spAutoFit/>
          </a:bodyPr>
          <a:lstStyle/>
          <a:p>
            <a:pPr algn="ctr"/>
            <a:r>
              <a:rPr sz="2600">
                <a:solidFill>
                  <a:srgbClr val="595959"/>
                </a:solidFill>
                <a:latin typeface="Helvetica Neue Light"/>
              </a:rPr>
              <a:t>→</a:t>
            </a:r>
          </a:p>
        </p:txBody>
      </p:sp>
      <p:pic>
        <p:nvPicPr>
          <p:cNvPr id="9" name="Picture 8" descr="image.png"/>
          <p:cNvPicPr>
            <a:picLocks noChangeAspect="1"/>
          </p:cNvPicPr>
          <p:nvPr/>
        </p:nvPicPr>
        <p:blipFill>
          <a:blip r:embed="rId4"/>
          <a:stretch>
            <a:fillRect/>
          </a:stretch>
        </p:blipFill>
        <p:spPr>
          <a:xfrm>
            <a:off x="3074729" y="2194560"/>
            <a:ext cx="1801131" cy="4023360"/>
          </a:xfrm>
          <a:prstGeom prst="rect">
            <a:avLst/>
          </a:prstGeom>
        </p:spPr>
      </p:pic>
      <p:sp>
        <p:nvSpPr>
          <p:cNvPr id="10" name="TextBox 9"/>
          <p:cNvSpPr txBox="1"/>
          <p:nvPr/>
        </p:nvSpPr>
        <p:spPr>
          <a:xfrm>
            <a:off x="3074729" y="6355080"/>
            <a:ext cx="1801131" cy="274320"/>
          </a:xfrm>
          <a:prstGeom prst="rect">
            <a:avLst/>
          </a:prstGeom>
          <a:noFill/>
        </p:spPr>
        <p:txBody>
          <a:bodyPr wrap="square" lIns="0" rIns="0" tIns="0" bIns="0">
            <a:spAutoFit/>
          </a:bodyPr>
          <a:lstStyle/>
          <a:p>
            <a:r>
              <a:rPr sz="1280">
                <a:solidFill>
                  <a:srgbClr val="B5532F"/>
                </a:solidFill>
                <a:latin typeface="Helvetica Neue Medium"/>
              </a:rPr>
              <a:t>2 · INSIGHT</a:t>
            </a:r>
          </a:p>
        </p:txBody>
      </p:sp>
      <p:sp>
        <p:nvSpPr>
          <p:cNvPr id="11" name="TextBox 10"/>
          <p:cNvSpPr txBox="1"/>
          <p:nvPr/>
        </p:nvSpPr>
        <p:spPr>
          <a:xfrm>
            <a:off x="4875860" y="3566160"/>
            <a:ext cx="724958" cy="548640"/>
          </a:xfrm>
          <a:prstGeom prst="rect">
            <a:avLst/>
          </a:prstGeom>
          <a:noFill/>
        </p:spPr>
        <p:txBody>
          <a:bodyPr wrap="square" lIns="0" rIns="0" tIns="0" bIns="0">
            <a:spAutoFit/>
          </a:bodyPr>
          <a:lstStyle/>
          <a:p>
            <a:pPr algn="ctr"/>
            <a:r>
              <a:rPr sz="2600">
                <a:solidFill>
                  <a:srgbClr val="595959"/>
                </a:solidFill>
                <a:latin typeface="Helvetica Neue Light"/>
              </a:rPr>
              <a:t>→</a:t>
            </a:r>
          </a:p>
        </p:txBody>
      </p:sp>
      <p:pic>
        <p:nvPicPr>
          <p:cNvPr id="12" name="Picture 11" descr="image.png"/>
          <p:cNvPicPr>
            <a:picLocks noChangeAspect="1"/>
          </p:cNvPicPr>
          <p:nvPr/>
        </p:nvPicPr>
        <p:blipFill>
          <a:blip r:embed="rId5"/>
          <a:stretch>
            <a:fillRect/>
          </a:stretch>
        </p:blipFill>
        <p:spPr>
          <a:xfrm>
            <a:off x="5600818" y="2194560"/>
            <a:ext cx="1801131" cy="4023360"/>
          </a:xfrm>
          <a:prstGeom prst="rect">
            <a:avLst/>
          </a:prstGeom>
        </p:spPr>
      </p:pic>
      <p:sp>
        <p:nvSpPr>
          <p:cNvPr id="13" name="TextBox 12"/>
          <p:cNvSpPr txBox="1"/>
          <p:nvPr/>
        </p:nvSpPr>
        <p:spPr>
          <a:xfrm>
            <a:off x="5600818" y="6355080"/>
            <a:ext cx="1801131" cy="274320"/>
          </a:xfrm>
          <a:prstGeom prst="rect">
            <a:avLst/>
          </a:prstGeom>
          <a:noFill/>
        </p:spPr>
        <p:txBody>
          <a:bodyPr wrap="square" lIns="0" rIns="0" tIns="0" bIns="0">
            <a:spAutoFit/>
          </a:bodyPr>
          <a:lstStyle/>
          <a:p>
            <a:r>
              <a:rPr sz="1280">
                <a:solidFill>
                  <a:srgbClr val="B5532F"/>
                </a:solidFill>
                <a:latin typeface="Helvetica Neue Medium"/>
              </a:rPr>
              <a:t>3 · PROSPECT</a:t>
            </a:r>
          </a:p>
        </p:txBody>
      </p:sp>
      <p:sp>
        <p:nvSpPr>
          <p:cNvPr id="14" name="TextBox 13"/>
          <p:cNvSpPr txBox="1"/>
          <p:nvPr/>
        </p:nvSpPr>
        <p:spPr>
          <a:xfrm>
            <a:off x="7401949" y="3566160"/>
            <a:ext cx="724958" cy="548640"/>
          </a:xfrm>
          <a:prstGeom prst="rect">
            <a:avLst/>
          </a:prstGeom>
          <a:noFill/>
        </p:spPr>
        <p:txBody>
          <a:bodyPr wrap="square" lIns="0" rIns="0" tIns="0" bIns="0">
            <a:spAutoFit/>
          </a:bodyPr>
          <a:lstStyle/>
          <a:p>
            <a:pPr algn="ctr"/>
            <a:r>
              <a:rPr sz="2600">
                <a:solidFill>
                  <a:srgbClr val="595959"/>
                </a:solidFill>
                <a:latin typeface="Helvetica Neue Light"/>
              </a:rPr>
              <a:t>→</a:t>
            </a:r>
          </a:p>
        </p:txBody>
      </p:sp>
      <p:pic>
        <p:nvPicPr>
          <p:cNvPr id="15" name="Picture 14" descr="image.png"/>
          <p:cNvPicPr>
            <a:picLocks noChangeAspect="1"/>
          </p:cNvPicPr>
          <p:nvPr/>
        </p:nvPicPr>
        <p:blipFill>
          <a:blip r:embed="rId6"/>
          <a:stretch>
            <a:fillRect/>
          </a:stretch>
        </p:blipFill>
        <p:spPr>
          <a:xfrm>
            <a:off x="8126907" y="2194560"/>
            <a:ext cx="1801131" cy="4023360"/>
          </a:xfrm>
          <a:prstGeom prst="rect">
            <a:avLst/>
          </a:prstGeom>
        </p:spPr>
      </p:pic>
      <p:sp>
        <p:nvSpPr>
          <p:cNvPr id="16" name="TextBox 15"/>
          <p:cNvSpPr txBox="1"/>
          <p:nvPr/>
        </p:nvSpPr>
        <p:spPr>
          <a:xfrm>
            <a:off x="8126907" y="6355080"/>
            <a:ext cx="1801131" cy="274320"/>
          </a:xfrm>
          <a:prstGeom prst="rect">
            <a:avLst/>
          </a:prstGeom>
          <a:noFill/>
        </p:spPr>
        <p:txBody>
          <a:bodyPr wrap="square" lIns="0" rIns="0" tIns="0" bIns="0">
            <a:spAutoFit/>
          </a:bodyPr>
          <a:lstStyle/>
          <a:p>
            <a:r>
              <a:rPr sz="1280">
                <a:solidFill>
                  <a:srgbClr val="B5532F"/>
                </a:solidFill>
                <a:latin typeface="Helvetica Neue Medium"/>
              </a:rPr>
              <a:t>4 · GUARD</a:t>
            </a:r>
          </a:p>
        </p:txBody>
      </p:sp>
      <p:sp>
        <p:nvSpPr>
          <p:cNvPr id="17" name="TextBox 16"/>
          <p:cNvSpPr txBox="1"/>
          <p:nvPr/>
        </p:nvSpPr>
        <p:spPr>
          <a:xfrm>
            <a:off x="9928038" y="3566160"/>
            <a:ext cx="724958" cy="548640"/>
          </a:xfrm>
          <a:prstGeom prst="rect">
            <a:avLst/>
          </a:prstGeom>
          <a:noFill/>
        </p:spPr>
        <p:txBody>
          <a:bodyPr wrap="square" lIns="0" rIns="0" tIns="0" bIns="0">
            <a:spAutoFit/>
          </a:bodyPr>
          <a:lstStyle/>
          <a:p>
            <a:pPr algn="ctr"/>
            <a:r>
              <a:rPr sz="2600">
                <a:solidFill>
                  <a:srgbClr val="595959"/>
                </a:solidFill>
                <a:latin typeface="Helvetica Neue Light"/>
              </a:rPr>
              <a:t>→</a:t>
            </a:r>
          </a:p>
        </p:txBody>
      </p:sp>
      <p:pic>
        <p:nvPicPr>
          <p:cNvPr id="18" name="Picture 17" descr="image.png"/>
          <p:cNvPicPr>
            <a:picLocks noChangeAspect="1"/>
          </p:cNvPicPr>
          <p:nvPr/>
        </p:nvPicPr>
        <p:blipFill>
          <a:blip r:embed="rId7"/>
          <a:stretch>
            <a:fillRect/>
          </a:stretch>
        </p:blipFill>
        <p:spPr>
          <a:xfrm>
            <a:off x="10652996" y="2194560"/>
            <a:ext cx="1801131" cy="4023360"/>
          </a:xfrm>
          <a:prstGeom prst="rect">
            <a:avLst/>
          </a:prstGeom>
        </p:spPr>
      </p:pic>
      <p:sp>
        <p:nvSpPr>
          <p:cNvPr id="19" name="TextBox 18"/>
          <p:cNvSpPr txBox="1"/>
          <p:nvPr/>
        </p:nvSpPr>
        <p:spPr>
          <a:xfrm>
            <a:off x="10652996" y="6355080"/>
            <a:ext cx="1801131" cy="274320"/>
          </a:xfrm>
          <a:prstGeom prst="rect">
            <a:avLst/>
          </a:prstGeom>
          <a:noFill/>
        </p:spPr>
        <p:txBody>
          <a:bodyPr wrap="square" lIns="0" rIns="0" tIns="0" bIns="0">
            <a:spAutoFit/>
          </a:bodyPr>
          <a:lstStyle/>
          <a:p>
            <a:r>
              <a:rPr sz="1280">
                <a:solidFill>
                  <a:srgbClr val="B5532F"/>
                </a:solidFill>
                <a:latin typeface="Helvetica Neue Medium"/>
              </a:rPr>
              <a:t>5 · ADAPT</a:t>
            </a:r>
          </a:p>
        </p:txBody>
      </p:sp>
      <p:sp>
        <p:nvSpPr>
          <p:cNvPr id="20" name="TextBox 19"/>
          <p:cNvSpPr txBox="1"/>
          <p:nvPr/>
        </p:nvSpPr>
        <p:spPr>
          <a:xfrm>
            <a:off x="548640" y="7223760"/>
            <a:ext cx="3657600" cy="274320"/>
          </a:xfrm>
          <a:prstGeom prst="rect">
            <a:avLst/>
          </a:prstGeom>
          <a:noFill/>
        </p:spPr>
        <p:txBody>
          <a:bodyPr wrap="square" lIns="0" rIns="0" tIns="0" bIns="0">
            <a:spAutoFit/>
          </a:bodyPr>
          <a:lstStyle/>
          <a:p>
            <a:r>
              <a:rPr sz="1280">
                <a:solidFill>
                  <a:srgbClr val="B5532F"/>
                </a:solidFill>
                <a:latin typeface="Helvetica Neue Medium"/>
              </a:rPr>
              <a:t>THE PROBLEM IT ANSWERS</a:t>
            </a:r>
          </a:p>
        </p:txBody>
      </p:sp>
      <p:sp>
        <p:nvSpPr>
          <p:cNvPr id="21" name="TextBox 20"/>
          <p:cNvSpPr txBox="1"/>
          <p:nvPr/>
        </p:nvSpPr>
        <p:spPr>
          <a:xfrm>
            <a:off x="548640" y="7534656"/>
            <a:ext cx="3657600" cy="1280160"/>
          </a:xfrm>
          <a:prstGeom prst="rect">
            <a:avLst/>
          </a:prstGeom>
          <a:noFill/>
        </p:spPr>
        <p:txBody>
          <a:bodyPr wrap="square" lIns="0" rIns="0" tIns="0" bIns="0">
            <a:spAutoFit/>
          </a:bodyPr>
          <a:lstStyle/>
          <a:p>
            <a:r>
              <a:rPr sz="1400">
                <a:solidFill>
                  <a:srgbClr val="1B2A3A"/>
                </a:solidFill>
                <a:latin typeface="Helvetica Neue Light"/>
              </a:rPr>
              <a:t>The AI flow is one dashboard leading to four steps: Insight, Prospect, Guard, and Adapt. Each step is a choice the user makes.</a:t>
            </a:r>
          </a:p>
        </p:txBody>
      </p:sp>
      <p:sp>
        <p:nvSpPr>
          <p:cNvPr id="22" name="TextBox 21"/>
          <p:cNvSpPr txBox="1"/>
          <p:nvPr/>
        </p:nvSpPr>
        <p:spPr>
          <a:xfrm>
            <a:off x="4480560" y="7223760"/>
            <a:ext cx="3657600" cy="274320"/>
          </a:xfrm>
          <a:prstGeom prst="rect">
            <a:avLst/>
          </a:prstGeom>
          <a:noFill/>
        </p:spPr>
        <p:txBody>
          <a:bodyPr wrap="square" lIns="0" rIns="0" tIns="0" bIns="0">
            <a:spAutoFit/>
          </a:bodyPr>
          <a:lstStyle/>
          <a:p>
            <a:r>
              <a:rPr sz="1280">
                <a:solidFill>
                  <a:srgbClr val="4F6D5A"/>
                </a:solidFill>
                <a:latin typeface="Helvetica Neue Medium"/>
              </a:rPr>
              <a:t>THE SOLUTION AND THE INNOVATION</a:t>
            </a:r>
          </a:p>
        </p:txBody>
      </p:sp>
      <p:sp>
        <p:nvSpPr>
          <p:cNvPr id="23" name="TextBox 22"/>
          <p:cNvSpPr txBox="1"/>
          <p:nvPr/>
        </p:nvSpPr>
        <p:spPr>
          <a:xfrm>
            <a:off x="4480560" y="7534656"/>
            <a:ext cx="3657600" cy="1280160"/>
          </a:xfrm>
          <a:prstGeom prst="rect">
            <a:avLst/>
          </a:prstGeom>
          <a:noFill/>
        </p:spPr>
        <p:txBody>
          <a:bodyPr wrap="square" lIns="0" rIns="0" tIns="0" bIns="0">
            <a:spAutoFit/>
          </a:bodyPr>
          <a:lstStyle/>
          <a:p>
            <a:r>
              <a:rPr sz="1400">
                <a:solidFill>
                  <a:srgbClr val="1B2A3A"/>
                </a:solidFill>
                <a:latin typeface="Helvetica Neue Light"/>
              </a:rPr>
              <a:t>Adapt is where the advice rule is most at risk. Its wording must read as proposed steps, not buy or sell advice.</a:t>
            </a:r>
          </a:p>
        </p:txBody>
      </p:sp>
      <p:sp>
        <p:nvSpPr>
          <p:cNvPr id="24" name="TextBox 23"/>
          <p:cNvSpPr txBox="1"/>
          <p:nvPr/>
        </p:nvSpPr>
        <p:spPr>
          <a:xfrm>
            <a:off x="8412480" y="7223760"/>
            <a:ext cx="3657600" cy="274320"/>
          </a:xfrm>
          <a:prstGeom prst="rect">
            <a:avLst/>
          </a:prstGeom>
          <a:noFill/>
        </p:spPr>
        <p:txBody>
          <a:bodyPr wrap="square" lIns="0" rIns="0" tIns="0" bIns="0">
            <a:spAutoFit/>
          </a:bodyPr>
          <a:lstStyle/>
          <a:p>
            <a:r>
              <a:rPr sz="1280">
                <a:solidFill>
                  <a:srgbClr val="2F4257"/>
                </a:solidFill>
                <a:latin typeface="Helvetica Neue Medium"/>
              </a:rPr>
              <a:t>WHAT IT SHOWS ABOUT MY LEADERSHIP</a:t>
            </a:r>
          </a:p>
        </p:txBody>
      </p:sp>
      <p:sp>
        <p:nvSpPr>
          <p:cNvPr id="25" name="TextBox 24"/>
          <p:cNvSpPr txBox="1"/>
          <p:nvPr/>
        </p:nvSpPr>
        <p:spPr>
          <a:xfrm>
            <a:off x="8412480" y="7534656"/>
            <a:ext cx="3657600" cy="1280160"/>
          </a:xfrm>
          <a:prstGeom prst="rect">
            <a:avLst/>
          </a:prstGeom>
          <a:noFill/>
        </p:spPr>
        <p:txBody>
          <a:bodyPr wrap="square" lIns="0" rIns="0" tIns="0" bIns="0">
            <a:spAutoFit/>
          </a:bodyPr>
          <a:lstStyle/>
          <a:p>
            <a:r>
              <a:rPr sz="1400">
                <a:solidFill>
                  <a:srgbClr val="1B2A3A"/>
                </a:solidFill>
                <a:latin typeface="Helvetica Neue Light"/>
              </a:rPr>
              <a:t>I found agent wording that broke the advice rule and changed it on the board, so the flow and the rule agree.</a:t>
            </a:r>
          </a:p>
        </p:txBody>
      </p:sp>
      <p:sp>
        <p:nvSpPr>
          <p:cNvPr id="26" name="TextBox 25"/>
          <p:cNvSpPr txBox="1"/>
          <p:nvPr/>
        </p:nvSpPr>
        <p:spPr>
          <a:xfrm>
            <a:off x="548640" y="8778240"/>
            <a:ext cx="10972800" cy="274320"/>
          </a:xfrm>
          <a:prstGeom prst="rect">
            <a:avLst/>
          </a:prstGeom>
          <a:noFill/>
        </p:spPr>
        <p:txBody>
          <a:bodyPr wrap="square" lIns="0" rIns="0" tIns="0" bIns="0">
            <a:spAutoFit/>
          </a:bodyPr>
          <a:lstStyle/>
          <a:p>
            <a:r>
              <a:rPr sz="1200">
                <a:solidFill>
                  <a:srgbClr val="595959"/>
                </a:solidFill>
                <a:latin typeface="Helvetica Neue Light"/>
              </a:rPr>
              <a:t>Portfolio prototype. Mock data. Hypotheses until validated. Proposed-step language only.</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3004800" cy="442163"/>
          </a:xfrm>
          <a:prstGeom prst="rect">
            <a:avLst/>
          </a:prstGeom>
        </p:spPr>
      </p:pic>
      <p:sp>
        <p:nvSpPr>
          <p:cNvPr id="3" name="Text 0"/>
          <p:cNvSpPr txBox="1"/>
          <p:nvPr/>
        </p:nvSpPr>
        <p:spPr>
          <a:xfrm>
            <a:off x="455169" y="650240"/>
            <a:ext cx="10577475" cy="715264"/>
          </a:xfrm>
          <a:prstGeom prst="rect">
            <a:avLst/>
          </a:prstGeom>
          <a:noFill/>
          <a:ln/>
        </p:spPr>
        <p:txBody>
          <a:bodyPr wrap="square" lIns="0" tIns="0" rIns="0" bIns="0" rtlCol="0" anchor="t"/>
          <a:lstStyle/>
          <a:p>
            <a:r>
              <a:rPr lang="en-US" sz="1564" dirty="0">
                <a:solidFill>
                  <a:srgbClr val="1F1F1F"/>
                </a:solidFill>
                <a:ea typeface="Helvetica Neue" pitchFamily="34" charset="-122"/>
                <a:cs typeface="Helvetica Neue" pitchFamily="34" charset="-120"/>
              </a:rPr>
              <a:t>End-to-end design process, including Design Thinking and AI-supported methods, for an AI layer on the FinViz stock screener that guides a swing trader through the trading day</a:t>
            </a:r>
            <a:endParaRPr lang="en-US" sz="1564" dirty="0"/>
          </a:p>
        </p:txBody>
      </p:sp>
      <p:sp>
        <p:nvSpPr>
          <p:cNvPr id="4" name="Text 1"/>
          <p:cNvSpPr txBox="1"/>
          <p:nvPr/>
        </p:nvSpPr>
        <p:spPr>
          <a:xfrm>
            <a:off x="455169" y="2122783"/>
            <a:ext cx="4932535" cy="1507126"/>
          </a:xfrm>
          <a:prstGeom prst="rect">
            <a:avLst/>
          </a:prstGeom>
          <a:noFill/>
          <a:ln/>
        </p:spPr>
        <p:txBody>
          <a:bodyPr wrap="square" lIns="0" tIns="0" rIns="0" bIns="0" rtlCol="0" anchor="t"/>
          <a:lstStyle/>
          <a:p>
            <a:r>
              <a:rPr lang="en-US" sz="8533" dirty="0">
                <a:solidFill>
                  <a:srgbClr val="1F1F1F"/>
                </a:solidFill>
                <a:latin typeface="Helvetica Neue Light" panose="02000403000000020004" pitchFamily="2" charset="0"/>
                <a:ea typeface="Helvetica Neue Light" panose="02000403000000020004" pitchFamily="2" charset="0"/>
                <a:cs typeface="Helvetica Neue" panose="02000503000000020004" pitchFamily="2" charset="0"/>
              </a:rPr>
              <a:t>FinViz</a:t>
            </a:r>
            <a:endParaRPr lang="en-US" sz="8533" dirty="0">
              <a:latin typeface="Helvetica Neue Light" panose="02000403000000020004" pitchFamily="2" charset="0"/>
              <a:ea typeface="Helvetica Neue Light" panose="02000403000000020004" pitchFamily="2" charset="0"/>
              <a:cs typeface="Helvetica Neue" panose="02000503000000020004" pitchFamily="2" charset="0"/>
            </a:endParaRPr>
          </a:p>
        </p:txBody>
      </p:sp>
      <p:sp>
        <p:nvSpPr>
          <p:cNvPr id="6" name="Text 3"/>
          <p:cNvSpPr txBox="1"/>
          <p:nvPr/>
        </p:nvSpPr>
        <p:spPr>
          <a:xfrm>
            <a:off x="455169" y="3863210"/>
            <a:ext cx="4375186" cy="2027180"/>
          </a:xfrm>
          <a:prstGeom prst="rect">
            <a:avLst/>
          </a:prstGeom>
          <a:noFill/>
          <a:ln/>
        </p:spPr>
        <p:txBody>
          <a:bodyPr wrap="square" lIns="0" tIns="0" rIns="0" bIns="0" rtlCol="0" anchor="t"/>
          <a:lstStyle/>
          <a:p>
            <a:pPr>
              <a:lnSpc>
                <a:spcPct val="130000"/>
              </a:lnSpc>
            </a:pPr>
            <a:r>
              <a:rPr lang="en-US" sz="1991" dirty="0">
                <a:solidFill>
                  <a:srgbClr val="1F1F1F"/>
                </a:solidFill>
                <a:latin typeface="Helvetica Neue Light" pitchFamily="34" charset="0"/>
                <a:ea typeface="Helvetica Neue Light" pitchFamily="34" charset="-122"/>
                <a:cs typeface="Helvetica Neue Light" pitchFamily="34" charset="-120"/>
              </a:rPr>
              <a:t>Helping FinViz cut the time from sign-up to Elite from 42 to 21 days by getting new traders to a screen they trust, then watching it for them</a:t>
            </a:r>
            <a:endParaRPr lang="en-US" sz="1991" dirty="0"/>
          </a:p>
        </p:txBody>
      </p:sp>
      <p:sp>
        <p:nvSpPr>
          <p:cNvPr id="7" name="Text 4"/>
          <p:cNvSpPr txBox="1"/>
          <p:nvPr/>
        </p:nvSpPr>
        <p:spPr>
          <a:xfrm>
            <a:off x="1155427" y="7802880"/>
            <a:ext cx="4795341" cy="1300480"/>
          </a:xfrm>
          <a:prstGeom prst="rect">
            <a:avLst/>
          </a:prstGeom>
          <a:noFill/>
          <a:ln/>
        </p:spPr>
        <p:txBody>
          <a:bodyPr wrap="square" lIns="0" tIns="0" rIns="0" bIns="0" rtlCol="0" anchor="t"/>
          <a:lstStyle/>
          <a:p>
            <a:pPr algn="ctr"/>
            <a:r>
              <a:rPr lang="en-US" sz="2276" dirty="0">
                <a:solidFill>
                  <a:srgbClr val="6E6E6E"/>
                </a:solidFill>
                <a:latin typeface="Helvetica Neue Light" pitchFamily="34" charset="0"/>
                <a:ea typeface="Helvetica Neue Light" pitchFamily="34" charset="-122"/>
                <a:cs typeface="Helvetica Neue Light" pitchFamily="34" charset="-120"/>
              </a:rPr>
              <a:t>“Alerts are everything. Once you close FinViz, you get nothing.”</a:t>
            </a:r>
            <a:endParaRPr lang="en-US" sz="2276" dirty="0"/>
          </a:p>
        </p:txBody>
      </p:sp>
      <p:pic>
        <p:nvPicPr>
          <p:cNvPr id="8" name="Picture 7" descr="image.png"/>
          <p:cNvPicPr>
            <a:picLocks noChangeAspect="1"/>
          </p:cNvPicPr>
          <p:nvPr/>
        </p:nvPicPr>
        <p:blipFill>
          <a:blip r:embed="rId3"/>
          <a:stretch>
            <a:fillRect/>
          </a:stretch>
        </p:blipFill>
        <p:spPr>
          <a:xfrm>
            <a:off x="7201957" y="2122784"/>
            <a:ext cx="5652787" cy="5193499"/>
          </a:xfrm>
          <a:prstGeom prst="rect">
            <a:avLst/>
          </a:prstGeom>
        </p:spPr>
      </p:pic>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24160" cy="274320"/>
          </a:xfrm>
          <a:prstGeom prst="rect">
            <a:avLst/>
          </a:prstGeom>
          <a:noFill/>
        </p:spPr>
        <p:txBody>
          <a:bodyPr wrap="square">
            <a:spAutoFit/>
          </a:bodyPr>
          <a:lstStyle/>
          <a:p>
            <a:r>
              <a:rPr sz="1400" b="0">
                <a:solidFill>
                  <a:srgbClr val="1F1F1F"/>
                </a:solidFill>
                <a:latin typeface="Helvetica Neue"/>
              </a:rPr>
              <a:t>Competitive landscape</a:t>
            </a:r>
          </a:p>
        </p:txBody>
      </p:sp>
      <p:sp>
        <p:nvSpPr>
          <p:cNvPr id="3" name="TextBox 2"/>
          <p:cNvSpPr txBox="1"/>
          <p:nvPr/>
        </p:nvSpPr>
        <p:spPr>
          <a:xfrm>
            <a:off x="457200" y="914400"/>
            <a:ext cx="12070080" cy="594360"/>
          </a:xfrm>
          <a:prstGeom prst="rect">
            <a:avLst/>
          </a:prstGeom>
          <a:noFill/>
        </p:spPr>
        <p:txBody>
          <a:bodyPr wrap="square">
            <a:spAutoFit/>
          </a:bodyPr>
          <a:lstStyle/>
          <a:p>
            <a:r>
              <a:rPr sz="2800" b="0">
                <a:solidFill>
                  <a:srgbClr val="1F1F1F"/>
                </a:solidFill>
                <a:latin typeface="Helvetica Neue Light"/>
              </a:rPr>
              <a:t>Competitive landscape: where FinViz is strong, and where the AI layer fits</a:t>
            </a:r>
          </a:p>
        </p:txBody>
      </p:sp>
      <p:sp>
        <p:nvSpPr>
          <p:cNvPr id="4" name="TextBox 3"/>
          <p:cNvSpPr txBox="1"/>
          <p:nvPr/>
        </p:nvSpPr>
        <p:spPr>
          <a:xfrm>
            <a:off x="457200" y="1554480"/>
            <a:ext cx="12070080" cy="365760"/>
          </a:xfrm>
          <a:prstGeom prst="rect">
            <a:avLst/>
          </a:prstGeom>
          <a:noFill/>
        </p:spPr>
        <p:txBody>
          <a:bodyPr wrap="square">
            <a:spAutoFit/>
          </a:bodyPr>
          <a:lstStyle/>
          <a:p>
            <a:r>
              <a:rPr sz="1600" b="0">
                <a:solidFill>
                  <a:srgbClr val="595959"/>
                </a:solidFill>
                <a:latin typeface="Helvetica Neue Light"/>
              </a:rPr>
              <a:t>Examples from the FinViz research notes, as of September 2026.</a:t>
            </a:r>
          </a:p>
        </p:txBody>
      </p:sp>
      <p:graphicFrame>
        <p:nvGraphicFramePr>
          <p:cNvPr id="5" name="Table 4"/>
          <p:cNvGraphicFramePr>
            <a:graphicFrameLocks noGrp="1"/>
          </p:cNvGraphicFramePr>
          <p:nvPr/>
        </p:nvGraphicFramePr>
        <p:xfrm>
          <a:off x="457200" y="2377440"/>
          <a:ext cx="12070080" cy="3291840"/>
        </p:xfrm>
        <a:graphic>
          <a:graphicData uri="http://schemas.openxmlformats.org/drawingml/2006/table">
            <a:tbl>
              <a:tblPr firstRow="1" bandRow="1">
                <a:tableStyleId>{5C22544A-7EE6-4342-B048-85BDC9FD1C3A}</a:tableStyleId>
              </a:tblPr>
              <a:tblGrid>
                <a:gridCol w="2743200"/>
                <a:gridCol w="4572000"/>
                <a:gridCol w="4754880"/>
              </a:tblGrid>
              <a:tr h="822960">
                <a:tc>
                  <a:txBody>
                    <a:bodyPr/>
                    <a:lstStyle/>
                    <a:p>
                      <a:r>
                        <a:rPr sz="1500" b="1">
                          <a:solidFill>
                            <a:srgbClr val="FFFFFF"/>
                          </a:solidFill>
                          <a:latin typeface="Helvetica Neue"/>
                        </a:rPr>
                        <a:t>Product</a:t>
                      </a:r>
                    </a:p>
                  </a:txBody>
                  <a:tcPr>
                    <a:solidFill>
                      <a:srgbClr val="C45A35"/>
                    </a:solidFill>
                  </a:tcPr>
                </a:tc>
                <a:tc>
                  <a:txBody>
                    <a:bodyPr/>
                    <a:lstStyle/>
                    <a:p>
                      <a:r>
                        <a:rPr sz="1500" b="1">
                          <a:solidFill>
                            <a:srgbClr val="FFFFFF"/>
                          </a:solidFill>
                          <a:latin typeface="Helvetica Neue"/>
                        </a:rPr>
                        <a:t>Where it is strong</a:t>
                      </a:r>
                    </a:p>
                  </a:txBody>
                  <a:tcPr>
                    <a:solidFill>
                      <a:srgbClr val="C45A35"/>
                    </a:solidFill>
                  </a:tcPr>
                </a:tc>
                <a:tc>
                  <a:txBody>
                    <a:bodyPr/>
                    <a:lstStyle/>
                    <a:p>
                      <a:r>
                        <a:rPr sz="1500" b="1">
                          <a:solidFill>
                            <a:srgbClr val="FFFFFF"/>
                          </a:solidFill>
                          <a:latin typeface="Helvetica Neue"/>
                        </a:rPr>
                        <a:t>Where the AI layer fits</a:t>
                      </a:r>
                    </a:p>
                  </a:txBody>
                  <a:tcPr>
                    <a:solidFill>
                      <a:srgbClr val="C45A35"/>
                    </a:solidFill>
                  </a:tcPr>
                </a:tc>
              </a:tr>
              <a:tr h="822960">
                <a:tc>
                  <a:txBody>
                    <a:bodyPr/>
                    <a:lstStyle/>
                    <a:p>
                      <a:r>
                        <a:rPr sz="1600" b="1">
                          <a:solidFill>
                            <a:srgbClr val="1F1F1F"/>
                          </a:solidFill>
                          <a:latin typeface="Helvetica Neue"/>
                        </a:rPr>
                        <a:t>TradingView</a:t>
                      </a:r>
                    </a:p>
                  </a:txBody>
                  <a:tcPr>
                    <a:solidFill>
                      <a:srgbClr val="FFFFFF"/>
                    </a:solidFill>
                  </a:tcPr>
                </a:tc>
                <a:tc>
                  <a:txBody>
                    <a:bodyPr/>
                    <a:lstStyle/>
                    <a:p>
                      <a:r>
                        <a:rPr sz="1600" b="0">
                          <a:solidFill>
                            <a:srgbClr val="1F1F1F"/>
                          </a:solidFill>
                          <a:latin typeface="Helvetica Neue Light"/>
                        </a:rPr>
                        <a:t>Charting and community. Ships AI chart analysis and document summaries.</a:t>
                      </a:r>
                    </a:p>
                  </a:txBody>
                  <a:tcPr>
                    <a:solidFill>
                      <a:srgbClr val="FFFFFF"/>
                    </a:solidFill>
                  </a:tcPr>
                </a:tc>
                <a:tc>
                  <a:txBody>
                    <a:bodyPr/>
                    <a:lstStyle/>
                    <a:p>
                      <a:r>
                        <a:rPr sz="1600" b="0">
                          <a:solidFill>
                            <a:srgbClr val="1F1F1F"/>
                          </a:solidFill>
                          <a:latin typeface="Helvetica Neue Light"/>
                        </a:rPr>
                        <a:t>Explains the trader’s own screen. FinViz stays the fastest place to find ideas.</a:t>
                      </a:r>
                    </a:p>
                  </a:txBody>
                  <a:tcPr>
                    <a:solidFill>
                      <a:srgbClr val="FFFFFF"/>
                    </a:solidFill>
                  </a:tcPr>
                </a:tc>
              </a:tr>
              <a:tr h="822960">
                <a:tc>
                  <a:txBody>
                    <a:bodyPr/>
                    <a:lstStyle/>
                    <a:p>
                      <a:r>
                        <a:rPr sz="1600" b="1">
                          <a:solidFill>
                            <a:srgbClr val="1F1F1F"/>
                          </a:solidFill>
                          <a:latin typeface="Helvetica Neue"/>
                        </a:rPr>
                        <a:t>Trade Ideas</a:t>
                      </a:r>
                    </a:p>
                  </a:txBody>
                  <a:tcPr>
                    <a:solidFill>
                      <a:srgbClr val="FAFAFA"/>
                    </a:solidFill>
                  </a:tcPr>
                </a:tc>
                <a:tc>
                  <a:txBody>
                    <a:bodyPr/>
                    <a:lstStyle/>
                    <a:p>
                      <a:r>
                        <a:rPr sz="1600" b="0">
                          <a:solidFill>
                            <a:srgbClr val="1F1F1F"/>
                          </a:solidFill>
                          <a:latin typeface="Helvetica Neue Light"/>
                        </a:rPr>
                        <a:t>Real-time scanning and alerts at tick speed.</a:t>
                      </a:r>
                    </a:p>
                  </a:txBody>
                  <a:tcPr>
                    <a:solidFill>
                      <a:srgbClr val="FAFAFA"/>
                    </a:solidFill>
                  </a:tcPr>
                </a:tc>
                <a:tc>
                  <a:txBody>
                    <a:bodyPr/>
                    <a:lstStyle/>
                    <a:p>
                      <a:r>
                        <a:rPr sz="1600" b="0">
                          <a:solidFill>
                            <a:srgbClr val="1F1F1F"/>
                          </a:solidFill>
                          <a:latin typeface="Helvetica Neue Light"/>
                        </a:rPr>
                        <a:t>FinViz does not compete on tick speed. Push alerts on a saved screen matter more to this user.</a:t>
                      </a:r>
                    </a:p>
                  </a:txBody>
                  <a:tcPr>
                    <a:solidFill>
                      <a:srgbClr val="FAFAFA"/>
                    </a:solidFill>
                  </a:tcPr>
                </a:tc>
              </a:tr>
              <a:tr h="822960">
                <a:tc>
                  <a:txBody>
                    <a:bodyPr/>
                    <a:lstStyle/>
                    <a:p>
                      <a:r>
                        <a:rPr sz="1600" b="1">
                          <a:solidFill>
                            <a:srgbClr val="1F1F1F"/>
                          </a:solidFill>
                          <a:latin typeface="Helvetica Neue"/>
                        </a:rPr>
                        <a:t>Bloomberg Terminal</a:t>
                      </a:r>
                    </a:p>
                  </a:txBody>
                  <a:tcPr>
                    <a:solidFill>
                      <a:srgbClr val="FFFFFF"/>
                    </a:solidFill>
                  </a:tcPr>
                </a:tc>
                <a:tc>
                  <a:txBody>
                    <a:bodyPr/>
                    <a:lstStyle/>
                    <a:p>
                      <a:r>
                        <a:rPr sz="1600" b="0">
                          <a:solidFill>
                            <a:srgbClr val="1F1F1F"/>
                          </a:solidFill>
                          <a:latin typeface="Helvetica Neue Light"/>
                        </a:rPr>
                        <a:t>Market data and news flow for professionals.</a:t>
                      </a:r>
                    </a:p>
                  </a:txBody>
                  <a:tcPr>
                    <a:solidFill>
                      <a:srgbClr val="FFFFFF"/>
                    </a:solidFill>
                  </a:tcPr>
                </a:tc>
                <a:tc>
                  <a:txBody>
                    <a:bodyPr/>
                    <a:lstStyle/>
                    <a:p>
                      <a:r>
                        <a:rPr sz="1600" b="0">
                          <a:solidFill>
                            <a:srgbClr val="1F1F1F"/>
                          </a:solidFill>
                          <a:latin typeface="Helvetica Neue Light"/>
                        </a:rPr>
                        <a:t>Cost and complexity. FinViz’s job is discovery for individual traders.</a:t>
                      </a:r>
                    </a:p>
                  </a:txBody>
                  <a:tcPr>
                    <a:solidFill>
                      <a:srgbClr val="FFFFFF"/>
                    </a:solidFill>
                  </a:tcPr>
                </a:tc>
              </a:tr>
            </a:tbl>
          </a:graphicData>
        </a:graphic>
      </p:graphicFrame>
      <p:sp>
        <p:nvSpPr>
          <p:cNvPr id="6" name="TextBox 5"/>
          <p:cNvSpPr txBox="1"/>
          <p:nvPr/>
        </p:nvSpPr>
        <p:spPr>
          <a:xfrm>
            <a:off x="457200" y="7955279"/>
            <a:ext cx="12070080" cy="822960"/>
          </a:xfrm>
          <a:prstGeom prst="rect">
            <a:avLst/>
          </a:prstGeom>
          <a:noFill/>
        </p:spPr>
        <p:txBody>
          <a:bodyPr wrap="square">
            <a:spAutoFit/>
          </a:bodyPr>
          <a:lstStyle/>
          <a:p>
            <a:r>
              <a:rPr sz="1500" b="0">
                <a:solidFill>
                  <a:srgbClr val="6E6E6E"/>
                </a:solidFill>
                <a:latin typeface="Helvetica Neue Light"/>
              </a:rPr>
              <a:t>Source: FinViz research notes. Competitor features change. Re-check before publishing.</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975360" y="910336"/>
            <a:ext cx="5771128" cy="1170432"/>
          </a:xfrm>
          <a:prstGeom prst="rect">
            <a:avLst/>
          </a:prstGeom>
          <a:noFill/>
          <a:ln/>
        </p:spPr>
        <p:txBody>
          <a:bodyPr wrap="square" lIns="0" tIns="0" rIns="0" bIns="0" rtlCol="0" anchor="t"/>
          <a:lstStyle/>
          <a:p>
            <a:r>
              <a:rPr lang="en-US" sz="6000" dirty="0">
                <a:solidFill>
                  <a:srgbClr val="FFFFFF"/>
                </a:solidFill>
                <a:latin typeface="Helvetica Neue Light" pitchFamily="34" charset="0"/>
                <a:ea typeface="Helvetica Neue Light" pitchFamily="34" charset="-122"/>
                <a:cs typeface="Helvetica Neue Light" pitchFamily="34" charset="-120"/>
              </a:rPr>
              <a:t>AI UX Principles</a:t>
            </a:r>
            <a:endParaRPr lang="en-US" sz="6000" dirty="0"/>
          </a:p>
        </p:txBody>
      </p:sp>
      <p:sp>
        <p:nvSpPr>
          <p:cNvPr id="3" name="Text 1"/>
          <p:cNvSpPr txBox="1"/>
          <p:nvPr/>
        </p:nvSpPr>
        <p:spPr>
          <a:xfrm>
            <a:off x="975360" y="2600960"/>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Onboarding is not a phase: </a:t>
            </a:r>
            <a:r>
              <a:rPr lang="en-US" sz="1707" dirty="0">
                <a:solidFill>
                  <a:srgbClr val="FFE9DF"/>
                </a:solidFill>
                <a:latin typeface="Helvetica Neue Light" pitchFamily="34" charset="0"/>
                <a:ea typeface="Helvetica Neue Light" pitchFamily="34" charset="-122"/>
                <a:cs typeface="Helvetica Neue Light" pitchFamily="34" charset="-120"/>
              </a:rPr>
              <a:t>learnability is a property of every screen; no wizard, no tour.</a:t>
            </a:r>
            <a:endParaRPr lang="en-US" sz="1707" dirty="0"/>
          </a:p>
        </p:txBody>
      </p:sp>
      <p:sp>
        <p:nvSpPr>
          <p:cNvPr id="4" name="Text 2"/>
          <p:cNvSpPr txBox="1"/>
          <p:nvPr/>
        </p:nvSpPr>
        <p:spPr>
          <a:xfrm>
            <a:off x="975360" y="3836416"/>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Learn by doing: </a:t>
            </a:r>
            <a:r>
              <a:rPr lang="en-US" sz="1707" dirty="0">
                <a:solidFill>
                  <a:srgbClr val="FFE9DF"/>
                </a:solidFill>
                <a:latin typeface="Helvetica Neue Light" pitchFamily="34" charset="0"/>
                <a:ea typeface="Helvetica Neue Light" pitchFamily="34" charset="-122"/>
                <a:cs typeface="Helvetica Neue Light" pitchFamily="34" charset="-120"/>
              </a:rPr>
              <a:t>every explanation is attached to a chip, a row or an alert.</a:t>
            </a:r>
            <a:endParaRPr lang="en-US" sz="1707" dirty="0"/>
          </a:p>
        </p:txBody>
      </p:sp>
      <p:sp>
        <p:nvSpPr>
          <p:cNvPr id="5" name="Text 3"/>
          <p:cNvSpPr txBox="1"/>
          <p:nvPr/>
        </p:nvSpPr>
        <p:spPr>
          <a:xfrm>
            <a:off x="975360" y="5071872"/>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Scaffolds fade: </a:t>
            </a:r>
            <a:r>
              <a:rPr lang="en-US" sz="1707" dirty="0">
                <a:solidFill>
                  <a:srgbClr val="FFE9DF"/>
                </a:solidFill>
                <a:latin typeface="Helvetica Neue Light" pitchFamily="34" charset="0"/>
                <a:ea typeface="Helvetica Neue Light" pitchFamily="34" charset="-122"/>
                <a:cs typeface="Helvetica Neue Light" pitchFamily="34" charset="-120"/>
              </a:rPr>
              <a:t>help per concept fades with fluency and returns after 30 days.</a:t>
            </a:r>
            <a:endParaRPr lang="en-US" sz="1707" dirty="0"/>
          </a:p>
        </p:txBody>
      </p:sp>
      <p:sp>
        <p:nvSpPr>
          <p:cNvPr id="6" name="Text 4"/>
          <p:cNvSpPr txBox="1"/>
          <p:nvPr/>
        </p:nvSpPr>
        <p:spPr>
          <a:xfrm>
            <a:off x="975360" y="6307328"/>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Editable output: </a:t>
            </a:r>
            <a:r>
              <a:rPr lang="en-US" sz="1707" dirty="0">
                <a:solidFill>
                  <a:srgbClr val="FFE9DF"/>
                </a:solidFill>
                <a:latin typeface="Helvetica Neue Light" pitchFamily="34" charset="0"/>
                <a:ea typeface="Helvetica Neue Light" pitchFamily="34" charset="-122"/>
                <a:cs typeface="Helvetica Neue Light" pitchFamily="34" charset="-120"/>
              </a:rPr>
              <a:t>AI writes filters, rules and columns, never chat bubbles.</a:t>
            </a:r>
            <a:endParaRPr lang="en-US" sz="1707" dirty="0"/>
          </a:p>
        </p:txBody>
      </p:sp>
      <p:sp>
        <p:nvSpPr>
          <p:cNvPr id="7" name="Text 5"/>
          <p:cNvSpPr txBox="1"/>
          <p:nvPr/>
        </p:nvSpPr>
        <p:spPr>
          <a:xfrm>
            <a:off x="975360" y="7542784"/>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Remembers your why: </a:t>
            </a:r>
            <a:r>
              <a:rPr lang="en-US" sz="1707" dirty="0">
                <a:solidFill>
                  <a:srgbClr val="FFE9DF"/>
                </a:solidFill>
                <a:latin typeface="Helvetica Neue Light" pitchFamily="34" charset="0"/>
                <a:ea typeface="Helvetica Neue Light" pitchFamily="34" charset="-122"/>
                <a:cs typeface="Helvetica Neue Light" pitchFamily="34" charset="-120"/>
              </a:rPr>
              <a:t>screens and watches keep the reasons they were created.</a:t>
            </a:r>
            <a:endParaRPr lang="en-US" sz="1707" dirty="0"/>
          </a:p>
        </p:txBody>
      </p:sp>
      <p:sp>
        <p:nvSpPr>
          <p:cNvPr id="8" name="Text 6"/>
          <p:cNvSpPr txBox="1"/>
          <p:nvPr/>
        </p:nvSpPr>
        <p:spPr>
          <a:xfrm>
            <a:off x="7074039" y="2600960"/>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Judgment stays with the trader: </a:t>
            </a:r>
            <a:r>
              <a:rPr lang="en-US" sz="1707" dirty="0">
                <a:solidFill>
                  <a:srgbClr val="FFE9DF"/>
                </a:solidFill>
                <a:latin typeface="Helvetica Neue Light" pitchFamily="34" charset="0"/>
                <a:ea typeface="Helvetica Neue Light" pitchFamily="34" charset="-122"/>
                <a:cs typeface="Helvetica Neue Light" pitchFamily="34" charset="-120"/>
              </a:rPr>
              <a:t>AI explains and verifies; it never recommends, predicts or places orders.</a:t>
            </a:r>
            <a:endParaRPr lang="en-US" sz="1707" dirty="0"/>
          </a:p>
        </p:txBody>
      </p:sp>
      <p:sp>
        <p:nvSpPr>
          <p:cNvPr id="9" name="Text 7"/>
          <p:cNvSpPr txBox="1"/>
          <p:nvPr/>
        </p:nvSpPr>
        <p:spPr>
          <a:xfrm>
            <a:off x="7074039" y="3836416"/>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Explain at the moment of doubt: </a:t>
            </a:r>
            <a:r>
              <a:rPr lang="en-US" sz="1707" dirty="0">
                <a:solidFill>
                  <a:srgbClr val="FFE9DF"/>
                </a:solidFill>
                <a:latin typeface="Helvetica Neue Light" pitchFamily="34" charset="0"/>
                <a:ea typeface="Helvetica Neue Light" pitchFamily="34" charset="-122"/>
                <a:cs typeface="Helvetica Neue Light" pitchFamily="34" charset="-120"/>
              </a:rPr>
              <a:t>“why it matched” on every row and every alert.</a:t>
            </a:r>
            <a:endParaRPr lang="en-US" sz="1707" dirty="0"/>
          </a:p>
        </p:txBody>
      </p:sp>
      <p:sp>
        <p:nvSpPr>
          <p:cNvPr id="10" name="Text 8"/>
          <p:cNvSpPr txBox="1"/>
          <p:nvPr/>
        </p:nvSpPr>
        <p:spPr>
          <a:xfrm>
            <a:off x="7074039" y="5071872"/>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Show consequences first: </a:t>
            </a:r>
            <a:r>
              <a:rPr lang="en-US" sz="1707" dirty="0">
                <a:solidFill>
                  <a:srgbClr val="FFE9DF"/>
                </a:solidFill>
                <a:latin typeface="Helvetica Neue Light" pitchFamily="34" charset="0"/>
                <a:ea typeface="Helvetica Neue Light" pitchFamily="34" charset="-122"/>
                <a:cs typeface="Helvetica Neue Light" pitchFamily="34" charset="-120"/>
              </a:rPr>
              <a:t>an alert is previewed against the last 30 days before it is saved.</a:t>
            </a:r>
            <a:endParaRPr lang="en-US" sz="1707" dirty="0"/>
          </a:p>
        </p:txBody>
      </p:sp>
      <p:sp>
        <p:nvSpPr>
          <p:cNvPr id="11" name="Text 9"/>
          <p:cNvSpPr txBox="1"/>
          <p:nvPr/>
        </p:nvSpPr>
        <p:spPr>
          <a:xfrm>
            <a:off x="7074039" y="6307328"/>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Honest history: </a:t>
            </a:r>
            <a:r>
              <a:rPr lang="en-US" sz="1707" dirty="0">
                <a:solidFill>
                  <a:srgbClr val="FFE9DF"/>
                </a:solidFill>
                <a:latin typeface="Helvetica Neue Light" pitchFamily="34" charset="0"/>
                <a:ea typeface="Helvetica Neue Light" pitchFamily="34" charset="-122"/>
                <a:cs typeface="Helvetica Neue Light" pitchFamily="34" charset="-120"/>
              </a:rPr>
              <a:t>base rates with sample sizes, never a confidence % on a trade.</a:t>
            </a:r>
            <a:endParaRPr lang="en-US" sz="1707" dirty="0"/>
          </a:p>
        </p:txBody>
      </p:sp>
      <p:sp>
        <p:nvSpPr>
          <p:cNvPr id="12" name="Text 10"/>
          <p:cNvSpPr txBox="1"/>
          <p:nvPr/>
        </p:nvSpPr>
        <p:spPr>
          <a:xfrm>
            <a:off x="7074039" y="7542784"/>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Grounded in research: </a:t>
            </a:r>
            <a:r>
              <a:rPr lang="en-US" sz="1707" dirty="0">
                <a:solidFill>
                  <a:srgbClr val="FFE9DF"/>
                </a:solidFill>
                <a:latin typeface="Helvetica Neue Light" pitchFamily="34" charset="0"/>
                <a:ea typeface="Helvetica Neue Light" pitchFamily="34" charset="-122"/>
                <a:cs typeface="Helvetica Neue Light" pitchFamily="34" charset="-120"/>
              </a:rPr>
              <a:t>Microsoft HAX guidelines and Google PAIR.</a:t>
            </a:r>
            <a:endParaRPr lang="en-US" sz="1707" dirty="0"/>
          </a:p>
        </p:txBody>
      </p:sp>
      <p:sp>
        <p:nvSpPr>
          <p:cNvPr id="13" name="design lead call"/>
          <p:cNvSpPr/>
          <p:nvPr/>
        </p:nvSpPr>
        <p:spPr>
          <a:xfrm>
            <a:off x="6853530" y="312115"/>
            <a:ext cx="5696102" cy="416154"/>
          </a:xfrm>
          <a:prstGeom prst="rect">
            <a:avLst/>
          </a:prstGeom>
          <a:solidFill>
            <a:srgbClr val="C45A35"/>
          </a:solidFill>
          <a:ln w="12700">
            <a:solidFill>
              <a:srgbClr val="C45A35"/>
            </a:solidFill>
            <a:prstDash val="solid"/>
          </a:ln>
        </p:spPr>
        <p:txBody>
          <a:bodyPr/>
          <a:lstStyle/>
          <a:p>
            <a:endParaRPr sz="2560"/>
          </a:p>
        </p:txBody>
      </p:sp>
      <p:sp>
        <p:nvSpPr>
          <p:cNvPr id="14" name="Text 12"/>
          <p:cNvSpPr txBox="1"/>
          <p:nvPr/>
        </p:nvSpPr>
        <p:spPr>
          <a:xfrm>
            <a:off x="6853530" y="312115"/>
            <a:ext cx="5696102" cy="416154"/>
          </a:xfrm>
          <a:prstGeom prst="rect">
            <a:avLst/>
          </a:prstGeom>
          <a:noFill/>
          <a:ln/>
        </p:spPr>
        <p:txBody>
          <a:bodyPr wrap="square" lIns="0" tIns="0" rIns="0" bIns="0" rtlCol="0" anchor="ctr"/>
          <a:lstStyle/>
          <a:p>
            <a:pPr algn="ctr"/>
            <a:r>
              <a:rPr lang="en-US" sz="1280" b="1" kern="0" spc="142" dirty="0">
                <a:solidFill>
                  <a:srgbClr val="FFFFFF"/>
                </a:solidFill>
                <a:latin typeface="Helvetica Neue" pitchFamily="34" charset="0"/>
                <a:ea typeface="Helvetica Neue" pitchFamily="34" charset="-122"/>
                <a:cs typeface="Helvetica Neue" pitchFamily="34" charset="-120"/>
              </a:rPr>
              <a:t>DESIGN LEAD CALL  </a:t>
            </a:r>
            <a:r>
              <a:rPr lang="en-US" sz="1280" dirty="0">
                <a:solidFill>
                  <a:srgbClr val="FFFFFF"/>
                </a:solidFill>
                <a:latin typeface="Helvetica Neue Light" pitchFamily="34" charset="0"/>
                <a:ea typeface="Helvetica Neue Light" pitchFamily="34" charset="-122"/>
                <a:cs typeface="Helvetica Neue Light" pitchFamily="34" charset="-120"/>
              </a:rPr>
              <a:t>One design for first-time and repeat users</a:t>
            </a:r>
            <a:endParaRPr lang="en-US" sz="1280" dirty="0"/>
          </a:p>
        </p:txBody>
      </p:sp>
      <p:pic>
        <p:nvPicPr>
          <p:cNvPr id="15" name="Picture 14"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975360" y="975360"/>
            <a:ext cx="4551680" cy="1170432"/>
          </a:xfrm>
          <a:prstGeom prst="rect">
            <a:avLst/>
          </a:prstGeom>
          <a:noFill/>
          <a:ln/>
        </p:spPr>
        <p:txBody>
          <a:bodyPr wrap="square" lIns="0" tIns="0" rIns="0" bIns="0" rtlCol="0" anchor="t"/>
          <a:lstStyle/>
          <a:p>
            <a:r>
              <a:rPr lang="en-US" sz="6000" dirty="0">
                <a:solidFill>
                  <a:srgbClr val="FFFFFF"/>
                </a:solidFill>
                <a:latin typeface="Helvetica Neue Light" pitchFamily="34" charset="0"/>
                <a:ea typeface="Helvetica Neue Light" pitchFamily="34" charset="-122"/>
                <a:cs typeface="Helvetica Neue Light" pitchFamily="34" charset="-120"/>
              </a:rPr>
              <a:t>Next Steps</a:t>
            </a:r>
            <a:endParaRPr lang="en-US" sz="6000" dirty="0"/>
          </a:p>
        </p:txBody>
      </p:sp>
      <p:sp>
        <p:nvSpPr>
          <p:cNvPr id="3" name="Text 1"/>
          <p:cNvSpPr txBox="1"/>
          <p:nvPr/>
        </p:nvSpPr>
        <p:spPr>
          <a:xfrm>
            <a:off x="975360" y="3121152"/>
            <a:ext cx="10924032" cy="4941824"/>
          </a:xfrm>
          <a:prstGeom prst="rect">
            <a:avLst/>
          </a:prstGeom>
          <a:noFill/>
          <a:ln/>
        </p:spPr>
        <p:txBody>
          <a:bodyPr wrap="square" lIns="0" tIns="0" rIns="0" bIns="0" rtlCol="0" anchor="t"/>
          <a:lstStyle/>
          <a:p>
            <a:pPr marL="487672" indent="-487672">
              <a:spcAft>
                <a:spcPts val="1422"/>
              </a:spcAft>
              <a:buSzPct val="100000"/>
              <a:buChar char="•"/>
            </a:pPr>
            <a:r>
              <a:rPr lang="en-US" sz="2418" dirty="0">
                <a:solidFill>
                  <a:srgbClr val="FFFFFF"/>
                </a:solidFill>
                <a:latin typeface="Helvetica Neue Light" pitchFamily="34" charset="0"/>
                <a:ea typeface="Helvetica Neue Light" pitchFamily="34" charset="-122"/>
                <a:cs typeface="Helvetica Neue Light" pitchFamily="34" charset="-120"/>
              </a:rPr>
              <a:t>Usability test the first-release flow with swing traders in their first 14 days</a:t>
            </a:r>
            <a:endParaRPr lang="en-US" sz="2418" dirty="0"/>
          </a:p>
          <a:p>
            <a:pPr marL="487672" indent="-487672">
              <a:spcAft>
                <a:spcPts val="1422"/>
              </a:spcAft>
              <a:buSzPct val="100000"/>
              <a:buChar char="•"/>
            </a:pPr>
            <a:r>
              <a:rPr lang="en-US" sz="2418" dirty="0">
                <a:solidFill>
                  <a:srgbClr val="FFFFFF"/>
                </a:solidFill>
                <a:latin typeface="Helvetica Neue Light" pitchFamily="34" charset="0"/>
                <a:ea typeface="Helvetica Neue Light" pitchFamily="34" charset="-122"/>
                <a:cs typeface="Helvetica Neue Light" pitchFamily="34" charset="-120"/>
              </a:rPr>
              <a:t>Baseline time to first success and habit before claiming improvement</a:t>
            </a:r>
            <a:endParaRPr lang="en-US" sz="2418" dirty="0"/>
          </a:p>
          <a:p>
            <a:pPr marL="487672" indent="-487672">
              <a:spcAft>
                <a:spcPts val="1422"/>
              </a:spcAft>
              <a:buSzPct val="100000"/>
              <a:buChar char="•"/>
            </a:pPr>
            <a:r>
              <a:rPr lang="en-US" sz="2418" dirty="0">
                <a:solidFill>
                  <a:srgbClr val="FFFFFF"/>
                </a:solidFill>
                <a:latin typeface="Helvetica Neue Light" pitchFamily="34" charset="0"/>
                <a:ea typeface="Helvetica Neue Light" pitchFamily="34" charset="-122"/>
                <a:cs typeface="Helvetica Neue Light" pitchFamily="34" charset="-120"/>
              </a:rPr>
              <a:t>Clear the advice line and attributed analyst views with compliance</a:t>
            </a:r>
            <a:endParaRPr lang="en-US" sz="2418" dirty="0"/>
          </a:p>
          <a:p>
            <a:pPr marL="487672" indent="-487672">
              <a:spcAft>
                <a:spcPts val="1422"/>
              </a:spcAft>
              <a:buSzPct val="100000"/>
              <a:buChar char="•"/>
            </a:pPr>
            <a:r>
              <a:rPr lang="en-US" sz="2418" dirty="0">
                <a:solidFill>
                  <a:srgbClr val="FFFFFF"/>
                </a:solidFill>
                <a:latin typeface="Helvetica Neue Light" pitchFamily="34" charset="0"/>
                <a:ea typeface="Helvetica Neue Light" pitchFamily="34" charset="-122"/>
                <a:cs typeface="Helvetica Neue Light" pitchFamily="34" charset="-120"/>
              </a:rPr>
              <a:t>Clickable hi-fi prototype of the 19-step flow for usability testing</a:t>
            </a:r>
            <a:endParaRPr lang="en-US" sz="2418" dirty="0"/>
          </a:p>
        </p:txBody>
      </p:sp>
      <p:pic>
        <p:nvPicPr>
          <p:cNvPr id="4" name="Picture 3"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MORE WORK</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14161D"/>
                </a:solidFill>
                <a:latin typeface="Helvetica Neue Medium"/>
                <a:cs typeface="Helvetica Neue Medium"/>
              </a:rPr>
              <a:t>More work, </a:t>
            </a:r>
            <a:r>
              <a:rPr lang="en-US" sz="4400" spc="-40" dirty="0">
                <a:solidFill>
                  <a:srgbClr val="B5531F"/>
                </a:solidFill>
                <a:latin typeface="Helvetica Neue Medium"/>
                <a:cs typeface="Helvetica Neue Medium"/>
              </a:rPr>
              <a:t>on request</a:t>
            </a:r>
            <a:r>
              <a:rPr lang="en-US" sz="4400" spc="-40" dirty="0">
                <a:solidFill>
                  <a:srgbClr val="14161D"/>
                </a:solidFill>
                <a:latin typeface="Helvetica Neue Medium"/>
                <a:cs typeface="Helvetica Neue Medium"/>
              </a:rPr>
              <a:t>.</a:t>
            </a:r>
          </a:p>
        </p:txBody>
      </p:sp>
      <p:sp>
        <p:nvSpPr>
          <p:cNvPr id="103" name="Column label"/>
          <p:cNvSpPr txBox="1"/>
          <p:nvPr/>
        </p:nvSpPr>
        <p:spPr>
          <a:xfrm>
            <a:off x="822960" y="3566160"/>
            <a:ext cx="365760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PROJECT</a:t>
            </a:r>
          </a:p>
        </p:txBody>
      </p:sp>
      <p:sp>
        <p:nvSpPr>
          <p:cNvPr id="104" name="Column label"/>
          <p:cNvSpPr txBox="1"/>
          <p:nvPr/>
        </p:nvSpPr>
        <p:spPr>
          <a:xfrm>
            <a:off x="4754880" y="3566160"/>
            <a:ext cx="742696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WHAT IT IS</a:t>
            </a:r>
          </a:p>
        </p:txBody>
      </p:sp>
      <p:cxnSp>
        <p:nvCxnSpPr>
          <p:cNvPr id="105" name="Divider"/>
          <p:cNvCxnSpPr/>
          <p:nvPr/>
        </p:nvCxnSpPr>
        <p:spPr>
          <a:xfrm>
            <a:off x="822960" y="3950208"/>
            <a:ext cx="11358880" cy="0"/>
          </a:xfrm>
          <a:prstGeom prst="line">
            <a:avLst/>
          </a:prstGeom>
          <a:ln w="9525">
            <a:solidFill>
              <a:srgbClr val="E1E3E8"/>
            </a:solidFill>
          </a:ln>
        </p:spPr>
      </p:cxnSp>
      <p:sp>
        <p:nvSpPr>
          <p:cNvPr id="106" name="Cell 1.1"/>
          <p:cNvSpPr txBox="1"/>
          <p:nvPr/>
        </p:nvSpPr>
        <p:spPr>
          <a:xfrm>
            <a:off x="822960" y="4096512"/>
            <a:ext cx="3657600" cy="73152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Wells Fargo mySMALLBUSINESS</a:t>
            </a:r>
          </a:p>
        </p:txBody>
      </p:sp>
      <p:sp>
        <p:nvSpPr>
          <p:cNvPr id="107" name="Cell 1.2"/>
          <p:cNvSpPr txBox="1"/>
          <p:nvPr/>
        </p:nvSpPr>
        <p:spPr>
          <a:xfrm>
            <a:off x="4754880" y="4096512"/>
            <a:ext cx="7426960" cy="73152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A B2B mobile app that helps small business owners track spending and plan</a:t>
            </a:r>
          </a:p>
        </p:txBody>
      </p:sp>
      <p:cxnSp>
        <p:nvCxnSpPr>
          <p:cNvPr id="108" name="Divider"/>
          <p:cNvCxnSpPr/>
          <p:nvPr/>
        </p:nvCxnSpPr>
        <p:spPr>
          <a:xfrm>
            <a:off x="822960" y="4864608"/>
            <a:ext cx="11358880" cy="0"/>
          </a:xfrm>
          <a:prstGeom prst="line">
            <a:avLst/>
          </a:prstGeom>
          <a:ln w="9525">
            <a:solidFill>
              <a:srgbClr val="E1E3E8"/>
            </a:solidFill>
          </a:ln>
        </p:spPr>
      </p:cxnSp>
      <p:sp>
        <p:nvSpPr>
          <p:cNvPr id="109" name="Cell 2.1"/>
          <p:cNvSpPr txBox="1"/>
          <p:nvPr/>
        </p:nvSpPr>
        <p:spPr>
          <a:xfrm>
            <a:off x="822960" y="5010912"/>
            <a:ext cx="3657600" cy="73152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Meridian Navigator</a:t>
            </a:r>
          </a:p>
        </p:txBody>
      </p:sp>
      <p:sp>
        <p:nvSpPr>
          <p:cNvPr id="110" name="Cell 2.2"/>
          <p:cNvSpPr txBox="1"/>
          <p:nvPr/>
        </p:nvSpPr>
        <p:spPr>
          <a:xfrm>
            <a:off x="4754880" y="5010912"/>
            <a:ext cx="7426960" cy="73152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An AI trading prototype built in SwiftUI, with a design system shared with Figma</a:t>
            </a:r>
          </a:p>
        </p:txBody>
      </p:sp>
      <p:cxnSp>
        <p:nvCxnSpPr>
          <p:cNvPr id="111" name="Divider"/>
          <p:cNvCxnSpPr/>
          <p:nvPr/>
        </p:nvCxnSpPr>
        <p:spPr>
          <a:xfrm>
            <a:off x="822960" y="5779008"/>
            <a:ext cx="11358880" cy="0"/>
          </a:xfrm>
          <a:prstGeom prst="line">
            <a:avLst/>
          </a:prstGeom>
          <a:ln w="9525">
            <a:solidFill>
              <a:srgbClr val="E1E3E8"/>
            </a:solidFill>
          </a:ln>
        </p:spPr>
      </p:cxnSp>
      <p:sp>
        <p:nvSpPr>
          <p:cNvPr id="112" name="Cell 3.1"/>
          <p:cNvSpPr txBox="1"/>
          <p:nvPr/>
        </p:nvSpPr>
        <p:spPr>
          <a:xfrm>
            <a:off x="822960" y="5925312"/>
            <a:ext cx="3657600" cy="73152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Show It</a:t>
            </a:r>
          </a:p>
        </p:txBody>
      </p:sp>
      <p:sp>
        <p:nvSpPr>
          <p:cNvPr id="113" name="Cell 3.2"/>
          <p:cNvSpPr txBox="1"/>
          <p:nvPr/>
        </p:nvSpPr>
        <p:spPr>
          <a:xfrm>
            <a:off x="4754880" y="5925312"/>
            <a:ext cx="7426960" cy="73152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A live prototype of FinViz’s hero mechanic, with an eval that scores the AI</a:t>
            </a:r>
          </a:p>
        </p:txBody>
      </p:sp>
      <p:cxnSp>
        <p:nvCxnSpPr>
          <p:cNvPr id="114" name="Divider"/>
          <p:cNvCxnSpPr/>
          <p:nvPr/>
        </p:nvCxnSpPr>
        <p:spPr>
          <a:xfrm>
            <a:off x="822960" y="6693408"/>
            <a:ext cx="11358880" cy="0"/>
          </a:xfrm>
          <a:prstGeom prst="line">
            <a:avLst/>
          </a:prstGeom>
          <a:ln w="9525">
            <a:solidFill>
              <a:srgbClr val="E1E3E8"/>
            </a:solidFill>
          </a:ln>
        </p:spPr>
      </p:cxnSp>
      <p:sp>
        <p:nvSpPr>
          <p:cNvPr id="115" name="Source"/>
          <p:cNvSpPr txBox="1"/>
          <p:nvPr/>
        </p:nvSpPr>
        <p:spPr>
          <a:xfrm>
            <a:off x="822960" y="8503920"/>
            <a:ext cx="11358880" cy="274320"/>
          </a:xfrm>
          <a:prstGeom prst="rect">
            <a:avLst/>
          </a:prstGeom>
          <a:noFill/>
        </p:spPr>
        <p:txBody>
          <a:bodyPr wrap="square" lIns="0" tIns="0" rIns="0" bIns="0" anchor="t">
            <a:noAutofit/>
          </a:bodyPr>
          <a:lstStyle/>
          <a:p>
            <a:pPr algn="l">
              <a:lnSpc>
                <a:spcPct val="105000"/>
              </a:lnSpc>
              <a:spcAft>
                <a:spcPts val="300"/>
              </a:spcAft>
            </a:pPr>
            <a:r>
              <a:rPr lang="en-US" sz="1200" spc="0" dirty="0">
                <a:solidFill>
                  <a:srgbClr val="858A97"/>
                </a:solidFill>
                <a:latin typeface="Helvetica Neue Light"/>
                <a:cs typeface="Helvetica Neue Light"/>
              </a:rPr>
              <a:t>Full archived case studies at michaeljthibodeau.com</a:t>
            </a:r>
          </a:p>
        </p:txBody>
      </p:sp>
      <p:pic>
        <p:nvPicPr>
          <p:cNvPr id="116"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CONTACT</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5000" spc="-40" dirty="0">
                <a:solidFill>
                  <a:srgbClr val="F5F5F7"/>
                </a:solidFill>
                <a:latin typeface="Helvetica Neue Medium"/>
                <a:cs typeface="Helvetica Neue Medium"/>
              </a:rPr>
              <a:t>Let’s talk about </a:t>
            </a:r>
            <a:r>
              <a:rPr lang="en-US" sz="5000" spc="-40" dirty="0">
                <a:solidFill>
                  <a:srgbClr val="E98C64"/>
                </a:solidFill>
                <a:latin typeface="Helvetica Neue Medium"/>
                <a:cs typeface="Helvetica Neue Medium"/>
              </a:rPr>
              <a:t>your next product</a:t>
            </a:r>
            <a:r>
              <a:rPr lang="en-US" sz="5000" spc="-40" dirty="0">
                <a:solidFill>
                  <a:srgbClr val="F5F5F7"/>
                </a:solidFill>
                <a:latin typeface="Helvetica Neue Medium"/>
                <a:cs typeface="Helvetica Neue Medium"/>
              </a:rPr>
              <a:t>.</a:t>
            </a:r>
          </a:p>
        </p:txBody>
      </p:sp>
      <p:cxnSp>
        <p:nvCxnSpPr>
          <p:cNvPr id="103" name="Divider"/>
          <p:cNvCxnSpPr/>
          <p:nvPr/>
        </p:nvCxnSpPr>
        <p:spPr>
          <a:xfrm>
            <a:off x="822960" y="4572000"/>
            <a:ext cx="11358880" cy="0"/>
          </a:xfrm>
          <a:prstGeom prst="line">
            <a:avLst/>
          </a:prstGeom>
          <a:ln w="9525">
            <a:solidFill>
              <a:srgbClr val="2C2F38"/>
            </a:solidFill>
          </a:ln>
        </p:spPr>
      </p:cxnSp>
      <p:sp>
        <p:nvSpPr>
          <p:cNvPr id="104" name="Name"/>
          <p:cNvSpPr txBox="1"/>
          <p:nvPr/>
        </p:nvSpPr>
        <p:spPr>
          <a:xfrm>
            <a:off x="822960" y="4846320"/>
            <a:ext cx="11358880" cy="548640"/>
          </a:xfrm>
          <a:prstGeom prst="rect">
            <a:avLst/>
          </a:prstGeom>
          <a:noFill/>
        </p:spPr>
        <p:txBody>
          <a:bodyPr wrap="square" lIns="0" tIns="0" rIns="0" bIns="0" anchor="t">
            <a:noAutofit/>
          </a:bodyPr>
          <a:lstStyle/>
          <a:p>
            <a:pPr algn="l">
              <a:lnSpc>
                <a:spcPct val="115000"/>
              </a:lnSpc>
              <a:spcAft>
                <a:spcPts val="300"/>
              </a:spcAft>
            </a:pPr>
            <a:r>
              <a:rPr lang="en-US" sz="2400" spc="0" dirty="0">
                <a:solidFill>
                  <a:srgbClr val="A3A8B4"/>
                </a:solidFill>
                <a:latin typeface="Helvetica Neue Light"/>
                <a:cs typeface="Helvetica Neue Light"/>
              </a:rPr>
              <a:t>michael</a:t>
            </a:r>
            <a:r>
              <a:rPr lang="en-US" sz="2800" spc="0" dirty="0">
                <a:solidFill>
                  <a:srgbClr val="F5F5F7"/>
                </a:solidFill>
                <a:latin typeface="Helvetica Neue Medium"/>
                <a:cs typeface="Helvetica Neue Medium"/>
              </a:rPr>
              <a:t>thibodea(UX)</a:t>
            </a:r>
          </a:p>
        </p:txBody>
      </p:sp>
      <p:sp>
        <p:nvSpPr>
          <p:cNvPr id="105" name="Details"/>
          <p:cNvSpPr txBox="1"/>
          <p:nvPr/>
        </p:nvSpPr>
        <p:spPr>
          <a:xfrm>
            <a:off x="822960" y="5669280"/>
            <a:ext cx="11358880" cy="1463040"/>
          </a:xfrm>
          <a:prstGeom prst="rect">
            <a:avLst/>
          </a:prstGeom>
          <a:noFill/>
        </p:spPr>
        <p:txBody>
          <a:bodyPr wrap="square" lIns="0" tIns="0" rIns="0" bIns="0" anchor="t">
            <a:noAutofit/>
          </a:bodyPr>
          <a:lstStyle/>
          <a:p>
            <a:pPr algn="l">
              <a:lnSpc>
                <a:spcPct val="125000"/>
              </a:lnSpc>
              <a:spcAft>
                <a:spcPts val="300"/>
              </a:spcAft>
            </a:pPr>
            <a:r>
              <a:rPr lang="en-US" sz="1550" spc="0" dirty="0">
                <a:solidFill>
                  <a:srgbClr val="F5F5F7"/>
                </a:solidFill>
                <a:latin typeface="Helvetica Neue Light"/>
                <a:cs typeface="Helvetica Neue Light"/>
              </a:rPr>
              <a:t>michaelthbd@yahoo.com</a:t>
            </a:r>
          </a:p>
          <a:p>
            <a:pPr algn="l">
              <a:lnSpc>
                <a:spcPct val="125000"/>
              </a:lnSpc>
              <a:spcAft>
                <a:spcPts val="300"/>
              </a:spcAft>
            </a:pPr>
            <a:r>
              <a:rPr lang="en-US" sz="1550" spc="0" dirty="0">
                <a:solidFill>
                  <a:srgbClr val="F5F5F7"/>
                </a:solidFill>
                <a:latin typeface="Helvetica Neue Light"/>
                <a:cs typeface="Helvetica Neue Light"/>
              </a:rPr>
              <a:t>646 436 2876</a:t>
            </a:r>
          </a:p>
          <a:p>
            <a:pPr algn="l">
              <a:lnSpc>
                <a:spcPct val="125000"/>
              </a:lnSpc>
              <a:spcAft>
                <a:spcPts val="300"/>
              </a:spcAft>
            </a:pPr>
            <a:r>
              <a:rPr lang="en-US" sz="1550" spc="0" dirty="0">
                <a:solidFill>
                  <a:srgbClr val="A3A8B4"/>
                </a:solidFill>
                <a:latin typeface="Helvetica Neue Light"/>
                <a:cs typeface="Helvetica Neue Light"/>
              </a:rPr>
              <a:t>michaeljthibodeau.com</a:t>
            </a:r>
          </a:p>
        </p:txBody>
      </p:sp>
      <p:pic>
        <p:nvPicPr>
          <p:cNvPr id="106"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OVERVIEW</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The Trading Day: FinViz keeps watch while you work</a:t>
            </a:r>
          </a:p>
        </p:txBody>
      </p:sp>
      <p:pic>
        <p:nvPicPr>
          <p:cNvPr id="103" name="Picture 102" descr="image.png"/>
          <p:cNvPicPr>
            <a:picLocks noChangeAspect="1"/>
          </p:cNvPicPr>
          <p:nvPr/>
        </p:nvPicPr>
        <p:blipFill>
          <a:blip r:embed="rId2"/>
          <a:stretch>
            <a:fillRect/>
          </a:stretch>
        </p:blipFill>
        <p:spPr>
          <a:xfrm>
            <a:off x="822960" y="2011680"/>
            <a:ext cx="6170644" cy="5669280"/>
          </a:xfrm>
          <a:prstGeom prst="rect">
            <a:avLst/>
          </a:prstGeom>
        </p:spPr>
      </p:pic>
      <p:sp>
        <p:nvSpPr>
          <p:cNvPr id="104" name="Hero caption"/>
          <p:cNvSpPr txBox="1"/>
          <p:nvPr/>
        </p:nvSpPr>
        <p:spPr>
          <a:xfrm>
            <a:off x="822960" y="7818120"/>
            <a:ext cx="6309360" cy="54864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HERO  </a:t>
            </a:r>
            <a:r>
              <a:rPr lang="en-US" sz="1150" spc="0" dirty="0">
                <a:solidFill>
                  <a:srgbClr val="565C6B"/>
                </a:solidFill>
                <a:latin typeface="Helvetica Neue Light"/>
                <a:cs typeface="Helvetica Neue Light"/>
              </a:rPr>
              <a:t>The Insight Board at 7:45 AM: three sourced findings about his own names, on the FinViz Home he already knows.</a:t>
            </a:r>
          </a:p>
        </p:txBody>
      </p:sp>
      <p:sp>
        <p:nvSpPr>
          <p:cNvPr id="105" name="Overview"/>
          <p:cNvSpPr txBox="1"/>
          <p:nvPr/>
        </p:nvSpPr>
        <p:spPr>
          <a:xfrm>
            <a:off x="7543800" y="2011680"/>
            <a:ext cx="4638040" cy="621792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PRODUCT</a:t>
            </a:r>
          </a:p>
          <a:p>
            <a:pPr algn="l">
              <a:lnSpc>
                <a:spcPct val="125000"/>
              </a:lnSpc>
              <a:spcAft>
                <a:spcPts val="500"/>
              </a:spcAft>
            </a:pPr>
            <a:r>
              <a:rPr lang="en-US" sz="1550" spc="0" dirty="0">
                <a:solidFill>
                  <a:srgbClr val="565C6B"/>
                </a:solidFill>
                <a:latin typeface="Helvetica Neue Light"/>
                <a:cs typeface="Helvetica Neue Light"/>
              </a:rPr>
              <a:t>An AI layer for the FinViz stock screener.</a:t>
            </a:r>
          </a:p>
          <a:p>
            <a:pPr algn="l">
              <a:lnSpc>
                <a:spcPct val="105000"/>
              </a:lnSpc>
              <a:spcBef>
                <a:spcPts val="1400"/>
              </a:spcBef>
              <a:spcAft>
                <a:spcPts val="500"/>
              </a:spcAft>
            </a:pPr>
            <a:r>
              <a:rPr lang="en-US" sz="1100" spc="200" dirty="0">
                <a:solidFill>
                  <a:srgbClr val="858A97"/>
                </a:solidFill>
                <a:latin typeface="Helvetica Neue Medium"/>
                <a:cs typeface="Helvetica Neue Medium"/>
              </a:rPr>
              <a:t>PROBLEM</a:t>
            </a:r>
          </a:p>
          <a:p>
            <a:pPr algn="l">
              <a:lnSpc>
                <a:spcPct val="125000"/>
              </a:lnSpc>
              <a:spcAft>
                <a:spcPts val="500"/>
              </a:spcAft>
            </a:pPr>
            <a:r>
              <a:rPr lang="en-US" sz="1550" spc="0" dirty="0">
                <a:solidFill>
                  <a:srgbClr val="565C6B"/>
                </a:solidFill>
                <a:latin typeface="Helvetica Neue Light"/>
                <a:cs typeface="Helvetica Neue Light"/>
              </a:rPr>
              <a:t>Swing traders with day jobs build a screen at night, can’t watch the market 9:30–4, and miss the moment their setup happens. New users take 42 days to see why Elite is worth paying for.</a:t>
            </a:r>
          </a:p>
          <a:p>
            <a:pPr algn="l">
              <a:lnSpc>
                <a:spcPct val="105000"/>
              </a:lnSpc>
              <a:spcBef>
                <a:spcPts val="1400"/>
              </a:spcBef>
              <a:spcAft>
                <a:spcPts val="500"/>
              </a:spcAft>
            </a:pPr>
            <a:r>
              <a:rPr lang="en-US" sz="1100" spc="200" dirty="0">
                <a:solidFill>
                  <a:srgbClr val="858A97"/>
                </a:solidFill>
                <a:latin typeface="Helvetica Neue Medium"/>
                <a:cs typeface="Helvetica Neue Medium"/>
              </a:rPr>
              <a:t>AI SOLUTION</a:t>
            </a:r>
          </a:p>
          <a:p>
            <a:pPr algn="l">
              <a:lnSpc>
                <a:spcPct val="125000"/>
              </a:lnSpc>
              <a:spcAft>
                <a:spcPts val="500"/>
              </a:spcAft>
            </a:pPr>
            <a:r>
              <a:rPr lang="en-US" sz="1550" spc="0" dirty="0">
                <a:solidFill>
                  <a:srgbClr val="565C6B"/>
                </a:solidFill>
                <a:latin typeface="Helvetica Neue Light"/>
                <a:cs typeface="Helvetica Neue Light"/>
              </a:rPr>
              <a:t>AI turns the stocks he already likes into a working screen, remembers why he picked each one, watches it on his schedule and explains every finding with its evidence. It verifies; he decides.</a:t>
            </a:r>
          </a:p>
          <a:p>
            <a:pPr algn="l">
              <a:lnSpc>
                <a:spcPct val="105000"/>
              </a:lnSpc>
              <a:spcBef>
                <a:spcPts val="1400"/>
              </a:spcBef>
              <a:spcAft>
                <a:spcPts val="500"/>
              </a:spcAft>
            </a:pPr>
            <a:r>
              <a:rPr lang="en-US" sz="1100" spc="200" dirty="0">
                <a:solidFill>
                  <a:srgbClr val="858A97"/>
                </a:solidFill>
                <a:latin typeface="Helvetica Neue Medium"/>
                <a:cs typeface="Helvetica Neue Medium"/>
              </a:rPr>
              <a:t>MY ROLE</a:t>
            </a:r>
          </a:p>
          <a:p>
            <a:pPr algn="l">
              <a:lnSpc>
                <a:spcPct val="125000"/>
              </a:lnSpc>
              <a:spcAft>
                <a:spcPts val="500"/>
              </a:spcAft>
            </a:pPr>
            <a:r>
              <a:rPr lang="en-US" sz="1550" spc="0" dirty="0">
                <a:solidFill>
                  <a:srgbClr val="565C6B"/>
                </a:solidFill>
                <a:latin typeface="Helvetica Neue Light"/>
                <a:cs typeface="Helvetica Neue Light"/>
              </a:rPr>
              <a:t>Lead UX designer: research, strategy, AI UX principles, concept, low-fi to hi-fi, design system. AI agents for drafting; every call mine.</a:t>
            </a:r>
          </a:p>
        </p:txBody>
      </p:sp>
      <p:sp>
        <p:nvSpPr>
          <p:cNvPr id="106" name="Source"/>
          <p:cNvSpPr txBox="1"/>
          <p:nvPr/>
        </p:nvSpPr>
        <p:spPr>
          <a:xfrm>
            <a:off x="822960" y="8503920"/>
            <a:ext cx="11358880" cy="274320"/>
          </a:xfrm>
          <a:prstGeom prst="rect">
            <a:avLst/>
          </a:prstGeom>
          <a:noFill/>
        </p:spPr>
        <p:txBody>
          <a:bodyPr wrap="square" lIns="0" tIns="0" rIns="0" bIns="0" anchor="t">
            <a:noAutofit/>
          </a:bodyPr>
          <a:lstStyle/>
          <a:p>
            <a:pPr algn="l">
              <a:lnSpc>
                <a:spcPct val="105000"/>
              </a:lnSpc>
              <a:spcAft>
                <a:spcPts val="300"/>
              </a:spcAft>
            </a:pPr>
            <a:r>
              <a:rPr lang="en-US" sz="1200" spc="0" dirty="0">
                <a:solidFill>
                  <a:srgbClr val="858A97"/>
                </a:solidFill>
                <a:latin typeface="Helvetica Neue Light"/>
                <a:cs typeface="Helvetica Neue Light"/>
              </a:rPr>
              <a:t>19 hi-fi screens · one trade · Monday evening to Sunday · FinViz design system v1.0 · personas and data are synthetic</a:t>
            </a:r>
          </a:p>
        </p:txBody>
      </p:sp>
      <p:pic>
        <p:nvPicPr>
          <p:cNvPr id="107" name="Picture 106" descr="image.png"/>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THE PROBLEM</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Two problems, defined separately, so the AI only does </a:t>
            </a:r>
            <a:r>
              <a:rPr lang="en-US" sz="4000" spc="-40" dirty="0">
                <a:solidFill>
                  <a:srgbClr val="B5531F"/>
                </a:solidFill>
                <a:latin typeface="Helvetica Neue Medium"/>
                <a:cs typeface="Helvetica Neue Medium"/>
              </a:rPr>
              <a:t>what a rule can’t</a:t>
            </a:r>
            <a:r>
              <a:rPr lang="en-US" sz="4000" spc="-40" dirty="0">
                <a:solidFill>
                  <a:srgbClr val="14161D"/>
                </a:solidFill>
                <a:latin typeface="Helvetica Neue Medium"/>
                <a:cs typeface="Helvetica Neue Medium"/>
              </a:rPr>
              <a:t>.</a:t>
            </a:r>
          </a:p>
        </p:txBody>
      </p:sp>
      <p:cxnSp>
        <p:nvCxnSpPr>
          <p:cNvPr id="103" name="Divider"/>
          <p:cNvCxnSpPr/>
          <p:nvPr/>
        </p:nvCxnSpPr>
        <p:spPr>
          <a:xfrm>
            <a:off x="822960" y="3429000"/>
            <a:ext cx="3511973" cy="0"/>
          </a:xfrm>
          <a:prstGeom prst="line">
            <a:avLst/>
          </a:prstGeom>
          <a:ln w="9525">
            <a:solidFill>
              <a:srgbClr val="E1E3E8"/>
            </a:solidFill>
          </a:ln>
        </p:spPr>
      </p:cxnSp>
      <p:sp>
        <p:nvSpPr>
          <p:cNvPr id="104" name="User problem title"/>
          <p:cNvSpPr txBox="1"/>
          <p:nvPr/>
        </p:nvSpPr>
        <p:spPr>
          <a:xfrm>
            <a:off x="822960" y="3630168"/>
            <a:ext cx="3511973" cy="548640"/>
          </a:xfrm>
          <a:prstGeom prst="rect">
            <a:avLst/>
          </a:prstGeom>
          <a:noFill/>
        </p:spPr>
        <p:txBody>
          <a:bodyPr wrap="square" lIns="0" tIns="0" rIns="0" bIns="0" anchor="t">
            <a:noAutofit/>
          </a:bodyPr>
          <a:lstStyle/>
          <a:p>
            <a:pPr algn="l">
              <a:lnSpc>
                <a:spcPct val="115000"/>
              </a:lnSpc>
              <a:spcAft>
                <a:spcPts val="300"/>
              </a:spcAft>
            </a:pPr>
            <a:r>
              <a:rPr lang="en-US" sz="2000" spc="0" dirty="0">
                <a:solidFill>
                  <a:srgbClr val="14161D"/>
                </a:solidFill>
                <a:latin typeface="Helvetica Neue Medium"/>
                <a:cs typeface="Helvetica Neue Medium"/>
              </a:rPr>
              <a:t>User problem</a:t>
            </a:r>
          </a:p>
        </p:txBody>
      </p:sp>
      <p:sp>
        <p:nvSpPr>
          <p:cNvPr id="105" name="User problem body"/>
          <p:cNvSpPr txBox="1"/>
          <p:nvPr/>
        </p:nvSpPr>
        <p:spPr>
          <a:xfrm>
            <a:off x="822960" y="4206240"/>
            <a:ext cx="3511973" cy="3749039"/>
          </a:xfrm>
          <a:prstGeom prst="rect">
            <a:avLst/>
          </a:prstGeom>
          <a:noFill/>
        </p:spPr>
        <p:txBody>
          <a:bodyPr wrap="square" lIns="0" tIns="0" rIns="0" bIns="0" anchor="t">
            <a:noAutofit/>
          </a:bodyPr>
          <a:lstStyle/>
          <a:p>
            <a:pPr algn="l">
              <a:lnSpc>
                <a:spcPct val="125000"/>
              </a:lnSpc>
              <a:spcAft>
                <a:spcPts val="300"/>
              </a:spcAft>
            </a:pPr>
            <a:r>
              <a:rPr lang="en-US" sz="1600" spc="0" dirty="0">
                <a:solidFill>
                  <a:srgbClr val="565C6B"/>
                </a:solidFill>
                <a:latin typeface="Helvetica Neue Light"/>
                <a:cs typeface="Helvetica Neue Light"/>
              </a:rPr>
              <a:t>Gary can find ideas but can’t hold on to them. 89 filters with no explanation; a list that forgets why he picked each stock; nothing reaches him at work; the decision to hold or exit happens in his head.</a:t>
            </a:r>
          </a:p>
        </p:txBody>
      </p:sp>
      <p:cxnSp>
        <p:nvCxnSpPr>
          <p:cNvPr id="106" name="Divider"/>
          <p:cNvCxnSpPr/>
          <p:nvPr/>
        </p:nvCxnSpPr>
        <p:spPr>
          <a:xfrm>
            <a:off x="4746413" y="3429000"/>
            <a:ext cx="3511973" cy="0"/>
          </a:xfrm>
          <a:prstGeom prst="line">
            <a:avLst/>
          </a:prstGeom>
          <a:ln w="9525">
            <a:solidFill>
              <a:srgbClr val="E1E3E8"/>
            </a:solidFill>
          </a:ln>
        </p:spPr>
      </p:cxnSp>
      <p:sp>
        <p:nvSpPr>
          <p:cNvPr id="107" name="AI problem title"/>
          <p:cNvSpPr txBox="1"/>
          <p:nvPr/>
        </p:nvSpPr>
        <p:spPr>
          <a:xfrm>
            <a:off x="4746413" y="3630168"/>
            <a:ext cx="3511973" cy="548640"/>
          </a:xfrm>
          <a:prstGeom prst="rect">
            <a:avLst/>
          </a:prstGeom>
          <a:noFill/>
        </p:spPr>
        <p:txBody>
          <a:bodyPr wrap="square" lIns="0" tIns="0" rIns="0" bIns="0" anchor="t">
            <a:noAutofit/>
          </a:bodyPr>
          <a:lstStyle/>
          <a:p>
            <a:pPr algn="l">
              <a:lnSpc>
                <a:spcPct val="115000"/>
              </a:lnSpc>
              <a:spcAft>
                <a:spcPts val="300"/>
              </a:spcAft>
            </a:pPr>
            <a:r>
              <a:rPr lang="en-US" sz="2000" spc="0" dirty="0">
                <a:solidFill>
                  <a:srgbClr val="14161D"/>
                </a:solidFill>
                <a:latin typeface="Helvetica Neue Medium"/>
                <a:cs typeface="Helvetica Neue Medium"/>
              </a:rPr>
              <a:t>AI problem</a:t>
            </a:r>
          </a:p>
        </p:txBody>
      </p:sp>
      <p:sp>
        <p:nvSpPr>
          <p:cNvPr id="108" name="AI problem body"/>
          <p:cNvSpPr txBox="1"/>
          <p:nvPr/>
        </p:nvSpPr>
        <p:spPr>
          <a:xfrm>
            <a:off x="4746413" y="4206240"/>
            <a:ext cx="3511973" cy="3749039"/>
          </a:xfrm>
          <a:prstGeom prst="rect">
            <a:avLst/>
          </a:prstGeom>
          <a:noFill/>
        </p:spPr>
        <p:txBody>
          <a:bodyPr wrap="square" lIns="0" tIns="0" rIns="0" bIns="0" anchor="t">
            <a:noAutofit/>
          </a:bodyPr>
          <a:lstStyle/>
          <a:p>
            <a:pPr algn="l">
              <a:lnSpc>
                <a:spcPct val="125000"/>
              </a:lnSpc>
              <a:spcAft>
                <a:spcPts val="300"/>
              </a:spcAft>
            </a:pPr>
            <a:r>
              <a:rPr lang="en-US" sz="1600" spc="0" dirty="0">
                <a:solidFill>
                  <a:srgbClr val="565C6B"/>
                </a:solidFill>
                <a:latin typeface="Helvetica Neue Light"/>
                <a:cs typeface="Helvetica Neue Light"/>
              </a:rPr>
              <a:t>Infer a screen from 3 example tickers · explain why each row matched from real values · re-check his reasons against fresh data 3× a day · detect chart patterns with measurable criteria · summarize overnight news on his names, with sources · turn corrections into proposed rule changes.</a:t>
            </a:r>
          </a:p>
        </p:txBody>
      </p:sp>
      <p:cxnSp>
        <p:nvCxnSpPr>
          <p:cNvPr id="109" name="Divider"/>
          <p:cNvCxnSpPr/>
          <p:nvPr/>
        </p:nvCxnSpPr>
        <p:spPr>
          <a:xfrm>
            <a:off x="8669866" y="3429000"/>
            <a:ext cx="3511973" cy="0"/>
          </a:xfrm>
          <a:prstGeom prst="line">
            <a:avLst/>
          </a:prstGeom>
          <a:ln w="9525">
            <a:solidFill>
              <a:srgbClr val="E1E3E8"/>
            </a:solidFill>
          </a:ln>
        </p:spPr>
      </p:cxnSp>
      <p:sp>
        <p:nvSpPr>
          <p:cNvPr id="110" name="Why AI is appropriate title"/>
          <p:cNvSpPr txBox="1"/>
          <p:nvPr/>
        </p:nvSpPr>
        <p:spPr>
          <a:xfrm>
            <a:off x="8669866" y="3630168"/>
            <a:ext cx="3511973" cy="548640"/>
          </a:xfrm>
          <a:prstGeom prst="rect">
            <a:avLst/>
          </a:prstGeom>
          <a:noFill/>
        </p:spPr>
        <p:txBody>
          <a:bodyPr wrap="square" lIns="0" tIns="0" rIns="0" bIns="0" anchor="t">
            <a:noAutofit/>
          </a:bodyPr>
          <a:lstStyle/>
          <a:p>
            <a:pPr algn="l">
              <a:lnSpc>
                <a:spcPct val="115000"/>
              </a:lnSpc>
              <a:spcAft>
                <a:spcPts val="300"/>
              </a:spcAft>
            </a:pPr>
            <a:r>
              <a:rPr lang="en-US" sz="2000" spc="0" dirty="0">
                <a:solidFill>
                  <a:srgbClr val="14161D"/>
                </a:solidFill>
                <a:latin typeface="Helvetica Neue Medium"/>
                <a:cs typeface="Helvetica Neue Medium"/>
              </a:rPr>
              <a:t>Why AI is appropriate</a:t>
            </a:r>
          </a:p>
        </p:txBody>
      </p:sp>
      <p:sp>
        <p:nvSpPr>
          <p:cNvPr id="111" name="Why AI is appropriate body"/>
          <p:cNvSpPr txBox="1"/>
          <p:nvPr/>
        </p:nvSpPr>
        <p:spPr>
          <a:xfrm>
            <a:off x="8669866" y="4206240"/>
            <a:ext cx="3511973" cy="3749039"/>
          </a:xfrm>
          <a:prstGeom prst="rect">
            <a:avLst/>
          </a:prstGeom>
          <a:noFill/>
        </p:spPr>
        <p:txBody>
          <a:bodyPr wrap="square" lIns="0" tIns="0" rIns="0" bIns="0" anchor="t">
            <a:noAutofit/>
          </a:bodyPr>
          <a:lstStyle/>
          <a:p>
            <a:pPr algn="l">
              <a:lnSpc>
                <a:spcPct val="125000"/>
              </a:lnSpc>
              <a:spcAft>
                <a:spcPts val="300"/>
              </a:spcAft>
            </a:pPr>
            <a:r>
              <a:rPr lang="en-US" sz="1600" spc="0" dirty="0">
                <a:solidFill>
                  <a:srgbClr val="565C6B"/>
                </a:solidFill>
                <a:latin typeface="Helvetica Neue Light"/>
                <a:cs typeface="Helvetica Neue Light"/>
              </a:rPr>
              <a:t>Translating examples and plain English into 89 filters, and summarizing many sources, are language tasks. Scanning 30 charts for the same setup is repetitive perception. Where a rule is enough we used a rule: the since-last-night diff, exit lines, quiet hours and the activity log are not AI.</a:t>
            </a:r>
          </a:p>
        </p:txBody>
      </p:sp>
      <p:pic>
        <p:nvPicPr>
          <p:cNvPr id="112" name="Picture 111"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1" name="Eyebrow"/>
          <p:cNvSpPr txBox="1"/>
          <p:nvPr/>
        </p:nvSpPr>
        <p:spPr>
          <a:xfrm>
            <a:off x="822960" y="914400"/>
            <a:ext cx="11358880" cy="320040"/>
          </a:xfrm>
          <a:prstGeom prst="rect">
            <a:avLst/>
          </a:prstGeom>
          <a:noFill/>
        </p:spPr>
        <p:txBody>
          <a:bodyPr wrap="square" lIns="0" tIns="0" rIns="0" bIns="0">
            <a:noAutofit/>
          </a:bodyPr>
          <a:lstStyle/>
          <a:p>
            <a:pPr algn="l">
              <a:lnSpc>
                <a:spcPct val="100000"/>
              </a:lnSpc>
            </a:pPr>
            <a:r>
              <a:rPr lang="en-US" sz="1200" spc="300" dirty="0">
                <a:solidFill>
                  <a:srgbClr val="B5531F"/>
                </a:solidFill>
                <a:latin typeface="Helvetica Neue Medium"/>
                <a:cs typeface="Helvetica Neue Medium"/>
              </a:rPr>
              <a:t>FINVIZ AI SCREENER · COMPETITIVE LANDSCAPE</a:t>
            </a:r>
          </a:p>
        </p:txBody>
      </p:sp>
      <p:sp>
        <p:nvSpPr>
          <p:cNvPr id="102" name="Headline"/>
          <p:cNvSpPr txBox="1"/>
          <p:nvPr/>
        </p:nvSpPr>
        <p:spPr>
          <a:xfrm>
            <a:off x="822960" y="1371600"/>
            <a:ext cx="11358880" cy="1737360"/>
          </a:xfrm>
          <a:prstGeom prst="rect">
            <a:avLst/>
          </a:prstGeom>
          <a:noFill/>
        </p:spPr>
        <p:txBody>
          <a:bodyPr wrap="square" lIns="0" tIns="0" rIns="0" bIns="0">
            <a:noAutofit/>
          </a:bodyPr>
          <a:lstStyle/>
          <a:p>
            <a:pPr algn="l">
              <a:lnSpc>
                <a:spcPct val="95000"/>
              </a:lnSpc>
            </a:pPr>
            <a:r>
              <a:rPr lang="en-US" sz="4400" spc="-40" dirty="0">
                <a:solidFill>
                  <a:srgbClr val="14161D"/>
                </a:solidFill>
                <a:latin typeface="Helvetica Neue Medium"/>
                <a:cs typeface="Helvetica Neue Medium"/>
              </a:rPr>
              <a:t>FinViz stays the fastest place to find ideas. The AI layer </a:t>
            </a:r>
            <a:r>
              <a:rPr lang="en-US" sz="4400" spc="-40" dirty="0">
                <a:solidFill>
                  <a:srgbClr val="B5531F"/>
                </a:solidFill>
                <a:latin typeface="Helvetica Neue Medium"/>
                <a:cs typeface="Helvetica Neue Medium"/>
              </a:rPr>
              <a:t>explains</a:t>
            </a:r>
            <a:r>
              <a:rPr lang="en-US" sz="4400" spc="-40" dirty="0">
                <a:solidFill>
                  <a:srgbClr val="14161D"/>
                </a:solidFill>
                <a:latin typeface="Helvetica Neue Medium"/>
                <a:cs typeface="Helvetica Neue Medium"/>
              </a:rPr>
              <a:t> them.</a:t>
            </a:r>
          </a:p>
        </p:txBody>
      </p:sp>
      <p:sp>
        <p:nvSpPr>
          <p:cNvPr id="103" name="Column label"/>
          <p:cNvSpPr txBox="1"/>
          <p:nvPr/>
        </p:nvSpPr>
        <p:spPr>
          <a:xfrm>
            <a:off x="4023360" y="3886200"/>
            <a:ext cx="3749039" cy="274320"/>
          </a:xfrm>
          <a:prstGeom prst="rect">
            <a:avLst/>
          </a:prstGeom>
          <a:noFill/>
        </p:spPr>
        <p:txBody>
          <a:bodyPr wrap="square" lIns="0" tIns="0" rIns="0" bIns="0">
            <a:noAutofit/>
          </a:bodyPr>
          <a:lstStyle/>
          <a:p>
            <a:pPr algn="l">
              <a:lnSpc>
                <a:spcPct val="100000"/>
              </a:lnSpc>
            </a:pPr>
            <a:r>
              <a:rPr lang="en-US" sz="1100" spc="200" dirty="0">
                <a:solidFill>
                  <a:srgbClr val="858A97"/>
                </a:solidFill>
                <a:latin typeface="Helvetica Neue Medium"/>
                <a:cs typeface="Helvetica Neue Medium"/>
              </a:rPr>
              <a:t>WHERE IT IS STRONG</a:t>
            </a:r>
          </a:p>
        </p:txBody>
      </p:sp>
      <p:sp>
        <p:nvSpPr>
          <p:cNvPr id="104" name="Column label"/>
          <p:cNvSpPr txBox="1"/>
          <p:nvPr/>
        </p:nvSpPr>
        <p:spPr>
          <a:xfrm>
            <a:off x="8138159" y="3886200"/>
            <a:ext cx="4043681" cy="274320"/>
          </a:xfrm>
          <a:prstGeom prst="rect">
            <a:avLst/>
          </a:prstGeom>
          <a:noFill/>
        </p:spPr>
        <p:txBody>
          <a:bodyPr wrap="square" lIns="0" tIns="0" rIns="0" bIns="0">
            <a:noAutofit/>
          </a:bodyPr>
          <a:lstStyle/>
          <a:p>
            <a:pPr algn="l">
              <a:lnSpc>
                <a:spcPct val="100000"/>
              </a:lnSpc>
            </a:pPr>
            <a:r>
              <a:rPr lang="en-US" sz="1100" spc="200" dirty="0">
                <a:solidFill>
                  <a:srgbClr val="858A97"/>
                </a:solidFill>
                <a:latin typeface="Helvetica Neue Medium"/>
                <a:cs typeface="Helvetica Neue Medium"/>
              </a:rPr>
              <a:t>WHERE THE AI LAYER FITS</a:t>
            </a:r>
          </a:p>
        </p:txBody>
      </p:sp>
      <p:cxnSp>
        <p:nvCxnSpPr>
          <p:cNvPr id="105" name="Row divider"/>
          <p:cNvCxnSpPr/>
          <p:nvPr/>
        </p:nvCxnSpPr>
        <p:spPr>
          <a:xfrm>
            <a:off x="822960" y="4297680"/>
            <a:ext cx="11358880" cy="0"/>
          </a:xfrm>
          <a:prstGeom prst="line">
            <a:avLst/>
          </a:prstGeom>
          <a:ln w="9525">
            <a:solidFill>
              <a:srgbClr val="E1E3E8"/>
            </a:solidFill>
          </a:ln>
        </p:spPr>
      </p:cxnSp>
      <p:sp>
        <p:nvSpPr>
          <p:cNvPr id="106" name="TradingView"/>
          <p:cNvSpPr txBox="1"/>
          <p:nvPr/>
        </p:nvSpPr>
        <p:spPr>
          <a:xfrm>
            <a:off x="822960" y="4526280"/>
            <a:ext cx="2834640" cy="822960"/>
          </a:xfrm>
          <a:prstGeom prst="rect">
            <a:avLst/>
          </a:prstGeom>
          <a:noFill/>
        </p:spPr>
        <p:txBody>
          <a:bodyPr wrap="square" lIns="0" tIns="0" rIns="0" bIns="0">
            <a:noAutofit/>
          </a:bodyPr>
          <a:lstStyle/>
          <a:p>
            <a:pPr algn="l">
              <a:lnSpc>
                <a:spcPct val="100000"/>
              </a:lnSpc>
            </a:pPr>
            <a:r>
              <a:rPr lang="en-US" sz="2200" spc="0" dirty="0">
                <a:solidFill>
                  <a:srgbClr val="14161D"/>
                </a:solidFill>
                <a:latin typeface="Helvetica Neue Medium"/>
                <a:cs typeface="Helvetica Neue Medium"/>
              </a:rPr>
              <a:t>TradingView</a:t>
            </a:r>
          </a:p>
        </p:txBody>
      </p:sp>
      <p:sp>
        <p:nvSpPr>
          <p:cNvPr id="107" name="TradingView strength"/>
          <p:cNvSpPr txBox="1"/>
          <p:nvPr/>
        </p:nvSpPr>
        <p:spPr>
          <a:xfrm>
            <a:off x="4023360" y="4544568"/>
            <a:ext cx="3749039" cy="914400"/>
          </a:xfrm>
          <a:prstGeom prst="rect">
            <a:avLst/>
          </a:prstGeom>
          <a:noFill/>
        </p:spPr>
        <p:txBody>
          <a:bodyPr wrap="square" lIns="0" tIns="0" rIns="0" bIns="0">
            <a:noAutofit/>
          </a:bodyPr>
          <a:lstStyle/>
          <a:p>
            <a:pPr algn="l">
              <a:lnSpc>
                <a:spcPct val="120000"/>
              </a:lnSpc>
            </a:pPr>
            <a:r>
              <a:rPr lang="en-US" sz="1500" spc="0" dirty="0">
                <a:solidFill>
                  <a:srgbClr val="565C6B"/>
                </a:solidFill>
                <a:latin typeface="Helvetica Neue Light"/>
                <a:cs typeface="Helvetica Neue Light"/>
              </a:rPr>
              <a:t>Charting and community. Ships AI document and news summaries, and a Chart Copilot (beta) that sets alerts in plain English.</a:t>
            </a:r>
          </a:p>
        </p:txBody>
      </p:sp>
      <p:sp>
        <p:nvSpPr>
          <p:cNvPr id="108" name="TradingView fit"/>
          <p:cNvSpPr txBox="1"/>
          <p:nvPr/>
        </p:nvSpPr>
        <p:spPr>
          <a:xfrm>
            <a:off x="8138159" y="4544568"/>
            <a:ext cx="4043681" cy="914400"/>
          </a:xfrm>
          <a:prstGeom prst="rect">
            <a:avLst/>
          </a:prstGeom>
          <a:noFill/>
        </p:spPr>
        <p:txBody>
          <a:bodyPr wrap="square" lIns="0" tIns="0" rIns="0" bIns="0">
            <a:noAutofit/>
          </a:bodyPr>
          <a:lstStyle/>
          <a:p>
            <a:pPr algn="l">
              <a:lnSpc>
                <a:spcPct val="120000"/>
              </a:lnSpc>
            </a:pPr>
            <a:r>
              <a:rPr lang="en-US" sz="1500" spc="0" dirty="0">
                <a:solidFill>
                  <a:srgbClr val="14161D"/>
                </a:solidFill>
                <a:latin typeface="Helvetica Neue Light"/>
                <a:cs typeface="Helvetica Neue Light"/>
              </a:rPr>
              <a:t>Explains the trader’s own screen and keeps his reasons. FinViz stays the fastest place to find ideas.</a:t>
            </a:r>
          </a:p>
        </p:txBody>
      </p:sp>
      <p:cxnSp>
        <p:nvCxnSpPr>
          <p:cNvPr id="109" name="Row divider"/>
          <p:cNvCxnSpPr/>
          <p:nvPr/>
        </p:nvCxnSpPr>
        <p:spPr>
          <a:xfrm>
            <a:off x="822960" y="5577840"/>
            <a:ext cx="11358880" cy="0"/>
          </a:xfrm>
          <a:prstGeom prst="line">
            <a:avLst/>
          </a:prstGeom>
          <a:ln w="9525">
            <a:solidFill>
              <a:srgbClr val="E1E3E8"/>
            </a:solidFill>
          </a:ln>
        </p:spPr>
      </p:cxnSp>
      <p:sp>
        <p:nvSpPr>
          <p:cNvPr id="110" name="Trade Ideas"/>
          <p:cNvSpPr txBox="1"/>
          <p:nvPr/>
        </p:nvSpPr>
        <p:spPr>
          <a:xfrm>
            <a:off x="822960" y="5806440"/>
            <a:ext cx="2834640" cy="822960"/>
          </a:xfrm>
          <a:prstGeom prst="rect">
            <a:avLst/>
          </a:prstGeom>
          <a:noFill/>
        </p:spPr>
        <p:txBody>
          <a:bodyPr wrap="square" lIns="0" tIns="0" rIns="0" bIns="0">
            <a:noAutofit/>
          </a:bodyPr>
          <a:lstStyle/>
          <a:p>
            <a:pPr algn="l">
              <a:lnSpc>
                <a:spcPct val="100000"/>
              </a:lnSpc>
            </a:pPr>
            <a:r>
              <a:rPr lang="en-US" sz="2200" spc="0" dirty="0">
                <a:solidFill>
                  <a:srgbClr val="14161D"/>
                </a:solidFill>
                <a:latin typeface="Helvetica Neue Medium"/>
                <a:cs typeface="Helvetica Neue Medium"/>
              </a:rPr>
              <a:t>Trade Ideas</a:t>
            </a:r>
          </a:p>
        </p:txBody>
      </p:sp>
      <p:sp>
        <p:nvSpPr>
          <p:cNvPr id="111" name="Trade Ideas strength"/>
          <p:cNvSpPr txBox="1"/>
          <p:nvPr/>
        </p:nvSpPr>
        <p:spPr>
          <a:xfrm>
            <a:off x="4023360" y="5824728"/>
            <a:ext cx="3749039" cy="914400"/>
          </a:xfrm>
          <a:prstGeom prst="rect">
            <a:avLst/>
          </a:prstGeom>
          <a:noFill/>
        </p:spPr>
        <p:txBody>
          <a:bodyPr wrap="square" lIns="0" tIns="0" rIns="0" bIns="0">
            <a:noAutofit/>
          </a:bodyPr>
          <a:lstStyle/>
          <a:p>
            <a:pPr algn="l">
              <a:lnSpc>
                <a:spcPct val="120000"/>
              </a:lnSpc>
            </a:pPr>
            <a:r>
              <a:rPr lang="en-US" sz="1500" spc="0" dirty="0">
                <a:solidFill>
                  <a:srgbClr val="565C6B"/>
                </a:solidFill>
                <a:latin typeface="Helvetica Neue Light"/>
                <a:cs typeface="Helvetica Neue Light"/>
              </a:rPr>
              <a:t>Real-time scanning at tick speed. Holly AI posts trade ideas with entry, stop and target; a plain-English scan builder.</a:t>
            </a:r>
          </a:p>
        </p:txBody>
      </p:sp>
      <p:sp>
        <p:nvSpPr>
          <p:cNvPr id="112" name="Trade Ideas fit"/>
          <p:cNvSpPr txBox="1"/>
          <p:nvPr/>
        </p:nvSpPr>
        <p:spPr>
          <a:xfrm>
            <a:off x="8138159" y="5824728"/>
            <a:ext cx="4043681" cy="914400"/>
          </a:xfrm>
          <a:prstGeom prst="rect">
            <a:avLst/>
          </a:prstGeom>
          <a:noFill/>
        </p:spPr>
        <p:txBody>
          <a:bodyPr wrap="square" lIns="0" tIns="0" rIns="0" bIns="0">
            <a:noAutofit/>
          </a:bodyPr>
          <a:lstStyle/>
          <a:p>
            <a:pPr algn="l">
              <a:lnSpc>
                <a:spcPct val="120000"/>
              </a:lnSpc>
            </a:pPr>
            <a:r>
              <a:rPr lang="en-US" sz="1500" spc="0" dirty="0">
                <a:solidFill>
                  <a:srgbClr val="14161D"/>
                </a:solidFill>
                <a:latin typeface="Helvetica Neue Light"/>
                <a:cs typeface="Helvetica Neue Light"/>
              </a:rPr>
              <a:t>FinViz never originates trades or confidence scores. It checks the trader’s own criteria and watches his saved screen.</a:t>
            </a:r>
          </a:p>
        </p:txBody>
      </p:sp>
      <p:cxnSp>
        <p:nvCxnSpPr>
          <p:cNvPr id="113" name="Row divider"/>
          <p:cNvCxnSpPr/>
          <p:nvPr/>
        </p:nvCxnSpPr>
        <p:spPr>
          <a:xfrm>
            <a:off x="822960" y="6858000"/>
            <a:ext cx="11358880" cy="0"/>
          </a:xfrm>
          <a:prstGeom prst="line">
            <a:avLst/>
          </a:prstGeom>
          <a:ln w="9525">
            <a:solidFill>
              <a:srgbClr val="E1E3E8"/>
            </a:solidFill>
          </a:ln>
        </p:spPr>
      </p:cxnSp>
      <p:sp>
        <p:nvSpPr>
          <p:cNvPr id="114" name="Bloomberg Terminal"/>
          <p:cNvSpPr txBox="1"/>
          <p:nvPr/>
        </p:nvSpPr>
        <p:spPr>
          <a:xfrm>
            <a:off x="822960" y="7086600"/>
            <a:ext cx="2834640" cy="822960"/>
          </a:xfrm>
          <a:prstGeom prst="rect">
            <a:avLst/>
          </a:prstGeom>
          <a:noFill/>
        </p:spPr>
        <p:txBody>
          <a:bodyPr wrap="square" lIns="0" tIns="0" rIns="0" bIns="0">
            <a:noAutofit/>
          </a:bodyPr>
          <a:lstStyle/>
          <a:p>
            <a:pPr algn="l">
              <a:lnSpc>
                <a:spcPct val="100000"/>
              </a:lnSpc>
            </a:pPr>
            <a:r>
              <a:rPr lang="en-US" sz="2200" spc="0" dirty="0">
                <a:solidFill>
                  <a:srgbClr val="14161D"/>
                </a:solidFill>
                <a:latin typeface="Helvetica Neue Medium"/>
                <a:cs typeface="Helvetica Neue Medium"/>
              </a:rPr>
              <a:t>Bloomberg Terminal</a:t>
            </a:r>
          </a:p>
        </p:txBody>
      </p:sp>
      <p:sp>
        <p:nvSpPr>
          <p:cNvPr id="115" name="Bloomberg Terminal strength"/>
          <p:cNvSpPr txBox="1"/>
          <p:nvPr/>
        </p:nvSpPr>
        <p:spPr>
          <a:xfrm>
            <a:off x="4023360" y="7104888"/>
            <a:ext cx="3749039" cy="914400"/>
          </a:xfrm>
          <a:prstGeom prst="rect">
            <a:avLst/>
          </a:prstGeom>
          <a:noFill/>
        </p:spPr>
        <p:txBody>
          <a:bodyPr wrap="square" lIns="0" tIns="0" rIns="0" bIns="0">
            <a:noAutofit/>
          </a:bodyPr>
          <a:lstStyle/>
          <a:p>
            <a:pPr algn="l">
              <a:lnSpc>
                <a:spcPct val="120000"/>
              </a:lnSpc>
            </a:pPr>
            <a:r>
              <a:rPr lang="en-US" sz="1500" spc="0" dirty="0">
                <a:solidFill>
                  <a:srgbClr val="565C6B"/>
                </a:solidFill>
                <a:latin typeface="Helvetica Neue Light"/>
                <a:cs typeface="Helvetica Neue Light"/>
              </a:rPr>
              <a:t>Market data and news for professionals, with AI document search and news summaries.</a:t>
            </a:r>
          </a:p>
        </p:txBody>
      </p:sp>
      <p:sp>
        <p:nvSpPr>
          <p:cNvPr id="116" name="Bloomberg Terminal fit"/>
          <p:cNvSpPr txBox="1"/>
          <p:nvPr/>
        </p:nvSpPr>
        <p:spPr>
          <a:xfrm>
            <a:off x="8138159" y="7104888"/>
            <a:ext cx="4043681" cy="914400"/>
          </a:xfrm>
          <a:prstGeom prst="rect">
            <a:avLst/>
          </a:prstGeom>
          <a:noFill/>
        </p:spPr>
        <p:txBody>
          <a:bodyPr wrap="square" lIns="0" tIns="0" rIns="0" bIns="0">
            <a:noAutofit/>
          </a:bodyPr>
          <a:lstStyle/>
          <a:p>
            <a:pPr algn="l">
              <a:lnSpc>
                <a:spcPct val="120000"/>
              </a:lnSpc>
            </a:pPr>
            <a:r>
              <a:rPr lang="en-US" sz="1500" spc="0" dirty="0">
                <a:solidFill>
                  <a:srgbClr val="14161D"/>
                </a:solidFill>
                <a:latin typeface="Helvetica Neue Light"/>
                <a:cs typeface="Helvetica Neue Light"/>
              </a:rPr>
              <a:t>Cost and complexity. FinViz’s job is discovery for individual traders.</a:t>
            </a:r>
          </a:p>
        </p:txBody>
      </p:sp>
      <p:cxnSp>
        <p:nvCxnSpPr>
          <p:cNvPr id="117" name="Row divider"/>
          <p:cNvCxnSpPr/>
          <p:nvPr/>
        </p:nvCxnSpPr>
        <p:spPr>
          <a:xfrm>
            <a:off x="822960" y="8138160"/>
            <a:ext cx="11358880" cy="0"/>
          </a:xfrm>
          <a:prstGeom prst="line">
            <a:avLst/>
          </a:prstGeom>
          <a:ln w="9525">
            <a:solidFill>
              <a:srgbClr val="E1E3E8"/>
            </a:solidFill>
          </a:ln>
        </p:spPr>
      </p:cxnSp>
      <p:sp>
        <p:nvSpPr>
          <p:cNvPr id="118" name="Source"/>
          <p:cNvSpPr txBox="1"/>
          <p:nvPr/>
        </p:nvSpPr>
        <p:spPr>
          <a:xfrm>
            <a:off x="822960" y="8503920"/>
            <a:ext cx="11358880" cy="274320"/>
          </a:xfrm>
          <a:prstGeom prst="rect">
            <a:avLst/>
          </a:prstGeom>
          <a:noFill/>
        </p:spPr>
        <p:txBody>
          <a:bodyPr wrap="square" lIns="0" tIns="0" rIns="0" bIns="0">
            <a:noAutofit/>
          </a:bodyPr>
          <a:lstStyle/>
          <a:p>
            <a:pPr algn="l">
              <a:lnSpc>
                <a:spcPct val="100000"/>
              </a:lnSpc>
            </a:pPr>
            <a:r>
              <a:rPr lang="en-US" sz="1100" spc="0" dirty="0">
                <a:solidFill>
                  <a:srgbClr val="858A97"/>
                </a:solidFill>
                <a:latin typeface="Helvetica Neue Light"/>
                <a:cs typeface="Helvetica Neue Light"/>
              </a:rPr>
              <a:t>Source: competitor product pages and reviews, checked October 2026. Competitor features change quickly.</a:t>
            </a:r>
          </a:p>
        </p:txBody>
      </p:sp>
      <p:pic>
        <p:nvPicPr>
          <p:cNvPr id="119" name="Picture 118"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03 · Problem   FinViz AI Screener</a:t>
            </a:r>
            <a:endParaRPr lang="en-US" sz="1422" dirty="0"/>
          </a:p>
        </p:txBody>
      </p:sp>
      <p:sp>
        <p:nvSpPr>
          <p:cNvPr id="3" name="Text 1"/>
          <p:cNvSpPr txBox="1"/>
          <p:nvPr/>
        </p:nvSpPr>
        <p:spPr>
          <a:xfrm>
            <a:off x="455168" y="975360"/>
            <a:ext cx="12094464" cy="650240"/>
          </a:xfrm>
          <a:prstGeom prst="rect">
            <a:avLst/>
          </a:prstGeom>
          <a:noFill/>
          <a:ln/>
        </p:spPr>
        <p:txBody>
          <a:bodyPr wrap="square" lIns="0" tIns="0" rIns="0" bIns="0" rtlCol="0" anchor="t"/>
          <a:lstStyle/>
          <a:p>
            <a:r>
              <a:rPr lang="en-US" sz="2987" dirty="0">
                <a:solidFill>
                  <a:srgbClr val="1F1F1F"/>
                </a:solidFill>
                <a:latin typeface="Helvetica Neue Light" pitchFamily="34" charset="0"/>
                <a:ea typeface="Helvetica Neue Light" pitchFamily="34" charset="-122"/>
                <a:cs typeface="Helvetica Neue Light" pitchFamily="34" charset="-120"/>
              </a:rPr>
              <a:t>Pain points, scored by user and business impact</a:t>
            </a:r>
            <a:endParaRPr lang="en-US" sz="2987" dirty="0"/>
          </a:p>
        </p:txBody>
      </p:sp>
      <p:sp>
        <p:nvSpPr>
          <p:cNvPr id="4" name="Text 2"/>
          <p:cNvSpPr txBox="1"/>
          <p:nvPr/>
        </p:nvSpPr>
        <p:spPr>
          <a:xfrm>
            <a:off x="975360" y="2015744"/>
            <a:ext cx="8453120" cy="5592064"/>
          </a:xfrm>
          <a:prstGeom prst="rect">
            <a:avLst/>
          </a:prstGeom>
          <a:noFill/>
          <a:ln/>
        </p:spPr>
        <p:txBody>
          <a:bodyPr wrap="square" lIns="0" tIns="0" rIns="0" bIns="0" rtlCol="0" anchor="t"/>
          <a:lstStyle/>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1  Ideas can’t become a working, watched screen</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2  Blind during market hours</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3  Too many results, and no reason why they matched</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4  Which metric matters, and what counts as good?</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5  Filters in fixed buckets; exact values are Elite</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6  Alert noise</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7  Catalysts scattered across pages</a:t>
            </a:r>
            <a:endParaRPr lang="en-US" sz="2133" dirty="0"/>
          </a:p>
        </p:txBody>
      </p:sp>
      <p:sp>
        <p:nvSpPr>
          <p:cNvPr id="5" name="Text 3"/>
          <p:cNvSpPr txBox="1"/>
          <p:nvPr/>
        </p:nvSpPr>
        <p:spPr>
          <a:xfrm>
            <a:off x="7002586" y="7146138"/>
            <a:ext cx="5159047" cy="780288"/>
          </a:xfrm>
          <a:prstGeom prst="rect">
            <a:avLst/>
          </a:prstGeom>
          <a:noFill/>
          <a:ln/>
        </p:spPr>
        <p:txBody>
          <a:bodyPr wrap="square" lIns="0" tIns="0" rIns="0" bIns="0" rtlCol="0" anchor="t"/>
          <a:lstStyle/>
          <a:p>
            <a:pPr algn="ctr"/>
            <a:r>
              <a:rPr lang="en-US" sz="2276" dirty="0">
                <a:solidFill>
                  <a:srgbClr val="6E6E6E"/>
                </a:solidFill>
                <a:latin typeface="Helvetica Neue Light" pitchFamily="34" charset="0"/>
                <a:ea typeface="Helvetica Neue Light" pitchFamily="34" charset="-122"/>
                <a:cs typeface="Helvetica Neue Light" pitchFamily="34" charset="-120"/>
              </a:rPr>
              <a:t>“Once you close FinViz you get nothing, and setting up alerts today is quirky.”</a:t>
            </a:r>
            <a:endParaRPr lang="en-US" sz="2276" dirty="0"/>
          </a:p>
        </p:txBody>
      </p:sp>
      <p:sp>
        <p:nvSpPr>
          <p:cNvPr id="6" name="Text 4"/>
          <p:cNvSpPr txBox="1"/>
          <p:nvPr/>
        </p:nvSpPr>
        <p:spPr>
          <a:xfrm>
            <a:off x="6502400" y="8258048"/>
            <a:ext cx="5852160" cy="390144"/>
          </a:xfrm>
          <a:prstGeom prst="rect">
            <a:avLst/>
          </a:prstGeom>
          <a:noFill/>
          <a:ln/>
        </p:spPr>
        <p:txBody>
          <a:bodyPr wrap="square" lIns="0" tIns="0" rIns="0" bIns="0" rtlCol="0" anchor="t"/>
          <a:lstStyle/>
          <a:p>
            <a:pPr algn="ctr"/>
            <a:r>
              <a:rPr lang="en-US" sz="1422" dirty="0">
                <a:solidFill>
                  <a:srgbClr val="6E6E6E"/>
                </a:solidFill>
                <a:latin typeface="Helvetica Neue" pitchFamily="34" charset="0"/>
                <a:ea typeface="Helvetica Neue" pitchFamily="34" charset="-122"/>
                <a:cs typeface="Helvetica Neue" pitchFamily="34" charset="-120"/>
              </a:rPr>
              <a:t>Design review feedback, Sept 30</a:t>
            </a:r>
            <a:endParaRPr lang="en-US" sz="1422" dirty="0"/>
          </a:p>
        </p:txBody>
      </p:sp>
      <p:pic>
        <p:nvPicPr>
          <p:cNvPr id="7" name="Picture 6"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822960" y="914400"/>
            <a:ext cx="11358880" cy="320040"/>
          </a:xfrm>
          <a:prstGeom prst="rect">
            <a:avLst/>
          </a:prstGeom>
          <a:noFill/>
        </p:spPr>
        <p:txBody>
          <a:bodyPr wrap="square" lIns="0" tIns="0" rIns="0" bIns="0">
            <a:noAutofit/>
          </a:bodyPr>
          <a:lstStyle/>
          <a:p>
            <a:pPr algn="l">
              <a:lnSpc>
                <a:spcPct val="100000"/>
              </a:lnSpc>
              <a:spcAft>
                <a:spcPts val="300"/>
              </a:spcAft>
            </a:pPr>
            <a:r>
              <a:rPr lang="en-US" sz="1200" spc="300" dirty="0">
                <a:solidFill>
                  <a:srgbClr val="B5531F"/>
                </a:solidFill>
                <a:latin typeface="Helvetica Neue Medium"/>
                <a:cs typeface="Helvetica Neue Medium"/>
              </a:rPr>
              <a:t>FINVIZ AI SCREENER · DATA FOUNDATION</a:t>
            </a:r>
          </a:p>
        </p:txBody>
      </p:sp>
      <p:sp>
        <p:nvSpPr>
          <p:cNvPr id="3" name="Headline"/>
          <p:cNvSpPr txBox="1"/>
          <p:nvPr/>
        </p:nvSpPr>
        <p:spPr>
          <a:xfrm>
            <a:off x="822960" y="1371600"/>
            <a:ext cx="11358880" cy="822960"/>
          </a:xfrm>
          <a:prstGeom prst="rect">
            <a:avLst/>
          </a:prstGeom>
          <a:noFill/>
        </p:spPr>
        <p:txBody>
          <a:bodyPr wrap="square" lIns="0" tIns="0" rIns="0" bIns="0">
            <a:noAutofit/>
          </a:bodyPr>
          <a:lstStyle/>
          <a:p>
            <a:pPr algn="l">
              <a:lnSpc>
                <a:spcPct val="95000"/>
              </a:lnSpc>
              <a:spcAft>
                <a:spcPts val="300"/>
              </a:spcAft>
            </a:pPr>
            <a:r>
              <a:rPr lang="en-US" sz="4400" spc="-40" dirty="0">
                <a:solidFill>
                  <a:srgbClr val="14161D"/>
                </a:solidFill>
                <a:latin typeface="Helvetica Neue Medium"/>
                <a:cs typeface="Helvetica Neue Medium"/>
              </a:rPr>
              <a:t>Designed for </a:t>
            </a:r>
            <a:r>
              <a:rPr lang="en-US" sz="4400" spc="-40" dirty="0">
                <a:solidFill>
                  <a:srgbClr val="B5531F"/>
                </a:solidFill>
                <a:latin typeface="Helvetica Neue Medium"/>
                <a:cs typeface="Helvetica Neue Medium"/>
              </a:rPr>
              <a:t>what the data supports</a:t>
            </a:r>
            <a:r>
              <a:rPr lang="en-US" sz="4400" spc="-40" dirty="0">
                <a:solidFill>
                  <a:srgbClr val="14161D"/>
                </a:solidFill>
                <a:latin typeface="Helvetica Neue Medium"/>
                <a:cs typeface="Helvetica Neue Medium"/>
              </a:rPr>
              <a:t>.</a:t>
            </a:r>
          </a:p>
        </p:txBody>
      </p:sp>
      <p:sp>
        <p:nvSpPr>
          <p:cNvPr id="4" name="Column label"/>
          <p:cNvSpPr txBox="1"/>
          <p:nvPr/>
        </p:nvSpPr>
        <p:spPr>
          <a:xfrm>
            <a:off x="822960" y="2788920"/>
            <a:ext cx="283464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DATA SOURCE</a:t>
            </a:r>
          </a:p>
        </p:txBody>
      </p:sp>
      <p:sp>
        <p:nvSpPr>
          <p:cNvPr id="5" name="Column label"/>
          <p:cNvSpPr txBox="1"/>
          <p:nvPr/>
        </p:nvSpPr>
        <p:spPr>
          <a:xfrm>
            <a:off x="3931920" y="2788920"/>
            <a:ext cx="274320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USED FOR</a:t>
            </a:r>
          </a:p>
        </p:txBody>
      </p:sp>
      <p:sp>
        <p:nvSpPr>
          <p:cNvPr id="6" name="Column label"/>
          <p:cNvSpPr txBox="1"/>
          <p:nvPr/>
        </p:nvSpPr>
        <p:spPr>
          <a:xfrm>
            <a:off x="6903720" y="2788920"/>
            <a:ext cx="205740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VOLUME</a:t>
            </a:r>
          </a:p>
        </p:txBody>
      </p:sp>
      <p:sp>
        <p:nvSpPr>
          <p:cNvPr id="7" name="Column label"/>
          <p:cNvSpPr txBox="1"/>
          <p:nvPr/>
        </p:nvSpPr>
        <p:spPr>
          <a:xfrm>
            <a:off x="9235440" y="2788920"/>
            <a:ext cx="2944368"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QUALITY AND CONSTRAINTS</a:t>
            </a:r>
          </a:p>
        </p:txBody>
      </p:sp>
      <p:cxnSp>
        <p:nvCxnSpPr>
          <p:cNvPr id="8" name="Divider"/>
          <p:cNvCxnSpPr/>
          <p:nvPr/>
        </p:nvCxnSpPr>
        <p:spPr>
          <a:xfrm>
            <a:off x="822960" y="3127248"/>
            <a:ext cx="11356848" cy="0"/>
          </a:xfrm>
          <a:prstGeom prst="line">
            <a:avLst/>
          </a:prstGeom>
          <a:ln w="9525">
            <a:solidFill>
              <a:srgbClr val="E1E3E8"/>
            </a:solidFill>
          </a:ln>
        </p:spPr>
      </p:cxnSp>
      <p:sp>
        <p:nvSpPr>
          <p:cNvPr id="9" name="Data row 1"/>
          <p:cNvSpPr txBox="1"/>
          <p:nvPr/>
        </p:nvSpPr>
        <p:spPr>
          <a:xfrm>
            <a:off x="822960" y="3273552"/>
            <a:ext cx="2834640" cy="86868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Screener data</a:t>
            </a:r>
          </a:p>
          <a:p>
            <a:pPr algn="l">
              <a:lnSpc>
                <a:spcPct val="110000"/>
              </a:lnSpc>
              <a:spcAft>
                <a:spcPts val="300"/>
              </a:spcAft>
            </a:pPr>
            <a:r>
              <a:rPr lang="en-US" sz="1300" spc="0" dirty="0">
                <a:solidFill>
                  <a:srgbClr val="565C6B"/>
                </a:solidFill>
                <a:latin typeface="Helvetica Neue Light"/>
                <a:cs typeface="Helvetica Neue Light"/>
              </a:rPr>
              <a:t>89 filters, ~11,700 tickers</a:t>
            </a:r>
          </a:p>
        </p:txBody>
      </p:sp>
      <p:sp>
        <p:nvSpPr>
          <p:cNvPr id="10" name="Data row 1 col 2"/>
          <p:cNvSpPr txBox="1"/>
          <p:nvPr/>
        </p:nvSpPr>
        <p:spPr>
          <a:xfrm>
            <a:off x="3931920" y="3273552"/>
            <a:ext cx="27432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Examples → filters; why it matched; lenses</a:t>
            </a:r>
          </a:p>
        </p:txBody>
      </p:sp>
      <p:sp>
        <p:nvSpPr>
          <p:cNvPr id="11" name="Data row 1 col 3"/>
          <p:cNvSpPr txBox="1"/>
          <p:nvPr/>
        </p:nvSpPr>
        <p:spPr>
          <a:xfrm>
            <a:off x="6903720" y="3273552"/>
            <a:ext cx="20574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~11.7k tickers × 89 fields, daily; intraday on Elite</a:t>
            </a:r>
          </a:p>
        </p:txBody>
      </p:sp>
      <p:sp>
        <p:nvSpPr>
          <p:cNvPr id="12" name="Data row 1 col 4"/>
          <p:cNvSpPr txBox="1"/>
          <p:nvPr/>
        </p:nvSpPr>
        <p:spPr>
          <a:xfrm>
            <a:off x="9235440" y="3273552"/>
            <a:ext cx="2944368"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Free maps to preset buckets (marked ≈); exact values on Elite</a:t>
            </a:r>
          </a:p>
        </p:txBody>
      </p:sp>
      <p:cxnSp>
        <p:nvCxnSpPr>
          <p:cNvPr id="13" name="Divider"/>
          <p:cNvCxnSpPr/>
          <p:nvPr/>
        </p:nvCxnSpPr>
        <p:spPr>
          <a:xfrm>
            <a:off x="822960" y="4215384"/>
            <a:ext cx="11356848" cy="0"/>
          </a:xfrm>
          <a:prstGeom prst="line">
            <a:avLst/>
          </a:prstGeom>
          <a:ln w="9525">
            <a:solidFill>
              <a:srgbClr val="E1E3E8"/>
            </a:solidFill>
          </a:ln>
        </p:spPr>
      </p:cxnSp>
      <p:sp>
        <p:nvSpPr>
          <p:cNvPr id="14" name="Data row 2"/>
          <p:cNvSpPr txBox="1"/>
          <p:nvPr/>
        </p:nvSpPr>
        <p:spPr>
          <a:xfrm>
            <a:off x="822960" y="4343400"/>
            <a:ext cx="2834640" cy="86868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Price and volume bars</a:t>
            </a:r>
          </a:p>
          <a:p>
            <a:pPr algn="l">
              <a:lnSpc>
                <a:spcPct val="110000"/>
              </a:lnSpc>
              <a:spcAft>
                <a:spcPts val="300"/>
              </a:spcAft>
            </a:pPr>
            <a:r>
              <a:rPr lang="en-US" sz="1300" spc="0" dirty="0">
                <a:solidFill>
                  <a:srgbClr val="565C6B"/>
                </a:solidFill>
                <a:latin typeface="Helvetica Neue Light"/>
                <a:cs typeface="Helvetica Neue Light"/>
              </a:rPr>
              <a:t>Daily bars per ticker</a:t>
            </a:r>
          </a:p>
        </p:txBody>
      </p:sp>
      <p:sp>
        <p:nvSpPr>
          <p:cNvPr id="15" name="Data row 2 col 2"/>
          <p:cNvSpPr txBox="1"/>
          <p:nvPr/>
        </p:nvSpPr>
        <p:spPr>
          <a:xfrm>
            <a:off x="3931920" y="4343400"/>
            <a:ext cx="27432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Pattern detection; 30-day replay; reasons checks</a:t>
            </a:r>
          </a:p>
        </p:txBody>
      </p:sp>
      <p:sp>
        <p:nvSpPr>
          <p:cNvPr id="16" name="Data row 2 col 3"/>
          <p:cNvSpPr txBox="1"/>
          <p:nvPr/>
        </p:nvSpPr>
        <p:spPr>
          <a:xfrm>
            <a:off x="6903720" y="4343400"/>
            <a:ext cx="20574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3+ years of daily bars per ticker</a:t>
            </a:r>
          </a:p>
        </p:txBody>
      </p:sp>
      <p:sp>
        <p:nvSpPr>
          <p:cNvPr id="17" name="Data row 2 col 4"/>
          <p:cNvSpPr txBox="1"/>
          <p:nvPr/>
        </p:nvSpPr>
        <p:spPr>
          <a:xfrm>
            <a:off x="9235440" y="4343400"/>
            <a:ext cx="2944368"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Gaps and splits: the detector says “not enough data” instead of guessing</a:t>
            </a:r>
          </a:p>
        </p:txBody>
      </p:sp>
      <p:cxnSp>
        <p:nvCxnSpPr>
          <p:cNvPr id="18" name="Divider"/>
          <p:cNvCxnSpPr/>
          <p:nvPr/>
        </p:nvCxnSpPr>
        <p:spPr>
          <a:xfrm>
            <a:off x="822960" y="5285232"/>
            <a:ext cx="11356848" cy="0"/>
          </a:xfrm>
          <a:prstGeom prst="line">
            <a:avLst/>
          </a:prstGeom>
          <a:ln w="9525">
            <a:solidFill>
              <a:srgbClr val="E1E3E8"/>
            </a:solidFill>
          </a:ln>
        </p:spPr>
      </p:cxnSp>
      <p:sp>
        <p:nvSpPr>
          <p:cNvPr id="19" name="Data row 3"/>
          <p:cNvSpPr txBox="1"/>
          <p:nvPr/>
        </p:nvSpPr>
        <p:spPr>
          <a:xfrm>
            <a:off x="822960" y="5413248"/>
            <a:ext cx="2834640" cy="86868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Calendar, news, analysts</a:t>
            </a:r>
          </a:p>
          <a:p>
            <a:pPr algn="l">
              <a:lnSpc>
                <a:spcPct val="110000"/>
              </a:lnSpc>
              <a:spcAft>
                <a:spcPts val="300"/>
              </a:spcAft>
            </a:pPr>
            <a:r>
              <a:rPr lang="en-US" sz="1300" spc="0" dirty="0">
                <a:solidFill>
                  <a:srgbClr val="565C6B"/>
                </a:solidFill>
                <a:latin typeface="Helvetica Neue Light"/>
                <a:cs typeface="Helvetica Neue Light"/>
              </a:rPr>
              <a:t>Third-party feeds</a:t>
            </a:r>
          </a:p>
        </p:txBody>
      </p:sp>
      <p:sp>
        <p:nvSpPr>
          <p:cNvPr id="20" name="Data row 3 col 2"/>
          <p:cNvSpPr txBox="1"/>
          <p:nvPr/>
        </p:nvSpPr>
        <p:spPr>
          <a:xfrm>
            <a:off x="3931920" y="5413248"/>
            <a:ext cx="27432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Morning glance; insight cards; map notes</a:t>
            </a:r>
          </a:p>
        </p:txBody>
      </p:sp>
      <p:sp>
        <p:nvSpPr>
          <p:cNvPr id="21" name="Data row 3 col 3"/>
          <p:cNvSpPr txBox="1"/>
          <p:nvPr/>
        </p:nvSpPr>
        <p:spPr>
          <a:xfrm>
            <a:off x="6903720" y="5413248"/>
            <a:ext cx="20574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Dozens of sources a day</a:t>
            </a:r>
          </a:p>
        </p:txBody>
      </p:sp>
      <p:sp>
        <p:nvSpPr>
          <p:cNvPr id="22" name="Data row 3 col 4"/>
          <p:cNvSpPr txBox="1"/>
          <p:nvPr/>
        </p:nvSpPr>
        <p:spPr>
          <a:xfrm>
            <a:off x="9235440" y="5413248"/>
            <a:ext cx="2944368"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Every claim cites source and time; no cause inferred without a source</a:t>
            </a:r>
          </a:p>
        </p:txBody>
      </p:sp>
      <p:cxnSp>
        <p:nvCxnSpPr>
          <p:cNvPr id="23" name="Divider"/>
          <p:cNvCxnSpPr/>
          <p:nvPr/>
        </p:nvCxnSpPr>
        <p:spPr>
          <a:xfrm>
            <a:off x="822960" y="6355080"/>
            <a:ext cx="11356848" cy="0"/>
          </a:xfrm>
          <a:prstGeom prst="line">
            <a:avLst/>
          </a:prstGeom>
          <a:ln w="9525">
            <a:solidFill>
              <a:srgbClr val="E1E3E8"/>
            </a:solidFill>
          </a:ln>
        </p:spPr>
      </p:cxnSp>
      <p:sp>
        <p:nvSpPr>
          <p:cNvPr id="24" name="Data row 4"/>
          <p:cNvSpPr txBox="1"/>
          <p:nvPr/>
        </p:nvSpPr>
        <p:spPr>
          <a:xfrm>
            <a:off x="822960" y="6483096"/>
            <a:ext cx="2834640" cy="86868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His data, opt-in</a:t>
            </a:r>
          </a:p>
          <a:p>
            <a:pPr algn="l">
              <a:lnSpc>
                <a:spcPct val="110000"/>
              </a:lnSpc>
              <a:spcAft>
                <a:spcPts val="300"/>
              </a:spcAft>
            </a:pPr>
            <a:r>
              <a:rPr lang="en-US" sz="1300" spc="0" dirty="0">
                <a:solidFill>
                  <a:srgbClr val="565C6B"/>
                </a:solidFill>
                <a:latin typeface="Helvetica Neue Light"/>
                <a:cs typeface="Helvetica Neue Light"/>
              </a:rPr>
              <a:t>Screens, reasons, notes, exit lines</a:t>
            </a:r>
          </a:p>
        </p:txBody>
      </p:sp>
      <p:sp>
        <p:nvSpPr>
          <p:cNvPr id="25" name="Data row 4 col 2"/>
          <p:cNvSpPr txBox="1"/>
          <p:nvPr/>
        </p:nvSpPr>
        <p:spPr>
          <a:xfrm>
            <a:off x="3931920" y="6483096"/>
            <a:ext cx="27432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Personal rules; what to watch and when</a:t>
            </a:r>
          </a:p>
        </p:txBody>
      </p:sp>
      <p:sp>
        <p:nvSpPr>
          <p:cNvPr id="26" name="Data row 4 col 3"/>
          <p:cNvSpPr txBox="1"/>
          <p:nvPr/>
        </p:nvSpPr>
        <p:spPr>
          <a:xfrm>
            <a:off x="6903720" y="6483096"/>
            <a:ext cx="20574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Small, per user</a:t>
            </a:r>
          </a:p>
        </p:txBody>
      </p:sp>
      <p:sp>
        <p:nvSpPr>
          <p:cNvPr id="27" name="Data row 4 col 4"/>
          <p:cNvSpPr txBox="1"/>
          <p:nvPr/>
        </p:nvSpPr>
        <p:spPr>
          <a:xfrm>
            <a:off x="9235440" y="6483096"/>
            <a:ext cx="2944368"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Visible, editable, deletable; never turned into recommendations</a:t>
            </a:r>
          </a:p>
        </p:txBody>
      </p:sp>
      <p:cxnSp>
        <p:nvCxnSpPr>
          <p:cNvPr id="28" name="Divider"/>
          <p:cNvCxnSpPr/>
          <p:nvPr/>
        </p:nvCxnSpPr>
        <p:spPr>
          <a:xfrm>
            <a:off x="822960" y="7424927"/>
            <a:ext cx="11356848" cy="0"/>
          </a:xfrm>
          <a:prstGeom prst="line">
            <a:avLst/>
          </a:prstGeom>
          <a:ln w="9525">
            <a:solidFill>
              <a:srgbClr val="E1E3E8"/>
            </a:solidFill>
          </a:ln>
        </p:spPr>
      </p:cxnSp>
      <p:sp>
        <p:nvSpPr>
          <p:cNvPr id="29" name="Data row 5"/>
          <p:cNvSpPr txBox="1"/>
          <p:nvPr/>
        </p:nvSpPr>
        <p:spPr>
          <a:xfrm>
            <a:off x="822960" y="7552944"/>
            <a:ext cx="2834640" cy="86868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Labels</a:t>
            </a:r>
          </a:p>
          <a:p>
            <a:pPr algn="l">
              <a:lnSpc>
                <a:spcPct val="110000"/>
              </a:lnSpc>
              <a:spcAft>
                <a:spcPts val="300"/>
              </a:spcAft>
            </a:pPr>
            <a:r>
              <a:rPr lang="en-US" sz="1300" spc="0" dirty="0">
                <a:solidFill>
                  <a:srgbClr val="565C6B"/>
                </a:solidFill>
                <a:latin typeface="Helvetica Neue Light"/>
                <a:cs typeface="Helvetica Neue Light"/>
              </a:rPr>
              <a:t>His corrections + weekly audits</a:t>
            </a:r>
          </a:p>
        </p:txBody>
      </p:sp>
      <p:sp>
        <p:nvSpPr>
          <p:cNvPr id="30" name="Data row 5 col 2"/>
          <p:cNvSpPr txBox="1"/>
          <p:nvPr/>
        </p:nvSpPr>
        <p:spPr>
          <a:xfrm>
            <a:off x="3931920" y="7552944"/>
            <a:ext cx="27432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Evaluate and tune detection and alerts</a:t>
            </a:r>
          </a:p>
        </p:txBody>
      </p:sp>
      <p:sp>
        <p:nvSpPr>
          <p:cNvPr id="31" name="Data row 5 col 3"/>
          <p:cNvSpPr txBox="1"/>
          <p:nvPr/>
        </p:nvSpPr>
        <p:spPr>
          <a:xfrm>
            <a:off x="6903720" y="7552944"/>
            <a:ext cx="20574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Grows with use; 50 detections audited a week</a:t>
            </a:r>
          </a:p>
        </p:txBody>
      </p:sp>
      <p:sp>
        <p:nvSpPr>
          <p:cNvPr id="32" name="Data row 5 col 4"/>
          <p:cNvSpPr txBox="1"/>
          <p:nvPr/>
        </p:nvSpPr>
        <p:spPr>
          <a:xfrm>
            <a:off x="9235440" y="7552944"/>
            <a:ext cx="2944368"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Corrections skew toward noise; sampled audits keep the error rate fair</a:t>
            </a:r>
          </a:p>
        </p:txBody>
      </p:sp>
      <p:cxnSp>
        <p:nvCxnSpPr>
          <p:cNvPr id="33" name="Divider"/>
          <p:cNvCxnSpPr/>
          <p:nvPr/>
        </p:nvCxnSpPr>
        <p:spPr>
          <a:xfrm>
            <a:off x="822960" y="8494776"/>
            <a:ext cx="11356848" cy="0"/>
          </a:xfrm>
          <a:prstGeom prst="line">
            <a:avLst/>
          </a:prstGeom>
          <a:ln w="9525">
            <a:solidFill>
              <a:srgbClr val="E1E3E8"/>
            </a:solidFill>
          </a:ln>
        </p:spPr>
      </p:cxnSp>
      <p:sp>
        <p:nvSpPr>
          <p:cNvPr id="34" name="Source"/>
          <p:cNvSpPr txBox="1"/>
          <p:nvPr/>
        </p:nvSpPr>
        <p:spPr>
          <a:xfrm>
            <a:off x="822960" y="8641080"/>
            <a:ext cx="11358880" cy="274320"/>
          </a:xfrm>
          <a:prstGeom prst="rect">
            <a:avLst/>
          </a:prstGeom>
          <a:noFill/>
        </p:spPr>
        <p:txBody>
          <a:bodyPr wrap="square" lIns="0" tIns="0" rIns="0" bIns="0">
            <a:noAutofit/>
          </a:bodyPr>
          <a:lstStyle/>
          <a:p>
            <a:pPr algn="l">
              <a:lnSpc>
                <a:spcPct val="100000"/>
              </a:lnSpc>
              <a:spcAft>
                <a:spcPts val="300"/>
              </a:spcAft>
            </a:pPr>
            <a:r>
              <a:rPr lang="en-US" sz="1100" spc="0" dirty="0">
                <a:solidFill>
                  <a:srgbClr val="858A97"/>
                </a:solidFill>
                <a:latin typeface="Helvetica Neue Light"/>
                <a:cs typeface="Helvetica Neue Light"/>
              </a:rPr>
              <a:t>Volumes are design estimates to validate with FinViz engineering. Every AI output shows the data behind it and its time; when data is missing, the product says so.</a:t>
            </a:r>
          </a:p>
        </p:txBody>
      </p:sp>
      <p:pic>
        <p:nvPicPr>
          <p:cNvPr id="35" name="Picture 34"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a:t>
            </a:r>
          </a:p>
        </p:txBody>
      </p:sp>
      <p:sp>
        <p:nvSpPr>
          <p:cNvPr id="102" name="Headline"/>
          <p:cNvSpPr txBox="1"/>
          <p:nvPr/>
        </p:nvSpPr>
        <p:spPr>
          <a:xfrm>
            <a:off x="822960" y="1371600"/>
            <a:ext cx="11358880" cy="118872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One trade, followed through </a:t>
            </a:r>
            <a:r>
              <a:rPr lang="en-US" sz="4000" spc="-40" dirty="0">
                <a:solidFill>
                  <a:srgbClr val="B5531F"/>
                </a:solidFill>
                <a:latin typeface="Helvetica Neue Medium"/>
                <a:cs typeface="Helvetica Neue Medium"/>
              </a:rPr>
              <a:t>one trading day</a:t>
            </a:r>
            <a:r>
              <a:rPr lang="en-US" sz="4000" spc="-40" dirty="0">
                <a:solidFill>
                  <a:srgbClr val="14161D"/>
                </a:solidFill>
                <a:latin typeface="Helvetica Neue Medium"/>
                <a:cs typeface="Helvetica Neue Medium"/>
              </a:rPr>
              <a:t>.</a:t>
            </a:r>
          </a:p>
        </p:txBody>
      </p:sp>
      <p:sp>
        <p:nvSpPr>
          <p:cNvPr id="103" name="Body"/>
          <p:cNvSpPr txBox="1"/>
          <p:nvPr/>
        </p:nvSpPr>
        <p:spPr>
          <a:xfrm>
            <a:off x="822960" y="2743200"/>
            <a:ext cx="11358880" cy="1463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Growth Gary, a swing trader with a day job, finds an idea at night, checks it before work, gets one alert while he’s busy, and decides after the close whether his reasons still hold. FinViz watches and explains at the right moment; Gary makes every decision, in his own broker.</a:t>
            </a:r>
          </a:p>
        </p:txBody>
      </p:sp>
      <p:cxnSp>
        <p:nvCxnSpPr>
          <p:cNvPr id="104" name="Divider"/>
          <p:cNvCxnSpPr/>
          <p:nvPr/>
        </p:nvCxnSpPr>
        <p:spPr>
          <a:xfrm>
            <a:off x="822960" y="4892040"/>
            <a:ext cx="11358880" cy="0"/>
          </a:xfrm>
          <a:prstGeom prst="line">
            <a:avLst/>
          </a:prstGeom>
          <a:ln w="28575">
            <a:solidFill>
              <a:srgbClr val="B5531F"/>
            </a:solidFill>
          </a:ln>
        </p:spPr>
      </p:cxnSp>
      <p:sp>
        <p:nvSpPr>
          <p:cNvPr id="105" name="Stage"/>
          <p:cNvSpPr txBox="1"/>
          <p:nvPr/>
        </p:nvSpPr>
        <p:spPr>
          <a:xfrm>
            <a:off x="822960" y="5120640"/>
            <a:ext cx="2052320" cy="292608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1</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8–10 PM</a:t>
            </a:r>
          </a:p>
          <a:p>
            <a:pPr algn="l">
              <a:lnSpc>
                <a:spcPct val="105000"/>
              </a:lnSpc>
              <a:spcAft>
                <a:spcPts val="350"/>
              </a:spcAft>
            </a:pPr>
            <a:r>
              <a:rPr lang="en-US" sz="1700" spc="0" dirty="0">
                <a:solidFill>
                  <a:srgbClr val="14161D"/>
                </a:solidFill>
                <a:latin typeface="Helvetica Neue Medium"/>
                <a:cs typeface="Helvetica Neue Medium"/>
              </a:rPr>
              <a:t>Evening</a:t>
            </a:r>
          </a:p>
          <a:p>
            <a:pPr algn="l">
              <a:lnSpc>
                <a:spcPct val="125000"/>
              </a:lnSpc>
              <a:spcAft>
                <a:spcPts val="350"/>
              </a:spcAft>
            </a:pPr>
            <a:r>
              <a:rPr lang="en-US" sz="1550" spc="0" dirty="0">
                <a:solidFill>
                  <a:srgbClr val="565C6B"/>
                </a:solidFill>
                <a:latin typeface="Helvetica Neue Light"/>
                <a:cs typeface="Helvetica Neue Light"/>
              </a:rPr>
              <a:t>Reviews what’s new, pins 3–5 names, taps “Watch these for me”</a:t>
            </a:r>
          </a:p>
        </p:txBody>
      </p:sp>
      <p:sp>
        <p:nvSpPr>
          <p:cNvPr id="106" name="Stage"/>
          <p:cNvSpPr txBox="1"/>
          <p:nvPr/>
        </p:nvSpPr>
        <p:spPr>
          <a:xfrm>
            <a:off x="3149600" y="5120640"/>
            <a:ext cx="2052320" cy="292608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2</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WHILE HE SLEEPS</a:t>
            </a:r>
          </a:p>
          <a:p>
            <a:pPr algn="l">
              <a:lnSpc>
                <a:spcPct val="105000"/>
              </a:lnSpc>
              <a:spcAft>
                <a:spcPts val="350"/>
              </a:spcAft>
            </a:pPr>
            <a:r>
              <a:rPr lang="en-US" sz="1700" spc="0" dirty="0">
                <a:solidFill>
                  <a:srgbClr val="14161D"/>
                </a:solidFill>
                <a:latin typeface="Helvetica Neue Medium"/>
                <a:cs typeface="Helvetica Neue Medium"/>
              </a:rPr>
              <a:t>Overnight</a:t>
            </a:r>
          </a:p>
          <a:p>
            <a:pPr algn="l">
              <a:lnSpc>
                <a:spcPct val="125000"/>
              </a:lnSpc>
              <a:spcAft>
                <a:spcPts val="350"/>
              </a:spcAft>
            </a:pPr>
            <a:r>
              <a:rPr lang="en-US" sz="1550" spc="0" dirty="0">
                <a:solidFill>
                  <a:srgbClr val="565C6B"/>
                </a:solidFill>
                <a:latin typeface="Helvetica Neue Light"/>
                <a:cs typeface="Helvetica Neue Light"/>
              </a:rPr>
              <a:t>Nothing to do; a bounded agent re-checks his names</a:t>
            </a:r>
          </a:p>
        </p:txBody>
      </p:sp>
      <p:sp>
        <p:nvSpPr>
          <p:cNvPr id="107" name="Stage"/>
          <p:cNvSpPr txBox="1"/>
          <p:nvPr/>
        </p:nvSpPr>
        <p:spPr>
          <a:xfrm>
            <a:off x="5476240" y="5120640"/>
            <a:ext cx="2052320" cy="292608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3</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7:30 AM</a:t>
            </a:r>
          </a:p>
          <a:p>
            <a:pPr algn="l">
              <a:lnSpc>
                <a:spcPct val="105000"/>
              </a:lnSpc>
              <a:spcAft>
                <a:spcPts val="350"/>
              </a:spcAft>
            </a:pPr>
            <a:r>
              <a:rPr lang="en-US" sz="1700" spc="0" dirty="0">
                <a:solidFill>
                  <a:srgbClr val="14161D"/>
                </a:solidFill>
                <a:latin typeface="Helvetica Neue Medium"/>
                <a:cs typeface="Helvetica Neue Medium"/>
              </a:rPr>
              <a:t>Before work</a:t>
            </a:r>
          </a:p>
          <a:p>
            <a:pPr algn="l">
              <a:lnSpc>
                <a:spcPct val="125000"/>
              </a:lnSpc>
              <a:spcAft>
                <a:spcPts val="350"/>
              </a:spcAft>
            </a:pPr>
            <a:r>
              <a:rPr lang="en-US" sz="1550" spc="0" dirty="0">
                <a:solidFill>
                  <a:srgbClr val="565C6B"/>
                </a:solidFill>
                <a:latin typeface="Helvetica Neue Light"/>
                <a:cs typeface="Helvetica Neue Light"/>
              </a:rPr>
              <a:t>Reads one short note</a:t>
            </a:r>
          </a:p>
        </p:txBody>
      </p:sp>
      <p:sp>
        <p:nvSpPr>
          <p:cNvPr id="108" name="Stage"/>
          <p:cNvSpPr txBox="1"/>
          <p:nvPr/>
        </p:nvSpPr>
        <p:spPr>
          <a:xfrm>
            <a:off x="7802880" y="5120640"/>
            <a:ext cx="2052320" cy="292608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4</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9:30 AM–4 PM</a:t>
            </a:r>
          </a:p>
          <a:p>
            <a:pPr algn="l">
              <a:lnSpc>
                <a:spcPct val="105000"/>
              </a:lnSpc>
              <a:spcAft>
                <a:spcPts val="350"/>
              </a:spcAft>
            </a:pPr>
            <a:r>
              <a:rPr lang="en-US" sz="1700" spc="0" dirty="0">
                <a:solidFill>
                  <a:srgbClr val="14161D"/>
                </a:solidFill>
                <a:latin typeface="Helvetica Neue Medium"/>
                <a:cs typeface="Helvetica Neue Medium"/>
              </a:rPr>
              <a:t>During work</a:t>
            </a:r>
          </a:p>
          <a:p>
            <a:pPr algn="l">
              <a:lnSpc>
                <a:spcPct val="125000"/>
              </a:lnSpc>
              <a:spcAft>
                <a:spcPts val="350"/>
              </a:spcAft>
            </a:pPr>
            <a:r>
              <a:rPr lang="en-US" sz="1550" spc="0" dirty="0">
                <a:solidFill>
                  <a:srgbClr val="565C6B"/>
                </a:solidFill>
                <a:latin typeface="Helvetica Neue Light"/>
                <a:cs typeface="Helvetica Neue Light"/>
              </a:rPr>
              <a:t>Taps one alert, if it comes</a:t>
            </a:r>
          </a:p>
        </p:txBody>
      </p:sp>
      <p:sp>
        <p:nvSpPr>
          <p:cNvPr id="109" name="Stage"/>
          <p:cNvSpPr txBox="1"/>
          <p:nvPr/>
        </p:nvSpPr>
        <p:spPr>
          <a:xfrm>
            <a:off x="10129520" y="5120640"/>
            <a:ext cx="2052320" cy="292608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5</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4:30 PM</a:t>
            </a:r>
          </a:p>
          <a:p>
            <a:pPr algn="l">
              <a:lnSpc>
                <a:spcPct val="105000"/>
              </a:lnSpc>
              <a:spcAft>
                <a:spcPts val="350"/>
              </a:spcAft>
            </a:pPr>
            <a:r>
              <a:rPr lang="en-US" sz="1700" spc="0" dirty="0">
                <a:solidFill>
                  <a:srgbClr val="14161D"/>
                </a:solidFill>
                <a:latin typeface="Helvetica Neue Medium"/>
                <a:cs typeface="Helvetica Neue Medium"/>
              </a:rPr>
              <a:t>After the close</a:t>
            </a:r>
          </a:p>
          <a:p>
            <a:pPr algn="l">
              <a:lnSpc>
                <a:spcPct val="125000"/>
              </a:lnSpc>
              <a:spcAft>
                <a:spcPts val="350"/>
              </a:spcAft>
            </a:pPr>
            <a:r>
              <a:rPr lang="en-US" sz="1550" spc="0" dirty="0">
                <a:solidFill>
                  <a:srgbClr val="565C6B"/>
                </a:solidFill>
                <a:latin typeface="Helvetica Neue Light"/>
                <a:cs typeface="Helvetica Neue Light"/>
              </a:rPr>
              <a:t>Decides: hold, or exit in his own broker</a:t>
            </a:r>
          </a:p>
        </p:txBody>
      </p:sp>
      <p:pic>
        <p:nvPicPr>
          <p:cNvPr id="110" name="Picture 109"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 xml:space="preserve">The whole trading day, in 19 screens</a:t>
            </a:r>
            <a:r>
              <a:rPr sz="3200" dirty="0" err="1">
                <a:solidFill>
                  <a:srgbClr val="1F1F1F"/>
                </a:solidFill>
                <a:latin typeface="Helvetica Neue Light"/>
              </a:rPr>
              <a:t/>
            </a:r>
            <a:r>
              <a:rPr sz="3200" dirty="0">
                <a:solidFill>
                  <a:srgbClr val="1F1F1F"/>
                </a:solidFill>
                <a:latin typeface="Helvetica Neue Light"/>
              </a:rPr>
              <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 xml:space="preserve">One trade, Monday evening to Sunday. Every screen is designed in hi-fi and linked as a clickable prototype.</a:t>
            </a:r>
          </a:p>
        </p:txBody>
      </p:sp>
      <p:pic>
        <p:nvPicPr>
          <p:cNvPr id="6" name="Picture 5" descr="image.png"/>
          <p:cNvPicPr>
            <a:picLocks noChangeAspect="1"/>
          </p:cNvPicPr>
          <p:nvPr/>
        </p:nvPicPr>
        <p:blipFill>
          <a:blip r:embed="rId3"/>
          <a:stretch>
            <a:fillRect/>
          </a:stretch>
        </p:blipFill>
        <p:spPr>
          <a:xfrm>
            <a:off x="457200" y="2103120"/>
            <a:ext cx="2282342" cy="1170432"/>
          </a:xfrm>
          <a:prstGeom prst="rect">
            <a:avLst/>
          </a:prstGeom>
        </p:spPr>
      </p:pic>
      <p:sp>
        <p:nvSpPr>
          <p:cNvPr id="502" name="Caption 1"/>
          <p:cNvSpPr txBox="1"/>
          <p:nvPr/>
        </p:nvSpPr>
        <p:spPr>
          <a:xfrm>
            <a:off x="457200" y="3328416"/>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01  </a:t>
            </a:r>
            <a:r>
              <a:rPr lang="en-US" sz="1050" dirty="0">
                <a:solidFill>
                  <a:srgbClr val="1F1F1F"/>
                </a:solidFill>
                <a:latin typeface="Helvetica Neue"/>
                <a:cs typeface="Helvetica Neue"/>
              </a:rPr>
              <a:t xml:space="preserve">Show It</a:t>
            </a:r>
          </a:p>
          <a:p>
            <a:pPr>
              <a:lnSpc>
                <a:spcPct val="105000"/>
              </a:lnSpc>
            </a:pPr>
            <a:r>
              <a:rPr lang="en-US" sz="950" dirty="0">
                <a:solidFill>
                  <a:srgbClr val="595959"/>
                </a:solidFill>
                <a:latin typeface="Helvetica Neue Light"/>
                <a:cs typeface="Helvetica Neue Light"/>
              </a:rPr>
              <a:t xml:space="preserve">Mon 8:05 PM</a:t>
            </a:r>
          </a:p>
        </p:txBody>
      </p:sp>
      <p:pic>
        <p:nvPicPr>
          <p:cNvPr id="503" name="Picture 502" descr="image.png"/>
          <p:cNvPicPr>
            <a:picLocks noChangeAspect="1"/>
          </p:cNvPicPr>
          <p:nvPr/>
        </p:nvPicPr>
        <p:blipFill>
          <a:blip r:embed="rId4"/>
          <a:stretch>
            <a:fillRect/>
          </a:stretch>
        </p:blipFill>
        <p:spPr>
          <a:xfrm>
            <a:off x="2904134" y="2103120"/>
            <a:ext cx="2282342" cy="1170432"/>
          </a:xfrm>
          <a:prstGeom prst="rect">
            <a:avLst/>
          </a:prstGeom>
        </p:spPr>
      </p:pic>
      <p:sp>
        <p:nvSpPr>
          <p:cNvPr id="504" name="Caption 2"/>
          <p:cNvSpPr txBox="1"/>
          <p:nvPr/>
        </p:nvSpPr>
        <p:spPr>
          <a:xfrm>
            <a:off x="2904134" y="3328416"/>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02  </a:t>
            </a:r>
            <a:r>
              <a:rPr lang="en-US" sz="1050" dirty="0">
                <a:solidFill>
                  <a:srgbClr val="1F1F1F"/>
                </a:solidFill>
                <a:latin typeface="Helvetica Neue"/>
                <a:cs typeface="Helvetica Neue"/>
              </a:rPr>
              <a:t xml:space="preserve">Since last night</a:t>
            </a:r>
          </a:p>
          <a:p>
            <a:pPr>
              <a:lnSpc>
                <a:spcPct val="105000"/>
              </a:lnSpc>
            </a:pPr>
            <a:r>
              <a:rPr lang="en-US" sz="950" dirty="0">
                <a:solidFill>
                  <a:srgbClr val="595959"/>
                </a:solidFill>
                <a:latin typeface="Helvetica Neue Light"/>
                <a:cs typeface="Helvetica Neue Light"/>
              </a:rPr>
              <a:t xml:space="preserve">Mon 8:10 PM</a:t>
            </a:r>
          </a:p>
        </p:txBody>
      </p:sp>
      <p:pic>
        <p:nvPicPr>
          <p:cNvPr id="505" name="Picture 504" descr="image.png"/>
          <p:cNvPicPr>
            <a:picLocks noChangeAspect="1"/>
          </p:cNvPicPr>
          <p:nvPr/>
        </p:nvPicPr>
        <p:blipFill>
          <a:blip r:embed="rId5"/>
          <a:stretch>
            <a:fillRect/>
          </a:stretch>
        </p:blipFill>
        <p:spPr>
          <a:xfrm>
            <a:off x="5351068" y="2103120"/>
            <a:ext cx="2282342" cy="1170432"/>
          </a:xfrm>
          <a:prstGeom prst="rect">
            <a:avLst/>
          </a:prstGeom>
        </p:spPr>
      </p:pic>
      <p:sp>
        <p:nvSpPr>
          <p:cNvPr id="506" name="Caption 3"/>
          <p:cNvSpPr txBox="1"/>
          <p:nvPr/>
        </p:nvSpPr>
        <p:spPr>
          <a:xfrm>
            <a:off x="5351068" y="3328416"/>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03  </a:t>
            </a:r>
            <a:r>
              <a:rPr lang="en-US" sz="1050" dirty="0">
                <a:solidFill>
                  <a:srgbClr val="1F1F1F"/>
                </a:solidFill>
                <a:latin typeface="Helvetica Neue"/>
                <a:cs typeface="Helvetica Neue"/>
              </a:rPr>
              <a:t xml:space="preserve">Lens grid</a:t>
            </a:r>
          </a:p>
          <a:p>
            <a:pPr>
              <a:lnSpc>
                <a:spcPct val="105000"/>
              </a:lnSpc>
            </a:pPr>
            <a:r>
              <a:rPr lang="en-US" sz="950" dirty="0">
                <a:solidFill>
                  <a:srgbClr val="595959"/>
                </a:solidFill>
                <a:latin typeface="Helvetica Neue Light"/>
                <a:cs typeface="Helvetica Neue Light"/>
              </a:rPr>
              <a:t xml:space="preserve">Mon 8:20 PM</a:t>
            </a:r>
          </a:p>
        </p:txBody>
      </p:sp>
      <p:pic>
        <p:nvPicPr>
          <p:cNvPr id="507" name="Picture 506" descr="image.png"/>
          <p:cNvPicPr>
            <a:picLocks noChangeAspect="1"/>
          </p:cNvPicPr>
          <p:nvPr/>
        </p:nvPicPr>
        <p:blipFill>
          <a:blip r:embed="rId6"/>
          <a:stretch>
            <a:fillRect/>
          </a:stretch>
        </p:blipFill>
        <p:spPr>
          <a:xfrm>
            <a:off x="7798003" y="2103120"/>
            <a:ext cx="2282342" cy="1170432"/>
          </a:xfrm>
          <a:prstGeom prst="rect">
            <a:avLst/>
          </a:prstGeom>
        </p:spPr>
      </p:pic>
      <p:sp>
        <p:nvSpPr>
          <p:cNvPr id="508" name="Caption 4"/>
          <p:cNvSpPr txBox="1"/>
          <p:nvPr/>
        </p:nvSpPr>
        <p:spPr>
          <a:xfrm>
            <a:off x="7798003" y="3328416"/>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04  </a:t>
            </a:r>
            <a:r>
              <a:rPr lang="en-US" sz="1050" dirty="0">
                <a:solidFill>
                  <a:srgbClr val="1F1F1F"/>
                </a:solidFill>
                <a:latin typeface="Helvetica Neue"/>
                <a:cs typeface="Helvetica Neue"/>
              </a:rPr>
              <a:t xml:space="preserve">Linked compare</a:t>
            </a:r>
          </a:p>
          <a:p>
            <a:pPr>
              <a:lnSpc>
                <a:spcPct val="105000"/>
              </a:lnSpc>
            </a:pPr>
            <a:r>
              <a:rPr lang="en-US" sz="950" dirty="0">
                <a:solidFill>
                  <a:srgbClr val="595959"/>
                </a:solidFill>
                <a:latin typeface="Helvetica Neue Light"/>
                <a:cs typeface="Helvetica Neue Light"/>
              </a:rPr>
              <a:t xml:space="preserve">Mon 8:26 PM</a:t>
            </a:r>
          </a:p>
        </p:txBody>
      </p:sp>
      <p:pic>
        <p:nvPicPr>
          <p:cNvPr id="509" name="Picture 508" descr="image.png"/>
          <p:cNvPicPr>
            <a:picLocks noChangeAspect="1"/>
          </p:cNvPicPr>
          <p:nvPr/>
        </p:nvPicPr>
        <p:blipFill>
          <a:blip r:embed="rId7"/>
          <a:stretch>
            <a:fillRect/>
          </a:stretch>
        </p:blipFill>
        <p:spPr>
          <a:xfrm>
            <a:off x="10244937" y="2103120"/>
            <a:ext cx="2282342" cy="1170432"/>
          </a:xfrm>
          <a:prstGeom prst="rect">
            <a:avLst/>
          </a:prstGeom>
        </p:spPr>
      </p:pic>
      <p:sp>
        <p:nvSpPr>
          <p:cNvPr id="510" name="Caption 5"/>
          <p:cNvSpPr txBox="1"/>
          <p:nvPr/>
        </p:nvSpPr>
        <p:spPr>
          <a:xfrm>
            <a:off x="10244937" y="3328416"/>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05  </a:t>
            </a:r>
            <a:r>
              <a:rPr lang="en-US" sz="1050" dirty="0">
                <a:solidFill>
                  <a:srgbClr val="1F1F1F"/>
                </a:solidFill>
                <a:latin typeface="Helvetica Neue"/>
                <a:cs typeface="Helvetica Neue"/>
              </a:rPr>
              <a:t xml:space="preserve">Reasons ledger</a:t>
            </a:r>
          </a:p>
          <a:p>
            <a:pPr>
              <a:lnSpc>
                <a:spcPct val="105000"/>
              </a:lnSpc>
            </a:pPr>
            <a:r>
              <a:rPr lang="en-US" sz="950" dirty="0">
                <a:solidFill>
                  <a:srgbClr val="595959"/>
                </a:solidFill>
                <a:latin typeface="Helvetica Neue Light"/>
                <a:cs typeface="Helvetica Neue Light"/>
              </a:rPr>
              <a:t xml:space="preserve">Mon 8:32 PM</a:t>
            </a:r>
          </a:p>
        </p:txBody>
      </p:sp>
      <p:pic>
        <p:nvPicPr>
          <p:cNvPr id="511" name="Picture 510" descr="image.png"/>
          <p:cNvPicPr>
            <a:picLocks noChangeAspect="1"/>
          </p:cNvPicPr>
          <p:nvPr/>
        </p:nvPicPr>
        <p:blipFill>
          <a:blip r:embed="rId8"/>
          <a:stretch>
            <a:fillRect/>
          </a:stretch>
        </p:blipFill>
        <p:spPr>
          <a:xfrm>
            <a:off x="457200" y="3776472"/>
            <a:ext cx="2282342" cy="1170432"/>
          </a:xfrm>
          <a:prstGeom prst="rect">
            <a:avLst/>
          </a:prstGeom>
        </p:spPr>
      </p:pic>
      <p:sp>
        <p:nvSpPr>
          <p:cNvPr id="512" name="Caption 6"/>
          <p:cNvSpPr txBox="1"/>
          <p:nvPr/>
        </p:nvSpPr>
        <p:spPr>
          <a:xfrm>
            <a:off x="457200" y="5001768"/>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06  </a:t>
            </a:r>
            <a:r>
              <a:rPr lang="en-US" sz="1050" dirty="0">
                <a:solidFill>
                  <a:srgbClr val="1F1F1F"/>
                </a:solidFill>
                <a:latin typeface="Helvetica Neue"/>
                <a:cs typeface="Helvetica Neue"/>
              </a:rPr>
              <a:t xml:space="preserve">Watch these for me</a:t>
            </a:r>
          </a:p>
          <a:p>
            <a:pPr>
              <a:lnSpc>
                <a:spcPct val="105000"/>
              </a:lnSpc>
            </a:pPr>
            <a:r>
              <a:rPr lang="en-US" sz="950" dirty="0">
                <a:solidFill>
                  <a:srgbClr val="595959"/>
                </a:solidFill>
                <a:latin typeface="Helvetica Neue Light"/>
                <a:cs typeface="Helvetica Neue Light"/>
              </a:rPr>
              <a:t xml:space="preserve">Mon 8:40 PM</a:t>
            </a:r>
          </a:p>
        </p:txBody>
      </p:sp>
      <p:pic>
        <p:nvPicPr>
          <p:cNvPr id="513" name="Picture 512" descr="image.png"/>
          <p:cNvPicPr>
            <a:picLocks noChangeAspect="1"/>
          </p:cNvPicPr>
          <p:nvPr/>
        </p:nvPicPr>
        <p:blipFill>
          <a:blip r:embed="rId9"/>
          <a:stretch>
            <a:fillRect/>
          </a:stretch>
        </p:blipFill>
        <p:spPr>
          <a:xfrm>
            <a:off x="2904134" y="3776472"/>
            <a:ext cx="2282342" cy="1170432"/>
          </a:xfrm>
          <a:prstGeom prst="rect">
            <a:avLst/>
          </a:prstGeom>
        </p:spPr>
      </p:pic>
      <p:sp>
        <p:nvSpPr>
          <p:cNvPr id="514" name="Caption 7"/>
          <p:cNvSpPr txBox="1"/>
          <p:nvPr/>
        </p:nvSpPr>
        <p:spPr>
          <a:xfrm>
            <a:off x="2904134" y="5001768"/>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07  </a:t>
            </a:r>
            <a:r>
              <a:rPr lang="en-US" sz="1050" dirty="0">
                <a:solidFill>
                  <a:srgbClr val="1F1F1F"/>
                </a:solidFill>
                <a:latin typeface="Helvetica Neue"/>
                <a:cs typeface="Helvetica Neue"/>
              </a:rPr>
              <a:t xml:space="preserve">Morning glance</a:t>
            </a:r>
          </a:p>
          <a:p>
            <a:pPr>
              <a:lnSpc>
                <a:spcPct val="105000"/>
              </a:lnSpc>
            </a:pPr>
            <a:r>
              <a:rPr lang="en-US" sz="950" dirty="0">
                <a:solidFill>
                  <a:srgbClr val="595959"/>
                </a:solidFill>
                <a:latin typeface="Helvetica Neue Light"/>
                <a:cs typeface="Helvetica Neue Light"/>
              </a:rPr>
              <a:t xml:space="preserve">Tue 7:30 AM</a:t>
            </a:r>
          </a:p>
        </p:txBody>
      </p:sp>
      <p:pic>
        <p:nvPicPr>
          <p:cNvPr id="515" name="Picture 514" descr="image.png"/>
          <p:cNvPicPr>
            <a:picLocks noChangeAspect="1"/>
          </p:cNvPicPr>
          <p:nvPr/>
        </p:nvPicPr>
        <p:blipFill>
          <a:blip r:embed="rId10"/>
          <a:stretch>
            <a:fillRect/>
          </a:stretch>
        </p:blipFill>
        <p:spPr>
          <a:xfrm>
            <a:off x="5351068" y="3776472"/>
            <a:ext cx="2282342" cy="1170432"/>
          </a:xfrm>
          <a:prstGeom prst="rect">
            <a:avLst/>
          </a:prstGeom>
        </p:spPr>
      </p:pic>
      <p:sp>
        <p:nvSpPr>
          <p:cNvPr id="516" name="Caption 8"/>
          <p:cNvSpPr txBox="1"/>
          <p:nvPr/>
        </p:nvSpPr>
        <p:spPr>
          <a:xfrm>
            <a:off x="5351068" y="5001768"/>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08  </a:t>
            </a:r>
            <a:r>
              <a:rPr lang="en-US" sz="1050" dirty="0">
                <a:solidFill>
                  <a:srgbClr val="1F1F1F"/>
                </a:solidFill>
                <a:latin typeface="Helvetica Neue"/>
                <a:cs typeface="Helvetica Neue"/>
              </a:rPr>
              <a:t xml:space="preserve">Why marked</a:t>
            </a:r>
          </a:p>
          <a:p>
            <a:pPr>
              <a:lnSpc>
                <a:spcPct val="105000"/>
              </a:lnSpc>
            </a:pPr>
            <a:r>
              <a:rPr lang="en-US" sz="950" dirty="0">
                <a:solidFill>
                  <a:srgbClr val="595959"/>
                </a:solidFill>
                <a:latin typeface="Helvetica Neue Light"/>
                <a:cs typeface="Helvetica Neue Light"/>
              </a:rPr>
              <a:t xml:space="preserve">Tue 7:40 AM</a:t>
            </a:r>
          </a:p>
        </p:txBody>
      </p:sp>
      <p:pic>
        <p:nvPicPr>
          <p:cNvPr id="517" name="Picture 516" descr="image.png"/>
          <p:cNvPicPr>
            <a:picLocks noChangeAspect="1"/>
          </p:cNvPicPr>
          <p:nvPr/>
        </p:nvPicPr>
        <p:blipFill>
          <a:blip r:embed="rId11"/>
          <a:stretch>
            <a:fillRect/>
          </a:stretch>
        </p:blipFill>
        <p:spPr>
          <a:xfrm>
            <a:off x="7798003" y="3776472"/>
            <a:ext cx="2282342" cy="1170432"/>
          </a:xfrm>
          <a:prstGeom prst="rect">
            <a:avLst/>
          </a:prstGeom>
        </p:spPr>
      </p:pic>
      <p:sp>
        <p:nvSpPr>
          <p:cNvPr id="518" name="Caption 9"/>
          <p:cNvSpPr txBox="1"/>
          <p:nvPr/>
        </p:nvSpPr>
        <p:spPr>
          <a:xfrm>
            <a:off x="7798003" y="5001768"/>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09  </a:t>
            </a:r>
            <a:r>
              <a:rPr lang="en-US" sz="1050" dirty="0">
                <a:solidFill>
                  <a:srgbClr val="1F1F1F"/>
                </a:solidFill>
                <a:latin typeface="Helvetica Neue"/>
                <a:cs typeface="Helvetica Neue"/>
              </a:rPr>
              <a:t xml:space="preserve">Insight Board</a:t>
            </a:r>
          </a:p>
          <a:p>
            <a:pPr>
              <a:lnSpc>
                <a:spcPct val="105000"/>
              </a:lnSpc>
            </a:pPr>
            <a:r>
              <a:rPr lang="en-US" sz="950" dirty="0">
                <a:solidFill>
                  <a:srgbClr val="595959"/>
                </a:solidFill>
                <a:latin typeface="Helvetica Neue Light"/>
                <a:cs typeface="Helvetica Neue Light"/>
              </a:rPr>
              <a:t xml:space="preserve">Tue 7:45 AM</a:t>
            </a:r>
          </a:p>
        </p:txBody>
      </p:sp>
      <p:pic>
        <p:nvPicPr>
          <p:cNvPr id="519" name="Picture 518" descr="image.png"/>
          <p:cNvPicPr>
            <a:picLocks noChangeAspect="1"/>
          </p:cNvPicPr>
          <p:nvPr/>
        </p:nvPicPr>
        <p:blipFill>
          <a:blip r:embed="rId12"/>
          <a:stretch>
            <a:fillRect/>
          </a:stretch>
        </p:blipFill>
        <p:spPr>
          <a:xfrm>
            <a:off x="10244937" y="3776472"/>
            <a:ext cx="2282342" cy="1170432"/>
          </a:xfrm>
          <a:prstGeom prst="rect">
            <a:avLst/>
          </a:prstGeom>
        </p:spPr>
      </p:pic>
      <p:sp>
        <p:nvSpPr>
          <p:cNvPr id="520" name="Caption 10"/>
          <p:cNvSpPr txBox="1"/>
          <p:nvPr/>
        </p:nvSpPr>
        <p:spPr>
          <a:xfrm>
            <a:off x="10244937" y="5001768"/>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10  </a:t>
            </a:r>
            <a:r>
              <a:rPr lang="en-US" sz="1050" dirty="0">
                <a:solidFill>
                  <a:srgbClr val="1F1F1F"/>
                </a:solidFill>
                <a:latin typeface="Helvetica Neue"/>
                <a:cs typeface="Helvetica Neue"/>
              </a:rPr>
              <a:t xml:space="preserve">Insight, opened</a:t>
            </a:r>
          </a:p>
          <a:p>
            <a:pPr>
              <a:lnSpc>
                <a:spcPct val="105000"/>
              </a:lnSpc>
            </a:pPr>
            <a:r>
              <a:rPr lang="en-US" sz="950" dirty="0">
                <a:solidFill>
                  <a:srgbClr val="595959"/>
                </a:solidFill>
                <a:latin typeface="Helvetica Neue Light"/>
                <a:cs typeface="Helvetica Neue Light"/>
              </a:rPr>
              <a:t xml:space="preserve">Tue 7:45 AM</a:t>
            </a:r>
          </a:p>
        </p:txBody>
      </p:sp>
      <p:pic>
        <p:nvPicPr>
          <p:cNvPr id="521" name="Picture 520" descr="image.png"/>
          <p:cNvPicPr>
            <a:picLocks noChangeAspect="1"/>
          </p:cNvPicPr>
          <p:nvPr/>
        </p:nvPicPr>
        <p:blipFill>
          <a:blip r:embed="rId13"/>
          <a:stretch>
            <a:fillRect/>
          </a:stretch>
        </p:blipFill>
        <p:spPr>
          <a:xfrm>
            <a:off x="457200" y="5449824"/>
            <a:ext cx="2282342" cy="1170432"/>
          </a:xfrm>
          <a:prstGeom prst="rect">
            <a:avLst/>
          </a:prstGeom>
        </p:spPr>
      </p:pic>
      <p:sp>
        <p:nvSpPr>
          <p:cNvPr id="522" name="Caption 11"/>
          <p:cNvSpPr txBox="1"/>
          <p:nvPr/>
        </p:nvSpPr>
        <p:spPr>
          <a:xfrm>
            <a:off x="457200" y="6675120"/>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11  </a:t>
            </a:r>
            <a:r>
              <a:rPr lang="en-US" sz="1050" dirty="0">
                <a:solidFill>
                  <a:srgbClr val="1F1F1F"/>
                </a:solidFill>
                <a:latin typeface="Helvetica Neue"/>
                <a:cs typeface="Helvetica Neue"/>
              </a:rPr>
              <a:t xml:space="preserve">Quiet hours, one alert</a:t>
            </a:r>
          </a:p>
          <a:p>
            <a:pPr>
              <a:lnSpc>
                <a:spcPct val="105000"/>
              </a:lnSpc>
            </a:pPr>
            <a:r>
              <a:rPr lang="en-US" sz="950" dirty="0">
                <a:solidFill>
                  <a:srgbClr val="595959"/>
                </a:solidFill>
                <a:latin typeface="Helvetica Neue Light"/>
                <a:cs typeface="Helvetica Neue Light"/>
              </a:rPr>
              <a:t xml:space="preserve">Tue 10:14 AM</a:t>
            </a:r>
          </a:p>
        </p:txBody>
      </p:sp>
      <p:pic>
        <p:nvPicPr>
          <p:cNvPr id="523" name="Picture 522" descr="image.png"/>
          <p:cNvPicPr>
            <a:picLocks noChangeAspect="1"/>
          </p:cNvPicPr>
          <p:nvPr/>
        </p:nvPicPr>
        <p:blipFill>
          <a:blip r:embed="rId14"/>
          <a:stretch>
            <a:fillRect/>
          </a:stretch>
        </p:blipFill>
        <p:spPr>
          <a:xfrm>
            <a:off x="2904134" y="5449824"/>
            <a:ext cx="2282342" cy="1170432"/>
          </a:xfrm>
          <a:prstGeom prst="rect">
            <a:avLst/>
          </a:prstGeom>
        </p:spPr>
      </p:pic>
      <p:sp>
        <p:nvSpPr>
          <p:cNvPr id="524" name="Caption 12"/>
          <p:cNvSpPr txBox="1"/>
          <p:nvPr/>
        </p:nvSpPr>
        <p:spPr>
          <a:xfrm>
            <a:off x="2904134" y="6675120"/>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12  </a:t>
            </a:r>
            <a:r>
              <a:rPr lang="en-US" sz="1050" dirty="0">
                <a:solidFill>
                  <a:srgbClr val="1F1F1F"/>
                </a:solidFill>
                <a:latin typeface="Helvetica Neue"/>
                <a:cs typeface="Helvetica Neue"/>
              </a:rPr>
              <a:t xml:space="preserve">This was wrong</a:t>
            </a:r>
          </a:p>
          <a:p>
            <a:pPr>
              <a:lnSpc>
                <a:spcPct val="105000"/>
              </a:lnSpc>
            </a:pPr>
            <a:r>
              <a:rPr lang="en-US" sz="950" dirty="0">
                <a:solidFill>
                  <a:srgbClr val="595959"/>
                </a:solidFill>
                <a:latin typeface="Helvetica Neue Light"/>
                <a:cs typeface="Helvetica Neue Light"/>
              </a:rPr>
              <a:t xml:space="preserve">Tue 10:31 AM</a:t>
            </a:r>
          </a:p>
        </p:txBody>
      </p:sp>
      <p:pic>
        <p:nvPicPr>
          <p:cNvPr id="525" name="Picture 524" descr="image.png"/>
          <p:cNvPicPr>
            <a:picLocks noChangeAspect="1"/>
          </p:cNvPicPr>
          <p:nvPr/>
        </p:nvPicPr>
        <p:blipFill>
          <a:blip r:embed="rId15"/>
          <a:stretch>
            <a:fillRect/>
          </a:stretch>
        </p:blipFill>
        <p:spPr>
          <a:xfrm>
            <a:off x="5351068" y="5449824"/>
            <a:ext cx="2282342" cy="1170432"/>
          </a:xfrm>
          <a:prstGeom prst="rect">
            <a:avLst/>
          </a:prstGeom>
        </p:spPr>
      </p:pic>
      <p:sp>
        <p:nvSpPr>
          <p:cNvPr id="526" name="Caption 13"/>
          <p:cNvSpPr txBox="1"/>
          <p:nvPr/>
        </p:nvSpPr>
        <p:spPr>
          <a:xfrm>
            <a:off x="5351068" y="6675120"/>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13  </a:t>
            </a:r>
            <a:r>
              <a:rPr lang="en-US" sz="1050" dirty="0">
                <a:solidFill>
                  <a:srgbClr val="1F1F1F"/>
                </a:solidFill>
                <a:latin typeface="Helvetica Neue"/>
                <a:cs typeface="Helvetica Neue"/>
              </a:rPr>
              <a:t xml:space="preserve">Board at lunch</a:t>
            </a:r>
          </a:p>
          <a:p>
            <a:pPr>
              <a:lnSpc>
                <a:spcPct val="105000"/>
              </a:lnSpc>
            </a:pPr>
            <a:r>
              <a:rPr lang="en-US" sz="950" dirty="0">
                <a:solidFill>
                  <a:srgbClr val="595959"/>
                </a:solidFill>
                <a:latin typeface="Helvetica Neue Light"/>
                <a:cs typeface="Helvetica Neue Light"/>
              </a:rPr>
              <a:t xml:space="preserve">Tue 12:30 PM</a:t>
            </a:r>
          </a:p>
        </p:txBody>
      </p:sp>
      <p:pic>
        <p:nvPicPr>
          <p:cNvPr id="527" name="Picture 526" descr="image.png"/>
          <p:cNvPicPr>
            <a:picLocks noChangeAspect="1"/>
          </p:cNvPicPr>
          <p:nvPr/>
        </p:nvPicPr>
        <p:blipFill>
          <a:blip r:embed="rId16"/>
          <a:stretch>
            <a:fillRect/>
          </a:stretch>
        </p:blipFill>
        <p:spPr>
          <a:xfrm>
            <a:off x="7798003" y="5449824"/>
            <a:ext cx="2282342" cy="1170432"/>
          </a:xfrm>
          <a:prstGeom prst="rect">
            <a:avLst/>
          </a:prstGeom>
        </p:spPr>
      </p:pic>
      <p:sp>
        <p:nvSpPr>
          <p:cNvPr id="528" name="Caption 14"/>
          <p:cNvSpPr txBox="1"/>
          <p:nvPr/>
        </p:nvSpPr>
        <p:spPr>
          <a:xfrm>
            <a:off x="7798003" y="6675120"/>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14  </a:t>
            </a:r>
            <a:r>
              <a:rPr lang="en-US" sz="1050" dirty="0">
                <a:solidFill>
                  <a:srgbClr val="1F1F1F"/>
                </a:solidFill>
                <a:latin typeface="Helvetica Neue"/>
                <a:cs typeface="Helvetica Neue"/>
              </a:rPr>
              <a:t xml:space="preserve">Reasons still hold?</a:t>
            </a:r>
          </a:p>
          <a:p>
            <a:pPr>
              <a:lnSpc>
                <a:spcPct val="105000"/>
              </a:lnSpc>
            </a:pPr>
            <a:r>
              <a:rPr lang="en-US" sz="950" dirty="0">
                <a:solidFill>
                  <a:srgbClr val="595959"/>
                </a:solidFill>
                <a:latin typeface="Helvetica Neue Light"/>
                <a:cs typeface="Helvetica Neue Light"/>
              </a:rPr>
              <a:t xml:space="preserve">Tue 4:30 PM</a:t>
            </a:r>
          </a:p>
        </p:txBody>
      </p:sp>
      <p:pic>
        <p:nvPicPr>
          <p:cNvPr id="529" name="Picture 528" descr="image.png"/>
          <p:cNvPicPr>
            <a:picLocks noChangeAspect="1"/>
          </p:cNvPicPr>
          <p:nvPr/>
        </p:nvPicPr>
        <p:blipFill>
          <a:blip r:embed="rId17"/>
          <a:stretch>
            <a:fillRect/>
          </a:stretch>
        </p:blipFill>
        <p:spPr>
          <a:xfrm>
            <a:off x="10244937" y="5449824"/>
            <a:ext cx="2282342" cy="1170432"/>
          </a:xfrm>
          <a:prstGeom prst="rect">
            <a:avLst/>
          </a:prstGeom>
        </p:spPr>
      </p:pic>
      <p:sp>
        <p:nvSpPr>
          <p:cNvPr id="530" name="Caption 15"/>
          <p:cNvSpPr txBox="1"/>
          <p:nvPr/>
        </p:nvSpPr>
        <p:spPr>
          <a:xfrm>
            <a:off x="10244937" y="6675120"/>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15  </a:t>
            </a:r>
            <a:r>
              <a:rPr lang="en-US" sz="1050" dirty="0">
                <a:solidFill>
                  <a:srgbClr val="1F1F1F"/>
                </a:solidFill>
                <a:latin typeface="Helvetica Neue"/>
                <a:cs typeface="Helvetica Neue"/>
              </a:rPr>
              <a:t xml:space="preserve">Portfolio vs plan</a:t>
            </a:r>
          </a:p>
          <a:p>
            <a:pPr>
              <a:lnSpc>
                <a:spcPct val="105000"/>
              </a:lnSpc>
            </a:pPr>
            <a:r>
              <a:rPr lang="en-US" sz="950" dirty="0">
                <a:solidFill>
                  <a:srgbClr val="595959"/>
                </a:solidFill>
                <a:latin typeface="Helvetica Neue Light"/>
                <a:cs typeface="Helvetica Neue Light"/>
              </a:rPr>
              <a:t xml:space="preserve">Tue 4:45 PM</a:t>
            </a:r>
          </a:p>
        </p:txBody>
      </p:sp>
      <p:pic>
        <p:nvPicPr>
          <p:cNvPr id="531" name="Picture 530" descr="image.png"/>
          <p:cNvPicPr>
            <a:picLocks noChangeAspect="1"/>
          </p:cNvPicPr>
          <p:nvPr/>
        </p:nvPicPr>
        <p:blipFill>
          <a:blip r:embed="rId18"/>
          <a:stretch>
            <a:fillRect/>
          </a:stretch>
        </p:blipFill>
        <p:spPr>
          <a:xfrm>
            <a:off x="457200" y="7123176"/>
            <a:ext cx="2282342" cy="1170432"/>
          </a:xfrm>
          <a:prstGeom prst="rect">
            <a:avLst/>
          </a:prstGeom>
        </p:spPr>
      </p:pic>
      <p:sp>
        <p:nvSpPr>
          <p:cNvPr id="532" name="Caption 16"/>
          <p:cNvSpPr txBox="1"/>
          <p:nvPr/>
        </p:nvSpPr>
        <p:spPr>
          <a:xfrm>
            <a:off x="457200" y="8348472"/>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16  </a:t>
            </a:r>
            <a:r>
              <a:rPr lang="en-US" sz="1050" dirty="0">
                <a:solidFill>
                  <a:srgbClr val="1F1F1F"/>
                </a:solidFill>
                <a:latin typeface="Helvetica Neue"/>
                <a:cs typeface="Helvetica Neue"/>
              </a:rPr>
              <a:t xml:space="preserve">Lens on portfolio</a:t>
            </a:r>
          </a:p>
          <a:p>
            <a:pPr>
              <a:lnSpc>
                <a:spcPct val="105000"/>
              </a:lnSpc>
            </a:pPr>
            <a:r>
              <a:rPr lang="en-US" sz="950" dirty="0">
                <a:solidFill>
                  <a:srgbClr val="595959"/>
                </a:solidFill>
                <a:latin typeface="Helvetica Neue Light"/>
                <a:cs typeface="Helvetica Neue Light"/>
              </a:rPr>
              <a:t xml:space="preserve">Tue 4:50 PM</a:t>
            </a:r>
          </a:p>
        </p:txBody>
      </p:sp>
      <p:pic>
        <p:nvPicPr>
          <p:cNvPr id="533" name="Picture 532" descr="image.png"/>
          <p:cNvPicPr>
            <a:picLocks noChangeAspect="1"/>
          </p:cNvPicPr>
          <p:nvPr/>
        </p:nvPicPr>
        <p:blipFill>
          <a:blip r:embed="rId19"/>
          <a:stretch>
            <a:fillRect/>
          </a:stretch>
        </p:blipFill>
        <p:spPr>
          <a:xfrm>
            <a:off x="2904134" y="7123176"/>
            <a:ext cx="2282342" cy="1170432"/>
          </a:xfrm>
          <a:prstGeom prst="rect">
            <a:avLst/>
          </a:prstGeom>
        </p:spPr>
      </p:pic>
      <p:sp>
        <p:nvSpPr>
          <p:cNvPr id="534" name="Caption 17"/>
          <p:cNvSpPr txBox="1"/>
          <p:nvPr/>
        </p:nvSpPr>
        <p:spPr>
          <a:xfrm>
            <a:off x="2904134" y="8348472"/>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17  </a:t>
            </a:r>
            <a:r>
              <a:rPr lang="en-US" sz="1050" dirty="0">
                <a:solidFill>
                  <a:srgbClr val="1F1F1F"/>
                </a:solidFill>
                <a:latin typeface="Helvetica Neue"/>
                <a:cs typeface="Helvetica Neue"/>
              </a:rPr>
              <a:t xml:space="preserve">Activity log + Undo</a:t>
            </a:r>
          </a:p>
          <a:p>
            <a:pPr>
              <a:lnSpc>
                <a:spcPct val="105000"/>
              </a:lnSpc>
            </a:pPr>
            <a:r>
              <a:rPr lang="en-US" sz="950" dirty="0">
                <a:solidFill>
                  <a:srgbClr val="595959"/>
                </a:solidFill>
                <a:latin typeface="Helvetica Neue Light"/>
                <a:cs typeface="Helvetica Neue Light"/>
              </a:rPr>
              <a:t xml:space="preserve">Tue 5:15 PM</a:t>
            </a:r>
          </a:p>
        </p:txBody>
      </p:sp>
      <p:pic>
        <p:nvPicPr>
          <p:cNvPr id="535" name="Picture 534" descr="image.png"/>
          <p:cNvPicPr>
            <a:picLocks noChangeAspect="1"/>
          </p:cNvPicPr>
          <p:nvPr/>
        </p:nvPicPr>
        <p:blipFill>
          <a:blip r:embed="rId20"/>
          <a:stretch>
            <a:fillRect/>
          </a:stretch>
        </p:blipFill>
        <p:spPr>
          <a:xfrm>
            <a:off x="5351068" y="7123176"/>
            <a:ext cx="2282342" cy="1170432"/>
          </a:xfrm>
          <a:prstGeom prst="rect">
            <a:avLst/>
          </a:prstGeom>
        </p:spPr>
      </p:pic>
      <p:sp>
        <p:nvSpPr>
          <p:cNvPr id="536" name="Caption 18"/>
          <p:cNvSpPr txBox="1"/>
          <p:nvPr/>
        </p:nvSpPr>
        <p:spPr>
          <a:xfrm>
            <a:off x="5351068" y="8348472"/>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18  </a:t>
            </a:r>
            <a:r>
              <a:rPr lang="en-US" sz="1050" dirty="0">
                <a:solidFill>
                  <a:srgbClr val="1F1F1F"/>
                </a:solidFill>
                <a:latin typeface="Helvetica Neue"/>
                <a:cs typeface="Helvetica Neue"/>
              </a:rPr>
              <a:t xml:space="preserve">Weekly review</a:t>
            </a:r>
          </a:p>
          <a:p>
            <a:pPr>
              <a:lnSpc>
                <a:spcPct val="105000"/>
              </a:lnSpc>
            </a:pPr>
            <a:r>
              <a:rPr lang="en-US" sz="950" dirty="0">
                <a:solidFill>
                  <a:srgbClr val="595959"/>
                </a:solidFill>
                <a:latin typeface="Helvetica Neue Light"/>
                <a:cs typeface="Helvetica Neue Light"/>
              </a:rPr>
              <a:t xml:space="preserve">Sun 7 PM</a:t>
            </a:r>
          </a:p>
        </p:txBody>
      </p:sp>
      <p:pic>
        <p:nvPicPr>
          <p:cNvPr id="537" name="Picture 536" descr="image.png"/>
          <p:cNvPicPr>
            <a:picLocks noChangeAspect="1"/>
          </p:cNvPicPr>
          <p:nvPr/>
        </p:nvPicPr>
        <p:blipFill>
          <a:blip r:embed="rId21"/>
          <a:stretch>
            <a:fillRect/>
          </a:stretch>
        </p:blipFill>
        <p:spPr>
          <a:xfrm>
            <a:off x="7798003" y="7123176"/>
            <a:ext cx="2282342" cy="1170432"/>
          </a:xfrm>
          <a:prstGeom prst="rect">
            <a:avLst/>
          </a:prstGeom>
        </p:spPr>
      </p:pic>
      <p:sp>
        <p:nvSpPr>
          <p:cNvPr id="538" name="Caption 19"/>
          <p:cNvSpPr txBox="1"/>
          <p:nvPr/>
        </p:nvSpPr>
        <p:spPr>
          <a:xfrm>
            <a:off x="7798003" y="8348472"/>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19  </a:t>
            </a:r>
            <a:r>
              <a:rPr lang="en-US" sz="1050" dirty="0">
                <a:solidFill>
                  <a:srgbClr val="1F1F1F"/>
                </a:solidFill>
                <a:latin typeface="Helvetica Neue"/>
                <a:cs typeface="Helvetica Neue"/>
              </a:rPr>
              <a:t xml:space="preserve">Build the board</a:t>
            </a:r>
          </a:p>
          <a:p>
            <a:pPr>
              <a:lnSpc>
                <a:spcPct val="105000"/>
              </a:lnSpc>
            </a:pPr>
            <a:r>
              <a:rPr lang="en-US" sz="950" dirty="0">
                <a:solidFill>
                  <a:srgbClr val="595959"/>
                </a:solidFill>
                <a:latin typeface="Helvetica Neue Light"/>
                <a:cs typeface="Helvetica Neue Light"/>
              </a:rPr>
              <a:t xml:space="preserve">Sunday</a:t>
            </a:r>
          </a:p>
        </p:txBody>
      </p:sp>
      <p:sp>
        <p:nvSpPr>
          <p:cNvPr id="539" name="Prototype link">
            <a:hlinkClick r:id="rId22"/>
          </p:cNvPr>
          <p:cNvSpPr txBox="1"/>
          <p:nvPr/>
        </p:nvSpPr>
        <p:spPr>
          <a:xfrm>
            <a:off x="10244937" y="7214616"/>
            <a:ext cx="2282342" cy="1170432"/>
          </a:xfrm>
          <a:prstGeom prst="rect">
            <a:avLst/>
          </a:prstGeom>
          <a:noFill/>
        </p:spPr>
        <p:txBody>
          <a:bodyPr wrap="square" lIns="0" tIns="0" rIns="0" bIns="0">
            <a:noAutofit/>
          </a:bodyPr>
          <a:lstStyle/>
          <a:p>
            <a:pPr>
              <a:lnSpc>
                <a:spcPct val="105000"/>
              </a:lnSpc>
            </a:pPr>
            <a:r>
              <a:rPr lang="en-US" sz="1050" dirty="0">
                <a:solidFill>
                  <a:srgbClr val="595959"/>
                </a:solidFill>
                <a:latin typeface="Helvetica Neue"/>
                <a:cs typeface="Helvetica Neue"/>
              </a:rPr>
              <a:t xml:space="preserve">TRY IT</a:t>
            </a:r>
          </a:p>
          <a:p>
            <a:pPr>
              <a:lnSpc>
                <a:spcPct val="105000"/>
              </a:lnSpc>
            </a:pPr>
            <a:r>
              <a:rPr lang="en-US" sz="1400" u="sng" dirty="0">
                <a:solidFill>
                  <a:srgbClr val="B5531F"/>
                </a:solidFill>
                <a:latin typeface="Helvetica Neue"/>
                <a:cs typeface="Helvetica Neue"/>
              </a:rPr>
              <a:t xml:space="preserve">Open the clickable prototype →</a:t>
            </a:r>
          </a:p>
          <a:p>
            <a:pPr>
              <a:lnSpc>
                <a:spcPct val="105000"/>
              </a:lnSpc>
            </a:pPr>
            <a:r>
              <a:rPr lang="en-US" sz="1000" dirty="0">
                <a:solidFill>
                  <a:srgbClr val="595959"/>
                </a:solidFill>
                <a:latin typeface="Helvetica Neue Light"/>
                <a:cs typeface="Helvetica Neue Light"/>
              </a:rPr>
              <a:t xml:space="preserve">Starts at step 1 in Figma</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Wireframes: the Day Board, drawn before the model</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Lo-fi to hi-fi, for logon, afternoon, and end of day. Figma page: Dashboards · The Day Board.</a:t>
            </a:r>
          </a:p>
        </p:txBody>
      </p:sp>
      <p:pic>
        <p:nvPicPr>
          <p:cNvPr id="5" name="Picture 4" descr="image.png"/>
          <p:cNvPicPr>
            <a:picLocks noChangeAspect="1"/>
          </p:cNvPicPr>
          <p:nvPr/>
        </p:nvPicPr>
        <p:blipFill>
          <a:blip r:embed="rId2"/>
          <a:stretch>
            <a:fillRect/>
          </a:stretch>
        </p:blipFill>
        <p:spPr>
          <a:xfrm>
            <a:off x="457200" y="2103120"/>
            <a:ext cx="3601664" cy="6766560"/>
          </a:xfrm>
          <a:prstGeom prst="rect">
            <a:avLst/>
          </a:prstGeom>
        </p:spPr>
      </p:pic>
      <p:sp>
        <p:nvSpPr>
          <p:cNvPr id="6" name="TextBox 5"/>
          <p:cNvSpPr txBox="1"/>
          <p:nvPr/>
        </p:nvSpPr>
        <p:spPr>
          <a:xfrm>
            <a:off x="4937760" y="2194560"/>
            <a:ext cx="75895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4937760" y="2505456"/>
            <a:ext cx="7589520" cy="1371600"/>
          </a:xfrm>
          <a:prstGeom prst="rect">
            <a:avLst/>
          </a:prstGeom>
          <a:noFill/>
        </p:spPr>
        <p:txBody>
          <a:bodyPr wrap="square" lIns="0" rIns="0" tIns="0" bIns="0">
            <a:spAutoFit/>
          </a:bodyPr>
          <a:lstStyle/>
          <a:p>
            <a:r>
              <a:rPr sz="1500">
                <a:solidFill>
                  <a:srgbClr val="1F1F1F"/>
                </a:solidFill>
                <a:latin typeface="Helvetica Neue Light"/>
              </a:rPr>
              <a:t>Onboarding today is a tour, and nothing shows a swing trader what changed since last night. The check is done by hand, across tabs.</a:t>
            </a:r>
          </a:p>
        </p:txBody>
      </p:sp>
      <p:sp>
        <p:nvSpPr>
          <p:cNvPr id="8" name="TextBox 7"/>
          <p:cNvSpPr txBox="1"/>
          <p:nvPr/>
        </p:nvSpPr>
        <p:spPr>
          <a:xfrm>
            <a:off x="4937760" y="4663440"/>
            <a:ext cx="75895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4937760" y="4974336"/>
            <a:ext cx="7589520" cy="1371600"/>
          </a:xfrm>
          <a:prstGeom prst="rect">
            <a:avLst/>
          </a:prstGeom>
          <a:noFill/>
        </p:spPr>
        <p:txBody>
          <a:bodyPr wrap="square" lIns="0" rIns="0" tIns="0" bIns="0">
            <a:spAutoFit/>
          </a:bodyPr>
          <a:lstStyle/>
          <a:p>
            <a:r>
              <a:rPr sz="1500">
                <a:solidFill>
                  <a:srgbClr val="1F1F1F"/>
                </a:solidFill>
                <a:latin typeface="Helvetica Neue Light"/>
              </a:rPr>
              <a:t>The Day Board is drawn for three moments of the day: logon, afternoon, and end of day. One layout, and every card names its source and why it appeared.</a:t>
            </a:r>
          </a:p>
        </p:txBody>
      </p:sp>
      <p:sp>
        <p:nvSpPr>
          <p:cNvPr id="10" name="TextBox 9"/>
          <p:cNvSpPr txBox="1"/>
          <p:nvPr/>
        </p:nvSpPr>
        <p:spPr>
          <a:xfrm>
            <a:off x="4937760" y="7132320"/>
            <a:ext cx="75895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4937760" y="7443216"/>
            <a:ext cx="7589520" cy="1371600"/>
          </a:xfrm>
          <a:prstGeom prst="rect">
            <a:avLst/>
          </a:prstGeom>
          <a:noFill/>
        </p:spPr>
        <p:txBody>
          <a:bodyPr wrap="square" lIns="0" rIns="0" tIns="0" bIns="0">
            <a:spAutoFit/>
          </a:bodyPr>
          <a:lstStyle/>
          <a:p>
            <a:r>
              <a:rPr sz="1500">
                <a:solidFill>
                  <a:srgbClr val="1F1F1F"/>
                </a:solidFill>
                <a:latin typeface="Helvetica Neue Light"/>
              </a:rPr>
              <a:t>I drew the board before the model. The layout was tested against the trader's routine, so the AI fills a structure that already works.</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User flow: one trader's morning, in six beats</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Each beat asks one question. Three beats shown here; the rest are in the walkthrough page.</a:t>
            </a:r>
          </a:p>
        </p:txBody>
      </p:sp>
      <p:pic>
        <p:nvPicPr>
          <p:cNvPr id="5" name="Picture 4" descr="image.png"/>
          <p:cNvPicPr>
            <a:picLocks noChangeAspect="1"/>
          </p:cNvPicPr>
          <p:nvPr/>
        </p:nvPicPr>
        <p:blipFill>
          <a:blip r:embed="rId2"/>
          <a:stretch>
            <a:fillRect/>
          </a:stretch>
        </p:blipFill>
        <p:spPr>
          <a:xfrm>
            <a:off x="457200" y="2103120"/>
            <a:ext cx="3501569" cy="4114800"/>
          </a:xfrm>
          <a:prstGeom prst="rect">
            <a:avLst/>
          </a:prstGeom>
        </p:spPr>
      </p:pic>
      <p:sp>
        <p:nvSpPr>
          <p:cNvPr id="6" name="TextBox 5"/>
          <p:cNvSpPr txBox="1"/>
          <p:nvPr/>
        </p:nvSpPr>
        <p:spPr>
          <a:xfrm>
            <a:off x="457200" y="6355080"/>
            <a:ext cx="3501569" cy="274320"/>
          </a:xfrm>
          <a:prstGeom prst="rect">
            <a:avLst/>
          </a:prstGeom>
          <a:noFill/>
        </p:spPr>
        <p:txBody>
          <a:bodyPr wrap="square" lIns="0" rIns="0" tIns="0" bIns="0">
            <a:spAutoFit/>
          </a:bodyPr>
          <a:lstStyle/>
          <a:p>
            <a:r>
              <a:rPr sz="1280">
                <a:solidFill>
                  <a:srgbClr val="B5531F"/>
                </a:solidFill>
                <a:latin typeface="Helvetica Neue"/>
              </a:rPr>
              <a:t>BEAT 1 · MORNING</a:t>
            </a:r>
          </a:p>
        </p:txBody>
      </p:sp>
      <p:sp>
        <p:nvSpPr>
          <p:cNvPr id="7" name="TextBox 6"/>
          <p:cNvSpPr txBox="1"/>
          <p:nvPr/>
        </p:nvSpPr>
        <p:spPr>
          <a:xfrm>
            <a:off x="457200" y="6647688"/>
            <a:ext cx="3501569" cy="548640"/>
          </a:xfrm>
          <a:prstGeom prst="rect">
            <a:avLst/>
          </a:prstGeom>
          <a:noFill/>
        </p:spPr>
        <p:txBody>
          <a:bodyPr wrap="square" lIns="0" rIns="0" tIns="0" bIns="0">
            <a:spAutoFit/>
          </a:bodyPr>
          <a:lstStyle/>
          <a:p>
            <a:r>
              <a:rPr sz="1500">
                <a:solidFill>
                  <a:srgbClr val="1F1F1F"/>
                </a:solidFill>
                <a:latin typeface="Helvetica Neue Light"/>
              </a:rPr>
              <a:t>“What needs my attention?”</a:t>
            </a:r>
          </a:p>
        </p:txBody>
      </p:sp>
      <p:pic>
        <p:nvPicPr>
          <p:cNvPr id="8" name="Picture 7" descr="image.png"/>
          <p:cNvPicPr>
            <a:picLocks noChangeAspect="1"/>
          </p:cNvPicPr>
          <p:nvPr/>
        </p:nvPicPr>
        <p:blipFill>
          <a:blip r:embed="rId3"/>
          <a:stretch>
            <a:fillRect/>
          </a:stretch>
        </p:blipFill>
        <p:spPr>
          <a:xfrm>
            <a:off x="4233089" y="2103120"/>
            <a:ext cx="3489968" cy="4114800"/>
          </a:xfrm>
          <a:prstGeom prst="rect">
            <a:avLst/>
          </a:prstGeom>
        </p:spPr>
      </p:pic>
      <p:sp>
        <p:nvSpPr>
          <p:cNvPr id="9" name="TextBox 8"/>
          <p:cNvSpPr txBox="1"/>
          <p:nvPr/>
        </p:nvSpPr>
        <p:spPr>
          <a:xfrm>
            <a:off x="4233089" y="6355080"/>
            <a:ext cx="3489968" cy="274320"/>
          </a:xfrm>
          <a:prstGeom prst="rect">
            <a:avLst/>
          </a:prstGeom>
          <a:noFill/>
        </p:spPr>
        <p:txBody>
          <a:bodyPr wrap="square" lIns="0" rIns="0" tIns="0" bIns="0">
            <a:spAutoFit/>
          </a:bodyPr>
          <a:lstStyle/>
          <a:p>
            <a:r>
              <a:rPr sz="1280">
                <a:solidFill>
                  <a:srgbClr val="B5531F"/>
                </a:solidFill>
                <a:latin typeface="Helvetica Neue"/>
              </a:rPr>
              <a:t>BEAT 2 · INVESTIGATING</a:t>
            </a:r>
          </a:p>
        </p:txBody>
      </p:sp>
      <p:sp>
        <p:nvSpPr>
          <p:cNvPr id="10" name="TextBox 9"/>
          <p:cNvSpPr txBox="1"/>
          <p:nvPr/>
        </p:nvSpPr>
        <p:spPr>
          <a:xfrm>
            <a:off x="4233089" y="6647688"/>
            <a:ext cx="3489968" cy="548640"/>
          </a:xfrm>
          <a:prstGeom prst="rect">
            <a:avLst/>
          </a:prstGeom>
          <a:noFill/>
        </p:spPr>
        <p:txBody>
          <a:bodyPr wrap="square" lIns="0" rIns="0" tIns="0" bIns="0">
            <a:spAutoFit/>
          </a:bodyPr>
          <a:lstStyle/>
          <a:p>
            <a:r>
              <a:rPr sz="1500">
                <a:solidFill>
                  <a:srgbClr val="1F1F1F"/>
                </a:solidFill>
                <a:latin typeface="Helvetica Neue Light"/>
              </a:rPr>
              <a:t>“Show me the evidence.”</a:t>
            </a:r>
          </a:p>
        </p:txBody>
      </p:sp>
      <p:pic>
        <p:nvPicPr>
          <p:cNvPr id="11" name="Picture 10" descr="image.png"/>
          <p:cNvPicPr>
            <a:picLocks noChangeAspect="1"/>
          </p:cNvPicPr>
          <p:nvPr/>
        </p:nvPicPr>
        <p:blipFill>
          <a:blip r:embed="rId4"/>
          <a:stretch>
            <a:fillRect/>
          </a:stretch>
        </p:blipFill>
        <p:spPr>
          <a:xfrm>
            <a:off x="7997377" y="2103120"/>
            <a:ext cx="4158113" cy="4114800"/>
          </a:xfrm>
          <a:prstGeom prst="rect">
            <a:avLst/>
          </a:prstGeom>
        </p:spPr>
      </p:pic>
      <p:sp>
        <p:nvSpPr>
          <p:cNvPr id="12" name="TextBox 11"/>
          <p:cNvSpPr txBox="1"/>
          <p:nvPr/>
        </p:nvSpPr>
        <p:spPr>
          <a:xfrm>
            <a:off x="7997377" y="6355080"/>
            <a:ext cx="4158113" cy="274320"/>
          </a:xfrm>
          <a:prstGeom prst="rect">
            <a:avLst/>
          </a:prstGeom>
          <a:noFill/>
        </p:spPr>
        <p:txBody>
          <a:bodyPr wrap="square" lIns="0" rIns="0" tIns="0" bIns="0">
            <a:spAutoFit/>
          </a:bodyPr>
          <a:lstStyle/>
          <a:p>
            <a:r>
              <a:rPr sz="1280">
                <a:solidFill>
                  <a:srgbClr val="B5531F"/>
                </a:solidFill>
                <a:latin typeface="Helvetica Neue"/>
              </a:rPr>
              <a:t>BEAT 4 · AFTER THE CLOSE</a:t>
            </a:r>
          </a:p>
        </p:txBody>
      </p:sp>
      <p:sp>
        <p:nvSpPr>
          <p:cNvPr id="13" name="TextBox 12"/>
          <p:cNvSpPr txBox="1"/>
          <p:nvPr/>
        </p:nvSpPr>
        <p:spPr>
          <a:xfrm>
            <a:off x="7997377" y="6647688"/>
            <a:ext cx="4158113" cy="548640"/>
          </a:xfrm>
          <a:prstGeom prst="rect">
            <a:avLst/>
          </a:prstGeom>
          <a:noFill/>
        </p:spPr>
        <p:txBody>
          <a:bodyPr wrap="square" lIns="0" rIns="0" tIns="0" bIns="0">
            <a:spAutoFit/>
          </a:bodyPr>
          <a:lstStyle/>
          <a:p>
            <a:r>
              <a:rPr sz="1500">
                <a:solidFill>
                  <a:srgbClr val="1F1F1F"/>
                </a:solidFill>
                <a:latin typeface="Helvetica Neue Light"/>
              </a:rPr>
              <a:t>“How does my portfolio compare with my plan?”</a:t>
            </a:r>
          </a:p>
        </p:txBody>
      </p:sp>
      <p:sp>
        <p:nvSpPr>
          <p:cNvPr id="14" name="TextBox 13"/>
          <p:cNvSpPr txBox="1"/>
          <p:nvPr/>
        </p:nvSpPr>
        <p:spPr>
          <a:xfrm>
            <a:off x="457200" y="7498079"/>
            <a:ext cx="384048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15" name="TextBox 14"/>
          <p:cNvSpPr txBox="1"/>
          <p:nvPr/>
        </p:nvSpPr>
        <p:spPr>
          <a:xfrm>
            <a:off x="457200" y="7808975"/>
            <a:ext cx="3840480" cy="1371600"/>
          </a:xfrm>
          <a:prstGeom prst="rect">
            <a:avLst/>
          </a:prstGeom>
          <a:noFill/>
        </p:spPr>
        <p:txBody>
          <a:bodyPr wrap="square" lIns="0" rIns="0" tIns="0" bIns="0">
            <a:spAutoFit/>
          </a:bodyPr>
          <a:lstStyle/>
          <a:p>
            <a:r>
              <a:rPr sz="1500">
                <a:solidFill>
                  <a:srgbClr val="1F1F1F"/>
                </a:solidFill>
                <a:latin typeface="Helvetica Neue Light"/>
              </a:rPr>
              <a:t>A swing trader cannot read 11,666 tickers each morning. The question is what needs attention, and the answer cannot be a black box.</a:t>
            </a:r>
          </a:p>
        </p:txBody>
      </p:sp>
      <p:sp>
        <p:nvSpPr>
          <p:cNvPr id="16" name="TextBox 15"/>
          <p:cNvSpPr txBox="1"/>
          <p:nvPr/>
        </p:nvSpPr>
        <p:spPr>
          <a:xfrm>
            <a:off x="4572000" y="7498079"/>
            <a:ext cx="384048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17" name="TextBox 16"/>
          <p:cNvSpPr txBox="1"/>
          <p:nvPr/>
        </p:nvSpPr>
        <p:spPr>
          <a:xfrm>
            <a:off x="4572000" y="7808975"/>
            <a:ext cx="3840480" cy="1371600"/>
          </a:xfrm>
          <a:prstGeom prst="rect">
            <a:avLst/>
          </a:prstGeom>
          <a:noFill/>
        </p:spPr>
        <p:txBody>
          <a:bodyPr wrap="square" lIns="0" rIns="0" tIns="0" bIns="0">
            <a:spAutoFit/>
          </a:bodyPr>
          <a:lstStyle/>
          <a:p>
            <a:r>
              <a:rPr sz="1500">
                <a:solidFill>
                  <a:srgbClr val="1F1F1F"/>
                </a:solidFill>
                <a:latin typeface="Helvetica Neue Light"/>
              </a:rPr>
              <a:t>The AI surfaces what changed. Each insight carries its evidence, and the trader decides. Nothing is changed without asking first.</a:t>
            </a:r>
          </a:p>
        </p:txBody>
      </p:sp>
      <p:sp>
        <p:nvSpPr>
          <p:cNvPr id="18" name="TextBox 17"/>
          <p:cNvSpPr txBox="1"/>
          <p:nvPr/>
        </p:nvSpPr>
        <p:spPr>
          <a:xfrm>
            <a:off x="8686800" y="7498079"/>
            <a:ext cx="384048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9" name="TextBox 18"/>
          <p:cNvSpPr txBox="1"/>
          <p:nvPr/>
        </p:nvSpPr>
        <p:spPr>
          <a:xfrm>
            <a:off x="8686800" y="7808975"/>
            <a:ext cx="3840480" cy="1371600"/>
          </a:xfrm>
          <a:prstGeom prst="rect">
            <a:avLst/>
          </a:prstGeom>
          <a:noFill/>
        </p:spPr>
        <p:txBody>
          <a:bodyPr wrap="square" lIns="0" rIns="0" tIns="0" bIns="0">
            <a:spAutoFit/>
          </a:bodyPr>
          <a:lstStyle/>
          <a:p>
            <a:r>
              <a:rPr sz="1500">
                <a:solidFill>
                  <a:srgbClr val="1F1F1F"/>
                </a:solidFill>
                <a:latin typeface="Helvetica Neue Light"/>
              </a:rPr>
              <a:t>I wrote the flow as the questions a trader asks, so reviewers can follow each decision and see the rules on screen.</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Onboarding Day One: no tour, the first evening</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Lo-fi to hi-fi. Figma page: Onboarding · Day One.</a:t>
            </a:r>
          </a:p>
        </p:txBody>
      </p:sp>
      <p:pic>
        <p:nvPicPr>
          <p:cNvPr id="5" name="Picture 4" descr="image.png"/>
          <p:cNvPicPr>
            <a:picLocks noChangeAspect="1"/>
          </p:cNvPicPr>
          <p:nvPr/>
        </p:nvPicPr>
        <p:blipFill>
          <a:blip r:embed="rId2"/>
          <a:stretch>
            <a:fillRect/>
          </a:stretch>
        </p:blipFill>
        <p:spPr>
          <a:xfrm>
            <a:off x="457200" y="2103120"/>
            <a:ext cx="2399294" cy="6949440"/>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FinViz onboarding today is a tour video. A new trader learns outside the product, then has to remember it on the first screen.</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Day One is AI-led with no tour. Each screen teaches what it shows at the moment it is used, so learnability is a property of every screen.</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drew Day One as a sequence of screens, so the first evening can be reviewed step by step, not only as a principle.</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07 · Methodology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Onboarding today: the baseline</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19.</a:t>
            </a:r>
          </a:p>
        </p:txBody>
      </p:sp>
      <p:pic>
        <p:nvPicPr>
          <p:cNvPr id="5" name="Picture 4" descr="image.png"/>
          <p:cNvPicPr>
            <a:picLocks noChangeAspect="1"/>
          </p:cNvPicPr>
          <p:nvPr/>
        </p:nvPicPr>
        <p:blipFill>
          <a:blip r:embed="rId2"/>
          <a:stretch>
            <a:fillRect/>
          </a:stretch>
        </p:blipFill>
        <p:spPr>
          <a:xfrm>
            <a:off x="457200" y="2103120"/>
            <a:ext cx="6766560" cy="5812568"/>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The current onboarding is a tour and help articles. Without a baseline, the team cannot tell whether a change helps.</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board records each step a new trader takes today, with the gap at each step. It is the baseline the proposed onboarding is measured against.</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documented today before proposing a change, so the team could check the new flow against the old one.</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07 · Methodology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Onboarding proposed: learning in place</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20.</a:t>
            </a:r>
          </a:p>
        </p:txBody>
      </p:sp>
      <p:pic>
        <p:nvPicPr>
          <p:cNvPr id="5" name="Picture 4" descr="image.png"/>
          <p:cNvPicPr>
            <a:picLocks noChangeAspect="1"/>
          </p:cNvPicPr>
          <p:nvPr/>
        </p:nvPicPr>
        <p:blipFill>
          <a:blip r:embed="rId2"/>
          <a:stretch>
            <a:fillRect/>
          </a:stretch>
        </p:blipFill>
        <p:spPr>
          <a:xfrm>
            <a:off x="457200" y="2103120"/>
            <a:ext cx="6766560" cy="5338179"/>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A tour teaches before the trader needs anything. By the time the trader reaches the screen, the lesson is gone.</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proposed flow teaches on the screen the trader is using, one step at a time, with no separate tour. Each step traces back to a gap on the baseline board.</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Each proposed step is traced to a gap in today's flow, so the change answers a stated problem.</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07 · Methodology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The concept set: three ways into the day</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25.</a:t>
            </a:r>
          </a:p>
        </p:txBody>
      </p:sp>
      <p:pic>
        <p:nvPicPr>
          <p:cNvPr id="5" name="Picture 4" descr="image.png"/>
          <p:cNvPicPr>
            <a:picLocks noChangeAspect="1"/>
          </p:cNvPicPr>
          <p:nvPr/>
        </p:nvPicPr>
        <p:blipFill>
          <a:blip r:embed="rId2"/>
          <a:stretch>
            <a:fillRect/>
          </a:stretch>
        </p:blipFill>
        <p:spPr>
          <a:xfrm>
            <a:off x="457200" y="2103120"/>
            <a:ext cx="4953527" cy="6949440"/>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Three possible first experiences, and no shared way to compare them.</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Trading Day, Your Playbook, and The Decision Board are three concepts, each built around one property of a first success.</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set the three concepts side by side, so the team chose a lead on evidence, not on the first idea.</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07 · Methodology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Lead concept: The Trading Day</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26.</a:t>
            </a:r>
          </a:p>
        </p:txBody>
      </p:sp>
      <p:pic>
        <p:nvPicPr>
          <p:cNvPr id="5" name="Picture 4" descr="image.png"/>
          <p:cNvPicPr>
            <a:picLocks noChangeAspect="1"/>
          </p:cNvPicPr>
          <p:nvPr/>
        </p:nvPicPr>
        <p:blipFill>
          <a:blip r:embed="rId2"/>
          <a:stretch>
            <a:fillRect/>
          </a:stretch>
        </p:blipFill>
        <p:spPr>
          <a:xfrm>
            <a:off x="457200" y="2103120"/>
            <a:ext cx="3264499" cy="6949440"/>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A trader who opens FinViz cold has no single picture of the day ahead.</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Trading Day follows one trade through one day, from the evening idea to the next morning check. It is the lead concept.</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made it the lead and recorded the reasons on the board, so the choice can be challenged.</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Workflow: Filtering</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22.</a:t>
            </a:r>
          </a:p>
        </p:txBody>
      </p:sp>
      <p:pic>
        <p:nvPicPr>
          <p:cNvPr id="5" name="Picture 4" descr="image.png"/>
          <p:cNvPicPr>
            <a:picLocks noChangeAspect="1"/>
          </p:cNvPicPr>
          <p:nvPr/>
        </p:nvPicPr>
        <p:blipFill>
          <a:blip r:embed="rId2"/>
          <a:stretch>
            <a:fillRect/>
          </a:stretch>
        </p:blipFill>
        <p:spPr>
          <a:xfrm>
            <a:off x="457200" y="2103120"/>
            <a:ext cx="6766560" cy="2426682"/>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Filtering can look simple on one screen but fail across a session, when the trader changes a filter and loses the result.</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filtering workflow shows the same path for concept two, so the two concepts can be compared step for step.</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Both workflows follow one format, so the comparison is fair.</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07 · Methodology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FigJam: pain points and KPIs, the record behind the design</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FinViz AI: Swing Trader Workflow board. Sections 10, 11, 14, and 15.</a:t>
            </a:r>
          </a:p>
        </p:txBody>
      </p:sp>
      <p:pic>
        <p:nvPicPr>
          <p:cNvPr id="5" name="Picture 4" descr="image.png"/>
          <p:cNvPicPr>
            <a:picLocks noChangeAspect="1"/>
          </p:cNvPicPr>
          <p:nvPr/>
        </p:nvPicPr>
        <p:blipFill>
          <a:blip r:embed="rId2"/>
          <a:stretch>
            <a:fillRect/>
          </a:stretch>
        </p:blipFill>
        <p:spPr>
          <a:xfrm>
            <a:off x="457200" y="2103120"/>
            <a:ext cx="3337560" cy="1398792"/>
          </a:xfrm>
          <a:prstGeom prst="rect">
            <a:avLst/>
          </a:prstGeom>
        </p:spPr>
      </p:pic>
      <p:pic>
        <p:nvPicPr>
          <p:cNvPr id="6" name="Picture 5" descr="image.png"/>
          <p:cNvPicPr>
            <a:picLocks noChangeAspect="1"/>
          </p:cNvPicPr>
          <p:nvPr/>
        </p:nvPicPr>
        <p:blipFill>
          <a:blip r:embed="rId3"/>
          <a:stretch>
            <a:fillRect/>
          </a:stretch>
        </p:blipFill>
        <p:spPr>
          <a:xfrm>
            <a:off x="3977640" y="2103120"/>
            <a:ext cx="3337560" cy="2640735"/>
          </a:xfrm>
          <a:prstGeom prst="rect">
            <a:avLst/>
          </a:prstGeom>
        </p:spPr>
      </p:pic>
      <p:pic>
        <p:nvPicPr>
          <p:cNvPr id="7" name="Picture 6" descr="image.png"/>
          <p:cNvPicPr>
            <a:picLocks noChangeAspect="1"/>
          </p:cNvPicPr>
          <p:nvPr/>
        </p:nvPicPr>
        <p:blipFill>
          <a:blip r:embed="rId4"/>
          <a:stretch>
            <a:fillRect/>
          </a:stretch>
        </p:blipFill>
        <p:spPr>
          <a:xfrm>
            <a:off x="457200" y="5018175"/>
            <a:ext cx="3337560" cy="2379512"/>
          </a:xfrm>
          <a:prstGeom prst="rect">
            <a:avLst/>
          </a:prstGeom>
        </p:spPr>
      </p:pic>
      <p:pic>
        <p:nvPicPr>
          <p:cNvPr id="8" name="Picture 7" descr="image.png"/>
          <p:cNvPicPr>
            <a:picLocks noChangeAspect="1"/>
          </p:cNvPicPr>
          <p:nvPr/>
        </p:nvPicPr>
        <p:blipFill>
          <a:blip r:embed="rId5"/>
          <a:stretch>
            <a:fillRect/>
          </a:stretch>
        </p:blipFill>
        <p:spPr>
          <a:xfrm>
            <a:off x="3977640" y="5018175"/>
            <a:ext cx="3337560" cy="2234468"/>
          </a:xfrm>
          <a:prstGeom prst="rect">
            <a:avLst/>
          </a:prstGeom>
        </p:spPr>
      </p:pic>
      <p:sp>
        <p:nvSpPr>
          <p:cNvPr id="9" name="TextBox 8"/>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10" name="TextBox 9"/>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The reasons for each decision sat in separate documents, so a KPI or a backlog item could drift away from the pain point it answers.</a:t>
            </a:r>
          </a:p>
        </p:txBody>
      </p:sp>
      <p:sp>
        <p:nvSpPr>
          <p:cNvPr id="11" name="TextBox 10"/>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12" name="TextBox 11"/>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Pain points, the pain register, prioritization, and the KPI tree sit on one board. Each KPI traces back to a pain point it is meant to move.</a:t>
            </a:r>
          </a:p>
        </p:txBody>
      </p:sp>
      <p:sp>
        <p:nvSpPr>
          <p:cNvPr id="13" name="TextBox 12"/>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4" name="TextBox 13"/>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kept the working record in the open, so the team could challenge a KPI or a backlog item before it reached a screen.</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REASONING</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Eight design calls that changed the work</a:t>
            </a:r>
          </a:p>
        </p:txBody>
      </p:sp>
      <p:cxnSp>
        <p:nvCxnSpPr>
          <p:cNvPr id="103" name="Divider"/>
          <p:cNvCxnSpPr/>
          <p:nvPr/>
        </p:nvCxnSpPr>
        <p:spPr>
          <a:xfrm>
            <a:off x="822960" y="2103120"/>
            <a:ext cx="2599690" cy="0"/>
          </a:xfrm>
          <a:prstGeom prst="line">
            <a:avLst/>
          </a:prstGeom>
          <a:ln w="9525">
            <a:solidFill>
              <a:srgbClr val="E1E3E8"/>
            </a:solidFill>
          </a:ln>
        </p:spPr>
      </p:cxnSp>
      <p:sp>
        <p:nvSpPr>
          <p:cNvPr id="104" name="Call 1"/>
          <p:cNvSpPr txBox="1"/>
          <p:nvPr/>
        </p:nvSpPr>
        <p:spPr>
          <a:xfrm>
            <a:off x="822960" y="228600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01</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23</a:t>
            </a:r>
          </a:p>
          <a:p>
            <a:pPr algn="l">
              <a:lnSpc>
                <a:spcPct val="105000"/>
              </a:lnSpc>
              <a:spcAft>
                <a:spcPts val="350"/>
              </a:spcAft>
            </a:pPr>
            <a:r>
              <a:rPr lang="en-US" sz="2100" spc="0" dirty="0">
                <a:solidFill>
                  <a:srgbClr val="14161D"/>
                </a:solidFill>
                <a:latin typeface="Helvetica Neue Medium"/>
                <a:cs typeface="Helvetica Neue Medium"/>
              </a:rPr>
              <a:t>Map today’s onboarding before designing</a:t>
            </a:r>
          </a:p>
        </p:txBody>
      </p:sp>
      <p:cxnSp>
        <p:nvCxnSpPr>
          <p:cNvPr id="105" name="Divider"/>
          <p:cNvCxnSpPr/>
          <p:nvPr/>
        </p:nvCxnSpPr>
        <p:spPr>
          <a:xfrm>
            <a:off x="3742690" y="2103120"/>
            <a:ext cx="2599690" cy="0"/>
          </a:xfrm>
          <a:prstGeom prst="line">
            <a:avLst/>
          </a:prstGeom>
          <a:ln w="9525">
            <a:solidFill>
              <a:srgbClr val="E1E3E8"/>
            </a:solidFill>
          </a:ln>
        </p:spPr>
      </p:cxnSp>
      <p:sp>
        <p:nvSpPr>
          <p:cNvPr id="106" name="Call 2"/>
          <p:cNvSpPr txBox="1"/>
          <p:nvPr/>
        </p:nvSpPr>
        <p:spPr>
          <a:xfrm>
            <a:off x="3742690" y="228600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02</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23</a:t>
            </a:r>
          </a:p>
          <a:p>
            <a:pPr algn="l">
              <a:lnSpc>
                <a:spcPct val="105000"/>
              </a:lnSpc>
              <a:spcAft>
                <a:spcPts val="350"/>
              </a:spcAft>
            </a:pPr>
            <a:r>
              <a:rPr lang="en-US" sz="2100" spc="0" dirty="0">
                <a:solidFill>
                  <a:srgbClr val="14161D"/>
                </a:solidFill>
                <a:latin typeface="Helvetica Neue Medium"/>
                <a:cs typeface="Helvetica Neue Medium"/>
              </a:rPr>
              <a:t>Desktop only, for now</a:t>
            </a:r>
          </a:p>
        </p:txBody>
      </p:sp>
      <p:cxnSp>
        <p:nvCxnSpPr>
          <p:cNvPr id="107" name="Divider"/>
          <p:cNvCxnSpPr/>
          <p:nvPr/>
        </p:nvCxnSpPr>
        <p:spPr>
          <a:xfrm>
            <a:off x="6662420" y="2103120"/>
            <a:ext cx="2599690" cy="0"/>
          </a:xfrm>
          <a:prstGeom prst="line">
            <a:avLst/>
          </a:prstGeom>
          <a:ln w="9525">
            <a:solidFill>
              <a:srgbClr val="E1E3E8"/>
            </a:solidFill>
          </a:ln>
        </p:spPr>
      </p:cxnSp>
      <p:sp>
        <p:nvSpPr>
          <p:cNvPr id="108" name="Call 3"/>
          <p:cNvSpPr txBox="1"/>
          <p:nvPr/>
        </p:nvSpPr>
        <p:spPr>
          <a:xfrm>
            <a:off x="6662420" y="228600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03</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23</a:t>
            </a:r>
          </a:p>
          <a:p>
            <a:pPr algn="l">
              <a:lnSpc>
                <a:spcPct val="105000"/>
              </a:lnSpc>
              <a:spcAft>
                <a:spcPts val="350"/>
              </a:spcAft>
            </a:pPr>
            <a:r>
              <a:rPr lang="en-US" sz="2100" spc="0" dirty="0">
                <a:solidFill>
                  <a:srgbClr val="14161D"/>
                </a:solidFill>
                <a:latin typeface="Helvetica Neue Medium"/>
                <a:cs typeface="Helvetica Neue Medium"/>
              </a:rPr>
              <a:t>One design for first-time and repeat users</a:t>
            </a:r>
          </a:p>
        </p:txBody>
      </p:sp>
      <p:cxnSp>
        <p:nvCxnSpPr>
          <p:cNvPr id="109" name="Divider"/>
          <p:cNvCxnSpPr/>
          <p:nvPr/>
        </p:nvCxnSpPr>
        <p:spPr>
          <a:xfrm>
            <a:off x="9582150" y="2103120"/>
            <a:ext cx="2599690" cy="0"/>
          </a:xfrm>
          <a:prstGeom prst="line">
            <a:avLst/>
          </a:prstGeom>
          <a:ln w="9525">
            <a:solidFill>
              <a:srgbClr val="E1E3E8"/>
            </a:solidFill>
          </a:ln>
        </p:spPr>
      </p:cxnSp>
      <p:sp>
        <p:nvSpPr>
          <p:cNvPr id="110" name="Call 4"/>
          <p:cNvSpPr txBox="1"/>
          <p:nvPr/>
        </p:nvSpPr>
        <p:spPr>
          <a:xfrm>
            <a:off x="9582150" y="228600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04</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24</a:t>
            </a:r>
          </a:p>
          <a:p>
            <a:pPr algn="l">
              <a:lnSpc>
                <a:spcPct val="105000"/>
              </a:lnSpc>
              <a:spcAft>
                <a:spcPts val="350"/>
              </a:spcAft>
            </a:pPr>
            <a:r>
              <a:rPr lang="en-US" sz="2100" spc="0" dirty="0">
                <a:solidFill>
                  <a:srgbClr val="14161D"/>
                </a:solidFill>
                <a:latin typeface="Helvetica Neue Medium"/>
                <a:cs typeface="Helvetica Neue Medium"/>
              </a:rPr>
              <a:t>Remove real frictions with new AI models</a:t>
            </a:r>
          </a:p>
        </p:txBody>
      </p:sp>
      <p:cxnSp>
        <p:nvCxnSpPr>
          <p:cNvPr id="111" name="Divider"/>
          <p:cNvCxnSpPr/>
          <p:nvPr/>
        </p:nvCxnSpPr>
        <p:spPr>
          <a:xfrm>
            <a:off x="822960" y="5120640"/>
            <a:ext cx="2599690" cy="0"/>
          </a:xfrm>
          <a:prstGeom prst="line">
            <a:avLst/>
          </a:prstGeom>
          <a:ln w="28575">
            <a:solidFill>
              <a:srgbClr val="B5531F"/>
            </a:solidFill>
          </a:ln>
        </p:spPr>
      </p:cxnSp>
      <p:sp>
        <p:nvSpPr>
          <p:cNvPr id="112" name="Call 5"/>
          <p:cNvSpPr txBox="1"/>
          <p:nvPr/>
        </p:nvSpPr>
        <p:spPr>
          <a:xfrm>
            <a:off x="822960" y="530352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05</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30</a:t>
            </a:r>
          </a:p>
          <a:p>
            <a:pPr algn="l">
              <a:lnSpc>
                <a:spcPct val="105000"/>
              </a:lnSpc>
              <a:spcAft>
                <a:spcPts val="350"/>
              </a:spcAft>
            </a:pPr>
            <a:r>
              <a:rPr lang="en-US" sz="2100" spc="0" dirty="0">
                <a:solidFill>
                  <a:srgbClr val="14161D"/>
                </a:solidFill>
                <a:latin typeface="Helvetica Neue Medium"/>
                <a:cs typeface="Helvetica Neue Medium"/>
              </a:rPr>
              <a:t>Optimize time to first success; no chat box first</a:t>
            </a:r>
          </a:p>
        </p:txBody>
      </p:sp>
      <p:cxnSp>
        <p:nvCxnSpPr>
          <p:cNvPr id="113" name="Divider"/>
          <p:cNvCxnSpPr/>
          <p:nvPr/>
        </p:nvCxnSpPr>
        <p:spPr>
          <a:xfrm>
            <a:off x="3742690" y="5120640"/>
            <a:ext cx="2599690" cy="0"/>
          </a:xfrm>
          <a:prstGeom prst="line">
            <a:avLst/>
          </a:prstGeom>
          <a:ln w="9525">
            <a:solidFill>
              <a:srgbClr val="E1E3E8"/>
            </a:solidFill>
          </a:ln>
        </p:spPr>
      </p:cxnSp>
      <p:sp>
        <p:nvSpPr>
          <p:cNvPr id="114" name="Call 6"/>
          <p:cNvSpPr txBox="1"/>
          <p:nvPr/>
        </p:nvSpPr>
        <p:spPr>
          <a:xfrm>
            <a:off x="3742690" y="530352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06</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30</a:t>
            </a:r>
          </a:p>
          <a:p>
            <a:pPr algn="l">
              <a:lnSpc>
                <a:spcPct val="105000"/>
              </a:lnSpc>
              <a:spcAft>
                <a:spcPts val="350"/>
              </a:spcAft>
            </a:pPr>
            <a:r>
              <a:rPr lang="en-US" sz="2100" spc="0" dirty="0">
                <a:solidFill>
                  <a:srgbClr val="14161D"/>
                </a:solidFill>
                <a:latin typeface="Helvetica Neue Medium"/>
                <a:cs typeface="Helvetica Neue Medium"/>
              </a:rPr>
              <a:t>Set the advice line, pending compliance</a:t>
            </a:r>
          </a:p>
        </p:txBody>
      </p:sp>
      <p:cxnSp>
        <p:nvCxnSpPr>
          <p:cNvPr id="115" name="Divider"/>
          <p:cNvCxnSpPr/>
          <p:nvPr/>
        </p:nvCxnSpPr>
        <p:spPr>
          <a:xfrm>
            <a:off x="6662420" y="5120640"/>
            <a:ext cx="2599690" cy="0"/>
          </a:xfrm>
          <a:prstGeom prst="line">
            <a:avLst/>
          </a:prstGeom>
          <a:ln w="28575">
            <a:solidFill>
              <a:srgbClr val="B5531F"/>
            </a:solidFill>
          </a:ln>
        </p:spPr>
      </p:cxnSp>
      <p:sp>
        <p:nvSpPr>
          <p:cNvPr id="116" name="Call 7"/>
          <p:cNvSpPr txBox="1"/>
          <p:nvPr/>
        </p:nvSpPr>
        <p:spPr>
          <a:xfrm>
            <a:off x="6662420" y="530352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07</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30</a:t>
            </a:r>
          </a:p>
          <a:p>
            <a:pPr algn="l">
              <a:lnSpc>
                <a:spcPct val="105000"/>
              </a:lnSpc>
              <a:spcAft>
                <a:spcPts val="350"/>
              </a:spcAft>
            </a:pPr>
            <a:r>
              <a:rPr lang="en-US" sz="2100" spc="0" dirty="0">
                <a:solidFill>
                  <a:srgbClr val="14161D"/>
                </a:solidFill>
                <a:latin typeface="Helvetica Neue Medium"/>
                <a:cs typeface="Helvetica Neue Medium"/>
              </a:rPr>
              <a:t>Lead with the swing trader’s trading day</a:t>
            </a:r>
          </a:p>
        </p:txBody>
      </p:sp>
      <p:cxnSp>
        <p:nvCxnSpPr>
          <p:cNvPr id="117" name="Divider"/>
          <p:cNvCxnSpPr/>
          <p:nvPr/>
        </p:nvCxnSpPr>
        <p:spPr>
          <a:xfrm>
            <a:off x="9582150" y="5120640"/>
            <a:ext cx="2599690" cy="0"/>
          </a:xfrm>
          <a:prstGeom prst="line">
            <a:avLst/>
          </a:prstGeom>
          <a:ln w="9525">
            <a:solidFill>
              <a:srgbClr val="E1E3E8"/>
            </a:solidFill>
          </a:ln>
        </p:spPr>
      </p:cxnSp>
      <p:sp>
        <p:nvSpPr>
          <p:cNvPr id="118" name="Call 8"/>
          <p:cNvSpPr txBox="1"/>
          <p:nvPr/>
        </p:nvSpPr>
        <p:spPr>
          <a:xfrm>
            <a:off x="9582150" y="530352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08</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OCT 1</a:t>
            </a:r>
          </a:p>
          <a:p>
            <a:pPr algn="l">
              <a:lnSpc>
                <a:spcPct val="105000"/>
              </a:lnSpc>
              <a:spcAft>
                <a:spcPts val="350"/>
              </a:spcAft>
            </a:pPr>
            <a:r>
              <a:rPr lang="en-US" sz="2100" spc="0" dirty="0">
                <a:solidFill>
                  <a:srgbClr val="14161D"/>
                </a:solidFill>
                <a:latin typeface="Helvetica Neue Medium"/>
                <a:cs typeface="Helvetica Neue Medium"/>
              </a:rPr>
              <a:t>Bring teammates’ screens in line with the rules</a:t>
            </a:r>
          </a:p>
        </p:txBody>
      </p:sp>
      <p:sp>
        <p:nvSpPr>
          <p:cNvPr id="119" name="Source"/>
          <p:cNvSpPr txBox="1"/>
          <p:nvPr/>
        </p:nvSpPr>
        <p:spPr>
          <a:xfrm>
            <a:off x="822960" y="8503920"/>
            <a:ext cx="11358880" cy="274320"/>
          </a:xfrm>
          <a:prstGeom prst="rect">
            <a:avLst/>
          </a:prstGeom>
          <a:noFill/>
        </p:spPr>
        <p:txBody>
          <a:bodyPr wrap="square" lIns="0" tIns="0" rIns="0" bIns="0" anchor="t">
            <a:noAutofit/>
          </a:bodyPr>
          <a:lstStyle/>
          <a:p>
            <a:pPr algn="l">
              <a:lnSpc>
                <a:spcPct val="105000"/>
              </a:lnSpc>
              <a:spcAft>
                <a:spcPts val="300"/>
              </a:spcAft>
            </a:pPr>
            <a:r>
              <a:rPr lang="en-US" sz="1200" spc="0" dirty="0">
                <a:solidFill>
                  <a:srgbClr val="858A97"/>
                </a:solidFill>
                <a:latin typeface="Helvetica Neue Light"/>
                <a:cs typeface="Helvetica Neue Light"/>
              </a:rPr>
              <a:t>The two orange rules mark the calls that reset the project: time to first success, and leading with the trading day.</a:t>
            </a:r>
          </a:p>
        </p:txBody>
      </p:sp>
      <p:pic>
        <p:nvPicPr>
          <p:cNvPr id="120" name="Picture 119"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METHODOLOGY</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14161D"/>
                </a:solidFill>
                <a:latin typeface="Helvetica Neue Medium"/>
                <a:cs typeface="Helvetica Neue Medium"/>
              </a:rPr>
              <a:t>AI drafts. </a:t>
            </a:r>
            <a:r>
              <a:rPr lang="en-US" sz="4400" spc="-40" dirty="0">
                <a:solidFill>
                  <a:srgbClr val="B5531F"/>
                </a:solidFill>
                <a:latin typeface="Helvetica Neue Medium"/>
                <a:cs typeface="Helvetica Neue Medium"/>
              </a:rPr>
              <a:t>The design lead decides</a:t>
            </a:r>
            <a:r>
              <a:rPr lang="en-US" sz="4400" spc="-40" dirty="0">
                <a:solidFill>
                  <a:srgbClr val="14161D"/>
                </a:solidFill>
                <a:latin typeface="Helvetica Neue Medium"/>
                <a:cs typeface="Helvetica Neue Medium"/>
              </a:rPr>
              <a:t>.</a:t>
            </a:r>
          </a:p>
        </p:txBody>
      </p:sp>
      <p:cxnSp>
        <p:nvCxnSpPr>
          <p:cNvPr id="103" name="Divider"/>
          <p:cNvCxnSpPr/>
          <p:nvPr/>
        </p:nvCxnSpPr>
        <p:spPr>
          <a:xfrm>
            <a:off x="822960" y="4023360"/>
            <a:ext cx="2052320" cy="0"/>
          </a:xfrm>
          <a:prstGeom prst="line">
            <a:avLst/>
          </a:prstGeom>
          <a:ln w="28575">
            <a:solidFill>
              <a:srgbClr val="B5531F"/>
            </a:solidFill>
          </a:ln>
        </p:spPr>
      </p:cxnSp>
      <p:sp>
        <p:nvSpPr>
          <p:cNvPr id="104" name="Frame"/>
          <p:cNvSpPr txBox="1"/>
          <p:nvPr/>
        </p:nvSpPr>
        <p:spPr>
          <a:xfrm>
            <a:off x="822960" y="4251960"/>
            <a:ext cx="2052320" cy="320040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1</a:t>
            </a:r>
          </a:p>
          <a:p>
            <a:pPr algn="l">
              <a:lnSpc>
                <a:spcPct val="105000"/>
              </a:lnSpc>
              <a:spcAft>
                <a:spcPts val="350"/>
              </a:spcAft>
            </a:pPr>
            <a:r>
              <a:rPr lang="en-US" sz="2100" spc="0" dirty="0">
                <a:solidFill>
                  <a:srgbClr val="14161D"/>
                </a:solidFill>
                <a:latin typeface="Helvetica Neue Medium"/>
                <a:cs typeface="Helvetica Neue Medium"/>
              </a:rPr>
              <a:t>Frame</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DESIGN LEAD</a:t>
            </a:r>
          </a:p>
          <a:p>
            <a:pPr algn="l">
              <a:lnSpc>
                <a:spcPct val="125000"/>
              </a:lnSpc>
              <a:spcAft>
                <a:spcPts val="350"/>
              </a:spcAft>
            </a:pPr>
            <a:r>
              <a:rPr lang="en-US" sz="1550" spc="0" dirty="0">
                <a:solidFill>
                  <a:srgbClr val="565C6B"/>
                </a:solidFill>
                <a:latin typeface="Helvetica Neue Light"/>
                <a:cs typeface="Helvetica Neue Light"/>
              </a:rPr>
              <a:t>Sets the question, audience, scope and rules: desktop only, no advice, purple means AI</a:t>
            </a:r>
          </a:p>
        </p:txBody>
      </p:sp>
      <p:cxnSp>
        <p:nvCxnSpPr>
          <p:cNvPr id="105" name="Divider"/>
          <p:cNvCxnSpPr/>
          <p:nvPr/>
        </p:nvCxnSpPr>
        <p:spPr>
          <a:xfrm>
            <a:off x="3149600" y="4023360"/>
            <a:ext cx="2052320" cy="0"/>
          </a:xfrm>
          <a:prstGeom prst="line">
            <a:avLst/>
          </a:prstGeom>
          <a:ln w="9525">
            <a:solidFill>
              <a:srgbClr val="E1E3E8"/>
            </a:solidFill>
          </a:ln>
        </p:spPr>
      </p:cxnSp>
      <p:sp>
        <p:nvSpPr>
          <p:cNvPr id="106" name="Draft"/>
          <p:cNvSpPr txBox="1"/>
          <p:nvPr/>
        </p:nvSpPr>
        <p:spPr>
          <a:xfrm>
            <a:off x="3149600" y="4251960"/>
            <a:ext cx="2052320" cy="320040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2</a:t>
            </a:r>
          </a:p>
          <a:p>
            <a:pPr algn="l">
              <a:lnSpc>
                <a:spcPct val="105000"/>
              </a:lnSpc>
              <a:spcAft>
                <a:spcPts val="350"/>
              </a:spcAft>
            </a:pPr>
            <a:r>
              <a:rPr lang="en-US" sz="2100" spc="0" dirty="0">
                <a:solidFill>
                  <a:srgbClr val="14161D"/>
                </a:solidFill>
                <a:latin typeface="Helvetica Neue Medium"/>
                <a:cs typeface="Helvetica Neue Medium"/>
              </a:rPr>
              <a:t>Draft</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AI AGENTS</a:t>
            </a:r>
          </a:p>
          <a:p>
            <a:pPr algn="l">
              <a:lnSpc>
                <a:spcPct val="125000"/>
              </a:lnSpc>
              <a:spcAft>
                <a:spcPts val="350"/>
              </a:spcAft>
            </a:pPr>
            <a:r>
              <a:rPr lang="en-US" sz="1550" spc="0" dirty="0">
                <a:solidFill>
                  <a:srgbClr val="565C6B"/>
                </a:solidFill>
                <a:latin typeface="Helvetica Neue Light"/>
                <a:cs typeface="Helvetica Neue Light"/>
              </a:rPr>
              <a:t>Research, docs, FigJam boards and Figma screens, drafted against those rules</a:t>
            </a:r>
          </a:p>
        </p:txBody>
      </p:sp>
      <p:cxnSp>
        <p:nvCxnSpPr>
          <p:cNvPr id="107" name="Divider"/>
          <p:cNvCxnSpPr/>
          <p:nvPr/>
        </p:nvCxnSpPr>
        <p:spPr>
          <a:xfrm>
            <a:off x="5476240" y="4023360"/>
            <a:ext cx="2052320" cy="0"/>
          </a:xfrm>
          <a:prstGeom prst="line">
            <a:avLst/>
          </a:prstGeom>
          <a:ln w="9525">
            <a:solidFill>
              <a:srgbClr val="E1E3E8"/>
            </a:solidFill>
          </a:ln>
        </p:spPr>
      </p:cxnSp>
      <p:sp>
        <p:nvSpPr>
          <p:cNvPr id="108" name="Review"/>
          <p:cNvSpPr txBox="1"/>
          <p:nvPr/>
        </p:nvSpPr>
        <p:spPr>
          <a:xfrm>
            <a:off x="5476240" y="4251960"/>
            <a:ext cx="2052320" cy="320040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3</a:t>
            </a:r>
          </a:p>
          <a:p>
            <a:pPr algn="l">
              <a:lnSpc>
                <a:spcPct val="105000"/>
              </a:lnSpc>
              <a:spcAft>
                <a:spcPts val="350"/>
              </a:spcAft>
            </a:pPr>
            <a:r>
              <a:rPr lang="en-US" sz="2100" spc="0" dirty="0">
                <a:solidFill>
                  <a:srgbClr val="14161D"/>
                </a:solidFill>
                <a:latin typeface="Helvetica Neue Medium"/>
                <a:cs typeface="Helvetica Neue Medium"/>
              </a:rPr>
              <a:t>Review</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LEAD + TEAM</a:t>
            </a:r>
          </a:p>
          <a:p>
            <a:pPr algn="l">
              <a:lnSpc>
                <a:spcPct val="125000"/>
              </a:lnSpc>
              <a:spcAft>
                <a:spcPts val="350"/>
              </a:spcAft>
            </a:pPr>
            <a:r>
              <a:rPr lang="en-US" sz="1550" spc="0" dirty="0">
                <a:solidFill>
                  <a:srgbClr val="565C6B"/>
                </a:solidFill>
                <a:latin typeface="Helvetica Neue Light"/>
                <a:cs typeface="Helvetica Neue Light"/>
              </a:rPr>
              <a:t>Fact checks on the live site; critique with the team; rule breaks caught</a:t>
            </a:r>
          </a:p>
        </p:txBody>
      </p:sp>
      <p:cxnSp>
        <p:nvCxnSpPr>
          <p:cNvPr id="109" name="Divider"/>
          <p:cNvCxnSpPr/>
          <p:nvPr/>
        </p:nvCxnSpPr>
        <p:spPr>
          <a:xfrm>
            <a:off x="7802880" y="4023360"/>
            <a:ext cx="2052320" cy="0"/>
          </a:xfrm>
          <a:prstGeom prst="line">
            <a:avLst/>
          </a:prstGeom>
          <a:ln w="28575">
            <a:solidFill>
              <a:srgbClr val="B5531F"/>
            </a:solidFill>
          </a:ln>
        </p:spPr>
      </p:cxnSp>
      <p:sp>
        <p:nvSpPr>
          <p:cNvPr id="110" name="Decide"/>
          <p:cNvSpPr txBox="1"/>
          <p:nvPr/>
        </p:nvSpPr>
        <p:spPr>
          <a:xfrm>
            <a:off x="7802880" y="4251960"/>
            <a:ext cx="2052320" cy="320040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4</a:t>
            </a:r>
          </a:p>
          <a:p>
            <a:pPr algn="l">
              <a:lnSpc>
                <a:spcPct val="105000"/>
              </a:lnSpc>
              <a:spcAft>
                <a:spcPts val="350"/>
              </a:spcAft>
            </a:pPr>
            <a:r>
              <a:rPr lang="en-US" sz="2100" spc="0" dirty="0">
                <a:solidFill>
                  <a:srgbClr val="14161D"/>
                </a:solidFill>
                <a:latin typeface="Helvetica Neue Medium"/>
                <a:cs typeface="Helvetica Neue Medium"/>
              </a:rPr>
              <a:t>Decide</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DESIGN LEAD</a:t>
            </a:r>
          </a:p>
          <a:p>
            <a:pPr algn="l">
              <a:lnSpc>
                <a:spcPct val="125000"/>
              </a:lnSpc>
              <a:spcAft>
                <a:spcPts val="350"/>
              </a:spcAft>
            </a:pPr>
            <a:r>
              <a:rPr lang="en-US" sz="1550" spc="0" dirty="0">
                <a:solidFill>
                  <a:srgbClr val="565C6B"/>
                </a:solidFill>
                <a:latin typeface="Helvetica Neue Light"/>
                <a:cs typeface="Helvetica Neue Light"/>
              </a:rPr>
              <a:t>What to adopt, rename, cut or lead with, and why</a:t>
            </a:r>
          </a:p>
        </p:txBody>
      </p:sp>
      <p:cxnSp>
        <p:nvCxnSpPr>
          <p:cNvPr id="111" name="Divider"/>
          <p:cNvCxnSpPr/>
          <p:nvPr/>
        </p:nvCxnSpPr>
        <p:spPr>
          <a:xfrm>
            <a:off x="10129520" y="4023360"/>
            <a:ext cx="2052320" cy="0"/>
          </a:xfrm>
          <a:prstGeom prst="line">
            <a:avLst/>
          </a:prstGeom>
          <a:ln w="9525">
            <a:solidFill>
              <a:srgbClr val="E1E3E8"/>
            </a:solidFill>
          </a:ln>
        </p:spPr>
      </p:cxnSp>
      <p:sp>
        <p:nvSpPr>
          <p:cNvPr id="112" name="Propagate"/>
          <p:cNvSpPr txBox="1"/>
          <p:nvPr/>
        </p:nvSpPr>
        <p:spPr>
          <a:xfrm>
            <a:off x="10129520" y="4251960"/>
            <a:ext cx="2052320" cy="320040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5</a:t>
            </a:r>
          </a:p>
          <a:p>
            <a:pPr algn="l">
              <a:lnSpc>
                <a:spcPct val="105000"/>
              </a:lnSpc>
              <a:spcAft>
                <a:spcPts val="350"/>
              </a:spcAft>
            </a:pPr>
            <a:r>
              <a:rPr lang="en-US" sz="2100" spc="0" dirty="0">
                <a:solidFill>
                  <a:srgbClr val="14161D"/>
                </a:solidFill>
                <a:latin typeface="Helvetica Neue Medium"/>
                <a:cs typeface="Helvetica Neue Medium"/>
              </a:rPr>
              <a:t>Propagate</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AI AGENTS</a:t>
            </a:r>
          </a:p>
          <a:p>
            <a:pPr algn="l">
              <a:lnSpc>
                <a:spcPct val="125000"/>
              </a:lnSpc>
              <a:spcAft>
                <a:spcPts val="350"/>
              </a:spcAft>
            </a:pPr>
            <a:r>
              <a:rPr lang="en-US" sz="1550" spc="0" dirty="0">
                <a:solidFill>
                  <a:srgbClr val="565C6B"/>
                </a:solidFill>
                <a:latin typeface="Helvetica Neue Light"/>
                <a:cs typeface="Helvetica Neue Light"/>
              </a:rPr>
              <a:t>Each decision applied across every doc, board and screen</a:t>
            </a:r>
          </a:p>
        </p:txBody>
      </p:sp>
      <p:sp>
        <p:nvSpPr>
          <p:cNvPr id="113" name="Note"/>
          <p:cNvSpPr txBox="1"/>
          <p:nvPr/>
        </p:nvSpPr>
        <p:spPr>
          <a:xfrm>
            <a:off x="822960" y="7726679"/>
            <a:ext cx="11358880" cy="640080"/>
          </a:xfrm>
          <a:prstGeom prst="rect">
            <a:avLst/>
          </a:prstGeom>
          <a:noFill/>
        </p:spPr>
        <p:txBody>
          <a:bodyPr wrap="square" lIns="0" tIns="0" rIns="0" bIns="0" anchor="t">
            <a:noAutofit/>
          </a:bodyPr>
          <a:lstStyle/>
          <a:p>
            <a:pPr algn="l">
              <a:lnSpc>
                <a:spcPct val="125000"/>
              </a:lnSpc>
              <a:spcAft>
                <a:spcPts val="300"/>
              </a:spcAft>
            </a:pPr>
            <a:r>
              <a:rPr lang="en-US" sz="1550" spc="0" dirty="0">
                <a:solidFill>
                  <a:srgbClr val="565C6B"/>
                </a:solidFill>
                <a:latin typeface="Helvetica Neue Light"/>
                <a:cs typeface="Helvetica Neue Light"/>
              </a:rPr>
              <a:t>Repeated in every phase: research → principles → concepts → screens. Rules set by the lead live in the project brief, so every AI draft starts from them.</a:t>
            </a:r>
          </a:p>
        </p:txBody>
      </p:sp>
      <p:pic>
        <p:nvPicPr>
          <p:cNvPr id="114" name="Picture 113"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WHAT WE SAW</a:t>
            </a:r>
          </a:p>
        </p:txBody>
      </p:sp>
      <p:sp>
        <p:nvSpPr>
          <p:cNvPr id="102" name="Headline"/>
          <p:cNvSpPr txBox="1"/>
          <p:nvPr/>
        </p:nvSpPr>
        <p:spPr>
          <a:xfrm>
            <a:off x="822960" y="1371600"/>
            <a:ext cx="11358880" cy="128016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FinViz has 89 filters and </a:t>
            </a:r>
            <a:r>
              <a:rPr lang="en-US" sz="3600" spc="-40" dirty="0">
                <a:solidFill>
                  <a:srgbClr val="B5531F"/>
                </a:solidFill>
                <a:latin typeface="Helvetica Neue Medium"/>
                <a:cs typeface="Helvetica Neue Medium"/>
              </a:rPr>
              <a:t>no AI in the screener</a:t>
            </a:r>
            <a:r>
              <a:rPr lang="en-US" sz="3600" spc="-40" dirty="0">
                <a:solidFill>
                  <a:srgbClr val="14161D"/>
                </a:solidFill>
                <a:latin typeface="Helvetica Neue Medium"/>
                <a:cs typeface="Helvetica Neue Medium"/>
              </a:rPr>
              <a:t>. New users still get a tour.</a:t>
            </a:r>
          </a:p>
        </p:txBody>
      </p:sp>
      <p:sp>
        <p:nvSpPr>
          <p:cNvPr id="3010" name="Tile"/>
          <p:cNvSpPr/>
          <p:nvPr/>
        </p:nvSpPr>
        <p:spPr>
          <a:xfrm>
            <a:off x="822960" y="3063240"/>
            <a:ext cx="3383280" cy="3474720"/>
          </a:xfrm>
          <a:prstGeom prst="roundRect">
            <a:avLst>
              <a:gd name="adj" fmla="val 3783"/>
            </a:avLst>
          </a:prstGeom>
          <a:solidFill>
            <a:srgbClr val="B5531F"/>
          </a:solidFill>
          <a:ln>
            <a:noFill/>
          </a:ln>
        </p:spPr>
        <p:txBody>
          <a:bodyPr/>
          <a:lstStyle/>
          <a:p>
            <a:endParaRPr lang="en-US"/>
          </a:p>
        </p:txBody>
      </p:sp>
      <p:sp>
        <p:nvSpPr>
          <p:cNvPr id="103" name="Number"/>
          <p:cNvSpPr txBox="1"/>
          <p:nvPr/>
        </p:nvSpPr>
        <p:spPr>
          <a:xfrm>
            <a:off x="1097280" y="3264408"/>
            <a:ext cx="2834640" cy="2133600"/>
          </a:xfrm>
          <a:prstGeom prst="rect">
            <a:avLst/>
          </a:prstGeom>
          <a:noFill/>
        </p:spPr>
        <p:txBody>
          <a:bodyPr wrap="square" lIns="0" tIns="0" rIns="0" bIns="0" anchor="t">
            <a:noAutofit/>
          </a:bodyPr>
          <a:lstStyle/>
          <a:p>
            <a:pPr algn="l">
              <a:lnSpc>
                <a:spcPct val="88000"/>
              </a:lnSpc>
              <a:spcAft>
                <a:spcPts val="300"/>
              </a:spcAft>
            </a:pPr>
            <a:r>
              <a:rPr lang="en-US" sz="16000" spc="-60" dirty="0">
                <a:solidFill>
                  <a:srgbClr val="FFFFFF"/>
                </a:solidFill>
                <a:latin typeface="Helvetica Neue Medium"/>
                <a:cs typeface="Helvetica Neue Medium"/>
              </a:rPr>
              <a:t>0</a:t>
            </a:r>
          </a:p>
        </p:txBody>
      </p:sp>
      <p:sp>
        <p:nvSpPr>
          <p:cNvPr id="104" name="Label"/>
          <p:cNvSpPr txBox="1"/>
          <p:nvPr/>
        </p:nvSpPr>
        <p:spPr>
          <a:xfrm>
            <a:off x="1097280" y="5471160"/>
            <a:ext cx="2834640" cy="914400"/>
          </a:xfrm>
          <a:prstGeom prst="rect">
            <a:avLst/>
          </a:prstGeom>
          <a:noFill/>
        </p:spPr>
        <p:txBody>
          <a:bodyPr wrap="square" lIns="0" tIns="0" rIns="0" bIns="0" anchor="t">
            <a:noAutofit/>
          </a:bodyPr>
          <a:lstStyle/>
          <a:p>
            <a:pPr algn="l">
              <a:lnSpc>
                <a:spcPct val="115000"/>
              </a:lnSpc>
              <a:spcAft>
                <a:spcPts val="300"/>
              </a:spcAft>
            </a:pPr>
            <a:r>
              <a:rPr lang="en-US" sz="1600" spc="0" dirty="0">
                <a:solidFill>
                  <a:srgbClr val="FBE3D8"/>
                </a:solidFill>
                <a:latin typeface="Helvetica Neue Light"/>
                <a:cs typeface="Helvetica Neue Light"/>
              </a:rPr>
              <a:t>AI features in the screener; AI appears only on the news</a:t>
            </a:r>
          </a:p>
        </p:txBody>
      </p:sp>
      <p:sp>
        <p:nvSpPr>
          <p:cNvPr id="3011" name="Tile"/>
          <p:cNvSpPr/>
          <p:nvPr/>
        </p:nvSpPr>
        <p:spPr>
          <a:xfrm>
            <a:off x="4389120" y="3063240"/>
            <a:ext cx="2474976" cy="3474720"/>
          </a:xfrm>
          <a:prstGeom prst="roundRect">
            <a:avLst>
              <a:gd name="adj" fmla="val 5172"/>
            </a:avLst>
          </a:prstGeom>
          <a:solidFill>
            <a:srgbClr val="1B1D24"/>
          </a:solidFill>
          <a:ln>
            <a:noFill/>
          </a:ln>
        </p:spPr>
        <p:txBody>
          <a:bodyPr/>
          <a:lstStyle/>
          <a:p>
            <a:endParaRPr lang="en-US"/>
          </a:p>
        </p:txBody>
      </p:sp>
      <p:sp>
        <p:nvSpPr>
          <p:cNvPr id="105" name="Number"/>
          <p:cNvSpPr txBox="1"/>
          <p:nvPr/>
        </p:nvSpPr>
        <p:spPr>
          <a:xfrm>
            <a:off x="4663440" y="3264408"/>
            <a:ext cx="1926336" cy="960120"/>
          </a:xfrm>
          <a:prstGeom prst="rect">
            <a:avLst/>
          </a:prstGeom>
          <a:noFill/>
        </p:spPr>
        <p:txBody>
          <a:bodyPr wrap="square" lIns="0" tIns="0" rIns="0" bIns="0" anchor="t">
            <a:noAutofit/>
          </a:bodyPr>
          <a:lstStyle/>
          <a:p>
            <a:pPr algn="l">
              <a:lnSpc>
                <a:spcPct val="88000"/>
              </a:lnSpc>
              <a:spcAft>
                <a:spcPts val="300"/>
              </a:spcAft>
            </a:pPr>
            <a:r>
              <a:rPr lang="en-US" sz="7200" spc="-60" dirty="0">
                <a:solidFill>
                  <a:srgbClr val="F5F5F7"/>
                </a:solidFill>
                <a:latin typeface="Helvetica Neue Medium"/>
                <a:cs typeface="Helvetica Neue Medium"/>
              </a:rPr>
              <a:t>89</a:t>
            </a:r>
          </a:p>
        </p:txBody>
      </p:sp>
      <p:sp>
        <p:nvSpPr>
          <p:cNvPr id="106" name="Label"/>
          <p:cNvSpPr txBox="1"/>
          <p:nvPr/>
        </p:nvSpPr>
        <p:spPr>
          <a:xfrm>
            <a:off x="4663440" y="4297680"/>
            <a:ext cx="1926336"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filter dropdowns, most in preset buckets</a:t>
            </a:r>
          </a:p>
        </p:txBody>
      </p:sp>
      <p:sp>
        <p:nvSpPr>
          <p:cNvPr id="3012" name="Tile"/>
          <p:cNvSpPr/>
          <p:nvPr/>
        </p:nvSpPr>
        <p:spPr>
          <a:xfrm>
            <a:off x="7046975" y="3063240"/>
            <a:ext cx="2474976" cy="3474720"/>
          </a:xfrm>
          <a:prstGeom prst="roundRect">
            <a:avLst>
              <a:gd name="adj" fmla="val 5172"/>
            </a:avLst>
          </a:prstGeom>
          <a:solidFill>
            <a:srgbClr val="F1F2F5"/>
          </a:solidFill>
          <a:ln>
            <a:noFill/>
          </a:ln>
        </p:spPr>
        <p:txBody>
          <a:bodyPr/>
          <a:lstStyle/>
          <a:p>
            <a:endParaRPr lang="en-US"/>
          </a:p>
        </p:txBody>
      </p:sp>
      <p:sp>
        <p:nvSpPr>
          <p:cNvPr id="107" name="Number"/>
          <p:cNvSpPr txBox="1"/>
          <p:nvPr/>
        </p:nvSpPr>
        <p:spPr>
          <a:xfrm>
            <a:off x="7321295" y="3264408"/>
            <a:ext cx="1926336" cy="666750"/>
          </a:xfrm>
          <a:prstGeom prst="rect">
            <a:avLst/>
          </a:prstGeom>
          <a:noFill/>
        </p:spPr>
        <p:txBody>
          <a:bodyPr wrap="square" lIns="0" tIns="0" rIns="0" bIns="0" anchor="t">
            <a:noAutofit/>
          </a:bodyPr>
          <a:lstStyle/>
          <a:p>
            <a:pPr algn="l">
              <a:lnSpc>
                <a:spcPct val="88000"/>
              </a:lnSpc>
              <a:spcAft>
                <a:spcPts val="300"/>
              </a:spcAft>
            </a:pPr>
            <a:r>
              <a:rPr lang="en-US" sz="5000" spc="-60" dirty="0">
                <a:solidFill>
                  <a:srgbClr val="14161D"/>
                </a:solidFill>
                <a:latin typeface="Helvetica Neue Medium"/>
                <a:cs typeface="Helvetica Neue Medium"/>
              </a:rPr>
              <a:t>87/89</a:t>
            </a:r>
          </a:p>
        </p:txBody>
      </p:sp>
      <p:sp>
        <p:nvSpPr>
          <p:cNvPr id="108" name="Label"/>
          <p:cNvSpPr txBox="1"/>
          <p:nvPr/>
        </p:nvSpPr>
        <p:spPr>
          <a:xfrm>
            <a:off x="7321295" y="4004310"/>
            <a:ext cx="1926336"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565C6B"/>
                </a:solidFill>
                <a:latin typeface="Helvetica Neue Light"/>
                <a:cs typeface="Helvetica Neue Light"/>
              </a:rPr>
              <a:t>filters need Elite for an exact value</a:t>
            </a:r>
          </a:p>
        </p:txBody>
      </p:sp>
      <p:sp>
        <p:nvSpPr>
          <p:cNvPr id="3013" name="Tile"/>
          <p:cNvSpPr/>
          <p:nvPr/>
        </p:nvSpPr>
        <p:spPr>
          <a:xfrm>
            <a:off x="7321295" y="6153912"/>
            <a:ext cx="1926336" cy="100584"/>
          </a:xfrm>
          <a:prstGeom prst="roundRect">
            <a:avLst>
              <a:gd name="adj" fmla="val 45454"/>
            </a:avLst>
          </a:prstGeom>
          <a:solidFill>
            <a:srgbClr val="DDE0E6"/>
          </a:solidFill>
          <a:ln>
            <a:noFill/>
          </a:ln>
        </p:spPr>
        <p:txBody>
          <a:bodyPr/>
          <a:lstStyle/>
          <a:p>
            <a:endParaRPr lang="en-US"/>
          </a:p>
        </p:txBody>
      </p:sp>
      <p:sp>
        <p:nvSpPr>
          <p:cNvPr id="3014" name="Tile"/>
          <p:cNvSpPr/>
          <p:nvPr/>
        </p:nvSpPr>
        <p:spPr>
          <a:xfrm>
            <a:off x="7321295" y="6153912"/>
            <a:ext cx="1883047" cy="100584"/>
          </a:xfrm>
          <a:prstGeom prst="roundRect">
            <a:avLst>
              <a:gd name="adj" fmla="val 45454"/>
            </a:avLst>
          </a:prstGeom>
          <a:solidFill>
            <a:srgbClr val="FF6600"/>
          </a:solidFill>
          <a:ln>
            <a:noFill/>
          </a:ln>
        </p:spPr>
        <p:txBody>
          <a:bodyPr/>
          <a:lstStyle/>
          <a:p>
            <a:endParaRPr lang="en-US"/>
          </a:p>
        </p:txBody>
      </p:sp>
      <p:sp>
        <p:nvSpPr>
          <p:cNvPr id="3015" name="Tile"/>
          <p:cNvSpPr/>
          <p:nvPr/>
        </p:nvSpPr>
        <p:spPr>
          <a:xfrm>
            <a:off x="9704832" y="3063240"/>
            <a:ext cx="2474976" cy="3474720"/>
          </a:xfrm>
          <a:prstGeom prst="roundRect">
            <a:avLst>
              <a:gd name="adj" fmla="val 5172"/>
            </a:avLst>
          </a:prstGeom>
          <a:solidFill>
            <a:srgbClr val="1B1D24"/>
          </a:solidFill>
          <a:ln>
            <a:noFill/>
          </a:ln>
        </p:spPr>
        <p:txBody>
          <a:bodyPr/>
          <a:lstStyle/>
          <a:p>
            <a:endParaRPr lang="en-US"/>
          </a:p>
        </p:txBody>
      </p:sp>
      <p:sp>
        <p:nvSpPr>
          <p:cNvPr id="109" name="Number"/>
          <p:cNvSpPr txBox="1"/>
          <p:nvPr/>
        </p:nvSpPr>
        <p:spPr>
          <a:xfrm>
            <a:off x="9979152" y="3264408"/>
            <a:ext cx="1926336" cy="586740"/>
          </a:xfrm>
          <a:prstGeom prst="rect">
            <a:avLst/>
          </a:prstGeom>
          <a:noFill/>
        </p:spPr>
        <p:txBody>
          <a:bodyPr wrap="square" lIns="0" tIns="0" rIns="0" bIns="0" anchor="t">
            <a:noAutofit/>
          </a:bodyPr>
          <a:lstStyle/>
          <a:p>
            <a:pPr algn="l">
              <a:lnSpc>
                <a:spcPct val="88000"/>
              </a:lnSpc>
              <a:spcAft>
                <a:spcPts val="300"/>
              </a:spcAft>
            </a:pPr>
            <a:r>
              <a:rPr lang="en-US" sz="4400" spc="-60" dirty="0">
                <a:solidFill>
                  <a:srgbClr val="F5F5F7"/>
                </a:solidFill>
                <a:latin typeface="Helvetica Neue Medium"/>
                <a:cs typeface="Helvetica Neue Medium"/>
              </a:rPr>
              <a:t>7 days</a:t>
            </a:r>
          </a:p>
        </p:txBody>
      </p:sp>
      <p:sp>
        <p:nvSpPr>
          <p:cNvPr id="110" name="Label"/>
          <p:cNvSpPr txBox="1"/>
          <p:nvPr/>
        </p:nvSpPr>
        <p:spPr>
          <a:xfrm>
            <a:off x="9979152" y="3924300"/>
            <a:ext cx="1926336"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Elite trial, card required, offered at sign-up, before any value</a:t>
            </a:r>
          </a:p>
        </p:txBody>
      </p:sp>
      <p:sp>
        <p:nvSpPr>
          <p:cNvPr id="3016" name="Tile"/>
          <p:cNvSpPr/>
          <p:nvPr/>
        </p:nvSpPr>
        <p:spPr>
          <a:xfrm>
            <a:off x="822960" y="6720840"/>
            <a:ext cx="11356848" cy="1508760"/>
          </a:xfrm>
          <a:prstGeom prst="roundRect">
            <a:avLst>
              <a:gd name="adj" fmla="val 8484"/>
            </a:avLst>
          </a:prstGeom>
          <a:solidFill>
            <a:srgbClr val="F1F2F5"/>
          </a:solidFill>
          <a:ln>
            <a:noFill/>
          </a:ln>
        </p:spPr>
        <p:txBody>
          <a:bodyPr/>
          <a:lstStyle/>
          <a:p>
            <a:endParaRPr lang="en-US"/>
          </a:p>
        </p:txBody>
      </p:sp>
      <p:sp>
        <p:nvSpPr>
          <p:cNvPr id="111" name="Band"/>
          <p:cNvSpPr txBox="1"/>
          <p:nvPr/>
        </p:nvSpPr>
        <p:spPr>
          <a:xfrm>
            <a:off x="1143000" y="6720840"/>
            <a:ext cx="10716768" cy="1508760"/>
          </a:xfrm>
          <a:prstGeom prst="rect">
            <a:avLst/>
          </a:prstGeom>
          <a:noFill/>
        </p:spPr>
        <p:txBody>
          <a:bodyPr wrap="square" lIns="0" tIns="0" rIns="0" bIns="0" anchor="ctr">
            <a:noAutofit/>
          </a:bodyPr>
          <a:lstStyle/>
          <a:p>
            <a:pPr algn="l">
              <a:lnSpc>
                <a:spcPct val="115000"/>
              </a:lnSpc>
              <a:spcAft>
                <a:spcPts val="300"/>
              </a:spcAft>
            </a:pPr>
            <a:r>
              <a:rPr lang="en-US" sz="1600" spc="0" dirty="0">
                <a:solidFill>
                  <a:srgbClr val="14161D"/>
                </a:solidFill>
                <a:latin typeface="Helvetica Neue Light"/>
                <a:cs typeface="Helvetica Neue Light"/>
              </a:rPr>
              <a:t>A four-person design review (Sept 30, 31 points) changed the goal: time to a first success, an insight that is actionable, timely and relevant to the trader’s own stocks. Then a habit.</a:t>
            </a:r>
          </a:p>
          <a:p>
            <a:pPr algn="l">
              <a:lnSpc>
                <a:spcPct val="115000"/>
              </a:lnSpc>
              <a:spcAft>
                <a:spcPts val="300"/>
              </a:spcAft>
            </a:pPr>
            <a:r>
              <a:rPr lang="en-US" sz="1150" spc="0" dirty="0">
                <a:solidFill>
                  <a:srgbClr val="565C6B"/>
                </a:solidFill>
                <a:latin typeface="Helvetica Neue Light"/>
                <a:cs typeface="Helvetica Neue Light"/>
              </a:rPr>
              <a:t>Sources: live-site audit of finviz.com, Oct 4 2026; design review, Sept 30. Desk evidence, not yet confirmed with FinViz users.</a:t>
            </a:r>
          </a:p>
        </p:txBody>
      </p:sp>
      <p:pic>
        <p:nvPicPr>
          <p:cNvPr id="3017" name="Picture 3016"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1" name="Eyebrow"/>
          <p:cNvSpPr txBox="1"/>
          <p:nvPr/>
        </p:nvSpPr>
        <p:spPr>
          <a:xfrm>
            <a:off x="822960" y="914400"/>
            <a:ext cx="11358880" cy="320040"/>
          </a:xfrm>
          <a:prstGeom prst="rect">
            <a:avLst/>
          </a:prstGeom>
          <a:noFill/>
        </p:spPr>
        <p:txBody>
          <a:bodyPr wrap="square" lIns="0" tIns="0" rIns="0" bIns="0">
            <a:noAutofit/>
          </a:bodyPr>
          <a:lstStyle/>
          <a:p>
            <a:pPr algn="l">
              <a:lnSpc>
                <a:spcPct val="100000"/>
              </a:lnSpc>
              <a:spcAft>
                <a:spcPts val="300"/>
              </a:spcAft>
            </a:pPr>
            <a:r>
              <a:rPr lang="en-US" sz="1200" spc="300" dirty="0">
                <a:solidFill>
                  <a:srgbClr val="B5531F"/>
                </a:solidFill>
                <a:latin typeface="Helvetica Neue Medium"/>
                <a:cs typeface="Helvetica Neue Medium"/>
              </a:rPr>
              <a:t>FINVIZ AI SCREENER · AFTER TESTING</a:t>
            </a:r>
          </a:p>
        </p:txBody>
      </p:sp>
      <p:sp>
        <p:nvSpPr>
          <p:cNvPr id="102" name="Headline"/>
          <p:cNvSpPr txBox="1"/>
          <p:nvPr/>
        </p:nvSpPr>
        <p:spPr>
          <a:xfrm>
            <a:off x="822960" y="1371600"/>
            <a:ext cx="11358880" cy="1737360"/>
          </a:xfrm>
          <a:prstGeom prst="rect">
            <a:avLst/>
          </a:prstGeom>
          <a:noFill/>
        </p:spPr>
        <p:txBody>
          <a:bodyPr wrap="square" lIns="0" tIns="0" rIns="0" bIns="0">
            <a:noAutofit/>
          </a:bodyPr>
          <a:lstStyle/>
          <a:p>
            <a:pPr algn="l">
              <a:lnSpc>
                <a:spcPct val="95000"/>
              </a:lnSpc>
              <a:spcAft>
                <a:spcPts val="300"/>
              </a:spcAft>
            </a:pPr>
            <a:r>
              <a:rPr lang="en-US" sz="4400" spc="-40" dirty="0">
                <a:solidFill>
                  <a:srgbClr val="14161D"/>
                </a:solidFill>
                <a:latin typeface="Helvetica Neue Medium"/>
                <a:cs typeface="Helvetica Neue Medium"/>
              </a:rPr>
              <a:t>Four tests are set, each with a bar to pass. </a:t>
            </a:r>
            <a:r>
              <a:rPr lang="en-US" sz="4400" spc="-40" dirty="0">
                <a:solidFill>
                  <a:srgbClr val="B5531F"/>
                </a:solidFill>
                <a:latin typeface="Helvetica Neue Medium"/>
                <a:cs typeface="Helvetica Neue Medium"/>
              </a:rPr>
              <a:t>Nothing is measured yet.</a:t>
            </a:r>
          </a:p>
        </p:txBody>
      </p:sp>
      <p:sp>
        <p:nvSpPr>
          <p:cNvPr id="103" name="Column label"/>
          <p:cNvSpPr txBox="1"/>
          <p:nvPr/>
        </p:nvSpPr>
        <p:spPr>
          <a:xfrm>
            <a:off x="822960" y="3657600"/>
            <a:ext cx="283464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TEST</a:t>
            </a:r>
          </a:p>
        </p:txBody>
      </p:sp>
      <p:sp>
        <p:nvSpPr>
          <p:cNvPr id="104" name="Column label"/>
          <p:cNvSpPr txBox="1"/>
          <p:nvPr/>
        </p:nvSpPr>
        <p:spPr>
          <a:xfrm>
            <a:off x="3931920" y="3657600"/>
            <a:ext cx="338328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WHAT IT MEASURES</a:t>
            </a:r>
          </a:p>
        </p:txBody>
      </p:sp>
      <p:sp>
        <p:nvSpPr>
          <p:cNvPr id="105" name="Column label"/>
          <p:cNvSpPr txBox="1"/>
          <p:nvPr/>
        </p:nvSpPr>
        <p:spPr>
          <a:xfrm>
            <a:off x="7589520" y="3657600"/>
            <a:ext cx="260604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BAR TO PASS</a:t>
            </a:r>
          </a:p>
        </p:txBody>
      </p:sp>
      <p:sp>
        <p:nvSpPr>
          <p:cNvPr id="106" name="Column label"/>
          <p:cNvSpPr txBox="1"/>
          <p:nvPr/>
        </p:nvSpPr>
        <p:spPr>
          <a:xfrm>
            <a:off x="10469880" y="3657600"/>
            <a:ext cx="171196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RESULT</a:t>
            </a:r>
          </a:p>
        </p:txBody>
      </p:sp>
      <p:cxnSp>
        <p:nvCxnSpPr>
          <p:cNvPr id="107" name="Divider"/>
          <p:cNvCxnSpPr/>
          <p:nvPr/>
        </p:nvCxnSpPr>
        <p:spPr>
          <a:xfrm>
            <a:off x="822960" y="4023360"/>
            <a:ext cx="11358880" cy="0"/>
          </a:xfrm>
          <a:prstGeom prst="line">
            <a:avLst/>
          </a:prstGeom>
          <a:ln w="9525">
            <a:solidFill>
              <a:srgbClr val="E1E3E8"/>
            </a:solidFill>
          </a:ln>
        </p:spPr>
      </p:cxnSp>
      <p:sp>
        <p:nvSpPr>
          <p:cNvPr id="108" name="Show It eval"/>
          <p:cNvSpPr txBox="1"/>
          <p:nvPr/>
        </p:nvSpPr>
        <p:spPr>
          <a:xfrm>
            <a:off x="822960" y="4224528"/>
            <a:ext cx="2834640" cy="82296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Show It eval</a:t>
            </a:r>
          </a:p>
          <a:p>
            <a:pPr algn="l">
              <a:lnSpc>
                <a:spcPct val="110000"/>
              </a:lnSpc>
              <a:spcAft>
                <a:spcPts val="300"/>
              </a:spcAft>
            </a:pPr>
            <a:r>
              <a:rPr lang="en-US" sz="1300" spc="0" dirty="0">
                <a:solidFill>
                  <a:srgbClr val="565C6B"/>
                </a:solidFill>
                <a:latin typeface="Helvetica Neue Light"/>
                <a:cs typeface="Helvetica Neue Light"/>
              </a:rPr>
              <a:t>40 fixed requests on the live prototype</a:t>
            </a:r>
          </a:p>
        </p:txBody>
      </p:sp>
      <p:sp>
        <p:nvSpPr>
          <p:cNvPr id="109" name="Show It eval measures"/>
          <p:cNvSpPr txBox="1"/>
          <p:nvPr/>
        </p:nvSpPr>
        <p:spPr>
          <a:xfrm>
            <a:off x="3931920" y="4224528"/>
            <a:ext cx="338328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Right filters, invented codes stopped, asks when vague, refuses to predict</a:t>
            </a:r>
          </a:p>
        </p:txBody>
      </p:sp>
      <p:sp>
        <p:nvSpPr>
          <p:cNvPr id="110" name="Show It eval bar"/>
          <p:cNvSpPr txBox="1"/>
          <p:nvPr/>
        </p:nvSpPr>
        <p:spPr>
          <a:xfrm>
            <a:off x="7589520" y="4224528"/>
            <a:ext cx="260604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14161D"/>
                </a:solidFill>
                <a:latin typeface="Helvetica Neue Light"/>
                <a:cs typeface="Helvetica Neue Light"/>
              </a:rPr>
              <a:t>&lt; 2% wrong translations</a:t>
            </a:r>
          </a:p>
        </p:txBody>
      </p:sp>
      <p:sp>
        <p:nvSpPr>
          <p:cNvPr id="111" name="Show It eval result"/>
          <p:cNvSpPr txBox="1"/>
          <p:nvPr/>
        </p:nvSpPr>
        <p:spPr>
          <a:xfrm>
            <a:off x="10469880" y="4224528"/>
            <a:ext cx="1711960" cy="822960"/>
          </a:xfrm>
          <a:prstGeom prst="rect">
            <a:avLst/>
          </a:prstGeom>
          <a:noFill/>
        </p:spPr>
        <p:txBody>
          <a:bodyPr wrap="square" lIns="0" tIns="0" rIns="0" bIns="0">
            <a:noAutofit/>
          </a:bodyPr>
          <a:lstStyle/>
          <a:p>
            <a:pPr algn="l">
              <a:lnSpc>
                <a:spcPct val="100000"/>
              </a:lnSpc>
              <a:spcAft>
                <a:spcPts val="300"/>
              </a:spcAft>
            </a:pPr>
            <a:r>
              <a:rPr lang="en-US" sz="1200" spc="200" dirty="0">
                <a:solidFill>
                  <a:srgbClr val="B5531F"/>
                </a:solidFill>
                <a:latin typeface="Helvetica Neue Medium"/>
                <a:cs typeface="Helvetica Neue Medium"/>
              </a:rPr>
              <a:t>PLANNED</a:t>
            </a:r>
          </a:p>
          <a:p>
            <a:pPr algn="l">
              <a:lnSpc>
                <a:spcPct val="110000"/>
              </a:lnSpc>
              <a:spcAft>
                <a:spcPts val="300"/>
              </a:spcAft>
            </a:pPr>
            <a:r>
              <a:rPr lang="en-US" sz="1300" spc="0" dirty="0">
                <a:solidFill>
                  <a:srgbClr val="565C6B"/>
                </a:solidFill>
                <a:latin typeface="Helvetica Neue Light"/>
                <a:cs typeface="Helvetica Neue Light"/>
              </a:rPr>
              <a:t>Ready to run</a:t>
            </a:r>
          </a:p>
        </p:txBody>
      </p:sp>
      <p:cxnSp>
        <p:nvCxnSpPr>
          <p:cNvPr id="112" name="Divider"/>
          <p:cNvCxnSpPr/>
          <p:nvPr/>
        </p:nvCxnSpPr>
        <p:spPr>
          <a:xfrm>
            <a:off x="822960" y="5074920"/>
            <a:ext cx="11358880" cy="0"/>
          </a:xfrm>
          <a:prstGeom prst="line">
            <a:avLst/>
          </a:prstGeom>
          <a:ln w="9525">
            <a:solidFill>
              <a:srgbClr val="E1E3E8"/>
            </a:solidFill>
          </a:ln>
        </p:spPr>
      </p:cxnSp>
      <p:sp>
        <p:nvSpPr>
          <p:cNvPr id="113" name="Trader sessions"/>
          <p:cNvSpPr txBox="1"/>
          <p:nvPr/>
        </p:nvSpPr>
        <p:spPr>
          <a:xfrm>
            <a:off x="822960" y="5276088"/>
            <a:ext cx="2834640" cy="82296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Trader sessions</a:t>
            </a:r>
          </a:p>
          <a:p>
            <a:pPr algn="l">
              <a:lnSpc>
                <a:spcPct val="110000"/>
              </a:lnSpc>
              <a:spcAft>
                <a:spcPts val="300"/>
              </a:spcAft>
            </a:pPr>
            <a:r>
              <a:rPr lang="en-US" sz="1300" spc="0" dirty="0">
                <a:solidFill>
                  <a:srgbClr val="565C6B"/>
                </a:solidFill>
                <a:latin typeface="Helvetica Neue Light"/>
                <a:cs typeface="Helvetica Neue Light"/>
              </a:rPr>
              <a:t>5 swing traders, think-aloud</a:t>
            </a:r>
          </a:p>
        </p:txBody>
      </p:sp>
      <p:sp>
        <p:nvSpPr>
          <p:cNvPr id="114" name="Trader sessions measures"/>
          <p:cNvSpPr txBox="1"/>
          <p:nvPr/>
        </p:nvSpPr>
        <p:spPr>
          <a:xfrm>
            <a:off x="3931920" y="5276088"/>
            <a:ext cx="338328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Time to a first saved screen; trust; whether the replay is understood</a:t>
            </a:r>
          </a:p>
        </p:txBody>
      </p:sp>
      <p:sp>
        <p:nvSpPr>
          <p:cNvPr id="115" name="Trader sessions bar"/>
          <p:cNvSpPr txBox="1"/>
          <p:nvPr/>
        </p:nvSpPr>
        <p:spPr>
          <a:xfrm>
            <a:off x="7589520" y="5276088"/>
            <a:ext cx="260604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14161D"/>
                </a:solidFill>
                <a:latin typeface="Helvetica Neue Light"/>
                <a:cs typeface="Helvetica Neue Light"/>
              </a:rPr>
              <a:t>Under 5 min · trust 5+ of 7 · 4 of 5 explain the replay</a:t>
            </a:r>
          </a:p>
        </p:txBody>
      </p:sp>
      <p:sp>
        <p:nvSpPr>
          <p:cNvPr id="116" name="Trader sessions result"/>
          <p:cNvSpPr txBox="1"/>
          <p:nvPr/>
        </p:nvSpPr>
        <p:spPr>
          <a:xfrm>
            <a:off x="10469880" y="5276088"/>
            <a:ext cx="1711960" cy="822960"/>
          </a:xfrm>
          <a:prstGeom prst="rect">
            <a:avLst/>
          </a:prstGeom>
          <a:noFill/>
        </p:spPr>
        <p:txBody>
          <a:bodyPr wrap="square" lIns="0" tIns="0" rIns="0" bIns="0">
            <a:noAutofit/>
          </a:bodyPr>
          <a:lstStyle/>
          <a:p>
            <a:pPr algn="l">
              <a:lnSpc>
                <a:spcPct val="100000"/>
              </a:lnSpc>
              <a:spcAft>
                <a:spcPts val="300"/>
              </a:spcAft>
            </a:pPr>
            <a:r>
              <a:rPr lang="en-US" sz="1200" spc="200" dirty="0">
                <a:solidFill>
                  <a:srgbClr val="B5531F"/>
                </a:solidFill>
                <a:latin typeface="Helvetica Neue Medium"/>
                <a:cs typeface="Helvetica Neue Medium"/>
              </a:rPr>
              <a:t>PLANNED</a:t>
            </a:r>
          </a:p>
          <a:p>
            <a:pPr algn="l">
              <a:lnSpc>
                <a:spcPct val="110000"/>
              </a:lnSpc>
              <a:spcAft>
                <a:spcPts val="300"/>
              </a:spcAft>
            </a:pPr>
            <a:r>
              <a:rPr lang="en-US" sz="1300" spc="0" dirty="0">
                <a:solidFill>
                  <a:srgbClr val="565C6B"/>
                </a:solidFill>
                <a:latin typeface="Helvetica Neue Light"/>
                <a:cs typeface="Helvetica Neue Light"/>
              </a:rPr>
              <a:t>Kit ready</a:t>
            </a:r>
          </a:p>
        </p:txBody>
      </p:sp>
      <p:cxnSp>
        <p:nvCxnSpPr>
          <p:cNvPr id="117" name="Divider"/>
          <p:cNvCxnSpPr/>
          <p:nvPr/>
        </p:nvCxnSpPr>
        <p:spPr>
          <a:xfrm>
            <a:off x="822960" y="6126480"/>
            <a:ext cx="11358880" cy="0"/>
          </a:xfrm>
          <a:prstGeom prst="line">
            <a:avLst/>
          </a:prstGeom>
          <a:ln w="9525">
            <a:solidFill>
              <a:srgbClr val="E1E3E8"/>
            </a:solidFill>
          </a:ln>
        </p:spPr>
      </p:cxnSp>
      <p:sp>
        <p:nvSpPr>
          <p:cNvPr id="118" name="Alert diary"/>
          <p:cNvSpPr txBox="1"/>
          <p:nvPr/>
        </p:nvSpPr>
        <p:spPr>
          <a:xfrm>
            <a:off x="822960" y="6327648"/>
            <a:ext cx="2834640" cy="82296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Alert diary</a:t>
            </a:r>
          </a:p>
          <a:p>
            <a:pPr algn="l">
              <a:lnSpc>
                <a:spcPct val="110000"/>
              </a:lnSpc>
              <a:spcAft>
                <a:spcPts val="300"/>
              </a:spcAft>
            </a:pPr>
            <a:r>
              <a:rPr lang="en-US" sz="1300" spc="0" dirty="0">
                <a:solidFill>
                  <a:srgbClr val="565C6B"/>
                </a:solidFill>
                <a:latin typeface="Helvetica Neue Light"/>
                <a:cs typeface="Helvetica Neue Light"/>
              </a:rPr>
              <a:t>2 weeks with alerts on</a:t>
            </a:r>
          </a:p>
        </p:txBody>
      </p:sp>
      <p:sp>
        <p:nvSpPr>
          <p:cNvPr id="119" name="Alert diary measures"/>
          <p:cNvSpPr txBox="1"/>
          <p:nvPr/>
        </p:nvSpPr>
        <p:spPr>
          <a:xfrm>
            <a:off x="3931920" y="6327648"/>
            <a:ext cx="338328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Alerts that lead to an action; alerts muted</a:t>
            </a:r>
          </a:p>
        </p:txBody>
      </p:sp>
      <p:sp>
        <p:nvSpPr>
          <p:cNvPr id="120" name="Alert diary bar"/>
          <p:cNvSpPr txBox="1"/>
          <p:nvPr/>
        </p:nvSpPr>
        <p:spPr>
          <a:xfrm>
            <a:off x="7589520" y="6327648"/>
            <a:ext cx="260604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14161D"/>
                </a:solidFill>
                <a:latin typeface="Helvetica Neue Light"/>
                <a:cs typeface="Helvetica Neue Light"/>
              </a:rPr>
              <a:t>Over 40% acted on · under 10% muted</a:t>
            </a:r>
          </a:p>
        </p:txBody>
      </p:sp>
      <p:sp>
        <p:nvSpPr>
          <p:cNvPr id="121" name="Alert diary result"/>
          <p:cNvSpPr txBox="1"/>
          <p:nvPr/>
        </p:nvSpPr>
        <p:spPr>
          <a:xfrm>
            <a:off x="10469880" y="6327648"/>
            <a:ext cx="1711960" cy="822960"/>
          </a:xfrm>
          <a:prstGeom prst="rect">
            <a:avLst/>
          </a:prstGeom>
          <a:noFill/>
        </p:spPr>
        <p:txBody>
          <a:bodyPr wrap="square" lIns="0" tIns="0" rIns="0" bIns="0">
            <a:noAutofit/>
          </a:bodyPr>
          <a:lstStyle/>
          <a:p>
            <a:pPr algn="l">
              <a:lnSpc>
                <a:spcPct val="100000"/>
              </a:lnSpc>
              <a:spcAft>
                <a:spcPts val="300"/>
              </a:spcAft>
            </a:pPr>
            <a:r>
              <a:rPr lang="en-US" sz="1200" spc="200" dirty="0">
                <a:solidFill>
                  <a:srgbClr val="B5531F"/>
                </a:solidFill>
                <a:latin typeface="Helvetica Neue Medium"/>
                <a:cs typeface="Helvetica Neue Medium"/>
              </a:rPr>
              <a:t>PLANNED</a:t>
            </a:r>
          </a:p>
          <a:p>
            <a:pPr algn="l">
              <a:lnSpc>
                <a:spcPct val="110000"/>
              </a:lnSpc>
              <a:spcAft>
                <a:spcPts val="300"/>
              </a:spcAft>
            </a:pPr>
            <a:r>
              <a:rPr lang="en-US" sz="1300" spc="0" dirty="0">
                <a:solidFill>
                  <a:srgbClr val="565C6B"/>
                </a:solidFill>
                <a:latin typeface="Helvetica Neue Light"/>
                <a:cs typeface="Helvetica Neue Light"/>
              </a:rPr>
              <a:t>After sessions</a:t>
            </a:r>
          </a:p>
        </p:txBody>
      </p:sp>
      <p:cxnSp>
        <p:nvCxnSpPr>
          <p:cNvPr id="122" name="Divider"/>
          <p:cNvCxnSpPr/>
          <p:nvPr/>
        </p:nvCxnSpPr>
        <p:spPr>
          <a:xfrm>
            <a:off x="822960" y="7178040"/>
            <a:ext cx="11358880" cy="0"/>
          </a:xfrm>
          <a:prstGeom prst="line">
            <a:avLst/>
          </a:prstGeom>
          <a:ln w="9525">
            <a:solidFill>
              <a:srgbClr val="E1E3E8"/>
            </a:solidFill>
          </a:ln>
        </p:spPr>
      </p:cxnSp>
      <p:sp>
        <p:nvSpPr>
          <p:cNvPr id="123" name="Days to Elite"/>
          <p:cNvSpPr txBox="1"/>
          <p:nvPr/>
        </p:nvSpPr>
        <p:spPr>
          <a:xfrm>
            <a:off x="822960" y="7379208"/>
            <a:ext cx="2834640" cy="82296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Days to Elite</a:t>
            </a:r>
          </a:p>
          <a:p>
            <a:pPr algn="l">
              <a:lnSpc>
                <a:spcPct val="110000"/>
              </a:lnSpc>
              <a:spcAft>
                <a:spcPts val="300"/>
              </a:spcAft>
            </a:pPr>
            <a:r>
              <a:rPr lang="en-US" sz="1300" spc="0" dirty="0">
                <a:solidFill>
                  <a:srgbClr val="565C6B"/>
                </a:solidFill>
                <a:latin typeface="Helvetica Neue Light"/>
                <a:cs typeface="Helvetica Neue Light"/>
              </a:rPr>
              <a:t>A/B against today’s sign-up trial</a:t>
            </a:r>
          </a:p>
        </p:txBody>
      </p:sp>
      <p:sp>
        <p:nvSpPr>
          <p:cNvPr id="124" name="Days to Elite measures"/>
          <p:cNvSpPr txBox="1"/>
          <p:nvPr/>
        </p:nvSpPr>
        <p:spPr>
          <a:xfrm>
            <a:off x="3931920" y="7379208"/>
            <a:ext cx="338328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Days from sign-up to Elite</a:t>
            </a:r>
          </a:p>
        </p:txBody>
      </p:sp>
      <p:sp>
        <p:nvSpPr>
          <p:cNvPr id="125" name="Days to Elite bar"/>
          <p:cNvSpPr txBox="1"/>
          <p:nvPr/>
        </p:nvSpPr>
        <p:spPr>
          <a:xfrm>
            <a:off x="7589520" y="7379208"/>
            <a:ext cx="260604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14161D"/>
                </a:solidFill>
                <a:latin typeface="Helvetica Neue Light"/>
                <a:cs typeface="Helvetica Neue Light"/>
              </a:rPr>
              <a:t>42 → 21 days</a:t>
            </a:r>
          </a:p>
        </p:txBody>
      </p:sp>
      <p:sp>
        <p:nvSpPr>
          <p:cNvPr id="126" name="Days to Elite result"/>
          <p:cNvSpPr txBox="1"/>
          <p:nvPr/>
        </p:nvSpPr>
        <p:spPr>
          <a:xfrm>
            <a:off x="10469880" y="7379208"/>
            <a:ext cx="1711960" cy="822960"/>
          </a:xfrm>
          <a:prstGeom prst="rect">
            <a:avLst/>
          </a:prstGeom>
          <a:noFill/>
        </p:spPr>
        <p:txBody>
          <a:bodyPr wrap="square" lIns="0" tIns="0" rIns="0" bIns="0">
            <a:noAutofit/>
          </a:bodyPr>
          <a:lstStyle/>
          <a:p>
            <a:pPr algn="l">
              <a:lnSpc>
                <a:spcPct val="100000"/>
              </a:lnSpc>
              <a:spcAft>
                <a:spcPts val="300"/>
              </a:spcAft>
            </a:pPr>
            <a:r>
              <a:rPr lang="en-US" sz="1200" spc="200" dirty="0">
                <a:solidFill>
                  <a:srgbClr val="B5531F"/>
                </a:solidFill>
                <a:latin typeface="Helvetica Neue Medium"/>
                <a:cs typeface="Helvetica Neue Medium"/>
              </a:rPr>
              <a:t>PLANNED</a:t>
            </a:r>
          </a:p>
          <a:p>
            <a:pPr algn="l">
              <a:lnSpc>
                <a:spcPct val="110000"/>
              </a:lnSpc>
              <a:spcAft>
                <a:spcPts val="300"/>
              </a:spcAft>
            </a:pPr>
            <a:r>
              <a:rPr lang="en-US" sz="1300" spc="0" dirty="0">
                <a:solidFill>
                  <a:srgbClr val="565C6B"/>
                </a:solidFill>
                <a:latin typeface="Helvetica Neue Light"/>
                <a:cs typeface="Helvetica Neue Light"/>
              </a:rPr>
              <a:t>Needs FinViz data</a:t>
            </a:r>
          </a:p>
        </p:txBody>
      </p:sp>
      <p:cxnSp>
        <p:nvCxnSpPr>
          <p:cNvPr id="127" name="Divider"/>
          <p:cNvCxnSpPr/>
          <p:nvPr/>
        </p:nvCxnSpPr>
        <p:spPr>
          <a:xfrm>
            <a:off x="822960" y="8229600"/>
            <a:ext cx="11358880" cy="0"/>
          </a:xfrm>
          <a:prstGeom prst="line">
            <a:avLst/>
          </a:prstGeom>
          <a:ln w="9525">
            <a:solidFill>
              <a:srgbClr val="E1E3E8"/>
            </a:solidFill>
          </a:ln>
        </p:spPr>
      </p:cxnSp>
      <p:sp>
        <p:nvSpPr>
          <p:cNvPr id="128" name="Source"/>
          <p:cNvSpPr txBox="1"/>
          <p:nvPr/>
        </p:nvSpPr>
        <p:spPr>
          <a:xfrm>
            <a:off x="822960" y="8503920"/>
            <a:ext cx="11358880" cy="274320"/>
          </a:xfrm>
          <a:prstGeom prst="rect">
            <a:avLst/>
          </a:prstGeom>
          <a:noFill/>
        </p:spPr>
        <p:txBody>
          <a:bodyPr wrap="square" lIns="0" tIns="0" rIns="0" bIns="0">
            <a:noAutofit/>
          </a:bodyPr>
          <a:lstStyle/>
          <a:p>
            <a:pPr algn="l">
              <a:lnSpc>
                <a:spcPct val="100000"/>
              </a:lnSpc>
              <a:spcAft>
                <a:spcPts val="300"/>
              </a:spcAft>
            </a:pPr>
            <a:r>
              <a:rPr lang="en-US" sz="1100" spc="0" dirty="0">
                <a:solidFill>
                  <a:srgbClr val="858A97"/>
                </a:solidFill>
                <a:latin typeface="Helvetica Neue Light"/>
                <a:cs typeface="Helvetica Neue Light"/>
              </a:rPr>
              <a:t>Each PLANNED result is replaced with the measured number when its test runs. Bars come from the KPI framework and the validation kit.</a:t>
            </a:r>
          </a:p>
        </p:txBody>
      </p:sp>
      <p:pic>
        <p:nvPicPr>
          <p:cNvPr id="129" name="Picture 128"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09 · Results &amp; impact   FinViz AI Screener</a:t>
            </a:r>
            <a:endParaRPr lang="en-US" sz="1422" dirty="0"/>
          </a:p>
        </p:txBody>
      </p:sp>
      <p:sp>
        <p:nvSpPr>
          <p:cNvPr id="3" name="Text 1"/>
          <p:cNvSpPr txBox="1"/>
          <p:nvPr/>
        </p:nvSpPr>
        <p:spPr>
          <a:xfrm>
            <a:off x="455168" y="975360"/>
            <a:ext cx="12094464" cy="650240"/>
          </a:xfrm>
          <a:prstGeom prst="rect">
            <a:avLst/>
          </a:prstGeom>
          <a:noFill/>
          <a:ln/>
        </p:spPr>
        <p:txBody>
          <a:bodyPr wrap="square" lIns="0" tIns="0" rIns="0" bIns="0" rtlCol="0" anchor="t"/>
          <a:lstStyle/>
          <a:p>
            <a:r>
              <a:rPr lang="en-US" sz="3982" dirty="0">
                <a:solidFill>
                  <a:srgbClr val="1F1F1F"/>
                </a:solidFill>
                <a:latin typeface="Helvetica Neue Light" pitchFamily="34" charset="0"/>
                <a:ea typeface="Helvetica Neue Light" pitchFamily="34" charset="-122"/>
                <a:cs typeface="Helvetica Neue Light" pitchFamily="34" charset="-120"/>
              </a:rPr>
              <a:t>How success will be measured</a:t>
            </a:r>
            <a:endParaRPr lang="en-US" sz="3982" dirty="0"/>
          </a:p>
        </p:txBody>
      </p:sp>
      <p:sp>
        <p:nvSpPr>
          <p:cNvPr id="4" name="Text 2"/>
          <p:cNvSpPr txBox="1"/>
          <p:nvPr/>
        </p:nvSpPr>
        <p:spPr>
          <a:xfrm>
            <a:off x="975360" y="2015744"/>
            <a:ext cx="5201920" cy="1170432"/>
          </a:xfrm>
          <a:prstGeom prst="rect">
            <a:avLst/>
          </a:prstGeom>
          <a:noFill/>
          <a:ln/>
        </p:spPr>
        <p:txBody>
          <a:bodyPr wrap="square" lIns="0" tIns="0" rIns="0" bIns="0" rtlCol="0" anchor="t"/>
          <a:lstStyle/>
          <a:p>
            <a:r>
              <a:rPr lang="en-US" sz="6827" dirty="0">
                <a:solidFill>
                  <a:srgbClr val="1F5BFF"/>
                </a:solidFill>
                <a:latin typeface="Helvetica Neue Light" pitchFamily="34" charset="0"/>
                <a:ea typeface="Helvetica Neue Light" pitchFamily="34" charset="-122"/>
                <a:cs typeface="Helvetica Neue Light" pitchFamily="34" charset="-120"/>
              </a:rPr>
              <a:t>42 → 21</a:t>
            </a:r>
            <a:endParaRPr lang="en-US" sz="6827" dirty="0"/>
          </a:p>
        </p:txBody>
      </p:sp>
      <p:sp>
        <p:nvSpPr>
          <p:cNvPr id="5" name="Text 3"/>
          <p:cNvSpPr txBox="1"/>
          <p:nvPr/>
        </p:nvSpPr>
        <p:spPr>
          <a:xfrm>
            <a:off x="1543427" y="3186176"/>
            <a:ext cx="2858200" cy="598221"/>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days from sign-up to Elite</a:t>
            </a:r>
            <a:endParaRPr lang="en-US" sz="1849" dirty="0"/>
          </a:p>
        </p:txBody>
      </p:sp>
      <p:sp>
        <p:nvSpPr>
          <p:cNvPr id="6" name="Text 4"/>
          <p:cNvSpPr txBox="1"/>
          <p:nvPr/>
        </p:nvSpPr>
        <p:spPr>
          <a:xfrm>
            <a:off x="6697472" y="2015744"/>
            <a:ext cx="5201920" cy="1170432"/>
          </a:xfrm>
          <a:prstGeom prst="rect">
            <a:avLst/>
          </a:prstGeom>
          <a:noFill/>
          <a:ln/>
        </p:spPr>
        <p:txBody>
          <a:bodyPr wrap="square" lIns="0" tIns="0" rIns="0" bIns="0" rtlCol="0" anchor="t"/>
          <a:lstStyle/>
          <a:p>
            <a:r>
              <a:rPr lang="en-US" sz="6827" dirty="0">
                <a:solidFill>
                  <a:srgbClr val="A100E8"/>
                </a:solidFill>
                <a:latin typeface="Helvetica Neue Light" pitchFamily="34" charset="0"/>
                <a:ea typeface="Helvetica Neue Light" pitchFamily="34" charset="-122"/>
                <a:cs typeface="Helvetica Neue Light" pitchFamily="34" charset="-120"/>
              </a:rPr>
              <a:t>3+ days</a:t>
            </a:r>
            <a:endParaRPr lang="en-US" sz="6827" dirty="0"/>
          </a:p>
        </p:txBody>
      </p:sp>
      <p:sp>
        <p:nvSpPr>
          <p:cNvPr id="7" name="Text 5"/>
          <p:cNvSpPr txBox="1"/>
          <p:nvPr/>
        </p:nvSpPr>
        <p:spPr>
          <a:xfrm>
            <a:off x="7374148" y="3186176"/>
            <a:ext cx="2858200" cy="780288"/>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a week re-running a saved screen: the North Star</a:t>
            </a:r>
            <a:endParaRPr lang="en-US" sz="1849" dirty="0"/>
          </a:p>
        </p:txBody>
      </p:sp>
      <p:sp>
        <p:nvSpPr>
          <p:cNvPr id="8" name="Text 6"/>
          <p:cNvSpPr txBox="1"/>
          <p:nvPr/>
        </p:nvSpPr>
        <p:spPr>
          <a:xfrm>
            <a:off x="975360" y="4746752"/>
            <a:ext cx="5201920" cy="1170432"/>
          </a:xfrm>
          <a:prstGeom prst="rect">
            <a:avLst/>
          </a:prstGeom>
          <a:noFill/>
          <a:ln/>
        </p:spPr>
        <p:txBody>
          <a:bodyPr wrap="square" lIns="0" tIns="0" rIns="0" bIns="0" rtlCol="0" anchor="t"/>
          <a:lstStyle/>
          <a:p>
            <a:r>
              <a:rPr lang="en-US" sz="6827" dirty="0">
                <a:solidFill>
                  <a:srgbClr val="00B5CC"/>
                </a:solidFill>
                <a:latin typeface="Helvetica Neue Light" pitchFamily="34" charset="0"/>
                <a:ea typeface="Helvetica Neue Light" pitchFamily="34" charset="-122"/>
                <a:cs typeface="Helvetica Neue Light" pitchFamily="34" charset="-120"/>
              </a:rPr>
              <a:t>&lt; 5 min</a:t>
            </a:r>
            <a:endParaRPr lang="en-US" sz="6827" dirty="0"/>
          </a:p>
        </p:txBody>
      </p:sp>
      <p:sp>
        <p:nvSpPr>
          <p:cNvPr id="9" name="Text 7"/>
          <p:cNvSpPr txBox="1"/>
          <p:nvPr/>
        </p:nvSpPr>
        <p:spPr>
          <a:xfrm>
            <a:off x="1757791" y="5917184"/>
            <a:ext cx="2343724" cy="342269"/>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to a first saved screen</a:t>
            </a:r>
            <a:endParaRPr lang="en-US" sz="1849" dirty="0"/>
          </a:p>
        </p:txBody>
      </p:sp>
      <p:sp>
        <p:nvSpPr>
          <p:cNvPr id="10" name="Text 8"/>
          <p:cNvSpPr txBox="1"/>
          <p:nvPr/>
        </p:nvSpPr>
        <p:spPr>
          <a:xfrm>
            <a:off x="6697472" y="4746752"/>
            <a:ext cx="5201920" cy="1170432"/>
          </a:xfrm>
          <a:prstGeom prst="rect">
            <a:avLst/>
          </a:prstGeom>
          <a:noFill/>
          <a:ln/>
        </p:spPr>
        <p:txBody>
          <a:bodyPr wrap="square" lIns="0" tIns="0" rIns="0" bIns="0" rtlCol="0" anchor="t"/>
          <a:lstStyle/>
          <a:p>
            <a:r>
              <a:rPr lang="en-US" sz="6827" dirty="0">
                <a:solidFill>
                  <a:srgbClr val="F040E0"/>
                </a:solidFill>
                <a:latin typeface="Helvetica Neue Light" pitchFamily="34" charset="0"/>
                <a:ea typeface="Helvetica Neue Light" pitchFamily="34" charset="-122"/>
                <a:cs typeface="Helvetica Neue Light" pitchFamily="34" charset="-120"/>
              </a:rPr>
              <a:t>&gt; 40%</a:t>
            </a:r>
            <a:endParaRPr lang="en-US" sz="6827" dirty="0"/>
          </a:p>
        </p:txBody>
      </p:sp>
      <p:sp>
        <p:nvSpPr>
          <p:cNvPr id="11" name="Text 9"/>
          <p:cNvSpPr txBox="1"/>
          <p:nvPr/>
        </p:nvSpPr>
        <p:spPr>
          <a:xfrm>
            <a:off x="7374149" y="5917184"/>
            <a:ext cx="2758162" cy="342269"/>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of alerts lead to an action</a:t>
            </a:r>
            <a:endParaRPr lang="en-US" sz="1849" dirty="0"/>
          </a:p>
        </p:txBody>
      </p:sp>
      <p:sp>
        <p:nvSpPr>
          <p:cNvPr id="12" name="Text 10"/>
          <p:cNvSpPr txBox="1"/>
          <p:nvPr/>
        </p:nvSpPr>
        <p:spPr>
          <a:xfrm>
            <a:off x="975360" y="7672832"/>
            <a:ext cx="11054080" cy="650240"/>
          </a:xfrm>
          <a:prstGeom prst="rect">
            <a:avLst/>
          </a:prstGeom>
          <a:noFill/>
          <a:ln/>
        </p:spPr>
        <p:txBody>
          <a:bodyPr wrap="square" lIns="0" tIns="0" rIns="0" bIns="0" rtlCol="0" anchor="t"/>
          <a:lstStyle/>
          <a:p>
            <a:r>
              <a:rPr lang="en-US" sz="1707" dirty="0">
                <a:solidFill>
                  <a:srgbClr val="595959"/>
                </a:solidFill>
                <a:latin typeface="Helvetica Neue Light" pitchFamily="34" charset="0"/>
                <a:ea typeface="Helvetica Neue Light" pitchFamily="34" charset="-122"/>
                <a:cs typeface="Helvetica Neue Light" pitchFamily="34" charset="-120"/>
              </a:rPr>
              <a:t>Concept-stage work: these are targets with a plan to baseline them, not results.</a:t>
            </a:r>
            <a:endParaRPr lang="en-US" sz="1707" dirty="0"/>
          </a:p>
        </p:txBody>
      </p:sp>
      <p:pic>
        <p:nvPicPr>
          <p:cNvPr id="13" name="Picture 12"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LEARNINGS</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14161D"/>
                </a:solidFill>
                <a:latin typeface="Helvetica Neue Medium"/>
                <a:cs typeface="Helvetica Neue Medium"/>
              </a:rPr>
              <a:t>What leading with AI </a:t>
            </a:r>
            <a:r>
              <a:rPr lang="en-US" sz="4400" spc="-40" dirty="0">
                <a:solidFill>
                  <a:srgbClr val="B5531F"/>
                </a:solidFill>
                <a:latin typeface="Helvetica Neue Medium"/>
                <a:cs typeface="Helvetica Neue Medium"/>
              </a:rPr>
              <a:t>taught me</a:t>
            </a:r>
            <a:r>
              <a:rPr lang="en-US" sz="4400" spc="-40" dirty="0">
                <a:solidFill>
                  <a:srgbClr val="14161D"/>
                </a:solidFill>
                <a:latin typeface="Helvetica Neue Medium"/>
                <a:cs typeface="Helvetica Neue Medium"/>
              </a:rPr>
              <a:t>.</a:t>
            </a:r>
          </a:p>
        </p:txBody>
      </p:sp>
      <p:cxnSp>
        <p:nvCxnSpPr>
          <p:cNvPr id="103" name="Divider"/>
          <p:cNvCxnSpPr/>
          <p:nvPr/>
        </p:nvCxnSpPr>
        <p:spPr>
          <a:xfrm>
            <a:off x="822960" y="3566160"/>
            <a:ext cx="5427980" cy="0"/>
          </a:xfrm>
          <a:prstGeom prst="line">
            <a:avLst/>
          </a:prstGeom>
          <a:ln w="9525">
            <a:solidFill>
              <a:srgbClr val="E1E3E8"/>
            </a:solidFill>
          </a:ln>
        </p:spPr>
      </p:cxnSp>
      <p:sp>
        <p:nvSpPr>
          <p:cNvPr id="104" name="The bottleneck moves to judgment title"/>
          <p:cNvSpPr txBox="1"/>
          <p:nvPr/>
        </p:nvSpPr>
        <p:spPr>
          <a:xfrm>
            <a:off x="8229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The bottleneck moves to judgment</a:t>
            </a:r>
          </a:p>
        </p:txBody>
      </p:sp>
      <p:sp>
        <p:nvSpPr>
          <p:cNvPr id="105" name="The bottleneck moves to judgment body"/>
          <p:cNvSpPr txBox="1"/>
          <p:nvPr/>
        </p:nvSpPr>
        <p:spPr>
          <a:xfrm>
            <a:off x="8229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Drafts take minutes. The lead’s value is framing, checking facts and deciding what to keep.</a:t>
            </a:r>
          </a:p>
        </p:txBody>
      </p:sp>
      <p:cxnSp>
        <p:nvCxnSpPr>
          <p:cNvPr id="106" name="Divider"/>
          <p:cNvCxnSpPr/>
          <p:nvPr/>
        </p:nvCxnSpPr>
        <p:spPr>
          <a:xfrm>
            <a:off x="6753860" y="3566160"/>
            <a:ext cx="5427980" cy="0"/>
          </a:xfrm>
          <a:prstGeom prst="line">
            <a:avLst/>
          </a:prstGeom>
          <a:ln w="9525">
            <a:solidFill>
              <a:srgbClr val="E1E3E8"/>
            </a:solidFill>
          </a:ln>
        </p:spPr>
      </p:cxnSp>
      <p:sp>
        <p:nvSpPr>
          <p:cNvPr id="107" name="Write the rules down once title"/>
          <p:cNvSpPr txBox="1"/>
          <p:nvPr/>
        </p:nvSpPr>
        <p:spPr>
          <a:xfrm>
            <a:off x="67538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Write the rules down once</a:t>
            </a:r>
          </a:p>
        </p:txBody>
      </p:sp>
      <p:sp>
        <p:nvSpPr>
          <p:cNvPr id="108" name="Write the rules down once body"/>
          <p:cNvSpPr txBox="1"/>
          <p:nvPr/>
        </p:nvSpPr>
        <p:spPr>
          <a:xfrm>
            <a:off x="67538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Rules in the project brief made every AI draft start compliant.</a:t>
            </a:r>
          </a:p>
        </p:txBody>
      </p:sp>
      <p:cxnSp>
        <p:nvCxnSpPr>
          <p:cNvPr id="109" name="Divider"/>
          <p:cNvCxnSpPr/>
          <p:nvPr/>
        </p:nvCxnSpPr>
        <p:spPr>
          <a:xfrm>
            <a:off x="822960" y="5806440"/>
            <a:ext cx="5427980" cy="0"/>
          </a:xfrm>
          <a:prstGeom prst="line">
            <a:avLst/>
          </a:prstGeom>
          <a:ln w="9525">
            <a:solidFill>
              <a:srgbClr val="E1E3E8"/>
            </a:solidFill>
          </a:ln>
        </p:spPr>
      </p:cxnSp>
      <p:sp>
        <p:nvSpPr>
          <p:cNvPr id="110" name="Check the live product, not the docs title"/>
          <p:cNvSpPr txBox="1"/>
          <p:nvPr/>
        </p:nvSpPr>
        <p:spPr>
          <a:xfrm>
            <a:off x="8229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Check the live product, not the docs</a:t>
            </a:r>
          </a:p>
        </p:txBody>
      </p:sp>
      <p:sp>
        <p:nvSpPr>
          <p:cNvPr id="111" name="Check the live product, not the docs body"/>
          <p:cNvSpPr txBox="1"/>
          <p:nvPr/>
        </p:nvSpPr>
        <p:spPr>
          <a:xfrm>
            <a:off x="8229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One live-site walk overturned two assumptions.</a:t>
            </a:r>
          </a:p>
        </p:txBody>
      </p:sp>
      <p:cxnSp>
        <p:nvCxnSpPr>
          <p:cNvPr id="112" name="Divider"/>
          <p:cNvCxnSpPr/>
          <p:nvPr/>
        </p:nvCxnSpPr>
        <p:spPr>
          <a:xfrm>
            <a:off x="6753860" y="5806440"/>
            <a:ext cx="5427980" cy="0"/>
          </a:xfrm>
          <a:prstGeom prst="line">
            <a:avLst/>
          </a:prstGeom>
          <a:ln w="9525">
            <a:solidFill>
              <a:srgbClr val="E1E3E8"/>
            </a:solidFill>
          </a:ln>
        </p:spPr>
      </p:cxnSp>
      <p:sp>
        <p:nvSpPr>
          <p:cNvPr id="113" name="Reconcile, don’t overwrite title"/>
          <p:cNvSpPr txBox="1"/>
          <p:nvPr/>
        </p:nvSpPr>
        <p:spPr>
          <a:xfrm>
            <a:off x="67538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Reconcile, don’t overwrite</a:t>
            </a:r>
          </a:p>
        </p:txBody>
      </p:sp>
      <p:sp>
        <p:nvSpPr>
          <p:cNvPr id="114" name="Reconcile, don’t overwrite body"/>
          <p:cNvSpPr txBox="1"/>
          <p:nvPr/>
        </p:nvSpPr>
        <p:spPr>
          <a:xfrm>
            <a:off x="67538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Teammates’ screens kept their best ideas and lost only what broke the rules.</a:t>
            </a:r>
          </a:p>
        </p:txBody>
      </p:sp>
      <p:pic>
        <p:nvPicPr>
          <p:cNvPr id="115" name="Picture 114"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132</TotalTime>
  <Words>9541</Words>
  <Application>Microsoft Macintosh PowerPoint</Application>
  <PresentationFormat>Custom</PresentationFormat>
  <Paragraphs>1194</Paragraphs>
  <Slides>87</Slides>
  <Notes>21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87</vt:i4>
      </vt:variant>
    </vt:vector>
  </HeadingPairs>
  <TitlesOfParts>
    <vt:vector size="93" baseType="lpstr">
      <vt:lpstr>Aptos</vt:lpstr>
      <vt:lpstr>Arial</vt:lpstr>
      <vt:lpstr>Calibri</vt:lpstr>
      <vt:lpstr>Helvetica Neue Light</vt:lpstr>
      <vt:lpstr>Helvetica Neue Medium</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Michael Thibodeau</cp:lastModifiedBy>
  <cp:revision>32</cp:revision>
  <dcterms:created xsi:type="dcterms:W3CDTF">2013-01-27T09:14:16Z</dcterms:created>
  <dcterms:modified xsi:type="dcterms:W3CDTF">2026-10-14T01:12:06Z</dcterms:modified>
  <cp:category/>
</cp:coreProperties>
</file>
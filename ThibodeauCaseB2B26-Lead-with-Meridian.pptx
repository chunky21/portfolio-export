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542" r:id="rId172"/>
    <p:sldId id="543" r:id="rId173"/>
    <p:sldId id="546" r:id="rId164"/>
    <p:sldId id="551" r:id="rId169"/>
    <p:sldId id="552" r:id="rId170"/>
    <p:sldId id="547" r:id="rId165"/>
    <p:sldId id="548" r:id="rId166"/>
    <p:sldId id="549" r:id="rId167"/>
    <p:sldId id="550" r:id="rId168"/>
    <p:sldId id="477" r:id="rId107"/>
    <p:sldId id="478" r:id="rId108"/>
    <p:sldId id="479" r:id="rId109"/>
    <p:sldId id="480" r:id="rId110"/>
    <p:sldId id="481" r:id="rId111"/>
    <p:sldId id="482" r:id="rId112"/>
    <p:sldId id="483" r:id="rId113"/>
    <p:sldId id="484" r:id="rId114"/>
    <p:sldId id="485" r:id="rId115"/>
    <p:sldId id="486" r:id="rId116"/>
    <p:sldId id="487" r:id="rId117"/>
    <p:sldId id="544" r:id="rId162"/>
    <p:sldId id="545" r:id="rId163"/>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61.xml"/><Relationship Id="rId88" Type="http://schemas.openxmlformats.org/officeDocument/2006/relationships/slide" Target="slides/slide162.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7" Type="http://schemas.openxmlformats.org/officeDocument/2006/relationships/slide" Target="slides/slide105.xml"/><Relationship Id="rId108" Type="http://schemas.openxmlformats.org/officeDocument/2006/relationships/slide" Target="slides/slide106.xml"/><Relationship Id="rId109" Type="http://schemas.openxmlformats.org/officeDocument/2006/relationships/slide" Target="slides/slide107.xml"/><Relationship Id="rId110" Type="http://schemas.openxmlformats.org/officeDocument/2006/relationships/slide" Target="slides/slide108.xml"/><Relationship Id="rId111" Type="http://schemas.openxmlformats.org/officeDocument/2006/relationships/slide" Target="slides/slide109.xml"/><Relationship Id="rId112" Type="http://schemas.openxmlformats.org/officeDocument/2006/relationships/slide" Target="slides/slide110.xml"/><Relationship Id="rId113" Type="http://schemas.openxmlformats.org/officeDocument/2006/relationships/slide" Target="slides/slide111.xml"/><Relationship Id="rId114" Type="http://schemas.openxmlformats.org/officeDocument/2006/relationships/slide" Target="slides/slide112.xml"/><Relationship Id="rId115" Type="http://schemas.openxmlformats.org/officeDocument/2006/relationships/slide" Target="slides/slide113.xml"/><Relationship Id="rId116" Type="http://schemas.openxmlformats.org/officeDocument/2006/relationships/slide" Target="slides/slide114.xml"/><Relationship Id="rId117" Type="http://schemas.openxmlformats.org/officeDocument/2006/relationships/slide" Target="slides/slide115.xml"/><Relationship Id="rId118" Type="http://schemas.openxmlformats.org/officeDocument/2006/relationships/slide" Target="slides/slide118.xml"/><Relationship Id="rId119" Type="http://schemas.openxmlformats.org/officeDocument/2006/relationships/slide" Target="slides/slide119.xml"/><Relationship Id="rId120" Type="http://schemas.openxmlformats.org/officeDocument/2006/relationships/slide" Target="slides/slide120.xml"/><Relationship Id="rId121" Type="http://schemas.openxmlformats.org/officeDocument/2006/relationships/slide" Target="slides/slide121.xml"/><Relationship Id="rId122" Type="http://schemas.openxmlformats.org/officeDocument/2006/relationships/slide" Target="slides/slide122.xml"/><Relationship Id="rId123" Type="http://schemas.openxmlformats.org/officeDocument/2006/relationships/slide" Target="slides/slide123.xml"/><Relationship Id="rId124" Type="http://schemas.openxmlformats.org/officeDocument/2006/relationships/slide" Target="slides/slide124.xml"/><Relationship Id="rId125" Type="http://schemas.openxmlformats.org/officeDocument/2006/relationships/slide" Target="slides/slide125.xml"/><Relationship Id="rId126" Type="http://schemas.openxmlformats.org/officeDocument/2006/relationships/slide" Target="slides/slide126.xml"/><Relationship Id="rId127" Type="http://schemas.openxmlformats.org/officeDocument/2006/relationships/slide" Target="slides/slide127.xml"/><Relationship Id="rId128" Type="http://schemas.openxmlformats.org/officeDocument/2006/relationships/slide" Target="slides/slide128.xml"/><Relationship Id="rId129" Type="http://schemas.openxmlformats.org/officeDocument/2006/relationships/slide" Target="slides/slide129.xml"/><Relationship Id="rId130" Type="http://schemas.openxmlformats.org/officeDocument/2006/relationships/slide" Target="slides/slide130.xml"/><Relationship Id="rId131" Type="http://schemas.openxmlformats.org/officeDocument/2006/relationships/slide" Target="slides/slide131.xml"/><Relationship Id="rId132" Type="http://schemas.openxmlformats.org/officeDocument/2006/relationships/slide" Target="slides/slide132.xml"/><Relationship Id="rId133" Type="http://schemas.openxmlformats.org/officeDocument/2006/relationships/slide" Target="slides/slide133.xml"/><Relationship Id="rId134" Type="http://schemas.openxmlformats.org/officeDocument/2006/relationships/slide" Target="slides/slide134.xml"/><Relationship Id="rId135" Type="http://schemas.openxmlformats.org/officeDocument/2006/relationships/slide" Target="slides/slide135.xml"/><Relationship Id="rId136" Type="http://schemas.openxmlformats.org/officeDocument/2006/relationships/slide" Target="slides/slide136.xml"/><Relationship Id="rId137" Type="http://schemas.openxmlformats.org/officeDocument/2006/relationships/slide" Target="slides/slide137.xml"/><Relationship Id="rId138" Type="http://schemas.openxmlformats.org/officeDocument/2006/relationships/slide" Target="slides/slide138.xml"/><Relationship Id="rId139" Type="http://schemas.openxmlformats.org/officeDocument/2006/relationships/slide" Target="slides/slide139.xml"/><Relationship Id="rId140" Type="http://schemas.openxmlformats.org/officeDocument/2006/relationships/slide" Target="slides/slide140.xml"/><Relationship Id="rId141" Type="http://schemas.openxmlformats.org/officeDocument/2006/relationships/slide" Target="slides/slide141.xml"/><Relationship Id="rId142" Type="http://schemas.openxmlformats.org/officeDocument/2006/relationships/slide" Target="slides/slide142.xml"/><Relationship Id="rId143" Type="http://schemas.openxmlformats.org/officeDocument/2006/relationships/slide" Target="slides/slide143.xml"/><Relationship Id="rId144" Type="http://schemas.openxmlformats.org/officeDocument/2006/relationships/slide" Target="slides/slide144.xml"/><Relationship Id="rId145" Type="http://schemas.openxmlformats.org/officeDocument/2006/relationships/slide" Target="slides/slide145.xml"/><Relationship Id="rId146" Type="http://schemas.openxmlformats.org/officeDocument/2006/relationships/slide" Target="slides/slide146.xml"/><Relationship Id="rId147" Type="http://schemas.openxmlformats.org/officeDocument/2006/relationships/slide" Target="slides/slide147.xml"/><Relationship Id="rId148" Type="http://schemas.openxmlformats.org/officeDocument/2006/relationships/slide" Target="slides/slide148.xml"/><Relationship Id="rId149" Type="http://schemas.openxmlformats.org/officeDocument/2006/relationships/slide" Target="slides/slide149.xml"/><Relationship Id="rId150" Type="http://schemas.openxmlformats.org/officeDocument/2006/relationships/slide" Target="slides/slide150.xml"/><Relationship Id="rId151" Type="http://schemas.openxmlformats.org/officeDocument/2006/relationships/slide" Target="slides/slide151.xml"/><Relationship Id="rId152" Type="http://schemas.openxmlformats.org/officeDocument/2006/relationships/slide" Target="slides/slide152.xml"/><Relationship Id="rId153" Type="http://schemas.openxmlformats.org/officeDocument/2006/relationships/slide" Target="slides/slide153.xml"/><Relationship Id="rId154" Type="http://schemas.openxmlformats.org/officeDocument/2006/relationships/slide" Target="slides/slide154.xml"/><Relationship Id="rId155" Type="http://schemas.openxmlformats.org/officeDocument/2006/relationships/slide" Target="slides/slide155.xml"/><Relationship Id="rId156" Type="http://schemas.openxmlformats.org/officeDocument/2006/relationships/slide" Target="slides/slide156.xml"/><Relationship Id="rId157" Type="http://schemas.openxmlformats.org/officeDocument/2006/relationships/slide" Target="slides/slide157.xml"/><Relationship Id="rId158" Type="http://schemas.openxmlformats.org/officeDocument/2006/relationships/slide" Target="slides/slide158.xml"/><Relationship Id="rId159" Type="http://schemas.openxmlformats.org/officeDocument/2006/relationships/slide" Target="slides/slide159.xml"/><Relationship Id="rId160" Type="http://schemas.openxmlformats.org/officeDocument/2006/relationships/slide" Target="slides/slide160.xml"/><Relationship Id="rId162" Type="http://schemas.openxmlformats.org/officeDocument/2006/relationships/slide" Target="slides/slide116.xml"/><Relationship Id="rId163" Type="http://schemas.openxmlformats.org/officeDocument/2006/relationships/slide" Target="slides/slide117.xml"/><Relationship Id="rId164" Type="http://schemas.openxmlformats.org/officeDocument/2006/relationships/slide" Target="slides/slide100.xml"/><Relationship Id="rId165" Type="http://schemas.openxmlformats.org/officeDocument/2006/relationships/slide" Target="slides/slide101.xml"/><Relationship Id="rId166" Type="http://schemas.openxmlformats.org/officeDocument/2006/relationships/slide" Target="slides/slide102.xml"/><Relationship Id="rId167" Type="http://schemas.openxmlformats.org/officeDocument/2006/relationships/slide" Target="slides/slide103.xml"/><Relationship Id="rId168" Type="http://schemas.openxmlformats.org/officeDocument/2006/relationships/slide" Target="slides/slide104.xml"/><Relationship Id="rId169" Type="http://schemas.openxmlformats.org/officeDocument/2006/relationships/slide" Target="slides/slide163.xml"/><Relationship Id="rId170" Type="http://schemas.openxmlformats.org/officeDocument/2006/relationships/slide" Target="slides/slide164.xml"/><Relationship Id="rId172" Type="http://schemas.openxmlformats.org/officeDocument/2006/relationships/slide" Target="slides/slide98.xml"/><Relationship Id="rId173"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7.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6.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 Id="rId4" Type="http://schemas.openxmlformats.org/officeDocument/2006/relationships/image" Target="../media/image152.png"/><Relationship Id="rId5" Type="http://schemas.openxmlformats.org/officeDocument/2006/relationships/image" Target="../media/image153.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image" Target="../media/image16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set the AI rules and five innovation concepts, designed the trade, AI and workflow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The AI advancements, from breakdown to test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row links a breakdown to the concept that answers it, the workflow step where it shows, and what is drawn today.</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905488" cy="914400"/>
        </p:xfrm>
        <a:graphic>
          <a:graphicData uri="http://schemas.openxmlformats.org/drawingml/2006/table">
            <a:tbl>
              <a:tblPr/>
              <a:tblGrid>
                <a:gridCol w="2743200"/>
                <a:gridCol w="2743200"/>
                <a:gridCol w="3749040"/>
                <a:gridCol w="2103120"/>
              </a:tblGrid>
              <a:tr h="0">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BREAKDOWN</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ADVANCEMENT</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WHERE IT SHOWS IN THE WORKFLOW</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STATUS</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1 · Outputs without reasoning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Scenario Sandbox</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1 and 2: source on each insight; the condition the user sets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Insight with source drawn; sandbox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2 · All or nothing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Plan Editor and Autonomy Ledger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each proposed step is editable; Act is opt-in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Adapt plan drawn; ledger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3 · No learning loop</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 and Attention Budget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is kept and re-checked</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4 · Advice line in conflict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Proposed-step wording and the Autonomy Ledger limits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wording and limits on every screen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Wording fix on the board; compliance review open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5 · Context lost between screens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travels with the order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Full experience drawn; reason field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inside the trade flow</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Representative hi-fi screens. The agent proposes; the user approves each step.</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7" name="Picture 6" descr="image.png"/>
          <p:cNvPicPr>
            <a:picLocks noChangeAspect="1"/>
          </p:cNvPicPr>
          <p:nvPr/>
        </p:nvPicPr>
        <p:blipFill>
          <a:blip r:embed="rId3"/>
          <a:stretch>
            <a:fillRect/>
          </a:stretch>
        </p:blipFill>
        <p:spPr>
          <a:xfrm>
            <a:off x="548640" y="2286000"/>
            <a:ext cx="7132320" cy="4572000"/>
          </a:xfrm>
          <a:prstGeom prst="rect">
            <a:avLst/>
          </a:prstGeom>
        </p:spPr>
      </p:pic>
      <p:sp>
        <p:nvSpPr>
          <p:cNvPr id="8" name="Text 4"/>
          <p:cNvSpPr/>
          <p:nvPr/>
        </p:nvSpPr>
        <p:spPr>
          <a:xfrm>
            <a:off x="8046720" y="2286000"/>
            <a:ext cx="43891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9" name="Text 5"/>
          <p:cNvSpPr/>
          <p:nvPr/>
        </p:nvSpPr>
        <p:spPr>
          <a:xfrm>
            <a:off x="8046720" y="2615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An agent that acts inside a trade flow needs visible limits and approval on every step, or it cannot be trusted.</a:t>
            </a:r>
            <a:endParaRPr lang="en-US" sz="1500" dirty="0"/>
          </a:p>
        </p:txBody>
      </p:sp>
      <p:sp>
        <p:nvSpPr>
          <p:cNvPr id="10" name="Text 6"/>
          <p:cNvSpPr/>
          <p:nvPr/>
        </p:nvSpPr>
        <p:spPr>
          <a:xfrm>
            <a:off x="8046720" y="4572000"/>
            <a:ext cx="43891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1" name="Text 7"/>
          <p:cNvSpPr/>
          <p:nvPr/>
        </p:nvSpPr>
        <p:spPr>
          <a:xfrm>
            <a:off x="8046720" y="4901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Proposed steps sit beside the order, each with its source. Approval, undo, and limits are on the screen, not in a later release.</a:t>
            </a:r>
            <a:endParaRPr lang="en-US" sz="1500" dirty="0"/>
          </a:p>
        </p:txBody>
      </p:sp>
      <p:sp>
        <p:nvSpPr>
          <p:cNvPr id="12" name="Text 8"/>
          <p:cNvSpPr/>
          <p:nvPr/>
        </p:nvSpPr>
        <p:spPr>
          <a:xfrm>
            <a:off x="8046720" y="6858000"/>
            <a:ext cx="438912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3" name="Text 9"/>
          <p:cNvSpPr/>
          <p:nvPr/>
        </p:nvSpPr>
        <p:spPr>
          <a:xfrm>
            <a:off x="8046720" y="7187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agentic support as part of the trade flow itself, so the same pattern can extend to every new AI surface.</a:t>
            </a:r>
            <a:endParaRPr lang="en-US" sz="15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Concept board: five innovations, one loop</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card names the breakdown it answers. Concepts for testing; proposals, not built.</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2103120" cy="109728"/>
          </a:xfrm>
          <a:prstGeom prst="rect">
            <a:avLst/>
          </a:prstGeom>
          <a:solidFill>
            <a:srgbClr val="B5532F"/>
          </a:solidFill>
          <a:ln w="12700">
            <a:solidFill>
              <a:srgbClr val="B5532F"/>
            </a:solidFill>
            <a:prstDash val="solid"/>
          </a:ln>
        </p:spPr>
        <p:txBody>
          <a:bodyPr/>
          <a:p/>
        </p:txBody>
      </p:sp>
      <p:sp>
        <p:nvSpPr>
          <p:cNvPr id="8" name="Shape 5"/>
          <p:cNvSpPr/>
          <p:nvPr/>
        </p:nvSpPr>
        <p:spPr>
          <a:xfrm>
            <a:off x="548640"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9" name="Text 6"/>
          <p:cNvSpPr/>
          <p:nvPr/>
        </p:nvSpPr>
        <p:spPr>
          <a:xfrm>
            <a:off x="685800"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Decision Journal</a:t>
            </a:r>
            <a:endParaRPr lang="en-US" sz="1600" dirty="0"/>
          </a:p>
        </p:txBody>
      </p:sp>
      <p:sp>
        <p:nvSpPr>
          <p:cNvPr id="10" name="Text 7"/>
          <p:cNvSpPr/>
          <p:nvPr/>
        </p:nvSpPr>
        <p:spPr>
          <a:xfrm>
            <a:off x="685800" y="3611880"/>
            <a:ext cx="1828800" cy="274320"/>
          </a:xfrm>
          <a:prstGeom prst="rect">
            <a:avLst/>
          </a:prstGeom>
          <a:noFill/>
          <a:ln/>
        </p:spPr>
        <p:txBody>
          <a:bodyPr wrap="square" lIns="0" tIns="0" rIns="0" bIns="0" rtlCol="0" anchor="ctr"/>
          <a:lstStyle/>
          <a:p>
            <a:pPr indent="0" marL="0">
              <a:buNone/>
            </a:pPr>
            <a:r>
              <a:rPr lang="en-US" sz="1100" dirty="0">
                <a:solidFill>
                  <a:srgbClr val="B5532F"/>
                </a:solidFill>
                <a:latin typeface="Helvetica Neue Light" pitchFamily="34" charset="0"/>
                <a:ea typeface="Helvetica Neue Light" pitchFamily="34" charset="-122"/>
                <a:cs typeface="Helvetica Neue Light" pitchFamily="34" charset="-120"/>
              </a:rPr>
              <a:t>BREAKDOWNS 3 AND 5</a:t>
            </a:r>
            <a:endParaRPr lang="en-US" sz="1100" dirty="0"/>
          </a:p>
        </p:txBody>
      </p:sp>
      <p:sp>
        <p:nvSpPr>
          <p:cNvPr id="11" name="Text 8"/>
          <p:cNvSpPr/>
          <p:nvPr/>
        </p:nvSpPr>
        <p:spPr>
          <a:xfrm>
            <a:off x="685800"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Writes the reason; Guard re-checks it</a:t>
            </a:r>
            <a:endParaRPr lang="en-US" sz="1400" dirty="0"/>
          </a:p>
        </p:txBody>
      </p:sp>
      <p:sp>
        <p:nvSpPr>
          <p:cNvPr id="12" name="Shape 9"/>
          <p:cNvSpPr/>
          <p:nvPr/>
        </p:nvSpPr>
        <p:spPr>
          <a:xfrm>
            <a:off x="2990088" y="2560320"/>
            <a:ext cx="2103120" cy="109728"/>
          </a:xfrm>
          <a:prstGeom prst="rect">
            <a:avLst/>
          </a:prstGeom>
          <a:solidFill>
            <a:srgbClr val="4F6D5A"/>
          </a:solidFill>
          <a:ln w="12700">
            <a:solidFill>
              <a:srgbClr val="4F6D5A"/>
            </a:solidFill>
            <a:prstDash val="solid"/>
          </a:ln>
        </p:spPr>
        <p:txBody>
          <a:bodyPr/>
          <a:p/>
        </p:txBody>
      </p:sp>
      <p:sp>
        <p:nvSpPr>
          <p:cNvPr id="13" name="Shape 10"/>
          <p:cNvSpPr/>
          <p:nvPr/>
        </p:nvSpPr>
        <p:spPr>
          <a:xfrm>
            <a:off x="2990088"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14" name="Text 11"/>
          <p:cNvSpPr/>
          <p:nvPr/>
        </p:nvSpPr>
        <p:spPr>
          <a:xfrm>
            <a:off x="3127248"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Scenario Sandbox</a:t>
            </a:r>
            <a:endParaRPr lang="en-US" sz="1600" dirty="0"/>
          </a:p>
        </p:txBody>
      </p:sp>
      <p:sp>
        <p:nvSpPr>
          <p:cNvPr id="15" name="Text 12"/>
          <p:cNvSpPr/>
          <p:nvPr/>
        </p:nvSpPr>
        <p:spPr>
          <a:xfrm>
            <a:off x="3127248" y="3611880"/>
            <a:ext cx="1828800" cy="274320"/>
          </a:xfrm>
          <a:prstGeom prst="rect">
            <a:avLst/>
          </a:prstGeom>
          <a:noFill/>
          <a:ln/>
        </p:spPr>
        <p:txBody>
          <a:bodyPr wrap="square" lIns="0" tIns="0" rIns="0" bIns="0" rtlCol="0" anchor="ctr"/>
          <a:lstStyle/>
          <a:p>
            <a:pPr indent="0" marL="0">
              <a:buNone/>
            </a:pPr>
            <a:r>
              <a:rPr lang="en-US" sz="1100" dirty="0">
                <a:solidFill>
                  <a:srgbClr val="4F6D5A"/>
                </a:solidFill>
                <a:latin typeface="Helvetica Neue Light" pitchFamily="34" charset="0"/>
                <a:ea typeface="Helvetica Neue Light" pitchFamily="34" charset="-122"/>
                <a:cs typeface="Helvetica Neue Light" pitchFamily="34" charset="-120"/>
              </a:rPr>
              <a:t>BREAKDOWNS 1 AND 4</a:t>
            </a:r>
            <a:endParaRPr lang="en-US" sz="1100" dirty="0"/>
          </a:p>
        </p:txBody>
      </p:sp>
      <p:sp>
        <p:nvSpPr>
          <p:cNvPr id="16" name="Text 13"/>
          <p:cNvSpPr/>
          <p:nvPr/>
        </p:nvSpPr>
        <p:spPr>
          <a:xfrm>
            <a:off x="3127248"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Shows what would change a view</a:t>
            </a:r>
            <a:endParaRPr lang="en-US" sz="1400" dirty="0"/>
          </a:p>
        </p:txBody>
      </p:sp>
      <p:sp>
        <p:nvSpPr>
          <p:cNvPr id="17" name="Shape 14"/>
          <p:cNvSpPr/>
          <p:nvPr/>
        </p:nvSpPr>
        <p:spPr>
          <a:xfrm>
            <a:off x="5431536" y="2560320"/>
            <a:ext cx="2103120" cy="109728"/>
          </a:xfrm>
          <a:prstGeom prst="rect">
            <a:avLst/>
          </a:prstGeom>
          <a:solidFill>
            <a:srgbClr val="2F4257"/>
          </a:solidFill>
          <a:ln w="12700">
            <a:solidFill>
              <a:srgbClr val="2F4257"/>
            </a:solidFill>
            <a:prstDash val="solid"/>
          </a:ln>
        </p:spPr>
        <p:txBody>
          <a:bodyPr/>
          <a:p/>
        </p:txBody>
      </p:sp>
      <p:sp>
        <p:nvSpPr>
          <p:cNvPr id="18" name="Shape 15"/>
          <p:cNvSpPr/>
          <p:nvPr/>
        </p:nvSpPr>
        <p:spPr>
          <a:xfrm>
            <a:off x="5431536"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19" name="Text 16"/>
          <p:cNvSpPr/>
          <p:nvPr/>
        </p:nvSpPr>
        <p:spPr>
          <a:xfrm>
            <a:off x="5568696"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Plan Editor</a:t>
            </a:r>
            <a:endParaRPr lang="en-US" sz="1600" dirty="0"/>
          </a:p>
        </p:txBody>
      </p:sp>
      <p:sp>
        <p:nvSpPr>
          <p:cNvPr id="20" name="Text 17"/>
          <p:cNvSpPr/>
          <p:nvPr/>
        </p:nvSpPr>
        <p:spPr>
          <a:xfrm>
            <a:off x="5568696" y="3611880"/>
            <a:ext cx="1828800" cy="274320"/>
          </a:xfrm>
          <a:prstGeom prst="rect">
            <a:avLst/>
          </a:prstGeom>
          <a:noFill/>
          <a:ln/>
        </p:spPr>
        <p:txBody>
          <a:bodyPr wrap="square" lIns="0" tIns="0" rIns="0" bIns="0" rtlCol="0" anchor="ctr"/>
          <a:lstStyle/>
          <a:p>
            <a:pPr indent="0" marL="0">
              <a:buNone/>
            </a:pPr>
            <a:r>
              <a:rPr lang="en-US" sz="1100" dirty="0">
                <a:solidFill>
                  <a:srgbClr val="2F4257"/>
                </a:solidFill>
                <a:latin typeface="Helvetica Neue Light" pitchFamily="34" charset="0"/>
                <a:ea typeface="Helvetica Neue Light" pitchFamily="34" charset="-122"/>
                <a:cs typeface="Helvetica Neue Light" pitchFamily="34" charset="-120"/>
              </a:rPr>
              <a:t>BREAKDOWN 2</a:t>
            </a:r>
            <a:endParaRPr lang="en-US" sz="1100" dirty="0"/>
          </a:p>
        </p:txBody>
      </p:sp>
      <p:sp>
        <p:nvSpPr>
          <p:cNvPr id="21" name="Text 18"/>
          <p:cNvSpPr/>
          <p:nvPr/>
        </p:nvSpPr>
        <p:spPr>
          <a:xfrm>
            <a:off x="5568696"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Edits each proposed step</a:t>
            </a:r>
            <a:endParaRPr lang="en-US" sz="1400" dirty="0"/>
          </a:p>
        </p:txBody>
      </p:sp>
      <p:sp>
        <p:nvSpPr>
          <p:cNvPr id="22" name="Shape 19"/>
          <p:cNvSpPr/>
          <p:nvPr/>
        </p:nvSpPr>
        <p:spPr>
          <a:xfrm>
            <a:off x="7872984" y="2560320"/>
            <a:ext cx="2103120" cy="109728"/>
          </a:xfrm>
          <a:prstGeom prst="rect">
            <a:avLst/>
          </a:prstGeom>
          <a:solidFill>
            <a:srgbClr val="B5532F"/>
          </a:solidFill>
          <a:ln w="12700">
            <a:solidFill>
              <a:srgbClr val="B5532F"/>
            </a:solidFill>
            <a:prstDash val="solid"/>
          </a:ln>
        </p:spPr>
        <p:txBody>
          <a:bodyPr/>
          <a:p/>
        </p:txBody>
      </p:sp>
      <p:sp>
        <p:nvSpPr>
          <p:cNvPr id="23" name="Shape 20"/>
          <p:cNvSpPr/>
          <p:nvPr/>
        </p:nvSpPr>
        <p:spPr>
          <a:xfrm>
            <a:off x="7872984"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24" name="Text 21"/>
          <p:cNvSpPr/>
          <p:nvPr/>
        </p:nvSpPr>
        <p:spPr>
          <a:xfrm>
            <a:off x="8010144"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Attention Budget</a:t>
            </a:r>
            <a:endParaRPr lang="en-US" sz="1600" dirty="0"/>
          </a:p>
        </p:txBody>
      </p:sp>
      <p:sp>
        <p:nvSpPr>
          <p:cNvPr id="25" name="Text 22"/>
          <p:cNvSpPr/>
          <p:nvPr/>
        </p:nvSpPr>
        <p:spPr>
          <a:xfrm>
            <a:off x="8010144" y="3611880"/>
            <a:ext cx="1828800" cy="274320"/>
          </a:xfrm>
          <a:prstGeom prst="rect">
            <a:avLst/>
          </a:prstGeom>
          <a:noFill/>
          <a:ln/>
        </p:spPr>
        <p:txBody>
          <a:bodyPr wrap="square" lIns="0" tIns="0" rIns="0" bIns="0" rtlCol="0" anchor="ctr"/>
          <a:lstStyle/>
          <a:p>
            <a:pPr indent="0" marL="0">
              <a:buNone/>
            </a:pPr>
            <a:r>
              <a:rPr lang="en-US" sz="1100" dirty="0">
                <a:solidFill>
                  <a:srgbClr val="B5532F"/>
                </a:solidFill>
                <a:latin typeface="Helvetica Neue Light" pitchFamily="34" charset="0"/>
                <a:ea typeface="Helvetica Neue Light" pitchFamily="34" charset="-122"/>
                <a:cs typeface="Helvetica Neue Light" pitchFamily="34" charset="-120"/>
              </a:rPr>
              <a:t>BREAKDOWN 3</a:t>
            </a:r>
            <a:endParaRPr lang="en-US" sz="1100" dirty="0"/>
          </a:p>
        </p:txBody>
      </p:sp>
      <p:sp>
        <p:nvSpPr>
          <p:cNvPr id="26" name="Text 23"/>
          <p:cNvSpPr/>
          <p:nvPr/>
        </p:nvSpPr>
        <p:spPr>
          <a:xfrm>
            <a:off x="8010144"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Sets a daily alert budget</a:t>
            </a:r>
            <a:endParaRPr lang="en-US" sz="1400" dirty="0"/>
          </a:p>
        </p:txBody>
      </p:sp>
      <p:sp>
        <p:nvSpPr>
          <p:cNvPr id="27" name="Shape 24"/>
          <p:cNvSpPr/>
          <p:nvPr/>
        </p:nvSpPr>
        <p:spPr>
          <a:xfrm>
            <a:off x="10314432" y="2560320"/>
            <a:ext cx="2103120" cy="109728"/>
          </a:xfrm>
          <a:prstGeom prst="rect">
            <a:avLst/>
          </a:prstGeom>
          <a:solidFill>
            <a:srgbClr val="4F6D5A"/>
          </a:solidFill>
          <a:ln w="12700">
            <a:solidFill>
              <a:srgbClr val="4F6D5A"/>
            </a:solidFill>
            <a:prstDash val="solid"/>
          </a:ln>
        </p:spPr>
        <p:txBody>
          <a:bodyPr/>
          <a:p/>
        </p:txBody>
      </p:sp>
      <p:sp>
        <p:nvSpPr>
          <p:cNvPr id="28" name="Shape 25"/>
          <p:cNvSpPr/>
          <p:nvPr/>
        </p:nvSpPr>
        <p:spPr>
          <a:xfrm>
            <a:off x="10314432"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29" name="Text 26"/>
          <p:cNvSpPr/>
          <p:nvPr/>
        </p:nvSpPr>
        <p:spPr>
          <a:xfrm>
            <a:off x="10451592"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Autonomy Ledger</a:t>
            </a:r>
            <a:endParaRPr lang="en-US" sz="1600" dirty="0"/>
          </a:p>
        </p:txBody>
      </p:sp>
      <p:sp>
        <p:nvSpPr>
          <p:cNvPr id="30" name="Text 27"/>
          <p:cNvSpPr/>
          <p:nvPr/>
        </p:nvSpPr>
        <p:spPr>
          <a:xfrm>
            <a:off x="10451592" y="3611880"/>
            <a:ext cx="1828800" cy="274320"/>
          </a:xfrm>
          <a:prstGeom prst="rect">
            <a:avLst/>
          </a:prstGeom>
          <a:noFill/>
          <a:ln/>
        </p:spPr>
        <p:txBody>
          <a:bodyPr wrap="square" lIns="0" tIns="0" rIns="0" bIns="0" rtlCol="0" anchor="ctr"/>
          <a:lstStyle/>
          <a:p>
            <a:pPr indent="0" marL="0">
              <a:buNone/>
            </a:pPr>
            <a:r>
              <a:rPr lang="en-US" sz="1100" dirty="0">
                <a:solidFill>
                  <a:srgbClr val="4F6D5A"/>
                </a:solidFill>
                <a:latin typeface="Helvetica Neue Light" pitchFamily="34" charset="0"/>
                <a:ea typeface="Helvetica Neue Light" pitchFamily="34" charset="-122"/>
                <a:cs typeface="Helvetica Neue Light" pitchFamily="34" charset="-120"/>
              </a:rPr>
              <a:t>BREAKDOWNS 2 AND 4</a:t>
            </a:r>
            <a:endParaRPr lang="en-US" sz="1100" dirty="0"/>
          </a:p>
        </p:txBody>
      </p:sp>
      <p:sp>
        <p:nvSpPr>
          <p:cNvPr id="31" name="Text 28"/>
          <p:cNvSpPr/>
          <p:nvPr/>
        </p:nvSpPr>
        <p:spPr>
          <a:xfrm>
            <a:off x="10451592"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Levels, limits, and a 48-hour undo</a:t>
            </a:r>
            <a:endParaRPr lang="en-US" sz="1400" dirty="0"/>
          </a:p>
        </p:txBody>
      </p:sp>
      <p:sp>
        <p:nvSpPr>
          <p:cNvPr id="32" name="Text 29"/>
          <p:cNvSpPr/>
          <p:nvPr/>
        </p:nvSpPr>
        <p:spPr>
          <a:xfrm>
            <a:off x="548640" y="6217920"/>
            <a:ext cx="11905488" cy="457200"/>
          </a:xfrm>
          <a:prstGeom prst="rect">
            <a:avLst/>
          </a:prstGeom>
          <a:noFill/>
          <a:ln/>
        </p:spPr>
        <p:txBody>
          <a:bodyPr wrap="square" lIns="0" tIns="0" rIns="0" bIns="0" rtlCol="0" anchor="ctr"/>
          <a:lstStyle/>
          <a:p>
            <a:pPr indent="0" marL="0">
              <a:buNone/>
            </a:pPr>
            <a:r>
              <a:rPr lang="en-US" sz="1600" dirty="0">
                <a:solidFill>
                  <a:srgbClr val="1B2A3A"/>
                </a:solidFill>
                <a:latin typeface="Helvetica Neue Light" pitchFamily="34" charset="0"/>
                <a:ea typeface="Helvetica Neue Light" pitchFamily="34" charset="-122"/>
                <a:cs typeface="Helvetica Neue Light" pitchFamily="34" charset="-120"/>
              </a:rPr>
              <a:t>The loop: insight → condition → proposed steps → approval within limits → reason, re-checked → back to insight.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scales in three levels, each with limits</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The user sets the level for each goal. Act is off by default.</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7315200" cy="1371600"/>
          </a:xfrm>
          <a:prstGeom prst="roundRect">
            <a:avLst>
              <a:gd name="adj" fmla="val 5333"/>
            </a:avLst>
          </a:prstGeom>
          <a:solidFill>
            <a:srgbClr val="EEF2F0"/>
          </a:solidFill>
          <a:ln w="12700">
            <a:solidFill>
              <a:srgbClr val="4F6D5A"/>
            </a:solidFill>
            <a:prstDash val="solid"/>
          </a:ln>
        </p:spPr>
        <p:txBody>
          <a:bodyPr/>
          <a:p/>
        </p:txBody>
      </p:sp>
      <p:sp>
        <p:nvSpPr>
          <p:cNvPr id="8" name="Text 5"/>
          <p:cNvSpPr/>
          <p:nvPr/>
        </p:nvSpPr>
        <p:spPr>
          <a:xfrm>
            <a:off x="777240" y="2743200"/>
            <a:ext cx="685800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Observe</a:t>
            </a:r>
            <a:endParaRPr lang="en-US" sz="1800" dirty="0"/>
          </a:p>
        </p:txBody>
      </p:sp>
      <p:sp>
        <p:nvSpPr>
          <p:cNvPr id="9" name="Text 6"/>
          <p:cNvSpPr/>
          <p:nvPr/>
        </p:nvSpPr>
        <p:spPr>
          <a:xfrm>
            <a:off x="777240" y="3200400"/>
            <a:ext cx="685800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watches and reports. Nothing is proposed.</a:t>
            </a:r>
            <a:endParaRPr lang="en-US" sz="1400" dirty="0"/>
          </a:p>
        </p:txBody>
      </p:sp>
      <p:sp>
        <p:nvSpPr>
          <p:cNvPr id="10" name="Shape 7"/>
          <p:cNvSpPr/>
          <p:nvPr/>
        </p:nvSpPr>
        <p:spPr>
          <a:xfrm>
            <a:off x="1097280" y="4206240"/>
            <a:ext cx="6766560" cy="1371600"/>
          </a:xfrm>
          <a:prstGeom prst="roundRect">
            <a:avLst>
              <a:gd name="adj" fmla="val 5333"/>
            </a:avLst>
          </a:prstGeom>
          <a:solidFill>
            <a:srgbClr val="D5E3DC"/>
          </a:solidFill>
          <a:ln w="12700">
            <a:solidFill>
              <a:srgbClr val="4F6D5A"/>
            </a:solidFill>
            <a:prstDash val="solid"/>
          </a:ln>
        </p:spPr>
        <p:txBody>
          <a:bodyPr/>
          <a:p/>
        </p:txBody>
      </p:sp>
      <p:sp>
        <p:nvSpPr>
          <p:cNvPr id="11" name="Text 8"/>
          <p:cNvSpPr/>
          <p:nvPr/>
        </p:nvSpPr>
        <p:spPr>
          <a:xfrm>
            <a:off x="1325880" y="4389120"/>
            <a:ext cx="630936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Suggest</a:t>
            </a:r>
            <a:endParaRPr lang="en-US" sz="1800" dirty="0"/>
          </a:p>
        </p:txBody>
      </p:sp>
      <p:sp>
        <p:nvSpPr>
          <p:cNvPr id="12" name="Text 9"/>
          <p:cNvSpPr/>
          <p:nvPr/>
        </p:nvSpPr>
        <p:spPr>
          <a:xfrm>
            <a:off x="1325880" y="4846320"/>
            <a:ext cx="630936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proposes steps with sources. The user decides each one.</a:t>
            </a:r>
            <a:endParaRPr lang="en-US" sz="1400" dirty="0"/>
          </a:p>
        </p:txBody>
      </p:sp>
      <p:sp>
        <p:nvSpPr>
          <p:cNvPr id="13" name="Shape 10"/>
          <p:cNvSpPr/>
          <p:nvPr/>
        </p:nvSpPr>
        <p:spPr>
          <a:xfrm>
            <a:off x="1645920" y="5852160"/>
            <a:ext cx="6217920" cy="1371600"/>
          </a:xfrm>
          <a:prstGeom prst="roundRect">
            <a:avLst>
              <a:gd name="adj" fmla="val 5333"/>
            </a:avLst>
          </a:prstGeom>
          <a:solidFill>
            <a:srgbClr val="4F6D5A"/>
          </a:solidFill>
          <a:ln w="12700">
            <a:solidFill>
              <a:srgbClr val="4F6D5A"/>
            </a:solidFill>
            <a:prstDash val="solid"/>
          </a:ln>
        </p:spPr>
        <p:txBody>
          <a:bodyPr/>
          <a:p/>
        </p:txBody>
      </p:sp>
      <p:sp>
        <p:nvSpPr>
          <p:cNvPr id="14" name="Text 11"/>
          <p:cNvSpPr/>
          <p:nvPr/>
        </p:nvSpPr>
        <p:spPr>
          <a:xfrm>
            <a:off x="1874520" y="6035040"/>
            <a:ext cx="5760720" cy="365760"/>
          </a:xfrm>
          <a:prstGeom prst="rect">
            <a:avLst/>
          </a:prstGeom>
          <a:noFill/>
          <a:ln/>
        </p:spPr>
        <p:txBody>
          <a:bodyPr wrap="square" lIns="0" tIns="0" rIns="0" bIns="0" rtlCol="0" anchor="ctr"/>
          <a:lstStyle/>
          <a:p>
            <a:pPr indent="0" marL="0">
              <a:buNone/>
            </a:pPr>
            <a:r>
              <a:rPr lang="en-US" sz="1800" b="1" dirty="0">
                <a:solidFill>
                  <a:srgbClr val="FFFFFF"/>
                </a:solidFill>
                <a:latin typeface="Helvetica Neue Light" pitchFamily="34" charset="0"/>
                <a:ea typeface="Helvetica Neue Light" pitchFamily="34" charset="-122"/>
                <a:cs typeface="Helvetica Neue Light" pitchFamily="34" charset="-120"/>
              </a:rPr>
              <a:t>Act within limits</a:t>
            </a:r>
            <a:endParaRPr lang="en-US" sz="1800" dirty="0"/>
          </a:p>
        </p:txBody>
      </p:sp>
      <p:sp>
        <p:nvSpPr>
          <p:cNvPr id="15" name="Text 12"/>
          <p:cNvSpPr/>
          <p:nvPr/>
        </p:nvSpPr>
        <p:spPr>
          <a:xfrm>
            <a:off x="1874520" y="6492240"/>
            <a:ext cx="5760720" cy="548640"/>
          </a:xfrm>
          <a:prstGeom prst="rect">
            <a:avLst/>
          </a:prstGeom>
          <a:noFill/>
          <a:ln/>
        </p:spPr>
        <p:txBody>
          <a:bodyPr wrap="square" lIns="0" tIns="0" rIns="0" bIns="0" rtlCol="0" anchor="ctr"/>
          <a:lstStyle/>
          <a:p>
            <a:pPr indent="0" marL="0">
              <a:buNone/>
            </a:pPr>
            <a:r>
              <a:rPr lang="en-US" sz="1400" dirty="0">
                <a:solidFill>
                  <a:srgbClr val="FFFFFF"/>
                </a:solidFill>
                <a:latin typeface="Helvetica Neue Light" pitchFamily="34" charset="0"/>
                <a:ea typeface="Helvetica Neue Light" pitchFamily="34" charset="-122"/>
                <a:cs typeface="Helvetica Neue Light" pitchFamily="34" charset="-120"/>
              </a:rPr>
              <a:t>The agent acts inside limits the user set. Every action is logged and can be undone within 48 hours.</a:t>
            </a:r>
            <a:endParaRPr lang="en-US" sz="1400" dirty="0"/>
          </a:p>
        </p:txBody>
      </p:sp>
      <p:sp>
        <p:nvSpPr>
          <p:cNvPr id="16" name="Text 13"/>
          <p:cNvSpPr/>
          <p:nvPr/>
        </p:nvSpPr>
        <p:spPr>
          <a:xfrm>
            <a:off x="8412480" y="2560320"/>
            <a:ext cx="39319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GUARDRAILS</a:t>
            </a:r>
            <a:endParaRPr lang="en-US" sz="1280" dirty="0"/>
          </a:p>
        </p:txBody>
      </p:sp>
      <p:sp>
        <p:nvSpPr>
          <p:cNvPr id="17" name="Text 14"/>
          <p:cNvSpPr/>
          <p:nvPr/>
        </p:nvSpPr>
        <p:spPr>
          <a:xfrm>
            <a:off x="8412480" y="28895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Critical alerts always pass.</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advice line holds: proposed-step wording only.</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Limits belong to the user, not the model.</a:t>
            </a:r>
            <a:endParaRPr lang="en-US" sz="1500" dirty="0"/>
          </a:p>
        </p:txBody>
      </p:sp>
      <p:sp>
        <p:nvSpPr>
          <p:cNvPr id="18" name="Text 15"/>
          <p:cNvSpPr/>
          <p:nvPr/>
        </p:nvSpPr>
        <p:spPr>
          <a:xfrm>
            <a:off x="8412480" y="5303520"/>
            <a:ext cx="39319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WHY IT SCALES</a:t>
            </a:r>
            <a:endParaRPr lang="en-US" sz="1280" dirty="0"/>
          </a:p>
        </p:txBody>
      </p:sp>
      <p:sp>
        <p:nvSpPr>
          <p:cNvPr id="19" name="Text 16"/>
          <p:cNvSpPr/>
          <p:nvPr/>
        </p:nvSpPr>
        <p:spPr>
          <a:xfrm>
            <a:off x="8412480" y="56327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same three levels apply to every goal and every new agent surface.</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How agentic support scales across the product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One token source, one component registry, and one set of AI rules, shared by every surface.</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8" name="Text 5"/>
          <p:cNvSpPr/>
          <p:nvPr/>
        </p:nvSpPr>
        <p:spPr>
          <a:xfrm>
            <a:off x="73152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Tokens</a:t>
            </a:r>
            <a:endParaRPr lang="en-US" sz="1800" dirty="0"/>
          </a:p>
        </p:txBody>
      </p:sp>
      <p:sp>
        <p:nvSpPr>
          <p:cNvPr id="9" name="Text 6"/>
          <p:cNvSpPr/>
          <p:nvPr/>
        </p:nvSpPr>
        <p:spPr>
          <a:xfrm>
            <a:off x="73152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One source for colour, type, and spacing, shared by Figma and Swift.</a:t>
            </a:r>
            <a:endParaRPr lang="en-US" sz="1400" dirty="0"/>
          </a:p>
        </p:txBody>
      </p:sp>
      <p:sp>
        <p:nvSpPr>
          <p:cNvPr id="10" name="Text 7"/>
          <p:cNvSpPr/>
          <p:nvPr/>
        </p:nvSpPr>
        <p:spPr>
          <a:xfrm>
            <a:off x="320040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1" name="Shape 8"/>
          <p:cNvSpPr/>
          <p:nvPr/>
        </p:nvSpPr>
        <p:spPr>
          <a:xfrm>
            <a:off x="365760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2" name="Text 9"/>
          <p:cNvSpPr/>
          <p:nvPr/>
        </p:nvSpPr>
        <p:spPr>
          <a:xfrm>
            <a:off x="384048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Components</a:t>
            </a:r>
            <a:endParaRPr lang="en-US" sz="1800" dirty="0"/>
          </a:p>
        </p:txBody>
      </p:sp>
      <p:sp>
        <p:nvSpPr>
          <p:cNvPr id="13" name="Text 10"/>
          <p:cNvSpPr/>
          <p:nvPr/>
        </p:nvSpPr>
        <p:spPr>
          <a:xfrm>
            <a:off x="384048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Existing, Extended, or New. New components go through review first.</a:t>
            </a:r>
            <a:endParaRPr lang="en-US" sz="1400" dirty="0"/>
          </a:p>
        </p:txBody>
      </p:sp>
      <p:sp>
        <p:nvSpPr>
          <p:cNvPr id="14" name="Text 11"/>
          <p:cNvSpPr/>
          <p:nvPr/>
        </p:nvSpPr>
        <p:spPr>
          <a:xfrm>
            <a:off x="630936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5" name="Shape 12"/>
          <p:cNvSpPr/>
          <p:nvPr/>
        </p:nvSpPr>
        <p:spPr>
          <a:xfrm>
            <a:off x="676656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6" name="Text 13"/>
          <p:cNvSpPr/>
          <p:nvPr/>
        </p:nvSpPr>
        <p:spPr>
          <a:xfrm>
            <a:off x="694944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Screens</a:t>
            </a:r>
            <a:endParaRPr lang="en-US" sz="1800" dirty="0"/>
          </a:p>
        </p:txBody>
      </p:sp>
      <p:sp>
        <p:nvSpPr>
          <p:cNvPr id="17" name="Text 14"/>
          <p:cNvSpPr/>
          <p:nvPr/>
        </p:nvSpPr>
        <p:spPr>
          <a:xfrm>
            <a:off x="694944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Five screens, each with empty, loading, error, and offline states.</a:t>
            </a:r>
            <a:endParaRPr lang="en-US" sz="1400" dirty="0"/>
          </a:p>
        </p:txBody>
      </p:sp>
      <p:sp>
        <p:nvSpPr>
          <p:cNvPr id="18" name="Text 15"/>
          <p:cNvSpPr/>
          <p:nvPr/>
        </p:nvSpPr>
        <p:spPr>
          <a:xfrm>
            <a:off x="941832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9" name="Shape 16"/>
          <p:cNvSpPr/>
          <p:nvPr/>
        </p:nvSpPr>
        <p:spPr>
          <a:xfrm>
            <a:off x="987552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20" name="Text 17"/>
          <p:cNvSpPr/>
          <p:nvPr/>
        </p:nvSpPr>
        <p:spPr>
          <a:xfrm>
            <a:off x="1005840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Agent surfaces</a:t>
            </a:r>
            <a:endParaRPr lang="en-US" sz="1800" dirty="0"/>
          </a:p>
        </p:txBody>
      </p:sp>
      <p:sp>
        <p:nvSpPr>
          <p:cNvPr id="21" name="Text 18"/>
          <p:cNvSpPr/>
          <p:nvPr/>
        </p:nvSpPr>
        <p:spPr>
          <a:xfrm>
            <a:off x="1005840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Any new AI feature reuses the same levels, limits, and proposed-step wording.</a:t>
            </a:r>
            <a:endParaRPr lang="en-US" sz="1400" dirty="0"/>
          </a:p>
        </p:txBody>
      </p:sp>
      <p:sp>
        <p:nvSpPr>
          <p:cNvPr id="22" name="Text 19"/>
          <p:cNvSpPr/>
          <p:nvPr/>
        </p:nvSpPr>
        <p:spPr>
          <a:xfrm>
            <a:off x="548640" y="5394960"/>
            <a:ext cx="548640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AGENTIC STORY</a:t>
            </a:r>
            <a:endParaRPr lang="en-US" sz="1280" dirty="0"/>
          </a:p>
        </p:txBody>
      </p:sp>
      <p:sp>
        <p:nvSpPr>
          <p:cNvPr id="23" name="Text 20"/>
          <p:cNvSpPr/>
          <p:nvPr/>
        </p:nvSpPr>
        <p:spPr>
          <a:xfrm>
            <a:off x="548640" y="5724144"/>
            <a:ext cx="548640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AI features are built from these parts, not one-off screens. Each new agent surface reuses the rules, so the product scales without losing the user’s control.</a:t>
            </a:r>
            <a:endParaRPr lang="en-US" sz="1500" dirty="0"/>
          </a:p>
        </p:txBody>
      </p:sp>
      <p:sp>
        <p:nvSpPr>
          <p:cNvPr id="24" name="Text 21"/>
          <p:cNvSpPr/>
          <p:nvPr/>
        </p:nvSpPr>
        <p:spPr>
          <a:xfrm>
            <a:off x="6400800" y="5394960"/>
            <a:ext cx="603504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25" name="Text 22"/>
          <p:cNvSpPr/>
          <p:nvPr/>
        </p:nvSpPr>
        <p:spPr>
          <a:xfrm>
            <a:off x="6400800" y="5724144"/>
            <a:ext cx="603504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the system that lets agentic support be built at scale, and I wrote its rules before the screens.</a:t>
            </a:r>
            <a:endParaRPr lang="en-US" sz="15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WIREFRAMES</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Lo-fi first: the trade flow before the look</a:t>
            </a:r>
            <a:endParaRPr lang="en-US" sz="3000" dirty="0"/>
          </a:p>
        </p:txBody>
      </p:sp>
      <p:pic>
        <p:nvPicPr>
          <p:cNvPr id="4" name="Picture 3" descr="image.png"/>
          <p:cNvPicPr>
            <a:picLocks noChangeAspect="1"/>
          </p:cNvPicPr>
          <p:nvPr/>
        </p:nvPicPr>
        <p:blipFill>
          <a:blip r:embed="rId2"/>
          <a:stretch>
            <a:fillRect/>
          </a:stretch>
        </p:blipFill>
        <p:spPr>
          <a:xfrm>
            <a:off x="0" y="9299448"/>
            <a:ext cx="13002768" cy="457200"/>
          </a:xfrm>
          <a:prstGeom prst="rect">
            <a:avLst/>
          </a:prstGeom>
        </p:spPr>
      </p:pic>
      <p:sp>
        <p:nvSpPr>
          <p:cNvPr id="5" name="Text 2"/>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6" name="Picture 5" descr="image.png"/>
          <p:cNvPicPr>
            <a:picLocks noChangeAspect="1"/>
          </p:cNvPicPr>
          <p:nvPr/>
        </p:nvPicPr>
        <p:blipFill>
          <a:blip r:embed="rId3"/>
          <a:stretch>
            <a:fillRect/>
          </a:stretch>
        </p:blipFill>
        <p:spPr>
          <a:xfrm>
            <a:off x="548640" y="2103120"/>
            <a:ext cx="5486400" cy="2696705"/>
          </a:xfrm>
          <a:prstGeom prst="rect">
            <a:avLst/>
          </a:prstGeom>
        </p:spPr>
      </p:pic>
      <p:sp>
        <p:nvSpPr>
          <p:cNvPr id="7" name="Text 3"/>
          <p:cNvSpPr/>
          <p:nvPr/>
        </p:nvSpPr>
        <p:spPr>
          <a:xfrm>
            <a:off x="6583680" y="2103120"/>
            <a:ext cx="585216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8" name="Text 4"/>
          <p:cNvSpPr/>
          <p:nvPr/>
        </p:nvSpPr>
        <p:spPr>
          <a:xfrm>
            <a:off x="6583680" y="243230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The trade flow had to hold together first: steps, choices, and where approval sits. Light, sketch-level screens tested that structure.</a:t>
            </a:r>
            <a:endParaRPr lang="en-US" sz="1400" dirty="0"/>
          </a:p>
        </p:txBody>
      </p:sp>
      <p:sp>
        <p:nvSpPr>
          <p:cNvPr id="9" name="Text 5"/>
          <p:cNvSpPr/>
          <p:nvPr/>
        </p:nvSpPr>
        <p:spPr>
          <a:xfrm>
            <a:off x="6583680" y="4572000"/>
            <a:ext cx="585216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0" name="Text 6"/>
          <p:cNvSpPr/>
          <p:nvPr/>
        </p:nvSpPr>
        <p:spPr>
          <a:xfrm>
            <a:off x="6583680" y="4901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No colour or type decisions yet. Home, order entry, and review were shown with the approval point visible on each step.</a:t>
            </a:r>
            <a:endParaRPr lang="en-US" sz="1400" dirty="0"/>
          </a:p>
        </p:txBody>
      </p:sp>
      <p:sp>
        <p:nvSpPr>
          <p:cNvPr id="11" name="Text 7"/>
          <p:cNvSpPr/>
          <p:nvPr/>
        </p:nvSpPr>
        <p:spPr>
          <a:xfrm>
            <a:off x="6583680" y="6858000"/>
            <a:ext cx="585216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2" name="Text 8"/>
          <p:cNvSpPr/>
          <p:nvPr/>
        </p:nvSpPr>
        <p:spPr>
          <a:xfrm>
            <a:off x="6583680" y="7187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I settled the structure before the styling, so the team reviewed the flow itself, not the look.</a:t>
            </a:r>
            <a:endParaRPr lang="en-US" sz="14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WIREFRAMES</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Hi-fi: the same flow in the design system</a:t>
            </a:r>
            <a:endParaRPr lang="en-US" sz="3000" dirty="0"/>
          </a:p>
        </p:txBody>
      </p:sp>
      <p:pic>
        <p:nvPicPr>
          <p:cNvPr id="4" name="Picture 3" descr="image.png"/>
          <p:cNvPicPr>
            <a:picLocks noChangeAspect="1"/>
          </p:cNvPicPr>
          <p:nvPr/>
        </p:nvPicPr>
        <p:blipFill>
          <a:blip r:embed="rId2"/>
          <a:stretch>
            <a:fillRect/>
          </a:stretch>
        </p:blipFill>
        <p:spPr>
          <a:xfrm>
            <a:off x="0" y="9299448"/>
            <a:ext cx="13002768" cy="457200"/>
          </a:xfrm>
          <a:prstGeom prst="rect">
            <a:avLst/>
          </a:prstGeom>
        </p:spPr>
      </p:pic>
      <p:sp>
        <p:nvSpPr>
          <p:cNvPr id="5" name="Text 2"/>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6" name="Picture 5" descr="image.png"/>
          <p:cNvPicPr>
            <a:picLocks noChangeAspect="1"/>
          </p:cNvPicPr>
          <p:nvPr/>
        </p:nvPicPr>
        <p:blipFill>
          <a:blip r:embed="rId3"/>
          <a:stretch>
            <a:fillRect/>
          </a:stretch>
        </p:blipFill>
        <p:spPr>
          <a:xfrm>
            <a:off x="548640" y="2103120"/>
            <a:ext cx="5486400" cy="3947050"/>
          </a:xfrm>
          <a:prstGeom prst="rect">
            <a:avLst/>
          </a:prstGeom>
        </p:spPr>
      </p:pic>
      <p:sp>
        <p:nvSpPr>
          <p:cNvPr id="7" name="Text 3"/>
          <p:cNvSpPr/>
          <p:nvPr/>
        </p:nvSpPr>
        <p:spPr>
          <a:xfrm>
            <a:off x="6583680" y="2103120"/>
            <a:ext cx="585216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8" name="Text 4"/>
          <p:cNvSpPr/>
          <p:nvPr/>
        </p:nvSpPr>
        <p:spPr>
          <a:xfrm>
            <a:off x="6583680" y="243230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A structure that works on paper can still fail on screen: contrast, density, and the advice wording all need checking.</a:t>
            </a:r>
            <a:endParaRPr lang="en-US" sz="1400" dirty="0"/>
          </a:p>
        </p:txBody>
      </p:sp>
      <p:sp>
        <p:nvSpPr>
          <p:cNvPr id="9" name="Text 5"/>
          <p:cNvSpPr/>
          <p:nvPr/>
        </p:nvSpPr>
        <p:spPr>
          <a:xfrm>
            <a:off x="6583680" y="4572000"/>
            <a:ext cx="585216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0" name="Text 6"/>
          <p:cNvSpPr/>
          <p:nvPr/>
        </p:nvSpPr>
        <p:spPr>
          <a:xfrm>
            <a:off x="6583680" y="4901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The same flows in the design system: dark surfaces, the action colour, icon-and-word status, and proposed-step wording.</a:t>
            </a:r>
            <a:endParaRPr lang="en-US" sz="1400" dirty="0"/>
          </a:p>
        </p:txBody>
      </p:sp>
      <p:sp>
        <p:nvSpPr>
          <p:cNvPr id="11" name="Text 7"/>
          <p:cNvSpPr/>
          <p:nvPr/>
        </p:nvSpPr>
        <p:spPr>
          <a:xfrm>
            <a:off x="6583680" y="6858000"/>
            <a:ext cx="585216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2" name="Text 8"/>
          <p:cNvSpPr/>
          <p:nvPr/>
        </p:nvSpPr>
        <p:spPr>
          <a:xfrm>
            <a:off x="6583680" y="7187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Every hi-fi screen was checked against the design rules, so each one shows its source and status.</a:t>
            </a:r>
            <a:endParaRPr lang="en-US" sz="14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3" name="Picture 12"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15" name="Picture 14" descr="image.png"/>
          <p:cNvPicPr>
            <a:picLocks noChangeAspect="1"/>
          </p:cNvPicPr>
          <p:nvPr/>
        </p:nvPicPr>
        <p:blipFill>
          <a:blip r:embed="rId5"/>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Lo-fi screens: the five AI screens, first pass</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Dashboard, Insight, Prospect, Guard, and Adapt. Structure first; no visual decisions yet.</a:t>
            </a:r>
          </a:p>
        </p:txBody>
      </p:sp>
      <p:pic>
        <p:nvPicPr>
          <p:cNvPr id="6" name="Picture 5" descr="lo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lo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lo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lo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lo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Five AI screens could drift apart if each were styled alone. The structure had to agree first.</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Light, sketch-level screens for each one. Evidence and approval points are visible before any visual decision.</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I set the screen structure first, so the five screens shared one logic before the styling.</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Hi-fi screens: the same five, in the design system</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The same screens with design-system tokens: dark surfaces, the action colour, icon-and-word status.</a:t>
            </a:r>
          </a:p>
        </p:txBody>
      </p:sp>
      <p:pic>
        <p:nvPicPr>
          <p:cNvPr id="6" name="Picture 5" descr="hi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hi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hi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hi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hi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Structure that works in light sketches still has to read at speed: contrast, density, and status.</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The same five screens in the design system, with proposed-step wording and a source on every insight.</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Each hi-fi screen is checked against the design rules, so the advice line and the sources hold on screen.</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
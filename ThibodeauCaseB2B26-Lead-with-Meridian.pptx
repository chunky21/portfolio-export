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69" r:id="rId99"/>
    <p:sldId id="470" r:id="rId100"/>
    <p:sldId id="471" r:id="rId101"/>
    <p:sldId id="472" r:id="rId102"/>
    <p:sldId id="473" r:id="rId103"/>
    <p:sldId id="474" r:id="rId104"/>
    <p:sldId id="475" r:id="rId105"/>
    <p:sldId id="542" r:id="rId172"/>
    <p:sldId id="543" r:id="rId173"/>
    <p:sldId id="546" r:id="rId164"/>
    <p:sldId id="551" r:id="rId169"/>
    <p:sldId id="552" r:id="rId170"/>
    <p:sldId id="547" r:id="rId165"/>
    <p:sldId id="548" r:id="rId166"/>
    <p:sldId id="549" r:id="rId167"/>
    <p:sldId id="550" r:id="rId168"/>
    <p:sldId id="477" r:id="rId107"/>
    <p:sldId id="478" r:id="rId108"/>
    <p:sldId id="479" r:id="rId109"/>
    <p:sldId id="480" r:id="rId110"/>
    <p:sldId id="481" r:id="rId111"/>
    <p:sldId id="482" r:id="rId112"/>
    <p:sldId id="483" r:id="rId113"/>
    <p:sldId id="484" r:id="rId114"/>
    <p:sldId id="485" r:id="rId115"/>
    <p:sldId id="486" r:id="rId116"/>
    <p:sldId id="487" r:id="rId117"/>
    <p:sldId id="544" r:id="rId162"/>
    <p:sldId id="545" r:id="rId163"/>
    <p:sldId id="488" r:id="rId118"/>
    <p:sldId id="489" r:id="rId119"/>
    <p:sldId id="490" r:id="rId120"/>
    <p:sldId id="553" r:id="rId171"/>
    <p:sldId id="492" r:id="rId122"/>
    <p:sldId id="493" r:id="rId123"/>
    <p:sldId id="494" r:id="rId124"/>
    <p:sldId id="495" r:id="rId125"/>
    <p:sldId id="496" r:id="rId126"/>
    <p:sldId id="497" r:id="rId127"/>
    <p:sldId id="498" r:id="rId128"/>
    <p:sldId id="499"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512" r:id="rId142"/>
    <p:sldId id="513" r:id="rId143"/>
    <p:sldId id="514" r:id="rId144"/>
    <p:sldId id="515" r:id="rId145"/>
    <p:sldId id="516" r:id="rId146"/>
    <p:sldId id="517" r:id="rId147"/>
    <p:sldId id="518" r:id="rId148"/>
    <p:sldId id="519" r:id="rId149"/>
    <p:sldId id="520" r:id="rId150"/>
    <p:sldId id="521" r:id="rId151"/>
    <p:sldId id="522" r:id="rId152"/>
    <p:sldId id="523" r:id="rId153"/>
    <p:sldId id="524" r:id="rId154"/>
    <p:sldId id="525" r:id="rId155"/>
    <p:sldId id="526" r:id="rId156"/>
    <p:sldId id="527" r:id="rId157"/>
    <p:sldId id="528" r:id="rId158"/>
    <p:sldId id="529" r:id="rId159"/>
    <p:sldId id="530" r:id="rId160"/>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63.xml"/><Relationship Id="rId88" Type="http://schemas.openxmlformats.org/officeDocument/2006/relationships/slide" Target="slides/slide164.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7" Type="http://schemas.openxmlformats.org/officeDocument/2006/relationships/slide" Target="slides/slide107.xml"/><Relationship Id="rId108" Type="http://schemas.openxmlformats.org/officeDocument/2006/relationships/slide" Target="slides/slide108.xml"/><Relationship Id="rId109" Type="http://schemas.openxmlformats.org/officeDocument/2006/relationships/slide" Target="slides/slide109.xml"/><Relationship Id="rId110" Type="http://schemas.openxmlformats.org/officeDocument/2006/relationships/slide" Target="slides/slide110.xml"/><Relationship Id="rId111" Type="http://schemas.openxmlformats.org/officeDocument/2006/relationships/slide" Target="slides/slide111.xml"/><Relationship Id="rId112" Type="http://schemas.openxmlformats.org/officeDocument/2006/relationships/slide" Target="slides/slide112.xml"/><Relationship Id="rId113" Type="http://schemas.openxmlformats.org/officeDocument/2006/relationships/slide" Target="slides/slide113.xml"/><Relationship Id="rId114" Type="http://schemas.openxmlformats.org/officeDocument/2006/relationships/slide" Target="slides/slide114.xml"/><Relationship Id="rId115" Type="http://schemas.openxmlformats.org/officeDocument/2006/relationships/slide" Target="slides/slide115.xml"/><Relationship Id="rId116" Type="http://schemas.openxmlformats.org/officeDocument/2006/relationships/slide" Target="slides/slide116.xml"/><Relationship Id="rId117" Type="http://schemas.openxmlformats.org/officeDocument/2006/relationships/slide" Target="slides/slide117.xml"/><Relationship Id="rId118" Type="http://schemas.openxmlformats.org/officeDocument/2006/relationships/slide" Target="slides/slide120.xml"/><Relationship Id="rId119" Type="http://schemas.openxmlformats.org/officeDocument/2006/relationships/slide" Target="slides/slide121.xml"/><Relationship Id="rId120" Type="http://schemas.openxmlformats.org/officeDocument/2006/relationships/slide" Target="slides/slide122.xml"/><Relationship Id="rId122" Type="http://schemas.openxmlformats.org/officeDocument/2006/relationships/slide" Target="slides/slide124.xml"/><Relationship Id="rId123" Type="http://schemas.openxmlformats.org/officeDocument/2006/relationships/slide" Target="slides/slide125.xml"/><Relationship Id="rId124" Type="http://schemas.openxmlformats.org/officeDocument/2006/relationships/slide" Target="slides/slide126.xml"/><Relationship Id="rId125" Type="http://schemas.openxmlformats.org/officeDocument/2006/relationships/slide" Target="slides/slide127.xml"/><Relationship Id="rId126" Type="http://schemas.openxmlformats.org/officeDocument/2006/relationships/slide" Target="slides/slide128.xml"/><Relationship Id="rId127" Type="http://schemas.openxmlformats.org/officeDocument/2006/relationships/slide" Target="slides/slide129.xml"/><Relationship Id="rId128" Type="http://schemas.openxmlformats.org/officeDocument/2006/relationships/slide" Target="slides/slide130.xml"/><Relationship Id="rId129" Type="http://schemas.openxmlformats.org/officeDocument/2006/relationships/slide" Target="slides/slide131.xml"/><Relationship Id="rId130" Type="http://schemas.openxmlformats.org/officeDocument/2006/relationships/slide" Target="slides/slide132.xml"/><Relationship Id="rId131" Type="http://schemas.openxmlformats.org/officeDocument/2006/relationships/slide" Target="slides/slide133.xml"/><Relationship Id="rId132" Type="http://schemas.openxmlformats.org/officeDocument/2006/relationships/slide" Target="slides/slide134.xml"/><Relationship Id="rId133" Type="http://schemas.openxmlformats.org/officeDocument/2006/relationships/slide" Target="slides/slide135.xml"/><Relationship Id="rId134" Type="http://schemas.openxmlformats.org/officeDocument/2006/relationships/slide" Target="slides/slide136.xml"/><Relationship Id="rId135" Type="http://schemas.openxmlformats.org/officeDocument/2006/relationships/slide" Target="slides/slide137.xml"/><Relationship Id="rId136" Type="http://schemas.openxmlformats.org/officeDocument/2006/relationships/slide" Target="slides/slide138.xml"/><Relationship Id="rId137" Type="http://schemas.openxmlformats.org/officeDocument/2006/relationships/slide" Target="slides/slide139.xml"/><Relationship Id="rId138" Type="http://schemas.openxmlformats.org/officeDocument/2006/relationships/slide" Target="slides/slide140.xml"/><Relationship Id="rId139" Type="http://schemas.openxmlformats.org/officeDocument/2006/relationships/slide" Target="slides/slide141.xml"/><Relationship Id="rId140" Type="http://schemas.openxmlformats.org/officeDocument/2006/relationships/slide" Target="slides/slide142.xml"/><Relationship Id="rId141" Type="http://schemas.openxmlformats.org/officeDocument/2006/relationships/slide" Target="slides/slide143.xml"/><Relationship Id="rId142" Type="http://schemas.openxmlformats.org/officeDocument/2006/relationships/slide" Target="slides/slide144.xml"/><Relationship Id="rId143" Type="http://schemas.openxmlformats.org/officeDocument/2006/relationships/slide" Target="slides/slide145.xml"/><Relationship Id="rId144" Type="http://schemas.openxmlformats.org/officeDocument/2006/relationships/slide" Target="slides/slide146.xml"/><Relationship Id="rId145" Type="http://schemas.openxmlformats.org/officeDocument/2006/relationships/slide" Target="slides/slide147.xml"/><Relationship Id="rId146" Type="http://schemas.openxmlformats.org/officeDocument/2006/relationships/slide" Target="slides/slide148.xml"/><Relationship Id="rId147" Type="http://schemas.openxmlformats.org/officeDocument/2006/relationships/slide" Target="slides/slide149.xml"/><Relationship Id="rId148" Type="http://schemas.openxmlformats.org/officeDocument/2006/relationships/slide" Target="slides/slide150.xml"/><Relationship Id="rId149" Type="http://schemas.openxmlformats.org/officeDocument/2006/relationships/slide" Target="slides/slide151.xml"/><Relationship Id="rId150" Type="http://schemas.openxmlformats.org/officeDocument/2006/relationships/slide" Target="slides/slide152.xml"/><Relationship Id="rId151" Type="http://schemas.openxmlformats.org/officeDocument/2006/relationships/slide" Target="slides/slide153.xml"/><Relationship Id="rId152" Type="http://schemas.openxmlformats.org/officeDocument/2006/relationships/slide" Target="slides/slide154.xml"/><Relationship Id="rId153" Type="http://schemas.openxmlformats.org/officeDocument/2006/relationships/slide" Target="slides/slide155.xml"/><Relationship Id="rId154" Type="http://schemas.openxmlformats.org/officeDocument/2006/relationships/slide" Target="slides/slide156.xml"/><Relationship Id="rId155" Type="http://schemas.openxmlformats.org/officeDocument/2006/relationships/slide" Target="slides/slide157.xml"/><Relationship Id="rId156" Type="http://schemas.openxmlformats.org/officeDocument/2006/relationships/slide" Target="slides/slide158.xml"/><Relationship Id="rId157" Type="http://schemas.openxmlformats.org/officeDocument/2006/relationships/slide" Target="slides/slide159.xml"/><Relationship Id="rId158" Type="http://schemas.openxmlformats.org/officeDocument/2006/relationships/slide" Target="slides/slide160.xml"/><Relationship Id="rId159" Type="http://schemas.openxmlformats.org/officeDocument/2006/relationships/slide" Target="slides/slide161.xml"/><Relationship Id="rId160" Type="http://schemas.openxmlformats.org/officeDocument/2006/relationships/slide" Target="slides/slide162.xml"/><Relationship Id="rId162" Type="http://schemas.openxmlformats.org/officeDocument/2006/relationships/slide" Target="slides/slide118.xml"/><Relationship Id="rId163" Type="http://schemas.openxmlformats.org/officeDocument/2006/relationships/slide" Target="slides/slide119.xml"/><Relationship Id="rId164" Type="http://schemas.openxmlformats.org/officeDocument/2006/relationships/slide" Target="slides/slide100.xml"/><Relationship Id="rId165" Type="http://schemas.openxmlformats.org/officeDocument/2006/relationships/slide" Target="slides/slide103.xml"/><Relationship Id="rId166" Type="http://schemas.openxmlformats.org/officeDocument/2006/relationships/slide" Target="slides/slide104.xml"/><Relationship Id="rId167" Type="http://schemas.openxmlformats.org/officeDocument/2006/relationships/slide" Target="slides/slide105.xml"/><Relationship Id="rId168" Type="http://schemas.openxmlformats.org/officeDocument/2006/relationships/slide" Target="slides/slide106.xml"/><Relationship Id="rId169" Type="http://schemas.openxmlformats.org/officeDocument/2006/relationships/slide" Target="slides/slide101.xml"/><Relationship Id="rId170" Type="http://schemas.openxmlformats.org/officeDocument/2006/relationships/slide" Target="slides/slide102.xml"/><Relationship Id="rId171" Type="http://schemas.openxmlformats.org/officeDocument/2006/relationships/slide" Target="slides/slide165.xml"/><Relationship Id="rId172" Type="http://schemas.openxmlformats.org/officeDocument/2006/relationships/slide" Target="slides/slide98.xml"/><Relationship Id="rId173"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pain register (03c), P1, P9, P5, P3, P2, P10, P13: 27 pains in total, scored urgency × business impact.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p>
            <a:r>
              <a:t>This is what changes when FinViz keeps watch for him.</a:t>
            </a:r>
          </a:p>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p>
            <a:r>
              <a:t>[4 After the close · DB3] Technology is 46% of the portfolio, six points above his 40% target and outside his band; the cause is RMBS +18.4% this month. FinViz explains where he differs from his own plan; it doesn't rebalance or turn that into a trade instruction.</a:t>
            </a:r>
          </a:p>
          <a:p/>
          <a:p>
            <a:r>
              <a:t>[5 Advisor · DB4] Mike manages 54 portfolios: 6 crossed one of his limits, 48 are within them. He starts with an exception queue; each shows evidence and when it appeared; uncertainty stays visible. Acknowledging records review, not resolution.</a:t>
            </a:r>
          </a:p>
          <a:p/>
          <a:p>
            <a:r>
              <a:t>[6 Personalization · DB5] FinViz notices habits and offers to pin or hide cards, says why, and asks. "No thanks" is remembered; changes are reversible.</a:t>
            </a:r>
          </a:p>
          <a:p/>
          <a:p>
            <a:r>
              <a:t>[Closing] AI has three jobs: notice relevant changes, explain them with evidence, keep a focused workflow. Sources, timestamps, uncertainty and approval are part of the experience. The user stays in control of criteria, attention and decisions.</a:t>
            </a:r>
          </a:p>
          <a:p/>
          <a:p>
            <a:r>
              <a:t>Before presenting: conceptual screens with synthetic data; reliability labels describe the evidence, not investment performance; the "Ask about…" entry points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p>
            <a:r>
              <a:t>[OW2] He opens his saved screen. The new names are at the top, and every row shows which of his criteria it meets, or how close it came. The "why it matched" comes from real values, never a score.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[OW3] He pins three names. His reasons come with them, his own note too, and he drags an "out if" line straight onto the chart. The product remembers why he picked each one.</a:t>
            </a:r>
          </a:p>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Crimson = design lead checkpoints; violet = AI. The workflow I ran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reflection; edit to match how I'd say it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image" Target="../media/image16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7.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6.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 Id="rId4" Type="http://schemas.openxmlformats.org/officeDocument/2006/relationships/image" Target="../media/image152.png"/><Relationship Id="rId5" Type="http://schemas.openxmlformats.org/officeDocument/2006/relationships/image" Target="../media/image15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26.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8.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3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notesSlide" Target="../notesSlides/notesSlide3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set the AI rules and five innovation concepts, designed the trade, AI and workflow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Set the AI rules and the five innovation concepts, each tied to a breakdown. Designed the trade, AI and workflow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five concepts and one workflow for testing,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CONTEXT AND CONSTRAINTS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Context and constraints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What the prototype has to prove, and what it cannot yet.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BUSINESS CHALLENGE</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Show one complete loop, from noticing a change to placing an order, in a prototype stakeholders can test.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STAKEHOLDERS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Active traders, busy investors, and first-time investors.</a:t>
            </a:r>
          </a:p>
        </p:txBody>
      </p:sp>
      <p:sp>
        <p:nvSpPr>
          <p:cNvPr id="10" name="TextBox 9"/>
          <p:cNvSpPr txBox="1"/>
          <p:nvPr/>
        </p:nvSpPr>
        <p:spPr>
          <a:xfrm>
            <a:off x="8229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CONSTRAINTS</a:t>
            </a:r>
          </a:p>
        </p:txBody>
      </p:sp>
      <p:sp>
        <p:nvSpPr>
          <p:cNvPr id="11" name="TextBox 10"/>
          <p:cNvSpPr txBox="1"/>
          <p:nvPr/>
        </p:nvSpPr>
        <p:spPr>
          <a:xfrm>
            <a:off x="8229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Mock data and a 0.8-second mock delay. No real market feed, brokerage connection, or authentication backend at this stage.</a:t>
            </a:r>
          </a:p>
        </p:txBody>
      </p:sp>
      <p:sp>
        <p:nvSpPr>
          <p:cNvPr id="12" name="TextBox 11"/>
          <p:cNvSpPr txBox="1"/>
          <p:nvPr/>
        </p:nvSpPr>
        <p:spPr>
          <a:xfrm>
            <a:off x="67665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ADVICE LINE</a:t>
            </a:r>
          </a:p>
        </p:txBody>
      </p:sp>
      <p:sp>
        <p:nvSpPr>
          <p:cNvPr id="13" name="TextBox 12"/>
          <p:cNvSpPr txBox="1"/>
          <p:nvPr/>
        </p:nvSpPr>
        <p:spPr>
          <a:xfrm>
            <a:off x="67665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AI does not originate buy or sell advice. Trade wording needs compliance review before it ships.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Three draft personas to validate before we rely on them</a:t>
            </a:r>
          </a:p>
        </p:txBody>
      </p:sp>
      <p:sp>
        <p:nvSpPr>
          <p:cNvPr id="5" name="TextBox 4"/>
          <p:cNvSpPr txBox="1"/>
          <p:nvPr/>
        </p:nvSpPr>
        <p:spPr>
          <a:xfrm>
            <a:off x="82296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MAYA</a:t>
            </a:r>
          </a:p>
        </p:txBody>
      </p:sp>
      <p:sp>
        <p:nvSpPr>
          <p:cNvPr id="6" name="TextBox 5"/>
          <p:cNvSpPr txBox="1"/>
          <p:nvPr/>
        </p:nvSpPr>
        <p:spPr>
          <a:xfrm>
            <a:off x="82296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Active self-directed trader. Trades several times a week from her phone.</a:t>
            </a:r>
          </a:p>
          <a:p>
            <a:pPr algn="l">
              <a:spcAft>
                <a:spcPts val="600"/>
              </a:spcAft>
            </a:pPr>
            <a:r>
              <a:rPr sz="1400">
                <a:solidFill>
                  <a:srgbClr val="14161D"/>
                </a:solidFill>
                <a:latin typeface="Helvetica Neue Light"/>
              </a:rPr>
              <a:t>Goal: get in and out quickly; spot momentum early.</a:t>
            </a:r>
          </a:p>
          <a:p>
            <a:pPr algn="l">
              <a:spcAft>
                <a:spcPts val="600"/>
              </a:spcAft>
            </a:pPr>
            <a:r>
              <a:rPr sz="1400">
                <a:solidFill>
                  <a:srgbClr val="14161D"/>
                </a:solidFill>
                <a:latin typeface="Helvetica Neue Light"/>
              </a:rPr>
              <a:t>Pain: research is scattered; order entry takes too many taps.</a:t>
            </a:r>
          </a:p>
        </p:txBody>
      </p:sp>
      <p:sp>
        <p:nvSpPr>
          <p:cNvPr id="7" name="TextBox 6"/>
          <p:cNvSpPr txBox="1"/>
          <p:nvPr/>
        </p:nvSpPr>
        <p:spPr>
          <a:xfrm>
            <a:off x="457200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DANIEL</a:t>
            </a:r>
          </a:p>
        </p:txBody>
      </p:sp>
      <p:sp>
        <p:nvSpPr>
          <p:cNvPr id="8" name="TextBox 7"/>
          <p:cNvSpPr txBox="1"/>
          <p:nvPr/>
        </p:nvSpPr>
        <p:spPr>
          <a:xfrm>
            <a:off x="457200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Busy professional investor. Invests a fixed amount each month and checks his portfolio weekly.</a:t>
            </a:r>
          </a:p>
          <a:p>
            <a:pPr algn="l">
              <a:spcAft>
                <a:spcPts val="600"/>
              </a:spcAft>
            </a:pPr>
            <a:r>
              <a:rPr sz="1400">
                <a:solidFill>
                  <a:srgbClr val="14161D"/>
                </a:solidFill>
                <a:latin typeface="Helvetica Neue Light"/>
              </a:rPr>
              <a:t>Goal: grow long-term savings without big mistakes.</a:t>
            </a:r>
          </a:p>
          <a:p>
            <a:pPr algn="l">
              <a:spcAft>
                <a:spcPts val="600"/>
              </a:spcAft>
            </a:pPr>
            <a:r>
              <a:rPr sz="1400">
                <a:solidFill>
                  <a:srgbClr val="14161D"/>
                </a:solidFill>
                <a:latin typeface="Helvetica Neue Light"/>
              </a:rPr>
              <a:t>Pain: no time to research; unsure when to rebalance.</a:t>
            </a:r>
          </a:p>
        </p:txBody>
      </p:sp>
      <p:sp>
        <p:nvSpPr>
          <p:cNvPr id="9" name="TextBox 8"/>
          <p:cNvSpPr txBox="1"/>
          <p:nvPr/>
        </p:nvSpPr>
        <p:spPr>
          <a:xfrm>
            <a:off x="8321040" y="2194560"/>
            <a:ext cx="3840480" cy="274320"/>
          </a:xfrm>
          <a:prstGeom prst="rect">
            <a:avLst/>
          </a:prstGeom>
          <a:noFill/>
        </p:spPr>
        <p:txBody>
          <a:bodyPr wrap="square" lIns="0" rIns="0" tIns="0" bIns="0">
            <a:spAutoFit/>
          </a:bodyPr>
          <a:lstStyle/>
          <a:p>
            <a:pPr algn="l"/>
            <a:r>
              <a:rPr sz="1100">
                <a:solidFill>
                  <a:srgbClr val="858A97"/>
                </a:solidFill>
                <a:latin typeface="Helvetica Neue Medium"/>
              </a:rPr>
              <a:t>DRAFT PERSONA · PRIYA</a:t>
            </a:r>
          </a:p>
        </p:txBody>
      </p:sp>
      <p:sp>
        <p:nvSpPr>
          <p:cNvPr id="10" name="TextBox 9"/>
          <p:cNvSpPr txBox="1"/>
          <p:nvPr/>
        </p:nvSpPr>
        <p:spPr>
          <a:xfrm>
            <a:off x="8321040" y="2505456"/>
            <a:ext cx="38404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First-time investor. Wants to start small and learn while she invests.</a:t>
            </a:r>
          </a:p>
          <a:p>
            <a:pPr algn="l">
              <a:spcAft>
                <a:spcPts val="600"/>
              </a:spcAft>
            </a:pPr>
            <a:r>
              <a:rPr sz="1400">
                <a:solidFill>
                  <a:srgbClr val="14161D"/>
                </a:solidFill>
                <a:latin typeface="Helvetica Neue Light"/>
              </a:rPr>
              <a:t>Goal: learn by doing; avoid a wrong trade.</a:t>
            </a:r>
          </a:p>
          <a:p>
            <a:pPr algn="l">
              <a:spcAft>
                <a:spcPts val="600"/>
              </a:spcAft>
            </a:pPr>
            <a:r>
              <a:rPr sz="1400">
                <a:solidFill>
                  <a:srgbClr val="14161D"/>
                </a:solidFill>
                <a:latin typeface="Helvetica Neue Light"/>
              </a:rPr>
              <a:t>Pain: jargon; fear of ordering the wrong amount.</a:t>
            </a:r>
          </a:p>
        </p:txBody>
      </p:sp>
      <p:sp>
        <p:nvSpPr>
          <p:cNvPr id="11" name="TextBox 1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Hypotheses from the FigJam board. Interviews come before any decision rests on them.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STATES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Designing for the states that mock data hides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The dashboard in four states. The other four screens follow the same pattern.</a:t>
            </a:r>
          </a:p>
        </p:txBody>
      </p:sp>
      <p:sp>
        <p:nvSpPr>
          <p:cNvPr id="6" name="TextBox 5"/>
          <p:cNvSpPr txBox="1"/>
          <p:nvPr/>
        </p:nvSpPr>
        <p:spPr>
          <a:xfrm>
            <a:off x="822960" y="2560320"/>
            <a:ext cx="3017520" cy="274320"/>
          </a:xfrm>
          <a:prstGeom prst="rect">
            <a:avLst/>
          </a:prstGeom>
          <a:noFill/>
        </p:spPr>
        <p:txBody>
          <a:bodyPr wrap="square" lIns="0" rIns="0" tIns="0" bIns="0">
            <a:spAutoFit/>
          </a:bodyPr>
          <a:lstStyle/>
          <a:p>
            <a:pPr algn="l"/>
            <a:r>
              <a:rPr sz="1100">
                <a:solidFill>
                  <a:srgbClr val="858A97"/>
                </a:solidFill>
                <a:latin typeface="Helvetica Neue Medium"/>
              </a:rPr>
              <a:t>STATE</a:t>
            </a:r>
          </a:p>
        </p:txBody>
      </p:sp>
      <p:sp>
        <p:nvSpPr>
          <p:cNvPr id="7" name="TextBox 6"/>
          <p:cNvSpPr txBox="1"/>
          <p:nvPr/>
        </p:nvSpPr>
        <p:spPr>
          <a:xfrm>
            <a:off x="4023360" y="2560320"/>
            <a:ext cx="8522208" cy="274320"/>
          </a:xfrm>
          <a:prstGeom prst="rect">
            <a:avLst/>
          </a:prstGeom>
          <a:noFill/>
        </p:spPr>
        <p:txBody>
          <a:bodyPr wrap="square" lIns="0" rIns="0" tIns="0" bIns="0">
            <a:spAutoFit/>
          </a:bodyPr>
          <a:lstStyle/>
          <a:p>
            <a:pPr algn="l"/>
            <a:r>
              <a:rPr sz="1100">
                <a:solidFill>
                  <a:srgbClr val="858A97"/>
                </a:solidFill>
                <a:latin typeface="Helvetica Neue Medium"/>
              </a:rPr>
              <a:t>WHAT THE USER SEES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2971800" cy="731520"/>
          </a:xfrm>
          <a:prstGeom prst="rect">
            <a:avLst/>
          </a:prstGeom>
          <a:noFill/>
        </p:spPr>
        <p:txBody>
          <a:bodyPr wrap="square" lIns="0" rIns="0" tIns="0" bIns="0">
            <a:spAutoFit/>
          </a:bodyPr>
          <a:lstStyle/>
          <a:p>
            <a:pPr algn="l"/>
            <a:r>
              <a:rPr sz="1400">
                <a:solidFill>
                  <a:srgbClr val="14161D"/>
                </a:solidFill>
                <a:latin typeface="Helvetica Neue Light"/>
              </a:rPr>
              <a:t>Empty</a:t>
            </a:r>
          </a:p>
        </p:txBody>
      </p:sp>
      <p:sp>
        <p:nvSpPr>
          <p:cNvPr id="10" name="TextBox 9"/>
          <p:cNvSpPr txBox="1"/>
          <p:nvPr/>
        </p:nvSpPr>
        <p:spPr>
          <a:xfrm>
            <a:off x="4023360" y="3017520"/>
            <a:ext cx="8476488" cy="731520"/>
          </a:xfrm>
          <a:prstGeom prst="rect">
            <a:avLst/>
          </a:prstGeom>
          <a:noFill/>
        </p:spPr>
        <p:txBody>
          <a:bodyPr wrap="square" lIns="0" rIns="0" tIns="0" bIns="0">
            <a:spAutoFit/>
          </a:bodyPr>
          <a:lstStyle/>
          <a:p>
            <a:pPr algn="l"/>
            <a:r>
              <a:rPr sz="1400">
                <a:solidFill>
                  <a:srgbClr val="14161D"/>
                </a:solidFill>
                <a:latin typeface="Helvetica Neue Light"/>
              </a:rPr>
              <a:t>No holdings yet. One clear next step.</a:t>
            </a:r>
          </a:p>
        </p:txBody>
      </p:sp>
      <p:cxnSp>
        <p:nvCxnSpPr>
          <p:cNvPr id="11" name="Connector 10"/>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40480"/>
            <a:ext cx="2971800" cy="731520"/>
          </a:xfrm>
          <a:prstGeom prst="rect">
            <a:avLst/>
          </a:prstGeom>
          <a:noFill/>
        </p:spPr>
        <p:txBody>
          <a:bodyPr wrap="square" lIns="0" rIns="0" tIns="0" bIns="0">
            <a:spAutoFit/>
          </a:bodyPr>
          <a:lstStyle/>
          <a:p>
            <a:pPr algn="l"/>
            <a:r>
              <a:rPr sz="1400">
                <a:solidFill>
                  <a:srgbClr val="14161D"/>
                </a:solidFill>
                <a:latin typeface="Helvetica Neue Light"/>
              </a:rPr>
              <a:t>Loading</a:t>
            </a:r>
          </a:p>
        </p:txBody>
      </p:sp>
      <p:sp>
        <p:nvSpPr>
          <p:cNvPr id="13" name="TextBox 12"/>
          <p:cNvSpPr txBox="1"/>
          <p:nvPr/>
        </p:nvSpPr>
        <p:spPr>
          <a:xfrm>
            <a:off x="4023360" y="3840480"/>
            <a:ext cx="8476488" cy="731520"/>
          </a:xfrm>
          <a:prstGeom prst="rect">
            <a:avLst/>
          </a:prstGeom>
          <a:noFill/>
        </p:spPr>
        <p:txBody>
          <a:bodyPr wrap="square" lIns="0" rIns="0" tIns="0" bIns="0">
            <a:spAutoFit/>
          </a:bodyPr>
          <a:lstStyle/>
          <a:p>
            <a:pPr algn="l"/>
            <a:r>
              <a:rPr sz="1400">
                <a:solidFill>
                  <a:srgbClr val="14161D"/>
                </a:solidFill>
                <a:latin typeface="Helvetica Neue Light"/>
              </a:rPr>
              <a:t>Skeleton cards hold the layout while data loads.</a:t>
            </a:r>
          </a:p>
        </p:txBody>
      </p:sp>
      <p:cxnSp>
        <p:nvCxnSpPr>
          <p:cNvPr id="14" name="Connector 13"/>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663440"/>
            <a:ext cx="2971800" cy="731520"/>
          </a:xfrm>
          <a:prstGeom prst="rect">
            <a:avLst/>
          </a:prstGeom>
          <a:noFill/>
        </p:spPr>
        <p:txBody>
          <a:bodyPr wrap="square" lIns="0" rIns="0" tIns="0" bIns="0">
            <a:spAutoFit/>
          </a:bodyPr>
          <a:lstStyle/>
          <a:p>
            <a:pPr algn="l"/>
            <a:r>
              <a:rPr sz="1400">
                <a:solidFill>
                  <a:srgbClr val="14161D"/>
                </a:solidFill>
                <a:latin typeface="Helvetica Neue Light"/>
              </a:rPr>
              <a:t>Error</a:t>
            </a:r>
          </a:p>
        </p:txBody>
      </p:sp>
      <p:sp>
        <p:nvSpPr>
          <p:cNvPr id="16" name="TextBox 15"/>
          <p:cNvSpPr txBox="1"/>
          <p:nvPr/>
        </p:nvSpPr>
        <p:spPr>
          <a:xfrm>
            <a:off x="4023360" y="466344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what failed, and offers a retry.</a:t>
            </a:r>
          </a:p>
        </p:txBody>
      </p:sp>
      <p:cxnSp>
        <p:nvCxnSpPr>
          <p:cNvPr id="17" name="Connector 16"/>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486400"/>
            <a:ext cx="2971800" cy="731520"/>
          </a:xfrm>
          <a:prstGeom prst="rect">
            <a:avLst/>
          </a:prstGeom>
          <a:noFill/>
        </p:spPr>
        <p:txBody>
          <a:bodyPr wrap="square" lIns="0" rIns="0" tIns="0" bIns="0">
            <a:spAutoFit/>
          </a:bodyPr>
          <a:lstStyle/>
          <a:p>
            <a:pPr algn="l"/>
            <a:r>
              <a:rPr sz="1400">
                <a:solidFill>
                  <a:srgbClr val="14161D"/>
                </a:solidFill>
                <a:latin typeface="Helvetica Neue Light"/>
              </a:rPr>
              <a:t>Offline</a:t>
            </a:r>
          </a:p>
        </p:txBody>
      </p:sp>
      <p:sp>
        <p:nvSpPr>
          <p:cNvPr id="19" name="TextBox 18"/>
          <p:cNvSpPr txBox="1"/>
          <p:nvPr/>
        </p:nvSpPr>
        <p:spPr>
          <a:xfrm>
            <a:off x="4023360" y="548640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the data is from the last update, with its time.</a:t>
            </a:r>
          </a:p>
        </p:txBody>
      </p:sp>
      <p:cxnSp>
        <p:nvCxnSpPr>
          <p:cNvPr id="20" name="Connector 19"/>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concepts, each answering one breakdown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Concepts for testing. Proposals, not built. Each one follows the AI rules.</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DECISION JOURNAL</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3 and 5. The user writes one line of their reason when acting. Guard later checks whether the reason still holds.</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SCENARIO SANDBOX</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1 and 4. Each insight lists what would change it. The user adjusts an input and sees the view update, with sources.</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PLAN EDITOR</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2. The user edits each proposed step, and the allocation preview recalculates after each change.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ATTENTION BUDGET</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3. The user sets a daily budget of interruptions. Critical alerts always pass; the rest go to a digest.</a:t>
            </a:r>
          </a:p>
        </p:txBody>
      </p:sp>
      <p:sp>
        <p:nvSpPr>
          <p:cNvPr id="14" name="TextBox 13"/>
          <p:cNvSpPr txBox="1"/>
          <p:nvPr/>
        </p:nvSpPr>
        <p:spPr>
          <a:xfrm>
            <a:off x="822960" y="7863840"/>
            <a:ext cx="11338560" cy="274320"/>
          </a:xfrm>
          <a:prstGeom prst="rect">
            <a:avLst/>
          </a:prstGeom>
          <a:noFill/>
        </p:spPr>
        <p:txBody>
          <a:bodyPr wrap="square" lIns="0" rIns="0" tIns="0" bIns="0">
            <a:spAutoFit/>
          </a:bodyPr>
          <a:lstStyle/>
          <a:p>
            <a:pPr algn="l"/>
            <a:r>
              <a:rPr sz="1100">
                <a:solidFill>
                  <a:srgbClr val="858A97"/>
                </a:solidFill>
                <a:latin typeface="Helvetica Neue Medium"/>
              </a:rPr>
              <a:t>AUTONOMY LEDGER</a:t>
            </a:r>
          </a:p>
        </p:txBody>
      </p:sp>
      <p:sp>
        <p:nvSpPr>
          <p:cNvPr id="15" name="TextBox 14"/>
          <p:cNvSpPr txBox="1"/>
          <p:nvPr/>
        </p:nvSpPr>
        <p:spPr>
          <a:xfrm>
            <a:off x="822960" y="8174736"/>
            <a:ext cx="113385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2 and 4. Each goal shows its level and limits. Every action is logged and can be undone within 48 hours.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workflow: from insight to a reasoned decision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step names the concept behind it. Nothing runs without approval.</a:t>
            </a:r>
          </a:p>
        </p:txBody>
      </p:sp>
      <p:sp>
        <p:nvSpPr>
          <p:cNvPr id="6" name="TextBox 5"/>
          <p:cNvSpPr txBox="1"/>
          <p:nvPr/>
        </p:nvSpPr>
        <p:spPr>
          <a:xfrm>
            <a:off x="822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1 · INSIGHT</a:t>
            </a:r>
          </a:p>
        </p:txBody>
      </p:sp>
      <p:sp>
        <p:nvSpPr>
          <p:cNvPr id="7" name="TextBox 6"/>
          <p:cNvSpPr txBox="1"/>
          <p:nvPr/>
        </p:nvSpPr>
        <p:spPr>
          <a:xfrm>
            <a:off x="822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Shows its source, date, and data. No confidence percentage.</a:t>
            </a:r>
          </a:p>
        </p:txBody>
      </p:sp>
      <p:sp>
        <p:nvSpPr>
          <p:cNvPr id="8" name="TextBox 7"/>
          <p:cNvSpPr txBox="1"/>
          <p:nvPr/>
        </p:nvSpPr>
        <p:spPr>
          <a:xfrm>
            <a:off x="3108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2 · CONDITION</a:t>
            </a:r>
          </a:p>
        </p:txBody>
      </p:sp>
      <p:sp>
        <p:nvSpPr>
          <p:cNvPr id="9" name="TextBox 8"/>
          <p:cNvSpPr txBox="1"/>
          <p:nvPr/>
        </p:nvSpPr>
        <p:spPr>
          <a:xfrm>
            <a:off x="3108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sets what would change the view (Scenario Sandbox).</a:t>
            </a:r>
          </a:p>
        </p:txBody>
      </p:sp>
      <p:sp>
        <p:nvSpPr>
          <p:cNvPr id="10" name="TextBox 9"/>
          <p:cNvSpPr txBox="1"/>
          <p:nvPr/>
        </p:nvSpPr>
        <p:spPr>
          <a:xfrm>
            <a:off x="5394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3 · PROPOSED STEPS</a:t>
            </a:r>
          </a:p>
        </p:txBody>
      </p:sp>
      <p:sp>
        <p:nvSpPr>
          <p:cNvPr id="11" name="TextBox 10"/>
          <p:cNvSpPr txBox="1"/>
          <p:nvPr/>
        </p:nvSpPr>
        <p:spPr>
          <a:xfrm>
            <a:off x="5394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agent drafts steps; the user edits each one (Plan Editor).</a:t>
            </a:r>
          </a:p>
        </p:txBody>
      </p:sp>
      <p:sp>
        <p:nvSpPr>
          <p:cNvPr id="12" name="TextBox 11"/>
          <p:cNvSpPr txBox="1"/>
          <p:nvPr/>
        </p:nvSpPr>
        <p:spPr>
          <a:xfrm>
            <a:off x="7680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4 · APPROVE WITHIN LIMITS</a:t>
            </a:r>
          </a:p>
        </p:txBody>
      </p:sp>
      <p:sp>
        <p:nvSpPr>
          <p:cNvPr id="13" name="TextBox 12"/>
          <p:cNvSpPr txBox="1"/>
          <p:nvPr/>
        </p:nvSpPr>
        <p:spPr>
          <a:xfrm>
            <a:off x="7680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approves. Act is opt-in, with limits beside it (Autonomy Ledger).</a:t>
            </a:r>
          </a:p>
        </p:txBody>
      </p:sp>
      <p:sp>
        <p:nvSpPr>
          <p:cNvPr id="14" name="TextBox 13"/>
          <p:cNvSpPr txBox="1"/>
          <p:nvPr/>
        </p:nvSpPr>
        <p:spPr>
          <a:xfrm>
            <a:off x="9966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5 · REASON, RE-CHECKED</a:t>
            </a:r>
          </a:p>
        </p:txBody>
      </p:sp>
      <p:sp>
        <p:nvSpPr>
          <p:cNvPr id="15" name="TextBox 14"/>
          <p:cNvSpPr txBox="1"/>
          <p:nvPr/>
        </p:nvSpPr>
        <p:spPr>
          <a:xfrm>
            <a:off x="9966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writes why they acted. Guard re-checks it later (Decision Journal).</a:t>
            </a:r>
          </a:p>
        </p:txBody>
      </p:sp>
      <p:sp>
        <p:nvSpPr>
          <p:cNvPr id="16" name="TextBox 15"/>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Each step shows its source. Changes can be reversed within 48 hours. The AI proposes; the user decides.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The AI advancements, from breakdown to test</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Each row links a breakdown to the concept that answers it, the workflow step where it shows, and what is drawn today.</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905488" cy="914400"/>
        </p:xfrm>
        <a:graphic>
          <a:graphicData uri="http://schemas.openxmlformats.org/drawingml/2006/table">
            <a:tbl>
              <a:tblPr/>
              <a:tblGrid>
                <a:gridCol w="2743200"/>
                <a:gridCol w="2743200"/>
                <a:gridCol w="3749040"/>
                <a:gridCol w="2103120"/>
              </a:tblGrid>
              <a:tr h="0">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BREAKDOWN</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ADVANCEMENT</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WHERE IT SHOWS IN THE WORKFLOW</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STATUS</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1 · Outputs without reasoning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Scenario Sandbox</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1 and 2: source on each insight; the condition the user sets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Insight with source drawn; sandbox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2 · All or nothing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Plan Editor and Autonomy Ledger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each proposed step is editable; Act is opt-in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Adapt plan drawn; ledger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3 · No learning loop</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 and Attention Budget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is kept and re-checked</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4 · Advice line in conflict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Proposed-step wording and the Autonomy Ledger limits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wording and limits on every screen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Wording fix on the board; compliance review open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5 · Context lost between screens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travels with the order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Full experience drawn; reason field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Lo-fi screens: the five AI screens, first pass</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Dashboard, Insight, Prospect, Guard, and Adapt. Structure first; no visual decisions yet.</a:t>
            </a:r>
          </a:p>
        </p:txBody>
      </p:sp>
      <p:pic>
        <p:nvPicPr>
          <p:cNvPr id="6" name="Picture 5" descr="lo_dashboard.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DASHBOARD</a:t>
            </a:r>
          </a:p>
        </p:txBody>
      </p:sp>
      <p:pic>
        <p:nvPicPr>
          <p:cNvPr id="8" name="Picture 7" descr="lo_insight.png"/>
          <p:cNvPicPr>
            <a:picLocks noChangeAspect="1"/>
          </p:cNvPicPr>
          <p:nvPr/>
        </p:nvPicPr>
        <p:blipFill>
          <a:blip r:embed="rId4"/>
          <a:stretch>
            <a:fillRect/>
          </a:stretch>
        </p:blipFill>
        <p:spPr>
          <a:xfrm>
            <a:off x="2624091" y="2194560"/>
            <a:ext cx="1801131" cy="4023360"/>
          </a:xfrm>
          <a:prstGeom prst="rect">
            <a:avLst/>
          </a:prstGeom>
        </p:spPr>
      </p:pic>
      <p:sp>
        <p:nvSpPr>
          <p:cNvPr id="9" name="TextBox 8"/>
          <p:cNvSpPr txBox="1"/>
          <p:nvPr/>
        </p:nvSpPr>
        <p:spPr>
          <a:xfrm>
            <a:off x="2624091" y="6355080"/>
            <a:ext cx="1801131" cy="274320"/>
          </a:xfrm>
          <a:prstGeom prst="rect">
            <a:avLst/>
          </a:prstGeom>
          <a:noFill/>
        </p:spPr>
        <p:txBody>
          <a:bodyPr wrap="square" lIns="0" rIns="0" tIns="0" bIns="0">
            <a:spAutoFit/>
          </a:bodyPr>
          <a:lstStyle/>
          <a:p>
            <a:r>
              <a:rPr sz="1280">
                <a:solidFill>
                  <a:srgbClr val="B5532F"/>
                </a:solidFill>
                <a:latin typeface="Helvetica Neue Medium"/>
              </a:rPr>
              <a:t>INSIGHT</a:t>
            </a:r>
          </a:p>
        </p:txBody>
      </p:sp>
      <p:pic>
        <p:nvPicPr>
          <p:cNvPr id="10" name="Picture 9" descr="lo_prospect.png"/>
          <p:cNvPicPr>
            <a:picLocks noChangeAspect="1"/>
          </p:cNvPicPr>
          <p:nvPr/>
        </p:nvPicPr>
        <p:blipFill>
          <a:blip r:embed="rId5"/>
          <a:stretch>
            <a:fillRect/>
          </a:stretch>
        </p:blipFill>
        <p:spPr>
          <a:xfrm>
            <a:off x="4699542" y="2194560"/>
            <a:ext cx="1801131" cy="4023360"/>
          </a:xfrm>
          <a:prstGeom prst="rect">
            <a:avLst/>
          </a:prstGeom>
        </p:spPr>
      </p:pic>
      <p:sp>
        <p:nvSpPr>
          <p:cNvPr id="11" name="TextBox 10"/>
          <p:cNvSpPr txBox="1"/>
          <p:nvPr/>
        </p:nvSpPr>
        <p:spPr>
          <a:xfrm>
            <a:off x="4699542" y="6355080"/>
            <a:ext cx="1801131" cy="274320"/>
          </a:xfrm>
          <a:prstGeom prst="rect">
            <a:avLst/>
          </a:prstGeom>
          <a:noFill/>
        </p:spPr>
        <p:txBody>
          <a:bodyPr wrap="square" lIns="0" rIns="0" tIns="0" bIns="0">
            <a:spAutoFit/>
          </a:bodyPr>
          <a:lstStyle/>
          <a:p>
            <a:r>
              <a:rPr sz="1280">
                <a:solidFill>
                  <a:srgbClr val="B5532F"/>
                </a:solidFill>
                <a:latin typeface="Helvetica Neue Medium"/>
              </a:rPr>
              <a:t>PROSPECT</a:t>
            </a:r>
          </a:p>
        </p:txBody>
      </p:sp>
      <p:pic>
        <p:nvPicPr>
          <p:cNvPr id="12" name="Picture 11" descr="lo_guard.png"/>
          <p:cNvPicPr>
            <a:picLocks noChangeAspect="1"/>
          </p:cNvPicPr>
          <p:nvPr/>
        </p:nvPicPr>
        <p:blipFill>
          <a:blip r:embed="rId6"/>
          <a:stretch>
            <a:fillRect/>
          </a:stretch>
        </p:blipFill>
        <p:spPr>
          <a:xfrm>
            <a:off x="6774993" y="2194560"/>
            <a:ext cx="1801131" cy="4023360"/>
          </a:xfrm>
          <a:prstGeom prst="rect">
            <a:avLst/>
          </a:prstGeom>
        </p:spPr>
      </p:pic>
      <p:sp>
        <p:nvSpPr>
          <p:cNvPr id="13" name="TextBox 12"/>
          <p:cNvSpPr txBox="1"/>
          <p:nvPr/>
        </p:nvSpPr>
        <p:spPr>
          <a:xfrm>
            <a:off x="6774993" y="6355080"/>
            <a:ext cx="1801131" cy="274320"/>
          </a:xfrm>
          <a:prstGeom prst="rect">
            <a:avLst/>
          </a:prstGeom>
          <a:noFill/>
        </p:spPr>
        <p:txBody>
          <a:bodyPr wrap="square" lIns="0" rIns="0" tIns="0" bIns="0">
            <a:spAutoFit/>
          </a:bodyPr>
          <a:lstStyle/>
          <a:p>
            <a:r>
              <a:rPr sz="1280">
                <a:solidFill>
                  <a:srgbClr val="B5532F"/>
                </a:solidFill>
                <a:latin typeface="Helvetica Neue Medium"/>
              </a:rPr>
              <a:t>GUARD</a:t>
            </a:r>
          </a:p>
        </p:txBody>
      </p:sp>
      <p:pic>
        <p:nvPicPr>
          <p:cNvPr id="14" name="Picture 13" descr="lo_adapt.png"/>
          <p:cNvPicPr>
            <a:picLocks noChangeAspect="1"/>
          </p:cNvPicPr>
          <p:nvPr/>
        </p:nvPicPr>
        <p:blipFill>
          <a:blip r:embed="rId7"/>
          <a:stretch>
            <a:fillRect/>
          </a:stretch>
        </p:blipFill>
        <p:spPr>
          <a:xfrm>
            <a:off x="8850444" y="2194560"/>
            <a:ext cx="1801131" cy="4023360"/>
          </a:xfrm>
          <a:prstGeom prst="rect">
            <a:avLst/>
          </a:prstGeom>
        </p:spPr>
      </p:pic>
      <p:sp>
        <p:nvSpPr>
          <p:cNvPr id="15" name="TextBox 14"/>
          <p:cNvSpPr txBox="1"/>
          <p:nvPr/>
        </p:nvSpPr>
        <p:spPr>
          <a:xfrm>
            <a:off x="8850444" y="6355080"/>
            <a:ext cx="1801131" cy="274320"/>
          </a:xfrm>
          <a:prstGeom prst="rect">
            <a:avLst/>
          </a:prstGeom>
          <a:noFill/>
        </p:spPr>
        <p:txBody>
          <a:bodyPr wrap="square" lIns="0" rIns="0" tIns="0" bIns="0">
            <a:spAutoFit/>
          </a:bodyPr>
          <a:lstStyle/>
          <a:p>
            <a:r>
              <a:rPr sz="1280">
                <a:solidFill>
                  <a:srgbClr val="B5532F"/>
                </a:solidFill>
                <a:latin typeface="Helvetica Neue Medium"/>
              </a:rPr>
              <a:t>ADAPT</a:t>
            </a:r>
          </a:p>
        </p:txBody>
      </p:sp>
      <p:sp>
        <p:nvSpPr>
          <p:cNvPr id="16" name="TextBox 15"/>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17" name="TextBox 16"/>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Five AI screens could drift apart if each were styled alone. The structure had to agree first.</a:t>
            </a:r>
          </a:p>
        </p:txBody>
      </p:sp>
      <p:sp>
        <p:nvSpPr>
          <p:cNvPr id="18" name="TextBox 17"/>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19" name="TextBox 18"/>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Light, sketch-level screens for each one. Evidence and approval points are visible before any visual decision.</a:t>
            </a:r>
          </a:p>
        </p:txBody>
      </p:sp>
      <p:sp>
        <p:nvSpPr>
          <p:cNvPr id="20" name="TextBox 19"/>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1" name="TextBox 20"/>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I set the screen structure first, so the five screens shared one logic before the styling.</a:t>
            </a:r>
          </a:p>
        </p:txBody>
      </p:sp>
      <p:sp>
        <p:nvSpPr>
          <p:cNvPr id="22" name="TextBox 21"/>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Hi-fi screens: the same five, in the design system</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The same screens with design-system tokens: dark surfaces, the action colour, icon-and-word status.</a:t>
            </a:r>
          </a:p>
        </p:txBody>
      </p:sp>
      <p:pic>
        <p:nvPicPr>
          <p:cNvPr id="6" name="Picture 5" descr="hi_dashboard.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DASHBOARD</a:t>
            </a:r>
          </a:p>
        </p:txBody>
      </p:sp>
      <p:pic>
        <p:nvPicPr>
          <p:cNvPr id="8" name="Picture 7" descr="hi_insight.png"/>
          <p:cNvPicPr>
            <a:picLocks noChangeAspect="1"/>
          </p:cNvPicPr>
          <p:nvPr/>
        </p:nvPicPr>
        <p:blipFill>
          <a:blip r:embed="rId4"/>
          <a:stretch>
            <a:fillRect/>
          </a:stretch>
        </p:blipFill>
        <p:spPr>
          <a:xfrm>
            <a:off x="2624091" y="2194560"/>
            <a:ext cx="1801131" cy="4023360"/>
          </a:xfrm>
          <a:prstGeom prst="rect">
            <a:avLst/>
          </a:prstGeom>
        </p:spPr>
      </p:pic>
      <p:sp>
        <p:nvSpPr>
          <p:cNvPr id="9" name="TextBox 8"/>
          <p:cNvSpPr txBox="1"/>
          <p:nvPr/>
        </p:nvSpPr>
        <p:spPr>
          <a:xfrm>
            <a:off x="2624091" y="6355080"/>
            <a:ext cx="1801131" cy="274320"/>
          </a:xfrm>
          <a:prstGeom prst="rect">
            <a:avLst/>
          </a:prstGeom>
          <a:noFill/>
        </p:spPr>
        <p:txBody>
          <a:bodyPr wrap="square" lIns="0" rIns="0" tIns="0" bIns="0">
            <a:spAutoFit/>
          </a:bodyPr>
          <a:lstStyle/>
          <a:p>
            <a:r>
              <a:rPr sz="1280">
                <a:solidFill>
                  <a:srgbClr val="B5532F"/>
                </a:solidFill>
                <a:latin typeface="Helvetica Neue Medium"/>
              </a:rPr>
              <a:t>INSIGHT</a:t>
            </a:r>
          </a:p>
        </p:txBody>
      </p:sp>
      <p:pic>
        <p:nvPicPr>
          <p:cNvPr id="10" name="Picture 9" descr="hi_prospect.png"/>
          <p:cNvPicPr>
            <a:picLocks noChangeAspect="1"/>
          </p:cNvPicPr>
          <p:nvPr/>
        </p:nvPicPr>
        <p:blipFill>
          <a:blip r:embed="rId5"/>
          <a:stretch>
            <a:fillRect/>
          </a:stretch>
        </p:blipFill>
        <p:spPr>
          <a:xfrm>
            <a:off x="4699542" y="2194560"/>
            <a:ext cx="1801131" cy="4023360"/>
          </a:xfrm>
          <a:prstGeom prst="rect">
            <a:avLst/>
          </a:prstGeom>
        </p:spPr>
      </p:pic>
      <p:sp>
        <p:nvSpPr>
          <p:cNvPr id="11" name="TextBox 10"/>
          <p:cNvSpPr txBox="1"/>
          <p:nvPr/>
        </p:nvSpPr>
        <p:spPr>
          <a:xfrm>
            <a:off x="4699542" y="6355080"/>
            <a:ext cx="1801131" cy="274320"/>
          </a:xfrm>
          <a:prstGeom prst="rect">
            <a:avLst/>
          </a:prstGeom>
          <a:noFill/>
        </p:spPr>
        <p:txBody>
          <a:bodyPr wrap="square" lIns="0" rIns="0" tIns="0" bIns="0">
            <a:spAutoFit/>
          </a:bodyPr>
          <a:lstStyle/>
          <a:p>
            <a:r>
              <a:rPr sz="1280">
                <a:solidFill>
                  <a:srgbClr val="B5532F"/>
                </a:solidFill>
                <a:latin typeface="Helvetica Neue Medium"/>
              </a:rPr>
              <a:t>PROSPECT</a:t>
            </a:r>
          </a:p>
        </p:txBody>
      </p:sp>
      <p:pic>
        <p:nvPicPr>
          <p:cNvPr id="12" name="Picture 11" descr="hi_guard.png"/>
          <p:cNvPicPr>
            <a:picLocks noChangeAspect="1"/>
          </p:cNvPicPr>
          <p:nvPr/>
        </p:nvPicPr>
        <p:blipFill>
          <a:blip r:embed="rId6"/>
          <a:stretch>
            <a:fillRect/>
          </a:stretch>
        </p:blipFill>
        <p:spPr>
          <a:xfrm>
            <a:off x="6774993" y="2194560"/>
            <a:ext cx="1801131" cy="4023360"/>
          </a:xfrm>
          <a:prstGeom prst="rect">
            <a:avLst/>
          </a:prstGeom>
        </p:spPr>
      </p:pic>
      <p:sp>
        <p:nvSpPr>
          <p:cNvPr id="13" name="TextBox 12"/>
          <p:cNvSpPr txBox="1"/>
          <p:nvPr/>
        </p:nvSpPr>
        <p:spPr>
          <a:xfrm>
            <a:off x="6774993" y="6355080"/>
            <a:ext cx="1801131" cy="274320"/>
          </a:xfrm>
          <a:prstGeom prst="rect">
            <a:avLst/>
          </a:prstGeom>
          <a:noFill/>
        </p:spPr>
        <p:txBody>
          <a:bodyPr wrap="square" lIns="0" rIns="0" tIns="0" bIns="0">
            <a:spAutoFit/>
          </a:bodyPr>
          <a:lstStyle/>
          <a:p>
            <a:r>
              <a:rPr sz="1280">
                <a:solidFill>
                  <a:srgbClr val="B5532F"/>
                </a:solidFill>
                <a:latin typeface="Helvetica Neue Medium"/>
              </a:rPr>
              <a:t>GUARD</a:t>
            </a:r>
          </a:p>
        </p:txBody>
      </p:sp>
      <p:pic>
        <p:nvPicPr>
          <p:cNvPr id="14" name="Picture 13" descr="hi_adapt.png"/>
          <p:cNvPicPr>
            <a:picLocks noChangeAspect="1"/>
          </p:cNvPicPr>
          <p:nvPr/>
        </p:nvPicPr>
        <p:blipFill>
          <a:blip r:embed="rId7"/>
          <a:stretch>
            <a:fillRect/>
          </a:stretch>
        </p:blipFill>
        <p:spPr>
          <a:xfrm>
            <a:off x="8850444" y="2194560"/>
            <a:ext cx="1801131" cy="4023360"/>
          </a:xfrm>
          <a:prstGeom prst="rect">
            <a:avLst/>
          </a:prstGeom>
        </p:spPr>
      </p:pic>
      <p:sp>
        <p:nvSpPr>
          <p:cNvPr id="15" name="TextBox 14"/>
          <p:cNvSpPr txBox="1"/>
          <p:nvPr/>
        </p:nvSpPr>
        <p:spPr>
          <a:xfrm>
            <a:off x="8850444" y="6355080"/>
            <a:ext cx="1801131" cy="274320"/>
          </a:xfrm>
          <a:prstGeom prst="rect">
            <a:avLst/>
          </a:prstGeom>
          <a:noFill/>
        </p:spPr>
        <p:txBody>
          <a:bodyPr wrap="square" lIns="0" rIns="0" tIns="0" bIns="0">
            <a:spAutoFit/>
          </a:bodyPr>
          <a:lstStyle/>
          <a:p>
            <a:r>
              <a:rPr sz="1280">
                <a:solidFill>
                  <a:srgbClr val="B5532F"/>
                </a:solidFill>
                <a:latin typeface="Helvetica Neue Medium"/>
              </a:rPr>
              <a:t>ADAPT</a:t>
            </a:r>
          </a:p>
        </p:txBody>
      </p:sp>
      <p:sp>
        <p:nvSpPr>
          <p:cNvPr id="16" name="TextBox 15"/>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17" name="TextBox 16"/>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Structure that works in light sketches still has to read at speed: contrast, density, and status.</a:t>
            </a:r>
          </a:p>
        </p:txBody>
      </p:sp>
      <p:sp>
        <p:nvSpPr>
          <p:cNvPr id="18" name="TextBox 17"/>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19" name="TextBox 18"/>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The same five screens in the design system, with proposed-step wording and a source on every insight.</a:t>
            </a:r>
          </a:p>
        </p:txBody>
      </p:sp>
      <p:sp>
        <p:nvSpPr>
          <p:cNvPr id="20" name="TextBox 19"/>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1" name="TextBox 20"/>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Each hi-fi screen is checked against the design rules, so the advice line and the sources hold on screen.</a:t>
            </a:r>
          </a:p>
        </p:txBody>
      </p:sp>
      <p:sp>
        <p:nvSpPr>
          <p:cNvPr id="22" name="TextBox 21"/>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Agentic support, inside the trade flow</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Representative hi-fi screens. The agent proposes; the user approves each step.</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7" name="Picture 6" descr="image.png"/>
          <p:cNvPicPr>
            <a:picLocks noChangeAspect="1"/>
          </p:cNvPicPr>
          <p:nvPr/>
        </p:nvPicPr>
        <p:blipFill>
          <a:blip r:embed="rId3"/>
          <a:stretch>
            <a:fillRect/>
          </a:stretch>
        </p:blipFill>
        <p:spPr>
          <a:xfrm>
            <a:off x="548640" y="2286000"/>
            <a:ext cx="7132320" cy="4572000"/>
          </a:xfrm>
          <a:prstGeom prst="rect">
            <a:avLst/>
          </a:prstGeom>
        </p:spPr>
      </p:pic>
      <p:sp>
        <p:nvSpPr>
          <p:cNvPr id="8" name="Text 4"/>
          <p:cNvSpPr/>
          <p:nvPr/>
        </p:nvSpPr>
        <p:spPr>
          <a:xfrm>
            <a:off x="8046720" y="2286000"/>
            <a:ext cx="438912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9" name="Text 5"/>
          <p:cNvSpPr/>
          <p:nvPr/>
        </p:nvSpPr>
        <p:spPr>
          <a:xfrm>
            <a:off x="8046720" y="2615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An agent that acts inside a trade flow needs visible limits and approval on every step, or it cannot be trusted.</a:t>
            </a:r>
            <a:endParaRPr lang="en-US" sz="1500" dirty="0"/>
          </a:p>
        </p:txBody>
      </p:sp>
      <p:sp>
        <p:nvSpPr>
          <p:cNvPr id="10" name="Text 6"/>
          <p:cNvSpPr/>
          <p:nvPr/>
        </p:nvSpPr>
        <p:spPr>
          <a:xfrm>
            <a:off x="8046720" y="4572000"/>
            <a:ext cx="438912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1" name="Text 7"/>
          <p:cNvSpPr/>
          <p:nvPr/>
        </p:nvSpPr>
        <p:spPr>
          <a:xfrm>
            <a:off x="8046720" y="4901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Proposed steps sit beside the order, each with its source. Approval, undo, and limits are on the screen, not in a later release.</a:t>
            </a:r>
            <a:endParaRPr lang="en-US" sz="1500" dirty="0"/>
          </a:p>
        </p:txBody>
      </p:sp>
      <p:sp>
        <p:nvSpPr>
          <p:cNvPr id="12" name="Text 8"/>
          <p:cNvSpPr/>
          <p:nvPr/>
        </p:nvSpPr>
        <p:spPr>
          <a:xfrm>
            <a:off x="8046720" y="6858000"/>
            <a:ext cx="438912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3" name="Text 9"/>
          <p:cNvSpPr/>
          <p:nvPr/>
        </p:nvSpPr>
        <p:spPr>
          <a:xfrm>
            <a:off x="8046720" y="7187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I designed agentic support as part of the trade flow itself, so the same pattern can extend to every new AI surface.</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Concept board: five innovations, one loop</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Each card names the breakdown it answers. Concepts for testing; proposals, not built.</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2103120" cy="109728"/>
          </a:xfrm>
          <a:prstGeom prst="rect">
            <a:avLst/>
          </a:prstGeom>
          <a:solidFill>
            <a:srgbClr val="B5532F"/>
          </a:solidFill>
          <a:ln w="12700">
            <a:solidFill>
              <a:srgbClr val="B5532F"/>
            </a:solidFill>
            <a:prstDash val="solid"/>
          </a:ln>
        </p:spPr>
        <p:txBody>
          <a:bodyPr/>
          <a:p/>
        </p:txBody>
      </p:sp>
      <p:sp>
        <p:nvSpPr>
          <p:cNvPr id="8" name="Shape 5"/>
          <p:cNvSpPr/>
          <p:nvPr/>
        </p:nvSpPr>
        <p:spPr>
          <a:xfrm>
            <a:off x="548640"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9" name="Text 6"/>
          <p:cNvSpPr/>
          <p:nvPr/>
        </p:nvSpPr>
        <p:spPr>
          <a:xfrm>
            <a:off x="685800"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Decision Journal</a:t>
            </a:r>
            <a:endParaRPr lang="en-US" sz="1600" dirty="0"/>
          </a:p>
        </p:txBody>
      </p:sp>
      <p:sp>
        <p:nvSpPr>
          <p:cNvPr id="10" name="Text 7"/>
          <p:cNvSpPr/>
          <p:nvPr/>
        </p:nvSpPr>
        <p:spPr>
          <a:xfrm>
            <a:off x="685800" y="3611880"/>
            <a:ext cx="1828800" cy="274320"/>
          </a:xfrm>
          <a:prstGeom prst="rect">
            <a:avLst/>
          </a:prstGeom>
          <a:noFill/>
          <a:ln/>
        </p:spPr>
        <p:txBody>
          <a:bodyPr wrap="square" lIns="0" tIns="0" rIns="0" bIns="0" rtlCol="0" anchor="ctr"/>
          <a:lstStyle/>
          <a:p>
            <a:pPr indent="0" marL="0">
              <a:buNone/>
            </a:pPr>
            <a:r>
              <a:rPr lang="en-US" sz="1100" dirty="0">
                <a:solidFill>
                  <a:srgbClr val="B5532F"/>
                </a:solidFill>
                <a:latin typeface="Helvetica Neue Light" pitchFamily="34" charset="0"/>
                <a:ea typeface="Helvetica Neue Light" pitchFamily="34" charset="-122"/>
                <a:cs typeface="Helvetica Neue Light" pitchFamily="34" charset="-120"/>
              </a:rPr>
              <a:t>BREAKDOWNS 3 AND 5</a:t>
            </a:r>
            <a:endParaRPr lang="en-US" sz="1100" dirty="0"/>
          </a:p>
        </p:txBody>
      </p:sp>
      <p:sp>
        <p:nvSpPr>
          <p:cNvPr id="11" name="Text 8"/>
          <p:cNvSpPr/>
          <p:nvPr/>
        </p:nvSpPr>
        <p:spPr>
          <a:xfrm>
            <a:off x="685800"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Writes the reason; Guard re-checks it</a:t>
            </a:r>
            <a:endParaRPr lang="en-US" sz="1400" dirty="0"/>
          </a:p>
        </p:txBody>
      </p:sp>
      <p:sp>
        <p:nvSpPr>
          <p:cNvPr id="12" name="Shape 9"/>
          <p:cNvSpPr/>
          <p:nvPr/>
        </p:nvSpPr>
        <p:spPr>
          <a:xfrm>
            <a:off x="2990088" y="2560320"/>
            <a:ext cx="2103120" cy="109728"/>
          </a:xfrm>
          <a:prstGeom prst="rect">
            <a:avLst/>
          </a:prstGeom>
          <a:solidFill>
            <a:srgbClr val="4F6D5A"/>
          </a:solidFill>
          <a:ln w="12700">
            <a:solidFill>
              <a:srgbClr val="4F6D5A"/>
            </a:solidFill>
            <a:prstDash val="solid"/>
          </a:ln>
        </p:spPr>
        <p:txBody>
          <a:bodyPr/>
          <a:p/>
        </p:txBody>
      </p:sp>
      <p:sp>
        <p:nvSpPr>
          <p:cNvPr id="13" name="Shape 10"/>
          <p:cNvSpPr/>
          <p:nvPr/>
        </p:nvSpPr>
        <p:spPr>
          <a:xfrm>
            <a:off x="2990088"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14" name="Text 11"/>
          <p:cNvSpPr/>
          <p:nvPr/>
        </p:nvSpPr>
        <p:spPr>
          <a:xfrm>
            <a:off x="3127248"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Scenario Sandbox</a:t>
            </a:r>
            <a:endParaRPr lang="en-US" sz="1600" dirty="0"/>
          </a:p>
        </p:txBody>
      </p:sp>
      <p:sp>
        <p:nvSpPr>
          <p:cNvPr id="15" name="Text 12"/>
          <p:cNvSpPr/>
          <p:nvPr/>
        </p:nvSpPr>
        <p:spPr>
          <a:xfrm>
            <a:off x="3127248" y="3611880"/>
            <a:ext cx="1828800" cy="274320"/>
          </a:xfrm>
          <a:prstGeom prst="rect">
            <a:avLst/>
          </a:prstGeom>
          <a:noFill/>
          <a:ln/>
        </p:spPr>
        <p:txBody>
          <a:bodyPr wrap="square" lIns="0" tIns="0" rIns="0" bIns="0" rtlCol="0" anchor="ctr"/>
          <a:lstStyle/>
          <a:p>
            <a:pPr indent="0" marL="0">
              <a:buNone/>
            </a:pPr>
            <a:r>
              <a:rPr lang="en-US" sz="1100" dirty="0">
                <a:solidFill>
                  <a:srgbClr val="4F6D5A"/>
                </a:solidFill>
                <a:latin typeface="Helvetica Neue Light" pitchFamily="34" charset="0"/>
                <a:ea typeface="Helvetica Neue Light" pitchFamily="34" charset="-122"/>
                <a:cs typeface="Helvetica Neue Light" pitchFamily="34" charset="-120"/>
              </a:rPr>
              <a:t>BREAKDOWNS 1 AND 4</a:t>
            </a:r>
            <a:endParaRPr lang="en-US" sz="1100" dirty="0"/>
          </a:p>
        </p:txBody>
      </p:sp>
      <p:sp>
        <p:nvSpPr>
          <p:cNvPr id="16" name="Text 13"/>
          <p:cNvSpPr/>
          <p:nvPr/>
        </p:nvSpPr>
        <p:spPr>
          <a:xfrm>
            <a:off x="3127248"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Shows what would change a view</a:t>
            </a:r>
            <a:endParaRPr lang="en-US" sz="1400" dirty="0"/>
          </a:p>
        </p:txBody>
      </p:sp>
      <p:sp>
        <p:nvSpPr>
          <p:cNvPr id="17" name="Shape 14"/>
          <p:cNvSpPr/>
          <p:nvPr/>
        </p:nvSpPr>
        <p:spPr>
          <a:xfrm>
            <a:off x="5431536" y="2560320"/>
            <a:ext cx="2103120" cy="109728"/>
          </a:xfrm>
          <a:prstGeom prst="rect">
            <a:avLst/>
          </a:prstGeom>
          <a:solidFill>
            <a:srgbClr val="2F4257"/>
          </a:solidFill>
          <a:ln w="12700">
            <a:solidFill>
              <a:srgbClr val="2F4257"/>
            </a:solidFill>
            <a:prstDash val="solid"/>
          </a:ln>
        </p:spPr>
        <p:txBody>
          <a:bodyPr/>
          <a:p/>
        </p:txBody>
      </p:sp>
      <p:sp>
        <p:nvSpPr>
          <p:cNvPr id="18" name="Shape 15"/>
          <p:cNvSpPr/>
          <p:nvPr/>
        </p:nvSpPr>
        <p:spPr>
          <a:xfrm>
            <a:off x="5431536"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19" name="Text 16"/>
          <p:cNvSpPr/>
          <p:nvPr/>
        </p:nvSpPr>
        <p:spPr>
          <a:xfrm>
            <a:off x="5568696"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Plan Editor</a:t>
            </a:r>
            <a:endParaRPr lang="en-US" sz="1600" dirty="0"/>
          </a:p>
        </p:txBody>
      </p:sp>
      <p:sp>
        <p:nvSpPr>
          <p:cNvPr id="20" name="Text 17"/>
          <p:cNvSpPr/>
          <p:nvPr/>
        </p:nvSpPr>
        <p:spPr>
          <a:xfrm>
            <a:off x="5568696" y="3611880"/>
            <a:ext cx="1828800" cy="274320"/>
          </a:xfrm>
          <a:prstGeom prst="rect">
            <a:avLst/>
          </a:prstGeom>
          <a:noFill/>
          <a:ln/>
        </p:spPr>
        <p:txBody>
          <a:bodyPr wrap="square" lIns="0" tIns="0" rIns="0" bIns="0" rtlCol="0" anchor="ctr"/>
          <a:lstStyle/>
          <a:p>
            <a:pPr indent="0" marL="0">
              <a:buNone/>
            </a:pPr>
            <a:r>
              <a:rPr lang="en-US" sz="1100" dirty="0">
                <a:solidFill>
                  <a:srgbClr val="2F4257"/>
                </a:solidFill>
                <a:latin typeface="Helvetica Neue Light" pitchFamily="34" charset="0"/>
                <a:ea typeface="Helvetica Neue Light" pitchFamily="34" charset="-122"/>
                <a:cs typeface="Helvetica Neue Light" pitchFamily="34" charset="-120"/>
              </a:rPr>
              <a:t>BREAKDOWN 2</a:t>
            </a:r>
            <a:endParaRPr lang="en-US" sz="1100" dirty="0"/>
          </a:p>
        </p:txBody>
      </p:sp>
      <p:sp>
        <p:nvSpPr>
          <p:cNvPr id="21" name="Text 18"/>
          <p:cNvSpPr/>
          <p:nvPr/>
        </p:nvSpPr>
        <p:spPr>
          <a:xfrm>
            <a:off x="5568696"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Edits each proposed step</a:t>
            </a:r>
            <a:endParaRPr lang="en-US" sz="1400" dirty="0"/>
          </a:p>
        </p:txBody>
      </p:sp>
      <p:sp>
        <p:nvSpPr>
          <p:cNvPr id="22" name="Shape 19"/>
          <p:cNvSpPr/>
          <p:nvPr/>
        </p:nvSpPr>
        <p:spPr>
          <a:xfrm>
            <a:off x="7872984" y="2560320"/>
            <a:ext cx="2103120" cy="109728"/>
          </a:xfrm>
          <a:prstGeom prst="rect">
            <a:avLst/>
          </a:prstGeom>
          <a:solidFill>
            <a:srgbClr val="B5532F"/>
          </a:solidFill>
          <a:ln w="12700">
            <a:solidFill>
              <a:srgbClr val="B5532F"/>
            </a:solidFill>
            <a:prstDash val="solid"/>
          </a:ln>
        </p:spPr>
        <p:txBody>
          <a:bodyPr/>
          <a:p/>
        </p:txBody>
      </p:sp>
      <p:sp>
        <p:nvSpPr>
          <p:cNvPr id="23" name="Shape 20"/>
          <p:cNvSpPr/>
          <p:nvPr/>
        </p:nvSpPr>
        <p:spPr>
          <a:xfrm>
            <a:off x="7872984"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24" name="Text 21"/>
          <p:cNvSpPr/>
          <p:nvPr/>
        </p:nvSpPr>
        <p:spPr>
          <a:xfrm>
            <a:off x="8010144"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Attention Budget</a:t>
            </a:r>
            <a:endParaRPr lang="en-US" sz="1600" dirty="0"/>
          </a:p>
        </p:txBody>
      </p:sp>
      <p:sp>
        <p:nvSpPr>
          <p:cNvPr id="25" name="Text 22"/>
          <p:cNvSpPr/>
          <p:nvPr/>
        </p:nvSpPr>
        <p:spPr>
          <a:xfrm>
            <a:off x="8010144" y="3611880"/>
            <a:ext cx="1828800" cy="274320"/>
          </a:xfrm>
          <a:prstGeom prst="rect">
            <a:avLst/>
          </a:prstGeom>
          <a:noFill/>
          <a:ln/>
        </p:spPr>
        <p:txBody>
          <a:bodyPr wrap="square" lIns="0" tIns="0" rIns="0" bIns="0" rtlCol="0" anchor="ctr"/>
          <a:lstStyle/>
          <a:p>
            <a:pPr indent="0" marL="0">
              <a:buNone/>
            </a:pPr>
            <a:r>
              <a:rPr lang="en-US" sz="1100" dirty="0">
                <a:solidFill>
                  <a:srgbClr val="B5532F"/>
                </a:solidFill>
                <a:latin typeface="Helvetica Neue Light" pitchFamily="34" charset="0"/>
                <a:ea typeface="Helvetica Neue Light" pitchFamily="34" charset="-122"/>
                <a:cs typeface="Helvetica Neue Light" pitchFamily="34" charset="-120"/>
              </a:rPr>
              <a:t>BREAKDOWN 3</a:t>
            </a:r>
            <a:endParaRPr lang="en-US" sz="1100" dirty="0"/>
          </a:p>
        </p:txBody>
      </p:sp>
      <p:sp>
        <p:nvSpPr>
          <p:cNvPr id="26" name="Text 23"/>
          <p:cNvSpPr/>
          <p:nvPr/>
        </p:nvSpPr>
        <p:spPr>
          <a:xfrm>
            <a:off x="8010144"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Sets a daily alert budget</a:t>
            </a:r>
            <a:endParaRPr lang="en-US" sz="1400" dirty="0"/>
          </a:p>
        </p:txBody>
      </p:sp>
      <p:sp>
        <p:nvSpPr>
          <p:cNvPr id="27" name="Shape 24"/>
          <p:cNvSpPr/>
          <p:nvPr/>
        </p:nvSpPr>
        <p:spPr>
          <a:xfrm>
            <a:off x="10314432" y="2560320"/>
            <a:ext cx="2103120" cy="109728"/>
          </a:xfrm>
          <a:prstGeom prst="rect">
            <a:avLst/>
          </a:prstGeom>
          <a:solidFill>
            <a:srgbClr val="4F6D5A"/>
          </a:solidFill>
          <a:ln w="12700">
            <a:solidFill>
              <a:srgbClr val="4F6D5A"/>
            </a:solidFill>
            <a:prstDash val="solid"/>
          </a:ln>
        </p:spPr>
        <p:txBody>
          <a:bodyPr/>
          <a:p/>
        </p:txBody>
      </p:sp>
      <p:sp>
        <p:nvSpPr>
          <p:cNvPr id="28" name="Shape 25"/>
          <p:cNvSpPr/>
          <p:nvPr/>
        </p:nvSpPr>
        <p:spPr>
          <a:xfrm>
            <a:off x="10314432" y="2670048"/>
            <a:ext cx="2103120" cy="3108960"/>
          </a:xfrm>
          <a:prstGeom prst="roundRect">
            <a:avLst>
              <a:gd name="adj" fmla="val 3478"/>
            </a:avLst>
          </a:prstGeom>
          <a:solidFill>
            <a:srgbClr val="FFFFFF"/>
          </a:solidFill>
          <a:ln w="12700">
            <a:solidFill>
              <a:srgbClr val="CFCFCF"/>
            </a:solidFill>
            <a:prstDash val="solid"/>
          </a:ln>
        </p:spPr>
        <p:txBody>
          <a:bodyPr/>
          <a:p/>
        </p:txBody>
      </p:sp>
      <p:sp>
        <p:nvSpPr>
          <p:cNvPr id="29" name="Text 26"/>
          <p:cNvSpPr/>
          <p:nvPr/>
        </p:nvSpPr>
        <p:spPr>
          <a:xfrm>
            <a:off x="10451592" y="2880360"/>
            <a:ext cx="1828800" cy="640080"/>
          </a:xfrm>
          <a:prstGeom prst="rect">
            <a:avLst/>
          </a:prstGeom>
          <a:noFill/>
          <a:ln/>
        </p:spPr>
        <p:txBody>
          <a:bodyPr wrap="square" lIns="0" tIns="0" rIns="0" bIns="0" rtlCol="0" anchor="t"/>
          <a:lstStyle/>
          <a:p>
            <a:pPr indent="0" marL="0">
              <a:buNone/>
            </a:pPr>
            <a:r>
              <a:rPr lang="en-US" sz="1600" b="1" dirty="0">
                <a:solidFill>
                  <a:srgbClr val="1B2A3A"/>
                </a:solidFill>
                <a:latin typeface="Helvetica Neue Light" pitchFamily="34" charset="0"/>
                <a:ea typeface="Helvetica Neue Light" pitchFamily="34" charset="-122"/>
                <a:cs typeface="Helvetica Neue Light" pitchFamily="34" charset="-120"/>
              </a:rPr>
              <a:t>Autonomy Ledger</a:t>
            </a:r>
            <a:endParaRPr lang="en-US" sz="1600" dirty="0"/>
          </a:p>
        </p:txBody>
      </p:sp>
      <p:sp>
        <p:nvSpPr>
          <p:cNvPr id="30" name="Text 27"/>
          <p:cNvSpPr/>
          <p:nvPr/>
        </p:nvSpPr>
        <p:spPr>
          <a:xfrm>
            <a:off x="10451592" y="3611880"/>
            <a:ext cx="1828800" cy="274320"/>
          </a:xfrm>
          <a:prstGeom prst="rect">
            <a:avLst/>
          </a:prstGeom>
          <a:noFill/>
          <a:ln/>
        </p:spPr>
        <p:txBody>
          <a:bodyPr wrap="square" lIns="0" tIns="0" rIns="0" bIns="0" rtlCol="0" anchor="ctr"/>
          <a:lstStyle/>
          <a:p>
            <a:pPr indent="0" marL="0">
              <a:buNone/>
            </a:pPr>
            <a:r>
              <a:rPr lang="en-US" sz="1100" dirty="0">
                <a:solidFill>
                  <a:srgbClr val="4F6D5A"/>
                </a:solidFill>
                <a:latin typeface="Helvetica Neue Light" pitchFamily="34" charset="0"/>
                <a:ea typeface="Helvetica Neue Light" pitchFamily="34" charset="-122"/>
                <a:cs typeface="Helvetica Neue Light" pitchFamily="34" charset="-120"/>
              </a:rPr>
              <a:t>BREAKDOWNS 2 AND 4</a:t>
            </a:r>
            <a:endParaRPr lang="en-US" sz="1100" dirty="0"/>
          </a:p>
        </p:txBody>
      </p:sp>
      <p:sp>
        <p:nvSpPr>
          <p:cNvPr id="31" name="Text 28"/>
          <p:cNvSpPr/>
          <p:nvPr/>
        </p:nvSpPr>
        <p:spPr>
          <a:xfrm>
            <a:off x="10451592" y="4023360"/>
            <a:ext cx="1828800" cy="164592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Levels, limits, and a 48-hour undo</a:t>
            </a:r>
            <a:endParaRPr lang="en-US" sz="1400" dirty="0"/>
          </a:p>
        </p:txBody>
      </p:sp>
      <p:sp>
        <p:nvSpPr>
          <p:cNvPr id="32" name="Text 29"/>
          <p:cNvSpPr/>
          <p:nvPr/>
        </p:nvSpPr>
        <p:spPr>
          <a:xfrm>
            <a:off x="548640" y="6217920"/>
            <a:ext cx="11905488" cy="457200"/>
          </a:xfrm>
          <a:prstGeom prst="rect">
            <a:avLst/>
          </a:prstGeom>
          <a:noFill/>
          <a:ln/>
        </p:spPr>
        <p:txBody>
          <a:bodyPr wrap="square" lIns="0" tIns="0" rIns="0" bIns="0" rtlCol="0" anchor="ctr"/>
          <a:lstStyle/>
          <a:p>
            <a:pPr indent="0" marL="0">
              <a:buNone/>
            </a:pPr>
            <a:r>
              <a:rPr lang="en-US" sz="1600" dirty="0">
                <a:solidFill>
                  <a:srgbClr val="1B2A3A"/>
                </a:solidFill>
                <a:latin typeface="Helvetica Neue Light" pitchFamily="34" charset="0"/>
                <a:ea typeface="Helvetica Neue Light" pitchFamily="34" charset="-122"/>
                <a:cs typeface="Helvetica Neue Light" pitchFamily="34" charset="-120"/>
              </a:rPr>
              <a:t>The loop: insight → condition → proposed steps → approval within limits → reason, re-checked → back to insight.</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Agentic support scales in three levels, each with limits</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The user sets the level for each goal. Act is off by default.</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7315200" cy="1371600"/>
          </a:xfrm>
          <a:prstGeom prst="roundRect">
            <a:avLst>
              <a:gd name="adj" fmla="val 5333"/>
            </a:avLst>
          </a:prstGeom>
          <a:solidFill>
            <a:srgbClr val="EEF2F0"/>
          </a:solidFill>
          <a:ln w="12700">
            <a:solidFill>
              <a:srgbClr val="4F6D5A"/>
            </a:solidFill>
            <a:prstDash val="solid"/>
          </a:ln>
        </p:spPr>
        <p:txBody>
          <a:bodyPr/>
          <a:p/>
        </p:txBody>
      </p:sp>
      <p:sp>
        <p:nvSpPr>
          <p:cNvPr id="8" name="Text 5"/>
          <p:cNvSpPr/>
          <p:nvPr/>
        </p:nvSpPr>
        <p:spPr>
          <a:xfrm>
            <a:off x="777240" y="2743200"/>
            <a:ext cx="6858000" cy="36576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Observe</a:t>
            </a:r>
            <a:endParaRPr lang="en-US" sz="1800" dirty="0"/>
          </a:p>
        </p:txBody>
      </p:sp>
      <p:sp>
        <p:nvSpPr>
          <p:cNvPr id="9" name="Text 6"/>
          <p:cNvSpPr/>
          <p:nvPr/>
        </p:nvSpPr>
        <p:spPr>
          <a:xfrm>
            <a:off x="777240" y="3200400"/>
            <a:ext cx="6858000" cy="5486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The agent watches and reports. Nothing is proposed.</a:t>
            </a:r>
            <a:endParaRPr lang="en-US" sz="1400" dirty="0"/>
          </a:p>
        </p:txBody>
      </p:sp>
      <p:sp>
        <p:nvSpPr>
          <p:cNvPr id="10" name="Shape 7"/>
          <p:cNvSpPr/>
          <p:nvPr/>
        </p:nvSpPr>
        <p:spPr>
          <a:xfrm>
            <a:off x="1097280" y="4206240"/>
            <a:ext cx="6766560" cy="1371600"/>
          </a:xfrm>
          <a:prstGeom prst="roundRect">
            <a:avLst>
              <a:gd name="adj" fmla="val 5333"/>
            </a:avLst>
          </a:prstGeom>
          <a:solidFill>
            <a:srgbClr val="D5E3DC"/>
          </a:solidFill>
          <a:ln w="12700">
            <a:solidFill>
              <a:srgbClr val="4F6D5A"/>
            </a:solidFill>
            <a:prstDash val="solid"/>
          </a:ln>
        </p:spPr>
        <p:txBody>
          <a:bodyPr/>
          <a:p/>
        </p:txBody>
      </p:sp>
      <p:sp>
        <p:nvSpPr>
          <p:cNvPr id="11" name="Text 8"/>
          <p:cNvSpPr/>
          <p:nvPr/>
        </p:nvSpPr>
        <p:spPr>
          <a:xfrm>
            <a:off x="1325880" y="4389120"/>
            <a:ext cx="6309360" cy="36576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Suggest</a:t>
            </a:r>
            <a:endParaRPr lang="en-US" sz="1800" dirty="0"/>
          </a:p>
        </p:txBody>
      </p:sp>
      <p:sp>
        <p:nvSpPr>
          <p:cNvPr id="12" name="Text 9"/>
          <p:cNvSpPr/>
          <p:nvPr/>
        </p:nvSpPr>
        <p:spPr>
          <a:xfrm>
            <a:off x="1325880" y="4846320"/>
            <a:ext cx="6309360" cy="5486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The agent proposes steps with sources. The user decides each one.</a:t>
            </a:r>
            <a:endParaRPr lang="en-US" sz="1400" dirty="0"/>
          </a:p>
        </p:txBody>
      </p:sp>
      <p:sp>
        <p:nvSpPr>
          <p:cNvPr id="13" name="Shape 10"/>
          <p:cNvSpPr/>
          <p:nvPr/>
        </p:nvSpPr>
        <p:spPr>
          <a:xfrm>
            <a:off x="1645920" y="5852160"/>
            <a:ext cx="6217920" cy="1371600"/>
          </a:xfrm>
          <a:prstGeom prst="roundRect">
            <a:avLst>
              <a:gd name="adj" fmla="val 5333"/>
            </a:avLst>
          </a:prstGeom>
          <a:solidFill>
            <a:srgbClr val="4F6D5A"/>
          </a:solidFill>
          <a:ln w="12700">
            <a:solidFill>
              <a:srgbClr val="4F6D5A"/>
            </a:solidFill>
            <a:prstDash val="solid"/>
          </a:ln>
        </p:spPr>
        <p:txBody>
          <a:bodyPr/>
          <a:p/>
        </p:txBody>
      </p:sp>
      <p:sp>
        <p:nvSpPr>
          <p:cNvPr id="14" name="Text 11"/>
          <p:cNvSpPr/>
          <p:nvPr/>
        </p:nvSpPr>
        <p:spPr>
          <a:xfrm>
            <a:off x="1874520" y="6035040"/>
            <a:ext cx="5760720" cy="365760"/>
          </a:xfrm>
          <a:prstGeom prst="rect">
            <a:avLst/>
          </a:prstGeom>
          <a:noFill/>
          <a:ln/>
        </p:spPr>
        <p:txBody>
          <a:bodyPr wrap="square" lIns="0" tIns="0" rIns="0" bIns="0" rtlCol="0" anchor="ctr"/>
          <a:lstStyle/>
          <a:p>
            <a:pPr indent="0" marL="0">
              <a:buNone/>
            </a:pPr>
            <a:r>
              <a:rPr lang="en-US" sz="1800" b="1" dirty="0">
                <a:solidFill>
                  <a:srgbClr val="FFFFFF"/>
                </a:solidFill>
                <a:latin typeface="Helvetica Neue Light" pitchFamily="34" charset="0"/>
                <a:ea typeface="Helvetica Neue Light" pitchFamily="34" charset="-122"/>
                <a:cs typeface="Helvetica Neue Light" pitchFamily="34" charset="-120"/>
              </a:rPr>
              <a:t>Act within limits</a:t>
            </a:r>
            <a:endParaRPr lang="en-US" sz="1800" dirty="0"/>
          </a:p>
        </p:txBody>
      </p:sp>
      <p:sp>
        <p:nvSpPr>
          <p:cNvPr id="15" name="Text 12"/>
          <p:cNvSpPr/>
          <p:nvPr/>
        </p:nvSpPr>
        <p:spPr>
          <a:xfrm>
            <a:off x="1874520" y="6492240"/>
            <a:ext cx="5760720" cy="548640"/>
          </a:xfrm>
          <a:prstGeom prst="rect">
            <a:avLst/>
          </a:prstGeom>
          <a:noFill/>
          <a:ln/>
        </p:spPr>
        <p:txBody>
          <a:bodyPr wrap="square" lIns="0" tIns="0" rIns="0" bIns="0" rtlCol="0" anchor="ctr"/>
          <a:lstStyle/>
          <a:p>
            <a:pPr indent="0" marL="0">
              <a:buNone/>
            </a:pPr>
            <a:r>
              <a:rPr lang="en-US" sz="1400" dirty="0">
                <a:solidFill>
                  <a:srgbClr val="FFFFFF"/>
                </a:solidFill>
                <a:latin typeface="Helvetica Neue Light" pitchFamily="34" charset="0"/>
                <a:ea typeface="Helvetica Neue Light" pitchFamily="34" charset="-122"/>
                <a:cs typeface="Helvetica Neue Light" pitchFamily="34" charset="-120"/>
              </a:rPr>
              <a:t>The agent acts inside limits the user set. Every action is logged and can be undone within 48 hours.</a:t>
            </a:r>
            <a:endParaRPr lang="en-US" sz="1400" dirty="0"/>
          </a:p>
        </p:txBody>
      </p:sp>
      <p:sp>
        <p:nvSpPr>
          <p:cNvPr id="16" name="Text 13"/>
          <p:cNvSpPr/>
          <p:nvPr/>
        </p:nvSpPr>
        <p:spPr>
          <a:xfrm>
            <a:off x="8412480" y="2560320"/>
            <a:ext cx="393192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GUARDRAILS</a:t>
            </a:r>
            <a:endParaRPr lang="en-US" sz="1280" dirty="0"/>
          </a:p>
        </p:txBody>
      </p:sp>
      <p:sp>
        <p:nvSpPr>
          <p:cNvPr id="17" name="Text 14"/>
          <p:cNvSpPr/>
          <p:nvPr/>
        </p:nvSpPr>
        <p:spPr>
          <a:xfrm>
            <a:off x="8412480" y="2889504"/>
            <a:ext cx="39319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Critical alerts always pass.</a:t>
            </a:r>
            <a:endParaRPr lang="en-US" sz="1500" dirty="0"/>
          </a:p>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The advice line holds: proposed-step wording only.</a:t>
            </a:r>
            <a:endParaRPr lang="en-US" sz="1500" dirty="0"/>
          </a:p>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Limits belong to the user, not the model.</a:t>
            </a:r>
            <a:endParaRPr lang="en-US" sz="1500" dirty="0"/>
          </a:p>
        </p:txBody>
      </p:sp>
      <p:sp>
        <p:nvSpPr>
          <p:cNvPr id="18" name="Text 15"/>
          <p:cNvSpPr/>
          <p:nvPr/>
        </p:nvSpPr>
        <p:spPr>
          <a:xfrm>
            <a:off x="8412480" y="5303520"/>
            <a:ext cx="393192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WHY IT SCALES</a:t>
            </a:r>
            <a:endParaRPr lang="en-US" sz="1280" dirty="0"/>
          </a:p>
        </p:txBody>
      </p:sp>
      <p:sp>
        <p:nvSpPr>
          <p:cNvPr id="19" name="Text 16"/>
          <p:cNvSpPr/>
          <p:nvPr/>
        </p:nvSpPr>
        <p:spPr>
          <a:xfrm>
            <a:off x="8412480" y="5632704"/>
            <a:ext cx="39319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The same three levels apply to every goal and every new agent surface.</a:t>
            </a:r>
            <a:endParaRPr lang="en-US" sz="15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How agentic support scales across the product</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One token source, one component registry, and one set of AI rules, shared by every surface.</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8" name="Text 5"/>
          <p:cNvSpPr/>
          <p:nvPr/>
        </p:nvSpPr>
        <p:spPr>
          <a:xfrm>
            <a:off x="73152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Tokens</a:t>
            </a:r>
            <a:endParaRPr lang="en-US" sz="1800" dirty="0"/>
          </a:p>
        </p:txBody>
      </p:sp>
      <p:sp>
        <p:nvSpPr>
          <p:cNvPr id="9" name="Text 6"/>
          <p:cNvSpPr/>
          <p:nvPr/>
        </p:nvSpPr>
        <p:spPr>
          <a:xfrm>
            <a:off x="73152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One source for colour, type, and spacing, shared by Figma and Swift.</a:t>
            </a:r>
            <a:endParaRPr lang="en-US" sz="1400" dirty="0"/>
          </a:p>
        </p:txBody>
      </p:sp>
      <p:sp>
        <p:nvSpPr>
          <p:cNvPr id="10" name="Text 7"/>
          <p:cNvSpPr/>
          <p:nvPr/>
        </p:nvSpPr>
        <p:spPr>
          <a:xfrm>
            <a:off x="320040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1" name="Shape 8"/>
          <p:cNvSpPr/>
          <p:nvPr/>
        </p:nvSpPr>
        <p:spPr>
          <a:xfrm>
            <a:off x="365760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12" name="Text 9"/>
          <p:cNvSpPr/>
          <p:nvPr/>
        </p:nvSpPr>
        <p:spPr>
          <a:xfrm>
            <a:off x="384048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Components</a:t>
            </a:r>
            <a:endParaRPr lang="en-US" sz="1800" dirty="0"/>
          </a:p>
        </p:txBody>
      </p:sp>
      <p:sp>
        <p:nvSpPr>
          <p:cNvPr id="13" name="Text 10"/>
          <p:cNvSpPr/>
          <p:nvPr/>
        </p:nvSpPr>
        <p:spPr>
          <a:xfrm>
            <a:off x="384048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Existing, Extended, or New. New components go through review first.</a:t>
            </a:r>
            <a:endParaRPr lang="en-US" sz="1400" dirty="0"/>
          </a:p>
        </p:txBody>
      </p:sp>
      <p:sp>
        <p:nvSpPr>
          <p:cNvPr id="14" name="Text 11"/>
          <p:cNvSpPr/>
          <p:nvPr/>
        </p:nvSpPr>
        <p:spPr>
          <a:xfrm>
            <a:off x="630936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5" name="Shape 12"/>
          <p:cNvSpPr/>
          <p:nvPr/>
        </p:nvSpPr>
        <p:spPr>
          <a:xfrm>
            <a:off x="676656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16" name="Text 13"/>
          <p:cNvSpPr/>
          <p:nvPr/>
        </p:nvSpPr>
        <p:spPr>
          <a:xfrm>
            <a:off x="694944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Screens</a:t>
            </a:r>
            <a:endParaRPr lang="en-US" sz="1800" dirty="0"/>
          </a:p>
        </p:txBody>
      </p:sp>
      <p:sp>
        <p:nvSpPr>
          <p:cNvPr id="17" name="Text 14"/>
          <p:cNvSpPr/>
          <p:nvPr/>
        </p:nvSpPr>
        <p:spPr>
          <a:xfrm>
            <a:off x="694944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Five screens, each with empty, loading, error, and offline states.</a:t>
            </a:r>
            <a:endParaRPr lang="en-US" sz="1400" dirty="0"/>
          </a:p>
        </p:txBody>
      </p:sp>
      <p:sp>
        <p:nvSpPr>
          <p:cNvPr id="18" name="Text 15"/>
          <p:cNvSpPr/>
          <p:nvPr/>
        </p:nvSpPr>
        <p:spPr>
          <a:xfrm>
            <a:off x="941832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9" name="Shape 16"/>
          <p:cNvSpPr/>
          <p:nvPr/>
        </p:nvSpPr>
        <p:spPr>
          <a:xfrm>
            <a:off x="987552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20" name="Text 17"/>
          <p:cNvSpPr/>
          <p:nvPr/>
        </p:nvSpPr>
        <p:spPr>
          <a:xfrm>
            <a:off x="1005840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Agent surfaces</a:t>
            </a:r>
            <a:endParaRPr lang="en-US" sz="1800" dirty="0"/>
          </a:p>
        </p:txBody>
      </p:sp>
      <p:sp>
        <p:nvSpPr>
          <p:cNvPr id="21" name="Text 18"/>
          <p:cNvSpPr/>
          <p:nvPr/>
        </p:nvSpPr>
        <p:spPr>
          <a:xfrm>
            <a:off x="1005840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Any new AI feature reuses the same levels, limits, and proposed-step wording.</a:t>
            </a:r>
            <a:endParaRPr lang="en-US" sz="1400" dirty="0"/>
          </a:p>
        </p:txBody>
      </p:sp>
      <p:sp>
        <p:nvSpPr>
          <p:cNvPr id="22" name="Text 19"/>
          <p:cNvSpPr/>
          <p:nvPr/>
        </p:nvSpPr>
        <p:spPr>
          <a:xfrm>
            <a:off x="548640" y="5394960"/>
            <a:ext cx="548640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AGENTIC STORY</a:t>
            </a:r>
            <a:endParaRPr lang="en-US" sz="1280" dirty="0"/>
          </a:p>
        </p:txBody>
      </p:sp>
      <p:sp>
        <p:nvSpPr>
          <p:cNvPr id="23" name="Text 20"/>
          <p:cNvSpPr/>
          <p:nvPr/>
        </p:nvSpPr>
        <p:spPr>
          <a:xfrm>
            <a:off x="548640" y="5724144"/>
            <a:ext cx="548640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AI features are built from these parts, not one-off screens. Each new agent surface reuses the rules, so the product scales without losing the user’s control.</a:t>
            </a:r>
            <a:endParaRPr lang="en-US" sz="1500" dirty="0"/>
          </a:p>
        </p:txBody>
      </p:sp>
      <p:sp>
        <p:nvSpPr>
          <p:cNvPr id="24" name="Text 21"/>
          <p:cNvSpPr/>
          <p:nvPr/>
        </p:nvSpPr>
        <p:spPr>
          <a:xfrm>
            <a:off x="6400800" y="5394960"/>
            <a:ext cx="603504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25" name="Text 22"/>
          <p:cNvSpPr/>
          <p:nvPr/>
        </p:nvSpPr>
        <p:spPr>
          <a:xfrm>
            <a:off x="6400800" y="5724144"/>
            <a:ext cx="603504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I designed the system that lets agentic support be built at scale, and I wrote its rules before the screens.</a:t>
            </a:r>
            <a:endParaRPr lang="en-US" sz="15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ADAPT</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Adapt as a plan, not a batch</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Set a goal, review the plan, then approve each step. Nothing runs without approval.</a:t>
            </a:r>
          </a:p>
        </p:txBody>
      </p:sp>
      <p:sp>
        <p:nvSpPr>
          <p:cNvPr id="6" name="TextBox 5"/>
          <p:cNvSpPr txBox="1"/>
          <p:nvPr/>
        </p:nvSpPr>
        <p:spPr>
          <a:xfrm>
            <a:off x="82296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SET A GOAL</a:t>
            </a:r>
          </a:p>
        </p:txBody>
      </p:sp>
      <p:sp>
        <p:nvSpPr>
          <p:cNvPr id="7" name="TextBox 6"/>
          <p:cNvSpPr txBox="1"/>
          <p:nvPr/>
        </p:nvSpPr>
        <p:spPr>
          <a:xfrm>
            <a:off x="82296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The agent drafts a plan.</a:t>
            </a:r>
          </a:p>
        </p:txBody>
      </p:sp>
      <p:sp>
        <p:nvSpPr>
          <p:cNvPr id="8" name="TextBox 7"/>
          <p:cNvSpPr txBox="1"/>
          <p:nvPr/>
        </p:nvSpPr>
        <p:spPr>
          <a:xfrm>
            <a:off x="457200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PLAN PREVIEW</a:t>
            </a:r>
          </a:p>
        </p:txBody>
      </p:sp>
      <p:sp>
        <p:nvSpPr>
          <p:cNvPr id="9" name="TextBox 8"/>
          <p:cNvSpPr txBox="1"/>
          <p:nvPr/>
        </p:nvSpPr>
        <p:spPr>
          <a:xfrm>
            <a:off x="457200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proposed step shows its effect on the allocation.</a:t>
            </a:r>
          </a:p>
        </p:txBody>
      </p:sp>
      <p:sp>
        <p:nvSpPr>
          <p:cNvPr id="10" name="TextBox 9"/>
          <p:cNvSpPr txBox="1"/>
          <p:nvPr/>
        </p:nvSpPr>
        <p:spPr>
          <a:xfrm>
            <a:off x="8321040" y="2743200"/>
            <a:ext cx="3840480" cy="274320"/>
          </a:xfrm>
          <a:prstGeom prst="rect">
            <a:avLst/>
          </a:prstGeom>
          <a:noFill/>
        </p:spPr>
        <p:txBody>
          <a:bodyPr wrap="square" lIns="0" rIns="0" tIns="0" bIns="0">
            <a:spAutoFit/>
          </a:bodyPr>
          <a:lstStyle/>
          <a:p>
            <a:pPr algn="l"/>
            <a:r>
              <a:rPr sz="1100">
                <a:solidFill>
                  <a:srgbClr val="858A97"/>
                </a:solidFill>
                <a:latin typeface="Helvetica Neue Medium"/>
              </a:rPr>
              <a:t>STEP REVIEW</a:t>
            </a:r>
          </a:p>
        </p:txBody>
      </p:sp>
      <p:sp>
        <p:nvSpPr>
          <p:cNvPr id="11" name="TextBox 10"/>
          <p:cNvSpPr txBox="1"/>
          <p:nvPr/>
        </p:nvSpPr>
        <p:spPr>
          <a:xfrm>
            <a:off x="8321040" y="3054096"/>
            <a:ext cx="384048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step shows its reason and source. The user approves, edits, or skips it.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METHODOLOGY</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How the AI behaves, and how we will test it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AI BEHAVIOR · DESIGNED, MOCK DATA</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sentiment summaries, with the screen as the source.</a:t>
            </a:r>
          </a:p>
          <a:p>
            <a:pPr algn="l">
              <a:spcAft>
                <a:spcPts val="600"/>
              </a:spcAft>
            </a:pPr>
            <a:r>
              <a:rPr sz="1600">
                <a:solidFill>
                  <a:srgbClr val="14161D"/>
                </a:solidFill>
                <a:latin typeface="Helvetica Neue Light"/>
              </a:rPr>
              <a:t>Prospect: opportunity cards with upside and downside.</a:t>
            </a:r>
          </a:p>
          <a:p>
            <a:pPr algn="l">
              <a:spcAft>
                <a:spcPts val="600"/>
              </a:spcAft>
            </a:pPr>
            <a:r>
              <a:rPr sz="1600">
                <a:solidFill>
                  <a:srgbClr val="14161D"/>
                </a:solidFill>
                <a:latin typeface="Helvetica Neue Light"/>
              </a:rPr>
              <a:t>Guard: alerts ranked by severity; mark as read.</a:t>
            </a:r>
          </a:p>
          <a:p>
            <a:pPr algn="l">
              <a:spcAft>
                <a:spcPts val="600"/>
              </a:spcAft>
            </a:pPr>
            <a:r>
              <a:rPr sz="1600">
                <a:solidFill>
                  <a:srgbClr val="14161D"/>
                </a:solidFill>
                <a:latin typeface="Helvetica Neue Light"/>
              </a:rPr>
              <a:t>Adapt: before and after allocation, and a reviewable list of proposed steps.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VALIDATION · PLANNED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Five-person think-aloud on the share and dollar flows.</a:t>
            </a:r>
          </a:p>
          <a:p>
            <a:pPr algn="l">
              <a:spcAft>
                <a:spcPts val="600"/>
              </a:spcAft>
            </a:pPr>
            <a:r>
              <a:rPr sz="1600">
                <a:solidFill>
                  <a:srgbClr val="14161D"/>
                </a:solidFill>
                <a:latin typeface="Helvetica Neue Light"/>
              </a:rPr>
              <a:t>Comprehension check on the labels for Insight, Prospect, Guard, and Adapt.</a:t>
            </a:r>
          </a:p>
          <a:p>
            <a:pPr algn="l">
              <a:spcAft>
                <a:spcPts val="600"/>
              </a:spcAft>
            </a:pPr>
            <a:r>
              <a:rPr sz="1600">
                <a:solidFill>
                  <a:srgbClr val="14161D"/>
                </a:solidFill>
                <a:latin typeface="Helvetica Neue Light"/>
              </a:rPr>
              <a:t>Card sort on the five tabs.</a:t>
            </a:r>
          </a:p>
          <a:p>
            <a:pPr algn="l">
              <a:spcAft>
                <a:spcPts val="600"/>
              </a:spcAft>
            </a:pPr>
            <a:r>
              <a:rPr sz="1600">
                <a:solidFill>
                  <a:srgbClr val="14161D"/>
                </a:solidFill>
                <a:latin typeface="Helvetica Neue Light"/>
              </a:rPr>
              <a:t>Compliance review of trade and AI copy.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RESULTS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exists today, and what we still need to measure</a:t>
            </a:r>
          </a:p>
        </p:txBody>
      </p:sp>
      <p:sp>
        <p:nvSpPr>
          <p:cNvPr id="5" name="TextBox 4"/>
          <p:cNvSpPr txBox="1"/>
          <p:nvPr/>
        </p:nvSpPr>
        <p:spPr>
          <a:xfrm>
            <a:off x="82296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5</a:t>
            </a:r>
          </a:p>
        </p:txBody>
      </p:sp>
      <p:sp>
        <p:nvSpPr>
          <p:cNvPr id="6" name="TextBox 5"/>
          <p:cNvSpPr txBox="1"/>
          <p:nvPr/>
        </p:nvSpPr>
        <p:spPr>
          <a:xfrm>
            <a:off x="82296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core iOS screens, each with a ViewModel</a:t>
            </a:r>
          </a:p>
        </p:txBody>
      </p:sp>
      <p:sp>
        <p:nvSpPr>
          <p:cNvPr id="7" name="TextBox 6"/>
          <p:cNvSpPr txBox="1"/>
          <p:nvPr/>
        </p:nvSpPr>
        <p:spPr>
          <a:xfrm>
            <a:off x="374904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8</a:t>
            </a:r>
          </a:p>
        </p:txBody>
      </p:sp>
      <p:sp>
        <p:nvSpPr>
          <p:cNvPr id="8" name="TextBox 7"/>
          <p:cNvSpPr txBox="1"/>
          <p:nvPr/>
        </p:nvSpPr>
        <p:spPr>
          <a:xfrm>
            <a:off x="374904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steps in each trade flow, share and dollar</a:t>
            </a:r>
          </a:p>
        </p:txBody>
      </p:sp>
      <p:sp>
        <p:nvSpPr>
          <p:cNvPr id="9" name="TextBox 8"/>
          <p:cNvSpPr txBox="1"/>
          <p:nvPr/>
        </p:nvSpPr>
        <p:spPr>
          <a:xfrm>
            <a:off x="667512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0" name="TextBox 9"/>
          <p:cNvSpPr txBox="1"/>
          <p:nvPr/>
        </p:nvSpPr>
        <p:spPr>
          <a:xfrm>
            <a:off x="667512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interactive prototypes published, plus this case study</a:t>
            </a:r>
          </a:p>
        </p:txBody>
      </p:sp>
      <p:sp>
        <p:nvSpPr>
          <p:cNvPr id="11" name="TextBox 10"/>
          <p:cNvSpPr txBox="1"/>
          <p:nvPr/>
        </p:nvSpPr>
        <p:spPr>
          <a:xfrm>
            <a:off x="960120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2" name="TextBox 11"/>
          <p:cNvSpPr txBox="1"/>
          <p:nvPr/>
        </p:nvSpPr>
        <p:spPr>
          <a:xfrm>
            <a:off x="960120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wireframe pages: states, agent, and full experience</a:t>
            </a:r>
          </a:p>
        </p:txBody>
      </p:sp>
      <p:sp>
        <p:nvSpPr>
          <p:cNvPr id="13" name="TextBox 12"/>
          <p:cNvSpPr txBox="1"/>
          <p:nvPr/>
        </p:nvSpPr>
        <p:spPr>
          <a:xfrm>
            <a:off x="822960" y="5760720"/>
            <a:ext cx="11356848" cy="274320"/>
          </a:xfrm>
          <a:prstGeom prst="rect">
            <a:avLst/>
          </a:prstGeom>
          <a:noFill/>
        </p:spPr>
        <p:txBody>
          <a:bodyPr wrap="square" lIns="0" rIns="0" tIns="0" bIns="0">
            <a:spAutoFit/>
          </a:bodyPr>
          <a:lstStyle/>
          <a:p>
            <a:pPr algn="l"/>
            <a:r>
              <a:rPr sz="1100">
                <a:solidFill>
                  <a:srgbClr val="858A97"/>
                </a:solidFill>
                <a:latin typeface="Helvetica Neue Medium"/>
              </a:rPr>
              <a:t>OUTCOMES · NOT YET MEASURED</a:t>
            </a:r>
          </a:p>
        </p:txBody>
      </p:sp>
      <p:sp>
        <p:nvSpPr>
          <p:cNvPr id="14" name="TextBox 13"/>
          <p:cNvSpPr txBox="1"/>
          <p:nvPr/>
        </p:nvSpPr>
        <p:spPr>
          <a:xfrm>
            <a:off x="822960" y="6071616"/>
            <a:ext cx="11356848"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Time to complete a trade, task success, the share of users who open an AI screen in week one, and a usability score. Targets are planned and will be set with stakeholders before the first test.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PROTOTYPE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Click through the flows yourself</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TO CLICK</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Start at the Dashboard. Open Insight, then start a share trade and follow it through to the outcome.</a:t>
            </a:r>
          </a:p>
          <a:p>
            <a:pPr algn="l">
              <a:spcAft>
                <a:spcPts val="600"/>
              </a:spcAft>
            </a:pPr>
            <a:r>
              <a:rPr sz="1600">
                <a:solidFill>
                  <a:srgbClr val="14161D"/>
                </a:solidFill>
                <a:latin typeface="Helvetica Neue Light"/>
              </a:rPr>
              <a:t>Then open Adapt and set a goal. Each proposed step can be edited before approval.</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WHERE IT LIVES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Figma wireframes, pages 06, 07, and 08: states, agent flows, and the full experience.</a:t>
            </a:r>
          </a:p>
          <a:p>
            <a:pPr algn="l">
              <a:spcAft>
                <a:spcPts val="600"/>
              </a:spcAft>
            </a:pPr>
            <a:r>
              <a:rPr sz="1600">
                <a:solidFill>
                  <a:srgbClr val="14161D"/>
                </a:solidFill>
                <a:latin typeface="Helvetica Neue Light"/>
              </a:rPr>
              <a:t>Working documents: the FigJam board.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DATA</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Designed for mock data, and labelled as mock everywhere</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No live data is connected. Every value is labelled.</a:t>
            </a:r>
          </a:p>
        </p:txBody>
      </p:sp>
      <p:sp>
        <p:nvSpPr>
          <p:cNvPr id="6" name="TextBox 5"/>
          <p:cNvSpPr txBox="1"/>
          <p:nvPr/>
        </p:nvSpPr>
        <p:spPr>
          <a:xfrm>
            <a:off x="822960" y="2560320"/>
            <a:ext cx="2926079" cy="274320"/>
          </a:xfrm>
          <a:prstGeom prst="rect">
            <a:avLst/>
          </a:prstGeom>
          <a:noFill/>
        </p:spPr>
        <p:txBody>
          <a:bodyPr wrap="square" lIns="0" rIns="0" tIns="0" bIns="0">
            <a:spAutoFit/>
          </a:bodyPr>
          <a:lstStyle/>
          <a:p>
            <a:pPr algn="l"/>
            <a:r>
              <a:rPr sz="1100">
                <a:solidFill>
                  <a:srgbClr val="858A97"/>
                </a:solidFill>
                <a:latin typeface="Helvetica Neue Medium"/>
              </a:rPr>
              <a:t>DATA</a:t>
            </a:r>
          </a:p>
        </p:txBody>
      </p:sp>
      <p:sp>
        <p:nvSpPr>
          <p:cNvPr id="7" name="TextBox 6"/>
          <p:cNvSpPr txBox="1"/>
          <p:nvPr/>
        </p:nvSpPr>
        <p:spPr>
          <a:xfrm>
            <a:off x="3931920" y="2560320"/>
            <a:ext cx="4023359" cy="274320"/>
          </a:xfrm>
          <a:prstGeom prst="rect">
            <a:avLst/>
          </a:prstGeom>
          <a:noFill/>
        </p:spPr>
        <p:txBody>
          <a:bodyPr wrap="square" lIns="0" rIns="0" tIns="0" bIns="0">
            <a:spAutoFit/>
          </a:bodyPr>
          <a:lstStyle/>
          <a:p>
            <a:pPr algn="l"/>
            <a:r>
              <a:rPr sz="1100">
                <a:solidFill>
                  <a:srgbClr val="858A97"/>
                </a:solidFill>
                <a:latin typeface="Helvetica Neue Medium"/>
              </a:rPr>
              <a:t>USED FOR</a:t>
            </a:r>
          </a:p>
        </p:txBody>
      </p:sp>
      <p:sp>
        <p:nvSpPr>
          <p:cNvPr id="8" name="TextBox 7"/>
          <p:cNvSpPr txBox="1"/>
          <p:nvPr/>
        </p:nvSpPr>
        <p:spPr>
          <a:xfrm>
            <a:off x="8138159" y="2560320"/>
            <a:ext cx="4407407" cy="274320"/>
          </a:xfrm>
          <a:prstGeom prst="rect">
            <a:avLst/>
          </a:prstGeom>
          <a:noFill/>
        </p:spPr>
        <p:txBody>
          <a:bodyPr wrap="square" lIns="0" rIns="0" tIns="0" bIns="0">
            <a:spAutoFit/>
          </a:bodyPr>
          <a:lstStyle/>
          <a:p>
            <a:pPr algn="l"/>
            <a:r>
              <a:rPr sz="1100">
                <a:solidFill>
                  <a:srgbClr val="858A97"/>
                </a:solidFill>
                <a:latin typeface="Helvetica Neue Medium"/>
              </a:rPr>
              <a:t>SOURCE IN THIS PROTOTYPE</a:t>
            </a:r>
          </a:p>
        </p:txBody>
      </p:sp>
      <p:cxnSp>
        <p:nvCxnSpPr>
          <p:cNvPr id="9" name="Connector 8"/>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017520"/>
            <a:ext cx="2880360" cy="731520"/>
          </a:xfrm>
          <a:prstGeom prst="rect">
            <a:avLst/>
          </a:prstGeom>
          <a:noFill/>
        </p:spPr>
        <p:txBody>
          <a:bodyPr wrap="square" lIns="0" rIns="0" tIns="0" bIns="0">
            <a:spAutoFit/>
          </a:bodyPr>
          <a:lstStyle/>
          <a:p>
            <a:pPr algn="l"/>
            <a:r>
              <a:rPr sz="1400">
                <a:solidFill>
                  <a:srgbClr val="14161D"/>
                </a:solidFill>
                <a:latin typeface="Helvetica Neue Light"/>
              </a:rPr>
              <a:t>Quotes and holdings</a:t>
            </a:r>
          </a:p>
        </p:txBody>
      </p:sp>
      <p:sp>
        <p:nvSpPr>
          <p:cNvPr id="11" name="TextBox 10"/>
          <p:cNvSpPr txBox="1"/>
          <p:nvPr/>
        </p:nvSpPr>
        <p:spPr>
          <a:xfrm>
            <a:off x="3931920" y="3017520"/>
            <a:ext cx="3977639" cy="731520"/>
          </a:xfrm>
          <a:prstGeom prst="rect">
            <a:avLst/>
          </a:prstGeom>
          <a:noFill/>
        </p:spPr>
        <p:txBody>
          <a:bodyPr wrap="square" lIns="0" rIns="0" tIns="0" bIns="0">
            <a:spAutoFit/>
          </a:bodyPr>
          <a:lstStyle/>
          <a:p>
            <a:pPr algn="l"/>
            <a:r>
              <a:rPr sz="1400">
                <a:solidFill>
                  <a:srgbClr val="14161D"/>
                </a:solidFill>
                <a:latin typeface="Helvetica Neue Light"/>
              </a:rPr>
              <a:t>Dashboard, trade ticket</a:t>
            </a:r>
          </a:p>
        </p:txBody>
      </p:sp>
      <p:sp>
        <p:nvSpPr>
          <p:cNvPr id="12" name="TextBox 11"/>
          <p:cNvSpPr txBox="1"/>
          <p:nvPr/>
        </p:nvSpPr>
        <p:spPr>
          <a:xfrm>
            <a:off x="8138159" y="301752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service, with a 0.8-second delay</a:t>
            </a:r>
          </a:p>
        </p:txBody>
      </p:sp>
      <p:cxnSp>
        <p:nvCxnSpPr>
          <p:cNvPr id="13" name="Connector 12"/>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3840480"/>
            <a:ext cx="2880360" cy="731520"/>
          </a:xfrm>
          <a:prstGeom prst="rect">
            <a:avLst/>
          </a:prstGeom>
          <a:noFill/>
        </p:spPr>
        <p:txBody>
          <a:bodyPr wrap="square" lIns="0" rIns="0" tIns="0" bIns="0">
            <a:spAutoFit/>
          </a:bodyPr>
          <a:lstStyle/>
          <a:p>
            <a:pPr algn="l"/>
            <a:r>
              <a:rPr sz="1400">
                <a:solidFill>
                  <a:srgbClr val="14161D"/>
                </a:solidFill>
                <a:latin typeface="Helvetica Neue Light"/>
              </a:rPr>
              <a:t>Insight summaries</a:t>
            </a:r>
          </a:p>
        </p:txBody>
      </p:sp>
      <p:sp>
        <p:nvSpPr>
          <p:cNvPr id="15" name="TextBox 14"/>
          <p:cNvSpPr txBox="1"/>
          <p:nvPr/>
        </p:nvSpPr>
        <p:spPr>
          <a:xfrm>
            <a:off x="3931920" y="3840480"/>
            <a:ext cx="3977639" cy="731520"/>
          </a:xfrm>
          <a:prstGeom prst="rect">
            <a:avLst/>
          </a:prstGeom>
          <a:noFill/>
        </p:spPr>
        <p:txBody>
          <a:bodyPr wrap="square" lIns="0" rIns="0" tIns="0" bIns="0">
            <a:spAutoFit/>
          </a:bodyPr>
          <a:lstStyle/>
          <a:p>
            <a:pPr algn="l"/>
            <a:r>
              <a:rPr sz="1400">
                <a:solidFill>
                  <a:srgbClr val="14161D"/>
                </a:solidFill>
                <a:latin typeface="Helvetica Neue Light"/>
              </a:rPr>
              <a:t>Sentiment and the source line</a:t>
            </a:r>
          </a:p>
        </p:txBody>
      </p:sp>
      <p:sp>
        <p:nvSpPr>
          <p:cNvPr id="16" name="TextBox 15"/>
          <p:cNvSpPr txBox="1"/>
          <p:nvPr/>
        </p:nvSpPr>
        <p:spPr>
          <a:xfrm>
            <a:off x="8138159" y="384048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content with a dated source line</a:t>
            </a:r>
          </a:p>
        </p:txBody>
      </p:sp>
      <p:cxnSp>
        <p:nvCxnSpPr>
          <p:cNvPr id="17" name="Connector 16"/>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663440"/>
            <a:ext cx="2880360" cy="731520"/>
          </a:xfrm>
          <a:prstGeom prst="rect">
            <a:avLst/>
          </a:prstGeom>
          <a:noFill/>
        </p:spPr>
        <p:txBody>
          <a:bodyPr wrap="square" lIns="0" rIns="0" tIns="0" bIns="0">
            <a:spAutoFit/>
          </a:bodyPr>
          <a:lstStyle/>
          <a:p>
            <a:pPr algn="l"/>
            <a:r>
              <a:rPr sz="1400">
                <a:solidFill>
                  <a:srgbClr val="14161D"/>
                </a:solidFill>
                <a:latin typeface="Helvetica Neue Light"/>
              </a:rPr>
              <a:t>Opportunities</a:t>
            </a:r>
          </a:p>
        </p:txBody>
      </p:sp>
      <p:sp>
        <p:nvSpPr>
          <p:cNvPr id="19" name="TextBox 18"/>
          <p:cNvSpPr txBox="1"/>
          <p:nvPr/>
        </p:nvSpPr>
        <p:spPr>
          <a:xfrm>
            <a:off x="3931920" y="4663440"/>
            <a:ext cx="3977639" cy="731520"/>
          </a:xfrm>
          <a:prstGeom prst="rect">
            <a:avLst/>
          </a:prstGeom>
          <a:noFill/>
        </p:spPr>
        <p:txBody>
          <a:bodyPr wrap="square" lIns="0" rIns="0" tIns="0" bIns="0">
            <a:spAutoFit/>
          </a:bodyPr>
          <a:lstStyle/>
          <a:p>
            <a:pPr algn="l"/>
            <a:r>
              <a:rPr sz="1400">
                <a:solidFill>
                  <a:srgbClr val="14161D"/>
                </a:solidFill>
                <a:latin typeface="Helvetica Neue Light"/>
              </a:rPr>
              <a:t>Prospect cards with upside and downside</a:t>
            </a:r>
          </a:p>
        </p:txBody>
      </p:sp>
      <p:sp>
        <p:nvSpPr>
          <p:cNvPr id="20" name="TextBox 19"/>
          <p:cNvSpPr txBox="1"/>
          <p:nvPr/>
        </p:nvSpPr>
        <p:spPr>
          <a:xfrm>
            <a:off x="8138159" y="466344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cards</a:t>
            </a:r>
          </a:p>
        </p:txBody>
      </p:sp>
      <p:cxnSp>
        <p:nvCxnSpPr>
          <p:cNvPr id="21" name="Connector 20"/>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5486400"/>
            <a:ext cx="2880360" cy="731520"/>
          </a:xfrm>
          <a:prstGeom prst="rect">
            <a:avLst/>
          </a:prstGeom>
          <a:noFill/>
        </p:spPr>
        <p:txBody>
          <a:bodyPr wrap="square" lIns="0" rIns="0" tIns="0" bIns="0">
            <a:spAutoFit/>
          </a:bodyPr>
          <a:lstStyle/>
          <a:p>
            <a:pPr algn="l"/>
            <a:r>
              <a:rPr sz="1400">
                <a:solidFill>
                  <a:srgbClr val="14161D"/>
                </a:solidFill>
                <a:latin typeface="Helvetica Neue Light"/>
              </a:rPr>
              <a:t>Alerts</a:t>
            </a:r>
          </a:p>
        </p:txBody>
      </p:sp>
      <p:sp>
        <p:nvSpPr>
          <p:cNvPr id="23" name="TextBox 22"/>
          <p:cNvSpPr txBox="1"/>
          <p:nvPr/>
        </p:nvSpPr>
        <p:spPr>
          <a:xfrm>
            <a:off x="3931920" y="5486400"/>
            <a:ext cx="3977639" cy="731520"/>
          </a:xfrm>
          <a:prstGeom prst="rect">
            <a:avLst/>
          </a:prstGeom>
          <a:noFill/>
        </p:spPr>
        <p:txBody>
          <a:bodyPr wrap="square" lIns="0" rIns="0" tIns="0" bIns="0">
            <a:spAutoFit/>
          </a:bodyPr>
          <a:lstStyle/>
          <a:p>
            <a:pPr algn="l"/>
            <a:r>
              <a:rPr sz="1400">
                <a:solidFill>
                  <a:srgbClr val="14161D"/>
                </a:solidFill>
                <a:latin typeface="Helvetica Neue Light"/>
              </a:rPr>
              <a:t>Guard ranking and severity</a:t>
            </a:r>
          </a:p>
        </p:txBody>
      </p:sp>
      <p:sp>
        <p:nvSpPr>
          <p:cNvPr id="24" name="TextBox 23"/>
          <p:cNvSpPr txBox="1"/>
          <p:nvPr/>
        </p:nvSpPr>
        <p:spPr>
          <a:xfrm>
            <a:off x="8138159" y="548640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alerts</a:t>
            </a:r>
          </a:p>
        </p:txBody>
      </p:sp>
      <p:cxnSp>
        <p:nvCxnSpPr>
          <p:cNvPr id="25" name="Connector 24"/>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22960" y="6309360"/>
            <a:ext cx="2880360" cy="731520"/>
          </a:xfrm>
          <a:prstGeom prst="rect">
            <a:avLst/>
          </a:prstGeom>
          <a:noFill/>
        </p:spPr>
        <p:txBody>
          <a:bodyPr wrap="square" lIns="0" rIns="0" tIns="0" bIns="0">
            <a:spAutoFit/>
          </a:bodyPr>
          <a:lstStyle/>
          <a:p>
            <a:pPr algn="l"/>
            <a:r>
              <a:rPr sz="1400">
                <a:solidFill>
                  <a:srgbClr val="14161D"/>
                </a:solidFill>
                <a:latin typeface="Helvetica Neue Light"/>
              </a:rPr>
              <a:t>Trade submission</a:t>
            </a:r>
          </a:p>
        </p:txBody>
      </p:sp>
      <p:sp>
        <p:nvSpPr>
          <p:cNvPr id="27" name="TextBox 26"/>
          <p:cNvSpPr txBox="1"/>
          <p:nvPr/>
        </p:nvSpPr>
        <p:spPr>
          <a:xfrm>
            <a:off x="3931920" y="6309360"/>
            <a:ext cx="3977639" cy="731520"/>
          </a:xfrm>
          <a:prstGeom prst="rect">
            <a:avLst/>
          </a:prstGeom>
          <a:noFill/>
        </p:spPr>
        <p:txBody>
          <a:bodyPr wrap="square" lIns="0" rIns="0" tIns="0" bIns="0">
            <a:spAutoFit/>
          </a:bodyPr>
          <a:lstStyle/>
          <a:p>
            <a:pPr algn="l"/>
            <a:r>
              <a:rPr sz="1400">
                <a:solidFill>
                  <a:srgbClr val="14161D"/>
                </a:solidFill>
                <a:latin typeface="Helvetica Neue Light"/>
              </a:rPr>
              <a:t>Outcome screen</a:t>
            </a:r>
          </a:p>
        </p:txBody>
      </p:sp>
      <p:sp>
        <p:nvSpPr>
          <p:cNvPr id="28" name="TextBox 27"/>
          <p:cNvSpPr txBox="1"/>
          <p:nvPr/>
        </p:nvSpPr>
        <p:spPr>
          <a:xfrm>
            <a:off x="8138159" y="630936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order result</a:t>
            </a:r>
          </a:p>
        </p:txBody>
      </p:sp>
      <p:cxnSp>
        <p:nvCxnSpPr>
          <p:cNvPr id="29" name="Connector 28"/>
          <p:cNvCxnSpPr/>
          <p:nvPr/>
        </p:nvCxnSpPr>
        <p:spPr>
          <a:xfrm>
            <a:off x="822960" y="7022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WIREFRAMES</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Lo-fi first: the trade flow before the look</a:t>
            </a:r>
            <a:endParaRPr lang="en-US" sz="3000" dirty="0"/>
          </a:p>
        </p:txBody>
      </p:sp>
      <p:pic>
        <p:nvPicPr>
          <p:cNvPr id="4" name="Picture 3" descr="image.png"/>
          <p:cNvPicPr>
            <a:picLocks noChangeAspect="1"/>
          </p:cNvPicPr>
          <p:nvPr/>
        </p:nvPicPr>
        <p:blipFill>
          <a:blip r:embed="rId2"/>
          <a:stretch>
            <a:fillRect/>
          </a:stretch>
        </p:blipFill>
        <p:spPr>
          <a:xfrm>
            <a:off x="0" y="9299448"/>
            <a:ext cx="13002768" cy="457200"/>
          </a:xfrm>
          <a:prstGeom prst="rect">
            <a:avLst/>
          </a:prstGeom>
        </p:spPr>
      </p:pic>
      <p:sp>
        <p:nvSpPr>
          <p:cNvPr id="5" name="Text 2"/>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6" name="Picture 5" descr="image.png"/>
          <p:cNvPicPr>
            <a:picLocks noChangeAspect="1"/>
          </p:cNvPicPr>
          <p:nvPr/>
        </p:nvPicPr>
        <p:blipFill>
          <a:blip r:embed="rId3"/>
          <a:stretch>
            <a:fillRect/>
          </a:stretch>
        </p:blipFill>
        <p:spPr>
          <a:xfrm>
            <a:off x="548640" y="2103120"/>
            <a:ext cx="5486400" cy="2696705"/>
          </a:xfrm>
          <a:prstGeom prst="rect">
            <a:avLst/>
          </a:prstGeom>
        </p:spPr>
      </p:pic>
      <p:sp>
        <p:nvSpPr>
          <p:cNvPr id="7" name="Text 3"/>
          <p:cNvSpPr/>
          <p:nvPr/>
        </p:nvSpPr>
        <p:spPr>
          <a:xfrm>
            <a:off x="6583680" y="2103120"/>
            <a:ext cx="585216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8" name="Text 4"/>
          <p:cNvSpPr/>
          <p:nvPr/>
        </p:nvSpPr>
        <p:spPr>
          <a:xfrm>
            <a:off x="6583680" y="243230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The trade flow had to hold together first: steps, choices, and where approval sits. Light, sketch-level screens tested that structure.</a:t>
            </a:r>
            <a:endParaRPr lang="en-US" sz="1400" dirty="0"/>
          </a:p>
        </p:txBody>
      </p:sp>
      <p:sp>
        <p:nvSpPr>
          <p:cNvPr id="9" name="Text 5"/>
          <p:cNvSpPr/>
          <p:nvPr/>
        </p:nvSpPr>
        <p:spPr>
          <a:xfrm>
            <a:off x="6583680" y="4572000"/>
            <a:ext cx="585216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0" name="Text 6"/>
          <p:cNvSpPr/>
          <p:nvPr/>
        </p:nvSpPr>
        <p:spPr>
          <a:xfrm>
            <a:off x="6583680" y="4901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No colour or type decisions yet. Home, order entry, and review were shown with the approval point visible on each step.</a:t>
            </a:r>
            <a:endParaRPr lang="en-US" sz="1400" dirty="0"/>
          </a:p>
        </p:txBody>
      </p:sp>
      <p:sp>
        <p:nvSpPr>
          <p:cNvPr id="11" name="Text 7"/>
          <p:cNvSpPr/>
          <p:nvPr/>
        </p:nvSpPr>
        <p:spPr>
          <a:xfrm>
            <a:off x="6583680" y="6858000"/>
            <a:ext cx="585216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2" name="Text 8"/>
          <p:cNvSpPr/>
          <p:nvPr/>
        </p:nvSpPr>
        <p:spPr>
          <a:xfrm>
            <a:off x="6583680" y="7187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I settled the structure before the styling, so the team reviewed the flow itself, not the look.</a:t>
            </a:r>
            <a:endParaRPr lang="en-US" sz="14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WIREFRAMES</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Hi-fi: the same flow in the design system</a:t>
            </a:r>
            <a:endParaRPr lang="en-US" sz="3000" dirty="0"/>
          </a:p>
        </p:txBody>
      </p:sp>
      <p:pic>
        <p:nvPicPr>
          <p:cNvPr id="4" name="Picture 3" descr="image.png"/>
          <p:cNvPicPr>
            <a:picLocks noChangeAspect="1"/>
          </p:cNvPicPr>
          <p:nvPr/>
        </p:nvPicPr>
        <p:blipFill>
          <a:blip r:embed="rId2"/>
          <a:stretch>
            <a:fillRect/>
          </a:stretch>
        </p:blipFill>
        <p:spPr>
          <a:xfrm>
            <a:off x="0" y="9299448"/>
            <a:ext cx="13002768" cy="457200"/>
          </a:xfrm>
          <a:prstGeom prst="rect">
            <a:avLst/>
          </a:prstGeom>
        </p:spPr>
      </p:pic>
      <p:sp>
        <p:nvSpPr>
          <p:cNvPr id="5" name="Text 2"/>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6" name="Picture 5" descr="image.png"/>
          <p:cNvPicPr>
            <a:picLocks noChangeAspect="1"/>
          </p:cNvPicPr>
          <p:nvPr/>
        </p:nvPicPr>
        <p:blipFill>
          <a:blip r:embed="rId3"/>
          <a:stretch>
            <a:fillRect/>
          </a:stretch>
        </p:blipFill>
        <p:spPr>
          <a:xfrm>
            <a:off x="548640" y="2103120"/>
            <a:ext cx="5486400" cy="3947050"/>
          </a:xfrm>
          <a:prstGeom prst="rect">
            <a:avLst/>
          </a:prstGeom>
        </p:spPr>
      </p:pic>
      <p:sp>
        <p:nvSpPr>
          <p:cNvPr id="7" name="Text 3"/>
          <p:cNvSpPr/>
          <p:nvPr/>
        </p:nvSpPr>
        <p:spPr>
          <a:xfrm>
            <a:off x="6583680" y="2103120"/>
            <a:ext cx="585216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8" name="Text 4"/>
          <p:cNvSpPr/>
          <p:nvPr/>
        </p:nvSpPr>
        <p:spPr>
          <a:xfrm>
            <a:off x="6583680" y="243230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A structure that works on paper can still fail on screen: contrast, density, and the advice wording all need checking.</a:t>
            </a:r>
            <a:endParaRPr lang="en-US" sz="1400" dirty="0"/>
          </a:p>
        </p:txBody>
      </p:sp>
      <p:sp>
        <p:nvSpPr>
          <p:cNvPr id="9" name="Text 5"/>
          <p:cNvSpPr/>
          <p:nvPr/>
        </p:nvSpPr>
        <p:spPr>
          <a:xfrm>
            <a:off x="6583680" y="4572000"/>
            <a:ext cx="585216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0" name="Text 6"/>
          <p:cNvSpPr/>
          <p:nvPr/>
        </p:nvSpPr>
        <p:spPr>
          <a:xfrm>
            <a:off x="6583680" y="4901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The same flows in the design system: dark surfaces, the action colour, icon-and-word status, and proposed-step wording.</a:t>
            </a:r>
            <a:endParaRPr lang="en-US" sz="1400" dirty="0"/>
          </a:p>
        </p:txBody>
      </p:sp>
      <p:sp>
        <p:nvSpPr>
          <p:cNvPr id="11" name="Text 7"/>
          <p:cNvSpPr/>
          <p:nvPr/>
        </p:nvSpPr>
        <p:spPr>
          <a:xfrm>
            <a:off x="6583680" y="6858000"/>
            <a:ext cx="585216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2" name="Text 8"/>
          <p:cNvSpPr/>
          <p:nvPr/>
        </p:nvSpPr>
        <p:spPr>
          <a:xfrm>
            <a:off x="6583680" y="7187184"/>
            <a:ext cx="5852160" cy="2926080"/>
          </a:xfrm>
          <a:prstGeom prst="rect">
            <a:avLst/>
          </a:prstGeom>
          <a:noFill/>
          <a:ln/>
        </p:spPr>
        <p:txBody>
          <a:bodyPr wrap="square" lIns="0" tIns="0" rIns="0" bIns="0" rtlCol="0" anchor="t"/>
          <a:lstStyle/>
          <a:p>
            <a:pPr indent="0" marL="0">
              <a:spcAft>
                <a:spcPts val="600"/>
              </a:spcAft>
              <a:buNone/>
            </a:pPr>
            <a:r>
              <a:rPr lang="en-US" sz="1400" dirty="0">
                <a:solidFill>
                  <a:srgbClr val="1B2A3A"/>
                </a:solidFill>
                <a:latin typeface="Helvetica Neue Light" pitchFamily="34" charset="0"/>
                <a:ea typeface="Helvetica Neue Light" pitchFamily="34" charset="-122"/>
                <a:cs typeface="Helvetica Neue Light" pitchFamily="34" charset="-120"/>
              </a:rPr>
              <a:t>Every hi-fi screen was checked against the design rules, so each one shows its source and status.</a:t>
            </a:r>
            <a:endParaRPr lang="en-US" sz="14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3" name="Picture 12"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15" name="Picture 14" descr="image.png"/>
          <p:cNvPicPr>
            <a:picLocks noChangeAspect="1"/>
          </p:cNvPicPr>
          <p:nvPr/>
        </p:nvPicPr>
        <p:blipFill>
          <a:blip r:embed="rId5"/>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2"/>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rcRect b="10598"/>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rcRect b="13020"/>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rcRect b="14629"/>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rcRect b="16558"/>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rcRect b="1208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rcRect b="25932"/>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rcRect b="16369"/>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rcRect b="44183"/>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rcRect b="44183"/>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rcRect b="12088"/>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rcRect b="24570"/>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rcRect b="17027"/>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rcRect b="3149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rcRect b="22185"/>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rcRect b="33110"/>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image.png"/>
          <p:cNvPicPr>
            <a:picLocks noChangeAspect="1"/>
          </p:cNvPicPr>
          <p:nvPr/>
        </p:nvPicPr>
        <p:blipFill>
          <a:blip r:embed="rId3"/>
          <a:stretch>
            <a:fillRect/>
          </a:stretch>
        </p:blipFill>
        <p:spPr>
          <a:xfrm>
            <a:off x="455168" y="2210817"/>
            <a:ext cx="3901440" cy="2105152"/>
          </a:xfrm>
          <a:prstGeom prst="rect">
            <a:avLst/>
          </a:prstGeom>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image.png"/>
          <p:cNvPicPr>
            <a:picLocks noChangeAspect="1"/>
          </p:cNvPicPr>
          <p:nvPr/>
        </p:nvPicPr>
        <p:blipFill>
          <a:blip r:embed="rId4"/>
          <a:stretch>
            <a:fillRect/>
          </a:stretch>
        </p:blipFill>
        <p:spPr>
          <a:xfrm>
            <a:off x="4525670" y="2210817"/>
            <a:ext cx="3901440" cy="2102970"/>
          </a:xfrm>
          <a:prstGeom prst="rect">
            <a:avLst/>
          </a:prstGeom>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image.png"/>
          <p:cNvPicPr>
            <a:picLocks noChangeAspect="1"/>
          </p:cNvPicPr>
          <p:nvPr/>
        </p:nvPicPr>
        <p:blipFill>
          <a:blip r:embed="rId5"/>
          <a:stretch>
            <a:fillRect/>
          </a:stretch>
        </p:blipFill>
        <p:spPr>
          <a:xfrm>
            <a:off x="8596171" y="2210816"/>
            <a:ext cx="3901440" cy="2106778"/>
          </a:xfrm>
          <a:prstGeom prst="rect">
            <a:avLst/>
          </a:prstGeom>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image.png"/>
          <p:cNvPicPr>
            <a:picLocks noChangeAspect="1"/>
          </p:cNvPicPr>
          <p:nvPr/>
        </p:nvPicPr>
        <p:blipFill>
          <a:blip r:embed="rId6"/>
          <a:stretch>
            <a:fillRect/>
          </a:stretch>
        </p:blipFill>
        <p:spPr>
          <a:xfrm>
            <a:off x="455168" y="5657087"/>
            <a:ext cx="3901440" cy="2105152"/>
          </a:xfrm>
          <a:prstGeom prst="rect">
            <a:avLst/>
          </a:prstGeom>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image.png"/>
          <p:cNvPicPr>
            <a:picLocks noChangeAspect="1"/>
          </p:cNvPicPr>
          <p:nvPr/>
        </p:nvPicPr>
        <p:blipFill>
          <a:blip r:embed="rId7"/>
          <a:stretch>
            <a:fillRect/>
          </a:stretch>
        </p:blipFill>
        <p:spPr>
          <a:xfrm>
            <a:off x="4525670" y="5657087"/>
            <a:ext cx="3901440" cy="2105152"/>
          </a:xfrm>
          <a:prstGeom prst="rect">
            <a:avLst/>
          </a:prstGeom>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image.png"/>
          <p:cNvPicPr>
            <a:picLocks noChangeAspect="1"/>
          </p:cNvPicPr>
          <p:nvPr/>
        </p:nvPicPr>
        <p:blipFill>
          <a:blip r:embed="rId8"/>
          <a:stretch>
            <a:fillRect/>
          </a:stretch>
        </p:blipFill>
        <p:spPr>
          <a:xfrm>
            <a:off x="8596171" y="5657087"/>
            <a:ext cx="3901440" cy="2105152"/>
          </a:xfrm>
          <a:prstGeom prst="rect">
            <a:avLst/>
          </a:prstGeom>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image.png"/>
          <p:cNvPicPr>
            <a:picLocks noChangeAspect="1"/>
          </p:cNvPicPr>
          <p:nvPr/>
        </p:nvPicPr>
        <p:blipFill>
          <a:blip r:embed="rId3"/>
          <a:stretch>
            <a:fillRect/>
          </a:stretch>
        </p:blipFill>
        <p:spPr>
          <a:xfrm>
            <a:off x="321354" y="2921620"/>
            <a:ext cx="6448980" cy="3699206"/>
          </a:xfrm>
          <a:prstGeom prst="rect">
            <a:avLst/>
          </a:prstGeom>
        </p:spPr>
      </p:pic>
      <p:pic>
        <p:nvPicPr>
          <p:cNvPr id="7" name="Picture 6" descr="image.png"/>
          <p:cNvPicPr>
            <a:picLocks noChangeAspect="1"/>
          </p:cNvPicPr>
          <p:nvPr/>
        </p:nvPicPr>
        <p:blipFill>
          <a:blip r:embed="rId4"/>
          <a:stretch>
            <a:fillRect/>
          </a:stretch>
        </p:blipFill>
        <p:spPr>
          <a:xfrm>
            <a:off x="6808332" y="1942360"/>
            <a:ext cx="5761380" cy="2328557"/>
          </a:xfrm>
          <a:prstGeom prst="rect">
            <a:avLst/>
          </a:prstGeom>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image.png"/>
          <p:cNvPicPr>
            <a:picLocks noChangeAspect="1"/>
          </p:cNvPicPr>
          <p:nvPr/>
        </p:nvPicPr>
        <p:blipFill>
          <a:blip r:embed="rId3"/>
          <a:stretch>
            <a:fillRect/>
          </a:stretch>
        </p:blipFill>
        <p:spPr>
          <a:xfrm>
            <a:off x="455167" y="2117357"/>
            <a:ext cx="6726217" cy="4133820"/>
          </a:xfrm>
          <a:prstGeom prst="rect">
            <a:avLst/>
          </a:prstGeom>
        </p:spPr>
      </p:pic>
      <p:pic>
        <p:nvPicPr>
          <p:cNvPr id="7" name="Picture 6" descr="image.png"/>
          <p:cNvPicPr>
            <a:picLocks noChangeAspect="1"/>
          </p:cNvPicPr>
          <p:nvPr/>
        </p:nvPicPr>
        <p:blipFill>
          <a:blip r:embed="rId4"/>
          <a:stretch>
            <a:fillRect/>
          </a:stretch>
        </p:blipFill>
        <p:spPr>
          <a:xfrm>
            <a:off x="7222044" y="2725806"/>
            <a:ext cx="5532255" cy="3227149"/>
          </a:xfrm>
          <a:prstGeom prst="rect">
            <a:avLst/>
          </a:prstGeom>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3"/>
          <a:stretch>
            <a:fillRect/>
          </a:stretch>
        </p:blipFill>
        <p:spPr>
          <a:xfrm>
            <a:off x="1783558" y="2080768"/>
            <a:ext cx="943768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3"/>
          <a:stretch>
            <a:fillRect/>
          </a:stretch>
        </p:blipFill>
        <p:spPr>
          <a:xfrm>
            <a:off x="455169" y="2080768"/>
            <a:ext cx="7572863" cy="6957568"/>
          </a:xfrm>
          <a:prstGeom prst="rect">
            <a:avLst/>
          </a:prstGeom>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3"/>
          <a:stretch>
            <a:fillRect/>
          </a:stretch>
        </p:blipFill>
        <p:spPr>
          <a:xfrm>
            <a:off x="1541999" y="2080768"/>
            <a:ext cx="9920802"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3"/>
          <a:stretch>
            <a:fillRect/>
          </a:stretch>
        </p:blipFill>
        <p:spPr>
          <a:xfrm>
            <a:off x="1820673" y="2080768"/>
            <a:ext cx="936345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Try it: click through the whole day</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The full trading day is a clickable prototype in Figma, starting at step 1: Show It.</a:t>
            </a:r>
          </a:p>
        </p:txBody>
      </p:sp>
      <p:pic>
        <p:nvPicPr>
          <p:cNvPr id="6" name="Picture 5" descr="image.png"/>
          <p:cNvPicPr>
            <a:picLocks noChangeAspect="1"/>
          </p:cNvPicPr>
          <p:nvPr/>
        </p:nvPicPr>
        <p:blipFill>
          <a:blip r:embed="rId3"/>
          <a:stretch>
            <a:fillRect/>
          </a:stretch>
        </p:blipFill>
        <p:spPr>
          <a:xfrm>
            <a:off x="1457924" y="2080768"/>
            <a:ext cx="10088953"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 xml:space="preserve">PROTOTYPE</a:t>
            </a:r>
          </a:p>
        </p:txBody>
      </p:sp>
      <p:sp>
        <p:nvSpPr>
          <p:cNvPr id="9" name="TextBox 8">
            <a:hlinkClick r:id="rId4"/>
          </p:cNvPr>
          <p:cNvSpPr txBox="1"/>
          <p:nvPr/>
        </p:nvSpPr>
        <p:spPr>
          <a:xfrm>
            <a:off x="650240" y="8414105"/>
            <a:ext cx="3771392" cy="459485"/>
          </a:xfrm>
          <a:prstGeom prst="rect">
            <a:avLst/>
          </a:prstGeom>
          <a:noFill/>
        </p:spPr>
        <p:txBody>
          <a:bodyPr wrap="square" lIns="0" tIns="0" rIns="0" bIns="0">
            <a:spAutoFit/>
          </a:bodyPr>
          <a:lstStyle/>
          <a:p>
            <a:r>
              <a:rPr u="sng" sz="1493">
                <a:solidFill>
                  <a:srgbClr val="B5531F"/>
                </a:solidFill>
                <a:latin typeface="Helvetica Neue Light"/>
              </a:rPr>
              <a:t xml:space="preserve">Open the Figma prototype →</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19 linked hi-fi screens, each moving forward through its real button</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Also available offline, with the narrative for every step: The-Trading-Day-Prototype.html</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Day One: no tour, the first evening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Figma page: Onboarding · Day One.</a:t>
            </a:r>
          </a:p>
        </p:txBody>
      </p:sp>
      <p:pic>
        <p:nvPicPr>
          <p:cNvPr id="5" name="Picture 4" descr="image.png"/>
          <p:cNvPicPr>
            <a:picLocks noChangeAspect="1"/>
          </p:cNvPicPr>
          <p:nvPr/>
        </p:nvPicPr>
        <p:blipFill>
          <a:blip r:embed="rId2"/>
          <a:stretch>
            <a:fillRect/>
          </a:stretch>
        </p:blipFill>
        <p:spPr>
          <a:xfrm>
            <a:off x="457200" y="2103120"/>
            <a:ext cx="2399294"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FinViz onboarding today is a tour video. A new trader learns outside the product, then has to remember it on the first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Day One is AI-led with no tour. Each screen teaches what it shows at the moment it is used, so learnability is a property of every screen.</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Day One as a sequence of screens, so the first evening can be reviewed step by step, not only as a principle.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Test: a rebalance agent, outside the guardrails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Figma page: Rebalance Agent (outside guardrails).</a:t>
            </a:r>
          </a:p>
        </p:txBody>
      </p:sp>
      <p:pic>
        <p:nvPicPr>
          <p:cNvPr id="5" name="Picture 4" descr="image.png"/>
          <p:cNvPicPr>
            <a:picLocks noChangeAspect="1"/>
          </p:cNvPicPr>
          <p:nvPr/>
        </p:nvPicPr>
        <p:blipFill>
          <a:blip r:embed="rId2"/>
          <a:stretch>
            <a:fillRect/>
          </a:stretch>
        </p:blipFill>
        <p:spPr>
          <a:xfrm>
            <a:off x="457200" y="2103120"/>
            <a:ext cx="1978853"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An agent that rebalances a portfolio can act beyond what the trader set. That is the most serious risk in the concept.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rebalance idea is drawn as a test, outside the guardrails, with the boundary stated on the screen. It is not part of the first release.</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riskiest idea labeled as a test, so reviewers can see the line between proposal and action.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daily blueprint, from morning to close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3.</a:t>
            </a:r>
          </a:p>
        </p:txBody>
      </p:sp>
      <p:pic>
        <p:nvPicPr>
          <p:cNvPr id="5" name="Picture 4" descr="image.png"/>
          <p:cNvPicPr>
            <a:picLocks noChangeAspect="1"/>
          </p:cNvPicPr>
          <p:nvPr/>
        </p:nvPicPr>
        <p:blipFill>
          <a:blip r:embed="rId2"/>
          <a:stretch>
            <a:fillRect/>
          </a:stretch>
        </p:blipFill>
        <p:spPr>
          <a:xfrm>
            <a:off x="457200" y="2103120"/>
            <a:ext cx="6766560" cy="3810751"/>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swing trader's day runs across tools, and each moment has a different need. Without a map, the design guesses at the day.</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blueprint lays out the trader's day in order, with the touchpoints where FinViz could help and where it should stay out of the way.</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mapped the whole day before designing any screen, so each screen answers a moment in that day.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today: the baseline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19.</a:t>
            </a:r>
          </a:p>
        </p:txBody>
      </p:sp>
      <p:pic>
        <p:nvPicPr>
          <p:cNvPr id="5" name="Picture 4" descr="image.png"/>
          <p:cNvPicPr>
            <a:picLocks noChangeAspect="1"/>
          </p:cNvPicPr>
          <p:nvPr/>
        </p:nvPicPr>
        <p:blipFill>
          <a:blip r:embed="rId2"/>
          <a:stretch>
            <a:fillRect/>
          </a:stretch>
        </p:blipFill>
        <p:spPr>
          <a:xfrm>
            <a:off x="457200" y="2103120"/>
            <a:ext cx="6766560" cy="5812568"/>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current onboarding is a tour and help articles. Without a baseline, the team cannot tell whether a change helps.</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board records each step a new trader takes today, with the gap at each step. It is the baseline the proposed onboarding is measured against.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documented today before proposing a change, so the team could check the new flow against the old one.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proposed: learning in place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20.</a:t>
            </a:r>
          </a:p>
        </p:txBody>
      </p:sp>
      <p:pic>
        <p:nvPicPr>
          <p:cNvPr id="5" name="Picture 4" descr="image.png"/>
          <p:cNvPicPr>
            <a:picLocks noChangeAspect="1"/>
          </p:cNvPicPr>
          <p:nvPr/>
        </p:nvPicPr>
        <p:blipFill>
          <a:blip r:embed="rId2"/>
          <a:stretch>
            <a:fillRect/>
          </a:stretch>
        </p:blipFill>
        <p:spPr>
          <a:xfrm>
            <a:off x="457200" y="2103120"/>
            <a:ext cx="6766560" cy="5338179"/>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tour teaches before the trader needs anything. By the time the trader reaches the screen, the lesson is gone.</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proposed flow teaches on the screen the trader is using, one step at a time, with no separate tour. Each step traces back to a gap on the baseline board.</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Each proposed step is traced to a gap in today's flow, so the change answers a stated problem.</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1: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17.</a:t>
            </a:r>
          </a:p>
        </p:txBody>
      </p:sp>
      <p:pic>
        <p:nvPicPr>
          <p:cNvPr id="5" name="Picture 4" descr="image.png"/>
          <p:cNvPicPr>
            <a:picLocks noChangeAspect="1"/>
          </p:cNvPicPr>
          <p:nvPr/>
        </p:nvPicPr>
        <p:blipFill>
          <a:blip r:embed="rId2"/>
          <a:stretch>
            <a:fillRect/>
          </a:stretch>
        </p:blipFill>
        <p:spPr>
          <a:xfrm>
            <a:off x="457200" y="2103120"/>
            <a:ext cx="5857385"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new trader does not know which first step matters. The first session can end before the first useful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First Steps is one of three lead concepts. It builds the first success around a short, guided route to a screen the trader trusts.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wrote each concept as a building block with its own test, so the team could compare them on the same measures.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2: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18.</a:t>
            </a:r>
          </a:p>
        </p:txBody>
      </p:sp>
      <p:pic>
        <p:nvPicPr>
          <p:cNvPr id="5" name="Picture 4" descr="image.png"/>
          <p:cNvPicPr>
            <a:picLocks noChangeAspect="1"/>
          </p:cNvPicPr>
          <p:nvPr/>
        </p:nvPicPr>
        <p:blipFill>
          <a:blip r:embed="rId2"/>
          <a:stretch>
            <a:fillRect/>
          </a:stretch>
        </p:blipFill>
        <p:spPr>
          <a:xfrm>
            <a:off x="457200" y="2103120"/>
            <a:ext cx="547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screener has 89 filter dropdowns across six tabs, and a new trader does not know which ones answer their question.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Filtering is the second concept. It builds the first success around choosing the right filters for a question, not around the full list.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checked each concept against the same pain points, so the choice between concepts rests on evidence, not preference.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21.</a:t>
            </a:r>
          </a:p>
        </p:txBody>
      </p:sp>
      <p:pic>
        <p:nvPicPr>
          <p:cNvPr id="5" name="Picture 4" descr="image.png"/>
          <p:cNvPicPr>
            <a:picLocks noChangeAspect="1"/>
          </p:cNvPicPr>
          <p:nvPr/>
        </p:nvPicPr>
        <p:blipFill>
          <a:blip r:embed="rId2"/>
          <a:stretch>
            <a:fillRect/>
          </a:stretch>
        </p:blipFill>
        <p:spPr>
          <a:xfrm>
            <a:off x="457200" y="2103120"/>
            <a:ext cx="6766560" cy="3129657"/>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concept is only useful if it works across the whole path, not only on one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workflow shows the path from first sign-on to the first trading day, with the screens and the decision points for the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traced each concept's workflow, so a reviewer can follow the path and find where it breaks.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22.</a:t>
            </a:r>
          </a:p>
        </p:txBody>
      </p:sp>
      <p:pic>
        <p:nvPicPr>
          <p:cNvPr id="5" name="Picture 4" descr="image.png"/>
          <p:cNvPicPr>
            <a:picLocks noChangeAspect="1"/>
          </p:cNvPicPr>
          <p:nvPr/>
        </p:nvPicPr>
        <p:blipFill>
          <a:blip r:embed="rId2"/>
          <a:stretch>
            <a:fillRect/>
          </a:stretch>
        </p:blipFill>
        <p:spPr>
          <a:xfrm>
            <a:off x="457200" y="2103120"/>
            <a:ext cx="6766560" cy="2426682"/>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Filtering can look simple on one screen but fail across a session, when the trader changes a filter and loses the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filtering workflow shows the same path for concept two, so the two concepts can be compared step for step.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Both workflows follow one format, so the comparison is fair.</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concept set: three ways into the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25.</a:t>
            </a:r>
          </a:p>
        </p:txBody>
      </p:sp>
      <p:pic>
        <p:nvPicPr>
          <p:cNvPr id="5" name="Picture 4" descr="image.png"/>
          <p:cNvPicPr>
            <a:picLocks noChangeAspect="1"/>
          </p:cNvPicPr>
          <p:nvPr/>
        </p:nvPicPr>
        <p:blipFill>
          <a:blip r:embed="rId2"/>
          <a:stretch>
            <a:fillRect/>
          </a:stretch>
        </p:blipFill>
        <p:spPr>
          <a:xfrm>
            <a:off x="457200" y="2103120"/>
            <a:ext cx="495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Three possible first experiences, and no shared way to compare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Your Playbook, and The Decision Board are three concepts, each built around one property of a first success.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set the three concepts side by side, so the team chose a lead on evidence, not on the first idea.</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Lead concept: The Trading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26.</a:t>
            </a:r>
          </a:p>
        </p:txBody>
      </p:sp>
      <p:pic>
        <p:nvPicPr>
          <p:cNvPr id="5" name="Picture 4" descr="image.png"/>
          <p:cNvPicPr>
            <a:picLocks noChangeAspect="1"/>
          </p:cNvPicPr>
          <p:nvPr/>
        </p:nvPicPr>
        <p:blipFill>
          <a:blip r:embed="rId2"/>
          <a:stretch>
            <a:fillRect/>
          </a:stretch>
        </p:blipFill>
        <p:spPr>
          <a:xfrm>
            <a:off x="457200" y="2103120"/>
            <a:ext cx="3264499"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 who opens FinViz cold has no single picture of the day ahead.</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follows one trade through one day, from the evening idea to the next morning check. It is the lead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made it the lead and recorded the reasons on the board, so the choice can be challenged.</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Your Playbook</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27.</a:t>
            </a:r>
          </a:p>
        </p:txBody>
      </p:sp>
      <p:pic>
        <p:nvPicPr>
          <p:cNvPr id="5" name="Picture 4" descr="image.png"/>
          <p:cNvPicPr>
            <a:picLocks noChangeAspect="1"/>
          </p:cNvPicPr>
          <p:nvPr/>
        </p:nvPicPr>
        <p:blipFill>
          <a:blip r:embed="rId2"/>
          <a:stretch>
            <a:fillRect/>
          </a:stretch>
        </p:blipFill>
        <p:spPr>
          <a:xfrm>
            <a:off x="457200" y="2103120"/>
            <a:ext cx="6766560" cy="6829116"/>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trader's own rules are not in the product, so the screener cannot apply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Your Playbook stores the trader's rules as a screen they can rerun. It is a workflow, not a tip.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tested it against the same measures as the lead concept, so the comparison stays fair.</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The Decision Board</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28.</a:t>
            </a:r>
          </a:p>
        </p:txBody>
      </p:sp>
      <p:pic>
        <p:nvPicPr>
          <p:cNvPr id="5" name="Picture 4" descr="image.png"/>
          <p:cNvPicPr>
            <a:picLocks noChangeAspect="1"/>
          </p:cNvPicPr>
          <p:nvPr/>
        </p:nvPicPr>
        <p:blipFill>
          <a:blip r:embed="rId2"/>
          <a:stretch>
            <a:fillRect/>
          </a:stretch>
        </p:blipFill>
        <p:spPr>
          <a:xfrm>
            <a:off x="457200" y="2103120"/>
            <a:ext cx="6766560" cy="6876034"/>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Decisions are made quickly, and the reasons are lost.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Decision Board records the reason for each decision next to the evidence that supported it.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the decision record as its own concept, so reasons can be reviewed later.</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Picture 37"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Picture 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The AI flow, screen by screen</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Dashboard leads to Insight, Prospect, Guard, and Adapt. Each step is a choice the user makes.</a:t>
            </a:r>
          </a:p>
        </p:txBody>
      </p:sp>
      <p:pic>
        <p:nvPicPr>
          <p:cNvPr id="6" name="Picture 5" descr="image.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1 · DASHBOARD</a:t>
            </a:r>
          </a:p>
        </p:txBody>
      </p:sp>
      <p:sp>
        <p:nvSpPr>
          <p:cNvPr id="8" name="TextBox 7"/>
          <p:cNvSpPr txBox="1"/>
          <p:nvPr/>
        </p:nvSpPr>
        <p:spPr>
          <a:xfrm>
            <a:off x="2349771"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9" name="Picture 8" descr="image.png"/>
          <p:cNvPicPr>
            <a:picLocks noChangeAspect="1"/>
          </p:cNvPicPr>
          <p:nvPr/>
        </p:nvPicPr>
        <p:blipFill>
          <a:blip r:embed="rId4"/>
          <a:stretch>
            <a:fillRect/>
          </a:stretch>
        </p:blipFill>
        <p:spPr>
          <a:xfrm>
            <a:off x="3074729" y="2194560"/>
            <a:ext cx="1801131" cy="4023360"/>
          </a:xfrm>
          <a:prstGeom prst="rect">
            <a:avLst/>
          </a:prstGeom>
        </p:spPr>
      </p:pic>
      <p:sp>
        <p:nvSpPr>
          <p:cNvPr id="10" name="TextBox 9"/>
          <p:cNvSpPr txBox="1"/>
          <p:nvPr/>
        </p:nvSpPr>
        <p:spPr>
          <a:xfrm>
            <a:off x="3074729" y="6355080"/>
            <a:ext cx="1801131" cy="274320"/>
          </a:xfrm>
          <a:prstGeom prst="rect">
            <a:avLst/>
          </a:prstGeom>
          <a:noFill/>
        </p:spPr>
        <p:txBody>
          <a:bodyPr wrap="square" lIns="0" rIns="0" tIns="0" bIns="0">
            <a:spAutoFit/>
          </a:bodyPr>
          <a:lstStyle/>
          <a:p>
            <a:r>
              <a:rPr sz="1280">
                <a:solidFill>
                  <a:srgbClr val="B5532F"/>
                </a:solidFill>
                <a:latin typeface="Helvetica Neue Medium"/>
              </a:rPr>
              <a:t>2 · INSIGHT</a:t>
            </a:r>
          </a:p>
        </p:txBody>
      </p:sp>
      <p:sp>
        <p:nvSpPr>
          <p:cNvPr id="11" name="TextBox 10"/>
          <p:cNvSpPr txBox="1"/>
          <p:nvPr/>
        </p:nvSpPr>
        <p:spPr>
          <a:xfrm>
            <a:off x="4875860"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12" name="Picture 11" descr="image.png"/>
          <p:cNvPicPr>
            <a:picLocks noChangeAspect="1"/>
          </p:cNvPicPr>
          <p:nvPr/>
        </p:nvPicPr>
        <p:blipFill>
          <a:blip r:embed="rId5"/>
          <a:stretch>
            <a:fillRect/>
          </a:stretch>
        </p:blipFill>
        <p:spPr>
          <a:xfrm>
            <a:off x="5600818" y="2194560"/>
            <a:ext cx="1801131" cy="4023360"/>
          </a:xfrm>
          <a:prstGeom prst="rect">
            <a:avLst/>
          </a:prstGeom>
        </p:spPr>
      </p:pic>
      <p:sp>
        <p:nvSpPr>
          <p:cNvPr id="13" name="TextBox 12"/>
          <p:cNvSpPr txBox="1"/>
          <p:nvPr/>
        </p:nvSpPr>
        <p:spPr>
          <a:xfrm>
            <a:off x="5600818" y="6355080"/>
            <a:ext cx="1801131" cy="274320"/>
          </a:xfrm>
          <a:prstGeom prst="rect">
            <a:avLst/>
          </a:prstGeom>
          <a:noFill/>
        </p:spPr>
        <p:txBody>
          <a:bodyPr wrap="square" lIns="0" rIns="0" tIns="0" bIns="0">
            <a:spAutoFit/>
          </a:bodyPr>
          <a:lstStyle/>
          <a:p>
            <a:r>
              <a:rPr sz="1280">
                <a:solidFill>
                  <a:srgbClr val="B5532F"/>
                </a:solidFill>
                <a:latin typeface="Helvetica Neue Medium"/>
              </a:rPr>
              <a:t>3 · PROSPECT</a:t>
            </a:r>
          </a:p>
        </p:txBody>
      </p:sp>
      <p:sp>
        <p:nvSpPr>
          <p:cNvPr id="14" name="TextBox 13"/>
          <p:cNvSpPr txBox="1"/>
          <p:nvPr/>
        </p:nvSpPr>
        <p:spPr>
          <a:xfrm>
            <a:off x="7401949"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15" name="Picture 14" descr="image.png"/>
          <p:cNvPicPr>
            <a:picLocks noChangeAspect="1"/>
          </p:cNvPicPr>
          <p:nvPr/>
        </p:nvPicPr>
        <p:blipFill>
          <a:blip r:embed="rId6"/>
          <a:stretch>
            <a:fillRect/>
          </a:stretch>
        </p:blipFill>
        <p:spPr>
          <a:xfrm>
            <a:off x="8126907" y="2194560"/>
            <a:ext cx="1801131" cy="4023360"/>
          </a:xfrm>
          <a:prstGeom prst="rect">
            <a:avLst/>
          </a:prstGeom>
        </p:spPr>
      </p:pic>
      <p:sp>
        <p:nvSpPr>
          <p:cNvPr id="16" name="TextBox 15"/>
          <p:cNvSpPr txBox="1"/>
          <p:nvPr/>
        </p:nvSpPr>
        <p:spPr>
          <a:xfrm>
            <a:off x="8126907" y="6355080"/>
            <a:ext cx="1801131" cy="274320"/>
          </a:xfrm>
          <a:prstGeom prst="rect">
            <a:avLst/>
          </a:prstGeom>
          <a:noFill/>
        </p:spPr>
        <p:txBody>
          <a:bodyPr wrap="square" lIns="0" rIns="0" tIns="0" bIns="0">
            <a:spAutoFit/>
          </a:bodyPr>
          <a:lstStyle/>
          <a:p>
            <a:r>
              <a:rPr sz="1280">
                <a:solidFill>
                  <a:srgbClr val="B5532F"/>
                </a:solidFill>
                <a:latin typeface="Helvetica Neue Medium"/>
              </a:rPr>
              <a:t>4 · GUARD</a:t>
            </a:r>
          </a:p>
        </p:txBody>
      </p:sp>
      <p:sp>
        <p:nvSpPr>
          <p:cNvPr id="17" name="TextBox 16"/>
          <p:cNvSpPr txBox="1"/>
          <p:nvPr/>
        </p:nvSpPr>
        <p:spPr>
          <a:xfrm>
            <a:off x="9928038"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18" name="Picture 17" descr="image.png"/>
          <p:cNvPicPr>
            <a:picLocks noChangeAspect="1"/>
          </p:cNvPicPr>
          <p:nvPr/>
        </p:nvPicPr>
        <p:blipFill>
          <a:blip r:embed="rId7"/>
          <a:stretch>
            <a:fillRect/>
          </a:stretch>
        </p:blipFill>
        <p:spPr>
          <a:xfrm>
            <a:off x="10652996" y="2194560"/>
            <a:ext cx="1801131" cy="4023360"/>
          </a:xfrm>
          <a:prstGeom prst="rect">
            <a:avLst/>
          </a:prstGeom>
        </p:spPr>
      </p:pic>
      <p:sp>
        <p:nvSpPr>
          <p:cNvPr id="19" name="TextBox 18"/>
          <p:cNvSpPr txBox="1"/>
          <p:nvPr/>
        </p:nvSpPr>
        <p:spPr>
          <a:xfrm>
            <a:off x="10652996" y="6355080"/>
            <a:ext cx="1801131" cy="274320"/>
          </a:xfrm>
          <a:prstGeom prst="rect">
            <a:avLst/>
          </a:prstGeom>
          <a:noFill/>
        </p:spPr>
        <p:txBody>
          <a:bodyPr wrap="square" lIns="0" rIns="0" tIns="0" bIns="0">
            <a:spAutoFit/>
          </a:bodyPr>
          <a:lstStyle/>
          <a:p>
            <a:r>
              <a:rPr sz="1280">
                <a:solidFill>
                  <a:srgbClr val="B5532F"/>
                </a:solidFill>
                <a:latin typeface="Helvetica Neue Medium"/>
              </a:rPr>
              <a:t>5 · ADAPT</a:t>
            </a:r>
          </a:p>
        </p:txBody>
      </p:sp>
      <p:sp>
        <p:nvSpPr>
          <p:cNvPr id="20" name="TextBox 19"/>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21" name="TextBox 20"/>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The AI flow is one dashboard leading to four steps: Insight, Prospect, Guard, and Adapt. Each step is a choice the user makes.</a:t>
            </a:r>
          </a:p>
        </p:txBody>
      </p:sp>
      <p:sp>
        <p:nvSpPr>
          <p:cNvPr id="22" name="TextBox 21"/>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23" name="TextBox 22"/>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Adapt is where the advice rule is most at risk. Its wording must read as proposed steps, not buy or sell advice.</a:t>
            </a:r>
          </a:p>
        </p:txBody>
      </p:sp>
      <p:sp>
        <p:nvSpPr>
          <p:cNvPr id="24" name="TextBox 23"/>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5" name="TextBox 24"/>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I found agent wording that broke the advice rule and changed it on the board, so the flow and the rule agree.</a:t>
            </a:r>
          </a:p>
        </p:txBody>
      </p:sp>
      <p:sp>
        <p:nvSpPr>
          <p:cNvPr id="26" name="TextBox 25"/>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
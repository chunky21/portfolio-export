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476" r:id="rId106"/>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531" r:id="rId161"/>
    <p:sldId id="532" r:id="rId162"/>
    <p:sldId id="533" r:id="rId163"/>
    <p:sldId id="534" r:id="rId164"/>
    <p:sldId id="535" r:id="rId165"/>
    <p:sldId id="536" r:id="rId166"/>
    <p:sldId id="537" r:id="rId167"/>
    <p:sldId id="538" r:id="rId168"/>
    <p:sldId id="539" r:id="rId169"/>
    <p:sldId id="540" r:id="rId170"/>
    <p:sldId id="541" r:id="rId171"/>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53.xml"/><Relationship Id="rId88" Type="http://schemas.openxmlformats.org/officeDocument/2006/relationships/slide" Target="slides/slide154.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 Id="rId110" Type="http://schemas.openxmlformats.org/officeDocument/2006/relationships/slide" Target="slides/slide102.xml"/><Relationship Id="rId111" Type="http://schemas.openxmlformats.org/officeDocument/2006/relationships/slide" Target="slides/slide103.xml"/><Relationship Id="rId112" Type="http://schemas.openxmlformats.org/officeDocument/2006/relationships/slide" Target="slides/slide104.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07.xml"/><Relationship Id="rId116" Type="http://schemas.openxmlformats.org/officeDocument/2006/relationships/slide" Target="slides/slide108.xml"/><Relationship Id="rId117" Type="http://schemas.openxmlformats.org/officeDocument/2006/relationships/slide" Target="slides/slide109.xml"/><Relationship Id="rId118" Type="http://schemas.openxmlformats.org/officeDocument/2006/relationships/slide" Target="slides/slide110.xml"/><Relationship Id="rId119" Type="http://schemas.openxmlformats.org/officeDocument/2006/relationships/slide" Target="slides/slide111.xml"/><Relationship Id="rId120" Type="http://schemas.openxmlformats.org/officeDocument/2006/relationships/slide" Target="slides/slide112.xml"/><Relationship Id="rId121" Type="http://schemas.openxmlformats.org/officeDocument/2006/relationships/slide" Target="slides/slide113.xml"/><Relationship Id="rId122" Type="http://schemas.openxmlformats.org/officeDocument/2006/relationships/slide" Target="slides/slide114.xml"/><Relationship Id="rId123" Type="http://schemas.openxmlformats.org/officeDocument/2006/relationships/slide" Target="slides/slide115.xml"/><Relationship Id="rId124" Type="http://schemas.openxmlformats.org/officeDocument/2006/relationships/slide" Target="slides/slide116.xml"/><Relationship Id="rId125" Type="http://schemas.openxmlformats.org/officeDocument/2006/relationships/slide" Target="slides/slide117.xml"/><Relationship Id="rId126" Type="http://schemas.openxmlformats.org/officeDocument/2006/relationships/slide" Target="slides/slide118.xml"/><Relationship Id="rId127" Type="http://schemas.openxmlformats.org/officeDocument/2006/relationships/slide" Target="slides/slide119.xml"/><Relationship Id="rId128" Type="http://schemas.openxmlformats.org/officeDocument/2006/relationships/slide" Target="slides/slide120.xml"/><Relationship Id="rId129" Type="http://schemas.openxmlformats.org/officeDocument/2006/relationships/slide" Target="slides/slide121.xml"/><Relationship Id="rId130" Type="http://schemas.openxmlformats.org/officeDocument/2006/relationships/slide" Target="slides/slide122.xml"/><Relationship Id="rId131" Type="http://schemas.openxmlformats.org/officeDocument/2006/relationships/slide" Target="slides/slide123.xml"/><Relationship Id="rId132" Type="http://schemas.openxmlformats.org/officeDocument/2006/relationships/slide" Target="slides/slide124.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7.xml"/><Relationship Id="rId136" Type="http://schemas.openxmlformats.org/officeDocument/2006/relationships/slide" Target="slides/slide128.xml"/><Relationship Id="rId137" Type="http://schemas.openxmlformats.org/officeDocument/2006/relationships/slide" Target="slides/slide129.xml"/><Relationship Id="rId138" Type="http://schemas.openxmlformats.org/officeDocument/2006/relationships/slide" Target="slides/slide130.xml"/><Relationship Id="rId139" Type="http://schemas.openxmlformats.org/officeDocument/2006/relationships/slide" Target="slides/slide131.xml"/><Relationship Id="rId140" Type="http://schemas.openxmlformats.org/officeDocument/2006/relationships/slide" Target="slides/slide132.xml"/><Relationship Id="rId141" Type="http://schemas.openxmlformats.org/officeDocument/2006/relationships/slide" Target="slides/slide133.xml"/><Relationship Id="rId142" Type="http://schemas.openxmlformats.org/officeDocument/2006/relationships/slide" Target="slides/slide134.xml"/><Relationship Id="rId143" Type="http://schemas.openxmlformats.org/officeDocument/2006/relationships/slide" Target="slides/slide135.xml"/><Relationship Id="rId144" Type="http://schemas.openxmlformats.org/officeDocument/2006/relationships/slide" Target="slides/slide136.xml"/><Relationship Id="rId145" Type="http://schemas.openxmlformats.org/officeDocument/2006/relationships/slide" Target="slides/slide137.xml"/><Relationship Id="rId146" Type="http://schemas.openxmlformats.org/officeDocument/2006/relationships/slide" Target="slides/slide138.xml"/><Relationship Id="rId147" Type="http://schemas.openxmlformats.org/officeDocument/2006/relationships/slide" Target="slides/slide139.xml"/><Relationship Id="rId148" Type="http://schemas.openxmlformats.org/officeDocument/2006/relationships/slide" Target="slides/slide140.xml"/><Relationship Id="rId149" Type="http://schemas.openxmlformats.org/officeDocument/2006/relationships/slide" Target="slides/slide141.xml"/><Relationship Id="rId150" Type="http://schemas.openxmlformats.org/officeDocument/2006/relationships/slide" Target="slides/slide142.xml"/><Relationship Id="rId151" Type="http://schemas.openxmlformats.org/officeDocument/2006/relationships/slide" Target="slides/slide143.xml"/><Relationship Id="rId152" Type="http://schemas.openxmlformats.org/officeDocument/2006/relationships/slide" Target="slides/slide144.xml"/><Relationship Id="rId153" Type="http://schemas.openxmlformats.org/officeDocument/2006/relationships/slide" Target="slides/slide145.xml"/><Relationship Id="rId154" Type="http://schemas.openxmlformats.org/officeDocument/2006/relationships/slide" Target="slides/slide146.xml"/><Relationship Id="rId155" Type="http://schemas.openxmlformats.org/officeDocument/2006/relationships/slide" Target="slides/slide147.xml"/><Relationship Id="rId156" Type="http://schemas.openxmlformats.org/officeDocument/2006/relationships/slide" Target="slides/slide148.xml"/><Relationship Id="rId157" Type="http://schemas.openxmlformats.org/officeDocument/2006/relationships/slide" Target="slides/slide149.xml"/><Relationship Id="rId158" Type="http://schemas.openxmlformats.org/officeDocument/2006/relationships/slide" Target="slides/slide150.xml"/><Relationship Id="rId159" Type="http://schemas.openxmlformats.org/officeDocument/2006/relationships/slide" Target="slides/slide151.xml"/><Relationship Id="rId160" Type="http://schemas.openxmlformats.org/officeDocument/2006/relationships/slide" Target="slides/slide152.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3.png"/><Relationship Id="rId4" Type="http://schemas.openxmlformats.org/officeDocument/2006/relationships/image" Target="../media/image154.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5.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6.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0.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designed the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Designed the trade and AI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concepts for a bounded agent</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concept answers one of the breakdowns above.</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GOAL TO PLAN</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such as keep technology under 40%. The agent drafts editable steps and shows the impact of each one.</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AUTONOMY LEVELS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Observe, suggest, or act within limits. The current level is always visible, with the user-set limits beside it.</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EVIDENCE ON EVERY OUTPUT</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insight links to its source, date, and data. No model-generated confidence percentage.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ORDERS WITH THEIR REASON</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 trade started from an insight opens with its reason and the user’s own history, and offers a 48-hour pause.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Shipped work · 2016–2017</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Budget planning that partners trust enough to grow</a:t>
            </a:r>
          </a:p>
        </p:txBody>
      </p:sp>
      <p:pic>
        <p:nvPicPr>
          <p:cNvPr id="5" name="Picture 4" descr="s01_4.png"/>
          <p:cNvPicPr>
            <a:picLocks noChangeAspect="1"/>
          </p:cNvPicPr>
          <p:nvPr/>
        </p:nvPicPr>
        <p:blipFill>
          <a:blip r:embed="rId3"/>
          <a:stretch>
            <a:fillRect/>
          </a:stretch>
        </p:blipFill>
        <p:spPr>
          <a:xfrm>
            <a:off x="457200" y="2377440"/>
            <a:ext cx="5120640" cy="3915783"/>
          </a:xfrm>
          <a:prstGeom prst="rect">
            <a:avLst/>
          </a:prstGeom>
        </p:spPr>
      </p:pic>
      <p:sp>
        <p:nvSpPr>
          <p:cNvPr id="6" name="TextBox 5"/>
          <p:cNvSpPr txBox="1"/>
          <p:nvPr/>
        </p:nvSpPr>
        <p:spPr>
          <a:xfrm>
            <a:off x="6035040" y="2377440"/>
            <a:ext cx="5760720" cy="274320"/>
          </a:xfrm>
          <a:prstGeom prst="rect">
            <a:avLst/>
          </a:prstGeom>
          <a:noFill/>
        </p:spPr>
        <p:txBody>
          <a:bodyPr wrap="square" lIns="0" rIns="0" tIns="0" bIns="0">
            <a:spAutoFit/>
          </a:bodyPr>
          <a:lstStyle/>
          <a:p>
            <a:r>
              <a:rPr sz="1280">
                <a:solidFill>
                  <a:srgbClr val="B5531F"/>
                </a:solidFill>
                <a:latin typeface="Helvetica Neue Medium"/>
              </a:rPr>
              <a:t>WHAT PARTNERS SAID</a:t>
            </a:r>
          </a:p>
        </p:txBody>
      </p:sp>
      <p:sp>
        <p:nvSpPr>
          <p:cNvPr id="7" name="TextBox 6"/>
          <p:cNvSpPr txBox="1"/>
          <p:nvPr/>
        </p:nvSpPr>
        <p:spPr>
          <a:xfrm>
            <a:off x="6035040" y="2688336"/>
            <a:ext cx="5760720" cy="2286000"/>
          </a:xfrm>
          <a:prstGeom prst="rect">
            <a:avLst/>
          </a:prstGeom>
          <a:noFill/>
        </p:spPr>
        <p:txBody>
          <a:bodyPr wrap="square" lIns="0" rIns="0" tIns="0" bIns="0">
            <a:spAutoFit/>
          </a:bodyPr>
          <a:lstStyle/>
          <a:p>
            <a:r>
              <a:rPr sz="1800">
                <a:solidFill>
                  <a:srgbClr val="1F1F1F"/>
                </a:solidFill>
                <a:latin typeface="Helvetica Neue Light"/>
              </a:rPr>
              <a:t>“Comparing budgets and then optimizing it would allow me to have the confidence to increase the budget.”</a:t>
            </a:r>
          </a:p>
        </p:txBody>
      </p:sp>
      <p:sp>
        <p:nvSpPr>
          <p:cNvPr id="8" name="TextBox 7"/>
          <p:cNvSpPr txBox="1"/>
          <p:nvPr/>
        </p:nvSpPr>
        <p:spPr>
          <a:xfrm>
            <a:off x="6035040" y="3566160"/>
            <a:ext cx="5760720" cy="365760"/>
          </a:xfrm>
          <a:prstGeom prst="rect">
            <a:avLst/>
          </a:prstGeom>
          <a:noFill/>
        </p:spPr>
        <p:txBody>
          <a:bodyPr wrap="square" lIns="0" rIns="0" tIns="0" bIns="0">
            <a:spAutoFit/>
          </a:bodyPr>
          <a:lstStyle/>
          <a:p>
            <a:r>
              <a:rPr sz="1300">
                <a:solidFill>
                  <a:srgbClr val="595959"/>
                </a:solidFill>
                <a:latin typeface="Helvetica Neue Light"/>
              </a:rPr>
              <a:t>AMEX sales partner, discovery interview</a:t>
            </a:r>
          </a:p>
        </p:txBody>
      </p:sp>
      <p:sp>
        <p:nvSpPr>
          <p:cNvPr id="9" name="TextBox 8"/>
          <p:cNvSpPr txBox="1"/>
          <p:nvPr/>
        </p:nvSpPr>
        <p:spPr>
          <a:xfrm>
            <a:off x="6035040" y="4572000"/>
            <a:ext cx="5760720" cy="274320"/>
          </a:xfrm>
          <a:prstGeom prst="rect">
            <a:avLst/>
          </a:prstGeom>
          <a:noFill/>
        </p:spPr>
        <p:txBody>
          <a:bodyPr wrap="square" lIns="0" rIns="0" tIns="0" bIns="0">
            <a:spAutoFit/>
          </a:bodyPr>
          <a:lstStyle/>
          <a:p>
            <a:r>
              <a:rPr sz="1280">
                <a:solidFill>
                  <a:srgbClr val="B5531F"/>
                </a:solidFill>
                <a:latin typeface="Helvetica Neue Medium"/>
              </a:rPr>
              <a:t>LEAD UX DESIGNER</a:t>
            </a:r>
          </a:p>
        </p:txBody>
      </p:sp>
      <p:sp>
        <p:nvSpPr>
          <p:cNvPr id="10" name="TextBox 9"/>
          <p:cNvSpPr txBox="1"/>
          <p:nvPr/>
        </p:nvSpPr>
        <p:spPr>
          <a:xfrm>
            <a:off x="6035040" y="4882896"/>
            <a:ext cx="5760720" cy="2286000"/>
          </a:xfrm>
          <a:prstGeom prst="rect">
            <a:avLst/>
          </a:prstGeom>
          <a:noFill/>
        </p:spPr>
        <p:txBody>
          <a:bodyPr wrap="square" lIns="0" rIns="0" tIns="0" bIns="0">
            <a:spAutoFit/>
          </a:bodyPr>
          <a:lstStyle/>
          <a:p>
            <a:r>
              <a:rPr sz="1500">
                <a:solidFill>
                  <a:srgbClr val="1F1F1F"/>
                </a:solidFill>
                <a:latin typeface="Helvetica Neue Light"/>
              </a:rPr>
              <a:t>Discovery, strategy and hands-on design; co-design with data scientists; Sketch, Lean UX, usability testing; presented to client stakeholders.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Overview</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At a glance</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THE PROBLEM</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partners had no tool to help clients budget their advertising spend, compare scenarios, or see what each dollar would do.</a:t>
            </a:r>
          </a:p>
        </p:txBody>
      </p:sp>
      <p:sp>
        <p:nvSpPr>
          <p:cNvPr id="7" name="TextBox 6"/>
          <p:cNvSpPr txBox="1"/>
          <p:nvPr/>
        </p:nvSpPr>
        <p:spPr>
          <a:xfrm>
            <a:off x="6583680" y="2011680"/>
            <a:ext cx="5669280" cy="274320"/>
          </a:xfrm>
          <a:prstGeom prst="rect">
            <a:avLst/>
          </a:prstGeom>
          <a:noFill/>
        </p:spPr>
        <p:txBody>
          <a:bodyPr wrap="square" lIns="0" rIns="0" tIns="0" bIns="0">
            <a:spAutoFit/>
          </a:bodyPr>
          <a:lstStyle/>
          <a:p>
            <a:r>
              <a:rPr sz="1280">
                <a:solidFill>
                  <a:srgbClr val="B5531F"/>
                </a:solidFill>
                <a:latin typeface="Helvetica Neue Medium"/>
              </a:rPr>
              <a:t>THE TARGET</a:t>
            </a:r>
          </a:p>
        </p:txBody>
      </p:sp>
      <p:sp>
        <p:nvSpPr>
          <p:cNvPr id="8" name="TextBox 7"/>
          <p:cNvSpPr txBox="1"/>
          <p:nvPr/>
        </p:nvSpPr>
        <p:spPr>
          <a:xfrm>
            <a:off x="6583680" y="2322576"/>
            <a:ext cx="5669280" cy="2286000"/>
          </a:xfrm>
          <a:prstGeom prst="rect">
            <a:avLst/>
          </a:prstGeom>
          <a:noFill/>
        </p:spPr>
        <p:txBody>
          <a:bodyPr wrap="square" lIns="0" rIns="0" tIns="0" bIns="0">
            <a:spAutoFit/>
          </a:bodyPr>
          <a:lstStyle/>
          <a:p>
            <a:r>
              <a:rPr sz="1600">
                <a:solidFill>
                  <a:srgbClr val="1F1F1F"/>
                </a:solidFill>
                <a:latin typeface="Helvetica Neue Light"/>
              </a:rPr>
              <a:t>Raise partner approval (58% baseline), cut budget drop-off (5.4%) and time to build a budget (12 min), and grow average client budgets ($1.34M).</a:t>
            </a:r>
          </a:p>
        </p:txBody>
      </p:sp>
      <p:sp>
        <p:nvSpPr>
          <p:cNvPr id="9" name="TextBox 8"/>
          <p:cNvSpPr txBox="1"/>
          <p:nvPr/>
        </p:nvSpPr>
        <p:spPr>
          <a:xfrm>
            <a:off x="457200" y="4297680"/>
            <a:ext cx="5669280" cy="274320"/>
          </a:xfrm>
          <a:prstGeom prst="rect">
            <a:avLst/>
          </a:prstGeom>
          <a:noFill/>
        </p:spPr>
        <p:txBody>
          <a:bodyPr wrap="square" lIns="0" rIns="0" tIns="0" bIns="0">
            <a:spAutoFit/>
          </a:bodyPr>
          <a:lstStyle/>
          <a:p>
            <a:r>
              <a:rPr sz="1280">
                <a:solidFill>
                  <a:srgbClr val="B5531F"/>
                </a:solidFill>
                <a:latin typeface="Helvetica Neue Medium"/>
              </a:rPr>
              <a:t>THE DECISION I MADE</a:t>
            </a:r>
          </a:p>
        </p:txBody>
      </p:sp>
      <p:sp>
        <p:nvSpPr>
          <p:cNvPr id="10" name="TextBox 9"/>
          <p:cNvSpPr txBox="1"/>
          <p:nvPr/>
        </p:nvSpPr>
        <p:spPr>
          <a:xfrm>
            <a:off x="457200" y="4608576"/>
            <a:ext cx="5669280" cy="2286000"/>
          </a:xfrm>
          <a:prstGeom prst="rect">
            <a:avLst/>
          </a:prstGeom>
          <a:noFill/>
        </p:spPr>
        <p:txBody>
          <a:bodyPr wrap="square" lIns="0" rIns="0" tIns="0" bIns="0">
            <a:spAutoFit/>
          </a:bodyPr>
          <a:lstStyle/>
          <a:p>
            <a:r>
              <a:rPr sz="1600">
                <a:solidFill>
                  <a:srgbClr val="1F1F1F"/>
                </a:solidFill>
                <a:latin typeface="Helvetica Neue Light"/>
              </a:rPr>
              <a:t>Turn budgeting into a 3-step flow: a guided wizard, a scenario builder down to channel and product, and a side-by-side comparison with an optimized plan the partner chooses.</a:t>
            </a:r>
          </a:p>
        </p:txBody>
      </p:sp>
      <p:sp>
        <p:nvSpPr>
          <p:cNvPr id="11" name="TextBox 10"/>
          <p:cNvSpPr txBox="1"/>
          <p:nvPr/>
        </p:nvSpPr>
        <p:spPr>
          <a:xfrm>
            <a:off x="6583680" y="4297680"/>
            <a:ext cx="5669280" cy="274320"/>
          </a:xfrm>
          <a:prstGeom prst="rect">
            <a:avLst/>
          </a:prstGeom>
          <a:noFill/>
        </p:spPr>
        <p:txBody>
          <a:bodyPr wrap="square" lIns="0" rIns="0" tIns="0" bIns="0">
            <a:spAutoFit/>
          </a:bodyPr>
          <a:lstStyle/>
          <a:p>
            <a:r>
              <a:rPr sz="1280">
                <a:solidFill>
                  <a:srgbClr val="B5531F"/>
                </a:solidFill>
                <a:latin typeface="Helvetica Neue Medium"/>
              </a:rPr>
              <a:t>WHAT WE GAVE UP</a:t>
            </a:r>
          </a:p>
        </p:txBody>
      </p:sp>
      <p:sp>
        <p:nvSpPr>
          <p:cNvPr id="12" name="TextBox 11"/>
          <p:cNvSpPr txBox="1"/>
          <p:nvPr/>
        </p:nvSpPr>
        <p:spPr>
          <a:xfrm>
            <a:off x="6583680" y="4608576"/>
            <a:ext cx="5669280" cy="2286000"/>
          </a:xfrm>
          <a:prstGeom prst="rect">
            <a:avLst/>
          </a:prstGeom>
          <a:noFill/>
        </p:spPr>
        <p:txBody>
          <a:bodyPr wrap="square" lIns="0" rIns="0" tIns="0" bIns="0">
            <a:spAutoFit/>
          </a:bodyPr>
          <a:lstStyle/>
          <a:p>
            <a:r>
              <a:rPr sz="1600">
                <a:solidFill>
                  <a:srgbClr val="1F1F1F"/>
                </a:solidFill>
                <a:latin typeface="Helvetica Neue Light"/>
              </a:rPr>
              <a:t>One quick, single-plan form. Building and comparing scenarios adds a step (about 5 min of comparison) in exchange for confidence. (confirm)</a:t>
            </a:r>
          </a:p>
        </p:txBody>
      </p:sp>
      <p:sp>
        <p:nvSpPr>
          <p:cNvPr id="13" name="TextBox 12"/>
          <p:cNvSpPr txBox="1"/>
          <p:nvPr/>
        </p:nvSpPr>
        <p:spPr>
          <a:xfrm>
            <a:off x="457200" y="6583680"/>
            <a:ext cx="5669280" cy="274320"/>
          </a:xfrm>
          <a:prstGeom prst="rect">
            <a:avLst/>
          </a:prstGeom>
          <a:noFill/>
        </p:spPr>
        <p:txBody>
          <a:bodyPr wrap="square" lIns="0" rIns="0" tIns="0" bIns="0">
            <a:spAutoFit/>
          </a:bodyPr>
          <a:lstStyle/>
          <a:p>
            <a:r>
              <a:rPr sz="1280">
                <a:solidFill>
                  <a:srgbClr val="B5531F"/>
                </a:solidFill>
                <a:latin typeface="Helvetica Neue Medium"/>
              </a:rPr>
              <a:t>THE RESULT</a:t>
            </a:r>
          </a:p>
        </p:txBody>
      </p:sp>
      <p:sp>
        <p:nvSpPr>
          <p:cNvPr id="14" name="TextBox 13"/>
          <p:cNvSpPr txBox="1"/>
          <p:nvPr/>
        </p:nvSpPr>
        <p:spPr>
          <a:xfrm>
            <a:off x="457200" y="6894576"/>
            <a:ext cx="5669280" cy="2286000"/>
          </a:xfrm>
          <a:prstGeom prst="rect">
            <a:avLst/>
          </a:prstGeom>
          <a:noFill/>
        </p:spPr>
        <p:txBody>
          <a:bodyPr wrap="square" lIns="0" rIns="0" tIns="0" bIns="0">
            <a:spAutoFit/>
          </a:bodyPr>
          <a:lstStyle/>
          <a:p>
            <a:r>
              <a:rPr sz="1600">
                <a:solidFill>
                  <a:srgbClr val="1F1F1F"/>
                </a:solidFill>
                <a:latin typeface="Helvetica Neue Light"/>
              </a:rPr>
              <a:t>Partner approval 58% → 88%. Drop-off 5.4% → 3.4%. Time to build a budget 12 → 10 min. Average client budget $1.34M → $1.8M.</a:t>
            </a:r>
          </a:p>
        </p:txBody>
      </p:sp>
      <p:sp>
        <p:nvSpPr>
          <p:cNvPr id="15" name="TextBox 14"/>
          <p:cNvSpPr txBox="1"/>
          <p:nvPr/>
        </p:nvSpPr>
        <p:spPr>
          <a:xfrm>
            <a:off x="6583680" y="6583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16" name="TextBox 15"/>
          <p:cNvSpPr txBox="1"/>
          <p:nvPr/>
        </p:nvSpPr>
        <p:spPr>
          <a:xfrm>
            <a:off x="6583680" y="6894576"/>
            <a:ext cx="5669280" cy="2286000"/>
          </a:xfrm>
          <a:prstGeom prst="rect">
            <a:avLst/>
          </a:prstGeom>
          <a:noFill/>
        </p:spPr>
        <p:txBody>
          <a:bodyPr wrap="square" lIns="0" rIns="0" tIns="0" bIns="0">
            <a:spAutoFit/>
          </a:bodyPr>
          <a:lstStyle/>
          <a:p>
            <a:r>
              <a:rPr sz="1600">
                <a:solidFill>
                  <a:srgbClr val="1F1F1F"/>
                </a:solidFill>
                <a:latin typeface="Helvetica Neue Light"/>
              </a:rPr>
              <a:t>Lead UX designer: discovery, strategy and hands-on design, working with data scientists over 12 Agile sprints. Team size (confirm).</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Results</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changed after launch</a:t>
            </a:r>
          </a:p>
        </p:txBody>
      </p:sp>
      <p:sp>
        <p:nvSpPr>
          <p:cNvPr id="5" name="TextBox 4"/>
          <p:cNvSpPr txBox="1"/>
          <p:nvPr/>
        </p:nvSpPr>
        <p:spPr>
          <a:xfrm>
            <a:off x="457200" y="1828800"/>
            <a:ext cx="11887200" cy="365760"/>
          </a:xfrm>
          <a:prstGeom prst="rect">
            <a:avLst/>
          </a:prstGeom>
          <a:noFill/>
        </p:spPr>
        <p:txBody>
          <a:bodyPr wrap="square" lIns="0" rIns="0" tIns="0" bIns="0">
            <a:spAutoFit/>
          </a:bodyPr>
          <a:lstStyle/>
          <a:p>
            <a:r>
              <a:rPr sz="1600">
                <a:solidFill>
                  <a:srgbClr val="595959"/>
                </a:solidFill>
                <a:latin typeface="Helvetica Neue Light"/>
              </a:rPr>
              <a:t>Measured against the baseline we set in discovery. (confirm the measurement period)</a:t>
            </a:r>
          </a:p>
        </p:txBody>
      </p:sp>
      <p:sp>
        <p:nvSpPr>
          <p:cNvPr id="6" name="TextBox 5"/>
          <p:cNvSpPr txBox="1"/>
          <p:nvPr/>
        </p:nvSpPr>
        <p:spPr>
          <a:xfrm>
            <a:off x="457200" y="2651760"/>
            <a:ext cx="5669280" cy="274320"/>
          </a:xfrm>
          <a:prstGeom prst="rect">
            <a:avLst/>
          </a:prstGeom>
          <a:noFill/>
        </p:spPr>
        <p:txBody>
          <a:bodyPr wrap="square" lIns="0" rIns="0" tIns="0" bIns="0">
            <a:spAutoFit/>
          </a:bodyPr>
          <a:lstStyle/>
          <a:p>
            <a:r>
              <a:rPr sz="1280">
                <a:solidFill>
                  <a:srgbClr val="B5531F"/>
                </a:solidFill>
                <a:latin typeface="Helvetica Neue Medium"/>
              </a:rPr>
              <a:t>PARTNER APPROVAL</a:t>
            </a:r>
          </a:p>
        </p:txBody>
      </p:sp>
      <p:sp>
        <p:nvSpPr>
          <p:cNvPr id="7" name="TextBox 6"/>
          <p:cNvSpPr txBox="1"/>
          <p:nvPr/>
        </p:nvSpPr>
        <p:spPr>
          <a:xfrm>
            <a:off x="45720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58%  →  88%</a:t>
            </a:r>
          </a:p>
          <a:p>
            <a:pPr>
              <a:spcAft>
                <a:spcPts val="600"/>
              </a:spcAft>
            </a:pPr>
            <a:r>
              <a:rPr sz="2200">
                <a:solidFill>
                  <a:srgbClr val="1F1F1F"/>
                </a:solidFill>
                <a:latin typeface="Helvetica Neue Light"/>
              </a:rPr>
              <a:t>+30 pts</a:t>
            </a:r>
          </a:p>
        </p:txBody>
      </p:sp>
      <p:sp>
        <p:nvSpPr>
          <p:cNvPr id="8" name="TextBox 7"/>
          <p:cNvSpPr txBox="1"/>
          <p:nvPr/>
        </p:nvSpPr>
        <p:spPr>
          <a:xfrm>
            <a:off x="6583680" y="2651760"/>
            <a:ext cx="5669280" cy="274320"/>
          </a:xfrm>
          <a:prstGeom prst="rect">
            <a:avLst/>
          </a:prstGeom>
          <a:noFill/>
        </p:spPr>
        <p:txBody>
          <a:bodyPr wrap="square" lIns="0" rIns="0" tIns="0" bIns="0">
            <a:spAutoFit/>
          </a:bodyPr>
          <a:lstStyle/>
          <a:p>
            <a:r>
              <a:rPr sz="1280">
                <a:solidFill>
                  <a:srgbClr val="B5531F"/>
                </a:solidFill>
                <a:latin typeface="Helvetica Neue Medium"/>
              </a:rPr>
              <a:t>BUDGET DROP-OFF</a:t>
            </a:r>
          </a:p>
        </p:txBody>
      </p:sp>
      <p:sp>
        <p:nvSpPr>
          <p:cNvPr id="9" name="TextBox 8"/>
          <p:cNvSpPr txBox="1"/>
          <p:nvPr/>
        </p:nvSpPr>
        <p:spPr>
          <a:xfrm>
            <a:off x="658368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5.4%  →  3.4%</a:t>
            </a:r>
          </a:p>
          <a:p>
            <a:pPr>
              <a:spcAft>
                <a:spcPts val="600"/>
              </a:spcAft>
            </a:pPr>
            <a:r>
              <a:rPr sz="2200">
                <a:solidFill>
                  <a:srgbClr val="1F1F1F"/>
                </a:solidFill>
                <a:latin typeface="Helvetica Neue Light"/>
              </a:rPr>
              <a:t>−2.0 pts</a:t>
            </a:r>
          </a:p>
        </p:txBody>
      </p:sp>
      <p:sp>
        <p:nvSpPr>
          <p:cNvPr id="10" name="TextBox 9"/>
          <p:cNvSpPr txBox="1"/>
          <p:nvPr/>
        </p:nvSpPr>
        <p:spPr>
          <a:xfrm>
            <a:off x="457200" y="4937760"/>
            <a:ext cx="5669280" cy="274320"/>
          </a:xfrm>
          <a:prstGeom prst="rect">
            <a:avLst/>
          </a:prstGeom>
          <a:noFill/>
        </p:spPr>
        <p:txBody>
          <a:bodyPr wrap="square" lIns="0" rIns="0" tIns="0" bIns="0">
            <a:spAutoFit/>
          </a:bodyPr>
          <a:lstStyle/>
          <a:p>
            <a:r>
              <a:rPr sz="1280">
                <a:solidFill>
                  <a:srgbClr val="B5531F"/>
                </a:solidFill>
                <a:latin typeface="Helvetica Neue Medium"/>
              </a:rPr>
              <a:t>TIME TO BUILD A BUDGET</a:t>
            </a:r>
          </a:p>
        </p:txBody>
      </p:sp>
      <p:sp>
        <p:nvSpPr>
          <p:cNvPr id="11" name="TextBox 10"/>
          <p:cNvSpPr txBox="1"/>
          <p:nvPr/>
        </p:nvSpPr>
        <p:spPr>
          <a:xfrm>
            <a:off x="45720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12 min  →  10 min</a:t>
            </a:r>
          </a:p>
          <a:p>
            <a:pPr>
              <a:spcAft>
                <a:spcPts val="600"/>
              </a:spcAft>
            </a:pPr>
            <a:r>
              <a:rPr sz="2200">
                <a:solidFill>
                  <a:srgbClr val="1F1F1F"/>
                </a:solidFill>
                <a:latin typeface="Helvetica Neue Light"/>
              </a:rPr>
              <a:t>−2 min</a:t>
            </a:r>
          </a:p>
        </p:txBody>
      </p:sp>
      <p:sp>
        <p:nvSpPr>
          <p:cNvPr id="12" name="TextBox 11"/>
          <p:cNvSpPr txBox="1"/>
          <p:nvPr/>
        </p:nvSpPr>
        <p:spPr>
          <a:xfrm>
            <a:off x="6583680" y="4937760"/>
            <a:ext cx="5669280" cy="274320"/>
          </a:xfrm>
          <a:prstGeom prst="rect">
            <a:avLst/>
          </a:prstGeom>
          <a:noFill/>
        </p:spPr>
        <p:txBody>
          <a:bodyPr wrap="square" lIns="0" rIns="0" tIns="0" bIns="0">
            <a:spAutoFit/>
          </a:bodyPr>
          <a:lstStyle/>
          <a:p>
            <a:r>
              <a:rPr sz="1280">
                <a:solidFill>
                  <a:srgbClr val="B5531F"/>
                </a:solidFill>
                <a:latin typeface="Helvetica Neue Medium"/>
              </a:rPr>
              <a:t>AVERAGE CLIENT BUDGET</a:t>
            </a:r>
          </a:p>
        </p:txBody>
      </p:sp>
      <p:sp>
        <p:nvSpPr>
          <p:cNvPr id="13" name="TextBox 12"/>
          <p:cNvSpPr txBox="1"/>
          <p:nvPr/>
        </p:nvSpPr>
        <p:spPr>
          <a:xfrm>
            <a:off x="658368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$1.34M  →  $1.8M</a:t>
            </a:r>
          </a:p>
          <a:p>
            <a:pPr>
              <a:spcAft>
                <a:spcPts val="600"/>
              </a:spcAft>
            </a:pPr>
            <a:r>
              <a:rPr sz="2200">
                <a:solidFill>
                  <a:srgbClr val="1F1F1F"/>
                </a:solidFill>
                <a:latin typeface="Helvetica Neue Light"/>
              </a:rPr>
              <a:t>+34%</a:t>
            </a:r>
          </a:p>
        </p:txBody>
      </p:sp>
      <p:sp>
        <p:nvSpPr>
          <p:cNvPr id="14" name="TextBox 13"/>
          <p:cNvSpPr txBox="1"/>
          <p:nvPr/>
        </p:nvSpPr>
        <p:spPr>
          <a:xfrm>
            <a:off x="457200" y="7315200"/>
            <a:ext cx="11887200" cy="365760"/>
          </a:xfrm>
          <a:prstGeom prst="rect">
            <a:avLst/>
          </a:prstGeom>
          <a:noFill/>
        </p:spPr>
        <p:txBody>
          <a:bodyPr wrap="square" lIns="0" rIns="0" tIns="0" bIns="0">
            <a:spAutoFit/>
          </a:bodyPr>
          <a:lstStyle/>
          <a:p>
            <a:r>
              <a:rPr sz="1600">
                <a:solidFill>
                  <a:srgbClr val="1F1F1F"/>
                </a:solidFill>
                <a:latin typeface="Helvetica Neue Light"/>
              </a:rPr>
              <a:t>New capability: partners spend about 5 minutes comparing scenarios, a step that did not exist before.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Context</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The product, the people, the constraints</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WHAT MOCA IS</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 desktop budgeting application that uses algorithmic engines to project a marketer’s potential budget, and to compare constructed and optimized budget scenarios.</a:t>
            </a:r>
          </a:p>
        </p:txBody>
      </p:sp>
      <p:sp>
        <p:nvSpPr>
          <p:cNvPr id="7" name="TextBox 6"/>
          <p:cNvSpPr txBox="1"/>
          <p:nvPr/>
        </p:nvSpPr>
        <p:spPr>
          <a:xfrm>
            <a:off x="6309360" y="2011680"/>
            <a:ext cx="5669280" cy="274320"/>
          </a:xfrm>
          <a:prstGeom prst="rect">
            <a:avLst/>
          </a:prstGeom>
          <a:noFill/>
        </p:spPr>
        <p:txBody>
          <a:bodyPr wrap="square" lIns="0" rIns="0" tIns="0" bIns="0">
            <a:spAutoFit/>
          </a:bodyPr>
          <a:lstStyle/>
          <a:p>
            <a:r>
              <a:rPr sz="1280">
                <a:solidFill>
                  <a:srgbClr val="B5531F"/>
                </a:solidFill>
                <a:latin typeface="Helvetica Neue Medium"/>
              </a:rPr>
              <a:t>WHO USES IT</a:t>
            </a:r>
          </a:p>
        </p:txBody>
      </p:sp>
      <p:sp>
        <p:nvSpPr>
          <p:cNvPr id="8" name="TextBox 7"/>
          <p:cNvSpPr txBox="1"/>
          <p:nvPr/>
        </p:nvSpPr>
        <p:spPr>
          <a:xfrm>
            <a:off x="630936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managers and sales advisors, building advertising budgets with their external clients across AMEX product lines and channels.</a:t>
            </a:r>
          </a:p>
        </p:txBody>
      </p:sp>
      <p:sp>
        <p:nvSpPr>
          <p:cNvPr id="9" name="TextBox 8"/>
          <p:cNvSpPr txBox="1"/>
          <p:nvPr/>
        </p:nvSpPr>
        <p:spPr>
          <a:xfrm>
            <a:off x="457200" y="4572000"/>
            <a:ext cx="3657600" cy="274320"/>
          </a:xfrm>
          <a:prstGeom prst="rect">
            <a:avLst/>
          </a:prstGeom>
          <a:noFill/>
        </p:spPr>
        <p:txBody>
          <a:bodyPr wrap="square" lIns="0" rIns="0" tIns="0" bIns="0">
            <a:spAutoFit/>
          </a:bodyPr>
          <a:lstStyle/>
          <a:p>
            <a:r>
              <a:rPr sz="1280">
                <a:solidFill>
                  <a:srgbClr val="B5531F"/>
                </a:solidFill>
                <a:latin typeface="Helvetica Neue Medium"/>
              </a:rPr>
              <a:t>USED RARELY</a:t>
            </a:r>
          </a:p>
        </p:txBody>
      </p:sp>
      <p:sp>
        <p:nvSpPr>
          <p:cNvPr id="10" name="TextBox 9"/>
          <p:cNvSpPr txBox="1"/>
          <p:nvPr/>
        </p:nvSpPr>
        <p:spPr>
          <a:xfrm>
            <a:off x="457200" y="4882896"/>
            <a:ext cx="3657600" cy="2286000"/>
          </a:xfrm>
          <a:prstGeom prst="rect">
            <a:avLst/>
          </a:prstGeom>
          <a:noFill/>
        </p:spPr>
        <p:txBody>
          <a:bodyPr wrap="square" lIns="0" rIns="0" tIns="0" bIns="0">
            <a:spAutoFit/>
          </a:bodyPr>
          <a:lstStyle/>
          <a:p>
            <a:r>
              <a:rPr sz="1600">
                <a:solidFill>
                  <a:srgbClr val="1F1F1F"/>
                </a:solidFill>
                <a:latin typeface="Helvetica Neue Light"/>
              </a:rPr>
              <a:t>Partners build a plan every 6–12 months, so every visit feels like the first.</a:t>
            </a:r>
          </a:p>
        </p:txBody>
      </p:sp>
      <p:sp>
        <p:nvSpPr>
          <p:cNvPr id="11" name="TextBox 10"/>
          <p:cNvSpPr txBox="1"/>
          <p:nvPr/>
        </p:nvSpPr>
        <p:spPr>
          <a:xfrm>
            <a:off x="4480560" y="4572000"/>
            <a:ext cx="3657600" cy="274320"/>
          </a:xfrm>
          <a:prstGeom prst="rect">
            <a:avLst/>
          </a:prstGeom>
          <a:noFill/>
        </p:spPr>
        <p:txBody>
          <a:bodyPr wrap="square" lIns="0" rIns="0" tIns="0" bIns="0">
            <a:spAutoFit/>
          </a:bodyPr>
          <a:lstStyle/>
          <a:p>
            <a:r>
              <a:rPr sz="1280">
                <a:solidFill>
                  <a:srgbClr val="B5531F"/>
                </a:solidFill>
                <a:latin typeface="Helvetica Neue Medium"/>
              </a:rPr>
              <a:t>HIGH STAKES</a:t>
            </a:r>
          </a:p>
        </p:txBody>
      </p:sp>
      <p:sp>
        <p:nvSpPr>
          <p:cNvPr id="12" name="TextBox 11"/>
          <p:cNvSpPr txBox="1"/>
          <p:nvPr/>
        </p:nvSpPr>
        <p:spPr>
          <a:xfrm>
            <a:off x="4480560" y="4882896"/>
            <a:ext cx="3657600" cy="2286000"/>
          </a:xfrm>
          <a:prstGeom prst="rect">
            <a:avLst/>
          </a:prstGeom>
          <a:noFill/>
        </p:spPr>
        <p:txBody>
          <a:bodyPr wrap="square" lIns="0" rIns="0" tIns="0" bIns="0">
            <a:spAutoFit/>
          </a:bodyPr>
          <a:lstStyle/>
          <a:p>
            <a:r>
              <a:rPr sz="1600">
                <a:solidFill>
                  <a:srgbClr val="1F1F1F"/>
                </a:solidFill>
                <a:latin typeface="Helvetica Neue Light"/>
              </a:rPr>
              <a:t>Average client budget of $1.34M at baseline; partners had to defend each allocation.</a:t>
            </a:r>
          </a:p>
        </p:txBody>
      </p:sp>
      <p:sp>
        <p:nvSpPr>
          <p:cNvPr id="13" name="TextBox 12"/>
          <p:cNvSpPr txBox="1"/>
          <p:nvPr/>
        </p:nvSpPr>
        <p:spPr>
          <a:xfrm>
            <a:off x="8503920" y="4572000"/>
            <a:ext cx="3657600" cy="274320"/>
          </a:xfrm>
          <a:prstGeom prst="rect">
            <a:avLst/>
          </a:prstGeom>
          <a:noFill/>
        </p:spPr>
        <p:txBody>
          <a:bodyPr wrap="square" lIns="0" rIns="0" tIns="0" bIns="0">
            <a:spAutoFit/>
          </a:bodyPr>
          <a:lstStyle/>
          <a:p>
            <a:r>
              <a:rPr sz="1280">
                <a:solidFill>
                  <a:srgbClr val="B5531F"/>
                </a:solidFill>
                <a:latin typeface="Helvetica Neue Medium"/>
              </a:rPr>
              <a:t>A DESKTOP APP AMONG OTHERS</a:t>
            </a:r>
          </a:p>
        </p:txBody>
      </p:sp>
      <p:sp>
        <p:nvSpPr>
          <p:cNvPr id="14" name="TextBox 13"/>
          <p:cNvSpPr txBox="1"/>
          <p:nvPr/>
        </p:nvSpPr>
        <p:spPr>
          <a:xfrm>
            <a:off x="8503920" y="4882896"/>
            <a:ext cx="3657600" cy="2286000"/>
          </a:xfrm>
          <a:prstGeom prst="rect">
            <a:avLst/>
          </a:prstGeom>
          <a:noFill/>
        </p:spPr>
        <p:txBody>
          <a:bodyPr wrap="square" lIns="0" rIns="0" tIns="0" bIns="0">
            <a:spAutoFit/>
          </a:bodyPr>
          <a:lstStyle/>
          <a:p>
            <a:r>
              <a:rPr sz="1600">
                <a:solidFill>
                  <a:srgbClr val="1F1F1F"/>
                </a:solidFill>
                <a:latin typeface="Helvetica Neue Light"/>
              </a:rPr>
              <a:t>It had to sit beside other desktop tools and connect to them through APIs.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Discovery</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partners told us</a:t>
            </a:r>
          </a:p>
        </p:txBody>
      </p:sp>
      <p:sp>
        <p:nvSpPr>
          <p:cNvPr id="5" name="TextBox 4"/>
          <p:cNvSpPr txBox="1"/>
          <p:nvPr/>
        </p:nvSpPr>
        <p:spPr>
          <a:xfrm>
            <a:off x="457200" y="2011680"/>
            <a:ext cx="5120640" cy="274320"/>
          </a:xfrm>
          <a:prstGeom prst="rect">
            <a:avLst/>
          </a:prstGeom>
          <a:noFill/>
        </p:spPr>
        <p:txBody>
          <a:bodyPr wrap="square" lIns="0" rIns="0" tIns="0" bIns="0">
            <a:spAutoFit/>
          </a:bodyPr>
          <a:lstStyle/>
          <a:p>
            <a:r>
              <a:rPr sz="1280">
                <a:solidFill>
                  <a:srgbClr val="B5531F"/>
                </a:solidFill>
                <a:latin typeface="Helvetica Neue Medium"/>
              </a:rPr>
              <a:t>HOW WE LEARNED</a:t>
            </a:r>
          </a:p>
        </p:txBody>
      </p:sp>
      <p:sp>
        <p:nvSpPr>
          <p:cNvPr id="6" name="TextBox 5"/>
          <p:cNvSpPr txBox="1"/>
          <p:nvPr/>
        </p:nvSpPr>
        <p:spPr>
          <a:xfrm>
            <a:off x="457200" y="2322576"/>
            <a:ext cx="512064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Interviews with stakeholders, SMEs and users (sales managers and advisors)</a:t>
            </a:r>
          </a:p>
          <a:p>
            <a:pPr>
              <a:spcAft>
                <a:spcPts val="600"/>
              </a:spcAft>
            </a:pPr>
            <a:r>
              <a:rPr sz="1600">
                <a:solidFill>
                  <a:srgbClr val="1F1F1F"/>
                </a:solidFill>
                <a:latin typeface="Helvetica Neue Light"/>
              </a:rPr>
              <a:t>Contextual interviews</a:t>
            </a:r>
          </a:p>
          <a:p>
            <a:pPr>
              <a:spcAft>
                <a:spcPts val="600"/>
              </a:spcAft>
            </a:pPr>
            <a:r>
              <a:rPr sz="1600">
                <a:solidFill>
                  <a:srgbClr val="1F1F1F"/>
                </a:solidFill>
                <a:latin typeface="Helvetica Neue Light"/>
              </a:rPr>
              <a:t>Personas</a:t>
            </a:r>
          </a:p>
          <a:p>
            <a:pPr>
              <a:spcAft>
                <a:spcPts val="600"/>
              </a:spcAft>
            </a:pPr>
            <a:r>
              <a:rPr sz="1600">
                <a:solidFill>
                  <a:srgbClr val="1F1F1F"/>
                </a:solidFill>
                <a:latin typeface="Helvetica Neue Light"/>
              </a:rPr>
              <a:t>Co-design sessions with data scientists</a:t>
            </a:r>
          </a:p>
        </p:txBody>
      </p:sp>
      <p:sp>
        <p:nvSpPr>
          <p:cNvPr id="7" name="TextBox 6"/>
          <p:cNvSpPr txBox="1"/>
          <p:nvPr/>
        </p:nvSpPr>
        <p:spPr>
          <a:xfrm>
            <a:off x="457200" y="4937760"/>
            <a:ext cx="5120640" cy="274320"/>
          </a:xfrm>
          <a:prstGeom prst="rect">
            <a:avLst/>
          </a:prstGeom>
          <a:noFill/>
        </p:spPr>
        <p:txBody>
          <a:bodyPr wrap="square" lIns="0" rIns="0" tIns="0" bIns="0">
            <a:spAutoFit/>
          </a:bodyPr>
          <a:lstStyle/>
          <a:p>
            <a:r>
              <a:rPr sz="1280">
                <a:solidFill>
                  <a:srgbClr val="B5531F"/>
                </a:solidFill>
                <a:latin typeface="Helvetica Neue Medium"/>
              </a:rPr>
              <a:t>A PARTNER, IN THEIR WORDS</a:t>
            </a:r>
          </a:p>
        </p:txBody>
      </p:sp>
      <p:sp>
        <p:nvSpPr>
          <p:cNvPr id="8" name="TextBox 7"/>
          <p:cNvSpPr txBox="1"/>
          <p:nvPr/>
        </p:nvSpPr>
        <p:spPr>
          <a:xfrm>
            <a:off x="457200" y="5248656"/>
            <a:ext cx="5120640" cy="2286000"/>
          </a:xfrm>
          <a:prstGeom prst="rect">
            <a:avLst/>
          </a:prstGeom>
          <a:noFill/>
        </p:spPr>
        <p:txBody>
          <a:bodyPr wrap="square" lIns="0" rIns="0" tIns="0" bIns="0">
            <a:spAutoFit/>
          </a:bodyPr>
          <a:lstStyle/>
          <a:p>
            <a:r>
              <a:rPr sz="1600">
                <a:solidFill>
                  <a:srgbClr val="1F1F1F"/>
                </a:solidFill>
                <a:latin typeface="Helvetica Neue Light"/>
              </a:rPr>
              <a:t>“If I could build a plan down to the product line and channel, I’d be super happy, but I’d also be able to customize each quarter.”</a:t>
            </a:r>
          </a:p>
        </p:txBody>
      </p:sp>
      <p:sp>
        <p:nvSpPr>
          <p:cNvPr id="9" name="TextBox 8"/>
          <p:cNvSpPr txBox="1"/>
          <p:nvPr/>
        </p:nvSpPr>
        <p:spPr>
          <a:xfrm>
            <a:off x="6126480" y="2011680"/>
            <a:ext cx="5852160" cy="274320"/>
          </a:xfrm>
          <a:prstGeom prst="rect">
            <a:avLst/>
          </a:prstGeom>
          <a:noFill/>
        </p:spPr>
        <p:txBody>
          <a:bodyPr wrap="square" lIns="0" rIns="0" tIns="0" bIns="0">
            <a:spAutoFit/>
          </a:bodyPr>
          <a:lstStyle/>
          <a:p>
            <a:r>
              <a:rPr sz="1280">
                <a:solidFill>
                  <a:srgbClr val="B5531F"/>
                </a:solidFill>
                <a:latin typeface="Helvetica Neue Medium"/>
              </a:rPr>
              <a:t>WHAT WE LEARNED</a:t>
            </a:r>
          </a:p>
        </p:txBody>
      </p:sp>
      <p:sp>
        <p:nvSpPr>
          <p:cNvPr id="10" name="TextBox 9"/>
          <p:cNvSpPr txBox="1"/>
          <p:nvPr/>
        </p:nvSpPr>
        <p:spPr>
          <a:xfrm>
            <a:off x="6126480" y="2322576"/>
            <a:ext cx="585216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Partners want to compare budget scenarios, not fill in one plan</a:t>
            </a:r>
          </a:p>
          <a:p>
            <a:pPr>
              <a:spcAft>
                <a:spcPts val="600"/>
              </a:spcAft>
            </a:pPr>
            <a:r>
              <a:rPr sz="1600">
                <a:solidFill>
                  <a:srgbClr val="1F1F1F"/>
                </a:solidFill>
                <a:latin typeface="Helvetica Neue Light"/>
              </a:rPr>
              <a:t>They need to see, in a chart, how effective each scenario is</a:t>
            </a:r>
          </a:p>
          <a:p>
            <a:pPr>
              <a:spcAft>
                <a:spcPts val="600"/>
              </a:spcAft>
            </a:pPr>
            <a:r>
              <a:rPr sz="1600">
                <a:solidFill>
                  <a:srgbClr val="1F1F1F"/>
                </a:solidFill>
                <a:latin typeface="Helvetica Neue Light"/>
              </a:rPr>
              <a:t>They want to adjust each channel, and each product inside a channel</a:t>
            </a:r>
          </a:p>
          <a:p>
            <a:pPr>
              <a:spcAft>
                <a:spcPts val="600"/>
              </a:spcAft>
            </a:pPr>
            <a:r>
              <a:rPr sz="1600">
                <a:solidFill>
                  <a:srgbClr val="1F1F1F"/>
                </a:solidFill>
                <a:latin typeface="Helvetica Neue Light"/>
              </a:rPr>
              <a:t>Short term vs long term matters to every decision</a:t>
            </a:r>
          </a:p>
          <a:p>
            <a:pPr>
              <a:spcAft>
                <a:spcPts val="600"/>
              </a:spcAft>
            </a:pPr>
            <a:r>
              <a:rPr sz="1600">
                <a:solidFill>
                  <a:srgbClr val="1F1F1F"/>
                </a:solidFill>
                <a:latin typeface="Helvetica Neue Light"/>
              </a:rPr>
              <a:t>Because they plan only every 6–12 months, they need guidance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1</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Guide the first visit with a wizard</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plan only every 6–12 months, so each visit feels like the first. A short wizard sets the essentials: import last year’s budget from Excel, then pick the time period.</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A few extra steps for the rare expert who knows the tool. We kept them short and skippable once data is imported. (confirm)</a:t>
            </a:r>
          </a:p>
        </p:txBody>
      </p:sp>
      <p:pic>
        <p:nvPicPr>
          <p:cNvPr id="9" name="Picture 8" descr="s06_11.png"/>
          <p:cNvPicPr>
            <a:picLocks noChangeAspect="1"/>
          </p:cNvPicPr>
          <p:nvPr/>
        </p:nvPicPr>
        <p:blipFill>
          <a:blip r:embed="rId3"/>
          <a:stretch>
            <a:fillRect/>
          </a:stretch>
        </p:blipFill>
        <p:spPr>
          <a:xfrm>
            <a:off x="6766560" y="2011680"/>
            <a:ext cx="4698420" cy="2926080"/>
          </a:xfrm>
          <a:prstGeom prst="rect">
            <a:avLst/>
          </a:prstGeom>
        </p:spPr>
      </p:pic>
      <p:pic>
        <p:nvPicPr>
          <p:cNvPr id="10" name="Picture 9" descr="s06_12.png"/>
          <p:cNvPicPr>
            <a:picLocks noChangeAspect="1"/>
          </p:cNvPicPr>
          <p:nvPr/>
        </p:nvPicPr>
        <p:blipFill>
          <a:blip r:embed="rId4"/>
          <a:stretch>
            <a:fillRect/>
          </a:stretch>
        </p:blipFill>
        <p:spPr>
          <a:xfrm>
            <a:off x="6766560" y="5120640"/>
            <a:ext cx="4937760" cy="2990258"/>
          </a:xfrm>
          <a:prstGeom prst="rect">
            <a:avLst/>
          </a:prstGeom>
        </p:spPr>
      </p:pic>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2</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Build the plan down to channel and product</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asked to “build a plan down to the product line and channel”. Each allocation is adjustable, starting from an imported budget kept as a template, so a second plan starts from the first.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More controls on one screen. Channels and products sit on separate tabs, and a running total shows how much is left to allocate.</a:t>
            </a:r>
          </a:p>
        </p:txBody>
      </p:sp>
      <p:pic>
        <p:nvPicPr>
          <p:cNvPr id="9" name="Picture 8" descr="s07_11.png"/>
          <p:cNvPicPr>
            <a:picLocks noChangeAspect="1"/>
          </p:cNvPicPr>
          <p:nvPr/>
        </p:nvPicPr>
        <p:blipFill>
          <a:blip r:embed="rId3"/>
          <a:stretch>
            <a:fillRect/>
          </a:stretch>
        </p:blipFill>
        <p:spPr>
          <a:xfrm>
            <a:off x="6766560" y="2011680"/>
            <a:ext cx="4937760" cy="3790881"/>
          </a:xfrm>
          <a:prstGeom prst="rect">
            <a:avLst/>
          </a:prstGeom>
        </p:spPr>
      </p:pic>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3</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Compare scenarios; the partner chooses</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Confidence came from comparison. Scenarios sit side by side with an optimized plan from the data scientists’ engine, shown with the metrics partners care about: accounts, billed business, ROI, cost.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The optimizer proposes; it does not decide. The partner picks the plan and can see why the optimized one differs, so trust stays with them.</a:t>
            </a:r>
          </a:p>
        </p:txBody>
      </p:sp>
      <p:pic>
        <p:nvPicPr>
          <p:cNvPr id="9" name="Picture 8" descr="s08_11.png"/>
          <p:cNvPicPr>
            <a:picLocks noChangeAspect="1"/>
          </p:cNvPicPr>
          <p:nvPr/>
        </p:nvPicPr>
        <p:blipFill>
          <a:blip r:embed="rId3"/>
          <a:stretch>
            <a:fillRect/>
          </a:stretch>
        </p:blipFill>
        <p:spPr>
          <a:xfrm>
            <a:off x="6766560" y="2011680"/>
            <a:ext cx="4937760" cy="3468475"/>
          </a:xfrm>
          <a:prstGeom prst="rect">
            <a:avLst/>
          </a:prstGeom>
        </p:spPr>
      </p:pic>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Iteration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From sketch to shipped, and what testing changed</a:t>
            </a:r>
          </a:p>
        </p:txBody>
      </p:sp>
      <p:pic>
        <p:nvPicPr>
          <p:cNvPr id="5" name="Picture 4" descr="s09_5.png"/>
          <p:cNvPicPr>
            <a:picLocks noChangeAspect="1"/>
          </p:cNvPicPr>
          <p:nvPr/>
        </p:nvPicPr>
        <p:blipFill>
          <a:blip r:embed="rId3"/>
          <a:stretch>
            <a:fillRect/>
          </a:stretch>
        </p:blipFill>
        <p:spPr>
          <a:xfrm>
            <a:off x="457200" y="2011680"/>
            <a:ext cx="3749039" cy="2503295"/>
          </a:xfrm>
          <a:prstGeom prst="rect">
            <a:avLst/>
          </a:prstGeom>
        </p:spPr>
      </p:pic>
      <p:sp>
        <p:nvSpPr>
          <p:cNvPr id="6" name="TextBox 5"/>
          <p:cNvSpPr txBox="1"/>
          <p:nvPr/>
        </p:nvSpPr>
        <p:spPr>
          <a:xfrm>
            <a:off x="457200" y="4800600"/>
            <a:ext cx="3749039" cy="274320"/>
          </a:xfrm>
          <a:prstGeom prst="rect">
            <a:avLst/>
          </a:prstGeom>
          <a:noFill/>
        </p:spPr>
        <p:txBody>
          <a:bodyPr wrap="square" lIns="0" rIns="0" tIns="0" bIns="0">
            <a:spAutoFit/>
          </a:bodyPr>
          <a:lstStyle/>
          <a:p>
            <a:r>
              <a:rPr sz="1280">
                <a:solidFill>
                  <a:srgbClr val="B5531F"/>
                </a:solidFill>
                <a:latin typeface="Helvetica Neue Medium"/>
              </a:rPr>
              <a:t>Sketch</a:t>
            </a:r>
          </a:p>
        </p:txBody>
      </p:sp>
      <p:pic>
        <p:nvPicPr>
          <p:cNvPr id="7" name="Picture 6" descr="s09_7.png"/>
          <p:cNvPicPr>
            <a:picLocks noChangeAspect="1"/>
          </p:cNvPicPr>
          <p:nvPr/>
        </p:nvPicPr>
        <p:blipFill>
          <a:blip r:embed="rId4"/>
          <a:stretch>
            <a:fillRect/>
          </a:stretch>
        </p:blipFill>
        <p:spPr>
          <a:xfrm>
            <a:off x="4480560" y="2011680"/>
            <a:ext cx="3712463" cy="2651760"/>
          </a:xfrm>
          <a:prstGeom prst="rect">
            <a:avLst/>
          </a:prstGeom>
        </p:spPr>
      </p:pic>
      <p:sp>
        <p:nvSpPr>
          <p:cNvPr id="8" name="TextBox 7"/>
          <p:cNvSpPr txBox="1"/>
          <p:nvPr/>
        </p:nvSpPr>
        <p:spPr>
          <a:xfrm>
            <a:off x="4480560" y="4800600"/>
            <a:ext cx="3749039" cy="274320"/>
          </a:xfrm>
          <a:prstGeom prst="rect">
            <a:avLst/>
          </a:prstGeom>
          <a:noFill/>
        </p:spPr>
        <p:txBody>
          <a:bodyPr wrap="square" lIns="0" rIns="0" tIns="0" bIns="0">
            <a:spAutoFit/>
          </a:bodyPr>
          <a:lstStyle/>
          <a:p>
            <a:r>
              <a:rPr sz="1280">
                <a:solidFill>
                  <a:srgbClr val="B5531F"/>
                </a:solidFill>
                <a:latin typeface="Helvetica Neue Medium"/>
              </a:rPr>
              <a:t>Mid-fidelity</a:t>
            </a:r>
          </a:p>
        </p:txBody>
      </p:sp>
      <p:pic>
        <p:nvPicPr>
          <p:cNvPr id="9" name="Picture 8" descr="s09_9.png"/>
          <p:cNvPicPr>
            <a:picLocks noChangeAspect="1"/>
          </p:cNvPicPr>
          <p:nvPr/>
        </p:nvPicPr>
        <p:blipFill>
          <a:blip r:embed="rId5"/>
          <a:stretch>
            <a:fillRect/>
          </a:stretch>
        </p:blipFill>
        <p:spPr>
          <a:xfrm>
            <a:off x="8503920" y="2011680"/>
            <a:ext cx="3749039" cy="2430355"/>
          </a:xfrm>
          <a:prstGeom prst="rect">
            <a:avLst/>
          </a:prstGeom>
        </p:spPr>
      </p:pic>
      <p:sp>
        <p:nvSpPr>
          <p:cNvPr id="10" name="TextBox 9"/>
          <p:cNvSpPr txBox="1"/>
          <p:nvPr/>
        </p:nvSpPr>
        <p:spPr>
          <a:xfrm>
            <a:off x="8503920" y="4800600"/>
            <a:ext cx="3749039" cy="274320"/>
          </a:xfrm>
          <a:prstGeom prst="rect">
            <a:avLst/>
          </a:prstGeom>
          <a:noFill/>
        </p:spPr>
        <p:txBody>
          <a:bodyPr wrap="square" lIns="0" rIns="0" tIns="0" bIns="0">
            <a:spAutoFit/>
          </a:bodyPr>
          <a:lstStyle/>
          <a:p>
            <a:r>
              <a:rPr sz="1280">
                <a:solidFill>
                  <a:srgbClr val="B5531F"/>
                </a:solidFill>
                <a:latin typeface="Helvetica Neue Medium"/>
              </a:rPr>
              <a:t>Final: ROI projection</a:t>
            </a:r>
          </a:p>
        </p:txBody>
      </p:sp>
      <p:sp>
        <p:nvSpPr>
          <p:cNvPr id="11" name="TextBox 10"/>
          <p:cNvSpPr txBox="1"/>
          <p:nvPr/>
        </p:nvSpPr>
        <p:spPr>
          <a:xfrm>
            <a:off x="457200" y="5486400"/>
            <a:ext cx="11795760" cy="274320"/>
          </a:xfrm>
          <a:prstGeom prst="rect">
            <a:avLst/>
          </a:prstGeom>
          <a:noFill/>
        </p:spPr>
        <p:txBody>
          <a:bodyPr wrap="square" lIns="0" rIns="0" tIns="0" bIns="0">
            <a:spAutoFit/>
          </a:bodyPr>
          <a:lstStyle/>
          <a:p>
            <a:r>
              <a:rPr sz="1280">
                <a:solidFill>
                  <a:srgbClr val="B5531F"/>
                </a:solidFill>
                <a:latin typeface="Helvetica Neue Medium"/>
              </a:rPr>
              <a:t>WHAT TESTING CHANGED</a:t>
            </a:r>
          </a:p>
        </p:txBody>
      </p:sp>
      <p:sp>
        <p:nvSpPr>
          <p:cNvPr id="12" name="TextBox 11"/>
          <p:cNvSpPr txBox="1"/>
          <p:nvPr/>
        </p:nvSpPr>
        <p:spPr>
          <a:xfrm>
            <a:off x="457200" y="5797296"/>
            <a:ext cx="11795760" cy="2286000"/>
          </a:xfrm>
          <a:prstGeom prst="rect">
            <a:avLst/>
          </a:prstGeom>
          <a:noFill/>
        </p:spPr>
        <p:txBody>
          <a:bodyPr wrap="square" lIns="0" rIns="0" tIns="0" bIns="0">
            <a:spAutoFit/>
          </a:bodyPr>
          <a:lstStyle/>
          <a:p>
            <a:pPr>
              <a:spcAft>
                <a:spcPts val="600"/>
              </a:spcAft>
            </a:pPr>
            <a:r>
              <a:rPr sz="1400">
                <a:solidFill>
                  <a:srgbClr val="1F1F1F"/>
                </a:solidFill>
                <a:latin typeface="Helvetica Neue Light"/>
              </a:rPr>
              <a:t>Duplicate an imported budget as a template: users wanted to start plan two from plan one</a:t>
            </a:r>
          </a:p>
          <a:p>
            <a:pPr>
              <a:spcAft>
                <a:spcPts val="600"/>
              </a:spcAft>
            </a:pPr>
            <a:r>
              <a:rPr sz="1400">
                <a:solidFill>
                  <a:srgbClr val="1F1F1F"/>
                </a:solidFill>
                <a:latin typeface="Helvetica Neue Light"/>
              </a:rPr>
              <a:t>Reset became its own tool, after users kept looking for it</a:t>
            </a:r>
          </a:p>
          <a:p>
            <a:pPr>
              <a:spcAft>
                <a:spcPts val="600"/>
              </a:spcAft>
            </a:pPr>
            <a:r>
              <a:rPr sz="1400">
                <a:solidFill>
                  <a:srgbClr val="1F1F1F"/>
                </a:solidFill>
                <a:latin typeface="Helvetica Neue Light"/>
              </a:rPr>
              <a:t>The navigation bar with a toolbar scored high and stayed</a:t>
            </a:r>
          </a:p>
          <a:p>
            <a:pPr>
              <a:spcAft>
                <a:spcPts val="600"/>
              </a:spcAft>
            </a:pPr>
            <a:r>
              <a:rPr sz="1400">
                <a:solidFill>
                  <a:srgbClr val="1F1F1F"/>
                </a:solidFill>
                <a:latin typeface="Helvetica Neue Light"/>
              </a:rPr>
              <a:t>Short term vs long term became a first-class view</a:t>
            </a:r>
          </a:p>
          <a:p>
            <a:pPr>
              <a:spcAft>
                <a:spcPts val="600"/>
              </a:spcAft>
            </a:pPr>
            <a:r>
              <a:rPr sz="1400">
                <a:solidFill>
                  <a:srgbClr val="1F1F1F"/>
                </a:solidFill>
                <a:latin typeface="Helvetica Neue Light"/>
              </a:rPr>
              <a:t>Exporting, duplicating and saving moved up: partners called them vital</a:t>
            </a:r>
          </a:p>
          <a:p>
            <a:pPr>
              <a:spcAft>
                <a:spcPts val="600"/>
              </a:spcAft>
            </a:pPr>
            <a:r>
              <a:rPr sz="1400">
                <a:solidFill>
                  <a:srgbClr val="1F1F1F"/>
                </a:solidFill>
                <a:latin typeface="Helvetica Neue Light"/>
              </a:rPr>
              <a:t>Toggling chart types stayed; channel breakdown was called “a game changer”</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How I led</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Leading from the work</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Owned discovery, research and UX strategy</a:t>
            </a:r>
          </a:p>
          <a:p>
            <a:pPr>
              <a:spcAft>
                <a:spcPts val="600"/>
              </a:spcAft>
            </a:pPr>
            <a:r>
              <a:rPr sz="1600">
                <a:solidFill>
                  <a:srgbClr val="1F1F1F"/>
                </a:solidFill>
                <a:latin typeface="Helvetica Neue Light"/>
              </a:rPr>
              <a:t>Designed the flows and screens myself, from sketches to final</a:t>
            </a:r>
          </a:p>
          <a:p>
            <a:pPr>
              <a:spcAft>
                <a:spcPts val="600"/>
              </a:spcAft>
            </a:pPr>
            <a:r>
              <a:rPr sz="1600">
                <a:solidFill>
                  <a:srgbClr val="1F1F1F"/>
                </a:solidFill>
                <a:latin typeface="Helvetica Neue Light"/>
              </a:rPr>
              <a:t>Ran Lean UX and usability testing on a regular cadence</a:t>
            </a:r>
          </a:p>
          <a:p>
            <a:pPr>
              <a:spcAft>
                <a:spcPts val="600"/>
              </a:spcAft>
            </a:pPr>
            <a:r>
              <a:rPr sz="1600">
                <a:solidFill>
                  <a:srgbClr val="1F1F1F"/>
                </a:solidFill>
                <a:latin typeface="Helvetica Neue Light"/>
              </a:rPr>
              <a:t>Presented the work to the client and key stakeholders</a:t>
            </a:r>
          </a:p>
        </p:txBody>
      </p:sp>
      <p:sp>
        <p:nvSpPr>
          <p:cNvPr id="7" name="TextBox 6"/>
          <p:cNvSpPr txBox="1"/>
          <p:nvPr/>
        </p:nvSpPr>
        <p:spPr>
          <a:xfrm>
            <a:off x="457200" y="4846320"/>
            <a:ext cx="5669280" cy="274320"/>
          </a:xfrm>
          <a:prstGeom prst="rect">
            <a:avLst/>
          </a:prstGeom>
          <a:noFill/>
        </p:spPr>
        <p:txBody>
          <a:bodyPr wrap="square" lIns="0" rIns="0" tIns="0" bIns="0">
            <a:spAutoFit/>
          </a:bodyPr>
          <a:lstStyle/>
          <a:p>
            <a:r>
              <a:rPr sz="1280">
                <a:solidFill>
                  <a:srgbClr val="B5531F"/>
                </a:solidFill>
                <a:latin typeface="Helvetica Neue Medium"/>
              </a:rPr>
              <a:t>WORKING WITH DATA SCIENTISTS</a:t>
            </a:r>
          </a:p>
        </p:txBody>
      </p:sp>
      <p:sp>
        <p:nvSpPr>
          <p:cNvPr id="8" name="TextBox 7"/>
          <p:cNvSpPr txBox="1"/>
          <p:nvPr/>
        </p:nvSpPr>
        <p:spPr>
          <a:xfrm>
            <a:off x="457200" y="5157216"/>
            <a:ext cx="5669280" cy="2286000"/>
          </a:xfrm>
          <a:prstGeom prst="rect">
            <a:avLst/>
          </a:prstGeom>
          <a:noFill/>
        </p:spPr>
        <p:txBody>
          <a:bodyPr wrap="square" lIns="0" rIns="0" tIns="0" bIns="0">
            <a:spAutoFit/>
          </a:bodyPr>
          <a:lstStyle/>
          <a:p>
            <a:r>
              <a:rPr sz="1600">
                <a:solidFill>
                  <a:srgbClr val="1F1F1F"/>
                </a:solidFill>
                <a:latin typeface="Helvetica Neue Light"/>
              </a:rPr>
              <a:t>Co-designed with the data scientists who built the projection and optimization engines, so the interface showed what the models could support and nothing more.</a:t>
            </a:r>
          </a:p>
        </p:txBody>
      </p:sp>
      <p:pic>
        <p:nvPicPr>
          <p:cNvPr id="9" name="Picture 8" descr="s10_11.png"/>
          <p:cNvPicPr>
            <a:picLocks noChangeAspect="1"/>
          </p:cNvPicPr>
          <p:nvPr/>
        </p:nvPicPr>
        <p:blipFill>
          <a:blip r:embed="rId3"/>
          <a:stretch>
            <a:fillRect/>
          </a:stretch>
        </p:blipFill>
        <p:spPr>
          <a:xfrm>
            <a:off x="6583680" y="2011680"/>
            <a:ext cx="5120640" cy="2487662"/>
          </a:xfrm>
          <a:prstGeom prst="rect">
            <a:avLst/>
          </a:prstGeom>
        </p:spPr>
      </p:pic>
      <p:sp>
        <p:nvSpPr>
          <p:cNvPr id="10" name="TextBox 9"/>
          <p:cNvSpPr txBox="1"/>
          <p:nvPr/>
        </p:nvSpPr>
        <p:spPr>
          <a:xfrm>
            <a:off x="6583680" y="5760720"/>
            <a:ext cx="5120640" cy="274320"/>
          </a:xfrm>
          <a:prstGeom prst="rect">
            <a:avLst/>
          </a:prstGeom>
          <a:noFill/>
        </p:spPr>
        <p:txBody>
          <a:bodyPr wrap="square" lIns="0" rIns="0" tIns="0" bIns="0">
            <a:spAutoFit/>
          </a:bodyPr>
          <a:lstStyle/>
          <a:p>
            <a:r>
              <a:rPr sz="1280">
                <a:solidFill>
                  <a:srgbClr val="B5531F"/>
                </a:solidFill>
                <a:latin typeface="Helvetica Neue Medium"/>
              </a:rPr>
              <a:t>DELIVERY</a:t>
            </a:r>
          </a:p>
        </p:txBody>
      </p:sp>
      <p:sp>
        <p:nvSpPr>
          <p:cNvPr id="11" name="TextBox 10"/>
          <p:cNvSpPr txBox="1"/>
          <p:nvPr/>
        </p:nvSpPr>
        <p:spPr>
          <a:xfrm>
            <a:off x="6583680" y="6071616"/>
            <a:ext cx="5120640" cy="2286000"/>
          </a:xfrm>
          <a:prstGeom prst="rect">
            <a:avLst/>
          </a:prstGeom>
          <a:noFill/>
        </p:spPr>
        <p:txBody>
          <a:bodyPr wrap="square" lIns="0" rIns="0" tIns="0" bIns="0">
            <a:spAutoFit/>
          </a:bodyPr>
          <a:lstStyle/>
          <a:p>
            <a:r>
              <a:rPr sz="1600">
                <a:solidFill>
                  <a:srgbClr val="1F1F1F"/>
                </a:solidFill>
                <a:latin typeface="Helvetica Neue Light"/>
              </a:rPr>
              <a:t>12 Agile sprints · usability testing every cycle · demos and QA</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Reflection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I’d do differently today</a:t>
            </a:r>
          </a:p>
        </p:txBody>
      </p:sp>
      <p:sp>
        <p:nvSpPr>
          <p:cNvPr id="5" name="TextBox 4"/>
          <p:cNvSpPr txBox="1"/>
          <p:nvPr/>
        </p:nvSpPr>
        <p:spPr>
          <a:xfrm>
            <a:off x="457200" y="1828800"/>
            <a:ext cx="11795760" cy="548640"/>
          </a:xfrm>
          <a:prstGeom prst="rect">
            <a:avLst/>
          </a:prstGeom>
          <a:noFill/>
        </p:spPr>
        <p:txBody>
          <a:bodyPr wrap="square" lIns="0" rIns="0" tIns="0" bIns="0">
            <a:spAutoFit/>
          </a:bodyPr>
          <a:lstStyle/>
          <a:p>
            <a:r>
              <a:rPr sz="2000">
                <a:solidFill>
                  <a:srgbClr val="1F1F1F"/>
                </a:solidFill>
                <a:latin typeface="Helvetica Neue Light"/>
              </a:rPr>
              <a:t>The fundamentals held up. With today’s tools I would change the level, not the goal.</a:t>
            </a:r>
          </a:p>
        </p:txBody>
      </p:sp>
      <p:sp>
        <p:nvSpPr>
          <p:cNvPr id="6" name="TextBox 5"/>
          <p:cNvSpPr txBox="1"/>
          <p:nvPr/>
        </p:nvSpPr>
        <p:spPr>
          <a:xfrm>
            <a:off x="457200" y="2926080"/>
            <a:ext cx="3657600" cy="274320"/>
          </a:xfrm>
          <a:prstGeom prst="rect">
            <a:avLst/>
          </a:prstGeom>
          <a:noFill/>
        </p:spPr>
        <p:txBody>
          <a:bodyPr wrap="square" lIns="0" rIns="0" tIns="0" bIns="0">
            <a:spAutoFit/>
          </a:bodyPr>
          <a:lstStyle/>
          <a:p>
            <a:r>
              <a:rPr sz="1280">
                <a:solidFill>
                  <a:srgbClr val="B5531F"/>
                </a:solidFill>
                <a:latin typeface="Helvetica Neue Medium"/>
              </a:rPr>
              <a:t>EXPLAIN THE OPTIMIZER, LINE BY LINE</a:t>
            </a:r>
          </a:p>
        </p:txBody>
      </p:sp>
      <p:sp>
        <p:nvSpPr>
          <p:cNvPr id="7" name="TextBox 6"/>
          <p:cNvSpPr txBox="1"/>
          <p:nvPr/>
        </p:nvSpPr>
        <p:spPr>
          <a:xfrm>
            <a:off x="457200" y="3236976"/>
            <a:ext cx="3657600" cy="2286000"/>
          </a:xfrm>
          <a:prstGeom prst="rect">
            <a:avLst/>
          </a:prstGeom>
          <a:noFill/>
        </p:spPr>
        <p:txBody>
          <a:bodyPr wrap="square" lIns="0" rIns="0" tIns="0" bIns="0">
            <a:spAutoFit/>
          </a:bodyPr>
          <a:lstStyle/>
          <a:p>
            <a:r>
              <a:rPr sz="1600">
                <a:solidFill>
                  <a:srgbClr val="1F1F1F"/>
                </a:solidFill>
                <a:latin typeface="Helvetica Neue Light"/>
              </a:rPr>
              <a:t>Show why the optimized plan moves money between channels, in the partner’s terms, so trust comes from understanding.</a:t>
            </a:r>
          </a:p>
        </p:txBody>
      </p:sp>
      <p:sp>
        <p:nvSpPr>
          <p:cNvPr id="8" name="TextBox 7"/>
          <p:cNvSpPr txBox="1"/>
          <p:nvPr/>
        </p:nvSpPr>
        <p:spPr>
          <a:xfrm>
            <a:off x="4480560" y="2926080"/>
            <a:ext cx="3657600" cy="274320"/>
          </a:xfrm>
          <a:prstGeom prst="rect">
            <a:avLst/>
          </a:prstGeom>
          <a:noFill/>
        </p:spPr>
        <p:txBody>
          <a:bodyPr wrap="square" lIns="0" rIns="0" tIns="0" bIns="0">
            <a:spAutoFit/>
          </a:bodyPr>
          <a:lstStyle/>
          <a:p>
            <a:r>
              <a:rPr sz="1280">
                <a:solidFill>
                  <a:srgbClr val="B5531F"/>
                </a:solidFill>
                <a:latin typeface="Helvetica Neue Medium"/>
              </a:rPr>
              <a:t>PROTOTYPE THE ENGINE EARLY, IN CODE</a:t>
            </a:r>
          </a:p>
        </p:txBody>
      </p:sp>
      <p:sp>
        <p:nvSpPr>
          <p:cNvPr id="9" name="TextBox 8"/>
          <p:cNvSpPr txBox="1"/>
          <p:nvPr/>
        </p:nvSpPr>
        <p:spPr>
          <a:xfrm>
            <a:off x="4480560" y="3236976"/>
            <a:ext cx="3657600" cy="2286000"/>
          </a:xfrm>
          <a:prstGeom prst="rect">
            <a:avLst/>
          </a:prstGeom>
          <a:noFill/>
        </p:spPr>
        <p:txBody>
          <a:bodyPr wrap="square" lIns="0" rIns="0" tIns="0" bIns="0">
            <a:spAutoFit/>
          </a:bodyPr>
          <a:lstStyle/>
          <a:p>
            <a:r>
              <a:rPr sz="1600">
                <a:solidFill>
                  <a:srgbClr val="1F1F1F"/>
                </a:solidFill>
                <a:latin typeface="Helvetica Neue Light"/>
              </a:rPr>
              <a:t>Test real projections with partners in week one, instead of after the model was built.</a:t>
            </a:r>
          </a:p>
        </p:txBody>
      </p:sp>
      <p:sp>
        <p:nvSpPr>
          <p:cNvPr id="10" name="TextBox 9"/>
          <p:cNvSpPr txBox="1"/>
          <p:nvPr/>
        </p:nvSpPr>
        <p:spPr>
          <a:xfrm>
            <a:off x="8503920" y="2926080"/>
            <a:ext cx="3657600" cy="274320"/>
          </a:xfrm>
          <a:prstGeom prst="rect">
            <a:avLst/>
          </a:prstGeom>
          <a:noFill/>
        </p:spPr>
        <p:txBody>
          <a:bodyPr wrap="square" lIns="0" rIns="0" tIns="0" bIns="0">
            <a:spAutoFit/>
          </a:bodyPr>
          <a:lstStyle/>
          <a:p>
            <a:r>
              <a:rPr sz="1280">
                <a:solidFill>
                  <a:srgbClr val="B5531F"/>
                </a:solidFill>
                <a:latin typeface="Helvetica Neue Medium"/>
              </a:rPr>
              <a:t>MEASURE TRUST, NOT JUST COMPLETION</a:t>
            </a:r>
          </a:p>
        </p:txBody>
      </p:sp>
      <p:sp>
        <p:nvSpPr>
          <p:cNvPr id="11" name="TextBox 10"/>
          <p:cNvSpPr txBox="1"/>
          <p:nvPr/>
        </p:nvSpPr>
        <p:spPr>
          <a:xfrm>
            <a:off x="8503920" y="3236976"/>
            <a:ext cx="3657600" cy="2286000"/>
          </a:xfrm>
          <a:prstGeom prst="rect">
            <a:avLst/>
          </a:prstGeom>
          <a:noFill/>
        </p:spPr>
        <p:txBody>
          <a:bodyPr wrap="square" lIns="0" rIns="0" tIns="0" bIns="0">
            <a:spAutoFit/>
          </a:bodyPr>
          <a:lstStyle/>
          <a:p>
            <a:r>
              <a:rPr sz="1600">
                <a:solidFill>
                  <a:srgbClr val="1F1F1F"/>
                </a:solidFill>
                <a:latin typeface="Helvetica Neue Light"/>
              </a:rPr>
              <a:t>Track how often partners pick the optimized plan and why they change it, as a guardrail on the model.</a:t>
            </a:r>
          </a:p>
        </p:txBody>
      </p:sp>
      <p:sp>
        <p:nvSpPr>
          <p:cNvPr id="12" name="TextBox 11"/>
          <p:cNvSpPr txBox="1"/>
          <p:nvPr/>
        </p:nvSpPr>
        <p:spPr>
          <a:xfrm>
            <a:off x="457200" y="5760720"/>
            <a:ext cx="11795760" cy="731520"/>
          </a:xfrm>
          <a:prstGeom prst="rect">
            <a:avLst/>
          </a:prstGeom>
          <a:noFill/>
        </p:spPr>
        <p:txBody>
          <a:bodyPr wrap="square" lIns="0" rIns="0" tIns="0" bIns="0">
            <a:spAutoFit/>
          </a:bodyPr>
          <a:lstStyle/>
          <a:p>
            <a:r>
              <a:rPr sz="1800">
                <a:solidFill>
                  <a:srgbClr val="1F1F1F"/>
                </a:solidFill>
                <a:latin typeface="Helvetica Neue Light"/>
              </a:rPr>
              <a:t>If we can measure it, we can manage it. MOCA set its baseline in discovery and reported against it after launch: the habit I bring to every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
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69" r:id="rId99"/>
    <p:sldId id="470" r:id="rId100"/>
    <p:sldId id="471" r:id="rId101"/>
    <p:sldId id="472" r:id="rId102"/>
    <p:sldId id="473" r:id="rId103"/>
    <p:sldId id="474" r:id="rId104"/>
    <p:sldId id="475" r:id="rId105"/>
    <p:sldId id="542" r:id="rId172"/>
    <p:sldId id="543" r:id="rId173"/>
    <p:sldId id="477" r:id="rId107"/>
    <p:sldId id="478" r:id="rId108"/>
    <p:sldId id="479" r:id="rId109"/>
    <p:sldId id="480" r:id="rId110"/>
    <p:sldId id="481" r:id="rId111"/>
    <p:sldId id="482" r:id="rId112"/>
    <p:sldId id="483" r:id="rId113"/>
    <p:sldId id="484" r:id="rId114"/>
    <p:sldId id="485" r:id="rId115"/>
    <p:sldId id="486" r:id="rId116"/>
    <p:sldId id="487" r:id="rId117"/>
    <p:sldId id="488" r:id="rId118"/>
    <p:sldId id="489" r:id="rId119"/>
    <p:sldId id="490" r:id="rId120"/>
    <p:sldId id="491" r:id="rId121"/>
    <p:sldId id="492" r:id="rId122"/>
    <p:sldId id="493" r:id="rId123"/>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518" r:id="rId148"/>
    <p:sldId id="519" r:id="rId149"/>
    <p:sldId id="520" r:id="rId150"/>
    <p:sldId id="521" r:id="rId151"/>
    <p:sldId id="522" r:id="rId152"/>
    <p:sldId id="523" r:id="rId153"/>
    <p:sldId id="524" r:id="rId154"/>
    <p:sldId id="525" r:id="rId155"/>
    <p:sldId id="526" r:id="rId156"/>
    <p:sldId id="527" r:id="rId157"/>
    <p:sldId id="528" r:id="rId158"/>
    <p:sldId id="529" r:id="rId159"/>
    <p:sldId id="530" r:id="rId160"/>
    <p:sldId id="531" r:id="rId161"/>
    <p:sldId id="532" r:id="rId162"/>
    <p:sldId id="533" r:id="rId163"/>
    <p:sldId id="534" r:id="rId164"/>
    <p:sldId id="535" r:id="rId165"/>
    <p:sldId id="536" r:id="rId166"/>
    <p:sldId id="537" r:id="rId167"/>
    <p:sldId id="538" r:id="rId168"/>
    <p:sldId id="539" r:id="rId169"/>
    <p:sldId id="540" r:id="rId170"/>
    <p:sldId id="541" r:id="rId171"/>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64.xml"/><Relationship Id="rId88" Type="http://schemas.openxmlformats.org/officeDocument/2006/relationships/slide" Target="slides/slide165.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7" Type="http://schemas.openxmlformats.org/officeDocument/2006/relationships/slide" Target="slides/slide99.xml"/><Relationship Id="rId108" Type="http://schemas.openxmlformats.org/officeDocument/2006/relationships/slide" Target="slides/slide100.xml"/><Relationship Id="rId109" Type="http://schemas.openxmlformats.org/officeDocument/2006/relationships/slide" Target="slides/slide101.xml"/><Relationship Id="rId110" Type="http://schemas.openxmlformats.org/officeDocument/2006/relationships/slide" Target="slides/slide102.xml"/><Relationship Id="rId111" Type="http://schemas.openxmlformats.org/officeDocument/2006/relationships/slide" Target="slides/slide103.xml"/><Relationship Id="rId112" Type="http://schemas.openxmlformats.org/officeDocument/2006/relationships/slide" Target="slides/slide104.xml"/><Relationship Id="rId113" Type="http://schemas.openxmlformats.org/officeDocument/2006/relationships/slide" Target="slides/slide105.xml"/><Relationship Id="rId114" Type="http://schemas.openxmlformats.org/officeDocument/2006/relationships/slide" Target="slides/slide106.xml"/><Relationship Id="rId115" Type="http://schemas.openxmlformats.org/officeDocument/2006/relationships/slide" Target="slides/slide107.xml"/><Relationship Id="rId116" Type="http://schemas.openxmlformats.org/officeDocument/2006/relationships/slide" Target="slides/slide108.xml"/><Relationship Id="rId117" Type="http://schemas.openxmlformats.org/officeDocument/2006/relationships/slide" Target="slides/slide109.xml"/><Relationship Id="rId118" Type="http://schemas.openxmlformats.org/officeDocument/2006/relationships/slide" Target="slides/slide110.xml"/><Relationship Id="rId119" Type="http://schemas.openxmlformats.org/officeDocument/2006/relationships/slide" Target="slides/slide111.xml"/><Relationship Id="rId120" Type="http://schemas.openxmlformats.org/officeDocument/2006/relationships/slide" Target="slides/slide112.xml"/><Relationship Id="rId121" Type="http://schemas.openxmlformats.org/officeDocument/2006/relationships/slide" Target="slides/slide113.xml"/><Relationship Id="rId122" Type="http://schemas.openxmlformats.org/officeDocument/2006/relationships/slide" Target="slides/slide114.xml"/><Relationship Id="rId123" Type="http://schemas.openxmlformats.org/officeDocument/2006/relationships/slide" Target="slides/slide115.xml"/><Relationship Id="rId124" Type="http://schemas.openxmlformats.org/officeDocument/2006/relationships/slide" Target="slides/slide116.xml"/><Relationship Id="rId125" Type="http://schemas.openxmlformats.org/officeDocument/2006/relationships/slide" Target="slides/slide117.xml"/><Relationship Id="rId126" Type="http://schemas.openxmlformats.org/officeDocument/2006/relationships/slide" Target="slides/slide118.xml"/><Relationship Id="rId127" Type="http://schemas.openxmlformats.org/officeDocument/2006/relationships/slide" Target="slides/slide119.xml"/><Relationship Id="rId128" Type="http://schemas.openxmlformats.org/officeDocument/2006/relationships/slide" Target="slides/slide120.xml"/><Relationship Id="rId129" Type="http://schemas.openxmlformats.org/officeDocument/2006/relationships/slide" Target="slides/slide121.xml"/><Relationship Id="rId130" Type="http://schemas.openxmlformats.org/officeDocument/2006/relationships/slide" Target="slides/slide122.xml"/><Relationship Id="rId131" Type="http://schemas.openxmlformats.org/officeDocument/2006/relationships/slide" Target="slides/slide123.xml"/><Relationship Id="rId132" Type="http://schemas.openxmlformats.org/officeDocument/2006/relationships/slide" Target="slides/slide124.xml"/><Relationship Id="rId133" Type="http://schemas.openxmlformats.org/officeDocument/2006/relationships/slide" Target="slides/slide125.xml"/><Relationship Id="rId134" Type="http://schemas.openxmlformats.org/officeDocument/2006/relationships/slide" Target="slides/slide126.xml"/><Relationship Id="rId135" Type="http://schemas.openxmlformats.org/officeDocument/2006/relationships/slide" Target="slides/slide127.xml"/><Relationship Id="rId136" Type="http://schemas.openxmlformats.org/officeDocument/2006/relationships/slide" Target="slides/slide128.xml"/><Relationship Id="rId137" Type="http://schemas.openxmlformats.org/officeDocument/2006/relationships/slide" Target="slides/slide129.xml"/><Relationship Id="rId138" Type="http://schemas.openxmlformats.org/officeDocument/2006/relationships/slide" Target="slides/slide130.xml"/><Relationship Id="rId139" Type="http://schemas.openxmlformats.org/officeDocument/2006/relationships/slide" Target="slides/slide131.xml"/><Relationship Id="rId140" Type="http://schemas.openxmlformats.org/officeDocument/2006/relationships/slide" Target="slides/slide132.xml"/><Relationship Id="rId141" Type="http://schemas.openxmlformats.org/officeDocument/2006/relationships/slide" Target="slides/slide133.xml"/><Relationship Id="rId142" Type="http://schemas.openxmlformats.org/officeDocument/2006/relationships/slide" Target="slides/slide134.xml"/><Relationship Id="rId143" Type="http://schemas.openxmlformats.org/officeDocument/2006/relationships/slide" Target="slides/slide135.xml"/><Relationship Id="rId144" Type="http://schemas.openxmlformats.org/officeDocument/2006/relationships/slide" Target="slides/slide136.xml"/><Relationship Id="rId145" Type="http://schemas.openxmlformats.org/officeDocument/2006/relationships/slide" Target="slides/slide137.xml"/><Relationship Id="rId146" Type="http://schemas.openxmlformats.org/officeDocument/2006/relationships/slide" Target="slides/slide138.xml"/><Relationship Id="rId147" Type="http://schemas.openxmlformats.org/officeDocument/2006/relationships/slide" Target="slides/slide139.xml"/><Relationship Id="rId148" Type="http://schemas.openxmlformats.org/officeDocument/2006/relationships/slide" Target="slides/slide140.xml"/><Relationship Id="rId149" Type="http://schemas.openxmlformats.org/officeDocument/2006/relationships/slide" Target="slides/slide141.xml"/><Relationship Id="rId150" Type="http://schemas.openxmlformats.org/officeDocument/2006/relationships/slide" Target="slides/slide142.xml"/><Relationship Id="rId151" Type="http://schemas.openxmlformats.org/officeDocument/2006/relationships/slide" Target="slides/slide143.xml"/><Relationship Id="rId152" Type="http://schemas.openxmlformats.org/officeDocument/2006/relationships/slide" Target="slides/slide144.xml"/><Relationship Id="rId153" Type="http://schemas.openxmlformats.org/officeDocument/2006/relationships/slide" Target="slides/slide145.xml"/><Relationship Id="rId154" Type="http://schemas.openxmlformats.org/officeDocument/2006/relationships/slide" Target="slides/slide146.xml"/><Relationship Id="rId155" Type="http://schemas.openxmlformats.org/officeDocument/2006/relationships/slide" Target="slides/slide147.xml"/><Relationship Id="rId156" Type="http://schemas.openxmlformats.org/officeDocument/2006/relationships/slide" Target="slides/slide148.xml"/><Relationship Id="rId157" Type="http://schemas.openxmlformats.org/officeDocument/2006/relationships/slide" Target="slides/slide149.xml"/><Relationship Id="rId158" Type="http://schemas.openxmlformats.org/officeDocument/2006/relationships/slide" Target="slides/slide150.xml"/><Relationship Id="rId159" Type="http://schemas.openxmlformats.org/officeDocument/2006/relationships/slide" Target="slides/slide151.xml"/><Relationship Id="rId160" Type="http://schemas.openxmlformats.org/officeDocument/2006/relationships/slide" Target="slides/slide152.xml"/><Relationship Id="rId161" Type="http://schemas.openxmlformats.org/officeDocument/2006/relationships/slide" Target="slides/slide153.xml"/><Relationship Id="rId162" Type="http://schemas.openxmlformats.org/officeDocument/2006/relationships/slide" Target="slides/slide154.xml"/><Relationship Id="rId163" Type="http://schemas.openxmlformats.org/officeDocument/2006/relationships/slide" Target="slides/slide155.xml"/><Relationship Id="rId164" Type="http://schemas.openxmlformats.org/officeDocument/2006/relationships/slide" Target="slides/slide156.xml"/><Relationship Id="rId165" Type="http://schemas.openxmlformats.org/officeDocument/2006/relationships/slide" Target="slides/slide157.xml"/><Relationship Id="rId166" Type="http://schemas.openxmlformats.org/officeDocument/2006/relationships/slide" Target="slides/slide158.xml"/><Relationship Id="rId167" Type="http://schemas.openxmlformats.org/officeDocument/2006/relationships/slide" Target="slides/slide159.xml"/><Relationship Id="rId168" Type="http://schemas.openxmlformats.org/officeDocument/2006/relationships/slide" Target="slides/slide160.xml"/><Relationship Id="rId169" Type="http://schemas.openxmlformats.org/officeDocument/2006/relationships/slide" Target="slides/slide161.xml"/><Relationship Id="rId170" Type="http://schemas.openxmlformats.org/officeDocument/2006/relationships/slide" Target="slides/slide162.xml"/><Relationship Id="rId171" Type="http://schemas.openxmlformats.org/officeDocument/2006/relationships/slide" Target="slides/slide163.xml"/><Relationship Id="rId172" Type="http://schemas.openxmlformats.org/officeDocument/2006/relationships/slide" Target="slides/slide166.xml"/><Relationship Id="rId173" Type="http://schemas.openxmlformats.org/officeDocument/2006/relationships/slide" Target="slides/slide1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3.png"/><Relationship Id="rId4" Type="http://schemas.openxmlformats.org/officeDocument/2006/relationships/image" Target="../media/image154.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5.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6.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7.png"/><Relationship Id="rId4" Type="http://schemas.openxmlformats.org/officeDocument/2006/relationships/image" Target="../media/image158.png"/><Relationship Id="rId5" Type="http://schemas.openxmlformats.org/officeDocument/2006/relationships/image" Target="../media/image159.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60.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designed the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Designed the trade and AI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CONTEXT AND CONSTRAINTS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Context and constraints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What the prototype has to prove, and what it cannot yet.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BUSINESS CHALLENGE</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Show one complete loop, from noticing a change to placing an order, in a prototype stakeholders can test.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STAKEHOLDERS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Active traders, busy investors, and first-time investors.</a:t>
            </a:r>
          </a:p>
        </p:txBody>
      </p:sp>
      <p:sp>
        <p:nvSpPr>
          <p:cNvPr id="10" name="TextBox 9"/>
          <p:cNvSpPr txBox="1"/>
          <p:nvPr/>
        </p:nvSpPr>
        <p:spPr>
          <a:xfrm>
            <a:off x="8229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CONSTRAINTS</a:t>
            </a:r>
          </a:p>
        </p:txBody>
      </p:sp>
      <p:sp>
        <p:nvSpPr>
          <p:cNvPr id="11" name="TextBox 10"/>
          <p:cNvSpPr txBox="1"/>
          <p:nvPr/>
        </p:nvSpPr>
        <p:spPr>
          <a:xfrm>
            <a:off x="8229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Mock data and a 0.8-second mock delay. No real market feed, brokerage connection, or authentication backend at this stage.</a:t>
            </a:r>
          </a:p>
        </p:txBody>
      </p:sp>
      <p:sp>
        <p:nvSpPr>
          <p:cNvPr id="12" name="TextBox 11"/>
          <p:cNvSpPr txBox="1"/>
          <p:nvPr/>
        </p:nvSpPr>
        <p:spPr>
          <a:xfrm>
            <a:off x="67665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ADVICE LINE</a:t>
            </a:r>
          </a:p>
        </p:txBody>
      </p:sp>
      <p:sp>
        <p:nvSpPr>
          <p:cNvPr id="13" name="TextBox 12"/>
          <p:cNvSpPr txBox="1"/>
          <p:nvPr/>
        </p:nvSpPr>
        <p:spPr>
          <a:xfrm>
            <a:off x="67665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AI does not originate buy or sell advice. Trade wording needs compliance review before it ships.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Three draft personas to validate before we rely on them</a:t>
            </a:r>
          </a:p>
        </p:txBody>
      </p:sp>
      <p:sp>
        <p:nvSpPr>
          <p:cNvPr id="5" name="TextBox 4"/>
          <p:cNvSpPr txBox="1"/>
          <p:nvPr/>
        </p:nvSpPr>
        <p:spPr>
          <a:xfrm>
            <a:off x="82296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MAYA</a:t>
            </a:r>
          </a:p>
        </p:txBody>
      </p:sp>
      <p:sp>
        <p:nvSpPr>
          <p:cNvPr id="6" name="TextBox 5"/>
          <p:cNvSpPr txBox="1"/>
          <p:nvPr/>
        </p:nvSpPr>
        <p:spPr>
          <a:xfrm>
            <a:off x="82296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Active self-directed trader. Trades several times a week from her phone.</a:t>
            </a:r>
          </a:p>
          <a:p>
            <a:pPr algn="l">
              <a:spcAft>
                <a:spcPts val="600"/>
              </a:spcAft>
            </a:pPr>
            <a:r>
              <a:rPr sz="1400">
                <a:solidFill>
                  <a:srgbClr val="14161D"/>
                </a:solidFill>
                <a:latin typeface="Helvetica Neue Light"/>
              </a:rPr>
              <a:t>Goal: get in and out quickly; spot momentum early.</a:t>
            </a:r>
          </a:p>
          <a:p>
            <a:pPr algn="l">
              <a:spcAft>
                <a:spcPts val="600"/>
              </a:spcAft>
            </a:pPr>
            <a:r>
              <a:rPr sz="1400">
                <a:solidFill>
                  <a:srgbClr val="14161D"/>
                </a:solidFill>
                <a:latin typeface="Helvetica Neue Light"/>
              </a:rPr>
              <a:t>Pain: research is scattered; order entry takes too many taps.</a:t>
            </a:r>
          </a:p>
        </p:txBody>
      </p:sp>
      <p:sp>
        <p:nvSpPr>
          <p:cNvPr id="7" name="TextBox 6"/>
          <p:cNvSpPr txBox="1"/>
          <p:nvPr/>
        </p:nvSpPr>
        <p:spPr>
          <a:xfrm>
            <a:off x="457200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DANIEL</a:t>
            </a:r>
          </a:p>
        </p:txBody>
      </p:sp>
      <p:sp>
        <p:nvSpPr>
          <p:cNvPr id="8" name="TextBox 7"/>
          <p:cNvSpPr txBox="1"/>
          <p:nvPr/>
        </p:nvSpPr>
        <p:spPr>
          <a:xfrm>
            <a:off x="457200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Busy professional investor. Invests a fixed amount each month and checks his portfolio weekly.</a:t>
            </a:r>
          </a:p>
          <a:p>
            <a:pPr algn="l">
              <a:spcAft>
                <a:spcPts val="600"/>
              </a:spcAft>
            </a:pPr>
            <a:r>
              <a:rPr sz="1400">
                <a:solidFill>
                  <a:srgbClr val="14161D"/>
                </a:solidFill>
                <a:latin typeface="Helvetica Neue Light"/>
              </a:rPr>
              <a:t>Goal: grow long-term savings without big mistakes.</a:t>
            </a:r>
          </a:p>
          <a:p>
            <a:pPr algn="l">
              <a:spcAft>
                <a:spcPts val="600"/>
              </a:spcAft>
            </a:pPr>
            <a:r>
              <a:rPr sz="1400">
                <a:solidFill>
                  <a:srgbClr val="14161D"/>
                </a:solidFill>
                <a:latin typeface="Helvetica Neue Light"/>
              </a:rPr>
              <a:t>Pain: no time to research; unsure when to rebalance.</a:t>
            </a:r>
          </a:p>
        </p:txBody>
      </p:sp>
      <p:sp>
        <p:nvSpPr>
          <p:cNvPr id="9" name="TextBox 8"/>
          <p:cNvSpPr txBox="1"/>
          <p:nvPr/>
        </p:nvSpPr>
        <p:spPr>
          <a:xfrm>
            <a:off x="8321040" y="2194560"/>
            <a:ext cx="3840480" cy="274320"/>
          </a:xfrm>
          <a:prstGeom prst="rect">
            <a:avLst/>
          </a:prstGeom>
          <a:noFill/>
        </p:spPr>
        <p:txBody>
          <a:bodyPr wrap="square" lIns="0" rIns="0" tIns="0" bIns="0">
            <a:spAutoFit/>
          </a:bodyPr>
          <a:lstStyle/>
          <a:p>
            <a:pPr algn="l"/>
            <a:r>
              <a:rPr sz="1100">
                <a:solidFill>
                  <a:srgbClr val="858A97"/>
                </a:solidFill>
                <a:latin typeface="Helvetica Neue Medium"/>
              </a:rPr>
              <a:t>DRAFT PERSONA · PRIYA</a:t>
            </a:r>
          </a:p>
        </p:txBody>
      </p:sp>
      <p:sp>
        <p:nvSpPr>
          <p:cNvPr id="10" name="TextBox 9"/>
          <p:cNvSpPr txBox="1"/>
          <p:nvPr/>
        </p:nvSpPr>
        <p:spPr>
          <a:xfrm>
            <a:off x="8321040" y="2505456"/>
            <a:ext cx="38404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First-time investor. Wants to start small and learn while she invests.</a:t>
            </a:r>
          </a:p>
          <a:p>
            <a:pPr algn="l">
              <a:spcAft>
                <a:spcPts val="600"/>
              </a:spcAft>
            </a:pPr>
            <a:r>
              <a:rPr sz="1400">
                <a:solidFill>
                  <a:srgbClr val="14161D"/>
                </a:solidFill>
                <a:latin typeface="Helvetica Neue Light"/>
              </a:rPr>
              <a:t>Goal: learn by doing; avoid a wrong trade.</a:t>
            </a:r>
          </a:p>
          <a:p>
            <a:pPr algn="l">
              <a:spcAft>
                <a:spcPts val="600"/>
              </a:spcAft>
            </a:pPr>
            <a:r>
              <a:rPr sz="1400">
                <a:solidFill>
                  <a:srgbClr val="14161D"/>
                </a:solidFill>
                <a:latin typeface="Helvetica Neue Light"/>
              </a:rPr>
              <a:t>Pain: jargon; fear of ordering the wrong amount.</a:t>
            </a:r>
          </a:p>
        </p:txBody>
      </p:sp>
      <p:sp>
        <p:nvSpPr>
          <p:cNvPr id="11" name="TextBox 1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Hypotheses from the FigJam board. Interviews come before any decision rests on them.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STATES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Designing for the states that mock data hides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The dashboard in four states. The other four screens follow the same pattern.</a:t>
            </a:r>
          </a:p>
        </p:txBody>
      </p:sp>
      <p:sp>
        <p:nvSpPr>
          <p:cNvPr id="6" name="TextBox 5"/>
          <p:cNvSpPr txBox="1"/>
          <p:nvPr/>
        </p:nvSpPr>
        <p:spPr>
          <a:xfrm>
            <a:off x="822960" y="2560320"/>
            <a:ext cx="3017520" cy="274320"/>
          </a:xfrm>
          <a:prstGeom prst="rect">
            <a:avLst/>
          </a:prstGeom>
          <a:noFill/>
        </p:spPr>
        <p:txBody>
          <a:bodyPr wrap="square" lIns="0" rIns="0" tIns="0" bIns="0">
            <a:spAutoFit/>
          </a:bodyPr>
          <a:lstStyle/>
          <a:p>
            <a:pPr algn="l"/>
            <a:r>
              <a:rPr sz="1100">
                <a:solidFill>
                  <a:srgbClr val="858A97"/>
                </a:solidFill>
                <a:latin typeface="Helvetica Neue Medium"/>
              </a:rPr>
              <a:t>STATE</a:t>
            </a:r>
          </a:p>
        </p:txBody>
      </p:sp>
      <p:sp>
        <p:nvSpPr>
          <p:cNvPr id="7" name="TextBox 6"/>
          <p:cNvSpPr txBox="1"/>
          <p:nvPr/>
        </p:nvSpPr>
        <p:spPr>
          <a:xfrm>
            <a:off x="4023360" y="2560320"/>
            <a:ext cx="8522208" cy="274320"/>
          </a:xfrm>
          <a:prstGeom prst="rect">
            <a:avLst/>
          </a:prstGeom>
          <a:noFill/>
        </p:spPr>
        <p:txBody>
          <a:bodyPr wrap="square" lIns="0" rIns="0" tIns="0" bIns="0">
            <a:spAutoFit/>
          </a:bodyPr>
          <a:lstStyle/>
          <a:p>
            <a:pPr algn="l"/>
            <a:r>
              <a:rPr sz="1100">
                <a:solidFill>
                  <a:srgbClr val="858A97"/>
                </a:solidFill>
                <a:latin typeface="Helvetica Neue Medium"/>
              </a:rPr>
              <a:t>WHAT THE USER SEES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2971800" cy="731520"/>
          </a:xfrm>
          <a:prstGeom prst="rect">
            <a:avLst/>
          </a:prstGeom>
          <a:noFill/>
        </p:spPr>
        <p:txBody>
          <a:bodyPr wrap="square" lIns="0" rIns="0" tIns="0" bIns="0">
            <a:spAutoFit/>
          </a:bodyPr>
          <a:lstStyle/>
          <a:p>
            <a:pPr algn="l"/>
            <a:r>
              <a:rPr sz="1400">
                <a:solidFill>
                  <a:srgbClr val="14161D"/>
                </a:solidFill>
                <a:latin typeface="Helvetica Neue Light"/>
              </a:rPr>
              <a:t>Empty</a:t>
            </a:r>
          </a:p>
        </p:txBody>
      </p:sp>
      <p:sp>
        <p:nvSpPr>
          <p:cNvPr id="10" name="TextBox 9"/>
          <p:cNvSpPr txBox="1"/>
          <p:nvPr/>
        </p:nvSpPr>
        <p:spPr>
          <a:xfrm>
            <a:off x="4023360" y="3017520"/>
            <a:ext cx="8476488" cy="731520"/>
          </a:xfrm>
          <a:prstGeom prst="rect">
            <a:avLst/>
          </a:prstGeom>
          <a:noFill/>
        </p:spPr>
        <p:txBody>
          <a:bodyPr wrap="square" lIns="0" rIns="0" tIns="0" bIns="0">
            <a:spAutoFit/>
          </a:bodyPr>
          <a:lstStyle/>
          <a:p>
            <a:pPr algn="l"/>
            <a:r>
              <a:rPr sz="1400">
                <a:solidFill>
                  <a:srgbClr val="14161D"/>
                </a:solidFill>
                <a:latin typeface="Helvetica Neue Light"/>
              </a:rPr>
              <a:t>No holdings yet. One clear next step.</a:t>
            </a:r>
          </a:p>
        </p:txBody>
      </p:sp>
      <p:cxnSp>
        <p:nvCxnSpPr>
          <p:cNvPr id="11" name="Connector 10"/>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40480"/>
            <a:ext cx="2971800" cy="731520"/>
          </a:xfrm>
          <a:prstGeom prst="rect">
            <a:avLst/>
          </a:prstGeom>
          <a:noFill/>
        </p:spPr>
        <p:txBody>
          <a:bodyPr wrap="square" lIns="0" rIns="0" tIns="0" bIns="0">
            <a:spAutoFit/>
          </a:bodyPr>
          <a:lstStyle/>
          <a:p>
            <a:pPr algn="l"/>
            <a:r>
              <a:rPr sz="1400">
                <a:solidFill>
                  <a:srgbClr val="14161D"/>
                </a:solidFill>
                <a:latin typeface="Helvetica Neue Light"/>
              </a:rPr>
              <a:t>Loading</a:t>
            </a:r>
          </a:p>
        </p:txBody>
      </p:sp>
      <p:sp>
        <p:nvSpPr>
          <p:cNvPr id="13" name="TextBox 12"/>
          <p:cNvSpPr txBox="1"/>
          <p:nvPr/>
        </p:nvSpPr>
        <p:spPr>
          <a:xfrm>
            <a:off x="4023360" y="3840480"/>
            <a:ext cx="8476488" cy="731520"/>
          </a:xfrm>
          <a:prstGeom prst="rect">
            <a:avLst/>
          </a:prstGeom>
          <a:noFill/>
        </p:spPr>
        <p:txBody>
          <a:bodyPr wrap="square" lIns="0" rIns="0" tIns="0" bIns="0">
            <a:spAutoFit/>
          </a:bodyPr>
          <a:lstStyle/>
          <a:p>
            <a:pPr algn="l"/>
            <a:r>
              <a:rPr sz="1400">
                <a:solidFill>
                  <a:srgbClr val="14161D"/>
                </a:solidFill>
                <a:latin typeface="Helvetica Neue Light"/>
              </a:rPr>
              <a:t>Skeleton cards hold the layout while data loads.</a:t>
            </a:r>
          </a:p>
        </p:txBody>
      </p:sp>
      <p:cxnSp>
        <p:nvCxnSpPr>
          <p:cNvPr id="14" name="Connector 13"/>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663440"/>
            <a:ext cx="2971800" cy="731520"/>
          </a:xfrm>
          <a:prstGeom prst="rect">
            <a:avLst/>
          </a:prstGeom>
          <a:noFill/>
        </p:spPr>
        <p:txBody>
          <a:bodyPr wrap="square" lIns="0" rIns="0" tIns="0" bIns="0">
            <a:spAutoFit/>
          </a:bodyPr>
          <a:lstStyle/>
          <a:p>
            <a:pPr algn="l"/>
            <a:r>
              <a:rPr sz="1400">
                <a:solidFill>
                  <a:srgbClr val="14161D"/>
                </a:solidFill>
                <a:latin typeface="Helvetica Neue Light"/>
              </a:rPr>
              <a:t>Error</a:t>
            </a:r>
          </a:p>
        </p:txBody>
      </p:sp>
      <p:sp>
        <p:nvSpPr>
          <p:cNvPr id="16" name="TextBox 15"/>
          <p:cNvSpPr txBox="1"/>
          <p:nvPr/>
        </p:nvSpPr>
        <p:spPr>
          <a:xfrm>
            <a:off x="4023360" y="466344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what failed, and offers a retry.</a:t>
            </a:r>
          </a:p>
        </p:txBody>
      </p:sp>
      <p:cxnSp>
        <p:nvCxnSpPr>
          <p:cNvPr id="17" name="Connector 16"/>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486400"/>
            <a:ext cx="2971800" cy="731520"/>
          </a:xfrm>
          <a:prstGeom prst="rect">
            <a:avLst/>
          </a:prstGeom>
          <a:noFill/>
        </p:spPr>
        <p:txBody>
          <a:bodyPr wrap="square" lIns="0" rIns="0" tIns="0" bIns="0">
            <a:spAutoFit/>
          </a:bodyPr>
          <a:lstStyle/>
          <a:p>
            <a:pPr algn="l"/>
            <a:r>
              <a:rPr sz="1400">
                <a:solidFill>
                  <a:srgbClr val="14161D"/>
                </a:solidFill>
                <a:latin typeface="Helvetica Neue Light"/>
              </a:rPr>
              <a:t>Offline</a:t>
            </a:r>
          </a:p>
        </p:txBody>
      </p:sp>
      <p:sp>
        <p:nvSpPr>
          <p:cNvPr id="19" name="TextBox 18"/>
          <p:cNvSpPr txBox="1"/>
          <p:nvPr/>
        </p:nvSpPr>
        <p:spPr>
          <a:xfrm>
            <a:off x="4023360" y="548640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the data is from the last update, with its time.</a:t>
            </a:r>
          </a:p>
        </p:txBody>
      </p:sp>
      <p:cxnSp>
        <p:nvCxnSpPr>
          <p:cNvPr id="20" name="Connector 19"/>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ADAPT</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Adapt as a plan, not a batch</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Set a goal, review the plan, then approve each step. Nothing runs without approval.</a:t>
            </a:r>
          </a:p>
        </p:txBody>
      </p:sp>
      <p:sp>
        <p:nvSpPr>
          <p:cNvPr id="6" name="TextBox 5"/>
          <p:cNvSpPr txBox="1"/>
          <p:nvPr/>
        </p:nvSpPr>
        <p:spPr>
          <a:xfrm>
            <a:off x="82296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SET A GOAL</a:t>
            </a:r>
          </a:p>
        </p:txBody>
      </p:sp>
      <p:sp>
        <p:nvSpPr>
          <p:cNvPr id="7" name="TextBox 6"/>
          <p:cNvSpPr txBox="1"/>
          <p:nvPr/>
        </p:nvSpPr>
        <p:spPr>
          <a:xfrm>
            <a:off x="82296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The agent drafts a plan.</a:t>
            </a:r>
          </a:p>
        </p:txBody>
      </p:sp>
      <p:sp>
        <p:nvSpPr>
          <p:cNvPr id="8" name="TextBox 7"/>
          <p:cNvSpPr txBox="1"/>
          <p:nvPr/>
        </p:nvSpPr>
        <p:spPr>
          <a:xfrm>
            <a:off x="457200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PLAN PREVIEW</a:t>
            </a:r>
          </a:p>
        </p:txBody>
      </p:sp>
      <p:sp>
        <p:nvSpPr>
          <p:cNvPr id="9" name="TextBox 8"/>
          <p:cNvSpPr txBox="1"/>
          <p:nvPr/>
        </p:nvSpPr>
        <p:spPr>
          <a:xfrm>
            <a:off x="457200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proposed step shows its effect on the allocation.</a:t>
            </a:r>
          </a:p>
        </p:txBody>
      </p:sp>
      <p:sp>
        <p:nvSpPr>
          <p:cNvPr id="10" name="TextBox 9"/>
          <p:cNvSpPr txBox="1"/>
          <p:nvPr/>
        </p:nvSpPr>
        <p:spPr>
          <a:xfrm>
            <a:off x="8321040" y="2743200"/>
            <a:ext cx="3840480" cy="274320"/>
          </a:xfrm>
          <a:prstGeom prst="rect">
            <a:avLst/>
          </a:prstGeom>
          <a:noFill/>
        </p:spPr>
        <p:txBody>
          <a:bodyPr wrap="square" lIns="0" rIns="0" tIns="0" bIns="0">
            <a:spAutoFit/>
          </a:bodyPr>
          <a:lstStyle/>
          <a:p>
            <a:pPr algn="l"/>
            <a:r>
              <a:rPr sz="1100">
                <a:solidFill>
                  <a:srgbClr val="858A97"/>
                </a:solidFill>
                <a:latin typeface="Helvetica Neue Medium"/>
              </a:rPr>
              <a:t>STEP REVIEW</a:t>
            </a:r>
          </a:p>
        </p:txBody>
      </p:sp>
      <p:sp>
        <p:nvSpPr>
          <p:cNvPr id="11" name="TextBox 10"/>
          <p:cNvSpPr txBox="1"/>
          <p:nvPr/>
        </p:nvSpPr>
        <p:spPr>
          <a:xfrm>
            <a:off x="8321040" y="3054096"/>
            <a:ext cx="384048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step shows its reason and source. The user approves, edits, or skips it.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METHODOLOGY</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How the AI behaves, and how we will test it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AI BEHAVIOR · DESIGNED, MOCK DATA</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sentiment summaries, with the screen as the source.</a:t>
            </a:r>
          </a:p>
          <a:p>
            <a:pPr algn="l">
              <a:spcAft>
                <a:spcPts val="600"/>
              </a:spcAft>
            </a:pPr>
            <a:r>
              <a:rPr sz="1600">
                <a:solidFill>
                  <a:srgbClr val="14161D"/>
                </a:solidFill>
                <a:latin typeface="Helvetica Neue Light"/>
              </a:rPr>
              <a:t>Prospect: opportunity cards with upside and downside.</a:t>
            </a:r>
          </a:p>
          <a:p>
            <a:pPr algn="l">
              <a:spcAft>
                <a:spcPts val="600"/>
              </a:spcAft>
            </a:pPr>
            <a:r>
              <a:rPr sz="1600">
                <a:solidFill>
                  <a:srgbClr val="14161D"/>
                </a:solidFill>
                <a:latin typeface="Helvetica Neue Light"/>
              </a:rPr>
              <a:t>Guard: alerts ranked by severity; mark as read.</a:t>
            </a:r>
          </a:p>
          <a:p>
            <a:pPr algn="l">
              <a:spcAft>
                <a:spcPts val="600"/>
              </a:spcAft>
            </a:pPr>
            <a:r>
              <a:rPr sz="1600">
                <a:solidFill>
                  <a:srgbClr val="14161D"/>
                </a:solidFill>
                <a:latin typeface="Helvetica Neue Light"/>
              </a:rPr>
              <a:t>Adapt: before and after allocation, and a reviewable list of proposed steps.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VALIDATION · PLANNED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Five-person think-aloud on the share and dollar flows.</a:t>
            </a:r>
          </a:p>
          <a:p>
            <a:pPr algn="l">
              <a:spcAft>
                <a:spcPts val="600"/>
              </a:spcAft>
            </a:pPr>
            <a:r>
              <a:rPr sz="1600">
                <a:solidFill>
                  <a:srgbClr val="14161D"/>
                </a:solidFill>
                <a:latin typeface="Helvetica Neue Light"/>
              </a:rPr>
              <a:t>Comprehension check on the labels for Insight, Prospect, Guard, and Adapt.</a:t>
            </a:r>
          </a:p>
          <a:p>
            <a:pPr algn="l">
              <a:spcAft>
                <a:spcPts val="600"/>
              </a:spcAft>
            </a:pPr>
            <a:r>
              <a:rPr sz="1600">
                <a:solidFill>
                  <a:srgbClr val="14161D"/>
                </a:solidFill>
                <a:latin typeface="Helvetica Neue Light"/>
              </a:rPr>
              <a:t>Card sort on the five tabs.</a:t>
            </a:r>
          </a:p>
          <a:p>
            <a:pPr algn="l">
              <a:spcAft>
                <a:spcPts val="600"/>
              </a:spcAft>
            </a:pPr>
            <a:r>
              <a:rPr sz="1600">
                <a:solidFill>
                  <a:srgbClr val="14161D"/>
                </a:solidFill>
                <a:latin typeface="Helvetica Neue Light"/>
              </a:rPr>
              <a:t>Compliance review of trade and AI copy.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RESULTS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exists today, and what we still need to measure</a:t>
            </a:r>
          </a:p>
        </p:txBody>
      </p:sp>
      <p:sp>
        <p:nvSpPr>
          <p:cNvPr id="5" name="TextBox 4"/>
          <p:cNvSpPr txBox="1"/>
          <p:nvPr/>
        </p:nvSpPr>
        <p:spPr>
          <a:xfrm>
            <a:off x="82296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5</a:t>
            </a:r>
          </a:p>
        </p:txBody>
      </p:sp>
      <p:sp>
        <p:nvSpPr>
          <p:cNvPr id="6" name="TextBox 5"/>
          <p:cNvSpPr txBox="1"/>
          <p:nvPr/>
        </p:nvSpPr>
        <p:spPr>
          <a:xfrm>
            <a:off x="82296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core iOS screens, each with a ViewModel</a:t>
            </a:r>
          </a:p>
        </p:txBody>
      </p:sp>
      <p:sp>
        <p:nvSpPr>
          <p:cNvPr id="7" name="TextBox 6"/>
          <p:cNvSpPr txBox="1"/>
          <p:nvPr/>
        </p:nvSpPr>
        <p:spPr>
          <a:xfrm>
            <a:off x="374904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8</a:t>
            </a:r>
          </a:p>
        </p:txBody>
      </p:sp>
      <p:sp>
        <p:nvSpPr>
          <p:cNvPr id="8" name="TextBox 7"/>
          <p:cNvSpPr txBox="1"/>
          <p:nvPr/>
        </p:nvSpPr>
        <p:spPr>
          <a:xfrm>
            <a:off x="374904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steps in each trade flow, share and dollar</a:t>
            </a:r>
          </a:p>
        </p:txBody>
      </p:sp>
      <p:sp>
        <p:nvSpPr>
          <p:cNvPr id="9" name="TextBox 8"/>
          <p:cNvSpPr txBox="1"/>
          <p:nvPr/>
        </p:nvSpPr>
        <p:spPr>
          <a:xfrm>
            <a:off x="667512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0" name="TextBox 9"/>
          <p:cNvSpPr txBox="1"/>
          <p:nvPr/>
        </p:nvSpPr>
        <p:spPr>
          <a:xfrm>
            <a:off x="667512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interactive prototypes published, plus this case study</a:t>
            </a:r>
          </a:p>
        </p:txBody>
      </p:sp>
      <p:sp>
        <p:nvSpPr>
          <p:cNvPr id="11" name="TextBox 10"/>
          <p:cNvSpPr txBox="1"/>
          <p:nvPr/>
        </p:nvSpPr>
        <p:spPr>
          <a:xfrm>
            <a:off x="960120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2" name="TextBox 11"/>
          <p:cNvSpPr txBox="1"/>
          <p:nvPr/>
        </p:nvSpPr>
        <p:spPr>
          <a:xfrm>
            <a:off x="960120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wireframe pages: states, agent, and full experience</a:t>
            </a:r>
          </a:p>
        </p:txBody>
      </p:sp>
      <p:sp>
        <p:nvSpPr>
          <p:cNvPr id="13" name="TextBox 12"/>
          <p:cNvSpPr txBox="1"/>
          <p:nvPr/>
        </p:nvSpPr>
        <p:spPr>
          <a:xfrm>
            <a:off x="822960" y="5760720"/>
            <a:ext cx="11356848" cy="274320"/>
          </a:xfrm>
          <a:prstGeom prst="rect">
            <a:avLst/>
          </a:prstGeom>
          <a:noFill/>
        </p:spPr>
        <p:txBody>
          <a:bodyPr wrap="square" lIns="0" rIns="0" tIns="0" bIns="0">
            <a:spAutoFit/>
          </a:bodyPr>
          <a:lstStyle/>
          <a:p>
            <a:pPr algn="l"/>
            <a:r>
              <a:rPr sz="1100">
                <a:solidFill>
                  <a:srgbClr val="858A97"/>
                </a:solidFill>
                <a:latin typeface="Helvetica Neue Medium"/>
              </a:rPr>
              <a:t>OUTCOMES · NOT YET MEASURED</a:t>
            </a:r>
          </a:p>
        </p:txBody>
      </p:sp>
      <p:sp>
        <p:nvSpPr>
          <p:cNvPr id="14" name="TextBox 13"/>
          <p:cNvSpPr txBox="1"/>
          <p:nvPr/>
        </p:nvSpPr>
        <p:spPr>
          <a:xfrm>
            <a:off x="822960" y="6071616"/>
            <a:ext cx="11356848"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Time to complete a trade, task success, the share of users who open an AI screen in week one, and a usability score. Targets are planned and will be set with stakeholders before the first test.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PROTOTYPE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Click through the flows yourself</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TO CLICK</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Start at the Dashboard. Open Insight, then start a share trade and follow it through to the outcome.</a:t>
            </a:r>
          </a:p>
          <a:p>
            <a:pPr algn="l">
              <a:spcAft>
                <a:spcPts val="600"/>
              </a:spcAft>
            </a:pPr>
            <a:r>
              <a:rPr sz="1600">
                <a:solidFill>
                  <a:srgbClr val="14161D"/>
                </a:solidFill>
                <a:latin typeface="Helvetica Neue Light"/>
              </a:rPr>
              <a:t>Then open Adapt and set a goal. Each proposed step can be edited before approval.</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WHERE IT LIVES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Figma wireframes, pages 06, 07, and 08: states, agent flows, and the full experience.</a:t>
            </a:r>
          </a:p>
          <a:p>
            <a:pPr algn="l">
              <a:spcAft>
                <a:spcPts val="600"/>
              </a:spcAft>
            </a:pPr>
            <a:r>
              <a:rPr sz="1600">
                <a:solidFill>
                  <a:srgbClr val="14161D"/>
                </a:solidFill>
                <a:latin typeface="Helvetica Neue Light"/>
              </a:rPr>
              <a:t>Working documents: the FigJam board.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DATA</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Designed for mock data, and labelled as mock everywhere</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No live data is connected. Every value is labelled.</a:t>
            </a:r>
          </a:p>
        </p:txBody>
      </p:sp>
      <p:sp>
        <p:nvSpPr>
          <p:cNvPr id="6" name="TextBox 5"/>
          <p:cNvSpPr txBox="1"/>
          <p:nvPr/>
        </p:nvSpPr>
        <p:spPr>
          <a:xfrm>
            <a:off x="822960" y="2560320"/>
            <a:ext cx="2926079" cy="274320"/>
          </a:xfrm>
          <a:prstGeom prst="rect">
            <a:avLst/>
          </a:prstGeom>
          <a:noFill/>
        </p:spPr>
        <p:txBody>
          <a:bodyPr wrap="square" lIns="0" rIns="0" tIns="0" bIns="0">
            <a:spAutoFit/>
          </a:bodyPr>
          <a:lstStyle/>
          <a:p>
            <a:pPr algn="l"/>
            <a:r>
              <a:rPr sz="1100">
                <a:solidFill>
                  <a:srgbClr val="858A97"/>
                </a:solidFill>
                <a:latin typeface="Helvetica Neue Medium"/>
              </a:rPr>
              <a:t>DATA</a:t>
            </a:r>
          </a:p>
        </p:txBody>
      </p:sp>
      <p:sp>
        <p:nvSpPr>
          <p:cNvPr id="7" name="TextBox 6"/>
          <p:cNvSpPr txBox="1"/>
          <p:nvPr/>
        </p:nvSpPr>
        <p:spPr>
          <a:xfrm>
            <a:off x="3931920" y="2560320"/>
            <a:ext cx="4023359" cy="274320"/>
          </a:xfrm>
          <a:prstGeom prst="rect">
            <a:avLst/>
          </a:prstGeom>
          <a:noFill/>
        </p:spPr>
        <p:txBody>
          <a:bodyPr wrap="square" lIns="0" rIns="0" tIns="0" bIns="0">
            <a:spAutoFit/>
          </a:bodyPr>
          <a:lstStyle/>
          <a:p>
            <a:pPr algn="l"/>
            <a:r>
              <a:rPr sz="1100">
                <a:solidFill>
                  <a:srgbClr val="858A97"/>
                </a:solidFill>
                <a:latin typeface="Helvetica Neue Medium"/>
              </a:rPr>
              <a:t>USED FOR</a:t>
            </a:r>
          </a:p>
        </p:txBody>
      </p:sp>
      <p:sp>
        <p:nvSpPr>
          <p:cNvPr id="8" name="TextBox 7"/>
          <p:cNvSpPr txBox="1"/>
          <p:nvPr/>
        </p:nvSpPr>
        <p:spPr>
          <a:xfrm>
            <a:off x="8138159" y="2560320"/>
            <a:ext cx="4407407" cy="274320"/>
          </a:xfrm>
          <a:prstGeom prst="rect">
            <a:avLst/>
          </a:prstGeom>
          <a:noFill/>
        </p:spPr>
        <p:txBody>
          <a:bodyPr wrap="square" lIns="0" rIns="0" tIns="0" bIns="0">
            <a:spAutoFit/>
          </a:bodyPr>
          <a:lstStyle/>
          <a:p>
            <a:pPr algn="l"/>
            <a:r>
              <a:rPr sz="1100">
                <a:solidFill>
                  <a:srgbClr val="858A97"/>
                </a:solidFill>
                <a:latin typeface="Helvetica Neue Medium"/>
              </a:rPr>
              <a:t>SOURCE IN THIS PROTOTYPE</a:t>
            </a:r>
          </a:p>
        </p:txBody>
      </p:sp>
      <p:cxnSp>
        <p:nvCxnSpPr>
          <p:cNvPr id="9" name="Connector 8"/>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017520"/>
            <a:ext cx="2880360" cy="731520"/>
          </a:xfrm>
          <a:prstGeom prst="rect">
            <a:avLst/>
          </a:prstGeom>
          <a:noFill/>
        </p:spPr>
        <p:txBody>
          <a:bodyPr wrap="square" lIns="0" rIns="0" tIns="0" bIns="0">
            <a:spAutoFit/>
          </a:bodyPr>
          <a:lstStyle/>
          <a:p>
            <a:pPr algn="l"/>
            <a:r>
              <a:rPr sz="1400">
                <a:solidFill>
                  <a:srgbClr val="14161D"/>
                </a:solidFill>
                <a:latin typeface="Helvetica Neue Light"/>
              </a:rPr>
              <a:t>Quotes and holdings</a:t>
            </a:r>
          </a:p>
        </p:txBody>
      </p:sp>
      <p:sp>
        <p:nvSpPr>
          <p:cNvPr id="11" name="TextBox 10"/>
          <p:cNvSpPr txBox="1"/>
          <p:nvPr/>
        </p:nvSpPr>
        <p:spPr>
          <a:xfrm>
            <a:off x="3931920" y="3017520"/>
            <a:ext cx="3977639" cy="731520"/>
          </a:xfrm>
          <a:prstGeom prst="rect">
            <a:avLst/>
          </a:prstGeom>
          <a:noFill/>
        </p:spPr>
        <p:txBody>
          <a:bodyPr wrap="square" lIns="0" rIns="0" tIns="0" bIns="0">
            <a:spAutoFit/>
          </a:bodyPr>
          <a:lstStyle/>
          <a:p>
            <a:pPr algn="l"/>
            <a:r>
              <a:rPr sz="1400">
                <a:solidFill>
                  <a:srgbClr val="14161D"/>
                </a:solidFill>
                <a:latin typeface="Helvetica Neue Light"/>
              </a:rPr>
              <a:t>Dashboard, trade ticket</a:t>
            </a:r>
          </a:p>
        </p:txBody>
      </p:sp>
      <p:sp>
        <p:nvSpPr>
          <p:cNvPr id="12" name="TextBox 11"/>
          <p:cNvSpPr txBox="1"/>
          <p:nvPr/>
        </p:nvSpPr>
        <p:spPr>
          <a:xfrm>
            <a:off x="8138159" y="301752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service, with a 0.8-second delay</a:t>
            </a:r>
          </a:p>
        </p:txBody>
      </p:sp>
      <p:cxnSp>
        <p:nvCxnSpPr>
          <p:cNvPr id="13" name="Connector 12"/>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3840480"/>
            <a:ext cx="2880360" cy="731520"/>
          </a:xfrm>
          <a:prstGeom prst="rect">
            <a:avLst/>
          </a:prstGeom>
          <a:noFill/>
        </p:spPr>
        <p:txBody>
          <a:bodyPr wrap="square" lIns="0" rIns="0" tIns="0" bIns="0">
            <a:spAutoFit/>
          </a:bodyPr>
          <a:lstStyle/>
          <a:p>
            <a:pPr algn="l"/>
            <a:r>
              <a:rPr sz="1400">
                <a:solidFill>
                  <a:srgbClr val="14161D"/>
                </a:solidFill>
                <a:latin typeface="Helvetica Neue Light"/>
              </a:rPr>
              <a:t>Insight summaries</a:t>
            </a:r>
          </a:p>
        </p:txBody>
      </p:sp>
      <p:sp>
        <p:nvSpPr>
          <p:cNvPr id="15" name="TextBox 14"/>
          <p:cNvSpPr txBox="1"/>
          <p:nvPr/>
        </p:nvSpPr>
        <p:spPr>
          <a:xfrm>
            <a:off x="3931920" y="3840480"/>
            <a:ext cx="3977639" cy="731520"/>
          </a:xfrm>
          <a:prstGeom prst="rect">
            <a:avLst/>
          </a:prstGeom>
          <a:noFill/>
        </p:spPr>
        <p:txBody>
          <a:bodyPr wrap="square" lIns="0" rIns="0" tIns="0" bIns="0">
            <a:spAutoFit/>
          </a:bodyPr>
          <a:lstStyle/>
          <a:p>
            <a:pPr algn="l"/>
            <a:r>
              <a:rPr sz="1400">
                <a:solidFill>
                  <a:srgbClr val="14161D"/>
                </a:solidFill>
                <a:latin typeface="Helvetica Neue Light"/>
              </a:rPr>
              <a:t>Sentiment and the source line</a:t>
            </a:r>
          </a:p>
        </p:txBody>
      </p:sp>
      <p:sp>
        <p:nvSpPr>
          <p:cNvPr id="16" name="TextBox 15"/>
          <p:cNvSpPr txBox="1"/>
          <p:nvPr/>
        </p:nvSpPr>
        <p:spPr>
          <a:xfrm>
            <a:off x="8138159" y="384048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content with a dated source line</a:t>
            </a:r>
          </a:p>
        </p:txBody>
      </p:sp>
      <p:cxnSp>
        <p:nvCxnSpPr>
          <p:cNvPr id="17" name="Connector 16"/>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663440"/>
            <a:ext cx="2880360" cy="731520"/>
          </a:xfrm>
          <a:prstGeom prst="rect">
            <a:avLst/>
          </a:prstGeom>
          <a:noFill/>
        </p:spPr>
        <p:txBody>
          <a:bodyPr wrap="square" lIns="0" rIns="0" tIns="0" bIns="0">
            <a:spAutoFit/>
          </a:bodyPr>
          <a:lstStyle/>
          <a:p>
            <a:pPr algn="l"/>
            <a:r>
              <a:rPr sz="1400">
                <a:solidFill>
                  <a:srgbClr val="14161D"/>
                </a:solidFill>
                <a:latin typeface="Helvetica Neue Light"/>
              </a:rPr>
              <a:t>Opportunities</a:t>
            </a:r>
          </a:p>
        </p:txBody>
      </p:sp>
      <p:sp>
        <p:nvSpPr>
          <p:cNvPr id="19" name="TextBox 18"/>
          <p:cNvSpPr txBox="1"/>
          <p:nvPr/>
        </p:nvSpPr>
        <p:spPr>
          <a:xfrm>
            <a:off x="3931920" y="4663440"/>
            <a:ext cx="3977639" cy="731520"/>
          </a:xfrm>
          <a:prstGeom prst="rect">
            <a:avLst/>
          </a:prstGeom>
          <a:noFill/>
        </p:spPr>
        <p:txBody>
          <a:bodyPr wrap="square" lIns="0" rIns="0" tIns="0" bIns="0">
            <a:spAutoFit/>
          </a:bodyPr>
          <a:lstStyle/>
          <a:p>
            <a:pPr algn="l"/>
            <a:r>
              <a:rPr sz="1400">
                <a:solidFill>
                  <a:srgbClr val="14161D"/>
                </a:solidFill>
                <a:latin typeface="Helvetica Neue Light"/>
              </a:rPr>
              <a:t>Prospect cards with upside and downside</a:t>
            </a:r>
          </a:p>
        </p:txBody>
      </p:sp>
      <p:sp>
        <p:nvSpPr>
          <p:cNvPr id="20" name="TextBox 19"/>
          <p:cNvSpPr txBox="1"/>
          <p:nvPr/>
        </p:nvSpPr>
        <p:spPr>
          <a:xfrm>
            <a:off x="8138159" y="466344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cards</a:t>
            </a:r>
          </a:p>
        </p:txBody>
      </p:sp>
      <p:cxnSp>
        <p:nvCxnSpPr>
          <p:cNvPr id="21" name="Connector 20"/>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5486400"/>
            <a:ext cx="2880360" cy="731520"/>
          </a:xfrm>
          <a:prstGeom prst="rect">
            <a:avLst/>
          </a:prstGeom>
          <a:noFill/>
        </p:spPr>
        <p:txBody>
          <a:bodyPr wrap="square" lIns="0" rIns="0" tIns="0" bIns="0">
            <a:spAutoFit/>
          </a:bodyPr>
          <a:lstStyle/>
          <a:p>
            <a:pPr algn="l"/>
            <a:r>
              <a:rPr sz="1400">
                <a:solidFill>
                  <a:srgbClr val="14161D"/>
                </a:solidFill>
                <a:latin typeface="Helvetica Neue Light"/>
              </a:rPr>
              <a:t>Alerts</a:t>
            </a:r>
          </a:p>
        </p:txBody>
      </p:sp>
      <p:sp>
        <p:nvSpPr>
          <p:cNvPr id="23" name="TextBox 22"/>
          <p:cNvSpPr txBox="1"/>
          <p:nvPr/>
        </p:nvSpPr>
        <p:spPr>
          <a:xfrm>
            <a:off x="3931920" y="5486400"/>
            <a:ext cx="3977639" cy="731520"/>
          </a:xfrm>
          <a:prstGeom prst="rect">
            <a:avLst/>
          </a:prstGeom>
          <a:noFill/>
        </p:spPr>
        <p:txBody>
          <a:bodyPr wrap="square" lIns="0" rIns="0" tIns="0" bIns="0">
            <a:spAutoFit/>
          </a:bodyPr>
          <a:lstStyle/>
          <a:p>
            <a:pPr algn="l"/>
            <a:r>
              <a:rPr sz="1400">
                <a:solidFill>
                  <a:srgbClr val="14161D"/>
                </a:solidFill>
                <a:latin typeface="Helvetica Neue Light"/>
              </a:rPr>
              <a:t>Guard ranking and severity</a:t>
            </a:r>
          </a:p>
        </p:txBody>
      </p:sp>
      <p:sp>
        <p:nvSpPr>
          <p:cNvPr id="24" name="TextBox 23"/>
          <p:cNvSpPr txBox="1"/>
          <p:nvPr/>
        </p:nvSpPr>
        <p:spPr>
          <a:xfrm>
            <a:off x="8138159" y="548640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alerts</a:t>
            </a:r>
          </a:p>
        </p:txBody>
      </p:sp>
      <p:cxnSp>
        <p:nvCxnSpPr>
          <p:cNvPr id="25" name="Connector 24"/>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2960" y="6309360"/>
            <a:ext cx="2880360" cy="731520"/>
          </a:xfrm>
          <a:prstGeom prst="rect">
            <a:avLst/>
          </a:prstGeom>
          <a:noFill/>
        </p:spPr>
        <p:txBody>
          <a:bodyPr wrap="square" lIns="0" rIns="0" tIns="0" bIns="0">
            <a:spAutoFit/>
          </a:bodyPr>
          <a:lstStyle/>
          <a:p>
            <a:pPr algn="l"/>
            <a:r>
              <a:rPr sz="1400">
                <a:solidFill>
                  <a:srgbClr val="14161D"/>
                </a:solidFill>
                <a:latin typeface="Helvetica Neue Light"/>
              </a:rPr>
              <a:t>Trade submission</a:t>
            </a:r>
          </a:p>
        </p:txBody>
      </p:sp>
      <p:sp>
        <p:nvSpPr>
          <p:cNvPr id="27" name="TextBox 26"/>
          <p:cNvSpPr txBox="1"/>
          <p:nvPr/>
        </p:nvSpPr>
        <p:spPr>
          <a:xfrm>
            <a:off x="3931920" y="6309360"/>
            <a:ext cx="3977639" cy="731520"/>
          </a:xfrm>
          <a:prstGeom prst="rect">
            <a:avLst/>
          </a:prstGeom>
          <a:noFill/>
        </p:spPr>
        <p:txBody>
          <a:bodyPr wrap="square" lIns="0" rIns="0" tIns="0" bIns="0">
            <a:spAutoFit/>
          </a:bodyPr>
          <a:lstStyle/>
          <a:p>
            <a:pPr algn="l"/>
            <a:r>
              <a:rPr sz="1400">
                <a:solidFill>
                  <a:srgbClr val="14161D"/>
                </a:solidFill>
                <a:latin typeface="Helvetica Neue Light"/>
              </a:rPr>
              <a:t>Outcome screen</a:t>
            </a:r>
          </a:p>
        </p:txBody>
      </p:sp>
      <p:sp>
        <p:nvSpPr>
          <p:cNvPr id="28" name="TextBox 27"/>
          <p:cNvSpPr txBox="1"/>
          <p:nvPr/>
        </p:nvSpPr>
        <p:spPr>
          <a:xfrm>
            <a:off x="8138159" y="630936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order result</a:t>
            </a:r>
          </a:p>
        </p:txBody>
      </p:sp>
      <p:cxnSp>
        <p:nvCxnSpPr>
          <p:cNvPr id="29" name="Connector 28"/>
          <p:cNvCxnSpPr/>
          <p:nvPr/>
        </p:nvCxnSpPr>
        <p:spPr>
          <a:xfrm>
            <a:off x="822960" y="7022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5" name="Picture 4" descr="figjam_agent.png"/>
          <p:cNvPicPr>
            <a:picLocks noChangeAspect="1"/>
          </p:cNvPicPr>
          <p:nvPr/>
        </p:nvPicPr>
        <p:blipFill>
          <a:blip r:embed="rId3"/>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 FLOW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AI flow, as the board now writes it</a:t>
            </a:r>
          </a:p>
        </p:txBody>
      </p:sp>
      <p:pic>
        <p:nvPicPr>
          <p:cNvPr id="5" name="Picture 4" descr="figjam_workflows.png"/>
          <p:cNvPicPr>
            <a:picLocks noChangeAspect="1"/>
          </p:cNvPicPr>
          <p:nvPr/>
        </p:nvPicPr>
        <p:blipFill>
          <a:blip r:embed="rId3"/>
          <a:stretch>
            <a:fillRect/>
          </a:stretch>
        </p:blipFill>
        <p:spPr>
          <a:xfrm>
            <a:off x="822960" y="2103120"/>
            <a:ext cx="5427194"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AI flow is one dashboard leading to four steps: Insight, Prospect, Guard, and Adapt. Each step is a choice the user makes.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is where the advice rule is most at risk. Its wording must read as proposed steps, not buy or sell advice.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found agent wording that broke the advice rule and changed it on the board, so the flow and the rule agree.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Test: a rebalance agent, outside the guardrails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Figma page: Rebalance Agent (outside guardrails).</a:t>
            </a:r>
          </a:p>
        </p:txBody>
      </p:sp>
      <p:pic>
        <p:nvPicPr>
          <p:cNvPr id="5" name="Picture 4" descr="image.png"/>
          <p:cNvPicPr>
            <a:picLocks noChangeAspect="1"/>
          </p:cNvPicPr>
          <p:nvPr/>
        </p:nvPicPr>
        <p:blipFill>
          <a:blip r:embed="rId2"/>
          <a:stretch>
            <a:fillRect/>
          </a:stretch>
        </p:blipFill>
        <p:spPr>
          <a:xfrm>
            <a:off x="457200" y="2103120"/>
            <a:ext cx="1978853"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An agent that rebalances a portfolio can act beyond what the trader set. That is the most serious risk in the concept.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rebalance idea is drawn as a test, outside the guardrails, with the boundary stated on the screen. It is not part of the first release.</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riskiest idea labeled as a test, so reviewers can see the line between proposal and action.</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daily blueprint, from morning to close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3.</a:t>
            </a:r>
          </a:p>
        </p:txBody>
      </p:sp>
      <p:pic>
        <p:nvPicPr>
          <p:cNvPr id="5" name="Picture 4" descr="image.png"/>
          <p:cNvPicPr>
            <a:picLocks noChangeAspect="1"/>
          </p:cNvPicPr>
          <p:nvPr/>
        </p:nvPicPr>
        <p:blipFill>
          <a:blip r:embed="rId2"/>
          <a:stretch>
            <a:fillRect/>
          </a:stretch>
        </p:blipFill>
        <p:spPr>
          <a:xfrm>
            <a:off x="457200" y="2103120"/>
            <a:ext cx="6766560" cy="3810751"/>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swing trader's day runs across tools, and each moment has a different need. Without a map, the design guesses at the day.</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blueprint lays out the trader's day in order, with the touchpoints where FinViz could help and where it should stay out of the way.</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mapped the whole day before designing any screen, so each screen answers a moment in that day.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1: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17.</a:t>
            </a:r>
          </a:p>
        </p:txBody>
      </p:sp>
      <p:pic>
        <p:nvPicPr>
          <p:cNvPr id="5" name="Picture 4" descr="image.png"/>
          <p:cNvPicPr>
            <a:picLocks noChangeAspect="1"/>
          </p:cNvPicPr>
          <p:nvPr/>
        </p:nvPicPr>
        <p:blipFill>
          <a:blip r:embed="rId2"/>
          <a:stretch>
            <a:fillRect/>
          </a:stretch>
        </p:blipFill>
        <p:spPr>
          <a:xfrm>
            <a:off x="457200" y="2103120"/>
            <a:ext cx="5857385"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new trader does not know which first step matters. The first session can end before the first useful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First Steps is one of three lead concepts. It builds the first success around a short, guided route to a screen the trader trusts.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wrote each concept as a building block with its own test, so the team could compare them on the same measures.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2: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18.</a:t>
            </a:r>
          </a:p>
        </p:txBody>
      </p:sp>
      <p:pic>
        <p:nvPicPr>
          <p:cNvPr id="5" name="Picture 4" descr="image.png"/>
          <p:cNvPicPr>
            <a:picLocks noChangeAspect="1"/>
          </p:cNvPicPr>
          <p:nvPr/>
        </p:nvPicPr>
        <p:blipFill>
          <a:blip r:embed="rId2"/>
          <a:stretch>
            <a:fillRect/>
          </a:stretch>
        </p:blipFill>
        <p:spPr>
          <a:xfrm>
            <a:off x="457200" y="2103120"/>
            <a:ext cx="547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screener has 89 filter dropdowns across six tabs, and a new trader does not know which ones answer their question.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Filtering is the second concept. It builds the first success around choosing the right filters for a question, not around the full list.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checked each concept against the same pain points, so the choice between concepts rests on evidence, not preference.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21.</a:t>
            </a:r>
          </a:p>
        </p:txBody>
      </p:sp>
      <p:pic>
        <p:nvPicPr>
          <p:cNvPr id="5" name="Picture 4" descr="image.png"/>
          <p:cNvPicPr>
            <a:picLocks noChangeAspect="1"/>
          </p:cNvPicPr>
          <p:nvPr/>
        </p:nvPicPr>
        <p:blipFill>
          <a:blip r:embed="rId2"/>
          <a:stretch>
            <a:fillRect/>
          </a:stretch>
        </p:blipFill>
        <p:spPr>
          <a:xfrm>
            <a:off x="457200" y="2103120"/>
            <a:ext cx="6766560" cy="3129657"/>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concept is only useful if it works across the whole path, not only on one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workflow shows the path from first sign-on to the first trading day, with the screens and the decision points for the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traced each concept's workflow, so a reviewer can follow the path and find where it breaks.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Your Playbook</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27.</a:t>
            </a:r>
          </a:p>
        </p:txBody>
      </p:sp>
      <p:pic>
        <p:nvPicPr>
          <p:cNvPr id="5" name="Picture 4" descr="image.png"/>
          <p:cNvPicPr>
            <a:picLocks noChangeAspect="1"/>
          </p:cNvPicPr>
          <p:nvPr/>
        </p:nvPicPr>
        <p:blipFill>
          <a:blip r:embed="rId2"/>
          <a:stretch>
            <a:fillRect/>
          </a:stretch>
        </p:blipFill>
        <p:spPr>
          <a:xfrm>
            <a:off x="457200" y="2103120"/>
            <a:ext cx="6766560" cy="6829116"/>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trader's own rules are not in the product, so the screener cannot apply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Your Playbook stores the trader's rules as a screen they can rerun. It is a workflow, not a tip.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tested it against the same measures as the lead concept, so the comparison stays fair.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The Decision Board</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28.</a:t>
            </a:r>
          </a:p>
        </p:txBody>
      </p:sp>
      <p:pic>
        <p:nvPicPr>
          <p:cNvPr id="5" name="Picture 4" descr="image.png"/>
          <p:cNvPicPr>
            <a:picLocks noChangeAspect="1"/>
          </p:cNvPicPr>
          <p:nvPr/>
        </p:nvPicPr>
        <p:blipFill>
          <a:blip r:embed="rId2"/>
          <a:stretch>
            <a:fillRect/>
          </a:stretch>
        </p:blipFill>
        <p:spPr>
          <a:xfrm>
            <a:off x="457200" y="2103120"/>
            <a:ext cx="6766560" cy="6876034"/>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Decisions are made quickly, and the reasons are lost.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Decision Board records the reason for each decision next to the evidence that supported it.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the decision record as its own concept, so reasons can be reviewed later.</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Shipped work · 2016–2017</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Budget planning that partners trust enough to grow</a:t>
            </a:r>
          </a:p>
        </p:txBody>
      </p:sp>
      <p:pic>
        <p:nvPicPr>
          <p:cNvPr id="5" name="Picture 4" descr="s01_4.png"/>
          <p:cNvPicPr>
            <a:picLocks noChangeAspect="1"/>
          </p:cNvPicPr>
          <p:nvPr/>
        </p:nvPicPr>
        <p:blipFill>
          <a:blip r:embed="rId3"/>
          <a:stretch>
            <a:fillRect/>
          </a:stretch>
        </p:blipFill>
        <p:spPr>
          <a:xfrm>
            <a:off x="457200" y="2377440"/>
            <a:ext cx="5120640" cy="3915783"/>
          </a:xfrm>
          <a:prstGeom prst="rect">
            <a:avLst/>
          </a:prstGeom>
        </p:spPr>
      </p:pic>
      <p:sp>
        <p:nvSpPr>
          <p:cNvPr id="6" name="TextBox 5"/>
          <p:cNvSpPr txBox="1"/>
          <p:nvPr/>
        </p:nvSpPr>
        <p:spPr>
          <a:xfrm>
            <a:off x="6035040" y="2377440"/>
            <a:ext cx="5760720" cy="274320"/>
          </a:xfrm>
          <a:prstGeom prst="rect">
            <a:avLst/>
          </a:prstGeom>
          <a:noFill/>
        </p:spPr>
        <p:txBody>
          <a:bodyPr wrap="square" lIns="0" rIns="0" tIns="0" bIns="0">
            <a:spAutoFit/>
          </a:bodyPr>
          <a:lstStyle/>
          <a:p>
            <a:r>
              <a:rPr sz="1280">
                <a:solidFill>
                  <a:srgbClr val="B5531F"/>
                </a:solidFill>
                <a:latin typeface="Helvetica Neue Medium"/>
              </a:rPr>
              <a:t>WHAT PARTNERS SAID</a:t>
            </a:r>
          </a:p>
        </p:txBody>
      </p:sp>
      <p:sp>
        <p:nvSpPr>
          <p:cNvPr id="7" name="TextBox 6"/>
          <p:cNvSpPr txBox="1"/>
          <p:nvPr/>
        </p:nvSpPr>
        <p:spPr>
          <a:xfrm>
            <a:off x="6035040" y="2688336"/>
            <a:ext cx="5760720" cy="2286000"/>
          </a:xfrm>
          <a:prstGeom prst="rect">
            <a:avLst/>
          </a:prstGeom>
          <a:noFill/>
        </p:spPr>
        <p:txBody>
          <a:bodyPr wrap="square" lIns="0" rIns="0" tIns="0" bIns="0">
            <a:spAutoFit/>
          </a:bodyPr>
          <a:lstStyle/>
          <a:p>
            <a:r>
              <a:rPr sz="1800">
                <a:solidFill>
                  <a:srgbClr val="1F1F1F"/>
                </a:solidFill>
                <a:latin typeface="Helvetica Neue Light"/>
              </a:rPr>
              <a:t>“Comparing budgets and then optimizing it would allow me to have the confidence to increase the budget.”</a:t>
            </a:r>
          </a:p>
        </p:txBody>
      </p:sp>
      <p:sp>
        <p:nvSpPr>
          <p:cNvPr id="8" name="TextBox 7"/>
          <p:cNvSpPr txBox="1"/>
          <p:nvPr/>
        </p:nvSpPr>
        <p:spPr>
          <a:xfrm>
            <a:off x="6035040" y="3566160"/>
            <a:ext cx="5760720" cy="365760"/>
          </a:xfrm>
          <a:prstGeom prst="rect">
            <a:avLst/>
          </a:prstGeom>
          <a:noFill/>
        </p:spPr>
        <p:txBody>
          <a:bodyPr wrap="square" lIns="0" rIns="0" tIns="0" bIns="0">
            <a:spAutoFit/>
          </a:bodyPr>
          <a:lstStyle/>
          <a:p>
            <a:r>
              <a:rPr sz="1300">
                <a:solidFill>
                  <a:srgbClr val="595959"/>
                </a:solidFill>
                <a:latin typeface="Helvetica Neue Light"/>
              </a:rPr>
              <a:t>AMEX sales partner, discovery interview</a:t>
            </a:r>
          </a:p>
        </p:txBody>
      </p:sp>
      <p:sp>
        <p:nvSpPr>
          <p:cNvPr id="9" name="TextBox 8"/>
          <p:cNvSpPr txBox="1"/>
          <p:nvPr/>
        </p:nvSpPr>
        <p:spPr>
          <a:xfrm>
            <a:off x="6035040" y="4572000"/>
            <a:ext cx="5760720" cy="274320"/>
          </a:xfrm>
          <a:prstGeom prst="rect">
            <a:avLst/>
          </a:prstGeom>
          <a:noFill/>
        </p:spPr>
        <p:txBody>
          <a:bodyPr wrap="square" lIns="0" rIns="0" tIns="0" bIns="0">
            <a:spAutoFit/>
          </a:bodyPr>
          <a:lstStyle/>
          <a:p>
            <a:r>
              <a:rPr sz="1280">
                <a:solidFill>
                  <a:srgbClr val="B5531F"/>
                </a:solidFill>
                <a:latin typeface="Helvetica Neue Medium"/>
              </a:rPr>
              <a:t>LEAD UX DESIGNER</a:t>
            </a:r>
          </a:p>
        </p:txBody>
      </p:sp>
      <p:sp>
        <p:nvSpPr>
          <p:cNvPr id="10" name="TextBox 9"/>
          <p:cNvSpPr txBox="1"/>
          <p:nvPr/>
        </p:nvSpPr>
        <p:spPr>
          <a:xfrm>
            <a:off x="6035040" y="4882896"/>
            <a:ext cx="5760720" cy="2286000"/>
          </a:xfrm>
          <a:prstGeom prst="rect">
            <a:avLst/>
          </a:prstGeom>
          <a:noFill/>
        </p:spPr>
        <p:txBody>
          <a:bodyPr wrap="square" lIns="0" rIns="0" tIns="0" bIns="0">
            <a:spAutoFit/>
          </a:bodyPr>
          <a:lstStyle/>
          <a:p>
            <a:r>
              <a:rPr sz="1500">
                <a:solidFill>
                  <a:srgbClr val="1F1F1F"/>
                </a:solidFill>
                <a:latin typeface="Helvetica Neue Light"/>
              </a:rPr>
              <a:t>Discovery, strategy and hands-on design; co-design with data scientists; Sketch, Lean UX, usability testing; presented to client stakeholders.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Overview</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At a glance</a:t>
            </a:r>
          </a:p>
        </p:txBody>
      </p:sp>
      <p:sp>
        <p:nvSpPr>
          <p:cNvPr id="5" name="TextBox 4"/>
          <p:cNvSpPr txBox="1"/>
          <p:nvPr/>
        </p:nvSpPr>
        <p:spPr>
          <a:xfrm>
            <a:off x="457200" y="2011680"/>
            <a:ext cx="5669280" cy="274320"/>
          </a:xfrm>
          <a:prstGeom prst="rect">
            <a:avLst/>
          </a:prstGeom>
          <a:noFill/>
        </p:spPr>
        <p:txBody>
          <a:bodyPr wrap="square" lIns="0" rIns="0" tIns="0" bIns="0">
            <a:spAutoFit/>
          </a:bodyPr>
          <a:lstStyle/>
          <a:p>
            <a:r>
              <a:rPr sz="1280">
                <a:solidFill>
                  <a:srgbClr val="B5531F"/>
                </a:solidFill>
                <a:latin typeface="Helvetica Neue Medium"/>
              </a:rPr>
              <a:t>THE PROBLEM</a:t>
            </a:r>
          </a:p>
        </p:txBody>
      </p:sp>
      <p:sp>
        <p:nvSpPr>
          <p:cNvPr id="6" name="TextBox 5"/>
          <p:cNvSpPr txBox="1"/>
          <p:nvPr/>
        </p:nvSpPr>
        <p:spPr>
          <a:xfrm>
            <a:off x="457200" y="2322576"/>
            <a:ext cx="5669280" cy="2286000"/>
          </a:xfrm>
          <a:prstGeom prst="rect">
            <a:avLst/>
          </a:prstGeom>
          <a:noFill/>
        </p:spPr>
        <p:txBody>
          <a:bodyPr wrap="square" lIns="0" rIns="0" tIns="0" bIns="0">
            <a:spAutoFit/>
          </a:bodyPr>
          <a:lstStyle/>
          <a:p>
            <a:r>
              <a:rPr sz="1600">
                <a:solidFill>
                  <a:srgbClr val="1F1F1F"/>
                </a:solidFill>
                <a:latin typeface="Helvetica Neue Light"/>
              </a:rPr>
              <a:t>AMEX sales partners had no tool to help clients budget their advertising spend, compare scenarios, or see what each dollar would do.</a:t>
            </a:r>
          </a:p>
        </p:txBody>
      </p:sp>
      <p:sp>
        <p:nvSpPr>
          <p:cNvPr id="7" name="TextBox 6"/>
          <p:cNvSpPr txBox="1"/>
          <p:nvPr/>
        </p:nvSpPr>
        <p:spPr>
          <a:xfrm>
            <a:off x="6583680" y="2011680"/>
            <a:ext cx="5669280" cy="274320"/>
          </a:xfrm>
          <a:prstGeom prst="rect">
            <a:avLst/>
          </a:prstGeom>
          <a:noFill/>
        </p:spPr>
        <p:txBody>
          <a:bodyPr wrap="square" lIns="0" rIns="0" tIns="0" bIns="0">
            <a:spAutoFit/>
          </a:bodyPr>
          <a:lstStyle/>
          <a:p>
            <a:r>
              <a:rPr sz="1280">
                <a:solidFill>
                  <a:srgbClr val="B5531F"/>
                </a:solidFill>
                <a:latin typeface="Helvetica Neue Medium"/>
              </a:rPr>
              <a:t>THE TARGET</a:t>
            </a:r>
          </a:p>
        </p:txBody>
      </p:sp>
      <p:sp>
        <p:nvSpPr>
          <p:cNvPr id="8" name="TextBox 7"/>
          <p:cNvSpPr txBox="1"/>
          <p:nvPr/>
        </p:nvSpPr>
        <p:spPr>
          <a:xfrm>
            <a:off x="6583680" y="2322576"/>
            <a:ext cx="5669280" cy="2286000"/>
          </a:xfrm>
          <a:prstGeom prst="rect">
            <a:avLst/>
          </a:prstGeom>
          <a:noFill/>
        </p:spPr>
        <p:txBody>
          <a:bodyPr wrap="square" lIns="0" rIns="0" tIns="0" bIns="0">
            <a:spAutoFit/>
          </a:bodyPr>
          <a:lstStyle/>
          <a:p>
            <a:r>
              <a:rPr sz="1600">
                <a:solidFill>
                  <a:srgbClr val="1F1F1F"/>
                </a:solidFill>
                <a:latin typeface="Helvetica Neue Light"/>
              </a:rPr>
              <a:t>Raise partner approval (58% baseline), cut budget drop-off (5.4%) and time to build a budget (12 min), and grow average client budgets ($1.34M).</a:t>
            </a:r>
          </a:p>
        </p:txBody>
      </p:sp>
      <p:sp>
        <p:nvSpPr>
          <p:cNvPr id="9" name="TextBox 8"/>
          <p:cNvSpPr txBox="1"/>
          <p:nvPr/>
        </p:nvSpPr>
        <p:spPr>
          <a:xfrm>
            <a:off x="457200" y="4297680"/>
            <a:ext cx="5669280" cy="274320"/>
          </a:xfrm>
          <a:prstGeom prst="rect">
            <a:avLst/>
          </a:prstGeom>
          <a:noFill/>
        </p:spPr>
        <p:txBody>
          <a:bodyPr wrap="square" lIns="0" rIns="0" tIns="0" bIns="0">
            <a:spAutoFit/>
          </a:bodyPr>
          <a:lstStyle/>
          <a:p>
            <a:r>
              <a:rPr sz="1280">
                <a:solidFill>
                  <a:srgbClr val="B5531F"/>
                </a:solidFill>
                <a:latin typeface="Helvetica Neue Medium"/>
              </a:rPr>
              <a:t>THE DECISION I MADE</a:t>
            </a:r>
          </a:p>
        </p:txBody>
      </p:sp>
      <p:sp>
        <p:nvSpPr>
          <p:cNvPr id="10" name="TextBox 9"/>
          <p:cNvSpPr txBox="1"/>
          <p:nvPr/>
        </p:nvSpPr>
        <p:spPr>
          <a:xfrm>
            <a:off x="457200" y="4608576"/>
            <a:ext cx="5669280" cy="2286000"/>
          </a:xfrm>
          <a:prstGeom prst="rect">
            <a:avLst/>
          </a:prstGeom>
          <a:noFill/>
        </p:spPr>
        <p:txBody>
          <a:bodyPr wrap="square" lIns="0" rIns="0" tIns="0" bIns="0">
            <a:spAutoFit/>
          </a:bodyPr>
          <a:lstStyle/>
          <a:p>
            <a:r>
              <a:rPr sz="1600">
                <a:solidFill>
                  <a:srgbClr val="1F1F1F"/>
                </a:solidFill>
                <a:latin typeface="Helvetica Neue Light"/>
              </a:rPr>
              <a:t>Turn budgeting into a 3-step flow: a guided wizard, a scenario builder down to channel and product, and a side-by-side comparison with an optimized plan the partner chooses.</a:t>
            </a:r>
          </a:p>
        </p:txBody>
      </p:sp>
      <p:sp>
        <p:nvSpPr>
          <p:cNvPr id="11" name="TextBox 10"/>
          <p:cNvSpPr txBox="1"/>
          <p:nvPr/>
        </p:nvSpPr>
        <p:spPr>
          <a:xfrm>
            <a:off x="6583680" y="4297680"/>
            <a:ext cx="5669280" cy="274320"/>
          </a:xfrm>
          <a:prstGeom prst="rect">
            <a:avLst/>
          </a:prstGeom>
          <a:noFill/>
        </p:spPr>
        <p:txBody>
          <a:bodyPr wrap="square" lIns="0" rIns="0" tIns="0" bIns="0">
            <a:spAutoFit/>
          </a:bodyPr>
          <a:lstStyle/>
          <a:p>
            <a:r>
              <a:rPr sz="1280">
                <a:solidFill>
                  <a:srgbClr val="B5531F"/>
                </a:solidFill>
                <a:latin typeface="Helvetica Neue Medium"/>
              </a:rPr>
              <a:t>WHAT WE GAVE UP</a:t>
            </a:r>
          </a:p>
        </p:txBody>
      </p:sp>
      <p:sp>
        <p:nvSpPr>
          <p:cNvPr id="12" name="TextBox 11"/>
          <p:cNvSpPr txBox="1"/>
          <p:nvPr/>
        </p:nvSpPr>
        <p:spPr>
          <a:xfrm>
            <a:off x="6583680" y="4608576"/>
            <a:ext cx="5669280" cy="2286000"/>
          </a:xfrm>
          <a:prstGeom prst="rect">
            <a:avLst/>
          </a:prstGeom>
          <a:noFill/>
        </p:spPr>
        <p:txBody>
          <a:bodyPr wrap="square" lIns="0" rIns="0" tIns="0" bIns="0">
            <a:spAutoFit/>
          </a:bodyPr>
          <a:lstStyle/>
          <a:p>
            <a:r>
              <a:rPr sz="1600">
                <a:solidFill>
                  <a:srgbClr val="1F1F1F"/>
                </a:solidFill>
                <a:latin typeface="Helvetica Neue Light"/>
              </a:rPr>
              <a:t>One quick, single-plan form. Building and comparing scenarios adds a step (about 5 min of comparison) in exchange for confidence. (confirm)</a:t>
            </a:r>
          </a:p>
        </p:txBody>
      </p:sp>
      <p:sp>
        <p:nvSpPr>
          <p:cNvPr id="13" name="TextBox 12"/>
          <p:cNvSpPr txBox="1"/>
          <p:nvPr/>
        </p:nvSpPr>
        <p:spPr>
          <a:xfrm>
            <a:off x="457200" y="6583680"/>
            <a:ext cx="5669280" cy="274320"/>
          </a:xfrm>
          <a:prstGeom prst="rect">
            <a:avLst/>
          </a:prstGeom>
          <a:noFill/>
        </p:spPr>
        <p:txBody>
          <a:bodyPr wrap="square" lIns="0" rIns="0" tIns="0" bIns="0">
            <a:spAutoFit/>
          </a:bodyPr>
          <a:lstStyle/>
          <a:p>
            <a:r>
              <a:rPr sz="1280">
                <a:solidFill>
                  <a:srgbClr val="B5531F"/>
                </a:solidFill>
                <a:latin typeface="Helvetica Neue Medium"/>
              </a:rPr>
              <a:t>THE RESULT</a:t>
            </a:r>
          </a:p>
        </p:txBody>
      </p:sp>
      <p:sp>
        <p:nvSpPr>
          <p:cNvPr id="14" name="TextBox 13"/>
          <p:cNvSpPr txBox="1"/>
          <p:nvPr/>
        </p:nvSpPr>
        <p:spPr>
          <a:xfrm>
            <a:off x="457200" y="6894576"/>
            <a:ext cx="5669280" cy="2286000"/>
          </a:xfrm>
          <a:prstGeom prst="rect">
            <a:avLst/>
          </a:prstGeom>
          <a:noFill/>
        </p:spPr>
        <p:txBody>
          <a:bodyPr wrap="square" lIns="0" rIns="0" tIns="0" bIns="0">
            <a:spAutoFit/>
          </a:bodyPr>
          <a:lstStyle/>
          <a:p>
            <a:r>
              <a:rPr sz="1600">
                <a:solidFill>
                  <a:srgbClr val="1F1F1F"/>
                </a:solidFill>
                <a:latin typeface="Helvetica Neue Light"/>
              </a:rPr>
              <a:t>Partner approval 58% → 88%. Drop-off 5.4% → 3.4%. Time to build a budget 12 → 10 min. Average client budget $1.34M → $1.8M.</a:t>
            </a:r>
          </a:p>
        </p:txBody>
      </p:sp>
      <p:sp>
        <p:nvSpPr>
          <p:cNvPr id="15" name="TextBox 14"/>
          <p:cNvSpPr txBox="1"/>
          <p:nvPr/>
        </p:nvSpPr>
        <p:spPr>
          <a:xfrm>
            <a:off x="6583680" y="6583680"/>
            <a:ext cx="5669280" cy="274320"/>
          </a:xfrm>
          <a:prstGeom prst="rect">
            <a:avLst/>
          </a:prstGeom>
          <a:noFill/>
        </p:spPr>
        <p:txBody>
          <a:bodyPr wrap="square" lIns="0" rIns="0" tIns="0" bIns="0">
            <a:spAutoFit/>
          </a:bodyPr>
          <a:lstStyle/>
          <a:p>
            <a:r>
              <a:rPr sz="1280">
                <a:solidFill>
                  <a:srgbClr val="B5531F"/>
                </a:solidFill>
                <a:latin typeface="Helvetica Neue Medium"/>
              </a:rPr>
              <a:t>MY ROLE</a:t>
            </a:r>
          </a:p>
        </p:txBody>
      </p:sp>
      <p:sp>
        <p:nvSpPr>
          <p:cNvPr id="16" name="TextBox 15"/>
          <p:cNvSpPr txBox="1"/>
          <p:nvPr/>
        </p:nvSpPr>
        <p:spPr>
          <a:xfrm>
            <a:off x="6583680" y="6894576"/>
            <a:ext cx="5669280" cy="2286000"/>
          </a:xfrm>
          <a:prstGeom prst="rect">
            <a:avLst/>
          </a:prstGeom>
          <a:noFill/>
        </p:spPr>
        <p:txBody>
          <a:bodyPr wrap="square" lIns="0" rIns="0" tIns="0" bIns="0">
            <a:spAutoFit/>
          </a:bodyPr>
          <a:lstStyle/>
          <a:p>
            <a:r>
              <a:rPr sz="1600">
                <a:solidFill>
                  <a:srgbClr val="1F1F1F"/>
                </a:solidFill>
                <a:latin typeface="Helvetica Neue Light"/>
              </a:rPr>
              <a:t>Lead UX designer: discovery, strategy and hands-on design, working with data scientists over 12 Agile sprints. Team size (confirm).</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Results</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What changed after launch</a:t>
            </a:r>
          </a:p>
        </p:txBody>
      </p:sp>
      <p:sp>
        <p:nvSpPr>
          <p:cNvPr id="5" name="TextBox 4"/>
          <p:cNvSpPr txBox="1"/>
          <p:nvPr/>
        </p:nvSpPr>
        <p:spPr>
          <a:xfrm>
            <a:off x="457200" y="1828800"/>
            <a:ext cx="11887200" cy="365760"/>
          </a:xfrm>
          <a:prstGeom prst="rect">
            <a:avLst/>
          </a:prstGeom>
          <a:noFill/>
        </p:spPr>
        <p:txBody>
          <a:bodyPr wrap="square" lIns="0" rIns="0" tIns="0" bIns="0">
            <a:spAutoFit/>
          </a:bodyPr>
          <a:lstStyle/>
          <a:p>
            <a:r>
              <a:rPr sz="1600">
                <a:solidFill>
                  <a:srgbClr val="595959"/>
                </a:solidFill>
                <a:latin typeface="Helvetica Neue Light"/>
              </a:rPr>
              <a:t>Measured against the baseline we set in discovery. (confirm the measurement period)</a:t>
            </a:r>
          </a:p>
        </p:txBody>
      </p:sp>
      <p:sp>
        <p:nvSpPr>
          <p:cNvPr id="6" name="TextBox 5"/>
          <p:cNvSpPr txBox="1"/>
          <p:nvPr/>
        </p:nvSpPr>
        <p:spPr>
          <a:xfrm>
            <a:off x="457200" y="2651760"/>
            <a:ext cx="5669280" cy="274320"/>
          </a:xfrm>
          <a:prstGeom prst="rect">
            <a:avLst/>
          </a:prstGeom>
          <a:noFill/>
        </p:spPr>
        <p:txBody>
          <a:bodyPr wrap="square" lIns="0" rIns="0" tIns="0" bIns="0">
            <a:spAutoFit/>
          </a:bodyPr>
          <a:lstStyle/>
          <a:p>
            <a:r>
              <a:rPr sz="1280">
                <a:solidFill>
                  <a:srgbClr val="B5531F"/>
                </a:solidFill>
                <a:latin typeface="Helvetica Neue Medium"/>
              </a:rPr>
              <a:t>PARTNER APPROVAL</a:t>
            </a:r>
          </a:p>
        </p:txBody>
      </p:sp>
      <p:sp>
        <p:nvSpPr>
          <p:cNvPr id="7" name="TextBox 6"/>
          <p:cNvSpPr txBox="1"/>
          <p:nvPr/>
        </p:nvSpPr>
        <p:spPr>
          <a:xfrm>
            <a:off x="457200" y="2962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58%  →  88%</a:t>
            </a:r>
          </a:p>
          <a:p>
            <a:pPr>
              <a:spcAft>
                <a:spcPts val="600"/>
              </a:spcAft>
            </a:pPr>
            <a:r>
              <a:rPr sz="2200">
                <a:solidFill>
                  <a:srgbClr val="1F1F1F"/>
                </a:solidFill>
                <a:latin typeface="Helvetica Neue Light"/>
              </a:rPr>
              <a:t>+30 pts</a:t>
            </a:r>
          </a:p>
        </p:txBody>
      </p:sp>
      <p:sp>
        <p:nvSpPr>
          <p:cNvPr id="8" name="TextBox 7"/>
          <p:cNvSpPr txBox="1"/>
          <p:nvPr/>
        </p:nvSpPr>
        <p:spPr>
          <a:xfrm>
            <a:off x="6583680" y="2651760"/>
            <a:ext cx="5669280" cy="274320"/>
          </a:xfrm>
          <a:prstGeom prst="rect">
            <a:avLst/>
          </a:prstGeom>
          <a:noFill/>
        </p:spPr>
        <p:txBody>
          <a:bodyPr wrap="square" lIns="0" rIns="0" tIns="0" bIns="0">
            <a:spAutoFit/>
          </a:bodyPr>
          <a:lstStyle/>
          <a:p>
            <a:r>
              <a:rPr sz="1280">
                <a:solidFill>
                  <a:srgbClr val="B5531F"/>
                </a:solidFill>
                <a:latin typeface="Helvetica Neue Medium"/>
              </a:rPr>
              <a:t>BUDGET DROP-OFF</a:t>
            </a:r>
          </a:p>
        </p:txBody>
      </p:sp>
      <p:sp>
        <p:nvSpPr>
          <p:cNvPr id="9" name="TextBox 8"/>
          <p:cNvSpPr txBox="1"/>
          <p:nvPr/>
        </p:nvSpPr>
        <p:spPr>
          <a:xfrm>
            <a:off x="6583680" y="2962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5.4%  →  3.4%</a:t>
            </a:r>
          </a:p>
          <a:p>
            <a:pPr>
              <a:spcAft>
                <a:spcPts val="600"/>
              </a:spcAft>
            </a:pPr>
            <a:r>
              <a:rPr sz="2200">
                <a:solidFill>
                  <a:srgbClr val="1F1F1F"/>
                </a:solidFill>
                <a:latin typeface="Helvetica Neue Light"/>
              </a:rPr>
              <a:t>−2.0 pts</a:t>
            </a:r>
          </a:p>
        </p:txBody>
      </p:sp>
      <p:sp>
        <p:nvSpPr>
          <p:cNvPr id="10" name="TextBox 9"/>
          <p:cNvSpPr txBox="1"/>
          <p:nvPr/>
        </p:nvSpPr>
        <p:spPr>
          <a:xfrm>
            <a:off x="457200" y="4937760"/>
            <a:ext cx="5669280" cy="274320"/>
          </a:xfrm>
          <a:prstGeom prst="rect">
            <a:avLst/>
          </a:prstGeom>
          <a:noFill/>
        </p:spPr>
        <p:txBody>
          <a:bodyPr wrap="square" lIns="0" rIns="0" tIns="0" bIns="0">
            <a:spAutoFit/>
          </a:bodyPr>
          <a:lstStyle/>
          <a:p>
            <a:r>
              <a:rPr sz="1280">
                <a:solidFill>
                  <a:srgbClr val="B5531F"/>
                </a:solidFill>
                <a:latin typeface="Helvetica Neue Medium"/>
              </a:rPr>
              <a:t>TIME TO BUILD A BUDGET</a:t>
            </a:r>
          </a:p>
        </p:txBody>
      </p:sp>
      <p:sp>
        <p:nvSpPr>
          <p:cNvPr id="11" name="TextBox 10"/>
          <p:cNvSpPr txBox="1"/>
          <p:nvPr/>
        </p:nvSpPr>
        <p:spPr>
          <a:xfrm>
            <a:off x="457200" y="5248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12 min  →  10 min</a:t>
            </a:r>
          </a:p>
          <a:p>
            <a:pPr>
              <a:spcAft>
                <a:spcPts val="600"/>
              </a:spcAft>
            </a:pPr>
            <a:r>
              <a:rPr sz="2200">
                <a:solidFill>
                  <a:srgbClr val="1F1F1F"/>
                </a:solidFill>
                <a:latin typeface="Helvetica Neue Light"/>
              </a:rPr>
              <a:t>−2 min</a:t>
            </a:r>
          </a:p>
        </p:txBody>
      </p:sp>
      <p:sp>
        <p:nvSpPr>
          <p:cNvPr id="12" name="TextBox 11"/>
          <p:cNvSpPr txBox="1"/>
          <p:nvPr/>
        </p:nvSpPr>
        <p:spPr>
          <a:xfrm>
            <a:off x="6583680" y="4937760"/>
            <a:ext cx="5669280" cy="274320"/>
          </a:xfrm>
          <a:prstGeom prst="rect">
            <a:avLst/>
          </a:prstGeom>
          <a:noFill/>
        </p:spPr>
        <p:txBody>
          <a:bodyPr wrap="square" lIns="0" rIns="0" tIns="0" bIns="0">
            <a:spAutoFit/>
          </a:bodyPr>
          <a:lstStyle/>
          <a:p>
            <a:r>
              <a:rPr sz="1280">
                <a:solidFill>
                  <a:srgbClr val="B5531F"/>
                </a:solidFill>
                <a:latin typeface="Helvetica Neue Medium"/>
              </a:rPr>
              <a:t>AVERAGE CLIENT BUDGET</a:t>
            </a:r>
          </a:p>
        </p:txBody>
      </p:sp>
      <p:sp>
        <p:nvSpPr>
          <p:cNvPr id="13" name="TextBox 12"/>
          <p:cNvSpPr txBox="1"/>
          <p:nvPr/>
        </p:nvSpPr>
        <p:spPr>
          <a:xfrm>
            <a:off x="6583680" y="5248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$1.34M  →  $1.8M</a:t>
            </a:r>
          </a:p>
          <a:p>
            <a:pPr>
              <a:spcAft>
                <a:spcPts val="600"/>
              </a:spcAft>
            </a:pPr>
            <a:r>
              <a:rPr sz="2200">
                <a:solidFill>
                  <a:srgbClr val="1F1F1F"/>
                </a:solidFill>
                <a:latin typeface="Helvetica Neue Light"/>
              </a:rPr>
              <a:t>+34%</a:t>
            </a:r>
          </a:p>
        </p:txBody>
      </p:sp>
      <p:sp>
        <p:nvSpPr>
          <p:cNvPr id="14" name="TextBox 13"/>
          <p:cNvSpPr txBox="1"/>
          <p:nvPr/>
        </p:nvSpPr>
        <p:spPr>
          <a:xfrm>
            <a:off x="457200" y="7315200"/>
            <a:ext cx="11887200" cy="365760"/>
          </a:xfrm>
          <a:prstGeom prst="rect">
            <a:avLst/>
          </a:prstGeom>
          <a:noFill/>
        </p:spPr>
        <p:txBody>
          <a:bodyPr wrap="square" lIns="0" rIns="0" tIns="0" bIns="0">
            <a:spAutoFit/>
          </a:bodyPr>
          <a:lstStyle/>
          <a:p>
            <a:r>
              <a:rPr sz="1600">
                <a:solidFill>
                  <a:srgbClr val="1F1F1F"/>
                </a:solidFill>
                <a:latin typeface="Helvetica Neue Light"/>
              </a:rPr>
              <a:t>New capability: partners spend about 5 minutes comparing scenarios, a step that did not exist before.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Context</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The product, the people, the constraints</a:t>
            </a:r>
          </a:p>
        </p:txBody>
      </p:sp>
      <p:sp>
        <p:nvSpPr>
          <p:cNvPr id="5" name="TextBox 4"/>
          <p:cNvSpPr txBox="1"/>
          <p:nvPr/>
        </p:nvSpPr>
        <p:spPr>
          <a:xfrm>
            <a:off x="457200" y="2011680"/>
            <a:ext cx="5669280" cy="274320"/>
          </a:xfrm>
          <a:prstGeom prst="rect">
            <a:avLst/>
          </a:prstGeom>
          <a:noFill/>
        </p:spPr>
        <p:txBody>
          <a:bodyPr wrap="square" lIns="0" rIns="0" tIns="0" bIns="0">
            <a:spAutoFit/>
          </a:bodyPr>
          <a:lstStyle/>
          <a:p>
            <a:r>
              <a:rPr sz="1280">
                <a:solidFill>
                  <a:srgbClr val="B5531F"/>
                </a:solidFill>
                <a:latin typeface="Helvetica Neue Medium"/>
              </a:rPr>
              <a:t>WHAT MOCA IS</a:t>
            </a:r>
          </a:p>
        </p:txBody>
      </p:sp>
      <p:sp>
        <p:nvSpPr>
          <p:cNvPr id="6" name="TextBox 5"/>
          <p:cNvSpPr txBox="1"/>
          <p:nvPr/>
        </p:nvSpPr>
        <p:spPr>
          <a:xfrm>
            <a:off x="457200" y="2322576"/>
            <a:ext cx="5669280" cy="2286000"/>
          </a:xfrm>
          <a:prstGeom prst="rect">
            <a:avLst/>
          </a:prstGeom>
          <a:noFill/>
        </p:spPr>
        <p:txBody>
          <a:bodyPr wrap="square" lIns="0" rIns="0" tIns="0" bIns="0">
            <a:spAutoFit/>
          </a:bodyPr>
          <a:lstStyle/>
          <a:p>
            <a:r>
              <a:rPr sz="1600">
                <a:solidFill>
                  <a:srgbClr val="1F1F1F"/>
                </a:solidFill>
                <a:latin typeface="Helvetica Neue Light"/>
              </a:rPr>
              <a:t>A desktop budgeting application that uses algorithmic engines to project a marketer’s potential budget, and to compare constructed and optimized budget scenarios.</a:t>
            </a:r>
          </a:p>
        </p:txBody>
      </p:sp>
      <p:sp>
        <p:nvSpPr>
          <p:cNvPr id="7" name="TextBox 6"/>
          <p:cNvSpPr txBox="1"/>
          <p:nvPr/>
        </p:nvSpPr>
        <p:spPr>
          <a:xfrm>
            <a:off x="6309360" y="2011680"/>
            <a:ext cx="5669280" cy="274320"/>
          </a:xfrm>
          <a:prstGeom prst="rect">
            <a:avLst/>
          </a:prstGeom>
          <a:noFill/>
        </p:spPr>
        <p:txBody>
          <a:bodyPr wrap="square" lIns="0" rIns="0" tIns="0" bIns="0">
            <a:spAutoFit/>
          </a:bodyPr>
          <a:lstStyle/>
          <a:p>
            <a:r>
              <a:rPr sz="1280">
                <a:solidFill>
                  <a:srgbClr val="B5531F"/>
                </a:solidFill>
                <a:latin typeface="Helvetica Neue Medium"/>
              </a:rPr>
              <a:t>WHO USES IT</a:t>
            </a:r>
          </a:p>
        </p:txBody>
      </p:sp>
      <p:sp>
        <p:nvSpPr>
          <p:cNvPr id="8" name="TextBox 7"/>
          <p:cNvSpPr txBox="1"/>
          <p:nvPr/>
        </p:nvSpPr>
        <p:spPr>
          <a:xfrm>
            <a:off x="6309360" y="2322576"/>
            <a:ext cx="5669280" cy="2286000"/>
          </a:xfrm>
          <a:prstGeom prst="rect">
            <a:avLst/>
          </a:prstGeom>
          <a:noFill/>
        </p:spPr>
        <p:txBody>
          <a:bodyPr wrap="square" lIns="0" rIns="0" tIns="0" bIns="0">
            <a:spAutoFit/>
          </a:bodyPr>
          <a:lstStyle/>
          <a:p>
            <a:r>
              <a:rPr sz="1600">
                <a:solidFill>
                  <a:srgbClr val="1F1F1F"/>
                </a:solidFill>
                <a:latin typeface="Helvetica Neue Light"/>
              </a:rPr>
              <a:t>AMEX sales managers and sales advisors, building advertising budgets with their external clients across AMEX product lines and channels.</a:t>
            </a:r>
          </a:p>
        </p:txBody>
      </p:sp>
      <p:sp>
        <p:nvSpPr>
          <p:cNvPr id="9" name="TextBox 8"/>
          <p:cNvSpPr txBox="1"/>
          <p:nvPr/>
        </p:nvSpPr>
        <p:spPr>
          <a:xfrm>
            <a:off x="457200" y="4572000"/>
            <a:ext cx="3657600" cy="274320"/>
          </a:xfrm>
          <a:prstGeom prst="rect">
            <a:avLst/>
          </a:prstGeom>
          <a:noFill/>
        </p:spPr>
        <p:txBody>
          <a:bodyPr wrap="square" lIns="0" rIns="0" tIns="0" bIns="0">
            <a:spAutoFit/>
          </a:bodyPr>
          <a:lstStyle/>
          <a:p>
            <a:r>
              <a:rPr sz="1280">
                <a:solidFill>
                  <a:srgbClr val="B5531F"/>
                </a:solidFill>
                <a:latin typeface="Helvetica Neue Medium"/>
              </a:rPr>
              <a:t>USED RARELY</a:t>
            </a:r>
          </a:p>
        </p:txBody>
      </p:sp>
      <p:sp>
        <p:nvSpPr>
          <p:cNvPr id="10" name="TextBox 9"/>
          <p:cNvSpPr txBox="1"/>
          <p:nvPr/>
        </p:nvSpPr>
        <p:spPr>
          <a:xfrm>
            <a:off x="457200" y="4882896"/>
            <a:ext cx="3657600" cy="2286000"/>
          </a:xfrm>
          <a:prstGeom prst="rect">
            <a:avLst/>
          </a:prstGeom>
          <a:noFill/>
        </p:spPr>
        <p:txBody>
          <a:bodyPr wrap="square" lIns="0" rIns="0" tIns="0" bIns="0">
            <a:spAutoFit/>
          </a:bodyPr>
          <a:lstStyle/>
          <a:p>
            <a:r>
              <a:rPr sz="1600">
                <a:solidFill>
                  <a:srgbClr val="1F1F1F"/>
                </a:solidFill>
                <a:latin typeface="Helvetica Neue Light"/>
              </a:rPr>
              <a:t>Partners build a plan every 6–12 months, so every visit feels like the first.</a:t>
            </a:r>
          </a:p>
        </p:txBody>
      </p:sp>
      <p:sp>
        <p:nvSpPr>
          <p:cNvPr id="11" name="TextBox 10"/>
          <p:cNvSpPr txBox="1"/>
          <p:nvPr/>
        </p:nvSpPr>
        <p:spPr>
          <a:xfrm>
            <a:off x="4480560" y="4572000"/>
            <a:ext cx="3657600" cy="274320"/>
          </a:xfrm>
          <a:prstGeom prst="rect">
            <a:avLst/>
          </a:prstGeom>
          <a:noFill/>
        </p:spPr>
        <p:txBody>
          <a:bodyPr wrap="square" lIns="0" rIns="0" tIns="0" bIns="0">
            <a:spAutoFit/>
          </a:bodyPr>
          <a:lstStyle/>
          <a:p>
            <a:r>
              <a:rPr sz="1280">
                <a:solidFill>
                  <a:srgbClr val="B5531F"/>
                </a:solidFill>
                <a:latin typeface="Helvetica Neue Medium"/>
              </a:rPr>
              <a:t>HIGH STAKES</a:t>
            </a:r>
          </a:p>
        </p:txBody>
      </p:sp>
      <p:sp>
        <p:nvSpPr>
          <p:cNvPr id="12" name="TextBox 11"/>
          <p:cNvSpPr txBox="1"/>
          <p:nvPr/>
        </p:nvSpPr>
        <p:spPr>
          <a:xfrm>
            <a:off x="4480560" y="4882896"/>
            <a:ext cx="3657600" cy="2286000"/>
          </a:xfrm>
          <a:prstGeom prst="rect">
            <a:avLst/>
          </a:prstGeom>
          <a:noFill/>
        </p:spPr>
        <p:txBody>
          <a:bodyPr wrap="square" lIns="0" rIns="0" tIns="0" bIns="0">
            <a:spAutoFit/>
          </a:bodyPr>
          <a:lstStyle/>
          <a:p>
            <a:r>
              <a:rPr sz="1600">
                <a:solidFill>
                  <a:srgbClr val="1F1F1F"/>
                </a:solidFill>
                <a:latin typeface="Helvetica Neue Light"/>
              </a:rPr>
              <a:t>Average client budget of $1.34M at baseline; partners had to defend each allocation.</a:t>
            </a:r>
          </a:p>
        </p:txBody>
      </p:sp>
      <p:sp>
        <p:nvSpPr>
          <p:cNvPr id="13" name="TextBox 12"/>
          <p:cNvSpPr txBox="1"/>
          <p:nvPr/>
        </p:nvSpPr>
        <p:spPr>
          <a:xfrm>
            <a:off x="8503920" y="4572000"/>
            <a:ext cx="3657600" cy="274320"/>
          </a:xfrm>
          <a:prstGeom prst="rect">
            <a:avLst/>
          </a:prstGeom>
          <a:noFill/>
        </p:spPr>
        <p:txBody>
          <a:bodyPr wrap="square" lIns="0" rIns="0" tIns="0" bIns="0">
            <a:spAutoFit/>
          </a:bodyPr>
          <a:lstStyle/>
          <a:p>
            <a:r>
              <a:rPr sz="1280">
                <a:solidFill>
                  <a:srgbClr val="B5531F"/>
                </a:solidFill>
                <a:latin typeface="Helvetica Neue Medium"/>
              </a:rPr>
              <a:t>A DESKTOP APP AMONG OTHERS</a:t>
            </a:r>
          </a:p>
        </p:txBody>
      </p:sp>
      <p:sp>
        <p:nvSpPr>
          <p:cNvPr id="14" name="TextBox 13"/>
          <p:cNvSpPr txBox="1"/>
          <p:nvPr/>
        </p:nvSpPr>
        <p:spPr>
          <a:xfrm>
            <a:off x="8503920" y="4882896"/>
            <a:ext cx="3657600" cy="2286000"/>
          </a:xfrm>
          <a:prstGeom prst="rect">
            <a:avLst/>
          </a:prstGeom>
          <a:noFill/>
        </p:spPr>
        <p:txBody>
          <a:bodyPr wrap="square" lIns="0" rIns="0" tIns="0" bIns="0">
            <a:spAutoFit/>
          </a:bodyPr>
          <a:lstStyle/>
          <a:p>
            <a:r>
              <a:rPr sz="1600">
                <a:solidFill>
                  <a:srgbClr val="1F1F1F"/>
                </a:solidFill>
                <a:latin typeface="Helvetica Neue Light"/>
              </a:rPr>
              <a:t>It had to sit beside other desktop tools and connect to them through APIs.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Discovery</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What partners told us</a:t>
            </a:r>
          </a:p>
        </p:txBody>
      </p:sp>
      <p:sp>
        <p:nvSpPr>
          <p:cNvPr id="5" name="TextBox 4"/>
          <p:cNvSpPr txBox="1"/>
          <p:nvPr/>
        </p:nvSpPr>
        <p:spPr>
          <a:xfrm>
            <a:off x="457200" y="2011680"/>
            <a:ext cx="5120640" cy="274320"/>
          </a:xfrm>
          <a:prstGeom prst="rect">
            <a:avLst/>
          </a:prstGeom>
          <a:noFill/>
        </p:spPr>
        <p:txBody>
          <a:bodyPr wrap="square" lIns="0" rIns="0" tIns="0" bIns="0">
            <a:spAutoFit/>
          </a:bodyPr>
          <a:lstStyle/>
          <a:p>
            <a:r>
              <a:rPr sz="1280">
                <a:solidFill>
                  <a:srgbClr val="B5531F"/>
                </a:solidFill>
                <a:latin typeface="Helvetica Neue Medium"/>
              </a:rPr>
              <a:t>HOW WE LEARNED</a:t>
            </a:r>
          </a:p>
        </p:txBody>
      </p:sp>
      <p:sp>
        <p:nvSpPr>
          <p:cNvPr id="6" name="TextBox 5"/>
          <p:cNvSpPr txBox="1"/>
          <p:nvPr/>
        </p:nvSpPr>
        <p:spPr>
          <a:xfrm>
            <a:off x="457200" y="2322576"/>
            <a:ext cx="5120640" cy="2286000"/>
          </a:xfrm>
          <a:prstGeom prst="rect">
            <a:avLst/>
          </a:prstGeom>
          <a:noFill/>
        </p:spPr>
        <p:txBody>
          <a:bodyPr wrap="square" lIns="0" rIns="0" tIns="0" bIns="0">
            <a:spAutoFit/>
          </a:bodyPr>
          <a:lstStyle/>
          <a:p>
            <a:pPr>
              <a:spcAft>
                <a:spcPts val="600"/>
              </a:spcAft>
            </a:pPr>
            <a:r>
              <a:rPr sz="1600">
                <a:solidFill>
                  <a:srgbClr val="1F1F1F"/>
                </a:solidFill>
                <a:latin typeface="Helvetica Neue Light"/>
              </a:rPr>
              <a:t>Interviews with stakeholders, SMEs and users (sales managers and advisors)</a:t>
            </a:r>
          </a:p>
          <a:p>
            <a:pPr>
              <a:spcAft>
                <a:spcPts val="600"/>
              </a:spcAft>
            </a:pPr>
            <a:r>
              <a:rPr sz="1600">
                <a:solidFill>
                  <a:srgbClr val="1F1F1F"/>
                </a:solidFill>
                <a:latin typeface="Helvetica Neue Light"/>
              </a:rPr>
              <a:t>Contextual interviews</a:t>
            </a:r>
          </a:p>
          <a:p>
            <a:pPr>
              <a:spcAft>
                <a:spcPts val="600"/>
              </a:spcAft>
            </a:pPr>
            <a:r>
              <a:rPr sz="1600">
                <a:solidFill>
                  <a:srgbClr val="1F1F1F"/>
                </a:solidFill>
                <a:latin typeface="Helvetica Neue Light"/>
              </a:rPr>
              <a:t>Personas</a:t>
            </a:r>
          </a:p>
          <a:p>
            <a:pPr>
              <a:spcAft>
                <a:spcPts val="600"/>
              </a:spcAft>
            </a:pPr>
            <a:r>
              <a:rPr sz="1600">
                <a:solidFill>
                  <a:srgbClr val="1F1F1F"/>
                </a:solidFill>
                <a:latin typeface="Helvetica Neue Light"/>
              </a:rPr>
              <a:t>Co-design sessions with data scientists</a:t>
            </a:r>
          </a:p>
        </p:txBody>
      </p:sp>
      <p:sp>
        <p:nvSpPr>
          <p:cNvPr id="7" name="TextBox 6"/>
          <p:cNvSpPr txBox="1"/>
          <p:nvPr/>
        </p:nvSpPr>
        <p:spPr>
          <a:xfrm>
            <a:off x="457200" y="4937760"/>
            <a:ext cx="5120640" cy="274320"/>
          </a:xfrm>
          <a:prstGeom prst="rect">
            <a:avLst/>
          </a:prstGeom>
          <a:noFill/>
        </p:spPr>
        <p:txBody>
          <a:bodyPr wrap="square" lIns="0" rIns="0" tIns="0" bIns="0">
            <a:spAutoFit/>
          </a:bodyPr>
          <a:lstStyle/>
          <a:p>
            <a:r>
              <a:rPr sz="1280">
                <a:solidFill>
                  <a:srgbClr val="B5531F"/>
                </a:solidFill>
                <a:latin typeface="Helvetica Neue Medium"/>
              </a:rPr>
              <a:t>A PARTNER, IN THEIR WORDS</a:t>
            </a:r>
          </a:p>
        </p:txBody>
      </p:sp>
      <p:sp>
        <p:nvSpPr>
          <p:cNvPr id="8" name="TextBox 7"/>
          <p:cNvSpPr txBox="1"/>
          <p:nvPr/>
        </p:nvSpPr>
        <p:spPr>
          <a:xfrm>
            <a:off x="457200" y="5248656"/>
            <a:ext cx="5120640" cy="2286000"/>
          </a:xfrm>
          <a:prstGeom prst="rect">
            <a:avLst/>
          </a:prstGeom>
          <a:noFill/>
        </p:spPr>
        <p:txBody>
          <a:bodyPr wrap="square" lIns="0" rIns="0" tIns="0" bIns="0">
            <a:spAutoFit/>
          </a:bodyPr>
          <a:lstStyle/>
          <a:p>
            <a:r>
              <a:rPr sz="1600">
                <a:solidFill>
                  <a:srgbClr val="1F1F1F"/>
                </a:solidFill>
                <a:latin typeface="Helvetica Neue Light"/>
              </a:rPr>
              <a:t>“If I could build a plan down to the product line and channel, I’d be super happy, but I’d also be able to customize each quarter.”</a:t>
            </a:r>
          </a:p>
        </p:txBody>
      </p:sp>
      <p:sp>
        <p:nvSpPr>
          <p:cNvPr id="9" name="TextBox 8"/>
          <p:cNvSpPr txBox="1"/>
          <p:nvPr/>
        </p:nvSpPr>
        <p:spPr>
          <a:xfrm>
            <a:off x="6126480" y="2011680"/>
            <a:ext cx="5852160" cy="274320"/>
          </a:xfrm>
          <a:prstGeom prst="rect">
            <a:avLst/>
          </a:prstGeom>
          <a:noFill/>
        </p:spPr>
        <p:txBody>
          <a:bodyPr wrap="square" lIns="0" rIns="0" tIns="0" bIns="0">
            <a:spAutoFit/>
          </a:bodyPr>
          <a:lstStyle/>
          <a:p>
            <a:r>
              <a:rPr sz="1280">
                <a:solidFill>
                  <a:srgbClr val="B5531F"/>
                </a:solidFill>
                <a:latin typeface="Helvetica Neue Medium"/>
              </a:rPr>
              <a:t>WHAT WE LEARNED</a:t>
            </a:r>
          </a:p>
        </p:txBody>
      </p:sp>
      <p:sp>
        <p:nvSpPr>
          <p:cNvPr id="10" name="TextBox 9"/>
          <p:cNvSpPr txBox="1"/>
          <p:nvPr/>
        </p:nvSpPr>
        <p:spPr>
          <a:xfrm>
            <a:off x="6126480" y="2322576"/>
            <a:ext cx="5852160" cy="2286000"/>
          </a:xfrm>
          <a:prstGeom prst="rect">
            <a:avLst/>
          </a:prstGeom>
          <a:noFill/>
        </p:spPr>
        <p:txBody>
          <a:bodyPr wrap="square" lIns="0" rIns="0" tIns="0" bIns="0">
            <a:spAutoFit/>
          </a:bodyPr>
          <a:lstStyle/>
          <a:p>
            <a:pPr>
              <a:spcAft>
                <a:spcPts val="600"/>
              </a:spcAft>
            </a:pPr>
            <a:r>
              <a:rPr sz="1600">
                <a:solidFill>
                  <a:srgbClr val="1F1F1F"/>
                </a:solidFill>
                <a:latin typeface="Helvetica Neue Light"/>
              </a:rPr>
              <a:t>Partners want to compare budget scenarios, not fill in one plan</a:t>
            </a:r>
          </a:p>
          <a:p>
            <a:pPr>
              <a:spcAft>
                <a:spcPts val="600"/>
              </a:spcAft>
            </a:pPr>
            <a:r>
              <a:rPr sz="1600">
                <a:solidFill>
                  <a:srgbClr val="1F1F1F"/>
                </a:solidFill>
                <a:latin typeface="Helvetica Neue Light"/>
              </a:rPr>
              <a:t>They need to see, in a chart, how effective each scenario is</a:t>
            </a:r>
          </a:p>
          <a:p>
            <a:pPr>
              <a:spcAft>
                <a:spcPts val="600"/>
              </a:spcAft>
            </a:pPr>
            <a:r>
              <a:rPr sz="1600">
                <a:solidFill>
                  <a:srgbClr val="1F1F1F"/>
                </a:solidFill>
                <a:latin typeface="Helvetica Neue Light"/>
              </a:rPr>
              <a:t>They want to adjust each channel, and each product inside a channel</a:t>
            </a:r>
          </a:p>
          <a:p>
            <a:pPr>
              <a:spcAft>
                <a:spcPts val="600"/>
              </a:spcAft>
            </a:pPr>
            <a:r>
              <a:rPr sz="1600">
                <a:solidFill>
                  <a:srgbClr val="1F1F1F"/>
                </a:solidFill>
                <a:latin typeface="Helvetica Neue Light"/>
              </a:rPr>
              <a:t>Short term vs long term matters to every decision</a:t>
            </a:r>
          </a:p>
          <a:p>
            <a:pPr>
              <a:spcAft>
                <a:spcPts val="600"/>
              </a:spcAft>
            </a:pPr>
            <a:r>
              <a:rPr sz="1600">
                <a:solidFill>
                  <a:srgbClr val="1F1F1F"/>
                </a:solidFill>
                <a:latin typeface="Helvetica Neue Light"/>
              </a:rPr>
              <a:t>Because they plan only every 6–12 months, they need guidance</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Key decision 1</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Guide the first visit with a wizard</a:t>
            </a:r>
          </a:p>
        </p:txBody>
      </p:sp>
      <p:sp>
        <p:nvSpPr>
          <p:cNvPr id="5" name="TextBox 4"/>
          <p:cNvSpPr txBox="1"/>
          <p:nvPr/>
        </p:nvSpPr>
        <p:spPr>
          <a:xfrm>
            <a:off x="457200" y="2011680"/>
            <a:ext cx="5852160" cy="274320"/>
          </a:xfrm>
          <a:prstGeom prst="rect">
            <a:avLst/>
          </a:prstGeom>
          <a:noFill/>
        </p:spPr>
        <p:txBody>
          <a:bodyPr wrap="square" lIns="0" rIns="0" tIns="0" bIns="0">
            <a:spAutoFit/>
          </a:bodyPr>
          <a:lstStyle/>
          <a:p>
            <a:r>
              <a:rPr sz="1280">
                <a:solidFill>
                  <a:srgbClr val="B5531F"/>
                </a:solidFill>
                <a:latin typeface="Helvetica Neue Medium"/>
              </a:rPr>
              <a:t>WHY</a:t>
            </a:r>
          </a:p>
        </p:txBody>
      </p:sp>
      <p:sp>
        <p:nvSpPr>
          <p:cNvPr id="6" name="TextBox 5"/>
          <p:cNvSpPr txBox="1"/>
          <p:nvPr/>
        </p:nvSpPr>
        <p:spPr>
          <a:xfrm>
            <a:off x="457200" y="2322576"/>
            <a:ext cx="5852160" cy="2286000"/>
          </a:xfrm>
          <a:prstGeom prst="rect">
            <a:avLst/>
          </a:prstGeom>
          <a:noFill/>
        </p:spPr>
        <p:txBody>
          <a:bodyPr wrap="square" lIns="0" rIns="0" tIns="0" bIns="0">
            <a:spAutoFit/>
          </a:bodyPr>
          <a:lstStyle/>
          <a:p>
            <a:r>
              <a:rPr sz="1600">
                <a:solidFill>
                  <a:srgbClr val="1F1F1F"/>
                </a:solidFill>
                <a:latin typeface="Helvetica Neue Light"/>
              </a:rPr>
              <a:t>Partners plan only every 6–12 months, so each visit feels like the first. A short wizard sets the essentials: import last year’s budget from Excel, then pick the time period.</a:t>
            </a:r>
          </a:p>
        </p:txBody>
      </p:sp>
      <p:sp>
        <p:nvSpPr>
          <p:cNvPr id="7" name="TextBox 6"/>
          <p:cNvSpPr txBox="1"/>
          <p:nvPr/>
        </p:nvSpPr>
        <p:spPr>
          <a:xfrm>
            <a:off x="457200" y="4754880"/>
            <a:ext cx="5852160" cy="274320"/>
          </a:xfrm>
          <a:prstGeom prst="rect">
            <a:avLst/>
          </a:prstGeom>
          <a:noFill/>
        </p:spPr>
        <p:txBody>
          <a:bodyPr wrap="square" lIns="0" rIns="0" tIns="0" bIns="0">
            <a:spAutoFit/>
          </a:bodyPr>
          <a:lstStyle/>
          <a:p>
            <a:r>
              <a:rPr sz="1280">
                <a:solidFill>
                  <a:srgbClr val="B5531F"/>
                </a:solidFill>
                <a:latin typeface="Helvetica Neue Medium"/>
              </a:rPr>
              <a:t>TRADE-OFF</a:t>
            </a:r>
          </a:p>
        </p:txBody>
      </p:sp>
      <p:sp>
        <p:nvSpPr>
          <p:cNvPr id="8" name="TextBox 7"/>
          <p:cNvSpPr txBox="1"/>
          <p:nvPr/>
        </p:nvSpPr>
        <p:spPr>
          <a:xfrm>
            <a:off x="457200" y="5065776"/>
            <a:ext cx="5852160" cy="2286000"/>
          </a:xfrm>
          <a:prstGeom prst="rect">
            <a:avLst/>
          </a:prstGeom>
          <a:noFill/>
        </p:spPr>
        <p:txBody>
          <a:bodyPr wrap="square" lIns="0" rIns="0" tIns="0" bIns="0">
            <a:spAutoFit/>
          </a:bodyPr>
          <a:lstStyle/>
          <a:p>
            <a:r>
              <a:rPr sz="1600">
                <a:solidFill>
                  <a:srgbClr val="1F1F1F"/>
                </a:solidFill>
                <a:latin typeface="Helvetica Neue Light"/>
              </a:rPr>
              <a:t>A few extra steps for the rare expert who knows the tool. We kept them short and skippable once data is imported. (confirm)</a:t>
            </a:r>
          </a:p>
        </p:txBody>
      </p:sp>
      <p:pic>
        <p:nvPicPr>
          <p:cNvPr id="9" name="Picture 8" descr="s06_11.png"/>
          <p:cNvPicPr>
            <a:picLocks noChangeAspect="1"/>
          </p:cNvPicPr>
          <p:nvPr/>
        </p:nvPicPr>
        <p:blipFill>
          <a:blip r:embed="rId3"/>
          <a:stretch>
            <a:fillRect/>
          </a:stretch>
        </p:blipFill>
        <p:spPr>
          <a:xfrm>
            <a:off x="6766560" y="2011680"/>
            <a:ext cx="4698420" cy="2926080"/>
          </a:xfrm>
          <a:prstGeom prst="rect">
            <a:avLst/>
          </a:prstGeom>
        </p:spPr>
      </p:pic>
      <p:pic>
        <p:nvPicPr>
          <p:cNvPr id="10" name="Picture 9" descr="s06_12.png"/>
          <p:cNvPicPr>
            <a:picLocks noChangeAspect="1"/>
          </p:cNvPicPr>
          <p:nvPr/>
        </p:nvPicPr>
        <p:blipFill>
          <a:blip r:embed="rId4"/>
          <a:stretch>
            <a:fillRect/>
          </a:stretch>
        </p:blipFill>
        <p:spPr>
          <a:xfrm>
            <a:off x="6766560" y="5120640"/>
            <a:ext cx="4937760" cy="2990258"/>
          </a:xfrm>
          <a:prstGeom prst="rect">
            <a:avLst/>
          </a:prstGeom>
        </p:spPr>
      </p:pic>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Key decision 2</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Build the plan down to channel and product</a:t>
            </a:r>
          </a:p>
        </p:txBody>
      </p:sp>
      <p:sp>
        <p:nvSpPr>
          <p:cNvPr id="5" name="TextBox 4"/>
          <p:cNvSpPr txBox="1"/>
          <p:nvPr/>
        </p:nvSpPr>
        <p:spPr>
          <a:xfrm>
            <a:off x="457200" y="2011680"/>
            <a:ext cx="5852160" cy="274320"/>
          </a:xfrm>
          <a:prstGeom prst="rect">
            <a:avLst/>
          </a:prstGeom>
          <a:noFill/>
        </p:spPr>
        <p:txBody>
          <a:bodyPr wrap="square" lIns="0" rIns="0" tIns="0" bIns="0">
            <a:spAutoFit/>
          </a:bodyPr>
          <a:lstStyle/>
          <a:p>
            <a:r>
              <a:rPr sz="1280">
                <a:solidFill>
                  <a:srgbClr val="B5531F"/>
                </a:solidFill>
                <a:latin typeface="Helvetica Neue Medium"/>
              </a:rPr>
              <a:t>WHY</a:t>
            </a:r>
          </a:p>
        </p:txBody>
      </p:sp>
      <p:sp>
        <p:nvSpPr>
          <p:cNvPr id="6" name="TextBox 5"/>
          <p:cNvSpPr txBox="1"/>
          <p:nvPr/>
        </p:nvSpPr>
        <p:spPr>
          <a:xfrm>
            <a:off x="457200" y="2322576"/>
            <a:ext cx="5852160" cy="2286000"/>
          </a:xfrm>
          <a:prstGeom prst="rect">
            <a:avLst/>
          </a:prstGeom>
          <a:noFill/>
        </p:spPr>
        <p:txBody>
          <a:bodyPr wrap="square" lIns="0" rIns="0" tIns="0" bIns="0">
            <a:spAutoFit/>
          </a:bodyPr>
          <a:lstStyle/>
          <a:p>
            <a:r>
              <a:rPr sz="1600">
                <a:solidFill>
                  <a:srgbClr val="1F1F1F"/>
                </a:solidFill>
                <a:latin typeface="Helvetica Neue Light"/>
              </a:rPr>
              <a:t>Partners asked to “build a plan down to the product line and channel”. Each allocation is adjustable, starting from an imported budget kept as a template, so a second plan starts from the first.</a:t>
            </a:r>
          </a:p>
        </p:txBody>
      </p:sp>
      <p:sp>
        <p:nvSpPr>
          <p:cNvPr id="7" name="TextBox 6"/>
          <p:cNvSpPr txBox="1"/>
          <p:nvPr/>
        </p:nvSpPr>
        <p:spPr>
          <a:xfrm>
            <a:off x="457200" y="4754880"/>
            <a:ext cx="5852160" cy="274320"/>
          </a:xfrm>
          <a:prstGeom prst="rect">
            <a:avLst/>
          </a:prstGeom>
          <a:noFill/>
        </p:spPr>
        <p:txBody>
          <a:bodyPr wrap="square" lIns="0" rIns="0" tIns="0" bIns="0">
            <a:spAutoFit/>
          </a:bodyPr>
          <a:lstStyle/>
          <a:p>
            <a:r>
              <a:rPr sz="1280">
                <a:solidFill>
                  <a:srgbClr val="B5531F"/>
                </a:solidFill>
                <a:latin typeface="Helvetica Neue Medium"/>
              </a:rPr>
              <a:t>TRADE-OFF</a:t>
            </a:r>
          </a:p>
        </p:txBody>
      </p:sp>
      <p:sp>
        <p:nvSpPr>
          <p:cNvPr id="8" name="TextBox 7"/>
          <p:cNvSpPr txBox="1"/>
          <p:nvPr/>
        </p:nvSpPr>
        <p:spPr>
          <a:xfrm>
            <a:off x="457200" y="5065776"/>
            <a:ext cx="5852160" cy="2286000"/>
          </a:xfrm>
          <a:prstGeom prst="rect">
            <a:avLst/>
          </a:prstGeom>
          <a:noFill/>
        </p:spPr>
        <p:txBody>
          <a:bodyPr wrap="square" lIns="0" rIns="0" tIns="0" bIns="0">
            <a:spAutoFit/>
          </a:bodyPr>
          <a:lstStyle/>
          <a:p>
            <a:r>
              <a:rPr sz="1600">
                <a:solidFill>
                  <a:srgbClr val="1F1F1F"/>
                </a:solidFill>
                <a:latin typeface="Helvetica Neue Light"/>
              </a:rPr>
              <a:t>More controls on one screen. Channels and products sit on separate tabs, and a running total shows how much is left to allocate.</a:t>
            </a:r>
          </a:p>
        </p:txBody>
      </p:sp>
      <p:pic>
        <p:nvPicPr>
          <p:cNvPr id="9" name="Picture 8" descr="s07_11.png"/>
          <p:cNvPicPr>
            <a:picLocks noChangeAspect="1"/>
          </p:cNvPicPr>
          <p:nvPr/>
        </p:nvPicPr>
        <p:blipFill>
          <a:blip r:embed="rId3"/>
          <a:stretch>
            <a:fillRect/>
          </a:stretch>
        </p:blipFill>
        <p:spPr>
          <a:xfrm>
            <a:off x="6766560" y="2011680"/>
            <a:ext cx="4937760" cy="3790881"/>
          </a:xfrm>
          <a:prstGeom prst="rect">
            <a:avLst/>
          </a:prstGeom>
        </p:spPr>
      </p:pic>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Key decision 3</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Compare scenarios; the partner chooses</a:t>
            </a:r>
          </a:p>
        </p:txBody>
      </p:sp>
      <p:sp>
        <p:nvSpPr>
          <p:cNvPr id="5" name="TextBox 4"/>
          <p:cNvSpPr txBox="1"/>
          <p:nvPr/>
        </p:nvSpPr>
        <p:spPr>
          <a:xfrm>
            <a:off x="457200" y="2011680"/>
            <a:ext cx="5852160" cy="274320"/>
          </a:xfrm>
          <a:prstGeom prst="rect">
            <a:avLst/>
          </a:prstGeom>
          <a:noFill/>
        </p:spPr>
        <p:txBody>
          <a:bodyPr wrap="square" lIns="0" rIns="0" tIns="0" bIns="0">
            <a:spAutoFit/>
          </a:bodyPr>
          <a:lstStyle/>
          <a:p>
            <a:r>
              <a:rPr sz="1280">
                <a:solidFill>
                  <a:srgbClr val="B5531F"/>
                </a:solidFill>
                <a:latin typeface="Helvetica Neue Medium"/>
              </a:rPr>
              <a:t>WHY</a:t>
            </a:r>
          </a:p>
        </p:txBody>
      </p:sp>
      <p:sp>
        <p:nvSpPr>
          <p:cNvPr id="6" name="TextBox 5"/>
          <p:cNvSpPr txBox="1"/>
          <p:nvPr/>
        </p:nvSpPr>
        <p:spPr>
          <a:xfrm>
            <a:off x="457200" y="2322576"/>
            <a:ext cx="5852160" cy="2286000"/>
          </a:xfrm>
          <a:prstGeom prst="rect">
            <a:avLst/>
          </a:prstGeom>
          <a:noFill/>
        </p:spPr>
        <p:txBody>
          <a:bodyPr wrap="square" lIns="0" rIns="0" tIns="0" bIns="0">
            <a:spAutoFit/>
          </a:bodyPr>
          <a:lstStyle/>
          <a:p>
            <a:r>
              <a:rPr sz="1600">
                <a:solidFill>
                  <a:srgbClr val="1F1F1F"/>
                </a:solidFill>
                <a:latin typeface="Helvetica Neue Light"/>
              </a:rPr>
              <a:t>Confidence came from comparison. Scenarios sit side by side with an optimized plan from the data scientists’ engine, shown with the metrics partners care about: accounts, billed business, ROI, cost.</a:t>
            </a:r>
          </a:p>
        </p:txBody>
      </p:sp>
      <p:sp>
        <p:nvSpPr>
          <p:cNvPr id="7" name="TextBox 6"/>
          <p:cNvSpPr txBox="1"/>
          <p:nvPr/>
        </p:nvSpPr>
        <p:spPr>
          <a:xfrm>
            <a:off x="457200" y="4754880"/>
            <a:ext cx="5852160" cy="274320"/>
          </a:xfrm>
          <a:prstGeom prst="rect">
            <a:avLst/>
          </a:prstGeom>
          <a:noFill/>
        </p:spPr>
        <p:txBody>
          <a:bodyPr wrap="square" lIns="0" rIns="0" tIns="0" bIns="0">
            <a:spAutoFit/>
          </a:bodyPr>
          <a:lstStyle/>
          <a:p>
            <a:r>
              <a:rPr sz="1280">
                <a:solidFill>
                  <a:srgbClr val="B5531F"/>
                </a:solidFill>
                <a:latin typeface="Helvetica Neue Medium"/>
              </a:rPr>
              <a:t>TRADE-OFF</a:t>
            </a:r>
          </a:p>
        </p:txBody>
      </p:sp>
      <p:sp>
        <p:nvSpPr>
          <p:cNvPr id="8" name="TextBox 7"/>
          <p:cNvSpPr txBox="1"/>
          <p:nvPr/>
        </p:nvSpPr>
        <p:spPr>
          <a:xfrm>
            <a:off x="457200" y="5065776"/>
            <a:ext cx="5852160" cy="2286000"/>
          </a:xfrm>
          <a:prstGeom prst="rect">
            <a:avLst/>
          </a:prstGeom>
          <a:noFill/>
        </p:spPr>
        <p:txBody>
          <a:bodyPr wrap="square" lIns="0" rIns="0" tIns="0" bIns="0">
            <a:spAutoFit/>
          </a:bodyPr>
          <a:lstStyle/>
          <a:p>
            <a:r>
              <a:rPr sz="1600">
                <a:solidFill>
                  <a:srgbClr val="1F1F1F"/>
                </a:solidFill>
                <a:latin typeface="Helvetica Neue Light"/>
              </a:rPr>
              <a:t>The optimizer proposes; it does not decide. The partner picks the plan and can see why the optimized one differs, so trust stays with them.</a:t>
            </a:r>
          </a:p>
        </p:txBody>
      </p:sp>
      <p:pic>
        <p:nvPicPr>
          <p:cNvPr id="9" name="Picture 8" descr="s08_11.png"/>
          <p:cNvPicPr>
            <a:picLocks noChangeAspect="1"/>
          </p:cNvPicPr>
          <p:nvPr/>
        </p:nvPicPr>
        <p:blipFill>
          <a:blip r:embed="rId3"/>
          <a:stretch>
            <a:fillRect/>
          </a:stretch>
        </p:blipFill>
        <p:spPr>
          <a:xfrm>
            <a:off x="6766560" y="2011680"/>
            <a:ext cx="4937760" cy="3468475"/>
          </a:xfrm>
          <a:prstGeom prst="rect">
            <a:avLst/>
          </a:prstGeom>
        </p:spPr>
      </p:pic>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Iteration</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From sketch to shipped, and what testing changed</a:t>
            </a:r>
          </a:p>
        </p:txBody>
      </p:sp>
      <p:pic>
        <p:nvPicPr>
          <p:cNvPr id="5" name="Picture 4" descr="s09_5.png"/>
          <p:cNvPicPr>
            <a:picLocks noChangeAspect="1"/>
          </p:cNvPicPr>
          <p:nvPr/>
        </p:nvPicPr>
        <p:blipFill>
          <a:blip r:embed="rId3"/>
          <a:stretch>
            <a:fillRect/>
          </a:stretch>
        </p:blipFill>
        <p:spPr>
          <a:xfrm>
            <a:off x="457200" y="2011680"/>
            <a:ext cx="3749039" cy="2503295"/>
          </a:xfrm>
          <a:prstGeom prst="rect">
            <a:avLst/>
          </a:prstGeom>
        </p:spPr>
      </p:pic>
      <p:sp>
        <p:nvSpPr>
          <p:cNvPr id="6" name="TextBox 5"/>
          <p:cNvSpPr txBox="1"/>
          <p:nvPr/>
        </p:nvSpPr>
        <p:spPr>
          <a:xfrm>
            <a:off x="457200" y="4800600"/>
            <a:ext cx="3749039" cy="274320"/>
          </a:xfrm>
          <a:prstGeom prst="rect">
            <a:avLst/>
          </a:prstGeom>
          <a:noFill/>
        </p:spPr>
        <p:txBody>
          <a:bodyPr wrap="square" lIns="0" rIns="0" tIns="0" bIns="0">
            <a:spAutoFit/>
          </a:bodyPr>
          <a:lstStyle/>
          <a:p>
            <a:r>
              <a:rPr sz="1280">
                <a:solidFill>
                  <a:srgbClr val="B5531F"/>
                </a:solidFill>
                <a:latin typeface="Helvetica Neue Medium"/>
              </a:rPr>
              <a:t>Sketch</a:t>
            </a:r>
          </a:p>
        </p:txBody>
      </p:sp>
      <p:pic>
        <p:nvPicPr>
          <p:cNvPr id="7" name="Picture 6" descr="s09_7.png"/>
          <p:cNvPicPr>
            <a:picLocks noChangeAspect="1"/>
          </p:cNvPicPr>
          <p:nvPr/>
        </p:nvPicPr>
        <p:blipFill>
          <a:blip r:embed="rId4"/>
          <a:stretch>
            <a:fillRect/>
          </a:stretch>
        </p:blipFill>
        <p:spPr>
          <a:xfrm>
            <a:off x="4480560" y="2011680"/>
            <a:ext cx="3712463" cy="2651760"/>
          </a:xfrm>
          <a:prstGeom prst="rect">
            <a:avLst/>
          </a:prstGeom>
        </p:spPr>
      </p:pic>
      <p:sp>
        <p:nvSpPr>
          <p:cNvPr id="8" name="TextBox 7"/>
          <p:cNvSpPr txBox="1"/>
          <p:nvPr/>
        </p:nvSpPr>
        <p:spPr>
          <a:xfrm>
            <a:off x="4480560" y="4800600"/>
            <a:ext cx="3749039" cy="274320"/>
          </a:xfrm>
          <a:prstGeom prst="rect">
            <a:avLst/>
          </a:prstGeom>
          <a:noFill/>
        </p:spPr>
        <p:txBody>
          <a:bodyPr wrap="square" lIns="0" rIns="0" tIns="0" bIns="0">
            <a:spAutoFit/>
          </a:bodyPr>
          <a:lstStyle/>
          <a:p>
            <a:r>
              <a:rPr sz="1280">
                <a:solidFill>
                  <a:srgbClr val="B5531F"/>
                </a:solidFill>
                <a:latin typeface="Helvetica Neue Medium"/>
              </a:rPr>
              <a:t>Mid-fidelity</a:t>
            </a:r>
          </a:p>
        </p:txBody>
      </p:sp>
      <p:pic>
        <p:nvPicPr>
          <p:cNvPr id="9" name="Picture 8" descr="s09_9.png"/>
          <p:cNvPicPr>
            <a:picLocks noChangeAspect="1"/>
          </p:cNvPicPr>
          <p:nvPr/>
        </p:nvPicPr>
        <p:blipFill>
          <a:blip r:embed="rId5"/>
          <a:stretch>
            <a:fillRect/>
          </a:stretch>
        </p:blipFill>
        <p:spPr>
          <a:xfrm>
            <a:off x="8503920" y="2011680"/>
            <a:ext cx="3749039" cy="2430355"/>
          </a:xfrm>
          <a:prstGeom prst="rect">
            <a:avLst/>
          </a:prstGeom>
        </p:spPr>
      </p:pic>
      <p:sp>
        <p:nvSpPr>
          <p:cNvPr id="10" name="TextBox 9"/>
          <p:cNvSpPr txBox="1"/>
          <p:nvPr/>
        </p:nvSpPr>
        <p:spPr>
          <a:xfrm>
            <a:off x="8503920" y="4800600"/>
            <a:ext cx="3749039" cy="274320"/>
          </a:xfrm>
          <a:prstGeom prst="rect">
            <a:avLst/>
          </a:prstGeom>
          <a:noFill/>
        </p:spPr>
        <p:txBody>
          <a:bodyPr wrap="square" lIns="0" rIns="0" tIns="0" bIns="0">
            <a:spAutoFit/>
          </a:bodyPr>
          <a:lstStyle/>
          <a:p>
            <a:r>
              <a:rPr sz="1280">
                <a:solidFill>
                  <a:srgbClr val="B5531F"/>
                </a:solidFill>
                <a:latin typeface="Helvetica Neue Medium"/>
              </a:rPr>
              <a:t>Final: ROI projection</a:t>
            </a:r>
          </a:p>
        </p:txBody>
      </p:sp>
      <p:sp>
        <p:nvSpPr>
          <p:cNvPr id="11" name="TextBox 10"/>
          <p:cNvSpPr txBox="1"/>
          <p:nvPr/>
        </p:nvSpPr>
        <p:spPr>
          <a:xfrm>
            <a:off x="457200" y="5486400"/>
            <a:ext cx="11795760" cy="274320"/>
          </a:xfrm>
          <a:prstGeom prst="rect">
            <a:avLst/>
          </a:prstGeom>
          <a:noFill/>
        </p:spPr>
        <p:txBody>
          <a:bodyPr wrap="square" lIns="0" rIns="0" tIns="0" bIns="0">
            <a:spAutoFit/>
          </a:bodyPr>
          <a:lstStyle/>
          <a:p>
            <a:r>
              <a:rPr sz="1280">
                <a:solidFill>
                  <a:srgbClr val="B5531F"/>
                </a:solidFill>
                <a:latin typeface="Helvetica Neue Medium"/>
              </a:rPr>
              <a:t>WHAT TESTING CHANGED</a:t>
            </a:r>
          </a:p>
        </p:txBody>
      </p:sp>
      <p:sp>
        <p:nvSpPr>
          <p:cNvPr id="12" name="TextBox 11"/>
          <p:cNvSpPr txBox="1"/>
          <p:nvPr/>
        </p:nvSpPr>
        <p:spPr>
          <a:xfrm>
            <a:off x="457200" y="5797296"/>
            <a:ext cx="11795760" cy="2286000"/>
          </a:xfrm>
          <a:prstGeom prst="rect">
            <a:avLst/>
          </a:prstGeom>
          <a:noFill/>
        </p:spPr>
        <p:txBody>
          <a:bodyPr wrap="square" lIns="0" rIns="0" tIns="0" bIns="0">
            <a:spAutoFit/>
          </a:bodyPr>
          <a:lstStyle/>
          <a:p>
            <a:pPr>
              <a:spcAft>
                <a:spcPts val="600"/>
              </a:spcAft>
            </a:pPr>
            <a:r>
              <a:rPr sz="1400">
                <a:solidFill>
                  <a:srgbClr val="1F1F1F"/>
                </a:solidFill>
                <a:latin typeface="Helvetica Neue Light"/>
              </a:rPr>
              <a:t>Duplicate an imported budget as a template: users wanted to start plan two from plan one</a:t>
            </a:r>
          </a:p>
          <a:p>
            <a:pPr>
              <a:spcAft>
                <a:spcPts val="600"/>
              </a:spcAft>
            </a:pPr>
            <a:r>
              <a:rPr sz="1400">
                <a:solidFill>
                  <a:srgbClr val="1F1F1F"/>
                </a:solidFill>
                <a:latin typeface="Helvetica Neue Light"/>
              </a:rPr>
              <a:t>Reset became its own tool, after users kept looking for it</a:t>
            </a:r>
          </a:p>
          <a:p>
            <a:pPr>
              <a:spcAft>
                <a:spcPts val="600"/>
              </a:spcAft>
            </a:pPr>
            <a:r>
              <a:rPr sz="1400">
                <a:solidFill>
                  <a:srgbClr val="1F1F1F"/>
                </a:solidFill>
                <a:latin typeface="Helvetica Neue Light"/>
              </a:rPr>
              <a:t>The navigation bar with a toolbar scored high and stayed</a:t>
            </a:r>
          </a:p>
          <a:p>
            <a:pPr>
              <a:spcAft>
                <a:spcPts val="600"/>
              </a:spcAft>
            </a:pPr>
            <a:r>
              <a:rPr sz="1400">
                <a:solidFill>
                  <a:srgbClr val="1F1F1F"/>
                </a:solidFill>
                <a:latin typeface="Helvetica Neue Light"/>
              </a:rPr>
              <a:t>Short term vs long term became a first-class view</a:t>
            </a:r>
          </a:p>
          <a:p>
            <a:pPr>
              <a:spcAft>
                <a:spcPts val="600"/>
              </a:spcAft>
            </a:pPr>
            <a:r>
              <a:rPr sz="1400">
                <a:solidFill>
                  <a:srgbClr val="1F1F1F"/>
                </a:solidFill>
                <a:latin typeface="Helvetica Neue Light"/>
              </a:rPr>
              <a:t>Exporting, duplicating and saving moved up: partners called them vital</a:t>
            </a:r>
          </a:p>
          <a:p>
            <a:pPr>
              <a:spcAft>
                <a:spcPts val="600"/>
              </a:spcAft>
            </a:pPr>
            <a:r>
              <a:rPr sz="1400">
                <a:solidFill>
                  <a:srgbClr val="1F1F1F"/>
                </a:solidFill>
                <a:latin typeface="Helvetica Neue Light"/>
              </a:rPr>
              <a:t>Toggling chart types stayed; channel breakdown was called “a game changer”</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How I led</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Leading from the work</a:t>
            </a:r>
          </a:p>
        </p:txBody>
      </p:sp>
      <p:sp>
        <p:nvSpPr>
          <p:cNvPr id="5" name="TextBox 4"/>
          <p:cNvSpPr txBox="1"/>
          <p:nvPr/>
        </p:nvSpPr>
        <p:spPr>
          <a:xfrm>
            <a:off x="457200" y="2011680"/>
            <a:ext cx="5669280" cy="274320"/>
          </a:xfrm>
          <a:prstGeom prst="rect">
            <a:avLst/>
          </a:prstGeom>
          <a:noFill/>
        </p:spPr>
        <p:txBody>
          <a:bodyPr wrap="square" lIns="0" rIns="0" tIns="0" bIns="0">
            <a:spAutoFit/>
          </a:bodyPr>
          <a:lstStyle/>
          <a:p>
            <a:r>
              <a:rPr sz="1280">
                <a:solidFill>
                  <a:srgbClr val="B5531F"/>
                </a:solidFill>
                <a:latin typeface="Helvetica Neue Medium"/>
              </a:rPr>
              <a:t>MY ROLE</a:t>
            </a:r>
          </a:p>
        </p:txBody>
      </p:sp>
      <p:sp>
        <p:nvSpPr>
          <p:cNvPr id="6" name="TextBox 5"/>
          <p:cNvSpPr txBox="1"/>
          <p:nvPr/>
        </p:nvSpPr>
        <p:spPr>
          <a:xfrm>
            <a:off x="457200" y="2322576"/>
            <a:ext cx="5669280" cy="2286000"/>
          </a:xfrm>
          <a:prstGeom prst="rect">
            <a:avLst/>
          </a:prstGeom>
          <a:noFill/>
        </p:spPr>
        <p:txBody>
          <a:bodyPr wrap="square" lIns="0" rIns="0" tIns="0" bIns="0">
            <a:spAutoFit/>
          </a:bodyPr>
          <a:lstStyle/>
          <a:p>
            <a:pPr>
              <a:spcAft>
                <a:spcPts val="600"/>
              </a:spcAft>
            </a:pPr>
            <a:r>
              <a:rPr sz="1600">
                <a:solidFill>
                  <a:srgbClr val="1F1F1F"/>
                </a:solidFill>
                <a:latin typeface="Helvetica Neue Light"/>
              </a:rPr>
              <a:t>Owned discovery, research and UX strategy</a:t>
            </a:r>
          </a:p>
          <a:p>
            <a:pPr>
              <a:spcAft>
                <a:spcPts val="600"/>
              </a:spcAft>
            </a:pPr>
            <a:r>
              <a:rPr sz="1600">
                <a:solidFill>
                  <a:srgbClr val="1F1F1F"/>
                </a:solidFill>
                <a:latin typeface="Helvetica Neue Light"/>
              </a:rPr>
              <a:t>Designed the flows and screens myself, from sketches to final</a:t>
            </a:r>
          </a:p>
          <a:p>
            <a:pPr>
              <a:spcAft>
                <a:spcPts val="600"/>
              </a:spcAft>
            </a:pPr>
            <a:r>
              <a:rPr sz="1600">
                <a:solidFill>
                  <a:srgbClr val="1F1F1F"/>
                </a:solidFill>
                <a:latin typeface="Helvetica Neue Light"/>
              </a:rPr>
              <a:t>Ran Lean UX and usability testing on a regular cadence</a:t>
            </a:r>
          </a:p>
          <a:p>
            <a:pPr>
              <a:spcAft>
                <a:spcPts val="600"/>
              </a:spcAft>
            </a:pPr>
            <a:r>
              <a:rPr sz="1600">
                <a:solidFill>
                  <a:srgbClr val="1F1F1F"/>
                </a:solidFill>
                <a:latin typeface="Helvetica Neue Light"/>
              </a:rPr>
              <a:t>Presented the work to the client and key stakeholders</a:t>
            </a:r>
          </a:p>
        </p:txBody>
      </p:sp>
      <p:sp>
        <p:nvSpPr>
          <p:cNvPr id="7" name="TextBox 6"/>
          <p:cNvSpPr txBox="1"/>
          <p:nvPr/>
        </p:nvSpPr>
        <p:spPr>
          <a:xfrm>
            <a:off x="457200" y="4846320"/>
            <a:ext cx="5669280" cy="274320"/>
          </a:xfrm>
          <a:prstGeom prst="rect">
            <a:avLst/>
          </a:prstGeom>
          <a:noFill/>
        </p:spPr>
        <p:txBody>
          <a:bodyPr wrap="square" lIns="0" rIns="0" tIns="0" bIns="0">
            <a:spAutoFit/>
          </a:bodyPr>
          <a:lstStyle/>
          <a:p>
            <a:r>
              <a:rPr sz="1280">
                <a:solidFill>
                  <a:srgbClr val="B5531F"/>
                </a:solidFill>
                <a:latin typeface="Helvetica Neue Medium"/>
              </a:rPr>
              <a:t>WORKING WITH DATA SCIENTISTS</a:t>
            </a:r>
          </a:p>
        </p:txBody>
      </p:sp>
      <p:sp>
        <p:nvSpPr>
          <p:cNvPr id="8" name="TextBox 7"/>
          <p:cNvSpPr txBox="1"/>
          <p:nvPr/>
        </p:nvSpPr>
        <p:spPr>
          <a:xfrm>
            <a:off x="457200" y="5157216"/>
            <a:ext cx="5669280" cy="2286000"/>
          </a:xfrm>
          <a:prstGeom prst="rect">
            <a:avLst/>
          </a:prstGeom>
          <a:noFill/>
        </p:spPr>
        <p:txBody>
          <a:bodyPr wrap="square" lIns="0" rIns="0" tIns="0" bIns="0">
            <a:spAutoFit/>
          </a:bodyPr>
          <a:lstStyle/>
          <a:p>
            <a:r>
              <a:rPr sz="1600">
                <a:solidFill>
                  <a:srgbClr val="1F1F1F"/>
                </a:solidFill>
                <a:latin typeface="Helvetica Neue Light"/>
              </a:rPr>
              <a:t>Co-designed with the data scientists who built the projection and optimization engines, so the interface showed what the models could support and nothing more.</a:t>
            </a:r>
          </a:p>
        </p:txBody>
      </p:sp>
      <p:pic>
        <p:nvPicPr>
          <p:cNvPr id="9" name="Picture 8" descr="s10_11.png"/>
          <p:cNvPicPr>
            <a:picLocks noChangeAspect="1"/>
          </p:cNvPicPr>
          <p:nvPr/>
        </p:nvPicPr>
        <p:blipFill>
          <a:blip r:embed="rId3"/>
          <a:stretch>
            <a:fillRect/>
          </a:stretch>
        </p:blipFill>
        <p:spPr>
          <a:xfrm>
            <a:off x="6583680" y="2011680"/>
            <a:ext cx="5120640" cy="2487662"/>
          </a:xfrm>
          <a:prstGeom prst="rect">
            <a:avLst/>
          </a:prstGeom>
        </p:spPr>
      </p:pic>
      <p:sp>
        <p:nvSpPr>
          <p:cNvPr id="10" name="TextBox 9"/>
          <p:cNvSpPr txBox="1"/>
          <p:nvPr/>
        </p:nvSpPr>
        <p:spPr>
          <a:xfrm>
            <a:off x="6583680" y="5760720"/>
            <a:ext cx="5120640" cy="274320"/>
          </a:xfrm>
          <a:prstGeom prst="rect">
            <a:avLst/>
          </a:prstGeom>
          <a:noFill/>
        </p:spPr>
        <p:txBody>
          <a:bodyPr wrap="square" lIns="0" rIns="0" tIns="0" bIns="0">
            <a:spAutoFit/>
          </a:bodyPr>
          <a:lstStyle/>
          <a:p>
            <a:r>
              <a:rPr sz="1280">
                <a:solidFill>
                  <a:srgbClr val="B5531F"/>
                </a:solidFill>
                <a:latin typeface="Helvetica Neue Medium"/>
              </a:rPr>
              <a:t>DELIVERY</a:t>
            </a:r>
          </a:p>
        </p:txBody>
      </p:sp>
      <p:sp>
        <p:nvSpPr>
          <p:cNvPr id="11" name="TextBox 10"/>
          <p:cNvSpPr txBox="1"/>
          <p:nvPr/>
        </p:nvSpPr>
        <p:spPr>
          <a:xfrm>
            <a:off x="6583680" y="6071616"/>
            <a:ext cx="5120640" cy="2286000"/>
          </a:xfrm>
          <a:prstGeom prst="rect">
            <a:avLst/>
          </a:prstGeom>
          <a:noFill/>
        </p:spPr>
        <p:txBody>
          <a:bodyPr wrap="square" lIns="0" rIns="0" tIns="0" bIns="0">
            <a:spAutoFit/>
          </a:bodyPr>
          <a:lstStyle/>
          <a:p>
            <a:r>
              <a:rPr sz="1600">
                <a:solidFill>
                  <a:srgbClr val="1F1F1F"/>
                </a:solidFill>
                <a:latin typeface="Helvetica Neue Light"/>
              </a:rPr>
              <a:t>12 Agile sprints · usability testing every cycle · demos and QA</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Reflection</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What I’d do differently today</a:t>
            </a:r>
          </a:p>
        </p:txBody>
      </p:sp>
      <p:sp>
        <p:nvSpPr>
          <p:cNvPr id="5" name="TextBox 4"/>
          <p:cNvSpPr txBox="1"/>
          <p:nvPr/>
        </p:nvSpPr>
        <p:spPr>
          <a:xfrm>
            <a:off x="457200" y="1828800"/>
            <a:ext cx="11795760" cy="548640"/>
          </a:xfrm>
          <a:prstGeom prst="rect">
            <a:avLst/>
          </a:prstGeom>
          <a:noFill/>
        </p:spPr>
        <p:txBody>
          <a:bodyPr wrap="square" lIns="0" rIns="0" tIns="0" bIns="0">
            <a:spAutoFit/>
          </a:bodyPr>
          <a:lstStyle/>
          <a:p>
            <a:r>
              <a:rPr sz="2000">
                <a:solidFill>
                  <a:srgbClr val="1F1F1F"/>
                </a:solidFill>
                <a:latin typeface="Helvetica Neue Light"/>
              </a:rPr>
              <a:t>The fundamentals held up. With today’s tools I would change the level, not the goal.</a:t>
            </a:r>
          </a:p>
        </p:txBody>
      </p:sp>
      <p:sp>
        <p:nvSpPr>
          <p:cNvPr id="6" name="TextBox 5"/>
          <p:cNvSpPr txBox="1"/>
          <p:nvPr/>
        </p:nvSpPr>
        <p:spPr>
          <a:xfrm>
            <a:off x="457200" y="2926080"/>
            <a:ext cx="3657600" cy="274320"/>
          </a:xfrm>
          <a:prstGeom prst="rect">
            <a:avLst/>
          </a:prstGeom>
          <a:noFill/>
        </p:spPr>
        <p:txBody>
          <a:bodyPr wrap="square" lIns="0" rIns="0" tIns="0" bIns="0">
            <a:spAutoFit/>
          </a:bodyPr>
          <a:lstStyle/>
          <a:p>
            <a:r>
              <a:rPr sz="1280">
                <a:solidFill>
                  <a:srgbClr val="B5531F"/>
                </a:solidFill>
                <a:latin typeface="Helvetica Neue Medium"/>
              </a:rPr>
              <a:t>EXPLAIN THE OPTIMIZER, LINE BY LINE</a:t>
            </a:r>
          </a:p>
        </p:txBody>
      </p:sp>
      <p:sp>
        <p:nvSpPr>
          <p:cNvPr id="7" name="TextBox 6"/>
          <p:cNvSpPr txBox="1"/>
          <p:nvPr/>
        </p:nvSpPr>
        <p:spPr>
          <a:xfrm>
            <a:off x="457200" y="3236976"/>
            <a:ext cx="3657600" cy="2286000"/>
          </a:xfrm>
          <a:prstGeom prst="rect">
            <a:avLst/>
          </a:prstGeom>
          <a:noFill/>
        </p:spPr>
        <p:txBody>
          <a:bodyPr wrap="square" lIns="0" rIns="0" tIns="0" bIns="0">
            <a:spAutoFit/>
          </a:bodyPr>
          <a:lstStyle/>
          <a:p>
            <a:r>
              <a:rPr sz="1600">
                <a:solidFill>
                  <a:srgbClr val="1F1F1F"/>
                </a:solidFill>
                <a:latin typeface="Helvetica Neue Light"/>
              </a:rPr>
              <a:t>Show why the optimized plan moves money between channels, in the partner’s terms, so trust comes from understanding.</a:t>
            </a:r>
          </a:p>
        </p:txBody>
      </p:sp>
      <p:sp>
        <p:nvSpPr>
          <p:cNvPr id="8" name="TextBox 7"/>
          <p:cNvSpPr txBox="1"/>
          <p:nvPr/>
        </p:nvSpPr>
        <p:spPr>
          <a:xfrm>
            <a:off x="4480560" y="2926080"/>
            <a:ext cx="3657600" cy="274320"/>
          </a:xfrm>
          <a:prstGeom prst="rect">
            <a:avLst/>
          </a:prstGeom>
          <a:noFill/>
        </p:spPr>
        <p:txBody>
          <a:bodyPr wrap="square" lIns="0" rIns="0" tIns="0" bIns="0">
            <a:spAutoFit/>
          </a:bodyPr>
          <a:lstStyle/>
          <a:p>
            <a:r>
              <a:rPr sz="1280">
                <a:solidFill>
                  <a:srgbClr val="B5531F"/>
                </a:solidFill>
                <a:latin typeface="Helvetica Neue Medium"/>
              </a:rPr>
              <a:t>PROTOTYPE THE ENGINE EARLY, IN CODE</a:t>
            </a:r>
          </a:p>
        </p:txBody>
      </p:sp>
      <p:sp>
        <p:nvSpPr>
          <p:cNvPr id="9" name="TextBox 8"/>
          <p:cNvSpPr txBox="1"/>
          <p:nvPr/>
        </p:nvSpPr>
        <p:spPr>
          <a:xfrm>
            <a:off x="4480560" y="3236976"/>
            <a:ext cx="3657600" cy="2286000"/>
          </a:xfrm>
          <a:prstGeom prst="rect">
            <a:avLst/>
          </a:prstGeom>
          <a:noFill/>
        </p:spPr>
        <p:txBody>
          <a:bodyPr wrap="square" lIns="0" rIns="0" tIns="0" bIns="0">
            <a:spAutoFit/>
          </a:bodyPr>
          <a:lstStyle/>
          <a:p>
            <a:r>
              <a:rPr sz="1600">
                <a:solidFill>
                  <a:srgbClr val="1F1F1F"/>
                </a:solidFill>
                <a:latin typeface="Helvetica Neue Light"/>
              </a:rPr>
              <a:t>Test real projections with partners in week one, instead of after the model was built.</a:t>
            </a:r>
          </a:p>
        </p:txBody>
      </p:sp>
      <p:sp>
        <p:nvSpPr>
          <p:cNvPr id="10" name="TextBox 9"/>
          <p:cNvSpPr txBox="1"/>
          <p:nvPr/>
        </p:nvSpPr>
        <p:spPr>
          <a:xfrm>
            <a:off x="8503920" y="2926080"/>
            <a:ext cx="3657600" cy="274320"/>
          </a:xfrm>
          <a:prstGeom prst="rect">
            <a:avLst/>
          </a:prstGeom>
          <a:noFill/>
        </p:spPr>
        <p:txBody>
          <a:bodyPr wrap="square" lIns="0" rIns="0" tIns="0" bIns="0">
            <a:spAutoFit/>
          </a:bodyPr>
          <a:lstStyle/>
          <a:p>
            <a:r>
              <a:rPr sz="1280">
                <a:solidFill>
                  <a:srgbClr val="B5531F"/>
                </a:solidFill>
                <a:latin typeface="Helvetica Neue Medium"/>
              </a:rPr>
              <a:t>MEASURE TRUST, NOT JUST COMPLETION</a:t>
            </a:r>
          </a:p>
        </p:txBody>
      </p:sp>
      <p:sp>
        <p:nvSpPr>
          <p:cNvPr id="11" name="TextBox 10"/>
          <p:cNvSpPr txBox="1"/>
          <p:nvPr/>
        </p:nvSpPr>
        <p:spPr>
          <a:xfrm>
            <a:off x="8503920" y="3236976"/>
            <a:ext cx="3657600" cy="2286000"/>
          </a:xfrm>
          <a:prstGeom prst="rect">
            <a:avLst/>
          </a:prstGeom>
          <a:noFill/>
        </p:spPr>
        <p:txBody>
          <a:bodyPr wrap="square" lIns="0" rIns="0" tIns="0" bIns="0">
            <a:spAutoFit/>
          </a:bodyPr>
          <a:lstStyle/>
          <a:p>
            <a:r>
              <a:rPr sz="1600">
                <a:solidFill>
                  <a:srgbClr val="1F1F1F"/>
                </a:solidFill>
                <a:latin typeface="Helvetica Neue Light"/>
              </a:rPr>
              <a:t>Track how often partners pick the optimized plan and why they change it, as a guardrail on the model.</a:t>
            </a:r>
          </a:p>
        </p:txBody>
      </p:sp>
      <p:sp>
        <p:nvSpPr>
          <p:cNvPr id="12" name="TextBox 11"/>
          <p:cNvSpPr txBox="1"/>
          <p:nvPr/>
        </p:nvSpPr>
        <p:spPr>
          <a:xfrm>
            <a:off x="457200" y="5760720"/>
            <a:ext cx="11795760" cy="731520"/>
          </a:xfrm>
          <a:prstGeom prst="rect">
            <a:avLst/>
          </a:prstGeom>
          <a:noFill/>
        </p:spPr>
        <p:txBody>
          <a:bodyPr wrap="square" lIns="0" rIns="0" tIns="0" bIns="0">
            <a:spAutoFit/>
          </a:bodyPr>
          <a:lstStyle/>
          <a:p>
            <a:r>
              <a:rPr sz="1800">
                <a:solidFill>
                  <a:srgbClr val="1F1F1F"/>
                </a:solidFill>
                <a:latin typeface="Helvetica Neue Light"/>
              </a:rPr>
              <a:t>If we can measure it, we can manage it. MOCA set its baseline in discovery and reported against it after launch: the habit I bring to every project.</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concepts, each answering one breakdown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Concepts for testing. Proposals, not built. Each one follows the AI rules.</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DECISION JOURNAL</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3 and 5. The user writes one line of their reason when acting. Guard later checks whether the reason still holds.</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SCENARIO SANDBOX</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1 and 4. Each insight lists what would change it. The user adjusts an input and sees the view update, with sources.</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PLAN EDITOR</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2. The user edits each proposed step, and the allocation preview recalculates after each change.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ATTENTION BUDGET</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3. The user sets a daily budget of interruptions. Critical alerts always pass; the rest go to a digest.</a:t>
            </a:r>
          </a:p>
        </p:txBody>
      </p:sp>
      <p:sp>
        <p:nvSpPr>
          <p:cNvPr id="14" name="TextBox 13"/>
          <p:cNvSpPr txBox="1"/>
          <p:nvPr/>
        </p:nvSpPr>
        <p:spPr>
          <a:xfrm>
            <a:off x="822960" y="7863840"/>
            <a:ext cx="11338560" cy="274320"/>
          </a:xfrm>
          <a:prstGeom prst="rect">
            <a:avLst/>
          </a:prstGeom>
          <a:noFill/>
        </p:spPr>
        <p:txBody>
          <a:bodyPr wrap="square" lIns="0" rIns="0" tIns="0" bIns="0">
            <a:spAutoFit/>
          </a:bodyPr>
          <a:lstStyle/>
          <a:p>
            <a:pPr algn="l"/>
            <a:r>
              <a:rPr sz="1100">
                <a:solidFill>
                  <a:srgbClr val="858A97"/>
                </a:solidFill>
                <a:latin typeface="Helvetica Neue Medium"/>
              </a:rPr>
              <a:t>AUTONOMY LEDGER</a:t>
            </a:r>
          </a:p>
        </p:txBody>
      </p:sp>
      <p:sp>
        <p:nvSpPr>
          <p:cNvPr id="15" name="TextBox 14"/>
          <p:cNvSpPr txBox="1"/>
          <p:nvPr/>
        </p:nvSpPr>
        <p:spPr>
          <a:xfrm>
            <a:off x="822960" y="8174736"/>
            <a:ext cx="113385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2 and 4. Each goal shows its level and limits. Every action is logged and can be undone within 48 hours.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workflow: from insight to a reasoned decision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step names the concept behind it. Nothing runs without approval.</a:t>
            </a:r>
          </a:p>
        </p:txBody>
      </p:sp>
      <p:sp>
        <p:nvSpPr>
          <p:cNvPr id="6" name="TextBox 5"/>
          <p:cNvSpPr txBox="1"/>
          <p:nvPr/>
        </p:nvSpPr>
        <p:spPr>
          <a:xfrm>
            <a:off x="822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1 · INSIGHT</a:t>
            </a:r>
          </a:p>
        </p:txBody>
      </p:sp>
      <p:sp>
        <p:nvSpPr>
          <p:cNvPr id="7" name="TextBox 6"/>
          <p:cNvSpPr txBox="1"/>
          <p:nvPr/>
        </p:nvSpPr>
        <p:spPr>
          <a:xfrm>
            <a:off x="822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Shows its source, date, and data. No confidence percentage.</a:t>
            </a:r>
          </a:p>
        </p:txBody>
      </p:sp>
      <p:sp>
        <p:nvSpPr>
          <p:cNvPr id="8" name="TextBox 7"/>
          <p:cNvSpPr txBox="1"/>
          <p:nvPr/>
        </p:nvSpPr>
        <p:spPr>
          <a:xfrm>
            <a:off x="3108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2 · CONDITION</a:t>
            </a:r>
          </a:p>
        </p:txBody>
      </p:sp>
      <p:sp>
        <p:nvSpPr>
          <p:cNvPr id="9" name="TextBox 8"/>
          <p:cNvSpPr txBox="1"/>
          <p:nvPr/>
        </p:nvSpPr>
        <p:spPr>
          <a:xfrm>
            <a:off x="3108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sets what would change the view (Scenario Sandbox).</a:t>
            </a:r>
          </a:p>
        </p:txBody>
      </p:sp>
      <p:sp>
        <p:nvSpPr>
          <p:cNvPr id="10" name="TextBox 9"/>
          <p:cNvSpPr txBox="1"/>
          <p:nvPr/>
        </p:nvSpPr>
        <p:spPr>
          <a:xfrm>
            <a:off x="5394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3 · PROPOSED STEPS</a:t>
            </a:r>
          </a:p>
        </p:txBody>
      </p:sp>
      <p:sp>
        <p:nvSpPr>
          <p:cNvPr id="11" name="TextBox 10"/>
          <p:cNvSpPr txBox="1"/>
          <p:nvPr/>
        </p:nvSpPr>
        <p:spPr>
          <a:xfrm>
            <a:off x="5394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agent drafts steps; the user edits each one (Plan Editor).</a:t>
            </a:r>
          </a:p>
        </p:txBody>
      </p:sp>
      <p:sp>
        <p:nvSpPr>
          <p:cNvPr id="12" name="TextBox 11"/>
          <p:cNvSpPr txBox="1"/>
          <p:nvPr/>
        </p:nvSpPr>
        <p:spPr>
          <a:xfrm>
            <a:off x="7680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4 · APPROVE WITHIN LIMITS</a:t>
            </a:r>
          </a:p>
        </p:txBody>
      </p:sp>
      <p:sp>
        <p:nvSpPr>
          <p:cNvPr id="13" name="TextBox 12"/>
          <p:cNvSpPr txBox="1"/>
          <p:nvPr/>
        </p:nvSpPr>
        <p:spPr>
          <a:xfrm>
            <a:off x="7680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approves. Act is opt-in, with limits beside it (Autonomy Ledger).</a:t>
            </a:r>
          </a:p>
        </p:txBody>
      </p:sp>
      <p:sp>
        <p:nvSpPr>
          <p:cNvPr id="14" name="TextBox 13"/>
          <p:cNvSpPr txBox="1"/>
          <p:nvPr/>
        </p:nvSpPr>
        <p:spPr>
          <a:xfrm>
            <a:off x="9966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5 · REASON, RE-CHECKED</a:t>
            </a:r>
          </a:p>
        </p:txBody>
      </p:sp>
      <p:sp>
        <p:nvSpPr>
          <p:cNvPr id="15" name="TextBox 14"/>
          <p:cNvSpPr txBox="1"/>
          <p:nvPr/>
        </p:nvSpPr>
        <p:spPr>
          <a:xfrm>
            <a:off x="9966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writes why they acted. Guard re-checks it later (Decision Journal).</a:t>
            </a:r>
          </a:p>
        </p:txBody>
      </p:sp>
      <p:sp>
        <p:nvSpPr>
          <p:cNvPr id="16" name="TextBox 15"/>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Each step shows its source. Changes can be reversed within 48 hours. The AI proposes; the user decides.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
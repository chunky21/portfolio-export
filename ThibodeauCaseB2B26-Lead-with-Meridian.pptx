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546" r:id="rId164"/>
    <p:sldId id="547" r:id="rId165"/>
    <p:sldId id="548" r:id="rId166"/>
    <p:sldId id="549" r:id="rId167"/>
    <p:sldId id="550" r:id="rId168"/>
    <p:sldId id="477" r:id="rId107"/>
    <p:sldId id="478" r:id="rId108"/>
    <p:sldId id="479" r:id="rId109"/>
    <p:sldId id="480" r:id="rId110"/>
    <p:sldId id="481" r:id="rId111"/>
    <p:sldId id="482" r:id="rId112"/>
    <p:sldId id="483" r:id="rId113"/>
    <p:sldId id="484" r:id="rId114"/>
    <p:sldId id="485" r:id="rId115"/>
    <p:sldId id="486" r:id="rId116"/>
    <p:sldId id="487" r:id="rId117"/>
    <p:sldId id="544" r:id="rId162"/>
    <p:sldId id="545" r:id="rId163"/>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57.xml"/><Relationship Id="rId88" Type="http://schemas.openxmlformats.org/officeDocument/2006/relationships/slide" Target="slides/slide158.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2" Type="http://schemas.openxmlformats.org/officeDocument/2006/relationships/slide" Target="slides/slide112.xml"/><Relationship Id="rId163" Type="http://schemas.openxmlformats.org/officeDocument/2006/relationships/slide" Target="slides/slide113.xml"/><Relationship Id="rId164" Type="http://schemas.openxmlformats.org/officeDocument/2006/relationships/slide" Target="slides/slide100.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Lo-fi first: the trade flow before the look</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2696705"/>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trade flow had to hold together first: steps, choices, and where approval sits. Light, sketch-level screens tested that structure.</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No colour or type decisions yet. Home, order entry, and review were shown with the approval point visible on each step.</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I settled the structure before the styling, so the team reviewed the flow itself, not the look.</a:t>
            </a:r>
            <a:endParaRPr lang="en-US" sz="14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Hi-fi: the same flow in the design system</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3947050"/>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A structure that works on paper can still fail on screen: contrast, density, and the advice wording all need checking.</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same flows in the design system: dark surfaces, the action colour, icon-and-word status, and proposed-step wording.</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Every hi-fi screen was checked against the design rules, so each one shows its source and status.</a:t>
            </a:r>
            <a:endParaRPr lang="en-US" sz="14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Concept board: five innovations, one loop</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card names the breakdown it answers. Concepts for testing; proposals, not built.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103120" cy="109728"/>
          </a:xfrm>
          <a:prstGeom prst="rect">
            <a:avLst/>
          </a:prstGeom>
          <a:solidFill>
            <a:srgbClr val="B5532F"/>
          </a:solidFill>
          <a:ln w="12700">
            <a:solidFill>
              <a:srgbClr val="B5532F"/>
            </a:solidFill>
            <a:prstDash val="solid"/>
          </a:ln>
        </p:spPr>
        <p:txBody>
          <a:bodyPr/>
          <a:p/>
        </p:txBody>
      </p:sp>
      <p:sp>
        <p:nvSpPr>
          <p:cNvPr id="8" name="Shape 5"/>
          <p:cNvSpPr/>
          <p:nvPr/>
        </p:nvSpPr>
        <p:spPr>
          <a:xfrm>
            <a:off x="548640"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9" name="Text 6"/>
          <p:cNvSpPr/>
          <p:nvPr/>
        </p:nvSpPr>
        <p:spPr>
          <a:xfrm>
            <a:off x="685800"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Decision Journal</a:t>
            </a:r>
            <a:endParaRPr lang="en-US" sz="1600" dirty="0"/>
          </a:p>
        </p:txBody>
      </p:sp>
      <p:sp>
        <p:nvSpPr>
          <p:cNvPr id="10" name="Text 7"/>
          <p:cNvSpPr/>
          <p:nvPr/>
        </p:nvSpPr>
        <p:spPr>
          <a:xfrm>
            <a:off x="685800"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BREAKDOWNS 3 AND 5</a:t>
            </a:r>
            <a:endParaRPr lang="en-US" sz="1100" dirty="0"/>
          </a:p>
        </p:txBody>
      </p:sp>
      <p:sp>
        <p:nvSpPr>
          <p:cNvPr id="11" name="Text 8"/>
          <p:cNvSpPr/>
          <p:nvPr/>
        </p:nvSpPr>
        <p:spPr>
          <a:xfrm>
            <a:off x="685800"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Writes the reason; Guard re-checks it</a:t>
            </a:r>
            <a:endParaRPr lang="en-US" sz="1400" dirty="0"/>
          </a:p>
        </p:txBody>
      </p:sp>
      <p:sp>
        <p:nvSpPr>
          <p:cNvPr id="12" name="Shape 9"/>
          <p:cNvSpPr/>
          <p:nvPr/>
        </p:nvSpPr>
        <p:spPr>
          <a:xfrm>
            <a:off x="2990088" y="2560320"/>
            <a:ext cx="2103120" cy="109728"/>
          </a:xfrm>
          <a:prstGeom prst="rect">
            <a:avLst/>
          </a:prstGeom>
          <a:solidFill>
            <a:srgbClr val="4F6D5A"/>
          </a:solidFill>
          <a:ln w="12700">
            <a:solidFill>
              <a:srgbClr val="4F6D5A"/>
            </a:solidFill>
            <a:prstDash val="solid"/>
          </a:ln>
        </p:spPr>
        <p:txBody>
          <a:bodyPr/>
          <a:p/>
        </p:txBody>
      </p:sp>
      <p:sp>
        <p:nvSpPr>
          <p:cNvPr id="13" name="Shape 10"/>
          <p:cNvSpPr/>
          <p:nvPr/>
        </p:nvSpPr>
        <p:spPr>
          <a:xfrm>
            <a:off x="2990088"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4" name="Text 11"/>
          <p:cNvSpPr/>
          <p:nvPr/>
        </p:nvSpPr>
        <p:spPr>
          <a:xfrm>
            <a:off x="3127248"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Scenario Sandbox</a:t>
            </a:r>
            <a:endParaRPr lang="en-US" sz="1600" dirty="0"/>
          </a:p>
        </p:txBody>
      </p:sp>
      <p:sp>
        <p:nvSpPr>
          <p:cNvPr id="15" name="Text 12"/>
          <p:cNvSpPr/>
          <p:nvPr/>
        </p:nvSpPr>
        <p:spPr>
          <a:xfrm>
            <a:off x="3127248"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1 AND 4</a:t>
            </a:r>
            <a:endParaRPr lang="en-US" sz="1100" dirty="0"/>
          </a:p>
        </p:txBody>
      </p:sp>
      <p:sp>
        <p:nvSpPr>
          <p:cNvPr id="16" name="Text 13"/>
          <p:cNvSpPr/>
          <p:nvPr/>
        </p:nvSpPr>
        <p:spPr>
          <a:xfrm>
            <a:off x="3127248"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Shows what would change a view</a:t>
            </a:r>
            <a:endParaRPr lang="en-US" sz="1400" dirty="0"/>
          </a:p>
        </p:txBody>
      </p:sp>
      <p:sp>
        <p:nvSpPr>
          <p:cNvPr id="17" name="Shape 14"/>
          <p:cNvSpPr/>
          <p:nvPr/>
        </p:nvSpPr>
        <p:spPr>
          <a:xfrm>
            <a:off x="5431536" y="2560320"/>
            <a:ext cx="2103120" cy="109728"/>
          </a:xfrm>
          <a:prstGeom prst="rect">
            <a:avLst/>
          </a:prstGeom>
          <a:solidFill>
            <a:srgbClr val="2F4257"/>
          </a:solidFill>
          <a:ln w="12700">
            <a:solidFill>
              <a:srgbClr val="2F4257"/>
            </a:solidFill>
            <a:prstDash val="solid"/>
          </a:ln>
        </p:spPr>
        <p:txBody>
          <a:bodyPr/>
          <a:p/>
        </p:txBody>
      </p:sp>
      <p:sp>
        <p:nvSpPr>
          <p:cNvPr id="18" name="Shape 15"/>
          <p:cNvSpPr/>
          <p:nvPr/>
        </p:nvSpPr>
        <p:spPr>
          <a:xfrm>
            <a:off x="5431536"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9" name="Text 16"/>
          <p:cNvSpPr/>
          <p:nvPr/>
        </p:nvSpPr>
        <p:spPr>
          <a:xfrm>
            <a:off x="5568696"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Plan Editor</a:t>
            </a:r>
            <a:endParaRPr lang="en-US" sz="1600" dirty="0"/>
          </a:p>
        </p:txBody>
      </p:sp>
      <p:sp>
        <p:nvSpPr>
          <p:cNvPr id="20" name="Text 17"/>
          <p:cNvSpPr/>
          <p:nvPr/>
        </p:nvSpPr>
        <p:spPr>
          <a:xfrm>
            <a:off x="5568696" y="3611880"/>
            <a:ext cx="1828800" cy="274320"/>
          </a:xfrm>
          <a:prstGeom prst="rect">
            <a:avLst/>
          </a:prstGeom>
          <a:noFill/>
          <a:ln/>
        </p:spPr>
        <p:txBody>
          <a:bodyPr wrap="square" lIns="0" tIns="0" rIns="0" bIns="0" rtlCol="0" anchor="ctr"/>
          <a:lstStyle/>
          <a:p>
            <a:pPr indent="0" marL="0">
              <a:buNone/>
            </a:pPr>
            <a:r>
              <a:rPr lang="en-US" sz="1100" dirty="0">
                <a:solidFill>
                  <a:srgbClr val="2F4257"/>
                </a:solidFill>
                <a:latin typeface="Helvetica Neue Light" pitchFamily="34" charset="0"/>
                <a:ea typeface="Helvetica Neue Light" pitchFamily="34" charset="-122"/>
                <a:cs typeface="Helvetica Neue Light" pitchFamily="34" charset="-120"/>
              </a:rPr>
              <a:t>BREAKDOWN 2</a:t>
            </a:r>
            <a:endParaRPr lang="en-US" sz="1100" dirty="0"/>
          </a:p>
        </p:txBody>
      </p:sp>
      <p:sp>
        <p:nvSpPr>
          <p:cNvPr id="21" name="Text 18"/>
          <p:cNvSpPr/>
          <p:nvPr/>
        </p:nvSpPr>
        <p:spPr>
          <a:xfrm>
            <a:off x="5568696"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Edits each proposed step</a:t>
            </a:r>
            <a:endParaRPr lang="en-US" sz="1400" dirty="0"/>
          </a:p>
        </p:txBody>
      </p:sp>
      <p:sp>
        <p:nvSpPr>
          <p:cNvPr id="22" name="Shape 19"/>
          <p:cNvSpPr/>
          <p:nvPr/>
        </p:nvSpPr>
        <p:spPr>
          <a:xfrm>
            <a:off x="7872984" y="2560320"/>
            <a:ext cx="2103120" cy="109728"/>
          </a:xfrm>
          <a:prstGeom prst="rect">
            <a:avLst/>
          </a:prstGeom>
          <a:solidFill>
            <a:srgbClr val="B5532F"/>
          </a:solidFill>
          <a:ln w="12700">
            <a:solidFill>
              <a:srgbClr val="B5532F"/>
            </a:solidFill>
            <a:prstDash val="solid"/>
          </a:ln>
        </p:spPr>
        <p:txBody>
          <a:bodyPr/>
          <a:p/>
        </p:txBody>
      </p:sp>
      <p:sp>
        <p:nvSpPr>
          <p:cNvPr id="23" name="Shape 20"/>
          <p:cNvSpPr/>
          <p:nvPr/>
        </p:nvSpPr>
        <p:spPr>
          <a:xfrm>
            <a:off x="7872984"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4" name="Text 21"/>
          <p:cNvSpPr/>
          <p:nvPr/>
        </p:nvSpPr>
        <p:spPr>
          <a:xfrm>
            <a:off x="8010144"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Attention Budget</a:t>
            </a:r>
            <a:endParaRPr lang="en-US" sz="1600" dirty="0"/>
          </a:p>
        </p:txBody>
      </p:sp>
      <p:sp>
        <p:nvSpPr>
          <p:cNvPr id="25" name="Text 22"/>
          <p:cNvSpPr/>
          <p:nvPr/>
        </p:nvSpPr>
        <p:spPr>
          <a:xfrm>
            <a:off x="8010144"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 3</a:t>
            </a:r>
            <a:endParaRPr lang="en-US" sz="1100" dirty="0"/>
          </a:p>
        </p:txBody>
      </p:sp>
      <p:sp>
        <p:nvSpPr>
          <p:cNvPr id="26" name="Text 23"/>
          <p:cNvSpPr/>
          <p:nvPr/>
        </p:nvSpPr>
        <p:spPr>
          <a:xfrm>
            <a:off x="8010144"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Sets a daily alert budget</a:t>
            </a:r>
            <a:endParaRPr lang="en-US" sz="1400" dirty="0"/>
          </a:p>
        </p:txBody>
      </p:sp>
      <p:sp>
        <p:nvSpPr>
          <p:cNvPr id="27" name="Shape 24"/>
          <p:cNvSpPr/>
          <p:nvPr/>
        </p:nvSpPr>
        <p:spPr>
          <a:xfrm>
            <a:off x="10314432" y="2560320"/>
            <a:ext cx="2103120" cy="109728"/>
          </a:xfrm>
          <a:prstGeom prst="rect">
            <a:avLst/>
          </a:prstGeom>
          <a:solidFill>
            <a:srgbClr val="4F6D5A"/>
          </a:solidFill>
          <a:ln w="12700">
            <a:solidFill>
              <a:srgbClr val="4F6D5A"/>
            </a:solidFill>
            <a:prstDash val="solid"/>
          </a:ln>
        </p:spPr>
        <p:txBody>
          <a:bodyPr/>
          <a:p/>
        </p:txBody>
      </p:sp>
      <p:sp>
        <p:nvSpPr>
          <p:cNvPr id="28" name="Shape 25"/>
          <p:cNvSpPr/>
          <p:nvPr/>
        </p:nvSpPr>
        <p:spPr>
          <a:xfrm>
            <a:off x="10314432"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9" name="Text 26"/>
          <p:cNvSpPr/>
          <p:nvPr/>
        </p:nvSpPr>
        <p:spPr>
          <a:xfrm>
            <a:off x="10451592"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Autonomy Ledger</a:t>
            </a:r>
            <a:endParaRPr lang="en-US" sz="1600" dirty="0"/>
          </a:p>
        </p:txBody>
      </p:sp>
      <p:sp>
        <p:nvSpPr>
          <p:cNvPr id="30" name="Text 27"/>
          <p:cNvSpPr/>
          <p:nvPr/>
        </p:nvSpPr>
        <p:spPr>
          <a:xfrm>
            <a:off x="10451592"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2 AND 4</a:t>
            </a:r>
            <a:endParaRPr lang="en-US" sz="1100" dirty="0"/>
          </a:p>
        </p:txBody>
      </p:sp>
      <p:sp>
        <p:nvSpPr>
          <p:cNvPr id="31" name="Text 28"/>
          <p:cNvSpPr/>
          <p:nvPr/>
        </p:nvSpPr>
        <p:spPr>
          <a:xfrm>
            <a:off x="10451592"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Levels, limits, and a 48-hour undo</a:t>
            </a:r>
            <a:endParaRPr lang="en-US" sz="1400" dirty="0"/>
          </a:p>
        </p:txBody>
      </p:sp>
      <p:sp>
        <p:nvSpPr>
          <p:cNvPr id="32" name="Text 29"/>
          <p:cNvSpPr/>
          <p:nvPr/>
        </p:nvSpPr>
        <p:spPr>
          <a:xfrm>
            <a:off x="548640" y="6217920"/>
            <a:ext cx="11905488" cy="457200"/>
          </a:xfrm>
          <a:prstGeom prst="rect">
            <a:avLst/>
          </a:prstGeom>
          <a:noFill/>
          <a:ln/>
        </p:spPr>
        <p:txBody>
          <a:bodyPr wrap="square" lIns="0" tIns="0" rIns="0" bIns="0" rtlCol="0" anchor="ctr"/>
          <a:lstStyle/>
          <a:p>
            <a:pPr indent="0" marL="0">
              <a:buNone/>
            </a:pPr>
            <a:r>
              <a:rPr lang="en-US" sz="1600" dirty="0">
                <a:solidFill>
                  <a:srgbClr val="1B2A3A"/>
                </a:solidFill>
                <a:latin typeface="Helvetica Neue Light" pitchFamily="34" charset="0"/>
                <a:ea typeface="Helvetica Neue Light" pitchFamily="34" charset="-122"/>
                <a:cs typeface="Helvetica Neue Light" pitchFamily="34" charset="-120"/>
              </a:rPr>
              <a:t>The loop: insight → condition → proposed steps → approval within limits → reason, re-checked → back to insight.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scales in three levels, each with limits</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The user sets the level for each goal. Act is off by default.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7315200" cy="1371600"/>
          </a:xfrm>
          <a:prstGeom prst="roundRect">
            <a:avLst>
              <a:gd name="adj" fmla="val 5333"/>
            </a:avLst>
          </a:prstGeom>
          <a:solidFill>
            <a:srgbClr val="EEF2F0"/>
          </a:solidFill>
          <a:ln w="12700">
            <a:solidFill>
              <a:srgbClr val="4F6D5A"/>
            </a:solidFill>
            <a:prstDash val="solid"/>
          </a:ln>
        </p:spPr>
        <p:txBody>
          <a:bodyPr/>
          <a:p/>
        </p:txBody>
      </p:sp>
      <p:sp>
        <p:nvSpPr>
          <p:cNvPr id="8" name="Text 5"/>
          <p:cNvSpPr/>
          <p:nvPr/>
        </p:nvSpPr>
        <p:spPr>
          <a:xfrm>
            <a:off x="777240" y="2743200"/>
            <a:ext cx="685800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Observe</a:t>
            </a:r>
            <a:endParaRPr lang="en-US" sz="1800" dirty="0"/>
          </a:p>
        </p:txBody>
      </p:sp>
      <p:sp>
        <p:nvSpPr>
          <p:cNvPr id="9" name="Text 6"/>
          <p:cNvSpPr/>
          <p:nvPr/>
        </p:nvSpPr>
        <p:spPr>
          <a:xfrm>
            <a:off x="777240" y="3200400"/>
            <a:ext cx="685800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watches and reports. Nothing is proposed.</a:t>
            </a:r>
            <a:endParaRPr lang="en-US" sz="1400" dirty="0"/>
          </a:p>
        </p:txBody>
      </p:sp>
      <p:sp>
        <p:nvSpPr>
          <p:cNvPr id="10" name="Shape 7"/>
          <p:cNvSpPr/>
          <p:nvPr/>
        </p:nvSpPr>
        <p:spPr>
          <a:xfrm>
            <a:off x="1097280" y="4206240"/>
            <a:ext cx="6766560" cy="1371600"/>
          </a:xfrm>
          <a:prstGeom prst="roundRect">
            <a:avLst>
              <a:gd name="adj" fmla="val 5333"/>
            </a:avLst>
          </a:prstGeom>
          <a:solidFill>
            <a:srgbClr val="D5E3DC"/>
          </a:solidFill>
          <a:ln w="12700">
            <a:solidFill>
              <a:srgbClr val="4F6D5A"/>
            </a:solidFill>
            <a:prstDash val="solid"/>
          </a:ln>
        </p:spPr>
        <p:txBody>
          <a:bodyPr/>
          <a:p/>
        </p:txBody>
      </p:sp>
      <p:sp>
        <p:nvSpPr>
          <p:cNvPr id="11" name="Text 8"/>
          <p:cNvSpPr/>
          <p:nvPr/>
        </p:nvSpPr>
        <p:spPr>
          <a:xfrm>
            <a:off x="1325880" y="4389120"/>
            <a:ext cx="630936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Suggest</a:t>
            </a:r>
            <a:endParaRPr lang="en-US" sz="1800" dirty="0"/>
          </a:p>
        </p:txBody>
      </p:sp>
      <p:sp>
        <p:nvSpPr>
          <p:cNvPr id="12" name="Text 9"/>
          <p:cNvSpPr/>
          <p:nvPr/>
        </p:nvSpPr>
        <p:spPr>
          <a:xfrm>
            <a:off x="1325880" y="4846320"/>
            <a:ext cx="630936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proposes steps with sources. The user decides each one.</a:t>
            </a:r>
            <a:endParaRPr lang="en-US" sz="1400" dirty="0"/>
          </a:p>
        </p:txBody>
      </p:sp>
      <p:sp>
        <p:nvSpPr>
          <p:cNvPr id="13" name="Shape 10"/>
          <p:cNvSpPr/>
          <p:nvPr/>
        </p:nvSpPr>
        <p:spPr>
          <a:xfrm>
            <a:off x="1645920" y="5852160"/>
            <a:ext cx="6217920" cy="1371600"/>
          </a:xfrm>
          <a:prstGeom prst="roundRect">
            <a:avLst>
              <a:gd name="adj" fmla="val 5333"/>
            </a:avLst>
          </a:prstGeom>
          <a:solidFill>
            <a:srgbClr val="4F6D5A"/>
          </a:solidFill>
          <a:ln w="12700">
            <a:solidFill>
              <a:srgbClr val="4F6D5A"/>
            </a:solidFill>
            <a:prstDash val="solid"/>
          </a:ln>
        </p:spPr>
        <p:txBody>
          <a:bodyPr/>
          <a:p/>
        </p:txBody>
      </p:sp>
      <p:sp>
        <p:nvSpPr>
          <p:cNvPr id="14" name="Text 11"/>
          <p:cNvSpPr/>
          <p:nvPr/>
        </p:nvSpPr>
        <p:spPr>
          <a:xfrm>
            <a:off x="1874520" y="6035040"/>
            <a:ext cx="5760720" cy="365760"/>
          </a:xfrm>
          <a:prstGeom prst="rect">
            <a:avLst/>
          </a:prstGeom>
          <a:noFill/>
          <a:ln/>
        </p:spPr>
        <p:txBody>
          <a:bodyPr wrap="square" lIns="0" tIns="0" rIns="0" bIns="0" rtlCol="0" anchor="ctr"/>
          <a:lstStyle/>
          <a:p>
            <a:pPr indent="0" marL="0">
              <a:buNone/>
            </a:pPr>
            <a:r>
              <a:rPr lang="en-US" sz="1800" b="1" dirty="0">
                <a:solidFill>
                  <a:srgbClr val="FFFFFF"/>
                </a:solidFill>
                <a:latin typeface="Helvetica Neue Light" pitchFamily="34" charset="0"/>
                <a:ea typeface="Helvetica Neue Light" pitchFamily="34" charset="-122"/>
                <a:cs typeface="Helvetica Neue Light" pitchFamily="34" charset="-120"/>
              </a:rPr>
              <a:t>Act within limits</a:t>
            </a:r>
            <a:endParaRPr lang="en-US" sz="1800" dirty="0"/>
          </a:p>
        </p:txBody>
      </p:sp>
      <p:sp>
        <p:nvSpPr>
          <p:cNvPr id="15" name="Text 12"/>
          <p:cNvSpPr/>
          <p:nvPr/>
        </p:nvSpPr>
        <p:spPr>
          <a:xfrm>
            <a:off x="1874520" y="6492240"/>
            <a:ext cx="5760720" cy="548640"/>
          </a:xfrm>
          <a:prstGeom prst="rect">
            <a:avLst/>
          </a:prstGeom>
          <a:noFill/>
          <a:ln/>
        </p:spPr>
        <p:txBody>
          <a:bodyPr wrap="square" lIns="0" tIns="0" rIns="0" bIns="0" rtlCol="0" anchor="ctr"/>
          <a:lstStyle/>
          <a:p>
            <a:pPr indent="0" marL="0">
              <a:buNone/>
            </a:pPr>
            <a:r>
              <a:rPr lang="en-US" sz="1400" dirty="0">
                <a:solidFill>
                  <a:srgbClr val="FFFFFF"/>
                </a:solidFill>
                <a:latin typeface="Helvetica Neue Light" pitchFamily="34" charset="0"/>
                <a:ea typeface="Helvetica Neue Light" pitchFamily="34" charset="-122"/>
                <a:cs typeface="Helvetica Neue Light" pitchFamily="34" charset="-120"/>
              </a:rPr>
              <a:t>The agent acts inside limits the user set. Every action is logged and can be undone within 48 hours.</a:t>
            </a:r>
            <a:endParaRPr lang="en-US" sz="1400" dirty="0"/>
          </a:p>
        </p:txBody>
      </p:sp>
      <p:sp>
        <p:nvSpPr>
          <p:cNvPr id="16" name="Text 13"/>
          <p:cNvSpPr/>
          <p:nvPr/>
        </p:nvSpPr>
        <p:spPr>
          <a:xfrm>
            <a:off x="8412480" y="2560320"/>
            <a:ext cx="39319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GUARDRAILS</a:t>
            </a:r>
            <a:endParaRPr lang="en-US" sz="1280" dirty="0"/>
          </a:p>
        </p:txBody>
      </p:sp>
      <p:sp>
        <p:nvSpPr>
          <p:cNvPr id="17" name="Text 14"/>
          <p:cNvSpPr/>
          <p:nvPr/>
        </p:nvSpPr>
        <p:spPr>
          <a:xfrm>
            <a:off x="8412480" y="28895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Critical alerts always pass.</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advice line holds: proposed-step wording only.</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Limits belong to the user, not the model.</a:t>
            </a:r>
            <a:endParaRPr lang="en-US" sz="1500" dirty="0"/>
          </a:p>
        </p:txBody>
      </p:sp>
      <p:sp>
        <p:nvSpPr>
          <p:cNvPr id="18" name="Text 15"/>
          <p:cNvSpPr/>
          <p:nvPr/>
        </p:nvSpPr>
        <p:spPr>
          <a:xfrm>
            <a:off x="8412480" y="5303520"/>
            <a:ext cx="39319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WHY IT SCALES</a:t>
            </a:r>
            <a:endParaRPr lang="en-US" sz="1280" dirty="0"/>
          </a:p>
        </p:txBody>
      </p:sp>
      <p:sp>
        <p:nvSpPr>
          <p:cNvPr id="19" name="Text 16"/>
          <p:cNvSpPr/>
          <p:nvPr/>
        </p:nvSpPr>
        <p:spPr>
          <a:xfrm>
            <a:off x="8412480" y="56327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same three levels apply to every goal and every new agent surface.</a:t>
            </a:r>
            <a:endParaRPr lang="en-US" sz="15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
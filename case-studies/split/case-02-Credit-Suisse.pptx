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9"/>
  </p:notesMasterIdLst>
  <p:sldIdLst>
    <p:sldId id="313" r:id="rId37"/>
    <p:sldId id="314" r:id="rId38"/>
    <p:sldId id="315" r:id="rId39"/>
    <p:sldId id="316" r:id="rId40"/>
    <p:sldId id="317" r:id="rId41"/>
    <p:sldId id="318" r:id="rId42"/>
    <p:sldId id="321" r:id="rId43"/>
    <p:sldId id="322" r:id="rId44"/>
    <p:sldId id="323" r:id="rId45"/>
    <p:sldId id="458" r:id="rId46"/>
    <p:sldId id="324" r:id="rId47"/>
    <p:sldId id="326" r:id="rId48"/>
    <p:sldId id="328" r:id="rId49"/>
    <p:sldId id="330" r:id="rId50"/>
    <p:sldId id="332" r:id="rId51"/>
    <p:sldId id="334" r:id="rId52"/>
    <p:sldId id="448" r:id="rId53"/>
    <p:sldId id="451" r:id="rId54"/>
    <p:sldId id="459" r:id="rId55"/>
  </p:sldIdLst>
  <p:sldSz cx="13004800" cy="975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CFFF"/>
    <a:srgbClr val="FF6600"/>
    <a:srgbClr val="99C9FF"/>
    <a:srgbClr val="41587E"/>
    <a:srgbClr val="2F7D72"/>
    <a:srgbClr val="483176"/>
    <a:srgbClr val="78202A"/>
    <a:srgbClr val="703596"/>
    <a:srgbClr val="397D72"/>
    <a:srgbClr val="8020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31"/>
    <p:restoredTop sz="94658"/>
  </p:normalViewPr>
  <p:slideViewPr>
    <p:cSldViewPr snapToGrid="0" snapToObjects="1">
      <p:cViewPr varScale="1">
        <p:scale>
          <a:sx n="84" d="100"/>
          <a:sy n="84" d="100"/>
        </p:scale>
        <p:origin x="222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164DF-5A26-5349-97CB-5F6E935D3C02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DF791-86A3-344B-9231-BE94FBB68C8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441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DF791-86A3-344B-9231-BE94FBB68C8C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677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4994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">
    <p:bg>
      <p:bgPr>
        <a:solidFill>
          <a:srgbClr val="C45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3998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Relationship Id="rId7" Type="http://schemas.openxmlformats.org/officeDocument/2006/relationships/image" Target="../media/image35.jpg"/><Relationship Id="rId8" Type="http://schemas.openxmlformats.org/officeDocument/2006/relationships/image" Target="../media/image36.jpg"/><Relationship Id="rId9" Type="http://schemas.openxmlformats.org/officeDocument/2006/relationships/image" Target="../media/image37.jpg"/><Relationship Id="rId10" Type="http://schemas.openxmlformats.org/officeDocument/2006/relationships/image" Target="../media/image38.jpg"/><Relationship Id="rId11" Type="http://schemas.openxmlformats.org/officeDocument/2006/relationships/image" Target="../media/image39.jpg"/><Relationship Id="rId12" Type="http://schemas.openxmlformats.org/officeDocument/2006/relationships/image" Target="../media/image40.jpg"/><Relationship Id="rId13" Type="http://schemas.openxmlformats.org/officeDocument/2006/relationships/image" Target="../media/image41.jpg"/><Relationship Id="rId14" Type="http://schemas.openxmlformats.org/officeDocument/2006/relationships/image" Target="../media/image42.jpg"/><Relationship Id="rId15" Type="http://schemas.openxmlformats.org/officeDocument/2006/relationships/image" Target="../media/image43.jpg"/><Relationship Id="rId16" Type="http://schemas.openxmlformats.org/officeDocument/2006/relationships/hyperlink" Target="https://www.figma.com/proto/vZrnrHgaWOOgf1fIzX9sBy?node-id=1-2&amp;starting-point-node-id=1%3A2&amp;page-id=0%3A1&amp;scaling=scale-down" TargetMode="External"/><Relationship Id="rId17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hyperlink" Target="https://www.figma.com/proto/vZrnrHgaWOOgf1fIzX9sBy?node-id=1-2&amp;starting-point-node-id=1%3A2&amp;page-id=0%3A1&amp;scaling=scale-down" TargetMode="External"/><Relationship Id="rId3" Type="http://schemas.openxmlformats.org/officeDocument/2006/relationships/image" Target="../media/image30.jpg"/><Relationship Id="rId4" Type="http://schemas.openxmlformats.org/officeDocument/2006/relationships/image" Target="../media/image2.png"/><Relationship Id="rId5" Type="http://schemas.openxmlformats.org/officeDocument/2006/relationships/hyperlink" Target="https://www.figma.com/proto/vZrnrHgaWOOgf1fIzX9sBy?node-id=5-2&amp;starting-point-node-id=5%3A2&amp;page-id=0%3A1&amp;scaling=scale-down" TargetMode="External"/></Relationships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822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E98C64"/>
                </a:solidFill>
                <a:latin typeface="Helvetica Neue Medium"/>
                <a:cs typeface="Helvetica Neue Medium"/>
              </a:rPr>
              <a:t>CASE STUDY 02 · ENTERPRISE · DELIVERED</a:t>
            </a:r>
          </a:p>
        </p:txBody>
      </p:sp>
      <p:sp>
        <p:nvSpPr>
          <p:cNvPr id="102" name="Company"/>
          <p:cNvSpPr txBox="1"/>
          <p:nvPr/>
        </p:nvSpPr>
        <p:spPr>
          <a:xfrm>
            <a:off x="822960" y="12344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lang="en-US" sz="5400" spc="-40" dirty="0">
                <a:solidFill>
                  <a:srgbClr val="F5F5F7"/>
                </a:solidFill>
                <a:latin typeface="Helvetica Neue Medium"/>
                <a:cs typeface="Helvetica Neue Medium"/>
              </a:rPr>
              <a:t>Credit Suisse</a:t>
            </a:r>
          </a:p>
        </p:txBody>
      </p:sp>
      <p:sp>
        <p:nvSpPr>
          <p:cNvPr id="103" name="Project"/>
          <p:cNvSpPr txBox="1"/>
          <p:nvPr/>
        </p:nvSpPr>
        <p:spPr>
          <a:xfrm>
            <a:off x="822960" y="224028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2600" spc="0" dirty="0">
                <a:solidFill>
                  <a:srgbClr val="E98C64"/>
                </a:solidFill>
                <a:latin typeface="Helvetica Neue Medium"/>
                <a:cs typeface="Helvetica Neue Medium"/>
              </a:rPr>
              <a:t>Outside Business Interests (OBI)</a:t>
            </a:r>
          </a:p>
        </p:txBody>
      </p:sp>
      <p:sp>
        <p:nvSpPr>
          <p:cNvPr id="104" name="Hook"/>
          <p:cNvSpPr txBox="1"/>
          <p:nvPr/>
        </p:nvSpPr>
        <p:spPr>
          <a:xfrm>
            <a:off x="822960" y="292608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A3A8B4"/>
                </a:solidFill>
                <a:latin typeface="Helvetica Neue Light"/>
                <a:cs typeface="Helvetica Neue Light"/>
              </a:rPr>
              <a:t>Saving money by reducing friction, educating employees and removing risk from pre-clearance for outside activities.</a:t>
            </a:r>
          </a:p>
        </p:txBody>
      </p:sp>
      <p:cxnSp>
        <p:nvCxnSpPr>
          <p:cNvPr id="105" name="Divider"/>
          <p:cNvCxnSpPr/>
          <p:nvPr/>
        </p:nvCxnSpPr>
        <p:spPr>
          <a:xfrm>
            <a:off x="822960" y="4343400"/>
            <a:ext cx="5486400" cy="0"/>
          </a:xfrm>
          <a:prstGeom prst="line">
            <a:avLst/>
          </a:prstGeom>
          <a:ln w="9525">
            <a:solidFill>
              <a:srgbClr val="2C2F38"/>
            </a:solidFill>
          </a:ln>
        </p:spPr>
      </p:cxnSp>
      <p:sp>
        <p:nvSpPr>
          <p:cNvPr id="106" name="ROLE"/>
          <p:cNvSpPr txBox="1"/>
          <p:nvPr/>
        </p:nvSpPr>
        <p:spPr>
          <a:xfrm>
            <a:off x="822960" y="4471416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100" spc="200" dirty="0">
                <a:solidFill>
                  <a:srgbClr val="7A7F8C"/>
                </a:solidFill>
                <a:latin typeface="Helvetica Neue Medium"/>
                <a:cs typeface="Helvetica Neue Medium"/>
              </a:rPr>
              <a:t>ROLE</a:t>
            </a:r>
          </a:p>
        </p:txBody>
      </p:sp>
      <p:sp>
        <p:nvSpPr>
          <p:cNvPr id="107" name="ROLE value"/>
          <p:cNvSpPr txBox="1"/>
          <p:nvPr/>
        </p:nvSpPr>
        <p:spPr>
          <a:xfrm>
            <a:off x="2148840" y="4443984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550" spc="0" dirty="0">
                <a:solidFill>
                  <a:srgbClr val="F5F5F7"/>
                </a:solidFill>
                <a:latin typeface="Helvetica Neue Light"/>
                <a:cs typeface="Helvetica Neue Light"/>
              </a:rPr>
              <a:t>Led the project team</a:t>
            </a:r>
          </a:p>
        </p:txBody>
      </p:sp>
      <p:cxnSp>
        <p:nvCxnSpPr>
          <p:cNvPr id="108" name="Divider"/>
          <p:cNvCxnSpPr/>
          <p:nvPr/>
        </p:nvCxnSpPr>
        <p:spPr>
          <a:xfrm>
            <a:off x="822960" y="5056632"/>
            <a:ext cx="5486400" cy="0"/>
          </a:xfrm>
          <a:prstGeom prst="line">
            <a:avLst/>
          </a:prstGeom>
          <a:ln w="9525">
            <a:solidFill>
              <a:srgbClr val="2C2F38"/>
            </a:solidFill>
          </a:ln>
        </p:spPr>
      </p:cxnSp>
      <p:sp>
        <p:nvSpPr>
          <p:cNvPr id="109" name="TEAM"/>
          <p:cNvSpPr txBox="1"/>
          <p:nvPr/>
        </p:nvSpPr>
        <p:spPr>
          <a:xfrm>
            <a:off x="822960" y="5184648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100" spc="200" dirty="0">
                <a:solidFill>
                  <a:srgbClr val="7A7F8C"/>
                </a:solidFill>
                <a:latin typeface="Helvetica Neue Medium"/>
                <a:cs typeface="Helvetica Neue Medium"/>
              </a:rPr>
              <a:t>TEAM</a:t>
            </a:r>
          </a:p>
        </p:txBody>
      </p:sp>
      <p:sp>
        <p:nvSpPr>
          <p:cNvPr id="110" name="TEAM value"/>
          <p:cNvSpPr txBox="1"/>
          <p:nvPr/>
        </p:nvSpPr>
        <p:spPr>
          <a:xfrm>
            <a:off x="2148840" y="5157216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550" spc="0" dirty="0">
                <a:solidFill>
                  <a:srgbClr val="F5F5F7"/>
                </a:solidFill>
                <a:latin typeface="Helvetica Neue Light"/>
                <a:cs typeface="Helvetica Neue Light"/>
              </a:rPr>
              <a:t>2 UX designers and a content designer</a:t>
            </a:r>
          </a:p>
        </p:txBody>
      </p:sp>
      <p:cxnSp>
        <p:nvCxnSpPr>
          <p:cNvPr id="111" name="Divider"/>
          <p:cNvCxnSpPr/>
          <p:nvPr/>
        </p:nvCxnSpPr>
        <p:spPr>
          <a:xfrm>
            <a:off x="822960" y="5769864"/>
            <a:ext cx="5486400" cy="0"/>
          </a:xfrm>
          <a:prstGeom prst="line">
            <a:avLst/>
          </a:prstGeom>
          <a:ln w="9525">
            <a:solidFill>
              <a:srgbClr val="2C2F38"/>
            </a:solidFill>
          </a:ln>
        </p:spPr>
      </p:cxnSp>
      <p:sp>
        <p:nvSpPr>
          <p:cNvPr id="112" name="SCOPE"/>
          <p:cNvSpPr txBox="1"/>
          <p:nvPr/>
        </p:nvSpPr>
        <p:spPr>
          <a:xfrm>
            <a:off x="822960" y="589788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100" spc="200" dirty="0">
                <a:solidFill>
                  <a:srgbClr val="7A7F8C"/>
                </a:solidFill>
                <a:latin typeface="Helvetica Neue Medium"/>
                <a:cs typeface="Helvetica Neue Medium"/>
              </a:rPr>
              <a:t>SCOPE</a:t>
            </a:r>
          </a:p>
        </p:txBody>
      </p:sp>
      <p:sp>
        <p:nvSpPr>
          <p:cNvPr id="113" name="SCOPE value"/>
          <p:cNvSpPr txBox="1"/>
          <p:nvPr/>
        </p:nvSpPr>
        <p:spPr>
          <a:xfrm>
            <a:off x="2148840" y="5870448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550" spc="0" dirty="0">
                <a:solidFill>
                  <a:srgbClr val="F5F5F7"/>
                </a:solidFill>
                <a:latin typeface="Helvetica Neue Light"/>
                <a:cs typeface="Helvetica Neue Light"/>
              </a:rPr>
              <a:t>Discovery to delivery: 33 Agile sprints, usability testing every week</a:t>
            </a:r>
          </a:p>
        </p:txBody>
      </p:sp>
      <p:cxnSp>
        <p:nvCxnSpPr>
          <p:cNvPr id="114" name="Divider"/>
          <p:cNvCxnSpPr/>
          <p:nvPr/>
        </p:nvCxnSpPr>
        <p:spPr>
          <a:xfrm>
            <a:off x="822960" y="6483096"/>
            <a:ext cx="5486400" cy="0"/>
          </a:xfrm>
          <a:prstGeom prst="line">
            <a:avLst/>
          </a:prstGeom>
          <a:ln w="9525">
            <a:solidFill>
              <a:srgbClr val="2C2F38"/>
            </a:solidFill>
          </a:ln>
        </p:spPr>
      </p:cxnSp>
      <p:sp>
        <p:nvSpPr>
          <p:cNvPr id="115" name="USERS"/>
          <p:cNvSpPr txBox="1"/>
          <p:nvPr/>
        </p:nvSpPr>
        <p:spPr>
          <a:xfrm>
            <a:off x="822960" y="6611112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100" spc="200" dirty="0">
                <a:solidFill>
                  <a:srgbClr val="7A7F8C"/>
                </a:solidFill>
                <a:latin typeface="Helvetica Neue Medium"/>
                <a:cs typeface="Helvetica Neue Medium"/>
              </a:rPr>
              <a:t>USERS</a:t>
            </a:r>
          </a:p>
        </p:txBody>
      </p:sp>
      <p:sp>
        <p:nvSpPr>
          <p:cNvPr id="116" name="USERS value"/>
          <p:cNvSpPr txBox="1"/>
          <p:nvPr/>
        </p:nvSpPr>
        <p:spPr>
          <a:xfrm>
            <a:off x="2148840" y="6583680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550" spc="0" dirty="0">
                <a:solidFill>
                  <a:srgbClr val="F5F5F7"/>
                </a:solidFill>
                <a:latin typeface="Helvetica Neue Light"/>
                <a:cs typeface="Helvetica Neue Light"/>
              </a:rPr>
              <a:t>All employees and managers, reviewers, and Risk &amp; Compliance managers</a:t>
            </a:r>
          </a:p>
        </p:txBody>
      </p:sp>
      <p:cxnSp>
        <p:nvCxnSpPr>
          <p:cNvPr id="117" name="Divider"/>
          <p:cNvCxnSpPr/>
          <p:nvPr/>
        </p:nvCxnSpPr>
        <p:spPr>
          <a:xfrm>
            <a:off x="822960" y="7196328"/>
            <a:ext cx="5486400" cy="0"/>
          </a:xfrm>
          <a:prstGeom prst="line">
            <a:avLst/>
          </a:prstGeom>
          <a:ln w="9525">
            <a:solidFill>
              <a:srgbClr val="2C2F38"/>
            </a:solidFill>
          </a:ln>
        </p:spPr>
      </p:cxnSp>
      <p:sp>
        <p:nvSpPr>
          <p:cNvPr id="118" name="Quote"/>
          <p:cNvSpPr txBox="1"/>
          <p:nvPr/>
        </p:nvSpPr>
        <p:spPr>
          <a:xfrm>
            <a:off x="822960" y="7516368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500" spc="0" dirty="0">
                <a:solidFill>
                  <a:srgbClr val="F5F5F7"/>
                </a:solidFill>
                <a:latin typeface="Helvetica Neue Light"/>
                <a:cs typeface="Helvetica Neue Light"/>
              </a:rPr>
              <a:t>“It’s too limited in its functionality to be of use for an Approver. Too much time is wasted trying to do more complex tasks.”</a:t>
            </a:r>
          </a:p>
        </p:txBody>
      </p:sp>
      <p:pic>
        <p:nvPicPr>
          <p:cNvPr id="119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70237"/>
            <a:ext cx="5458968" cy="4620645"/>
          </a:xfrm>
          <a:prstGeom prst="rect">
            <a:avLst/>
          </a:prstGeom>
          <a:ln w="9525">
            <a:solidFill>
              <a:srgbClr val="3A3E49"/>
            </a:solidFill>
          </a:ln>
        </p:spPr>
      </p:pic>
      <p:pic>
        <p:nvPicPr>
          <p:cNvPr id="120" name="gradient strip" descr="gradient str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914400"/>
            <a:ext cx="11358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CREDIT SUISSE OBI · INTRODUCTION</a:t>
            </a:r>
          </a:p>
        </p:txBody>
      </p:sp>
      <p:sp>
        <p:nvSpPr>
          <p:cNvPr id="102" name="Headline"/>
          <p:cNvSpPr txBox="1"/>
          <p:nvPr/>
        </p:nvSpPr>
        <p:spPr>
          <a:xfrm>
            <a:off x="822960" y="1371600"/>
            <a:ext cx="113588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lang="en-US" sz="36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A browser-based tool that gives employees </a:t>
            </a:r>
            <a:r>
              <a:rPr lang="en-US" sz="3600" spc="-40" dirty="0">
                <a:solidFill>
                  <a:srgbClr val="B5531F"/>
                </a:solidFill>
                <a:latin typeface="Helvetica Neue Medium"/>
                <a:cs typeface="Helvetica Neue Medium"/>
              </a:rPr>
              <a:t>pre-clearance for outside activities</a:t>
            </a:r>
            <a:r>
              <a:rPr lang="en-US" sz="36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, reviewed by two lines of defense.</a:t>
            </a:r>
          </a:p>
        </p:txBody>
      </p:sp>
      <p:sp>
        <p:nvSpPr>
          <p:cNvPr id="103" name="Audience"/>
          <p:cNvSpPr txBox="1"/>
          <p:nvPr/>
        </p:nvSpPr>
        <p:spPr>
          <a:xfrm>
            <a:off x="822960" y="3611880"/>
            <a:ext cx="3511973" cy="420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TARGET AUDIENCE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Risk and Compliance managers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All Credit Suisse employees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All Credit Suisse managers</a:t>
            </a:r>
          </a:p>
        </p:txBody>
      </p:sp>
      <p:sp>
        <p:nvSpPr>
          <p:cNvPr id="104" name="Problems"/>
          <p:cNvSpPr txBox="1"/>
          <p:nvPr/>
        </p:nvSpPr>
        <p:spPr>
          <a:xfrm>
            <a:off x="4746413" y="3611880"/>
            <a:ext cx="3511973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THE PROBLEMS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Submission status tracking isn’t clear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Lines of responsibility aren’t transparent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No reporting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Navigation is hard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People don’t know why and when to submit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No mobile access for Risk &amp; Compliance managers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A confusing submission process, with no education</a:t>
            </a:r>
          </a:p>
        </p:txBody>
      </p:sp>
      <p:sp>
        <p:nvSpPr>
          <p:cNvPr id="105" name="Team"/>
          <p:cNvSpPr txBox="1"/>
          <p:nvPr/>
        </p:nvSpPr>
        <p:spPr>
          <a:xfrm>
            <a:off x="8669866" y="3611880"/>
            <a:ext cx="3511973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TEAM AND MY PART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I led a project team of 2 UX designers and a content designer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I managed discovery, including research, strategy and hands-on design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I led every deliverable in Sketch and Figma, with Lean UX and usability testing, and presented to the client and stakeholders</a:t>
            </a:r>
          </a:p>
        </p:txBody>
      </p:sp>
      <p:pic>
        <p:nvPicPr>
          <p:cNvPr id="106" name="gradient strip" descr="gradient stri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CREDIT SUISSE OBI · DISCOVERY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Where we started: the original application</a:t>
            </a:r>
          </a:p>
        </p:txBody>
      </p:sp>
      <p:sp>
        <p:nvSpPr>
          <p:cNvPr id="103" name="Subtitle"/>
          <p:cNvSpPr txBox="1"/>
          <p:nvPr/>
        </p:nvSpPr>
        <p:spPr>
          <a:xfrm>
            <a:off x="822960" y="1481328"/>
            <a:ext cx="11358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The tool employees used to request pre-clearance before the redesign.</a:t>
            </a:r>
          </a:p>
        </p:txBody>
      </p:sp>
      <p:pic>
        <p:nvPicPr>
          <p:cNvPr id="104" name="Background" descr="image.png"/>
          <p:cNvPicPr>
            <a:picLocks noChangeAspect="1"/>
          </p:cNvPicPr>
          <p:nvPr/>
        </p:nvPicPr>
        <p:blipFill>
          <a:blip r:embed="rId2"/>
          <a:srcRect l="4000" t="15000" r="4000" b="34500"/>
          <a:stretch>
            <a:fillRect/>
          </a:stretch>
        </p:blipFill>
        <p:spPr>
          <a:xfrm>
            <a:off x="822960" y="2828639"/>
            <a:ext cx="11356848" cy="4675441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pic>
        <p:nvPicPr>
          <p:cNvPr id="105" name="gradient strip" descr="gradient str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914400"/>
            <a:ext cx="11358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CREDIT SUISSE OBI · WHY REDESIGN</a:t>
            </a:r>
          </a:p>
        </p:txBody>
      </p:sp>
      <p:sp>
        <p:nvSpPr>
          <p:cNvPr id="102" name="Headline"/>
          <p:cNvSpPr txBox="1"/>
          <p:nvPr/>
        </p:nvSpPr>
        <p:spPr>
          <a:xfrm>
            <a:off x="822960" y="1371600"/>
            <a:ext cx="113588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lang="en-US" sz="40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Why redesign </a:t>
            </a:r>
            <a:r>
              <a:rPr lang="en-US" sz="4000" spc="-40" dirty="0">
                <a:solidFill>
                  <a:srgbClr val="B5531F"/>
                </a:solidFill>
                <a:latin typeface="Helvetica Neue Medium"/>
                <a:cs typeface="Helvetica Neue Medium"/>
              </a:rPr>
              <a:t>OBI</a:t>
            </a:r>
            <a:r>
              <a:rPr lang="en-US" sz="40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?</a:t>
            </a:r>
          </a:p>
        </p:txBody>
      </p:sp>
      <p:sp>
        <p:nvSpPr>
          <p:cNvPr id="3017" name="Tile"/>
          <p:cNvSpPr/>
          <p:nvPr/>
        </p:nvSpPr>
        <p:spPr>
          <a:xfrm>
            <a:off x="822960" y="2606040"/>
            <a:ext cx="3840480" cy="5623560"/>
          </a:xfrm>
          <a:prstGeom prst="roundRect">
            <a:avLst>
              <a:gd name="adj" fmla="val 3333"/>
            </a:avLst>
          </a:prstGeom>
          <a:solidFill>
            <a:srgbClr val="B5531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Number"/>
          <p:cNvSpPr txBox="1"/>
          <p:nvPr/>
        </p:nvSpPr>
        <p:spPr>
          <a:xfrm>
            <a:off x="1097280" y="2807208"/>
            <a:ext cx="3291840" cy="1733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8000"/>
              </a:lnSpc>
              <a:spcAft>
                <a:spcPts val="300"/>
              </a:spcAft>
            </a:pPr>
            <a:r>
              <a:rPr lang="en-US" sz="13000" spc="-60" dirty="0">
                <a:solidFill>
                  <a:srgbClr val="FFFFFF"/>
                </a:solidFill>
                <a:latin typeface="Helvetica Neue Medium"/>
                <a:cs typeface="Helvetica Neue Medium"/>
              </a:rPr>
              <a:t>475</a:t>
            </a:r>
          </a:p>
        </p:txBody>
      </p:sp>
      <p:sp>
        <p:nvSpPr>
          <p:cNvPr id="104" name="Label"/>
          <p:cNvSpPr txBox="1"/>
          <p:nvPr/>
        </p:nvSpPr>
        <p:spPr>
          <a:xfrm>
            <a:off x="1097280" y="461391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600" spc="0" dirty="0">
                <a:solidFill>
                  <a:srgbClr val="FBE3D8"/>
                </a:solidFill>
                <a:latin typeface="Helvetica Neue Light"/>
                <a:cs typeface="Helvetica Neue Light"/>
              </a:rPr>
              <a:t>returned submissions missing required information, every year</a:t>
            </a:r>
          </a:p>
        </p:txBody>
      </p:sp>
      <p:sp>
        <p:nvSpPr>
          <p:cNvPr id="3018" name="Tile"/>
          <p:cNvSpPr/>
          <p:nvPr/>
        </p:nvSpPr>
        <p:spPr>
          <a:xfrm>
            <a:off x="4846320" y="2606040"/>
            <a:ext cx="3575303" cy="2743200"/>
          </a:xfrm>
          <a:prstGeom prst="roundRect">
            <a:avLst>
              <a:gd name="adj" fmla="val 4666"/>
            </a:avLst>
          </a:prstGeom>
          <a:solidFill>
            <a:srgbClr val="1B1D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Number"/>
          <p:cNvSpPr txBox="1"/>
          <p:nvPr/>
        </p:nvSpPr>
        <p:spPr>
          <a:xfrm>
            <a:off x="5120640" y="2807208"/>
            <a:ext cx="3026663" cy="880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8000"/>
              </a:lnSpc>
              <a:spcAft>
                <a:spcPts val="300"/>
              </a:spcAft>
            </a:pPr>
            <a:r>
              <a:rPr lang="en-US" sz="6600" spc="-60" dirty="0">
                <a:solidFill>
                  <a:srgbClr val="F5F5F7"/>
                </a:solidFill>
                <a:latin typeface="Helvetica Neue Medium"/>
                <a:cs typeface="Helvetica Neue Medium"/>
              </a:rPr>
              <a:t>22 min</a:t>
            </a:r>
          </a:p>
        </p:txBody>
      </p:sp>
      <p:sp>
        <p:nvSpPr>
          <p:cNvPr id="106" name="Label"/>
          <p:cNvSpPr txBox="1"/>
          <p:nvPr/>
        </p:nvSpPr>
        <p:spPr>
          <a:xfrm>
            <a:off x="5120640" y="3760470"/>
            <a:ext cx="3026663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450" spc="0" dirty="0">
                <a:solidFill>
                  <a:srgbClr val="A3A8B4"/>
                </a:solidFill>
                <a:latin typeface="Helvetica Neue Light"/>
                <a:cs typeface="Helvetica Neue Light"/>
              </a:rPr>
              <a:t>average time employees need to resubmit</a:t>
            </a:r>
          </a:p>
        </p:txBody>
      </p:sp>
      <p:sp>
        <p:nvSpPr>
          <p:cNvPr id="3019" name="Tile"/>
          <p:cNvSpPr/>
          <p:nvPr/>
        </p:nvSpPr>
        <p:spPr>
          <a:xfrm>
            <a:off x="8604503" y="2606040"/>
            <a:ext cx="3575303" cy="2743200"/>
          </a:xfrm>
          <a:prstGeom prst="roundRect">
            <a:avLst>
              <a:gd name="adj" fmla="val 4666"/>
            </a:avLst>
          </a:prstGeom>
          <a:solidFill>
            <a:srgbClr val="F1F2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Number"/>
          <p:cNvSpPr txBox="1"/>
          <p:nvPr/>
        </p:nvSpPr>
        <p:spPr>
          <a:xfrm>
            <a:off x="8878823" y="2807208"/>
            <a:ext cx="3026663" cy="880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8000"/>
              </a:lnSpc>
              <a:spcAft>
                <a:spcPts val="300"/>
              </a:spcAft>
            </a:pPr>
            <a:r>
              <a:rPr lang="en-US" sz="6600" spc="-60" dirty="0">
                <a:solidFill>
                  <a:srgbClr val="14161D"/>
                </a:solidFill>
                <a:latin typeface="Helvetica Neue Medium"/>
                <a:cs typeface="Helvetica Neue Medium"/>
              </a:rPr>
              <a:t>58%</a:t>
            </a:r>
          </a:p>
        </p:txBody>
      </p:sp>
      <p:sp>
        <p:nvSpPr>
          <p:cNvPr id="108" name="Label"/>
          <p:cNvSpPr txBox="1"/>
          <p:nvPr/>
        </p:nvSpPr>
        <p:spPr>
          <a:xfrm>
            <a:off x="8878823" y="3760470"/>
            <a:ext cx="3026663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4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approval rating from Risk &amp; Compliance managers</a:t>
            </a:r>
          </a:p>
        </p:txBody>
      </p:sp>
      <p:sp>
        <p:nvSpPr>
          <p:cNvPr id="3020" name="Tile"/>
          <p:cNvSpPr/>
          <p:nvPr/>
        </p:nvSpPr>
        <p:spPr>
          <a:xfrm>
            <a:off x="8878823" y="4965192"/>
            <a:ext cx="3026663" cy="100584"/>
          </a:xfrm>
          <a:prstGeom prst="roundRect">
            <a:avLst>
              <a:gd name="adj" fmla="val 45454"/>
            </a:avLst>
          </a:prstGeom>
          <a:solidFill>
            <a:srgbClr val="DDE0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1" name="Tile"/>
          <p:cNvSpPr/>
          <p:nvPr/>
        </p:nvSpPr>
        <p:spPr>
          <a:xfrm>
            <a:off x="8878823" y="4965192"/>
            <a:ext cx="1755465" cy="100584"/>
          </a:xfrm>
          <a:prstGeom prst="roundRect">
            <a:avLst>
              <a:gd name="adj" fmla="val 45454"/>
            </a:avLst>
          </a:prstGeom>
          <a:solidFill>
            <a:srgbClr val="FF66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2" name="Tile"/>
          <p:cNvSpPr/>
          <p:nvPr/>
        </p:nvSpPr>
        <p:spPr>
          <a:xfrm>
            <a:off x="4846320" y="5532120"/>
            <a:ext cx="2322575" cy="2697480"/>
          </a:xfrm>
          <a:prstGeom prst="roundRect">
            <a:avLst>
              <a:gd name="adj" fmla="val 5511"/>
            </a:avLst>
          </a:prstGeom>
          <a:solidFill>
            <a:srgbClr val="1B1D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Number"/>
          <p:cNvSpPr txBox="1"/>
          <p:nvPr/>
        </p:nvSpPr>
        <p:spPr>
          <a:xfrm>
            <a:off x="5120640" y="5733288"/>
            <a:ext cx="1773935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8000"/>
              </a:lnSpc>
              <a:spcAft>
                <a:spcPts val="300"/>
              </a:spcAft>
            </a:pPr>
            <a:r>
              <a:rPr lang="en-US" sz="5000" spc="-60" dirty="0">
                <a:solidFill>
                  <a:srgbClr val="F5F5F7"/>
                </a:solidFill>
                <a:latin typeface="Helvetica Neue Medium"/>
                <a:cs typeface="Helvetica Neue Medium"/>
              </a:rPr>
              <a:t>5.4%</a:t>
            </a:r>
          </a:p>
        </p:txBody>
      </p:sp>
      <p:sp>
        <p:nvSpPr>
          <p:cNvPr id="110" name="Label"/>
          <p:cNvSpPr txBox="1"/>
          <p:nvPr/>
        </p:nvSpPr>
        <p:spPr>
          <a:xfrm>
            <a:off x="5120640" y="6473190"/>
            <a:ext cx="1773935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450" spc="0" dirty="0">
                <a:solidFill>
                  <a:srgbClr val="A3A8B4"/>
                </a:solidFill>
                <a:latin typeface="Helvetica Neue Light"/>
                <a:cs typeface="Helvetica Neue Light"/>
              </a:rPr>
              <a:t>drop-off on Outside Business Activities forms</a:t>
            </a:r>
          </a:p>
        </p:txBody>
      </p:sp>
      <p:sp>
        <p:nvSpPr>
          <p:cNvPr id="3023" name="Tile"/>
          <p:cNvSpPr/>
          <p:nvPr/>
        </p:nvSpPr>
        <p:spPr>
          <a:xfrm>
            <a:off x="7351775" y="5532120"/>
            <a:ext cx="2322575" cy="2697480"/>
          </a:xfrm>
          <a:prstGeom prst="roundRect">
            <a:avLst>
              <a:gd name="adj" fmla="val 5511"/>
            </a:avLst>
          </a:prstGeom>
          <a:solidFill>
            <a:srgbClr val="1B1D2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Number"/>
          <p:cNvSpPr txBox="1"/>
          <p:nvPr/>
        </p:nvSpPr>
        <p:spPr>
          <a:xfrm>
            <a:off x="7626095" y="5733288"/>
            <a:ext cx="1773935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8000"/>
              </a:lnSpc>
              <a:spcAft>
                <a:spcPts val="300"/>
              </a:spcAft>
            </a:pPr>
            <a:r>
              <a:rPr lang="en-US" sz="5000" spc="-60" dirty="0">
                <a:solidFill>
                  <a:srgbClr val="F5F5F7"/>
                </a:solidFill>
                <a:latin typeface="Helvetica Neue Medium"/>
                <a:cs typeface="Helvetica Neue Medium"/>
              </a:rPr>
              <a:t>6.1%</a:t>
            </a:r>
          </a:p>
        </p:txBody>
      </p:sp>
      <p:sp>
        <p:nvSpPr>
          <p:cNvPr id="112" name="Label"/>
          <p:cNvSpPr txBox="1"/>
          <p:nvPr/>
        </p:nvSpPr>
        <p:spPr>
          <a:xfrm>
            <a:off x="7626095" y="6473190"/>
            <a:ext cx="1773935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450" spc="0" dirty="0">
                <a:solidFill>
                  <a:srgbClr val="A3A8B4"/>
                </a:solidFill>
                <a:latin typeface="Helvetica Neue Light"/>
                <a:cs typeface="Helvetica Neue Light"/>
              </a:rPr>
              <a:t>drop-off on Private Investments forms</a:t>
            </a:r>
          </a:p>
        </p:txBody>
      </p:sp>
      <p:sp>
        <p:nvSpPr>
          <p:cNvPr id="3024" name="Tile"/>
          <p:cNvSpPr/>
          <p:nvPr/>
        </p:nvSpPr>
        <p:spPr>
          <a:xfrm>
            <a:off x="9857232" y="5532120"/>
            <a:ext cx="2322575" cy="2697480"/>
          </a:xfrm>
          <a:prstGeom prst="roundRect">
            <a:avLst>
              <a:gd name="adj" fmla="val 5511"/>
            </a:avLst>
          </a:prstGeom>
          <a:solidFill>
            <a:srgbClr val="F1F2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Number"/>
          <p:cNvSpPr txBox="1"/>
          <p:nvPr/>
        </p:nvSpPr>
        <p:spPr>
          <a:xfrm>
            <a:off x="10131552" y="5733288"/>
            <a:ext cx="1773935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88000"/>
              </a:lnSpc>
              <a:spcAft>
                <a:spcPts val="300"/>
              </a:spcAft>
            </a:pPr>
            <a:r>
              <a:rPr lang="en-US" sz="5000" spc="-60" dirty="0">
                <a:solidFill>
                  <a:srgbClr val="14161D"/>
                </a:solidFill>
                <a:latin typeface="Helvetica Neue Medium"/>
                <a:cs typeface="Helvetica Neue Medium"/>
              </a:rPr>
              <a:t>61%</a:t>
            </a:r>
          </a:p>
        </p:txBody>
      </p:sp>
      <p:sp>
        <p:nvSpPr>
          <p:cNvPr id="114" name="Label"/>
          <p:cNvSpPr txBox="1"/>
          <p:nvPr/>
        </p:nvSpPr>
        <p:spPr>
          <a:xfrm>
            <a:off x="10131552" y="6473190"/>
            <a:ext cx="1773935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4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approval rating from employees</a:t>
            </a:r>
          </a:p>
        </p:txBody>
      </p:sp>
      <p:sp>
        <p:nvSpPr>
          <p:cNvPr id="3025" name="Tile"/>
          <p:cNvSpPr/>
          <p:nvPr/>
        </p:nvSpPr>
        <p:spPr>
          <a:xfrm>
            <a:off x="10131552" y="7845552"/>
            <a:ext cx="1773935" cy="100584"/>
          </a:xfrm>
          <a:prstGeom prst="roundRect">
            <a:avLst>
              <a:gd name="adj" fmla="val 45454"/>
            </a:avLst>
          </a:prstGeom>
          <a:solidFill>
            <a:srgbClr val="DDE0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6" name="Tile"/>
          <p:cNvSpPr/>
          <p:nvPr/>
        </p:nvSpPr>
        <p:spPr>
          <a:xfrm>
            <a:off x="10131552" y="7845552"/>
            <a:ext cx="1082100" cy="100584"/>
          </a:xfrm>
          <a:prstGeom prst="roundRect">
            <a:avLst>
              <a:gd name="adj" fmla="val 45454"/>
            </a:avLst>
          </a:prstGeom>
          <a:solidFill>
            <a:srgbClr val="FF66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5" name="gradient strip" descr="gradient stri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914400"/>
            <a:ext cx="11358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CREDIT SUISSE OBI · DISCOVERY</a:t>
            </a:r>
          </a:p>
        </p:txBody>
      </p:sp>
      <p:sp>
        <p:nvSpPr>
          <p:cNvPr id="102" name="Headline"/>
          <p:cNvSpPr txBox="1"/>
          <p:nvPr/>
        </p:nvSpPr>
        <p:spPr>
          <a:xfrm>
            <a:off x="822960" y="1371600"/>
            <a:ext cx="113588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lang="en-US" sz="36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We set out to find real user needs, </a:t>
            </a:r>
            <a:r>
              <a:rPr lang="en-US" sz="3600" spc="-40" dirty="0">
                <a:solidFill>
                  <a:srgbClr val="B5531F"/>
                </a:solidFill>
                <a:latin typeface="Helvetica Neue Medium"/>
                <a:cs typeface="Helvetica Neue Medium"/>
              </a:rPr>
              <a:t>test the business’s assumptions</a:t>
            </a:r>
            <a:r>
              <a:rPr lang="en-US" sz="36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 and generate new ideas.</a:t>
            </a:r>
          </a:p>
        </p:txBody>
      </p:sp>
      <p:sp>
        <p:nvSpPr>
          <p:cNvPr id="103" name="Methods"/>
          <p:cNvSpPr txBox="1"/>
          <p:nvPr/>
        </p:nvSpPr>
        <p:spPr>
          <a:xfrm>
            <a:off x="822960" y="3611880"/>
            <a:ext cx="542798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METHODS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Interviews with reviewers, Risk &amp; Compliance managers and their managers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Contextual interviews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Persona development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Research synthesis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Design thinking exercises</a:t>
            </a:r>
          </a:p>
        </p:txBody>
      </p:sp>
      <p:sp>
        <p:nvSpPr>
          <p:cNvPr id="104" name="Problem"/>
          <p:cNvSpPr txBox="1"/>
          <p:nvPr/>
        </p:nvSpPr>
        <p:spPr>
          <a:xfrm>
            <a:off x="6753860" y="3611880"/>
            <a:ext cx="542798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PROBLEM STATEMENT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en-US" sz="155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As part of the iComply ecosystem of Employee Compliance, users need an interactive, web-based pre-clearance application for outside activities, where requests flow through an integrated, pre-defined workflow for review by first-line Reviewers and second-line Risk &amp; Compliance Managers.</a:t>
            </a:r>
          </a:p>
        </p:txBody>
      </p:sp>
      <p:pic>
        <p:nvPicPr>
          <p:cNvPr id="105" name="gradient strip" descr="gradient stri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CREDIT SUISSE OBI · DISCOVERY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What we heard: major themes from the interviews</a:t>
            </a:r>
          </a:p>
        </p:txBody>
      </p:sp>
      <p:sp>
        <p:nvSpPr>
          <p:cNvPr id="103" name="Subtitle"/>
          <p:cNvSpPr txBox="1"/>
          <p:nvPr/>
        </p:nvSpPr>
        <p:spPr>
          <a:xfrm>
            <a:off x="822960" y="1481328"/>
            <a:ext cx="11358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Reviewers, Risk &amp; Compliance managers and their managers</a:t>
            </a:r>
          </a:p>
        </p:txBody>
      </p:sp>
      <p:pic>
        <p:nvPicPr>
          <p:cNvPr id="104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673402"/>
            <a:ext cx="3123144" cy="2985914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pic>
        <p:nvPicPr>
          <p:cNvPr id="105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504" y="3673402"/>
            <a:ext cx="3872015" cy="2985914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06" name="Themes"/>
          <p:cNvSpPr txBox="1"/>
          <p:nvPr/>
        </p:nvSpPr>
        <p:spPr>
          <a:xfrm>
            <a:off x="822960" y="2194560"/>
            <a:ext cx="3749039" cy="6035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MAJOR THEMES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Integration with other systems on the platform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Search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Reporting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Shadowing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Everyone understanding the policies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Mobile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Clear navigation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Clear workflow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Status awareness</a:t>
            </a:r>
          </a:p>
        </p:txBody>
      </p:sp>
      <p:pic>
        <p:nvPicPr>
          <p:cNvPr id="107" name="gradient strip" descr="gradient stri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CREDIT SUISSE OBI · DISCOVERY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Design thinking: 5 concepts with 30 participants</a:t>
            </a:r>
          </a:p>
        </p:txBody>
      </p:sp>
      <p:sp>
        <p:nvSpPr>
          <p:cNvPr id="103" name="Subtitle"/>
          <p:cNvSpPr txBox="1"/>
          <p:nvPr/>
        </p:nvSpPr>
        <p:spPr>
          <a:xfrm>
            <a:off x="822960" y="1481328"/>
            <a:ext cx="11358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Concepts for the dashboard, reporting and submission, for every type of end user</a:t>
            </a:r>
          </a:p>
        </p:txBody>
      </p:sp>
      <p:pic>
        <p:nvPicPr>
          <p:cNvPr id="104" name="Background" descr="image.png"/>
          <p:cNvPicPr>
            <a:picLocks noChangeAspect="1"/>
          </p:cNvPicPr>
          <p:nvPr/>
        </p:nvPicPr>
        <p:blipFill>
          <a:blip r:embed="rId2"/>
          <a:srcRect l="3500" t="27000"/>
          <a:stretch>
            <a:fillRect/>
          </a:stretch>
        </p:blipFill>
        <p:spPr>
          <a:xfrm>
            <a:off x="822960" y="2857736"/>
            <a:ext cx="8138160" cy="4617246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05" name="Format"/>
          <p:cNvSpPr txBox="1"/>
          <p:nvPr/>
        </p:nvSpPr>
        <p:spPr>
          <a:xfrm>
            <a:off x="9418320" y="2286000"/>
            <a:ext cx="2763520" cy="548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SESSION FORMAT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Ice breaker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What would the headlines say?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How do we…?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Concepts and interfaces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Voting</a:t>
            </a:r>
          </a:p>
        </p:txBody>
      </p:sp>
      <p:pic>
        <p:nvPicPr>
          <p:cNvPr id="106" name="gradient strip" descr="gradient str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CREDIT SUISSE OBI · STRATEGY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Pain points + business goals + UX strategy = feature set</a:t>
            </a:r>
          </a:p>
        </p:txBody>
      </p:sp>
      <p:cxnSp>
        <p:nvCxnSpPr>
          <p:cNvPr id="103" name="Divider"/>
          <p:cNvCxnSpPr/>
          <p:nvPr/>
        </p:nvCxnSpPr>
        <p:spPr>
          <a:xfrm>
            <a:off x="822960" y="2651760"/>
            <a:ext cx="2668270" cy="0"/>
          </a:xfrm>
          <a:prstGeom prst="line">
            <a:avLst/>
          </a:prstGeom>
          <a:ln w="9525">
            <a:solidFill>
              <a:srgbClr val="E1E3E8"/>
            </a:solidFill>
          </a:ln>
        </p:spPr>
      </p:cxnSp>
      <p:sp>
        <p:nvSpPr>
          <p:cNvPr id="104" name="PAIN POINTS"/>
          <p:cNvSpPr txBox="1"/>
          <p:nvPr/>
        </p:nvSpPr>
        <p:spPr>
          <a:xfrm>
            <a:off x="822960" y="2880360"/>
            <a:ext cx="2668270" cy="539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PAIN POINTS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Integration with other systems on the platform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Navigation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Clear workflows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Status awareness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Lack of features</a:t>
            </a:r>
          </a:p>
        </p:txBody>
      </p:sp>
      <p:sp>
        <p:nvSpPr>
          <p:cNvPr id="105" name="op"/>
          <p:cNvSpPr txBox="1"/>
          <p:nvPr/>
        </p:nvSpPr>
        <p:spPr>
          <a:xfrm>
            <a:off x="3445510" y="2240280"/>
            <a:ext cx="3200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lang="en-US" sz="260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+</a:t>
            </a:r>
          </a:p>
        </p:txBody>
      </p:sp>
      <p:cxnSp>
        <p:nvCxnSpPr>
          <p:cNvPr id="106" name="Divider"/>
          <p:cNvCxnSpPr/>
          <p:nvPr/>
        </p:nvCxnSpPr>
        <p:spPr>
          <a:xfrm>
            <a:off x="3719830" y="2651760"/>
            <a:ext cx="2668270" cy="0"/>
          </a:xfrm>
          <a:prstGeom prst="line">
            <a:avLst/>
          </a:prstGeom>
          <a:ln w="9525">
            <a:solidFill>
              <a:srgbClr val="E1E3E8"/>
            </a:solidFill>
          </a:ln>
        </p:spPr>
      </p:cxnSp>
      <p:sp>
        <p:nvSpPr>
          <p:cNvPr id="107" name="BUSINESS GOALS"/>
          <p:cNvSpPr txBox="1"/>
          <p:nvPr/>
        </p:nvSpPr>
        <p:spPr>
          <a:xfrm>
            <a:off x="3719830" y="2880360"/>
            <a:ext cx="2668270" cy="539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BUSINESS GOALS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Education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Functionality parity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Platform parity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Mobile</a:t>
            </a:r>
          </a:p>
        </p:txBody>
      </p:sp>
      <p:sp>
        <p:nvSpPr>
          <p:cNvPr id="108" name="op"/>
          <p:cNvSpPr txBox="1"/>
          <p:nvPr/>
        </p:nvSpPr>
        <p:spPr>
          <a:xfrm>
            <a:off x="6342380" y="2240280"/>
            <a:ext cx="3200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lang="en-US" sz="260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+</a:t>
            </a:r>
          </a:p>
        </p:txBody>
      </p:sp>
      <p:cxnSp>
        <p:nvCxnSpPr>
          <p:cNvPr id="109" name="Divider"/>
          <p:cNvCxnSpPr/>
          <p:nvPr/>
        </p:nvCxnSpPr>
        <p:spPr>
          <a:xfrm>
            <a:off x="6616700" y="2651760"/>
            <a:ext cx="2668270" cy="0"/>
          </a:xfrm>
          <a:prstGeom prst="line">
            <a:avLst/>
          </a:prstGeom>
          <a:ln w="9525">
            <a:solidFill>
              <a:srgbClr val="E1E3E8"/>
            </a:solidFill>
          </a:ln>
        </p:spPr>
      </p:cxnSp>
      <p:sp>
        <p:nvSpPr>
          <p:cNvPr id="110" name="UX STRATEGY"/>
          <p:cNvSpPr txBox="1"/>
          <p:nvPr/>
        </p:nvSpPr>
        <p:spPr>
          <a:xfrm>
            <a:off x="6616700" y="2880360"/>
            <a:ext cx="2668270" cy="539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UX STRATEGY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Integrations with other systems on the platform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Everyone understanding the policies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Access for all in the platform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Mobile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Clear navigation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Clear workflows</a:t>
            </a:r>
          </a:p>
        </p:txBody>
      </p:sp>
      <p:sp>
        <p:nvSpPr>
          <p:cNvPr id="111" name="op"/>
          <p:cNvSpPr txBox="1"/>
          <p:nvPr/>
        </p:nvSpPr>
        <p:spPr>
          <a:xfrm>
            <a:off x="9239250" y="2240280"/>
            <a:ext cx="3200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lang="en-US" sz="260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=</a:t>
            </a:r>
          </a:p>
        </p:txBody>
      </p:sp>
      <p:cxnSp>
        <p:nvCxnSpPr>
          <p:cNvPr id="112" name="Divider"/>
          <p:cNvCxnSpPr/>
          <p:nvPr/>
        </p:nvCxnSpPr>
        <p:spPr>
          <a:xfrm>
            <a:off x="9513570" y="2651760"/>
            <a:ext cx="2668270" cy="0"/>
          </a:xfrm>
          <a:prstGeom prst="line">
            <a:avLst/>
          </a:prstGeom>
          <a:ln w="28575">
            <a:solidFill>
              <a:srgbClr val="B5531F"/>
            </a:solidFill>
          </a:ln>
        </p:spPr>
      </p:cxnSp>
      <p:sp>
        <p:nvSpPr>
          <p:cNvPr id="113" name="FEATURE SET"/>
          <p:cNvSpPr txBox="1"/>
          <p:nvPr/>
        </p:nvSpPr>
        <p:spPr>
          <a:xfrm>
            <a:off x="9513570" y="2880360"/>
            <a:ext cx="2668270" cy="539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FEATURE SET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Search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Reporting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Shadowing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Proxies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Queries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lang="en-US" sz="170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Mobile</a:t>
            </a:r>
          </a:p>
        </p:txBody>
      </p:sp>
      <p:pic>
        <p:nvPicPr>
          <p:cNvPr id="114" name="gradient strip" descr="gradient str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914400"/>
            <a:ext cx="11358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CREDIT SUISSE OBI · DELIVERY</a:t>
            </a:r>
          </a:p>
        </p:txBody>
      </p:sp>
      <p:sp>
        <p:nvSpPr>
          <p:cNvPr id="102" name="Headline"/>
          <p:cNvSpPr txBox="1"/>
          <p:nvPr/>
        </p:nvSpPr>
        <p:spPr>
          <a:xfrm>
            <a:off x="822960" y="1371600"/>
            <a:ext cx="113588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lang="en-US" sz="38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One dashboard for </a:t>
            </a:r>
            <a:r>
              <a:rPr lang="en-US" sz="3800" spc="-40" dirty="0">
                <a:solidFill>
                  <a:srgbClr val="B5531F"/>
                </a:solidFill>
                <a:latin typeface="Helvetica Neue Medium"/>
                <a:cs typeface="Helvetica Neue Medium"/>
              </a:rPr>
              <a:t>Submitters, Reviewers and Risk &amp; Compliance Managers</a:t>
            </a:r>
            <a:r>
              <a:rPr lang="en-US" sz="38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.</a:t>
            </a:r>
          </a:p>
        </p:txBody>
      </p:sp>
      <p:sp>
        <p:nvSpPr>
          <p:cNvPr id="103" name="Body"/>
          <p:cNvSpPr txBox="1"/>
          <p:nvPr/>
        </p:nvSpPr>
        <p:spPr>
          <a:xfrm>
            <a:off x="822960" y="3611880"/>
            <a:ext cx="5427980" cy="411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5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The dashboard was the main starting point for all three user types, so it got the most attention. It went through many iterations shaped by company goals, line-of-business goals, UX strategy, legal, risk and ADA requirements, and the design system.</a:t>
            </a:r>
          </a:p>
        </p:txBody>
      </p:sp>
      <p:sp>
        <p:nvSpPr>
          <p:cNvPr id="104" name="Process"/>
          <p:cNvSpPr txBox="1"/>
          <p:nvPr/>
        </p:nvSpPr>
        <p:spPr>
          <a:xfrm>
            <a:off x="6753860" y="3611880"/>
            <a:ext cx="5427980" cy="411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HOW WE DELIVERED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Feature refinement and road map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33 Agile sprints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Usability testing every week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Demos and QA</a:t>
            </a:r>
          </a:p>
        </p:txBody>
      </p:sp>
      <p:pic>
        <p:nvPicPr>
          <p:cNvPr id="105" name="gradient strip" descr="gradient stri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CREDIT SUISSE OBI · DELIVERY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The delivered app, one request end to end</a:t>
            </a:r>
          </a:p>
        </p:txBody>
      </p:sp>
      <p:sp>
        <p:nvSpPr>
          <p:cNvPr id="103" name="Subtitle"/>
          <p:cNvSpPr txBox="1"/>
          <p:nvPr/>
        </p:nvSpPr>
        <p:spPr>
          <a:xfrm>
            <a:off x="822960" y="1481328"/>
            <a:ext cx="11358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The employee submits, the manager reviews, Compliance decides. Screens from the OBI Training Guide.</a:t>
            </a:r>
          </a:p>
        </p:txBody>
      </p:sp>
      <p:pic>
        <p:nvPicPr>
          <p:cNvPr id="104" name="Hi-fi screen"/>
          <p:cNvPicPr>
            <a:picLocks noChangeAspect="1"/>
          </p:cNvPicPr>
          <p:nvPr/>
        </p:nvPicPr>
        <p:blipFill>
          <a:blip r:embed="rId2"/>
          <a:srcRect b="8685"/>
          <a:stretch>
            <a:fillRect/>
          </a:stretch>
        </p:blipFill>
        <p:spPr>
          <a:xfrm>
            <a:off x="822960" y="2057400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05" name="Cap 1"/>
          <p:cNvSpPr txBox="1"/>
          <p:nvPr/>
        </p:nvSpPr>
        <p:spPr>
          <a:xfrm>
            <a:off x="822960" y="3449828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01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Welcome and wizard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Employee</a:t>
            </a:r>
          </a:p>
        </p:txBody>
      </p:sp>
      <p:pic>
        <p:nvPicPr>
          <p:cNvPr id="106" name="Hi-fi screen"/>
          <p:cNvPicPr>
            <a:picLocks noChangeAspect="1"/>
          </p:cNvPicPr>
          <p:nvPr/>
        </p:nvPicPr>
        <p:blipFill>
          <a:blip r:embed="rId3"/>
          <a:srcRect b="1918"/>
          <a:stretch>
            <a:fillRect/>
          </a:stretch>
        </p:blipFill>
        <p:spPr>
          <a:xfrm>
            <a:off x="3127654" y="2057400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07" name="Cap 2"/>
          <p:cNvSpPr txBox="1"/>
          <p:nvPr/>
        </p:nvSpPr>
        <p:spPr>
          <a:xfrm>
            <a:off x="3127654" y="3449828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02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Create request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Employee</a:t>
            </a:r>
          </a:p>
        </p:txBody>
      </p:sp>
      <p:pic>
        <p:nvPicPr>
          <p:cNvPr id="108" name="Hi-fi screen"/>
          <p:cNvPicPr>
            <a:picLocks noChangeAspect="1"/>
          </p:cNvPicPr>
          <p:nvPr/>
        </p:nvPicPr>
        <p:blipFill>
          <a:blip r:embed="rId4"/>
          <a:srcRect b="8685"/>
          <a:stretch>
            <a:fillRect/>
          </a:stretch>
        </p:blipFill>
        <p:spPr>
          <a:xfrm>
            <a:off x="5432348" y="2057400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09" name="Cap 3"/>
          <p:cNvSpPr txBox="1"/>
          <p:nvPr/>
        </p:nvSpPr>
        <p:spPr>
          <a:xfrm>
            <a:off x="5432348" y="3449828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03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Certify and submit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Employee</a:t>
            </a:r>
          </a:p>
        </p:txBody>
      </p:sp>
      <p:pic>
        <p:nvPicPr>
          <p:cNvPr id="110" name="Hi-fi screen"/>
          <p:cNvPicPr>
            <a:picLocks noChangeAspect="1"/>
          </p:cNvPicPr>
          <p:nvPr/>
        </p:nvPicPr>
        <p:blipFill>
          <a:blip r:embed="rId5"/>
          <a:srcRect b="8685"/>
          <a:stretch>
            <a:fillRect/>
          </a:stretch>
        </p:blipFill>
        <p:spPr>
          <a:xfrm>
            <a:off x="7737043" y="2057400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11" name="Cap 4"/>
          <p:cNvSpPr txBox="1"/>
          <p:nvPr/>
        </p:nvSpPr>
        <p:spPr>
          <a:xfrm>
            <a:off x="7737043" y="3449828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04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Submitted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Employee</a:t>
            </a:r>
          </a:p>
        </p:txBody>
      </p:sp>
      <p:pic>
        <p:nvPicPr>
          <p:cNvPr id="112" name="Hi-fi screen"/>
          <p:cNvPicPr>
            <a:picLocks noChangeAspect="1"/>
          </p:cNvPicPr>
          <p:nvPr/>
        </p:nvPicPr>
        <p:blipFill>
          <a:blip r:embed="rId6"/>
          <a:srcRect b="25497"/>
          <a:stretch>
            <a:fillRect/>
          </a:stretch>
        </p:blipFill>
        <p:spPr>
          <a:xfrm>
            <a:off x="10041737" y="2057400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13" name="Cap 5"/>
          <p:cNvSpPr txBox="1"/>
          <p:nvPr/>
        </p:nvSpPr>
        <p:spPr>
          <a:xfrm>
            <a:off x="10041737" y="3449828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05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Manager notified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Manager</a:t>
            </a:r>
          </a:p>
        </p:txBody>
      </p:sp>
      <p:pic>
        <p:nvPicPr>
          <p:cNvPr id="114" name="Hi-fi screen"/>
          <p:cNvPicPr>
            <a:picLocks noChangeAspect="1"/>
          </p:cNvPicPr>
          <p:nvPr/>
        </p:nvPicPr>
        <p:blipFill>
          <a:blip r:embed="rId7"/>
          <a:srcRect b="8685"/>
          <a:stretch>
            <a:fillRect/>
          </a:stretch>
        </p:blipFill>
        <p:spPr>
          <a:xfrm>
            <a:off x="822960" y="3961892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15" name="Cap 6"/>
          <p:cNvSpPr txBox="1"/>
          <p:nvPr/>
        </p:nvSpPr>
        <p:spPr>
          <a:xfrm>
            <a:off x="822960" y="5354320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06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Pending my review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Manager</a:t>
            </a:r>
          </a:p>
        </p:txBody>
      </p:sp>
      <p:pic>
        <p:nvPicPr>
          <p:cNvPr id="116" name="Hi-fi screen"/>
          <p:cNvPicPr>
            <a:picLocks noChangeAspect="1"/>
          </p:cNvPicPr>
          <p:nvPr/>
        </p:nvPicPr>
        <p:blipFill>
          <a:blip r:embed="rId8"/>
          <a:srcRect b="8685"/>
          <a:stretch>
            <a:fillRect/>
          </a:stretch>
        </p:blipFill>
        <p:spPr>
          <a:xfrm>
            <a:off x="3127654" y="3961892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17" name="Cap 7"/>
          <p:cNvSpPr txBox="1"/>
          <p:nvPr/>
        </p:nvSpPr>
        <p:spPr>
          <a:xfrm>
            <a:off x="3127654" y="5354320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07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Read-only request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Manager</a:t>
            </a:r>
          </a:p>
        </p:txBody>
      </p:sp>
      <p:pic>
        <p:nvPicPr>
          <p:cNvPr id="118" name="Hi-fi screen"/>
          <p:cNvPicPr>
            <a:picLocks noChangeAspect="1"/>
          </p:cNvPicPr>
          <p:nvPr/>
        </p:nvPicPr>
        <p:blipFill>
          <a:blip r:embed="rId9"/>
          <a:srcRect b="8685"/>
          <a:stretch>
            <a:fillRect/>
          </a:stretch>
        </p:blipFill>
        <p:spPr>
          <a:xfrm>
            <a:off x="5432348" y="3961892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19" name="Cap 8"/>
          <p:cNvSpPr txBox="1"/>
          <p:nvPr/>
        </p:nvSpPr>
        <p:spPr>
          <a:xfrm>
            <a:off x="5432348" y="5354320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08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Workflow history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Manager</a:t>
            </a:r>
          </a:p>
        </p:txBody>
      </p:sp>
      <p:pic>
        <p:nvPicPr>
          <p:cNvPr id="120" name="Hi-fi screen"/>
          <p:cNvPicPr>
            <a:picLocks noChangeAspect="1"/>
          </p:cNvPicPr>
          <p:nvPr/>
        </p:nvPicPr>
        <p:blipFill>
          <a:blip r:embed="rId10"/>
          <a:srcRect b="8759"/>
          <a:stretch>
            <a:fillRect/>
          </a:stretch>
        </p:blipFill>
        <p:spPr>
          <a:xfrm>
            <a:off x="7737043" y="3961892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21" name="Cap 9"/>
          <p:cNvSpPr txBox="1"/>
          <p:nvPr/>
        </p:nvSpPr>
        <p:spPr>
          <a:xfrm>
            <a:off x="7737043" y="5354320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09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Compliance digest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Compliance</a:t>
            </a:r>
          </a:p>
        </p:txBody>
      </p:sp>
      <p:pic>
        <p:nvPicPr>
          <p:cNvPr id="122" name="Hi-fi screen"/>
          <p:cNvPicPr>
            <a:picLocks noChangeAspect="1"/>
          </p:cNvPicPr>
          <p:nvPr/>
        </p:nvPicPr>
        <p:blipFill>
          <a:blip r:embed="rId11"/>
          <a:srcRect b="8685"/>
          <a:stretch>
            <a:fillRect/>
          </a:stretch>
        </p:blipFill>
        <p:spPr>
          <a:xfrm>
            <a:off x="10041737" y="3961892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23" name="Cap 10"/>
          <p:cNvSpPr txBox="1"/>
          <p:nvPr/>
        </p:nvSpPr>
        <p:spPr>
          <a:xfrm>
            <a:off x="10041737" y="5354320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10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Pending queue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Compliance</a:t>
            </a:r>
          </a:p>
        </p:txBody>
      </p:sp>
      <p:pic>
        <p:nvPicPr>
          <p:cNvPr id="124" name="Hi-fi screen"/>
          <p:cNvPicPr>
            <a:picLocks noChangeAspect="1"/>
          </p:cNvPicPr>
          <p:nvPr/>
        </p:nvPicPr>
        <p:blipFill>
          <a:blip r:embed="rId12"/>
          <a:srcRect b="8685"/>
          <a:stretch>
            <a:fillRect/>
          </a:stretch>
        </p:blipFill>
        <p:spPr>
          <a:xfrm>
            <a:off x="822960" y="5866384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25" name="Cap 11"/>
          <p:cNvSpPr txBox="1"/>
          <p:nvPr/>
        </p:nvSpPr>
        <p:spPr>
          <a:xfrm>
            <a:off x="822960" y="7258812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11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Pipeline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Compliance</a:t>
            </a:r>
          </a:p>
        </p:txBody>
      </p:sp>
      <p:pic>
        <p:nvPicPr>
          <p:cNvPr id="126" name="Hi-fi screen"/>
          <p:cNvPicPr>
            <a:picLocks noChangeAspect="1"/>
          </p:cNvPicPr>
          <p:nvPr/>
        </p:nvPicPr>
        <p:blipFill>
          <a:blip r:embed="rId13"/>
          <a:srcRect b="8685"/>
          <a:stretch>
            <a:fillRect/>
          </a:stretch>
        </p:blipFill>
        <p:spPr>
          <a:xfrm>
            <a:off x="3127654" y="5866384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27" name="Cap 12"/>
          <p:cNvSpPr txBox="1"/>
          <p:nvPr/>
        </p:nvSpPr>
        <p:spPr>
          <a:xfrm>
            <a:off x="3127654" y="7258812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12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Reporting search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Compliance</a:t>
            </a:r>
          </a:p>
        </p:txBody>
      </p:sp>
      <p:pic>
        <p:nvPicPr>
          <p:cNvPr id="128" name="Hi-fi screen"/>
          <p:cNvPicPr>
            <a:picLocks noChangeAspect="1"/>
          </p:cNvPicPr>
          <p:nvPr/>
        </p:nvPicPr>
        <p:blipFill>
          <a:blip r:embed="rId14"/>
          <a:srcRect b="8685"/>
          <a:stretch>
            <a:fillRect/>
          </a:stretch>
        </p:blipFill>
        <p:spPr>
          <a:xfrm>
            <a:off x="5432348" y="5866384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29" name="Cap 13"/>
          <p:cNvSpPr txBox="1"/>
          <p:nvPr/>
        </p:nvSpPr>
        <p:spPr>
          <a:xfrm>
            <a:off x="5432348" y="7258812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13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Reporting results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Compliance</a:t>
            </a:r>
          </a:p>
        </p:txBody>
      </p:sp>
      <p:pic>
        <p:nvPicPr>
          <p:cNvPr id="130" name="Hi-fi screen"/>
          <p:cNvPicPr>
            <a:picLocks noChangeAspect="1"/>
          </p:cNvPicPr>
          <p:nvPr/>
        </p:nvPicPr>
        <p:blipFill>
          <a:blip r:embed="rId15"/>
          <a:srcRect b="22521"/>
          <a:stretch>
            <a:fillRect/>
          </a:stretch>
        </p:blipFill>
        <p:spPr>
          <a:xfrm>
            <a:off x="7737043" y="5866384"/>
            <a:ext cx="2140102" cy="1337563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31" name="Cap 14"/>
          <p:cNvSpPr txBox="1"/>
          <p:nvPr/>
        </p:nvSpPr>
        <p:spPr>
          <a:xfrm>
            <a:off x="7737043" y="7258812"/>
            <a:ext cx="214010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050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14  </a:t>
            </a:r>
            <a:r>
              <a:rPr lang="en-US" sz="105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Decision email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9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Employee</a:t>
            </a:r>
          </a:p>
        </p:txBody>
      </p:sp>
      <p:cxnSp>
        <p:nvCxnSpPr>
          <p:cNvPr id="132" name="Divider"/>
          <p:cNvCxnSpPr/>
          <p:nvPr/>
        </p:nvCxnSpPr>
        <p:spPr>
          <a:xfrm>
            <a:off x="10041737" y="5866384"/>
            <a:ext cx="2140102" cy="0"/>
          </a:xfrm>
          <a:prstGeom prst="line">
            <a:avLst/>
          </a:prstGeom>
          <a:ln w="28575">
            <a:solidFill>
              <a:srgbClr val="B5531F"/>
            </a:solidFill>
          </a:ln>
        </p:spPr>
      </p:cxnSp>
      <p:sp>
        <p:nvSpPr>
          <p:cNvPr id="133" name="Prototype tile">
            <a:hlinkClick r:id="rId16"/>
          </p:cNvPr>
          <p:cNvSpPr txBox="1"/>
          <p:nvPr/>
        </p:nvSpPr>
        <p:spPr>
          <a:xfrm>
            <a:off x="10041737" y="6003544"/>
            <a:ext cx="2140102" cy="13375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100" spc="200" dirty="0">
                <a:solidFill>
                  <a:srgbClr val="B5531F"/>
                </a:solidFill>
                <a:latin typeface="Helvetica Neue Medium"/>
                <a:cs typeface="Helvetica Neue Medium"/>
              </a:rPr>
              <a:t>TRY IT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400" u="sng" spc="0" dirty="0">
                <a:solidFill>
                  <a:srgbClr val="B5531F"/>
                </a:solidFill>
                <a:latin typeface="Helvetica Neue Medium"/>
                <a:cs typeface="Helvetica Neue Medium"/>
              </a:rPr>
              <a:t>Open the prototype →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050" spc="0" dirty="0">
                <a:solidFill>
                  <a:srgbClr val="858A97"/>
                </a:solidFill>
                <a:latin typeface="Helvetica Neue Light"/>
                <a:cs typeface="Helvetica Neue Light"/>
              </a:rPr>
              <a:t>Starts at the welcome screen</a:t>
            </a:r>
          </a:p>
        </p:txBody>
      </p:sp>
      <p:pic>
        <p:nvPicPr>
          <p:cNvPr id="134" name="gradient strip" descr="gradient strip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CREDIT SUISSE OBI · DESIGN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Experience design strategy</a:t>
            </a:r>
          </a:p>
        </p:txBody>
      </p:sp>
      <p:sp>
        <p:nvSpPr>
          <p:cNvPr id="103" name="Subtitle"/>
          <p:cNvSpPr txBox="1"/>
          <p:nvPr/>
        </p:nvSpPr>
        <p:spPr>
          <a:xfrm>
            <a:off x="822960" y="1481328"/>
            <a:ext cx="11358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Based on POC 2 from the design thinking process, and thumbnail sketches.</a:t>
            </a:r>
          </a:p>
        </p:txBody>
      </p:sp>
      <p:pic>
        <p:nvPicPr>
          <p:cNvPr id="104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711" y="2011680"/>
            <a:ext cx="2756095" cy="3580347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pic>
        <p:nvPicPr>
          <p:cNvPr id="105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6880" y="5263566"/>
            <a:ext cx="2030375" cy="1830035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pic>
        <p:nvPicPr>
          <p:cNvPr id="106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9826" y="3234501"/>
            <a:ext cx="1688382" cy="1815196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pic>
        <p:nvPicPr>
          <p:cNvPr id="107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314" y="5409122"/>
            <a:ext cx="2453369" cy="2911917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pic>
        <p:nvPicPr>
          <p:cNvPr id="108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4447" y="6877758"/>
            <a:ext cx="1835360" cy="1442637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09" name="Learned"/>
          <p:cNvSpPr txBox="1"/>
          <p:nvPr/>
        </p:nvSpPr>
        <p:spPr>
          <a:xfrm>
            <a:off x="822960" y="2194560"/>
            <a:ext cx="493776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WHAT WE LEARNED FROM DISCOVERY AND DESIGN THINKING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Risk &amp; Compliance managers need a dashboard to understand and filter request statuses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Reporting and other major functions, with sharing and alerts to second-line managers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Employees were often confused about which form they needed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They needed education on why, how and when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They needed to know what to expect when they came back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One central place to see every submitted request</a:t>
            </a:r>
          </a:p>
        </p:txBody>
      </p:sp>
      <p:pic>
        <p:nvPicPr>
          <p:cNvPr id="110" name="gradient strip" descr="gradient stri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CREDIT SUISSE OBI · DESIGN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Dashboard design sprint: second iteration</a:t>
            </a:r>
          </a:p>
        </p:txBody>
      </p:sp>
      <p:sp>
        <p:nvSpPr>
          <p:cNvPr id="103" name="Subtitle"/>
          <p:cNvSpPr txBox="1"/>
          <p:nvPr/>
        </p:nvSpPr>
        <p:spPr>
          <a:xfrm>
            <a:off x="822960" y="1481328"/>
            <a:ext cx="11358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The first iterations put education front and center. Testing showed newer users needed it, but not all.</a:t>
            </a:r>
          </a:p>
        </p:txBody>
      </p:sp>
      <p:pic>
        <p:nvPicPr>
          <p:cNvPr id="104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720" y="2103120"/>
            <a:ext cx="3568087" cy="6217920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05" name="Learned"/>
          <p:cNvSpPr txBox="1"/>
          <p:nvPr/>
        </p:nvSpPr>
        <p:spPr>
          <a:xfrm>
            <a:off x="822960" y="219456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WHAT WE LEARNED IN TESTING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Education was a priority for all users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Users responded to friendlier copy that described the situations they might be in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Content for Swiss users could be surfaced by user ID and location</a:t>
            </a:r>
          </a:p>
        </p:txBody>
      </p:sp>
      <p:pic>
        <p:nvPicPr>
          <p:cNvPr id="106" name="gradient strip" descr="gradient str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CREDIT SUISSE OBI · DESIGN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Dashboard design sprint: final version</a:t>
            </a:r>
          </a:p>
        </p:txBody>
      </p:sp>
      <p:sp>
        <p:nvSpPr>
          <p:cNvPr id="103" name="Subtitle"/>
          <p:cNvSpPr txBox="1"/>
          <p:nvPr/>
        </p:nvSpPr>
        <p:spPr>
          <a:xfrm>
            <a:off x="822960" y="1481328"/>
            <a:ext cx="11358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Submitters reach a wizard that asks only 2 questions to find the right form.</a:t>
            </a:r>
          </a:p>
        </p:txBody>
      </p:sp>
      <p:pic>
        <p:nvPicPr>
          <p:cNvPr id="104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121472"/>
            <a:ext cx="4414870" cy="4056630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pic>
        <p:nvPicPr>
          <p:cNvPr id="105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392" y="5696941"/>
            <a:ext cx="4615415" cy="1605746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06" name="Caption"/>
          <p:cNvSpPr txBox="1"/>
          <p:nvPr/>
        </p:nvSpPr>
        <p:spPr>
          <a:xfrm>
            <a:off x="9740212" y="3106415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1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Final Version</a:t>
            </a:r>
          </a:p>
        </p:txBody>
      </p:sp>
      <p:sp>
        <p:nvSpPr>
          <p:cNvPr id="107" name="Learned"/>
          <p:cNvSpPr txBox="1"/>
          <p:nvPr/>
        </p:nvSpPr>
        <p:spPr>
          <a:xfrm>
            <a:off x="822960" y="2194560"/>
            <a:ext cx="393192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WHAT WE LEARNED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Easy access to education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A cleaner interface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A quick way to start a request</a:t>
            </a:r>
          </a:p>
        </p:txBody>
      </p:sp>
      <p:pic>
        <p:nvPicPr>
          <p:cNvPr id="108" name="gradient strip" descr="gradient stri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CREDIT SUISSE OBI · DESIGN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Landing page design sprint</a:t>
            </a:r>
          </a:p>
        </p:txBody>
      </p:sp>
      <p:sp>
        <p:nvSpPr>
          <p:cNvPr id="103" name="Subtitle"/>
          <p:cNvSpPr txBox="1"/>
          <p:nvPr/>
        </p:nvSpPr>
        <p:spPr>
          <a:xfrm>
            <a:off x="822960" y="1481328"/>
            <a:ext cx="11358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Legacy requests from the previous system, OIRS, were migrated into OBI.</a:t>
            </a:r>
          </a:p>
        </p:txBody>
      </p:sp>
      <p:pic>
        <p:nvPicPr>
          <p:cNvPr id="104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692708"/>
            <a:ext cx="7607808" cy="5038742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05" name="Learned"/>
          <p:cNvSpPr txBox="1"/>
          <p:nvPr/>
        </p:nvSpPr>
        <p:spPr>
          <a:xfrm>
            <a:off x="822960" y="2194560"/>
            <a:ext cx="338328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YOUR REQUESTS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Opens by default on the requester dashboard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Drafts saved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Pending requests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Completed requests</a:t>
            </a:r>
          </a:p>
        </p:txBody>
      </p:sp>
      <p:pic>
        <p:nvPicPr>
          <p:cNvPr id="106" name="gradient strip" descr="gradient str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  <p:sp>
        <p:nvSpPr>
          <p:cNvPr id="901" name="Callout text"/>
          <p:cNvSpPr txBox="1"/>
          <p:nvPr/>
        </p:nvSpPr>
        <p:spPr>
          <a:xfrm>
            <a:off x="9893808" y="6053328"/>
            <a:ext cx="2148840" cy="1627632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US" sz="1050" dirty="0">
                <a:solidFill>
                  <a:srgbClr val="FFFFFF"/>
                </a:solidFill>
                <a:latin typeface="Helvetica Neue Light"/>
                <a:cs typeface="Helvetica Neue Light"/>
              </a:rPr>
              <a:t>The landing page shows the requester dashboard. “Your Requests” opens by default, in three sections: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US" sz="1050" dirty="0">
                <a:solidFill>
                  <a:srgbClr val="FFFFFF"/>
                </a:solidFill>
                <a:latin typeface="Helvetica Neue Light"/>
                <a:cs typeface="Helvetica Neue Light"/>
              </a:rPr>
              <a:t>1. Drafts saved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US" sz="1050" dirty="0">
                <a:solidFill>
                  <a:srgbClr val="FFFFFF"/>
                </a:solidFill>
                <a:latin typeface="Helvetica Neue Light"/>
                <a:cs typeface="Helvetica Neue Light"/>
              </a:rPr>
              <a:t>2. Pending requests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US" sz="1050" dirty="0">
                <a:solidFill>
                  <a:srgbClr val="FFFFFF"/>
                </a:solidFill>
                <a:latin typeface="Helvetica Neue Light"/>
                <a:cs typeface="Helvetica Neue Light"/>
              </a:rPr>
              <a:t>3. Completed requests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CREDIT SUISSE OBI · DESIGN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Proxy request design sprint</a:t>
            </a:r>
          </a:p>
        </p:txBody>
      </p:sp>
      <p:sp>
        <p:nvSpPr>
          <p:cNvPr id="103" name="Subtitle"/>
          <p:cNvSpPr txBox="1"/>
          <p:nvPr/>
        </p:nvSpPr>
        <p:spPr>
          <a:xfrm>
            <a:off x="822960" y="1481328"/>
            <a:ext cx="11358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For people who can’t access OBI to make the disclosures they need to.</a:t>
            </a:r>
          </a:p>
        </p:txBody>
      </p:sp>
      <p:pic>
        <p:nvPicPr>
          <p:cNvPr id="104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6949440" cy="4594929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pic>
        <p:nvPicPr>
          <p:cNvPr id="105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3220" y="4301231"/>
            <a:ext cx="2285806" cy="2579697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pic>
        <p:nvPicPr>
          <p:cNvPr id="106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220" y="2286000"/>
            <a:ext cx="2285806" cy="1832351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pic>
        <p:nvPicPr>
          <p:cNvPr id="108" name="gradient strip" descr="gradient stri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  <p:sp>
        <p:nvSpPr>
          <p:cNvPr id="902" name="Callout text"/>
          <p:cNvSpPr txBox="1"/>
          <p:nvPr/>
        </p:nvSpPr>
        <p:spPr>
          <a:xfrm>
            <a:off x="4890924" y="3387740"/>
            <a:ext cx="2542478" cy="677994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US" sz="950" dirty="0">
                <a:solidFill>
                  <a:srgbClr val="FFFFFF"/>
                </a:solidFill>
                <a:latin typeface="Helvetica Neue Light"/>
                <a:cs typeface="Helvetica Neue Light"/>
              </a:rPr>
              <a:t>For people who can’t access OBI themselves to make the disclosures they need to, OBI has proxy functions.</a:t>
            </a:r>
          </a:p>
        </p:txBody>
      </p:sp>
      <p:sp>
        <p:nvSpPr>
          <p:cNvPr id="903" name="Callout text"/>
          <p:cNvSpPr txBox="1"/>
          <p:nvPr/>
        </p:nvSpPr>
        <p:spPr>
          <a:xfrm>
            <a:off x="1161957" y="6014967"/>
            <a:ext cx="2542478" cy="847492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US" sz="950" dirty="0">
                <a:solidFill>
                  <a:srgbClr val="FFFFFF"/>
                </a:solidFill>
                <a:latin typeface="Helvetica Neue Light"/>
                <a:cs typeface="Helvetica Neue Light"/>
              </a:rPr>
              <a:t>Staff can name colleagues to act as proxies. A proxy can submit requests on behalf of anyone who has given them permission.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566928"/>
            <a:ext cx="11358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CREDIT SUISSE OBI · DESIGN</a:t>
            </a:r>
          </a:p>
        </p:txBody>
      </p:sp>
      <p:sp>
        <p:nvSpPr>
          <p:cNvPr id="102" name="Title"/>
          <p:cNvSpPr txBox="1"/>
          <p:nvPr/>
        </p:nvSpPr>
        <p:spPr>
          <a:xfrm>
            <a:off x="822960" y="896112"/>
            <a:ext cx="1135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3000" spc="-20" dirty="0">
                <a:solidFill>
                  <a:srgbClr val="14161D"/>
                </a:solidFill>
                <a:latin typeface="Helvetica Neue Medium"/>
                <a:cs typeface="Helvetica Neue Medium"/>
              </a:rPr>
              <a:t>Reporting design sprint</a:t>
            </a:r>
          </a:p>
        </p:txBody>
      </p:sp>
      <p:sp>
        <p:nvSpPr>
          <p:cNvPr id="103" name="Subtitle"/>
          <p:cNvSpPr txBox="1"/>
          <p:nvPr/>
        </p:nvSpPr>
        <p:spPr>
          <a:xfrm>
            <a:off x="822960" y="1481328"/>
            <a:ext cx="11358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Risk &amp; Compliance managers find any request and export the results.</a:t>
            </a:r>
          </a:p>
        </p:txBody>
      </p:sp>
      <p:pic>
        <p:nvPicPr>
          <p:cNvPr id="104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266" y="2011680"/>
            <a:ext cx="5277541" cy="6309360"/>
          </a:xfrm>
          <a:prstGeom prst="rect">
            <a:avLst/>
          </a:prstGeom>
          <a:ln w="9525">
            <a:solidFill>
              <a:srgbClr val="D3D6DC"/>
            </a:solidFill>
          </a:ln>
        </p:spPr>
      </p:pic>
      <p:sp>
        <p:nvSpPr>
          <p:cNvPr id="105" name="Learned"/>
          <p:cNvSpPr txBox="1"/>
          <p:nvPr/>
        </p:nvSpPr>
        <p:spPr>
          <a:xfrm>
            <a:off x="822960" y="2194560"/>
            <a:ext cx="384048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SEARCH BY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Request ID and requester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Status and type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Submission dates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Company and office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Export to Excel or PDF</a:t>
            </a:r>
          </a:p>
        </p:txBody>
      </p:sp>
      <p:pic>
        <p:nvPicPr>
          <p:cNvPr id="106" name="gradient strip" descr="gradient str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914400"/>
            <a:ext cx="11358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CREDIT SUISSE OBI · KEY CALLS</a:t>
            </a:r>
          </a:p>
        </p:txBody>
      </p:sp>
      <p:sp>
        <p:nvSpPr>
          <p:cNvPr id="102" name="Headline"/>
          <p:cNvSpPr txBox="1"/>
          <p:nvPr/>
        </p:nvSpPr>
        <p:spPr>
          <a:xfrm>
            <a:off x="822960" y="1371600"/>
            <a:ext cx="113588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lang="en-US" sz="44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Four calls that </a:t>
            </a:r>
            <a:r>
              <a:rPr lang="en-US" sz="4400" spc="-40" dirty="0">
                <a:solidFill>
                  <a:srgbClr val="B5531F"/>
                </a:solidFill>
                <a:latin typeface="Helvetica Neue Medium"/>
                <a:cs typeface="Helvetica Neue Medium"/>
              </a:rPr>
              <a:t>shaped OBI</a:t>
            </a:r>
            <a:r>
              <a:rPr lang="en-US" sz="44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.</a:t>
            </a:r>
          </a:p>
        </p:txBody>
      </p:sp>
      <p:cxnSp>
        <p:nvCxnSpPr>
          <p:cNvPr id="103" name="Divider"/>
          <p:cNvCxnSpPr/>
          <p:nvPr/>
        </p:nvCxnSpPr>
        <p:spPr>
          <a:xfrm>
            <a:off x="822960" y="3566160"/>
            <a:ext cx="5427980" cy="0"/>
          </a:xfrm>
          <a:prstGeom prst="line">
            <a:avLst/>
          </a:prstGeom>
          <a:ln w="9525">
            <a:solidFill>
              <a:srgbClr val="E1E3E8"/>
            </a:solidFill>
          </a:ln>
        </p:spPr>
      </p:cxnSp>
      <p:sp>
        <p:nvSpPr>
          <p:cNvPr id="104" name="A separate dashboard for submitters title"/>
          <p:cNvSpPr txBox="1"/>
          <p:nvPr/>
        </p:nvSpPr>
        <p:spPr>
          <a:xfrm>
            <a:off x="822960" y="3767328"/>
            <a:ext cx="54279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230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A separate dashboard for submitters</a:t>
            </a:r>
          </a:p>
        </p:txBody>
      </p:sp>
      <p:sp>
        <p:nvSpPr>
          <p:cNvPr id="105" name="A separate dashboard for submitters body"/>
          <p:cNvSpPr txBox="1"/>
          <p:nvPr/>
        </p:nvSpPr>
        <p:spPr>
          <a:xfrm>
            <a:off x="822960" y="4343400"/>
            <a:ext cx="54279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Testing showed submitters needed their own starting point, with forms that reveal one step at a time.</a:t>
            </a:r>
          </a:p>
        </p:txBody>
      </p:sp>
      <p:cxnSp>
        <p:nvCxnSpPr>
          <p:cNvPr id="106" name="Divider"/>
          <p:cNvCxnSpPr/>
          <p:nvPr/>
        </p:nvCxnSpPr>
        <p:spPr>
          <a:xfrm>
            <a:off x="6753860" y="3566160"/>
            <a:ext cx="5427980" cy="0"/>
          </a:xfrm>
          <a:prstGeom prst="line">
            <a:avLst/>
          </a:prstGeom>
          <a:ln w="9525">
            <a:solidFill>
              <a:srgbClr val="E1E3E8"/>
            </a:solidFill>
          </a:ln>
        </p:spPr>
      </p:cxnSp>
      <p:sp>
        <p:nvSpPr>
          <p:cNvPr id="107" name="Two questions pick the form title"/>
          <p:cNvSpPr txBox="1"/>
          <p:nvPr/>
        </p:nvSpPr>
        <p:spPr>
          <a:xfrm>
            <a:off x="6753860" y="3767328"/>
            <a:ext cx="54279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230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Two questions pick the form</a:t>
            </a:r>
          </a:p>
        </p:txBody>
      </p:sp>
      <p:sp>
        <p:nvSpPr>
          <p:cNvPr id="108" name="Two questions pick the form body"/>
          <p:cNvSpPr txBox="1"/>
          <p:nvPr/>
        </p:nvSpPr>
        <p:spPr>
          <a:xfrm>
            <a:off x="6753860" y="4343400"/>
            <a:ext cx="54279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Employees didn’t know which form applied. A short wizard asks two questions and opens the right one.</a:t>
            </a:r>
          </a:p>
        </p:txBody>
      </p:sp>
      <p:cxnSp>
        <p:nvCxnSpPr>
          <p:cNvPr id="109" name="Divider"/>
          <p:cNvCxnSpPr/>
          <p:nvPr/>
        </p:nvCxnSpPr>
        <p:spPr>
          <a:xfrm>
            <a:off x="822960" y="5806440"/>
            <a:ext cx="5427980" cy="0"/>
          </a:xfrm>
          <a:prstGeom prst="line">
            <a:avLst/>
          </a:prstGeom>
          <a:ln w="9525">
            <a:solidFill>
              <a:srgbClr val="E1E3E8"/>
            </a:solidFill>
          </a:ln>
        </p:spPr>
      </p:cxnSp>
      <p:sp>
        <p:nvSpPr>
          <p:cNvPr id="110" name="Education written as scenarios title"/>
          <p:cNvSpPr txBox="1"/>
          <p:nvPr/>
        </p:nvSpPr>
        <p:spPr>
          <a:xfrm>
            <a:off x="822960" y="6007608"/>
            <a:ext cx="54279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230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Education written as scenarios</a:t>
            </a:r>
          </a:p>
        </p:txBody>
      </p:sp>
      <p:sp>
        <p:nvSpPr>
          <p:cNvPr id="111" name="Education written as scenarios body"/>
          <p:cNvSpPr txBox="1"/>
          <p:nvPr/>
        </p:nvSpPr>
        <p:spPr>
          <a:xfrm>
            <a:off x="822960" y="6583680"/>
            <a:ext cx="54279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Every user group asked for education. Copy built around real situations tested best, after three iterations.</a:t>
            </a:r>
          </a:p>
        </p:txBody>
      </p:sp>
      <p:cxnSp>
        <p:nvCxnSpPr>
          <p:cNvPr id="112" name="Divider"/>
          <p:cNvCxnSpPr/>
          <p:nvPr/>
        </p:nvCxnSpPr>
        <p:spPr>
          <a:xfrm>
            <a:off x="6753860" y="5806440"/>
            <a:ext cx="5427980" cy="0"/>
          </a:xfrm>
          <a:prstGeom prst="line">
            <a:avLst/>
          </a:prstGeom>
          <a:ln w="9525">
            <a:solidFill>
              <a:srgbClr val="E1E3E8"/>
            </a:solidFill>
          </a:ln>
        </p:spPr>
      </p:cxnSp>
      <p:sp>
        <p:nvSpPr>
          <p:cNvPr id="113" name="Tools for approvers too title"/>
          <p:cNvSpPr txBox="1"/>
          <p:nvPr/>
        </p:nvSpPr>
        <p:spPr>
          <a:xfrm>
            <a:off x="6753860" y="6007608"/>
            <a:ext cx="54279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2300" spc="0" dirty="0">
                <a:solidFill>
                  <a:srgbClr val="14161D"/>
                </a:solidFill>
                <a:latin typeface="Helvetica Neue Medium"/>
                <a:cs typeface="Helvetica Neue Medium"/>
              </a:rPr>
              <a:t>Tools for approvers too</a:t>
            </a:r>
          </a:p>
        </p:txBody>
      </p:sp>
      <p:sp>
        <p:nvSpPr>
          <p:cNvPr id="114" name="Tools for approvers too body"/>
          <p:cNvSpPr txBox="1"/>
          <p:nvPr/>
        </p:nvSpPr>
        <p:spPr>
          <a:xfrm>
            <a:off x="6753860" y="6583680"/>
            <a:ext cx="54279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Proxy submissions for people who can’t access OBI, and reporting by ID, status, office and date, exported to Excel or PDF.</a:t>
            </a:r>
          </a:p>
        </p:txBody>
      </p:sp>
      <p:pic>
        <p:nvPicPr>
          <p:cNvPr id="115" name="gradient strip" descr="gradient stri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914400"/>
            <a:ext cx="11358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B5531F"/>
                </a:solidFill>
                <a:latin typeface="Helvetica Neue Medium"/>
                <a:cs typeface="Helvetica Neue Medium"/>
              </a:rPr>
              <a:t>CREDIT SUISSE OBI · OUTCOME</a:t>
            </a:r>
          </a:p>
        </p:txBody>
      </p:sp>
      <p:sp>
        <p:nvSpPr>
          <p:cNvPr id="102" name="Headline"/>
          <p:cNvSpPr txBox="1"/>
          <p:nvPr/>
        </p:nvSpPr>
        <p:spPr>
          <a:xfrm>
            <a:off x="822960" y="1371600"/>
            <a:ext cx="113588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lang="en-US" sz="38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Delivered: one place to submit, review and report, </a:t>
            </a:r>
            <a:r>
              <a:rPr lang="en-US" sz="3800" spc="-40" dirty="0">
                <a:solidFill>
                  <a:srgbClr val="B5531F"/>
                </a:solidFill>
                <a:latin typeface="Helvetica Neue Medium"/>
                <a:cs typeface="Helvetica Neue Medium"/>
              </a:rPr>
              <a:t>with education built in</a:t>
            </a:r>
            <a:r>
              <a:rPr lang="en-US" sz="3800" spc="-40" dirty="0">
                <a:solidFill>
                  <a:srgbClr val="14161D"/>
                </a:solidFill>
                <a:latin typeface="Helvetica Neue Medium"/>
                <a:cs typeface="Helvetica Neue Medium"/>
              </a:rPr>
              <a:t>.</a:t>
            </a:r>
          </a:p>
        </p:txBody>
      </p:sp>
      <p:sp>
        <p:nvSpPr>
          <p:cNvPr id="103" name="Shipped"/>
          <p:cNvSpPr txBox="1"/>
          <p:nvPr/>
        </p:nvSpPr>
        <p:spPr>
          <a:xfrm>
            <a:off x="822960" y="3611880"/>
            <a:ext cx="5427980" cy="429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WHAT SHIPPED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A submitter dashboard with a 2-question wizard that opens the right form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Your Requests: drafts, pending and completed, with legacy OIRS requests migrated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Proxy submissions for people who can’t access OBI themselves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14161D"/>
                </a:solidFill>
                <a:latin typeface="Helvetica Neue Light"/>
                <a:cs typeface="Helvetica Neue Light"/>
              </a:rPr>
              <a:t>Reporting by ID, requester, status, type, dates, company and office, exported to Excel or PDF</a:t>
            </a:r>
          </a:p>
        </p:txBody>
      </p:sp>
      <p:sp>
        <p:nvSpPr>
          <p:cNvPr id="104" name="Learned"/>
          <p:cNvSpPr txBox="1"/>
          <p:nvPr/>
        </p:nvSpPr>
        <p:spPr>
          <a:xfrm>
            <a:off x="6753860" y="3611880"/>
            <a:ext cx="5427980" cy="429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100" spc="200" dirty="0">
                <a:solidFill>
                  <a:srgbClr val="858A97"/>
                </a:solidFill>
                <a:latin typeface="Helvetica Neue Medium"/>
                <a:cs typeface="Helvetica Neue Medium"/>
              </a:rPr>
              <a:t>WHAT TESTING TAUGHT US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Education matters to every user, but only newer users need it front and center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Copy that describes real situations works better than policy language</a:t>
            </a:r>
          </a:p>
          <a:p>
            <a:pPr marL="292608" indent="-292608" algn="l">
              <a:lnSpc>
                <a:spcPct val="115000"/>
              </a:lnSpc>
              <a:spcAft>
                <a:spcPts val="600"/>
              </a:spcAft>
            </a:pPr>
            <a:r>
              <a:rPr lang="en-US" sz="1650" spc="0" dirty="0">
                <a:solidFill>
                  <a:srgbClr val="B5531F"/>
                </a:solidFill>
                <a:latin typeface="Helvetica Neue Light"/>
                <a:cs typeface="Helvetica Neue Light"/>
              </a:rPr>
              <a:t>—	</a:t>
            </a:r>
            <a:r>
              <a:rPr lang="en-US" sz="1650" spc="0" dirty="0">
                <a:solidFill>
                  <a:srgbClr val="565C6B"/>
                </a:solidFill>
                <a:latin typeface="Helvetica Neue Light"/>
                <a:cs typeface="Helvetica Neue Light"/>
              </a:rPr>
              <a:t>A cleaner interface and a quick start beat more options on the dashboard</a:t>
            </a:r>
          </a:p>
        </p:txBody>
      </p:sp>
      <p:pic>
        <p:nvPicPr>
          <p:cNvPr id="105" name="gradient strip" descr="gradient stri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 txBox="1"/>
          <p:nvPr/>
        </p:nvSpPr>
        <p:spPr>
          <a:xfrm>
            <a:off x="822960" y="914400"/>
            <a:ext cx="113588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200" spc="300" dirty="0">
                <a:solidFill>
                  <a:srgbClr val="E98C64"/>
                </a:solidFill>
                <a:latin typeface="Helvetica Neue Medium"/>
                <a:cs typeface="Helvetica Neue Medium"/>
              </a:rPr>
              <a:t>CREDIT SUISSE OBI · PROTOTYPE</a:t>
            </a:r>
          </a:p>
        </p:txBody>
      </p:sp>
      <p:sp>
        <p:nvSpPr>
          <p:cNvPr id="102" name="Headline"/>
          <p:cNvSpPr txBox="1"/>
          <p:nvPr/>
        </p:nvSpPr>
        <p:spPr>
          <a:xfrm>
            <a:off x="822960" y="1371600"/>
            <a:ext cx="1175004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lang="en-US" sz="4400" spc="-40" dirty="0">
                <a:solidFill>
                  <a:srgbClr val="F5F5F7"/>
                </a:solidFill>
                <a:latin typeface="Helvetica Neue Medium"/>
                <a:cs typeface="Helvetica Neue Medium"/>
              </a:rPr>
              <a:t>Follow 1 request through </a:t>
            </a:r>
            <a:r>
              <a:rPr lang="en-US" sz="4400" spc="-40" dirty="0">
                <a:solidFill>
                  <a:srgbClr val="E98C64"/>
                </a:solidFill>
                <a:latin typeface="Helvetica Neue Medium"/>
                <a:cs typeface="Helvetica Neue Medium"/>
              </a:rPr>
              <a:t>the delivered app</a:t>
            </a:r>
            <a:r>
              <a:rPr lang="en-US" sz="4400" spc="-40" dirty="0">
                <a:solidFill>
                  <a:srgbClr val="F5F5F7"/>
                </a:solidFill>
                <a:latin typeface="Helvetica Neue Medium"/>
                <a:cs typeface="Helvetica Neue Medium"/>
              </a:rPr>
              <a:t>.</a:t>
            </a:r>
          </a:p>
        </p:txBody>
      </p:sp>
      <p:sp>
        <p:nvSpPr>
          <p:cNvPr id="103" name="Body"/>
          <p:cNvSpPr txBox="1"/>
          <p:nvPr/>
        </p:nvSpPr>
        <p:spPr>
          <a:xfrm>
            <a:off x="822960" y="32461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700" spc="0" dirty="0">
                <a:solidFill>
                  <a:srgbClr val="A3A8B4"/>
                </a:solidFill>
                <a:latin typeface="Helvetica Neue Light"/>
                <a:cs typeface="Helvetica Neue Light"/>
              </a:rPr>
              <a:t>14 screens from the OBI Training Guide, linked in order: the employee submits, the manager reviews, Compliance decides, and the employee hears back.</a:t>
            </a:r>
          </a:p>
        </p:txBody>
      </p:sp>
      <p:sp>
        <p:nvSpPr>
          <p:cNvPr id="104" name="Link">
            <a:hlinkClick r:id="rId2"/>
          </p:cNvPr>
          <p:cNvSpPr txBox="1"/>
          <p:nvPr/>
        </p:nvSpPr>
        <p:spPr>
          <a:xfrm>
            <a:off x="822960" y="52578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2200" u="sng" spc="0" dirty="0">
                <a:solidFill>
                  <a:srgbClr val="E98C64"/>
                </a:solidFill>
                <a:latin typeface="Helvetica Neue Medium"/>
                <a:cs typeface="Helvetica Neue Medium"/>
              </a:rPr>
              <a:t>Open the OBI prototype →</a:t>
            </a:r>
          </a:p>
        </p:txBody>
      </p:sp>
      <p:cxnSp>
        <p:nvCxnSpPr>
          <p:cNvPr id="105" name="Divider"/>
          <p:cNvCxnSpPr/>
          <p:nvPr/>
        </p:nvCxnSpPr>
        <p:spPr>
          <a:xfrm>
            <a:off x="822960" y="6080760"/>
            <a:ext cx="5120640" cy="0"/>
          </a:xfrm>
          <a:prstGeom prst="line">
            <a:avLst/>
          </a:prstGeom>
          <a:ln w="9525">
            <a:solidFill>
              <a:srgbClr val="2C2F38"/>
            </a:solidFill>
          </a:ln>
        </p:spPr>
      </p:cxnSp>
      <p:sp>
        <p:nvSpPr>
          <p:cNvPr id="106" name="Also"/>
          <p:cNvSpPr txBox="1"/>
          <p:nvPr/>
        </p:nvSpPr>
        <p:spPr>
          <a:xfrm>
            <a:off x="822960" y="6263640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sz="1100" spc="200" dirty="0">
                <a:solidFill>
                  <a:srgbClr val="7A7F8C"/>
                </a:solidFill>
                <a:latin typeface="Helvetica Neue Medium"/>
                <a:cs typeface="Helvetica Neue Medium"/>
              </a:rPr>
              <a:t>ALSO AVAILABLE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en-US" sz="1550" spc="0" dirty="0">
                <a:solidFill>
                  <a:srgbClr val="A3A8B4"/>
                </a:solidFill>
                <a:latin typeface="Helvetica Neue Light"/>
                <a:cs typeface="Helvetica Neue Light"/>
              </a:rPr>
              <a:t>An offline version with the narrative for every step and a full link map: OBI-Request-Prototype.html.</a:t>
            </a:r>
          </a:p>
        </p:txBody>
      </p:sp>
      <p:pic>
        <p:nvPicPr>
          <p:cNvPr id="107" name="Hi-fi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777175"/>
            <a:ext cx="5779008" cy="3955409"/>
          </a:xfrm>
          <a:prstGeom prst="rect">
            <a:avLst/>
          </a:prstGeom>
          <a:ln w="9525">
            <a:solidFill>
              <a:srgbClr val="3A3E49"/>
            </a:solidFill>
          </a:ln>
        </p:spPr>
      </p:pic>
      <p:pic>
        <p:nvPicPr>
          <p:cNvPr id="108" name="gradient strip" descr="gradient stri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85427"/>
            <a:ext cx="13004800" cy="468173"/>
          </a:xfrm>
          <a:prstGeom prst="rect">
            <a:avLst/>
          </a:prstGeom>
        </p:spPr>
      </p:pic>
      <p:sp>
        <p:nvSpPr>
          <p:cNvPr id="109" name="Workflow map link">
            <a:hlinkClick r:id="rId5"/>
          </p:cNvPr>
          <p:cNvSpPr txBox="1"/>
          <p:nvPr/>
        </p:nvSpPr>
        <p:spPr>
          <a:xfrm>
            <a:off x="822960" y="5791200"/>
            <a:ext cx="512064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1500" u="sng" spc="0" dirty="0">
                <a:solidFill>
                  <a:srgbClr val="E98C64"/>
                </a:solidFill>
                <a:latin typeface="Helvetica Neue Medium"/>
                <a:cs typeface="Helvetica Neue Medium"/>
              </a:rPr>
              <a:t>Or start at the workflow map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9541</Words>
  <Application>Microsoft Macintosh PowerPoint</Application>
  <PresentationFormat>Custom</PresentationFormat>
  <Paragraphs>1194</Paragraphs>
  <Slides>87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3" baseType="lpstr">
      <vt:lpstr>Aptos</vt:lpstr>
      <vt:lpstr>Arial</vt:lpstr>
      <vt:lpstr>Calibri</vt:lpstr>
      <vt:lpstr>Helvetica Neue Light</vt:lpstr>
      <vt:lpstr>Helvetica Neue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Thibodeau</cp:lastModifiedBy>
  <cp:revision>32</cp:revision>
  <dcterms:created xsi:type="dcterms:W3CDTF">2013-01-27T09:14:16Z</dcterms:created>
  <dcterms:modified xsi:type="dcterms:W3CDTF">2026-10-14T01:12:06Z</dcterms:modified>
  <cp:category/>
</cp:coreProperties>
</file>
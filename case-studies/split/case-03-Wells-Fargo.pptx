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9"/>
  </p:notesMasterIdLst>
  <p:sldIdLst>
    <p:sldId id="257" r:id="rId56"/>
    <p:sldId id="258" r:id="rId57"/>
    <p:sldId id="259" r:id="rId58"/>
    <p:sldId id="260" r:id="rId59"/>
    <p:sldId id="263" r:id="rId60"/>
    <p:sldId id="265" r:id="rId61"/>
    <p:sldId id="266" r:id="rId62"/>
    <p:sldId id="269" r:id="rId63"/>
    <p:sldId id="270" r:id="rId64"/>
    <p:sldId id="271" r:id="rId65"/>
    <p:sldId id="272" r:id="rId66"/>
    <p:sldId id="273" r:id="rId67"/>
    <p:sldId id="460" r:id="rId68"/>
    <p:sldId id="449" r:id="rId69"/>
    <p:sldId id="452" r:id="rId70"/>
    <p:sldId id="461" r:id="rId71"/>
  </p:sldIdLst>
  <p:sldSz cx="13004800" cy="9753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ACFFF"/>
    <a:srgbClr val="FF6600"/>
    <a:srgbClr val="99C9FF"/>
    <a:srgbClr val="41587E"/>
    <a:srgbClr val="2F7D72"/>
    <a:srgbClr val="483176"/>
    <a:srgbClr val="78202A"/>
    <a:srgbClr val="703596"/>
    <a:srgbClr val="397D72"/>
    <a:srgbClr val="80202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31"/>
    <p:restoredTop sz="94658"/>
  </p:normalViewPr>
  <p:slideViewPr>
    <p:cSldViewPr snapToGrid="0" snapToObjects="1">
      <p:cViewPr varScale="1">
        <p:scale>
          <a:sx n="84" d="100"/>
          <a:sy n="84" d="100"/>
        </p:scale>
        <p:origin x="2224"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89" Type="http://schemas.openxmlformats.org/officeDocument/2006/relationships/notesMaster" Target="notesMasters/notesMaster1.xml"/><Relationship Id="rId90" Type="http://schemas.openxmlformats.org/officeDocument/2006/relationships/presProps" Target="presProps.xml"/><Relationship Id="rId91" Type="http://schemas.openxmlformats.org/officeDocument/2006/relationships/viewProps" Target="viewProps.xml"/><Relationship Id="rId92" Type="http://schemas.openxmlformats.org/officeDocument/2006/relationships/theme" Target="theme/theme1.xml"/><Relationship Id="rId9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B164DF-5A26-5349-97CB-5F6E935D3C02}" type="datetimeFigureOut">
              <a:rPr lang="en-US" smtClean="0"/>
              <a:t>10/13/26</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8DF791-86A3-344B-9231-BE94FBB68C8C}" type="slidenum">
              <a:rPr lang="en-US" smtClean="0"/>
              <a:t>‹#›</a:t>
            </a:fld>
            <a:endParaRPr lang="en-US" dirty="0"/>
          </a:p>
        </p:txBody>
      </p:sp>
    </p:spTree>
    <p:extLst>
      <p:ext uri="{BB962C8B-B14F-4D97-AF65-F5344CB8AC3E}">
        <p14:creationId xmlns:p14="http://schemas.microsoft.com/office/powerpoint/2010/main" val="1940441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Page">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49944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ivider">
    <p:bg>
      <p:bgPr>
        <a:solidFill>
          <a:srgbClr val="C45A3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3998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image" Target="../media/image63.png"/><Relationship Id="rId8" Type="http://schemas.openxmlformats.org/officeDocument/2006/relationships/image" Target="../media/image64.png"/><Relationship Id="rId9" Type="http://schemas.openxmlformats.org/officeDocument/2006/relationships/image" Target="../media/image65.png"/><Relationship Id="rId10" Type="http://schemas.openxmlformats.org/officeDocument/2006/relationships/image" Target="../media/image66.png"/><Relationship Id="rId11" Type="http://schemas.openxmlformats.org/officeDocument/2006/relationships/image" Target="../media/image67.png"/><Relationship Id="rId12" Type="http://schemas.openxmlformats.org/officeDocument/2006/relationships/image" Target="../media/image68.png"/><Relationship Id="rId13" Type="http://schemas.openxmlformats.org/officeDocument/2006/relationships/image" Target="../media/image69.png"/><Relationship Id="rId14"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image" Target="../media/image75.png"/><Relationship Id="rId4"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3.png"/><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image" Target="../media/image86.png"/><Relationship Id="rId6" Type="http://schemas.openxmlformats.org/officeDocument/2006/relationships/image" Target="../media/image87.png"/><Relationship Id="rId7" Type="http://schemas.openxmlformats.org/officeDocument/2006/relationships/image" Target="../media/image88.png"/><Relationship Id="rId8" Type="http://schemas.openxmlformats.org/officeDocument/2006/relationships/image" Target="../media/image89.png"/><Relationship Id="rId9" Type="http://schemas.openxmlformats.org/officeDocument/2006/relationships/image" Target="../media/image90.png"/><Relationship Id="rId10" Type="http://schemas.openxmlformats.org/officeDocument/2006/relationships/image" Target="../media/image91.png"/><Relationship Id="rId11" Type="http://schemas.openxmlformats.org/officeDocument/2006/relationships/image" Target="../media/image92.png"/><Relationship Id="rId12" Type="http://schemas.openxmlformats.org/officeDocument/2006/relationships/image" Target="../media/image93.png"/><Relationship Id="rId13" Type="http://schemas.openxmlformats.org/officeDocument/2006/relationships/image" Target="../media/image94.png"/><Relationship Id="rId14" Type="http://schemas.openxmlformats.org/officeDocument/2006/relationships/image" Target="../media/image95.png"/><Relationship Id="rId15" Type="http://schemas.openxmlformats.org/officeDocument/2006/relationships/image" Target="../media/image96.png"/><Relationship Id="rId16" Type="http://schemas.openxmlformats.org/officeDocument/2006/relationships/hyperlink" Target="https://www.figma.com/proto/vZrnrHgaWOOgf1fIzX9sBy?node-id=1-120&amp;starting-point-node-id=1%3A120&amp;page-id=1%3A119&amp;scaling=scale-down" TargetMode="External"/><Relationship Id="rId17"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www.figma.com/proto/vZrnrHgaWOOgf1fIzX9sBy?node-id=1-120&amp;starting-point-node-id=1%3A120&amp;page-id=1%3A119&amp;scaling=scale-down" TargetMode="External"/><Relationship Id="rId3" Type="http://schemas.openxmlformats.org/officeDocument/2006/relationships/hyperlink" Target="https://www.figma.com/proto/w9xAlgyQeXToR54UPbv7wG/New-Trading-Desk?node-id=470-1889&amp;starting-point-node-id=470%3A1889" TargetMode="External"/><Relationship Id="rId4" Type="http://schemas.openxmlformats.org/officeDocument/2006/relationships/image" Target="../media/image94.png"/><Relationship Id="rId5" Type="http://schemas.openxmlformats.org/officeDocument/2006/relationships/image" Target="../media/image2.png"/><Relationship Id="rId6" Type="http://schemas.openxmlformats.org/officeDocument/2006/relationships/hyperlink" Target="https://www.figma.com/proto/vZrnrHgaWOOgf1fIzX9sBy?node-id=6-145&amp;starting-point-node-id=6%3A145&amp;page-id=1%3A119&amp;scaling=scale-down" TargetMode="External"/></Relationships>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822960"/>
            <a:ext cx="548640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CASE STUDY 03 · CONSUMER MOBILE · DELIVERED</a:t>
            </a:r>
          </a:p>
        </p:txBody>
      </p:sp>
      <p:sp>
        <p:nvSpPr>
          <p:cNvPr id="102" name="Company"/>
          <p:cNvSpPr txBox="1"/>
          <p:nvPr/>
        </p:nvSpPr>
        <p:spPr>
          <a:xfrm>
            <a:off x="822960" y="1234440"/>
            <a:ext cx="5486400" cy="914400"/>
          </a:xfrm>
          <a:prstGeom prst="rect">
            <a:avLst/>
          </a:prstGeom>
          <a:noFill/>
        </p:spPr>
        <p:txBody>
          <a:bodyPr wrap="square" lIns="0" tIns="0" rIns="0" bIns="0" anchor="t">
            <a:noAutofit/>
          </a:bodyPr>
          <a:lstStyle/>
          <a:p>
            <a:pPr algn="l">
              <a:lnSpc>
                <a:spcPct val="90000"/>
              </a:lnSpc>
              <a:spcAft>
                <a:spcPts val="300"/>
              </a:spcAft>
            </a:pPr>
            <a:r>
              <a:rPr lang="en-US" sz="5400" spc="-40" dirty="0">
                <a:solidFill>
                  <a:srgbClr val="F5F5F7"/>
                </a:solidFill>
                <a:latin typeface="Helvetica Neue Medium"/>
                <a:cs typeface="Helvetica Neue Medium"/>
              </a:rPr>
              <a:t>Wells Fargo</a:t>
            </a:r>
          </a:p>
        </p:txBody>
      </p:sp>
      <p:sp>
        <p:nvSpPr>
          <p:cNvPr id="103" name="Project"/>
          <p:cNvSpPr txBox="1"/>
          <p:nvPr/>
        </p:nvSpPr>
        <p:spPr>
          <a:xfrm>
            <a:off x="822960" y="2240280"/>
            <a:ext cx="5486400" cy="548640"/>
          </a:xfrm>
          <a:prstGeom prst="rect">
            <a:avLst/>
          </a:prstGeom>
          <a:noFill/>
        </p:spPr>
        <p:txBody>
          <a:bodyPr wrap="square" lIns="0" tIns="0" rIns="0" bIns="0" anchor="t">
            <a:noAutofit/>
          </a:bodyPr>
          <a:lstStyle/>
          <a:p>
            <a:pPr algn="l">
              <a:lnSpc>
                <a:spcPct val="115000"/>
              </a:lnSpc>
              <a:spcAft>
                <a:spcPts val="300"/>
              </a:spcAft>
            </a:pPr>
            <a:r>
              <a:rPr lang="en-US" sz="2600" spc="0" dirty="0">
                <a:solidFill>
                  <a:srgbClr val="E98C64"/>
                </a:solidFill>
                <a:latin typeface="Helvetica Neue Medium"/>
                <a:cs typeface="Helvetica Neue Medium"/>
              </a:rPr>
              <a:t>Integrated Trade Ticket</a:t>
            </a:r>
          </a:p>
        </p:txBody>
      </p:sp>
      <p:sp>
        <p:nvSpPr>
          <p:cNvPr id="104" name="Hook"/>
          <p:cNvSpPr txBox="1"/>
          <p:nvPr/>
        </p:nvSpPr>
        <p:spPr>
          <a:xfrm>
            <a:off x="822960" y="2926080"/>
            <a:ext cx="5486400" cy="128016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Increasing revenue by letting investors trade by share quantity or dollar amount, in one simpler mobile ticket.</a:t>
            </a:r>
          </a:p>
        </p:txBody>
      </p:sp>
      <p:cxnSp>
        <p:nvCxnSpPr>
          <p:cNvPr id="105" name="Divider"/>
          <p:cNvCxnSpPr/>
          <p:nvPr/>
        </p:nvCxnSpPr>
        <p:spPr>
          <a:xfrm>
            <a:off x="822960" y="4343400"/>
            <a:ext cx="5486400" cy="0"/>
          </a:xfrm>
          <a:prstGeom prst="line">
            <a:avLst/>
          </a:prstGeom>
          <a:ln w="9525">
            <a:solidFill>
              <a:srgbClr val="2C2F38"/>
            </a:solidFill>
          </a:ln>
        </p:spPr>
      </p:cxnSp>
      <p:sp>
        <p:nvSpPr>
          <p:cNvPr id="106" name="ROLE"/>
          <p:cNvSpPr txBox="1"/>
          <p:nvPr/>
        </p:nvSpPr>
        <p:spPr>
          <a:xfrm>
            <a:off x="822960" y="4471416"/>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ROLE</a:t>
            </a:r>
          </a:p>
        </p:txBody>
      </p:sp>
      <p:sp>
        <p:nvSpPr>
          <p:cNvPr id="107" name="ROLE value"/>
          <p:cNvSpPr txBox="1"/>
          <p:nvPr/>
        </p:nvSpPr>
        <p:spPr>
          <a:xfrm>
            <a:off x="2148840" y="4443984"/>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Led the project team</a:t>
            </a:r>
          </a:p>
        </p:txBody>
      </p:sp>
      <p:cxnSp>
        <p:nvCxnSpPr>
          <p:cNvPr id="108" name="Divider"/>
          <p:cNvCxnSpPr/>
          <p:nvPr/>
        </p:nvCxnSpPr>
        <p:spPr>
          <a:xfrm>
            <a:off x="822960" y="5056632"/>
            <a:ext cx="5486400" cy="0"/>
          </a:xfrm>
          <a:prstGeom prst="line">
            <a:avLst/>
          </a:prstGeom>
          <a:ln w="9525">
            <a:solidFill>
              <a:srgbClr val="2C2F38"/>
            </a:solidFill>
          </a:ln>
        </p:spPr>
      </p:cxnSp>
      <p:sp>
        <p:nvSpPr>
          <p:cNvPr id="109" name="TEAM"/>
          <p:cNvSpPr txBox="1"/>
          <p:nvPr/>
        </p:nvSpPr>
        <p:spPr>
          <a:xfrm>
            <a:off x="822960" y="5184648"/>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TEAM</a:t>
            </a:r>
          </a:p>
        </p:txBody>
      </p:sp>
      <p:sp>
        <p:nvSpPr>
          <p:cNvPr id="110" name="TEAM value"/>
          <p:cNvSpPr txBox="1"/>
          <p:nvPr/>
        </p:nvSpPr>
        <p:spPr>
          <a:xfrm>
            <a:off x="2148840" y="5157216"/>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2 UX designers</a:t>
            </a:r>
          </a:p>
        </p:txBody>
      </p:sp>
      <p:cxnSp>
        <p:nvCxnSpPr>
          <p:cNvPr id="111" name="Divider"/>
          <p:cNvCxnSpPr/>
          <p:nvPr/>
        </p:nvCxnSpPr>
        <p:spPr>
          <a:xfrm>
            <a:off x="822960" y="5769864"/>
            <a:ext cx="5486400" cy="0"/>
          </a:xfrm>
          <a:prstGeom prst="line">
            <a:avLst/>
          </a:prstGeom>
          <a:ln w="9525">
            <a:solidFill>
              <a:srgbClr val="2C2F38"/>
            </a:solidFill>
          </a:ln>
        </p:spPr>
      </p:cxnSp>
      <p:sp>
        <p:nvSpPr>
          <p:cNvPr id="112" name="SCOPE"/>
          <p:cNvSpPr txBox="1"/>
          <p:nvPr/>
        </p:nvSpPr>
        <p:spPr>
          <a:xfrm>
            <a:off x="822960" y="5897880"/>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SCOPE</a:t>
            </a:r>
          </a:p>
        </p:txBody>
      </p:sp>
      <p:sp>
        <p:nvSpPr>
          <p:cNvPr id="113" name="SCOPE value"/>
          <p:cNvSpPr txBox="1"/>
          <p:nvPr/>
        </p:nvSpPr>
        <p:spPr>
          <a:xfrm>
            <a:off x="2148840" y="5870448"/>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Discovery, competitive analysis, 3 tested iterations, 6 Agile sprints</a:t>
            </a:r>
          </a:p>
        </p:txBody>
      </p:sp>
      <p:cxnSp>
        <p:nvCxnSpPr>
          <p:cNvPr id="114" name="Divider"/>
          <p:cNvCxnSpPr/>
          <p:nvPr/>
        </p:nvCxnSpPr>
        <p:spPr>
          <a:xfrm>
            <a:off x="822960" y="6483096"/>
            <a:ext cx="5486400" cy="0"/>
          </a:xfrm>
          <a:prstGeom prst="line">
            <a:avLst/>
          </a:prstGeom>
          <a:ln w="9525">
            <a:solidFill>
              <a:srgbClr val="2C2F38"/>
            </a:solidFill>
          </a:ln>
        </p:spPr>
      </p:cxnSp>
      <p:sp>
        <p:nvSpPr>
          <p:cNvPr id="115" name="USERS"/>
          <p:cNvSpPr txBox="1"/>
          <p:nvPr/>
        </p:nvSpPr>
        <p:spPr>
          <a:xfrm>
            <a:off x="822960" y="6611112"/>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USERS</a:t>
            </a:r>
          </a:p>
        </p:txBody>
      </p:sp>
      <p:sp>
        <p:nvSpPr>
          <p:cNvPr id="116" name="USERS value"/>
          <p:cNvSpPr txBox="1"/>
          <p:nvPr/>
        </p:nvSpPr>
        <p:spPr>
          <a:xfrm>
            <a:off x="2148840" y="6583680"/>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Experienced and novice self-directed traders</a:t>
            </a:r>
          </a:p>
        </p:txBody>
      </p:sp>
      <p:cxnSp>
        <p:nvCxnSpPr>
          <p:cNvPr id="117" name="Divider"/>
          <p:cNvCxnSpPr/>
          <p:nvPr/>
        </p:nvCxnSpPr>
        <p:spPr>
          <a:xfrm>
            <a:off x="822960" y="7196328"/>
            <a:ext cx="5486400" cy="0"/>
          </a:xfrm>
          <a:prstGeom prst="line">
            <a:avLst/>
          </a:prstGeom>
          <a:ln w="9525">
            <a:solidFill>
              <a:srgbClr val="2C2F38"/>
            </a:solidFill>
          </a:ln>
        </p:spPr>
      </p:cxnSp>
      <p:sp>
        <p:nvSpPr>
          <p:cNvPr id="118" name="Quote"/>
          <p:cNvSpPr txBox="1"/>
          <p:nvPr/>
        </p:nvSpPr>
        <p:spPr>
          <a:xfrm>
            <a:off x="822960" y="7516368"/>
            <a:ext cx="5486400" cy="1188720"/>
          </a:xfrm>
          <a:prstGeom prst="rect">
            <a:avLst/>
          </a:prstGeom>
          <a:noFill/>
        </p:spPr>
        <p:txBody>
          <a:bodyPr wrap="square" lIns="0" tIns="0" rIns="0" bIns="0" anchor="t">
            <a:noAutofit/>
          </a:bodyPr>
          <a:lstStyle/>
          <a:p>
            <a:pPr algn="l">
              <a:lnSpc>
                <a:spcPct val="115000"/>
              </a:lnSpc>
              <a:spcAft>
                <a:spcPts val="300"/>
              </a:spcAft>
            </a:pPr>
            <a:r>
              <a:rPr lang="en-US" sz="1500" spc="0" dirty="0">
                <a:solidFill>
                  <a:srgbClr val="F5F5F7"/>
                </a:solidFill>
                <a:latin typeface="Helvetica Neue Light"/>
                <a:cs typeface="Helvetica Neue Light"/>
              </a:rPr>
              <a:t>“It’s a confusing interface, the app’s interface is non-intuitive, making it difficult to navigate and find specific functions or features.”</a:t>
            </a:r>
          </a:p>
        </p:txBody>
      </p:sp>
      <p:pic>
        <p:nvPicPr>
          <p:cNvPr id="119" name="Picture 1" descr="image.png"/>
          <p:cNvPicPr>
            <a:picLocks noChangeAspect="1"/>
          </p:cNvPicPr>
          <p:nvPr/>
        </p:nvPicPr>
        <p:blipFill>
          <a:blip r:embed="rId2"/>
          <a:stretch>
            <a:fillRect/>
          </a:stretch>
        </p:blipFill>
        <p:spPr>
          <a:xfrm>
            <a:off x="7124020" y="822960"/>
            <a:ext cx="4652607" cy="7315200"/>
          </a:xfrm>
          <a:prstGeom prst="rect">
            <a:avLst/>
          </a:prstGeom>
          <a:ln w="9525">
            <a:solidFill>
              <a:srgbClr val="3A3E49"/>
            </a:solidFill>
          </a:ln>
        </p:spPr>
      </p:pic>
      <p:pic>
        <p:nvPicPr>
          <p:cNvPr id="12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INTRODUCTION</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One trade ticket that lets investors trade in </a:t>
            </a:r>
            <a:r>
              <a:rPr lang="en-US" sz="3600" spc="-40" dirty="0">
                <a:solidFill>
                  <a:srgbClr val="B5531F"/>
                </a:solidFill>
                <a:latin typeface="Helvetica Neue Medium"/>
                <a:cs typeface="Helvetica Neue Medium"/>
              </a:rPr>
              <a:t>shares or dollars</a:t>
            </a:r>
            <a:r>
              <a:rPr lang="en-US" sz="3600" spc="-40" dirty="0">
                <a:solidFill>
                  <a:srgbClr val="14161D"/>
                </a:solidFill>
                <a:latin typeface="Helvetica Neue Medium"/>
                <a:cs typeface="Helvetica Neue Medium"/>
              </a:rPr>
              <a:t>, with fewer errors and less effort.</a:t>
            </a:r>
          </a:p>
        </p:txBody>
      </p:sp>
      <p:sp>
        <p:nvSpPr>
          <p:cNvPr id="103" name="Audience"/>
          <p:cNvSpPr txBox="1"/>
          <p:nvPr/>
        </p:nvSpPr>
        <p:spPr>
          <a:xfrm>
            <a:off x="822960" y="3611880"/>
            <a:ext cx="3511973" cy="420624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TARGET AUDIENCE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Experienced consumer traders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Novice consumer traders</a:t>
            </a:r>
          </a:p>
        </p:txBody>
      </p:sp>
      <p:sp>
        <p:nvSpPr>
          <p:cNvPr id="104" name="Problems"/>
          <p:cNvSpPr txBox="1"/>
          <p:nvPr/>
        </p:nvSpPr>
        <p:spPr>
          <a:xfrm>
            <a:off x="4746413"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PROBLEMS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Wealth &amp; Investment Management investors can’t trade in both shares and dollars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 mobile trading process needs simplifying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confusing interface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Limited functionality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Technical issues and no real-time updates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Poor customer support</a:t>
            </a:r>
          </a:p>
        </p:txBody>
      </p:sp>
      <p:sp>
        <p:nvSpPr>
          <p:cNvPr id="105" name="Team"/>
          <p:cNvSpPr txBox="1"/>
          <p:nvPr/>
        </p:nvSpPr>
        <p:spPr>
          <a:xfrm>
            <a:off x="8669866"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TEAM AND MY PART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a project team of 2 UX designers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managed discovery, including research, strategy and hands-on design, supported by AI applications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every deliverable in Figma, with Lean UX and usability testing, and presented to the client and stakeholders</a:t>
            </a:r>
          </a:p>
        </p:txBody>
      </p:sp>
      <p:pic>
        <p:nvPicPr>
          <p:cNvPr id="106"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WHY REDESIGN</a:t>
            </a:r>
          </a:p>
        </p:txBody>
      </p:sp>
      <p:sp>
        <p:nvSpPr>
          <p:cNvPr id="102" name="Headline"/>
          <p:cNvSpPr txBox="1"/>
          <p:nvPr/>
        </p:nvSpPr>
        <p:spPr>
          <a:xfrm>
            <a:off x="822960" y="1371600"/>
            <a:ext cx="11358880" cy="9144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Why redesign the </a:t>
            </a:r>
            <a:r>
              <a:rPr lang="en-US" sz="4000" spc="-40" dirty="0">
                <a:solidFill>
                  <a:srgbClr val="B5531F"/>
                </a:solidFill>
                <a:latin typeface="Helvetica Neue Medium"/>
                <a:cs typeface="Helvetica Neue Medium"/>
              </a:rPr>
              <a:t>trade ticket</a:t>
            </a:r>
            <a:r>
              <a:rPr lang="en-US" sz="4000" spc="-40" dirty="0">
                <a:solidFill>
                  <a:srgbClr val="14161D"/>
                </a:solidFill>
                <a:latin typeface="Helvetica Neue Medium"/>
                <a:cs typeface="Helvetica Neue Medium"/>
              </a:rPr>
              <a:t>?</a:t>
            </a:r>
          </a:p>
        </p:txBody>
      </p:sp>
      <p:sp>
        <p:nvSpPr>
          <p:cNvPr id="3027" name="Tile"/>
          <p:cNvSpPr/>
          <p:nvPr/>
        </p:nvSpPr>
        <p:spPr>
          <a:xfrm>
            <a:off x="822960" y="2606040"/>
            <a:ext cx="4572000" cy="3931920"/>
          </a:xfrm>
          <a:prstGeom prst="roundRect">
            <a:avLst>
              <a:gd name="adj" fmla="val 3255"/>
            </a:avLst>
          </a:prstGeom>
          <a:solidFill>
            <a:srgbClr val="B5531F"/>
          </a:solidFill>
          <a:ln>
            <a:noFill/>
          </a:ln>
        </p:spPr>
        <p:txBody>
          <a:bodyPr/>
          <a:lstStyle/>
          <a:p>
            <a:endParaRPr lang="en-US"/>
          </a:p>
        </p:txBody>
      </p:sp>
      <p:sp>
        <p:nvSpPr>
          <p:cNvPr id="103" name="Number"/>
          <p:cNvSpPr txBox="1"/>
          <p:nvPr/>
        </p:nvSpPr>
        <p:spPr>
          <a:xfrm>
            <a:off x="1097280" y="2807208"/>
            <a:ext cx="4023360" cy="1280160"/>
          </a:xfrm>
          <a:prstGeom prst="rect">
            <a:avLst/>
          </a:prstGeom>
          <a:noFill/>
        </p:spPr>
        <p:txBody>
          <a:bodyPr wrap="square" lIns="0" tIns="0" rIns="0" bIns="0" anchor="t">
            <a:noAutofit/>
          </a:bodyPr>
          <a:lstStyle/>
          <a:p>
            <a:pPr algn="l">
              <a:lnSpc>
                <a:spcPct val="88000"/>
              </a:lnSpc>
              <a:spcAft>
                <a:spcPts val="300"/>
              </a:spcAft>
            </a:pPr>
            <a:r>
              <a:rPr lang="en-US" sz="9600" spc="-60" dirty="0">
                <a:solidFill>
                  <a:srgbClr val="FFFFFF"/>
                </a:solidFill>
                <a:latin typeface="Helvetica Neue Medium"/>
                <a:cs typeface="Helvetica Neue Medium"/>
              </a:rPr>
              <a:t>18.3%</a:t>
            </a:r>
          </a:p>
        </p:txBody>
      </p:sp>
      <p:sp>
        <p:nvSpPr>
          <p:cNvPr id="104" name="Label"/>
          <p:cNvSpPr txBox="1"/>
          <p:nvPr/>
        </p:nvSpPr>
        <p:spPr>
          <a:xfrm>
            <a:off x="1097280" y="4160520"/>
            <a:ext cx="402336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of users ask to trade in both shares and dollars</a:t>
            </a:r>
          </a:p>
        </p:txBody>
      </p:sp>
      <p:sp>
        <p:nvSpPr>
          <p:cNvPr id="3028" name="Tile"/>
          <p:cNvSpPr/>
          <p:nvPr/>
        </p:nvSpPr>
        <p:spPr>
          <a:xfrm>
            <a:off x="1097280" y="6153912"/>
            <a:ext cx="4023360" cy="100584"/>
          </a:xfrm>
          <a:prstGeom prst="roundRect">
            <a:avLst>
              <a:gd name="adj" fmla="val 45454"/>
            </a:avLst>
          </a:prstGeom>
          <a:solidFill>
            <a:srgbClr val="FFFFFF">
              <a:alpha val="30000"/>
            </a:srgbClr>
          </a:solidFill>
          <a:ln>
            <a:noFill/>
          </a:ln>
        </p:spPr>
        <p:txBody>
          <a:bodyPr/>
          <a:lstStyle/>
          <a:p>
            <a:endParaRPr lang="en-US"/>
          </a:p>
        </p:txBody>
      </p:sp>
      <p:sp>
        <p:nvSpPr>
          <p:cNvPr id="3029" name="Tile"/>
          <p:cNvSpPr/>
          <p:nvPr/>
        </p:nvSpPr>
        <p:spPr>
          <a:xfrm>
            <a:off x="1097280" y="6153912"/>
            <a:ext cx="736274" cy="100584"/>
          </a:xfrm>
          <a:prstGeom prst="roundRect">
            <a:avLst>
              <a:gd name="adj" fmla="val 45454"/>
            </a:avLst>
          </a:prstGeom>
          <a:solidFill>
            <a:srgbClr val="7ACFFF"/>
          </a:solidFill>
          <a:ln>
            <a:noFill/>
          </a:ln>
        </p:spPr>
        <p:txBody>
          <a:bodyPr/>
          <a:lstStyle/>
          <a:p>
            <a:endParaRPr lang="en-US"/>
          </a:p>
        </p:txBody>
      </p:sp>
      <p:sp>
        <p:nvSpPr>
          <p:cNvPr id="3030" name="Tile"/>
          <p:cNvSpPr/>
          <p:nvPr/>
        </p:nvSpPr>
        <p:spPr>
          <a:xfrm>
            <a:off x="5577840" y="2606040"/>
            <a:ext cx="6601968" cy="1188720"/>
          </a:xfrm>
          <a:prstGeom prst="roundRect">
            <a:avLst>
              <a:gd name="adj" fmla="val 10769"/>
            </a:avLst>
          </a:prstGeom>
          <a:solidFill>
            <a:srgbClr val="1B1D24"/>
          </a:solidFill>
          <a:ln>
            <a:noFill/>
          </a:ln>
        </p:spPr>
        <p:txBody>
          <a:bodyPr/>
          <a:lstStyle/>
          <a:p>
            <a:endParaRPr lang="en-US"/>
          </a:p>
        </p:txBody>
      </p:sp>
      <p:sp>
        <p:nvSpPr>
          <p:cNvPr id="105" name="Number"/>
          <p:cNvSpPr txBox="1"/>
          <p:nvPr/>
        </p:nvSpPr>
        <p:spPr>
          <a:xfrm>
            <a:off x="5852160" y="2606040"/>
            <a:ext cx="2772826" cy="1188720"/>
          </a:xfrm>
          <a:prstGeom prst="rect">
            <a:avLst/>
          </a:prstGeom>
          <a:noFill/>
        </p:spPr>
        <p:txBody>
          <a:bodyPr wrap="square" lIns="0" tIns="0" rIns="0" bIns="0" anchor="ctr">
            <a:noAutofit/>
          </a:bodyPr>
          <a:lstStyle/>
          <a:p>
            <a:pPr algn="l">
              <a:lnSpc>
                <a:spcPct val="90000"/>
              </a:lnSpc>
              <a:spcAft>
                <a:spcPts val="300"/>
              </a:spcAft>
            </a:pPr>
            <a:r>
              <a:rPr lang="en-US" sz="4800" spc="-40" dirty="0">
                <a:solidFill>
                  <a:srgbClr val="F5F5F7"/>
                </a:solidFill>
                <a:latin typeface="Helvetica Neue Medium"/>
                <a:cs typeface="Helvetica Neue Medium"/>
              </a:rPr>
              <a:t>8.2 min</a:t>
            </a:r>
          </a:p>
        </p:txBody>
      </p:sp>
      <p:sp>
        <p:nvSpPr>
          <p:cNvPr id="106" name="Label"/>
          <p:cNvSpPr txBox="1"/>
          <p:nvPr/>
        </p:nvSpPr>
        <p:spPr>
          <a:xfrm>
            <a:off x="8092440" y="2606040"/>
            <a:ext cx="3813047" cy="118872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for a new user to complete their first trade</a:t>
            </a:r>
          </a:p>
        </p:txBody>
      </p:sp>
      <p:sp>
        <p:nvSpPr>
          <p:cNvPr id="3031" name="Tile"/>
          <p:cNvSpPr/>
          <p:nvPr/>
        </p:nvSpPr>
        <p:spPr>
          <a:xfrm>
            <a:off x="5577840" y="3977639"/>
            <a:ext cx="6601968" cy="1188720"/>
          </a:xfrm>
          <a:prstGeom prst="roundRect">
            <a:avLst>
              <a:gd name="adj" fmla="val 10769"/>
            </a:avLst>
          </a:prstGeom>
          <a:solidFill>
            <a:srgbClr val="F1F2F5"/>
          </a:solidFill>
          <a:ln>
            <a:noFill/>
          </a:ln>
        </p:spPr>
        <p:txBody>
          <a:bodyPr/>
          <a:lstStyle/>
          <a:p>
            <a:endParaRPr lang="en-US"/>
          </a:p>
        </p:txBody>
      </p:sp>
      <p:sp>
        <p:nvSpPr>
          <p:cNvPr id="107" name="Number"/>
          <p:cNvSpPr txBox="1"/>
          <p:nvPr/>
        </p:nvSpPr>
        <p:spPr>
          <a:xfrm>
            <a:off x="5852160" y="3977639"/>
            <a:ext cx="2772826" cy="1188720"/>
          </a:xfrm>
          <a:prstGeom prst="rect">
            <a:avLst/>
          </a:prstGeom>
          <a:noFill/>
        </p:spPr>
        <p:txBody>
          <a:bodyPr wrap="square" lIns="0" tIns="0" rIns="0" bIns="0" anchor="ctr">
            <a:noAutofit/>
          </a:bodyPr>
          <a:lstStyle/>
          <a:p>
            <a:pPr algn="l">
              <a:lnSpc>
                <a:spcPct val="90000"/>
              </a:lnSpc>
              <a:spcAft>
                <a:spcPts val="300"/>
              </a:spcAft>
            </a:pPr>
            <a:r>
              <a:rPr lang="en-US" sz="4800" spc="-40" dirty="0">
                <a:solidFill>
                  <a:srgbClr val="14161D"/>
                </a:solidFill>
                <a:latin typeface="Helvetica Neue Medium"/>
                <a:cs typeface="Helvetica Neue Medium"/>
              </a:rPr>
              <a:t>1.4%</a:t>
            </a:r>
          </a:p>
        </p:txBody>
      </p:sp>
      <p:sp>
        <p:nvSpPr>
          <p:cNvPr id="108" name="Label"/>
          <p:cNvSpPr txBox="1"/>
          <p:nvPr/>
        </p:nvSpPr>
        <p:spPr>
          <a:xfrm>
            <a:off x="7406640" y="3977639"/>
            <a:ext cx="4498847" cy="118872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565C6B"/>
                </a:solidFill>
                <a:latin typeface="Helvetica Neue Light"/>
                <a:cs typeface="Helvetica Neue Light"/>
              </a:rPr>
              <a:t>error rate on submissions</a:t>
            </a:r>
          </a:p>
        </p:txBody>
      </p:sp>
      <p:sp>
        <p:nvSpPr>
          <p:cNvPr id="3032" name="Tile"/>
          <p:cNvSpPr/>
          <p:nvPr/>
        </p:nvSpPr>
        <p:spPr>
          <a:xfrm>
            <a:off x="5577840" y="5349240"/>
            <a:ext cx="6601968" cy="1188720"/>
          </a:xfrm>
          <a:prstGeom prst="roundRect">
            <a:avLst>
              <a:gd name="adj" fmla="val 10769"/>
            </a:avLst>
          </a:prstGeom>
          <a:solidFill>
            <a:srgbClr val="1B1D24"/>
          </a:solidFill>
          <a:ln>
            <a:noFill/>
          </a:ln>
        </p:spPr>
        <p:txBody>
          <a:bodyPr/>
          <a:lstStyle/>
          <a:p>
            <a:endParaRPr lang="en-US"/>
          </a:p>
        </p:txBody>
      </p:sp>
      <p:sp>
        <p:nvSpPr>
          <p:cNvPr id="109" name="Number"/>
          <p:cNvSpPr txBox="1"/>
          <p:nvPr/>
        </p:nvSpPr>
        <p:spPr>
          <a:xfrm>
            <a:off x="5852160" y="5349240"/>
            <a:ext cx="2772826" cy="1188720"/>
          </a:xfrm>
          <a:prstGeom prst="rect">
            <a:avLst/>
          </a:prstGeom>
          <a:noFill/>
        </p:spPr>
        <p:txBody>
          <a:bodyPr wrap="square" lIns="0" tIns="0" rIns="0" bIns="0" anchor="ctr">
            <a:noAutofit/>
          </a:bodyPr>
          <a:lstStyle/>
          <a:p>
            <a:pPr algn="l">
              <a:lnSpc>
                <a:spcPct val="90000"/>
              </a:lnSpc>
              <a:spcAft>
                <a:spcPts val="300"/>
              </a:spcAft>
            </a:pPr>
            <a:r>
              <a:rPr lang="en-US" sz="4800" spc="-40" dirty="0">
                <a:solidFill>
                  <a:srgbClr val="F5F5F7"/>
                </a:solidFill>
                <a:latin typeface="Helvetica Neue Medium"/>
                <a:cs typeface="Helvetica Neue Medium"/>
              </a:rPr>
              <a:t>6.1%</a:t>
            </a:r>
          </a:p>
        </p:txBody>
      </p:sp>
      <p:sp>
        <p:nvSpPr>
          <p:cNvPr id="110" name="Label"/>
          <p:cNvSpPr txBox="1"/>
          <p:nvPr/>
        </p:nvSpPr>
        <p:spPr>
          <a:xfrm>
            <a:off x="7406640" y="5349240"/>
            <a:ext cx="4498847" cy="118872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drop-off on trades in the mobile app</a:t>
            </a:r>
          </a:p>
        </p:txBody>
      </p:sp>
      <p:sp>
        <p:nvSpPr>
          <p:cNvPr id="3033" name="Tile"/>
          <p:cNvSpPr/>
          <p:nvPr/>
        </p:nvSpPr>
        <p:spPr>
          <a:xfrm>
            <a:off x="822960" y="6720840"/>
            <a:ext cx="11356848" cy="1508760"/>
          </a:xfrm>
          <a:prstGeom prst="roundRect">
            <a:avLst>
              <a:gd name="adj" fmla="val 8484"/>
            </a:avLst>
          </a:prstGeom>
          <a:solidFill>
            <a:srgbClr val="F1F2F5"/>
          </a:solidFill>
          <a:ln>
            <a:noFill/>
          </a:ln>
        </p:spPr>
        <p:txBody>
          <a:bodyPr/>
          <a:lstStyle/>
          <a:p>
            <a:endParaRPr lang="en-US"/>
          </a:p>
        </p:txBody>
      </p:sp>
      <p:sp>
        <p:nvSpPr>
          <p:cNvPr id="111" name="Band"/>
          <p:cNvSpPr txBox="1"/>
          <p:nvPr/>
        </p:nvSpPr>
        <p:spPr>
          <a:xfrm>
            <a:off x="1143000" y="6720840"/>
            <a:ext cx="10716768" cy="1508760"/>
          </a:xfrm>
          <a:prstGeom prst="rect">
            <a:avLst/>
          </a:prstGeom>
          <a:noFill/>
        </p:spPr>
        <p:txBody>
          <a:bodyPr wrap="square" lIns="0" tIns="0" rIns="0" bIns="0" anchor="ctr">
            <a:noAutofit/>
          </a:bodyPr>
          <a:lstStyle/>
          <a:p>
            <a:pPr algn="l">
              <a:lnSpc>
                <a:spcPct val="115000"/>
              </a:lnSpc>
              <a:spcAft>
                <a:spcPts val="300"/>
              </a:spcAft>
            </a:pPr>
            <a:r>
              <a:rPr lang="en-US" sz="1800" spc="0" dirty="0">
                <a:solidFill>
                  <a:srgbClr val="14161D"/>
                </a:solidFill>
                <a:latin typeface="Helvetica Neue Light"/>
                <a:cs typeface="Helvetica Neue Light"/>
              </a:rPr>
              <a:t>“The app lacks advanced features like drawing tools or technical indicators. Customer support options are limited, with no chat support available.”</a:t>
            </a:r>
          </a:p>
        </p:txBody>
      </p:sp>
      <p:pic>
        <p:nvPicPr>
          <p:cNvPr id="112"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DISCOVERY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We set out to find real user needs, </a:t>
            </a:r>
            <a:r>
              <a:rPr lang="en-US" sz="3600" spc="-40" dirty="0">
                <a:solidFill>
                  <a:srgbClr val="B5531F"/>
                </a:solidFill>
                <a:latin typeface="Helvetica Neue Medium"/>
                <a:cs typeface="Helvetica Neue Medium"/>
              </a:rPr>
              <a:t>test the business’s assumptions</a:t>
            </a:r>
            <a:r>
              <a:rPr lang="en-US" sz="3600" spc="-40" dirty="0">
                <a:solidFill>
                  <a:srgbClr val="14161D"/>
                </a:solidFill>
                <a:latin typeface="Helvetica Neue Medium"/>
                <a:cs typeface="Helvetica Neue Medium"/>
              </a:rPr>
              <a:t> and generate new ideas.</a:t>
            </a:r>
          </a:p>
        </p:txBody>
      </p:sp>
      <p:sp>
        <p:nvSpPr>
          <p:cNvPr id="103" name="Methods"/>
          <p:cNvSpPr txBox="1"/>
          <p:nvPr/>
        </p:nvSpPr>
        <p:spPr>
          <a:xfrm>
            <a:off x="822960" y="3611880"/>
            <a:ext cx="5427980"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METHODS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Interviews with external users, internal stakeholders and SMEs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Experienced and novice traders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Persona development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Google design thinking exercises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Competitive analysis</a:t>
            </a:r>
          </a:p>
        </p:txBody>
      </p:sp>
      <p:sp>
        <p:nvSpPr>
          <p:cNvPr id="104" name="Problem"/>
          <p:cNvSpPr txBox="1"/>
          <p:nvPr/>
        </p:nvSpPr>
        <p:spPr>
          <a:xfrm>
            <a:off x="6753860" y="3611880"/>
            <a:ext cx="5427980" cy="438912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PROBLEM STATEMENT</a:t>
            </a:r>
          </a:p>
          <a:p>
            <a:pPr algn="l">
              <a:lnSpc>
                <a:spcPct val="125000"/>
              </a:lnSpc>
              <a:spcAft>
                <a:spcPts val="500"/>
              </a:spcAft>
            </a:pPr>
            <a:r>
              <a:rPr lang="en-US" sz="1550" spc="0" dirty="0">
                <a:solidFill>
                  <a:srgbClr val="14161D"/>
                </a:solidFill>
                <a:latin typeface="Helvetica Neue Light"/>
                <a:cs typeface="Helvetica Neue Light"/>
              </a:rPr>
              <a:t>As the most important part of the trading experience, experienced and novice users need an integrated trade ticket that simplifies trading, reduces errors and improves efficiency, while letting them trade in shares or dollar amounts.</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DISCOVERY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“…so non-intuitive, it makes it hard to navigate, find specific functions and </a:t>
            </a:r>
            <a:r>
              <a:rPr lang="en-US" sz="3600" spc="-40" dirty="0">
                <a:solidFill>
                  <a:srgbClr val="B5531F"/>
                </a:solidFill>
                <a:latin typeface="Helvetica Neue Medium"/>
                <a:cs typeface="Helvetica Neue Medium"/>
              </a:rPr>
              <a:t>just make a quick trade</a:t>
            </a:r>
            <a:r>
              <a:rPr lang="en-US" sz="3600" spc="-40" dirty="0">
                <a:solidFill>
                  <a:srgbClr val="14161D"/>
                </a:solidFill>
                <a:latin typeface="Helvetica Neue Medium"/>
                <a:cs typeface="Helvetica Neue Medium"/>
              </a:rPr>
              <a:t>.”</a:t>
            </a:r>
          </a:p>
        </p:txBody>
      </p:sp>
      <p:sp>
        <p:nvSpPr>
          <p:cNvPr id="103" name="List label"/>
          <p:cNvSpPr txBox="1"/>
          <p:nvPr/>
        </p:nvSpPr>
        <p:spPr>
          <a:xfrm>
            <a:off x="822960" y="370332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PAIN POINTS WE HEARD IN INTERVIEWS</a:t>
            </a:r>
          </a:p>
        </p:txBody>
      </p:sp>
      <p:cxnSp>
        <p:nvCxnSpPr>
          <p:cNvPr id="104" name="Divider"/>
          <p:cNvCxnSpPr/>
          <p:nvPr/>
        </p:nvCxnSpPr>
        <p:spPr>
          <a:xfrm>
            <a:off x="822960" y="4114800"/>
            <a:ext cx="5427980" cy="0"/>
          </a:xfrm>
          <a:prstGeom prst="line">
            <a:avLst/>
          </a:prstGeom>
          <a:ln w="9525">
            <a:solidFill>
              <a:srgbClr val="E1E3E8"/>
            </a:solidFill>
          </a:ln>
        </p:spPr>
      </p:cxnSp>
      <p:sp>
        <p:nvSpPr>
          <p:cNvPr id="105" name="n"/>
          <p:cNvSpPr txBox="1"/>
          <p:nvPr/>
        </p:nvSpPr>
        <p:spPr>
          <a:xfrm>
            <a:off x="822960" y="4297680"/>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01</a:t>
            </a:r>
          </a:p>
        </p:txBody>
      </p:sp>
      <p:sp>
        <p:nvSpPr>
          <p:cNvPr id="106" name="p"/>
          <p:cNvSpPr txBox="1"/>
          <p:nvPr/>
        </p:nvSpPr>
        <p:spPr>
          <a:xfrm>
            <a:off x="1371600" y="4297680"/>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14161D"/>
                </a:solidFill>
                <a:latin typeface="Helvetica Neue Medium"/>
                <a:cs typeface="Helvetica Neue Medium"/>
              </a:rPr>
              <a:t>Can’t trade in both shares and dollars on mobile</a:t>
            </a:r>
          </a:p>
        </p:txBody>
      </p:sp>
      <p:cxnSp>
        <p:nvCxnSpPr>
          <p:cNvPr id="107" name="Divider"/>
          <p:cNvCxnSpPr/>
          <p:nvPr/>
        </p:nvCxnSpPr>
        <p:spPr>
          <a:xfrm>
            <a:off x="822960" y="5102352"/>
            <a:ext cx="5427980" cy="0"/>
          </a:xfrm>
          <a:prstGeom prst="line">
            <a:avLst/>
          </a:prstGeom>
          <a:ln w="9525">
            <a:solidFill>
              <a:srgbClr val="E1E3E8"/>
            </a:solidFill>
          </a:ln>
        </p:spPr>
      </p:cxnSp>
      <p:sp>
        <p:nvSpPr>
          <p:cNvPr id="108" name="n"/>
          <p:cNvSpPr txBox="1"/>
          <p:nvPr/>
        </p:nvSpPr>
        <p:spPr>
          <a:xfrm>
            <a:off x="822960" y="5285232"/>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02</a:t>
            </a:r>
          </a:p>
        </p:txBody>
      </p:sp>
      <p:sp>
        <p:nvSpPr>
          <p:cNvPr id="109" name="p"/>
          <p:cNvSpPr txBox="1"/>
          <p:nvPr/>
        </p:nvSpPr>
        <p:spPr>
          <a:xfrm>
            <a:off x="1371600" y="5285232"/>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14161D"/>
                </a:solidFill>
                <a:latin typeface="Helvetica Neue Medium"/>
                <a:cs typeface="Helvetica Neue Medium"/>
              </a:rPr>
              <a:t>Several interfaces aren’t intuitive</a:t>
            </a:r>
          </a:p>
        </p:txBody>
      </p:sp>
      <p:cxnSp>
        <p:nvCxnSpPr>
          <p:cNvPr id="110" name="Divider"/>
          <p:cNvCxnSpPr/>
          <p:nvPr/>
        </p:nvCxnSpPr>
        <p:spPr>
          <a:xfrm>
            <a:off x="822960" y="6089904"/>
            <a:ext cx="5427980" cy="0"/>
          </a:xfrm>
          <a:prstGeom prst="line">
            <a:avLst/>
          </a:prstGeom>
          <a:ln w="9525">
            <a:solidFill>
              <a:srgbClr val="E1E3E8"/>
            </a:solidFill>
          </a:ln>
        </p:spPr>
      </p:cxnSp>
      <p:sp>
        <p:nvSpPr>
          <p:cNvPr id="111" name="n"/>
          <p:cNvSpPr txBox="1"/>
          <p:nvPr/>
        </p:nvSpPr>
        <p:spPr>
          <a:xfrm>
            <a:off x="822960" y="6272784"/>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03</a:t>
            </a:r>
          </a:p>
        </p:txBody>
      </p:sp>
      <p:sp>
        <p:nvSpPr>
          <p:cNvPr id="112" name="p"/>
          <p:cNvSpPr txBox="1"/>
          <p:nvPr/>
        </p:nvSpPr>
        <p:spPr>
          <a:xfrm>
            <a:off x="1371600" y="6272784"/>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Need more of the right trade detail</a:t>
            </a:r>
          </a:p>
        </p:txBody>
      </p:sp>
      <p:cxnSp>
        <p:nvCxnSpPr>
          <p:cNvPr id="113" name="Divider"/>
          <p:cNvCxnSpPr/>
          <p:nvPr/>
        </p:nvCxnSpPr>
        <p:spPr>
          <a:xfrm>
            <a:off x="822960" y="7077456"/>
            <a:ext cx="5427980" cy="0"/>
          </a:xfrm>
          <a:prstGeom prst="line">
            <a:avLst/>
          </a:prstGeom>
          <a:ln w="9525">
            <a:solidFill>
              <a:srgbClr val="E1E3E8"/>
            </a:solidFill>
          </a:ln>
        </p:spPr>
      </p:cxnSp>
      <p:sp>
        <p:nvSpPr>
          <p:cNvPr id="114" name="n"/>
          <p:cNvSpPr txBox="1"/>
          <p:nvPr/>
        </p:nvSpPr>
        <p:spPr>
          <a:xfrm>
            <a:off x="822960" y="7260336"/>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04</a:t>
            </a:r>
          </a:p>
        </p:txBody>
      </p:sp>
      <p:sp>
        <p:nvSpPr>
          <p:cNvPr id="115" name="p"/>
          <p:cNvSpPr txBox="1"/>
          <p:nvPr/>
        </p:nvSpPr>
        <p:spPr>
          <a:xfrm>
            <a:off x="1371600" y="7260336"/>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Flexibility needs to improve</a:t>
            </a:r>
          </a:p>
        </p:txBody>
      </p:sp>
      <p:cxnSp>
        <p:nvCxnSpPr>
          <p:cNvPr id="116" name="Divider"/>
          <p:cNvCxnSpPr/>
          <p:nvPr/>
        </p:nvCxnSpPr>
        <p:spPr>
          <a:xfrm>
            <a:off x="6753860" y="4114800"/>
            <a:ext cx="5427980" cy="0"/>
          </a:xfrm>
          <a:prstGeom prst="line">
            <a:avLst/>
          </a:prstGeom>
          <a:ln w="9525">
            <a:solidFill>
              <a:srgbClr val="E1E3E8"/>
            </a:solidFill>
          </a:ln>
        </p:spPr>
      </p:cxnSp>
      <p:sp>
        <p:nvSpPr>
          <p:cNvPr id="117" name="n"/>
          <p:cNvSpPr txBox="1"/>
          <p:nvPr/>
        </p:nvSpPr>
        <p:spPr>
          <a:xfrm>
            <a:off x="6753860" y="4297680"/>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05</a:t>
            </a:r>
          </a:p>
        </p:txBody>
      </p:sp>
      <p:sp>
        <p:nvSpPr>
          <p:cNvPr id="118" name="p"/>
          <p:cNvSpPr txBox="1"/>
          <p:nvPr/>
        </p:nvSpPr>
        <p:spPr>
          <a:xfrm>
            <a:off x="7302500" y="4297680"/>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More trading options</a:t>
            </a:r>
          </a:p>
        </p:txBody>
      </p:sp>
      <p:cxnSp>
        <p:nvCxnSpPr>
          <p:cNvPr id="119" name="Divider"/>
          <p:cNvCxnSpPr/>
          <p:nvPr/>
        </p:nvCxnSpPr>
        <p:spPr>
          <a:xfrm>
            <a:off x="6753860" y="5102352"/>
            <a:ext cx="5427980" cy="0"/>
          </a:xfrm>
          <a:prstGeom prst="line">
            <a:avLst/>
          </a:prstGeom>
          <a:ln w="9525">
            <a:solidFill>
              <a:srgbClr val="E1E3E8"/>
            </a:solidFill>
          </a:ln>
        </p:spPr>
      </p:cxnSp>
      <p:sp>
        <p:nvSpPr>
          <p:cNvPr id="120" name="n"/>
          <p:cNvSpPr txBox="1"/>
          <p:nvPr/>
        </p:nvSpPr>
        <p:spPr>
          <a:xfrm>
            <a:off x="6753860" y="5285232"/>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06</a:t>
            </a:r>
          </a:p>
        </p:txBody>
      </p:sp>
      <p:sp>
        <p:nvSpPr>
          <p:cNvPr id="121" name="p"/>
          <p:cNvSpPr txBox="1"/>
          <p:nvPr/>
        </p:nvSpPr>
        <p:spPr>
          <a:xfrm>
            <a:off x="7302500" y="5285232"/>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Speed</a:t>
            </a:r>
          </a:p>
        </p:txBody>
      </p:sp>
      <p:cxnSp>
        <p:nvCxnSpPr>
          <p:cNvPr id="122" name="Divider"/>
          <p:cNvCxnSpPr/>
          <p:nvPr/>
        </p:nvCxnSpPr>
        <p:spPr>
          <a:xfrm>
            <a:off x="6753860" y="6089904"/>
            <a:ext cx="5427980" cy="0"/>
          </a:xfrm>
          <a:prstGeom prst="line">
            <a:avLst/>
          </a:prstGeom>
          <a:ln w="9525">
            <a:solidFill>
              <a:srgbClr val="E1E3E8"/>
            </a:solidFill>
          </a:ln>
        </p:spPr>
      </p:cxnSp>
      <p:sp>
        <p:nvSpPr>
          <p:cNvPr id="123" name="n"/>
          <p:cNvSpPr txBox="1"/>
          <p:nvPr/>
        </p:nvSpPr>
        <p:spPr>
          <a:xfrm>
            <a:off x="6753860" y="6272784"/>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07</a:t>
            </a:r>
          </a:p>
        </p:txBody>
      </p:sp>
      <p:sp>
        <p:nvSpPr>
          <p:cNvPr id="124" name="p"/>
          <p:cNvSpPr txBox="1"/>
          <p:nvPr/>
        </p:nvSpPr>
        <p:spPr>
          <a:xfrm>
            <a:off x="7302500" y="6272784"/>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Mobile native</a:t>
            </a:r>
          </a:p>
        </p:txBody>
      </p:sp>
      <p:pic>
        <p:nvPicPr>
          <p:cNvPr id="12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STRATEGY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Pain points + business goals + UX strategy = feature set</a:t>
            </a:r>
          </a:p>
        </p:txBody>
      </p:sp>
      <p:cxnSp>
        <p:nvCxnSpPr>
          <p:cNvPr id="103" name="Divider"/>
          <p:cNvCxnSpPr/>
          <p:nvPr/>
        </p:nvCxnSpPr>
        <p:spPr>
          <a:xfrm>
            <a:off x="822960" y="2651760"/>
            <a:ext cx="2668270" cy="0"/>
          </a:xfrm>
          <a:prstGeom prst="line">
            <a:avLst/>
          </a:prstGeom>
          <a:ln w="9525">
            <a:solidFill>
              <a:srgbClr val="E1E3E8"/>
            </a:solidFill>
          </a:ln>
        </p:spPr>
      </p:cxnSp>
      <p:sp>
        <p:nvSpPr>
          <p:cNvPr id="104" name="PAIN POINTS"/>
          <p:cNvSpPr txBox="1"/>
          <p:nvPr/>
        </p:nvSpPr>
        <p:spPr>
          <a:xfrm>
            <a:off x="82296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PAIN POINTS</a:t>
            </a:r>
          </a:p>
          <a:p>
            <a:pPr algn="l">
              <a:lnSpc>
                <a:spcPct val="115000"/>
              </a:lnSpc>
              <a:spcAft>
                <a:spcPts val="900"/>
              </a:spcAft>
            </a:pPr>
            <a:r>
              <a:rPr lang="en-US" sz="1700" spc="0" dirty="0">
                <a:solidFill>
                  <a:srgbClr val="565C6B"/>
                </a:solidFill>
                <a:latin typeface="Helvetica Neue Light"/>
                <a:cs typeface="Helvetica Neue Light"/>
              </a:rPr>
              <a:t>Can’t trade in both shares and dollars</a:t>
            </a:r>
          </a:p>
          <a:p>
            <a:pPr algn="l">
              <a:lnSpc>
                <a:spcPct val="115000"/>
              </a:lnSpc>
              <a:spcAft>
                <a:spcPts val="900"/>
              </a:spcAft>
            </a:pPr>
            <a:r>
              <a:rPr lang="en-US" sz="1700" spc="0" dirty="0">
                <a:solidFill>
                  <a:srgbClr val="565C6B"/>
                </a:solidFill>
                <a:latin typeface="Helvetica Neue Light"/>
                <a:cs typeface="Helvetica Neue Light"/>
              </a:rPr>
              <a:t>Interfaces aren’t intuitive</a:t>
            </a:r>
          </a:p>
          <a:p>
            <a:pPr algn="l">
              <a:lnSpc>
                <a:spcPct val="115000"/>
              </a:lnSpc>
              <a:spcAft>
                <a:spcPts val="900"/>
              </a:spcAft>
            </a:pPr>
            <a:r>
              <a:rPr lang="en-US" sz="1700" spc="0" dirty="0">
                <a:solidFill>
                  <a:srgbClr val="565C6B"/>
                </a:solidFill>
                <a:latin typeface="Helvetica Neue Light"/>
                <a:cs typeface="Helvetica Neue Light"/>
              </a:rPr>
              <a:t>Need more of the right trade detail</a:t>
            </a:r>
          </a:p>
          <a:p>
            <a:pPr algn="l">
              <a:lnSpc>
                <a:spcPct val="115000"/>
              </a:lnSpc>
              <a:spcAft>
                <a:spcPts val="900"/>
              </a:spcAft>
            </a:pPr>
            <a:r>
              <a:rPr lang="en-US" sz="1700" spc="0" dirty="0">
                <a:solidFill>
                  <a:srgbClr val="565C6B"/>
                </a:solidFill>
                <a:latin typeface="Helvetica Neue Light"/>
                <a:cs typeface="Helvetica Neue Light"/>
              </a:rPr>
              <a:t>Flexibility</a:t>
            </a:r>
          </a:p>
          <a:p>
            <a:pPr algn="l">
              <a:lnSpc>
                <a:spcPct val="115000"/>
              </a:lnSpc>
              <a:spcAft>
                <a:spcPts val="900"/>
              </a:spcAft>
            </a:pPr>
            <a:r>
              <a:rPr lang="en-US" sz="1700" spc="0" dirty="0">
                <a:solidFill>
                  <a:srgbClr val="565C6B"/>
                </a:solidFill>
                <a:latin typeface="Helvetica Neue Light"/>
                <a:cs typeface="Helvetica Neue Light"/>
              </a:rPr>
              <a:t>More trading options</a:t>
            </a:r>
          </a:p>
          <a:p>
            <a:pPr algn="l">
              <a:lnSpc>
                <a:spcPct val="115000"/>
              </a:lnSpc>
              <a:spcAft>
                <a:spcPts val="900"/>
              </a:spcAft>
            </a:pPr>
            <a:r>
              <a:rPr lang="en-US" sz="1700" spc="0" dirty="0">
                <a:solidFill>
                  <a:srgbClr val="565C6B"/>
                </a:solidFill>
                <a:latin typeface="Helvetica Neue Light"/>
                <a:cs typeface="Helvetica Neue Light"/>
              </a:rPr>
              <a:t>Transaction speed</a:t>
            </a:r>
          </a:p>
          <a:p>
            <a:pPr algn="l">
              <a:lnSpc>
                <a:spcPct val="115000"/>
              </a:lnSpc>
              <a:spcAft>
                <a:spcPts val="900"/>
              </a:spcAft>
            </a:pPr>
            <a:r>
              <a:rPr lang="en-US" sz="1700" spc="0" dirty="0">
                <a:solidFill>
                  <a:srgbClr val="565C6B"/>
                </a:solidFill>
                <a:latin typeface="Helvetica Neue Light"/>
                <a:cs typeface="Helvetica Neue Light"/>
              </a:rPr>
              <a:t>Mobile native</a:t>
            </a:r>
          </a:p>
        </p:txBody>
      </p:sp>
      <p:sp>
        <p:nvSpPr>
          <p:cNvPr id="105" name="op"/>
          <p:cNvSpPr txBox="1"/>
          <p:nvPr/>
        </p:nvSpPr>
        <p:spPr>
          <a:xfrm>
            <a:off x="344551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6" name="Divider"/>
          <p:cNvCxnSpPr/>
          <p:nvPr/>
        </p:nvCxnSpPr>
        <p:spPr>
          <a:xfrm>
            <a:off x="3719830" y="2651760"/>
            <a:ext cx="2668270" cy="0"/>
          </a:xfrm>
          <a:prstGeom prst="line">
            <a:avLst/>
          </a:prstGeom>
          <a:ln w="9525">
            <a:solidFill>
              <a:srgbClr val="E1E3E8"/>
            </a:solidFill>
          </a:ln>
        </p:spPr>
      </p:cxnSp>
      <p:sp>
        <p:nvSpPr>
          <p:cNvPr id="107" name="BUSINESS GOALS"/>
          <p:cNvSpPr txBox="1"/>
          <p:nvPr/>
        </p:nvSpPr>
        <p:spPr>
          <a:xfrm>
            <a:off x="371983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BUSINESS GOALS</a:t>
            </a:r>
          </a:p>
          <a:p>
            <a:pPr algn="l">
              <a:lnSpc>
                <a:spcPct val="115000"/>
              </a:lnSpc>
              <a:spcAft>
                <a:spcPts val="900"/>
              </a:spcAft>
            </a:pPr>
            <a:r>
              <a:rPr lang="en-US" sz="1700" spc="0" dirty="0">
                <a:solidFill>
                  <a:srgbClr val="565C6B"/>
                </a:solidFill>
                <a:latin typeface="Helvetica Neue Light"/>
                <a:cs typeface="Helvetica Neue Light"/>
              </a:rPr>
              <a:t>Speed</a:t>
            </a:r>
          </a:p>
          <a:p>
            <a:pPr algn="l">
              <a:lnSpc>
                <a:spcPct val="115000"/>
              </a:lnSpc>
              <a:spcAft>
                <a:spcPts val="900"/>
              </a:spcAft>
            </a:pPr>
            <a:r>
              <a:rPr lang="en-US" sz="1700" spc="0" dirty="0">
                <a:solidFill>
                  <a:srgbClr val="565C6B"/>
                </a:solidFill>
                <a:latin typeface="Helvetica Neue Light"/>
                <a:cs typeface="Helvetica Neue Light"/>
              </a:rPr>
              <a:t>Education</a:t>
            </a:r>
          </a:p>
          <a:p>
            <a:pPr algn="l">
              <a:lnSpc>
                <a:spcPct val="115000"/>
              </a:lnSpc>
              <a:spcAft>
                <a:spcPts val="900"/>
              </a:spcAft>
            </a:pPr>
            <a:r>
              <a:rPr lang="en-US" sz="1700" spc="0" dirty="0">
                <a:solidFill>
                  <a:srgbClr val="565C6B"/>
                </a:solidFill>
                <a:latin typeface="Helvetica Neue Light"/>
                <a:cs typeface="Helvetica Neue Light"/>
              </a:rPr>
              <a:t>Platform parity</a:t>
            </a:r>
          </a:p>
          <a:p>
            <a:pPr algn="l">
              <a:lnSpc>
                <a:spcPct val="115000"/>
              </a:lnSpc>
              <a:spcAft>
                <a:spcPts val="900"/>
              </a:spcAft>
            </a:pPr>
            <a:r>
              <a:rPr lang="en-US" sz="1700" spc="0" dirty="0">
                <a:solidFill>
                  <a:srgbClr val="565C6B"/>
                </a:solidFill>
                <a:latin typeface="Helvetica Neue Light"/>
                <a:cs typeface="Helvetica Neue Light"/>
              </a:rPr>
              <a:t>Integrated systems</a:t>
            </a:r>
          </a:p>
          <a:p>
            <a:pPr algn="l">
              <a:lnSpc>
                <a:spcPct val="115000"/>
              </a:lnSpc>
              <a:spcAft>
                <a:spcPts val="900"/>
              </a:spcAft>
            </a:pPr>
            <a:r>
              <a:rPr lang="en-US" sz="1700" spc="0" dirty="0">
                <a:solidFill>
                  <a:srgbClr val="565C6B"/>
                </a:solidFill>
                <a:latin typeface="Helvetica Neue Light"/>
                <a:cs typeface="Helvetica Neue Light"/>
              </a:rPr>
              <a:t>Data</a:t>
            </a:r>
          </a:p>
        </p:txBody>
      </p:sp>
      <p:sp>
        <p:nvSpPr>
          <p:cNvPr id="108" name="op"/>
          <p:cNvSpPr txBox="1"/>
          <p:nvPr/>
        </p:nvSpPr>
        <p:spPr>
          <a:xfrm>
            <a:off x="634238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9" name="Divider"/>
          <p:cNvCxnSpPr/>
          <p:nvPr/>
        </p:nvCxnSpPr>
        <p:spPr>
          <a:xfrm>
            <a:off x="6616700" y="2651760"/>
            <a:ext cx="2668270" cy="0"/>
          </a:xfrm>
          <a:prstGeom prst="line">
            <a:avLst/>
          </a:prstGeom>
          <a:ln w="9525">
            <a:solidFill>
              <a:srgbClr val="E1E3E8"/>
            </a:solidFill>
          </a:ln>
        </p:spPr>
      </p:cxnSp>
      <p:sp>
        <p:nvSpPr>
          <p:cNvPr id="110" name="UX STRATEGY"/>
          <p:cNvSpPr txBox="1"/>
          <p:nvPr/>
        </p:nvSpPr>
        <p:spPr>
          <a:xfrm>
            <a:off x="661670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UX STRATEGY</a:t>
            </a:r>
          </a:p>
          <a:p>
            <a:pPr algn="l">
              <a:lnSpc>
                <a:spcPct val="115000"/>
              </a:lnSpc>
              <a:spcAft>
                <a:spcPts val="900"/>
              </a:spcAft>
            </a:pPr>
            <a:r>
              <a:rPr lang="en-US" sz="1700" spc="0" dirty="0">
                <a:solidFill>
                  <a:srgbClr val="565C6B"/>
                </a:solidFill>
                <a:latin typeface="Helvetica Neue Light"/>
                <a:cs typeface="Helvetica Neue Light"/>
              </a:rPr>
              <a:t>Simplified interface</a:t>
            </a:r>
          </a:p>
          <a:p>
            <a:pPr algn="l">
              <a:lnSpc>
                <a:spcPct val="115000"/>
              </a:lnSpc>
              <a:spcAft>
                <a:spcPts val="900"/>
              </a:spcAft>
            </a:pPr>
            <a:r>
              <a:rPr lang="en-US" sz="1700" spc="0" dirty="0">
                <a:solidFill>
                  <a:srgbClr val="565C6B"/>
                </a:solidFill>
                <a:latin typeface="Helvetica Neue Light"/>
                <a:cs typeface="Helvetica Neue Light"/>
              </a:rPr>
              <a:t>Dynamic functionality</a:t>
            </a:r>
          </a:p>
          <a:p>
            <a:pPr algn="l">
              <a:lnSpc>
                <a:spcPct val="115000"/>
              </a:lnSpc>
              <a:spcAft>
                <a:spcPts val="900"/>
              </a:spcAft>
            </a:pPr>
            <a:r>
              <a:rPr lang="en-US" sz="1700" spc="0" dirty="0">
                <a:solidFill>
                  <a:srgbClr val="565C6B"/>
                </a:solidFill>
                <a:latin typeface="Helvetica Neue Light"/>
                <a:cs typeface="Helvetica Neue Light"/>
              </a:rPr>
              <a:t>Trade speed</a:t>
            </a:r>
          </a:p>
          <a:p>
            <a:pPr algn="l">
              <a:lnSpc>
                <a:spcPct val="115000"/>
              </a:lnSpc>
              <a:spcAft>
                <a:spcPts val="900"/>
              </a:spcAft>
            </a:pPr>
            <a:r>
              <a:rPr lang="en-US" sz="1700" spc="0" dirty="0">
                <a:solidFill>
                  <a:srgbClr val="565C6B"/>
                </a:solidFill>
                <a:latin typeface="Helvetica Neue Light"/>
                <a:cs typeface="Helvetica Neue Light"/>
              </a:rPr>
              <a:t>Real-time updates</a:t>
            </a:r>
          </a:p>
        </p:txBody>
      </p:sp>
      <p:sp>
        <p:nvSpPr>
          <p:cNvPr id="111" name="op"/>
          <p:cNvSpPr txBox="1"/>
          <p:nvPr/>
        </p:nvSpPr>
        <p:spPr>
          <a:xfrm>
            <a:off x="923925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12" name="Divider"/>
          <p:cNvCxnSpPr/>
          <p:nvPr/>
        </p:nvCxnSpPr>
        <p:spPr>
          <a:xfrm>
            <a:off x="9513570" y="2651760"/>
            <a:ext cx="2668270" cy="0"/>
          </a:xfrm>
          <a:prstGeom prst="line">
            <a:avLst/>
          </a:prstGeom>
          <a:ln w="28575">
            <a:solidFill>
              <a:srgbClr val="B5531F"/>
            </a:solidFill>
          </a:ln>
        </p:spPr>
      </p:cxnSp>
      <p:sp>
        <p:nvSpPr>
          <p:cNvPr id="113" name="FEATURE SET"/>
          <p:cNvSpPr txBox="1"/>
          <p:nvPr/>
        </p:nvSpPr>
        <p:spPr>
          <a:xfrm>
            <a:off x="951357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FEATURE SET</a:t>
            </a:r>
          </a:p>
          <a:p>
            <a:pPr algn="l">
              <a:lnSpc>
                <a:spcPct val="115000"/>
              </a:lnSpc>
              <a:spcAft>
                <a:spcPts val="900"/>
              </a:spcAft>
            </a:pPr>
            <a:r>
              <a:rPr lang="en-US" sz="1700" spc="0" dirty="0">
                <a:solidFill>
                  <a:srgbClr val="14161D"/>
                </a:solidFill>
                <a:latin typeface="Helvetica Neue Light"/>
                <a:cs typeface="Helvetica Neue Light"/>
              </a:rPr>
              <a:t>Order entry</a:t>
            </a:r>
          </a:p>
          <a:p>
            <a:pPr algn="l">
              <a:lnSpc>
                <a:spcPct val="115000"/>
              </a:lnSpc>
              <a:spcAft>
                <a:spcPts val="900"/>
              </a:spcAft>
            </a:pPr>
            <a:r>
              <a:rPr lang="en-US" sz="1700" spc="0" dirty="0">
                <a:solidFill>
                  <a:srgbClr val="14161D"/>
                </a:solidFill>
                <a:latin typeface="Helvetica Neue Light"/>
                <a:cs typeface="Helvetica Neue Light"/>
              </a:rPr>
              <a:t>Execution management</a:t>
            </a:r>
          </a:p>
          <a:p>
            <a:pPr algn="l">
              <a:lnSpc>
                <a:spcPct val="115000"/>
              </a:lnSpc>
              <a:spcAft>
                <a:spcPts val="900"/>
              </a:spcAft>
            </a:pPr>
            <a:r>
              <a:rPr lang="en-US" sz="1700" spc="0" dirty="0">
                <a:solidFill>
                  <a:srgbClr val="14161D"/>
                </a:solidFill>
                <a:latin typeface="Helvetica Neue Light"/>
                <a:cs typeface="Helvetica Neue Light"/>
              </a:rPr>
              <a:t>Real-time monitoring</a:t>
            </a:r>
          </a:p>
          <a:p>
            <a:pPr algn="l">
              <a:lnSpc>
                <a:spcPct val="115000"/>
              </a:lnSpc>
              <a:spcAft>
                <a:spcPts val="900"/>
              </a:spcAft>
            </a:pPr>
            <a:r>
              <a:rPr lang="en-US" sz="1700" spc="0" dirty="0">
                <a:solidFill>
                  <a:srgbClr val="14161D"/>
                </a:solidFill>
                <a:latin typeface="Helvetica Neue Light"/>
                <a:cs typeface="Helvetica Neue Light"/>
              </a:rPr>
              <a:t>Risk management</a:t>
            </a:r>
          </a:p>
          <a:p>
            <a:pPr algn="l">
              <a:lnSpc>
                <a:spcPct val="115000"/>
              </a:lnSpc>
              <a:spcAft>
                <a:spcPts val="900"/>
              </a:spcAft>
            </a:pPr>
            <a:r>
              <a:rPr lang="en-US" sz="1700" spc="0" dirty="0">
                <a:solidFill>
                  <a:srgbClr val="14161D"/>
                </a:solidFill>
                <a:latin typeface="Helvetica Neue Light"/>
                <a:cs typeface="Helvetica Neue Light"/>
              </a:rPr>
              <a:t>Post-trade processing</a:t>
            </a:r>
          </a:p>
          <a:p>
            <a:pPr algn="l">
              <a:lnSpc>
                <a:spcPct val="115000"/>
              </a:lnSpc>
              <a:spcAft>
                <a:spcPts val="900"/>
              </a:spcAft>
            </a:pPr>
            <a:r>
              <a:rPr lang="en-US" sz="1700" spc="0" dirty="0">
                <a:solidFill>
                  <a:srgbClr val="14161D"/>
                </a:solidFill>
                <a:latin typeface="Helvetica Neue Light"/>
                <a:cs typeface="Helvetica Neue Light"/>
              </a:rPr>
              <a:t>Integration with other systems</a:t>
            </a:r>
          </a:p>
          <a:p>
            <a:pPr algn="l">
              <a:lnSpc>
                <a:spcPct val="115000"/>
              </a:lnSpc>
              <a:spcAft>
                <a:spcPts val="900"/>
              </a:spcAft>
            </a:pPr>
            <a:r>
              <a:rPr lang="en-US" sz="1700" spc="0" dirty="0">
                <a:solidFill>
                  <a:srgbClr val="14161D"/>
                </a:solidFill>
                <a:latin typeface="Helvetica Neue Light"/>
                <a:cs typeface="Helvetica Neue Light"/>
              </a:rPr>
              <a:t>Shares vs. dollars</a:t>
            </a:r>
          </a:p>
          <a:p>
            <a:pPr algn="l">
              <a:lnSpc>
                <a:spcPct val="115000"/>
              </a:lnSpc>
              <a:spcAft>
                <a:spcPts val="900"/>
              </a:spcAft>
            </a:pPr>
            <a:r>
              <a:rPr lang="en-US" sz="1700" spc="0" dirty="0">
                <a:solidFill>
                  <a:srgbClr val="14161D"/>
                </a:solidFill>
                <a:latin typeface="Helvetica Neue Light"/>
                <a:cs typeface="Helvetica Neue Light"/>
              </a:rPr>
              <a:t>Analytics and reporting</a:t>
            </a:r>
          </a:p>
        </p:txBody>
      </p:sp>
      <p:pic>
        <p:nvPicPr>
          <p:cNvPr id="114"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DISCOVERY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Competitive analysis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How the leading trading apps handle shares, dollars and the ticket itself</a:t>
            </a:r>
          </a:p>
        </p:txBody>
      </p:sp>
      <p:pic>
        <p:nvPicPr>
          <p:cNvPr id="104" name="Picture 1" descr="image.png"/>
          <p:cNvPicPr>
            <a:picLocks noChangeAspect="1"/>
          </p:cNvPicPr>
          <p:nvPr/>
        </p:nvPicPr>
        <p:blipFill>
          <a:blip r:embed="rId2"/>
          <a:stretch>
            <a:fillRect/>
          </a:stretch>
        </p:blipFill>
        <p:spPr>
          <a:xfrm>
            <a:off x="8763715" y="2634234"/>
            <a:ext cx="663567" cy="1240196"/>
          </a:xfrm>
          <a:prstGeom prst="rect">
            <a:avLst/>
          </a:prstGeom>
          <a:ln w="9525">
            <a:solidFill>
              <a:srgbClr val="D3D6DC"/>
            </a:solidFill>
          </a:ln>
        </p:spPr>
      </p:pic>
      <p:pic>
        <p:nvPicPr>
          <p:cNvPr id="105" name="Picture 2" descr="image.png"/>
          <p:cNvPicPr>
            <a:picLocks noChangeAspect="1"/>
          </p:cNvPicPr>
          <p:nvPr/>
        </p:nvPicPr>
        <p:blipFill>
          <a:blip r:embed="rId3"/>
          <a:stretch>
            <a:fillRect/>
          </a:stretch>
        </p:blipFill>
        <p:spPr>
          <a:xfrm>
            <a:off x="8058409" y="2634234"/>
            <a:ext cx="668889" cy="1345763"/>
          </a:xfrm>
          <a:prstGeom prst="rect">
            <a:avLst/>
          </a:prstGeom>
          <a:ln w="9525">
            <a:solidFill>
              <a:srgbClr val="D3D6DC"/>
            </a:solidFill>
          </a:ln>
        </p:spPr>
      </p:pic>
      <p:pic>
        <p:nvPicPr>
          <p:cNvPr id="106" name="Picture 3" descr="image.png"/>
          <p:cNvPicPr>
            <a:picLocks noChangeAspect="1"/>
          </p:cNvPicPr>
          <p:nvPr/>
        </p:nvPicPr>
        <p:blipFill>
          <a:blip r:embed="rId4"/>
          <a:stretch>
            <a:fillRect/>
          </a:stretch>
        </p:blipFill>
        <p:spPr>
          <a:xfrm>
            <a:off x="9463698" y="2634233"/>
            <a:ext cx="663567" cy="1333344"/>
          </a:xfrm>
          <a:prstGeom prst="rect">
            <a:avLst/>
          </a:prstGeom>
          <a:ln w="9525">
            <a:solidFill>
              <a:srgbClr val="D3D6DC"/>
            </a:solidFill>
          </a:ln>
        </p:spPr>
      </p:pic>
      <p:pic>
        <p:nvPicPr>
          <p:cNvPr id="107" name="Picture 4" descr="image.png"/>
          <p:cNvPicPr>
            <a:picLocks noChangeAspect="1"/>
          </p:cNvPicPr>
          <p:nvPr/>
        </p:nvPicPr>
        <p:blipFill>
          <a:blip r:embed="rId5"/>
          <a:stretch>
            <a:fillRect/>
          </a:stretch>
        </p:blipFill>
        <p:spPr>
          <a:xfrm>
            <a:off x="10168134" y="2629355"/>
            <a:ext cx="660905" cy="1355522"/>
          </a:xfrm>
          <a:prstGeom prst="rect">
            <a:avLst/>
          </a:prstGeom>
          <a:ln w="9525">
            <a:solidFill>
              <a:srgbClr val="D3D6DC"/>
            </a:solidFill>
          </a:ln>
        </p:spPr>
      </p:pic>
      <p:pic>
        <p:nvPicPr>
          <p:cNvPr id="108" name="Picture 5" descr="image.png"/>
          <p:cNvPicPr>
            <a:picLocks noChangeAspect="1"/>
          </p:cNvPicPr>
          <p:nvPr/>
        </p:nvPicPr>
        <p:blipFill>
          <a:blip r:embed="rId6"/>
          <a:stretch>
            <a:fillRect/>
          </a:stretch>
        </p:blipFill>
        <p:spPr>
          <a:xfrm>
            <a:off x="9613971" y="7313645"/>
            <a:ext cx="664241" cy="1123130"/>
          </a:xfrm>
          <a:prstGeom prst="rect">
            <a:avLst/>
          </a:prstGeom>
          <a:ln w="9525">
            <a:solidFill>
              <a:srgbClr val="D3D6DC"/>
            </a:solidFill>
          </a:ln>
        </p:spPr>
      </p:pic>
      <p:pic>
        <p:nvPicPr>
          <p:cNvPr id="109" name="Picture 6" descr="image.png"/>
          <p:cNvPicPr>
            <a:picLocks noChangeAspect="1"/>
          </p:cNvPicPr>
          <p:nvPr/>
        </p:nvPicPr>
        <p:blipFill>
          <a:blip r:embed="rId7"/>
          <a:stretch>
            <a:fillRect/>
          </a:stretch>
        </p:blipFill>
        <p:spPr>
          <a:xfrm>
            <a:off x="10333805" y="7313646"/>
            <a:ext cx="656827" cy="1127578"/>
          </a:xfrm>
          <a:prstGeom prst="rect">
            <a:avLst/>
          </a:prstGeom>
          <a:ln w="9525">
            <a:solidFill>
              <a:srgbClr val="D3D6DC"/>
            </a:solidFill>
          </a:ln>
        </p:spPr>
      </p:pic>
      <p:pic>
        <p:nvPicPr>
          <p:cNvPr id="110" name="Picture 7" descr="image.png"/>
          <p:cNvPicPr>
            <a:picLocks noChangeAspect="1"/>
          </p:cNvPicPr>
          <p:nvPr/>
        </p:nvPicPr>
        <p:blipFill>
          <a:blip r:embed="rId8"/>
          <a:stretch>
            <a:fillRect/>
          </a:stretch>
        </p:blipFill>
        <p:spPr>
          <a:xfrm>
            <a:off x="8200097" y="7313646"/>
            <a:ext cx="671476" cy="1139180"/>
          </a:xfrm>
          <a:prstGeom prst="rect">
            <a:avLst/>
          </a:prstGeom>
          <a:ln w="9525">
            <a:solidFill>
              <a:srgbClr val="D3D6DC"/>
            </a:solidFill>
          </a:ln>
        </p:spPr>
      </p:pic>
      <p:pic>
        <p:nvPicPr>
          <p:cNvPr id="111" name="Picture 8" descr="image.png"/>
          <p:cNvPicPr>
            <a:picLocks noChangeAspect="1"/>
          </p:cNvPicPr>
          <p:nvPr/>
        </p:nvPicPr>
        <p:blipFill>
          <a:blip r:embed="rId9"/>
          <a:stretch>
            <a:fillRect/>
          </a:stretch>
        </p:blipFill>
        <p:spPr>
          <a:xfrm>
            <a:off x="8931900" y="7313646"/>
            <a:ext cx="640315" cy="1078537"/>
          </a:xfrm>
          <a:prstGeom prst="rect">
            <a:avLst/>
          </a:prstGeom>
          <a:ln w="9525">
            <a:solidFill>
              <a:srgbClr val="D3D6DC"/>
            </a:solidFill>
          </a:ln>
        </p:spPr>
      </p:pic>
      <p:pic>
        <p:nvPicPr>
          <p:cNvPr id="112" name="Picture 9" descr="image.png"/>
          <p:cNvPicPr>
            <a:picLocks noChangeAspect="1"/>
          </p:cNvPicPr>
          <p:nvPr/>
        </p:nvPicPr>
        <p:blipFill>
          <a:blip r:embed="rId10"/>
          <a:stretch>
            <a:fillRect/>
          </a:stretch>
        </p:blipFill>
        <p:spPr>
          <a:xfrm>
            <a:off x="8392854" y="4878833"/>
            <a:ext cx="664241" cy="1072946"/>
          </a:xfrm>
          <a:prstGeom prst="rect">
            <a:avLst/>
          </a:prstGeom>
          <a:ln w="9525">
            <a:solidFill>
              <a:srgbClr val="D3D6DC"/>
            </a:solidFill>
          </a:ln>
        </p:spPr>
      </p:pic>
      <p:pic>
        <p:nvPicPr>
          <p:cNvPr id="113" name="Picture 10" descr="image.png"/>
          <p:cNvPicPr>
            <a:picLocks noChangeAspect="1"/>
          </p:cNvPicPr>
          <p:nvPr/>
        </p:nvPicPr>
        <p:blipFill>
          <a:blip r:embed="rId11"/>
          <a:stretch>
            <a:fillRect/>
          </a:stretch>
        </p:blipFill>
        <p:spPr>
          <a:xfrm>
            <a:off x="9089420" y="4886589"/>
            <a:ext cx="656827" cy="1135748"/>
          </a:xfrm>
          <a:prstGeom prst="rect">
            <a:avLst/>
          </a:prstGeom>
          <a:ln w="9525">
            <a:solidFill>
              <a:srgbClr val="D3D6DC"/>
            </a:solidFill>
          </a:ln>
        </p:spPr>
      </p:pic>
      <p:pic>
        <p:nvPicPr>
          <p:cNvPr id="114" name="Picture 11" descr="image.png"/>
          <p:cNvPicPr>
            <a:picLocks noChangeAspect="1"/>
          </p:cNvPicPr>
          <p:nvPr/>
        </p:nvPicPr>
        <p:blipFill>
          <a:blip r:embed="rId12"/>
          <a:stretch>
            <a:fillRect/>
          </a:stretch>
        </p:blipFill>
        <p:spPr>
          <a:xfrm>
            <a:off x="6978981" y="4886589"/>
            <a:ext cx="671476" cy="1147170"/>
          </a:xfrm>
          <a:prstGeom prst="rect">
            <a:avLst/>
          </a:prstGeom>
          <a:ln w="9525">
            <a:solidFill>
              <a:srgbClr val="D3D6DC"/>
            </a:solidFill>
          </a:ln>
        </p:spPr>
      </p:pic>
      <p:pic>
        <p:nvPicPr>
          <p:cNvPr id="115" name="Picture 12" descr="image.png"/>
          <p:cNvPicPr>
            <a:picLocks noChangeAspect="1"/>
          </p:cNvPicPr>
          <p:nvPr/>
        </p:nvPicPr>
        <p:blipFill>
          <a:blip r:embed="rId13"/>
          <a:stretch>
            <a:fillRect/>
          </a:stretch>
        </p:blipFill>
        <p:spPr>
          <a:xfrm>
            <a:off x="7710783" y="4886589"/>
            <a:ext cx="640314" cy="1086705"/>
          </a:xfrm>
          <a:prstGeom prst="rect">
            <a:avLst/>
          </a:prstGeom>
          <a:ln w="9525">
            <a:solidFill>
              <a:srgbClr val="D3D6DC"/>
            </a:solidFill>
          </a:ln>
        </p:spPr>
      </p:pic>
      <p:cxnSp>
        <p:nvCxnSpPr>
          <p:cNvPr id="116" name="Divider"/>
          <p:cNvCxnSpPr/>
          <p:nvPr/>
        </p:nvCxnSpPr>
        <p:spPr>
          <a:xfrm>
            <a:off x="822960" y="2194560"/>
            <a:ext cx="5120640" cy="0"/>
          </a:xfrm>
          <a:prstGeom prst="line">
            <a:avLst/>
          </a:prstGeom>
          <a:ln w="9525">
            <a:solidFill>
              <a:srgbClr val="E1E3E8"/>
            </a:solidFill>
          </a:ln>
        </p:spPr>
      </p:cxnSp>
      <p:sp>
        <p:nvSpPr>
          <p:cNvPr id="117" name="Robinhood"/>
          <p:cNvSpPr txBox="1"/>
          <p:nvPr/>
        </p:nvSpPr>
        <p:spPr>
          <a:xfrm>
            <a:off x="822960" y="2359152"/>
            <a:ext cx="5120640" cy="18288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Robinhood</a:t>
            </a:r>
          </a:p>
          <a:p>
            <a:pPr algn="l">
              <a:lnSpc>
                <a:spcPct val="125000"/>
              </a:lnSpc>
              <a:spcAft>
                <a:spcPts val="200"/>
              </a:spcAft>
            </a:pPr>
            <a:r>
              <a:rPr lang="en-US" sz="1550" spc="0" dirty="0">
                <a:solidFill>
                  <a:srgbClr val="565C6B"/>
                </a:solidFill>
                <a:latin typeface="Helvetica Neue Light"/>
                <a:cs typeface="Helvetica Neue Light"/>
              </a:rPr>
              <a:t>Whole and fractional shares in dollar amounts. A simple switch between shares and dollars, tickets with every detail, and instant trade notifications.</a:t>
            </a:r>
          </a:p>
        </p:txBody>
      </p:sp>
      <p:cxnSp>
        <p:nvCxnSpPr>
          <p:cNvPr id="118" name="Divider"/>
          <p:cNvCxnSpPr/>
          <p:nvPr/>
        </p:nvCxnSpPr>
        <p:spPr>
          <a:xfrm>
            <a:off x="822960" y="4160520"/>
            <a:ext cx="5120640" cy="0"/>
          </a:xfrm>
          <a:prstGeom prst="line">
            <a:avLst/>
          </a:prstGeom>
          <a:ln w="9525">
            <a:solidFill>
              <a:srgbClr val="E1E3E8"/>
            </a:solidFill>
          </a:ln>
        </p:spPr>
      </p:cxnSp>
      <p:sp>
        <p:nvSpPr>
          <p:cNvPr id="119" name="Charles Schwab"/>
          <p:cNvSpPr txBox="1"/>
          <p:nvPr/>
        </p:nvSpPr>
        <p:spPr>
          <a:xfrm>
            <a:off x="822960" y="4325112"/>
            <a:ext cx="5120640" cy="18288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Charles Schwab</a:t>
            </a:r>
          </a:p>
          <a:p>
            <a:pPr algn="l">
              <a:lnSpc>
                <a:spcPct val="125000"/>
              </a:lnSpc>
              <a:spcAft>
                <a:spcPts val="200"/>
              </a:spcAft>
            </a:pPr>
            <a:r>
              <a:rPr lang="en-US" sz="1550" spc="0" dirty="0">
                <a:solidFill>
                  <a:srgbClr val="565C6B"/>
                </a:solidFill>
                <a:latin typeface="Helvetica Neue Light"/>
                <a:cs typeface="Helvetica Neue Light"/>
              </a:rPr>
              <a:t>Fractional shares from $5 with Stock Slices. Clear, complete trade tickets and an intuitive design.</a:t>
            </a:r>
          </a:p>
        </p:txBody>
      </p:sp>
      <p:cxnSp>
        <p:nvCxnSpPr>
          <p:cNvPr id="120" name="Divider"/>
          <p:cNvCxnSpPr/>
          <p:nvPr/>
        </p:nvCxnSpPr>
        <p:spPr>
          <a:xfrm>
            <a:off x="822960" y="6126479"/>
            <a:ext cx="5120640" cy="0"/>
          </a:xfrm>
          <a:prstGeom prst="line">
            <a:avLst/>
          </a:prstGeom>
          <a:ln w="9525">
            <a:solidFill>
              <a:srgbClr val="E1E3E8"/>
            </a:solidFill>
          </a:ln>
        </p:spPr>
      </p:cxnSp>
      <p:sp>
        <p:nvSpPr>
          <p:cNvPr id="121" name="Fidelity"/>
          <p:cNvSpPr txBox="1"/>
          <p:nvPr/>
        </p:nvSpPr>
        <p:spPr>
          <a:xfrm>
            <a:off x="822960" y="6291071"/>
            <a:ext cx="5120640" cy="18288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Fidelity</a:t>
            </a:r>
          </a:p>
          <a:p>
            <a:pPr algn="l">
              <a:lnSpc>
                <a:spcPct val="125000"/>
              </a:lnSpc>
              <a:spcAft>
                <a:spcPts val="200"/>
              </a:spcAft>
            </a:pPr>
            <a:r>
              <a:rPr lang="en-US" sz="1550" spc="0" dirty="0">
                <a:solidFill>
                  <a:srgbClr val="565C6B"/>
                </a:solidFill>
                <a:latin typeface="Helvetica Neue Light"/>
                <a:cs typeface="Helvetica Neue Light"/>
              </a:rPr>
              <a:t>Shares or dollars, with fractional shares across stocks and ETFs. Detailed tickets with execution time, and easy navigation.</a:t>
            </a:r>
          </a:p>
        </p:txBody>
      </p:sp>
      <p:pic>
        <p:nvPicPr>
          <p:cNvPr id="122" name="gradient strip" descr="gradient strip"/>
          <p:cNvPicPr>
            <a:picLocks noChangeAspect="1"/>
          </p:cNvPicPr>
          <p:nvPr/>
        </p:nvPicPr>
        <p:blipFill>
          <a:blip r:embed="rId14"/>
          <a:stretch>
            <a:fillRect/>
          </a:stretch>
        </p:blipFill>
        <p:spPr>
          <a:xfrm>
            <a:off x="0" y="9285427"/>
            <a:ext cx="13004800" cy="468173"/>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Trade ticket design sprint: discovery</a:t>
            </a:r>
          </a:p>
        </p:txBody>
      </p:sp>
      <p:pic>
        <p:nvPicPr>
          <p:cNvPr id="103" name="Picture 2" descr="image.png"/>
          <p:cNvPicPr>
            <a:picLocks noChangeAspect="1"/>
          </p:cNvPicPr>
          <p:nvPr/>
        </p:nvPicPr>
        <p:blipFill>
          <a:blip r:embed="rId2"/>
          <a:stretch>
            <a:fillRect/>
          </a:stretch>
        </p:blipFill>
        <p:spPr>
          <a:xfrm>
            <a:off x="6502400" y="3078233"/>
            <a:ext cx="2647896" cy="5603690"/>
          </a:xfrm>
          <a:prstGeom prst="rect">
            <a:avLst/>
          </a:prstGeom>
          <a:ln w="9525">
            <a:solidFill>
              <a:srgbClr val="D3D6DC"/>
            </a:solidFill>
          </a:ln>
        </p:spPr>
      </p:pic>
      <p:pic>
        <p:nvPicPr>
          <p:cNvPr id="105" name="Picture 3" descr="image.png"/>
          <p:cNvPicPr>
            <a:picLocks noChangeAspect="1"/>
          </p:cNvPicPr>
          <p:nvPr/>
        </p:nvPicPr>
        <p:blipFill>
          <a:blip r:embed="rId3"/>
          <a:stretch>
            <a:fillRect/>
          </a:stretch>
        </p:blipFill>
        <p:spPr>
          <a:xfrm>
            <a:off x="9607496" y="3078233"/>
            <a:ext cx="2585393" cy="5603690"/>
          </a:xfrm>
          <a:prstGeom prst="rect">
            <a:avLst/>
          </a:prstGeom>
          <a:ln w="9525">
            <a:solidFill>
              <a:srgbClr val="D3D6DC"/>
            </a:solidFill>
          </a:ln>
        </p:spPr>
      </p:pic>
      <p:sp>
        <p:nvSpPr>
          <p:cNvPr id="106" name="Learned"/>
          <p:cNvSpPr txBox="1"/>
          <p:nvPr/>
        </p:nvSpPr>
        <p:spPr>
          <a:xfrm>
            <a:off x="822960" y="2194560"/>
            <a:ext cx="475488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FROM DISCOVERY AND DESIGN THINKING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Account switching would serve most experienced traders and 60% of novice users, and fit the new mobile-native navigation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Dark mode is important</a:t>
            </a:r>
          </a:p>
        </p:txBody>
      </p:sp>
      <p:pic>
        <p:nvPicPr>
          <p:cNvPr id="107"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First iteration: start from what they hold</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If a user holds the asset, they go straight into a ticket to buy or sell.</a:t>
            </a:r>
          </a:p>
        </p:txBody>
      </p:sp>
      <p:pic>
        <p:nvPicPr>
          <p:cNvPr id="104" name="Picture 2" descr="image.png"/>
          <p:cNvPicPr>
            <a:picLocks noChangeAspect="1"/>
          </p:cNvPicPr>
          <p:nvPr/>
        </p:nvPicPr>
        <p:blipFill>
          <a:blip r:embed="rId2"/>
          <a:stretch>
            <a:fillRect/>
          </a:stretch>
        </p:blipFill>
        <p:spPr>
          <a:xfrm>
            <a:off x="5852160" y="2974438"/>
            <a:ext cx="2536496" cy="4841043"/>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8708696" y="2974438"/>
            <a:ext cx="3471111" cy="4841043"/>
          </a:xfrm>
          <a:prstGeom prst="rect">
            <a:avLst/>
          </a:prstGeom>
          <a:ln w="9525">
            <a:solidFill>
              <a:srgbClr val="D3D6DC"/>
            </a:solidFill>
          </a:ln>
        </p:spPr>
      </p:pic>
      <p:sp>
        <p:nvSpPr>
          <p:cNvPr id="106" name="Caption"/>
          <p:cNvSpPr txBox="1"/>
          <p:nvPr/>
        </p:nvSpPr>
        <p:spPr>
          <a:xfrm>
            <a:off x="5852160" y="2626966"/>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First iteration</a:t>
            </a:r>
          </a:p>
        </p:txBody>
      </p:sp>
      <p:sp>
        <p:nvSpPr>
          <p:cNvPr id="107" name="Learned"/>
          <p:cNvSpPr txBox="1"/>
          <p:nvPr/>
        </p:nvSpPr>
        <p:spPr>
          <a:xfrm>
            <a:off x="822960" y="2194560"/>
            <a:ext cx="457200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IDEA</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 asset is already held, so the user lands straight in the funnel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One toggle switches between dollars and shares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predictive interface: only the choices that apply, never too many</a:t>
            </a:r>
          </a:p>
        </p:txBody>
      </p:sp>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Second and third iterations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A flexible ticket with detail on the stock and on the holding itself.</a:t>
            </a:r>
          </a:p>
        </p:txBody>
      </p:sp>
      <p:pic>
        <p:nvPicPr>
          <p:cNvPr id="104" name="Picture 2" descr="image.png"/>
          <p:cNvPicPr>
            <a:picLocks noChangeAspect="1"/>
          </p:cNvPicPr>
          <p:nvPr/>
        </p:nvPicPr>
        <p:blipFill>
          <a:blip r:embed="rId2"/>
          <a:stretch>
            <a:fillRect/>
          </a:stretch>
        </p:blipFill>
        <p:spPr>
          <a:xfrm>
            <a:off x="5933457" y="2468880"/>
            <a:ext cx="2817033" cy="5852160"/>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9070531" y="2468880"/>
            <a:ext cx="3109276" cy="5852160"/>
          </a:xfrm>
          <a:prstGeom prst="rect">
            <a:avLst/>
          </a:prstGeom>
          <a:ln w="9525">
            <a:solidFill>
              <a:srgbClr val="D3D6DC"/>
            </a:solidFill>
          </a:ln>
        </p:spPr>
      </p:pic>
      <p:sp>
        <p:nvSpPr>
          <p:cNvPr id="106" name="Caption"/>
          <p:cNvSpPr txBox="1"/>
          <p:nvPr/>
        </p:nvSpPr>
        <p:spPr>
          <a:xfrm>
            <a:off x="5933457" y="2121408"/>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Second iteration</a:t>
            </a:r>
          </a:p>
        </p:txBody>
      </p:sp>
      <p:sp>
        <p:nvSpPr>
          <p:cNvPr id="107" name="Caption"/>
          <p:cNvSpPr txBox="1"/>
          <p:nvPr/>
        </p:nvSpPr>
        <p:spPr>
          <a:xfrm>
            <a:off x="9070531" y="2121408"/>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Third iteration</a:t>
            </a:r>
          </a:p>
        </p:txBody>
      </p:sp>
      <p:sp>
        <p:nvSpPr>
          <p:cNvPr id="108" name="Learned"/>
          <p:cNvSpPr txBox="1"/>
          <p:nvPr/>
        </p:nvSpPr>
        <p:spPr>
          <a:xfrm>
            <a:off x="822960" y="2194560"/>
            <a:ext cx="457200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IN TESTING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Education was a priority for all users, but shouldn’t distract or slow them down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Trading in quick amounts is good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Feedback on the share amount is valuable too</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custom keyboard was tried in several iterations, then replaced by the system keyboard</a:t>
            </a:r>
          </a:p>
        </p:txBody>
      </p:sp>
      <p:pic>
        <p:nvPicPr>
          <p:cNvPr id="109"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Testing two versions: list or tabs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order type stays available, whether trading by shares or dollars.</a:t>
            </a:r>
          </a:p>
        </p:txBody>
      </p:sp>
      <p:pic>
        <p:nvPicPr>
          <p:cNvPr id="104" name="Picture 3" descr="image.png"/>
          <p:cNvPicPr>
            <a:picLocks noChangeAspect="1"/>
          </p:cNvPicPr>
          <p:nvPr/>
        </p:nvPicPr>
        <p:blipFill>
          <a:blip r:embed="rId2"/>
          <a:stretch>
            <a:fillRect/>
          </a:stretch>
        </p:blipFill>
        <p:spPr>
          <a:xfrm>
            <a:off x="822960" y="4242201"/>
            <a:ext cx="2479078" cy="3951436"/>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3622078" y="4242201"/>
            <a:ext cx="1975718" cy="3951436"/>
          </a:xfrm>
          <a:prstGeom prst="rect">
            <a:avLst/>
          </a:prstGeom>
          <a:ln w="9525">
            <a:solidFill>
              <a:srgbClr val="D3D6DC"/>
            </a:solidFill>
          </a:ln>
        </p:spPr>
      </p:pic>
      <p:pic>
        <p:nvPicPr>
          <p:cNvPr id="106" name="Picture 2" descr="image.png"/>
          <p:cNvPicPr>
            <a:picLocks noChangeAspect="1"/>
          </p:cNvPicPr>
          <p:nvPr/>
        </p:nvPicPr>
        <p:blipFill>
          <a:blip r:embed="rId4"/>
          <a:stretch>
            <a:fillRect/>
          </a:stretch>
        </p:blipFill>
        <p:spPr>
          <a:xfrm>
            <a:off x="5917836" y="4242201"/>
            <a:ext cx="1975717" cy="3951436"/>
          </a:xfrm>
          <a:prstGeom prst="rect">
            <a:avLst/>
          </a:prstGeom>
          <a:ln w="9525">
            <a:solidFill>
              <a:srgbClr val="D3D6DC"/>
            </a:solidFill>
          </a:ln>
        </p:spPr>
      </p:pic>
      <p:pic>
        <p:nvPicPr>
          <p:cNvPr id="107" name="Picture 4" descr="image.png"/>
          <p:cNvPicPr>
            <a:picLocks noChangeAspect="1"/>
          </p:cNvPicPr>
          <p:nvPr/>
        </p:nvPicPr>
        <p:blipFill>
          <a:blip r:embed="rId5"/>
          <a:stretch>
            <a:fillRect/>
          </a:stretch>
        </p:blipFill>
        <p:spPr>
          <a:xfrm>
            <a:off x="8213594" y="4242201"/>
            <a:ext cx="1823086" cy="3951436"/>
          </a:xfrm>
          <a:prstGeom prst="rect">
            <a:avLst/>
          </a:prstGeom>
          <a:ln w="9525">
            <a:solidFill>
              <a:srgbClr val="D3D6DC"/>
            </a:solidFill>
          </a:ln>
        </p:spPr>
      </p:pic>
      <p:pic>
        <p:nvPicPr>
          <p:cNvPr id="108" name="Picture 5" descr="image.png"/>
          <p:cNvPicPr>
            <a:picLocks noChangeAspect="1"/>
          </p:cNvPicPr>
          <p:nvPr/>
        </p:nvPicPr>
        <p:blipFill>
          <a:blip r:embed="rId6"/>
          <a:stretch>
            <a:fillRect/>
          </a:stretch>
        </p:blipFill>
        <p:spPr>
          <a:xfrm>
            <a:off x="10356721" y="4242201"/>
            <a:ext cx="1823086" cy="3951436"/>
          </a:xfrm>
          <a:prstGeom prst="rect">
            <a:avLst/>
          </a:prstGeom>
          <a:ln w="9525">
            <a:solidFill>
              <a:srgbClr val="D3D6DC"/>
            </a:solidFill>
          </a:ln>
        </p:spPr>
      </p:pic>
      <p:sp>
        <p:nvSpPr>
          <p:cNvPr id="109" name="Caption"/>
          <p:cNvSpPr txBox="1"/>
          <p:nvPr/>
        </p:nvSpPr>
        <p:spPr>
          <a:xfrm>
            <a:off x="822960" y="3894729"/>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Test version 1</a:t>
            </a:r>
          </a:p>
        </p:txBody>
      </p:sp>
      <p:sp>
        <p:nvSpPr>
          <p:cNvPr id="110" name="Learned"/>
          <p:cNvSpPr txBox="1"/>
          <p:nvPr/>
        </p:nvSpPr>
        <p:spPr>
          <a:xfrm>
            <a:off x="822960" y="2194560"/>
            <a:ext cx="438912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IN TESTING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People preferred the list view to tabs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 icon next to “Action” scored high</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Quantity and order sheets that appear only when needed made sense to many</a:t>
            </a:r>
          </a:p>
        </p:txBody>
      </p:sp>
      <p:pic>
        <p:nvPicPr>
          <p:cNvPr id="111" name="gradient strip" descr="gradient strip"/>
          <p:cNvPicPr>
            <a:picLocks noChangeAspect="1"/>
          </p:cNvPicPr>
          <p:nvPr/>
        </p:nvPicPr>
        <p:blipFill>
          <a:blip r:embed="rId7"/>
          <a:stretch>
            <a:fillRect/>
          </a:stretch>
        </p:blipFill>
        <p:spPr>
          <a:xfrm>
            <a:off x="0" y="9285427"/>
            <a:ext cx="13004800" cy="468173"/>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Final delivered solution</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field stays editable if the user needs to change the order.</a:t>
            </a:r>
          </a:p>
        </p:txBody>
      </p:sp>
      <p:pic>
        <p:nvPicPr>
          <p:cNvPr id="104" name="Picture 1" descr="image.png"/>
          <p:cNvPicPr>
            <a:picLocks noChangeAspect="1"/>
          </p:cNvPicPr>
          <p:nvPr/>
        </p:nvPicPr>
        <p:blipFill>
          <a:blip r:embed="rId2"/>
          <a:stretch>
            <a:fillRect/>
          </a:stretch>
        </p:blipFill>
        <p:spPr>
          <a:xfrm>
            <a:off x="6370446" y="2377440"/>
            <a:ext cx="2747102" cy="5943600"/>
          </a:xfrm>
          <a:prstGeom prst="rect">
            <a:avLst/>
          </a:prstGeom>
          <a:ln w="9525">
            <a:solidFill>
              <a:srgbClr val="D3D6DC"/>
            </a:solidFill>
          </a:ln>
        </p:spPr>
      </p:pic>
      <p:pic>
        <p:nvPicPr>
          <p:cNvPr id="105" name="Picture 2" descr="image.png"/>
          <p:cNvPicPr>
            <a:picLocks noChangeAspect="1"/>
          </p:cNvPicPr>
          <p:nvPr/>
        </p:nvPicPr>
        <p:blipFill>
          <a:blip r:embed="rId3"/>
          <a:stretch>
            <a:fillRect/>
          </a:stretch>
        </p:blipFill>
        <p:spPr>
          <a:xfrm>
            <a:off x="9437589" y="2377440"/>
            <a:ext cx="2742218" cy="5943600"/>
          </a:xfrm>
          <a:prstGeom prst="rect">
            <a:avLst/>
          </a:prstGeom>
          <a:ln w="9525">
            <a:solidFill>
              <a:srgbClr val="D3D6DC"/>
            </a:solidFill>
          </a:ln>
        </p:spPr>
      </p:pic>
      <p:sp>
        <p:nvSpPr>
          <p:cNvPr id="106" name="Caption"/>
          <p:cNvSpPr txBox="1"/>
          <p:nvPr/>
        </p:nvSpPr>
        <p:spPr>
          <a:xfrm>
            <a:off x="6370446" y="2029968"/>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Final delivered solution</a:t>
            </a:r>
          </a:p>
        </p:txBody>
      </p:sp>
      <p:sp>
        <p:nvSpPr>
          <p:cNvPr id="107" name="Learned"/>
          <p:cNvSpPr txBox="1"/>
          <p:nvPr/>
        </p:nvSpPr>
        <p:spPr>
          <a:xfrm>
            <a:off x="822960" y="2194560"/>
            <a:ext cx="448056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IN TESTING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Order types vary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Color and status changes show where an order is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Seeing the status right away is vital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cleaner interface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Quick transactions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Watchlist alerts you can act on</a:t>
            </a:r>
          </a:p>
        </p:txBody>
      </p:sp>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DELIVERY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One buy order, on the phone</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Account, stock, Buy, a dollar amount on the keypad, order type, review in shares, submit, executed.</a:t>
            </a:r>
          </a:p>
        </p:txBody>
      </p:sp>
      <p:pic>
        <p:nvPicPr>
          <p:cNvPr id="104" name="Hi-fi screen"/>
          <p:cNvPicPr>
            <a:picLocks noChangeAspect="1"/>
          </p:cNvPicPr>
          <p:nvPr/>
        </p:nvPicPr>
        <p:blipFill>
          <a:blip r:embed="rId2"/>
          <a:srcRect b="22747"/>
          <a:stretch>
            <a:fillRect/>
          </a:stretch>
        </p:blipFill>
        <p:spPr>
          <a:xfrm>
            <a:off x="822960" y="2240280"/>
            <a:ext cx="1275842" cy="2136293"/>
          </a:xfrm>
          <a:prstGeom prst="rect">
            <a:avLst/>
          </a:prstGeom>
          <a:ln w="9525">
            <a:solidFill>
              <a:srgbClr val="D3D6DC"/>
            </a:solidFill>
          </a:ln>
        </p:spPr>
      </p:pic>
      <p:sp>
        <p:nvSpPr>
          <p:cNvPr id="105" name="Cap 1"/>
          <p:cNvSpPr txBox="1"/>
          <p:nvPr/>
        </p:nvSpPr>
        <p:spPr>
          <a:xfrm>
            <a:off x="822960"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01  </a:t>
            </a:r>
            <a:r>
              <a:rPr lang="en-US" sz="1050" spc="0" dirty="0">
                <a:solidFill>
                  <a:srgbClr val="14161D"/>
                </a:solidFill>
                <a:latin typeface="Helvetica Neue Medium"/>
                <a:cs typeface="Helvetica Neue Medium"/>
              </a:rPr>
              <a:t>Accounts home</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06" name="Hi-fi screen"/>
          <p:cNvPicPr>
            <a:picLocks noChangeAspect="1"/>
          </p:cNvPicPr>
          <p:nvPr/>
        </p:nvPicPr>
        <p:blipFill>
          <a:blip r:embed="rId3"/>
          <a:srcRect b="22747"/>
          <a:stretch>
            <a:fillRect/>
          </a:stretch>
        </p:blipFill>
        <p:spPr>
          <a:xfrm>
            <a:off x="2263394" y="2240280"/>
            <a:ext cx="1275842" cy="2136293"/>
          </a:xfrm>
          <a:prstGeom prst="rect">
            <a:avLst/>
          </a:prstGeom>
          <a:ln w="9525">
            <a:solidFill>
              <a:srgbClr val="D3D6DC"/>
            </a:solidFill>
          </a:ln>
        </p:spPr>
      </p:pic>
      <p:sp>
        <p:nvSpPr>
          <p:cNvPr id="107" name="Cap 2"/>
          <p:cNvSpPr txBox="1"/>
          <p:nvPr/>
        </p:nvSpPr>
        <p:spPr>
          <a:xfrm>
            <a:off x="2263394"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02  </a:t>
            </a:r>
            <a:r>
              <a:rPr lang="en-US" sz="1050" spc="0" dirty="0">
                <a:solidFill>
                  <a:srgbClr val="14161D"/>
                </a:solidFill>
                <a:latin typeface="Helvetica Neue Medium"/>
                <a:cs typeface="Helvetica Neue Medium"/>
              </a:rPr>
              <a:t>The ticket</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08" name="Hi-fi screen"/>
          <p:cNvPicPr>
            <a:picLocks noChangeAspect="1"/>
          </p:cNvPicPr>
          <p:nvPr/>
        </p:nvPicPr>
        <p:blipFill>
          <a:blip r:embed="rId4"/>
          <a:srcRect b="22747"/>
          <a:stretch>
            <a:fillRect/>
          </a:stretch>
        </p:blipFill>
        <p:spPr>
          <a:xfrm>
            <a:off x="3703828" y="2240280"/>
            <a:ext cx="1275842" cy="2136293"/>
          </a:xfrm>
          <a:prstGeom prst="rect">
            <a:avLst/>
          </a:prstGeom>
          <a:ln w="9525">
            <a:solidFill>
              <a:srgbClr val="D3D6DC"/>
            </a:solidFill>
          </a:ln>
        </p:spPr>
      </p:pic>
      <p:sp>
        <p:nvSpPr>
          <p:cNvPr id="109" name="Cap 3"/>
          <p:cNvSpPr txBox="1"/>
          <p:nvPr/>
        </p:nvSpPr>
        <p:spPr>
          <a:xfrm>
            <a:off x="3703828"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03  </a:t>
            </a:r>
            <a:r>
              <a:rPr lang="en-US" sz="1050" spc="0" dirty="0">
                <a:solidFill>
                  <a:srgbClr val="14161D"/>
                </a:solidFill>
                <a:latin typeface="Helvetica Neue Medium"/>
                <a:cs typeface="Helvetica Neue Medium"/>
              </a:rPr>
              <a:t>Account menu</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10" name="Hi-fi screen"/>
          <p:cNvPicPr>
            <a:picLocks noChangeAspect="1"/>
          </p:cNvPicPr>
          <p:nvPr/>
        </p:nvPicPr>
        <p:blipFill>
          <a:blip r:embed="rId5"/>
          <a:srcRect b="22747"/>
          <a:stretch>
            <a:fillRect/>
          </a:stretch>
        </p:blipFill>
        <p:spPr>
          <a:xfrm>
            <a:off x="5144262" y="2240280"/>
            <a:ext cx="1275842" cy="2136293"/>
          </a:xfrm>
          <a:prstGeom prst="rect">
            <a:avLst/>
          </a:prstGeom>
          <a:ln w="9525">
            <a:solidFill>
              <a:srgbClr val="D3D6DC"/>
            </a:solidFill>
          </a:ln>
        </p:spPr>
      </p:pic>
      <p:sp>
        <p:nvSpPr>
          <p:cNvPr id="111" name="Cap 4"/>
          <p:cNvSpPr txBox="1"/>
          <p:nvPr/>
        </p:nvSpPr>
        <p:spPr>
          <a:xfrm>
            <a:off x="5144262"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04  </a:t>
            </a:r>
            <a:r>
              <a:rPr lang="en-US" sz="1050" spc="0" dirty="0">
                <a:solidFill>
                  <a:srgbClr val="14161D"/>
                </a:solidFill>
                <a:latin typeface="Helvetica Neue Medium"/>
                <a:cs typeface="Helvetica Neue Medium"/>
              </a:rPr>
              <a:t>Account 3</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12" name="Hi-fi screen"/>
          <p:cNvPicPr>
            <a:picLocks noChangeAspect="1"/>
          </p:cNvPicPr>
          <p:nvPr/>
        </p:nvPicPr>
        <p:blipFill>
          <a:blip r:embed="rId6"/>
          <a:srcRect b="22747"/>
          <a:stretch>
            <a:fillRect/>
          </a:stretch>
        </p:blipFill>
        <p:spPr>
          <a:xfrm>
            <a:off x="6584696" y="2240280"/>
            <a:ext cx="1275842" cy="2136293"/>
          </a:xfrm>
          <a:prstGeom prst="rect">
            <a:avLst/>
          </a:prstGeom>
          <a:ln w="9525">
            <a:solidFill>
              <a:srgbClr val="D3D6DC"/>
            </a:solidFill>
          </a:ln>
        </p:spPr>
      </p:pic>
      <p:sp>
        <p:nvSpPr>
          <p:cNvPr id="113" name="Cap 5"/>
          <p:cNvSpPr txBox="1"/>
          <p:nvPr/>
        </p:nvSpPr>
        <p:spPr>
          <a:xfrm>
            <a:off x="6584696"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05  </a:t>
            </a:r>
            <a:r>
              <a:rPr lang="en-US" sz="1050" spc="0" dirty="0">
                <a:solidFill>
                  <a:srgbClr val="14161D"/>
                </a:solidFill>
                <a:latin typeface="Helvetica Neue Medium"/>
                <a:cs typeface="Helvetica Neue Medium"/>
              </a:rPr>
              <a:t>Search</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14" name="Hi-fi screen"/>
          <p:cNvPicPr>
            <a:picLocks noChangeAspect="1"/>
          </p:cNvPicPr>
          <p:nvPr/>
        </p:nvPicPr>
        <p:blipFill>
          <a:blip r:embed="rId7"/>
          <a:srcRect b="22747"/>
          <a:stretch>
            <a:fillRect/>
          </a:stretch>
        </p:blipFill>
        <p:spPr>
          <a:xfrm>
            <a:off x="8025130" y="2240280"/>
            <a:ext cx="1275842" cy="2136293"/>
          </a:xfrm>
          <a:prstGeom prst="rect">
            <a:avLst/>
          </a:prstGeom>
          <a:ln w="9525">
            <a:solidFill>
              <a:srgbClr val="D3D6DC"/>
            </a:solidFill>
          </a:ln>
        </p:spPr>
      </p:pic>
      <p:sp>
        <p:nvSpPr>
          <p:cNvPr id="115" name="Cap 6"/>
          <p:cNvSpPr txBox="1"/>
          <p:nvPr/>
        </p:nvSpPr>
        <p:spPr>
          <a:xfrm>
            <a:off x="8025130"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06  </a:t>
            </a:r>
            <a:r>
              <a:rPr lang="en-US" sz="1050" spc="0" dirty="0">
                <a:solidFill>
                  <a:srgbClr val="14161D"/>
                </a:solidFill>
                <a:latin typeface="Helvetica Neue Medium"/>
                <a:cs typeface="Helvetica Neue Medium"/>
              </a:rPr>
              <a:t>AAPL</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16" name="Hi-fi screen"/>
          <p:cNvPicPr>
            <a:picLocks noChangeAspect="1"/>
          </p:cNvPicPr>
          <p:nvPr/>
        </p:nvPicPr>
        <p:blipFill>
          <a:blip r:embed="rId8"/>
          <a:srcRect b="22747"/>
          <a:stretch>
            <a:fillRect/>
          </a:stretch>
        </p:blipFill>
        <p:spPr>
          <a:xfrm>
            <a:off x="9465564" y="2240280"/>
            <a:ext cx="1275842" cy="2136293"/>
          </a:xfrm>
          <a:prstGeom prst="rect">
            <a:avLst/>
          </a:prstGeom>
          <a:ln w="9525">
            <a:solidFill>
              <a:srgbClr val="D3D6DC"/>
            </a:solidFill>
          </a:ln>
        </p:spPr>
      </p:pic>
      <p:sp>
        <p:nvSpPr>
          <p:cNvPr id="117" name="Cap 7"/>
          <p:cNvSpPr txBox="1"/>
          <p:nvPr/>
        </p:nvSpPr>
        <p:spPr>
          <a:xfrm>
            <a:off x="9465564"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07  </a:t>
            </a:r>
            <a:r>
              <a:rPr lang="en-US" sz="1050" spc="0" dirty="0">
                <a:solidFill>
                  <a:srgbClr val="14161D"/>
                </a:solidFill>
                <a:latin typeface="Helvetica Neue Medium"/>
                <a:cs typeface="Helvetica Neue Medium"/>
              </a:rPr>
              <a:t>Position, then Buy</a:t>
            </a:r>
          </a:p>
          <a:p>
            <a:pPr algn="l">
              <a:lnSpc>
                <a:spcPct val="100000"/>
              </a:lnSpc>
              <a:spcAft>
                <a:spcPts val="0"/>
              </a:spcAft>
            </a:pPr>
            <a:r>
              <a:rPr lang="en-US" sz="950" spc="0" dirty="0">
                <a:solidFill>
                  <a:srgbClr val="858A97"/>
                </a:solidFill>
                <a:latin typeface="Helvetica Neue Light"/>
                <a:cs typeface="Helvetica Neue Light"/>
              </a:rPr>
              <a:t>Build</a:t>
            </a:r>
          </a:p>
        </p:txBody>
      </p:sp>
      <p:pic>
        <p:nvPicPr>
          <p:cNvPr id="118" name="Hi-fi screen"/>
          <p:cNvPicPr>
            <a:picLocks noChangeAspect="1"/>
          </p:cNvPicPr>
          <p:nvPr/>
        </p:nvPicPr>
        <p:blipFill>
          <a:blip r:embed="rId9"/>
          <a:srcRect b="22747"/>
          <a:stretch>
            <a:fillRect/>
          </a:stretch>
        </p:blipFill>
        <p:spPr>
          <a:xfrm>
            <a:off x="10905998" y="2240280"/>
            <a:ext cx="1275842" cy="2136293"/>
          </a:xfrm>
          <a:prstGeom prst="rect">
            <a:avLst/>
          </a:prstGeom>
          <a:ln w="9525">
            <a:solidFill>
              <a:srgbClr val="D3D6DC"/>
            </a:solidFill>
          </a:ln>
        </p:spPr>
      </p:pic>
      <p:sp>
        <p:nvSpPr>
          <p:cNvPr id="119" name="Cap 8"/>
          <p:cNvSpPr txBox="1"/>
          <p:nvPr/>
        </p:nvSpPr>
        <p:spPr>
          <a:xfrm>
            <a:off x="10905998"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08  </a:t>
            </a:r>
            <a:r>
              <a:rPr lang="en-US" sz="1050" spc="0" dirty="0">
                <a:solidFill>
                  <a:srgbClr val="14161D"/>
                </a:solidFill>
                <a:latin typeface="Helvetica Neue Medium"/>
                <a:cs typeface="Helvetica Neue Medium"/>
              </a:rPr>
              <a:t>Keypad</a:t>
            </a:r>
          </a:p>
          <a:p>
            <a:pPr algn="l">
              <a:lnSpc>
                <a:spcPct val="100000"/>
              </a:lnSpc>
              <a:spcAft>
                <a:spcPts val="0"/>
              </a:spcAft>
            </a:pPr>
            <a:r>
              <a:rPr lang="en-US" sz="950" spc="0" dirty="0">
                <a:solidFill>
                  <a:srgbClr val="858A97"/>
                </a:solidFill>
                <a:latin typeface="Helvetica Neue Light"/>
                <a:cs typeface="Helvetica Neue Light"/>
              </a:rPr>
              <a:t>Build</a:t>
            </a:r>
          </a:p>
        </p:txBody>
      </p:sp>
      <p:pic>
        <p:nvPicPr>
          <p:cNvPr id="120" name="Hi-fi screen"/>
          <p:cNvPicPr>
            <a:picLocks noChangeAspect="1"/>
          </p:cNvPicPr>
          <p:nvPr/>
        </p:nvPicPr>
        <p:blipFill>
          <a:blip r:embed="rId10"/>
          <a:srcRect b="22747"/>
          <a:stretch>
            <a:fillRect/>
          </a:stretch>
        </p:blipFill>
        <p:spPr>
          <a:xfrm>
            <a:off x="822960" y="4943501"/>
            <a:ext cx="1275842" cy="2136293"/>
          </a:xfrm>
          <a:prstGeom prst="rect">
            <a:avLst/>
          </a:prstGeom>
          <a:ln w="9525">
            <a:solidFill>
              <a:srgbClr val="D3D6DC"/>
            </a:solidFill>
          </a:ln>
        </p:spPr>
      </p:pic>
      <p:sp>
        <p:nvSpPr>
          <p:cNvPr id="121" name="Cap 9"/>
          <p:cNvSpPr txBox="1"/>
          <p:nvPr/>
        </p:nvSpPr>
        <p:spPr>
          <a:xfrm>
            <a:off x="822960"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09  </a:t>
            </a:r>
            <a:r>
              <a:rPr lang="en-US" sz="1050" spc="0" dirty="0">
                <a:solidFill>
                  <a:srgbClr val="14161D"/>
                </a:solidFill>
                <a:latin typeface="Helvetica Neue Medium"/>
                <a:cs typeface="Helvetica Neue Medium"/>
              </a:rPr>
              <a:t>Dollar amount</a:t>
            </a:r>
          </a:p>
          <a:p>
            <a:pPr algn="l">
              <a:lnSpc>
                <a:spcPct val="100000"/>
              </a:lnSpc>
              <a:spcAft>
                <a:spcPts val="0"/>
              </a:spcAft>
            </a:pPr>
            <a:r>
              <a:rPr lang="en-US" sz="950" spc="0" dirty="0">
                <a:solidFill>
                  <a:srgbClr val="858A97"/>
                </a:solidFill>
                <a:latin typeface="Helvetica Neue Light"/>
                <a:cs typeface="Helvetica Neue Light"/>
              </a:rPr>
              <a:t>Build</a:t>
            </a:r>
          </a:p>
        </p:txBody>
      </p:sp>
      <p:pic>
        <p:nvPicPr>
          <p:cNvPr id="122" name="Hi-fi screen"/>
          <p:cNvPicPr>
            <a:picLocks noChangeAspect="1"/>
          </p:cNvPicPr>
          <p:nvPr/>
        </p:nvPicPr>
        <p:blipFill>
          <a:blip r:embed="rId11"/>
          <a:srcRect b="22747"/>
          <a:stretch>
            <a:fillRect/>
          </a:stretch>
        </p:blipFill>
        <p:spPr>
          <a:xfrm>
            <a:off x="2263394" y="4943501"/>
            <a:ext cx="1275842" cy="2136293"/>
          </a:xfrm>
          <a:prstGeom prst="rect">
            <a:avLst/>
          </a:prstGeom>
          <a:ln w="9525">
            <a:solidFill>
              <a:srgbClr val="D3D6DC"/>
            </a:solidFill>
          </a:ln>
        </p:spPr>
      </p:pic>
      <p:sp>
        <p:nvSpPr>
          <p:cNvPr id="123" name="Cap 10"/>
          <p:cNvSpPr txBox="1"/>
          <p:nvPr/>
        </p:nvSpPr>
        <p:spPr>
          <a:xfrm>
            <a:off x="2263394"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10  </a:t>
            </a:r>
            <a:r>
              <a:rPr lang="en-US" sz="1050" spc="0" dirty="0">
                <a:solidFill>
                  <a:srgbClr val="14161D"/>
                </a:solidFill>
                <a:latin typeface="Helvetica Neue Medium"/>
                <a:cs typeface="Helvetica Neue Medium"/>
              </a:rPr>
              <a:t>Order type</a:t>
            </a:r>
          </a:p>
          <a:p>
            <a:pPr algn="l">
              <a:lnSpc>
                <a:spcPct val="100000"/>
              </a:lnSpc>
              <a:spcAft>
                <a:spcPts val="0"/>
              </a:spcAft>
            </a:pPr>
            <a:r>
              <a:rPr lang="en-US" sz="950" spc="0" dirty="0">
                <a:solidFill>
                  <a:srgbClr val="858A97"/>
                </a:solidFill>
                <a:latin typeface="Helvetica Neue Light"/>
                <a:cs typeface="Helvetica Neue Light"/>
              </a:rPr>
              <a:t>Build</a:t>
            </a:r>
          </a:p>
        </p:txBody>
      </p:sp>
      <p:pic>
        <p:nvPicPr>
          <p:cNvPr id="124" name="Hi-fi screen"/>
          <p:cNvPicPr>
            <a:picLocks noChangeAspect="1"/>
          </p:cNvPicPr>
          <p:nvPr/>
        </p:nvPicPr>
        <p:blipFill>
          <a:blip r:embed="rId12"/>
          <a:srcRect b="22747"/>
          <a:stretch>
            <a:fillRect/>
          </a:stretch>
        </p:blipFill>
        <p:spPr>
          <a:xfrm>
            <a:off x="3703828" y="4943501"/>
            <a:ext cx="1275842" cy="2136293"/>
          </a:xfrm>
          <a:prstGeom prst="rect">
            <a:avLst/>
          </a:prstGeom>
          <a:ln w="9525">
            <a:solidFill>
              <a:srgbClr val="D3D6DC"/>
            </a:solidFill>
          </a:ln>
        </p:spPr>
      </p:pic>
      <p:sp>
        <p:nvSpPr>
          <p:cNvPr id="125" name="Cap 11"/>
          <p:cNvSpPr txBox="1"/>
          <p:nvPr/>
        </p:nvSpPr>
        <p:spPr>
          <a:xfrm>
            <a:off x="3703828"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11  </a:t>
            </a:r>
            <a:r>
              <a:rPr lang="en-US" sz="1050" spc="0" dirty="0">
                <a:solidFill>
                  <a:srgbClr val="14161D"/>
                </a:solidFill>
                <a:latin typeface="Helvetica Neue Medium"/>
                <a:cs typeface="Helvetica Neue Medium"/>
              </a:rPr>
              <a:t>Review Order</a:t>
            </a:r>
          </a:p>
          <a:p>
            <a:pPr algn="l">
              <a:lnSpc>
                <a:spcPct val="100000"/>
              </a:lnSpc>
              <a:spcAft>
                <a:spcPts val="0"/>
              </a:spcAft>
            </a:pPr>
            <a:r>
              <a:rPr lang="en-US" sz="950" spc="0" dirty="0">
                <a:solidFill>
                  <a:srgbClr val="858A97"/>
                </a:solidFill>
                <a:latin typeface="Helvetica Neue Light"/>
                <a:cs typeface="Helvetica Neue Light"/>
              </a:rPr>
              <a:t>Review</a:t>
            </a:r>
          </a:p>
        </p:txBody>
      </p:sp>
      <p:pic>
        <p:nvPicPr>
          <p:cNvPr id="126" name="Hi-fi screen"/>
          <p:cNvPicPr>
            <a:picLocks noChangeAspect="1"/>
          </p:cNvPicPr>
          <p:nvPr/>
        </p:nvPicPr>
        <p:blipFill>
          <a:blip r:embed="rId13"/>
          <a:srcRect b="22747"/>
          <a:stretch>
            <a:fillRect/>
          </a:stretch>
        </p:blipFill>
        <p:spPr>
          <a:xfrm>
            <a:off x="5144262" y="4943501"/>
            <a:ext cx="1275842" cy="2136293"/>
          </a:xfrm>
          <a:prstGeom prst="rect">
            <a:avLst/>
          </a:prstGeom>
          <a:ln w="9525">
            <a:solidFill>
              <a:srgbClr val="D3D6DC"/>
            </a:solidFill>
          </a:ln>
        </p:spPr>
      </p:pic>
      <p:sp>
        <p:nvSpPr>
          <p:cNvPr id="127" name="Cap 12"/>
          <p:cNvSpPr txBox="1"/>
          <p:nvPr/>
        </p:nvSpPr>
        <p:spPr>
          <a:xfrm>
            <a:off x="5144262"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12  </a:t>
            </a:r>
            <a:r>
              <a:rPr lang="en-US" sz="1050" spc="0" dirty="0">
                <a:solidFill>
                  <a:srgbClr val="14161D"/>
                </a:solidFill>
                <a:latin typeface="Helvetica Neue Medium"/>
                <a:cs typeface="Helvetica Neue Medium"/>
              </a:rPr>
              <a:t>In shares, submit</a:t>
            </a:r>
          </a:p>
          <a:p>
            <a:pPr algn="l">
              <a:lnSpc>
                <a:spcPct val="100000"/>
              </a:lnSpc>
              <a:spcAft>
                <a:spcPts val="0"/>
              </a:spcAft>
            </a:pPr>
            <a:r>
              <a:rPr lang="en-US" sz="950" spc="0" dirty="0">
                <a:solidFill>
                  <a:srgbClr val="858A97"/>
                </a:solidFill>
                <a:latin typeface="Helvetica Neue Light"/>
                <a:cs typeface="Helvetica Neue Light"/>
              </a:rPr>
              <a:t>Review</a:t>
            </a:r>
          </a:p>
        </p:txBody>
      </p:sp>
      <p:pic>
        <p:nvPicPr>
          <p:cNvPr id="128" name="Hi-fi screen"/>
          <p:cNvPicPr>
            <a:picLocks noChangeAspect="1"/>
          </p:cNvPicPr>
          <p:nvPr/>
        </p:nvPicPr>
        <p:blipFill>
          <a:blip r:embed="rId14"/>
          <a:srcRect b="22747"/>
          <a:stretch>
            <a:fillRect/>
          </a:stretch>
        </p:blipFill>
        <p:spPr>
          <a:xfrm>
            <a:off x="6584696" y="4943501"/>
            <a:ext cx="1275842" cy="2136293"/>
          </a:xfrm>
          <a:prstGeom prst="rect">
            <a:avLst/>
          </a:prstGeom>
          <a:ln w="9525">
            <a:solidFill>
              <a:srgbClr val="D3D6DC"/>
            </a:solidFill>
          </a:ln>
        </p:spPr>
      </p:pic>
      <p:sp>
        <p:nvSpPr>
          <p:cNvPr id="129" name="Cap 13"/>
          <p:cNvSpPr txBox="1"/>
          <p:nvPr/>
        </p:nvSpPr>
        <p:spPr>
          <a:xfrm>
            <a:off x="6584696"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13  </a:t>
            </a:r>
            <a:r>
              <a:rPr lang="en-US" sz="1050" spc="0" dirty="0">
                <a:solidFill>
                  <a:srgbClr val="14161D"/>
                </a:solidFill>
                <a:latin typeface="Helvetica Neue Medium"/>
                <a:cs typeface="Helvetica Neue Medium"/>
              </a:rPr>
              <a:t>Executed</a:t>
            </a:r>
          </a:p>
          <a:p>
            <a:pPr algn="l">
              <a:lnSpc>
                <a:spcPct val="100000"/>
              </a:lnSpc>
              <a:spcAft>
                <a:spcPts val="0"/>
              </a:spcAft>
            </a:pPr>
            <a:r>
              <a:rPr lang="en-US" sz="950" spc="0" dirty="0">
                <a:solidFill>
                  <a:srgbClr val="858A97"/>
                </a:solidFill>
                <a:latin typeface="Helvetica Neue Light"/>
                <a:cs typeface="Helvetica Neue Light"/>
              </a:rPr>
              <a:t>Status</a:t>
            </a:r>
          </a:p>
        </p:txBody>
      </p:sp>
      <p:pic>
        <p:nvPicPr>
          <p:cNvPr id="130" name="Hi-fi screen"/>
          <p:cNvPicPr>
            <a:picLocks noChangeAspect="1"/>
          </p:cNvPicPr>
          <p:nvPr/>
        </p:nvPicPr>
        <p:blipFill>
          <a:blip r:embed="rId15"/>
          <a:srcRect b="22747"/>
          <a:stretch>
            <a:fillRect/>
          </a:stretch>
        </p:blipFill>
        <p:spPr>
          <a:xfrm>
            <a:off x="8025130" y="4943501"/>
            <a:ext cx="1275842" cy="2136293"/>
          </a:xfrm>
          <a:prstGeom prst="rect">
            <a:avLst/>
          </a:prstGeom>
          <a:ln w="9525">
            <a:solidFill>
              <a:srgbClr val="D3D6DC"/>
            </a:solidFill>
          </a:ln>
        </p:spPr>
      </p:pic>
      <p:sp>
        <p:nvSpPr>
          <p:cNvPr id="131" name="Cap 14"/>
          <p:cNvSpPr txBox="1"/>
          <p:nvPr/>
        </p:nvSpPr>
        <p:spPr>
          <a:xfrm>
            <a:off x="8025130"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14  </a:t>
            </a:r>
            <a:r>
              <a:rPr lang="en-US" sz="1050" spc="0" dirty="0">
                <a:solidFill>
                  <a:srgbClr val="14161D"/>
                </a:solidFill>
                <a:latin typeface="Helvetica Neue Medium"/>
                <a:cs typeface="Helvetica Neue Medium"/>
              </a:rPr>
              <a:t>Next trade</a:t>
            </a:r>
          </a:p>
          <a:p>
            <a:pPr algn="l">
              <a:lnSpc>
                <a:spcPct val="100000"/>
              </a:lnSpc>
              <a:spcAft>
                <a:spcPts val="0"/>
              </a:spcAft>
            </a:pPr>
            <a:r>
              <a:rPr lang="en-US" sz="950" spc="0" dirty="0">
                <a:solidFill>
                  <a:srgbClr val="858A97"/>
                </a:solidFill>
                <a:latin typeface="Helvetica Neue Light"/>
                <a:cs typeface="Helvetica Neue Light"/>
              </a:rPr>
              <a:t>Status</a:t>
            </a:r>
          </a:p>
        </p:txBody>
      </p:sp>
      <p:cxnSp>
        <p:nvCxnSpPr>
          <p:cNvPr id="132" name="Divider"/>
          <p:cNvCxnSpPr/>
          <p:nvPr/>
        </p:nvCxnSpPr>
        <p:spPr>
          <a:xfrm>
            <a:off x="9465564" y="4943501"/>
            <a:ext cx="1275842" cy="0"/>
          </a:xfrm>
          <a:prstGeom prst="line">
            <a:avLst/>
          </a:prstGeom>
          <a:ln w="28575">
            <a:solidFill>
              <a:srgbClr val="B5531F"/>
            </a:solidFill>
          </a:ln>
        </p:spPr>
      </p:cxnSp>
      <p:sp>
        <p:nvSpPr>
          <p:cNvPr id="133" name="Prototype tile">
            <a:hlinkClick r:id="rId16"/>
          </p:cNvPr>
          <p:cNvSpPr txBox="1"/>
          <p:nvPr/>
        </p:nvSpPr>
        <p:spPr>
          <a:xfrm>
            <a:off x="9465564" y="5080661"/>
            <a:ext cx="1275842" cy="2136293"/>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B5531F"/>
                </a:solidFill>
                <a:latin typeface="Helvetica Neue Medium"/>
                <a:cs typeface="Helvetica Neue Medium"/>
              </a:rPr>
              <a:t>TRY IT</a:t>
            </a:r>
          </a:p>
          <a:p>
            <a:pPr algn="l">
              <a:lnSpc>
                <a:spcPct val="115000"/>
              </a:lnSpc>
              <a:spcAft>
                <a:spcPts val="300"/>
              </a:spcAft>
            </a:pPr>
            <a:r>
              <a:rPr lang="en-US" sz="1400" u="sng" spc="0" dirty="0">
                <a:solidFill>
                  <a:srgbClr val="B5531F"/>
                </a:solidFill>
                <a:latin typeface="Helvetica Neue Medium"/>
                <a:cs typeface="Helvetica Neue Medium"/>
                <a:hlinkClick r:id="rId16"/>
              </a:rPr>
              <a:t>Open the prototype →</a:t>
            </a:r>
            <a:endParaRPr lang="en-US" sz="1400" u="sng" spc="0" dirty="0">
              <a:solidFill>
                <a:srgbClr val="B5531F"/>
              </a:solidFill>
              <a:latin typeface="Helvetica Neue Medium"/>
              <a:cs typeface="Helvetica Neue Medium"/>
            </a:endParaRPr>
          </a:p>
          <a:p>
            <a:pPr algn="l">
              <a:lnSpc>
                <a:spcPct val="115000"/>
              </a:lnSpc>
              <a:spcAft>
                <a:spcPts val="300"/>
              </a:spcAft>
            </a:pPr>
            <a:r>
              <a:rPr lang="en-US" sz="1050" spc="0" dirty="0">
                <a:solidFill>
                  <a:srgbClr val="858A97"/>
                </a:solidFill>
                <a:latin typeface="Helvetica Neue Light"/>
                <a:cs typeface="Helvetica Neue Light"/>
              </a:rPr>
              <a:t>Starts at the accounts home</a:t>
            </a:r>
          </a:p>
        </p:txBody>
      </p:sp>
      <p:pic>
        <p:nvPicPr>
          <p:cNvPr id="134" name="gradient strip" descr="gradient strip"/>
          <p:cNvPicPr>
            <a:picLocks noChangeAspect="1"/>
          </p:cNvPicPr>
          <p:nvPr/>
        </p:nvPicPr>
        <p:blipFill>
          <a:blip r:embed="rId17"/>
          <a:stretch>
            <a:fillRect/>
          </a:stretch>
        </p:blipFill>
        <p:spPr>
          <a:xfrm>
            <a:off x="0" y="9285427"/>
            <a:ext cx="13004800" cy="468173"/>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KEY CALLS</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Four calls that shaped </a:t>
            </a:r>
            <a:r>
              <a:rPr lang="en-US" sz="4400" spc="-40" dirty="0">
                <a:solidFill>
                  <a:srgbClr val="B5531F"/>
                </a:solidFill>
                <a:latin typeface="Helvetica Neue Medium"/>
                <a:cs typeface="Helvetica Neue Medium"/>
              </a:rPr>
              <a:t>the trade ticket</a:t>
            </a:r>
            <a:r>
              <a:rPr lang="en-US" sz="4400" spc="-40" dirty="0">
                <a:solidFill>
                  <a:srgbClr val="14161D"/>
                </a:solidFill>
                <a:latin typeface="Helvetica Neue Medium"/>
                <a:cs typeface="Helvetica Neue Medium"/>
              </a:rPr>
              <a:t>.</a:t>
            </a:r>
          </a:p>
        </p:txBody>
      </p:sp>
      <p:cxnSp>
        <p:nvCxnSpPr>
          <p:cNvPr id="103" name="Divider"/>
          <p:cNvCxnSpPr/>
          <p:nvPr/>
        </p:nvCxnSpPr>
        <p:spPr>
          <a:xfrm>
            <a:off x="822960" y="3566160"/>
            <a:ext cx="5427980" cy="0"/>
          </a:xfrm>
          <a:prstGeom prst="line">
            <a:avLst/>
          </a:prstGeom>
          <a:ln w="9525">
            <a:solidFill>
              <a:srgbClr val="E1E3E8"/>
            </a:solidFill>
          </a:ln>
        </p:spPr>
      </p:cxnSp>
      <p:sp>
        <p:nvSpPr>
          <p:cNvPr id="104" name="Shares or dollars in one ticket title"/>
          <p:cNvSpPr txBox="1"/>
          <p:nvPr/>
        </p:nvSpPr>
        <p:spPr>
          <a:xfrm>
            <a:off x="8229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Shares or dollars in one ticket</a:t>
            </a:r>
          </a:p>
        </p:txBody>
      </p:sp>
      <p:sp>
        <p:nvSpPr>
          <p:cNvPr id="105" name="Shares or dollars in one ticket body"/>
          <p:cNvSpPr txBox="1"/>
          <p:nvPr/>
        </p:nvSpPr>
        <p:spPr>
          <a:xfrm>
            <a:off x="8229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One toggle switches between trading by share quantity and by dollar amount, instead of two flows.</a:t>
            </a:r>
          </a:p>
        </p:txBody>
      </p:sp>
      <p:cxnSp>
        <p:nvCxnSpPr>
          <p:cNvPr id="106" name="Divider"/>
          <p:cNvCxnSpPr/>
          <p:nvPr/>
        </p:nvCxnSpPr>
        <p:spPr>
          <a:xfrm>
            <a:off x="6753860" y="3566160"/>
            <a:ext cx="5427980" cy="0"/>
          </a:xfrm>
          <a:prstGeom prst="line">
            <a:avLst/>
          </a:prstGeom>
          <a:ln w="9525">
            <a:solidFill>
              <a:srgbClr val="E1E3E8"/>
            </a:solidFill>
          </a:ln>
        </p:spPr>
      </p:cxnSp>
      <p:sp>
        <p:nvSpPr>
          <p:cNvPr id="107" name="Start from what they hold title"/>
          <p:cNvSpPr txBox="1"/>
          <p:nvPr/>
        </p:nvSpPr>
        <p:spPr>
          <a:xfrm>
            <a:off x="67538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Start from what they hold</a:t>
            </a:r>
          </a:p>
        </p:txBody>
      </p:sp>
      <p:sp>
        <p:nvSpPr>
          <p:cNvPr id="108" name="Start from what they hold body"/>
          <p:cNvSpPr txBox="1"/>
          <p:nvPr/>
        </p:nvSpPr>
        <p:spPr>
          <a:xfrm>
            <a:off x="67538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If a user already holds the asset, they go straight into the ticket with their position shown.</a:t>
            </a:r>
          </a:p>
        </p:txBody>
      </p:sp>
      <p:cxnSp>
        <p:nvCxnSpPr>
          <p:cNvPr id="109" name="Divider"/>
          <p:cNvCxnSpPr/>
          <p:nvPr/>
        </p:nvCxnSpPr>
        <p:spPr>
          <a:xfrm>
            <a:off x="822960" y="5806440"/>
            <a:ext cx="5427980" cy="0"/>
          </a:xfrm>
          <a:prstGeom prst="line">
            <a:avLst/>
          </a:prstGeom>
          <a:ln w="9525">
            <a:solidFill>
              <a:srgbClr val="E1E3E8"/>
            </a:solidFill>
          </a:ln>
        </p:spPr>
      </p:cxnSp>
      <p:sp>
        <p:nvSpPr>
          <p:cNvPr id="110" name="Lists over tabs; fields on demand title"/>
          <p:cNvSpPr txBox="1"/>
          <p:nvPr/>
        </p:nvSpPr>
        <p:spPr>
          <a:xfrm>
            <a:off x="8229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Lists over tabs; fields on demand</a:t>
            </a:r>
          </a:p>
        </p:txBody>
      </p:sp>
      <p:sp>
        <p:nvSpPr>
          <p:cNvPr id="111" name="Lists over tabs; fields on demand body"/>
          <p:cNvSpPr txBox="1"/>
          <p:nvPr/>
        </p:nvSpPr>
        <p:spPr>
          <a:xfrm>
            <a:off x="8229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Testers preferred a list view to tabs. Quantity and order sheets appear only when they apply.</a:t>
            </a:r>
          </a:p>
        </p:txBody>
      </p:sp>
      <p:cxnSp>
        <p:nvCxnSpPr>
          <p:cNvPr id="112" name="Divider"/>
          <p:cNvCxnSpPr/>
          <p:nvPr/>
        </p:nvCxnSpPr>
        <p:spPr>
          <a:xfrm>
            <a:off x="6753860" y="5806440"/>
            <a:ext cx="5427980" cy="0"/>
          </a:xfrm>
          <a:prstGeom prst="line">
            <a:avLst/>
          </a:prstGeom>
          <a:ln w="9525">
            <a:solidFill>
              <a:srgbClr val="E1E3E8"/>
            </a:solidFill>
          </a:ln>
        </p:spPr>
      </p:cxnSp>
      <p:sp>
        <p:nvSpPr>
          <p:cNvPr id="113" name="Status at a glance title"/>
          <p:cNvSpPr txBox="1"/>
          <p:nvPr/>
        </p:nvSpPr>
        <p:spPr>
          <a:xfrm>
            <a:off x="67538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Status at a glance</a:t>
            </a:r>
          </a:p>
        </p:txBody>
      </p:sp>
      <p:sp>
        <p:nvSpPr>
          <p:cNvPr id="114" name="Status at a glance body"/>
          <p:cNvSpPr txBox="1"/>
          <p:nvPr/>
        </p:nvSpPr>
        <p:spPr>
          <a:xfrm>
            <a:off x="67538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Order status changes color as it moves. Testers said seeing the status right away was vital.</a:t>
            </a:r>
          </a:p>
        </p:txBody>
      </p:sp>
      <p:pic>
        <p:nvPicPr>
          <p:cNvPr id="11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OUTCOME</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800" spc="-40" dirty="0">
                <a:solidFill>
                  <a:srgbClr val="14161D"/>
                </a:solidFill>
                <a:latin typeface="Helvetica Neue Medium"/>
                <a:cs typeface="Helvetica Neue Medium"/>
              </a:rPr>
              <a:t>Delivered: one ticket for </a:t>
            </a:r>
            <a:r>
              <a:rPr lang="en-US" sz="3800" spc="-40" dirty="0">
                <a:solidFill>
                  <a:srgbClr val="B5531F"/>
                </a:solidFill>
                <a:latin typeface="Helvetica Neue Medium"/>
                <a:cs typeface="Helvetica Neue Medium"/>
              </a:rPr>
              <a:t>shares or dollars</a:t>
            </a:r>
            <a:r>
              <a:rPr lang="en-US" sz="3800" spc="-40" dirty="0">
                <a:solidFill>
                  <a:srgbClr val="14161D"/>
                </a:solidFill>
                <a:latin typeface="Helvetica Neue Medium"/>
                <a:cs typeface="Helvetica Neue Medium"/>
              </a:rPr>
              <a:t>, tested in three rounds.</a:t>
            </a:r>
          </a:p>
        </p:txBody>
      </p:sp>
      <p:sp>
        <p:nvSpPr>
          <p:cNvPr id="103" name="Shipped"/>
          <p:cNvSpPr txBox="1"/>
          <p:nvPr/>
        </p:nvSpPr>
        <p:spPr>
          <a:xfrm>
            <a:off x="822960" y="3611880"/>
            <a:ext cx="5427980" cy="429768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SHIPPED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A single ticket with a shares / dollars toggle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Held assets go straight into a ticket to buy or sell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A list view, with quantity and order sheets that appear only when needed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Order status that changes color as it moves, and every field editable</a:t>
            </a:r>
          </a:p>
        </p:txBody>
      </p:sp>
      <p:sp>
        <p:nvSpPr>
          <p:cNvPr id="104" name="Learned"/>
          <p:cNvSpPr txBox="1"/>
          <p:nvPr/>
        </p:nvSpPr>
        <p:spPr>
          <a:xfrm>
            <a:off x="6753860" y="3611880"/>
            <a:ext cx="5427980" cy="429768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TESTING TAUGHT US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Education matters, but it must never slow a trade down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Quick amounts and feedback on the share amount build confidence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Seeing the status right away is vital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 system keyboard beat a custom one</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WELLS FARGO TRADE TICKET · PROTOTYPE</a:t>
            </a:r>
          </a:p>
        </p:txBody>
      </p:sp>
      <p:sp>
        <p:nvSpPr>
          <p:cNvPr id="102" name="Headline"/>
          <p:cNvSpPr txBox="1"/>
          <p:nvPr/>
        </p:nvSpPr>
        <p:spPr>
          <a:xfrm>
            <a:off x="822960" y="1371600"/>
            <a:ext cx="11358880" cy="173736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F5F5F7"/>
                </a:solidFill>
                <a:latin typeface="Helvetica Neue Medium"/>
                <a:cs typeface="Helvetica Neue Medium"/>
              </a:rPr>
              <a:t>Place one order, in </a:t>
            </a:r>
            <a:r>
              <a:rPr lang="en-US" sz="4400" spc="-40" dirty="0">
                <a:solidFill>
                  <a:srgbClr val="E98C64"/>
                </a:solidFill>
                <a:latin typeface="Helvetica Neue Medium"/>
                <a:cs typeface="Helvetica Neue Medium"/>
              </a:rPr>
              <a:t>dollars or shares</a:t>
            </a:r>
            <a:r>
              <a:rPr lang="en-US" sz="4400" spc="-40" dirty="0">
                <a:solidFill>
                  <a:srgbClr val="F5F5F7"/>
                </a:solidFill>
                <a:latin typeface="Helvetica Neue Medium"/>
                <a:cs typeface="Helvetica Neue Medium"/>
              </a:rPr>
              <a:t>.</a:t>
            </a:r>
          </a:p>
        </p:txBody>
      </p:sp>
      <p:sp>
        <p:nvSpPr>
          <p:cNvPr id="103" name="Body"/>
          <p:cNvSpPr txBox="1"/>
          <p:nvPr/>
        </p:nvSpPr>
        <p:spPr>
          <a:xfrm>
            <a:off x="822960" y="3246120"/>
            <a:ext cx="512064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14 hi-fi screens of the mobile ticket, linked as in the Figma prototype: pick the account and stock, choose Buy, type a dollar amount, pick the order type, review it in shares, submit, and see it executed.</a:t>
            </a:r>
          </a:p>
        </p:txBody>
      </p:sp>
      <p:sp>
        <p:nvSpPr>
          <p:cNvPr id="104" name="Link">
            <a:hlinkClick r:id="rId2"/>
          </p:cNvPr>
          <p:cNvSpPr txBox="1"/>
          <p:nvPr/>
        </p:nvSpPr>
        <p:spPr>
          <a:xfrm>
            <a:off x="822960" y="5257800"/>
            <a:ext cx="5120640" cy="457200"/>
          </a:xfrm>
          <a:prstGeom prst="rect">
            <a:avLst/>
          </a:prstGeom>
          <a:noFill/>
        </p:spPr>
        <p:txBody>
          <a:bodyPr wrap="square" lIns="0" tIns="0" rIns="0" bIns="0" anchor="t">
            <a:noAutofit/>
          </a:bodyPr>
          <a:lstStyle/>
          <a:p>
            <a:pPr algn="l">
              <a:lnSpc>
                <a:spcPct val="115000"/>
              </a:lnSpc>
              <a:spcAft>
                <a:spcPts val="300"/>
              </a:spcAft>
            </a:pPr>
            <a:r>
              <a:rPr lang="en-US" sz="2200" u="sng" spc="0" dirty="0">
                <a:solidFill>
                  <a:srgbClr val="E98C64"/>
                </a:solidFill>
                <a:latin typeface="Helvetica Neue Medium"/>
                <a:cs typeface="Helvetica Neue Medium"/>
              </a:rPr>
              <a:t>Open the trade ticket prototype →</a:t>
            </a:r>
          </a:p>
        </p:txBody>
      </p:sp>
      <p:cxnSp>
        <p:nvCxnSpPr>
          <p:cNvPr id="105" name="Divider"/>
          <p:cNvCxnSpPr/>
          <p:nvPr/>
        </p:nvCxnSpPr>
        <p:spPr>
          <a:xfrm>
            <a:off x="822960" y="6080760"/>
            <a:ext cx="5120640" cy="0"/>
          </a:xfrm>
          <a:prstGeom prst="line">
            <a:avLst/>
          </a:prstGeom>
          <a:ln w="9525">
            <a:solidFill>
              <a:srgbClr val="2C2F38"/>
            </a:solidFill>
          </a:ln>
        </p:spPr>
      </p:cxnSp>
      <p:sp>
        <p:nvSpPr>
          <p:cNvPr id="106" name="Also"/>
          <p:cNvSpPr txBox="1"/>
          <p:nvPr/>
        </p:nvSpPr>
        <p:spPr>
          <a:xfrm>
            <a:off x="822960" y="6263640"/>
            <a:ext cx="5120640" cy="146304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ALSO AVAILABLE</a:t>
            </a:r>
          </a:p>
          <a:p>
            <a:pPr algn="l">
              <a:lnSpc>
                <a:spcPct val="125000"/>
              </a:lnSpc>
              <a:spcAft>
                <a:spcPts val="300"/>
              </a:spcAft>
            </a:pPr>
            <a:r>
              <a:rPr lang="en-US" sz="1550" spc="0" dirty="0">
                <a:solidFill>
                  <a:srgbClr val="A3A8B4"/>
                </a:solidFill>
                <a:latin typeface="Helvetica Neue Light"/>
                <a:cs typeface="Helvetica Neue Light"/>
              </a:rPr>
              <a:t>An offline version with the narrative for every step and a full link map: Trade-Ticket-Prototype.html.</a:t>
            </a:r>
          </a:p>
        </p:txBody>
      </p:sp>
      <p:sp>
        <p:nvSpPr>
          <p:cNvPr id="107" name="Figma link">
            <a:hlinkClick r:id="rId3"/>
          </p:cNvPr>
          <p:cNvSpPr txBox="1"/>
          <p:nvPr/>
        </p:nvSpPr>
        <p:spPr>
          <a:xfrm>
            <a:off x="822960" y="7635240"/>
            <a:ext cx="5120640" cy="4572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open the original Figma design file →</a:t>
            </a:r>
          </a:p>
        </p:txBody>
      </p:sp>
      <p:pic>
        <p:nvPicPr>
          <p:cNvPr id="108" name="Hi-fi screen"/>
          <p:cNvPicPr>
            <a:picLocks noChangeAspect="1"/>
          </p:cNvPicPr>
          <p:nvPr/>
        </p:nvPicPr>
        <p:blipFill>
          <a:blip r:embed="rId4"/>
          <a:stretch>
            <a:fillRect/>
          </a:stretch>
        </p:blipFill>
        <p:spPr>
          <a:xfrm>
            <a:off x="7705736" y="2491696"/>
            <a:ext cx="3044606" cy="6599007"/>
          </a:xfrm>
          <a:prstGeom prst="rect">
            <a:avLst/>
          </a:prstGeom>
          <a:ln w="9525">
            <a:solidFill>
              <a:srgbClr val="3A3E49"/>
            </a:solidFill>
          </a:ln>
        </p:spPr>
      </p:pic>
      <p:pic>
        <p:nvPicPr>
          <p:cNvPr id="109" name="gradient strip" descr="gradient strip"/>
          <p:cNvPicPr>
            <a:picLocks noChangeAspect="1"/>
          </p:cNvPicPr>
          <p:nvPr/>
        </p:nvPicPr>
        <p:blipFill>
          <a:blip r:embed="rId5"/>
          <a:stretch>
            <a:fillRect/>
          </a:stretch>
        </p:blipFill>
        <p:spPr>
          <a:xfrm>
            <a:off x="0" y="9285427"/>
            <a:ext cx="13004800" cy="468173"/>
          </a:xfrm>
          <a:prstGeom prst="rect">
            <a:avLst/>
          </a:prstGeom>
        </p:spPr>
      </p:pic>
      <p:sp>
        <p:nvSpPr>
          <p:cNvPr id="110" name="Workflow map link">
            <a:hlinkClick r:id="rId6"/>
          </p:cNvPr>
          <p:cNvSpPr txBox="1"/>
          <p:nvPr/>
        </p:nvSpPr>
        <p:spPr>
          <a:xfrm>
            <a:off x="822960" y="5791200"/>
            <a:ext cx="5120640" cy="3556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start at the workflow map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TotalTime>
  <Words>9541</Words>
  <Application>Microsoft Macintosh PowerPoint</Application>
  <PresentationFormat>Custom</PresentationFormat>
  <Paragraphs>1194</Paragraphs>
  <Slides>87</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87</vt:i4>
      </vt:variant>
    </vt:vector>
  </HeadingPairs>
  <TitlesOfParts>
    <vt:vector size="93" baseType="lpstr">
      <vt:lpstr>Aptos</vt:lpstr>
      <vt:lpstr>Arial</vt:lpstr>
      <vt:lpstr>Calibri</vt:lpstr>
      <vt:lpstr>Helvetica Neue Light</vt:lpstr>
      <vt:lpstr>Helvetica Neue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Michael Thibodeau</cp:lastModifiedBy>
  <cp:revision>32</cp:revision>
  <dcterms:created xsi:type="dcterms:W3CDTF">2013-01-27T09:14:16Z</dcterms:created>
  <dcterms:modified xsi:type="dcterms:W3CDTF">2026-10-14T01:12:06Z</dcterms:modified>
  <cp:category/>
</cp:coreProperties>
</file>
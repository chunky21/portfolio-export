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9"/>
  </p:notesMasterIdLst>
  <p:sldIdLst>
    <p:sldId id="292" r:id="rId72"/>
    <p:sldId id="293" r:id="rId73"/>
    <p:sldId id="294" r:id="rId74"/>
    <p:sldId id="295" r:id="rId75"/>
    <p:sldId id="297" r:id="rId76"/>
    <p:sldId id="298" r:id="rId77"/>
    <p:sldId id="301" r:id="rId78"/>
    <p:sldId id="302" r:id="rId79"/>
    <p:sldId id="305" r:id="rId80"/>
    <p:sldId id="306" r:id="rId81"/>
    <p:sldId id="310" r:id="rId82"/>
    <p:sldId id="462" r:id="rId83"/>
    <p:sldId id="450" r:id="rId84"/>
    <p:sldId id="312" r:id="rId85"/>
    <p:sldId id="463" r:id="rId86"/>
  </p:sldIdLst>
  <p:sldSz cx="13004800" cy="9753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CFFF"/>
    <a:srgbClr val="FF6600"/>
    <a:srgbClr val="99C9FF"/>
    <a:srgbClr val="41587E"/>
    <a:srgbClr val="2F7D72"/>
    <a:srgbClr val="483176"/>
    <a:srgbClr val="78202A"/>
    <a:srgbClr val="703596"/>
    <a:srgbClr val="397D72"/>
    <a:srgbClr val="8020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31"/>
    <p:restoredTop sz="94658"/>
  </p:normalViewPr>
  <p:slideViewPr>
    <p:cSldViewPr snapToGrid="0" snapToObjects="1">
      <p:cViewPr varScale="1">
        <p:scale>
          <a:sx n="84" d="100"/>
          <a:sy n="84" d="100"/>
        </p:scale>
        <p:origin x="222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2" Type="http://schemas.openxmlformats.org/officeDocument/2006/relationships/slide" Target="slides/slide61.xml"/><Relationship Id="rId73" Type="http://schemas.openxmlformats.org/officeDocument/2006/relationships/slide" Target="slides/slide62.xml"/><Relationship Id="rId74" Type="http://schemas.openxmlformats.org/officeDocument/2006/relationships/slide" Target="slides/slide63.xml"/><Relationship Id="rId75" Type="http://schemas.openxmlformats.org/officeDocument/2006/relationships/slide" Target="slides/slide64.xml"/><Relationship Id="rId76" Type="http://schemas.openxmlformats.org/officeDocument/2006/relationships/slide" Target="slides/slide65.xml"/><Relationship Id="rId77" Type="http://schemas.openxmlformats.org/officeDocument/2006/relationships/slide" Target="slides/slide66.xml"/><Relationship Id="rId78" Type="http://schemas.openxmlformats.org/officeDocument/2006/relationships/slide" Target="slides/slide67.xml"/><Relationship Id="rId79" Type="http://schemas.openxmlformats.org/officeDocument/2006/relationships/slide" Target="slides/slide68.xml"/><Relationship Id="rId80" Type="http://schemas.openxmlformats.org/officeDocument/2006/relationships/slide" Target="slides/slide69.xml"/><Relationship Id="rId81" Type="http://schemas.openxmlformats.org/officeDocument/2006/relationships/slide" Target="slides/slide70.xml"/><Relationship Id="rId82" Type="http://schemas.openxmlformats.org/officeDocument/2006/relationships/slide" Target="slides/slide71.xml"/><Relationship Id="rId83" Type="http://schemas.openxmlformats.org/officeDocument/2006/relationships/slide" Target="slides/slide72.xml"/><Relationship Id="rId84" Type="http://schemas.openxmlformats.org/officeDocument/2006/relationships/slide" Target="slides/slide73.xml"/><Relationship Id="rId85" Type="http://schemas.openxmlformats.org/officeDocument/2006/relationships/slide" Target="slides/slide74.xml"/><Relationship Id="rId86" Type="http://schemas.openxmlformats.org/officeDocument/2006/relationships/slide" Target="slides/slide75.xml"/><Relationship Id="rId89" Type="http://schemas.openxmlformats.org/officeDocument/2006/relationships/notesMaster" Target="notesMasters/notesMaster1.xml"/><Relationship Id="rId90" Type="http://schemas.openxmlformats.org/officeDocument/2006/relationships/presProps" Target="presProps.xml"/><Relationship Id="rId91" Type="http://schemas.openxmlformats.org/officeDocument/2006/relationships/viewProps" Target="viewProps.xml"/><Relationship Id="rId92" Type="http://schemas.openxmlformats.org/officeDocument/2006/relationships/theme" Target="theme/theme1.xml"/><Relationship Id="rId9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164DF-5A26-5349-97CB-5F6E935D3C02}" type="datetimeFigureOut">
              <a:rPr lang="en-US" smtClean="0"/>
              <a:t>10/13/26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8DF791-86A3-344B-9231-BE94FBB68C8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441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49944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">
    <p:bg>
      <p:bgPr>
        <a:solidFill>
          <a:srgbClr val="C45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39989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Relationship Id="rId3" Type="http://schemas.openxmlformats.org/officeDocument/2006/relationships/image" Target="../media/image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Relationship Id="rId3" Type="http://schemas.openxmlformats.org/officeDocument/2006/relationships/image" Target="../media/image2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png"/><Relationship Id="rId3" Type="http://schemas.openxmlformats.org/officeDocument/2006/relationships/image" Target="../media/image2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png"/><Relationship Id="rId3" Type="http://schemas.openxmlformats.org/officeDocument/2006/relationships/image" Target="../media/image101.png"/><Relationship Id="rId4" Type="http://schemas.openxmlformats.org/officeDocument/2006/relationships/image" Target="../media/image102.png"/><Relationship Id="rId5" Type="http://schemas.openxmlformats.org/officeDocument/2006/relationships/image" Target="../media/image2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png"/><Relationship Id="rId3" Type="http://schemas.openxmlformats.org/officeDocument/2006/relationships/image" Target="../media/image104.png"/><Relationship Id="rId4" Type="http://schemas.openxmlformats.org/officeDocument/2006/relationships/image" Target="../media/image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06.jpg"/><Relationship Id="rId3" Type="http://schemas.openxmlformats.org/officeDocument/2006/relationships/image" Target="../media/image107.jpg"/><Relationship Id="rId4" Type="http://schemas.openxmlformats.org/officeDocument/2006/relationships/image" Target="../media/image108.jpg"/><Relationship Id="rId5" Type="http://schemas.openxmlformats.org/officeDocument/2006/relationships/image" Target="../media/image109.jpg"/><Relationship Id="rId6" Type="http://schemas.openxmlformats.org/officeDocument/2006/relationships/image" Target="../media/image110.jpg"/><Relationship Id="rId7" Type="http://schemas.openxmlformats.org/officeDocument/2006/relationships/image" Target="../media/image111.jpg"/><Relationship Id="rId8" Type="http://schemas.openxmlformats.org/officeDocument/2006/relationships/image" Target="../media/image112.jpg"/><Relationship Id="rId9" Type="http://schemas.openxmlformats.org/officeDocument/2006/relationships/image" Target="../media/image113.jpg"/><Relationship Id="rId10" Type="http://schemas.openxmlformats.org/officeDocument/2006/relationships/image" Target="../media/image114.jpg"/><Relationship Id="rId11" Type="http://schemas.openxmlformats.org/officeDocument/2006/relationships/image" Target="../media/image115.jpg"/><Relationship Id="rId12" Type="http://schemas.openxmlformats.org/officeDocument/2006/relationships/image" Target="../media/image116.jpg"/><Relationship Id="rId13" Type="http://schemas.openxmlformats.org/officeDocument/2006/relationships/hyperlink" Target="https://www.figma.com/proto/vZrnrHgaWOOgf1fIzX9sBy?node-id=1-70&amp;starting-point-node-id=1%3A70&amp;page-id=1%3A69&amp;scaling=scale-down" TargetMode="External"/><Relationship Id="rId14" Type="http://schemas.openxmlformats.org/officeDocument/2006/relationships/image" Target="../media/image2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hyperlink" Target="https://www.figma.com/proto/vZrnrHgaWOOgf1fIzX9sBy?node-id=1-70&amp;starting-point-node-id=1%3A70&amp;page-id=1%3A69&amp;scaling=scale-down" TargetMode="External"/><Relationship Id="rId3" Type="http://schemas.openxmlformats.org/officeDocument/2006/relationships/image" Target="../media/image116.jpg"/><Relationship Id="rId4" Type="http://schemas.openxmlformats.org/officeDocument/2006/relationships/image" Target="../media/image2.png"/><Relationship Id="rId5" Type="http://schemas.openxmlformats.org/officeDocument/2006/relationships/hyperlink" Target="https://www.figma.com/proto/vZrnrHgaWOOgf1fIzX9sBy?node-id=6-2&amp;starting-point-node-id=6%3A2&amp;page-id=1%3A69&amp;scaling=scale-down" TargetMode="External"/></Relationships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"/>
          <p:cNvSpPr txBox="1"/>
          <p:nvPr/>
        </p:nvSpPr>
        <p:spPr>
          <a:xfrm>
            <a:off x="822960" y="822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200" spc="300" dirty="0">
                <a:solidFill>
                  <a:srgbClr val="E98C64"/>
                </a:solidFill>
                <a:latin typeface="Helvetica Neue Medium"/>
                <a:cs typeface="Helvetica Neue Medium"/>
              </a:rPr>
              <a:t>CASE STUDY 04 · B2B DESKTOP · DELIVERED</a:t>
            </a:r>
          </a:p>
        </p:txBody>
      </p:sp>
      <p:sp>
        <p:nvSpPr>
          <p:cNvPr id="102" name="Company"/>
          <p:cNvSpPr txBox="1"/>
          <p:nvPr/>
        </p:nvSpPr>
        <p:spPr>
          <a:xfrm>
            <a:off x="822960" y="1234440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4600" spc="-40" dirty="0">
                <a:solidFill>
                  <a:srgbClr val="F5F5F7"/>
                </a:solidFill>
                <a:latin typeface="Helvetica Neue Medium"/>
                <a:cs typeface="Helvetica Neue Medium"/>
              </a:rPr>
              <a:t>American Express</a:t>
            </a:r>
          </a:p>
        </p:txBody>
      </p:sp>
      <p:sp>
        <p:nvSpPr>
          <p:cNvPr id="103" name="Project"/>
          <p:cNvSpPr txBox="1"/>
          <p:nvPr/>
        </p:nvSpPr>
        <p:spPr>
          <a:xfrm>
            <a:off x="822960" y="224028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2600" spc="0" dirty="0">
                <a:solidFill>
                  <a:srgbClr val="E98C64"/>
                </a:solidFill>
                <a:latin typeface="Helvetica Neue Medium"/>
                <a:cs typeface="Helvetica Neue Medium"/>
              </a:rPr>
              <a:t>MOCA</a:t>
            </a:r>
          </a:p>
        </p:txBody>
      </p:sp>
      <p:sp>
        <p:nvSpPr>
          <p:cNvPr id="104" name="Hook"/>
          <p:cNvSpPr txBox="1"/>
          <p:nvPr/>
        </p:nvSpPr>
        <p:spPr>
          <a:xfrm>
            <a:off x="822960" y="2926080"/>
            <a:ext cx="548640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lang="en-US" sz="1700" spc="0" dirty="0">
                <a:solidFill>
                  <a:srgbClr val="A3A8B4"/>
                </a:solidFill>
                <a:latin typeface="Helvetica Neue Light"/>
                <a:cs typeface="Helvetica Neue Light"/>
              </a:rPr>
              <a:t>Increasing revenue by helping advertisers and marketers decide their advertising budgets with AMEX sales partners.</a:t>
            </a:r>
          </a:p>
        </p:txBody>
      </p:sp>
      <p:cxnSp>
        <p:nvCxnSpPr>
          <p:cNvPr id="105" name="Divider"/>
          <p:cNvCxnSpPr/>
          <p:nvPr/>
        </p:nvCxnSpPr>
        <p:spPr>
          <a:xfrm>
            <a:off x="822960" y="4343400"/>
            <a:ext cx="5486400" cy="0"/>
          </a:xfrm>
          <a:prstGeom prst="line">
            <a:avLst/>
          </a:prstGeom>
          <a:ln w="9525">
            <a:solidFill>
              <a:srgbClr val="2C2F38"/>
            </a:solidFill>
          </a:ln>
        </p:spPr>
      </p:cxnSp>
      <p:sp>
        <p:nvSpPr>
          <p:cNvPr id="106" name="ROLE"/>
          <p:cNvSpPr txBox="1"/>
          <p:nvPr/>
        </p:nvSpPr>
        <p:spPr>
          <a:xfrm>
            <a:off x="822960" y="4471416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100" spc="200" dirty="0">
                <a:solidFill>
                  <a:srgbClr val="7A7F8C"/>
                </a:solidFill>
                <a:latin typeface="Helvetica Neue Medium"/>
                <a:cs typeface="Helvetica Neue Medium"/>
              </a:rPr>
              <a:t>ROLE</a:t>
            </a:r>
          </a:p>
        </p:txBody>
      </p:sp>
      <p:sp>
        <p:nvSpPr>
          <p:cNvPr id="107" name="ROLE value"/>
          <p:cNvSpPr txBox="1"/>
          <p:nvPr/>
        </p:nvSpPr>
        <p:spPr>
          <a:xfrm>
            <a:off x="2148840" y="4443984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550" spc="0" dirty="0">
                <a:solidFill>
                  <a:srgbClr val="F5F5F7"/>
                </a:solidFill>
                <a:latin typeface="Helvetica Neue Light"/>
                <a:cs typeface="Helvetica Neue Light"/>
              </a:rPr>
              <a:t>Led discovery and all design deliverables</a:t>
            </a:r>
          </a:p>
        </p:txBody>
      </p:sp>
      <p:cxnSp>
        <p:nvCxnSpPr>
          <p:cNvPr id="108" name="Divider"/>
          <p:cNvCxnSpPr/>
          <p:nvPr/>
        </p:nvCxnSpPr>
        <p:spPr>
          <a:xfrm>
            <a:off x="822960" y="5056632"/>
            <a:ext cx="5486400" cy="0"/>
          </a:xfrm>
          <a:prstGeom prst="line">
            <a:avLst/>
          </a:prstGeom>
          <a:ln w="9525">
            <a:solidFill>
              <a:srgbClr val="2C2F38"/>
            </a:solidFill>
          </a:ln>
        </p:spPr>
      </p:cxnSp>
      <p:sp>
        <p:nvSpPr>
          <p:cNvPr id="109" name="TEAM"/>
          <p:cNvSpPr txBox="1"/>
          <p:nvPr/>
        </p:nvSpPr>
        <p:spPr>
          <a:xfrm>
            <a:off x="822960" y="5184648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100" spc="200" dirty="0">
                <a:solidFill>
                  <a:srgbClr val="7A7F8C"/>
                </a:solidFill>
                <a:latin typeface="Helvetica Neue Medium"/>
                <a:cs typeface="Helvetica Neue Medium"/>
              </a:rPr>
              <a:t>TEAM</a:t>
            </a:r>
          </a:p>
        </p:txBody>
      </p:sp>
      <p:sp>
        <p:nvSpPr>
          <p:cNvPr id="110" name="TEAM value"/>
          <p:cNvSpPr txBox="1"/>
          <p:nvPr/>
        </p:nvSpPr>
        <p:spPr>
          <a:xfrm>
            <a:off x="2148840" y="5157216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550" spc="0" dirty="0">
                <a:solidFill>
                  <a:srgbClr val="F5F5F7"/>
                </a:solidFill>
                <a:latin typeface="Helvetica Neue Light"/>
                <a:cs typeface="Helvetica Neue Light"/>
              </a:rPr>
              <a:t>Partnered with AMEX data scientists, who built the projection and optimization engines</a:t>
            </a:r>
          </a:p>
        </p:txBody>
      </p:sp>
      <p:cxnSp>
        <p:nvCxnSpPr>
          <p:cNvPr id="111" name="Divider"/>
          <p:cNvCxnSpPr/>
          <p:nvPr/>
        </p:nvCxnSpPr>
        <p:spPr>
          <a:xfrm>
            <a:off x="822960" y="5769864"/>
            <a:ext cx="5486400" cy="0"/>
          </a:xfrm>
          <a:prstGeom prst="line">
            <a:avLst/>
          </a:prstGeom>
          <a:ln w="9525">
            <a:solidFill>
              <a:srgbClr val="2C2F38"/>
            </a:solidFill>
          </a:ln>
        </p:spPr>
      </p:cxnSp>
      <p:sp>
        <p:nvSpPr>
          <p:cNvPr id="112" name="SCOPE"/>
          <p:cNvSpPr txBox="1"/>
          <p:nvPr/>
        </p:nvSpPr>
        <p:spPr>
          <a:xfrm>
            <a:off x="822960" y="589788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100" spc="200" dirty="0">
                <a:solidFill>
                  <a:srgbClr val="7A7F8C"/>
                </a:solidFill>
                <a:latin typeface="Helvetica Neue Medium"/>
                <a:cs typeface="Helvetica Neue Medium"/>
              </a:rPr>
              <a:t>SCOPE</a:t>
            </a:r>
          </a:p>
        </p:txBody>
      </p:sp>
      <p:sp>
        <p:nvSpPr>
          <p:cNvPr id="113" name="SCOPE value"/>
          <p:cNvSpPr txBox="1"/>
          <p:nvPr/>
        </p:nvSpPr>
        <p:spPr>
          <a:xfrm>
            <a:off x="2148840" y="5870448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550" spc="0" dirty="0">
                <a:solidFill>
                  <a:srgbClr val="F5F5F7"/>
                </a:solidFill>
                <a:latin typeface="Helvetica Neue Light"/>
                <a:cs typeface="Helvetica Neue Light"/>
              </a:rPr>
              <a:t>Wizard, scenario builder and data visualizer for a desktop app</a:t>
            </a:r>
          </a:p>
        </p:txBody>
      </p:sp>
      <p:cxnSp>
        <p:nvCxnSpPr>
          <p:cNvPr id="114" name="Divider"/>
          <p:cNvCxnSpPr/>
          <p:nvPr/>
        </p:nvCxnSpPr>
        <p:spPr>
          <a:xfrm>
            <a:off x="822960" y="6483096"/>
            <a:ext cx="5486400" cy="0"/>
          </a:xfrm>
          <a:prstGeom prst="line">
            <a:avLst/>
          </a:prstGeom>
          <a:ln w="9525">
            <a:solidFill>
              <a:srgbClr val="2C2F38"/>
            </a:solidFill>
          </a:ln>
        </p:spPr>
      </p:cxnSp>
      <p:sp>
        <p:nvSpPr>
          <p:cNvPr id="115" name="RESULTS"/>
          <p:cNvSpPr txBox="1"/>
          <p:nvPr/>
        </p:nvSpPr>
        <p:spPr>
          <a:xfrm>
            <a:off x="822960" y="6611112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100" spc="200" dirty="0">
                <a:solidFill>
                  <a:srgbClr val="7A7F8C"/>
                </a:solidFill>
                <a:latin typeface="Helvetica Neue Medium"/>
                <a:cs typeface="Helvetica Neue Medium"/>
              </a:rPr>
              <a:t>RESULTS</a:t>
            </a:r>
          </a:p>
        </p:txBody>
      </p:sp>
      <p:sp>
        <p:nvSpPr>
          <p:cNvPr id="116" name="RESULTS value"/>
          <p:cNvSpPr txBox="1"/>
          <p:nvPr/>
        </p:nvSpPr>
        <p:spPr>
          <a:xfrm>
            <a:off x="2148840" y="6583680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550" spc="0" dirty="0">
                <a:solidFill>
                  <a:srgbClr val="F5F5F7"/>
                </a:solidFill>
                <a:latin typeface="Helvetica Neue Light"/>
                <a:cs typeface="Helvetica Neue Light"/>
              </a:rPr>
              <a:t>Partner approval 58% → 88%; average client budget $1.34M → $1.8M</a:t>
            </a:r>
          </a:p>
        </p:txBody>
      </p:sp>
      <p:cxnSp>
        <p:nvCxnSpPr>
          <p:cNvPr id="117" name="Divider"/>
          <p:cNvCxnSpPr/>
          <p:nvPr/>
        </p:nvCxnSpPr>
        <p:spPr>
          <a:xfrm>
            <a:off x="822960" y="7196328"/>
            <a:ext cx="5486400" cy="0"/>
          </a:xfrm>
          <a:prstGeom prst="line">
            <a:avLst/>
          </a:prstGeom>
          <a:ln w="9525">
            <a:solidFill>
              <a:srgbClr val="2C2F38"/>
            </a:solidFill>
          </a:ln>
        </p:spPr>
      </p:cxnSp>
      <p:sp>
        <p:nvSpPr>
          <p:cNvPr id="118" name="Quote"/>
          <p:cNvSpPr txBox="1"/>
          <p:nvPr/>
        </p:nvSpPr>
        <p:spPr>
          <a:xfrm>
            <a:off x="822960" y="7516368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500" spc="0" dirty="0">
                <a:solidFill>
                  <a:srgbClr val="F5F5F7"/>
                </a:solidFill>
                <a:latin typeface="Helvetica Neue Light"/>
                <a:cs typeface="Helvetica Neue Light"/>
              </a:rPr>
              <a:t>“Comparing budgets and then optimizing it would allow me to have the confidence to increase the budget.”</a:t>
            </a:r>
          </a:p>
        </p:txBody>
      </p:sp>
      <p:pic>
        <p:nvPicPr>
          <p:cNvPr id="119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395180"/>
            <a:ext cx="6283960" cy="4801068"/>
          </a:xfrm>
          <a:prstGeom prst="rect">
            <a:avLst/>
          </a:prstGeom>
          <a:ln w="9525">
            <a:solidFill>
              <a:srgbClr val="3A3E49"/>
            </a:solidFill>
          </a:ln>
        </p:spPr>
      </p:pic>
      <p:pic>
        <p:nvPicPr>
          <p:cNvPr id="120" name="gradient strip" descr="gradient stri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85427"/>
            <a:ext cx="13004800" cy="468173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"/>
          <p:cNvSpPr txBox="1"/>
          <p:nvPr/>
        </p:nvSpPr>
        <p:spPr>
          <a:xfrm>
            <a:off x="822960" y="914400"/>
            <a:ext cx="113588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200" spc="300" dirty="0">
                <a:solidFill>
                  <a:srgbClr val="B5531F"/>
                </a:solidFill>
                <a:latin typeface="Helvetica Neue Medium"/>
                <a:cs typeface="Helvetica Neue Medium"/>
              </a:rPr>
              <a:t>AMEX MOCA · INTRODUCTION</a:t>
            </a:r>
          </a:p>
        </p:txBody>
      </p:sp>
      <p:sp>
        <p:nvSpPr>
          <p:cNvPr id="102" name="Headline"/>
          <p:cNvSpPr txBox="1"/>
          <p:nvPr/>
        </p:nvSpPr>
        <p:spPr>
          <a:xfrm>
            <a:off x="822960" y="1371600"/>
            <a:ext cx="1135888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lang="en-US" sz="3600" spc="-40" dirty="0">
                <a:solidFill>
                  <a:srgbClr val="14161D"/>
                </a:solidFill>
                <a:latin typeface="Helvetica Neue Medium"/>
                <a:cs typeface="Helvetica Neue Medium"/>
              </a:rPr>
              <a:t>A desktop app that projects a marketer’s budget and </a:t>
            </a:r>
            <a:r>
              <a:rPr lang="en-US" sz="3600" spc="-40" dirty="0">
                <a:solidFill>
                  <a:srgbClr val="B5531F"/>
                </a:solidFill>
                <a:latin typeface="Helvetica Neue Medium"/>
                <a:cs typeface="Helvetica Neue Medium"/>
              </a:rPr>
              <a:t>compares built and optimized scenarios</a:t>
            </a:r>
            <a:r>
              <a:rPr lang="en-US" sz="3600" spc="-40" dirty="0">
                <a:solidFill>
                  <a:srgbClr val="14161D"/>
                </a:solidFill>
                <a:latin typeface="Helvetica Neue Medium"/>
                <a:cs typeface="Helvetica Neue Medium"/>
              </a:rPr>
              <a:t>.</a:t>
            </a:r>
          </a:p>
        </p:txBody>
      </p:sp>
      <p:sp>
        <p:nvSpPr>
          <p:cNvPr id="103" name="Audience"/>
          <p:cNvSpPr txBox="1"/>
          <p:nvPr/>
        </p:nvSpPr>
        <p:spPr>
          <a:xfrm>
            <a:off x="822960" y="3611880"/>
            <a:ext cx="3511973" cy="4206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1100" spc="200" dirty="0">
                <a:solidFill>
                  <a:srgbClr val="858A97"/>
                </a:solidFill>
                <a:latin typeface="Helvetica Neue Medium"/>
                <a:cs typeface="Helvetica Neue Medium"/>
              </a:rPr>
              <a:t>TARGET AUDIENCE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American Express sales managers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American Express sales advisors</a:t>
            </a:r>
          </a:p>
        </p:txBody>
      </p:sp>
      <p:sp>
        <p:nvSpPr>
          <p:cNvPr id="104" name="Problems"/>
          <p:cNvSpPr txBox="1"/>
          <p:nvPr/>
        </p:nvSpPr>
        <p:spPr>
          <a:xfrm>
            <a:off x="4746413" y="3611880"/>
            <a:ext cx="3511973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1100" spc="200" dirty="0">
                <a:solidFill>
                  <a:srgbClr val="858A97"/>
                </a:solidFill>
                <a:latin typeface="Helvetica Neue Medium"/>
                <a:cs typeface="Helvetica Neue Medium"/>
              </a:rPr>
              <a:t>THE PROBLEMS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Sales partners had no effective tool for clients to budget their AMEX advertising dollars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No way to compare scenarios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No way to understand how well an investment works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Need for a more customizable, predictive app using nascent AI technology</a:t>
            </a:r>
          </a:p>
        </p:txBody>
      </p:sp>
      <p:sp>
        <p:nvSpPr>
          <p:cNvPr id="105" name="Team"/>
          <p:cNvSpPr txBox="1"/>
          <p:nvPr/>
        </p:nvSpPr>
        <p:spPr>
          <a:xfrm>
            <a:off x="8669866" y="3611880"/>
            <a:ext cx="3511973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1100" spc="200" dirty="0">
                <a:solidFill>
                  <a:srgbClr val="858A97"/>
                </a:solidFill>
                <a:latin typeface="Helvetica Neue Medium"/>
                <a:cs typeface="Helvetica Neue Medium"/>
              </a:rPr>
              <a:t>TEAM AND MY PART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I partnered with AMEX data scientists, who built the projection and optimization engines; I designed how partners build, compare and trust scenarios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I managed discovery, including research, strategy and hands-on design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I led every deliverable in Sketch and Figma, with Lean UX and usability testing</a:t>
            </a:r>
          </a:p>
        </p:txBody>
      </p:sp>
      <p:pic>
        <p:nvPicPr>
          <p:cNvPr id="106" name="gradient strip" descr="gradient stri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85427"/>
            <a:ext cx="13004800" cy="468173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"/>
          <p:cNvSpPr txBox="1"/>
          <p:nvPr/>
        </p:nvSpPr>
        <p:spPr>
          <a:xfrm>
            <a:off x="822960" y="914400"/>
            <a:ext cx="113588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200" spc="300" dirty="0">
                <a:solidFill>
                  <a:srgbClr val="B5531F"/>
                </a:solidFill>
                <a:latin typeface="Helvetica Neue Medium"/>
                <a:cs typeface="Helvetica Neue Medium"/>
              </a:rPr>
              <a:t>AMEX MOCA · WHY</a:t>
            </a:r>
          </a:p>
        </p:txBody>
      </p:sp>
      <p:sp>
        <p:nvSpPr>
          <p:cNvPr id="102" name="Headline"/>
          <p:cNvSpPr txBox="1"/>
          <p:nvPr/>
        </p:nvSpPr>
        <p:spPr>
          <a:xfrm>
            <a:off x="822960" y="1371600"/>
            <a:ext cx="113588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lang="en-US" sz="4000" spc="-40" dirty="0">
                <a:solidFill>
                  <a:srgbClr val="14161D"/>
                </a:solidFill>
                <a:latin typeface="Helvetica Neue Medium"/>
                <a:cs typeface="Helvetica Neue Medium"/>
              </a:rPr>
              <a:t>Why design </a:t>
            </a:r>
            <a:r>
              <a:rPr lang="en-US" sz="4000" spc="-40" dirty="0">
                <a:solidFill>
                  <a:srgbClr val="B5531F"/>
                </a:solidFill>
                <a:latin typeface="Helvetica Neue Medium"/>
                <a:cs typeface="Helvetica Neue Medium"/>
              </a:rPr>
              <a:t>MOCA</a:t>
            </a:r>
            <a:r>
              <a:rPr lang="en-US" sz="4000" spc="-40" dirty="0">
                <a:solidFill>
                  <a:srgbClr val="14161D"/>
                </a:solidFill>
                <a:latin typeface="Helvetica Neue Medium"/>
                <a:cs typeface="Helvetica Neue Medium"/>
              </a:rPr>
              <a:t>?</a:t>
            </a:r>
          </a:p>
        </p:txBody>
      </p:sp>
      <p:sp>
        <p:nvSpPr>
          <p:cNvPr id="3034" name="Tile"/>
          <p:cNvSpPr/>
          <p:nvPr/>
        </p:nvSpPr>
        <p:spPr>
          <a:xfrm>
            <a:off x="822960" y="2606040"/>
            <a:ext cx="5577840" cy="5623560"/>
          </a:xfrm>
          <a:prstGeom prst="roundRect">
            <a:avLst>
              <a:gd name="adj" fmla="val 2295"/>
            </a:avLst>
          </a:prstGeom>
          <a:solidFill>
            <a:srgbClr val="B553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Number"/>
          <p:cNvSpPr txBox="1"/>
          <p:nvPr/>
        </p:nvSpPr>
        <p:spPr>
          <a:xfrm>
            <a:off x="1097280" y="2807208"/>
            <a:ext cx="5029200" cy="1466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8000"/>
              </a:lnSpc>
              <a:spcAft>
                <a:spcPts val="300"/>
              </a:spcAft>
            </a:pPr>
            <a:r>
              <a:rPr lang="en-US" sz="11000" spc="-60" dirty="0">
                <a:solidFill>
                  <a:srgbClr val="FFFFFF"/>
                </a:solidFill>
                <a:latin typeface="Helvetica Neue Medium"/>
                <a:cs typeface="Helvetica Neue Medium"/>
              </a:rPr>
              <a:t>$1.34M</a:t>
            </a:r>
          </a:p>
        </p:txBody>
      </p:sp>
      <p:sp>
        <p:nvSpPr>
          <p:cNvPr id="104" name="Label"/>
          <p:cNvSpPr txBox="1"/>
          <p:nvPr/>
        </p:nvSpPr>
        <p:spPr>
          <a:xfrm>
            <a:off x="1097280" y="4347210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600" spc="0" dirty="0">
                <a:solidFill>
                  <a:srgbClr val="FBE3D8"/>
                </a:solidFill>
                <a:latin typeface="Helvetica Neue Light"/>
                <a:cs typeface="Helvetica Neue Light"/>
              </a:rPr>
              <a:t>average client budget, before MOCA</a:t>
            </a:r>
          </a:p>
        </p:txBody>
      </p:sp>
      <p:sp>
        <p:nvSpPr>
          <p:cNvPr id="105" name="Bar label"/>
          <p:cNvSpPr txBox="1"/>
          <p:nvPr/>
        </p:nvSpPr>
        <p:spPr>
          <a:xfrm>
            <a:off x="1097280" y="7104888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100" spc="0" dirty="0">
                <a:solidFill>
                  <a:srgbClr val="FFFFFF"/>
                </a:solidFill>
                <a:latin typeface="Helvetica Neue Medium"/>
                <a:cs typeface="Helvetica Neue Medium"/>
              </a:rPr>
              <a:t>Before MOCA: $1.34M</a:t>
            </a:r>
          </a:p>
        </p:txBody>
      </p:sp>
      <p:sp>
        <p:nvSpPr>
          <p:cNvPr id="3035" name="Tile"/>
          <p:cNvSpPr/>
          <p:nvPr/>
        </p:nvSpPr>
        <p:spPr>
          <a:xfrm>
            <a:off x="1097280" y="7324344"/>
            <a:ext cx="5029200" cy="146304"/>
          </a:xfrm>
          <a:prstGeom prst="roundRect">
            <a:avLst>
              <a:gd name="adj" fmla="val 37500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6" name="Tile"/>
          <p:cNvSpPr/>
          <p:nvPr/>
        </p:nvSpPr>
        <p:spPr>
          <a:xfrm>
            <a:off x="1097280" y="7324344"/>
            <a:ext cx="3743960" cy="146304"/>
          </a:xfrm>
          <a:prstGeom prst="roundRect">
            <a:avLst>
              <a:gd name="adj" fmla="val 37500"/>
            </a:avLst>
          </a:prstGeom>
          <a:solidFill>
            <a:srgbClr val="7AC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Bar label"/>
          <p:cNvSpPr txBox="1"/>
          <p:nvPr/>
        </p:nvSpPr>
        <p:spPr>
          <a:xfrm>
            <a:off x="1097280" y="7488936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100" spc="0" dirty="0">
                <a:solidFill>
                  <a:srgbClr val="FBE3D8"/>
                </a:solidFill>
                <a:latin typeface="Helvetica Neue Light"/>
                <a:cs typeface="Helvetica Neue Light"/>
              </a:rPr>
              <a:t>After launch: $1.8M (see Results)</a:t>
            </a:r>
          </a:p>
        </p:txBody>
      </p:sp>
      <p:sp>
        <p:nvSpPr>
          <p:cNvPr id="3037" name="Tile"/>
          <p:cNvSpPr/>
          <p:nvPr/>
        </p:nvSpPr>
        <p:spPr>
          <a:xfrm>
            <a:off x="1097280" y="7708392"/>
            <a:ext cx="5029200" cy="146304"/>
          </a:xfrm>
          <a:prstGeom prst="roundRect">
            <a:avLst>
              <a:gd name="adj" fmla="val 37500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8" name="Tile"/>
          <p:cNvSpPr/>
          <p:nvPr/>
        </p:nvSpPr>
        <p:spPr>
          <a:xfrm>
            <a:off x="1097280" y="7708392"/>
            <a:ext cx="5029200" cy="146304"/>
          </a:xfrm>
          <a:prstGeom prst="roundRect">
            <a:avLst>
              <a:gd name="adj" fmla="val 37500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9" name="Tile"/>
          <p:cNvSpPr/>
          <p:nvPr/>
        </p:nvSpPr>
        <p:spPr>
          <a:xfrm>
            <a:off x="6583680" y="2606040"/>
            <a:ext cx="5596128" cy="1752600"/>
          </a:xfrm>
          <a:prstGeom prst="roundRect">
            <a:avLst>
              <a:gd name="adj" fmla="val 7304"/>
            </a:avLst>
          </a:prstGeom>
          <a:solidFill>
            <a:srgbClr val="F1F2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Number"/>
          <p:cNvSpPr txBox="1"/>
          <p:nvPr/>
        </p:nvSpPr>
        <p:spPr>
          <a:xfrm>
            <a:off x="6858000" y="2606040"/>
            <a:ext cx="2350373" cy="1752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5400" spc="-40" dirty="0">
                <a:solidFill>
                  <a:srgbClr val="14161D"/>
                </a:solidFill>
                <a:latin typeface="Helvetica Neue Medium"/>
                <a:cs typeface="Helvetica Neue Medium"/>
              </a:rPr>
              <a:t>58%</a:t>
            </a:r>
          </a:p>
        </p:txBody>
      </p:sp>
      <p:sp>
        <p:nvSpPr>
          <p:cNvPr id="108" name="Label"/>
          <p:cNvSpPr txBox="1"/>
          <p:nvPr/>
        </p:nvSpPr>
        <p:spPr>
          <a:xfrm>
            <a:off x="8473440" y="2606040"/>
            <a:ext cx="3432047" cy="1752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5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approval from internal business partners</a:t>
            </a:r>
          </a:p>
        </p:txBody>
      </p:sp>
      <p:sp>
        <p:nvSpPr>
          <p:cNvPr id="3040" name="Tile"/>
          <p:cNvSpPr/>
          <p:nvPr/>
        </p:nvSpPr>
        <p:spPr>
          <a:xfrm>
            <a:off x="6583680" y="4541520"/>
            <a:ext cx="5596128" cy="1752600"/>
          </a:xfrm>
          <a:prstGeom prst="roundRect">
            <a:avLst>
              <a:gd name="adj" fmla="val 7304"/>
            </a:avLst>
          </a:prstGeom>
          <a:solidFill>
            <a:srgbClr val="1B1D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Number"/>
          <p:cNvSpPr txBox="1"/>
          <p:nvPr/>
        </p:nvSpPr>
        <p:spPr>
          <a:xfrm>
            <a:off x="6858000" y="4541520"/>
            <a:ext cx="2350373" cy="1752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5400" spc="-40" dirty="0">
                <a:solidFill>
                  <a:srgbClr val="F5F5F7"/>
                </a:solidFill>
                <a:latin typeface="Helvetica Neue Medium"/>
                <a:cs typeface="Helvetica Neue Medium"/>
              </a:rPr>
              <a:t>12 min</a:t>
            </a:r>
          </a:p>
        </p:txBody>
      </p:sp>
      <p:sp>
        <p:nvSpPr>
          <p:cNvPr id="110" name="Label"/>
          <p:cNvSpPr txBox="1"/>
          <p:nvPr/>
        </p:nvSpPr>
        <p:spPr>
          <a:xfrm>
            <a:off x="9208373" y="4541520"/>
            <a:ext cx="2697114" cy="1752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500" spc="0" dirty="0">
                <a:solidFill>
                  <a:srgbClr val="A3A8B4"/>
                </a:solidFill>
                <a:latin typeface="Helvetica Neue Light"/>
                <a:cs typeface="Helvetica Neue Light"/>
              </a:rPr>
              <a:t>average time for partners to complete a budget</a:t>
            </a:r>
          </a:p>
        </p:txBody>
      </p:sp>
      <p:sp>
        <p:nvSpPr>
          <p:cNvPr id="3041" name="Tile"/>
          <p:cNvSpPr/>
          <p:nvPr/>
        </p:nvSpPr>
        <p:spPr>
          <a:xfrm>
            <a:off x="6583680" y="6477000"/>
            <a:ext cx="5596128" cy="1752600"/>
          </a:xfrm>
          <a:prstGeom prst="roundRect">
            <a:avLst>
              <a:gd name="adj" fmla="val 7304"/>
            </a:avLst>
          </a:prstGeom>
          <a:solidFill>
            <a:srgbClr val="1B1D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Number"/>
          <p:cNvSpPr txBox="1"/>
          <p:nvPr/>
        </p:nvSpPr>
        <p:spPr>
          <a:xfrm>
            <a:off x="6858000" y="6477000"/>
            <a:ext cx="2350373" cy="1752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5400" spc="-40" dirty="0">
                <a:solidFill>
                  <a:srgbClr val="F5F5F7"/>
                </a:solidFill>
                <a:latin typeface="Helvetica Neue Medium"/>
                <a:cs typeface="Helvetica Neue Medium"/>
              </a:rPr>
              <a:t>5.4%</a:t>
            </a:r>
          </a:p>
        </p:txBody>
      </p:sp>
      <p:sp>
        <p:nvSpPr>
          <p:cNvPr id="112" name="Label"/>
          <p:cNvSpPr txBox="1"/>
          <p:nvPr/>
        </p:nvSpPr>
        <p:spPr>
          <a:xfrm>
            <a:off x="8717280" y="6477000"/>
            <a:ext cx="3188207" cy="1752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500" spc="0" dirty="0">
                <a:solidFill>
                  <a:srgbClr val="A3A8B4"/>
                </a:solidFill>
                <a:latin typeface="Helvetica Neue Light"/>
                <a:cs typeface="Helvetica Neue Light"/>
              </a:rPr>
              <a:t>drop-off on the current budget process</a:t>
            </a:r>
          </a:p>
        </p:txBody>
      </p:sp>
      <p:pic>
        <p:nvPicPr>
          <p:cNvPr id="113" name="gradient strip" descr="gradient stri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85427"/>
            <a:ext cx="13004800" cy="468173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"/>
          <p:cNvSpPr txBox="1"/>
          <p:nvPr/>
        </p:nvSpPr>
        <p:spPr>
          <a:xfrm>
            <a:off x="822960" y="914400"/>
            <a:ext cx="113588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200" spc="300" dirty="0">
                <a:solidFill>
                  <a:srgbClr val="B5531F"/>
                </a:solidFill>
                <a:latin typeface="Helvetica Neue Medium"/>
                <a:cs typeface="Helvetica Neue Medium"/>
              </a:rPr>
              <a:t>AMEX MOCA · DISCOVERY</a:t>
            </a:r>
          </a:p>
        </p:txBody>
      </p:sp>
      <p:sp>
        <p:nvSpPr>
          <p:cNvPr id="102" name="Headline"/>
          <p:cNvSpPr txBox="1"/>
          <p:nvPr/>
        </p:nvSpPr>
        <p:spPr>
          <a:xfrm>
            <a:off x="822960" y="1371600"/>
            <a:ext cx="1135888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lang="en-US" sz="3600" spc="-40" dirty="0">
                <a:solidFill>
                  <a:srgbClr val="14161D"/>
                </a:solidFill>
                <a:latin typeface="Helvetica Neue Medium"/>
                <a:cs typeface="Helvetica Neue Medium"/>
              </a:rPr>
              <a:t>We set out to find real user needs, </a:t>
            </a:r>
            <a:r>
              <a:rPr lang="en-US" sz="3600" spc="-40" dirty="0">
                <a:solidFill>
                  <a:srgbClr val="B5531F"/>
                </a:solidFill>
                <a:latin typeface="Helvetica Neue Medium"/>
                <a:cs typeface="Helvetica Neue Medium"/>
              </a:rPr>
              <a:t>test the business’s assumptions</a:t>
            </a:r>
            <a:r>
              <a:rPr lang="en-US" sz="3600" spc="-40" dirty="0">
                <a:solidFill>
                  <a:srgbClr val="14161D"/>
                </a:solidFill>
                <a:latin typeface="Helvetica Neue Medium"/>
                <a:cs typeface="Helvetica Neue Medium"/>
              </a:rPr>
              <a:t> and generate new ideas.</a:t>
            </a:r>
          </a:p>
        </p:txBody>
      </p:sp>
      <p:sp>
        <p:nvSpPr>
          <p:cNvPr id="103" name="Methods"/>
          <p:cNvSpPr txBox="1"/>
          <p:nvPr/>
        </p:nvSpPr>
        <p:spPr>
          <a:xfrm>
            <a:off x="822960" y="3611880"/>
            <a:ext cx="5427980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1100" spc="200" dirty="0">
                <a:solidFill>
                  <a:srgbClr val="858A97"/>
                </a:solidFill>
                <a:latin typeface="Helvetica Neue Medium"/>
                <a:cs typeface="Helvetica Neue Medium"/>
              </a:rPr>
              <a:t>METHODS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Interviews with internal stakeholders, SMEs and users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Sales managers and sales advisors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Contextual interviews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Persona development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Co-design sessions with data scientists</a:t>
            </a:r>
          </a:p>
        </p:txBody>
      </p:sp>
      <p:sp>
        <p:nvSpPr>
          <p:cNvPr id="104" name="Problem"/>
          <p:cNvSpPr txBox="1"/>
          <p:nvPr/>
        </p:nvSpPr>
        <p:spPr>
          <a:xfrm>
            <a:off x="6753860" y="3611880"/>
            <a:ext cx="5427980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lang="en-US" sz="1100" spc="200" dirty="0">
                <a:solidFill>
                  <a:srgbClr val="858A97"/>
                </a:solidFill>
                <a:latin typeface="Helvetica Neue Medium"/>
                <a:cs typeface="Helvetica Neue Medium"/>
              </a:rPr>
              <a:t>PROBLEM STATEMENT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lang="en-US" sz="1550" spc="0" dirty="0">
                <a:solidFill>
                  <a:srgbClr val="14161D"/>
                </a:solidFill>
                <a:latin typeface="Helvetica Neue Light"/>
                <a:cs typeface="Helvetica Neue Light"/>
              </a:rPr>
              <a:t>Internal business partners have no tool to help their clients budget AMEX advertising dollars effectively. Users need an application to allocate marketing budgets across the AMEX product lines.</a:t>
            </a:r>
          </a:p>
        </p:txBody>
      </p:sp>
      <p:pic>
        <p:nvPicPr>
          <p:cNvPr id="105" name="gradient strip" descr="gradient stri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85427"/>
            <a:ext cx="13004800" cy="468173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"/>
          <p:cNvSpPr txBox="1"/>
          <p:nvPr/>
        </p:nvSpPr>
        <p:spPr>
          <a:xfrm>
            <a:off x="822960" y="566928"/>
            <a:ext cx="11358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200" spc="300" dirty="0">
                <a:solidFill>
                  <a:srgbClr val="B5531F"/>
                </a:solidFill>
                <a:latin typeface="Helvetica Neue Medium"/>
                <a:cs typeface="Helvetica Neue Medium"/>
              </a:rPr>
              <a:t>AMEX MOCA · STRATEGY</a:t>
            </a:r>
          </a:p>
        </p:txBody>
      </p:sp>
      <p:sp>
        <p:nvSpPr>
          <p:cNvPr id="102" name="Title"/>
          <p:cNvSpPr txBox="1"/>
          <p:nvPr/>
        </p:nvSpPr>
        <p:spPr>
          <a:xfrm>
            <a:off x="822960" y="896112"/>
            <a:ext cx="11358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3000" spc="-20" dirty="0">
                <a:solidFill>
                  <a:srgbClr val="14161D"/>
                </a:solidFill>
                <a:latin typeface="Helvetica Neue Medium"/>
                <a:cs typeface="Helvetica Neue Medium"/>
              </a:rPr>
              <a:t>Pain points + business goals + UX strategy = feature set</a:t>
            </a:r>
          </a:p>
        </p:txBody>
      </p:sp>
      <p:cxnSp>
        <p:nvCxnSpPr>
          <p:cNvPr id="103" name="Divider"/>
          <p:cNvCxnSpPr/>
          <p:nvPr/>
        </p:nvCxnSpPr>
        <p:spPr>
          <a:xfrm>
            <a:off x="822960" y="2651760"/>
            <a:ext cx="2668270" cy="0"/>
          </a:xfrm>
          <a:prstGeom prst="line">
            <a:avLst/>
          </a:prstGeom>
          <a:ln w="9525">
            <a:solidFill>
              <a:srgbClr val="E1E3E8"/>
            </a:solidFill>
          </a:ln>
        </p:spPr>
      </p:cxnSp>
      <p:sp>
        <p:nvSpPr>
          <p:cNvPr id="104" name="PAIN POINTS"/>
          <p:cNvSpPr txBox="1"/>
          <p:nvPr/>
        </p:nvSpPr>
        <p:spPr>
          <a:xfrm>
            <a:off x="822960" y="2880360"/>
            <a:ext cx="2668270" cy="539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lang="en-US" sz="1100" spc="200" dirty="0">
                <a:solidFill>
                  <a:srgbClr val="858A97"/>
                </a:solidFill>
                <a:latin typeface="Helvetica Neue Medium"/>
                <a:cs typeface="Helvetica Neue Medium"/>
              </a:rPr>
              <a:t>PAIN POINTS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Scenario builder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Data visualizer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Comparison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Importing data sets from Excel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Changing each allocation by channel or product</a:t>
            </a:r>
          </a:p>
        </p:txBody>
      </p:sp>
      <p:sp>
        <p:nvSpPr>
          <p:cNvPr id="105" name="op"/>
          <p:cNvSpPr txBox="1"/>
          <p:nvPr/>
        </p:nvSpPr>
        <p:spPr>
          <a:xfrm>
            <a:off x="3445510" y="2240280"/>
            <a:ext cx="3200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lang="en-US" sz="2600" spc="0" dirty="0">
                <a:solidFill>
                  <a:srgbClr val="B5531F"/>
                </a:solidFill>
                <a:latin typeface="Helvetica Neue Medium"/>
                <a:cs typeface="Helvetica Neue Medium"/>
              </a:rPr>
              <a:t>+</a:t>
            </a:r>
          </a:p>
        </p:txBody>
      </p:sp>
      <p:cxnSp>
        <p:nvCxnSpPr>
          <p:cNvPr id="106" name="Divider"/>
          <p:cNvCxnSpPr/>
          <p:nvPr/>
        </p:nvCxnSpPr>
        <p:spPr>
          <a:xfrm>
            <a:off x="3719830" y="2651760"/>
            <a:ext cx="2668270" cy="0"/>
          </a:xfrm>
          <a:prstGeom prst="line">
            <a:avLst/>
          </a:prstGeom>
          <a:ln w="9525">
            <a:solidFill>
              <a:srgbClr val="E1E3E8"/>
            </a:solidFill>
          </a:ln>
        </p:spPr>
      </p:cxnSp>
      <p:sp>
        <p:nvSpPr>
          <p:cNvPr id="107" name="BUSINESS GOALS"/>
          <p:cNvSpPr txBox="1"/>
          <p:nvPr/>
        </p:nvSpPr>
        <p:spPr>
          <a:xfrm>
            <a:off x="3719830" y="2880360"/>
            <a:ext cx="2668270" cy="539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lang="en-US" sz="1100" spc="200" dirty="0">
                <a:solidFill>
                  <a:srgbClr val="858A97"/>
                </a:solidFill>
                <a:latin typeface="Helvetica Neue Medium"/>
                <a:cs typeface="Helvetica Neue Medium"/>
              </a:rPr>
              <a:t>BUSINESS GOALS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Education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Platform parity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Integrated systems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Data</a:t>
            </a:r>
          </a:p>
        </p:txBody>
      </p:sp>
      <p:sp>
        <p:nvSpPr>
          <p:cNvPr id="108" name="op"/>
          <p:cNvSpPr txBox="1"/>
          <p:nvPr/>
        </p:nvSpPr>
        <p:spPr>
          <a:xfrm>
            <a:off x="6342380" y="2240280"/>
            <a:ext cx="3200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lang="en-US" sz="2600" spc="0" dirty="0">
                <a:solidFill>
                  <a:srgbClr val="B5531F"/>
                </a:solidFill>
                <a:latin typeface="Helvetica Neue Medium"/>
                <a:cs typeface="Helvetica Neue Medium"/>
              </a:rPr>
              <a:t>+</a:t>
            </a:r>
          </a:p>
        </p:txBody>
      </p:sp>
      <p:cxnSp>
        <p:nvCxnSpPr>
          <p:cNvPr id="109" name="Divider"/>
          <p:cNvCxnSpPr/>
          <p:nvPr/>
        </p:nvCxnSpPr>
        <p:spPr>
          <a:xfrm>
            <a:off x="6616700" y="2651760"/>
            <a:ext cx="2668270" cy="0"/>
          </a:xfrm>
          <a:prstGeom prst="line">
            <a:avLst/>
          </a:prstGeom>
          <a:ln w="9525">
            <a:solidFill>
              <a:srgbClr val="E1E3E8"/>
            </a:solidFill>
          </a:ln>
        </p:spPr>
      </p:cxnSp>
      <p:sp>
        <p:nvSpPr>
          <p:cNvPr id="110" name="UX STRATEGY"/>
          <p:cNvSpPr txBox="1"/>
          <p:nvPr/>
        </p:nvSpPr>
        <p:spPr>
          <a:xfrm>
            <a:off x="6616700" y="2880360"/>
            <a:ext cx="2668270" cy="539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lang="en-US" sz="1100" spc="200" dirty="0">
                <a:solidFill>
                  <a:srgbClr val="858A97"/>
                </a:solidFill>
                <a:latin typeface="Helvetica Neue Medium"/>
                <a:cs typeface="Helvetica Neue Medium"/>
              </a:rPr>
              <a:t>UX STRATEGY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Walk-through wizard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Scenario builder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Data visualizer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Import data sets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Channel and product allocation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Optimization budget tool</a:t>
            </a:r>
          </a:p>
        </p:txBody>
      </p:sp>
      <p:sp>
        <p:nvSpPr>
          <p:cNvPr id="111" name="op"/>
          <p:cNvSpPr txBox="1"/>
          <p:nvPr/>
        </p:nvSpPr>
        <p:spPr>
          <a:xfrm>
            <a:off x="9239250" y="2240280"/>
            <a:ext cx="3200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lang="en-US" sz="2600" spc="0" dirty="0">
                <a:solidFill>
                  <a:srgbClr val="B5531F"/>
                </a:solidFill>
                <a:latin typeface="Helvetica Neue Medium"/>
                <a:cs typeface="Helvetica Neue Medium"/>
              </a:rPr>
              <a:t>=</a:t>
            </a:r>
          </a:p>
        </p:txBody>
      </p:sp>
      <p:cxnSp>
        <p:nvCxnSpPr>
          <p:cNvPr id="112" name="Divider"/>
          <p:cNvCxnSpPr/>
          <p:nvPr/>
        </p:nvCxnSpPr>
        <p:spPr>
          <a:xfrm>
            <a:off x="9513570" y="2651760"/>
            <a:ext cx="2668270" cy="0"/>
          </a:xfrm>
          <a:prstGeom prst="line">
            <a:avLst/>
          </a:prstGeom>
          <a:ln w="28575">
            <a:solidFill>
              <a:srgbClr val="B5531F"/>
            </a:solidFill>
          </a:ln>
        </p:spPr>
      </p:cxnSp>
      <p:sp>
        <p:nvSpPr>
          <p:cNvPr id="113" name="FEATURE SET"/>
          <p:cNvSpPr txBox="1"/>
          <p:nvPr/>
        </p:nvSpPr>
        <p:spPr>
          <a:xfrm>
            <a:off x="9513570" y="2880360"/>
            <a:ext cx="2668270" cy="539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lang="en-US" sz="1100" spc="200" dirty="0">
                <a:solidFill>
                  <a:srgbClr val="858A97"/>
                </a:solidFill>
                <a:latin typeface="Helvetica Neue Medium"/>
                <a:cs typeface="Helvetica Neue Medium"/>
              </a:rPr>
              <a:t>FEATURE SET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14161D"/>
                </a:solidFill>
                <a:latin typeface="Helvetica Neue Light"/>
                <a:cs typeface="Helvetica Neue Light"/>
              </a:rPr>
              <a:t>Walk-through wizard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14161D"/>
                </a:solidFill>
                <a:latin typeface="Helvetica Neue Light"/>
                <a:cs typeface="Helvetica Neue Light"/>
              </a:rPr>
              <a:t>Scenario builder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14161D"/>
                </a:solidFill>
                <a:latin typeface="Helvetica Neue Light"/>
                <a:cs typeface="Helvetica Neue Light"/>
              </a:rPr>
              <a:t>Data visualizer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14161D"/>
                </a:solidFill>
                <a:latin typeface="Helvetica Neue Light"/>
                <a:cs typeface="Helvetica Neue Light"/>
              </a:rPr>
              <a:t>Comparison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14161D"/>
                </a:solidFill>
                <a:latin typeface="Helvetica Neue Light"/>
                <a:cs typeface="Helvetica Neue Light"/>
              </a:rPr>
              <a:t>Import data sets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14161D"/>
                </a:solidFill>
                <a:latin typeface="Helvetica Neue Light"/>
                <a:cs typeface="Helvetica Neue Light"/>
              </a:rPr>
              <a:t>Channel and product allocation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14161D"/>
                </a:solidFill>
                <a:latin typeface="Helvetica Neue Light"/>
                <a:cs typeface="Helvetica Neue Light"/>
              </a:rPr>
              <a:t>Optimization budget tool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14161D"/>
                </a:solidFill>
                <a:latin typeface="Helvetica Neue Light"/>
                <a:cs typeface="Helvetica Neue Light"/>
              </a:rPr>
              <a:t>Integration with internal systems</a:t>
            </a:r>
          </a:p>
        </p:txBody>
      </p:sp>
      <p:pic>
        <p:nvPicPr>
          <p:cNvPr id="114" name="gradient strip" descr="gradient stri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85427"/>
            <a:ext cx="13004800" cy="468173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"/>
          <p:cNvSpPr txBox="1"/>
          <p:nvPr/>
        </p:nvSpPr>
        <p:spPr>
          <a:xfrm>
            <a:off x="822960" y="566928"/>
            <a:ext cx="11358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200" spc="300" dirty="0">
                <a:solidFill>
                  <a:srgbClr val="B5531F"/>
                </a:solidFill>
                <a:latin typeface="Helvetica Neue Medium"/>
                <a:cs typeface="Helvetica Neue Medium"/>
              </a:rPr>
              <a:t>AMEX MOCA · DISCOVERY</a:t>
            </a:r>
          </a:p>
        </p:txBody>
      </p:sp>
      <p:sp>
        <p:nvSpPr>
          <p:cNvPr id="102" name="Title"/>
          <p:cNvSpPr txBox="1"/>
          <p:nvPr/>
        </p:nvSpPr>
        <p:spPr>
          <a:xfrm>
            <a:off x="822960" y="896112"/>
            <a:ext cx="11358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3000" spc="-20" dirty="0">
                <a:solidFill>
                  <a:srgbClr val="14161D"/>
                </a:solidFill>
                <a:latin typeface="Helvetica Neue Medium"/>
                <a:cs typeface="Helvetica Neue Medium"/>
              </a:rPr>
              <a:t>The journey, distilled into 3 steps</a:t>
            </a:r>
          </a:p>
        </p:txBody>
      </p:sp>
      <p:pic>
        <p:nvPicPr>
          <p:cNvPr id="103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468" y="4572000"/>
            <a:ext cx="7629831" cy="3703320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cxnSp>
        <p:nvCxnSpPr>
          <p:cNvPr id="104" name="Divider"/>
          <p:cNvCxnSpPr/>
          <p:nvPr/>
        </p:nvCxnSpPr>
        <p:spPr>
          <a:xfrm>
            <a:off x="822960" y="2057400"/>
            <a:ext cx="3542453" cy="0"/>
          </a:xfrm>
          <a:prstGeom prst="line">
            <a:avLst/>
          </a:prstGeom>
          <a:ln w="28575">
            <a:solidFill>
              <a:srgbClr val="B5531F"/>
            </a:solidFill>
          </a:ln>
        </p:spPr>
      </p:cxnSp>
      <p:sp>
        <p:nvSpPr>
          <p:cNvPr id="105" name="Walk-through wizard"/>
          <p:cNvSpPr txBox="1"/>
          <p:nvPr/>
        </p:nvSpPr>
        <p:spPr>
          <a:xfrm>
            <a:off x="822960" y="2240280"/>
            <a:ext cx="3542453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lang="en-US" sz="2400" spc="0" dirty="0">
                <a:solidFill>
                  <a:srgbClr val="B5531F"/>
                </a:solidFill>
                <a:latin typeface="Helvetica Neue Medium"/>
                <a:cs typeface="Helvetica Neue Medium"/>
              </a:rPr>
              <a:t>1</a:t>
            </a:r>
          </a:p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lang="en-US" sz="1700" spc="0" dirty="0">
                <a:solidFill>
                  <a:srgbClr val="14161D"/>
                </a:solidFill>
                <a:latin typeface="Helvetica Neue Medium"/>
                <a:cs typeface="Helvetica Neue Medium"/>
              </a:rPr>
              <a:t>Walk-through wizard</a:t>
            </a:r>
          </a:p>
          <a:p>
            <a:pPr algn="l">
              <a:lnSpc>
                <a:spcPct val="125000"/>
              </a:lnSpc>
              <a:spcAft>
                <a:spcPts val="250"/>
              </a:spcAft>
            </a:pPr>
            <a:r>
              <a:rPr lang="en-US" sz="15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Guides users through the budget projection: import data, set dates, adjust each allocation by channel and product.</a:t>
            </a:r>
          </a:p>
        </p:txBody>
      </p:sp>
      <p:cxnSp>
        <p:nvCxnSpPr>
          <p:cNvPr id="106" name="Divider"/>
          <p:cNvCxnSpPr/>
          <p:nvPr/>
        </p:nvCxnSpPr>
        <p:spPr>
          <a:xfrm>
            <a:off x="4731173" y="2057400"/>
            <a:ext cx="3542453" cy="0"/>
          </a:xfrm>
          <a:prstGeom prst="line">
            <a:avLst/>
          </a:prstGeom>
          <a:ln w="28575">
            <a:solidFill>
              <a:srgbClr val="B5531F"/>
            </a:solidFill>
          </a:ln>
        </p:spPr>
      </p:cxnSp>
      <p:sp>
        <p:nvSpPr>
          <p:cNvPr id="107" name="Scenario builder"/>
          <p:cNvSpPr txBox="1"/>
          <p:nvPr/>
        </p:nvSpPr>
        <p:spPr>
          <a:xfrm>
            <a:off x="4731173" y="2240280"/>
            <a:ext cx="3542453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lang="en-US" sz="2400" spc="0" dirty="0">
                <a:solidFill>
                  <a:srgbClr val="B5531F"/>
                </a:solidFill>
                <a:latin typeface="Helvetica Neue Medium"/>
                <a:cs typeface="Helvetica Neue Medium"/>
              </a:rPr>
              <a:t>2</a:t>
            </a:r>
          </a:p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lang="en-US" sz="1700" spc="0" dirty="0">
                <a:solidFill>
                  <a:srgbClr val="14161D"/>
                </a:solidFill>
                <a:latin typeface="Helvetica Neue Medium"/>
                <a:cs typeface="Helvetica Neue Medium"/>
              </a:rPr>
              <a:t>Scenario builder</a:t>
            </a:r>
          </a:p>
          <a:p>
            <a:pPr algn="l">
              <a:lnSpc>
                <a:spcPct val="125000"/>
              </a:lnSpc>
              <a:spcAft>
                <a:spcPts val="250"/>
              </a:spcAft>
            </a:pPr>
            <a:r>
              <a:rPr lang="en-US" sz="15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Build separate scenarios, compare them, and optimize a selected budget using the tool’s business intelligence and data.</a:t>
            </a:r>
          </a:p>
        </p:txBody>
      </p:sp>
      <p:cxnSp>
        <p:nvCxnSpPr>
          <p:cNvPr id="108" name="Divider"/>
          <p:cNvCxnSpPr/>
          <p:nvPr/>
        </p:nvCxnSpPr>
        <p:spPr>
          <a:xfrm>
            <a:off x="8639386" y="2057400"/>
            <a:ext cx="3542453" cy="0"/>
          </a:xfrm>
          <a:prstGeom prst="line">
            <a:avLst/>
          </a:prstGeom>
          <a:ln w="28575">
            <a:solidFill>
              <a:srgbClr val="B5531F"/>
            </a:solidFill>
          </a:ln>
        </p:spPr>
      </p:cxnSp>
      <p:sp>
        <p:nvSpPr>
          <p:cNvPr id="109" name="Data visualizer"/>
          <p:cNvSpPr txBox="1"/>
          <p:nvPr/>
        </p:nvSpPr>
        <p:spPr>
          <a:xfrm>
            <a:off x="8639386" y="2240280"/>
            <a:ext cx="3542453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lang="en-US" sz="2400" spc="0" dirty="0">
                <a:solidFill>
                  <a:srgbClr val="B5531F"/>
                </a:solidFill>
                <a:latin typeface="Helvetica Neue Medium"/>
                <a:cs typeface="Helvetica Neue Medium"/>
              </a:rPr>
              <a:t>3</a:t>
            </a:r>
          </a:p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lang="en-US" sz="1700" spc="0" dirty="0">
                <a:solidFill>
                  <a:srgbClr val="14161D"/>
                </a:solidFill>
                <a:latin typeface="Helvetica Neue Medium"/>
                <a:cs typeface="Helvetica Neue Medium"/>
              </a:rPr>
              <a:t>Data visualizer</a:t>
            </a:r>
          </a:p>
          <a:p>
            <a:pPr algn="l">
              <a:lnSpc>
                <a:spcPct val="125000"/>
              </a:lnSpc>
              <a:spcAft>
                <a:spcPts val="250"/>
              </a:spcAft>
            </a:pPr>
            <a:r>
              <a:rPr lang="en-US" sz="15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Visualizations show how each plan breaks down and how the plans compare.</a:t>
            </a:r>
          </a:p>
        </p:txBody>
      </p:sp>
      <p:pic>
        <p:nvPicPr>
          <p:cNvPr id="110" name="gradient strip" descr="gradient stri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85427"/>
            <a:ext cx="13004800" cy="468173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"/>
          <p:cNvSpPr txBox="1"/>
          <p:nvPr/>
        </p:nvSpPr>
        <p:spPr>
          <a:xfrm>
            <a:off x="822960" y="566928"/>
            <a:ext cx="11358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200" spc="300" dirty="0">
                <a:solidFill>
                  <a:srgbClr val="B5531F"/>
                </a:solidFill>
                <a:latin typeface="Helvetica Neue Medium"/>
                <a:cs typeface="Helvetica Neue Medium"/>
              </a:rPr>
              <a:t>AMEX MOCA · DESIGN</a:t>
            </a:r>
          </a:p>
        </p:txBody>
      </p:sp>
      <p:sp>
        <p:nvSpPr>
          <p:cNvPr id="102" name="Title"/>
          <p:cNvSpPr txBox="1"/>
          <p:nvPr/>
        </p:nvSpPr>
        <p:spPr>
          <a:xfrm>
            <a:off x="822960" y="896112"/>
            <a:ext cx="11358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3000" spc="-20" dirty="0">
                <a:solidFill>
                  <a:srgbClr val="14161D"/>
                </a:solidFill>
                <a:latin typeface="Helvetica Neue Medium"/>
                <a:cs typeface="Helvetica Neue Medium"/>
              </a:rPr>
              <a:t>Experience design sprint: start from a past budget</a:t>
            </a:r>
          </a:p>
        </p:txBody>
      </p:sp>
      <p:pic>
        <p:nvPicPr>
          <p:cNvPr id="103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9" y="2643512"/>
            <a:ext cx="7480841" cy="4991728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sp>
        <p:nvSpPr>
          <p:cNvPr id="104" name="Learned"/>
          <p:cNvSpPr txBox="1"/>
          <p:nvPr/>
        </p:nvSpPr>
        <p:spPr>
          <a:xfrm>
            <a:off x="822960" y="2194560"/>
            <a:ext cx="3840480" cy="45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1100" spc="200" dirty="0">
                <a:solidFill>
                  <a:srgbClr val="858A97"/>
                </a:solidFill>
                <a:latin typeface="Helvetica Neue Medium"/>
                <a:cs typeface="Helvetica Neue Medium"/>
              </a:rPr>
              <a:t>WHAT WE LEARNED FROM DISCOVERY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Users wanted to import one budget and keep it as a template for the next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So a new budget can start from an imported one, by duplicating it</a:t>
            </a:r>
          </a:p>
        </p:txBody>
      </p:sp>
      <p:pic>
        <p:nvPicPr>
          <p:cNvPr id="105" name="gradient strip" descr="gradient stri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85427"/>
            <a:ext cx="13004800" cy="468173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"/>
          <p:cNvSpPr txBox="1"/>
          <p:nvPr/>
        </p:nvSpPr>
        <p:spPr>
          <a:xfrm>
            <a:off x="822960" y="566928"/>
            <a:ext cx="11358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200" spc="300" dirty="0">
                <a:solidFill>
                  <a:srgbClr val="B5531F"/>
                </a:solidFill>
                <a:latin typeface="Helvetica Neue Medium"/>
                <a:cs typeface="Helvetica Neue Medium"/>
              </a:rPr>
              <a:t>AMEX MOCA · DESIGN</a:t>
            </a:r>
          </a:p>
        </p:txBody>
      </p:sp>
      <p:sp>
        <p:nvSpPr>
          <p:cNvPr id="102" name="Title"/>
          <p:cNvSpPr txBox="1"/>
          <p:nvPr/>
        </p:nvSpPr>
        <p:spPr>
          <a:xfrm>
            <a:off x="822960" y="896112"/>
            <a:ext cx="11358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3000" spc="-20" dirty="0">
                <a:solidFill>
                  <a:srgbClr val="14161D"/>
                </a:solidFill>
                <a:latin typeface="Helvetica Neue Medium"/>
                <a:cs typeface="Helvetica Neue Medium"/>
              </a:rPr>
              <a:t>Unexpected challenge: the rest of the desktop</a:t>
            </a:r>
          </a:p>
        </p:txBody>
      </p:sp>
      <p:pic>
        <p:nvPicPr>
          <p:cNvPr id="103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0677" y="4945482"/>
            <a:ext cx="3205268" cy="2141118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pic>
        <p:nvPicPr>
          <p:cNvPr id="104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7824" y="2567055"/>
            <a:ext cx="3333775" cy="2226961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pic>
        <p:nvPicPr>
          <p:cNvPr id="105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9601" y="4206770"/>
            <a:ext cx="6136273" cy="4099030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sp>
        <p:nvSpPr>
          <p:cNvPr id="106" name="Learned"/>
          <p:cNvSpPr txBox="1"/>
          <p:nvPr/>
        </p:nvSpPr>
        <p:spPr>
          <a:xfrm>
            <a:off x="822960" y="2194560"/>
            <a:ext cx="3931920" cy="45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1100" spc="200" dirty="0">
                <a:solidFill>
                  <a:srgbClr val="858A97"/>
                </a:solidFill>
                <a:latin typeface="Helvetica Neue Medium"/>
                <a:cs typeface="Helvetica Neue Medium"/>
              </a:rPr>
              <a:t>THE CHALLENGE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As a desktop app, MOCA had to account for the other applications on the desktop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And how it would connect to them through APIs</a:t>
            </a:r>
          </a:p>
        </p:txBody>
      </p:sp>
      <p:pic>
        <p:nvPicPr>
          <p:cNvPr id="107" name="gradient strip" descr="gradient stri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285427"/>
            <a:ext cx="13004800" cy="468173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"/>
          <p:cNvSpPr txBox="1"/>
          <p:nvPr/>
        </p:nvSpPr>
        <p:spPr>
          <a:xfrm>
            <a:off x="822960" y="914400"/>
            <a:ext cx="113588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200" spc="300" dirty="0">
                <a:solidFill>
                  <a:srgbClr val="B5531F"/>
                </a:solidFill>
                <a:latin typeface="Helvetica Neue Medium"/>
                <a:cs typeface="Helvetica Neue Medium"/>
              </a:rPr>
              <a:t>AMEX MOCA · DESIGN</a:t>
            </a:r>
          </a:p>
        </p:txBody>
      </p:sp>
      <p:sp>
        <p:nvSpPr>
          <p:cNvPr id="102" name="Headline"/>
          <p:cNvSpPr txBox="1"/>
          <p:nvPr/>
        </p:nvSpPr>
        <p:spPr>
          <a:xfrm>
            <a:off x="822960" y="1371600"/>
            <a:ext cx="1135888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lang="en-US" sz="4000" spc="-40" dirty="0">
                <a:solidFill>
                  <a:srgbClr val="14161D"/>
                </a:solidFill>
                <a:latin typeface="Helvetica Neue Medium"/>
                <a:cs typeface="Helvetica Neue Medium"/>
              </a:rPr>
              <a:t>Partners want to compare budget scenarios, </a:t>
            </a:r>
            <a:r>
              <a:rPr lang="en-US" sz="4000" spc="-40" dirty="0">
                <a:solidFill>
                  <a:srgbClr val="B5531F"/>
                </a:solidFill>
                <a:latin typeface="Helvetica Neue Medium"/>
                <a:cs typeface="Helvetica Neue Medium"/>
              </a:rPr>
              <a:t>down to each channel and product</a:t>
            </a:r>
            <a:r>
              <a:rPr lang="en-US" sz="4000" spc="-40" dirty="0">
                <a:solidFill>
                  <a:srgbClr val="14161D"/>
                </a:solidFill>
                <a:latin typeface="Helvetica Neue Medium"/>
                <a:cs typeface="Helvetica Neue Medium"/>
              </a:rPr>
              <a:t>.</a:t>
            </a:r>
          </a:p>
        </p:txBody>
      </p:sp>
      <p:sp>
        <p:nvSpPr>
          <p:cNvPr id="103" name="Body"/>
          <p:cNvSpPr txBox="1"/>
          <p:nvPr/>
        </p:nvSpPr>
        <p:spPr>
          <a:xfrm>
            <a:off x="822960" y="4023360"/>
            <a:ext cx="960120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Users want to see, through data visualizations, how scenarios differ. For a deeper understanding of their allocations, they want to adjust each channel and the products inside it.</a:t>
            </a:r>
          </a:p>
        </p:txBody>
      </p:sp>
      <p:pic>
        <p:nvPicPr>
          <p:cNvPr id="104" name="gradient strip" descr="gradient stri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85427"/>
            <a:ext cx="13004800" cy="468173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"/>
          <p:cNvSpPr txBox="1"/>
          <p:nvPr/>
        </p:nvSpPr>
        <p:spPr>
          <a:xfrm>
            <a:off x="822960" y="566928"/>
            <a:ext cx="11358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200" spc="300" dirty="0">
                <a:solidFill>
                  <a:srgbClr val="B5531F"/>
                </a:solidFill>
                <a:latin typeface="Helvetica Neue Medium"/>
                <a:cs typeface="Helvetica Neue Medium"/>
              </a:rPr>
              <a:t>AMEX MOCA · DESIGN</a:t>
            </a:r>
          </a:p>
        </p:txBody>
      </p:sp>
      <p:sp>
        <p:nvSpPr>
          <p:cNvPr id="102" name="Title"/>
          <p:cNvSpPr txBox="1"/>
          <p:nvPr/>
        </p:nvSpPr>
        <p:spPr>
          <a:xfrm>
            <a:off x="822960" y="896112"/>
            <a:ext cx="11358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3000" spc="-20" dirty="0">
                <a:solidFill>
                  <a:srgbClr val="14161D"/>
                </a:solidFill>
                <a:latin typeface="Helvetica Neue Medium"/>
                <a:cs typeface="Helvetica Neue Medium"/>
              </a:rPr>
              <a:t>Wizard design sprint</a:t>
            </a:r>
          </a:p>
        </p:txBody>
      </p:sp>
      <p:sp>
        <p:nvSpPr>
          <p:cNvPr id="103" name="Subtitle"/>
          <p:cNvSpPr txBox="1"/>
          <p:nvPr/>
        </p:nvSpPr>
        <p:spPr>
          <a:xfrm>
            <a:off x="822960" y="1481328"/>
            <a:ext cx="113588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A short, efficient wizard for budget details and time frame.</a:t>
            </a:r>
          </a:p>
        </p:txBody>
      </p:sp>
      <p:pic>
        <p:nvPicPr>
          <p:cNvPr id="104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874" y="5458161"/>
            <a:ext cx="4322902" cy="2616797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pic>
        <p:nvPicPr>
          <p:cNvPr id="105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6026" y="5458160"/>
            <a:ext cx="4202564" cy="2616797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sp>
        <p:nvSpPr>
          <p:cNvPr id="106" name="Learned"/>
          <p:cNvSpPr txBox="1"/>
          <p:nvPr/>
        </p:nvSpPr>
        <p:spPr>
          <a:xfrm>
            <a:off x="822960" y="2194560"/>
            <a:ext cx="3749039" cy="45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1100" spc="200" dirty="0">
                <a:solidFill>
                  <a:srgbClr val="858A97"/>
                </a:solidFill>
                <a:latin typeface="Helvetica Neue Medium"/>
                <a:cs typeface="Helvetica Neue Medium"/>
              </a:rPr>
              <a:t>WHAT WE LEARNED FROM RESEARCH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Partners use the tool only once every 6–12 months, so many needed more structured guidance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First-time users wanted a friction-free way to start</a:t>
            </a:r>
          </a:p>
        </p:txBody>
      </p:sp>
      <p:pic>
        <p:nvPicPr>
          <p:cNvPr id="107" name="gradient strip" descr="gradient stri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285427"/>
            <a:ext cx="13004800" cy="468173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"/>
          <p:cNvSpPr txBox="1"/>
          <p:nvPr/>
        </p:nvSpPr>
        <p:spPr>
          <a:xfrm>
            <a:off x="822960" y="566928"/>
            <a:ext cx="11358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200" spc="300" dirty="0">
                <a:solidFill>
                  <a:srgbClr val="B5531F"/>
                </a:solidFill>
                <a:latin typeface="Helvetica Neue Medium"/>
                <a:cs typeface="Helvetica Neue Medium"/>
              </a:rPr>
              <a:t>AMEX MOCA · DESIGN</a:t>
            </a:r>
          </a:p>
        </p:txBody>
      </p:sp>
      <p:sp>
        <p:nvSpPr>
          <p:cNvPr id="102" name="Title"/>
          <p:cNvSpPr txBox="1"/>
          <p:nvPr/>
        </p:nvSpPr>
        <p:spPr>
          <a:xfrm>
            <a:off x="822960" y="896112"/>
            <a:ext cx="11358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3000" spc="-20" dirty="0">
                <a:solidFill>
                  <a:srgbClr val="14161D"/>
                </a:solidFill>
                <a:latin typeface="Helvetica Neue Medium"/>
                <a:cs typeface="Helvetica Neue Medium"/>
              </a:rPr>
              <a:t>Scenario comparison design sprint</a:t>
            </a:r>
          </a:p>
        </p:txBody>
      </p:sp>
      <p:sp>
        <p:nvSpPr>
          <p:cNvPr id="103" name="Subtitle"/>
          <p:cNvSpPr txBox="1"/>
          <p:nvPr/>
        </p:nvSpPr>
        <p:spPr>
          <a:xfrm>
            <a:off x="822960" y="1481328"/>
            <a:ext cx="113588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Testers called the channel breakdown vital, and a game changer.</a:t>
            </a:r>
          </a:p>
        </p:txBody>
      </p:sp>
      <p:pic>
        <p:nvPicPr>
          <p:cNvPr id="104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606" y="2103120"/>
            <a:ext cx="10478234" cy="6789896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pic>
        <p:nvPicPr>
          <p:cNvPr id="105" name="gradient strip" descr="gradient stri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85427"/>
            <a:ext cx="13004800" cy="468173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"/>
          <p:cNvSpPr txBox="1"/>
          <p:nvPr/>
        </p:nvSpPr>
        <p:spPr>
          <a:xfrm>
            <a:off x="822960" y="566928"/>
            <a:ext cx="11358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200" spc="300" dirty="0">
                <a:solidFill>
                  <a:srgbClr val="B5531F"/>
                </a:solidFill>
                <a:latin typeface="Helvetica Neue Medium"/>
                <a:cs typeface="Helvetica Neue Medium"/>
              </a:rPr>
              <a:t>AMEX MOCA · DELIVERY</a:t>
            </a:r>
          </a:p>
        </p:txBody>
      </p:sp>
      <p:sp>
        <p:nvSpPr>
          <p:cNvPr id="102" name="Title"/>
          <p:cNvSpPr txBox="1"/>
          <p:nvPr/>
        </p:nvSpPr>
        <p:spPr>
          <a:xfrm>
            <a:off x="822960" y="896112"/>
            <a:ext cx="11358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3000" spc="-20" dirty="0">
                <a:solidFill>
                  <a:srgbClr val="14161D"/>
                </a:solidFill>
                <a:latin typeface="Helvetica Neue Medium"/>
                <a:cs typeface="Helvetica Neue Medium"/>
              </a:rPr>
              <a:t>One client budget, end to end</a:t>
            </a:r>
          </a:p>
        </p:txBody>
      </p:sp>
      <p:sp>
        <p:nvSpPr>
          <p:cNvPr id="103" name="Subtitle"/>
          <p:cNvSpPr txBox="1"/>
          <p:nvPr/>
        </p:nvSpPr>
        <p:spPr>
          <a:xfrm>
            <a:off x="822960" y="1481328"/>
            <a:ext cx="113588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Import, the three-step wizard, the ROI projection, then scenarios, the optimizer and the comparison.</a:t>
            </a:r>
          </a:p>
        </p:txBody>
      </p:sp>
      <p:pic>
        <p:nvPicPr>
          <p:cNvPr id="104" name="Hi-fi screen"/>
          <p:cNvPicPr>
            <a:picLocks noChangeAspect="1"/>
          </p:cNvPicPr>
          <p:nvPr/>
        </p:nvPicPr>
        <p:blipFill>
          <a:blip r:embed="rId2"/>
          <a:srcRect b="18921"/>
          <a:stretch>
            <a:fillRect/>
          </a:stretch>
        </p:blipFill>
        <p:spPr>
          <a:xfrm>
            <a:off x="822960" y="2240280"/>
            <a:ext cx="2140102" cy="1337563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sp>
        <p:nvSpPr>
          <p:cNvPr id="105" name="Cap 1"/>
          <p:cNvSpPr txBox="1"/>
          <p:nvPr/>
        </p:nvSpPr>
        <p:spPr>
          <a:xfrm>
            <a:off x="822960" y="3632708"/>
            <a:ext cx="214010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050" spc="0" dirty="0">
                <a:solidFill>
                  <a:srgbClr val="B5531F"/>
                </a:solidFill>
                <a:latin typeface="Helvetica Neue Medium"/>
                <a:cs typeface="Helvetica Neue Medium"/>
              </a:rPr>
              <a:t>01  </a:t>
            </a:r>
            <a:r>
              <a:rPr lang="en-US" sz="1050" spc="0" dirty="0">
                <a:solidFill>
                  <a:srgbClr val="14161D"/>
                </a:solidFill>
                <a:latin typeface="Helvetica Neue Medium"/>
                <a:cs typeface="Helvetica Neue Medium"/>
              </a:rPr>
              <a:t>Import the budget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950" spc="0" dirty="0">
                <a:solidFill>
                  <a:srgbClr val="858A97"/>
                </a:solidFill>
                <a:latin typeface="Helvetica Neue Light"/>
                <a:cs typeface="Helvetica Neue Light"/>
              </a:rPr>
              <a:t>Wizard · step 1</a:t>
            </a:r>
          </a:p>
        </p:txBody>
      </p:sp>
      <p:pic>
        <p:nvPicPr>
          <p:cNvPr id="106" name="Hi-fi screen"/>
          <p:cNvPicPr>
            <a:picLocks noChangeAspect="1"/>
          </p:cNvPicPr>
          <p:nvPr/>
        </p:nvPicPr>
        <p:blipFill>
          <a:blip r:embed="rId3"/>
          <a:srcRect b="18921"/>
          <a:stretch>
            <a:fillRect/>
          </a:stretch>
        </p:blipFill>
        <p:spPr>
          <a:xfrm>
            <a:off x="3127654" y="2240280"/>
            <a:ext cx="2140102" cy="1337563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sp>
        <p:nvSpPr>
          <p:cNvPr id="107" name="Cap 2"/>
          <p:cNvSpPr txBox="1"/>
          <p:nvPr/>
        </p:nvSpPr>
        <p:spPr>
          <a:xfrm>
            <a:off x="3127654" y="3632708"/>
            <a:ext cx="214010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050" spc="0" dirty="0">
                <a:solidFill>
                  <a:srgbClr val="B5531F"/>
                </a:solidFill>
                <a:latin typeface="Helvetica Neue Medium"/>
                <a:cs typeface="Helvetica Neue Medium"/>
              </a:rPr>
              <a:t>02  </a:t>
            </a:r>
            <a:r>
              <a:rPr lang="en-US" sz="1050" spc="0" dirty="0">
                <a:solidFill>
                  <a:srgbClr val="14161D"/>
                </a:solidFill>
                <a:latin typeface="Helvetica Neue Medium"/>
                <a:cs typeface="Helvetica Neue Medium"/>
              </a:rPr>
              <a:t>File imported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950" spc="0" dirty="0">
                <a:solidFill>
                  <a:srgbClr val="858A97"/>
                </a:solidFill>
                <a:latin typeface="Helvetica Neue Light"/>
                <a:cs typeface="Helvetica Neue Light"/>
              </a:rPr>
              <a:t>Wizard · step 1</a:t>
            </a:r>
          </a:p>
        </p:txBody>
      </p:sp>
      <p:pic>
        <p:nvPicPr>
          <p:cNvPr id="108" name="Hi-fi screen"/>
          <p:cNvPicPr>
            <a:picLocks noChangeAspect="1"/>
          </p:cNvPicPr>
          <p:nvPr/>
        </p:nvPicPr>
        <p:blipFill>
          <a:blip r:embed="rId4"/>
          <a:srcRect b="18921"/>
          <a:stretch>
            <a:fillRect/>
          </a:stretch>
        </p:blipFill>
        <p:spPr>
          <a:xfrm>
            <a:off x="5432348" y="2240280"/>
            <a:ext cx="2140102" cy="1337563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sp>
        <p:nvSpPr>
          <p:cNvPr id="109" name="Cap 3"/>
          <p:cNvSpPr txBox="1"/>
          <p:nvPr/>
        </p:nvSpPr>
        <p:spPr>
          <a:xfrm>
            <a:off x="5432348" y="3632708"/>
            <a:ext cx="214010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050" spc="0" dirty="0">
                <a:solidFill>
                  <a:srgbClr val="B5531F"/>
                </a:solidFill>
                <a:latin typeface="Helvetica Neue Medium"/>
                <a:cs typeface="Helvetica Neue Medium"/>
              </a:rPr>
              <a:t>03  </a:t>
            </a:r>
            <a:r>
              <a:rPr lang="en-US" sz="1050" spc="0" dirty="0">
                <a:solidFill>
                  <a:srgbClr val="14161D"/>
                </a:solidFill>
                <a:latin typeface="Helvetica Neue Medium"/>
                <a:cs typeface="Helvetica Neue Medium"/>
              </a:rPr>
              <a:t>Time period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950" spc="0" dirty="0">
                <a:solidFill>
                  <a:srgbClr val="858A97"/>
                </a:solidFill>
                <a:latin typeface="Helvetica Neue Light"/>
                <a:cs typeface="Helvetica Neue Light"/>
              </a:rPr>
              <a:t>Wizard · step 2</a:t>
            </a:r>
          </a:p>
        </p:txBody>
      </p:sp>
      <p:pic>
        <p:nvPicPr>
          <p:cNvPr id="110" name="Hi-fi screen"/>
          <p:cNvPicPr>
            <a:picLocks noChangeAspect="1"/>
          </p:cNvPicPr>
          <p:nvPr/>
        </p:nvPicPr>
        <p:blipFill>
          <a:blip r:embed="rId5"/>
          <a:srcRect b="18921"/>
          <a:stretch>
            <a:fillRect/>
          </a:stretch>
        </p:blipFill>
        <p:spPr>
          <a:xfrm>
            <a:off x="7737043" y="2240280"/>
            <a:ext cx="2140102" cy="1337563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sp>
        <p:nvSpPr>
          <p:cNvPr id="111" name="Cap 4"/>
          <p:cNvSpPr txBox="1"/>
          <p:nvPr/>
        </p:nvSpPr>
        <p:spPr>
          <a:xfrm>
            <a:off x="7737043" y="3632708"/>
            <a:ext cx="214010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050" spc="0" dirty="0">
                <a:solidFill>
                  <a:srgbClr val="B5531F"/>
                </a:solidFill>
                <a:latin typeface="Helvetica Neue Medium"/>
                <a:cs typeface="Helvetica Neue Medium"/>
              </a:rPr>
              <a:t>04  </a:t>
            </a:r>
            <a:r>
              <a:rPr lang="en-US" sz="1050" spc="0" dirty="0">
                <a:solidFill>
                  <a:srgbClr val="14161D"/>
                </a:solidFill>
                <a:latin typeface="Helvetica Neue Medium"/>
                <a:cs typeface="Helvetica Neue Medium"/>
              </a:rPr>
              <a:t>Dates set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950" spc="0" dirty="0">
                <a:solidFill>
                  <a:srgbClr val="858A97"/>
                </a:solidFill>
                <a:latin typeface="Helvetica Neue Light"/>
                <a:cs typeface="Helvetica Neue Light"/>
              </a:rPr>
              <a:t>Wizard · step 2</a:t>
            </a:r>
          </a:p>
        </p:txBody>
      </p:sp>
      <p:pic>
        <p:nvPicPr>
          <p:cNvPr id="112" name="Hi-fi screen"/>
          <p:cNvPicPr>
            <a:picLocks noChangeAspect="1"/>
          </p:cNvPicPr>
          <p:nvPr/>
        </p:nvPicPr>
        <p:blipFill>
          <a:blip r:embed="rId6"/>
          <a:srcRect b="18921"/>
          <a:stretch>
            <a:fillRect/>
          </a:stretch>
        </p:blipFill>
        <p:spPr>
          <a:xfrm>
            <a:off x="10041737" y="2240280"/>
            <a:ext cx="2140102" cy="1337563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sp>
        <p:nvSpPr>
          <p:cNvPr id="113" name="Cap 5"/>
          <p:cNvSpPr txBox="1"/>
          <p:nvPr/>
        </p:nvSpPr>
        <p:spPr>
          <a:xfrm>
            <a:off x="10041737" y="3632708"/>
            <a:ext cx="214010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050" spc="0" dirty="0">
                <a:solidFill>
                  <a:srgbClr val="B5531F"/>
                </a:solidFill>
                <a:latin typeface="Helvetica Neue Medium"/>
                <a:cs typeface="Helvetica Neue Medium"/>
              </a:rPr>
              <a:t>05  </a:t>
            </a:r>
            <a:r>
              <a:rPr lang="en-US" sz="1050" spc="0" dirty="0">
                <a:solidFill>
                  <a:srgbClr val="14161D"/>
                </a:solidFill>
                <a:latin typeface="Helvetica Neue Medium"/>
                <a:cs typeface="Helvetica Neue Medium"/>
              </a:rPr>
              <a:t>Allocations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950" spc="0" dirty="0">
                <a:solidFill>
                  <a:srgbClr val="858A97"/>
                </a:solidFill>
                <a:latin typeface="Helvetica Neue Light"/>
                <a:cs typeface="Helvetica Neue Light"/>
              </a:rPr>
              <a:t>Wizard · step 3</a:t>
            </a:r>
          </a:p>
        </p:txBody>
      </p:sp>
      <p:pic>
        <p:nvPicPr>
          <p:cNvPr id="114" name="Hi-fi screen"/>
          <p:cNvPicPr>
            <a:picLocks noChangeAspect="1"/>
          </p:cNvPicPr>
          <p:nvPr/>
        </p:nvPicPr>
        <p:blipFill>
          <a:blip r:embed="rId7"/>
          <a:srcRect b="18921"/>
          <a:stretch>
            <a:fillRect/>
          </a:stretch>
        </p:blipFill>
        <p:spPr>
          <a:xfrm>
            <a:off x="822960" y="4144772"/>
            <a:ext cx="2140102" cy="1337563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sp>
        <p:nvSpPr>
          <p:cNvPr id="115" name="Cap 6"/>
          <p:cNvSpPr txBox="1"/>
          <p:nvPr/>
        </p:nvSpPr>
        <p:spPr>
          <a:xfrm>
            <a:off x="822960" y="5537200"/>
            <a:ext cx="214010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050" spc="0" dirty="0">
                <a:solidFill>
                  <a:srgbClr val="B5531F"/>
                </a:solidFill>
                <a:latin typeface="Helvetica Neue Medium"/>
                <a:cs typeface="Helvetica Neue Medium"/>
              </a:rPr>
              <a:t>06  </a:t>
            </a:r>
            <a:r>
              <a:rPr lang="en-US" sz="1050" spc="0" dirty="0">
                <a:solidFill>
                  <a:srgbClr val="14161D"/>
                </a:solidFill>
                <a:latin typeface="Helvetica Neue Medium"/>
                <a:cs typeface="Helvetica Neue Medium"/>
              </a:rPr>
              <a:t>Shift and watch the gauge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950" spc="0" dirty="0">
                <a:solidFill>
                  <a:srgbClr val="858A97"/>
                </a:solidFill>
                <a:latin typeface="Helvetica Neue Light"/>
                <a:cs typeface="Helvetica Neue Light"/>
              </a:rPr>
              <a:t>Wizard · step 3</a:t>
            </a:r>
          </a:p>
        </p:txBody>
      </p:sp>
      <p:pic>
        <p:nvPicPr>
          <p:cNvPr id="116" name="Hi-fi screen"/>
          <p:cNvPicPr>
            <a:picLocks noChangeAspect="1"/>
          </p:cNvPicPr>
          <p:nvPr/>
        </p:nvPicPr>
        <p:blipFill>
          <a:blip r:embed="rId8"/>
          <a:srcRect b="18921"/>
          <a:stretch>
            <a:fillRect/>
          </a:stretch>
        </p:blipFill>
        <p:spPr>
          <a:xfrm>
            <a:off x="3127654" y="4144772"/>
            <a:ext cx="2140102" cy="1337563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sp>
        <p:nvSpPr>
          <p:cNvPr id="117" name="Cap 7"/>
          <p:cNvSpPr txBox="1"/>
          <p:nvPr/>
        </p:nvSpPr>
        <p:spPr>
          <a:xfrm>
            <a:off x="3127654" y="5537200"/>
            <a:ext cx="214010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050" spc="0" dirty="0">
                <a:solidFill>
                  <a:srgbClr val="B5531F"/>
                </a:solidFill>
                <a:latin typeface="Helvetica Neue Medium"/>
                <a:cs typeface="Helvetica Neue Medium"/>
              </a:rPr>
              <a:t>07  </a:t>
            </a:r>
            <a:r>
              <a:rPr lang="en-US" sz="1050" spc="0" dirty="0">
                <a:solidFill>
                  <a:srgbClr val="14161D"/>
                </a:solidFill>
                <a:latin typeface="Helvetica Neue Medium"/>
                <a:cs typeface="Helvetica Neue Medium"/>
              </a:rPr>
              <a:t>ROI projection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950" spc="0" dirty="0">
                <a:solidFill>
                  <a:srgbClr val="858A97"/>
                </a:solidFill>
                <a:latin typeface="Helvetica Neue Light"/>
                <a:cs typeface="Helvetica Neue Light"/>
              </a:rPr>
              <a:t>Results</a:t>
            </a:r>
          </a:p>
        </p:txBody>
      </p:sp>
      <p:pic>
        <p:nvPicPr>
          <p:cNvPr id="118" name="Hi-fi screen"/>
          <p:cNvPicPr>
            <a:picLocks noChangeAspect="1"/>
          </p:cNvPicPr>
          <p:nvPr/>
        </p:nvPicPr>
        <p:blipFill>
          <a:blip r:embed="rId9"/>
          <a:srcRect b="18921"/>
          <a:stretch>
            <a:fillRect/>
          </a:stretch>
        </p:blipFill>
        <p:spPr>
          <a:xfrm>
            <a:off x="5432348" y="4144772"/>
            <a:ext cx="2140102" cy="1337563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sp>
        <p:nvSpPr>
          <p:cNvPr id="119" name="Cap 8"/>
          <p:cNvSpPr txBox="1"/>
          <p:nvPr/>
        </p:nvSpPr>
        <p:spPr>
          <a:xfrm>
            <a:off x="5432348" y="5537200"/>
            <a:ext cx="214010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050" spc="0" dirty="0">
                <a:solidFill>
                  <a:srgbClr val="B5531F"/>
                </a:solidFill>
                <a:latin typeface="Helvetica Neue Medium"/>
                <a:cs typeface="Helvetica Neue Medium"/>
              </a:rPr>
              <a:t>08  </a:t>
            </a:r>
            <a:r>
              <a:rPr lang="en-US" sz="1050" spc="0" dirty="0">
                <a:solidFill>
                  <a:srgbClr val="14161D"/>
                </a:solidFill>
                <a:latin typeface="Helvetica Neue Medium"/>
                <a:cs typeface="Helvetica Neue Medium"/>
              </a:rPr>
              <a:t>Scenario workspace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950" spc="0" dirty="0">
                <a:solidFill>
                  <a:srgbClr val="858A97"/>
                </a:solidFill>
                <a:latin typeface="Helvetica Neue Light"/>
                <a:cs typeface="Helvetica Neue Light"/>
              </a:rPr>
              <a:t>Scenarios</a:t>
            </a:r>
          </a:p>
        </p:txBody>
      </p:sp>
      <p:pic>
        <p:nvPicPr>
          <p:cNvPr id="120" name="Hi-fi screen"/>
          <p:cNvPicPr>
            <a:picLocks noChangeAspect="1"/>
          </p:cNvPicPr>
          <p:nvPr/>
        </p:nvPicPr>
        <p:blipFill>
          <a:blip r:embed="rId10"/>
          <a:srcRect b="18921"/>
          <a:stretch>
            <a:fillRect/>
          </a:stretch>
        </p:blipFill>
        <p:spPr>
          <a:xfrm>
            <a:off x="7737043" y="4144772"/>
            <a:ext cx="2140102" cy="1337563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sp>
        <p:nvSpPr>
          <p:cNvPr id="121" name="Cap 9"/>
          <p:cNvSpPr txBox="1"/>
          <p:nvPr/>
        </p:nvSpPr>
        <p:spPr>
          <a:xfrm>
            <a:off x="7737043" y="5537200"/>
            <a:ext cx="214010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050" spc="0" dirty="0">
                <a:solidFill>
                  <a:srgbClr val="B5531F"/>
                </a:solidFill>
                <a:latin typeface="Helvetica Neue Medium"/>
                <a:cs typeface="Helvetica Neue Medium"/>
              </a:rPr>
              <a:t>09  </a:t>
            </a:r>
            <a:r>
              <a:rPr lang="en-US" sz="1050" spc="0" dirty="0">
                <a:solidFill>
                  <a:srgbClr val="14161D"/>
                </a:solidFill>
                <a:latin typeface="Helvetica Neue Medium"/>
                <a:cs typeface="Helvetica Neue Medium"/>
              </a:rPr>
              <a:t>Second scenario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950" spc="0" dirty="0">
                <a:solidFill>
                  <a:srgbClr val="858A97"/>
                </a:solidFill>
                <a:latin typeface="Helvetica Neue Light"/>
                <a:cs typeface="Helvetica Neue Light"/>
              </a:rPr>
              <a:t>Scenarios</a:t>
            </a:r>
          </a:p>
        </p:txBody>
      </p:sp>
      <p:pic>
        <p:nvPicPr>
          <p:cNvPr id="122" name="Hi-fi screen"/>
          <p:cNvPicPr>
            <a:picLocks noChangeAspect="1"/>
          </p:cNvPicPr>
          <p:nvPr/>
        </p:nvPicPr>
        <p:blipFill>
          <a:blip r:embed="rId11"/>
          <a:srcRect b="18921"/>
          <a:stretch>
            <a:fillRect/>
          </a:stretch>
        </p:blipFill>
        <p:spPr>
          <a:xfrm>
            <a:off x="10041737" y="4144772"/>
            <a:ext cx="2140102" cy="1337563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sp>
        <p:nvSpPr>
          <p:cNvPr id="123" name="Cap 10"/>
          <p:cNvSpPr txBox="1"/>
          <p:nvPr/>
        </p:nvSpPr>
        <p:spPr>
          <a:xfrm>
            <a:off x="10041737" y="5537200"/>
            <a:ext cx="214010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050" spc="0" dirty="0">
                <a:solidFill>
                  <a:srgbClr val="B5531F"/>
                </a:solidFill>
                <a:latin typeface="Helvetica Neue Medium"/>
                <a:cs typeface="Helvetica Neue Medium"/>
              </a:rPr>
              <a:t>10  </a:t>
            </a:r>
            <a:r>
              <a:rPr lang="en-US" sz="1050" spc="0" dirty="0">
                <a:solidFill>
                  <a:srgbClr val="14161D"/>
                </a:solidFill>
                <a:latin typeface="Helvetica Neue Medium"/>
                <a:cs typeface="Helvetica Neue Medium"/>
              </a:rPr>
              <a:t>Optimized, still editable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950" spc="0" dirty="0">
                <a:solidFill>
                  <a:srgbClr val="858A97"/>
                </a:solidFill>
                <a:latin typeface="Helvetica Neue Light"/>
                <a:cs typeface="Helvetica Neue Light"/>
              </a:rPr>
              <a:t>Scenarios</a:t>
            </a:r>
          </a:p>
        </p:txBody>
      </p:sp>
      <p:pic>
        <p:nvPicPr>
          <p:cNvPr id="124" name="Hi-fi screen"/>
          <p:cNvPicPr>
            <a:picLocks noChangeAspect="1"/>
          </p:cNvPicPr>
          <p:nvPr/>
        </p:nvPicPr>
        <p:blipFill>
          <a:blip r:embed="rId12"/>
          <a:srcRect b="18921"/>
          <a:stretch>
            <a:fillRect/>
          </a:stretch>
        </p:blipFill>
        <p:spPr>
          <a:xfrm>
            <a:off x="822960" y="6049264"/>
            <a:ext cx="2140102" cy="1337563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sp>
        <p:nvSpPr>
          <p:cNvPr id="125" name="Cap 11"/>
          <p:cNvSpPr txBox="1"/>
          <p:nvPr/>
        </p:nvSpPr>
        <p:spPr>
          <a:xfrm>
            <a:off x="822960" y="7441692"/>
            <a:ext cx="214010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050" spc="0" dirty="0">
                <a:solidFill>
                  <a:srgbClr val="B5531F"/>
                </a:solidFill>
                <a:latin typeface="Helvetica Neue Medium"/>
                <a:cs typeface="Helvetica Neue Medium"/>
              </a:rPr>
              <a:t>11  </a:t>
            </a:r>
            <a:r>
              <a:rPr lang="en-US" sz="1050" spc="0" dirty="0">
                <a:solidFill>
                  <a:srgbClr val="14161D"/>
                </a:solidFill>
                <a:latin typeface="Helvetica Neue Medium"/>
                <a:cs typeface="Helvetica Neue Medium"/>
              </a:rPr>
              <a:t>Compare all three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950" spc="0" dirty="0">
                <a:solidFill>
                  <a:srgbClr val="858A97"/>
                </a:solidFill>
                <a:latin typeface="Helvetica Neue Light"/>
                <a:cs typeface="Helvetica Neue Light"/>
              </a:rPr>
              <a:t>Comparison</a:t>
            </a:r>
          </a:p>
        </p:txBody>
      </p:sp>
      <p:cxnSp>
        <p:nvCxnSpPr>
          <p:cNvPr id="126" name="Divider"/>
          <p:cNvCxnSpPr/>
          <p:nvPr/>
        </p:nvCxnSpPr>
        <p:spPr>
          <a:xfrm>
            <a:off x="3127654" y="6049264"/>
            <a:ext cx="2140102" cy="0"/>
          </a:xfrm>
          <a:prstGeom prst="line">
            <a:avLst/>
          </a:prstGeom>
          <a:ln w="28575">
            <a:solidFill>
              <a:srgbClr val="B5531F"/>
            </a:solidFill>
          </a:ln>
        </p:spPr>
      </p:cxnSp>
      <p:sp>
        <p:nvSpPr>
          <p:cNvPr id="127" name="Prototype tile">
            <a:hlinkClick r:id="rId13"/>
          </p:cNvPr>
          <p:cNvSpPr txBox="1"/>
          <p:nvPr/>
        </p:nvSpPr>
        <p:spPr>
          <a:xfrm>
            <a:off x="3127654" y="6186424"/>
            <a:ext cx="2140102" cy="13375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100" spc="200" dirty="0">
                <a:solidFill>
                  <a:srgbClr val="B5531F"/>
                </a:solidFill>
                <a:latin typeface="Helvetica Neue Medium"/>
                <a:cs typeface="Helvetica Neue Medium"/>
              </a:rPr>
              <a:t>TRY IT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400" u="sng" spc="0" dirty="0">
                <a:solidFill>
                  <a:srgbClr val="B5531F"/>
                </a:solidFill>
                <a:latin typeface="Helvetica Neue Medium"/>
                <a:cs typeface="Helvetica Neue Medium"/>
              </a:rPr>
              <a:t>Open the prototype →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050" spc="0" dirty="0">
                <a:solidFill>
                  <a:srgbClr val="858A97"/>
                </a:solidFill>
                <a:latin typeface="Helvetica Neue Light"/>
                <a:cs typeface="Helvetica Neue Light"/>
              </a:rPr>
              <a:t>Starts at the import step</a:t>
            </a:r>
          </a:p>
        </p:txBody>
      </p:sp>
      <p:pic>
        <p:nvPicPr>
          <p:cNvPr id="128" name="gradient strip" descr="gradient strip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9285427"/>
            <a:ext cx="13004800" cy="468173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"/>
          <p:cNvSpPr txBox="1"/>
          <p:nvPr/>
        </p:nvSpPr>
        <p:spPr>
          <a:xfrm>
            <a:off x="822960" y="914400"/>
            <a:ext cx="113588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200" spc="300" dirty="0">
                <a:solidFill>
                  <a:srgbClr val="B5531F"/>
                </a:solidFill>
                <a:latin typeface="Helvetica Neue Medium"/>
                <a:cs typeface="Helvetica Neue Medium"/>
              </a:rPr>
              <a:t>AMEX MOCA · KEY CALLS</a:t>
            </a:r>
          </a:p>
        </p:txBody>
      </p:sp>
      <p:sp>
        <p:nvSpPr>
          <p:cNvPr id="102" name="Headline"/>
          <p:cNvSpPr txBox="1"/>
          <p:nvPr/>
        </p:nvSpPr>
        <p:spPr>
          <a:xfrm>
            <a:off x="822960" y="1371600"/>
            <a:ext cx="1135888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lang="en-US" sz="4400" spc="-40" dirty="0">
                <a:solidFill>
                  <a:srgbClr val="14161D"/>
                </a:solidFill>
                <a:latin typeface="Helvetica Neue Medium"/>
                <a:cs typeface="Helvetica Neue Medium"/>
              </a:rPr>
              <a:t>Four calls that shaped </a:t>
            </a:r>
            <a:r>
              <a:rPr lang="en-US" sz="4400" spc="-40" dirty="0">
                <a:solidFill>
                  <a:srgbClr val="B5531F"/>
                </a:solidFill>
                <a:latin typeface="Helvetica Neue Medium"/>
                <a:cs typeface="Helvetica Neue Medium"/>
              </a:rPr>
              <a:t>MOCA</a:t>
            </a:r>
            <a:r>
              <a:rPr lang="en-US" sz="4400" spc="-40" dirty="0">
                <a:solidFill>
                  <a:srgbClr val="14161D"/>
                </a:solidFill>
                <a:latin typeface="Helvetica Neue Medium"/>
                <a:cs typeface="Helvetica Neue Medium"/>
              </a:rPr>
              <a:t>.</a:t>
            </a:r>
          </a:p>
        </p:txBody>
      </p:sp>
      <p:cxnSp>
        <p:nvCxnSpPr>
          <p:cNvPr id="103" name="Divider"/>
          <p:cNvCxnSpPr/>
          <p:nvPr/>
        </p:nvCxnSpPr>
        <p:spPr>
          <a:xfrm>
            <a:off x="822960" y="3566160"/>
            <a:ext cx="5427980" cy="0"/>
          </a:xfrm>
          <a:prstGeom prst="line">
            <a:avLst/>
          </a:prstGeom>
          <a:ln w="9525">
            <a:solidFill>
              <a:srgbClr val="E1E3E8"/>
            </a:solidFill>
          </a:ln>
        </p:spPr>
      </p:cxnSp>
      <p:sp>
        <p:nvSpPr>
          <p:cNvPr id="104" name="A wizard, because use is rare title"/>
          <p:cNvSpPr txBox="1"/>
          <p:nvPr/>
        </p:nvSpPr>
        <p:spPr>
          <a:xfrm>
            <a:off x="822960" y="3767328"/>
            <a:ext cx="54279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2300" spc="0" dirty="0">
                <a:solidFill>
                  <a:srgbClr val="14161D"/>
                </a:solidFill>
                <a:latin typeface="Helvetica Neue Medium"/>
                <a:cs typeface="Helvetica Neue Medium"/>
              </a:rPr>
              <a:t>A wizard, because use is rare</a:t>
            </a:r>
          </a:p>
        </p:txBody>
      </p:sp>
      <p:sp>
        <p:nvSpPr>
          <p:cNvPr id="105" name="A wizard, because use is rare body"/>
          <p:cNvSpPr txBox="1"/>
          <p:nvPr/>
        </p:nvSpPr>
        <p:spPr>
          <a:xfrm>
            <a:off x="822960" y="4343400"/>
            <a:ext cx="5427980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Partners plan once every 6–12 months, so a guided wizard walks them through each parameter.</a:t>
            </a:r>
          </a:p>
        </p:txBody>
      </p:sp>
      <p:cxnSp>
        <p:nvCxnSpPr>
          <p:cNvPr id="106" name="Divider"/>
          <p:cNvCxnSpPr/>
          <p:nvPr/>
        </p:nvCxnSpPr>
        <p:spPr>
          <a:xfrm>
            <a:off x="6753860" y="3566160"/>
            <a:ext cx="5427980" cy="0"/>
          </a:xfrm>
          <a:prstGeom prst="line">
            <a:avLst/>
          </a:prstGeom>
          <a:ln w="9525">
            <a:solidFill>
              <a:srgbClr val="E1E3E8"/>
            </a:solidFill>
          </a:ln>
        </p:spPr>
      </p:cxnSp>
      <p:sp>
        <p:nvSpPr>
          <p:cNvPr id="107" name="Start from last year’s budget title"/>
          <p:cNvSpPr txBox="1"/>
          <p:nvPr/>
        </p:nvSpPr>
        <p:spPr>
          <a:xfrm>
            <a:off x="6753860" y="3767328"/>
            <a:ext cx="54279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2300" spc="0" dirty="0">
                <a:solidFill>
                  <a:srgbClr val="14161D"/>
                </a:solidFill>
                <a:latin typeface="Helvetica Neue Medium"/>
                <a:cs typeface="Helvetica Neue Medium"/>
              </a:rPr>
              <a:t>Start from last year’s budget</a:t>
            </a:r>
          </a:p>
        </p:txBody>
      </p:sp>
      <p:sp>
        <p:nvSpPr>
          <p:cNvPr id="108" name="Start from last year’s budget body"/>
          <p:cNvSpPr txBox="1"/>
          <p:nvPr/>
        </p:nvSpPr>
        <p:spPr>
          <a:xfrm>
            <a:off x="6753860" y="4343400"/>
            <a:ext cx="5427980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Users import a budget and duplicate it as the template for the next one.</a:t>
            </a:r>
          </a:p>
        </p:txBody>
      </p:sp>
      <p:cxnSp>
        <p:nvCxnSpPr>
          <p:cNvPr id="109" name="Divider"/>
          <p:cNvCxnSpPr/>
          <p:nvPr/>
        </p:nvCxnSpPr>
        <p:spPr>
          <a:xfrm>
            <a:off x="822960" y="5806440"/>
            <a:ext cx="5427980" cy="0"/>
          </a:xfrm>
          <a:prstGeom prst="line">
            <a:avLst/>
          </a:prstGeom>
          <a:ln w="9525">
            <a:solidFill>
              <a:srgbClr val="E1E3E8"/>
            </a:solidFill>
          </a:ln>
        </p:spPr>
      </p:cxnSp>
      <p:sp>
        <p:nvSpPr>
          <p:cNvPr id="110" name="Allocate down to channel and product title"/>
          <p:cNvSpPr txBox="1"/>
          <p:nvPr/>
        </p:nvSpPr>
        <p:spPr>
          <a:xfrm>
            <a:off x="822960" y="6007608"/>
            <a:ext cx="54279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2300" spc="0" dirty="0">
                <a:solidFill>
                  <a:srgbClr val="14161D"/>
                </a:solidFill>
                <a:latin typeface="Helvetica Neue Medium"/>
                <a:cs typeface="Helvetica Neue Medium"/>
              </a:rPr>
              <a:t>Allocate down to channel and product</a:t>
            </a:r>
          </a:p>
        </p:txBody>
      </p:sp>
      <p:sp>
        <p:nvSpPr>
          <p:cNvPr id="111" name="Allocate down to channel and product body"/>
          <p:cNvSpPr txBox="1"/>
          <p:nvPr/>
        </p:nvSpPr>
        <p:spPr>
          <a:xfrm>
            <a:off x="822960" y="6583680"/>
            <a:ext cx="5427980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Allocations go down to product line or channel, so partners see which part of the budget works.</a:t>
            </a:r>
          </a:p>
        </p:txBody>
      </p:sp>
      <p:cxnSp>
        <p:nvCxnSpPr>
          <p:cNvPr id="112" name="Divider"/>
          <p:cNvCxnSpPr/>
          <p:nvPr/>
        </p:nvCxnSpPr>
        <p:spPr>
          <a:xfrm>
            <a:off x="6753860" y="5806440"/>
            <a:ext cx="5427980" cy="0"/>
          </a:xfrm>
          <a:prstGeom prst="line">
            <a:avLst/>
          </a:prstGeom>
          <a:ln w="9525">
            <a:solidFill>
              <a:srgbClr val="E1E3E8"/>
            </a:solidFill>
          </a:ln>
        </p:spPr>
      </p:cxnSp>
      <p:sp>
        <p:nvSpPr>
          <p:cNvPr id="113" name="Compare scenarios side by side title"/>
          <p:cNvSpPr txBox="1"/>
          <p:nvPr/>
        </p:nvSpPr>
        <p:spPr>
          <a:xfrm>
            <a:off x="6753860" y="6007608"/>
            <a:ext cx="54279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2300" spc="0" dirty="0">
                <a:solidFill>
                  <a:srgbClr val="14161D"/>
                </a:solidFill>
                <a:latin typeface="Helvetica Neue Medium"/>
                <a:cs typeface="Helvetica Neue Medium"/>
              </a:rPr>
              <a:t>Compare scenarios side by side</a:t>
            </a:r>
          </a:p>
        </p:txBody>
      </p:sp>
      <p:sp>
        <p:nvSpPr>
          <p:cNvPr id="114" name="Compare scenarios side by side body"/>
          <p:cNvSpPr txBox="1"/>
          <p:nvPr/>
        </p:nvSpPr>
        <p:spPr>
          <a:xfrm>
            <a:off x="6753860" y="6583680"/>
            <a:ext cx="5427980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Scenarios are compared visually with switchable chart types; testers called the channel breakdown a game changer.</a:t>
            </a:r>
          </a:p>
        </p:txBody>
      </p:sp>
      <p:pic>
        <p:nvPicPr>
          <p:cNvPr id="115" name="gradient strip" descr="gradient stri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85427"/>
            <a:ext cx="13004800" cy="468173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"/>
          <p:cNvSpPr txBox="1"/>
          <p:nvPr/>
        </p:nvSpPr>
        <p:spPr>
          <a:xfrm>
            <a:off x="822960" y="914400"/>
            <a:ext cx="113588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200" spc="300" dirty="0">
                <a:solidFill>
                  <a:srgbClr val="E98C64"/>
                </a:solidFill>
                <a:latin typeface="Helvetica Neue Medium"/>
                <a:cs typeface="Helvetica Neue Medium"/>
              </a:rPr>
              <a:t>AMEX MOCA · RESULTS</a:t>
            </a:r>
          </a:p>
        </p:txBody>
      </p:sp>
      <p:sp>
        <p:nvSpPr>
          <p:cNvPr id="102" name="Headline"/>
          <p:cNvSpPr txBox="1"/>
          <p:nvPr/>
        </p:nvSpPr>
        <p:spPr>
          <a:xfrm>
            <a:off x="822960" y="1371600"/>
            <a:ext cx="1135888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lang="en-US" sz="4000" spc="-40" dirty="0">
                <a:solidFill>
                  <a:srgbClr val="F5F5F7"/>
                </a:solidFill>
                <a:latin typeface="Helvetica Neue Medium"/>
                <a:cs typeface="Helvetica Neue Medium"/>
              </a:rPr>
              <a:t>Partner approval rose from 58% to </a:t>
            </a:r>
            <a:r>
              <a:rPr lang="en-US" sz="4000" spc="-40" dirty="0">
                <a:solidFill>
                  <a:srgbClr val="E98C64"/>
                </a:solidFill>
                <a:latin typeface="Helvetica Neue Medium"/>
                <a:cs typeface="Helvetica Neue Medium"/>
              </a:rPr>
              <a:t>88%</a:t>
            </a:r>
            <a:r>
              <a:rPr lang="en-US" sz="4000" spc="-40" dirty="0">
                <a:solidFill>
                  <a:srgbClr val="F5F5F7"/>
                </a:solidFill>
                <a:latin typeface="Helvetica Neue Medium"/>
                <a:cs typeface="Helvetica Neue Medium"/>
              </a:rPr>
              <a:t>, and budgets grew.</a:t>
            </a:r>
          </a:p>
        </p:txBody>
      </p:sp>
      <p:sp>
        <p:nvSpPr>
          <p:cNvPr id="3042" name="Tile"/>
          <p:cNvSpPr/>
          <p:nvPr/>
        </p:nvSpPr>
        <p:spPr>
          <a:xfrm>
            <a:off x="822960" y="3063240"/>
            <a:ext cx="4937760" cy="5166360"/>
          </a:xfrm>
          <a:prstGeom prst="roundRect">
            <a:avLst>
              <a:gd name="adj" fmla="val 2592"/>
            </a:avLst>
          </a:prstGeom>
          <a:solidFill>
            <a:srgbClr val="B553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Number"/>
          <p:cNvSpPr txBox="1"/>
          <p:nvPr/>
        </p:nvSpPr>
        <p:spPr>
          <a:xfrm>
            <a:off x="1097280" y="3264408"/>
            <a:ext cx="4389120" cy="1733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8000"/>
              </a:lnSpc>
              <a:spcAft>
                <a:spcPts val="300"/>
              </a:spcAft>
            </a:pPr>
            <a:r>
              <a:rPr lang="en-US" sz="13000" spc="-60" dirty="0">
                <a:solidFill>
                  <a:srgbClr val="FFFFFF"/>
                </a:solidFill>
                <a:latin typeface="Helvetica Neue Medium"/>
                <a:cs typeface="Helvetica Neue Medium"/>
              </a:rPr>
              <a:t>88%</a:t>
            </a:r>
          </a:p>
        </p:txBody>
      </p:sp>
      <p:sp>
        <p:nvSpPr>
          <p:cNvPr id="104" name="Label"/>
          <p:cNvSpPr txBox="1"/>
          <p:nvPr/>
        </p:nvSpPr>
        <p:spPr>
          <a:xfrm>
            <a:off x="1097280" y="5071110"/>
            <a:ext cx="438912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600" spc="0" dirty="0">
                <a:solidFill>
                  <a:srgbClr val="FBE3D8"/>
                </a:solidFill>
                <a:latin typeface="Helvetica Neue Light"/>
                <a:cs typeface="Helvetica Neue Light"/>
              </a:rPr>
              <a:t>approval from internal business partners</a:t>
            </a:r>
          </a:p>
        </p:txBody>
      </p:sp>
      <p:sp>
        <p:nvSpPr>
          <p:cNvPr id="105" name="Bar label"/>
          <p:cNvSpPr txBox="1"/>
          <p:nvPr/>
        </p:nvSpPr>
        <p:spPr>
          <a:xfrm>
            <a:off x="1097280" y="7104888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100" spc="0" dirty="0">
                <a:solidFill>
                  <a:srgbClr val="FBE3D8"/>
                </a:solidFill>
                <a:latin typeface="Helvetica Neue Light"/>
                <a:cs typeface="Helvetica Neue Light"/>
              </a:rPr>
              <a:t>Before MOCA: 58%</a:t>
            </a:r>
          </a:p>
        </p:txBody>
      </p:sp>
      <p:sp>
        <p:nvSpPr>
          <p:cNvPr id="3043" name="Tile"/>
          <p:cNvSpPr/>
          <p:nvPr/>
        </p:nvSpPr>
        <p:spPr>
          <a:xfrm>
            <a:off x="1097280" y="7324344"/>
            <a:ext cx="4389120" cy="146304"/>
          </a:xfrm>
          <a:prstGeom prst="roundRect">
            <a:avLst>
              <a:gd name="adj" fmla="val 37500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4" name="Tile"/>
          <p:cNvSpPr/>
          <p:nvPr/>
        </p:nvSpPr>
        <p:spPr>
          <a:xfrm>
            <a:off x="1097280" y="7324344"/>
            <a:ext cx="2545689" cy="146304"/>
          </a:xfrm>
          <a:prstGeom prst="roundRect">
            <a:avLst>
              <a:gd name="adj" fmla="val 37500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Bar label"/>
          <p:cNvSpPr txBox="1"/>
          <p:nvPr/>
        </p:nvSpPr>
        <p:spPr>
          <a:xfrm>
            <a:off x="1097280" y="7488936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100" spc="0" dirty="0">
                <a:solidFill>
                  <a:srgbClr val="FFFFFF"/>
                </a:solidFill>
                <a:latin typeface="Helvetica Neue Medium"/>
                <a:cs typeface="Helvetica Neue Medium"/>
              </a:rPr>
              <a:t>After: 88%  (+30 pts)</a:t>
            </a:r>
          </a:p>
        </p:txBody>
      </p:sp>
      <p:sp>
        <p:nvSpPr>
          <p:cNvPr id="3045" name="Tile"/>
          <p:cNvSpPr/>
          <p:nvPr/>
        </p:nvSpPr>
        <p:spPr>
          <a:xfrm>
            <a:off x="1097280" y="7708392"/>
            <a:ext cx="4389120" cy="146304"/>
          </a:xfrm>
          <a:prstGeom prst="roundRect">
            <a:avLst>
              <a:gd name="adj" fmla="val 37500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6" name="Tile"/>
          <p:cNvSpPr/>
          <p:nvPr/>
        </p:nvSpPr>
        <p:spPr>
          <a:xfrm>
            <a:off x="1097280" y="7708392"/>
            <a:ext cx="3862425" cy="146304"/>
          </a:xfrm>
          <a:prstGeom prst="roundRect">
            <a:avLst>
              <a:gd name="adj" fmla="val 37500"/>
            </a:avLst>
          </a:prstGeom>
          <a:solidFill>
            <a:srgbClr val="7AC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7" name="Tile"/>
          <p:cNvSpPr/>
          <p:nvPr/>
        </p:nvSpPr>
        <p:spPr>
          <a:xfrm>
            <a:off x="5943600" y="3063240"/>
            <a:ext cx="3026664" cy="2491740"/>
          </a:xfrm>
          <a:prstGeom prst="roundRect">
            <a:avLst>
              <a:gd name="adj" fmla="val 5137"/>
            </a:avLst>
          </a:prstGeom>
          <a:solidFill>
            <a:srgbClr val="262A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Number"/>
          <p:cNvSpPr txBox="1"/>
          <p:nvPr/>
        </p:nvSpPr>
        <p:spPr>
          <a:xfrm>
            <a:off x="6217920" y="3264408"/>
            <a:ext cx="2478024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8000"/>
              </a:lnSpc>
              <a:spcAft>
                <a:spcPts val="300"/>
              </a:spcAft>
            </a:pPr>
            <a:r>
              <a:rPr lang="en-US" sz="6000" spc="-60" dirty="0">
                <a:solidFill>
                  <a:srgbClr val="F5F5F7"/>
                </a:solidFill>
                <a:latin typeface="Helvetica Neue Medium"/>
                <a:cs typeface="Helvetica Neue Medium"/>
              </a:rPr>
              <a:t>$1.8M</a:t>
            </a:r>
          </a:p>
        </p:txBody>
      </p:sp>
      <p:sp>
        <p:nvSpPr>
          <p:cNvPr id="108" name="Label"/>
          <p:cNvSpPr txBox="1"/>
          <p:nvPr/>
        </p:nvSpPr>
        <p:spPr>
          <a:xfrm>
            <a:off x="6217920" y="4137660"/>
            <a:ext cx="247802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450" spc="0" dirty="0">
                <a:solidFill>
                  <a:srgbClr val="A3A8B4"/>
                </a:solidFill>
                <a:latin typeface="Helvetica Neue Light"/>
                <a:cs typeface="Helvetica Neue Light"/>
              </a:rPr>
              <a:t>average client budget</a:t>
            </a:r>
          </a:p>
        </p:txBody>
      </p:sp>
      <p:sp>
        <p:nvSpPr>
          <p:cNvPr id="109" name="Extra"/>
          <p:cNvSpPr txBox="1"/>
          <p:nvPr/>
        </p:nvSpPr>
        <p:spPr>
          <a:xfrm>
            <a:off x="6217920" y="5006340"/>
            <a:ext cx="247802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300" spc="0" dirty="0">
                <a:solidFill>
                  <a:srgbClr val="F5F5F7"/>
                </a:solidFill>
                <a:latin typeface="Helvetica Neue Medium"/>
                <a:cs typeface="Helvetica Neue Medium"/>
              </a:rPr>
              <a:t>Up from $1.34M · +34%</a:t>
            </a:r>
          </a:p>
        </p:txBody>
      </p:sp>
      <p:sp>
        <p:nvSpPr>
          <p:cNvPr id="3048" name="Tile"/>
          <p:cNvSpPr/>
          <p:nvPr/>
        </p:nvSpPr>
        <p:spPr>
          <a:xfrm>
            <a:off x="9153144" y="3063240"/>
            <a:ext cx="3026664" cy="2491740"/>
          </a:xfrm>
          <a:prstGeom prst="roundRect">
            <a:avLst>
              <a:gd name="adj" fmla="val 5137"/>
            </a:avLst>
          </a:prstGeom>
          <a:solidFill>
            <a:srgbClr val="262A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Number"/>
          <p:cNvSpPr txBox="1"/>
          <p:nvPr/>
        </p:nvSpPr>
        <p:spPr>
          <a:xfrm>
            <a:off x="9427464" y="3264408"/>
            <a:ext cx="2478024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8000"/>
              </a:lnSpc>
              <a:spcAft>
                <a:spcPts val="300"/>
              </a:spcAft>
            </a:pPr>
            <a:r>
              <a:rPr lang="en-US" sz="6000" spc="-60" dirty="0">
                <a:solidFill>
                  <a:srgbClr val="F5F5F7"/>
                </a:solidFill>
                <a:latin typeface="Helvetica Neue Medium"/>
                <a:cs typeface="Helvetica Neue Medium"/>
              </a:rPr>
              <a:t>3.4%</a:t>
            </a:r>
          </a:p>
        </p:txBody>
      </p:sp>
      <p:sp>
        <p:nvSpPr>
          <p:cNvPr id="111" name="Label"/>
          <p:cNvSpPr txBox="1"/>
          <p:nvPr/>
        </p:nvSpPr>
        <p:spPr>
          <a:xfrm>
            <a:off x="9427464" y="4137660"/>
            <a:ext cx="247802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450" spc="0" dirty="0">
                <a:solidFill>
                  <a:srgbClr val="A3A8B4"/>
                </a:solidFill>
                <a:latin typeface="Helvetica Neue Light"/>
                <a:cs typeface="Helvetica Neue Light"/>
              </a:rPr>
              <a:t>drop-off on the budget process</a:t>
            </a:r>
          </a:p>
        </p:txBody>
      </p:sp>
      <p:sp>
        <p:nvSpPr>
          <p:cNvPr id="112" name="Extra"/>
          <p:cNvSpPr txBox="1"/>
          <p:nvPr/>
        </p:nvSpPr>
        <p:spPr>
          <a:xfrm>
            <a:off x="9427464" y="5006340"/>
            <a:ext cx="247802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300" spc="0" dirty="0">
                <a:solidFill>
                  <a:srgbClr val="F5F5F7"/>
                </a:solidFill>
                <a:latin typeface="Helvetica Neue Medium"/>
                <a:cs typeface="Helvetica Neue Medium"/>
              </a:rPr>
              <a:t>Down from 5.4%</a:t>
            </a:r>
          </a:p>
        </p:txBody>
      </p:sp>
      <p:sp>
        <p:nvSpPr>
          <p:cNvPr id="3049" name="Tile"/>
          <p:cNvSpPr/>
          <p:nvPr/>
        </p:nvSpPr>
        <p:spPr>
          <a:xfrm>
            <a:off x="5943600" y="5737860"/>
            <a:ext cx="3026664" cy="2491740"/>
          </a:xfrm>
          <a:prstGeom prst="roundRect">
            <a:avLst>
              <a:gd name="adj" fmla="val 5137"/>
            </a:avLst>
          </a:prstGeom>
          <a:solidFill>
            <a:srgbClr val="262A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Number"/>
          <p:cNvSpPr txBox="1"/>
          <p:nvPr/>
        </p:nvSpPr>
        <p:spPr>
          <a:xfrm>
            <a:off x="6217920" y="5939028"/>
            <a:ext cx="2478024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8000"/>
              </a:lnSpc>
              <a:spcAft>
                <a:spcPts val="300"/>
              </a:spcAft>
            </a:pPr>
            <a:r>
              <a:rPr lang="en-US" sz="6000" spc="-60" dirty="0">
                <a:solidFill>
                  <a:srgbClr val="F5F5F7"/>
                </a:solidFill>
                <a:latin typeface="Helvetica Neue Medium"/>
                <a:cs typeface="Helvetica Neue Medium"/>
              </a:rPr>
              <a:t>10 min</a:t>
            </a:r>
          </a:p>
        </p:txBody>
      </p:sp>
      <p:sp>
        <p:nvSpPr>
          <p:cNvPr id="114" name="Label"/>
          <p:cNvSpPr txBox="1"/>
          <p:nvPr/>
        </p:nvSpPr>
        <p:spPr>
          <a:xfrm>
            <a:off x="6217920" y="6812280"/>
            <a:ext cx="247802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450" spc="0" dirty="0">
                <a:solidFill>
                  <a:srgbClr val="A3A8B4"/>
                </a:solidFill>
                <a:latin typeface="Helvetica Neue Light"/>
                <a:cs typeface="Helvetica Neue Light"/>
              </a:rPr>
              <a:t>to complete a budget</a:t>
            </a:r>
          </a:p>
        </p:txBody>
      </p:sp>
      <p:sp>
        <p:nvSpPr>
          <p:cNvPr id="115" name="Extra"/>
          <p:cNvSpPr txBox="1"/>
          <p:nvPr/>
        </p:nvSpPr>
        <p:spPr>
          <a:xfrm>
            <a:off x="6217920" y="7680960"/>
            <a:ext cx="247802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300" spc="0" dirty="0">
                <a:solidFill>
                  <a:srgbClr val="F5F5F7"/>
                </a:solidFill>
                <a:latin typeface="Helvetica Neue Medium"/>
                <a:cs typeface="Helvetica Neue Medium"/>
              </a:rPr>
              <a:t>Down from 12 min</a:t>
            </a:r>
          </a:p>
        </p:txBody>
      </p:sp>
      <p:sp>
        <p:nvSpPr>
          <p:cNvPr id="3050" name="Tile"/>
          <p:cNvSpPr/>
          <p:nvPr/>
        </p:nvSpPr>
        <p:spPr>
          <a:xfrm>
            <a:off x="9153144" y="5737860"/>
            <a:ext cx="3026664" cy="2491740"/>
          </a:xfrm>
          <a:prstGeom prst="roundRect">
            <a:avLst>
              <a:gd name="adj" fmla="val 5137"/>
            </a:avLst>
          </a:prstGeom>
          <a:solidFill>
            <a:srgbClr val="262A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Number"/>
          <p:cNvSpPr txBox="1"/>
          <p:nvPr/>
        </p:nvSpPr>
        <p:spPr>
          <a:xfrm>
            <a:off x="9427464" y="5939028"/>
            <a:ext cx="2478024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8000"/>
              </a:lnSpc>
              <a:spcAft>
                <a:spcPts val="300"/>
              </a:spcAft>
            </a:pPr>
            <a:r>
              <a:rPr lang="en-US" sz="6000" spc="-60" dirty="0">
                <a:solidFill>
                  <a:srgbClr val="F5F5F7"/>
                </a:solidFill>
                <a:latin typeface="Helvetica Neue Medium"/>
                <a:cs typeface="Helvetica Neue Medium"/>
              </a:rPr>
              <a:t>5 min</a:t>
            </a:r>
          </a:p>
        </p:txBody>
      </p:sp>
      <p:sp>
        <p:nvSpPr>
          <p:cNvPr id="117" name="Label"/>
          <p:cNvSpPr txBox="1"/>
          <p:nvPr/>
        </p:nvSpPr>
        <p:spPr>
          <a:xfrm>
            <a:off x="9427464" y="6812280"/>
            <a:ext cx="247802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450" spc="0" dirty="0">
                <a:solidFill>
                  <a:srgbClr val="A3A8B4"/>
                </a:solidFill>
                <a:latin typeface="Helvetica Neue Light"/>
                <a:cs typeface="Helvetica Neue Light"/>
              </a:rPr>
              <a:t>to compare budget scenarios</a:t>
            </a:r>
          </a:p>
        </p:txBody>
      </p:sp>
      <p:sp>
        <p:nvSpPr>
          <p:cNvPr id="118" name="Extra"/>
          <p:cNvSpPr txBox="1"/>
          <p:nvPr/>
        </p:nvSpPr>
        <p:spPr>
          <a:xfrm>
            <a:off x="9427464" y="7680960"/>
            <a:ext cx="247802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300" spc="0" dirty="0">
                <a:solidFill>
                  <a:srgbClr val="F5F5F7"/>
                </a:solidFill>
                <a:latin typeface="Helvetica Neue Medium"/>
                <a:cs typeface="Helvetica Neue Medium"/>
              </a:rPr>
              <a:t>A new capability</a:t>
            </a:r>
          </a:p>
        </p:txBody>
      </p:sp>
      <p:pic>
        <p:nvPicPr>
          <p:cNvPr id="119" name="gradient strip" descr="gradient stri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85427"/>
            <a:ext cx="13004800" cy="468173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"/>
          <p:cNvSpPr txBox="1"/>
          <p:nvPr/>
        </p:nvSpPr>
        <p:spPr>
          <a:xfrm>
            <a:off x="822960" y="914400"/>
            <a:ext cx="113588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200" spc="300" dirty="0">
                <a:solidFill>
                  <a:srgbClr val="E98C64"/>
                </a:solidFill>
                <a:latin typeface="Helvetica Neue Medium"/>
                <a:cs typeface="Helvetica Neue Medium"/>
              </a:rPr>
              <a:t>AMEX MOCA · PROTOTYPE</a:t>
            </a:r>
          </a:p>
        </p:txBody>
      </p:sp>
      <p:sp>
        <p:nvSpPr>
          <p:cNvPr id="102" name="Headline"/>
          <p:cNvSpPr txBox="1"/>
          <p:nvPr/>
        </p:nvSpPr>
        <p:spPr>
          <a:xfrm>
            <a:off x="822960" y="1371600"/>
            <a:ext cx="11358880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lang="en-US" sz="4400" spc="-40" dirty="0">
                <a:solidFill>
                  <a:srgbClr val="F5F5F7"/>
                </a:solidFill>
                <a:latin typeface="Helvetica Neue Medium"/>
                <a:cs typeface="Helvetica Neue Medium"/>
              </a:rPr>
              <a:t>Build, project and compare </a:t>
            </a:r>
            <a:r>
              <a:rPr lang="en-US" sz="4400" spc="-40" dirty="0">
                <a:solidFill>
                  <a:srgbClr val="E98C64"/>
                </a:solidFill>
                <a:latin typeface="Helvetica Neue Medium"/>
                <a:cs typeface="Helvetica Neue Medium"/>
              </a:rPr>
              <a:t>a client budget</a:t>
            </a:r>
            <a:r>
              <a:rPr lang="en-US" sz="4400" spc="-40" dirty="0">
                <a:solidFill>
                  <a:srgbClr val="F5F5F7"/>
                </a:solidFill>
                <a:latin typeface="Helvetica Neue Medium"/>
                <a:cs typeface="Helvetica Neue Medium"/>
              </a:rPr>
              <a:t>.</a:t>
            </a:r>
          </a:p>
        </p:txBody>
      </p:sp>
      <p:sp>
        <p:nvSpPr>
          <p:cNvPr id="103" name="Body"/>
          <p:cNvSpPr txBox="1"/>
          <p:nvPr/>
        </p:nvSpPr>
        <p:spPr>
          <a:xfrm>
            <a:off x="822960" y="3246120"/>
            <a:ext cx="512064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lang="en-US" sz="1700" spc="0" dirty="0">
                <a:solidFill>
                  <a:srgbClr val="A3A8B4"/>
                </a:solidFill>
                <a:latin typeface="Helvetica Neue Light"/>
                <a:cs typeface="Helvetica Neue Light"/>
              </a:rPr>
              <a:t>11 hi-fi screens linked in order: import the client’s budget, set the period, shape the allocations, see the ROI projection, then add, optimize and compare scenarios.</a:t>
            </a:r>
          </a:p>
        </p:txBody>
      </p:sp>
      <p:sp>
        <p:nvSpPr>
          <p:cNvPr id="104" name="Link">
            <a:hlinkClick r:id="rId2"/>
          </p:cNvPr>
          <p:cNvSpPr txBox="1"/>
          <p:nvPr/>
        </p:nvSpPr>
        <p:spPr>
          <a:xfrm>
            <a:off x="822960" y="52578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2200" u="sng" spc="0" dirty="0">
                <a:solidFill>
                  <a:srgbClr val="E98C64"/>
                </a:solidFill>
                <a:latin typeface="Helvetica Neue Medium"/>
                <a:cs typeface="Helvetica Neue Medium"/>
              </a:rPr>
              <a:t>Open the MOCA prototype →</a:t>
            </a:r>
          </a:p>
        </p:txBody>
      </p:sp>
      <p:cxnSp>
        <p:nvCxnSpPr>
          <p:cNvPr id="105" name="Divider"/>
          <p:cNvCxnSpPr/>
          <p:nvPr/>
        </p:nvCxnSpPr>
        <p:spPr>
          <a:xfrm>
            <a:off x="822960" y="6080760"/>
            <a:ext cx="5120640" cy="0"/>
          </a:xfrm>
          <a:prstGeom prst="line">
            <a:avLst/>
          </a:prstGeom>
          <a:ln w="9525">
            <a:solidFill>
              <a:srgbClr val="2C2F38"/>
            </a:solidFill>
          </a:ln>
        </p:spPr>
      </p:cxnSp>
      <p:sp>
        <p:nvSpPr>
          <p:cNvPr id="106" name="Also"/>
          <p:cNvSpPr txBox="1"/>
          <p:nvPr/>
        </p:nvSpPr>
        <p:spPr>
          <a:xfrm>
            <a:off x="822960" y="6263640"/>
            <a:ext cx="512064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100" spc="200" dirty="0">
                <a:solidFill>
                  <a:srgbClr val="7A7F8C"/>
                </a:solidFill>
                <a:latin typeface="Helvetica Neue Medium"/>
                <a:cs typeface="Helvetica Neue Medium"/>
              </a:rPr>
              <a:t>ALSO AVAILABLE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lang="en-US" sz="1550" spc="0" dirty="0">
                <a:solidFill>
                  <a:srgbClr val="A3A8B4"/>
                </a:solidFill>
                <a:latin typeface="Helvetica Neue Light"/>
                <a:cs typeface="Helvetica Neue Light"/>
              </a:rPr>
              <a:t>An offline version with the narrative for every step and a full link map: MOCA-Budget-Prototype.html.</a:t>
            </a:r>
          </a:p>
        </p:txBody>
      </p:sp>
      <p:pic>
        <p:nvPicPr>
          <p:cNvPr id="107" name="Hi-fi scre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160" y="3396177"/>
            <a:ext cx="6467932" cy="4985823"/>
          </a:xfrm>
          <a:prstGeom prst="rect">
            <a:avLst/>
          </a:prstGeom>
          <a:ln w="9525">
            <a:solidFill>
              <a:srgbClr val="3A3E49"/>
            </a:solidFill>
          </a:ln>
        </p:spPr>
      </p:pic>
      <p:pic>
        <p:nvPicPr>
          <p:cNvPr id="108" name="gradient strip" descr="gradient stri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285427"/>
            <a:ext cx="13004800" cy="468173"/>
          </a:xfrm>
          <a:prstGeom prst="rect">
            <a:avLst/>
          </a:prstGeom>
        </p:spPr>
      </p:pic>
      <p:sp>
        <p:nvSpPr>
          <p:cNvPr id="109" name="Workflow map link">
            <a:hlinkClick r:id="rId5"/>
          </p:cNvPr>
          <p:cNvSpPr txBox="1"/>
          <p:nvPr/>
        </p:nvSpPr>
        <p:spPr>
          <a:xfrm>
            <a:off x="822960" y="5791200"/>
            <a:ext cx="512064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500" u="sng" spc="0" dirty="0">
                <a:solidFill>
                  <a:srgbClr val="E98C64"/>
                </a:solidFill>
                <a:latin typeface="Helvetica Neue Medium"/>
                <a:cs typeface="Helvetica Neue Medium"/>
              </a:rPr>
              <a:t>Or start at the workflow map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9541</Words>
  <Application>Microsoft Macintosh PowerPoint</Application>
  <PresentationFormat>Custom</PresentationFormat>
  <Paragraphs>1194</Paragraphs>
  <Slides>87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3" baseType="lpstr">
      <vt:lpstr>Aptos</vt:lpstr>
      <vt:lpstr>Arial</vt:lpstr>
      <vt:lpstr>Calibri</vt:lpstr>
      <vt:lpstr>Helvetica Neue Light</vt:lpstr>
      <vt:lpstr>Helvetica Neue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Thibodeau</cp:lastModifiedBy>
  <cp:revision>32</cp:revision>
  <dcterms:created xsi:type="dcterms:W3CDTF">2013-01-27T09:14:16Z</dcterms:created>
  <dcterms:modified xsi:type="dcterms:W3CDTF">2026-10-14T01:12:06Z</dcterms:modified>
  <cp:category/>
</cp:coreProperties>
</file>
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radi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23774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1148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000" b="0">
                <a:solidFill>
                  <a:srgbClr val="2A2A2A"/>
                </a:solidFill>
                <a:latin typeface="Helvetica Neue"/>
              </a:rPr>
              <a:t>michaelthibodeau(UX)  ·  Shipped work  ·  2016–2017 (confirm)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8229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4400" b="0">
                <a:solidFill>
                  <a:srgbClr val="2A2A2A"/>
                </a:solidFill>
                <a:latin typeface="Helvetica Neue Light"/>
              </a:rPr>
              <a:t>AMEX MOCA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8229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800" b="0">
                <a:solidFill>
                  <a:srgbClr val="2A2A2A"/>
                </a:solidFill>
                <a:latin typeface="Helvetica Neue Light"/>
              </a:rPr>
              <a:t>Budget planning that partners trust enough to grow</a:t>
            </a:r>
          </a:p>
        </p:txBody>
      </p:sp>
      <p:pic>
        <p:nvPicPr>
          <p:cNvPr id="6" name="Picture 5" descr="c_s167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697480"/>
            <a:ext cx="5120640" cy="3915783"/>
          </a:xfrm>
          <a:prstGeom prst="rect">
            <a:avLst/>
          </a:prstGeom>
          <a:ln w="9525">
            <a:solidFill>
              <a:srgbClr val="E3DCD6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5852160" y="2743200"/>
            <a:ext cx="28346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2A2A2A"/>
                </a:solidFill>
                <a:latin typeface="Helvetica Neue Light"/>
              </a:rPr>
              <a:t>“Comparing budgets and then optimizing it would allow me to have the confidence to increase the budget.”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888888"/>
                </a:solidFill>
                <a:latin typeface="Helvetica Neue Light"/>
              </a:rPr>
              <a:t>AMEX sales partner, discovery interview</a:t>
            </a:r>
          </a:p>
        </p:txBody>
      </p:sp>
      <p:sp>
        <p:nvSpPr>
          <p:cNvPr id="8" name="Rectangle 7"/>
          <p:cNvSpPr/>
          <p:nvPr/>
        </p:nvSpPr>
        <p:spPr>
          <a:xfrm>
            <a:off x="5852160" y="4434840"/>
            <a:ext cx="2834640" cy="1691640"/>
          </a:xfrm>
          <a:prstGeom prst="rect">
            <a:avLst/>
          </a:prstGeom>
          <a:solidFill>
            <a:srgbClr val="F8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852160" y="4434840"/>
            <a:ext cx="45720" cy="1691640"/>
          </a:xfrm>
          <a:prstGeom prst="rect">
            <a:avLst/>
          </a:prstGeom>
          <a:solidFill>
            <a:srgbClr val="E078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16752" y="4544568"/>
            <a:ext cx="2560320" cy="1508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2A2A2A"/>
                </a:solidFill>
                <a:latin typeface="Helvetica Neue"/>
              </a:rPr>
              <a:t>Lead UX designer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5A5A5A"/>
                </a:solidFill>
                <a:latin typeface="Helvetica Neue Light"/>
              </a:rPr>
              <a:t>Discovery, strategy and hands-on design; co-design with data scientists; Sketch, Lean UX, usability testing; presented to client stakeholders.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radi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0972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00" b="0">
                <a:solidFill>
                  <a:srgbClr val="5A5A5A"/>
                </a:solidFill>
                <a:latin typeface="Helvetica Neue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2400" b="0">
                <a:solidFill>
                  <a:srgbClr val="E07856"/>
                </a:solidFill>
                <a:latin typeface="Helvetica Neue Light"/>
              </a:rPr>
              <a:t>At a glance</a:t>
            </a:r>
          </a:p>
        </p:txBody>
      </p:sp>
      <p:pic>
        <p:nvPicPr>
          <p:cNvPr id="5" name="Picture 4" descr="gradi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803136"/>
            <a:ext cx="9144000" cy="5486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510528"/>
            <a:ext cx="82296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00" b="0">
                <a:solidFill>
                  <a:srgbClr val="888888"/>
                </a:solidFill>
                <a:latin typeface="Helvetica Neue"/>
              </a:rPr>
              <a:t>michaelthibodeau(UX)  ·  AMEX MOCA  ·  2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25880"/>
            <a:ext cx="8229600" cy="731520"/>
          </a:xfrm>
          <a:prstGeom prst="rect">
            <a:avLst/>
          </a:prstGeom>
          <a:solidFill>
            <a:srgbClr val="F8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25880"/>
            <a:ext cx="45720" cy="731520"/>
          </a:xfrm>
          <a:prstGeom prst="rect">
            <a:avLst/>
          </a:prstGeom>
          <a:solidFill>
            <a:srgbClr val="F5B5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435607"/>
            <a:ext cx="1828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2A2A2A"/>
                </a:solidFill>
                <a:latin typeface="Helvetica Neue"/>
              </a:rPr>
              <a:t>The 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0" y="1435607"/>
            <a:ext cx="59436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5A5A5A"/>
                </a:solidFill>
                <a:latin typeface="Helvetica Neue Light"/>
              </a:rPr>
              <a:t>AMEX sales partners had no tool to help clients budget their advertising spend, compare scenarios, or see what each dollar would do.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167128"/>
            <a:ext cx="8229600" cy="7315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167128"/>
            <a:ext cx="45720" cy="731520"/>
          </a:xfrm>
          <a:prstGeom prst="rect">
            <a:avLst/>
          </a:prstGeom>
          <a:solidFill>
            <a:srgbClr val="F5B5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2276856"/>
            <a:ext cx="1828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2A2A2A"/>
                </a:solidFill>
                <a:latin typeface="Helvetica Neue"/>
              </a:rPr>
              <a:t>The target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0" y="2276856"/>
            <a:ext cx="59436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5A5A5A"/>
                </a:solidFill>
                <a:latin typeface="Helvetica Neue Light"/>
              </a:rPr>
              <a:t>Raise partner approval (58% baseline), cut budget drop-off (5.4%) and time to build a budget (12 min), and grow average client budgets ($1.34M).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008376"/>
            <a:ext cx="8229600" cy="731520"/>
          </a:xfrm>
          <a:prstGeom prst="rect">
            <a:avLst/>
          </a:prstGeom>
          <a:solidFill>
            <a:srgbClr val="F8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3008376"/>
            <a:ext cx="45720" cy="731520"/>
          </a:xfrm>
          <a:prstGeom prst="rect">
            <a:avLst/>
          </a:prstGeom>
          <a:solidFill>
            <a:srgbClr val="E078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3118104"/>
            <a:ext cx="1828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2A2A2A"/>
                </a:solidFill>
                <a:latin typeface="Helvetica Neue"/>
              </a:rPr>
              <a:t>The decision I made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60320" y="3118104"/>
            <a:ext cx="59436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5A5A5A"/>
                </a:solidFill>
                <a:latin typeface="Helvetica Neue Light"/>
              </a:rPr>
              <a:t>Turn budgeting into a 3-step flow: a guided wizard, a scenario builder down to channel and product, and a side-by-side comparison with an optimized plan the partner chooses.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849624"/>
            <a:ext cx="8229600" cy="7315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3849624"/>
            <a:ext cx="45720" cy="731520"/>
          </a:xfrm>
          <a:prstGeom prst="rect">
            <a:avLst/>
          </a:prstGeom>
          <a:solidFill>
            <a:srgbClr val="F5B5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3959352"/>
            <a:ext cx="1828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2A2A2A"/>
                </a:solidFill>
                <a:latin typeface="Helvetica Neue"/>
              </a:rPr>
              <a:t>What we gave up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60320" y="3959352"/>
            <a:ext cx="59436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5A5A5A"/>
                </a:solidFill>
                <a:latin typeface="Helvetica Neue Light"/>
              </a:rPr>
              <a:t>One quick, single-plan form. Building and comparing scenarios adds a step (about 5 min of comparison) in exchange for confidence. (confirm)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690872"/>
            <a:ext cx="8229600" cy="731520"/>
          </a:xfrm>
          <a:prstGeom prst="rect">
            <a:avLst/>
          </a:prstGeom>
          <a:solidFill>
            <a:srgbClr val="F8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4690872"/>
            <a:ext cx="45720" cy="731520"/>
          </a:xfrm>
          <a:prstGeom prst="rect">
            <a:avLst/>
          </a:prstGeom>
          <a:solidFill>
            <a:srgbClr val="E078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" y="4800600"/>
            <a:ext cx="1828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2A2A2A"/>
                </a:solidFill>
                <a:latin typeface="Helvetica Neue"/>
              </a:rPr>
              <a:t>The result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60320" y="4800600"/>
            <a:ext cx="59436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5A5A5A"/>
                </a:solidFill>
                <a:latin typeface="Helvetica Neue Light"/>
              </a:rPr>
              <a:t>Partner approval 58% → 88%. Drop-off 5.4% → 3.4%. Time to build a budget 12 → 10 min. Average client budget $1.34M → $1.8M.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5532120"/>
            <a:ext cx="8229600" cy="7315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" y="5532120"/>
            <a:ext cx="45720" cy="731520"/>
          </a:xfrm>
          <a:prstGeom prst="rect">
            <a:avLst/>
          </a:prstGeom>
          <a:solidFill>
            <a:srgbClr val="F5B5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" y="5641848"/>
            <a:ext cx="1828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2A2A2A"/>
                </a:solidFill>
                <a:latin typeface="Helvetica Neue"/>
              </a:rPr>
              <a:t>My role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560320" y="5641848"/>
            <a:ext cx="59436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5A5A5A"/>
                </a:solidFill>
                <a:latin typeface="Helvetica Neue Light"/>
              </a:rPr>
              <a:t>Lead UX designer: discovery, strategy and hands-on design, working with data scientists over 12 Agile sprints. Team size (confirm).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radi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0972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00" b="0">
                <a:solidFill>
                  <a:srgbClr val="5A5A5A"/>
                </a:solidFill>
                <a:latin typeface="Helvetica Neue"/>
              </a:rP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2400" b="0">
                <a:solidFill>
                  <a:srgbClr val="E07856"/>
                </a:solidFill>
                <a:latin typeface="Helvetica Neue Light"/>
              </a:rPr>
              <a:t>What changed after launch</a:t>
            </a:r>
          </a:p>
        </p:txBody>
      </p:sp>
      <p:pic>
        <p:nvPicPr>
          <p:cNvPr id="5" name="Picture 4" descr="gradi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803136"/>
            <a:ext cx="9144000" cy="5486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510528"/>
            <a:ext cx="82296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00" b="0">
                <a:solidFill>
                  <a:srgbClr val="888888"/>
                </a:solidFill>
                <a:latin typeface="Helvetica Neue"/>
              </a:rPr>
              <a:t>michaelthibodeau(UX)  ·  AMEX MOCA  · 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5A5A5A"/>
                </a:solidFill>
                <a:latin typeface="Helvetica Neue Light"/>
              </a:rPr>
              <a:t>Measured against the baseline we set in discovery. (confirm the measurement period)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783080"/>
            <a:ext cx="4023360" cy="1920240"/>
          </a:xfrm>
          <a:prstGeom prst="rect">
            <a:avLst/>
          </a:prstGeom>
          <a:solidFill>
            <a:srgbClr val="F8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783080"/>
            <a:ext cx="45720" cy="1920240"/>
          </a:xfrm>
          <a:prstGeom prst="rect">
            <a:avLst/>
          </a:prstGeom>
          <a:solidFill>
            <a:srgbClr val="E078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96596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2A2A2A"/>
                </a:solidFill>
                <a:latin typeface="Helvetica Neue"/>
              </a:rPr>
              <a:t>Partner approval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377440"/>
            <a:ext cx="3657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000" b="0">
                <a:solidFill>
                  <a:srgbClr val="888888"/>
                </a:solidFill>
                <a:latin typeface="Helvetica Neue Light"/>
              </a:rPr>
              <a:t>58%  →  </a:t>
            </a:r>
            <a:r>
              <a:rPr sz="3400" b="0">
                <a:solidFill>
                  <a:srgbClr val="E07856"/>
                </a:solidFill>
                <a:latin typeface="Helvetica Neue Light"/>
              </a:rPr>
              <a:t>88%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20040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2A2A2A"/>
                </a:solidFill>
                <a:latin typeface="Helvetica Neue"/>
              </a:rPr>
              <a:t>+30 pts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63440" y="1783080"/>
            <a:ext cx="4023360" cy="1920240"/>
          </a:xfrm>
          <a:prstGeom prst="rect">
            <a:avLst/>
          </a:prstGeom>
          <a:solidFill>
            <a:srgbClr val="F8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663440" y="1783080"/>
            <a:ext cx="45720" cy="1920240"/>
          </a:xfrm>
          <a:prstGeom prst="rect">
            <a:avLst/>
          </a:prstGeom>
          <a:solidFill>
            <a:srgbClr val="E078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92040" y="196596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2A2A2A"/>
                </a:solidFill>
                <a:latin typeface="Helvetica Neue"/>
              </a:rPr>
              <a:t>Budget drop-off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92040" y="2377440"/>
            <a:ext cx="3657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000" b="0">
                <a:solidFill>
                  <a:srgbClr val="888888"/>
                </a:solidFill>
                <a:latin typeface="Helvetica Neue Light"/>
              </a:rPr>
              <a:t>5.4%  →  </a:t>
            </a:r>
            <a:r>
              <a:rPr sz="3400" b="0">
                <a:solidFill>
                  <a:srgbClr val="E07856"/>
                </a:solidFill>
                <a:latin typeface="Helvetica Neue Light"/>
              </a:rPr>
              <a:t>3.4%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92040" y="320040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2A2A2A"/>
                </a:solidFill>
                <a:latin typeface="Helvetica Neue"/>
              </a:rPr>
              <a:t>−2.0 pts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931920"/>
            <a:ext cx="4023360" cy="1920240"/>
          </a:xfrm>
          <a:prstGeom prst="rect">
            <a:avLst/>
          </a:prstGeom>
          <a:solidFill>
            <a:srgbClr val="F8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3931920"/>
            <a:ext cx="45720" cy="1920240"/>
          </a:xfrm>
          <a:prstGeom prst="rect">
            <a:avLst/>
          </a:prstGeom>
          <a:solidFill>
            <a:srgbClr val="E078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411480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2A2A2A"/>
                </a:solidFill>
                <a:latin typeface="Helvetica Neue"/>
              </a:rPr>
              <a:t>Time to build a budget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526280"/>
            <a:ext cx="3657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000" b="0">
                <a:solidFill>
                  <a:srgbClr val="888888"/>
                </a:solidFill>
                <a:latin typeface="Helvetica Neue Light"/>
              </a:rPr>
              <a:t>12 min  →  </a:t>
            </a:r>
            <a:r>
              <a:rPr sz="3400" b="0">
                <a:solidFill>
                  <a:srgbClr val="E07856"/>
                </a:solidFill>
                <a:latin typeface="Helvetica Neue Light"/>
              </a:rPr>
              <a:t>10 min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34924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2A2A2A"/>
                </a:solidFill>
                <a:latin typeface="Helvetica Neue"/>
              </a:rPr>
              <a:t>−2 min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663440" y="3931920"/>
            <a:ext cx="4023360" cy="1920240"/>
          </a:xfrm>
          <a:prstGeom prst="rect">
            <a:avLst/>
          </a:prstGeom>
          <a:solidFill>
            <a:srgbClr val="F8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663440" y="3931920"/>
            <a:ext cx="45720" cy="1920240"/>
          </a:xfrm>
          <a:prstGeom prst="rect">
            <a:avLst/>
          </a:prstGeom>
          <a:solidFill>
            <a:srgbClr val="E078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92040" y="411480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2A2A2A"/>
                </a:solidFill>
                <a:latin typeface="Helvetica Neue"/>
              </a:rPr>
              <a:t>Average client budget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92040" y="4526280"/>
            <a:ext cx="3657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000" b="0">
                <a:solidFill>
                  <a:srgbClr val="888888"/>
                </a:solidFill>
                <a:latin typeface="Helvetica Neue Light"/>
              </a:rPr>
              <a:t>$1.34M  →  </a:t>
            </a:r>
            <a:r>
              <a:rPr sz="3400" b="0">
                <a:solidFill>
                  <a:srgbClr val="E07856"/>
                </a:solidFill>
                <a:latin typeface="Helvetica Neue Light"/>
              </a:rPr>
              <a:t>$1.8M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92040" y="534924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2A2A2A"/>
                </a:solidFill>
                <a:latin typeface="Helvetica Neue"/>
              </a:rPr>
              <a:t>+34%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12648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5A5A5A"/>
                </a:solidFill>
                <a:latin typeface="Helvetica Neue Light"/>
              </a:rPr>
              <a:t>New capability: partners spend about 5 minutes comparing scenarios, a step that did not exist before.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radi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0972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00" b="0">
                <a:solidFill>
                  <a:srgbClr val="5A5A5A"/>
                </a:solidFill>
                <a:latin typeface="Helvetica Neue"/>
              </a:rPr>
              <a:t>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2400" b="0">
                <a:solidFill>
                  <a:srgbClr val="E07856"/>
                </a:solidFill>
                <a:latin typeface="Helvetica Neue Light"/>
              </a:rPr>
              <a:t>The product, the people, the constraints</a:t>
            </a:r>
          </a:p>
        </p:txBody>
      </p:sp>
      <p:pic>
        <p:nvPicPr>
          <p:cNvPr id="5" name="Picture 4" descr="gradi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803136"/>
            <a:ext cx="9144000" cy="5486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510528"/>
            <a:ext cx="82296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00" b="0">
                <a:solidFill>
                  <a:srgbClr val="888888"/>
                </a:solidFill>
                <a:latin typeface="Helvetica Neue"/>
              </a:rPr>
              <a:t>michaelthibodeau(UX)  ·  AMEX MOCA  ·  4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4023360" cy="2103120"/>
          </a:xfrm>
          <a:prstGeom prst="rect">
            <a:avLst/>
          </a:prstGeom>
          <a:solidFill>
            <a:srgbClr val="F8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45720" cy="2103120"/>
          </a:xfrm>
          <a:prstGeom prst="rect">
            <a:avLst/>
          </a:prstGeom>
          <a:solidFill>
            <a:srgbClr val="E078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1481328"/>
            <a:ext cx="3749040" cy="19202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2A2A2A"/>
                </a:solidFill>
                <a:latin typeface="Helvetica Neue"/>
              </a:rPr>
              <a:t>What MOCA is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5A5A5A"/>
                </a:solidFill>
                <a:latin typeface="Helvetica Neue Light"/>
              </a:rPr>
              <a:t>A desktop budgeting application that uses algorithmic engines to project a marketer’s potential budget, and to compare constructed and optimized budget scenarios.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63440" y="1371600"/>
            <a:ext cx="4023360" cy="2103120"/>
          </a:xfrm>
          <a:prstGeom prst="rect">
            <a:avLst/>
          </a:prstGeom>
          <a:solidFill>
            <a:srgbClr val="F8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663440" y="1371600"/>
            <a:ext cx="45720" cy="2103120"/>
          </a:xfrm>
          <a:prstGeom prst="rect">
            <a:avLst/>
          </a:prstGeom>
          <a:solidFill>
            <a:srgbClr val="E078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28031" y="1481328"/>
            <a:ext cx="3749040" cy="19202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2A2A2A"/>
                </a:solidFill>
                <a:latin typeface="Helvetica Neue"/>
              </a:rPr>
              <a:t>Who uses it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5A5A5A"/>
                </a:solidFill>
                <a:latin typeface="Helvetica Neue Light"/>
              </a:rPr>
              <a:t>AMEX sales managers and sales advisors, building advertising budgets with their external clients across AMEX product lines and channels.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657600"/>
            <a:ext cx="2606040" cy="2560320"/>
          </a:xfrm>
          <a:prstGeom prst="rect">
            <a:avLst/>
          </a:prstGeom>
          <a:solidFill>
            <a:srgbClr val="F8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657600"/>
            <a:ext cx="45720" cy="2560320"/>
          </a:xfrm>
          <a:prstGeom prst="rect">
            <a:avLst/>
          </a:prstGeom>
          <a:solidFill>
            <a:srgbClr val="E078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" y="3767328"/>
            <a:ext cx="2331720" cy="23774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2A2A2A"/>
                </a:solidFill>
                <a:latin typeface="Helvetica Neue"/>
              </a:rPr>
              <a:t>Used rarely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5A5A5A"/>
                </a:solidFill>
                <a:latin typeface="Helvetica Neue Light"/>
              </a:rPr>
              <a:t>Partners build a plan every 6–12 months, so every visit feels like the first.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68980" y="3657600"/>
            <a:ext cx="2606040" cy="2560320"/>
          </a:xfrm>
          <a:prstGeom prst="rect">
            <a:avLst/>
          </a:prstGeom>
          <a:solidFill>
            <a:srgbClr val="F8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68980" y="3657600"/>
            <a:ext cx="45720" cy="2560320"/>
          </a:xfrm>
          <a:prstGeom prst="rect">
            <a:avLst/>
          </a:prstGeom>
          <a:solidFill>
            <a:srgbClr val="E078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33572" y="3767328"/>
            <a:ext cx="2331720" cy="23774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2A2A2A"/>
                </a:solidFill>
                <a:latin typeface="Helvetica Neue"/>
              </a:rPr>
              <a:t>High stakes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5A5A5A"/>
                </a:solidFill>
                <a:latin typeface="Helvetica Neue Light"/>
              </a:rPr>
              <a:t>Average client budget of $1.34M at baseline; partners had to defend each allocation.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80760" y="3657600"/>
            <a:ext cx="2606040" cy="2560320"/>
          </a:xfrm>
          <a:prstGeom prst="rect">
            <a:avLst/>
          </a:prstGeom>
          <a:solidFill>
            <a:srgbClr val="F8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080760" y="3657600"/>
            <a:ext cx="45720" cy="2560320"/>
          </a:xfrm>
          <a:prstGeom prst="rect">
            <a:avLst/>
          </a:prstGeom>
          <a:solidFill>
            <a:srgbClr val="E078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45352" y="3767328"/>
            <a:ext cx="2331720" cy="23774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2A2A2A"/>
                </a:solidFill>
                <a:latin typeface="Helvetica Neue"/>
              </a:rPr>
              <a:t>A desktop app among others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5A5A5A"/>
                </a:solidFill>
                <a:latin typeface="Helvetica Neue Light"/>
              </a:rPr>
              <a:t>It had to sit beside other desktop tools and connect to them through APIs.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radi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0972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00" b="0">
                <a:solidFill>
                  <a:srgbClr val="5A5A5A"/>
                </a:solidFill>
                <a:latin typeface="Helvetica Neue"/>
              </a:rPr>
              <a:t>Discovery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2400" b="0">
                <a:solidFill>
                  <a:srgbClr val="E07856"/>
                </a:solidFill>
                <a:latin typeface="Helvetica Neue Light"/>
              </a:rPr>
              <a:t>What partners told us</a:t>
            </a:r>
          </a:p>
        </p:txBody>
      </p:sp>
      <p:pic>
        <p:nvPicPr>
          <p:cNvPr id="5" name="Picture 4" descr="gradi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803136"/>
            <a:ext cx="9144000" cy="5486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510528"/>
            <a:ext cx="82296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00" b="0">
                <a:solidFill>
                  <a:srgbClr val="888888"/>
                </a:solidFill>
                <a:latin typeface="Helvetica Neue"/>
              </a:rPr>
              <a:t>michaelthibodeau(UX)  ·  AMEX MOCA  ·  5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3291840" cy="2926080"/>
          </a:xfrm>
          <a:prstGeom prst="rect">
            <a:avLst/>
          </a:prstGeom>
          <a:solidFill>
            <a:srgbClr val="F8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45720" cy="2926080"/>
          </a:xfrm>
          <a:prstGeom prst="rect">
            <a:avLst/>
          </a:prstGeom>
          <a:solidFill>
            <a:srgbClr val="E078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1481328"/>
            <a:ext cx="301752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2A2A2A"/>
                </a:solidFill>
                <a:latin typeface="Helvetica Neue"/>
              </a:rPr>
              <a:t>How we learned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5A5A5A"/>
                </a:solidFill>
                <a:latin typeface="Helvetica Neue Light"/>
              </a:rPr>
              <a:t>Interviews with stakeholders, SMEs and users (sales managers and advisors)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5A5A5A"/>
                </a:solidFill>
                <a:latin typeface="Helvetica Neue Light"/>
              </a:rPr>
              <a:t>Contextual interviews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5A5A5A"/>
                </a:solidFill>
                <a:latin typeface="Helvetica Neue Light"/>
              </a:rPr>
              <a:t>Personas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5A5A5A"/>
                </a:solidFill>
                <a:latin typeface="Helvetica Neue Light"/>
              </a:rPr>
              <a:t>Co-design sessions with data scientists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3360" y="1417320"/>
            <a:ext cx="46634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 b="0">
                <a:solidFill>
                  <a:srgbClr val="2A2A2A"/>
                </a:solidFill>
                <a:latin typeface="Helvetica Neue Light"/>
              </a:rPr>
              <a:t>“If I could build a plan down to the product line and channel, I’d be super happy, but I’d also be able to customize each quarter.”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00" b="0">
                <a:solidFill>
                  <a:srgbClr val="888888"/>
                </a:solidFill>
                <a:latin typeface="Helvetica Neue Light"/>
              </a:rPr>
              <a:t>Sales partner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023360" y="3108960"/>
            <a:ext cx="4663440" cy="3108960"/>
          </a:xfrm>
          <a:prstGeom prst="rect">
            <a:avLst/>
          </a:prstGeom>
          <a:solidFill>
            <a:srgbClr val="F8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023360" y="3108960"/>
            <a:ext cx="45720" cy="3108960"/>
          </a:xfrm>
          <a:prstGeom prst="rect">
            <a:avLst/>
          </a:prstGeom>
          <a:solidFill>
            <a:srgbClr val="E078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7952" y="3218688"/>
            <a:ext cx="4389120" cy="29260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2A2A2A"/>
                </a:solidFill>
                <a:latin typeface="Helvetica Neue"/>
              </a:rPr>
              <a:t>What we learned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5A5A5A"/>
                </a:solidFill>
                <a:latin typeface="Helvetica Neue Light"/>
              </a:rPr>
              <a:t>Partners want to compare budget scenarios, not fill in one plan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5A5A5A"/>
                </a:solidFill>
                <a:latin typeface="Helvetica Neue Light"/>
              </a:rPr>
              <a:t>They need to see, in a chart, how effective each scenario is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5A5A5A"/>
                </a:solidFill>
                <a:latin typeface="Helvetica Neue Light"/>
              </a:rPr>
              <a:t>They want to adjust each channel, and each product inside a channel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5A5A5A"/>
                </a:solidFill>
                <a:latin typeface="Helvetica Neue Light"/>
              </a:rPr>
              <a:t>Short term vs long term matters to every decision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5A5A5A"/>
                </a:solidFill>
                <a:latin typeface="Helvetica Neue Light"/>
              </a:rPr>
              <a:t>Because they plan only every 6–12 months, they need guidance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radi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0972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00" b="0">
                <a:solidFill>
                  <a:srgbClr val="5A5A5A"/>
                </a:solidFill>
                <a:latin typeface="Helvetica Neue"/>
              </a:rPr>
              <a:t>Key decision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2400" b="0">
                <a:solidFill>
                  <a:srgbClr val="E07856"/>
                </a:solidFill>
                <a:latin typeface="Helvetica Neue Light"/>
              </a:rPr>
              <a:t>Guide the first visit with a wizard</a:t>
            </a:r>
          </a:p>
        </p:txBody>
      </p:sp>
      <p:pic>
        <p:nvPicPr>
          <p:cNvPr id="5" name="Picture 4" descr="gradi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803136"/>
            <a:ext cx="9144000" cy="5486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510528"/>
            <a:ext cx="82296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00" b="0">
                <a:solidFill>
                  <a:srgbClr val="888888"/>
                </a:solidFill>
                <a:latin typeface="Helvetica Neue"/>
              </a:rPr>
              <a:t>michaelthibodeau(UX)  ·  AMEX MOCA  ·  6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25880"/>
            <a:ext cx="2926080" cy="2240280"/>
          </a:xfrm>
          <a:prstGeom prst="rect">
            <a:avLst/>
          </a:prstGeom>
          <a:solidFill>
            <a:srgbClr val="F8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25880"/>
            <a:ext cx="45720" cy="2240280"/>
          </a:xfrm>
          <a:prstGeom prst="rect">
            <a:avLst/>
          </a:prstGeom>
          <a:solidFill>
            <a:srgbClr val="E078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1435607"/>
            <a:ext cx="2651760" cy="2057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2A2A2A"/>
                </a:solidFill>
                <a:latin typeface="Helvetica Neue"/>
              </a:rPr>
              <a:t>Why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5A5A5A"/>
                </a:solidFill>
                <a:latin typeface="Helvetica Neue Light"/>
              </a:rPr>
              <a:t>Partners plan only every 6–12 months, so each visit feels like the first. A short wizard sets the essentials: import last year’s budget from Excel, then pick the time period.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703320"/>
            <a:ext cx="2926080" cy="2468880"/>
          </a:xfrm>
          <a:prstGeom prst="rect">
            <a:avLst/>
          </a:prstGeom>
          <a:solidFill>
            <a:srgbClr val="F8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3703320"/>
            <a:ext cx="45720" cy="2468880"/>
          </a:xfrm>
          <a:prstGeom prst="rect">
            <a:avLst/>
          </a:prstGeom>
          <a:solidFill>
            <a:srgbClr val="F5B5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" y="3813048"/>
            <a:ext cx="265176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2A2A2A"/>
                </a:solidFill>
                <a:latin typeface="Helvetica Neue"/>
              </a:rPr>
              <a:t>Trade-off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5A5A5A"/>
                </a:solidFill>
                <a:latin typeface="Helvetica Neue Light"/>
              </a:rPr>
              <a:t>A few extra steps for the rare expert who knows the tool. We kept them short and skippable once data is imported. (confirm)</a:t>
            </a:r>
          </a:p>
        </p:txBody>
      </p:sp>
      <p:pic>
        <p:nvPicPr>
          <p:cNvPr id="13" name="Picture 12" descr="c_s182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1880" y="1325880"/>
            <a:ext cx="3744053" cy="2331720"/>
          </a:xfrm>
          <a:prstGeom prst="rect">
            <a:avLst/>
          </a:prstGeom>
          <a:ln w="9525">
            <a:solidFill>
              <a:srgbClr val="E3DCD6"/>
            </a:solidFill>
          </a:ln>
        </p:spPr>
      </p:pic>
      <p:pic>
        <p:nvPicPr>
          <p:cNvPr id="14" name="Picture 13" descr="c_s182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1880" y="3840480"/>
            <a:ext cx="3850327" cy="2331720"/>
          </a:xfrm>
          <a:prstGeom prst="rect">
            <a:avLst/>
          </a:prstGeom>
          <a:ln w="9525">
            <a:solidFill>
              <a:srgbClr val="E3DCD6"/>
            </a:solidFill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radi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0972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00" b="0">
                <a:solidFill>
                  <a:srgbClr val="5A5A5A"/>
                </a:solidFill>
                <a:latin typeface="Helvetica Neue"/>
              </a:rPr>
              <a:t>Key decision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2400" b="0">
                <a:solidFill>
                  <a:srgbClr val="E07856"/>
                </a:solidFill>
                <a:latin typeface="Helvetica Neue Light"/>
              </a:rPr>
              <a:t>Build the plan down to channel and product</a:t>
            </a:r>
          </a:p>
        </p:txBody>
      </p:sp>
      <p:pic>
        <p:nvPicPr>
          <p:cNvPr id="5" name="Picture 4" descr="gradi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803136"/>
            <a:ext cx="9144000" cy="5486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510528"/>
            <a:ext cx="82296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00" b="0">
                <a:solidFill>
                  <a:srgbClr val="888888"/>
                </a:solidFill>
                <a:latin typeface="Helvetica Neue"/>
              </a:rPr>
              <a:t>michaelthibodeau(UX)  ·  AMEX MOCA  ·  7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25880"/>
            <a:ext cx="2926080" cy="2240280"/>
          </a:xfrm>
          <a:prstGeom prst="rect">
            <a:avLst/>
          </a:prstGeom>
          <a:solidFill>
            <a:srgbClr val="F8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25880"/>
            <a:ext cx="45720" cy="2240280"/>
          </a:xfrm>
          <a:prstGeom prst="rect">
            <a:avLst/>
          </a:prstGeom>
          <a:solidFill>
            <a:srgbClr val="E078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1435607"/>
            <a:ext cx="2651760" cy="2057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2A2A2A"/>
                </a:solidFill>
                <a:latin typeface="Helvetica Neue"/>
              </a:rPr>
              <a:t>Why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5A5A5A"/>
                </a:solidFill>
                <a:latin typeface="Helvetica Neue Light"/>
              </a:rPr>
              <a:t>Partners asked to “build a plan down to the product line and channel”. Each allocation is adjustable, starting from an imported budget kept as a template, so a second plan starts from the first.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703320"/>
            <a:ext cx="2926080" cy="2468880"/>
          </a:xfrm>
          <a:prstGeom prst="rect">
            <a:avLst/>
          </a:prstGeom>
          <a:solidFill>
            <a:srgbClr val="F8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3703320"/>
            <a:ext cx="45720" cy="2468880"/>
          </a:xfrm>
          <a:prstGeom prst="rect">
            <a:avLst/>
          </a:prstGeom>
          <a:solidFill>
            <a:srgbClr val="F5B5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" y="3813048"/>
            <a:ext cx="265176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2A2A2A"/>
                </a:solidFill>
                <a:latin typeface="Helvetica Neue"/>
              </a:rPr>
              <a:t>Trade-off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5A5A5A"/>
                </a:solidFill>
                <a:latin typeface="Helvetica Neue Light"/>
              </a:rPr>
              <a:t>More controls on one screen. Channels and products sit on separate tabs, and a running total shows how much is left to allocate.</a:t>
            </a:r>
          </a:p>
        </p:txBody>
      </p:sp>
      <p:pic>
        <p:nvPicPr>
          <p:cNvPr id="13" name="Picture 12" descr="c_s183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1880" y="1325880"/>
            <a:ext cx="5074920" cy="3896183"/>
          </a:xfrm>
          <a:prstGeom prst="rect">
            <a:avLst/>
          </a:prstGeom>
          <a:ln w="9525">
            <a:solidFill>
              <a:srgbClr val="E3DCD6"/>
            </a:solidFill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radi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0972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00" b="0">
                <a:solidFill>
                  <a:srgbClr val="5A5A5A"/>
                </a:solidFill>
                <a:latin typeface="Helvetica Neue"/>
              </a:rPr>
              <a:t>Key decision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2400" b="0">
                <a:solidFill>
                  <a:srgbClr val="E07856"/>
                </a:solidFill>
                <a:latin typeface="Helvetica Neue Light"/>
              </a:rPr>
              <a:t>Compare scenarios; the partner chooses</a:t>
            </a:r>
          </a:p>
        </p:txBody>
      </p:sp>
      <p:pic>
        <p:nvPicPr>
          <p:cNvPr id="5" name="Picture 4" descr="gradi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803136"/>
            <a:ext cx="9144000" cy="5486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510528"/>
            <a:ext cx="82296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00" b="0">
                <a:solidFill>
                  <a:srgbClr val="888888"/>
                </a:solidFill>
                <a:latin typeface="Helvetica Neue"/>
              </a:rPr>
              <a:t>michaelthibodeau(UX)  ·  AMEX MOCA  ·  8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25880"/>
            <a:ext cx="2926080" cy="2240280"/>
          </a:xfrm>
          <a:prstGeom prst="rect">
            <a:avLst/>
          </a:prstGeom>
          <a:solidFill>
            <a:srgbClr val="F8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25880"/>
            <a:ext cx="45720" cy="2240280"/>
          </a:xfrm>
          <a:prstGeom prst="rect">
            <a:avLst/>
          </a:prstGeom>
          <a:solidFill>
            <a:srgbClr val="E078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1435607"/>
            <a:ext cx="2651760" cy="2057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2A2A2A"/>
                </a:solidFill>
                <a:latin typeface="Helvetica Neue"/>
              </a:rPr>
              <a:t>Why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5A5A5A"/>
                </a:solidFill>
                <a:latin typeface="Helvetica Neue Light"/>
              </a:rPr>
              <a:t>Confidence came from comparison. Scenarios sit side by side with an optimized plan from the data scientists’ engine, shown with the metrics partners care about: accounts, billed business, ROI, cost.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703320"/>
            <a:ext cx="2926080" cy="2468880"/>
          </a:xfrm>
          <a:prstGeom prst="rect">
            <a:avLst/>
          </a:prstGeom>
          <a:solidFill>
            <a:srgbClr val="F8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3703320"/>
            <a:ext cx="45720" cy="2468880"/>
          </a:xfrm>
          <a:prstGeom prst="rect">
            <a:avLst/>
          </a:prstGeom>
          <a:solidFill>
            <a:srgbClr val="F5B5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" y="3813048"/>
            <a:ext cx="265176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2A2A2A"/>
                </a:solidFill>
                <a:latin typeface="Helvetica Neue"/>
              </a:rPr>
              <a:t>Trade-off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5A5A5A"/>
                </a:solidFill>
                <a:latin typeface="Helvetica Neue Light"/>
              </a:rPr>
              <a:t>The optimizer proposes; it does not decide. The partner picks the plan and can see why the optimized one differs, so trust stays with them.</a:t>
            </a:r>
          </a:p>
        </p:txBody>
      </p:sp>
      <p:pic>
        <p:nvPicPr>
          <p:cNvPr id="13" name="Picture 12" descr="c_s186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1880" y="1325880"/>
            <a:ext cx="5074920" cy="3564821"/>
          </a:xfrm>
          <a:prstGeom prst="rect">
            <a:avLst/>
          </a:prstGeom>
          <a:ln w="9525">
            <a:solidFill>
              <a:srgbClr val="E3DCD6"/>
            </a:solidFill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radi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0972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00" b="0">
                <a:solidFill>
                  <a:srgbClr val="5A5A5A"/>
                </a:solidFill>
                <a:latin typeface="Helvetica Neue"/>
              </a:rPr>
              <a:t>Iteration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2400" b="0">
                <a:solidFill>
                  <a:srgbClr val="E07856"/>
                </a:solidFill>
                <a:latin typeface="Helvetica Neue Light"/>
              </a:rPr>
              <a:t>From sketch to shipped, and what testing changed</a:t>
            </a:r>
          </a:p>
        </p:txBody>
      </p:sp>
      <p:pic>
        <p:nvPicPr>
          <p:cNvPr id="5" name="Picture 4" descr="gradi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803136"/>
            <a:ext cx="9144000" cy="5486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510528"/>
            <a:ext cx="82296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00" b="0">
                <a:solidFill>
                  <a:srgbClr val="888888"/>
                </a:solidFill>
                <a:latin typeface="Helvetica Neue"/>
              </a:rPr>
              <a:t>michaelthibodeau(UX)  ·  AMEX MOCA  ·  9</a:t>
            </a:r>
          </a:p>
        </p:txBody>
      </p:sp>
      <p:pic>
        <p:nvPicPr>
          <p:cNvPr id="7" name="Picture 6" descr="c_s177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25880"/>
            <a:ext cx="2606040" cy="1740096"/>
          </a:xfrm>
          <a:prstGeom prst="rect">
            <a:avLst/>
          </a:prstGeom>
          <a:ln w="9525">
            <a:solidFill>
              <a:srgbClr val="E3DCD6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457200" y="3246120"/>
            <a:ext cx="2606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>
                <a:solidFill>
                  <a:srgbClr val="2A2A2A"/>
                </a:solidFill>
                <a:latin typeface="Helvetica Neue"/>
              </a:rPr>
              <a:t>Sketch</a:t>
            </a:r>
          </a:p>
        </p:txBody>
      </p:sp>
      <p:pic>
        <p:nvPicPr>
          <p:cNvPr id="9" name="Picture 8" descr="c_s179_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46120" y="1325880"/>
            <a:ext cx="2606040" cy="1861457"/>
          </a:xfrm>
          <a:prstGeom prst="rect">
            <a:avLst/>
          </a:prstGeom>
          <a:ln w="9525">
            <a:solidFill>
              <a:srgbClr val="E3DCD6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3246120" y="3246120"/>
            <a:ext cx="2606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>
                <a:solidFill>
                  <a:srgbClr val="2A2A2A"/>
                </a:solidFill>
                <a:latin typeface="Helvetica Neue"/>
              </a:rPr>
              <a:t>Mid-fidelity</a:t>
            </a:r>
          </a:p>
        </p:txBody>
      </p:sp>
      <p:pic>
        <p:nvPicPr>
          <p:cNvPr id="11" name="Picture 10" descr="c_s185_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1325880"/>
            <a:ext cx="2606040" cy="1689393"/>
          </a:xfrm>
          <a:prstGeom prst="rect">
            <a:avLst/>
          </a:prstGeom>
          <a:ln w="9525">
            <a:solidFill>
              <a:srgbClr val="E3DCD6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6035040" y="3246120"/>
            <a:ext cx="2606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>
                <a:solidFill>
                  <a:srgbClr val="2A2A2A"/>
                </a:solidFill>
                <a:latin typeface="Helvetica Neue"/>
              </a:rPr>
              <a:t>Final: ROI projection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703320"/>
            <a:ext cx="8229600" cy="2514600"/>
          </a:xfrm>
          <a:prstGeom prst="rect">
            <a:avLst/>
          </a:prstGeom>
          <a:solidFill>
            <a:srgbClr val="F8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703320"/>
            <a:ext cx="45720" cy="2514600"/>
          </a:xfrm>
          <a:prstGeom prst="rect">
            <a:avLst/>
          </a:prstGeom>
          <a:solidFill>
            <a:srgbClr val="E078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" y="3813048"/>
            <a:ext cx="7955279" cy="2331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2A2A2A"/>
                </a:solidFill>
                <a:latin typeface="Helvetica Neue"/>
              </a:rPr>
              <a:t>What testing changed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5A5A5A"/>
                </a:solidFill>
                <a:latin typeface="Helvetica Neue Light"/>
              </a:rPr>
              <a:t>Duplicate an imported budget as a template: users wanted to start plan two from plan one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5A5A5A"/>
                </a:solidFill>
                <a:latin typeface="Helvetica Neue Light"/>
              </a:rPr>
              <a:t>Reset became its own tool, after users kept looking for it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5A5A5A"/>
                </a:solidFill>
                <a:latin typeface="Helvetica Neue Light"/>
              </a:rPr>
              <a:t>The navigation bar with a toolbar scored high and stayed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5A5A5A"/>
                </a:solidFill>
                <a:latin typeface="Helvetica Neue Light"/>
              </a:rPr>
              <a:t>Short term vs long term became a first-class view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5A5A5A"/>
                </a:solidFill>
                <a:latin typeface="Helvetica Neue Light"/>
              </a:rPr>
              <a:t>Exporting, duplicating and saving moved up: partners called them vital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5A5A5A"/>
                </a:solidFill>
                <a:latin typeface="Helvetica Neue Light"/>
              </a:rPr>
              <a:t>Toggling chart types stayed; channel breakdown was called “a game changer”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radi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0972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00" b="0">
                <a:solidFill>
                  <a:srgbClr val="5A5A5A"/>
                </a:solidFill>
                <a:latin typeface="Helvetica Neue"/>
              </a:rPr>
              <a:t>How I led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2400" b="0">
                <a:solidFill>
                  <a:srgbClr val="E07856"/>
                </a:solidFill>
                <a:latin typeface="Helvetica Neue Light"/>
              </a:rPr>
              <a:t>Leading from the work</a:t>
            </a:r>
          </a:p>
        </p:txBody>
      </p:sp>
      <p:pic>
        <p:nvPicPr>
          <p:cNvPr id="5" name="Picture 4" descr="gradi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803136"/>
            <a:ext cx="9144000" cy="5486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510528"/>
            <a:ext cx="82296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00" b="0">
                <a:solidFill>
                  <a:srgbClr val="888888"/>
                </a:solidFill>
                <a:latin typeface="Helvetica Neue"/>
              </a:rPr>
              <a:t>michaelthibodeau(UX)  ·  AMEX MOCA  ·  10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25880"/>
            <a:ext cx="3931920" cy="2377440"/>
          </a:xfrm>
          <a:prstGeom prst="rect">
            <a:avLst/>
          </a:prstGeom>
          <a:solidFill>
            <a:srgbClr val="F8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25880"/>
            <a:ext cx="45720" cy="2377440"/>
          </a:xfrm>
          <a:prstGeom prst="rect">
            <a:avLst/>
          </a:prstGeom>
          <a:solidFill>
            <a:srgbClr val="E078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1435607"/>
            <a:ext cx="36576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2A2A2A"/>
                </a:solidFill>
                <a:latin typeface="Helvetica Neue"/>
              </a:rPr>
              <a:t>My role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5A5A5A"/>
                </a:solidFill>
                <a:latin typeface="Helvetica Neue Light"/>
              </a:rPr>
              <a:t>Owned discovery, research and UX strategy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5A5A5A"/>
                </a:solidFill>
                <a:latin typeface="Helvetica Neue Light"/>
              </a:rPr>
              <a:t>Designed the flows and screens myself, from sketches to final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5A5A5A"/>
                </a:solidFill>
                <a:latin typeface="Helvetica Neue Light"/>
              </a:rPr>
              <a:t>Ran Lean UX and usability testing on a regular cadence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5A5A5A"/>
                </a:solidFill>
                <a:latin typeface="Helvetica Neue Light"/>
              </a:rPr>
              <a:t>Presented the work to the client and key stakeholders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840480"/>
            <a:ext cx="3931920" cy="2377440"/>
          </a:xfrm>
          <a:prstGeom prst="rect">
            <a:avLst/>
          </a:prstGeom>
          <a:solidFill>
            <a:srgbClr val="F8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3840480"/>
            <a:ext cx="45720" cy="2377440"/>
          </a:xfrm>
          <a:prstGeom prst="rect">
            <a:avLst/>
          </a:prstGeom>
          <a:solidFill>
            <a:srgbClr val="E078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" y="3950208"/>
            <a:ext cx="36576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2A2A2A"/>
                </a:solidFill>
                <a:latin typeface="Helvetica Neue"/>
              </a:rPr>
              <a:t>Working with data scientists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5A5A5A"/>
                </a:solidFill>
                <a:latin typeface="Helvetica Neue Light"/>
              </a:rPr>
              <a:t>Co-designed with the data scientists who built the projection and optimization engines, so the interface showed what the models could support and nothing more.</a:t>
            </a:r>
          </a:p>
        </p:txBody>
      </p:sp>
      <p:pic>
        <p:nvPicPr>
          <p:cNvPr id="13" name="Picture 12" descr="c_s174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7720" y="1325880"/>
            <a:ext cx="4069080" cy="1976803"/>
          </a:xfrm>
          <a:prstGeom prst="rect">
            <a:avLst/>
          </a:prstGeom>
          <a:ln w="9525">
            <a:solidFill>
              <a:srgbClr val="E3DCD6"/>
            </a:solidFill>
          </a:ln>
        </p:spPr>
      </p:pic>
      <p:sp>
        <p:nvSpPr>
          <p:cNvPr id="14" name="Rectangle 13"/>
          <p:cNvSpPr/>
          <p:nvPr/>
        </p:nvSpPr>
        <p:spPr>
          <a:xfrm>
            <a:off x="4617720" y="4800600"/>
            <a:ext cx="4069080" cy="1417320"/>
          </a:xfrm>
          <a:prstGeom prst="rect">
            <a:avLst/>
          </a:prstGeom>
          <a:solidFill>
            <a:srgbClr val="F8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617720" y="4800600"/>
            <a:ext cx="45720" cy="1417320"/>
          </a:xfrm>
          <a:prstGeom prst="rect">
            <a:avLst/>
          </a:prstGeom>
          <a:solidFill>
            <a:srgbClr val="F5B5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82312" y="4910328"/>
            <a:ext cx="37947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2A2A2A"/>
                </a:solidFill>
                <a:latin typeface="Helvetica Neue"/>
              </a:rPr>
              <a:t>Delivery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5A5A5A"/>
                </a:solidFill>
                <a:latin typeface="Helvetica Neue Light"/>
              </a:rPr>
              <a:t>12 Agile sprints · usability testing every cycle · demos and QA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radi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0972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00" b="0">
                <a:solidFill>
                  <a:srgbClr val="5A5A5A"/>
                </a:solidFill>
                <a:latin typeface="Helvetica Neue"/>
              </a:rPr>
              <a:t>Reflection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2400" b="0">
                <a:solidFill>
                  <a:srgbClr val="E07856"/>
                </a:solidFill>
                <a:latin typeface="Helvetica Neue Light"/>
              </a:rPr>
              <a:t>What I’d do differently today</a:t>
            </a:r>
          </a:p>
        </p:txBody>
      </p:sp>
      <p:pic>
        <p:nvPicPr>
          <p:cNvPr id="5" name="Picture 4" descr="gradi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803136"/>
            <a:ext cx="9144000" cy="5486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510528"/>
            <a:ext cx="82296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00" b="0">
                <a:solidFill>
                  <a:srgbClr val="888888"/>
                </a:solidFill>
                <a:latin typeface="Helvetica Neue"/>
              </a:rPr>
              <a:t>michaelthibodeau(UX)  ·  AMEX MOCA  · 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25880"/>
            <a:ext cx="8229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2A2A2A"/>
                </a:solidFill>
                <a:latin typeface="Helvetica Neue Light"/>
              </a:rPr>
              <a:t>The fundamentals held up. With today’s tools I would change the level, not the goal.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103120"/>
            <a:ext cx="2606040" cy="2743200"/>
          </a:xfrm>
          <a:prstGeom prst="rect">
            <a:avLst/>
          </a:prstGeom>
          <a:solidFill>
            <a:srgbClr val="F8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103120"/>
            <a:ext cx="45720" cy="2743200"/>
          </a:xfrm>
          <a:prstGeom prst="rect">
            <a:avLst/>
          </a:prstGeom>
          <a:solidFill>
            <a:srgbClr val="E078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2212848"/>
            <a:ext cx="2331720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2A2A2A"/>
                </a:solidFill>
                <a:latin typeface="Helvetica Neue"/>
              </a:rPr>
              <a:t>Explain the optimizer, line by line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5A5A5A"/>
                </a:solidFill>
                <a:latin typeface="Helvetica Neue Light"/>
              </a:rPr>
              <a:t>Show why the optimized plan moves money between channels, in the partner’s terms, so trust comes from understanding.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2103120"/>
            <a:ext cx="2606040" cy="2743200"/>
          </a:xfrm>
          <a:prstGeom prst="rect">
            <a:avLst/>
          </a:prstGeom>
          <a:solidFill>
            <a:srgbClr val="F8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46120" y="2103120"/>
            <a:ext cx="45720" cy="2743200"/>
          </a:xfrm>
          <a:prstGeom prst="rect">
            <a:avLst/>
          </a:prstGeom>
          <a:solidFill>
            <a:srgbClr val="E078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10712" y="2212848"/>
            <a:ext cx="2331720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2A2A2A"/>
                </a:solidFill>
                <a:latin typeface="Helvetica Neue"/>
              </a:rPr>
              <a:t>Prototype the engine early, in code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5A5A5A"/>
                </a:solidFill>
                <a:latin typeface="Helvetica Neue Light"/>
              </a:rPr>
              <a:t>Test real projections with partners in week one, instead of after the model was built.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0" y="2103120"/>
            <a:ext cx="2606040" cy="2743200"/>
          </a:xfrm>
          <a:prstGeom prst="rect">
            <a:avLst/>
          </a:prstGeom>
          <a:solidFill>
            <a:srgbClr val="F8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35040" y="2103120"/>
            <a:ext cx="45720" cy="2743200"/>
          </a:xfrm>
          <a:prstGeom prst="rect">
            <a:avLst/>
          </a:prstGeom>
          <a:solidFill>
            <a:srgbClr val="E078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99631" y="2212848"/>
            <a:ext cx="2331720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2A2A2A"/>
                </a:solidFill>
                <a:latin typeface="Helvetica Neue"/>
              </a:rPr>
              <a:t>Measure trust, not just completion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5A5A5A"/>
                </a:solidFill>
                <a:latin typeface="Helvetica Neue Light"/>
              </a:rPr>
              <a:t>Track how often partners pick the optimized plan and why they change it, as a guardrail on the model.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166360"/>
            <a:ext cx="8229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5A5A5A"/>
                </a:solidFill>
                <a:latin typeface="Helvetica Neue Light"/>
              </a:rPr>
              <a:t>If we can measure it, we can manage it. MOCA set its baseline in discovery and reported against it after launch: the habit I bring to every project.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radi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2286000"/>
            <a:ext cx="8229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4000" b="0">
                <a:solidFill>
                  <a:srgbClr val="2A2A2A"/>
                </a:solidFill>
                <a:latin typeface="Helvetica Neue Light"/>
              </a:rPr>
              <a:t>Michael Thibodeau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10896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2A2A2A"/>
                </a:solidFill>
                <a:latin typeface="Helvetica Neue Light"/>
              </a:rPr>
              <a:t>I design AI people can trust with their money, and I lead teams that build it fast.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931920"/>
            <a:ext cx="8229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2A2A2A"/>
                </a:solidFill>
                <a:latin typeface="Helvetica Neue"/>
              </a:rPr>
              <a:t>michaeljthibodeau.com  ·  michaelthbd@yahoo.com  ·  646-436-2876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
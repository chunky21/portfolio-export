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99" d="100"/>
          <a:sy n="99" d="100"/>
        </p:scale>
        <p:origin x="192" y="6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4C558-3F90-294E-847E-89A49424C9A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4A7A4-41BF-964D-A412-D2F3665B9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2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NO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a </a:t>
            </a:r>
            <a:r>
              <a:rPr lang="en-N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cohesive SVG design system</a:t>
            </a:r>
            <a:r>
              <a:rPr lang="en-NO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 build a </a:t>
            </a:r>
            <a:r>
              <a:rPr lang="en-N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cohesive SVG design system</a:t>
            </a:r>
            <a:r>
              <a:rPr lang="en-NO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4A7A4-41BF-964D-A412-D2F3665B96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63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Workflow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415142" cy="1097280"/>
          </a:xfrm>
          <a:prstGeom prst="roundRect">
            <a:avLst/>
          </a:prstGeom>
          <a:solidFill>
            <a:srgbClr val="17405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10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01</a:t>
            </a:r>
          </a:p>
          <a:p>
            <a:pPr algn="ctr">
              <a:defRPr sz="1300" b="1"/>
            </a:pPr>
            <a:r>
              <a:rPr lang="en-US" sz="1300" b="1" dirty="0">
                <a:solidFill>
                  <a:srgbClr val="FFFFFF"/>
                </a:solidFill>
                <a:latin typeface="+mn-lt"/>
              </a:rPr>
              <a:t>Analyst</a:t>
            </a:r>
            <a:br/>
            <a:r>
              <a:rPr lang="en-US" sz="1300" b="1" dirty="0">
                <a:solidFill>
                  <a:srgbClr val="FFFFFF"/>
                </a:solidFill>
                <a:latin typeface="+mn-lt"/>
              </a:rPr>
              <a:t>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0942" y="2286000"/>
            <a:ext cx="1415142" cy="1097280"/>
          </a:xfrm>
          <a:prstGeom prst="roundRect">
            <a:avLst/>
          </a:prstGeom>
          <a:solidFill>
            <a:srgbClr val="1C5075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10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02</a:t>
            </a:r>
          </a:p>
          <a:p>
            <a:pPr algn="ctr">
              <a:defRPr sz="1300" b="1"/>
            </a:pPr>
            <a:r>
              <a:rPr lang="en-US" sz="1300" b="1" dirty="0">
                <a:solidFill>
                  <a:srgbClr val="FFFFFF"/>
                </a:solidFill>
                <a:latin typeface="+mn-lt"/>
              </a:rPr>
              <a:t>Intent</a:t>
            </a:r>
            <a:br/>
            <a:r>
              <a:rPr lang="en-US" sz="1300" b="1" dirty="0">
                <a:solidFill>
                  <a:srgbClr val="FFFFFF"/>
                </a:solidFill>
                <a:latin typeface="+mn-lt"/>
              </a:rPr>
              <a:t>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4684" y="2286000"/>
            <a:ext cx="1415142" cy="1097280"/>
          </a:xfrm>
          <a:prstGeom prst="roundRect">
            <a:avLst/>
          </a:prstGeom>
          <a:solidFill>
            <a:srgbClr val="226089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10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03</a:t>
            </a:r>
          </a:p>
          <a:p>
            <a:pPr algn="ctr">
              <a:defRPr sz="1300" b="1"/>
            </a:pPr>
            <a:r>
              <a:rPr lang="en-US" sz="1300" b="1" dirty="0">
                <a:solidFill>
                  <a:srgbClr val="FFFFFF"/>
                </a:solidFill>
                <a:latin typeface="+mn-lt"/>
              </a:rPr>
              <a:t>RAG</a:t>
            </a:r>
            <a:br/>
            <a:r>
              <a:rPr lang="en-US" sz="1300" b="1" dirty="0">
                <a:solidFill>
                  <a:srgbClr val="FFFFFF"/>
                </a:solidFill>
                <a:latin typeface="+mn-lt"/>
              </a:rPr>
              <a:t>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88426" y="2286000"/>
            <a:ext cx="1415142" cy="1097280"/>
          </a:xfrm>
          <a:prstGeom prst="roundRect">
            <a:avLst/>
          </a:prstGeom>
          <a:solidFill>
            <a:srgbClr val="27709D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10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04</a:t>
            </a:r>
          </a:p>
          <a:p>
            <a:pPr algn="ctr">
              <a:defRPr sz="1300" b="1"/>
            </a:pPr>
            <a:r>
              <a:rPr lang="en-US" sz="1300" b="1" dirty="0">
                <a:solidFill>
                  <a:srgbClr val="FFFFFF"/>
                </a:solidFill>
                <a:latin typeface="+mn-lt"/>
              </a:rPr>
              <a:t>LLM</a:t>
            </a:r>
            <a:br/>
            <a:r>
              <a:rPr lang="en-US" sz="1300" b="1" dirty="0">
                <a:solidFill>
                  <a:srgbClr val="FFFFFF"/>
                </a:solidFill>
                <a:latin typeface="+mn-lt"/>
              </a:rPr>
              <a:t>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32168" y="2286000"/>
            <a:ext cx="1415142" cy="1097280"/>
          </a:xfrm>
          <a:prstGeom prst="roundRect">
            <a:avLst/>
          </a:prstGeom>
          <a:solidFill>
            <a:srgbClr val="2C80B1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10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05</a:t>
            </a:r>
          </a:p>
          <a:p>
            <a:pPr algn="ctr">
              <a:defRPr sz="1300" b="1"/>
            </a:pPr>
            <a:r>
              <a:rPr lang="en-US" sz="1300" b="1" dirty="0">
                <a:solidFill>
                  <a:srgbClr val="FFFFFF"/>
                </a:solidFill>
                <a:latin typeface="+mn-lt"/>
              </a:rPr>
              <a:t>Citations &amp;</a:t>
            </a:r>
            <a:br/>
            <a:r>
              <a:rPr lang="en-US" sz="1300" b="1" dirty="0">
                <a:solidFill>
                  <a:srgbClr val="FFFFFF"/>
                </a:solidFill>
                <a:latin typeface="+mn-lt"/>
              </a:rPr>
              <a:t>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75910" y="2286000"/>
            <a:ext cx="1415142" cy="1097280"/>
          </a:xfrm>
          <a:prstGeom prst="roundRect">
            <a:avLst/>
          </a:prstGeom>
          <a:solidFill>
            <a:srgbClr val="3E93C1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10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06</a:t>
            </a:r>
          </a:p>
          <a:p>
            <a:pPr algn="ctr">
              <a:defRPr sz="1300" b="1"/>
            </a:pPr>
            <a:r>
              <a:rPr lang="en-US" sz="1300" b="1" dirty="0">
                <a:solidFill>
                  <a:srgbClr val="FFFFFF"/>
                </a:solidFill>
                <a:latin typeface="+mn-lt"/>
              </a:rPr>
              <a:t>Human</a:t>
            </a:r>
            <a:br/>
            <a:r>
              <a:rPr lang="en-US" sz="1300" b="1" dirty="0">
                <a:solidFill>
                  <a:srgbClr val="FFFFFF"/>
                </a:solidFill>
                <a:latin typeface="+mn-lt"/>
              </a:rPr>
              <a:t>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19652" y="2286000"/>
            <a:ext cx="1415142" cy="1097280"/>
          </a:xfrm>
          <a:prstGeom prst="roundRect">
            <a:avLst/>
          </a:prstGeom>
          <a:solidFill>
            <a:srgbClr val="5AA9D0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10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07</a:t>
            </a:r>
          </a:p>
          <a:p>
            <a:pPr algn="ctr">
              <a:defRPr sz="1300" b="1"/>
            </a:pPr>
            <a:r>
              <a:rPr lang="en-US" sz="1300" b="1" dirty="0">
                <a:solidFill>
                  <a:srgbClr val="FFFFFF"/>
                </a:solidFill>
                <a:latin typeface="+mn-lt"/>
              </a:rPr>
              <a:t>Resolution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2342" y="2834640"/>
            <a:ext cx="228600" cy="0"/>
          </a:xfrm>
          <a:prstGeom prst="line">
            <a:avLst/>
          </a:prstGeom>
          <a:ln w="19050">
            <a:solidFill>
              <a:srgbClr val="8FA9BD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3516084" y="2834640"/>
            <a:ext cx="228600" cy="0"/>
          </a:xfrm>
          <a:prstGeom prst="line">
            <a:avLst/>
          </a:prstGeom>
          <a:ln w="19050">
            <a:solidFill>
              <a:srgbClr val="8FA9BD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5159826" y="2834640"/>
            <a:ext cx="228600" cy="0"/>
          </a:xfrm>
          <a:prstGeom prst="line">
            <a:avLst/>
          </a:prstGeom>
          <a:ln w="19050">
            <a:solidFill>
              <a:srgbClr val="8FA9BD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6803568" y="2834640"/>
            <a:ext cx="228600" cy="0"/>
          </a:xfrm>
          <a:prstGeom prst="line">
            <a:avLst/>
          </a:prstGeom>
          <a:ln w="19050">
            <a:solidFill>
              <a:srgbClr val="8FA9BD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8447310" y="2834640"/>
            <a:ext cx="228600" cy="0"/>
          </a:xfrm>
          <a:prstGeom prst="line">
            <a:avLst/>
          </a:prstGeom>
          <a:ln w="19050">
            <a:solidFill>
              <a:srgbClr val="8FA9BD"/>
            </a:solidFill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>
            <a:off x="10091052" y="2834640"/>
            <a:ext cx="228600" cy="0"/>
          </a:xfrm>
          <a:prstGeom prst="line">
            <a:avLst/>
          </a:prstGeom>
          <a:ln w="19050">
            <a:solidFill>
              <a:srgbClr val="8FA9BD"/>
            </a:solidFill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Information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1459820"/>
            <a:ext cx="1828800" cy="640080"/>
          </a:xfrm>
          <a:prstGeom prst="roundRect">
            <a:avLst/>
          </a:prstGeom>
          <a:solidFill>
            <a:srgbClr val="17405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Meridian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11380"/>
            <a:ext cx="1645920" cy="548640"/>
          </a:xfrm>
          <a:prstGeom prst="roundRect">
            <a:avLst/>
          </a:prstGeom>
          <a:solidFill>
            <a:srgbClr val="27709D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Dashboard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280160" y="2145620"/>
            <a:ext cx="4754880" cy="36576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2377440" y="2511380"/>
            <a:ext cx="1645920" cy="548640"/>
          </a:xfrm>
          <a:prstGeom prst="roundRect">
            <a:avLst/>
          </a:prstGeom>
          <a:solidFill>
            <a:srgbClr val="27709D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Research Agent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00400" y="2145620"/>
            <a:ext cx="2834640" cy="36576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8" name="Rounded Rectangle 7"/>
          <p:cNvSpPr/>
          <p:nvPr/>
        </p:nvSpPr>
        <p:spPr>
          <a:xfrm>
            <a:off x="4297680" y="2511380"/>
            <a:ext cx="1645920" cy="548640"/>
          </a:xfrm>
          <a:prstGeom prst="roundRect">
            <a:avLst/>
          </a:prstGeom>
          <a:solidFill>
            <a:srgbClr val="27709D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Investigations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120640" y="2145620"/>
            <a:ext cx="914400" cy="36576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6217920" y="2511380"/>
            <a:ext cx="1645920" cy="548640"/>
          </a:xfrm>
          <a:prstGeom prst="roundRect">
            <a:avLst/>
          </a:prstGeom>
          <a:solidFill>
            <a:srgbClr val="27709D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Knowledge 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145620"/>
            <a:ext cx="1005840" cy="36576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12" name="Rounded Rectangle 11"/>
          <p:cNvSpPr/>
          <p:nvPr/>
        </p:nvSpPr>
        <p:spPr>
          <a:xfrm>
            <a:off x="8138160" y="2511380"/>
            <a:ext cx="1645920" cy="548640"/>
          </a:xfrm>
          <a:prstGeom prst="roundRect">
            <a:avLst/>
          </a:prstGeom>
          <a:solidFill>
            <a:srgbClr val="27709D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Reports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145620"/>
            <a:ext cx="2926080" cy="36576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10058400" y="2511380"/>
            <a:ext cx="1645920" cy="548640"/>
          </a:xfrm>
          <a:prstGeom prst="roundRect">
            <a:avLst/>
          </a:prstGeom>
          <a:solidFill>
            <a:srgbClr val="27709D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Settings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145620"/>
            <a:ext cx="4846320" cy="36576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2103120" y="4523060"/>
            <a:ext cx="1371600" cy="502920"/>
          </a:xfrm>
          <a:prstGeom prst="roundRect">
            <a:avLst/>
          </a:prstGeom>
          <a:solidFill>
            <a:srgbClr val="5AA9D0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Conversation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88920" y="3060020"/>
            <a:ext cx="411480" cy="146304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18" name="Rounded Rectangle 17"/>
          <p:cNvSpPr/>
          <p:nvPr/>
        </p:nvSpPr>
        <p:spPr>
          <a:xfrm>
            <a:off x="3749039" y="4523060"/>
            <a:ext cx="1371600" cy="502920"/>
          </a:xfrm>
          <a:prstGeom prst="roundRect">
            <a:avLst/>
          </a:prstGeom>
          <a:solidFill>
            <a:srgbClr val="5AA9D0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AI Answer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3060020"/>
            <a:ext cx="1234439" cy="146304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20" name="Rounded Rectangle 19"/>
          <p:cNvSpPr/>
          <p:nvPr/>
        </p:nvSpPr>
        <p:spPr>
          <a:xfrm>
            <a:off x="5394960" y="4523060"/>
            <a:ext cx="1371600" cy="502920"/>
          </a:xfrm>
          <a:prstGeom prst="roundRect">
            <a:avLst/>
          </a:prstGeom>
          <a:solidFill>
            <a:srgbClr val="5AA9D0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0" y="3060020"/>
            <a:ext cx="2880360" cy="146304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22" name="Rounded Rectangle 21"/>
          <p:cNvSpPr/>
          <p:nvPr/>
        </p:nvSpPr>
        <p:spPr>
          <a:xfrm>
            <a:off x="7040880" y="4523060"/>
            <a:ext cx="1371600" cy="502920"/>
          </a:xfrm>
          <a:prstGeom prst="roundRect">
            <a:avLst/>
          </a:prstGeom>
          <a:solidFill>
            <a:srgbClr val="5AA9D0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Workspace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3060020"/>
            <a:ext cx="4526280" cy="146304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  <p:sp>
        <p:nvSpPr>
          <p:cNvPr id="24" name="Rounded Rectangle 23"/>
          <p:cNvSpPr/>
          <p:nvPr/>
        </p:nvSpPr>
        <p:spPr>
          <a:xfrm>
            <a:off x="8686800" y="4523060"/>
            <a:ext cx="1371600" cy="502920"/>
          </a:xfrm>
          <a:prstGeom prst="roundRect">
            <a:avLst/>
          </a:prstGeom>
          <a:solidFill>
            <a:srgbClr val="5AA9D0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Feedback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3060020"/>
            <a:ext cx="6172200" cy="1463040"/>
          </a:xfrm>
          <a:prstGeom prst="line">
            <a:avLst/>
          </a:prstGeom>
          <a:ln w="15875">
            <a:solidFill>
              <a:srgbClr val="9FB4C6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AI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0" y="731520"/>
            <a:ext cx="2560320" cy="457200"/>
          </a:xfrm>
          <a:prstGeom prst="roundRect">
            <a:avLst/>
          </a:prstGeom>
          <a:solidFill>
            <a:srgbClr val="17405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01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2560320" cy="457200"/>
          </a:xfrm>
          <a:prstGeom prst="roundRect">
            <a:avLst/>
          </a:prstGeom>
          <a:solidFill>
            <a:srgbClr val="204F6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02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Conversation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0" y="1188720"/>
            <a:ext cx="0" cy="18288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754880" y="2011680"/>
            <a:ext cx="2560320" cy="457200"/>
          </a:xfrm>
          <a:prstGeom prst="roundRect">
            <a:avLst/>
          </a:prstGeom>
          <a:solidFill>
            <a:srgbClr val="2A5E7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03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Intent 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828800"/>
            <a:ext cx="0" cy="18288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4754880" y="2651760"/>
            <a:ext cx="2560320" cy="457200"/>
          </a:xfrm>
          <a:prstGeom prst="roundRect">
            <a:avLst/>
          </a:prstGeom>
          <a:solidFill>
            <a:srgbClr val="336D8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04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RAG Orchestrator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468880"/>
            <a:ext cx="0" cy="18288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4754880" y="3474720"/>
            <a:ext cx="2560320" cy="457200"/>
          </a:xfrm>
          <a:prstGeom prst="roundRect">
            <a:avLst/>
          </a:prstGeom>
          <a:solidFill>
            <a:srgbClr val="3D7C9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05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Enterprise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3108960"/>
            <a:ext cx="0" cy="36576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4754880" y="4297680"/>
            <a:ext cx="2560320" cy="457200"/>
          </a:xfrm>
          <a:prstGeom prst="roundRect">
            <a:avLst/>
          </a:prstGeom>
          <a:solidFill>
            <a:srgbClr val="468BA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06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3931920"/>
            <a:ext cx="0" cy="36576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4754880" y="5029200"/>
            <a:ext cx="2560320" cy="457200"/>
          </a:xfrm>
          <a:prstGeom prst="roundRect">
            <a:avLst/>
          </a:prstGeom>
          <a:solidFill>
            <a:srgbClr val="509ABF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07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Citation Engine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4754880"/>
            <a:ext cx="0" cy="27432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4754880" y="5760720"/>
            <a:ext cx="2560320" cy="457200"/>
          </a:xfrm>
          <a:prstGeom prst="roundRect">
            <a:avLst/>
          </a:prstGeom>
          <a:solidFill>
            <a:srgbClr val="5AA9D0"/>
          </a:solidFill>
          <a:ln w="12700">
            <a:solidFill>
              <a:srgbClr val="FFFFFF"/>
            </a:solidFill>
          </a:ln>
          <a:effectLst>
            <a:outerShdw blurRad="50800" dist="25400" dir="5400000" algn="ctr" rotWithShape="0">
              <a:srgbClr val="000000">
                <a:alpha val="18000"/>
              </a:srgbClr>
            </a:outerShdw>
          </a:effectLst>
        </p:spPr>
        <p:txBody>
          <a:bodyPr lIns="45720" rIns="45720" rtlCol="0" anchor="ctr">
            <a:normAutofit/>
          </a:bodyPr>
          <a:lstStyle/>
          <a:p>
            <a:pPr algn="ctr"/>
            <a:r>
              <a:rPr lang="en-US" sz="900" b="1" spc="200" dirty="0">
                <a:solidFill>
                  <a:srgbClr val="FFFFFF">
                    <a:alpha val="65000"/>
                  </a:srgbClr>
                </a:solidFill>
                <a:latin typeface="+mn-lt"/>
              </a:rPr>
              <a:t>08</a:t>
            </a:r>
          </a:p>
          <a:p>
            <a:pPr algn="ctr">
              <a:defRPr sz="1200" b="1"/>
            </a:pPr>
            <a:r>
              <a:rPr lang="en-US" sz="1200" b="1" dirty="0">
                <a:solidFill>
                  <a:srgbClr val="FFFFFF"/>
                </a:solidFill>
                <a:latin typeface="+mn-lt"/>
              </a:rPr>
              <a:t>Explainable Response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5486400"/>
            <a:ext cx="0" cy="27432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User Journey Map</a:t>
            </a:r>
          </a:p>
        </p:txBody>
      </p:sp>
      <p:sp>
        <p:nvSpPr>
          <p:cNvPr id="201" name="Stage 1"/>
          <p:cNvSpPr/>
          <p:nvPr/>
        </p:nvSpPr>
        <p:spPr>
          <a:xfrm>
            <a:off x="457200" y="1188720"/>
            <a:ext cx="2109216" cy="822960"/>
          </a:xfrm>
          <a:prstGeom prst="roundRect">
            <a:avLst>
              <a:gd name="adj" fmla="val 14000"/>
            </a:avLst>
          </a:prstGeom>
          <a:solidFill>
            <a:srgbClr val="17405F"/>
          </a:solidFill>
          <a:effectLst>
            <a:outerShdw blurRad="50800" dist="25400" dir="5400000" algn="ctr" rotWithShape="0">
              <a:srgbClr val="000000">
                <a:alpha val="14000"/>
              </a:srgbClr>
            </a:outerShdw>
          </a:effectLst>
        </p:spPr>
        <p:txBody>
          <a:bodyPr lIns="137160" tIns="137160" rIns="137160" bIns="137160" rtlCol="0" anchor="ctr">
            <a:normAutofit/>
          </a:bodyPr>
          <a:lstStyle/>
          <a:p>
            <a:pPr algn="ctr"/>
            <a:r>
              <a:rPr lang="en-US" sz="800" b="1" spc="200" dirty="0">
                <a:solidFill>
                  <a:srgbClr val="FFFFFF">
                    <a:alpha val="70000"/>
                  </a:srgbClr>
                </a:solidFill>
                <a:latin typeface="+mn-lt"/>
              </a:rPr>
              <a:t>STAGE 01</a:t>
            </a:r>
          </a:p>
          <a:p>
            <a:pPr algn="ctr"/>
            <a:r>
              <a:rPr lang="en-US" sz="1300" b="1" spc="0" dirty="0">
                <a:solidFill>
                  <a:srgbClr val="FFFFFF"/>
                </a:solidFill>
                <a:latin typeface="+mn-lt"/>
              </a:rPr>
              <a:t>Receive Exception</a:t>
            </a:r>
          </a:p>
        </p:txBody>
      </p:sp>
      <p:sp>
        <p:nvSpPr>
          <p:cNvPr id="202" name="Detail 1"/>
          <p:cNvSpPr/>
          <p:nvPr/>
        </p:nvSpPr>
        <p:spPr>
          <a:xfrm>
            <a:off x="457200" y="2011680"/>
            <a:ext cx="2109216" cy="1737360"/>
          </a:xfrm>
          <a:prstGeom prst="roundRect">
            <a:avLst>
              <a:gd name="adj" fmla="val 9000"/>
            </a:avLst>
          </a:prstGeom>
          <a:solidFill>
            <a:srgbClr val="F1F6FA"/>
          </a:solidFill>
          <a:ln w="12700">
            <a:solidFill>
              <a:srgbClr val="D8E4EC"/>
            </a:solidFill>
          </a:ln>
        </p:spPr>
        <p:txBody>
          <a:bodyPr lIns="137160" tIns="137160" rIns="137160" bIns="137160" rtlCol="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800" b="1" spc="150" dirty="0">
                <a:solidFill>
                  <a:srgbClr val="17405F"/>
                </a:solidFill>
                <a:latin typeface="+mn-lt"/>
              </a:rPr>
              <a:t>GOAL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Understand issue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17405F"/>
                </a:solidFill>
                <a:latin typeface="+mn-lt"/>
              </a:rPr>
              <a:t>PAIN POINT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Limited context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17405F"/>
                </a:solidFill>
                <a:latin typeface="+mn-lt"/>
              </a:rPr>
              <a:t>AI OPPORTUNITY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Summarize</a:t>
            </a:r>
          </a:p>
        </p:txBody>
      </p:sp>
      <p:cxnSp>
        <p:nvCxnSpPr>
          <p:cNvPr id="203" name="Arrow 0"/>
          <p:cNvCxnSpPr/>
          <p:nvPr/>
        </p:nvCxnSpPr>
        <p:spPr>
          <a:xfrm>
            <a:off x="2566416" y="1600200"/>
            <a:ext cx="182880" cy="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204" name="Stage 2"/>
          <p:cNvSpPr/>
          <p:nvPr/>
        </p:nvSpPr>
        <p:spPr>
          <a:xfrm>
            <a:off x="2749296" y="1188720"/>
            <a:ext cx="2109216" cy="822960"/>
          </a:xfrm>
          <a:prstGeom prst="roundRect">
            <a:avLst>
              <a:gd name="adj" fmla="val 14000"/>
            </a:avLst>
          </a:prstGeom>
          <a:solidFill>
            <a:srgbClr val="27709D"/>
          </a:solidFill>
          <a:effectLst>
            <a:outerShdw blurRad="50800" dist="25400" dir="5400000" algn="ctr" rotWithShape="0">
              <a:srgbClr val="000000">
                <a:alpha val="14000"/>
              </a:srgbClr>
            </a:outerShdw>
          </a:effectLst>
        </p:spPr>
        <p:txBody>
          <a:bodyPr lIns="137160" tIns="137160" rIns="137160" bIns="137160" rtlCol="0" anchor="ctr">
            <a:normAutofit/>
          </a:bodyPr>
          <a:lstStyle/>
          <a:p>
            <a:pPr algn="ctr"/>
            <a:r>
              <a:rPr lang="en-US" sz="800" b="1" spc="200" dirty="0">
                <a:solidFill>
                  <a:srgbClr val="FFFFFF">
                    <a:alpha val="70000"/>
                  </a:srgbClr>
                </a:solidFill>
                <a:latin typeface="+mn-lt"/>
              </a:rPr>
              <a:t>STAGE 02</a:t>
            </a:r>
          </a:p>
          <a:p>
            <a:pPr algn="ctr"/>
            <a:r>
              <a:rPr lang="en-US" sz="1300" b="1" spc="0" dirty="0">
                <a:solidFill>
                  <a:srgbClr val="FFFFFF"/>
                </a:solidFill>
                <a:latin typeface="+mn-lt"/>
              </a:rPr>
              <a:t>Investigate</a:t>
            </a:r>
          </a:p>
        </p:txBody>
      </p:sp>
      <p:sp>
        <p:nvSpPr>
          <p:cNvPr id="205" name="Detail 2"/>
          <p:cNvSpPr/>
          <p:nvPr/>
        </p:nvSpPr>
        <p:spPr>
          <a:xfrm>
            <a:off x="2749296" y="2011680"/>
            <a:ext cx="2109216" cy="1737360"/>
          </a:xfrm>
          <a:prstGeom prst="roundRect">
            <a:avLst>
              <a:gd name="adj" fmla="val 9000"/>
            </a:avLst>
          </a:prstGeom>
          <a:solidFill>
            <a:srgbClr val="F1F6FA"/>
          </a:solidFill>
          <a:ln w="12700">
            <a:solidFill>
              <a:srgbClr val="D8E4EC"/>
            </a:solidFill>
          </a:ln>
        </p:spPr>
        <p:txBody>
          <a:bodyPr lIns="137160" tIns="137160" rIns="137160" bIns="137160" rtlCol="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800" b="1" spc="150" dirty="0">
                <a:solidFill>
                  <a:srgbClr val="27709D"/>
                </a:solidFill>
                <a:latin typeface="+mn-lt"/>
              </a:rPr>
              <a:t>GOAL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Find evidence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27709D"/>
                </a:solidFill>
                <a:latin typeface="+mn-lt"/>
              </a:rPr>
              <a:t>PAIN POINT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Many systems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27709D"/>
                </a:solidFill>
                <a:latin typeface="+mn-lt"/>
              </a:rPr>
              <a:t>AI OPPORTUNITY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Cross-system retrieval</a:t>
            </a:r>
          </a:p>
        </p:txBody>
      </p:sp>
      <p:cxnSp>
        <p:nvCxnSpPr>
          <p:cNvPr id="206" name="Arrow 1"/>
          <p:cNvCxnSpPr/>
          <p:nvPr/>
        </p:nvCxnSpPr>
        <p:spPr>
          <a:xfrm>
            <a:off x="4858512" y="1600200"/>
            <a:ext cx="182880" cy="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207" name="Stage 3"/>
          <p:cNvSpPr/>
          <p:nvPr/>
        </p:nvSpPr>
        <p:spPr>
          <a:xfrm>
            <a:off x="5041392" y="1188720"/>
            <a:ext cx="2109216" cy="822960"/>
          </a:xfrm>
          <a:prstGeom prst="roundRect">
            <a:avLst>
              <a:gd name="adj" fmla="val 14000"/>
            </a:avLst>
          </a:prstGeom>
          <a:solidFill>
            <a:srgbClr val="3E93C1"/>
          </a:solidFill>
          <a:effectLst>
            <a:outerShdw blurRad="50800" dist="25400" dir="5400000" algn="ctr" rotWithShape="0">
              <a:srgbClr val="000000">
                <a:alpha val="14000"/>
              </a:srgbClr>
            </a:outerShdw>
          </a:effectLst>
        </p:spPr>
        <p:txBody>
          <a:bodyPr lIns="137160" tIns="137160" rIns="137160" bIns="137160" rtlCol="0" anchor="ctr">
            <a:normAutofit/>
          </a:bodyPr>
          <a:lstStyle/>
          <a:p>
            <a:pPr algn="ctr"/>
            <a:r>
              <a:rPr lang="en-US" sz="800" b="1" spc="200" dirty="0">
                <a:solidFill>
                  <a:srgbClr val="FFFFFF">
                    <a:alpha val="70000"/>
                  </a:srgbClr>
                </a:solidFill>
                <a:latin typeface="+mn-lt"/>
              </a:rPr>
              <a:t>STAGE 03</a:t>
            </a:r>
          </a:p>
          <a:p>
            <a:pPr algn="ctr"/>
            <a:r>
              <a:rPr lang="en-US" sz="1300" b="1" spc="0" dirty="0">
                <a:solidFill>
                  <a:srgbClr val="FFFFFF"/>
                </a:solidFill>
                <a:latin typeface="+mn-lt"/>
              </a:rPr>
              <a:t>Analyze</a:t>
            </a:r>
          </a:p>
        </p:txBody>
      </p:sp>
      <p:sp>
        <p:nvSpPr>
          <p:cNvPr id="208" name="Detail 3"/>
          <p:cNvSpPr/>
          <p:nvPr/>
        </p:nvSpPr>
        <p:spPr>
          <a:xfrm>
            <a:off x="5041392" y="2011680"/>
            <a:ext cx="2109216" cy="1737360"/>
          </a:xfrm>
          <a:prstGeom prst="roundRect">
            <a:avLst>
              <a:gd name="adj" fmla="val 9000"/>
            </a:avLst>
          </a:prstGeom>
          <a:solidFill>
            <a:srgbClr val="F1F6FA"/>
          </a:solidFill>
          <a:ln w="12700">
            <a:solidFill>
              <a:srgbClr val="D8E4EC"/>
            </a:solidFill>
          </a:ln>
        </p:spPr>
        <p:txBody>
          <a:bodyPr lIns="137160" tIns="137160" rIns="137160" bIns="137160" rtlCol="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800" b="1" spc="150" dirty="0">
                <a:solidFill>
                  <a:srgbClr val="3E93C1"/>
                </a:solidFill>
                <a:latin typeface="+mn-lt"/>
              </a:rPr>
              <a:t>GOAL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Determine cause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3E93C1"/>
                </a:solidFill>
                <a:latin typeface="+mn-lt"/>
              </a:rPr>
              <a:t>PAIN POINT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Manual synthesis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3E93C1"/>
                </a:solidFill>
                <a:latin typeface="+mn-lt"/>
              </a:rPr>
              <a:t>AI OPPORTUNITY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AI summary</a:t>
            </a:r>
          </a:p>
        </p:txBody>
      </p:sp>
      <p:cxnSp>
        <p:nvCxnSpPr>
          <p:cNvPr id="209" name="Arrow 2"/>
          <p:cNvCxnSpPr/>
          <p:nvPr/>
        </p:nvCxnSpPr>
        <p:spPr>
          <a:xfrm>
            <a:off x="7150608" y="1600200"/>
            <a:ext cx="182880" cy="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210" name="Stage 4"/>
          <p:cNvSpPr/>
          <p:nvPr/>
        </p:nvSpPr>
        <p:spPr>
          <a:xfrm>
            <a:off x="7333488" y="1188720"/>
            <a:ext cx="2109216" cy="822960"/>
          </a:xfrm>
          <a:prstGeom prst="roundRect">
            <a:avLst>
              <a:gd name="adj" fmla="val 14000"/>
            </a:avLst>
          </a:prstGeom>
          <a:solidFill>
            <a:srgbClr val="5AA9D0"/>
          </a:solidFill>
          <a:effectLst>
            <a:outerShdw blurRad="50800" dist="25400" dir="5400000" algn="ctr" rotWithShape="0">
              <a:srgbClr val="000000">
                <a:alpha val="14000"/>
              </a:srgbClr>
            </a:outerShdw>
          </a:effectLst>
        </p:spPr>
        <p:txBody>
          <a:bodyPr lIns="137160" tIns="137160" rIns="137160" bIns="137160" rtlCol="0" anchor="ctr">
            <a:normAutofit/>
          </a:bodyPr>
          <a:lstStyle/>
          <a:p>
            <a:pPr algn="ctr"/>
            <a:r>
              <a:rPr lang="en-US" sz="800" b="1" spc="200" dirty="0">
                <a:solidFill>
                  <a:srgbClr val="FFFFFF">
                    <a:alpha val="70000"/>
                  </a:srgbClr>
                </a:solidFill>
                <a:latin typeface="+mn-lt"/>
              </a:rPr>
              <a:t>STAGE 04</a:t>
            </a:r>
          </a:p>
          <a:p>
            <a:pPr algn="ctr"/>
            <a:r>
              <a:rPr lang="en-US" sz="1300" b="1" spc="0" dirty="0">
                <a:solidFill>
                  <a:srgbClr val="FFFFFF"/>
                </a:solidFill>
                <a:latin typeface="+mn-lt"/>
              </a:rPr>
              <a:t>Validate</a:t>
            </a:r>
          </a:p>
        </p:txBody>
      </p:sp>
      <p:sp>
        <p:nvSpPr>
          <p:cNvPr id="211" name="Detail 4"/>
          <p:cNvSpPr/>
          <p:nvPr/>
        </p:nvSpPr>
        <p:spPr>
          <a:xfrm>
            <a:off x="7333488" y="2011680"/>
            <a:ext cx="2109216" cy="1737360"/>
          </a:xfrm>
          <a:prstGeom prst="roundRect">
            <a:avLst>
              <a:gd name="adj" fmla="val 9000"/>
            </a:avLst>
          </a:prstGeom>
          <a:solidFill>
            <a:srgbClr val="F1F6FA"/>
          </a:solidFill>
          <a:ln w="12700">
            <a:solidFill>
              <a:srgbClr val="D8E4EC"/>
            </a:solidFill>
          </a:ln>
        </p:spPr>
        <p:txBody>
          <a:bodyPr lIns="137160" tIns="137160" rIns="137160" bIns="137160" rtlCol="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800" b="1" spc="150" dirty="0">
                <a:solidFill>
                  <a:srgbClr val="5AA9D0"/>
                </a:solidFill>
                <a:latin typeface="+mn-lt"/>
              </a:rPr>
              <a:t>GOAL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Verify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5AA9D0"/>
                </a:solidFill>
                <a:latin typeface="+mn-lt"/>
              </a:rPr>
              <a:t>PAIN POINT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Slow verification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5AA9D0"/>
                </a:solidFill>
                <a:latin typeface="+mn-lt"/>
              </a:rPr>
              <a:t>AI OPPORTUNITY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Citations</a:t>
            </a:r>
          </a:p>
        </p:txBody>
      </p:sp>
      <p:cxnSp>
        <p:nvCxnSpPr>
          <p:cNvPr id="212" name="Arrow 3"/>
          <p:cNvCxnSpPr/>
          <p:nvPr/>
        </p:nvCxnSpPr>
        <p:spPr>
          <a:xfrm>
            <a:off x="9442704" y="1600200"/>
            <a:ext cx="182880" cy="0"/>
          </a:xfrm>
          <a:prstGeom prst="line">
            <a:avLst/>
          </a:prstGeom>
          <a:ln w="15875">
            <a:solidFill>
              <a:srgbClr val="9FB4C6"/>
            </a:solidFill>
            <a:tailEnd type="triangle" w="med" len="med"/>
          </a:ln>
        </p:spPr>
      </p:cxnSp>
      <p:sp>
        <p:nvSpPr>
          <p:cNvPr id="213" name="Stage 5"/>
          <p:cNvSpPr/>
          <p:nvPr/>
        </p:nvSpPr>
        <p:spPr>
          <a:xfrm>
            <a:off x="9625584" y="1188720"/>
            <a:ext cx="2109216" cy="822960"/>
          </a:xfrm>
          <a:prstGeom prst="roundRect">
            <a:avLst>
              <a:gd name="adj" fmla="val 14000"/>
            </a:avLst>
          </a:prstGeom>
          <a:solidFill>
            <a:srgbClr val="7FC0DD"/>
          </a:solidFill>
          <a:effectLst>
            <a:outerShdw blurRad="50800" dist="25400" dir="5400000" algn="ctr" rotWithShape="0">
              <a:srgbClr val="000000">
                <a:alpha val="14000"/>
              </a:srgbClr>
            </a:outerShdw>
          </a:effectLst>
        </p:spPr>
        <p:txBody>
          <a:bodyPr lIns="137160" tIns="137160" rIns="137160" bIns="137160" rtlCol="0" anchor="ctr">
            <a:normAutofit/>
          </a:bodyPr>
          <a:lstStyle/>
          <a:p>
            <a:pPr algn="ctr"/>
            <a:r>
              <a:rPr lang="en-US" sz="800" b="1" spc="200" dirty="0">
                <a:solidFill>
                  <a:srgbClr val="FFFFFF">
                    <a:alpha val="70000"/>
                  </a:srgbClr>
                </a:solidFill>
                <a:latin typeface="+mn-lt"/>
              </a:rPr>
              <a:t>STAGE 05</a:t>
            </a:r>
          </a:p>
          <a:p>
            <a:pPr algn="ctr"/>
            <a:r>
              <a:rPr lang="en-US" sz="1300" b="1" spc="0" dirty="0">
                <a:solidFill>
                  <a:srgbClr val="FFFFFF"/>
                </a:solidFill>
                <a:latin typeface="+mn-lt"/>
              </a:rPr>
              <a:t>Resolve</a:t>
            </a:r>
          </a:p>
        </p:txBody>
      </p:sp>
      <p:sp>
        <p:nvSpPr>
          <p:cNvPr id="214" name="Detail 5"/>
          <p:cNvSpPr/>
          <p:nvPr/>
        </p:nvSpPr>
        <p:spPr>
          <a:xfrm>
            <a:off x="9625584" y="2011680"/>
            <a:ext cx="2109216" cy="1737360"/>
          </a:xfrm>
          <a:prstGeom prst="roundRect">
            <a:avLst>
              <a:gd name="adj" fmla="val 9000"/>
            </a:avLst>
          </a:prstGeom>
          <a:solidFill>
            <a:srgbClr val="F1F6FA"/>
          </a:solidFill>
          <a:ln w="12700">
            <a:solidFill>
              <a:srgbClr val="D8E4EC"/>
            </a:solidFill>
          </a:ln>
        </p:spPr>
        <p:txBody>
          <a:bodyPr lIns="137160" tIns="137160" rIns="137160" bIns="137160" rtlCol="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800" b="1" spc="150" dirty="0">
                <a:solidFill>
                  <a:srgbClr val="3E93C1"/>
                </a:solidFill>
                <a:latin typeface="+mn-lt"/>
              </a:rPr>
              <a:t>GOAL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Complete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3E93C1"/>
                </a:solidFill>
                <a:latin typeface="+mn-lt"/>
              </a:rPr>
              <a:t>PAIN POINT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Documentation</a:t>
            </a:r>
          </a:p>
          <a:p>
            <a:pPr algn="ctr">
              <a:spcBef>
                <a:spcPts val="1100"/>
              </a:spcBef>
            </a:pPr>
            <a:r>
              <a:rPr lang="en-US" sz="800" b="1" spc="150" dirty="0">
                <a:solidFill>
                  <a:srgbClr val="3E93C1"/>
                </a:solidFill>
                <a:latin typeface="+mn-lt"/>
              </a:rPr>
              <a:t>AI OPPORTUNITY</a:t>
            </a:r>
          </a:p>
          <a:p>
            <a:pPr algn="ctr"/>
            <a:r>
              <a:rPr lang="en-US" sz="1050" b="0" spc="0" dirty="0">
                <a:solidFill>
                  <a:srgbClr val="1F3A4D"/>
                </a:solidFill>
                <a:latin typeface="+mn-lt"/>
              </a:rPr>
              <a:t>AI-assisted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156</Words>
  <Application>Microsoft Macintosh PowerPoint</Application>
  <PresentationFormat>Widescreen</PresentationFormat>
  <Paragraphs>88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Thibodeau</cp:lastModifiedBy>
  <cp:revision>2</cp:revision>
  <dcterms:created xsi:type="dcterms:W3CDTF">2013-01-27T09:14:16Z</dcterms:created>
  <dcterms:modified xsi:type="dcterms:W3CDTF">2026-08-12T01:11:45Z</dcterms:modified>
  <cp:category/>
</cp:coreProperties>
</file>
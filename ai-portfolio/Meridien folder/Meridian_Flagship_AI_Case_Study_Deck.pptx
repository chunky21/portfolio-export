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Meridian Research Agent</a:t>
            </a:r>
          </a:p>
          <a:p>
            <a:pPr>
              <a:defRPr sz="1400"/>
            </a:pPr>
            <a:r>
              <a:t>Designing Trustworthy AI for Investment Operations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Flagship AI UX Case Study</a:t>
            </a:r>
            <a:br/>
            <a:br/>
            <a:r>
              <a:t>• Conversational AI</a:t>
            </a:r>
            <a:br/>
            <a:r>
              <a:t>• Retrieval-Augmented Generation (RAG)</a:t>
            </a:r>
            <a:br/>
            <a:r>
              <a:t>• Explainable AI</a:t>
            </a:r>
            <a:br/>
            <a:r>
              <a:t>• Human-in-the-Loop</a:t>
            </a:r>
            <a:br/>
            <a:r>
              <a:t>• Enterprise UX</a:t>
            </a:r>
            <a:br/>
            <a:br/>
            <a:r>
              <a:t>Outcome:</a:t>
            </a:r>
            <a:br/>
            <a:r>
              <a:t>~45 min saved per investigation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6576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Pain Points</a:t>
            </a:r>
          </a:p>
          <a:p>
            <a:pPr lvl="1">
              <a:defRPr sz="1100"/>
            </a:pPr>
            <a:r>
              <a:t>4–5 systems per investigation</a:t>
            </a:r>
          </a:p>
          <a:p>
            <a:pPr lvl="1">
              <a:defRPr sz="1100"/>
            </a:pPr>
            <a:r>
              <a:t>Manual verification</a:t>
            </a:r>
          </a:p>
          <a:p>
            <a:pPr lvl="1">
              <a:defRPr sz="1100"/>
            </a:pPr>
            <a:r>
              <a:t>No consistent workflow</a:t>
            </a:r>
          </a:p>
          <a:p>
            <a:pPr lvl="1">
              <a:defRPr sz="1100"/>
            </a:pPr>
            <a:r>
              <a:t>Knowledge trapped in experts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914400"/>
            <a:ext cx="36576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Business Goals</a:t>
            </a:r>
          </a:p>
          <a:p>
            <a:pPr lvl="1">
              <a:defRPr sz="1100"/>
            </a:pPr>
            <a:r>
              <a:t>Reduce investigation time</a:t>
            </a:r>
          </a:p>
          <a:p>
            <a:pPr lvl="1">
              <a:defRPr sz="1100"/>
            </a:pPr>
            <a:r>
              <a:t>Improve consistency</a:t>
            </a:r>
          </a:p>
          <a:p>
            <a:pPr lvl="1">
              <a:defRPr sz="1100"/>
            </a:pPr>
            <a:r>
              <a:t>Maintain auditability</a:t>
            </a:r>
          </a:p>
          <a:p>
            <a:pPr lvl="1">
              <a:defRPr sz="1100"/>
            </a:pPr>
            <a:r>
              <a:t>Scale expertise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4747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Vision</a:t>
            </a:r>
          </a:p>
          <a:p>
            <a:pPr lvl="1">
              <a:defRPr sz="1100"/>
            </a:pPr>
            <a:r>
              <a:t>One conversational workspace</a:t>
            </a:r>
          </a:p>
          <a:p>
            <a:pPr lvl="1">
              <a:defRPr sz="1100"/>
            </a:pPr>
            <a:r>
              <a:t>Evidence-first AI</a:t>
            </a:r>
          </a:p>
          <a:p>
            <a:pPr lvl="1">
              <a:defRPr sz="1100"/>
            </a:pPr>
            <a:r>
              <a:t>Trust before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Intent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310896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7472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Retrieve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31089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2064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LLM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31089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656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31089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0392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31089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2743200"/>
            <a:ext cx="12801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Resolve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31089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17520" y="1097280"/>
            <a:ext cx="43891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Enterprise Systems: Accounting • Transactions • Historical Cases •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Information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0" y="73152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Meridian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Dashboard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188720" y="1280160"/>
            <a:ext cx="457200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Research Agent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08960" y="1280160"/>
            <a:ext cx="265176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0624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Investigations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029200" y="1280160"/>
            <a:ext cx="73152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Knowledge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280160"/>
            <a:ext cx="118872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Reports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1280160"/>
            <a:ext cx="310896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66960" y="2011680"/>
            <a:ext cx="16459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Settings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1280160"/>
            <a:ext cx="502920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28800" y="41148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Conversation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514600" y="2560320"/>
            <a:ext cx="59436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74720" y="41148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AI Answer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08960" y="2560320"/>
            <a:ext cx="105156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0640" y="41148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560320"/>
            <a:ext cx="269748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66560" y="41148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Workspace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08960" y="2560320"/>
            <a:ext cx="434340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41148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Feedback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8960" y="2560320"/>
            <a:ext cx="5989320" cy="1554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6400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258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Conversation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720" y="10515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89120" y="20116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Intent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17373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6974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RAG Orchestrator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24231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33832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Enterprise Sources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0" y="31089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40690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LLM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37947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47548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Citation &amp; Confidence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44805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54406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Explainable Response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5166360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Primary Personas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53035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Sarah Chen</a:t>
            </a:r>
            <a:br/>
            <a:r>
              <a:t>Senior Analyst</a:t>
            </a:r>
          </a:p>
          <a:p>
            <a:pPr lvl="1">
              <a:defRPr sz="1100"/>
            </a:pPr>
            <a:r>
              <a:t>Needs evidence</a:t>
            </a:r>
          </a:p>
          <a:p>
            <a:pPr lvl="1">
              <a:defRPr sz="1100"/>
            </a:pPr>
            <a:r>
              <a:t>Trusts citations</a:t>
            </a:r>
          </a:p>
          <a:p>
            <a:pPr lvl="1">
              <a:defRPr sz="1100"/>
            </a:pPr>
            <a:r>
              <a:t>Optimizes efficiency</a:t>
            </a:r>
          </a:p>
          <a:p>
            <a:pPr lvl="1">
              <a:defRPr sz="1100"/>
            </a:pPr>
            <a:r>
              <a:t>Maintains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914400"/>
            <a:ext cx="530352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David Morales</a:t>
            </a:r>
            <a:br/>
            <a:r>
              <a:t>Junior Analyst</a:t>
            </a:r>
          </a:p>
          <a:p>
            <a:pPr lvl="1">
              <a:defRPr sz="1100"/>
            </a:pPr>
            <a:r>
              <a:t>Needs guidance</a:t>
            </a:r>
          </a:p>
          <a:p>
            <a:pPr lvl="1">
              <a:defRPr sz="1100"/>
            </a:pPr>
            <a:r>
              <a:t>Learns workflows</a:t>
            </a:r>
          </a:p>
          <a:p>
            <a:pPr lvl="1">
              <a:defRPr sz="1100"/>
            </a:pPr>
            <a:r>
              <a:t>Values explanations</a:t>
            </a:r>
          </a:p>
          <a:p>
            <a:pPr lvl="1">
              <a:defRPr sz="1100"/>
            </a:pPr>
            <a:r>
              <a:t>Builds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User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Receive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82880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Review alert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16459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3716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Investigate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94560"/>
            <a:ext cx="182880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Search systems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645920"/>
            <a:ext cx="3657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37759" y="13716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Analyze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59" y="2194560"/>
            <a:ext cx="182880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Determine cause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66559" y="164592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19" y="13716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Validate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19" y="2194560"/>
            <a:ext cx="182880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Verify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19" y="1645920"/>
            <a:ext cx="3657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1371600"/>
            <a:ext cx="18288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Resolve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194560"/>
            <a:ext cx="1828800" cy="2377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Document outcome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Trust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73152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Transparency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0" y="114300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219456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Confidence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0" y="187452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0" y="292608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Verification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60604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365760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Trust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33756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4389120"/>
            <a:ext cx="2743200" cy="4114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Adoption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406908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45 min</a:t>
            </a:r>
            <a:br/>
            <a:r>
              <a:t>Saved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82%</a:t>
            </a:r>
            <a:br/>
            <a:r>
              <a:t>Acceptance*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12%</a:t>
            </a:r>
            <a:br/>
            <a:r>
              <a:t>Escalation*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828800"/>
            <a:ext cx="22860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6%</a:t>
            </a:r>
            <a:br/>
            <a:r>
              <a:t>Repeat Qs*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endParaRPr/>
          </a:p>
          <a:p>
            <a:pPr>
              <a:defRPr sz="1400"/>
            </a:pPr>
            <a:r>
              <a:t>*Estimated where noted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Learnings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515600" cy="502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Design Principles</a:t>
            </a:r>
          </a:p>
          <a:p>
            <a:pPr lvl="1">
              <a:defRPr sz="1100"/>
            </a:pPr>
            <a:r>
              <a:t>Trust is designed, not assumed</a:t>
            </a:r>
          </a:p>
          <a:p>
            <a:pPr lvl="1">
              <a:defRPr sz="1100"/>
            </a:pPr>
            <a:r>
              <a:t>Evidence matters as much as accuracy</a:t>
            </a:r>
          </a:p>
          <a:p>
            <a:pPr lvl="1">
              <a:defRPr sz="1100"/>
            </a:pPr>
            <a:r>
              <a:t>Human judgment remains central</a:t>
            </a:r>
          </a:p>
          <a:p>
            <a:pPr lvl="1">
              <a:defRPr sz="1100"/>
            </a:pPr>
            <a:r>
              <a:t>Transparency drives adoption</a:t>
            </a:r>
          </a:p>
          <a:p>
            <a:pPr lvl="1">
              <a:defRPr sz="1100"/>
            </a:pPr>
            <a:r>
              <a:t>Enterprise AI succeeds when it augments experts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247</Words>
  <Application>Microsoft Macintosh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Thibodeau</cp:lastModifiedBy>
  <cp:revision>1</cp:revision>
  <dcterms:created xsi:type="dcterms:W3CDTF">2013-01-27T09:14:16Z</dcterms:created>
  <dcterms:modified xsi:type="dcterms:W3CDTF">2026-08-12T01:12:57Z</dcterms:modified>
  <cp:category/>
</cp:coreProperties>
</file>
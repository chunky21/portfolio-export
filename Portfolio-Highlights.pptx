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3004597" cy="9753905"/>
  <p:notesSz cx="9753905" cy="13004597"/>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case studies, both with an AI layer on a trading product. Lead with the process and the decisions, not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link to the section. Pick the project the interviewer cares about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target: 42 to 21 days from sign-up to Elite. Be explicit that it is a target, not a result. Success is time to first success, then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specific about the AI boundary: the AI translates and checks the trader’s own criteria. It never originates a recommendation. That line was set in review and is pending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reversal in detail. The strongest story is the first-run change: the walk-through onboarding was replaced once the live site showed the 7-day trial and delayed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review: four team members gave feedback, 31 points were logged, and the organizing goal moved to time to first success. Then the dated calls. Then the rule that made AI drafts compliant from the start. Admit what is not shown yet: mentoring and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these are planned. Offer to share the interview guide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three screens large. Be clear the prototype uses mock data, so the flow is tested, not the AI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states are a design decision: mock data hides loading, error and offline behavior. These are drafted in hi-fi and need usability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 item to discuss is the buy and sell wording on Adapt. It needs compliance review before release, and may become explanation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discovery so far is desk research and design review. Interviews are the next step, not a finished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exact: accessibility is specified in both design systems but has not been audited. Handoff is tokens and documentation, not a verified sync. Team work is reviews and open requests, not a record of day-to-day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breakdowns first: outputs without reasoning, all-or-nothing Adapt, no learning loop, advice wording in conflict, and lost context. Then the four concepts. Be clear that the learning loop is a hypothesis, and the advice boundary is pending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next step you would take with this team in the first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8.xml"/><Relationship Id="rId5" Type="http://schemas.openxmlformats.org/officeDocument/2006/relationships/slide" Target="slide8.xml"/><Relationship Id="rId6" Type="http://schemas.openxmlformats.org/officeDocument/2006/relationships/slide" Target="slide6.xml"/><Relationship Id="rId7" Type="http://schemas.openxmlformats.org/officeDocument/2006/relationships/slide" Target="slide6.xml"/><Relationship Id="rId8" Type="http://schemas.openxmlformats.org/officeDocument/2006/relationships/slide" Target="slide14.xml"/><Relationship Id="rId9" Type="http://schemas.openxmlformats.org/officeDocument/2006/relationships/slide" Target="slide14.xml"/><Relationship Id="rId1" Type="http://schemas.openxmlformats.org/officeDocument/2006/relationships/image" Target="../media/image-2-1.png"/><Relationship Id="rId10" Type="http://schemas.openxmlformats.org/officeDocument/2006/relationships/image" Target="../media/image-2-1.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1.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meridian-deck/img/band-header.png">    </p:cNvPr>
          <p:cNvPicPr>
            <a:picLocks noChangeAspect="1"/>
          </p:cNvPicPr>
          <p:nvPr/>
        </p:nvPicPr>
        <p:blipFill>
          <a:blip r:embed="rId1"/>
          <a:stretch>
            <a:fillRect/>
          </a:stretch>
        </p:blipFill>
        <p:spPr>
          <a:xfrm>
            <a:off x="0" y="0"/>
            <a:ext cx="13004597" cy="438912"/>
          </a:xfrm>
          <a:prstGeom prst="rect">
            <a:avLst/>
          </a:prstGeom>
        </p:spPr>
      </p:pic>
      <p:sp>
        <p:nvSpPr>
          <p:cNvPr id="3" name="Text 0"/>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SELECTED WORK · LEAD UX DESIGNER</a:t>
            </a:r>
            <a:endParaRPr lang="en-US" sz="1280" dirty="0"/>
          </a:p>
        </p:txBody>
      </p:sp>
      <p:sp>
        <p:nvSpPr>
          <p:cNvPr id="4" name="Text 1"/>
          <p:cNvSpPr txBox="1"/>
          <p:nvPr/>
        </p:nvSpPr>
        <p:spPr>
          <a:xfrm>
            <a:off x="457200" y="1371600"/>
            <a:ext cx="82296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Michael</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Thibodeau</a:t>
            </a:r>
            <a:endParaRPr lang="en-US" sz="7200" dirty="0"/>
          </a:p>
        </p:txBody>
      </p:sp>
      <p:sp>
        <p:nvSpPr>
          <p:cNvPr id="5" name="Text 2"/>
          <p:cNvSpPr txBox="1"/>
          <p:nvPr/>
        </p:nvSpPr>
        <p:spPr>
          <a:xfrm>
            <a:off x="457200" y="4114800"/>
            <a:ext cx="658368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Two projects: an AI screener for active traders, and an AI-assisted mobile trading app.</a:t>
            </a:r>
            <a:endParaRPr lang="en-US" sz="2200" dirty="0"/>
          </a:p>
        </p:txBody>
      </p:sp>
      <p:sp>
        <p:nvSpPr>
          <p:cNvPr id="6" name="Shape 3"/>
          <p:cNvSpPr/>
          <p:nvPr/>
        </p:nvSpPr>
        <p:spPr>
          <a:xfrm>
            <a:off x="7498080" y="1280160"/>
            <a:ext cx="5029200" cy="7406640"/>
          </a:xfrm>
          <a:prstGeom prst="rect">
            <a:avLst/>
          </a:prstGeom>
          <a:solidFill>
            <a:srgbClr val="14161D"/>
          </a:solidFill>
          <a:ln w="12700">
            <a:solidFill>
              <a:srgbClr val="14161D"/>
            </a:solidFill>
            <a:prstDash val="solid"/>
          </a:ln>
        </p:spPr>
      </p:sp>
      <p:sp>
        <p:nvSpPr>
          <p:cNvPr id="7" name="Shape 4"/>
          <p:cNvSpPr/>
          <p:nvPr/>
        </p:nvSpPr>
        <p:spPr>
          <a:xfrm>
            <a:off x="8183880" y="1737360"/>
            <a:ext cx="3043123" cy="6583680"/>
          </a:xfrm>
          <a:prstGeom prst="rect">
            <a:avLst/>
          </a:prstGeom>
          <a:solidFill>
            <a:srgbClr val="14161D"/>
          </a:solidFill>
          <a:ln w="12700">
            <a:solidFill>
              <a:srgbClr val="14161D"/>
            </a:solidFill>
            <a:prstDash val="solid"/>
          </a:ln>
        </p:spPr>
      </p:sp>
      <p:pic>
        <p:nvPicPr>
          <p:cNvPr id="8" name="Image 1" descr="/tmp/meridian-deck/img/insight.png">    </p:cNvPr>
          <p:cNvPicPr>
            <a:picLocks noChangeAspect="1"/>
          </p:cNvPicPr>
          <p:nvPr/>
        </p:nvPicPr>
        <p:blipFill>
          <a:blip r:embed="rId2"/>
          <a:stretch>
            <a:fillRect/>
          </a:stretch>
        </p:blipFill>
        <p:spPr>
          <a:xfrm>
            <a:off x="8183880" y="1737360"/>
            <a:ext cx="3043123" cy="6583680"/>
          </a:xfrm>
          <a:prstGeom prst="rect">
            <a:avLst/>
          </a:prstGeom>
        </p:spPr>
      </p:pic>
      <p:pic>
        <p:nvPicPr>
          <p:cNvPr id="9" name="Image 2" descr="/tmp/meridian-deck/img/band-footer.png">    </p:cNvPr>
          <p:cNvPicPr>
            <a:picLocks noChangeAspect="1"/>
          </p:cNvPicPr>
          <p:nvPr/>
        </p:nvPicPr>
        <p:blipFill>
          <a:blip r:embed="rId3"/>
          <a:stretch>
            <a:fillRect/>
          </a:stretch>
        </p:blipFill>
        <p:spPr>
          <a:xfrm>
            <a:off x="0" y="9281160"/>
            <a:ext cx="13004597" cy="4663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Contents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Two projects, one process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Select a project to jump to it.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6" name="Shape 3"/>
          <p:cNvSpPr/>
          <p:nvPr/>
        </p:nvSpPr>
        <p:spPr>
          <a:xfrm>
            <a:off x="457200" y="2651760"/>
            <a:ext cx="12070080" cy="1280160"/>
          </a:xfrm>
          <a:prstGeom prst="rect">
            <a:avLst/>
          </a:prstGeom>
          <a:solidFill>
            <a:srgbClr val="FFFFFF"/>
          </a:solidFill>
          <a:ln w="12700">
            <a:solidFill>
              <a:srgbClr val="E2E2E2"/>
            </a:solidFill>
            <a:prstDash val="solid"/>
          </a:ln>
        </p:spPr>
      </p:sp>
      <p:sp>
        <p:nvSpPr>
          <p:cNvPr id="7" name="Text 4">
            <a:hlinkClick r:id="rId2" tooltip="" action="ppaction://hlinksldjump"/>
          </p:cNvPr>
          <p:cNvSpPr txBox="1"/>
          <p:nvPr/>
        </p:nvSpPr>
        <p:spPr>
          <a:xfrm>
            <a:off x="777240" y="297180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2" action="ppaction://hlinksldjump" tooltip="">
                  <a:extLst>
                    <a:ext uri="{A12FA001-AC4F-418D-AE19-62706E023703}">
                      <ahyp:hlinkClr xmlns:ahyp="http://schemas.microsoft.com/office/drawing/2018/hyperlinkcolor" val="tx"/>
                    </a:ext>
                  </a:extLst>
                </a:hlinkClick>
              </a:rPr>
              <a:t>01</a:t>
            </a:r>
            <a:endParaRPr lang="en-US" sz="2800" dirty="0"/>
          </a:p>
        </p:txBody>
      </p:sp>
      <p:sp>
        <p:nvSpPr>
          <p:cNvPr id="8" name="Text 5">
            <a:hlinkClick r:id="rId3" tooltip="" action="ppaction://hlinksldjump"/>
          </p:cNvPr>
          <p:cNvSpPr txBox="1"/>
          <p:nvPr/>
        </p:nvSpPr>
        <p:spPr>
          <a:xfrm>
            <a:off x="1920240" y="290779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3" action="ppaction://hlinksldjump" tooltip="">
                  <a:extLst>
                    <a:ext uri="{A12FA001-AC4F-418D-AE19-62706E023703}">
                      <ahyp:hlinkClr xmlns:ahyp="http://schemas.microsoft.com/office/drawing/2018/hyperlinkcolor" val="tx"/>
                    </a:ext>
                  </a:extLst>
                </a:hlinkClick>
              </a:rPr>
              <a:t>FinViz AI Screener</a:t>
            </a:r>
            <a:endParaRPr lang="en-US" sz="2400" dirty="0"/>
          </a:p>
        </p:txBody>
      </p:sp>
      <p:sp>
        <p:nvSpPr>
          <p:cNvPr id="9" name="Text 6"/>
          <p:cNvSpPr txBox="1"/>
          <p:nvPr/>
        </p:nvSpPr>
        <p:spPr>
          <a:xfrm>
            <a:off x="1920240" y="340156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Problem, decisions and what comes next</a:t>
            </a:r>
            <a:endParaRPr lang="en-US" sz="1600" dirty="0"/>
          </a:p>
        </p:txBody>
      </p:sp>
      <p:sp>
        <p:nvSpPr>
          <p:cNvPr id="10" name="Shape 7"/>
          <p:cNvSpPr/>
          <p:nvPr/>
        </p:nvSpPr>
        <p:spPr>
          <a:xfrm>
            <a:off x="457200" y="4206240"/>
            <a:ext cx="12070080" cy="1280160"/>
          </a:xfrm>
          <a:prstGeom prst="rect">
            <a:avLst/>
          </a:prstGeom>
          <a:solidFill>
            <a:srgbClr val="FFFFFF"/>
          </a:solidFill>
          <a:ln w="12700">
            <a:solidFill>
              <a:srgbClr val="E2E2E2"/>
            </a:solidFill>
            <a:prstDash val="solid"/>
          </a:ln>
        </p:spPr>
      </p:sp>
      <p:sp>
        <p:nvSpPr>
          <p:cNvPr id="11" name="Text 8">
            <a:hlinkClick r:id="rId4" tooltip="" action="ppaction://hlinksldjump"/>
          </p:cNvPr>
          <p:cNvSpPr txBox="1"/>
          <p:nvPr/>
        </p:nvSpPr>
        <p:spPr>
          <a:xfrm>
            <a:off x="777240" y="452628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4" action="ppaction://hlinksldjump" tooltip="">
                  <a:extLst>
                    <a:ext uri="{A12FA001-AC4F-418D-AE19-62706E023703}">
                      <ahyp:hlinkClr xmlns:ahyp="http://schemas.microsoft.com/office/drawing/2018/hyperlinkcolor" val="tx"/>
                    </a:ext>
                  </a:extLst>
                </a:hlinkClick>
              </a:rPr>
              <a:t>02</a:t>
            </a:r>
            <a:endParaRPr lang="en-US" sz="2800" dirty="0"/>
          </a:p>
        </p:txBody>
      </p:sp>
      <p:sp>
        <p:nvSpPr>
          <p:cNvPr id="12" name="Text 9">
            <a:hlinkClick r:id="rId5" tooltip="" action="ppaction://hlinksldjump"/>
          </p:cNvPr>
          <p:cNvSpPr txBox="1"/>
          <p:nvPr/>
        </p:nvSpPr>
        <p:spPr>
          <a:xfrm>
            <a:off x="1920240" y="446227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5" action="ppaction://hlinksldjump" tooltip="">
                  <a:extLst>
                    <a:ext uri="{A12FA001-AC4F-418D-AE19-62706E023703}">
                      <ahyp:hlinkClr xmlns:ahyp="http://schemas.microsoft.com/office/drawing/2018/hyperlinkcolor" val="tx"/>
                    </a:ext>
                  </a:extLst>
                </a:hlinkClick>
              </a:rPr>
              <a:t>Meridian Navigator</a:t>
            </a:r>
            <a:endParaRPr lang="en-US" sz="2400" dirty="0"/>
          </a:p>
        </p:txBody>
      </p:sp>
      <p:sp>
        <p:nvSpPr>
          <p:cNvPr id="13" name="Text 10"/>
          <p:cNvSpPr txBox="1"/>
          <p:nvPr/>
        </p:nvSpPr>
        <p:spPr>
          <a:xfrm>
            <a:off x="1920240" y="495604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Trade and AI flows, designed states, trade-offs</a:t>
            </a:r>
            <a:endParaRPr lang="en-US" sz="1600" dirty="0"/>
          </a:p>
        </p:txBody>
      </p:sp>
      <p:sp>
        <p:nvSpPr>
          <p:cNvPr id="14" name="Shape 11"/>
          <p:cNvSpPr/>
          <p:nvPr/>
        </p:nvSpPr>
        <p:spPr>
          <a:xfrm>
            <a:off x="457200" y="5760720"/>
            <a:ext cx="12070080" cy="1280160"/>
          </a:xfrm>
          <a:prstGeom prst="rect">
            <a:avLst/>
          </a:prstGeom>
          <a:solidFill>
            <a:srgbClr val="FFFFFF"/>
          </a:solidFill>
          <a:ln w="12700">
            <a:solidFill>
              <a:srgbClr val="E2E2E2"/>
            </a:solidFill>
            <a:prstDash val="solid"/>
          </a:ln>
        </p:spPr>
      </p:sp>
      <p:sp>
        <p:nvSpPr>
          <p:cNvPr id="15" name="Text 12">
            <a:hlinkClick r:id="rId6" tooltip="" action="ppaction://hlinksldjump"/>
          </p:cNvPr>
          <p:cNvSpPr txBox="1"/>
          <p:nvPr/>
        </p:nvSpPr>
        <p:spPr>
          <a:xfrm>
            <a:off x="777240" y="608076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6" action="ppaction://hlinksldjump" tooltip="">
                  <a:extLst>
                    <a:ext uri="{A12FA001-AC4F-418D-AE19-62706E023703}">
                      <ahyp:hlinkClr xmlns:ahyp="http://schemas.microsoft.com/office/drawing/2018/hyperlinkcolor" val="tx"/>
                    </a:ext>
                  </a:extLst>
                </a:hlinkClick>
              </a:rPr>
              <a:t>03</a:t>
            </a:r>
            <a:endParaRPr lang="en-US" sz="2800" dirty="0"/>
          </a:p>
        </p:txBody>
      </p:sp>
      <p:sp>
        <p:nvSpPr>
          <p:cNvPr id="16" name="Text 13">
            <a:hlinkClick r:id="rId7" tooltip="" action="ppaction://hlinksldjump"/>
          </p:cNvPr>
          <p:cNvSpPr txBox="1"/>
          <p:nvPr/>
        </p:nvSpPr>
        <p:spPr>
          <a:xfrm>
            <a:off x="1920240" y="601675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7" action="ppaction://hlinksldjump" tooltip="">
                  <a:extLst>
                    <a:ext uri="{A12FA001-AC4F-418D-AE19-62706E023703}">
                      <ahyp:hlinkClr xmlns:ahyp="http://schemas.microsoft.com/office/drawing/2018/hyperlinkcolor" val="tx"/>
                    </a:ext>
                  </a:extLst>
                </a:hlinkClick>
              </a:rPr>
              <a:t>Leadership and process</a:t>
            </a:r>
            <a:endParaRPr lang="en-US" sz="2400" dirty="0"/>
          </a:p>
        </p:txBody>
      </p:sp>
      <p:sp>
        <p:nvSpPr>
          <p:cNvPr id="17" name="Text 14"/>
          <p:cNvSpPr txBox="1"/>
          <p:nvPr/>
        </p:nvSpPr>
        <p:spPr>
          <a:xfrm>
            <a:off x="1920240" y="651052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How I set direction, the calls, and the status</a:t>
            </a:r>
            <a:endParaRPr lang="en-US" sz="1600" dirty="0"/>
          </a:p>
        </p:txBody>
      </p:sp>
      <p:sp>
        <p:nvSpPr>
          <p:cNvPr id="18" name="Shape 15"/>
          <p:cNvSpPr/>
          <p:nvPr/>
        </p:nvSpPr>
        <p:spPr>
          <a:xfrm>
            <a:off x="457200" y="7315200"/>
            <a:ext cx="12070080" cy="1280160"/>
          </a:xfrm>
          <a:prstGeom prst="rect">
            <a:avLst/>
          </a:prstGeom>
          <a:solidFill>
            <a:srgbClr val="FFFFFF"/>
          </a:solidFill>
          <a:ln w="12700">
            <a:solidFill>
              <a:srgbClr val="E2E2E2"/>
            </a:solidFill>
            <a:prstDash val="solid"/>
          </a:ln>
        </p:spPr>
      </p:sp>
      <p:sp>
        <p:nvSpPr>
          <p:cNvPr id="19" name="Text 16">
            <a:hlinkClick r:id="rId8" tooltip="" action="ppaction://hlinksldjump"/>
          </p:cNvPr>
          <p:cNvSpPr txBox="1"/>
          <p:nvPr/>
        </p:nvSpPr>
        <p:spPr>
          <a:xfrm>
            <a:off x="777240" y="763524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8" action="ppaction://hlinksldjump" tooltip="">
                  <a:extLst>
                    <a:ext uri="{A12FA001-AC4F-418D-AE19-62706E023703}">
                      <ahyp:hlinkClr xmlns:ahyp="http://schemas.microsoft.com/office/drawing/2018/hyperlinkcolor" val="tx"/>
                    </a:ext>
                  </a:extLst>
                </a:hlinkClick>
              </a:rPr>
              <a:t>04</a:t>
            </a:r>
            <a:endParaRPr lang="en-US" sz="2800" dirty="0"/>
          </a:p>
        </p:txBody>
      </p:sp>
      <p:sp>
        <p:nvSpPr>
          <p:cNvPr id="20" name="Text 17">
            <a:hlinkClick r:id="rId9" tooltip="" action="ppaction://hlinksldjump"/>
          </p:cNvPr>
          <p:cNvSpPr txBox="1"/>
          <p:nvPr/>
        </p:nvSpPr>
        <p:spPr>
          <a:xfrm>
            <a:off x="1920240" y="757123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9" action="ppaction://hlinksldjump" tooltip="">
                  <a:extLst>
                    <a:ext uri="{A12FA001-AC4F-418D-AE19-62706E023703}">
                      <ahyp:hlinkClr xmlns:ahyp="http://schemas.microsoft.com/office/drawing/2018/hyperlinkcolor" val="tx"/>
                    </a:ext>
                  </a:extLst>
                </a:hlinkClick>
              </a:rPr>
              <a:t>Next steps</a:t>
            </a:r>
            <a:endParaRPr lang="en-US" sz="2400" dirty="0"/>
          </a:p>
        </p:txBody>
      </p:sp>
      <p:sp>
        <p:nvSpPr>
          <p:cNvPr id="21" name="Text 18"/>
          <p:cNvSpPr txBox="1"/>
          <p:nvPr/>
        </p:nvSpPr>
        <p:spPr>
          <a:xfrm>
            <a:off x="1920240" y="806500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What I would do next</a:t>
            </a:r>
            <a:endParaRPr lang="en-US" sz="1600" dirty="0"/>
          </a:p>
        </p:txBody>
      </p:sp>
      <p:pic>
        <p:nvPicPr>
          <p:cNvPr id="22" name="Image 1" descr="/tmp/meridian-deck/img/band-footer.png">    </p:cNvPr>
          <p:cNvPicPr>
            <a:picLocks noChangeAspect="1"/>
          </p:cNvPicPr>
          <p:nvPr/>
        </p:nvPicPr>
        <p:blipFill>
          <a:blip r:embed="rId10"/>
          <a:stretch>
            <a:fillRect/>
          </a:stretch>
        </p:blipFill>
        <p:spPr>
          <a:xfrm>
            <a:off x="0" y="9281160"/>
            <a:ext cx="13004597" cy="4663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Outcome</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FinViz: cut sign-up to Elite from 42 days to 21</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target came from the case brief. It has not been measured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5120640" cy="5852160"/>
          </a:xfrm>
          <a:prstGeom prst="rect">
            <a:avLst/>
          </a:prstGeom>
          <a:solidFill>
            <a:srgbClr val="C45A35"/>
          </a:solidFill>
          <a:ln w="12700">
            <a:solidFill>
              <a:srgbClr val="C45A35"/>
            </a:solidFill>
            <a:prstDash val="solid"/>
          </a:ln>
        </p:spPr>
      </p:sp>
      <p:sp>
        <p:nvSpPr>
          <p:cNvPr id="8" name="Text 4"/>
          <p:cNvSpPr txBox="1"/>
          <p:nvPr/>
        </p:nvSpPr>
        <p:spPr>
          <a:xfrm>
            <a:off x="914400" y="3200400"/>
            <a:ext cx="4389120" cy="146304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42 → 21</a:t>
            </a:r>
            <a:endParaRPr lang="en-US" sz="8000" dirty="0"/>
          </a:p>
        </p:txBody>
      </p:sp>
      <p:sp>
        <p:nvSpPr>
          <p:cNvPr id="9" name="Text 5"/>
          <p:cNvSpPr txBox="1"/>
          <p:nvPr/>
        </p:nvSpPr>
        <p:spPr>
          <a:xfrm>
            <a:off x="914400" y="4846320"/>
            <a:ext cx="4206240" cy="914400"/>
          </a:xfrm>
          <a:prstGeom prst="rect">
            <a:avLst/>
          </a:prstGeom>
          <a:noFill/>
          <a:ln/>
        </p:spPr>
        <p:txBody>
          <a:bodyPr wrap="square" lIns="0" tIns="0" rIns="0" bIns="0" rtlCol="0" anchor="t"/>
          <a:lstStyle/>
          <a:p>
            <a:pPr indent="0" marL="0">
              <a:buNone/>
            </a:pPr>
            <a:r>
              <a:rPr lang="en-US" sz="2000" dirty="0">
                <a:solidFill>
                  <a:srgbClr val="FFFFFF"/>
                </a:solidFill>
                <a:latin typeface="Helvetica Neue Light" pitchFamily="34" charset="0"/>
                <a:ea typeface="Helvetica Neue Light" pitchFamily="34" charset="-122"/>
                <a:cs typeface="Helvetica Neue Light" pitchFamily="34" charset="-120"/>
              </a:rPr>
              <a:t>days from sign-up to Elite, the target for new traders</a:t>
            </a:r>
            <a:endParaRPr lang="en-US" sz="2000" dirty="0"/>
          </a:p>
        </p:txBody>
      </p:sp>
      <p:sp>
        <p:nvSpPr>
          <p:cNvPr id="10" name="Text 6"/>
          <p:cNvSpPr txBox="1"/>
          <p:nvPr/>
        </p:nvSpPr>
        <p:spPr>
          <a:xfrm>
            <a:off x="914400" y="6949440"/>
            <a:ext cx="4206240" cy="731520"/>
          </a:xfrm>
          <a:prstGeom prst="rect">
            <a:avLst/>
          </a:prstGeom>
          <a:noFill/>
          <a:ln/>
        </p:spPr>
        <p:txBody>
          <a:bodyPr wrap="square" lIns="0" tIns="0" rIns="0" bIns="0" rtlCol="0" anchor="t"/>
          <a:lstStyle/>
          <a:p>
            <a:pPr indent="0" marL="0">
              <a:buNone/>
            </a:pPr>
            <a:r>
              <a:rPr lang="en-US" sz="1600" dirty="0">
                <a:solidFill>
                  <a:srgbClr val="FFE9DF"/>
                </a:solidFill>
                <a:latin typeface="Helvetica Neue Light" pitchFamily="34" charset="0"/>
                <a:ea typeface="Helvetica Neue Light" pitchFamily="34" charset="-122"/>
                <a:cs typeface="Helvetica Neue Light" pitchFamily="34" charset="-120"/>
              </a:rPr>
              <a:t>Measured: not yet. Validation is planned (slide 7).</a:t>
            </a:r>
            <a:endParaRPr lang="en-US" sz="1600" dirty="0"/>
          </a:p>
        </p:txBody>
      </p:sp>
      <p:sp>
        <p:nvSpPr>
          <p:cNvPr id="11" name="Shape 7"/>
          <p:cNvSpPr/>
          <p:nvPr/>
        </p:nvSpPr>
        <p:spPr>
          <a:xfrm>
            <a:off x="5943600" y="2560320"/>
            <a:ext cx="6583680" cy="1828800"/>
          </a:xfrm>
          <a:prstGeom prst="rect">
            <a:avLst/>
          </a:prstGeom>
          <a:solidFill>
            <a:srgbClr val="FFFFFF"/>
          </a:solidFill>
          <a:ln w="12700">
            <a:solidFill>
              <a:srgbClr val="E2E2E2"/>
            </a:solidFill>
            <a:prstDash val="solid"/>
          </a:ln>
        </p:spPr>
      </p:sp>
      <p:sp>
        <p:nvSpPr>
          <p:cNvPr id="12" name="Text 8"/>
          <p:cNvSpPr txBox="1"/>
          <p:nvPr/>
        </p:nvSpPr>
        <p:spPr>
          <a:xfrm>
            <a:off x="6217920" y="2761488"/>
            <a:ext cx="603504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PROBLEM</a:t>
            </a:r>
            <a:endParaRPr lang="en-US" sz="1280" dirty="0"/>
          </a:p>
        </p:txBody>
      </p:sp>
      <p:sp>
        <p:nvSpPr>
          <p:cNvPr id="13" name="Text 9"/>
          <p:cNvSpPr txBox="1"/>
          <p:nvPr/>
        </p:nvSpPr>
        <p:spPr>
          <a:xfrm>
            <a:off x="6217920" y="3108960"/>
            <a:ext cx="60350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New traders take 42 days to see why Elite is worth paying for. The screener gives no reasons, and the list forgets them.</a:t>
            </a:r>
            <a:endParaRPr lang="en-US" sz="1700" dirty="0"/>
          </a:p>
        </p:txBody>
      </p:sp>
      <p:sp>
        <p:nvSpPr>
          <p:cNvPr id="14" name="Shape 10"/>
          <p:cNvSpPr/>
          <p:nvPr/>
        </p:nvSpPr>
        <p:spPr>
          <a:xfrm>
            <a:off x="5943600" y="4617720"/>
            <a:ext cx="6583680" cy="1828800"/>
          </a:xfrm>
          <a:prstGeom prst="rect">
            <a:avLst/>
          </a:prstGeom>
          <a:solidFill>
            <a:srgbClr val="FFFFFF"/>
          </a:solidFill>
          <a:ln w="12700">
            <a:solidFill>
              <a:srgbClr val="E2E2E2"/>
            </a:solidFill>
            <a:prstDash val="solid"/>
          </a:ln>
        </p:spPr>
      </p:sp>
      <p:sp>
        <p:nvSpPr>
          <p:cNvPr id="15" name="Text 11"/>
          <p:cNvSpPr txBox="1"/>
          <p:nvPr/>
        </p:nvSpPr>
        <p:spPr>
          <a:xfrm>
            <a:off x="6217920" y="4818888"/>
            <a:ext cx="6035040"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DECISION</a:t>
            </a:r>
            <a:endParaRPr lang="en-US" sz="1280" dirty="0"/>
          </a:p>
        </p:txBody>
      </p:sp>
      <p:sp>
        <p:nvSpPr>
          <p:cNvPr id="16" name="Text 12"/>
          <p:cNvSpPr txBox="1"/>
          <p:nvPr/>
        </p:nvSpPr>
        <p:spPr>
          <a:xfrm>
            <a:off x="6217920" y="5166360"/>
            <a:ext cx="60350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An AI layer turns the trader’s own picks into a working screen, and explains each finding with its source.</a:t>
            </a:r>
            <a:endParaRPr lang="en-US" sz="1700" dirty="0"/>
          </a:p>
        </p:txBody>
      </p:sp>
      <p:sp>
        <p:nvSpPr>
          <p:cNvPr id="17" name="Shape 13"/>
          <p:cNvSpPr/>
          <p:nvPr/>
        </p:nvSpPr>
        <p:spPr>
          <a:xfrm>
            <a:off x="5943600" y="6675120"/>
            <a:ext cx="6583680" cy="1828800"/>
          </a:xfrm>
          <a:prstGeom prst="rect">
            <a:avLst/>
          </a:prstGeom>
          <a:solidFill>
            <a:srgbClr val="FFFFFF"/>
          </a:solidFill>
          <a:ln w="12700">
            <a:solidFill>
              <a:srgbClr val="E2E2E2"/>
            </a:solidFill>
            <a:prstDash val="solid"/>
          </a:ln>
        </p:spPr>
      </p:sp>
      <p:sp>
        <p:nvSpPr>
          <p:cNvPr id="18" name="Text 14"/>
          <p:cNvSpPr txBox="1"/>
          <p:nvPr/>
        </p:nvSpPr>
        <p:spPr>
          <a:xfrm>
            <a:off x="6217920" y="6876288"/>
            <a:ext cx="603504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RESULT</a:t>
            </a:r>
            <a:endParaRPr lang="en-US" sz="1280" dirty="0"/>
          </a:p>
        </p:txBody>
      </p:sp>
      <p:sp>
        <p:nvSpPr>
          <p:cNvPr id="19" name="Text 15"/>
          <p:cNvSpPr txBox="1"/>
          <p:nvPr/>
        </p:nvSpPr>
        <p:spPr>
          <a:xfrm>
            <a:off x="6217920" y="7223760"/>
            <a:ext cx="60350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Hi-fi concepts for one trading day. Outcome measurement is planned, not done.</a:t>
            </a:r>
            <a:endParaRPr lang="en-US" sz="17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Role</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My role, and where the AI stops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I led discovery, strategy and the Figma design. AI agents helped with drafting.</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12070080" cy="1920240"/>
          </a:xfrm>
          <a:prstGeom prst="rect">
            <a:avLst/>
          </a:prstGeom>
          <a:solidFill>
            <a:srgbClr val="FFFFFF"/>
          </a:solidFill>
          <a:ln w="12700">
            <a:solidFill>
              <a:srgbClr val="E2E2E2"/>
            </a:solidFill>
            <a:prstDash val="solid"/>
          </a:ln>
        </p:spPr>
      </p:sp>
      <p:sp>
        <p:nvSpPr>
          <p:cNvPr id="8" name="Text 4"/>
          <p:cNvSpPr txBox="1"/>
          <p:nvPr/>
        </p:nvSpPr>
        <p:spPr>
          <a:xfrm>
            <a:off x="731520" y="2761488"/>
            <a:ext cx="1152144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PROBLEM</a:t>
            </a:r>
            <a:endParaRPr lang="en-US" sz="1280" dirty="0"/>
          </a:p>
        </p:txBody>
      </p:sp>
      <p:sp>
        <p:nvSpPr>
          <p:cNvPr id="9" name="Text 5"/>
          <p:cNvSpPr txBox="1"/>
          <p:nvPr/>
        </p:nvSpPr>
        <p:spPr>
          <a:xfrm>
            <a:off x="731520" y="310896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Build a screen from three example tickers, explain why each row matched, and check whether the trader’s reasons still hold.</a:t>
            </a:r>
            <a:endParaRPr lang="en-US" sz="1700" dirty="0"/>
          </a:p>
        </p:txBody>
      </p:sp>
      <p:sp>
        <p:nvSpPr>
          <p:cNvPr id="10" name="Shape 6"/>
          <p:cNvSpPr/>
          <p:nvPr/>
        </p:nvSpPr>
        <p:spPr>
          <a:xfrm>
            <a:off x="457200" y="4754880"/>
            <a:ext cx="12070080" cy="1920240"/>
          </a:xfrm>
          <a:prstGeom prst="rect">
            <a:avLst/>
          </a:prstGeom>
          <a:solidFill>
            <a:srgbClr val="FFFFFF"/>
          </a:solidFill>
          <a:ln w="12700">
            <a:solidFill>
              <a:srgbClr val="E2E2E2"/>
            </a:solidFill>
            <a:prstDash val="solid"/>
          </a:ln>
        </p:spPr>
      </p:sp>
      <p:sp>
        <p:nvSpPr>
          <p:cNvPr id="11" name="Text 7"/>
          <p:cNvSpPr txBox="1"/>
          <p:nvPr/>
        </p:nvSpPr>
        <p:spPr>
          <a:xfrm>
            <a:off x="731520" y="4956048"/>
            <a:ext cx="11521440" cy="274320"/>
          </a:xfrm>
          <a:prstGeom prst="rect">
            <a:avLst/>
          </a:prstGeom>
          <a:noFill/>
          <a:ln/>
        </p:spPr>
        <p:txBody>
          <a:bodyPr wrap="square" lIns="0" tIns="0" rIns="0" bIns="0" rtlCol="0" anchor="t"/>
          <a:lstStyle/>
          <a:p>
            <a:pPr indent="0" marL="0">
              <a:buNone/>
            </a:pPr>
            <a:r>
              <a:rPr lang="en-US" sz="1280" b="1" spc="100" kern="0" dirty="0">
                <a:solidFill>
                  <a:srgbClr val="A12A37"/>
                </a:solidFill>
                <a:latin typeface="Helvetica Neue" pitchFamily="34" charset="0"/>
                <a:ea typeface="Helvetica Neue" pitchFamily="34" charset="-122"/>
                <a:cs typeface="Helvetica Neue" pitchFamily="34" charset="-120"/>
              </a:rPr>
              <a:t>DECISION</a:t>
            </a:r>
            <a:endParaRPr lang="en-US" sz="1280" dirty="0"/>
          </a:p>
        </p:txBody>
      </p:sp>
      <p:sp>
        <p:nvSpPr>
          <p:cNvPr id="12" name="Text 8"/>
          <p:cNvSpPr txBox="1"/>
          <p:nvPr/>
        </p:nvSpPr>
        <p:spPr>
          <a:xfrm>
            <a:off x="731520" y="530352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The AI verifies the trader’s own criteria. It never originates buy or sell advice. Attributed analyst views sit behind a flag, pending compliance.</a:t>
            </a:r>
            <a:endParaRPr lang="en-US" sz="1700" dirty="0"/>
          </a:p>
        </p:txBody>
      </p:sp>
      <p:sp>
        <p:nvSpPr>
          <p:cNvPr id="13" name="Shape 9"/>
          <p:cNvSpPr/>
          <p:nvPr/>
        </p:nvSpPr>
        <p:spPr>
          <a:xfrm>
            <a:off x="457200" y="6949440"/>
            <a:ext cx="12070080" cy="1920240"/>
          </a:xfrm>
          <a:prstGeom prst="rect">
            <a:avLst/>
          </a:prstGeom>
          <a:solidFill>
            <a:srgbClr val="FFFFFF"/>
          </a:solidFill>
          <a:ln w="12700">
            <a:solidFill>
              <a:srgbClr val="E2E2E2"/>
            </a:solidFill>
            <a:prstDash val="solid"/>
          </a:ln>
        </p:spPr>
      </p:sp>
      <p:sp>
        <p:nvSpPr>
          <p:cNvPr id="14" name="Text 10"/>
          <p:cNvSpPr txBox="1"/>
          <p:nvPr/>
        </p:nvSpPr>
        <p:spPr>
          <a:xfrm>
            <a:off x="731520" y="7150608"/>
            <a:ext cx="1152144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RESULT</a:t>
            </a:r>
            <a:endParaRPr lang="en-US" sz="1280" dirty="0"/>
          </a:p>
        </p:txBody>
      </p:sp>
      <p:sp>
        <p:nvSpPr>
          <p:cNvPr id="15" name="Text 11"/>
          <p:cNvSpPr txBox="1"/>
          <p:nvPr/>
        </p:nvSpPr>
        <p:spPr>
          <a:xfrm>
            <a:off x="731520" y="749808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 design that a compliance review can act on, with the advice line written down before the screens were built.</a:t>
            </a:r>
            <a:endParaRPr lang="en-US" sz="1700" dirty="0"/>
          </a:p>
        </p:txBody>
      </p:sp>
      <p:pic>
        <p:nvPicPr>
          <p:cNvPr id="1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Decisions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Decisions, including the ones I reversed</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call came from a review. The reasoning is kept in the full deck.</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8"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No chat box first</a:t>
            </a:r>
            <a:endParaRPr lang="en-US" sz="2400" dirty="0"/>
          </a:p>
        </p:txBody>
      </p:sp>
      <p:sp>
        <p:nvSpPr>
          <p:cNvPr id="9" name="Text 5"/>
          <p:cNvSpPr txBox="1"/>
          <p:nvPr/>
        </p:nvSpPr>
        <p:spPr>
          <a:xfrm>
            <a:off x="45720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p>
        </p:txBody>
      </p:sp>
      <p:sp>
        <p:nvSpPr>
          <p:cNvPr id="10"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2</a:t>
            </a:r>
            <a:endParaRPr lang="en-US" sz="1280" dirty="0"/>
          </a:p>
        </p:txBody>
      </p:sp>
      <p:sp>
        <p:nvSpPr>
          <p:cNvPr id="11"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Set the advice line</a:t>
            </a:r>
            <a:endParaRPr lang="en-US" sz="2400" dirty="0"/>
          </a:p>
        </p:txBody>
      </p:sp>
      <p:sp>
        <p:nvSpPr>
          <p:cNvPr id="12" name="Text 8"/>
          <p:cNvSpPr txBox="1"/>
          <p:nvPr/>
        </p:nvSpPr>
        <p:spPr>
          <a:xfrm>
            <a:off x="676656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AI never originates advice. Attributed analyst views sit behind a flag, pending compliance.</a:t>
            </a:r>
            <a:endParaRPr lang="en-US" sz="1700" dirty="0"/>
          </a:p>
        </p:txBody>
      </p:sp>
      <p:sp>
        <p:nvSpPr>
          <p:cNvPr id="13"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3</a:t>
            </a:r>
            <a:endParaRPr lang="en-US" sz="1280" dirty="0"/>
          </a:p>
        </p:txBody>
      </p:sp>
      <p:sp>
        <p:nvSpPr>
          <p:cNvPr id="14"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Lead with the trading day</a:t>
            </a:r>
            <a:endParaRPr lang="en-US" sz="2400" dirty="0"/>
          </a:p>
        </p:txBody>
      </p:sp>
      <p:sp>
        <p:nvSpPr>
          <p:cNvPr id="15" name="Text 11"/>
          <p:cNvSpPr txBox="1"/>
          <p:nvPr/>
        </p:nvSpPr>
        <p:spPr>
          <a:xfrm>
            <a:off x="45720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The one that followed his real routine won.</a:t>
            </a:r>
            <a:endParaRPr lang="en-US" sz="1700" dirty="0"/>
          </a:p>
        </p:txBody>
      </p:sp>
      <p:sp>
        <p:nvSpPr>
          <p:cNvPr id="16"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7"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Map today’s onboarding first</a:t>
            </a:r>
            <a:endParaRPr lang="en-US" sz="2400" dirty="0"/>
          </a:p>
        </p:txBody>
      </p:sp>
      <p:sp>
        <p:nvSpPr>
          <p:cNvPr id="18" name="Text 14"/>
          <p:cNvSpPr txBox="1"/>
          <p:nvPr/>
        </p:nvSpPr>
        <p:spPr>
          <a:xfrm>
            <a:off x="676656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live-site walk found an existing 7-day trial and 1-minute delayed quotes. Two assumptions were wrong.</a:t>
            </a:r>
            <a:endParaRPr lang="en-US" sz="17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Leadership</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Leadership: how I set direction and made calls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Evidence from the project record, with dates where the record has them.</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5852160" cy="1920240"/>
          </a:xfrm>
          <a:prstGeom prst="rect">
            <a:avLst/>
          </a:prstGeom>
          <a:solidFill>
            <a:srgbClr val="FFFFFF"/>
          </a:solidFill>
          <a:ln w="12700">
            <a:solidFill>
              <a:srgbClr val="E2E2E2"/>
            </a:solidFill>
            <a:prstDash val="solid"/>
          </a:ln>
        </p:spPr>
      </p:sp>
      <p:sp>
        <p:nvSpPr>
          <p:cNvPr id="8" name="Text 4"/>
          <p:cNvSpPr txBox="1"/>
          <p:nvPr/>
        </p:nvSpPr>
        <p:spPr>
          <a:xfrm>
            <a:off x="731520" y="2761488"/>
            <a:ext cx="530352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SET THE DIRECTION</a:t>
            </a:r>
            <a:endParaRPr lang="en-US" sz="1280" dirty="0"/>
          </a:p>
        </p:txBody>
      </p:sp>
      <p:sp>
        <p:nvSpPr>
          <p:cNvPr id="9" name="Text 5"/>
          <p:cNvSpPr txBox="1"/>
          <p:nvPr/>
        </p:nvSpPr>
        <p:spPr>
          <a:xfrm>
            <a:off x="731520" y="310896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Logged 31 points from a four-reviewer review on 30 Sept. The organizing goal moved to time to first success.</a:t>
            </a:r>
            <a:endParaRPr lang="en-US" sz="1700" dirty="0"/>
          </a:p>
        </p:txBody>
      </p:sp>
      <p:sp>
        <p:nvSpPr>
          <p:cNvPr id="10" name="Shape 6"/>
          <p:cNvSpPr/>
          <p:nvPr/>
        </p:nvSpPr>
        <p:spPr>
          <a:xfrm>
            <a:off x="457200" y="4754880"/>
            <a:ext cx="5852160" cy="1920240"/>
          </a:xfrm>
          <a:prstGeom prst="rect">
            <a:avLst/>
          </a:prstGeom>
          <a:solidFill>
            <a:srgbClr val="FFFFFF"/>
          </a:solidFill>
          <a:ln w="12700">
            <a:solidFill>
              <a:srgbClr val="E2E2E2"/>
            </a:solidFill>
            <a:prstDash val="solid"/>
          </a:ln>
        </p:spPr>
      </p:sp>
      <p:sp>
        <p:nvSpPr>
          <p:cNvPr id="11" name="Text 7"/>
          <p:cNvSpPr txBox="1"/>
          <p:nvPr/>
        </p:nvSpPr>
        <p:spPr>
          <a:xfrm>
            <a:off x="731520" y="4956048"/>
            <a:ext cx="5303520"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MADE THE CALLS, DATED</a:t>
            </a:r>
            <a:endParaRPr lang="en-US" sz="1280" dirty="0"/>
          </a:p>
        </p:txBody>
      </p:sp>
      <p:sp>
        <p:nvSpPr>
          <p:cNvPr id="12" name="Text 8"/>
          <p:cNvSpPr txBox="1"/>
          <p:nvPr/>
        </p:nvSpPr>
        <p:spPr>
          <a:xfrm>
            <a:off x="731520" y="530352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Lead calls on 23 and 30 Sept, each written with its reason: no chat box first, set the advice line, lead with the trading day.</a:t>
            </a:r>
            <a:endParaRPr lang="en-US" sz="1700" dirty="0"/>
          </a:p>
        </p:txBody>
      </p:sp>
      <p:sp>
        <p:nvSpPr>
          <p:cNvPr id="13" name="Shape 9"/>
          <p:cNvSpPr/>
          <p:nvPr/>
        </p:nvSpPr>
        <p:spPr>
          <a:xfrm>
            <a:off x="457200" y="6949440"/>
            <a:ext cx="5852160" cy="1920240"/>
          </a:xfrm>
          <a:prstGeom prst="rect">
            <a:avLst/>
          </a:prstGeom>
          <a:solidFill>
            <a:srgbClr val="FFFFFF"/>
          </a:solidFill>
          <a:ln w="12700">
            <a:solidFill>
              <a:srgbClr val="E2E2E2"/>
            </a:solidFill>
            <a:prstDash val="solid"/>
          </a:ln>
        </p:spPr>
      </p:sp>
      <p:sp>
        <p:nvSpPr>
          <p:cNvPr id="14" name="Text 10"/>
          <p:cNvSpPr txBox="1"/>
          <p:nvPr/>
        </p:nvSpPr>
        <p:spPr>
          <a:xfrm>
            <a:off x="731520" y="7150608"/>
            <a:ext cx="530352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SET THE RULES ONCE</a:t>
            </a:r>
            <a:endParaRPr lang="en-US" sz="1280" dirty="0"/>
          </a:p>
        </p:txBody>
      </p:sp>
      <p:sp>
        <p:nvSpPr>
          <p:cNvPr id="15" name="Text 11"/>
          <p:cNvSpPr txBox="1"/>
          <p:nvPr/>
        </p:nvSpPr>
        <p:spPr>
          <a:xfrm>
            <a:off x="731520" y="749808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sz="1700" dirty="0"/>
          </a:p>
        </p:txBody>
      </p:sp>
      <p:sp>
        <p:nvSpPr>
          <p:cNvPr id="16" name="Shape 12"/>
          <p:cNvSpPr/>
          <p:nvPr/>
        </p:nvSpPr>
        <p:spPr>
          <a:xfrm>
            <a:off x="6675120" y="2560320"/>
            <a:ext cx="5852160" cy="1920240"/>
          </a:xfrm>
          <a:prstGeom prst="rect">
            <a:avLst/>
          </a:prstGeom>
          <a:solidFill>
            <a:srgbClr val="FFFFFF"/>
          </a:solidFill>
          <a:ln w="12700">
            <a:solidFill>
              <a:srgbClr val="E2E2E2"/>
            </a:solidFill>
            <a:prstDash val="solid"/>
          </a:ln>
        </p:spPr>
      </p:sp>
      <p:sp>
        <p:nvSpPr>
          <p:cNvPr id="17" name="Text 13"/>
          <p:cNvSpPr txBox="1"/>
          <p:nvPr/>
        </p:nvSpPr>
        <p:spPr>
          <a:xfrm>
            <a:off x="6949440" y="2761488"/>
            <a:ext cx="5303520" cy="274320"/>
          </a:xfrm>
          <a:prstGeom prst="rect">
            <a:avLst/>
          </a:prstGeom>
          <a:noFill/>
          <a:ln/>
        </p:spPr>
        <p:txBody>
          <a:bodyPr wrap="square" lIns="0" tIns="0" rIns="0" bIns="0" rtlCol="0" anchor="t"/>
          <a:lstStyle/>
          <a:p>
            <a:pPr indent="0" marL="0">
              <a:buNone/>
            </a:pPr>
            <a:r>
              <a:rPr lang="en-US" sz="1280" b="1" spc="100" kern="0" dirty="0">
                <a:solidFill>
                  <a:srgbClr val="A12A37"/>
                </a:solidFill>
                <a:latin typeface="Helvetica Neue" pitchFamily="34" charset="0"/>
                <a:ea typeface="Helvetica Neue" pitchFamily="34" charset="-122"/>
                <a:cs typeface="Helvetica Neue" pitchFamily="34" charset="-120"/>
              </a:rPr>
              <a:t>RECONCILED, NOT OVERWRITTEN</a:t>
            </a:r>
            <a:endParaRPr lang="en-US" sz="1280" dirty="0"/>
          </a:p>
        </p:txBody>
      </p:sp>
      <p:sp>
        <p:nvSpPr>
          <p:cNvPr id="18" name="Text 14"/>
          <p:cNvSpPr txBox="1"/>
          <p:nvPr/>
        </p:nvSpPr>
        <p:spPr>
          <a:xfrm>
            <a:off x="6949440" y="310896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Teammates’ screens kept their best ideas. Only what broke the rules was cut.</a:t>
            </a:r>
            <a:endParaRPr lang="en-US" sz="1700" dirty="0"/>
          </a:p>
        </p:txBody>
      </p:sp>
      <p:sp>
        <p:nvSpPr>
          <p:cNvPr id="19" name="Shape 15"/>
          <p:cNvSpPr/>
          <p:nvPr/>
        </p:nvSpPr>
        <p:spPr>
          <a:xfrm>
            <a:off x="6675120" y="4754880"/>
            <a:ext cx="5852160" cy="1920240"/>
          </a:xfrm>
          <a:prstGeom prst="rect">
            <a:avLst/>
          </a:prstGeom>
          <a:solidFill>
            <a:srgbClr val="FFFFFF"/>
          </a:solidFill>
          <a:ln w="12700">
            <a:solidFill>
              <a:srgbClr val="E2E2E2"/>
            </a:solidFill>
            <a:prstDash val="solid"/>
          </a:ln>
        </p:spPr>
      </p:sp>
      <p:sp>
        <p:nvSpPr>
          <p:cNvPr id="20" name="Text 16"/>
          <p:cNvSpPr txBox="1"/>
          <p:nvPr/>
        </p:nvSpPr>
        <p:spPr>
          <a:xfrm>
            <a:off x="6949440" y="4956048"/>
            <a:ext cx="5303520" cy="274320"/>
          </a:xfrm>
          <a:prstGeom prst="rect">
            <a:avLst/>
          </a:prstGeom>
          <a:noFill/>
          <a:ln/>
        </p:spPr>
        <p:txBody>
          <a:bodyPr wrap="square" lIns="0" tIns="0" rIns="0" bIns="0" rtlCol="0" anchor="t"/>
          <a:lstStyle/>
          <a:p>
            <a:pPr indent="0" marL="0">
              <a:buNone/>
            </a:pPr>
            <a:r>
              <a:rPr lang="en-US" sz="1280" b="1" spc="100" kern="0" dirty="0">
                <a:solidFill>
                  <a:srgbClr val="3A7D55"/>
                </a:solidFill>
                <a:latin typeface="Helvetica Neue" pitchFamily="34" charset="0"/>
                <a:ea typeface="Helvetica Neue" pitchFamily="34" charset="-122"/>
                <a:cs typeface="Helvetica Neue" pitchFamily="34" charset="-120"/>
              </a:rPr>
              <a:t>KEPT OPEN DECISIONS VISIBLE</a:t>
            </a:r>
            <a:endParaRPr lang="en-US" sz="1280" dirty="0"/>
          </a:p>
        </p:txBody>
      </p:sp>
      <p:sp>
        <p:nvSpPr>
          <p:cNvPr id="21" name="Text 17"/>
          <p:cNvSpPr txBox="1"/>
          <p:nvPr/>
        </p:nvSpPr>
        <p:spPr>
          <a:xfrm>
            <a:off x="6949440" y="530352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Meridian: open questions and decisions logged on the FigJam board, and settled items marked separately.</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Validation</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I would validate next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Planned, not run. Nothing here is a result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651760"/>
            <a:ext cx="420624" cy="420624"/>
          </a:xfrm>
          <a:prstGeom prst="ellipse">
            <a:avLst/>
          </a:prstGeom>
          <a:solidFill>
            <a:srgbClr val="00868B"/>
          </a:solidFill>
          <a:ln w="12700">
            <a:solidFill>
              <a:srgbClr val="00868B"/>
            </a:solidFill>
            <a:prstDash val="solid"/>
          </a:ln>
        </p:spPr>
      </p:sp>
      <p:sp>
        <p:nvSpPr>
          <p:cNvPr id="8" name="Text 4"/>
          <p:cNvSpPr txBox="1"/>
          <p:nvPr/>
        </p:nvSpPr>
        <p:spPr>
          <a:xfrm>
            <a:off x="457200" y="2715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9" name="Text 5"/>
          <p:cNvSpPr txBox="1"/>
          <p:nvPr/>
        </p:nvSpPr>
        <p:spPr>
          <a:xfrm>
            <a:off x="1188720" y="267004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Think-aloud</a:t>
            </a:r>
            <a:endParaRPr lang="en-US" sz="2400" dirty="0"/>
          </a:p>
        </p:txBody>
      </p:sp>
      <p:sp>
        <p:nvSpPr>
          <p:cNvPr id="10" name="Text 6"/>
          <p:cNvSpPr txBox="1"/>
          <p:nvPr/>
        </p:nvSpPr>
        <p:spPr>
          <a:xfrm>
            <a:off x="1188720" y="320040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5 users, on the first evening and the board</a:t>
            </a:r>
            <a:endParaRPr lang="en-US" sz="1700" dirty="0"/>
          </a:p>
        </p:txBody>
      </p:sp>
      <p:sp>
        <p:nvSpPr>
          <p:cNvPr id="11" name="Shape 7"/>
          <p:cNvSpPr/>
          <p:nvPr/>
        </p:nvSpPr>
        <p:spPr>
          <a:xfrm>
            <a:off x="457200" y="4297680"/>
            <a:ext cx="420624" cy="420624"/>
          </a:xfrm>
          <a:prstGeom prst="ellipse">
            <a:avLst/>
          </a:prstGeom>
          <a:solidFill>
            <a:srgbClr val="5B3F96"/>
          </a:solidFill>
          <a:ln w="12700">
            <a:solidFill>
              <a:srgbClr val="5B3F96"/>
            </a:solidFill>
            <a:prstDash val="solid"/>
          </a:ln>
        </p:spPr>
      </p:sp>
      <p:sp>
        <p:nvSpPr>
          <p:cNvPr id="12" name="Text 8"/>
          <p:cNvSpPr txBox="1"/>
          <p:nvPr/>
        </p:nvSpPr>
        <p:spPr>
          <a:xfrm>
            <a:off x="457200" y="43616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3" name="Text 9"/>
          <p:cNvSpPr txBox="1"/>
          <p:nvPr/>
        </p:nvSpPr>
        <p:spPr>
          <a:xfrm>
            <a:off x="1188720" y="431596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Alert diary study</a:t>
            </a:r>
            <a:endParaRPr lang="en-US" sz="2400" dirty="0"/>
          </a:p>
        </p:txBody>
      </p:sp>
      <p:sp>
        <p:nvSpPr>
          <p:cNvPr id="14" name="Text 10"/>
          <p:cNvSpPr txBox="1"/>
          <p:nvPr/>
        </p:nvSpPr>
        <p:spPr>
          <a:xfrm>
            <a:off x="1188720" y="484632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Two weeks of real alerts, logged by participants</a:t>
            </a:r>
            <a:endParaRPr lang="en-US" sz="1700" dirty="0"/>
          </a:p>
        </p:txBody>
      </p:sp>
      <p:sp>
        <p:nvSpPr>
          <p:cNvPr id="15" name="Shape 11"/>
          <p:cNvSpPr/>
          <p:nvPr/>
        </p:nvSpPr>
        <p:spPr>
          <a:xfrm>
            <a:off x="457200" y="5943600"/>
            <a:ext cx="420624" cy="420624"/>
          </a:xfrm>
          <a:prstGeom prst="ellipse">
            <a:avLst/>
          </a:prstGeom>
          <a:solidFill>
            <a:srgbClr val="C45A35"/>
          </a:solidFill>
          <a:ln w="12700">
            <a:solidFill>
              <a:srgbClr val="C45A35"/>
            </a:solidFill>
            <a:prstDash val="solid"/>
          </a:ln>
        </p:spPr>
      </p:sp>
      <p:sp>
        <p:nvSpPr>
          <p:cNvPr id="16" name="Text 12"/>
          <p:cNvSpPr txBox="1"/>
          <p:nvPr/>
        </p:nvSpPr>
        <p:spPr>
          <a:xfrm>
            <a:off x="457200" y="60076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3"/>
          <p:cNvSpPr txBox="1"/>
          <p:nvPr/>
        </p:nvSpPr>
        <p:spPr>
          <a:xfrm>
            <a:off x="1188720" y="596188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Labeled chart checks</a:t>
            </a:r>
            <a:endParaRPr lang="en-US" sz="2400" dirty="0"/>
          </a:p>
        </p:txBody>
      </p:sp>
      <p:sp>
        <p:nvSpPr>
          <p:cNvPr id="18" name="Text 14"/>
          <p:cNvSpPr txBox="1"/>
          <p:nvPr/>
        </p:nvSpPr>
        <p:spPr>
          <a:xfrm>
            <a:off x="1188720" y="649224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Weekly audits, with a target of under 1% wrong among clear detections</a:t>
            </a:r>
            <a:endParaRPr lang="en-US" sz="1700" dirty="0"/>
          </a:p>
        </p:txBody>
      </p:sp>
      <p:sp>
        <p:nvSpPr>
          <p:cNvPr id="19" name="Shape 15"/>
          <p:cNvSpPr/>
          <p:nvPr/>
        </p:nvSpPr>
        <p:spPr>
          <a:xfrm>
            <a:off x="457200" y="7589520"/>
            <a:ext cx="420624" cy="420624"/>
          </a:xfrm>
          <a:prstGeom prst="ellipse">
            <a:avLst/>
          </a:prstGeom>
          <a:solidFill>
            <a:srgbClr val="A12A37"/>
          </a:solidFill>
          <a:ln w="12700">
            <a:solidFill>
              <a:srgbClr val="A12A37"/>
            </a:solidFill>
            <a:prstDash val="solid"/>
          </a:ln>
        </p:spPr>
      </p:sp>
      <p:sp>
        <p:nvSpPr>
          <p:cNvPr id="20" name="Text 16"/>
          <p:cNvSpPr txBox="1"/>
          <p:nvPr/>
        </p:nvSpPr>
        <p:spPr>
          <a:xfrm>
            <a:off x="457200" y="7653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1" name="Text 17"/>
          <p:cNvSpPr txBox="1"/>
          <p:nvPr/>
        </p:nvSpPr>
        <p:spPr>
          <a:xfrm>
            <a:off x="1188720" y="760780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Compliance review</a:t>
            </a:r>
            <a:endParaRPr lang="en-US" sz="2400" dirty="0"/>
          </a:p>
        </p:txBody>
      </p:sp>
      <p:sp>
        <p:nvSpPr>
          <p:cNvPr id="22" name="Text 18"/>
          <p:cNvSpPr txBox="1"/>
          <p:nvPr/>
        </p:nvSpPr>
        <p:spPr>
          <a:xfrm>
            <a:off x="1188720" y="813816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advice line and the trial timing, before any launch</a:t>
            </a:r>
            <a:endParaRPr lang="en-US" sz="1700" dirty="0"/>
          </a:p>
        </p:txBody>
      </p:sp>
      <p:pic>
        <p:nvPicPr>
          <p:cNvPr id="23"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Meridian Navigator · Solution</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Meridian: a trade and AI flow, prototyped in Figma</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core screens, each answering one question. Outcomes are not yet measured.</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468880"/>
            <a:ext cx="2535936" cy="5486400"/>
          </a:xfrm>
          <a:prstGeom prst="rect">
            <a:avLst/>
          </a:prstGeom>
          <a:solidFill>
            <a:srgbClr val="14161D"/>
          </a:solidFill>
          <a:ln w="12700">
            <a:solidFill>
              <a:srgbClr val="14161D"/>
            </a:solidFill>
            <a:prstDash val="solid"/>
          </a:ln>
        </p:spPr>
      </p:sp>
      <p:pic>
        <p:nvPicPr>
          <p:cNvPr id="8" name="Image 1" descr="/tmp/meridian-deck/img/dash.png">    </p:cNvPr>
          <p:cNvPicPr>
            <a:picLocks noChangeAspect="1"/>
          </p:cNvPicPr>
          <p:nvPr/>
        </p:nvPicPr>
        <p:blipFill>
          <a:blip r:embed="rId2"/>
          <a:stretch>
            <a:fillRect/>
          </a:stretch>
        </p:blipFill>
        <p:spPr>
          <a:xfrm>
            <a:off x="457200" y="2468880"/>
            <a:ext cx="2535936" cy="5486400"/>
          </a:xfrm>
          <a:prstGeom prst="rect">
            <a:avLst/>
          </a:prstGeom>
        </p:spPr>
      </p:pic>
      <p:sp>
        <p:nvSpPr>
          <p:cNvPr id="9" name="Text 4"/>
          <p:cNvSpPr txBox="1"/>
          <p:nvPr/>
        </p:nvSpPr>
        <p:spPr>
          <a:xfrm>
            <a:off x="457200" y="8138160"/>
            <a:ext cx="2535936"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Dashboard</a:t>
            </a:r>
            <a:endParaRPr lang="en-US" sz="1500" dirty="0"/>
          </a:p>
        </p:txBody>
      </p:sp>
      <p:sp>
        <p:nvSpPr>
          <p:cNvPr id="10" name="Text 5"/>
          <p:cNvSpPr txBox="1"/>
          <p:nvPr/>
        </p:nvSpPr>
        <p:spPr>
          <a:xfrm>
            <a:off x="457200" y="8503920"/>
            <a:ext cx="2535936" cy="45720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00" dirty="0"/>
          </a:p>
        </p:txBody>
      </p:sp>
      <p:sp>
        <p:nvSpPr>
          <p:cNvPr id="11" name="Shape 6"/>
          <p:cNvSpPr/>
          <p:nvPr/>
        </p:nvSpPr>
        <p:spPr>
          <a:xfrm>
            <a:off x="3358896" y="2468880"/>
            <a:ext cx="2535936" cy="5486400"/>
          </a:xfrm>
          <a:prstGeom prst="rect">
            <a:avLst/>
          </a:prstGeom>
          <a:solidFill>
            <a:srgbClr val="14161D"/>
          </a:solidFill>
          <a:ln w="12700">
            <a:solidFill>
              <a:srgbClr val="14161D"/>
            </a:solidFill>
            <a:prstDash val="solid"/>
          </a:ln>
        </p:spPr>
      </p:sp>
      <p:pic>
        <p:nvPicPr>
          <p:cNvPr id="12" name="Image 2" descr="/tmp/meridian-deck/img/insight.png">    </p:cNvPr>
          <p:cNvPicPr>
            <a:picLocks noChangeAspect="1"/>
          </p:cNvPicPr>
          <p:nvPr/>
        </p:nvPicPr>
        <p:blipFill>
          <a:blip r:embed="rId3"/>
          <a:stretch>
            <a:fillRect/>
          </a:stretch>
        </p:blipFill>
        <p:spPr>
          <a:xfrm>
            <a:off x="3358896" y="2468880"/>
            <a:ext cx="2535936" cy="5486400"/>
          </a:xfrm>
          <a:prstGeom prst="rect">
            <a:avLst/>
          </a:prstGeom>
        </p:spPr>
      </p:pic>
      <p:sp>
        <p:nvSpPr>
          <p:cNvPr id="13" name="Text 7"/>
          <p:cNvSpPr txBox="1"/>
          <p:nvPr/>
        </p:nvSpPr>
        <p:spPr>
          <a:xfrm>
            <a:off x="3358896" y="8138160"/>
            <a:ext cx="2535936"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Insight</a:t>
            </a:r>
            <a:endParaRPr lang="en-US" sz="1500" dirty="0"/>
          </a:p>
        </p:txBody>
      </p:sp>
      <p:sp>
        <p:nvSpPr>
          <p:cNvPr id="14" name="Text 8"/>
          <p:cNvSpPr txBox="1"/>
          <p:nvPr/>
        </p:nvSpPr>
        <p:spPr>
          <a:xfrm>
            <a:off x="3358896" y="8503920"/>
            <a:ext cx="2535936" cy="45720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00" dirty="0"/>
          </a:p>
        </p:txBody>
      </p:sp>
      <p:sp>
        <p:nvSpPr>
          <p:cNvPr id="15" name="Shape 9"/>
          <p:cNvSpPr/>
          <p:nvPr/>
        </p:nvSpPr>
        <p:spPr>
          <a:xfrm>
            <a:off x="6260592" y="2468880"/>
            <a:ext cx="2535936" cy="5486400"/>
          </a:xfrm>
          <a:prstGeom prst="rect">
            <a:avLst/>
          </a:prstGeom>
          <a:solidFill>
            <a:srgbClr val="14161D"/>
          </a:solidFill>
          <a:ln w="12700">
            <a:solidFill>
              <a:srgbClr val="14161D"/>
            </a:solidFill>
            <a:prstDash val="solid"/>
          </a:ln>
        </p:spPr>
      </p:sp>
      <p:pic>
        <p:nvPicPr>
          <p:cNvPr id="16" name="Image 3" descr="/tmp/meridian-deck/img/guard.png">    </p:cNvPr>
          <p:cNvPicPr>
            <a:picLocks noChangeAspect="1"/>
          </p:cNvPicPr>
          <p:nvPr/>
        </p:nvPicPr>
        <p:blipFill>
          <a:blip r:embed="rId4"/>
          <a:stretch>
            <a:fillRect/>
          </a:stretch>
        </p:blipFill>
        <p:spPr>
          <a:xfrm>
            <a:off x="6260592" y="2468880"/>
            <a:ext cx="2535936" cy="5486400"/>
          </a:xfrm>
          <a:prstGeom prst="rect">
            <a:avLst/>
          </a:prstGeom>
        </p:spPr>
      </p:pic>
      <p:sp>
        <p:nvSpPr>
          <p:cNvPr id="17" name="Text 10"/>
          <p:cNvSpPr txBox="1"/>
          <p:nvPr/>
        </p:nvSpPr>
        <p:spPr>
          <a:xfrm>
            <a:off x="6260592" y="8138160"/>
            <a:ext cx="2535936"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Guard</a:t>
            </a:r>
            <a:endParaRPr lang="en-US" sz="1500" dirty="0"/>
          </a:p>
        </p:txBody>
      </p:sp>
      <p:sp>
        <p:nvSpPr>
          <p:cNvPr id="18" name="Text 11"/>
          <p:cNvSpPr txBox="1"/>
          <p:nvPr/>
        </p:nvSpPr>
        <p:spPr>
          <a:xfrm>
            <a:off x="6260592" y="8503920"/>
            <a:ext cx="2535936" cy="45720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00" dirty="0"/>
          </a:p>
        </p:txBody>
      </p:sp>
      <p:sp>
        <p:nvSpPr>
          <p:cNvPr id="19" name="Shape 12"/>
          <p:cNvSpPr/>
          <p:nvPr/>
        </p:nvSpPr>
        <p:spPr>
          <a:xfrm>
            <a:off x="9436608" y="2468880"/>
            <a:ext cx="3110789" cy="1828800"/>
          </a:xfrm>
          <a:prstGeom prst="rect">
            <a:avLst/>
          </a:prstGeom>
          <a:solidFill>
            <a:srgbClr val="FFFFFF"/>
          </a:solidFill>
          <a:ln w="12700">
            <a:solidFill>
              <a:srgbClr val="E2E2E2"/>
            </a:solidFill>
            <a:prstDash val="solid"/>
          </a:ln>
        </p:spPr>
      </p:sp>
      <p:sp>
        <p:nvSpPr>
          <p:cNvPr id="20" name="Text 13"/>
          <p:cNvSpPr txBox="1"/>
          <p:nvPr/>
        </p:nvSpPr>
        <p:spPr>
          <a:xfrm>
            <a:off x="9710928" y="2670048"/>
            <a:ext cx="2562149"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PROBLEM</a:t>
            </a:r>
            <a:endParaRPr lang="en-US" sz="1280" dirty="0"/>
          </a:p>
        </p:txBody>
      </p:sp>
      <p:sp>
        <p:nvSpPr>
          <p:cNvPr id="21" name="Text 14"/>
          <p:cNvSpPr txBox="1"/>
          <p:nvPr/>
        </p:nvSpPr>
        <p:spPr>
          <a:xfrm>
            <a:off x="9710928" y="3017520"/>
            <a:ext cx="2562149"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Research, order entry and monitoring live in separate tools.</a:t>
            </a:r>
            <a:endParaRPr lang="en-US" sz="1700" dirty="0"/>
          </a:p>
        </p:txBody>
      </p:sp>
      <p:sp>
        <p:nvSpPr>
          <p:cNvPr id="22" name="Shape 15"/>
          <p:cNvSpPr/>
          <p:nvPr/>
        </p:nvSpPr>
        <p:spPr>
          <a:xfrm>
            <a:off x="9436608" y="4480560"/>
            <a:ext cx="3110789" cy="1828800"/>
          </a:xfrm>
          <a:prstGeom prst="rect">
            <a:avLst/>
          </a:prstGeom>
          <a:solidFill>
            <a:srgbClr val="FFFFFF"/>
          </a:solidFill>
          <a:ln w="12700">
            <a:solidFill>
              <a:srgbClr val="E2E2E2"/>
            </a:solidFill>
            <a:prstDash val="solid"/>
          </a:ln>
        </p:spPr>
      </p:sp>
      <p:sp>
        <p:nvSpPr>
          <p:cNvPr id="23" name="Text 16"/>
          <p:cNvSpPr txBox="1"/>
          <p:nvPr/>
        </p:nvSpPr>
        <p:spPr>
          <a:xfrm>
            <a:off x="9710928" y="4681728"/>
            <a:ext cx="2562149"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DECISION</a:t>
            </a:r>
            <a:endParaRPr lang="en-US" sz="1280" dirty="0"/>
          </a:p>
        </p:txBody>
      </p:sp>
      <p:sp>
        <p:nvSpPr>
          <p:cNvPr id="24" name="Text 17"/>
          <p:cNvSpPr txBox="1"/>
          <p:nvPr/>
        </p:nvSpPr>
        <p:spPr>
          <a:xfrm>
            <a:off x="9710928" y="5029200"/>
            <a:ext cx="2562149"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Put trade flows and AI screens in one app, with mock data.</a:t>
            </a:r>
            <a:endParaRPr lang="en-US" sz="1700" dirty="0"/>
          </a:p>
        </p:txBody>
      </p:sp>
      <p:sp>
        <p:nvSpPr>
          <p:cNvPr id="25" name="Shape 18"/>
          <p:cNvSpPr/>
          <p:nvPr/>
        </p:nvSpPr>
        <p:spPr>
          <a:xfrm>
            <a:off x="9436608" y="6492240"/>
            <a:ext cx="3110789" cy="1828800"/>
          </a:xfrm>
          <a:prstGeom prst="rect">
            <a:avLst/>
          </a:prstGeom>
          <a:solidFill>
            <a:srgbClr val="FFFFFF"/>
          </a:solidFill>
          <a:ln w="12700">
            <a:solidFill>
              <a:srgbClr val="E2E2E2"/>
            </a:solidFill>
            <a:prstDash val="solid"/>
          </a:ln>
        </p:spPr>
      </p:sp>
      <p:sp>
        <p:nvSpPr>
          <p:cNvPr id="26" name="Text 19"/>
          <p:cNvSpPr txBox="1"/>
          <p:nvPr/>
        </p:nvSpPr>
        <p:spPr>
          <a:xfrm>
            <a:off x="9710928" y="6693408"/>
            <a:ext cx="2562149"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RESULT</a:t>
            </a:r>
            <a:endParaRPr lang="en-US" sz="1280" dirty="0"/>
          </a:p>
        </p:txBody>
      </p:sp>
      <p:sp>
        <p:nvSpPr>
          <p:cNvPr id="27" name="Text 20"/>
          <p:cNvSpPr txBox="1"/>
          <p:nvPr/>
        </p:nvSpPr>
        <p:spPr>
          <a:xfrm>
            <a:off x="9710928" y="7040880"/>
            <a:ext cx="2562149"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 clickable prototype. Outcomes not yet measured.</a:t>
            </a:r>
            <a:endParaRPr lang="en-US" sz="1700" dirty="0"/>
          </a:p>
        </p:txBody>
      </p:sp>
      <p:pic>
        <p:nvPicPr>
          <p:cNvPr id="28" name="Image 4" descr="/tmp/meridian-deck/img/band-footer.png">    </p:cNvPr>
          <p:cNvPicPr>
            <a:picLocks noChangeAspect="1"/>
          </p:cNvPicPr>
          <p:nvPr/>
        </p:nvPicPr>
        <p:blipFill>
          <a:blip r:embed="rId5"/>
          <a:stretch>
            <a:fillRect/>
          </a:stretch>
        </p:blipFill>
        <p:spPr>
          <a:xfrm>
            <a:off x="0" y="9281160"/>
            <a:ext cx="13004597" cy="4663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Meridian Navigator · States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286000"/>
            <a:ext cx="2620467" cy="5669280"/>
          </a:xfrm>
          <a:prstGeom prst="rect">
            <a:avLst/>
          </a:prstGeom>
          <a:solidFill>
            <a:srgbClr val="14161D"/>
          </a:solidFill>
          <a:ln w="12700">
            <a:solidFill>
              <a:srgbClr val="14161D"/>
            </a:solidFill>
            <a:prstDash val="solid"/>
          </a:ln>
        </p:spPr>
      </p:sp>
      <p:pic>
        <p:nvPicPr>
          <p:cNvPr id="8" name="Image 1" descr="/tmp/meridian-deck/img/wf-dash-empty.png">    </p:cNvPr>
          <p:cNvPicPr>
            <a:picLocks noChangeAspect="1"/>
          </p:cNvPicPr>
          <p:nvPr/>
        </p:nvPicPr>
        <p:blipFill>
          <a:blip r:embed="rId2"/>
          <a:stretch>
            <a:fillRect/>
          </a:stretch>
        </p:blipFill>
        <p:spPr>
          <a:xfrm>
            <a:off x="457200" y="2286000"/>
            <a:ext cx="2620467" cy="5669280"/>
          </a:xfrm>
          <a:prstGeom prst="rect">
            <a:avLst/>
          </a:prstGeom>
        </p:spPr>
      </p:pic>
      <p:sp>
        <p:nvSpPr>
          <p:cNvPr id="9" name="Text 4"/>
          <p:cNvSpPr txBox="1"/>
          <p:nvPr/>
        </p:nvSpPr>
        <p:spPr>
          <a:xfrm>
            <a:off x="457200" y="8138160"/>
            <a:ext cx="2620467"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10" name="Text 5"/>
          <p:cNvSpPr txBox="1"/>
          <p:nvPr/>
        </p:nvSpPr>
        <p:spPr>
          <a:xfrm>
            <a:off x="457200"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1" name="Shape 6"/>
          <p:cNvSpPr/>
          <p:nvPr/>
        </p:nvSpPr>
        <p:spPr>
          <a:xfrm>
            <a:off x="3613777" y="2286000"/>
            <a:ext cx="2620467" cy="5669280"/>
          </a:xfrm>
          <a:prstGeom prst="rect">
            <a:avLst/>
          </a:prstGeom>
          <a:solidFill>
            <a:srgbClr val="14161D"/>
          </a:solidFill>
          <a:ln w="12700">
            <a:solidFill>
              <a:srgbClr val="14161D"/>
            </a:solidFill>
            <a:prstDash val="solid"/>
          </a:ln>
        </p:spPr>
      </p:sp>
      <p:pic>
        <p:nvPicPr>
          <p:cNvPr id="12" name="Image 2" descr="/tmp/meridian-deck/img/wf-dash-loading.png">    </p:cNvPr>
          <p:cNvPicPr>
            <a:picLocks noChangeAspect="1"/>
          </p:cNvPicPr>
          <p:nvPr/>
        </p:nvPicPr>
        <p:blipFill>
          <a:blip r:embed="rId3"/>
          <a:stretch>
            <a:fillRect/>
          </a:stretch>
        </p:blipFill>
        <p:spPr>
          <a:xfrm>
            <a:off x="3613777" y="2286000"/>
            <a:ext cx="2620467" cy="5669280"/>
          </a:xfrm>
          <a:prstGeom prst="rect">
            <a:avLst/>
          </a:prstGeom>
        </p:spPr>
      </p:pic>
      <p:sp>
        <p:nvSpPr>
          <p:cNvPr id="13" name="Text 7"/>
          <p:cNvSpPr txBox="1"/>
          <p:nvPr/>
        </p:nvSpPr>
        <p:spPr>
          <a:xfrm>
            <a:off x="3613777" y="8138160"/>
            <a:ext cx="2620467"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4" name="Text 8"/>
          <p:cNvSpPr txBox="1"/>
          <p:nvPr/>
        </p:nvSpPr>
        <p:spPr>
          <a:xfrm>
            <a:off x="3613777"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5" name="Shape 9"/>
          <p:cNvSpPr/>
          <p:nvPr/>
        </p:nvSpPr>
        <p:spPr>
          <a:xfrm>
            <a:off x="6770353" y="2286000"/>
            <a:ext cx="2620467" cy="5669280"/>
          </a:xfrm>
          <a:prstGeom prst="rect">
            <a:avLst/>
          </a:prstGeom>
          <a:solidFill>
            <a:srgbClr val="14161D"/>
          </a:solidFill>
          <a:ln w="12700">
            <a:solidFill>
              <a:srgbClr val="14161D"/>
            </a:solidFill>
            <a:prstDash val="solid"/>
          </a:ln>
        </p:spPr>
      </p:sp>
      <p:pic>
        <p:nvPicPr>
          <p:cNvPr id="16" name="Image 3" descr="/tmp/meridian-deck/img/wf-dash-error.png">    </p:cNvPr>
          <p:cNvPicPr>
            <a:picLocks noChangeAspect="1"/>
          </p:cNvPicPr>
          <p:nvPr/>
        </p:nvPicPr>
        <p:blipFill>
          <a:blip r:embed="rId4"/>
          <a:stretch>
            <a:fillRect/>
          </a:stretch>
        </p:blipFill>
        <p:spPr>
          <a:xfrm>
            <a:off x="6770353" y="2286000"/>
            <a:ext cx="2620467" cy="5669280"/>
          </a:xfrm>
          <a:prstGeom prst="rect">
            <a:avLst/>
          </a:prstGeom>
        </p:spPr>
      </p:pic>
      <p:sp>
        <p:nvSpPr>
          <p:cNvPr id="17" name="Text 10"/>
          <p:cNvSpPr txBox="1"/>
          <p:nvPr/>
        </p:nvSpPr>
        <p:spPr>
          <a:xfrm>
            <a:off x="6770353" y="8138160"/>
            <a:ext cx="2620467"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8" name="Text 11"/>
          <p:cNvSpPr txBox="1"/>
          <p:nvPr/>
        </p:nvSpPr>
        <p:spPr>
          <a:xfrm>
            <a:off x="6770353"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9" name="Shape 12"/>
          <p:cNvSpPr/>
          <p:nvPr/>
        </p:nvSpPr>
        <p:spPr>
          <a:xfrm>
            <a:off x="9926930" y="2286000"/>
            <a:ext cx="2620467" cy="5669280"/>
          </a:xfrm>
          <a:prstGeom prst="rect">
            <a:avLst/>
          </a:prstGeom>
          <a:solidFill>
            <a:srgbClr val="14161D"/>
          </a:solidFill>
          <a:ln w="12700">
            <a:solidFill>
              <a:srgbClr val="14161D"/>
            </a:solidFill>
            <a:prstDash val="solid"/>
          </a:ln>
        </p:spPr>
      </p:sp>
      <p:pic>
        <p:nvPicPr>
          <p:cNvPr id="20" name="Image 4" descr="/tmp/meridian-deck/img/wf-dash-offline.png">    </p:cNvPr>
          <p:cNvPicPr>
            <a:picLocks noChangeAspect="1"/>
          </p:cNvPicPr>
          <p:nvPr/>
        </p:nvPicPr>
        <p:blipFill>
          <a:blip r:embed="rId5"/>
          <a:stretch>
            <a:fillRect/>
          </a:stretch>
        </p:blipFill>
        <p:spPr>
          <a:xfrm>
            <a:off x="9926930" y="2286000"/>
            <a:ext cx="2620467" cy="5669280"/>
          </a:xfrm>
          <a:prstGeom prst="rect">
            <a:avLst/>
          </a:prstGeom>
        </p:spPr>
      </p:pic>
      <p:sp>
        <p:nvSpPr>
          <p:cNvPr id="21" name="Text 13"/>
          <p:cNvSpPr txBox="1"/>
          <p:nvPr/>
        </p:nvSpPr>
        <p:spPr>
          <a:xfrm>
            <a:off x="9926930" y="8138160"/>
            <a:ext cx="2620467"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2" name="Text 14"/>
          <p:cNvSpPr txBox="1"/>
          <p:nvPr/>
        </p:nvSpPr>
        <p:spPr>
          <a:xfrm>
            <a:off x="9926930"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3" name="Image 5" descr="/tmp/meridian-deck/img/band-footer.png">    </p:cNvPr>
          <p:cNvPicPr>
            <a:picLocks noChangeAspect="1"/>
          </p:cNvPicPr>
          <p:nvPr/>
        </p:nvPicPr>
        <p:blipFill>
          <a:blip r:embed="rId6"/>
          <a:stretch>
            <a:fillRect/>
          </a:stretch>
        </p:blipFill>
        <p:spPr>
          <a:xfrm>
            <a:off x="0" y="9281160"/>
            <a:ext cx="13004597" cy="46634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Meridian Navigator · Trade-offs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Trade-offs I chose, and what they cost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call is stated with its cost. Open items are marked as open.</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8"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9" name="Text 5"/>
          <p:cNvSpPr txBox="1"/>
          <p:nvPr/>
        </p:nvSpPr>
        <p:spPr>
          <a:xfrm>
            <a:off x="45720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Unclear which model new investors prefer. Two flows to maintain, and open for testing.</a:t>
            </a:r>
            <a:endParaRPr lang="en-US" sz="1700" dirty="0"/>
          </a:p>
        </p:txBody>
      </p:sp>
      <p:sp>
        <p:nvSpPr>
          <p:cNvPr id="10"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11"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Mock API with a delay</a:t>
            </a:r>
            <a:endParaRPr lang="en-US" sz="2400" dirty="0"/>
          </a:p>
        </p:txBody>
      </p:sp>
      <p:sp>
        <p:nvSpPr>
          <p:cNvPr id="12" name="Text 8"/>
          <p:cNvSpPr txBox="1"/>
          <p:nvPr/>
        </p:nvSpPr>
        <p:spPr>
          <a:xfrm>
            <a:off x="676656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Lets us test flows and loading states without a backend. Real timing and errors are untested.</a:t>
            </a:r>
            <a:endParaRPr lang="en-US" sz="1700" dirty="0"/>
          </a:p>
        </p:txBody>
      </p:sp>
      <p:sp>
        <p:nvSpPr>
          <p:cNvPr id="13"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4"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5" name="Text 11"/>
          <p:cNvSpPr txBox="1"/>
          <p:nvPr/>
        </p:nvSpPr>
        <p:spPr>
          <a:xfrm>
            <a:off x="45720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It is the screen’s job, but the wording needs compliance review before release.</a:t>
            </a:r>
            <a:endParaRPr lang="en-US" sz="1700" dirty="0"/>
          </a:p>
        </p:txBody>
      </p:sp>
      <p:sp>
        <p:nvSpPr>
          <p:cNvPr id="16"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7"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8" name="Text 14"/>
          <p:cNvSpPr txBox="1"/>
          <p:nvPr/>
        </p:nvSpPr>
        <p:spPr>
          <a:xfrm>
            <a:off x="676656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Scannable areas, with trading one tap away. AI screens compete with trade entry for attention.</a:t>
            </a:r>
            <a:endParaRPr lang="en-US" sz="17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How I work · Process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I work, across both projects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Self-assessed status. No interviews or usability tests have run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420624" cy="420624"/>
          </a:xfrm>
          <a:prstGeom prst="ellipse">
            <a:avLst/>
          </a:prstGeom>
          <a:solidFill>
            <a:srgbClr val="3A7D55"/>
          </a:solidFill>
          <a:ln w="12700">
            <a:solidFill>
              <a:srgbClr val="3A7D55"/>
            </a:solidFill>
            <a:prstDash val="solid"/>
          </a:ln>
        </p:spPr>
      </p:sp>
      <p:sp>
        <p:nvSpPr>
          <p:cNvPr id="8"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9" name="Text 5"/>
          <p:cNvSpPr txBox="1"/>
          <p:nvPr/>
        </p:nvSpPr>
        <p:spPr>
          <a:xfrm>
            <a:off x="457200"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10" name="Text 6"/>
          <p:cNvSpPr txBox="1"/>
          <p:nvPr/>
        </p:nvSpPr>
        <p:spPr>
          <a:xfrm>
            <a:off x="457200" y="374904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11" name="Text 7"/>
          <p:cNvSpPr txBox="1"/>
          <p:nvPr/>
        </p:nvSpPr>
        <p:spPr>
          <a:xfrm>
            <a:off x="457200"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written down before design.</a:t>
            </a:r>
            <a:endParaRPr lang="en-US" sz="1500" dirty="0"/>
          </a:p>
        </p:txBody>
      </p:sp>
      <p:sp>
        <p:nvSpPr>
          <p:cNvPr id="12" name="Shape 8"/>
          <p:cNvSpPr/>
          <p:nvPr/>
        </p:nvSpPr>
        <p:spPr>
          <a:xfrm>
            <a:off x="2509479" y="2560320"/>
            <a:ext cx="420624" cy="420624"/>
          </a:xfrm>
          <a:prstGeom prst="ellipse">
            <a:avLst/>
          </a:prstGeom>
          <a:solidFill>
            <a:srgbClr val="C45A35"/>
          </a:solidFill>
          <a:ln w="12700">
            <a:solidFill>
              <a:srgbClr val="C45A35"/>
            </a:solidFill>
            <a:prstDash val="solid"/>
          </a:ln>
        </p:spPr>
      </p:sp>
      <p:sp>
        <p:nvSpPr>
          <p:cNvPr id="13" name="Text 9"/>
          <p:cNvSpPr txBox="1"/>
          <p:nvPr/>
        </p:nvSpPr>
        <p:spPr>
          <a:xfrm>
            <a:off x="2509479"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4" name="Text 10"/>
          <p:cNvSpPr txBox="1"/>
          <p:nvPr/>
        </p:nvSpPr>
        <p:spPr>
          <a:xfrm>
            <a:off x="2509479"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5" name="Text 11"/>
          <p:cNvSpPr txBox="1"/>
          <p:nvPr/>
        </p:nvSpPr>
        <p:spPr>
          <a:xfrm>
            <a:off x="2509479" y="374904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6" name="Text 12"/>
          <p:cNvSpPr txBox="1"/>
          <p:nvPr/>
        </p:nvSpPr>
        <p:spPr>
          <a:xfrm>
            <a:off x="2509479"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Personas and principles, marked as untested.</a:t>
            </a:r>
            <a:endParaRPr lang="en-US" sz="1500" dirty="0"/>
          </a:p>
        </p:txBody>
      </p:sp>
      <p:sp>
        <p:nvSpPr>
          <p:cNvPr id="17" name="Shape 13"/>
          <p:cNvSpPr/>
          <p:nvPr/>
        </p:nvSpPr>
        <p:spPr>
          <a:xfrm>
            <a:off x="4561759" y="2560320"/>
            <a:ext cx="420624" cy="420624"/>
          </a:xfrm>
          <a:prstGeom prst="ellipse">
            <a:avLst/>
          </a:prstGeom>
          <a:solidFill>
            <a:srgbClr val="C45A35"/>
          </a:solidFill>
          <a:ln w="12700">
            <a:solidFill>
              <a:srgbClr val="C45A35"/>
            </a:solidFill>
            <a:prstDash val="solid"/>
          </a:ln>
        </p:spPr>
      </p:sp>
      <p:sp>
        <p:nvSpPr>
          <p:cNvPr id="18" name="Text 14"/>
          <p:cNvSpPr txBox="1"/>
          <p:nvPr/>
        </p:nvSpPr>
        <p:spPr>
          <a:xfrm>
            <a:off x="4561759"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9" name="Text 15"/>
          <p:cNvSpPr txBox="1"/>
          <p:nvPr/>
        </p:nvSpPr>
        <p:spPr>
          <a:xfrm>
            <a:off x="4561759"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20" name="Text 16"/>
          <p:cNvSpPr txBox="1"/>
          <p:nvPr/>
        </p:nvSpPr>
        <p:spPr>
          <a:xfrm>
            <a:off x="4561759" y="374904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1" name="Text 17"/>
          <p:cNvSpPr txBox="1"/>
          <p:nvPr/>
        </p:nvSpPr>
        <p:spPr>
          <a:xfrm>
            <a:off x="4561759"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Flows and screens for the core job, drafted in Figma.</a:t>
            </a:r>
            <a:endParaRPr lang="en-US" sz="1500" dirty="0"/>
          </a:p>
        </p:txBody>
      </p:sp>
      <p:sp>
        <p:nvSpPr>
          <p:cNvPr id="22" name="Shape 18"/>
          <p:cNvSpPr/>
          <p:nvPr/>
        </p:nvSpPr>
        <p:spPr>
          <a:xfrm>
            <a:off x="6614038" y="2560320"/>
            <a:ext cx="420624" cy="420624"/>
          </a:xfrm>
          <a:prstGeom prst="ellipse">
            <a:avLst/>
          </a:prstGeom>
          <a:solidFill>
            <a:srgbClr val="5B3F96"/>
          </a:solidFill>
          <a:ln w="12700">
            <a:solidFill>
              <a:srgbClr val="5B3F96"/>
            </a:solidFill>
            <a:prstDash val="solid"/>
          </a:ln>
        </p:spPr>
      </p:sp>
      <p:sp>
        <p:nvSpPr>
          <p:cNvPr id="23" name="Text 19"/>
          <p:cNvSpPr txBox="1"/>
          <p:nvPr/>
        </p:nvSpPr>
        <p:spPr>
          <a:xfrm>
            <a:off x="6614038"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4" name="Text 20"/>
          <p:cNvSpPr txBox="1"/>
          <p:nvPr/>
        </p:nvSpPr>
        <p:spPr>
          <a:xfrm>
            <a:off x="6614038"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5" name="Text 21"/>
          <p:cNvSpPr txBox="1"/>
          <p:nvPr/>
        </p:nvSpPr>
        <p:spPr>
          <a:xfrm>
            <a:off x="6614038" y="374904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6" name="Text 22"/>
          <p:cNvSpPr txBox="1"/>
          <p:nvPr/>
        </p:nvSpPr>
        <p:spPr>
          <a:xfrm>
            <a:off x="6614038"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Shared tokens for Figma and code. Component library not yet audited.</a:t>
            </a:r>
            <a:endParaRPr lang="en-US" sz="1500" dirty="0"/>
          </a:p>
        </p:txBody>
      </p:sp>
      <p:sp>
        <p:nvSpPr>
          <p:cNvPr id="27" name="Shape 23"/>
          <p:cNvSpPr/>
          <p:nvPr/>
        </p:nvSpPr>
        <p:spPr>
          <a:xfrm>
            <a:off x="8666317" y="2560320"/>
            <a:ext cx="420624" cy="420624"/>
          </a:xfrm>
          <a:prstGeom prst="ellipse">
            <a:avLst/>
          </a:prstGeom>
          <a:solidFill>
            <a:srgbClr val="C45A35"/>
          </a:solidFill>
          <a:ln w="12700">
            <a:solidFill>
              <a:srgbClr val="C45A35"/>
            </a:solidFill>
            <a:prstDash val="solid"/>
          </a:ln>
        </p:spPr>
      </p:sp>
      <p:sp>
        <p:nvSpPr>
          <p:cNvPr id="28" name="Text 24"/>
          <p:cNvSpPr txBox="1"/>
          <p:nvPr/>
        </p:nvSpPr>
        <p:spPr>
          <a:xfrm>
            <a:off x="8666317"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9" name="Text 25"/>
          <p:cNvSpPr txBox="1"/>
          <p:nvPr/>
        </p:nvSpPr>
        <p:spPr>
          <a:xfrm>
            <a:off x="8666317"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30" name="Text 26"/>
          <p:cNvSpPr txBox="1"/>
          <p:nvPr/>
        </p:nvSpPr>
        <p:spPr>
          <a:xfrm>
            <a:off x="8666317" y="374904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31" name="Text 27"/>
          <p:cNvSpPr txBox="1"/>
          <p:nvPr/>
        </p:nvSpPr>
        <p:spPr>
          <a:xfrm>
            <a:off x="8666317"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a:t>
            </a:r>
            <a:endParaRPr lang="en-US" sz="1500" dirty="0"/>
          </a:p>
        </p:txBody>
      </p:sp>
      <p:sp>
        <p:nvSpPr>
          <p:cNvPr id="32" name="Shape 28"/>
          <p:cNvSpPr/>
          <p:nvPr/>
        </p:nvSpPr>
        <p:spPr>
          <a:xfrm>
            <a:off x="10718597" y="2560320"/>
            <a:ext cx="420624" cy="420624"/>
          </a:xfrm>
          <a:prstGeom prst="ellipse">
            <a:avLst/>
          </a:prstGeom>
          <a:solidFill>
            <a:srgbClr val="6E6E6E"/>
          </a:solidFill>
          <a:ln w="12700">
            <a:solidFill>
              <a:srgbClr val="6E6E6E"/>
            </a:solidFill>
            <a:prstDash val="solid"/>
          </a:ln>
        </p:spPr>
      </p:sp>
      <p:sp>
        <p:nvSpPr>
          <p:cNvPr id="33" name="Text 29"/>
          <p:cNvSpPr txBox="1"/>
          <p:nvPr/>
        </p:nvSpPr>
        <p:spPr>
          <a:xfrm>
            <a:off x="10718597"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4" name="Text 30"/>
          <p:cNvSpPr txBox="1"/>
          <p:nvPr/>
        </p:nvSpPr>
        <p:spPr>
          <a:xfrm>
            <a:off x="10718597"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5" name="Text 31"/>
          <p:cNvSpPr txBox="1"/>
          <p:nvPr/>
        </p:nvSpPr>
        <p:spPr>
          <a:xfrm>
            <a:off x="10718597" y="374904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6" name="Text 32"/>
          <p:cNvSpPr txBox="1"/>
          <p:nvPr/>
        </p:nvSpPr>
        <p:spPr>
          <a:xfrm>
            <a:off x="10718597"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a:t>
            </a:r>
            <a:endParaRPr lang="en-US" sz="1500" dirty="0"/>
          </a:p>
        </p:txBody>
      </p:sp>
      <p:pic>
        <p:nvPicPr>
          <p:cNvPr id="3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Standards and teams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Accessibility, handoff, and working with teams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is specified, what is in place, and what has not been checked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12070080" cy="1920240"/>
          </a:xfrm>
          <a:prstGeom prst="rect">
            <a:avLst/>
          </a:prstGeom>
          <a:solidFill>
            <a:srgbClr val="FFFFFF"/>
          </a:solidFill>
          <a:ln w="12700">
            <a:solidFill>
              <a:srgbClr val="E2E2E2"/>
            </a:solidFill>
            <a:prstDash val="solid"/>
          </a:ln>
        </p:spPr>
      </p:sp>
      <p:sp>
        <p:nvSpPr>
          <p:cNvPr id="8" name="Text 4"/>
          <p:cNvSpPr txBox="1"/>
          <p:nvPr/>
        </p:nvSpPr>
        <p:spPr>
          <a:xfrm>
            <a:off x="731520" y="2761488"/>
            <a:ext cx="1152144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ACCESSIBILITY</a:t>
            </a:r>
            <a:endParaRPr lang="en-US" sz="1280" dirty="0"/>
          </a:p>
        </p:txBody>
      </p:sp>
      <p:sp>
        <p:nvSpPr>
          <p:cNvPr id="9" name="Text 5"/>
          <p:cNvSpPr txBox="1"/>
          <p:nvPr/>
        </p:nvSpPr>
        <p:spPr>
          <a:xfrm>
            <a:off x="731520" y="310896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Specified: WCAG 2.2 AA in the FinViz design system (4.5:1 text contrast, 24px targets), and WCAG AA with ARIA labels in Meridian. Not audited.</a:t>
            </a:r>
            <a:endParaRPr lang="en-US" sz="1700" dirty="0"/>
          </a:p>
        </p:txBody>
      </p:sp>
      <p:sp>
        <p:nvSpPr>
          <p:cNvPr id="10" name="Shape 6"/>
          <p:cNvSpPr/>
          <p:nvPr/>
        </p:nvSpPr>
        <p:spPr>
          <a:xfrm>
            <a:off x="457200" y="4754880"/>
            <a:ext cx="12070080" cy="1920240"/>
          </a:xfrm>
          <a:prstGeom prst="rect">
            <a:avLst/>
          </a:prstGeom>
          <a:solidFill>
            <a:srgbClr val="FFFFFF"/>
          </a:solidFill>
          <a:ln w="12700">
            <a:solidFill>
              <a:srgbClr val="E2E2E2"/>
            </a:solidFill>
            <a:prstDash val="solid"/>
          </a:ln>
        </p:spPr>
      </p:sp>
      <p:sp>
        <p:nvSpPr>
          <p:cNvPr id="11" name="Text 7"/>
          <p:cNvSpPr txBox="1"/>
          <p:nvPr/>
        </p:nvSpPr>
        <p:spPr>
          <a:xfrm>
            <a:off x="731520" y="4956048"/>
            <a:ext cx="11521440"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HANDOFF</a:t>
            </a:r>
            <a:endParaRPr lang="en-US" sz="1280" dirty="0"/>
          </a:p>
        </p:txBody>
      </p:sp>
      <p:sp>
        <p:nvSpPr>
          <p:cNvPr id="12" name="Text 8"/>
          <p:cNvSpPr txBox="1"/>
          <p:nvPr/>
        </p:nvSpPr>
        <p:spPr>
          <a:xfrm>
            <a:off x="731520" y="530352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In place: colors and spacing are defined as tokens in the design system, and the Figma file uses the same navy and cyan values. Not verified: a live sync between Figma and SwiftUI.</a:t>
            </a:r>
            <a:endParaRPr lang="en-US" sz="1700" dirty="0"/>
          </a:p>
        </p:txBody>
      </p:sp>
      <p:sp>
        <p:nvSpPr>
          <p:cNvPr id="13" name="Shape 9"/>
          <p:cNvSpPr/>
          <p:nvPr/>
        </p:nvSpPr>
        <p:spPr>
          <a:xfrm>
            <a:off x="457200" y="6949440"/>
            <a:ext cx="12070080" cy="1920240"/>
          </a:xfrm>
          <a:prstGeom prst="rect">
            <a:avLst/>
          </a:prstGeom>
          <a:solidFill>
            <a:srgbClr val="FFFFFF"/>
          </a:solidFill>
          <a:ln w="12700">
            <a:solidFill>
              <a:srgbClr val="E2E2E2"/>
            </a:solidFill>
            <a:prstDash val="solid"/>
          </a:ln>
        </p:spPr>
      </p:sp>
      <p:sp>
        <p:nvSpPr>
          <p:cNvPr id="14" name="Text 10"/>
          <p:cNvSpPr txBox="1"/>
          <p:nvPr/>
        </p:nvSpPr>
        <p:spPr>
          <a:xfrm>
            <a:off x="731520" y="7150608"/>
            <a:ext cx="1152144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TEAMS AND COMPLIANCE</a:t>
            </a:r>
            <a:endParaRPr lang="en-US" sz="1280" dirty="0"/>
          </a:p>
        </p:txBody>
      </p:sp>
      <p:sp>
        <p:nvSpPr>
          <p:cNvPr id="15" name="Text 11"/>
          <p:cNvSpPr txBox="1"/>
          <p:nvPr/>
        </p:nvSpPr>
        <p:spPr>
          <a:xfrm>
            <a:off x="731520" y="749808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Reviews: four reviewers commented on the FinViz boards on 30 Sept. Open: the advice line is waiting on compliance review. Day-to-day work with PMs and engineers is not documented in the project files.</a:t>
            </a:r>
            <a:endParaRPr lang="en-US" sz="1700" dirty="0"/>
          </a:p>
        </p:txBody>
      </p:sp>
      <p:pic>
        <p:nvPicPr>
          <p:cNvPr id="1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Meridian Navigator · Agent experience</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An AI that shows its reasoning and waits for approval</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Adapt becomes a plan the user steers. Insight shows its evidence. Each order carries its reason. Mock data throughout.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12070080" cy="1828800"/>
          </a:xfrm>
          <a:prstGeom prst="rect">
            <a:avLst/>
          </a:prstGeom>
          <a:solidFill>
            <a:srgbClr val="FFFFFF"/>
          </a:solidFill>
          <a:ln w="12700">
            <a:solidFill>
              <a:srgbClr val="E2E2E2"/>
            </a:solidFill>
            <a:prstDash val="solid"/>
          </a:ln>
        </p:spPr>
      </p:sp>
      <p:sp>
        <p:nvSpPr>
          <p:cNvPr id="8" name="Text 4"/>
          <p:cNvSpPr txBox="1"/>
          <p:nvPr/>
        </p:nvSpPr>
        <p:spPr>
          <a:xfrm>
            <a:off x="731520" y="2761488"/>
            <a:ext cx="1152144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PROBLEM</a:t>
            </a:r>
            <a:endParaRPr lang="en-US" sz="1280" dirty="0"/>
          </a:p>
        </p:txBody>
      </p:sp>
      <p:sp>
        <p:nvSpPr>
          <p:cNvPr id="9" name="Text 5"/>
          <p:cNvSpPr txBox="1"/>
          <p:nvPr/>
        </p:nvSpPr>
        <p:spPr>
          <a:xfrm>
            <a:off x="731520" y="3108960"/>
            <a:ext cx="115214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Insight shows conclusions without evidence. Adapt is approve-or-dismiss for a batch of trades. Dismissals teach nothing. Orders lose their reason.</a:t>
            </a:r>
            <a:endParaRPr lang="en-US" sz="1700" dirty="0"/>
          </a:p>
        </p:txBody>
      </p:sp>
      <p:sp>
        <p:nvSpPr>
          <p:cNvPr id="10" name="Shape 6"/>
          <p:cNvSpPr/>
          <p:nvPr/>
        </p:nvSpPr>
        <p:spPr>
          <a:xfrm>
            <a:off x="457200" y="4663440"/>
            <a:ext cx="12070080" cy="1828800"/>
          </a:xfrm>
          <a:prstGeom prst="rect">
            <a:avLst/>
          </a:prstGeom>
          <a:solidFill>
            <a:srgbClr val="FFFFFF"/>
          </a:solidFill>
          <a:ln w="12700">
            <a:solidFill>
              <a:srgbClr val="E2E2E2"/>
            </a:solidFill>
            <a:prstDash val="solid"/>
          </a:ln>
        </p:spPr>
      </p:sp>
      <p:sp>
        <p:nvSpPr>
          <p:cNvPr id="11" name="Text 7"/>
          <p:cNvSpPr txBox="1"/>
          <p:nvPr/>
        </p:nvSpPr>
        <p:spPr>
          <a:xfrm>
            <a:off x="731520" y="4864608"/>
            <a:ext cx="11521440"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DECISION</a:t>
            </a:r>
            <a:endParaRPr lang="en-US" sz="1280" dirty="0"/>
          </a:p>
        </p:txBody>
      </p:sp>
      <p:sp>
        <p:nvSpPr>
          <p:cNvPr id="12" name="Text 8"/>
          <p:cNvSpPr txBox="1"/>
          <p:nvPr/>
        </p:nvSpPr>
        <p:spPr>
          <a:xfrm>
            <a:off x="731520" y="5212080"/>
            <a:ext cx="115214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Goal to plan, with editable steps. Visible autonomy levels. Evidence on every output. Orders that carry their reason. A reviewable list of learned rules.</a:t>
            </a:r>
            <a:endParaRPr lang="en-US" sz="1700" dirty="0"/>
          </a:p>
        </p:txBody>
      </p:sp>
      <p:sp>
        <p:nvSpPr>
          <p:cNvPr id="13" name="Shape 9"/>
          <p:cNvSpPr/>
          <p:nvPr/>
        </p:nvSpPr>
        <p:spPr>
          <a:xfrm>
            <a:off x="457200" y="6766560"/>
            <a:ext cx="12070080" cy="1828800"/>
          </a:xfrm>
          <a:prstGeom prst="rect">
            <a:avLst/>
          </a:prstGeom>
          <a:solidFill>
            <a:srgbClr val="FFFFFF"/>
          </a:solidFill>
          <a:ln w="12700">
            <a:solidFill>
              <a:srgbClr val="E2E2E2"/>
            </a:solidFill>
            <a:prstDash val="solid"/>
          </a:ln>
        </p:spPr>
      </p:sp>
      <p:sp>
        <p:nvSpPr>
          <p:cNvPr id="14" name="Text 10"/>
          <p:cNvSpPr txBox="1"/>
          <p:nvPr/>
        </p:nvSpPr>
        <p:spPr>
          <a:xfrm>
            <a:off x="731520" y="6967728"/>
            <a:ext cx="1152144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RESULT</a:t>
            </a:r>
            <a:endParaRPr lang="en-US" sz="1280" dirty="0"/>
          </a:p>
        </p:txBody>
      </p:sp>
      <p:sp>
        <p:nvSpPr>
          <p:cNvPr id="15" name="Text 11"/>
          <p:cNvSpPr txBox="1"/>
          <p:nvPr/>
        </p:nvSpPr>
        <p:spPr>
          <a:xfrm>
            <a:off x="731520" y="7315200"/>
            <a:ext cx="115214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Clickable Figma wireframes for the plan, review, evidence and learned-rules flows. Effects are planned measures, not results.</a:t>
            </a:r>
            <a:endParaRPr lang="en-US" sz="1700" dirty="0"/>
          </a:p>
        </p:txBody>
      </p:sp>
      <p:pic>
        <p:nvPicPr>
          <p:cNvPr id="1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Next steps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I would do next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order that unblocks the most work.</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Text 3"/>
          <p:cNvSpPr txBox="1"/>
          <p:nvPr/>
        </p:nvSpPr>
        <p:spPr>
          <a:xfrm>
            <a:off x="457200" y="2651760"/>
            <a:ext cx="7498080" cy="4114800"/>
          </a:xfrm>
          <a:prstGeom prst="rect">
            <a:avLst/>
          </a:prstGeom>
          <a:noFill/>
          <a:ln/>
        </p:spPr>
        <p:txBody>
          <a:bodyPr wrap="square" lIns="0" tIns="0" rIns="0" bIns="0" rtlCol="0" anchor="t"/>
          <a:lstStyle/>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Run five to eight interviews to test the personas</a:t>
            </a:r>
            <a:endParaRPr lang="en-US" sz="2000" dirty="0"/>
          </a:p>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2000" dirty="0"/>
          </a:p>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Set metric targets with stakeholders and measure them</a:t>
            </a:r>
            <a:endParaRPr lang="en-US" sz="2000" dirty="0"/>
          </a:p>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Complete the compliance review of trade and AI copy</a:t>
            </a:r>
            <a:endParaRPr lang="en-US" sz="2000" dirty="0"/>
          </a:p>
        </p:txBody>
      </p:sp>
      <p:sp>
        <p:nvSpPr>
          <p:cNvPr id="8" name="Shape 4"/>
          <p:cNvSpPr/>
          <p:nvPr/>
        </p:nvSpPr>
        <p:spPr>
          <a:xfrm>
            <a:off x="8595360" y="2651760"/>
            <a:ext cx="3931920" cy="3291840"/>
          </a:xfrm>
          <a:prstGeom prst="rect">
            <a:avLst/>
          </a:prstGeom>
          <a:solidFill>
            <a:srgbClr val="C45A35"/>
          </a:solidFill>
          <a:ln w="12700">
            <a:solidFill>
              <a:srgbClr val="C45A35"/>
            </a:solidFill>
            <a:prstDash val="solid"/>
          </a:ln>
        </p:spPr>
      </p:sp>
      <p:sp>
        <p:nvSpPr>
          <p:cNvPr id="9" name="Text 5"/>
          <p:cNvSpPr txBox="1"/>
          <p:nvPr/>
        </p:nvSpPr>
        <p:spPr>
          <a:xfrm>
            <a:off x="8961120" y="3017520"/>
            <a:ext cx="3291840" cy="457200"/>
          </a:xfrm>
          <a:prstGeom prst="rect">
            <a:avLst/>
          </a:prstGeom>
          <a:noFill/>
          <a:ln/>
        </p:spPr>
        <p:txBody>
          <a:bodyPr wrap="square" lIns="0" tIns="0" rIns="0" bIns="0" rtlCol="0" anchor="t"/>
          <a:lstStyle/>
          <a:p>
            <a:pPr indent="0" marL="0">
              <a:buNone/>
            </a:pPr>
            <a:r>
              <a:rPr lang="en-US" sz="2400" dirty="0">
                <a:solidFill>
                  <a:srgbClr val="FFFFFF"/>
                </a:solidFill>
                <a:latin typeface="Helvetica Neue Light" pitchFamily="34" charset="0"/>
                <a:ea typeface="Helvetica Neue Light" pitchFamily="34" charset="-122"/>
                <a:cs typeface="Helvetica Neue Light" pitchFamily="34" charset="-120"/>
              </a:rPr>
              <a:t>Get in touch</a:t>
            </a:r>
            <a:endParaRPr lang="en-US" sz="2400" dirty="0"/>
          </a:p>
        </p:txBody>
      </p:sp>
      <p:sp>
        <p:nvSpPr>
          <p:cNvPr id="10" name="Text 6"/>
          <p:cNvSpPr txBox="1"/>
          <p:nvPr/>
        </p:nvSpPr>
        <p:spPr>
          <a:xfrm>
            <a:off x="8961120" y="3657600"/>
            <a:ext cx="3291840" cy="1828800"/>
          </a:xfrm>
          <a:prstGeom prst="rect">
            <a:avLst/>
          </a:prstGeom>
          <a:noFill/>
          <a:ln/>
        </p:spPr>
        <p:txBody>
          <a:bodyPr wrap="square" lIns="0" tIns="0" rIns="0" bIns="0" rtlCol="0" anchor="t"/>
          <a:lstStyle/>
          <a:p>
            <a:pPr indent="0" marL="0">
              <a:buNone/>
            </a:pPr>
            <a:r>
              <a:rPr lang="en-US" sz="1800" dirty="0">
                <a:solidFill>
                  <a:srgbClr val="FFE9DF"/>
                </a:solidFill>
                <a:latin typeface="Helvetica Neue Light" pitchFamily="34" charset="0"/>
                <a:ea typeface="Helvetica Neue Light" pitchFamily="34" charset="-122"/>
                <a:cs typeface="Helvetica Neue Light" pitchFamily="34" charset="-120"/>
              </a:rPr>
              <a:t>[Add email]</a:t>
            </a:r>
            <a:endParaRPr lang="en-US" sz="1800" dirty="0"/>
          </a:p>
          <a:p>
            <a:pPr indent="0" marL="0">
              <a:buNone/>
            </a:pPr>
            <a:r>
              <a:rPr lang="en-US" sz="1800" dirty="0">
                <a:solidFill>
                  <a:srgbClr val="FFE9DF"/>
                </a:solidFill>
                <a:latin typeface="Helvetica Neue Light" pitchFamily="34" charset="0"/>
                <a:ea typeface="Helvetica Neue Light" pitchFamily="34" charset="-122"/>
                <a:cs typeface="Helvetica Neue Light" pitchFamily="34" charset="-120"/>
              </a:rPr>
              <a:t>[Add phone]</a:t>
            </a:r>
            <a:endParaRPr lang="en-US" sz="1800" dirty="0"/>
          </a:p>
          <a:p>
            <a:pPr indent="0" marL="0">
              <a:buNone/>
            </a:pPr>
            <a:r>
              <a:rPr lang="en-US" sz="1800" dirty="0">
                <a:solidFill>
                  <a:srgbClr val="FFE9DF"/>
                </a:solidFill>
                <a:latin typeface="Helvetica Neue Light" pitchFamily="34" charset="0"/>
                <a:ea typeface="Helvetica Neue Light" pitchFamily="34" charset="-122"/>
                <a:cs typeface="Helvetica Neue Light" pitchFamily="34" charset="-120"/>
              </a:rPr>
              <a:t>[Add portfolio URL]</a:t>
            </a:r>
            <a:endParaRPr lang="en-US" sz="1800" dirty="0"/>
          </a:p>
        </p:txBody>
      </p:sp>
      <p:pic>
        <p:nvPicPr>
          <p:cNvPr id="11"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Michael Thibodeau: Selected UX work (highlights)</dc:title>
  <dc:subject>PptxGenJS Presentation</dc:subject>
  <dc:creator>Michael Thibodeau</dc:creator>
  <cp:lastModifiedBy>Michael Thibodeau</cp:lastModifiedBy>
  <cp:revision>1</cp:revision>
  <dcterms:created xsi:type="dcterms:W3CDTF">2026-10-08T17:26:26Z</dcterms:created>
  <dcterms:modified xsi:type="dcterms:W3CDTF">2026-10-08T17:26:26Z</dcterms:modified>
</cp:coreProperties>
</file>
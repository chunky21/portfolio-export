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3004597" cy="9753905"/>
  <p:notesSz cx="9753905" cy="13004597"/>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case studies, both with an AI layer on a trading product. Lead with the process and the decisions, not the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link to the section. Pick the project the interviewer cares about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target: 42 to 21 days from sign-up to Elite. Be explicit that it is a target, not a result. Success is time to first success, then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specific about the AI boundary: the AI translates and checks the trader’s own criteria. It never originates a recommendation. That line was set in review and is pending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reversal in detail. The strongest story is the first-run change: the walk-through onboarding was replaced once the live site showed the 7-day trial and delayed quotes.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review: four team members gave feedback, 31 points were logged, and the organizing goal moved to time to first success. Then the dated calls. Then the rule that made AI drafts compliant from the start. Admit what is not shown yet: mentoring and hiring.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clear these are planned. Offer to share the interview guide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three screens large. Be clear the prototype uses mock data, so the flow is tested, not the AI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states are a design decision: mock data hides loading, error and offline behavior. These are drafted in hi-fi and need usability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 item to discuss is the buy and sell wording on Adapt. It needs compliance review before release, and may become explanation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discovery so far is desk research and design review. Interviews are the next step, not a finished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next step you would take with this team in the first two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8.xml"/><Relationship Id="rId6" Type="http://schemas.openxmlformats.org/officeDocument/2006/relationships/slide" Target="slide6.xml"/><Relationship Id="rId7" Type="http://schemas.openxmlformats.org/officeDocument/2006/relationships/slide" Target="slide6.xml"/><Relationship Id="rId8" Type="http://schemas.openxmlformats.org/officeDocument/2006/relationships/slide" Target="slide12.xml"/><Relationship Id="rId9" Type="http://schemas.openxmlformats.org/officeDocument/2006/relationships/slide" Target="slide12.xml"/><Relationship Id="rId1" Type="http://schemas.openxmlformats.org/officeDocument/2006/relationships/image" Target="../media/image-2-1.png"/><Relationship Id="rId10" Type="http://schemas.openxmlformats.org/officeDocument/2006/relationships/image" Target="../media/image-2-1.png"/><Relationship Id="rId11" Type="http://schemas.openxmlformats.org/officeDocument/2006/relationships/slideLayout" Target="../slideLayouts/slideLayout1.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1.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1.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meridian-deck/img/band-header.png">    </p:cNvPr>
          <p:cNvPicPr>
            <a:picLocks noChangeAspect="1"/>
          </p:cNvPicPr>
          <p:nvPr/>
        </p:nvPicPr>
        <p:blipFill>
          <a:blip r:embed="rId1"/>
          <a:stretch>
            <a:fillRect/>
          </a:stretch>
        </p:blipFill>
        <p:spPr>
          <a:xfrm>
            <a:off x="0" y="0"/>
            <a:ext cx="13004597" cy="438912"/>
          </a:xfrm>
          <a:prstGeom prst="rect">
            <a:avLst/>
          </a:prstGeom>
        </p:spPr>
      </p:pic>
      <p:sp>
        <p:nvSpPr>
          <p:cNvPr id="3" name="Text 0"/>
          <p:cNvSpPr txBox="1"/>
          <p:nvPr/>
        </p:nvSpPr>
        <p:spPr>
          <a:xfrm>
            <a:off x="457200" y="914400"/>
            <a:ext cx="82296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SELECTED WORK · LEAD UX DESIGNER</a:t>
            </a:r>
            <a:endParaRPr lang="en-US" sz="1280" dirty="0"/>
          </a:p>
        </p:txBody>
      </p:sp>
      <p:sp>
        <p:nvSpPr>
          <p:cNvPr id="4" name="Text 1"/>
          <p:cNvSpPr txBox="1"/>
          <p:nvPr/>
        </p:nvSpPr>
        <p:spPr>
          <a:xfrm>
            <a:off x="457200" y="1371600"/>
            <a:ext cx="8229600" cy="2377440"/>
          </a:xfrm>
          <a:prstGeom prst="rect">
            <a:avLst/>
          </a:prstGeom>
          <a:noFill/>
          <a:ln/>
        </p:spPr>
        <p:txBody>
          <a:bodyPr wrap="square" lIns="0" tIns="0" rIns="0" bIns="0" rtlCol="0" anchor="t"/>
          <a:lstStyle/>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Michael</a:t>
            </a:r>
            <a:endParaRPr lang="en-US" sz="7200" dirty="0"/>
          </a:p>
          <a:p>
            <a:pPr indent="0" marL="0">
              <a:buNone/>
            </a:pPr>
            <a:r>
              <a:rPr lang="en-US" sz="7200" dirty="0">
                <a:solidFill>
                  <a:srgbClr val="1F1F1F"/>
                </a:solidFill>
                <a:latin typeface="Helvetica Neue Light" pitchFamily="34" charset="0"/>
                <a:ea typeface="Helvetica Neue Light" pitchFamily="34" charset="-122"/>
                <a:cs typeface="Helvetica Neue Light" pitchFamily="34" charset="-120"/>
              </a:rPr>
              <a:t>Thibodeau</a:t>
            </a:r>
            <a:endParaRPr lang="en-US" sz="7200" dirty="0"/>
          </a:p>
        </p:txBody>
      </p:sp>
      <p:sp>
        <p:nvSpPr>
          <p:cNvPr id="5" name="Text 2"/>
          <p:cNvSpPr txBox="1"/>
          <p:nvPr/>
        </p:nvSpPr>
        <p:spPr>
          <a:xfrm>
            <a:off x="457200" y="4114800"/>
            <a:ext cx="6583680" cy="1097280"/>
          </a:xfrm>
          <a:prstGeom prst="rect">
            <a:avLst/>
          </a:prstGeom>
          <a:noFill/>
          <a:ln/>
        </p:spPr>
        <p:txBody>
          <a:bodyPr wrap="square" lIns="0" tIns="0" rIns="0" bIns="0" rtlCol="0" anchor="t"/>
          <a:lstStyle/>
          <a:p>
            <a:pPr indent="0" marL="0">
              <a:buNone/>
            </a:pPr>
            <a:r>
              <a:rPr lang="en-US" sz="2200" dirty="0">
                <a:solidFill>
                  <a:srgbClr val="1F1F1F"/>
                </a:solidFill>
                <a:latin typeface="Helvetica Neue Light" pitchFamily="34" charset="0"/>
                <a:ea typeface="Helvetica Neue Light" pitchFamily="34" charset="-122"/>
                <a:cs typeface="Helvetica Neue Light" pitchFamily="34" charset="-120"/>
              </a:rPr>
              <a:t>Two projects: an AI screener for active traders, and an AI-assisted mobile trading app.</a:t>
            </a:r>
            <a:endParaRPr lang="en-US" sz="2200" dirty="0"/>
          </a:p>
        </p:txBody>
      </p:sp>
      <p:sp>
        <p:nvSpPr>
          <p:cNvPr id="6" name="Shape 3"/>
          <p:cNvSpPr/>
          <p:nvPr/>
        </p:nvSpPr>
        <p:spPr>
          <a:xfrm>
            <a:off x="7498080" y="1280160"/>
            <a:ext cx="5029200" cy="7406640"/>
          </a:xfrm>
          <a:prstGeom prst="rect">
            <a:avLst/>
          </a:prstGeom>
          <a:solidFill>
            <a:srgbClr val="14161D"/>
          </a:solidFill>
          <a:ln w="12700">
            <a:solidFill>
              <a:srgbClr val="14161D"/>
            </a:solidFill>
            <a:prstDash val="solid"/>
          </a:ln>
        </p:spPr>
      </p:sp>
      <p:sp>
        <p:nvSpPr>
          <p:cNvPr id="7" name="Shape 4"/>
          <p:cNvSpPr/>
          <p:nvPr/>
        </p:nvSpPr>
        <p:spPr>
          <a:xfrm>
            <a:off x="8183880" y="1737360"/>
            <a:ext cx="3043123" cy="6583680"/>
          </a:xfrm>
          <a:prstGeom prst="rect">
            <a:avLst/>
          </a:prstGeom>
          <a:solidFill>
            <a:srgbClr val="14161D"/>
          </a:solidFill>
          <a:ln w="12700">
            <a:solidFill>
              <a:srgbClr val="14161D"/>
            </a:solidFill>
            <a:prstDash val="solid"/>
          </a:ln>
        </p:spPr>
      </p:sp>
      <p:pic>
        <p:nvPicPr>
          <p:cNvPr id="8" name="Image 1" descr="/tmp/meridian-deck/img/insight.png">    </p:cNvPr>
          <p:cNvPicPr>
            <a:picLocks noChangeAspect="1"/>
          </p:cNvPicPr>
          <p:nvPr/>
        </p:nvPicPr>
        <p:blipFill>
          <a:blip r:embed="rId2"/>
          <a:stretch>
            <a:fillRect/>
          </a:stretch>
        </p:blipFill>
        <p:spPr>
          <a:xfrm>
            <a:off x="8183880" y="1737360"/>
            <a:ext cx="3043123" cy="6583680"/>
          </a:xfrm>
          <a:prstGeom prst="rect">
            <a:avLst/>
          </a:prstGeom>
        </p:spPr>
      </p:pic>
      <p:pic>
        <p:nvPicPr>
          <p:cNvPr id="9" name="Image 2" descr="/tmp/meridian-deck/img/band-footer.png">    </p:cNvPr>
          <p:cNvPicPr>
            <a:picLocks noChangeAspect="1"/>
          </p:cNvPicPr>
          <p:nvPr/>
        </p:nvPicPr>
        <p:blipFill>
          <a:blip r:embed="rId3"/>
          <a:stretch>
            <a:fillRect/>
          </a:stretch>
        </p:blipFill>
        <p:spPr>
          <a:xfrm>
            <a:off x="0" y="9281160"/>
            <a:ext cx="13004597" cy="4663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Contents</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Two projects, one process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Select a project to jump to it.</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6" name="Shape 3"/>
          <p:cNvSpPr/>
          <p:nvPr/>
        </p:nvSpPr>
        <p:spPr>
          <a:xfrm>
            <a:off x="457200" y="2651760"/>
            <a:ext cx="12070080" cy="1280160"/>
          </a:xfrm>
          <a:prstGeom prst="rect">
            <a:avLst/>
          </a:prstGeom>
          <a:solidFill>
            <a:srgbClr val="FFFFFF"/>
          </a:solidFill>
          <a:ln w="12700">
            <a:solidFill>
              <a:srgbClr val="E2E2E2"/>
            </a:solidFill>
            <a:prstDash val="solid"/>
          </a:ln>
        </p:spPr>
      </p:sp>
      <p:sp>
        <p:nvSpPr>
          <p:cNvPr id="7" name="Text 4">
            <a:hlinkClick r:id="rId2" tooltip="" action="ppaction://hlinksldjump"/>
          </p:cNvPr>
          <p:cNvSpPr txBox="1"/>
          <p:nvPr/>
        </p:nvSpPr>
        <p:spPr>
          <a:xfrm>
            <a:off x="777240" y="2971800"/>
            <a:ext cx="914400" cy="548640"/>
          </a:xfrm>
          <a:prstGeom prst="rect">
            <a:avLst/>
          </a:prstGeom>
          <a:noFill/>
          <a:ln/>
        </p:spPr>
        <p:txBody>
          <a:bodyPr wrap="square" lIns="0" tIns="0" rIns="0" bIns="0" rtlCol="0" anchor="t"/>
          <a:lstStyle/>
          <a:p>
            <a:pPr indent="0" marL="0">
              <a:buNone/>
            </a:pPr>
            <a:r>
              <a:rPr lang="en-US" sz="2800" b="1" u="sng" dirty="0">
                <a:solidFill>
                  <a:srgbClr val="C45A35"/>
                </a:solidFill>
                <a:latin typeface="Helvetica Neue" pitchFamily="34" charset="0"/>
                <a:ea typeface="Helvetica Neue" pitchFamily="34" charset="-122"/>
                <a:cs typeface="Helvetica Neue" pitchFamily="34" charset="-120"/>
                <a:hlinkClick r:id="rId2" action="ppaction://hlinksldjump" tooltip="">
                  <a:extLst>
                    <a:ext uri="{A12FA001-AC4F-418D-AE19-62706E023703}">
                      <ahyp:hlinkClr xmlns:ahyp="http://schemas.microsoft.com/office/drawing/2018/hyperlinkcolor" val="tx"/>
                    </a:ext>
                  </a:extLst>
                </a:hlinkClick>
              </a:rPr>
              <a:t>01</a:t>
            </a:r>
            <a:endParaRPr lang="en-US" sz="2800" dirty="0"/>
          </a:p>
        </p:txBody>
      </p:sp>
      <p:sp>
        <p:nvSpPr>
          <p:cNvPr id="8" name="Text 5">
            <a:hlinkClick r:id="rId3" tooltip="" action="ppaction://hlinksldjump"/>
          </p:cNvPr>
          <p:cNvSpPr txBox="1"/>
          <p:nvPr/>
        </p:nvSpPr>
        <p:spPr>
          <a:xfrm>
            <a:off x="1920240" y="2907792"/>
            <a:ext cx="6858000" cy="457200"/>
          </a:xfrm>
          <a:prstGeom prst="rect">
            <a:avLst/>
          </a:prstGeom>
          <a:noFill/>
          <a:ln/>
        </p:spPr>
        <p:txBody>
          <a:bodyPr wrap="square" lIns="0" tIns="0" rIns="0" bIns="0" rtlCol="0" anchor="t"/>
          <a:lstStyle/>
          <a:p>
            <a:pPr indent="0" marL="0">
              <a:buNone/>
            </a:pPr>
            <a:r>
              <a:rPr lang="en-US" sz="2400" u="sng" dirty="0">
                <a:solidFill>
                  <a:srgbClr val="1F1F1F"/>
                </a:solidFill>
                <a:latin typeface="Helvetica Neue Light" pitchFamily="34" charset="0"/>
                <a:ea typeface="Helvetica Neue Light" pitchFamily="34" charset="-122"/>
                <a:cs typeface="Helvetica Neue Light" pitchFamily="34" charset="-120"/>
                <a:hlinkClick r:id="rId3" action="ppaction://hlinksldjump" tooltip="">
                  <a:extLst>
                    <a:ext uri="{A12FA001-AC4F-418D-AE19-62706E023703}">
                      <ahyp:hlinkClr xmlns:ahyp="http://schemas.microsoft.com/office/drawing/2018/hyperlinkcolor" val="tx"/>
                    </a:ext>
                  </a:extLst>
                </a:hlinkClick>
              </a:rPr>
              <a:t>FinViz AI Screener</a:t>
            </a:r>
            <a:endParaRPr lang="en-US" sz="2400" dirty="0"/>
          </a:p>
        </p:txBody>
      </p:sp>
      <p:sp>
        <p:nvSpPr>
          <p:cNvPr id="9" name="Text 6"/>
          <p:cNvSpPr txBox="1"/>
          <p:nvPr/>
        </p:nvSpPr>
        <p:spPr>
          <a:xfrm>
            <a:off x="1920240" y="3401568"/>
            <a:ext cx="9601200" cy="365760"/>
          </a:xfrm>
          <a:prstGeom prst="rect">
            <a:avLst/>
          </a:prstGeom>
          <a:noFill/>
          <a:ln/>
        </p:spPr>
        <p:txBody>
          <a:bodyPr wrap="square" lIns="0" tIns="0" rIns="0" bIns="0" rtlCol="0" anchor="t"/>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Problem, decisions and what comes next</a:t>
            </a:r>
            <a:endParaRPr lang="en-US" sz="1600" dirty="0"/>
          </a:p>
        </p:txBody>
      </p:sp>
      <p:sp>
        <p:nvSpPr>
          <p:cNvPr id="10" name="Shape 7"/>
          <p:cNvSpPr/>
          <p:nvPr/>
        </p:nvSpPr>
        <p:spPr>
          <a:xfrm>
            <a:off x="457200" y="4206240"/>
            <a:ext cx="12070080" cy="1280160"/>
          </a:xfrm>
          <a:prstGeom prst="rect">
            <a:avLst/>
          </a:prstGeom>
          <a:solidFill>
            <a:srgbClr val="FFFFFF"/>
          </a:solidFill>
          <a:ln w="12700">
            <a:solidFill>
              <a:srgbClr val="E2E2E2"/>
            </a:solidFill>
            <a:prstDash val="solid"/>
          </a:ln>
        </p:spPr>
      </p:sp>
      <p:sp>
        <p:nvSpPr>
          <p:cNvPr id="11" name="Text 8">
            <a:hlinkClick r:id="rId4" tooltip="" action="ppaction://hlinksldjump"/>
          </p:cNvPr>
          <p:cNvSpPr txBox="1"/>
          <p:nvPr/>
        </p:nvSpPr>
        <p:spPr>
          <a:xfrm>
            <a:off x="777240" y="4526280"/>
            <a:ext cx="914400" cy="548640"/>
          </a:xfrm>
          <a:prstGeom prst="rect">
            <a:avLst/>
          </a:prstGeom>
          <a:noFill/>
          <a:ln/>
        </p:spPr>
        <p:txBody>
          <a:bodyPr wrap="square" lIns="0" tIns="0" rIns="0" bIns="0" rtlCol="0" anchor="t"/>
          <a:lstStyle/>
          <a:p>
            <a:pPr indent="0" marL="0">
              <a:buNone/>
            </a:pPr>
            <a:r>
              <a:rPr lang="en-US" sz="2800" b="1" u="sng" dirty="0">
                <a:solidFill>
                  <a:srgbClr val="C45A35"/>
                </a:solidFill>
                <a:latin typeface="Helvetica Neue" pitchFamily="34" charset="0"/>
                <a:ea typeface="Helvetica Neue" pitchFamily="34" charset="-122"/>
                <a:cs typeface="Helvetica Neue" pitchFamily="34" charset="-120"/>
                <a:hlinkClick r:id="rId4" action="ppaction://hlinksldjump" tooltip="">
                  <a:extLst>
                    <a:ext uri="{A12FA001-AC4F-418D-AE19-62706E023703}">
                      <ahyp:hlinkClr xmlns:ahyp="http://schemas.microsoft.com/office/drawing/2018/hyperlinkcolor" val="tx"/>
                    </a:ext>
                  </a:extLst>
                </a:hlinkClick>
              </a:rPr>
              <a:t>02</a:t>
            </a:r>
            <a:endParaRPr lang="en-US" sz="2800" dirty="0"/>
          </a:p>
        </p:txBody>
      </p:sp>
      <p:sp>
        <p:nvSpPr>
          <p:cNvPr id="12" name="Text 9">
            <a:hlinkClick r:id="rId5" tooltip="" action="ppaction://hlinksldjump"/>
          </p:cNvPr>
          <p:cNvSpPr txBox="1"/>
          <p:nvPr/>
        </p:nvSpPr>
        <p:spPr>
          <a:xfrm>
            <a:off x="1920240" y="4462272"/>
            <a:ext cx="6858000" cy="457200"/>
          </a:xfrm>
          <a:prstGeom prst="rect">
            <a:avLst/>
          </a:prstGeom>
          <a:noFill/>
          <a:ln/>
        </p:spPr>
        <p:txBody>
          <a:bodyPr wrap="square" lIns="0" tIns="0" rIns="0" bIns="0" rtlCol="0" anchor="t"/>
          <a:lstStyle/>
          <a:p>
            <a:pPr indent="0" marL="0">
              <a:buNone/>
            </a:pPr>
            <a:r>
              <a:rPr lang="en-US" sz="2400" u="sng" dirty="0">
                <a:solidFill>
                  <a:srgbClr val="1F1F1F"/>
                </a:solidFill>
                <a:latin typeface="Helvetica Neue Light" pitchFamily="34" charset="0"/>
                <a:ea typeface="Helvetica Neue Light" pitchFamily="34" charset="-122"/>
                <a:cs typeface="Helvetica Neue Light" pitchFamily="34" charset="-120"/>
                <a:hlinkClick r:id="rId5" action="ppaction://hlinksldjump" tooltip="">
                  <a:extLst>
                    <a:ext uri="{A12FA001-AC4F-418D-AE19-62706E023703}">
                      <ahyp:hlinkClr xmlns:ahyp="http://schemas.microsoft.com/office/drawing/2018/hyperlinkcolor" val="tx"/>
                    </a:ext>
                  </a:extLst>
                </a:hlinkClick>
              </a:rPr>
              <a:t>Meridian Navigator</a:t>
            </a:r>
            <a:endParaRPr lang="en-US" sz="2400" dirty="0"/>
          </a:p>
        </p:txBody>
      </p:sp>
      <p:sp>
        <p:nvSpPr>
          <p:cNvPr id="13" name="Text 10"/>
          <p:cNvSpPr txBox="1"/>
          <p:nvPr/>
        </p:nvSpPr>
        <p:spPr>
          <a:xfrm>
            <a:off x="1920240" y="4956048"/>
            <a:ext cx="9601200" cy="365760"/>
          </a:xfrm>
          <a:prstGeom prst="rect">
            <a:avLst/>
          </a:prstGeom>
          <a:noFill/>
          <a:ln/>
        </p:spPr>
        <p:txBody>
          <a:bodyPr wrap="square" lIns="0" tIns="0" rIns="0" bIns="0" rtlCol="0" anchor="t"/>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Trade and AI flows, designed states, trade-offs</a:t>
            </a:r>
            <a:endParaRPr lang="en-US" sz="1600" dirty="0"/>
          </a:p>
        </p:txBody>
      </p:sp>
      <p:sp>
        <p:nvSpPr>
          <p:cNvPr id="14" name="Shape 11"/>
          <p:cNvSpPr/>
          <p:nvPr/>
        </p:nvSpPr>
        <p:spPr>
          <a:xfrm>
            <a:off x="457200" y="5760720"/>
            <a:ext cx="12070080" cy="1280160"/>
          </a:xfrm>
          <a:prstGeom prst="rect">
            <a:avLst/>
          </a:prstGeom>
          <a:solidFill>
            <a:srgbClr val="FFFFFF"/>
          </a:solidFill>
          <a:ln w="12700">
            <a:solidFill>
              <a:srgbClr val="E2E2E2"/>
            </a:solidFill>
            <a:prstDash val="solid"/>
          </a:ln>
        </p:spPr>
      </p:sp>
      <p:sp>
        <p:nvSpPr>
          <p:cNvPr id="15" name="Text 12">
            <a:hlinkClick r:id="rId6" tooltip="" action="ppaction://hlinksldjump"/>
          </p:cNvPr>
          <p:cNvSpPr txBox="1"/>
          <p:nvPr/>
        </p:nvSpPr>
        <p:spPr>
          <a:xfrm>
            <a:off x="777240" y="6080760"/>
            <a:ext cx="914400" cy="548640"/>
          </a:xfrm>
          <a:prstGeom prst="rect">
            <a:avLst/>
          </a:prstGeom>
          <a:noFill/>
          <a:ln/>
        </p:spPr>
        <p:txBody>
          <a:bodyPr wrap="square" lIns="0" tIns="0" rIns="0" bIns="0" rtlCol="0" anchor="t"/>
          <a:lstStyle/>
          <a:p>
            <a:pPr indent="0" marL="0">
              <a:buNone/>
            </a:pPr>
            <a:r>
              <a:rPr lang="en-US" sz="2800" b="1" u="sng" dirty="0">
                <a:solidFill>
                  <a:srgbClr val="C45A35"/>
                </a:solidFill>
                <a:latin typeface="Helvetica Neue" pitchFamily="34" charset="0"/>
                <a:ea typeface="Helvetica Neue" pitchFamily="34" charset="-122"/>
                <a:cs typeface="Helvetica Neue" pitchFamily="34" charset="-120"/>
                <a:hlinkClick r:id="rId6" action="ppaction://hlinksldjump" tooltip="">
                  <a:extLst>
                    <a:ext uri="{A12FA001-AC4F-418D-AE19-62706E023703}">
                      <ahyp:hlinkClr xmlns:ahyp="http://schemas.microsoft.com/office/drawing/2018/hyperlinkcolor" val="tx"/>
                    </a:ext>
                  </a:extLst>
                </a:hlinkClick>
              </a:rPr>
              <a:t>03</a:t>
            </a:r>
            <a:endParaRPr lang="en-US" sz="2800" dirty="0"/>
          </a:p>
        </p:txBody>
      </p:sp>
      <p:sp>
        <p:nvSpPr>
          <p:cNvPr id="16" name="Text 13">
            <a:hlinkClick r:id="rId7" tooltip="" action="ppaction://hlinksldjump"/>
          </p:cNvPr>
          <p:cNvSpPr txBox="1"/>
          <p:nvPr/>
        </p:nvSpPr>
        <p:spPr>
          <a:xfrm>
            <a:off x="1920240" y="6016752"/>
            <a:ext cx="6858000" cy="457200"/>
          </a:xfrm>
          <a:prstGeom prst="rect">
            <a:avLst/>
          </a:prstGeom>
          <a:noFill/>
          <a:ln/>
        </p:spPr>
        <p:txBody>
          <a:bodyPr wrap="square" lIns="0" tIns="0" rIns="0" bIns="0" rtlCol="0" anchor="t"/>
          <a:lstStyle/>
          <a:p>
            <a:pPr indent="0" marL="0">
              <a:buNone/>
            </a:pPr>
            <a:r>
              <a:rPr lang="en-US" sz="2400" u="sng" dirty="0">
                <a:solidFill>
                  <a:srgbClr val="1F1F1F"/>
                </a:solidFill>
                <a:latin typeface="Helvetica Neue Light" pitchFamily="34" charset="0"/>
                <a:ea typeface="Helvetica Neue Light" pitchFamily="34" charset="-122"/>
                <a:cs typeface="Helvetica Neue Light" pitchFamily="34" charset="-120"/>
                <a:hlinkClick r:id="rId7" action="ppaction://hlinksldjump" tooltip="">
                  <a:extLst>
                    <a:ext uri="{A12FA001-AC4F-418D-AE19-62706E023703}">
                      <ahyp:hlinkClr xmlns:ahyp="http://schemas.microsoft.com/office/drawing/2018/hyperlinkcolor" val="tx"/>
                    </a:ext>
                  </a:extLst>
                </a:hlinkClick>
              </a:rPr>
              <a:t>Leadership and process</a:t>
            </a:r>
            <a:endParaRPr lang="en-US" sz="2400" dirty="0"/>
          </a:p>
        </p:txBody>
      </p:sp>
      <p:sp>
        <p:nvSpPr>
          <p:cNvPr id="17" name="Text 14"/>
          <p:cNvSpPr txBox="1"/>
          <p:nvPr/>
        </p:nvSpPr>
        <p:spPr>
          <a:xfrm>
            <a:off x="1920240" y="6510528"/>
            <a:ext cx="9601200" cy="365760"/>
          </a:xfrm>
          <a:prstGeom prst="rect">
            <a:avLst/>
          </a:prstGeom>
          <a:noFill/>
          <a:ln/>
        </p:spPr>
        <p:txBody>
          <a:bodyPr wrap="square" lIns="0" tIns="0" rIns="0" bIns="0" rtlCol="0" anchor="t"/>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How I set direction, the calls, and the status</a:t>
            </a:r>
            <a:endParaRPr lang="en-US" sz="1600" dirty="0"/>
          </a:p>
        </p:txBody>
      </p:sp>
      <p:sp>
        <p:nvSpPr>
          <p:cNvPr id="18" name="Shape 15"/>
          <p:cNvSpPr/>
          <p:nvPr/>
        </p:nvSpPr>
        <p:spPr>
          <a:xfrm>
            <a:off x="457200" y="7315200"/>
            <a:ext cx="12070080" cy="1280160"/>
          </a:xfrm>
          <a:prstGeom prst="rect">
            <a:avLst/>
          </a:prstGeom>
          <a:solidFill>
            <a:srgbClr val="FFFFFF"/>
          </a:solidFill>
          <a:ln w="12700">
            <a:solidFill>
              <a:srgbClr val="E2E2E2"/>
            </a:solidFill>
            <a:prstDash val="solid"/>
          </a:ln>
        </p:spPr>
      </p:sp>
      <p:sp>
        <p:nvSpPr>
          <p:cNvPr id="19" name="Text 16">
            <a:hlinkClick r:id="rId8" tooltip="" action="ppaction://hlinksldjump"/>
          </p:cNvPr>
          <p:cNvSpPr txBox="1"/>
          <p:nvPr/>
        </p:nvSpPr>
        <p:spPr>
          <a:xfrm>
            <a:off x="777240" y="7635240"/>
            <a:ext cx="914400" cy="548640"/>
          </a:xfrm>
          <a:prstGeom prst="rect">
            <a:avLst/>
          </a:prstGeom>
          <a:noFill/>
          <a:ln/>
        </p:spPr>
        <p:txBody>
          <a:bodyPr wrap="square" lIns="0" tIns="0" rIns="0" bIns="0" rtlCol="0" anchor="t"/>
          <a:lstStyle/>
          <a:p>
            <a:pPr indent="0" marL="0">
              <a:buNone/>
            </a:pPr>
            <a:r>
              <a:rPr lang="en-US" sz="2800" b="1" u="sng" dirty="0">
                <a:solidFill>
                  <a:srgbClr val="C45A35"/>
                </a:solidFill>
                <a:latin typeface="Helvetica Neue" pitchFamily="34" charset="0"/>
                <a:ea typeface="Helvetica Neue" pitchFamily="34" charset="-122"/>
                <a:cs typeface="Helvetica Neue" pitchFamily="34" charset="-120"/>
                <a:hlinkClick r:id="rId8" action="ppaction://hlinksldjump" tooltip="">
                  <a:extLst>
                    <a:ext uri="{A12FA001-AC4F-418D-AE19-62706E023703}">
                      <ahyp:hlinkClr xmlns:ahyp="http://schemas.microsoft.com/office/drawing/2018/hyperlinkcolor" val="tx"/>
                    </a:ext>
                  </a:extLst>
                </a:hlinkClick>
              </a:rPr>
              <a:t>04</a:t>
            </a:r>
            <a:endParaRPr lang="en-US" sz="2800" dirty="0"/>
          </a:p>
        </p:txBody>
      </p:sp>
      <p:sp>
        <p:nvSpPr>
          <p:cNvPr id="20" name="Text 17">
            <a:hlinkClick r:id="rId9" tooltip="" action="ppaction://hlinksldjump"/>
          </p:cNvPr>
          <p:cNvSpPr txBox="1"/>
          <p:nvPr/>
        </p:nvSpPr>
        <p:spPr>
          <a:xfrm>
            <a:off x="1920240" y="7571232"/>
            <a:ext cx="6858000" cy="457200"/>
          </a:xfrm>
          <a:prstGeom prst="rect">
            <a:avLst/>
          </a:prstGeom>
          <a:noFill/>
          <a:ln/>
        </p:spPr>
        <p:txBody>
          <a:bodyPr wrap="square" lIns="0" tIns="0" rIns="0" bIns="0" rtlCol="0" anchor="t"/>
          <a:lstStyle/>
          <a:p>
            <a:pPr indent="0" marL="0">
              <a:buNone/>
            </a:pPr>
            <a:r>
              <a:rPr lang="en-US" sz="2400" u="sng" dirty="0">
                <a:solidFill>
                  <a:srgbClr val="1F1F1F"/>
                </a:solidFill>
                <a:latin typeface="Helvetica Neue Light" pitchFamily="34" charset="0"/>
                <a:ea typeface="Helvetica Neue Light" pitchFamily="34" charset="-122"/>
                <a:cs typeface="Helvetica Neue Light" pitchFamily="34" charset="-120"/>
                <a:hlinkClick r:id="rId9" action="ppaction://hlinksldjump" tooltip="">
                  <a:extLst>
                    <a:ext uri="{A12FA001-AC4F-418D-AE19-62706E023703}">
                      <ahyp:hlinkClr xmlns:ahyp="http://schemas.microsoft.com/office/drawing/2018/hyperlinkcolor" val="tx"/>
                    </a:ext>
                  </a:extLst>
                </a:hlinkClick>
              </a:rPr>
              <a:t>Next steps</a:t>
            </a:r>
            <a:endParaRPr lang="en-US" sz="2400" dirty="0"/>
          </a:p>
        </p:txBody>
      </p:sp>
      <p:sp>
        <p:nvSpPr>
          <p:cNvPr id="21" name="Text 18"/>
          <p:cNvSpPr txBox="1"/>
          <p:nvPr/>
        </p:nvSpPr>
        <p:spPr>
          <a:xfrm>
            <a:off x="1920240" y="8065008"/>
            <a:ext cx="9601200" cy="365760"/>
          </a:xfrm>
          <a:prstGeom prst="rect">
            <a:avLst/>
          </a:prstGeom>
          <a:noFill/>
          <a:ln/>
        </p:spPr>
        <p:txBody>
          <a:bodyPr wrap="square" lIns="0" tIns="0" rIns="0" bIns="0" rtlCol="0" anchor="t"/>
          <a:lstStyle/>
          <a:p>
            <a:pPr indent="0" marL="0">
              <a:buNone/>
            </a:pPr>
            <a:r>
              <a:rPr lang="en-US" sz="1600" dirty="0">
                <a:solidFill>
                  <a:srgbClr val="595959"/>
                </a:solidFill>
                <a:latin typeface="Helvetica Neue Light" pitchFamily="34" charset="0"/>
                <a:ea typeface="Helvetica Neue Light" pitchFamily="34" charset="-122"/>
                <a:cs typeface="Helvetica Neue Light" pitchFamily="34" charset="-120"/>
              </a:rPr>
              <a:t>What I would do next</a:t>
            </a:r>
            <a:endParaRPr lang="en-US" sz="1600" dirty="0"/>
          </a:p>
        </p:txBody>
      </p:sp>
      <p:pic>
        <p:nvPicPr>
          <p:cNvPr id="22" name="Image 1" descr="/tmp/meridian-deck/img/band-footer.png">    </p:cNvPr>
          <p:cNvPicPr>
            <a:picLocks noChangeAspect="1"/>
          </p:cNvPicPr>
          <p:nvPr/>
        </p:nvPicPr>
        <p:blipFill>
          <a:blip r:embed="rId10"/>
          <a:stretch>
            <a:fillRect/>
          </a:stretch>
        </p:blipFill>
        <p:spPr>
          <a:xfrm>
            <a:off x="0" y="9281160"/>
            <a:ext cx="13004597" cy="46634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FinViz AI Screener · Outcome</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FinViz: cut sign-up to Elite from 42 days to 21</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target came from the case brief. It has not been measured yet.</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560320"/>
            <a:ext cx="5120640" cy="5852160"/>
          </a:xfrm>
          <a:prstGeom prst="rect">
            <a:avLst/>
          </a:prstGeom>
          <a:solidFill>
            <a:srgbClr val="C45A35"/>
          </a:solidFill>
          <a:ln w="12700">
            <a:solidFill>
              <a:srgbClr val="C45A35"/>
            </a:solidFill>
            <a:prstDash val="solid"/>
          </a:ln>
        </p:spPr>
      </p:sp>
      <p:sp>
        <p:nvSpPr>
          <p:cNvPr id="8" name="Text 4"/>
          <p:cNvSpPr txBox="1"/>
          <p:nvPr/>
        </p:nvSpPr>
        <p:spPr>
          <a:xfrm>
            <a:off x="914400" y="3200400"/>
            <a:ext cx="4389120" cy="1463040"/>
          </a:xfrm>
          <a:prstGeom prst="rect">
            <a:avLst/>
          </a:prstGeom>
          <a:noFill/>
          <a:ln/>
        </p:spPr>
        <p:txBody>
          <a:bodyPr wrap="square" lIns="0" tIns="0" rIns="0" bIns="0" rtlCol="0" anchor="t"/>
          <a:lstStyle/>
          <a:p>
            <a:pPr indent="0" marL="0">
              <a:buNone/>
            </a:pPr>
            <a:r>
              <a:rPr lang="en-US" sz="8000" b="1" dirty="0">
                <a:solidFill>
                  <a:srgbClr val="FFFFFF"/>
                </a:solidFill>
                <a:latin typeface="Helvetica Neue" pitchFamily="34" charset="0"/>
                <a:ea typeface="Helvetica Neue" pitchFamily="34" charset="-122"/>
                <a:cs typeface="Helvetica Neue" pitchFamily="34" charset="-120"/>
              </a:rPr>
              <a:t>42 → 21</a:t>
            </a:r>
            <a:endParaRPr lang="en-US" sz="8000" dirty="0"/>
          </a:p>
        </p:txBody>
      </p:sp>
      <p:sp>
        <p:nvSpPr>
          <p:cNvPr id="9" name="Text 5"/>
          <p:cNvSpPr txBox="1"/>
          <p:nvPr/>
        </p:nvSpPr>
        <p:spPr>
          <a:xfrm>
            <a:off x="914400" y="4846320"/>
            <a:ext cx="4206240" cy="914400"/>
          </a:xfrm>
          <a:prstGeom prst="rect">
            <a:avLst/>
          </a:prstGeom>
          <a:noFill/>
          <a:ln/>
        </p:spPr>
        <p:txBody>
          <a:bodyPr wrap="square" lIns="0" tIns="0" rIns="0" bIns="0" rtlCol="0" anchor="t"/>
          <a:lstStyle/>
          <a:p>
            <a:pPr indent="0" marL="0">
              <a:buNone/>
            </a:pPr>
            <a:r>
              <a:rPr lang="en-US" sz="2000" dirty="0">
                <a:solidFill>
                  <a:srgbClr val="FFFFFF"/>
                </a:solidFill>
                <a:latin typeface="Helvetica Neue Light" pitchFamily="34" charset="0"/>
                <a:ea typeface="Helvetica Neue Light" pitchFamily="34" charset="-122"/>
                <a:cs typeface="Helvetica Neue Light" pitchFamily="34" charset="-120"/>
              </a:rPr>
              <a:t>days from sign-up to Elite, the target for new traders</a:t>
            </a:r>
            <a:endParaRPr lang="en-US" sz="2000" dirty="0"/>
          </a:p>
        </p:txBody>
      </p:sp>
      <p:sp>
        <p:nvSpPr>
          <p:cNvPr id="10" name="Text 6"/>
          <p:cNvSpPr txBox="1"/>
          <p:nvPr/>
        </p:nvSpPr>
        <p:spPr>
          <a:xfrm>
            <a:off x="914400" y="6949440"/>
            <a:ext cx="4206240" cy="731520"/>
          </a:xfrm>
          <a:prstGeom prst="rect">
            <a:avLst/>
          </a:prstGeom>
          <a:noFill/>
          <a:ln/>
        </p:spPr>
        <p:txBody>
          <a:bodyPr wrap="square" lIns="0" tIns="0" rIns="0" bIns="0" rtlCol="0" anchor="t"/>
          <a:lstStyle/>
          <a:p>
            <a:pPr indent="0" marL="0">
              <a:buNone/>
            </a:pPr>
            <a:r>
              <a:rPr lang="en-US" sz="1600" dirty="0">
                <a:solidFill>
                  <a:srgbClr val="FFE9DF"/>
                </a:solidFill>
                <a:latin typeface="Helvetica Neue Light" pitchFamily="34" charset="0"/>
                <a:ea typeface="Helvetica Neue Light" pitchFamily="34" charset="-122"/>
                <a:cs typeface="Helvetica Neue Light" pitchFamily="34" charset="-120"/>
              </a:rPr>
              <a:t>Measured: not yet. Validation is planned (slide 7).</a:t>
            </a:r>
            <a:endParaRPr lang="en-US" sz="1600" dirty="0"/>
          </a:p>
        </p:txBody>
      </p:sp>
      <p:sp>
        <p:nvSpPr>
          <p:cNvPr id="11" name="Shape 7"/>
          <p:cNvSpPr/>
          <p:nvPr/>
        </p:nvSpPr>
        <p:spPr>
          <a:xfrm>
            <a:off x="5943600" y="2560320"/>
            <a:ext cx="6583680" cy="1828800"/>
          </a:xfrm>
          <a:prstGeom prst="rect">
            <a:avLst/>
          </a:prstGeom>
          <a:solidFill>
            <a:srgbClr val="FFFFFF"/>
          </a:solidFill>
          <a:ln w="12700">
            <a:solidFill>
              <a:srgbClr val="E2E2E2"/>
            </a:solidFill>
            <a:prstDash val="solid"/>
          </a:ln>
        </p:spPr>
      </p:sp>
      <p:sp>
        <p:nvSpPr>
          <p:cNvPr id="12" name="Text 8"/>
          <p:cNvSpPr txBox="1"/>
          <p:nvPr/>
        </p:nvSpPr>
        <p:spPr>
          <a:xfrm>
            <a:off x="6217920" y="2761488"/>
            <a:ext cx="6035040" cy="274320"/>
          </a:xfrm>
          <a:prstGeom prst="rect">
            <a:avLst/>
          </a:prstGeom>
          <a:noFill/>
          <a:ln/>
        </p:spPr>
        <p:txBody>
          <a:bodyPr wrap="square" lIns="0" tIns="0" rIns="0" bIns="0" rtlCol="0" anchor="t"/>
          <a:lstStyle/>
          <a:p>
            <a:pPr indent="0" marL="0">
              <a:buNone/>
            </a:pPr>
            <a:r>
              <a:rPr lang="en-US" sz="1280" b="1" spc="100" kern="0" dirty="0">
                <a:solidFill>
                  <a:srgbClr val="C45A35"/>
                </a:solidFill>
                <a:latin typeface="Helvetica Neue" pitchFamily="34" charset="0"/>
                <a:ea typeface="Helvetica Neue" pitchFamily="34" charset="-122"/>
                <a:cs typeface="Helvetica Neue" pitchFamily="34" charset="-120"/>
              </a:rPr>
              <a:t>PROBLEM</a:t>
            </a:r>
            <a:endParaRPr lang="en-US" sz="1280" dirty="0"/>
          </a:p>
        </p:txBody>
      </p:sp>
      <p:sp>
        <p:nvSpPr>
          <p:cNvPr id="13" name="Text 9"/>
          <p:cNvSpPr txBox="1"/>
          <p:nvPr/>
        </p:nvSpPr>
        <p:spPr>
          <a:xfrm>
            <a:off x="6217920" y="3108960"/>
            <a:ext cx="6035040" cy="114300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New traders take 42 days to see why Elite is worth paying for. The screener gives no reasons, and the list forgets them.</a:t>
            </a:r>
            <a:endParaRPr lang="en-US" sz="1700" dirty="0"/>
          </a:p>
        </p:txBody>
      </p:sp>
      <p:sp>
        <p:nvSpPr>
          <p:cNvPr id="14" name="Shape 10"/>
          <p:cNvSpPr/>
          <p:nvPr/>
        </p:nvSpPr>
        <p:spPr>
          <a:xfrm>
            <a:off x="5943600" y="4617720"/>
            <a:ext cx="6583680" cy="1828800"/>
          </a:xfrm>
          <a:prstGeom prst="rect">
            <a:avLst/>
          </a:prstGeom>
          <a:solidFill>
            <a:srgbClr val="FFFFFF"/>
          </a:solidFill>
          <a:ln w="12700">
            <a:solidFill>
              <a:srgbClr val="E2E2E2"/>
            </a:solidFill>
            <a:prstDash val="solid"/>
          </a:ln>
        </p:spPr>
      </p:sp>
      <p:sp>
        <p:nvSpPr>
          <p:cNvPr id="15" name="Text 11"/>
          <p:cNvSpPr txBox="1"/>
          <p:nvPr/>
        </p:nvSpPr>
        <p:spPr>
          <a:xfrm>
            <a:off x="6217920" y="4818888"/>
            <a:ext cx="6035040" cy="274320"/>
          </a:xfrm>
          <a:prstGeom prst="rect">
            <a:avLst/>
          </a:prstGeom>
          <a:noFill/>
          <a:ln/>
        </p:spPr>
        <p:txBody>
          <a:bodyPr wrap="square" lIns="0" tIns="0" rIns="0" bIns="0" rtlCol="0" anchor="t"/>
          <a:lstStyle/>
          <a:p>
            <a:pPr indent="0" marL="0">
              <a:buNone/>
            </a:pPr>
            <a:r>
              <a:rPr lang="en-US" sz="1280" b="1" spc="100" kern="0" dirty="0">
                <a:solidFill>
                  <a:srgbClr val="5B3F96"/>
                </a:solidFill>
                <a:latin typeface="Helvetica Neue" pitchFamily="34" charset="0"/>
                <a:ea typeface="Helvetica Neue" pitchFamily="34" charset="-122"/>
                <a:cs typeface="Helvetica Neue" pitchFamily="34" charset="-120"/>
              </a:rPr>
              <a:t>DECISION</a:t>
            </a:r>
            <a:endParaRPr lang="en-US" sz="1280" dirty="0"/>
          </a:p>
        </p:txBody>
      </p:sp>
      <p:sp>
        <p:nvSpPr>
          <p:cNvPr id="16" name="Text 12"/>
          <p:cNvSpPr txBox="1"/>
          <p:nvPr/>
        </p:nvSpPr>
        <p:spPr>
          <a:xfrm>
            <a:off x="6217920" y="5166360"/>
            <a:ext cx="6035040" cy="114300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An AI layer turns the trader’s own picks into a working screen, and explains each finding with its source.</a:t>
            </a:r>
            <a:endParaRPr lang="en-US" sz="1700" dirty="0"/>
          </a:p>
        </p:txBody>
      </p:sp>
      <p:sp>
        <p:nvSpPr>
          <p:cNvPr id="17" name="Shape 13"/>
          <p:cNvSpPr/>
          <p:nvPr/>
        </p:nvSpPr>
        <p:spPr>
          <a:xfrm>
            <a:off x="5943600" y="6675120"/>
            <a:ext cx="6583680" cy="1828800"/>
          </a:xfrm>
          <a:prstGeom prst="rect">
            <a:avLst/>
          </a:prstGeom>
          <a:solidFill>
            <a:srgbClr val="FFFFFF"/>
          </a:solidFill>
          <a:ln w="12700">
            <a:solidFill>
              <a:srgbClr val="E2E2E2"/>
            </a:solidFill>
            <a:prstDash val="solid"/>
          </a:ln>
        </p:spPr>
      </p:sp>
      <p:sp>
        <p:nvSpPr>
          <p:cNvPr id="18" name="Text 14"/>
          <p:cNvSpPr txBox="1"/>
          <p:nvPr/>
        </p:nvSpPr>
        <p:spPr>
          <a:xfrm>
            <a:off x="6217920" y="6876288"/>
            <a:ext cx="6035040" cy="274320"/>
          </a:xfrm>
          <a:prstGeom prst="rect">
            <a:avLst/>
          </a:prstGeom>
          <a:noFill/>
          <a:ln/>
        </p:spPr>
        <p:txBody>
          <a:bodyPr wrap="square" lIns="0" tIns="0" rIns="0" bIns="0" rtlCol="0" anchor="t"/>
          <a:lstStyle/>
          <a:p>
            <a:pPr indent="0" marL="0">
              <a:buNone/>
            </a:pPr>
            <a:r>
              <a:rPr lang="en-US" sz="1280" b="1" spc="100" kern="0" dirty="0">
                <a:solidFill>
                  <a:srgbClr val="00868B"/>
                </a:solidFill>
                <a:latin typeface="Helvetica Neue" pitchFamily="34" charset="0"/>
                <a:ea typeface="Helvetica Neue" pitchFamily="34" charset="-122"/>
                <a:cs typeface="Helvetica Neue" pitchFamily="34" charset="-120"/>
              </a:rPr>
              <a:t>RESULT</a:t>
            </a:r>
            <a:endParaRPr lang="en-US" sz="1280" dirty="0"/>
          </a:p>
        </p:txBody>
      </p:sp>
      <p:sp>
        <p:nvSpPr>
          <p:cNvPr id="19" name="Text 15"/>
          <p:cNvSpPr txBox="1"/>
          <p:nvPr/>
        </p:nvSpPr>
        <p:spPr>
          <a:xfrm>
            <a:off x="6217920" y="7223760"/>
            <a:ext cx="6035040" cy="114300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Hi-fi concepts for one trading day. Outcome measurement is planned, not done.</a:t>
            </a:r>
            <a:endParaRPr lang="en-US" sz="1700" dirty="0"/>
          </a:p>
        </p:txBody>
      </p:sp>
      <p:pic>
        <p:nvPicPr>
          <p:cNvPr id="20"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FinViz AI Screener · Role</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My role, and where the AI stops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I led discovery, strategy and the Figma design. AI agents helped with drafting.</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560320"/>
            <a:ext cx="12070080" cy="1920240"/>
          </a:xfrm>
          <a:prstGeom prst="rect">
            <a:avLst/>
          </a:prstGeom>
          <a:solidFill>
            <a:srgbClr val="FFFFFF"/>
          </a:solidFill>
          <a:ln w="12700">
            <a:solidFill>
              <a:srgbClr val="E2E2E2"/>
            </a:solidFill>
            <a:prstDash val="solid"/>
          </a:ln>
        </p:spPr>
      </p:sp>
      <p:sp>
        <p:nvSpPr>
          <p:cNvPr id="8" name="Text 4"/>
          <p:cNvSpPr txBox="1"/>
          <p:nvPr/>
        </p:nvSpPr>
        <p:spPr>
          <a:xfrm>
            <a:off x="731520" y="2761488"/>
            <a:ext cx="11521440" cy="274320"/>
          </a:xfrm>
          <a:prstGeom prst="rect">
            <a:avLst/>
          </a:prstGeom>
          <a:noFill/>
          <a:ln/>
        </p:spPr>
        <p:txBody>
          <a:bodyPr wrap="square" lIns="0" tIns="0" rIns="0" bIns="0" rtlCol="0" anchor="t"/>
          <a:lstStyle/>
          <a:p>
            <a:pPr indent="0" marL="0">
              <a:buNone/>
            </a:pPr>
            <a:r>
              <a:rPr lang="en-US" sz="1280" b="1" spc="100" kern="0" dirty="0">
                <a:solidFill>
                  <a:srgbClr val="C45A35"/>
                </a:solidFill>
                <a:latin typeface="Helvetica Neue" pitchFamily="34" charset="0"/>
                <a:ea typeface="Helvetica Neue" pitchFamily="34" charset="-122"/>
                <a:cs typeface="Helvetica Neue" pitchFamily="34" charset="-120"/>
              </a:rPr>
              <a:t>PROBLEM</a:t>
            </a:r>
            <a:endParaRPr lang="en-US" sz="1280" dirty="0"/>
          </a:p>
        </p:txBody>
      </p:sp>
      <p:sp>
        <p:nvSpPr>
          <p:cNvPr id="9" name="Text 5"/>
          <p:cNvSpPr txBox="1"/>
          <p:nvPr/>
        </p:nvSpPr>
        <p:spPr>
          <a:xfrm>
            <a:off x="731520" y="3108960"/>
            <a:ext cx="1152144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Build a screen from three example tickers, explain why each row matched, and check whether the trader’s reasons still hold.</a:t>
            </a:r>
            <a:endParaRPr lang="en-US" sz="1700" dirty="0"/>
          </a:p>
        </p:txBody>
      </p:sp>
      <p:sp>
        <p:nvSpPr>
          <p:cNvPr id="10" name="Shape 6"/>
          <p:cNvSpPr/>
          <p:nvPr/>
        </p:nvSpPr>
        <p:spPr>
          <a:xfrm>
            <a:off x="457200" y="4754880"/>
            <a:ext cx="12070080" cy="1920240"/>
          </a:xfrm>
          <a:prstGeom prst="rect">
            <a:avLst/>
          </a:prstGeom>
          <a:solidFill>
            <a:srgbClr val="FFFFFF"/>
          </a:solidFill>
          <a:ln w="12700">
            <a:solidFill>
              <a:srgbClr val="E2E2E2"/>
            </a:solidFill>
            <a:prstDash val="solid"/>
          </a:ln>
        </p:spPr>
      </p:sp>
      <p:sp>
        <p:nvSpPr>
          <p:cNvPr id="11" name="Text 7"/>
          <p:cNvSpPr txBox="1"/>
          <p:nvPr/>
        </p:nvSpPr>
        <p:spPr>
          <a:xfrm>
            <a:off x="731520" y="4956048"/>
            <a:ext cx="11521440" cy="274320"/>
          </a:xfrm>
          <a:prstGeom prst="rect">
            <a:avLst/>
          </a:prstGeom>
          <a:noFill/>
          <a:ln/>
        </p:spPr>
        <p:txBody>
          <a:bodyPr wrap="square" lIns="0" tIns="0" rIns="0" bIns="0" rtlCol="0" anchor="t"/>
          <a:lstStyle/>
          <a:p>
            <a:pPr indent="0" marL="0">
              <a:buNone/>
            </a:pPr>
            <a:r>
              <a:rPr lang="en-US" sz="1280" b="1" spc="100" kern="0" dirty="0">
                <a:solidFill>
                  <a:srgbClr val="A12A37"/>
                </a:solidFill>
                <a:latin typeface="Helvetica Neue" pitchFamily="34" charset="0"/>
                <a:ea typeface="Helvetica Neue" pitchFamily="34" charset="-122"/>
                <a:cs typeface="Helvetica Neue" pitchFamily="34" charset="-120"/>
              </a:rPr>
              <a:t>DECISION</a:t>
            </a:r>
            <a:endParaRPr lang="en-US" sz="1280" dirty="0"/>
          </a:p>
        </p:txBody>
      </p:sp>
      <p:sp>
        <p:nvSpPr>
          <p:cNvPr id="12" name="Text 8"/>
          <p:cNvSpPr txBox="1"/>
          <p:nvPr/>
        </p:nvSpPr>
        <p:spPr>
          <a:xfrm>
            <a:off x="731520" y="5303520"/>
            <a:ext cx="1152144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The AI verifies the trader’s own criteria. It never originates buy or sell advice. Attributed analyst views sit behind a flag, pending compliance.</a:t>
            </a:r>
            <a:endParaRPr lang="en-US" sz="1700" dirty="0"/>
          </a:p>
        </p:txBody>
      </p:sp>
      <p:sp>
        <p:nvSpPr>
          <p:cNvPr id="13" name="Shape 9"/>
          <p:cNvSpPr/>
          <p:nvPr/>
        </p:nvSpPr>
        <p:spPr>
          <a:xfrm>
            <a:off x="457200" y="6949440"/>
            <a:ext cx="12070080" cy="1920240"/>
          </a:xfrm>
          <a:prstGeom prst="rect">
            <a:avLst/>
          </a:prstGeom>
          <a:solidFill>
            <a:srgbClr val="FFFFFF"/>
          </a:solidFill>
          <a:ln w="12700">
            <a:solidFill>
              <a:srgbClr val="E2E2E2"/>
            </a:solidFill>
            <a:prstDash val="solid"/>
          </a:ln>
        </p:spPr>
      </p:sp>
      <p:sp>
        <p:nvSpPr>
          <p:cNvPr id="14" name="Text 10"/>
          <p:cNvSpPr txBox="1"/>
          <p:nvPr/>
        </p:nvSpPr>
        <p:spPr>
          <a:xfrm>
            <a:off x="731520" y="7150608"/>
            <a:ext cx="11521440" cy="274320"/>
          </a:xfrm>
          <a:prstGeom prst="rect">
            <a:avLst/>
          </a:prstGeom>
          <a:noFill/>
          <a:ln/>
        </p:spPr>
        <p:txBody>
          <a:bodyPr wrap="square" lIns="0" tIns="0" rIns="0" bIns="0" rtlCol="0" anchor="t"/>
          <a:lstStyle/>
          <a:p>
            <a:pPr indent="0" marL="0">
              <a:buNone/>
            </a:pPr>
            <a:r>
              <a:rPr lang="en-US" sz="1280" b="1" spc="100" kern="0" dirty="0">
                <a:solidFill>
                  <a:srgbClr val="00868B"/>
                </a:solidFill>
                <a:latin typeface="Helvetica Neue" pitchFamily="34" charset="0"/>
                <a:ea typeface="Helvetica Neue" pitchFamily="34" charset="-122"/>
                <a:cs typeface="Helvetica Neue" pitchFamily="34" charset="-120"/>
              </a:rPr>
              <a:t>RESULT</a:t>
            </a:r>
            <a:endParaRPr lang="en-US" sz="1280" dirty="0"/>
          </a:p>
        </p:txBody>
      </p:sp>
      <p:sp>
        <p:nvSpPr>
          <p:cNvPr id="15" name="Text 11"/>
          <p:cNvSpPr txBox="1"/>
          <p:nvPr/>
        </p:nvSpPr>
        <p:spPr>
          <a:xfrm>
            <a:off x="731520" y="7498080"/>
            <a:ext cx="1152144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A design that a compliance review can act on, with the advice line written down before the screens were built.</a:t>
            </a:r>
            <a:endParaRPr lang="en-US" sz="1700" dirty="0"/>
          </a:p>
        </p:txBody>
      </p:sp>
      <p:pic>
        <p:nvPicPr>
          <p:cNvPr id="16"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FinViz AI Screener · Decisions</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Decisions, including the ones I reversed</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Each call came from a review. The reasoning is kept in the full deck.</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Text 3"/>
          <p:cNvSpPr txBox="1"/>
          <p:nvPr/>
        </p:nvSpPr>
        <p:spPr>
          <a:xfrm>
            <a:off x="457200" y="256032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DECISION 1</a:t>
            </a:r>
            <a:endParaRPr lang="en-US" sz="1280" dirty="0"/>
          </a:p>
        </p:txBody>
      </p:sp>
      <p:sp>
        <p:nvSpPr>
          <p:cNvPr id="8" name="Text 4"/>
          <p:cNvSpPr txBox="1"/>
          <p:nvPr/>
        </p:nvSpPr>
        <p:spPr>
          <a:xfrm>
            <a:off x="45720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No chat box first</a:t>
            </a:r>
            <a:endParaRPr lang="en-US" sz="2400" dirty="0"/>
          </a:p>
        </p:txBody>
      </p:sp>
      <p:sp>
        <p:nvSpPr>
          <p:cNvPr id="9" name="Text 5"/>
          <p:cNvSpPr txBox="1"/>
          <p:nvPr/>
        </p:nvSpPr>
        <p:spPr>
          <a:xfrm>
            <a:off x="457200" y="365760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Imports and examples lead. Success must be timely, relevant and actionable.</a:t>
            </a:r>
            <a:endParaRPr lang="en-US" sz="1700" dirty="0"/>
          </a:p>
        </p:txBody>
      </p:sp>
      <p:sp>
        <p:nvSpPr>
          <p:cNvPr id="10" name="Text 6"/>
          <p:cNvSpPr txBox="1"/>
          <p:nvPr/>
        </p:nvSpPr>
        <p:spPr>
          <a:xfrm>
            <a:off x="6766560" y="2560320"/>
            <a:ext cx="56692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DECISION 2</a:t>
            </a:r>
            <a:endParaRPr lang="en-US" sz="1280" dirty="0"/>
          </a:p>
        </p:txBody>
      </p:sp>
      <p:sp>
        <p:nvSpPr>
          <p:cNvPr id="11" name="Text 7"/>
          <p:cNvSpPr txBox="1"/>
          <p:nvPr/>
        </p:nvSpPr>
        <p:spPr>
          <a:xfrm>
            <a:off x="676656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Set the advice line</a:t>
            </a:r>
            <a:endParaRPr lang="en-US" sz="2400" dirty="0"/>
          </a:p>
        </p:txBody>
      </p:sp>
      <p:sp>
        <p:nvSpPr>
          <p:cNvPr id="12" name="Text 8"/>
          <p:cNvSpPr txBox="1"/>
          <p:nvPr/>
        </p:nvSpPr>
        <p:spPr>
          <a:xfrm>
            <a:off x="6766560" y="365760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The AI never originates advice. Attributed analyst views sit behind a flag, pending compliance.</a:t>
            </a:r>
            <a:endParaRPr lang="en-US" sz="1700" dirty="0"/>
          </a:p>
        </p:txBody>
      </p:sp>
      <p:sp>
        <p:nvSpPr>
          <p:cNvPr id="13" name="Text 9"/>
          <p:cNvSpPr txBox="1"/>
          <p:nvPr/>
        </p:nvSpPr>
        <p:spPr>
          <a:xfrm>
            <a:off x="457200" y="594360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DECISION 3</a:t>
            </a:r>
            <a:endParaRPr lang="en-US" sz="1280" dirty="0"/>
          </a:p>
        </p:txBody>
      </p:sp>
      <p:sp>
        <p:nvSpPr>
          <p:cNvPr id="14" name="Text 10"/>
          <p:cNvSpPr txBox="1"/>
          <p:nvPr/>
        </p:nvSpPr>
        <p:spPr>
          <a:xfrm>
            <a:off x="45720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Lead with the trading day</a:t>
            </a:r>
            <a:endParaRPr lang="en-US" sz="2400" dirty="0"/>
          </a:p>
        </p:txBody>
      </p:sp>
      <p:sp>
        <p:nvSpPr>
          <p:cNvPr id="15" name="Text 11"/>
          <p:cNvSpPr txBox="1"/>
          <p:nvPr/>
        </p:nvSpPr>
        <p:spPr>
          <a:xfrm>
            <a:off x="457200" y="704088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Three concepts competed. The one that followed his real routine won.</a:t>
            </a:r>
            <a:endParaRPr lang="en-US" sz="1700" dirty="0"/>
          </a:p>
        </p:txBody>
      </p:sp>
      <p:sp>
        <p:nvSpPr>
          <p:cNvPr id="16" name="Text 12"/>
          <p:cNvSpPr txBox="1"/>
          <p:nvPr/>
        </p:nvSpPr>
        <p:spPr>
          <a:xfrm>
            <a:off x="6766560" y="594360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DECISION 4</a:t>
            </a:r>
            <a:endParaRPr lang="en-US" sz="1280" dirty="0"/>
          </a:p>
        </p:txBody>
      </p:sp>
      <p:sp>
        <p:nvSpPr>
          <p:cNvPr id="17" name="Text 13"/>
          <p:cNvSpPr txBox="1"/>
          <p:nvPr/>
        </p:nvSpPr>
        <p:spPr>
          <a:xfrm>
            <a:off x="676656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Map today’s onboarding first</a:t>
            </a:r>
            <a:endParaRPr lang="en-US" sz="2400" dirty="0"/>
          </a:p>
        </p:txBody>
      </p:sp>
      <p:sp>
        <p:nvSpPr>
          <p:cNvPr id="18" name="Text 14"/>
          <p:cNvSpPr txBox="1"/>
          <p:nvPr/>
        </p:nvSpPr>
        <p:spPr>
          <a:xfrm>
            <a:off x="6766560" y="704088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A live-site walk found an existing 7-day trial and 1-minute delayed quotes. Two assumptions were wrong.</a:t>
            </a:r>
            <a:endParaRPr lang="en-US" sz="1700" dirty="0"/>
          </a:p>
        </p:txBody>
      </p:sp>
      <p:pic>
        <p:nvPicPr>
          <p:cNvPr id="1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Leadership</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Leadership: how I set direction and made calls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Evidence from the project record, with dates where the record has them.</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560320"/>
            <a:ext cx="5852160" cy="1920240"/>
          </a:xfrm>
          <a:prstGeom prst="rect">
            <a:avLst/>
          </a:prstGeom>
          <a:solidFill>
            <a:srgbClr val="FFFFFF"/>
          </a:solidFill>
          <a:ln w="12700">
            <a:solidFill>
              <a:srgbClr val="E2E2E2"/>
            </a:solidFill>
            <a:prstDash val="solid"/>
          </a:ln>
        </p:spPr>
      </p:sp>
      <p:sp>
        <p:nvSpPr>
          <p:cNvPr id="8" name="Text 4"/>
          <p:cNvSpPr txBox="1"/>
          <p:nvPr/>
        </p:nvSpPr>
        <p:spPr>
          <a:xfrm>
            <a:off x="731520" y="2761488"/>
            <a:ext cx="5303520" cy="274320"/>
          </a:xfrm>
          <a:prstGeom prst="rect">
            <a:avLst/>
          </a:prstGeom>
          <a:noFill/>
          <a:ln/>
        </p:spPr>
        <p:txBody>
          <a:bodyPr wrap="square" lIns="0" tIns="0" rIns="0" bIns="0" rtlCol="0" anchor="t"/>
          <a:lstStyle/>
          <a:p>
            <a:pPr indent="0" marL="0">
              <a:buNone/>
            </a:pPr>
            <a:r>
              <a:rPr lang="en-US" sz="1280" b="1" spc="100" kern="0" dirty="0">
                <a:solidFill>
                  <a:srgbClr val="C45A35"/>
                </a:solidFill>
                <a:latin typeface="Helvetica Neue" pitchFamily="34" charset="0"/>
                <a:ea typeface="Helvetica Neue" pitchFamily="34" charset="-122"/>
                <a:cs typeface="Helvetica Neue" pitchFamily="34" charset="-120"/>
              </a:rPr>
              <a:t>SET THE DIRECTION</a:t>
            </a:r>
            <a:endParaRPr lang="en-US" sz="1280" dirty="0"/>
          </a:p>
        </p:txBody>
      </p:sp>
      <p:sp>
        <p:nvSpPr>
          <p:cNvPr id="9" name="Text 5"/>
          <p:cNvSpPr txBox="1"/>
          <p:nvPr/>
        </p:nvSpPr>
        <p:spPr>
          <a:xfrm>
            <a:off x="731520" y="3108960"/>
            <a:ext cx="530352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Logged 31 points from a four-reviewer review on 30 Sept. The organizing goal moved to time to first success.</a:t>
            </a:r>
            <a:endParaRPr lang="en-US" sz="1700" dirty="0"/>
          </a:p>
        </p:txBody>
      </p:sp>
      <p:sp>
        <p:nvSpPr>
          <p:cNvPr id="10" name="Shape 6"/>
          <p:cNvSpPr/>
          <p:nvPr/>
        </p:nvSpPr>
        <p:spPr>
          <a:xfrm>
            <a:off x="457200" y="4754880"/>
            <a:ext cx="5852160" cy="1920240"/>
          </a:xfrm>
          <a:prstGeom prst="rect">
            <a:avLst/>
          </a:prstGeom>
          <a:solidFill>
            <a:srgbClr val="FFFFFF"/>
          </a:solidFill>
          <a:ln w="12700">
            <a:solidFill>
              <a:srgbClr val="E2E2E2"/>
            </a:solidFill>
            <a:prstDash val="solid"/>
          </a:ln>
        </p:spPr>
      </p:sp>
      <p:sp>
        <p:nvSpPr>
          <p:cNvPr id="11" name="Text 7"/>
          <p:cNvSpPr txBox="1"/>
          <p:nvPr/>
        </p:nvSpPr>
        <p:spPr>
          <a:xfrm>
            <a:off x="731520" y="4956048"/>
            <a:ext cx="5303520" cy="274320"/>
          </a:xfrm>
          <a:prstGeom prst="rect">
            <a:avLst/>
          </a:prstGeom>
          <a:noFill/>
          <a:ln/>
        </p:spPr>
        <p:txBody>
          <a:bodyPr wrap="square" lIns="0" tIns="0" rIns="0" bIns="0" rtlCol="0" anchor="t"/>
          <a:lstStyle/>
          <a:p>
            <a:pPr indent="0" marL="0">
              <a:buNone/>
            </a:pPr>
            <a:r>
              <a:rPr lang="en-US" sz="1280" b="1" spc="100" kern="0" dirty="0">
                <a:solidFill>
                  <a:srgbClr val="5B3F96"/>
                </a:solidFill>
                <a:latin typeface="Helvetica Neue" pitchFamily="34" charset="0"/>
                <a:ea typeface="Helvetica Neue" pitchFamily="34" charset="-122"/>
                <a:cs typeface="Helvetica Neue" pitchFamily="34" charset="-120"/>
              </a:rPr>
              <a:t>MADE THE CALLS, DATED</a:t>
            </a:r>
            <a:endParaRPr lang="en-US" sz="1280" dirty="0"/>
          </a:p>
        </p:txBody>
      </p:sp>
      <p:sp>
        <p:nvSpPr>
          <p:cNvPr id="12" name="Text 8"/>
          <p:cNvSpPr txBox="1"/>
          <p:nvPr/>
        </p:nvSpPr>
        <p:spPr>
          <a:xfrm>
            <a:off x="731520" y="5303520"/>
            <a:ext cx="530352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Lead calls on 23 and 30 Sept, each written with its reason: no chat box first, set the advice line, lead with the trading day.</a:t>
            </a:r>
            <a:endParaRPr lang="en-US" sz="1700" dirty="0"/>
          </a:p>
        </p:txBody>
      </p:sp>
      <p:sp>
        <p:nvSpPr>
          <p:cNvPr id="13" name="Shape 9"/>
          <p:cNvSpPr/>
          <p:nvPr/>
        </p:nvSpPr>
        <p:spPr>
          <a:xfrm>
            <a:off x="457200" y="6949440"/>
            <a:ext cx="5852160" cy="1920240"/>
          </a:xfrm>
          <a:prstGeom prst="rect">
            <a:avLst/>
          </a:prstGeom>
          <a:solidFill>
            <a:srgbClr val="FFFFFF"/>
          </a:solidFill>
          <a:ln w="12700">
            <a:solidFill>
              <a:srgbClr val="E2E2E2"/>
            </a:solidFill>
            <a:prstDash val="solid"/>
          </a:ln>
        </p:spPr>
      </p:sp>
      <p:sp>
        <p:nvSpPr>
          <p:cNvPr id="14" name="Text 10"/>
          <p:cNvSpPr txBox="1"/>
          <p:nvPr/>
        </p:nvSpPr>
        <p:spPr>
          <a:xfrm>
            <a:off x="731520" y="7150608"/>
            <a:ext cx="5303520" cy="274320"/>
          </a:xfrm>
          <a:prstGeom prst="rect">
            <a:avLst/>
          </a:prstGeom>
          <a:noFill/>
          <a:ln/>
        </p:spPr>
        <p:txBody>
          <a:bodyPr wrap="square" lIns="0" tIns="0" rIns="0" bIns="0" rtlCol="0" anchor="t"/>
          <a:lstStyle/>
          <a:p>
            <a:pPr indent="0" marL="0">
              <a:buNone/>
            </a:pPr>
            <a:r>
              <a:rPr lang="en-US" sz="1280" b="1" spc="100" kern="0" dirty="0">
                <a:solidFill>
                  <a:srgbClr val="00868B"/>
                </a:solidFill>
                <a:latin typeface="Helvetica Neue" pitchFamily="34" charset="0"/>
                <a:ea typeface="Helvetica Neue" pitchFamily="34" charset="-122"/>
                <a:cs typeface="Helvetica Neue" pitchFamily="34" charset="-120"/>
              </a:rPr>
              <a:t>SET THE RULES ONCE</a:t>
            </a:r>
            <a:endParaRPr lang="en-US" sz="1280" dirty="0"/>
          </a:p>
        </p:txBody>
      </p:sp>
      <p:sp>
        <p:nvSpPr>
          <p:cNvPr id="15" name="Text 11"/>
          <p:cNvSpPr txBox="1"/>
          <p:nvPr/>
        </p:nvSpPr>
        <p:spPr>
          <a:xfrm>
            <a:off x="731520" y="7498080"/>
            <a:ext cx="530352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Rules in the project brief made every AI draft start compliant.</a:t>
            </a:r>
            <a:endParaRPr lang="en-US" sz="1700" dirty="0"/>
          </a:p>
        </p:txBody>
      </p:sp>
      <p:sp>
        <p:nvSpPr>
          <p:cNvPr id="16" name="Shape 12"/>
          <p:cNvSpPr/>
          <p:nvPr/>
        </p:nvSpPr>
        <p:spPr>
          <a:xfrm>
            <a:off x="6675120" y="2560320"/>
            <a:ext cx="5852160" cy="1920240"/>
          </a:xfrm>
          <a:prstGeom prst="rect">
            <a:avLst/>
          </a:prstGeom>
          <a:solidFill>
            <a:srgbClr val="FFFFFF"/>
          </a:solidFill>
          <a:ln w="12700">
            <a:solidFill>
              <a:srgbClr val="E2E2E2"/>
            </a:solidFill>
            <a:prstDash val="solid"/>
          </a:ln>
        </p:spPr>
      </p:sp>
      <p:sp>
        <p:nvSpPr>
          <p:cNvPr id="17" name="Text 13"/>
          <p:cNvSpPr txBox="1"/>
          <p:nvPr/>
        </p:nvSpPr>
        <p:spPr>
          <a:xfrm>
            <a:off x="6949440" y="2761488"/>
            <a:ext cx="5303520" cy="274320"/>
          </a:xfrm>
          <a:prstGeom prst="rect">
            <a:avLst/>
          </a:prstGeom>
          <a:noFill/>
          <a:ln/>
        </p:spPr>
        <p:txBody>
          <a:bodyPr wrap="square" lIns="0" tIns="0" rIns="0" bIns="0" rtlCol="0" anchor="t"/>
          <a:lstStyle/>
          <a:p>
            <a:pPr indent="0" marL="0">
              <a:buNone/>
            </a:pPr>
            <a:r>
              <a:rPr lang="en-US" sz="1280" b="1" spc="100" kern="0" dirty="0">
                <a:solidFill>
                  <a:srgbClr val="A12A37"/>
                </a:solidFill>
                <a:latin typeface="Helvetica Neue" pitchFamily="34" charset="0"/>
                <a:ea typeface="Helvetica Neue" pitchFamily="34" charset="-122"/>
                <a:cs typeface="Helvetica Neue" pitchFamily="34" charset="-120"/>
              </a:rPr>
              <a:t>RECONCILED, NOT OVERWRITTEN</a:t>
            </a:r>
            <a:endParaRPr lang="en-US" sz="1280" dirty="0"/>
          </a:p>
        </p:txBody>
      </p:sp>
      <p:sp>
        <p:nvSpPr>
          <p:cNvPr id="18" name="Text 14"/>
          <p:cNvSpPr txBox="1"/>
          <p:nvPr/>
        </p:nvSpPr>
        <p:spPr>
          <a:xfrm>
            <a:off x="6949440" y="3108960"/>
            <a:ext cx="530352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Teammates’ screens kept their best ideas. Only what broke the rules was cut.</a:t>
            </a:r>
            <a:endParaRPr lang="en-US" sz="1700" dirty="0"/>
          </a:p>
        </p:txBody>
      </p:sp>
      <p:sp>
        <p:nvSpPr>
          <p:cNvPr id="19" name="Shape 15"/>
          <p:cNvSpPr/>
          <p:nvPr/>
        </p:nvSpPr>
        <p:spPr>
          <a:xfrm>
            <a:off x="6675120" y="4754880"/>
            <a:ext cx="5852160" cy="1920240"/>
          </a:xfrm>
          <a:prstGeom prst="rect">
            <a:avLst/>
          </a:prstGeom>
          <a:solidFill>
            <a:srgbClr val="FFFFFF"/>
          </a:solidFill>
          <a:ln w="12700">
            <a:solidFill>
              <a:srgbClr val="E2E2E2"/>
            </a:solidFill>
            <a:prstDash val="solid"/>
          </a:ln>
        </p:spPr>
      </p:sp>
      <p:sp>
        <p:nvSpPr>
          <p:cNvPr id="20" name="Text 16"/>
          <p:cNvSpPr txBox="1"/>
          <p:nvPr/>
        </p:nvSpPr>
        <p:spPr>
          <a:xfrm>
            <a:off x="6949440" y="4956048"/>
            <a:ext cx="5303520" cy="274320"/>
          </a:xfrm>
          <a:prstGeom prst="rect">
            <a:avLst/>
          </a:prstGeom>
          <a:noFill/>
          <a:ln/>
        </p:spPr>
        <p:txBody>
          <a:bodyPr wrap="square" lIns="0" tIns="0" rIns="0" bIns="0" rtlCol="0" anchor="t"/>
          <a:lstStyle/>
          <a:p>
            <a:pPr indent="0" marL="0">
              <a:buNone/>
            </a:pPr>
            <a:r>
              <a:rPr lang="en-US" sz="1280" b="1" spc="100" kern="0" dirty="0">
                <a:solidFill>
                  <a:srgbClr val="3A7D55"/>
                </a:solidFill>
                <a:latin typeface="Helvetica Neue" pitchFamily="34" charset="0"/>
                <a:ea typeface="Helvetica Neue" pitchFamily="34" charset="-122"/>
                <a:cs typeface="Helvetica Neue" pitchFamily="34" charset="-120"/>
              </a:rPr>
              <a:t>KEPT OPEN DECISIONS VISIBLE</a:t>
            </a:r>
            <a:endParaRPr lang="en-US" sz="1280" dirty="0"/>
          </a:p>
        </p:txBody>
      </p:sp>
      <p:sp>
        <p:nvSpPr>
          <p:cNvPr id="21" name="Text 17"/>
          <p:cNvSpPr txBox="1"/>
          <p:nvPr/>
        </p:nvSpPr>
        <p:spPr>
          <a:xfrm>
            <a:off x="6949440" y="5303520"/>
            <a:ext cx="5303520" cy="123444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Meridian: open questions and decisions logged on the FigJam board, and settled items marked separately.</a:t>
            </a:r>
            <a:endParaRPr lang="en-US" sz="1700" dirty="0"/>
          </a:p>
        </p:txBody>
      </p:sp>
      <p:pic>
        <p:nvPicPr>
          <p:cNvPr id="22"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FinViz AI Screener · Validation</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I would validate next</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Planned, not run. Nothing here is a result yet.</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651760"/>
            <a:ext cx="420624" cy="420624"/>
          </a:xfrm>
          <a:prstGeom prst="ellipse">
            <a:avLst/>
          </a:prstGeom>
          <a:solidFill>
            <a:srgbClr val="00868B"/>
          </a:solidFill>
          <a:ln w="12700">
            <a:solidFill>
              <a:srgbClr val="00868B"/>
            </a:solidFill>
            <a:prstDash val="solid"/>
          </a:ln>
        </p:spPr>
      </p:sp>
      <p:sp>
        <p:nvSpPr>
          <p:cNvPr id="8" name="Text 4"/>
          <p:cNvSpPr txBox="1"/>
          <p:nvPr/>
        </p:nvSpPr>
        <p:spPr>
          <a:xfrm>
            <a:off x="457200" y="271576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9" name="Text 5"/>
          <p:cNvSpPr txBox="1"/>
          <p:nvPr/>
        </p:nvSpPr>
        <p:spPr>
          <a:xfrm>
            <a:off x="1188720" y="2670048"/>
            <a:ext cx="10515600" cy="45720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Think-aloud</a:t>
            </a:r>
            <a:endParaRPr lang="en-US" sz="2400" dirty="0"/>
          </a:p>
        </p:txBody>
      </p:sp>
      <p:sp>
        <p:nvSpPr>
          <p:cNvPr id="10" name="Text 6"/>
          <p:cNvSpPr txBox="1"/>
          <p:nvPr/>
        </p:nvSpPr>
        <p:spPr>
          <a:xfrm>
            <a:off x="1188720" y="3200400"/>
            <a:ext cx="10515600" cy="5486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5 users, on the first evening and the board</a:t>
            </a:r>
            <a:endParaRPr lang="en-US" sz="1700" dirty="0"/>
          </a:p>
        </p:txBody>
      </p:sp>
      <p:sp>
        <p:nvSpPr>
          <p:cNvPr id="11" name="Shape 7"/>
          <p:cNvSpPr/>
          <p:nvPr/>
        </p:nvSpPr>
        <p:spPr>
          <a:xfrm>
            <a:off x="457200" y="4297680"/>
            <a:ext cx="420624" cy="420624"/>
          </a:xfrm>
          <a:prstGeom prst="ellipse">
            <a:avLst/>
          </a:prstGeom>
          <a:solidFill>
            <a:srgbClr val="5B3F96"/>
          </a:solidFill>
          <a:ln w="12700">
            <a:solidFill>
              <a:srgbClr val="5B3F96"/>
            </a:solidFill>
            <a:prstDash val="solid"/>
          </a:ln>
        </p:spPr>
      </p:sp>
      <p:sp>
        <p:nvSpPr>
          <p:cNvPr id="12" name="Text 8"/>
          <p:cNvSpPr txBox="1"/>
          <p:nvPr/>
        </p:nvSpPr>
        <p:spPr>
          <a:xfrm>
            <a:off x="457200" y="436168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3" name="Text 9"/>
          <p:cNvSpPr txBox="1"/>
          <p:nvPr/>
        </p:nvSpPr>
        <p:spPr>
          <a:xfrm>
            <a:off x="1188720" y="4315968"/>
            <a:ext cx="10515600" cy="45720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Alert diary study</a:t>
            </a:r>
            <a:endParaRPr lang="en-US" sz="2400" dirty="0"/>
          </a:p>
        </p:txBody>
      </p:sp>
      <p:sp>
        <p:nvSpPr>
          <p:cNvPr id="14" name="Text 10"/>
          <p:cNvSpPr txBox="1"/>
          <p:nvPr/>
        </p:nvSpPr>
        <p:spPr>
          <a:xfrm>
            <a:off x="1188720" y="4846320"/>
            <a:ext cx="10515600" cy="5486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Two weeks of real alerts, logged by participants</a:t>
            </a:r>
            <a:endParaRPr lang="en-US" sz="1700" dirty="0"/>
          </a:p>
        </p:txBody>
      </p:sp>
      <p:sp>
        <p:nvSpPr>
          <p:cNvPr id="15" name="Shape 11"/>
          <p:cNvSpPr/>
          <p:nvPr/>
        </p:nvSpPr>
        <p:spPr>
          <a:xfrm>
            <a:off x="457200" y="5943600"/>
            <a:ext cx="420624" cy="420624"/>
          </a:xfrm>
          <a:prstGeom prst="ellipse">
            <a:avLst/>
          </a:prstGeom>
          <a:solidFill>
            <a:srgbClr val="C45A35"/>
          </a:solidFill>
          <a:ln w="12700">
            <a:solidFill>
              <a:srgbClr val="C45A35"/>
            </a:solidFill>
            <a:prstDash val="solid"/>
          </a:ln>
        </p:spPr>
      </p:sp>
      <p:sp>
        <p:nvSpPr>
          <p:cNvPr id="16" name="Text 12"/>
          <p:cNvSpPr txBox="1"/>
          <p:nvPr/>
        </p:nvSpPr>
        <p:spPr>
          <a:xfrm>
            <a:off x="457200" y="600760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7" name="Text 13"/>
          <p:cNvSpPr txBox="1"/>
          <p:nvPr/>
        </p:nvSpPr>
        <p:spPr>
          <a:xfrm>
            <a:off x="1188720" y="5961888"/>
            <a:ext cx="10515600" cy="45720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Labeled chart checks</a:t>
            </a:r>
            <a:endParaRPr lang="en-US" sz="2400" dirty="0"/>
          </a:p>
        </p:txBody>
      </p:sp>
      <p:sp>
        <p:nvSpPr>
          <p:cNvPr id="18" name="Text 14"/>
          <p:cNvSpPr txBox="1"/>
          <p:nvPr/>
        </p:nvSpPr>
        <p:spPr>
          <a:xfrm>
            <a:off x="1188720" y="6492240"/>
            <a:ext cx="10515600" cy="5486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Weekly audits, with a target of under 1% wrong among clear detections</a:t>
            </a:r>
            <a:endParaRPr lang="en-US" sz="1700" dirty="0"/>
          </a:p>
        </p:txBody>
      </p:sp>
      <p:sp>
        <p:nvSpPr>
          <p:cNvPr id="19" name="Shape 15"/>
          <p:cNvSpPr/>
          <p:nvPr/>
        </p:nvSpPr>
        <p:spPr>
          <a:xfrm>
            <a:off x="457200" y="7589520"/>
            <a:ext cx="420624" cy="420624"/>
          </a:xfrm>
          <a:prstGeom prst="ellipse">
            <a:avLst/>
          </a:prstGeom>
          <a:solidFill>
            <a:srgbClr val="A12A37"/>
          </a:solidFill>
          <a:ln w="12700">
            <a:solidFill>
              <a:srgbClr val="A12A37"/>
            </a:solidFill>
            <a:prstDash val="solid"/>
          </a:ln>
        </p:spPr>
      </p:sp>
      <p:sp>
        <p:nvSpPr>
          <p:cNvPr id="20" name="Text 16"/>
          <p:cNvSpPr txBox="1"/>
          <p:nvPr/>
        </p:nvSpPr>
        <p:spPr>
          <a:xfrm>
            <a:off x="457200" y="76535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1" name="Text 17"/>
          <p:cNvSpPr txBox="1"/>
          <p:nvPr/>
        </p:nvSpPr>
        <p:spPr>
          <a:xfrm>
            <a:off x="1188720" y="7607808"/>
            <a:ext cx="10515600" cy="45720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Compliance review</a:t>
            </a:r>
            <a:endParaRPr lang="en-US" sz="2400" dirty="0"/>
          </a:p>
        </p:txBody>
      </p:sp>
      <p:sp>
        <p:nvSpPr>
          <p:cNvPr id="22" name="Text 18"/>
          <p:cNvSpPr txBox="1"/>
          <p:nvPr/>
        </p:nvSpPr>
        <p:spPr>
          <a:xfrm>
            <a:off x="1188720" y="8138160"/>
            <a:ext cx="10515600" cy="54864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The advice line and the trial timing, before any launch</a:t>
            </a:r>
            <a:endParaRPr lang="en-US" sz="1700" dirty="0"/>
          </a:p>
        </p:txBody>
      </p:sp>
      <p:pic>
        <p:nvPicPr>
          <p:cNvPr id="23"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Meridian Navigator · Solution</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Meridian: a trade and AI flow, prototyped in Figma</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Five core screens, each answering one question. Outcomes are not yet measured.</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468880"/>
            <a:ext cx="2535936" cy="5486400"/>
          </a:xfrm>
          <a:prstGeom prst="rect">
            <a:avLst/>
          </a:prstGeom>
          <a:solidFill>
            <a:srgbClr val="14161D"/>
          </a:solidFill>
          <a:ln w="12700">
            <a:solidFill>
              <a:srgbClr val="14161D"/>
            </a:solidFill>
            <a:prstDash val="solid"/>
          </a:ln>
        </p:spPr>
      </p:sp>
      <p:pic>
        <p:nvPicPr>
          <p:cNvPr id="8" name="Image 1" descr="/tmp/meridian-deck/img/dash.png">    </p:cNvPr>
          <p:cNvPicPr>
            <a:picLocks noChangeAspect="1"/>
          </p:cNvPicPr>
          <p:nvPr/>
        </p:nvPicPr>
        <p:blipFill>
          <a:blip r:embed="rId2"/>
          <a:stretch>
            <a:fillRect/>
          </a:stretch>
        </p:blipFill>
        <p:spPr>
          <a:xfrm>
            <a:off x="457200" y="2468880"/>
            <a:ext cx="2535936" cy="5486400"/>
          </a:xfrm>
          <a:prstGeom prst="rect">
            <a:avLst/>
          </a:prstGeom>
        </p:spPr>
      </p:pic>
      <p:sp>
        <p:nvSpPr>
          <p:cNvPr id="9" name="Text 4"/>
          <p:cNvSpPr txBox="1"/>
          <p:nvPr/>
        </p:nvSpPr>
        <p:spPr>
          <a:xfrm>
            <a:off x="457200" y="8138160"/>
            <a:ext cx="2535936"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Dashboard</a:t>
            </a:r>
            <a:endParaRPr lang="en-US" sz="1500" dirty="0"/>
          </a:p>
        </p:txBody>
      </p:sp>
      <p:sp>
        <p:nvSpPr>
          <p:cNvPr id="10" name="Text 5"/>
          <p:cNvSpPr txBox="1"/>
          <p:nvPr/>
        </p:nvSpPr>
        <p:spPr>
          <a:xfrm>
            <a:off x="457200" y="8503920"/>
            <a:ext cx="2535936" cy="45720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What do I own today?</a:t>
            </a:r>
            <a:endParaRPr lang="en-US" sz="1600" dirty="0"/>
          </a:p>
        </p:txBody>
      </p:sp>
      <p:sp>
        <p:nvSpPr>
          <p:cNvPr id="11" name="Shape 6"/>
          <p:cNvSpPr/>
          <p:nvPr/>
        </p:nvSpPr>
        <p:spPr>
          <a:xfrm>
            <a:off x="3358896" y="2468880"/>
            <a:ext cx="2535936" cy="5486400"/>
          </a:xfrm>
          <a:prstGeom prst="rect">
            <a:avLst/>
          </a:prstGeom>
          <a:solidFill>
            <a:srgbClr val="14161D"/>
          </a:solidFill>
          <a:ln w="12700">
            <a:solidFill>
              <a:srgbClr val="14161D"/>
            </a:solidFill>
            <a:prstDash val="solid"/>
          </a:ln>
        </p:spPr>
      </p:sp>
      <p:pic>
        <p:nvPicPr>
          <p:cNvPr id="12" name="Image 2" descr="/tmp/meridian-deck/img/insight.png">    </p:cNvPr>
          <p:cNvPicPr>
            <a:picLocks noChangeAspect="1"/>
          </p:cNvPicPr>
          <p:nvPr/>
        </p:nvPicPr>
        <p:blipFill>
          <a:blip r:embed="rId3"/>
          <a:stretch>
            <a:fillRect/>
          </a:stretch>
        </p:blipFill>
        <p:spPr>
          <a:xfrm>
            <a:off x="3358896" y="2468880"/>
            <a:ext cx="2535936" cy="5486400"/>
          </a:xfrm>
          <a:prstGeom prst="rect">
            <a:avLst/>
          </a:prstGeom>
        </p:spPr>
      </p:pic>
      <p:sp>
        <p:nvSpPr>
          <p:cNvPr id="13" name="Text 7"/>
          <p:cNvSpPr txBox="1"/>
          <p:nvPr/>
        </p:nvSpPr>
        <p:spPr>
          <a:xfrm>
            <a:off x="3358896" y="8138160"/>
            <a:ext cx="2535936"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Insight</a:t>
            </a:r>
            <a:endParaRPr lang="en-US" sz="1500" dirty="0"/>
          </a:p>
        </p:txBody>
      </p:sp>
      <p:sp>
        <p:nvSpPr>
          <p:cNvPr id="14" name="Text 8"/>
          <p:cNvSpPr txBox="1"/>
          <p:nvPr/>
        </p:nvSpPr>
        <p:spPr>
          <a:xfrm>
            <a:off x="3358896" y="8503920"/>
            <a:ext cx="2535936" cy="45720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What moved, and why?</a:t>
            </a:r>
            <a:endParaRPr lang="en-US" sz="1600" dirty="0"/>
          </a:p>
        </p:txBody>
      </p:sp>
      <p:sp>
        <p:nvSpPr>
          <p:cNvPr id="15" name="Shape 9"/>
          <p:cNvSpPr/>
          <p:nvPr/>
        </p:nvSpPr>
        <p:spPr>
          <a:xfrm>
            <a:off x="6260592" y="2468880"/>
            <a:ext cx="2535936" cy="5486400"/>
          </a:xfrm>
          <a:prstGeom prst="rect">
            <a:avLst/>
          </a:prstGeom>
          <a:solidFill>
            <a:srgbClr val="14161D"/>
          </a:solidFill>
          <a:ln w="12700">
            <a:solidFill>
              <a:srgbClr val="14161D"/>
            </a:solidFill>
            <a:prstDash val="solid"/>
          </a:ln>
        </p:spPr>
      </p:sp>
      <p:pic>
        <p:nvPicPr>
          <p:cNvPr id="16" name="Image 3" descr="/tmp/meridian-deck/img/guard.png">    </p:cNvPr>
          <p:cNvPicPr>
            <a:picLocks noChangeAspect="1"/>
          </p:cNvPicPr>
          <p:nvPr/>
        </p:nvPicPr>
        <p:blipFill>
          <a:blip r:embed="rId4"/>
          <a:stretch>
            <a:fillRect/>
          </a:stretch>
        </p:blipFill>
        <p:spPr>
          <a:xfrm>
            <a:off x="6260592" y="2468880"/>
            <a:ext cx="2535936" cy="5486400"/>
          </a:xfrm>
          <a:prstGeom prst="rect">
            <a:avLst/>
          </a:prstGeom>
        </p:spPr>
      </p:pic>
      <p:sp>
        <p:nvSpPr>
          <p:cNvPr id="17" name="Text 10"/>
          <p:cNvSpPr txBox="1"/>
          <p:nvPr/>
        </p:nvSpPr>
        <p:spPr>
          <a:xfrm>
            <a:off x="6260592" y="8138160"/>
            <a:ext cx="2535936"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Guard</a:t>
            </a:r>
            <a:endParaRPr lang="en-US" sz="1500" dirty="0"/>
          </a:p>
        </p:txBody>
      </p:sp>
      <p:sp>
        <p:nvSpPr>
          <p:cNvPr id="18" name="Text 11"/>
          <p:cNvSpPr txBox="1"/>
          <p:nvPr/>
        </p:nvSpPr>
        <p:spPr>
          <a:xfrm>
            <a:off x="6260592" y="8503920"/>
            <a:ext cx="2535936" cy="45720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What needs my attention?</a:t>
            </a:r>
            <a:endParaRPr lang="en-US" sz="1600" dirty="0"/>
          </a:p>
        </p:txBody>
      </p:sp>
      <p:sp>
        <p:nvSpPr>
          <p:cNvPr id="19" name="Shape 12"/>
          <p:cNvSpPr/>
          <p:nvPr/>
        </p:nvSpPr>
        <p:spPr>
          <a:xfrm>
            <a:off x="9436608" y="2468880"/>
            <a:ext cx="3110789" cy="1828800"/>
          </a:xfrm>
          <a:prstGeom prst="rect">
            <a:avLst/>
          </a:prstGeom>
          <a:solidFill>
            <a:srgbClr val="FFFFFF"/>
          </a:solidFill>
          <a:ln w="12700">
            <a:solidFill>
              <a:srgbClr val="E2E2E2"/>
            </a:solidFill>
            <a:prstDash val="solid"/>
          </a:ln>
        </p:spPr>
      </p:sp>
      <p:sp>
        <p:nvSpPr>
          <p:cNvPr id="20" name="Text 13"/>
          <p:cNvSpPr txBox="1"/>
          <p:nvPr/>
        </p:nvSpPr>
        <p:spPr>
          <a:xfrm>
            <a:off x="9710928" y="2670048"/>
            <a:ext cx="2562149" cy="274320"/>
          </a:xfrm>
          <a:prstGeom prst="rect">
            <a:avLst/>
          </a:prstGeom>
          <a:noFill/>
          <a:ln/>
        </p:spPr>
        <p:txBody>
          <a:bodyPr wrap="square" lIns="0" tIns="0" rIns="0" bIns="0" rtlCol="0" anchor="t"/>
          <a:lstStyle/>
          <a:p>
            <a:pPr indent="0" marL="0">
              <a:buNone/>
            </a:pPr>
            <a:r>
              <a:rPr lang="en-US" sz="1280" b="1" spc="100" kern="0" dirty="0">
                <a:solidFill>
                  <a:srgbClr val="C45A35"/>
                </a:solidFill>
                <a:latin typeface="Helvetica Neue" pitchFamily="34" charset="0"/>
                <a:ea typeface="Helvetica Neue" pitchFamily="34" charset="-122"/>
                <a:cs typeface="Helvetica Neue" pitchFamily="34" charset="-120"/>
              </a:rPr>
              <a:t>PROBLEM</a:t>
            </a:r>
            <a:endParaRPr lang="en-US" sz="1280" dirty="0"/>
          </a:p>
        </p:txBody>
      </p:sp>
      <p:sp>
        <p:nvSpPr>
          <p:cNvPr id="21" name="Text 14"/>
          <p:cNvSpPr txBox="1"/>
          <p:nvPr/>
        </p:nvSpPr>
        <p:spPr>
          <a:xfrm>
            <a:off x="9710928" y="3017520"/>
            <a:ext cx="2562149" cy="114300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Research, order entry and monitoring live in separate tools.</a:t>
            </a:r>
            <a:endParaRPr lang="en-US" sz="1700" dirty="0"/>
          </a:p>
        </p:txBody>
      </p:sp>
      <p:sp>
        <p:nvSpPr>
          <p:cNvPr id="22" name="Shape 15"/>
          <p:cNvSpPr/>
          <p:nvPr/>
        </p:nvSpPr>
        <p:spPr>
          <a:xfrm>
            <a:off x="9436608" y="4480560"/>
            <a:ext cx="3110789" cy="1828800"/>
          </a:xfrm>
          <a:prstGeom prst="rect">
            <a:avLst/>
          </a:prstGeom>
          <a:solidFill>
            <a:srgbClr val="FFFFFF"/>
          </a:solidFill>
          <a:ln w="12700">
            <a:solidFill>
              <a:srgbClr val="E2E2E2"/>
            </a:solidFill>
            <a:prstDash val="solid"/>
          </a:ln>
        </p:spPr>
      </p:sp>
      <p:sp>
        <p:nvSpPr>
          <p:cNvPr id="23" name="Text 16"/>
          <p:cNvSpPr txBox="1"/>
          <p:nvPr/>
        </p:nvSpPr>
        <p:spPr>
          <a:xfrm>
            <a:off x="9710928" y="4681728"/>
            <a:ext cx="2562149" cy="274320"/>
          </a:xfrm>
          <a:prstGeom prst="rect">
            <a:avLst/>
          </a:prstGeom>
          <a:noFill/>
          <a:ln/>
        </p:spPr>
        <p:txBody>
          <a:bodyPr wrap="square" lIns="0" tIns="0" rIns="0" bIns="0" rtlCol="0" anchor="t"/>
          <a:lstStyle/>
          <a:p>
            <a:pPr indent="0" marL="0">
              <a:buNone/>
            </a:pPr>
            <a:r>
              <a:rPr lang="en-US" sz="1280" b="1" spc="100" kern="0" dirty="0">
                <a:solidFill>
                  <a:srgbClr val="5B3F96"/>
                </a:solidFill>
                <a:latin typeface="Helvetica Neue" pitchFamily="34" charset="0"/>
                <a:ea typeface="Helvetica Neue" pitchFamily="34" charset="-122"/>
                <a:cs typeface="Helvetica Neue" pitchFamily="34" charset="-120"/>
              </a:rPr>
              <a:t>DECISION</a:t>
            </a:r>
            <a:endParaRPr lang="en-US" sz="1280" dirty="0"/>
          </a:p>
        </p:txBody>
      </p:sp>
      <p:sp>
        <p:nvSpPr>
          <p:cNvPr id="24" name="Text 17"/>
          <p:cNvSpPr txBox="1"/>
          <p:nvPr/>
        </p:nvSpPr>
        <p:spPr>
          <a:xfrm>
            <a:off x="9710928" y="5029200"/>
            <a:ext cx="2562149" cy="114300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Put trade flows and AI screens in one app, with mock data.</a:t>
            </a:r>
            <a:endParaRPr lang="en-US" sz="1700" dirty="0"/>
          </a:p>
        </p:txBody>
      </p:sp>
      <p:sp>
        <p:nvSpPr>
          <p:cNvPr id="25" name="Shape 18"/>
          <p:cNvSpPr/>
          <p:nvPr/>
        </p:nvSpPr>
        <p:spPr>
          <a:xfrm>
            <a:off x="9436608" y="6492240"/>
            <a:ext cx="3110789" cy="1828800"/>
          </a:xfrm>
          <a:prstGeom prst="rect">
            <a:avLst/>
          </a:prstGeom>
          <a:solidFill>
            <a:srgbClr val="FFFFFF"/>
          </a:solidFill>
          <a:ln w="12700">
            <a:solidFill>
              <a:srgbClr val="E2E2E2"/>
            </a:solidFill>
            <a:prstDash val="solid"/>
          </a:ln>
        </p:spPr>
      </p:sp>
      <p:sp>
        <p:nvSpPr>
          <p:cNvPr id="26" name="Text 19"/>
          <p:cNvSpPr txBox="1"/>
          <p:nvPr/>
        </p:nvSpPr>
        <p:spPr>
          <a:xfrm>
            <a:off x="9710928" y="6693408"/>
            <a:ext cx="2562149" cy="274320"/>
          </a:xfrm>
          <a:prstGeom prst="rect">
            <a:avLst/>
          </a:prstGeom>
          <a:noFill/>
          <a:ln/>
        </p:spPr>
        <p:txBody>
          <a:bodyPr wrap="square" lIns="0" tIns="0" rIns="0" bIns="0" rtlCol="0" anchor="t"/>
          <a:lstStyle/>
          <a:p>
            <a:pPr indent="0" marL="0">
              <a:buNone/>
            </a:pPr>
            <a:r>
              <a:rPr lang="en-US" sz="1280" b="1" spc="100" kern="0" dirty="0">
                <a:solidFill>
                  <a:srgbClr val="00868B"/>
                </a:solidFill>
                <a:latin typeface="Helvetica Neue" pitchFamily="34" charset="0"/>
                <a:ea typeface="Helvetica Neue" pitchFamily="34" charset="-122"/>
                <a:cs typeface="Helvetica Neue" pitchFamily="34" charset="-120"/>
              </a:rPr>
              <a:t>RESULT</a:t>
            </a:r>
            <a:endParaRPr lang="en-US" sz="1280" dirty="0"/>
          </a:p>
        </p:txBody>
      </p:sp>
      <p:sp>
        <p:nvSpPr>
          <p:cNvPr id="27" name="Text 20"/>
          <p:cNvSpPr txBox="1"/>
          <p:nvPr/>
        </p:nvSpPr>
        <p:spPr>
          <a:xfrm>
            <a:off x="9710928" y="7040880"/>
            <a:ext cx="2562149" cy="1143000"/>
          </a:xfrm>
          <a:prstGeom prst="rect">
            <a:avLst/>
          </a:prstGeom>
          <a:noFill/>
          <a:ln/>
        </p:spPr>
        <p:txBody>
          <a:bodyPr wrap="square" lIns="0" tIns="0" rIns="0" bIns="0" rtlCol="0" anchor="t"/>
          <a:lstStyle/>
          <a:p>
            <a:pPr indent="0" marL="0">
              <a:buNone/>
            </a:pPr>
            <a:r>
              <a:rPr lang="en-US" sz="1700" dirty="0">
                <a:solidFill>
                  <a:srgbClr val="1F1F1F"/>
                </a:solidFill>
                <a:latin typeface="Helvetica Neue Light" pitchFamily="34" charset="0"/>
                <a:ea typeface="Helvetica Neue Light" pitchFamily="34" charset="-122"/>
                <a:cs typeface="Helvetica Neue Light" pitchFamily="34" charset="-120"/>
              </a:rPr>
              <a:t>A clickable prototype. Outcomes not yet measured.</a:t>
            </a:r>
            <a:endParaRPr lang="en-US" sz="1700" dirty="0"/>
          </a:p>
        </p:txBody>
      </p:sp>
      <p:pic>
        <p:nvPicPr>
          <p:cNvPr id="28" name="Image 4" descr="/tmp/meridian-deck/img/band-footer.png">    </p:cNvPr>
          <p:cNvPicPr>
            <a:picLocks noChangeAspect="1"/>
          </p:cNvPicPr>
          <p:nvPr/>
        </p:nvPicPr>
        <p:blipFill>
          <a:blip r:embed="rId5"/>
          <a:stretch>
            <a:fillRect/>
          </a:stretch>
        </p:blipFill>
        <p:spPr>
          <a:xfrm>
            <a:off x="0" y="9281160"/>
            <a:ext cx="13004597" cy="46634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Meridian Navigator · States</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Designing for the states that mocked data hides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Dashboard in four states. The other four screens follow the same pattern.</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286000"/>
            <a:ext cx="2620467" cy="5669280"/>
          </a:xfrm>
          <a:prstGeom prst="rect">
            <a:avLst/>
          </a:prstGeom>
          <a:solidFill>
            <a:srgbClr val="14161D"/>
          </a:solidFill>
          <a:ln w="12700">
            <a:solidFill>
              <a:srgbClr val="14161D"/>
            </a:solidFill>
            <a:prstDash val="solid"/>
          </a:ln>
        </p:spPr>
      </p:sp>
      <p:pic>
        <p:nvPicPr>
          <p:cNvPr id="8" name="Image 1" descr="/tmp/meridian-deck/img/wf-dash-empty.png">    </p:cNvPr>
          <p:cNvPicPr>
            <a:picLocks noChangeAspect="1"/>
          </p:cNvPicPr>
          <p:nvPr/>
        </p:nvPicPr>
        <p:blipFill>
          <a:blip r:embed="rId2"/>
          <a:stretch>
            <a:fillRect/>
          </a:stretch>
        </p:blipFill>
        <p:spPr>
          <a:xfrm>
            <a:off x="457200" y="2286000"/>
            <a:ext cx="2620467" cy="5669280"/>
          </a:xfrm>
          <a:prstGeom prst="rect">
            <a:avLst/>
          </a:prstGeom>
        </p:spPr>
      </p:pic>
      <p:sp>
        <p:nvSpPr>
          <p:cNvPr id="9" name="Text 4"/>
          <p:cNvSpPr txBox="1"/>
          <p:nvPr/>
        </p:nvSpPr>
        <p:spPr>
          <a:xfrm>
            <a:off x="457200" y="8138160"/>
            <a:ext cx="2620467" cy="320040"/>
          </a:xfrm>
          <a:prstGeom prst="rect">
            <a:avLst/>
          </a:prstGeom>
          <a:noFill/>
          <a:ln/>
        </p:spPr>
        <p:txBody>
          <a:bodyPr wrap="square" lIns="0" tIns="0" rIns="0" bIns="0" rtlCol="0" anchor="t"/>
          <a:lstStyle/>
          <a:p>
            <a:pPr indent="0" marL="0">
              <a:buNone/>
            </a:pPr>
            <a:r>
              <a:rPr lang="en-US" sz="1500" dirty="0">
                <a:solidFill>
                  <a:srgbClr val="1F1F1F"/>
                </a:solidFill>
                <a:latin typeface="Helvetica Neue" pitchFamily="34" charset="0"/>
                <a:ea typeface="Helvetica Neue" pitchFamily="34" charset="-122"/>
                <a:cs typeface="Helvetica Neue" pitchFamily="34" charset="-120"/>
              </a:rPr>
              <a:t>Empty</a:t>
            </a:r>
            <a:endParaRPr lang="en-US" sz="1500" dirty="0"/>
          </a:p>
        </p:txBody>
      </p:sp>
      <p:sp>
        <p:nvSpPr>
          <p:cNvPr id="10" name="Text 5"/>
          <p:cNvSpPr txBox="1"/>
          <p:nvPr/>
        </p:nvSpPr>
        <p:spPr>
          <a:xfrm>
            <a:off x="457200" y="8458200"/>
            <a:ext cx="2620467"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No holdings yet. One clear next step.</a:t>
            </a:r>
            <a:endParaRPr lang="en-US" sz="1600" dirty="0"/>
          </a:p>
        </p:txBody>
      </p:sp>
      <p:sp>
        <p:nvSpPr>
          <p:cNvPr id="11" name="Shape 6"/>
          <p:cNvSpPr/>
          <p:nvPr/>
        </p:nvSpPr>
        <p:spPr>
          <a:xfrm>
            <a:off x="3613777" y="2286000"/>
            <a:ext cx="2620467" cy="5669280"/>
          </a:xfrm>
          <a:prstGeom prst="rect">
            <a:avLst/>
          </a:prstGeom>
          <a:solidFill>
            <a:srgbClr val="14161D"/>
          </a:solidFill>
          <a:ln w="12700">
            <a:solidFill>
              <a:srgbClr val="14161D"/>
            </a:solidFill>
            <a:prstDash val="solid"/>
          </a:ln>
        </p:spPr>
      </p:sp>
      <p:pic>
        <p:nvPicPr>
          <p:cNvPr id="12" name="Image 2" descr="/tmp/meridian-deck/img/wf-dash-loading.png">    </p:cNvPr>
          <p:cNvPicPr>
            <a:picLocks noChangeAspect="1"/>
          </p:cNvPicPr>
          <p:nvPr/>
        </p:nvPicPr>
        <p:blipFill>
          <a:blip r:embed="rId3"/>
          <a:stretch>
            <a:fillRect/>
          </a:stretch>
        </p:blipFill>
        <p:spPr>
          <a:xfrm>
            <a:off x="3613777" y="2286000"/>
            <a:ext cx="2620467" cy="5669280"/>
          </a:xfrm>
          <a:prstGeom prst="rect">
            <a:avLst/>
          </a:prstGeom>
        </p:spPr>
      </p:pic>
      <p:sp>
        <p:nvSpPr>
          <p:cNvPr id="13" name="Text 7"/>
          <p:cNvSpPr txBox="1"/>
          <p:nvPr/>
        </p:nvSpPr>
        <p:spPr>
          <a:xfrm>
            <a:off x="3613777" y="8138160"/>
            <a:ext cx="2620467" cy="320040"/>
          </a:xfrm>
          <a:prstGeom prst="rect">
            <a:avLst/>
          </a:prstGeom>
          <a:noFill/>
          <a:ln/>
        </p:spPr>
        <p:txBody>
          <a:bodyPr wrap="square" lIns="0" tIns="0" rIns="0" bIns="0" rtlCol="0" anchor="t"/>
          <a:lstStyle/>
          <a:p>
            <a:pPr indent="0" marL="0">
              <a:buNone/>
            </a:pPr>
            <a:r>
              <a:rPr lang="en-US" sz="1500" dirty="0">
                <a:solidFill>
                  <a:srgbClr val="00868B"/>
                </a:solidFill>
                <a:latin typeface="Helvetica Neue" pitchFamily="34" charset="0"/>
                <a:ea typeface="Helvetica Neue" pitchFamily="34" charset="-122"/>
                <a:cs typeface="Helvetica Neue" pitchFamily="34" charset="-120"/>
              </a:rPr>
              <a:t>Loading</a:t>
            </a:r>
            <a:endParaRPr lang="en-US" sz="1500" dirty="0"/>
          </a:p>
        </p:txBody>
      </p:sp>
      <p:sp>
        <p:nvSpPr>
          <p:cNvPr id="14" name="Text 8"/>
          <p:cNvSpPr txBox="1"/>
          <p:nvPr/>
        </p:nvSpPr>
        <p:spPr>
          <a:xfrm>
            <a:off x="3613777" y="8458200"/>
            <a:ext cx="2620467"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Skeleton cards hold the layout while data loads.</a:t>
            </a:r>
            <a:endParaRPr lang="en-US" sz="1600" dirty="0"/>
          </a:p>
        </p:txBody>
      </p:sp>
      <p:sp>
        <p:nvSpPr>
          <p:cNvPr id="15" name="Shape 9"/>
          <p:cNvSpPr/>
          <p:nvPr/>
        </p:nvSpPr>
        <p:spPr>
          <a:xfrm>
            <a:off x="6770353" y="2286000"/>
            <a:ext cx="2620467" cy="5669280"/>
          </a:xfrm>
          <a:prstGeom prst="rect">
            <a:avLst/>
          </a:prstGeom>
          <a:solidFill>
            <a:srgbClr val="14161D"/>
          </a:solidFill>
          <a:ln w="12700">
            <a:solidFill>
              <a:srgbClr val="14161D"/>
            </a:solidFill>
            <a:prstDash val="solid"/>
          </a:ln>
        </p:spPr>
      </p:sp>
      <p:pic>
        <p:nvPicPr>
          <p:cNvPr id="16" name="Image 3" descr="/tmp/meridian-deck/img/wf-dash-error.png">    </p:cNvPr>
          <p:cNvPicPr>
            <a:picLocks noChangeAspect="1"/>
          </p:cNvPicPr>
          <p:nvPr/>
        </p:nvPicPr>
        <p:blipFill>
          <a:blip r:embed="rId4"/>
          <a:stretch>
            <a:fillRect/>
          </a:stretch>
        </p:blipFill>
        <p:spPr>
          <a:xfrm>
            <a:off x="6770353" y="2286000"/>
            <a:ext cx="2620467" cy="5669280"/>
          </a:xfrm>
          <a:prstGeom prst="rect">
            <a:avLst/>
          </a:prstGeom>
        </p:spPr>
      </p:pic>
      <p:sp>
        <p:nvSpPr>
          <p:cNvPr id="17" name="Text 10"/>
          <p:cNvSpPr txBox="1"/>
          <p:nvPr/>
        </p:nvSpPr>
        <p:spPr>
          <a:xfrm>
            <a:off x="6770353" y="8138160"/>
            <a:ext cx="2620467" cy="320040"/>
          </a:xfrm>
          <a:prstGeom prst="rect">
            <a:avLst/>
          </a:prstGeom>
          <a:noFill/>
          <a:ln/>
        </p:spPr>
        <p:txBody>
          <a:bodyPr wrap="square" lIns="0" tIns="0" rIns="0" bIns="0" rtlCol="0" anchor="t"/>
          <a:lstStyle/>
          <a:p>
            <a:pPr indent="0" marL="0">
              <a:buNone/>
            </a:pPr>
            <a:r>
              <a:rPr lang="en-US" sz="1500" dirty="0">
                <a:solidFill>
                  <a:srgbClr val="A12A37"/>
                </a:solidFill>
                <a:latin typeface="Helvetica Neue" pitchFamily="34" charset="0"/>
                <a:ea typeface="Helvetica Neue" pitchFamily="34" charset="-122"/>
                <a:cs typeface="Helvetica Neue" pitchFamily="34" charset="-120"/>
              </a:rPr>
              <a:t>Error</a:t>
            </a:r>
            <a:endParaRPr lang="en-US" sz="1500" dirty="0"/>
          </a:p>
        </p:txBody>
      </p:sp>
      <p:sp>
        <p:nvSpPr>
          <p:cNvPr id="18" name="Text 11"/>
          <p:cNvSpPr txBox="1"/>
          <p:nvPr/>
        </p:nvSpPr>
        <p:spPr>
          <a:xfrm>
            <a:off x="6770353" y="8458200"/>
            <a:ext cx="2620467"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Says what failed and offers a retry.</a:t>
            </a:r>
            <a:endParaRPr lang="en-US" sz="1600" dirty="0"/>
          </a:p>
        </p:txBody>
      </p:sp>
      <p:sp>
        <p:nvSpPr>
          <p:cNvPr id="19" name="Shape 12"/>
          <p:cNvSpPr/>
          <p:nvPr/>
        </p:nvSpPr>
        <p:spPr>
          <a:xfrm>
            <a:off x="9926930" y="2286000"/>
            <a:ext cx="2620467" cy="5669280"/>
          </a:xfrm>
          <a:prstGeom prst="rect">
            <a:avLst/>
          </a:prstGeom>
          <a:solidFill>
            <a:srgbClr val="14161D"/>
          </a:solidFill>
          <a:ln w="12700">
            <a:solidFill>
              <a:srgbClr val="14161D"/>
            </a:solidFill>
            <a:prstDash val="solid"/>
          </a:ln>
        </p:spPr>
      </p:sp>
      <p:pic>
        <p:nvPicPr>
          <p:cNvPr id="20" name="Image 4" descr="/tmp/meridian-deck/img/wf-dash-offline.png">    </p:cNvPr>
          <p:cNvPicPr>
            <a:picLocks noChangeAspect="1"/>
          </p:cNvPicPr>
          <p:nvPr/>
        </p:nvPicPr>
        <p:blipFill>
          <a:blip r:embed="rId5"/>
          <a:stretch>
            <a:fillRect/>
          </a:stretch>
        </p:blipFill>
        <p:spPr>
          <a:xfrm>
            <a:off x="9926930" y="2286000"/>
            <a:ext cx="2620467" cy="5669280"/>
          </a:xfrm>
          <a:prstGeom prst="rect">
            <a:avLst/>
          </a:prstGeom>
        </p:spPr>
      </p:pic>
      <p:sp>
        <p:nvSpPr>
          <p:cNvPr id="21" name="Text 13"/>
          <p:cNvSpPr txBox="1"/>
          <p:nvPr/>
        </p:nvSpPr>
        <p:spPr>
          <a:xfrm>
            <a:off x="9926930" y="8138160"/>
            <a:ext cx="2620467" cy="320040"/>
          </a:xfrm>
          <a:prstGeom prst="rect">
            <a:avLst/>
          </a:prstGeom>
          <a:noFill/>
          <a:ln/>
        </p:spPr>
        <p:txBody>
          <a:bodyPr wrap="square" lIns="0" tIns="0" rIns="0" bIns="0" rtlCol="0" anchor="t"/>
          <a:lstStyle/>
          <a:p>
            <a:pPr indent="0" marL="0">
              <a:buNone/>
            </a:pPr>
            <a:r>
              <a:rPr lang="en-US" sz="1500" dirty="0">
                <a:solidFill>
                  <a:srgbClr val="C45A35"/>
                </a:solidFill>
                <a:latin typeface="Helvetica Neue" pitchFamily="34" charset="0"/>
                <a:ea typeface="Helvetica Neue" pitchFamily="34" charset="-122"/>
                <a:cs typeface="Helvetica Neue" pitchFamily="34" charset="-120"/>
              </a:rPr>
              <a:t>Offline</a:t>
            </a:r>
            <a:endParaRPr lang="en-US" sz="1500" dirty="0"/>
          </a:p>
        </p:txBody>
      </p:sp>
      <p:sp>
        <p:nvSpPr>
          <p:cNvPr id="22" name="Text 14"/>
          <p:cNvSpPr txBox="1"/>
          <p:nvPr/>
        </p:nvSpPr>
        <p:spPr>
          <a:xfrm>
            <a:off x="9926930" y="8458200"/>
            <a:ext cx="2620467" cy="640080"/>
          </a:xfrm>
          <a:prstGeom prst="rect">
            <a:avLst/>
          </a:prstGeom>
          <a:noFill/>
          <a:ln/>
        </p:spPr>
        <p:txBody>
          <a:bodyPr wrap="square" lIns="0" tIns="0" rIns="0" bIns="0" rtlCol="0" anchor="t"/>
          <a:lstStyle/>
          <a:p>
            <a:pPr indent="0" marL="0">
              <a:buNone/>
            </a:pPr>
            <a:r>
              <a:rPr lang="en-US" sz="1600" dirty="0">
                <a:solidFill>
                  <a:srgbClr val="1F1F1F"/>
                </a:solidFill>
                <a:latin typeface="Helvetica Neue Light" pitchFamily="34" charset="0"/>
                <a:ea typeface="Helvetica Neue Light" pitchFamily="34" charset="-122"/>
                <a:cs typeface="Helvetica Neue Light" pitchFamily="34" charset="-120"/>
              </a:rPr>
              <a:t>Warns that data is stale and shows the last update.</a:t>
            </a:r>
            <a:endParaRPr lang="en-US" sz="1600" dirty="0"/>
          </a:p>
        </p:txBody>
      </p:sp>
      <p:pic>
        <p:nvPicPr>
          <p:cNvPr id="23" name="Image 5" descr="/tmp/meridian-deck/img/band-footer.png">    </p:cNvPr>
          <p:cNvPicPr>
            <a:picLocks noChangeAspect="1"/>
          </p:cNvPicPr>
          <p:nvPr/>
        </p:nvPicPr>
        <p:blipFill>
          <a:blip r:embed="rId6"/>
          <a:stretch>
            <a:fillRect/>
          </a:stretch>
        </p:blipFill>
        <p:spPr>
          <a:xfrm>
            <a:off x="0" y="9281160"/>
            <a:ext cx="13004597" cy="46634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Meridian Navigator · Trade-offs</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Trade-offs I chose, and what they cost</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Each call is stated with its cost. Open items are marked as open.</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Text 3"/>
          <p:cNvSpPr txBox="1"/>
          <p:nvPr/>
        </p:nvSpPr>
        <p:spPr>
          <a:xfrm>
            <a:off x="457200" y="2560320"/>
            <a:ext cx="566928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DECISION 1</a:t>
            </a:r>
            <a:endParaRPr lang="en-US" sz="1280" dirty="0"/>
          </a:p>
        </p:txBody>
      </p:sp>
      <p:sp>
        <p:nvSpPr>
          <p:cNvPr id="8" name="Text 4"/>
          <p:cNvSpPr txBox="1"/>
          <p:nvPr/>
        </p:nvSpPr>
        <p:spPr>
          <a:xfrm>
            <a:off x="45720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Keep both share and dollar entry</a:t>
            </a:r>
            <a:endParaRPr lang="en-US" sz="2400" dirty="0"/>
          </a:p>
        </p:txBody>
      </p:sp>
      <p:sp>
        <p:nvSpPr>
          <p:cNvPr id="9" name="Text 5"/>
          <p:cNvSpPr txBox="1"/>
          <p:nvPr/>
        </p:nvSpPr>
        <p:spPr>
          <a:xfrm>
            <a:off x="457200" y="365760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Unclear which model new investors prefer. Two flows to maintain, and open for testing.</a:t>
            </a:r>
            <a:endParaRPr lang="en-US" sz="1700" dirty="0"/>
          </a:p>
        </p:txBody>
      </p:sp>
      <p:sp>
        <p:nvSpPr>
          <p:cNvPr id="10" name="Text 6"/>
          <p:cNvSpPr txBox="1"/>
          <p:nvPr/>
        </p:nvSpPr>
        <p:spPr>
          <a:xfrm>
            <a:off x="6766560" y="2560320"/>
            <a:ext cx="566928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DECISION 2</a:t>
            </a:r>
            <a:endParaRPr lang="en-US" sz="1280" dirty="0"/>
          </a:p>
        </p:txBody>
      </p:sp>
      <p:sp>
        <p:nvSpPr>
          <p:cNvPr id="11" name="Text 7"/>
          <p:cNvSpPr txBox="1"/>
          <p:nvPr/>
        </p:nvSpPr>
        <p:spPr>
          <a:xfrm>
            <a:off x="6766560" y="297180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Mock API with a delay</a:t>
            </a:r>
            <a:endParaRPr lang="en-US" sz="2400" dirty="0"/>
          </a:p>
        </p:txBody>
      </p:sp>
      <p:sp>
        <p:nvSpPr>
          <p:cNvPr id="12" name="Text 8"/>
          <p:cNvSpPr txBox="1"/>
          <p:nvPr/>
        </p:nvSpPr>
        <p:spPr>
          <a:xfrm>
            <a:off x="6766560" y="365760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Lets us test flows and loading states without a backend. Real timing and errors are untested.</a:t>
            </a:r>
            <a:endParaRPr lang="en-US" sz="1700" dirty="0"/>
          </a:p>
        </p:txBody>
      </p:sp>
      <p:sp>
        <p:nvSpPr>
          <p:cNvPr id="13" name="Text 9"/>
          <p:cNvSpPr txBox="1"/>
          <p:nvPr/>
        </p:nvSpPr>
        <p:spPr>
          <a:xfrm>
            <a:off x="457200" y="5943600"/>
            <a:ext cx="5669280" cy="274320"/>
          </a:xfrm>
          <a:prstGeom prst="rect">
            <a:avLst/>
          </a:prstGeom>
          <a:noFill/>
          <a:ln/>
        </p:spPr>
        <p:txBody>
          <a:bodyPr wrap="square" lIns="0" tIns="0" rIns="0" bIns="0" rtlCol="0" anchor="t"/>
          <a:lstStyle/>
          <a:p>
            <a:pPr indent="0" marL="0">
              <a:buNone/>
            </a:pPr>
            <a:r>
              <a:rPr lang="en-US" sz="1280" spc="100" kern="0" dirty="0">
                <a:solidFill>
                  <a:srgbClr val="A12A37"/>
                </a:solidFill>
                <a:latin typeface="Helvetica Neue" pitchFamily="34" charset="0"/>
                <a:ea typeface="Helvetica Neue" pitchFamily="34" charset="-122"/>
                <a:cs typeface="Helvetica Neue" pitchFamily="34" charset="-120"/>
              </a:rPr>
              <a:t>DECISION 3</a:t>
            </a:r>
            <a:endParaRPr lang="en-US" sz="1280" dirty="0"/>
          </a:p>
        </p:txBody>
      </p:sp>
      <p:sp>
        <p:nvSpPr>
          <p:cNvPr id="14" name="Text 10"/>
          <p:cNvSpPr txBox="1"/>
          <p:nvPr/>
        </p:nvSpPr>
        <p:spPr>
          <a:xfrm>
            <a:off x="45720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Adapt suggests buys and sells</a:t>
            </a:r>
            <a:endParaRPr lang="en-US" sz="2400" dirty="0"/>
          </a:p>
        </p:txBody>
      </p:sp>
      <p:sp>
        <p:nvSpPr>
          <p:cNvPr id="15" name="Text 11"/>
          <p:cNvSpPr txBox="1"/>
          <p:nvPr/>
        </p:nvSpPr>
        <p:spPr>
          <a:xfrm>
            <a:off x="457200" y="704088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It is the screen’s job, but the wording needs compliance review before release.</a:t>
            </a:r>
            <a:endParaRPr lang="en-US" sz="1700" dirty="0"/>
          </a:p>
        </p:txBody>
      </p:sp>
      <p:sp>
        <p:nvSpPr>
          <p:cNvPr id="16" name="Text 12"/>
          <p:cNvSpPr txBox="1"/>
          <p:nvPr/>
        </p:nvSpPr>
        <p:spPr>
          <a:xfrm>
            <a:off x="6766560" y="5943600"/>
            <a:ext cx="5669280" cy="274320"/>
          </a:xfrm>
          <a:prstGeom prst="rect">
            <a:avLst/>
          </a:prstGeom>
          <a:noFill/>
          <a:ln/>
        </p:spPr>
        <p:txBody>
          <a:bodyPr wrap="square" lIns="0" tIns="0" rIns="0" bIns="0" rtlCol="0" anchor="t"/>
          <a:lstStyle/>
          <a:p>
            <a:pPr indent="0" marL="0">
              <a:buNone/>
            </a:pPr>
            <a:r>
              <a:rPr lang="en-US" sz="1280" spc="100" kern="0" dirty="0">
                <a:solidFill>
                  <a:srgbClr val="00868B"/>
                </a:solidFill>
                <a:latin typeface="Helvetica Neue" pitchFamily="34" charset="0"/>
                <a:ea typeface="Helvetica Neue" pitchFamily="34" charset="-122"/>
                <a:cs typeface="Helvetica Neue" pitchFamily="34" charset="-120"/>
              </a:rPr>
              <a:t>DECISION 4</a:t>
            </a:r>
            <a:endParaRPr lang="en-US" sz="1280" dirty="0"/>
          </a:p>
        </p:txBody>
      </p:sp>
      <p:sp>
        <p:nvSpPr>
          <p:cNvPr id="17" name="Text 13"/>
          <p:cNvSpPr txBox="1"/>
          <p:nvPr/>
        </p:nvSpPr>
        <p:spPr>
          <a:xfrm>
            <a:off x="6766560" y="6355080"/>
            <a:ext cx="5669280" cy="548640"/>
          </a:xfrm>
          <a:prstGeom prst="rect">
            <a:avLst/>
          </a:prstGeom>
          <a:noFill/>
          <a:ln/>
        </p:spPr>
        <p:txBody>
          <a:bodyPr wrap="square" lIns="0" tIns="0" rIns="0" bIns="0" rtlCol="0" anchor="t"/>
          <a:lstStyle/>
          <a:p>
            <a:pPr indent="0" marL="0">
              <a:buNone/>
            </a:pPr>
            <a:r>
              <a:rPr lang="en-US" sz="2400" dirty="0">
                <a:solidFill>
                  <a:srgbClr val="1F1F1F"/>
                </a:solidFill>
                <a:latin typeface="Helvetica Neue Light" pitchFamily="34" charset="0"/>
                <a:ea typeface="Helvetica Neue Light" pitchFamily="34" charset="-122"/>
                <a:cs typeface="Helvetica Neue Light" pitchFamily="34" charset="-120"/>
              </a:rPr>
              <a:t>Five tabs, one home screen</a:t>
            </a:r>
            <a:endParaRPr lang="en-US" sz="2400" dirty="0"/>
          </a:p>
        </p:txBody>
      </p:sp>
      <p:sp>
        <p:nvSpPr>
          <p:cNvPr id="18" name="Text 14"/>
          <p:cNvSpPr txBox="1"/>
          <p:nvPr/>
        </p:nvSpPr>
        <p:spPr>
          <a:xfrm>
            <a:off x="6766560" y="7040880"/>
            <a:ext cx="5669280" cy="1645920"/>
          </a:xfrm>
          <a:prstGeom prst="rect">
            <a:avLst/>
          </a:prstGeom>
          <a:noFill/>
          <a:ln/>
        </p:spPr>
        <p:txBody>
          <a:bodyPr wrap="square" lIns="0" tIns="0" rIns="0" bIns="0" rtlCol="0" anchor="t"/>
          <a:lstStyle/>
          <a:p>
            <a:pPr indent="0" marL="0">
              <a:buNone/>
            </a:pPr>
            <a:r>
              <a:rPr lang="en-US" sz="1700" dirty="0">
                <a:solidFill>
                  <a:srgbClr val="595959"/>
                </a:solidFill>
                <a:latin typeface="Helvetica Neue Light" pitchFamily="34" charset="0"/>
                <a:ea typeface="Helvetica Neue Light" pitchFamily="34" charset="-122"/>
                <a:cs typeface="Helvetica Neue Light" pitchFamily="34" charset="-120"/>
              </a:rPr>
              <a:t>Scannable areas, with trading one tap away. AI screens compete with trade entry for attention.</a:t>
            </a:r>
            <a:endParaRPr lang="en-US" sz="1700" dirty="0"/>
          </a:p>
        </p:txBody>
      </p:sp>
      <p:pic>
        <p:nvPicPr>
          <p:cNvPr id="19"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How I work · Process</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How I work, across both projects</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Self-assessed status. No interviews or usability tests have run yet.</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Shape 3"/>
          <p:cNvSpPr/>
          <p:nvPr/>
        </p:nvSpPr>
        <p:spPr>
          <a:xfrm>
            <a:off x="457200" y="2560320"/>
            <a:ext cx="420624" cy="420624"/>
          </a:xfrm>
          <a:prstGeom prst="ellipse">
            <a:avLst/>
          </a:prstGeom>
          <a:solidFill>
            <a:srgbClr val="3A7D55"/>
          </a:solidFill>
          <a:ln w="12700">
            <a:solidFill>
              <a:srgbClr val="3A7D55"/>
            </a:solidFill>
            <a:prstDash val="solid"/>
          </a:ln>
        </p:spPr>
      </p:sp>
      <p:sp>
        <p:nvSpPr>
          <p:cNvPr id="8" name="Text 4"/>
          <p:cNvSpPr txBox="1"/>
          <p:nvPr/>
        </p:nvSpPr>
        <p:spPr>
          <a:xfrm>
            <a:off x="457200"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1</a:t>
            </a:r>
            <a:endParaRPr lang="en-US" sz="1564" dirty="0"/>
          </a:p>
        </p:txBody>
      </p:sp>
      <p:sp>
        <p:nvSpPr>
          <p:cNvPr id="9" name="Text 5"/>
          <p:cNvSpPr txBox="1"/>
          <p:nvPr/>
        </p:nvSpPr>
        <p:spPr>
          <a:xfrm>
            <a:off x="457200" y="320040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Frame</a:t>
            </a:r>
            <a:endParaRPr lang="en-US" sz="2000" dirty="0"/>
          </a:p>
        </p:txBody>
      </p:sp>
      <p:sp>
        <p:nvSpPr>
          <p:cNvPr id="10" name="Text 6"/>
          <p:cNvSpPr txBox="1"/>
          <p:nvPr/>
        </p:nvSpPr>
        <p:spPr>
          <a:xfrm>
            <a:off x="457200" y="3749040"/>
            <a:ext cx="1828800" cy="274320"/>
          </a:xfrm>
          <a:prstGeom prst="rect">
            <a:avLst/>
          </a:prstGeom>
          <a:noFill/>
          <a:ln/>
        </p:spPr>
        <p:txBody>
          <a:bodyPr wrap="square" lIns="0" tIns="0" rIns="0" bIns="0" rtlCol="0" anchor="t"/>
          <a:lstStyle/>
          <a:p>
            <a:pPr indent="0" marL="0">
              <a:buNone/>
            </a:pPr>
            <a:r>
              <a:rPr lang="en-US" sz="1280" spc="100" kern="0" dirty="0">
                <a:solidFill>
                  <a:srgbClr val="3A7D55"/>
                </a:solidFill>
                <a:latin typeface="Helvetica Neue" pitchFamily="34" charset="0"/>
                <a:ea typeface="Helvetica Neue" pitchFamily="34" charset="-122"/>
                <a:cs typeface="Helvetica Neue" pitchFamily="34" charset="-120"/>
              </a:rPr>
              <a:t>DONE</a:t>
            </a:r>
            <a:endParaRPr lang="en-US" sz="1280" dirty="0"/>
          </a:p>
        </p:txBody>
      </p:sp>
      <p:sp>
        <p:nvSpPr>
          <p:cNvPr id="11" name="Text 7"/>
          <p:cNvSpPr txBox="1"/>
          <p:nvPr/>
        </p:nvSpPr>
        <p:spPr>
          <a:xfrm>
            <a:off x="457200" y="416052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Problem, scope and assumptions written down before design.</a:t>
            </a:r>
            <a:endParaRPr lang="en-US" sz="1500" dirty="0"/>
          </a:p>
        </p:txBody>
      </p:sp>
      <p:sp>
        <p:nvSpPr>
          <p:cNvPr id="12" name="Shape 8"/>
          <p:cNvSpPr/>
          <p:nvPr/>
        </p:nvSpPr>
        <p:spPr>
          <a:xfrm>
            <a:off x="2509479" y="2560320"/>
            <a:ext cx="420624" cy="420624"/>
          </a:xfrm>
          <a:prstGeom prst="ellipse">
            <a:avLst/>
          </a:prstGeom>
          <a:solidFill>
            <a:srgbClr val="C45A35"/>
          </a:solidFill>
          <a:ln w="12700">
            <a:solidFill>
              <a:srgbClr val="C45A35"/>
            </a:solidFill>
            <a:prstDash val="solid"/>
          </a:ln>
        </p:spPr>
      </p:sp>
      <p:sp>
        <p:nvSpPr>
          <p:cNvPr id="13" name="Text 9"/>
          <p:cNvSpPr txBox="1"/>
          <p:nvPr/>
        </p:nvSpPr>
        <p:spPr>
          <a:xfrm>
            <a:off x="2509479"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2</a:t>
            </a:r>
            <a:endParaRPr lang="en-US" sz="1564" dirty="0"/>
          </a:p>
        </p:txBody>
      </p:sp>
      <p:sp>
        <p:nvSpPr>
          <p:cNvPr id="14" name="Text 10"/>
          <p:cNvSpPr txBox="1"/>
          <p:nvPr/>
        </p:nvSpPr>
        <p:spPr>
          <a:xfrm>
            <a:off x="2509479" y="320040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Hypothesize</a:t>
            </a:r>
            <a:endParaRPr lang="en-US" sz="2000" dirty="0"/>
          </a:p>
        </p:txBody>
      </p:sp>
      <p:sp>
        <p:nvSpPr>
          <p:cNvPr id="15" name="Text 11"/>
          <p:cNvSpPr txBox="1"/>
          <p:nvPr/>
        </p:nvSpPr>
        <p:spPr>
          <a:xfrm>
            <a:off x="2509479" y="374904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16" name="Text 12"/>
          <p:cNvSpPr txBox="1"/>
          <p:nvPr/>
        </p:nvSpPr>
        <p:spPr>
          <a:xfrm>
            <a:off x="2509479" y="416052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Personas and principles, marked as untested.</a:t>
            </a:r>
            <a:endParaRPr lang="en-US" sz="1500" dirty="0"/>
          </a:p>
        </p:txBody>
      </p:sp>
      <p:sp>
        <p:nvSpPr>
          <p:cNvPr id="17" name="Shape 13"/>
          <p:cNvSpPr/>
          <p:nvPr/>
        </p:nvSpPr>
        <p:spPr>
          <a:xfrm>
            <a:off x="4561759" y="2560320"/>
            <a:ext cx="420624" cy="420624"/>
          </a:xfrm>
          <a:prstGeom prst="ellipse">
            <a:avLst/>
          </a:prstGeom>
          <a:solidFill>
            <a:srgbClr val="C45A35"/>
          </a:solidFill>
          <a:ln w="12700">
            <a:solidFill>
              <a:srgbClr val="C45A35"/>
            </a:solidFill>
            <a:prstDash val="solid"/>
          </a:ln>
        </p:spPr>
      </p:sp>
      <p:sp>
        <p:nvSpPr>
          <p:cNvPr id="18" name="Text 14"/>
          <p:cNvSpPr txBox="1"/>
          <p:nvPr/>
        </p:nvSpPr>
        <p:spPr>
          <a:xfrm>
            <a:off x="4561759"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3</a:t>
            </a:r>
            <a:endParaRPr lang="en-US" sz="1564" dirty="0"/>
          </a:p>
        </p:txBody>
      </p:sp>
      <p:sp>
        <p:nvSpPr>
          <p:cNvPr id="19" name="Text 15"/>
          <p:cNvSpPr txBox="1"/>
          <p:nvPr/>
        </p:nvSpPr>
        <p:spPr>
          <a:xfrm>
            <a:off x="4561759" y="320040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Map flows</a:t>
            </a:r>
            <a:endParaRPr lang="en-US" sz="2000" dirty="0"/>
          </a:p>
        </p:txBody>
      </p:sp>
      <p:sp>
        <p:nvSpPr>
          <p:cNvPr id="20" name="Text 16"/>
          <p:cNvSpPr txBox="1"/>
          <p:nvPr/>
        </p:nvSpPr>
        <p:spPr>
          <a:xfrm>
            <a:off x="4561759" y="374904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21" name="Text 17"/>
          <p:cNvSpPr txBox="1"/>
          <p:nvPr/>
        </p:nvSpPr>
        <p:spPr>
          <a:xfrm>
            <a:off x="4561759" y="416052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Flows and screens for the core job, drafted in Figma.</a:t>
            </a:r>
            <a:endParaRPr lang="en-US" sz="1500" dirty="0"/>
          </a:p>
        </p:txBody>
      </p:sp>
      <p:sp>
        <p:nvSpPr>
          <p:cNvPr id="22" name="Shape 18"/>
          <p:cNvSpPr/>
          <p:nvPr/>
        </p:nvSpPr>
        <p:spPr>
          <a:xfrm>
            <a:off x="6614038" y="2560320"/>
            <a:ext cx="420624" cy="420624"/>
          </a:xfrm>
          <a:prstGeom prst="ellipse">
            <a:avLst/>
          </a:prstGeom>
          <a:solidFill>
            <a:srgbClr val="5B3F96"/>
          </a:solidFill>
          <a:ln w="12700">
            <a:solidFill>
              <a:srgbClr val="5B3F96"/>
            </a:solidFill>
            <a:prstDash val="solid"/>
          </a:ln>
        </p:spPr>
      </p:sp>
      <p:sp>
        <p:nvSpPr>
          <p:cNvPr id="23" name="Text 19"/>
          <p:cNvSpPr txBox="1"/>
          <p:nvPr/>
        </p:nvSpPr>
        <p:spPr>
          <a:xfrm>
            <a:off x="6614038"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4</a:t>
            </a:r>
            <a:endParaRPr lang="en-US" sz="1564" dirty="0"/>
          </a:p>
        </p:txBody>
      </p:sp>
      <p:sp>
        <p:nvSpPr>
          <p:cNvPr id="24" name="Text 20"/>
          <p:cNvSpPr txBox="1"/>
          <p:nvPr/>
        </p:nvSpPr>
        <p:spPr>
          <a:xfrm>
            <a:off x="6614038" y="320040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system</a:t>
            </a:r>
            <a:endParaRPr lang="en-US" sz="2000" dirty="0"/>
          </a:p>
        </p:txBody>
      </p:sp>
      <p:sp>
        <p:nvSpPr>
          <p:cNvPr id="25" name="Text 21"/>
          <p:cNvSpPr txBox="1"/>
          <p:nvPr/>
        </p:nvSpPr>
        <p:spPr>
          <a:xfrm>
            <a:off x="6614038" y="3749040"/>
            <a:ext cx="1828800" cy="274320"/>
          </a:xfrm>
          <a:prstGeom prst="rect">
            <a:avLst/>
          </a:prstGeom>
          <a:noFill/>
          <a:ln/>
        </p:spPr>
        <p:txBody>
          <a:bodyPr wrap="square" lIns="0" tIns="0" rIns="0" bIns="0" rtlCol="0" anchor="t"/>
          <a:lstStyle/>
          <a:p>
            <a:pPr indent="0" marL="0">
              <a:buNone/>
            </a:pPr>
            <a:r>
              <a:rPr lang="en-US" sz="1280" spc="100" kern="0" dirty="0">
                <a:solidFill>
                  <a:srgbClr val="5B3F96"/>
                </a:solidFill>
                <a:latin typeface="Helvetica Neue" pitchFamily="34" charset="0"/>
                <a:ea typeface="Helvetica Neue" pitchFamily="34" charset="-122"/>
                <a:cs typeface="Helvetica Neue" pitchFamily="34" charset="-120"/>
              </a:rPr>
              <a:t>IN PROGRESS</a:t>
            </a:r>
            <a:endParaRPr lang="en-US" sz="1280" dirty="0"/>
          </a:p>
        </p:txBody>
      </p:sp>
      <p:sp>
        <p:nvSpPr>
          <p:cNvPr id="26" name="Text 22"/>
          <p:cNvSpPr txBox="1"/>
          <p:nvPr/>
        </p:nvSpPr>
        <p:spPr>
          <a:xfrm>
            <a:off x="6614038" y="416052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Shared tokens for Figma and code. Component library not yet audited.</a:t>
            </a:r>
            <a:endParaRPr lang="en-US" sz="1500" dirty="0"/>
          </a:p>
        </p:txBody>
      </p:sp>
      <p:sp>
        <p:nvSpPr>
          <p:cNvPr id="27" name="Shape 23"/>
          <p:cNvSpPr/>
          <p:nvPr/>
        </p:nvSpPr>
        <p:spPr>
          <a:xfrm>
            <a:off x="8666317" y="2560320"/>
            <a:ext cx="420624" cy="420624"/>
          </a:xfrm>
          <a:prstGeom prst="ellipse">
            <a:avLst/>
          </a:prstGeom>
          <a:solidFill>
            <a:srgbClr val="C45A35"/>
          </a:solidFill>
          <a:ln w="12700">
            <a:solidFill>
              <a:srgbClr val="C45A35"/>
            </a:solidFill>
            <a:prstDash val="solid"/>
          </a:ln>
        </p:spPr>
      </p:sp>
      <p:sp>
        <p:nvSpPr>
          <p:cNvPr id="28" name="Text 24"/>
          <p:cNvSpPr txBox="1"/>
          <p:nvPr/>
        </p:nvSpPr>
        <p:spPr>
          <a:xfrm>
            <a:off x="8666317"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5</a:t>
            </a:r>
            <a:endParaRPr lang="en-US" sz="1564" dirty="0"/>
          </a:p>
        </p:txBody>
      </p:sp>
      <p:sp>
        <p:nvSpPr>
          <p:cNvPr id="29" name="Text 25"/>
          <p:cNvSpPr txBox="1"/>
          <p:nvPr/>
        </p:nvSpPr>
        <p:spPr>
          <a:xfrm>
            <a:off x="8666317" y="320040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Design states</a:t>
            </a:r>
            <a:endParaRPr lang="en-US" sz="2000" dirty="0"/>
          </a:p>
        </p:txBody>
      </p:sp>
      <p:sp>
        <p:nvSpPr>
          <p:cNvPr id="30" name="Text 26"/>
          <p:cNvSpPr txBox="1"/>
          <p:nvPr/>
        </p:nvSpPr>
        <p:spPr>
          <a:xfrm>
            <a:off x="8666317" y="3749040"/>
            <a:ext cx="1828800" cy="274320"/>
          </a:xfrm>
          <a:prstGeom prst="rect">
            <a:avLst/>
          </a:prstGeom>
          <a:noFill/>
          <a:ln/>
        </p:spPr>
        <p:txBody>
          <a:bodyPr wrap="square" lIns="0" tIns="0" rIns="0" bIns="0" rtlCol="0" anchor="t"/>
          <a:lstStyle/>
          <a:p>
            <a:pPr indent="0" marL="0">
              <a:buNone/>
            </a:pPr>
            <a:r>
              <a:rPr lang="en-US" sz="1280" spc="100" kern="0" dirty="0">
                <a:solidFill>
                  <a:srgbClr val="C45A35"/>
                </a:solidFill>
                <a:latin typeface="Helvetica Neue" pitchFamily="34" charset="0"/>
                <a:ea typeface="Helvetica Neue" pitchFamily="34" charset="-122"/>
                <a:cs typeface="Helvetica Neue" pitchFamily="34" charset="-120"/>
              </a:rPr>
              <a:t>DRAFTED</a:t>
            </a:r>
            <a:endParaRPr lang="en-US" sz="1280" dirty="0"/>
          </a:p>
        </p:txBody>
      </p:sp>
      <p:sp>
        <p:nvSpPr>
          <p:cNvPr id="31" name="Text 27"/>
          <p:cNvSpPr txBox="1"/>
          <p:nvPr/>
        </p:nvSpPr>
        <p:spPr>
          <a:xfrm>
            <a:off x="8666317" y="416052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Empty, loading, error and offline states.</a:t>
            </a:r>
            <a:endParaRPr lang="en-US" sz="1500" dirty="0"/>
          </a:p>
        </p:txBody>
      </p:sp>
      <p:sp>
        <p:nvSpPr>
          <p:cNvPr id="32" name="Shape 28"/>
          <p:cNvSpPr/>
          <p:nvPr/>
        </p:nvSpPr>
        <p:spPr>
          <a:xfrm>
            <a:off x="10718597" y="2560320"/>
            <a:ext cx="420624" cy="420624"/>
          </a:xfrm>
          <a:prstGeom prst="ellipse">
            <a:avLst/>
          </a:prstGeom>
          <a:solidFill>
            <a:srgbClr val="6E6E6E"/>
          </a:solidFill>
          <a:ln w="12700">
            <a:solidFill>
              <a:srgbClr val="6E6E6E"/>
            </a:solidFill>
            <a:prstDash val="solid"/>
          </a:ln>
        </p:spPr>
      </p:sp>
      <p:sp>
        <p:nvSpPr>
          <p:cNvPr id="33" name="Text 29"/>
          <p:cNvSpPr txBox="1"/>
          <p:nvPr/>
        </p:nvSpPr>
        <p:spPr>
          <a:xfrm>
            <a:off x="10718597" y="2624328"/>
            <a:ext cx="420624" cy="292608"/>
          </a:xfrm>
          <a:prstGeom prst="rect">
            <a:avLst/>
          </a:prstGeom>
          <a:noFill/>
          <a:ln/>
        </p:spPr>
        <p:txBody>
          <a:bodyPr wrap="square" lIns="0" tIns="0" rIns="0" bIns="0" rtlCol="0" anchor="t"/>
          <a:lstStyle/>
          <a:p>
            <a:pPr algn="ctr" indent="0" marL="0">
              <a:buNone/>
            </a:pPr>
            <a:r>
              <a:rPr lang="en-US" sz="1564" b="1" dirty="0">
                <a:solidFill>
                  <a:srgbClr val="FFFFFF"/>
                </a:solidFill>
                <a:latin typeface="Helvetica Neue" pitchFamily="34" charset="0"/>
                <a:ea typeface="Helvetica Neue" pitchFamily="34" charset="-122"/>
                <a:cs typeface="Helvetica Neue" pitchFamily="34" charset="-120"/>
              </a:rPr>
              <a:t>6</a:t>
            </a:r>
            <a:endParaRPr lang="en-US" sz="1564" dirty="0"/>
          </a:p>
        </p:txBody>
      </p:sp>
      <p:sp>
        <p:nvSpPr>
          <p:cNvPr id="34" name="Text 30"/>
          <p:cNvSpPr txBox="1"/>
          <p:nvPr/>
        </p:nvSpPr>
        <p:spPr>
          <a:xfrm>
            <a:off x="10718597" y="3200400"/>
            <a:ext cx="1828800" cy="457200"/>
          </a:xfrm>
          <a:prstGeom prst="rect">
            <a:avLst/>
          </a:prstGeom>
          <a:noFill/>
          <a:ln/>
        </p:spPr>
        <p:txBody>
          <a:bodyPr wrap="square" lIns="0" tIns="0" rIns="0" bIns="0" rtlCol="0" anchor="t"/>
          <a:lstStyle/>
          <a:p>
            <a:pPr indent="0" marL="0">
              <a:buNone/>
            </a:pPr>
            <a:r>
              <a:rPr lang="en-US" sz="2000" dirty="0">
                <a:solidFill>
                  <a:srgbClr val="1F1F1F"/>
                </a:solidFill>
                <a:latin typeface="Helvetica Neue Light" pitchFamily="34" charset="0"/>
                <a:ea typeface="Helvetica Neue Light" pitchFamily="34" charset="-122"/>
                <a:cs typeface="Helvetica Neue Light" pitchFamily="34" charset="-120"/>
              </a:rPr>
              <a:t>Validate</a:t>
            </a:r>
            <a:endParaRPr lang="en-US" sz="2000" dirty="0"/>
          </a:p>
        </p:txBody>
      </p:sp>
      <p:sp>
        <p:nvSpPr>
          <p:cNvPr id="35" name="Text 31"/>
          <p:cNvSpPr txBox="1"/>
          <p:nvPr/>
        </p:nvSpPr>
        <p:spPr>
          <a:xfrm>
            <a:off x="10718597" y="3749040"/>
            <a:ext cx="1828800" cy="274320"/>
          </a:xfrm>
          <a:prstGeom prst="rect">
            <a:avLst/>
          </a:prstGeom>
          <a:noFill/>
          <a:ln/>
        </p:spPr>
        <p:txBody>
          <a:bodyPr wrap="square" lIns="0" tIns="0" rIns="0" bIns="0" rtlCol="0" anchor="t"/>
          <a:lstStyle/>
          <a:p>
            <a:pPr indent="0" marL="0">
              <a:buNone/>
            </a:pPr>
            <a:r>
              <a:rPr lang="en-US" sz="1280" spc="100" kern="0" dirty="0">
                <a:solidFill>
                  <a:srgbClr val="6E6E6E"/>
                </a:solidFill>
                <a:latin typeface="Helvetica Neue" pitchFamily="34" charset="0"/>
                <a:ea typeface="Helvetica Neue" pitchFamily="34" charset="-122"/>
                <a:cs typeface="Helvetica Neue" pitchFamily="34" charset="-120"/>
              </a:rPr>
              <a:t>PLANNED</a:t>
            </a:r>
            <a:endParaRPr lang="en-US" sz="1280" dirty="0"/>
          </a:p>
        </p:txBody>
      </p:sp>
      <p:sp>
        <p:nvSpPr>
          <p:cNvPr id="36" name="Text 32"/>
          <p:cNvSpPr txBox="1"/>
          <p:nvPr/>
        </p:nvSpPr>
        <p:spPr>
          <a:xfrm>
            <a:off x="10718597" y="4160520"/>
            <a:ext cx="1828800" cy="2377440"/>
          </a:xfrm>
          <a:prstGeom prst="rect">
            <a:avLst/>
          </a:prstGeom>
          <a:noFill/>
          <a:ln/>
        </p:spPr>
        <p:txBody>
          <a:bodyPr wrap="square" lIns="0" tIns="0" rIns="0" bIns="0" rtlCol="0" anchor="t"/>
          <a:lstStyle/>
          <a:p>
            <a:pPr indent="0" marL="0">
              <a:buNone/>
            </a:pPr>
            <a:r>
              <a:rPr lang="en-US" sz="1500" dirty="0">
                <a:solidFill>
                  <a:srgbClr val="595959"/>
                </a:solidFill>
                <a:latin typeface="Helvetica Neue Light" pitchFamily="34" charset="0"/>
                <a:ea typeface="Helvetica Neue Light" pitchFamily="34" charset="-122"/>
                <a:cs typeface="Helvetica Neue Light" pitchFamily="34" charset="-120"/>
              </a:rPr>
              <a:t>Interviews, usability tests and compliance review.</a:t>
            </a:r>
            <a:endParaRPr lang="en-US" sz="1500" dirty="0"/>
          </a:p>
        </p:txBody>
      </p:sp>
      <p:pic>
        <p:nvPicPr>
          <p:cNvPr id="37"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93192"/>
            <a:ext cx="10424160" cy="274320"/>
          </a:xfrm>
          <a:prstGeom prst="rect">
            <a:avLst/>
          </a:prstGeom>
          <a:noFill/>
          <a:ln/>
        </p:spPr>
        <p:txBody>
          <a:bodyPr wrap="square" lIns="0" tIns="0" rIns="0" bIns="0" rtlCol="0" anchor="t"/>
          <a:lstStyle/>
          <a:p>
            <a:pPr indent="0" marL="0">
              <a:buNone/>
            </a:pPr>
            <a:r>
              <a:rPr lang="en-US" sz="1422" dirty="0">
                <a:solidFill>
                  <a:srgbClr val="1F1F1F"/>
                </a:solidFill>
                <a:latin typeface="Helvetica Neue" pitchFamily="34" charset="0"/>
                <a:ea typeface="Helvetica Neue" pitchFamily="34" charset="-122"/>
                <a:cs typeface="Helvetica Neue" pitchFamily="34" charset="-120"/>
              </a:rPr>
              <a:t>Next steps</a:t>
            </a:r>
            <a:endParaRPr lang="en-US" sz="1422" dirty="0"/>
          </a:p>
        </p:txBody>
      </p:sp>
      <p:sp>
        <p:nvSpPr>
          <p:cNvPr id="3" name="Text 1"/>
          <p:cNvSpPr txBox="1"/>
          <p:nvPr/>
        </p:nvSpPr>
        <p:spPr>
          <a:xfrm>
            <a:off x="457200" y="914400"/>
            <a:ext cx="12070080" cy="594360"/>
          </a:xfrm>
          <a:prstGeom prst="rect">
            <a:avLst/>
          </a:prstGeom>
          <a:noFill/>
          <a:ln/>
        </p:spPr>
        <p:txBody>
          <a:bodyPr wrap="square" lIns="0" tIns="0" rIns="0" bIns="0" rtlCol="0" anchor="t"/>
          <a:lstStyle/>
          <a:p>
            <a:pPr indent="0" marL="0">
              <a:buNone/>
            </a:pPr>
            <a:r>
              <a:rPr lang="en-US" sz="3200" dirty="0">
                <a:solidFill>
                  <a:srgbClr val="1F1F1F"/>
                </a:solidFill>
                <a:latin typeface="Helvetica Neue Light" pitchFamily="34" charset="0"/>
                <a:ea typeface="Helvetica Neue Light" pitchFamily="34" charset="-122"/>
                <a:cs typeface="Helvetica Neue Light" pitchFamily="34" charset="-120"/>
              </a:rPr>
              <a:t>What I would do next</a:t>
            </a:r>
            <a:endParaRPr lang="en-US" sz="3200" dirty="0"/>
          </a:p>
        </p:txBody>
      </p:sp>
      <p:sp>
        <p:nvSpPr>
          <p:cNvPr id="4" name="Text 2"/>
          <p:cNvSpPr txBox="1"/>
          <p:nvPr/>
        </p:nvSpPr>
        <p:spPr>
          <a:xfrm>
            <a:off x="457200" y="1554480"/>
            <a:ext cx="12070080" cy="365760"/>
          </a:xfrm>
          <a:prstGeom prst="rect">
            <a:avLst/>
          </a:prstGeom>
          <a:noFill/>
          <a:ln/>
        </p:spPr>
        <p:txBody>
          <a:bodyPr wrap="square" lIns="0" tIns="0" rIns="0" bIns="0" rtlCol="0" anchor="t"/>
          <a:lstStyle/>
          <a:p>
            <a:pPr indent="0" marL="0">
              <a:buNone/>
            </a:pPr>
            <a:r>
              <a:rPr lang="en-US" sz="1636" dirty="0">
                <a:solidFill>
                  <a:srgbClr val="595959"/>
                </a:solidFill>
                <a:latin typeface="Helvetica Neue Light" pitchFamily="34" charset="0"/>
                <a:ea typeface="Helvetica Neue Light" pitchFamily="34" charset="-122"/>
                <a:cs typeface="Helvetica Neue Light" pitchFamily="34" charset="-120"/>
              </a:rPr>
              <a:t>The order that unblocks the most work.</a:t>
            </a:r>
            <a:endParaRPr lang="en-US" sz="1636" dirty="0"/>
          </a:p>
        </p:txBody>
      </p:sp>
      <p:pic>
        <p:nvPicPr>
          <p:cNvPr id="5" name="Image 0" descr="/tmp/meridian-deck/img/band-footer.png">    </p:cNvPr>
          <p:cNvPicPr>
            <a:picLocks noChangeAspect="1"/>
          </p:cNvPicPr>
          <p:nvPr/>
        </p:nvPicPr>
        <p:blipFill>
          <a:blip r:embed="rId1"/>
          <a:stretch>
            <a:fillRect/>
          </a:stretch>
        </p:blipFill>
        <p:spPr>
          <a:xfrm>
            <a:off x="0" y="9281160"/>
            <a:ext cx="13004597" cy="466344"/>
          </a:xfrm>
          <a:prstGeom prst="rect">
            <a:avLst/>
          </a:prstGeom>
        </p:spPr>
      </p:pic>
      <p:sp>
        <p:nvSpPr>
          <p:cNvPr id="7" name="Text 3"/>
          <p:cNvSpPr txBox="1"/>
          <p:nvPr/>
        </p:nvSpPr>
        <p:spPr>
          <a:xfrm>
            <a:off x="457200" y="2651760"/>
            <a:ext cx="7498080" cy="4114800"/>
          </a:xfrm>
          <a:prstGeom prst="rect">
            <a:avLst/>
          </a:prstGeom>
          <a:noFill/>
          <a:ln/>
        </p:spPr>
        <p:txBody>
          <a:bodyPr wrap="square" lIns="0" tIns="0" rIns="0" bIns="0" rtlCol="0" anchor="t"/>
          <a:lstStyle/>
          <a:p>
            <a:pPr marL="203200" indent="-203200">
              <a:spcAft>
                <a:spcPts val="600"/>
              </a:spcAft>
              <a:buSzPct val="100000"/>
              <a:buChar char="•"/>
            </a:pPr>
            <a:r>
              <a:rPr lang="en-US" sz="2000" dirty="0">
                <a:solidFill>
                  <a:srgbClr val="1F1F1F"/>
                </a:solidFill>
                <a:latin typeface="Helvetica Neue Light" pitchFamily="34" charset="0"/>
                <a:ea typeface="Helvetica Neue Light" pitchFamily="34" charset="-122"/>
                <a:cs typeface="Helvetica Neue Light" pitchFamily="34" charset="-120"/>
              </a:rPr>
              <a:t>Run five to eight interviews to test the personas</a:t>
            </a:r>
            <a:endParaRPr lang="en-US" sz="2000" dirty="0"/>
          </a:p>
          <a:p>
            <a:pPr marL="203200" indent="-203200">
              <a:spcAft>
                <a:spcPts val="600"/>
              </a:spcAft>
              <a:buSzPct val="100000"/>
              <a:buChar char="•"/>
            </a:pPr>
            <a:r>
              <a:rPr lang="en-US" sz="2000" dirty="0">
                <a:solidFill>
                  <a:srgbClr val="1F1F1F"/>
                </a:solidFill>
                <a:latin typeface="Helvetica Neue Light" pitchFamily="34" charset="0"/>
                <a:ea typeface="Helvetica Neue Light" pitchFamily="34" charset="-122"/>
                <a:cs typeface="Helvetica Neue Light" pitchFamily="34" charset="-120"/>
              </a:rPr>
              <a:t>Usability-test the share and dollar flows</a:t>
            </a:r>
            <a:endParaRPr lang="en-US" sz="2000" dirty="0"/>
          </a:p>
          <a:p>
            <a:pPr marL="203200" indent="-203200">
              <a:spcAft>
                <a:spcPts val="600"/>
              </a:spcAft>
              <a:buSzPct val="100000"/>
              <a:buChar char="•"/>
            </a:pPr>
            <a:r>
              <a:rPr lang="en-US" sz="2000" dirty="0">
                <a:solidFill>
                  <a:srgbClr val="1F1F1F"/>
                </a:solidFill>
                <a:latin typeface="Helvetica Neue Light" pitchFamily="34" charset="0"/>
                <a:ea typeface="Helvetica Neue Light" pitchFamily="34" charset="-122"/>
                <a:cs typeface="Helvetica Neue Light" pitchFamily="34" charset="-120"/>
              </a:rPr>
              <a:t>Set metric targets with stakeholders and measure them</a:t>
            </a:r>
            <a:endParaRPr lang="en-US" sz="2000" dirty="0"/>
          </a:p>
          <a:p>
            <a:pPr marL="203200" indent="-203200">
              <a:spcAft>
                <a:spcPts val="600"/>
              </a:spcAft>
              <a:buSzPct val="100000"/>
              <a:buChar char="•"/>
            </a:pPr>
            <a:r>
              <a:rPr lang="en-US" sz="2000" dirty="0">
                <a:solidFill>
                  <a:srgbClr val="1F1F1F"/>
                </a:solidFill>
                <a:latin typeface="Helvetica Neue Light" pitchFamily="34" charset="0"/>
                <a:ea typeface="Helvetica Neue Light" pitchFamily="34" charset="-122"/>
                <a:cs typeface="Helvetica Neue Light" pitchFamily="34" charset="-120"/>
              </a:rPr>
              <a:t>Complete the compliance review of trade and AI copy</a:t>
            </a:r>
            <a:endParaRPr lang="en-US" sz="2000" dirty="0"/>
          </a:p>
        </p:txBody>
      </p:sp>
      <p:sp>
        <p:nvSpPr>
          <p:cNvPr id="8" name="Shape 4"/>
          <p:cNvSpPr/>
          <p:nvPr/>
        </p:nvSpPr>
        <p:spPr>
          <a:xfrm>
            <a:off x="8595360" y="2651760"/>
            <a:ext cx="3931920" cy="3291840"/>
          </a:xfrm>
          <a:prstGeom prst="rect">
            <a:avLst/>
          </a:prstGeom>
          <a:solidFill>
            <a:srgbClr val="C45A35"/>
          </a:solidFill>
          <a:ln w="12700">
            <a:solidFill>
              <a:srgbClr val="C45A35"/>
            </a:solidFill>
            <a:prstDash val="solid"/>
          </a:ln>
        </p:spPr>
      </p:sp>
      <p:sp>
        <p:nvSpPr>
          <p:cNvPr id="9" name="Text 5"/>
          <p:cNvSpPr txBox="1"/>
          <p:nvPr/>
        </p:nvSpPr>
        <p:spPr>
          <a:xfrm>
            <a:off x="8961120" y="3017520"/>
            <a:ext cx="3291840" cy="457200"/>
          </a:xfrm>
          <a:prstGeom prst="rect">
            <a:avLst/>
          </a:prstGeom>
          <a:noFill/>
          <a:ln/>
        </p:spPr>
        <p:txBody>
          <a:bodyPr wrap="square" lIns="0" tIns="0" rIns="0" bIns="0" rtlCol="0" anchor="t"/>
          <a:lstStyle/>
          <a:p>
            <a:pPr indent="0" marL="0">
              <a:buNone/>
            </a:pPr>
            <a:r>
              <a:rPr lang="en-US" sz="2400" dirty="0">
                <a:solidFill>
                  <a:srgbClr val="FFFFFF"/>
                </a:solidFill>
                <a:latin typeface="Helvetica Neue Light" pitchFamily="34" charset="0"/>
                <a:ea typeface="Helvetica Neue Light" pitchFamily="34" charset="-122"/>
                <a:cs typeface="Helvetica Neue Light" pitchFamily="34" charset="-120"/>
              </a:rPr>
              <a:t>Get in touch</a:t>
            </a:r>
            <a:endParaRPr lang="en-US" sz="2400" dirty="0"/>
          </a:p>
        </p:txBody>
      </p:sp>
      <p:sp>
        <p:nvSpPr>
          <p:cNvPr id="10" name="Text 6"/>
          <p:cNvSpPr txBox="1"/>
          <p:nvPr/>
        </p:nvSpPr>
        <p:spPr>
          <a:xfrm>
            <a:off x="8961120" y="3657600"/>
            <a:ext cx="3291840" cy="1828800"/>
          </a:xfrm>
          <a:prstGeom prst="rect">
            <a:avLst/>
          </a:prstGeom>
          <a:noFill/>
          <a:ln/>
        </p:spPr>
        <p:txBody>
          <a:bodyPr wrap="square" lIns="0" tIns="0" rIns="0" bIns="0" rtlCol="0" anchor="t"/>
          <a:lstStyle/>
          <a:p>
            <a:pPr indent="0" marL="0">
              <a:buNone/>
            </a:pPr>
            <a:r>
              <a:rPr lang="en-US" sz="1800" dirty="0">
                <a:solidFill>
                  <a:srgbClr val="FFE9DF"/>
                </a:solidFill>
                <a:latin typeface="Helvetica Neue Light" pitchFamily="34" charset="0"/>
                <a:ea typeface="Helvetica Neue Light" pitchFamily="34" charset="-122"/>
                <a:cs typeface="Helvetica Neue Light" pitchFamily="34" charset="-120"/>
              </a:rPr>
              <a:t>[Add email]</a:t>
            </a:r>
            <a:endParaRPr lang="en-US" sz="1800" dirty="0"/>
          </a:p>
          <a:p>
            <a:pPr indent="0" marL="0">
              <a:buNone/>
            </a:pPr>
            <a:r>
              <a:rPr lang="en-US" sz="1800" dirty="0">
                <a:solidFill>
                  <a:srgbClr val="FFE9DF"/>
                </a:solidFill>
                <a:latin typeface="Helvetica Neue Light" pitchFamily="34" charset="0"/>
                <a:ea typeface="Helvetica Neue Light" pitchFamily="34" charset="-122"/>
                <a:cs typeface="Helvetica Neue Light" pitchFamily="34" charset="-120"/>
              </a:rPr>
              <a:t>[Add phone]</a:t>
            </a:r>
            <a:endParaRPr lang="en-US" sz="1800" dirty="0"/>
          </a:p>
          <a:p>
            <a:pPr indent="0" marL="0">
              <a:buNone/>
            </a:pPr>
            <a:r>
              <a:rPr lang="en-US" sz="1800" dirty="0">
                <a:solidFill>
                  <a:srgbClr val="FFE9DF"/>
                </a:solidFill>
                <a:latin typeface="Helvetica Neue Light" pitchFamily="34" charset="0"/>
                <a:ea typeface="Helvetica Neue Light" pitchFamily="34" charset="-122"/>
                <a:cs typeface="Helvetica Neue Light" pitchFamily="34" charset="-120"/>
              </a:rPr>
              <a:t>[Add portfolio URL]</a:t>
            </a:r>
            <a:endParaRPr lang="en-US" sz="1800" dirty="0"/>
          </a:p>
        </p:txBody>
      </p:sp>
      <p:pic>
        <p:nvPicPr>
          <p:cNvPr id="11" name="Image 1" descr="/tmp/meridian-deck/img/band-footer.png">    </p:cNvPr>
          <p:cNvPicPr>
            <a:picLocks noChangeAspect="1"/>
          </p:cNvPicPr>
          <p:nvPr/>
        </p:nvPicPr>
        <p:blipFill>
          <a:blip r:embed="rId2"/>
          <a:stretch>
            <a:fillRect/>
          </a:stretch>
        </p:blipFill>
        <p:spPr>
          <a:xfrm>
            <a:off x="0" y="9281160"/>
            <a:ext cx="13004597" cy="46634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Michael Thibodeau: Selected UX work (highlights)</dc:title>
  <dc:subject>PptxGenJS Presentation</dc:subject>
  <dc:creator>Michael Thibodeau</dc:creator>
  <cp:lastModifiedBy>Michael Thibodeau</cp:lastModifiedBy>
  <cp:revision>1</cp:revision>
  <dcterms:created xsi:type="dcterms:W3CDTF">2026-10-08T16:46:55Z</dcterms:created>
  <dcterms:modified xsi:type="dcterms:W3CDTF">2026-10-08T16:46:55Z</dcterms:modified>
</cp:coreProperties>
</file>
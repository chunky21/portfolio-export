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43" r:id="rId194"/>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313" r:id="rId140"/>
    <p:sldId id="314" r:id="rId141"/>
    <p:sldId id="315" r:id="rId142"/>
    <p:sldId id="316" r:id="rId143"/>
    <p:sldId id="317" r:id="rId144"/>
    <p:sldId id="318" r:id="rId145"/>
    <p:sldId id="319" r:id="rId146"/>
    <p:sldId id="320" r:id="rId147"/>
    <p:sldId id="321" r:id="rId148"/>
    <p:sldId id="322" r:id="rId149"/>
    <p:sldId id="323" r:id="rId150"/>
    <p:sldId id="324" r:id="rId151"/>
    <p:sldId id="325" r:id="rId152"/>
    <p:sldId id="326" r:id="rId153"/>
    <p:sldId id="327" r:id="rId154"/>
    <p:sldId id="328" r:id="rId155"/>
    <p:sldId id="329" r:id="rId156"/>
    <p:sldId id="330" r:id="rId157"/>
    <p:sldId id="331" r:id="rId158"/>
    <p:sldId id="332" r:id="rId159"/>
    <p:sldId id="333" r:id="rId160"/>
    <p:sldId id="334" r:id="rId161"/>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 id="292" r:id="rId119"/>
    <p:sldId id="293" r:id="rId120"/>
    <p:sldId id="294" r:id="rId121"/>
    <p:sldId id="309" r:id="rId136"/>
    <p:sldId id="295" r:id="rId122"/>
    <p:sldId id="296" r:id="rId123"/>
    <p:sldId id="297" r:id="rId124"/>
    <p:sldId id="298" r:id="rId125"/>
    <p:sldId id="299" r:id="rId126"/>
    <p:sldId id="300" r:id="rId127"/>
    <p:sldId id="301" r:id="rId128"/>
    <p:sldId id="302" r:id="rId129"/>
    <p:sldId id="303" r:id="rId130"/>
    <p:sldId id="304" r:id="rId131"/>
    <p:sldId id="305" r:id="rId132"/>
    <p:sldId id="306" r:id="rId133"/>
    <p:sldId id="307" r:id="rId134"/>
    <p:sldId id="308" r:id="rId135"/>
    <p:sldId id="310" r:id="rId137"/>
    <p:sldId id="311" r:id="rId138"/>
    <p:sldId id="312" r:id="rId139"/>
    <p:sldId id="335" r:id="rId162"/>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34.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105.xml"/><Relationship Id="rId85" Type="http://schemas.openxmlformats.org/officeDocument/2006/relationships/slide" Target="slides/slide106.xml"/><Relationship Id="rId86" Type="http://schemas.openxmlformats.org/officeDocument/2006/relationships/slide" Target="slides/slide107.xml"/><Relationship Id="rId87" Type="http://schemas.openxmlformats.org/officeDocument/2006/relationships/slide" Target="slides/slide108.xml"/><Relationship Id="rId88" Type="http://schemas.openxmlformats.org/officeDocument/2006/relationships/slide" Target="slides/slide109.xml"/><Relationship Id="rId89" Type="http://schemas.openxmlformats.org/officeDocument/2006/relationships/slide" Target="slides/slide110.xml"/><Relationship Id="rId90" Type="http://schemas.openxmlformats.org/officeDocument/2006/relationships/slide" Target="slides/slide111.xml"/><Relationship Id="rId91" Type="http://schemas.openxmlformats.org/officeDocument/2006/relationships/slide" Target="slides/slide112.xml"/><Relationship Id="rId92" Type="http://schemas.openxmlformats.org/officeDocument/2006/relationships/slide" Target="slides/slide113.xml"/><Relationship Id="rId93" Type="http://schemas.openxmlformats.org/officeDocument/2006/relationships/slide" Target="slides/slide114.xml"/><Relationship Id="rId94" Type="http://schemas.openxmlformats.org/officeDocument/2006/relationships/slide" Target="slides/slide115.xml"/><Relationship Id="rId95" Type="http://schemas.openxmlformats.org/officeDocument/2006/relationships/slide" Target="slides/slide116.xml"/><Relationship Id="rId96" Type="http://schemas.openxmlformats.org/officeDocument/2006/relationships/slide" Target="slides/slide117.xml"/><Relationship Id="rId97" Type="http://schemas.openxmlformats.org/officeDocument/2006/relationships/slide" Target="slides/slide118.xml"/><Relationship Id="rId98" Type="http://schemas.openxmlformats.org/officeDocument/2006/relationships/slide" Target="slides/slide119.xml"/><Relationship Id="rId99" Type="http://schemas.openxmlformats.org/officeDocument/2006/relationships/slide" Target="slides/slide120.xml"/><Relationship Id="rId100" Type="http://schemas.openxmlformats.org/officeDocument/2006/relationships/slide" Target="slides/slide121.xml"/><Relationship Id="rId101" Type="http://schemas.openxmlformats.org/officeDocument/2006/relationships/slide" Target="slides/slide122.xml"/><Relationship Id="rId102" Type="http://schemas.openxmlformats.org/officeDocument/2006/relationships/slide" Target="slides/slide123.xml"/><Relationship Id="rId103" Type="http://schemas.openxmlformats.org/officeDocument/2006/relationships/slide" Target="slides/slide124.xml"/><Relationship Id="rId104" Type="http://schemas.openxmlformats.org/officeDocument/2006/relationships/slide" Target="slides/slide125.xml"/><Relationship Id="rId105" Type="http://schemas.openxmlformats.org/officeDocument/2006/relationships/slide" Target="slides/slide126.xml"/><Relationship Id="rId106" Type="http://schemas.openxmlformats.org/officeDocument/2006/relationships/slide" Target="slides/slide127.xml"/><Relationship Id="rId107" Type="http://schemas.openxmlformats.org/officeDocument/2006/relationships/slide" Target="slides/slide128.xml"/><Relationship Id="rId108" Type="http://schemas.openxmlformats.org/officeDocument/2006/relationships/slide" Target="slides/slide129.xml"/><Relationship Id="rId109" Type="http://schemas.openxmlformats.org/officeDocument/2006/relationships/slide" Target="slides/slide130.xml"/><Relationship Id="rId110" Type="http://schemas.openxmlformats.org/officeDocument/2006/relationships/slide" Target="slides/slide131.xml"/><Relationship Id="rId111" Type="http://schemas.openxmlformats.org/officeDocument/2006/relationships/slide" Target="slides/slide132.xml"/><Relationship Id="rId112" Type="http://schemas.openxmlformats.org/officeDocument/2006/relationships/slide" Target="slides/slide133.xml"/><Relationship Id="rId113" Type="http://schemas.openxmlformats.org/officeDocument/2006/relationships/slide" Target="slides/slide134.xml"/><Relationship Id="rId114" Type="http://schemas.openxmlformats.org/officeDocument/2006/relationships/slide" Target="slides/slide135.xml"/><Relationship Id="rId115" Type="http://schemas.openxmlformats.org/officeDocument/2006/relationships/slide" Target="slides/slide136.xml"/><Relationship Id="rId116" Type="http://schemas.openxmlformats.org/officeDocument/2006/relationships/slide" Target="slides/slide137.xml"/><Relationship Id="rId117" Type="http://schemas.openxmlformats.org/officeDocument/2006/relationships/slide" Target="slides/slide138.xml"/><Relationship Id="rId118" Type="http://schemas.openxmlformats.org/officeDocument/2006/relationships/slide" Target="slides/slide139.xml"/><Relationship Id="rId119" Type="http://schemas.openxmlformats.org/officeDocument/2006/relationships/slide" Target="slides/slide140.xml"/><Relationship Id="rId120" Type="http://schemas.openxmlformats.org/officeDocument/2006/relationships/slide" Target="slides/slide141.xml"/><Relationship Id="rId121" Type="http://schemas.openxmlformats.org/officeDocument/2006/relationships/slide" Target="slides/slide142.xml"/><Relationship Id="rId122" Type="http://schemas.openxmlformats.org/officeDocument/2006/relationships/slide" Target="slides/slide144.xml"/><Relationship Id="rId123" Type="http://schemas.openxmlformats.org/officeDocument/2006/relationships/slide" Target="slides/slide145.xml"/><Relationship Id="rId124" Type="http://schemas.openxmlformats.org/officeDocument/2006/relationships/slide" Target="slides/slide146.xml"/><Relationship Id="rId125" Type="http://schemas.openxmlformats.org/officeDocument/2006/relationships/slide" Target="slides/slide147.xml"/><Relationship Id="rId126" Type="http://schemas.openxmlformats.org/officeDocument/2006/relationships/slide" Target="slides/slide148.xml"/><Relationship Id="rId127" Type="http://schemas.openxmlformats.org/officeDocument/2006/relationships/slide" Target="slides/slide149.xml"/><Relationship Id="rId128" Type="http://schemas.openxmlformats.org/officeDocument/2006/relationships/slide" Target="slides/slide150.xml"/><Relationship Id="rId129" Type="http://schemas.openxmlformats.org/officeDocument/2006/relationships/slide" Target="slides/slide151.xml"/><Relationship Id="rId130" Type="http://schemas.openxmlformats.org/officeDocument/2006/relationships/slide" Target="slides/slide152.xml"/><Relationship Id="rId131" Type="http://schemas.openxmlformats.org/officeDocument/2006/relationships/slide" Target="slides/slide153.xml"/><Relationship Id="rId132" Type="http://schemas.openxmlformats.org/officeDocument/2006/relationships/slide" Target="slides/slide154.xml"/><Relationship Id="rId133" Type="http://schemas.openxmlformats.org/officeDocument/2006/relationships/slide" Target="slides/slide155.xml"/><Relationship Id="rId134" Type="http://schemas.openxmlformats.org/officeDocument/2006/relationships/slide" Target="slides/slide156.xml"/><Relationship Id="rId135" Type="http://schemas.openxmlformats.org/officeDocument/2006/relationships/slide" Target="slides/slide157.xml"/><Relationship Id="rId136" Type="http://schemas.openxmlformats.org/officeDocument/2006/relationships/slide" Target="slides/slide143.xml"/><Relationship Id="rId137" Type="http://schemas.openxmlformats.org/officeDocument/2006/relationships/slide" Target="slides/slide158.xml"/><Relationship Id="rId138" Type="http://schemas.openxmlformats.org/officeDocument/2006/relationships/slide" Target="slides/slide159.xml"/><Relationship Id="rId139" Type="http://schemas.openxmlformats.org/officeDocument/2006/relationships/slide" Target="slides/slide160.xml"/><Relationship Id="rId140" Type="http://schemas.openxmlformats.org/officeDocument/2006/relationships/slide" Target="slides/slide83.xml"/><Relationship Id="rId141" Type="http://schemas.openxmlformats.org/officeDocument/2006/relationships/slide" Target="slides/slide84.xml"/><Relationship Id="rId142" Type="http://schemas.openxmlformats.org/officeDocument/2006/relationships/slide" Target="slides/slide85.xml"/><Relationship Id="rId143" Type="http://schemas.openxmlformats.org/officeDocument/2006/relationships/slide" Target="slides/slide86.xml"/><Relationship Id="rId144" Type="http://schemas.openxmlformats.org/officeDocument/2006/relationships/slide" Target="slides/slide87.xml"/><Relationship Id="rId145" Type="http://schemas.openxmlformats.org/officeDocument/2006/relationships/slide" Target="slides/slide88.xml"/><Relationship Id="rId146" Type="http://schemas.openxmlformats.org/officeDocument/2006/relationships/slide" Target="slides/slide89.xml"/><Relationship Id="rId147" Type="http://schemas.openxmlformats.org/officeDocument/2006/relationships/slide" Target="slides/slide90.xml"/><Relationship Id="rId148" Type="http://schemas.openxmlformats.org/officeDocument/2006/relationships/slide" Target="slides/slide91.xml"/><Relationship Id="rId149" Type="http://schemas.openxmlformats.org/officeDocument/2006/relationships/slide" Target="slides/slide92.xml"/><Relationship Id="rId150" Type="http://schemas.openxmlformats.org/officeDocument/2006/relationships/slide" Target="slides/slide93.xml"/><Relationship Id="rId151" Type="http://schemas.openxmlformats.org/officeDocument/2006/relationships/slide" Target="slides/slide94.xml"/><Relationship Id="rId152" Type="http://schemas.openxmlformats.org/officeDocument/2006/relationships/slide" Target="slides/slide95.xml"/><Relationship Id="rId153" Type="http://schemas.openxmlformats.org/officeDocument/2006/relationships/slide" Target="slides/slide96.xml"/><Relationship Id="rId154" Type="http://schemas.openxmlformats.org/officeDocument/2006/relationships/slide" Target="slides/slide97.xml"/><Relationship Id="rId155" Type="http://schemas.openxmlformats.org/officeDocument/2006/relationships/slide" Target="slides/slide98.xml"/><Relationship Id="rId156" Type="http://schemas.openxmlformats.org/officeDocument/2006/relationships/slide" Target="slides/slide99.xml"/><Relationship Id="rId157" Type="http://schemas.openxmlformats.org/officeDocument/2006/relationships/slide" Target="slides/slide100.xml"/><Relationship Id="rId158" Type="http://schemas.openxmlformats.org/officeDocument/2006/relationships/slide" Target="slides/slide101.xml"/><Relationship Id="rId159" Type="http://schemas.openxmlformats.org/officeDocument/2006/relationships/slide" Target="slides/slide102.xml"/><Relationship Id="rId160" Type="http://schemas.openxmlformats.org/officeDocument/2006/relationships/slide" Target="slides/slide103.xml"/><Relationship Id="rId161" Type="http://schemas.openxmlformats.org/officeDocument/2006/relationships/slide" Target="slides/slide104.xml"/><Relationship Id="rId162" Type="http://schemas.openxmlformats.org/officeDocument/2006/relationships/slide" Target="slides/slide161.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2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217.png"/><Relationship Id="rId4" Type="http://schemas.openxmlformats.org/officeDocument/2006/relationships/image" Target="../media/image21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0.png"/><Relationship Id="rId3" Type="http://schemas.openxmlformats.org/officeDocument/2006/relationships/image" Target="../media/image221.png"/><Relationship Id="rId4" Type="http://schemas.openxmlformats.org/officeDocument/2006/relationships/image" Target="../media/image22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228.png"/><Relationship Id="rId6" Type="http://schemas.openxmlformats.org/officeDocument/2006/relationships/image" Target="../media/image229.png"/><Relationship Id="rId7" Type="http://schemas.openxmlformats.org/officeDocument/2006/relationships/image" Target="../media/image2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1.png"/><Relationship Id="rId3" Type="http://schemas.openxmlformats.org/officeDocument/2006/relationships/image" Target="../media/image2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3.png"/><Relationship Id="rId3" Type="http://schemas.openxmlformats.org/officeDocument/2006/relationships/image" Target="../media/image23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image" Target="../media/image23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7.png"/><Relationship Id="rId3" Type="http://schemas.openxmlformats.org/officeDocument/2006/relationships/image" Target="../media/image238.png"/><Relationship Id="rId4" Type="http://schemas.openxmlformats.org/officeDocument/2006/relationships/image" Target="../media/image23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24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6.png"/><Relationship Id="rId3" Type="http://schemas.openxmlformats.org/officeDocument/2006/relationships/image" Target="../media/image247.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7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18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85.png"/><Relationship Id="rId5" Type="http://schemas.openxmlformats.org/officeDocument/2006/relationships/image" Target="../media/image18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8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91.png"/><Relationship Id="rId5" Type="http://schemas.openxmlformats.org/officeDocument/2006/relationships/image" Target="../media/image19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3.png"/><Relationship Id="rId3" Type="http://schemas.openxmlformats.org/officeDocument/2006/relationships/image" Target="../media/image194.png"/><Relationship Id="rId4" Type="http://schemas.openxmlformats.org/officeDocument/2006/relationships/image" Target="../media/image195.png"/><Relationship Id="rId5" Type="http://schemas.openxmlformats.org/officeDocument/2006/relationships/image" Target="../media/image19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7.png"/><Relationship Id="rId3" Type="http://schemas.openxmlformats.org/officeDocument/2006/relationships/image" Target="../media/image198.png"/><Relationship Id="rId4" Type="http://schemas.openxmlformats.org/officeDocument/2006/relationships/image" Target="../media/image199.png"/><Relationship Id="rId5" Type="http://schemas.openxmlformats.org/officeDocument/2006/relationships/image" Target="../media/image20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image" Target="../media/image203.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207.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8.png"/><Relationship Id="rId3" Type="http://schemas.openxmlformats.org/officeDocument/2006/relationships/image" Target="../media/image20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21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5.png"/><Relationship Id="rId4" Type="http://schemas.openxmlformats.org/officeDocument/2006/relationships/image" Target="../media/image266.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995987" y="4598987"/>
            <a:ext cx="6089812" cy="5154612"/>
          </a:xfrm>
          <a:prstGeom prst="rect">
            <a:avLst/>
          </a:prstGeom>
        </p:spPr>
      </p:pic>
      <p:sp>
        <p:nvSpPr>
          <p:cNvPr id="4" name="TextBox 3"/>
          <p:cNvSpPr txBox="1"/>
          <p:nvPr/>
        </p:nvSpPr>
        <p:spPr>
          <a:xfrm>
            <a:off x="457200" y="735582"/>
            <a:ext cx="12377210" cy="247497"/>
          </a:xfrm>
          <a:prstGeom prst="rect">
            <a:avLst/>
          </a:prstGeom>
          <a:noFill/>
        </p:spPr>
        <p:txBody>
          <a:bodyPr wrap="none" lIns="0" tIns="0" rIns="0" bIns="0">
            <a:noAutofit/>
          </a:bodyPr>
          <a:lstStyle/>
          <a:p>
            <a:pPr algn="l"/>
            <a:r>
              <a:rPr sz="1600" dirty="0">
                <a:solidFill>
                  <a:srgbClr val="000000"/>
                </a:solidFill>
                <a:latin typeface="Helvetica Neue Light"/>
              </a:rPr>
              <a:t>End-to-end design process for a risk and compliance system serving Credit Suisse’s Risk and Compliance personnel</a:t>
            </a:r>
          </a:p>
        </p:txBody>
      </p:sp>
      <p:sp>
        <p:nvSpPr>
          <p:cNvPr id="5" name="TextBox 4"/>
          <p:cNvSpPr txBox="1"/>
          <p:nvPr/>
        </p:nvSpPr>
        <p:spPr>
          <a:xfrm>
            <a:off x="457200" y="1758694"/>
            <a:ext cx="3827199" cy="742492"/>
          </a:xfrm>
          <a:prstGeom prst="rect">
            <a:avLst/>
          </a:prstGeom>
          <a:noFill/>
        </p:spPr>
        <p:txBody>
          <a:bodyPr wrap="none" lIns="0" tIns="0" rIns="0" bIns="0">
            <a:noAutofit/>
          </a:bodyPr>
          <a:lstStyle/>
          <a:p>
            <a:pPr algn="l"/>
            <a:r>
              <a:rPr sz="4800" dirty="0">
                <a:solidFill>
                  <a:srgbClr val="000000"/>
                </a:solidFill>
                <a:latin typeface="Helvetica Neue Light"/>
              </a:rPr>
              <a:t>Credit Suisse</a:t>
            </a:r>
          </a:p>
        </p:txBody>
      </p:sp>
      <p:sp>
        <p:nvSpPr>
          <p:cNvPr id="6" name="TextBox 5"/>
          <p:cNvSpPr txBox="1"/>
          <p:nvPr/>
        </p:nvSpPr>
        <p:spPr>
          <a:xfrm>
            <a:off x="457200" y="2737610"/>
            <a:ext cx="3817324" cy="371246"/>
          </a:xfrm>
          <a:prstGeom prst="rect">
            <a:avLst/>
          </a:prstGeom>
          <a:noFill/>
        </p:spPr>
        <p:txBody>
          <a:bodyPr wrap="none" lIns="0" tIns="0" rIns="0" bIns="0">
            <a:noAutofit/>
          </a:bodyPr>
          <a:lstStyle/>
          <a:p>
            <a:pPr algn="l"/>
            <a:r>
              <a:rPr sz="2400" dirty="0">
                <a:solidFill>
                  <a:srgbClr val="000000"/>
                </a:solidFill>
                <a:latin typeface="Helvetica Neue Light"/>
              </a:rPr>
              <a:t>Outside Business Interests</a:t>
            </a:r>
          </a:p>
        </p:txBody>
      </p:sp>
      <p:sp>
        <p:nvSpPr>
          <p:cNvPr id="7" name="TextBox 6"/>
          <p:cNvSpPr txBox="1"/>
          <p:nvPr/>
        </p:nvSpPr>
        <p:spPr>
          <a:xfrm>
            <a:off x="457200" y="4710682"/>
            <a:ext cx="5290092" cy="247497"/>
          </a:xfrm>
          <a:prstGeom prst="rect">
            <a:avLst/>
          </a:prstGeom>
          <a:noFill/>
        </p:spPr>
        <p:txBody>
          <a:bodyPr wrap="none" lIns="0" tIns="0" rIns="0" bIns="0">
            <a:noAutofit/>
          </a:bodyPr>
          <a:lstStyle/>
          <a:p>
            <a:pPr algn="l"/>
            <a:r>
              <a:rPr sz="1600" dirty="0">
                <a:solidFill>
                  <a:srgbClr val="404040"/>
                </a:solidFill>
                <a:latin typeface="Helvetica Neue Light"/>
              </a:rPr>
              <a:t>Helping Credit Suisse save money by reducing friction, </a:t>
            </a:r>
          </a:p>
        </p:txBody>
      </p:sp>
      <p:sp>
        <p:nvSpPr>
          <p:cNvPr id="8" name="TextBox 7"/>
          <p:cNvSpPr txBox="1"/>
          <p:nvPr/>
        </p:nvSpPr>
        <p:spPr>
          <a:xfrm>
            <a:off x="457200" y="5104382"/>
            <a:ext cx="5310284" cy="247497"/>
          </a:xfrm>
          <a:prstGeom prst="rect">
            <a:avLst/>
          </a:prstGeom>
          <a:noFill/>
        </p:spPr>
        <p:txBody>
          <a:bodyPr wrap="none" lIns="0" tIns="0" rIns="0" bIns="0">
            <a:noAutofit/>
          </a:bodyPr>
          <a:lstStyle/>
          <a:p>
            <a:pPr algn="l"/>
            <a:r>
              <a:rPr sz="1600" dirty="0">
                <a:solidFill>
                  <a:srgbClr val="404040"/>
                </a:solidFill>
                <a:latin typeface="Helvetica Neue Light"/>
              </a:rPr>
              <a:t>educating employees and removing risk vulnerability in </a:t>
            </a:r>
          </a:p>
        </p:txBody>
      </p:sp>
      <p:sp>
        <p:nvSpPr>
          <p:cNvPr id="9" name="TextBox 8"/>
          <p:cNvSpPr txBox="1"/>
          <p:nvPr/>
        </p:nvSpPr>
        <p:spPr>
          <a:xfrm>
            <a:off x="457200" y="5498082"/>
            <a:ext cx="2908117" cy="247497"/>
          </a:xfrm>
          <a:prstGeom prst="rect">
            <a:avLst/>
          </a:prstGeom>
          <a:noFill/>
        </p:spPr>
        <p:txBody>
          <a:bodyPr wrap="none" lIns="0" tIns="0" rIns="0" bIns="0">
            <a:noAutofit/>
          </a:bodyPr>
          <a:lstStyle/>
          <a:p>
            <a:pPr algn="l"/>
            <a:r>
              <a:rPr sz="1600" dirty="0">
                <a:solidFill>
                  <a:srgbClr val="404040"/>
                </a:solidFill>
                <a:latin typeface="Helvetica Neue Light"/>
              </a:rPr>
              <a:t>its risk and compliance efforts.</a:t>
            </a:r>
          </a:p>
        </p:txBody>
      </p:sp>
      <p:sp>
        <p:nvSpPr>
          <p:cNvPr id="10" name="TextBox 9"/>
          <p:cNvSpPr txBox="1"/>
          <p:nvPr/>
        </p:nvSpPr>
        <p:spPr>
          <a:xfrm>
            <a:off x="1031378" y="7552435"/>
            <a:ext cx="4518390" cy="9052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“It’s too limited in its functionality to be of use for an Approver. Too much time is wasted trying to do more complex tasks” </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Credit Suisse OBI</a:t>
            </a:r>
          </a:p>
        </p:txBody>
      </p:sp>
      <p:sp>
        <p:nvSpPr>
          <p:cNvPr id="4" name="TextBox 3"/>
          <p:cNvSpPr txBox="1"/>
          <p:nvPr/>
        </p:nvSpPr>
        <p:spPr>
          <a:xfrm>
            <a:off x="8686800" y="16212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5" name="TextBox 4"/>
          <p:cNvSpPr txBox="1"/>
          <p:nvPr/>
        </p:nvSpPr>
        <p:spPr>
          <a:xfrm>
            <a:off x="8686800" y="2005479"/>
            <a:ext cx="2568564" cy="266090"/>
          </a:xfrm>
          <a:prstGeom prst="rect">
            <a:avLst/>
          </a:prstGeom>
          <a:noFill/>
        </p:spPr>
        <p:txBody>
          <a:bodyPr wrap="none" lIns="0" tIns="0" rIns="0" bIns="0">
            <a:noAutofit/>
          </a:bodyPr>
          <a:lstStyle/>
          <a:p>
            <a:pPr algn="l"/>
            <a:r>
              <a:rPr sz="1800" dirty="0">
                <a:solidFill>
                  <a:srgbClr val="FFFFFF"/>
                </a:solidFill>
                <a:latin typeface="Helvetica Neue Thin"/>
              </a:rPr>
              <a:t>• Risk and Compliance </a:t>
            </a:r>
          </a:p>
        </p:txBody>
      </p:sp>
      <p:sp>
        <p:nvSpPr>
          <p:cNvPr id="6" name="TextBox 5"/>
          <p:cNvSpPr txBox="1"/>
          <p:nvPr/>
        </p:nvSpPr>
        <p:spPr>
          <a:xfrm>
            <a:off x="8915400" y="2386479"/>
            <a:ext cx="1092914" cy="266090"/>
          </a:xfrm>
          <a:prstGeom prst="rect">
            <a:avLst/>
          </a:prstGeom>
          <a:noFill/>
        </p:spPr>
        <p:txBody>
          <a:bodyPr wrap="none" lIns="0" tIns="0" rIns="0" bIns="0">
            <a:noAutofit/>
          </a:bodyPr>
          <a:lstStyle/>
          <a:p>
            <a:pPr algn="l"/>
            <a:r>
              <a:rPr sz="1800" dirty="0">
                <a:solidFill>
                  <a:srgbClr val="FFFFFF"/>
                </a:solidFill>
                <a:latin typeface="Helvetica Neue Thin"/>
              </a:rPr>
              <a:t>managers</a:t>
            </a:r>
          </a:p>
        </p:txBody>
      </p:sp>
      <p:sp>
        <p:nvSpPr>
          <p:cNvPr id="7" name="TextBox 6"/>
          <p:cNvSpPr txBox="1"/>
          <p:nvPr/>
        </p:nvSpPr>
        <p:spPr>
          <a:xfrm>
            <a:off x="8686800" y="2767479"/>
            <a:ext cx="2160210" cy="266090"/>
          </a:xfrm>
          <a:prstGeom prst="rect">
            <a:avLst/>
          </a:prstGeom>
          <a:noFill/>
        </p:spPr>
        <p:txBody>
          <a:bodyPr wrap="none" lIns="0" tIns="0" rIns="0" bIns="0">
            <a:noAutofit/>
          </a:bodyPr>
          <a:lstStyle/>
          <a:p>
            <a:pPr algn="l"/>
            <a:r>
              <a:rPr sz="1800" dirty="0">
                <a:solidFill>
                  <a:srgbClr val="FFFFFF"/>
                </a:solidFill>
                <a:latin typeface="Helvetica Neue Thin"/>
              </a:rPr>
              <a:t>• All CS employees</a:t>
            </a:r>
          </a:p>
        </p:txBody>
      </p:sp>
      <p:sp>
        <p:nvSpPr>
          <p:cNvPr id="8" name="TextBox 7"/>
          <p:cNvSpPr txBox="1"/>
          <p:nvPr/>
        </p:nvSpPr>
        <p:spPr>
          <a:xfrm>
            <a:off x="8686800" y="3148481"/>
            <a:ext cx="2031581" cy="266090"/>
          </a:xfrm>
          <a:prstGeom prst="rect">
            <a:avLst/>
          </a:prstGeom>
          <a:noFill/>
        </p:spPr>
        <p:txBody>
          <a:bodyPr wrap="none" lIns="0" tIns="0" rIns="0" bIns="0">
            <a:noAutofit/>
          </a:bodyPr>
          <a:lstStyle/>
          <a:p>
            <a:pPr algn="l"/>
            <a:r>
              <a:rPr sz="1800" dirty="0">
                <a:solidFill>
                  <a:srgbClr val="FFFFFF"/>
                </a:solidFill>
                <a:latin typeface="Helvetica Neue Thin"/>
              </a:rPr>
              <a:t>• All CS managers</a:t>
            </a:r>
          </a:p>
        </p:txBody>
      </p:sp>
      <p:sp>
        <p:nvSpPr>
          <p:cNvPr id="9" name="TextBox 8"/>
          <p:cNvSpPr txBox="1"/>
          <p:nvPr/>
        </p:nvSpPr>
        <p:spPr>
          <a:xfrm>
            <a:off x="457200" y="4780278"/>
            <a:ext cx="4902971" cy="1442211"/>
          </a:xfrm>
          <a:prstGeom prst="rect">
            <a:avLst/>
          </a:prstGeom>
          <a:noFill/>
        </p:spPr>
        <p:txBody>
          <a:bodyPr wrap="none" lIns="0" tIns="0" rIns="0" bIns="0">
            <a:noAutofit/>
          </a:bodyPr>
          <a:lstStyle/>
          <a:p>
            <a:pPr algn="l">
              <a:lnSpc>
                <a:spcPts val="3000"/>
              </a:lnSpc>
            </a:pPr>
            <a:r>
              <a:rPr sz="2000" dirty="0">
                <a:solidFill>
                  <a:srgbClr val="000000"/>
                </a:solidFill>
                <a:latin typeface="Helvetica Neue Light"/>
              </a:rPr>
              <a:t>The problems</a:t>
            </a:r>
          </a:p>
          <a:p>
            <a:pPr algn="l">
              <a:lnSpc>
                <a:spcPts val="3000"/>
              </a:lnSpc>
            </a:pPr>
            <a:r>
              <a:rPr sz="2000" dirty="0">
                <a:solidFill>
                  <a:srgbClr val="000000"/>
                </a:solidFill>
                <a:latin typeface="Helvetica Neue Thin"/>
              </a:rPr>
              <a:t>• Submission status tracking is not clear </a:t>
            </a:r>
          </a:p>
          <a:p>
            <a:pPr algn="l">
              <a:lnSpc>
                <a:spcPts val="3000"/>
              </a:lnSpc>
            </a:pPr>
            <a:r>
              <a:rPr sz="2000" dirty="0">
                <a:solidFill>
                  <a:srgbClr val="000000"/>
                </a:solidFill>
                <a:latin typeface="Helvetica Neue Thin"/>
              </a:rPr>
              <a:t>• Lines of responsibility are not transparent</a:t>
            </a:r>
          </a:p>
          <a:p>
            <a:pPr algn="l">
              <a:lnSpc>
                <a:spcPts val="3000"/>
              </a:lnSpc>
            </a:pPr>
            <a:r>
              <a:rPr sz="2000" dirty="0">
                <a:solidFill>
                  <a:srgbClr val="000000"/>
                </a:solidFill>
                <a:latin typeface="Helvetica Neue Thin"/>
              </a:rPr>
              <a:t>• No ability for reporting </a:t>
            </a:r>
          </a:p>
        </p:txBody>
      </p:sp>
      <p:sp>
        <p:nvSpPr>
          <p:cNvPr id="10" name="TextBox 9"/>
          <p:cNvSpPr txBox="1"/>
          <p:nvPr/>
        </p:nvSpPr>
        <p:spPr>
          <a:xfrm>
            <a:off x="457200" y="6307835"/>
            <a:ext cx="5270835" cy="676655"/>
          </a:xfrm>
          <a:prstGeom prst="rect">
            <a:avLst/>
          </a:prstGeom>
          <a:noFill/>
        </p:spPr>
        <p:txBody>
          <a:bodyPr wrap="none" lIns="0" tIns="0" rIns="0" bIns="0">
            <a:noAutofit/>
          </a:bodyPr>
          <a:lstStyle/>
          <a:p>
            <a:pPr algn="l">
              <a:lnSpc>
                <a:spcPts val="3000"/>
              </a:lnSpc>
            </a:pPr>
            <a:r>
              <a:rPr sz="2000" dirty="0">
                <a:solidFill>
                  <a:srgbClr val="000000"/>
                </a:solidFill>
                <a:latin typeface="Helvetica Neue Thin"/>
              </a:rPr>
              <a:t>• Navigation in the tool is challenging</a:t>
            </a:r>
          </a:p>
          <a:p>
            <a:pPr algn="l">
              <a:lnSpc>
                <a:spcPts val="3000"/>
              </a:lnSpc>
            </a:pPr>
            <a:r>
              <a:rPr sz="2000" dirty="0">
                <a:solidFill>
                  <a:srgbClr val="000000"/>
                </a:solidFill>
                <a:latin typeface="Helvetica Neue Thin"/>
              </a:rPr>
              <a:t>• Users often don’t know why and when they </a:t>
            </a:r>
          </a:p>
        </p:txBody>
      </p:sp>
      <p:sp>
        <p:nvSpPr>
          <p:cNvPr id="11" name="TextBox 10"/>
          <p:cNvSpPr txBox="1"/>
          <p:nvPr/>
        </p:nvSpPr>
        <p:spPr>
          <a:xfrm>
            <a:off x="457200" y="7069835"/>
            <a:ext cx="5100208" cy="676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should submit</a:t>
            </a:r>
          </a:p>
          <a:p>
            <a:pPr algn="l">
              <a:lnSpc>
                <a:spcPts val="3000"/>
              </a:lnSpc>
            </a:pPr>
            <a:r>
              <a:rPr sz="2000" dirty="0">
                <a:solidFill>
                  <a:srgbClr val="000000"/>
                </a:solidFill>
                <a:latin typeface="Helvetica Neue Thin"/>
              </a:rPr>
              <a:t>• No Mobile access for Risk &amp; Compliance </a:t>
            </a:r>
          </a:p>
        </p:txBody>
      </p:sp>
      <p:sp>
        <p:nvSpPr>
          <p:cNvPr id="12" name="TextBox 11"/>
          <p:cNvSpPr txBox="1"/>
          <p:nvPr/>
        </p:nvSpPr>
        <p:spPr>
          <a:xfrm>
            <a:off x="457200" y="7831835"/>
            <a:ext cx="3834221" cy="1057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Managers</a:t>
            </a:r>
          </a:p>
          <a:p>
            <a:pPr algn="l">
              <a:lnSpc>
                <a:spcPts val="3000"/>
              </a:lnSpc>
            </a:pPr>
            <a:r>
              <a:rPr sz="2000" dirty="0">
                <a:solidFill>
                  <a:srgbClr val="000000"/>
                </a:solidFill>
                <a:latin typeface="Helvetica Neue Thin"/>
              </a:rPr>
              <a:t>• Submission process confusing</a:t>
            </a:r>
          </a:p>
          <a:p>
            <a:pPr algn="l">
              <a:lnSpc>
                <a:spcPts val="3000"/>
              </a:lnSpc>
            </a:pPr>
            <a:r>
              <a:rPr sz="2000" dirty="0">
                <a:solidFill>
                  <a:srgbClr val="000000"/>
                </a:solidFill>
                <a:latin typeface="Helvetica Neue Thin"/>
              </a:rPr>
              <a:t>• No education available</a:t>
            </a:r>
          </a:p>
        </p:txBody>
      </p:sp>
      <p:sp>
        <p:nvSpPr>
          <p:cNvPr id="13" name="TextBox 12"/>
          <p:cNvSpPr txBox="1"/>
          <p:nvPr/>
        </p:nvSpPr>
        <p:spPr>
          <a:xfrm>
            <a:off x="457200" y="1894076"/>
            <a:ext cx="5753169" cy="2227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OBI?</a:t>
            </a:r>
          </a:p>
          <a:p>
            <a:pPr algn="l">
              <a:lnSpc>
                <a:spcPts val="3000"/>
              </a:lnSpc>
            </a:pPr>
            <a:r>
              <a:rPr sz="2000" dirty="0">
                <a:solidFill>
                  <a:srgbClr val="000000"/>
                </a:solidFill>
                <a:latin typeface="Helvetica Neue Thin"/>
              </a:rPr>
              <a:t>Browser-based application that’s part of the Risk &amp; Compliance platform, that gives users pre-clearance for outside activities where requests can be reviewed by first line Reviewers and second line Risk &amp; Compliance Managers.</a:t>
            </a:r>
          </a:p>
        </p:txBody>
      </p:sp>
      <p:sp>
        <p:nvSpPr>
          <p:cNvPr id="15" name="TextBox 14"/>
          <p:cNvSpPr txBox="1"/>
          <p:nvPr/>
        </p:nvSpPr>
        <p:spPr>
          <a:xfrm>
            <a:off x="7061200" y="4799073"/>
            <a:ext cx="901576" cy="278434"/>
          </a:xfrm>
          <a:prstGeom prst="rect">
            <a:avLst/>
          </a:prstGeom>
          <a:noFill/>
        </p:spPr>
        <p:txBody>
          <a:bodyPr wrap="none" lIns="0" tIns="0" rIns="0" bIns="0">
            <a:noAutofit/>
          </a:bodyPr>
          <a:lstStyle/>
          <a:p>
            <a:pPr algn="l"/>
            <a:r>
              <a:rPr sz="1800" dirty="0">
                <a:solidFill>
                  <a:srgbClr val="000000"/>
                </a:solidFill>
                <a:latin typeface="Helvetica Neue Light"/>
              </a:rPr>
              <a:t>My Role</a:t>
            </a:r>
          </a:p>
        </p:txBody>
      </p:sp>
      <p:sp>
        <p:nvSpPr>
          <p:cNvPr id="16" name="TextBox 15"/>
          <p:cNvSpPr txBox="1"/>
          <p:nvPr/>
        </p:nvSpPr>
        <p:spPr>
          <a:xfrm>
            <a:off x="7061200" y="5114846"/>
            <a:ext cx="4735830" cy="708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project team utilizing the support of 2 UX designers, and a content designer. </a:t>
            </a:r>
          </a:p>
        </p:txBody>
      </p:sp>
      <p:sp>
        <p:nvSpPr>
          <p:cNvPr id="18" name="TextBox 17"/>
          <p:cNvSpPr txBox="1"/>
          <p:nvPr/>
        </p:nvSpPr>
        <p:spPr>
          <a:xfrm>
            <a:off x="7061200" y="5876846"/>
            <a:ext cx="4846300" cy="1089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was responsible for managing the discovery process, including research, strategy and overall hands-on design of the material and artifacts. </a:t>
            </a:r>
          </a:p>
        </p:txBody>
      </p:sp>
      <p:sp>
        <p:nvSpPr>
          <p:cNvPr id="21" name="TextBox 20"/>
          <p:cNvSpPr txBox="1"/>
          <p:nvPr/>
        </p:nvSpPr>
        <p:spPr>
          <a:xfrm>
            <a:off x="7061200" y="7019846"/>
            <a:ext cx="5025251" cy="11153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Original Application</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r>
              <a:rPr sz="1400">
                <a:solidFill>
                  <a:srgbClr val="1F1F1F"/>
                </a:solidFill>
                <a:latin typeface="Helvetica Neue"/>
              </a:rPr>
              <a:t>Discovery &amp; Research   Credit Suisse OBI</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7" name="TextBox 6"/>
          <p:cNvSpPr txBox="1"/>
          <p:nvPr/>
        </p:nvSpPr>
        <p:spPr>
          <a:xfrm>
            <a:off x="457200" y="939800"/>
            <a:ext cx="3298190" cy="476250"/>
          </a:xfrm>
          <a:prstGeom prst="rect">
            <a:avLst/>
          </a:prstGeom>
          <a:noFill/>
        </p:spPr>
        <p:txBody>
          <a:bodyPr wrap="none" lIns="0" tIns="0" rIns="0" bIns="0">
            <a:noAutofit/>
          </a:bodyPr>
          <a:lstStyle/>
          <a:p>
            <a:pPr algn="l">
              <a:lnSpc>
                <a:spcPts val="5600"/>
              </a:lnSpc>
            </a:pPr>
            <a:r>
              <a:rPr sz="3000" dirty="0">
                <a:solidFill>
                  <a:srgbClr val="1F1F1F"/>
                </a:solidFill>
                <a:latin typeface="Helvetica Neue Light"/>
              </a:rPr>
              <a:t>Why redesign OBI?</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9" name="TextBox 8"/>
          <p:cNvSpPr txBox="1"/>
          <p:nvPr/>
        </p:nvSpPr>
        <p:spPr>
          <a:xfrm>
            <a:off x="762000" y="1778000"/>
            <a:ext cx="3683000" cy="2540000"/>
          </a:xfrm>
          <a:prstGeom prst="rect">
            <a:avLst/>
          </a:prstGeom>
          <a:noFill/>
        </p:spPr>
        <p:txBody>
          <a:bodyPr wrap="square" lIns="0" tIns="0" rIns="0" bIns="0">
            <a:noAutofit/>
          </a:bodyPr>
          <a:lstStyle/>
          <a:p>
            <a:r>
              <a:rPr sz="6400">
                <a:solidFill>
                  <a:srgbClr val="EF6100"/>
                </a:solidFill>
                <a:latin typeface="Helvetica Neue Light"/>
              </a:rPr>
              <a:t>475</a:t>
            </a:r>
          </a:p>
          <a:p>
            <a:pPr>
              <a:spcBef>
                <a:spcPts val="400"/>
              </a:spcBef>
            </a:pPr>
            <a:r>
              <a:rPr sz="1700">
                <a:solidFill>
                  <a:srgbClr val="1F1F1F"/>
                </a:solidFill>
                <a:latin typeface="Helvetica Neue Light"/>
              </a:rPr>
              <a:t>Returned submissions missing required information, per year</a:t>
            </a:r>
          </a:p>
        </p:txBody>
      </p:sp>
      <p:sp>
        <p:nvSpPr>
          <p:cNvPr id="10" name="TextBox 9"/>
          <p:cNvSpPr txBox="1"/>
          <p:nvPr/>
        </p:nvSpPr>
        <p:spPr>
          <a:xfrm>
            <a:off x="4826000" y="1778000"/>
            <a:ext cx="3683000" cy="2540000"/>
          </a:xfrm>
          <a:prstGeom prst="rect">
            <a:avLst/>
          </a:prstGeom>
          <a:noFill/>
        </p:spPr>
        <p:txBody>
          <a:bodyPr wrap="square" lIns="0" tIns="0" rIns="0" bIns="0">
            <a:noAutofit/>
          </a:bodyPr>
          <a:lstStyle/>
          <a:p>
            <a:r>
              <a:rPr sz="6400">
                <a:solidFill>
                  <a:srgbClr val="1D00DF"/>
                </a:solidFill>
                <a:latin typeface="Helvetica Neue Light"/>
              </a:rPr>
              <a:t>22 mins</a:t>
            </a:r>
          </a:p>
          <a:p>
            <a:pPr>
              <a:spcBef>
                <a:spcPts val="400"/>
              </a:spcBef>
            </a:pPr>
            <a:r>
              <a:rPr sz="1700">
                <a:solidFill>
                  <a:srgbClr val="1F1F1F"/>
                </a:solidFill>
                <a:latin typeface="Helvetica Neue Light"/>
              </a:rPr>
              <a:t>Average time employees need to resubmit</a:t>
            </a:r>
          </a:p>
        </p:txBody>
      </p:sp>
      <p:sp>
        <p:nvSpPr>
          <p:cNvPr id="11" name="TextBox 10"/>
          <p:cNvSpPr txBox="1"/>
          <p:nvPr/>
        </p:nvSpPr>
        <p:spPr>
          <a:xfrm>
            <a:off x="8890000" y="1778000"/>
            <a:ext cx="3683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Process Risk &amp; Compliance Managers</a:t>
            </a:r>
          </a:p>
        </p:txBody>
      </p:sp>
      <p:sp>
        <p:nvSpPr>
          <p:cNvPr id="12" name="TextBox 11"/>
          <p:cNvSpPr txBox="1"/>
          <p:nvPr/>
        </p:nvSpPr>
        <p:spPr>
          <a:xfrm>
            <a:off x="762000" y="5461000"/>
            <a:ext cx="3683000" cy="2540000"/>
          </a:xfrm>
          <a:prstGeom prst="rect">
            <a:avLst/>
          </a:prstGeom>
          <a:noFill/>
        </p:spPr>
        <p:txBody>
          <a:bodyPr wrap="square" lIns="0" tIns="0" rIns="0" bIns="0">
            <a:noAutofit/>
          </a:bodyPr>
          <a:lstStyle/>
          <a:p>
            <a:r>
              <a:rPr sz="6400">
                <a:solidFill>
                  <a:srgbClr val="1D00DF"/>
                </a:solidFill>
                <a:latin typeface="Helvetica Neue Light"/>
              </a:rPr>
              <a:t>5.4%</a:t>
            </a:r>
          </a:p>
          <a:p>
            <a:pPr>
              <a:spcBef>
                <a:spcPts val="400"/>
              </a:spcBef>
            </a:pPr>
            <a:r>
              <a:rPr sz="1700">
                <a:solidFill>
                  <a:srgbClr val="1F1F1F"/>
                </a:solidFill>
                <a:latin typeface="Helvetica Neue Light"/>
              </a:rPr>
              <a:t>Drop-off rate on Outside Business Activities form submissions</a:t>
            </a:r>
          </a:p>
        </p:txBody>
      </p:sp>
      <p:sp>
        <p:nvSpPr>
          <p:cNvPr id="13" name="TextBox 12"/>
          <p:cNvSpPr txBox="1"/>
          <p:nvPr/>
        </p:nvSpPr>
        <p:spPr>
          <a:xfrm>
            <a:off x="4826000" y="5461000"/>
            <a:ext cx="3683000" cy="2540000"/>
          </a:xfrm>
          <a:prstGeom prst="rect">
            <a:avLst/>
          </a:prstGeom>
          <a:noFill/>
        </p:spPr>
        <p:txBody>
          <a:bodyPr wrap="square" lIns="0" tIns="0" rIns="0" bIns="0">
            <a:noAutofit/>
          </a:bodyPr>
          <a:lstStyle/>
          <a:p>
            <a:r>
              <a:rPr sz="6400">
                <a:solidFill>
                  <a:srgbClr val="6B267A"/>
                </a:solidFill>
                <a:latin typeface="Helvetica Neue Light"/>
              </a:rPr>
              <a:t>6.1%</a:t>
            </a:r>
          </a:p>
          <a:p>
            <a:pPr>
              <a:spcBef>
                <a:spcPts val="400"/>
              </a:spcBef>
            </a:pPr>
            <a:r>
              <a:rPr sz="1700">
                <a:solidFill>
                  <a:srgbClr val="1F1F1F"/>
                </a:solidFill>
                <a:latin typeface="Helvetica Neue Light"/>
              </a:rPr>
              <a:t>Drop-off rate on Private Investments form submissions</a:t>
            </a:r>
          </a:p>
        </p:txBody>
      </p:sp>
      <p:sp>
        <p:nvSpPr>
          <p:cNvPr id="14" name="TextBox 13"/>
          <p:cNvSpPr txBox="1"/>
          <p:nvPr/>
        </p:nvSpPr>
        <p:spPr>
          <a:xfrm>
            <a:off x="8890000" y="5461000"/>
            <a:ext cx="3683000" cy="2540000"/>
          </a:xfrm>
          <a:prstGeom prst="rect">
            <a:avLst/>
          </a:prstGeom>
          <a:noFill/>
        </p:spPr>
        <p:txBody>
          <a:bodyPr wrap="square" lIns="0" tIns="0" rIns="0" bIns="0">
            <a:noAutofit/>
          </a:bodyPr>
          <a:lstStyle/>
          <a:p>
            <a:r>
              <a:rPr sz="6400">
                <a:solidFill>
                  <a:srgbClr val="00DF57"/>
                </a:solidFill>
                <a:latin typeface="Helvetica Neue Light"/>
              </a:rPr>
              <a:t>61%</a:t>
            </a:r>
          </a:p>
          <a:p>
            <a:pPr>
              <a:spcBef>
                <a:spcPts val="400"/>
              </a:spcBef>
            </a:pPr>
            <a:r>
              <a:rPr sz="1700">
                <a:solidFill>
                  <a:srgbClr val="1F1F1F"/>
                </a:solidFill>
                <a:latin typeface="Helvetica Neue Light"/>
              </a:rPr>
              <a:t>Approval rating from employees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04205"/>
            <a:ext cx="6171318" cy="3021786"/>
          </a:xfrm>
          <a:prstGeom prst="rect">
            <a:avLst/>
          </a:prstGeom>
          <a:noFill/>
        </p:spPr>
        <p:txBody>
          <a:bodyPr wrap="none" lIns="0" tIns="0" rIns="0" bIns="0">
            <a:noAutofit/>
          </a:bodyPr>
          <a:lstStyle/>
          <a:p>
            <a:pPr algn="l">
              <a:lnSpc>
                <a:spcPts val="3500"/>
              </a:lnSpc>
            </a:pPr>
            <a:r>
              <a:rPr sz="2400" dirty="0">
                <a:solidFill>
                  <a:srgbClr val="FFFFFF"/>
                </a:solidFill>
                <a:latin typeface="Helvetica Neue Thin"/>
              </a:rPr>
              <a:t>•  Interviews </a:t>
            </a:r>
          </a:p>
          <a:p>
            <a:pPr marL="457200" algn="l">
              <a:lnSpc>
                <a:spcPts val="3500"/>
              </a:lnSpc>
            </a:pPr>
            <a:r>
              <a:rPr sz="2400" dirty="0">
                <a:solidFill>
                  <a:srgbClr val="FFFFFF"/>
                </a:solidFill>
                <a:latin typeface="Helvetica Neue Thin"/>
              </a:rPr>
              <a:t>• Reviewers</a:t>
            </a:r>
          </a:p>
          <a:p>
            <a:pPr marL="457200" algn="l">
              <a:lnSpc>
                <a:spcPts val="3500"/>
              </a:lnSpc>
            </a:pPr>
            <a:r>
              <a:rPr sz="2400" dirty="0">
                <a:solidFill>
                  <a:srgbClr val="FFFFFF"/>
                </a:solidFill>
                <a:latin typeface="Helvetica Neue Thin"/>
              </a:rPr>
              <a:t>• Manager Risk &amp; Compliance Managers</a:t>
            </a:r>
          </a:p>
          <a:p>
            <a:pPr marL="457200" algn="l">
              <a:lnSpc>
                <a:spcPts val="3500"/>
              </a:lnSpc>
            </a:pPr>
            <a:r>
              <a:rPr sz="2400" dirty="0">
                <a:solidFill>
                  <a:srgbClr val="FFFFFF"/>
                </a:solidFill>
                <a:latin typeface="Helvetica Neue Thin"/>
              </a:rPr>
              <a:t>• Risk and Compliance Managers</a:t>
            </a:r>
          </a:p>
          <a:p>
            <a:pPr algn="l">
              <a:lnSpc>
                <a:spcPts val="3500"/>
              </a:lnSpc>
            </a:pPr>
            <a:r>
              <a:rPr sz="2400" dirty="0">
                <a:solidFill>
                  <a:srgbClr val="FFFFFF"/>
                </a:solidFill>
                <a:latin typeface="Helvetica Neue Thin"/>
              </a:rPr>
              <a:t>• Contextual interviews </a:t>
            </a:r>
          </a:p>
          <a:p>
            <a:pPr algn="l">
              <a:lnSpc>
                <a:spcPts val="3500"/>
              </a:lnSpc>
            </a:pPr>
            <a:r>
              <a:rPr sz="2400" dirty="0">
                <a:solidFill>
                  <a:srgbClr val="FFFFFF"/>
                </a:solidFill>
                <a:latin typeface="Helvetica Neue Thin"/>
              </a:rPr>
              <a:t>• Persona development</a:t>
            </a:r>
          </a:p>
          <a:p>
            <a:pPr algn="l">
              <a:lnSpc>
                <a:spcPts val="3500"/>
              </a:lnSpc>
            </a:pPr>
            <a:r>
              <a:rPr sz="2400" dirty="0">
                <a:solidFill>
                  <a:srgbClr val="FFFFFF"/>
                </a:solidFill>
                <a:latin typeface="Helvetica Neue Thin"/>
              </a:rPr>
              <a:t>• Research Synthesis</a:t>
            </a:r>
          </a:p>
        </p:txBody>
      </p:sp>
      <p:sp>
        <p:nvSpPr>
          <p:cNvPr id="5" name="TextBox 4"/>
          <p:cNvSpPr txBox="1"/>
          <p:nvPr/>
        </p:nvSpPr>
        <p:spPr>
          <a:xfrm>
            <a:off x="1066800" y="7160204"/>
            <a:ext cx="3932175" cy="354787"/>
          </a:xfrm>
          <a:prstGeom prst="rect">
            <a:avLst/>
          </a:prstGeom>
          <a:noFill/>
        </p:spPr>
        <p:txBody>
          <a:bodyPr wrap="none" lIns="0" tIns="0" rIns="0" bIns="0">
            <a:noAutofit/>
          </a:bodyPr>
          <a:lstStyle/>
          <a:p>
            <a:pPr algn="l"/>
            <a:r>
              <a:rPr sz="2400" dirty="0">
                <a:solidFill>
                  <a:srgbClr val="FFFFFF"/>
                </a:solidFill>
                <a:latin typeface="Helvetica Neue Thin"/>
              </a:rPr>
              <a:t>• Design Thinking Exercises</a:t>
            </a:r>
          </a:p>
        </p:txBody>
      </p:sp>
      <p:sp>
        <p:nvSpPr>
          <p:cNvPr id="6" name="TextBox 5"/>
          <p:cNvSpPr txBox="1"/>
          <p:nvPr/>
        </p:nvSpPr>
        <p:spPr>
          <a:xfrm>
            <a:off x="7671394" y="3704080"/>
            <a:ext cx="2057259" cy="278434"/>
          </a:xfrm>
          <a:prstGeom prst="rect">
            <a:avLst/>
          </a:prstGeom>
          <a:noFill/>
        </p:spPr>
        <p:txBody>
          <a:bodyPr wrap="none" lIns="0" tIns="0" rIns="0" bIns="0">
            <a:noAutofit/>
          </a:bodyPr>
          <a:lstStyle/>
          <a:p>
            <a:pPr algn="l"/>
            <a:r>
              <a:rPr sz="1800" dirty="0">
                <a:solidFill>
                  <a:srgbClr val="FFFFFF"/>
                </a:solidFill>
                <a:latin typeface="Helvetica Neue Light"/>
              </a:rPr>
              <a:t>Problem statement</a:t>
            </a:r>
          </a:p>
        </p:txBody>
      </p:sp>
      <p:sp>
        <p:nvSpPr>
          <p:cNvPr id="7" name="TextBox 6"/>
          <p:cNvSpPr txBox="1"/>
          <p:nvPr/>
        </p:nvSpPr>
        <p:spPr>
          <a:xfrm>
            <a:off x="7671394" y="4139081"/>
            <a:ext cx="5018680" cy="266090"/>
          </a:xfrm>
          <a:prstGeom prst="rect">
            <a:avLst/>
          </a:prstGeom>
          <a:noFill/>
        </p:spPr>
        <p:txBody>
          <a:bodyPr wrap="none" lIns="0" tIns="0" rIns="0" bIns="0">
            <a:noAutofit/>
          </a:bodyPr>
          <a:lstStyle/>
          <a:p>
            <a:pPr algn="l"/>
            <a:r>
              <a:rPr sz="1800" dirty="0">
                <a:solidFill>
                  <a:srgbClr val="FFFFFF"/>
                </a:solidFill>
                <a:latin typeface="Helvetica Neue Thin"/>
              </a:rPr>
              <a:t>As part of the iComply ecosystem of Employee </a:t>
            </a:r>
          </a:p>
        </p:txBody>
      </p:sp>
      <p:sp>
        <p:nvSpPr>
          <p:cNvPr id="8" name="TextBox 7"/>
          <p:cNvSpPr txBox="1"/>
          <p:nvPr/>
        </p:nvSpPr>
        <p:spPr>
          <a:xfrm>
            <a:off x="7671394" y="4464201"/>
            <a:ext cx="4497070" cy="2531769"/>
          </a:xfrm>
          <a:prstGeom prst="rect">
            <a:avLst/>
          </a:prstGeom>
          <a:noFill/>
        </p:spPr>
        <p:txBody>
          <a:bodyPr wrap="square" lIns="0" tIns="0" rIns="0" bIns="0">
            <a:noAutofit/>
          </a:bodyPr>
          <a:lstStyle/>
          <a:p>
            <a:pPr algn="l">
              <a:lnSpc>
                <a:spcPts val="3400"/>
              </a:lnSpc>
            </a:pPr>
            <a:r>
              <a:rPr sz="1800" dirty="0">
                <a:solidFill>
                  <a:srgbClr val="FFFFFF"/>
                </a:solidFill>
                <a:latin typeface="Helvetica Neue Thin"/>
              </a:rPr>
              <a:t>Compliance, users need an interactive, web-based pre-clearance application for outside activities where requests flow through an integrated and pre-defined workflow for review by first line Reviewers and second line Risk &amp; Compliance Managers. </a:t>
            </a:r>
          </a:p>
        </p:txBody>
      </p:sp>
      <p:sp>
        <p:nvSpPr>
          <p:cNvPr id="14" name="TextBox 13"/>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395389" y="3885583"/>
            <a:ext cx="7609410" cy="5868016"/>
          </a:xfrm>
          <a:prstGeom prst="rect">
            <a:avLst/>
          </a:prstGeom>
        </p:spPr>
      </p:pic>
      <p:pic>
        <p:nvPicPr>
          <p:cNvPr id="4" name="Picture 2" descr="image.png"/>
          <p:cNvPicPr>
            <a:picLocks noChangeAspect="1"/>
          </p:cNvPicPr>
          <p:nvPr/>
        </p:nvPicPr>
        <p:blipFill>
          <a:blip r:embed="rId4"/>
          <a:stretch>
            <a:fillRect/>
          </a:stretch>
        </p:blipFill>
        <p:spPr>
          <a:xfrm>
            <a:off x="240016" y="5675352"/>
            <a:ext cx="4265680" cy="4078247"/>
          </a:xfrm>
          <a:prstGeom prst="rect">
            <a:avLst/>
          </a:prstGeom>
        </p:spPr>
      </p:pic>
      <p:sp>
        <p:nvSpPr>
          <p:cNvPr id="5" name="TextBox 4"/>
          <p:cNvSpPr txBox="1"/>
          <p:nvPr/>
        </p:nvSpPr>
        <p:spPr>
          <a:xfrm>
            <a:off x="6908800" y="2599435"/>
            <a:ext cx="5216680" cy="905255"/>
          </a:xfrm>
          <a:prstGeom prst="rect">
            <a:avLst/>
          </a:prstGeom>
          <a:noFill/>
        </p:spPr>
        <p:txBody>
          <a:bodyPr wrap="square" lIns="0" tIns="0" rIns="0" bIns="0">
            <a:noAutofit/>
          </a:bodyPr>
          <a:lstStyle/>
          <a:p>
            <a:pPr algn="l">
              <a:lnSpc>
                <a:spcPts val="2399"/>
              </a:lnSpc>
            </a:pPr>
            <a:r>
              <a:rPr sz="2000" dirty="0">
                <a:solidFill>
                  <a:srgbClr val="000000"/>
                </a:solidFill>
                <a:latin typeface="Helvetica Neue Thin"/>
              </a:rPr>
              <a:t>Pain points we heard from the interviews with  Reviewers, Manager Risk &amp; Compliance  </a:t>
            </a:r>
          </a:p>
          <a:p>
            <a:pPr algn="l">
              <a:lnSpc>
                <a:spcPts val="2399"/>
              </a:lnSpc>
            </a:pPr>
            <a:r>
              <a:rPr sz="2000" dirty="0">
                <a:solidFill>
                  <a:srgbClr val="000000"/>
                </a:solidFill>
                <a:latin typeface="Helvetica Neue Thin"/>
              </a:rPr>
              <a:t>Managers, and Risk and Compliance Managers </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7" name="TextBox 6"/>
          <p:cNvSpPr txBox="1"/>
          <p:nvPr/>
        </p:nvSpPr>
        <p:spPr>
          <a:xfrm>
            <a:off x="635000" y="979676"/>
            <a:ext cx="4597654" cy="672033"/>
          </a:xfrm>
          <a:prstGeom prst="rect">
            <a:avLst/>
          </a:prstGeom>
          <a:noFill/>
        </p:spPr>
        <p:txBody>
          <a:bodyPr wrap="none" lIns="0" tIns="0" rIns="0" bIns="0">
            <a:noAutofit/>
          </a:bodyPr>
          <a:lstStyle/>
          <a:p>
            <a:pPr algn="l">
              <a:lnSpc>
                <a:spcPts val="2700"/>
              </a:lnSpc>
            </a:pPr>
            <a:r>
              <a:rPr sz="2200" dirty="0">
                <a:solidFill>
                  <a:srgbClr val="000000"/>
                </a:solidFill>
                <a:latin typeface="Helvetica Neue Light"/>
              </a:rPr>
              <a:t>Major Themes from Interviews</a:t>
            </a:r>
          </a:p>
          <a:p>
            <a:pPr algn="l">
              <a:lnSpc>
                <a:spcPts val="2700"/>
              </a:lnSpc>
            </a:pPr>
            <a:r>
              <a:rPr sz="2200" dirty="0">
                <a:solidFill>
                  <a:srgbClr val="000000"/>
                </a:solidFill>
                <a:latin typeface="Helvetica Neue Thin"/>
              </a:rPr>
              <a:t>• Integration with other systems on </a:t>
            </a:r>
          </a:p>
        </p:txBody>
      </p:sp>
      <p:sp>
        <p:nvSpPr>
          <p:cNvPr id="8" name="TextBox 7"/>
          <p:cNvSpPr txBox="1"/>
          <p:nvPr/>
        </p:nvSpPr>
        <p:spPr>
          <a:xfrm>
            <a:off x="635000" y="1669388"/>
            <a:ext cx="4200246" cy="1696822"/>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platform</a:t>
            </a:r>
          </a:p>
          <a:p>
            <a:pPr algn="l">
              <a:lnSpc>
                <a:spcPts val="2700"/>
              </a:lnSpc>
            </a:pPr>
            <a:r>
              <a:rPr sz="2200" dirty="0">
                <a:solidFill>
                  <a:srgbClr val="000000"/>
                </a:solidFill>
                <a:latin typeface="Helvetica Neue Thin"/>
              </a:rPr>
              <a:t>• Search</a:t>
            </a:r>
          </a:p>
          <a:p>
            <a:pPr algn="l">
              <a:lnSpc>
                <a:spcPts val="2700"/>
              </a:lnSpc>
            </a:pPr>
            <a:r>
              <a:rPr sz="2200" dirty="0">
                <a:solidFill>
                  <a:srgbClr val="000000"/>
                </a:solidFill>
                <a:latin typeface="Helvetica Neue Thin"/>
              </a:rPr>
              <a:t>• Reporting</a:t>
            </a:r>
          </a:p>
          <a:p>
            <a:pPr algn="l">
              <a:lnSpc>
                <a:spcPts val="2700"/>
              </a:lnSpc>
            </a:pPr>
            <a:r>
              <a:rPr sz="2200" dirty="0">
                <a:solidFill>
                  <a:srgbClr val="000000"/>
                </a:solidFill>
                <a:latin typeface="Helvetica Neue Thin"/>
              </a:rPr>
              <a:t>• Shadowing </a:t>
            </a:r>
          </a:p>
          <a:p>
            <a:pPr algn="l">
              <a:lnSpc>
                <a:spcPts val="2700"/>
              </a:lnSpc>
            </a:pPr>
            <a:r>
              <a:rPr sz="2200" dirty="0">
                <a:solidFill>
                  <a:srgbClr val="000000"/>
                </a:solidFill>
                <a:latin typeface="Helvetica Neue Thin"/>
              </a:rPr>
              <a:t>• All users understanding of the </a:t>
            </a:r>
          </a:p>
        </p:txBody>
      </p:sp>
      <p:sp>
        <p:nvSpPr>
          <p:cNvPr id="9" name="TextBox 8"/>
          <p:cNvSpPr txBox="1"/>
          <p:nvPr/>
        </p:nvSpPr>
        <p:spPr>
          <a:xfrm>
            <a:off x="635000" y="3383888"/>
            <a:ext cx="2541817" cy="1696821"/>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policies</a:t>
            </a:r>
          </a:p>
          <a:p>
            <a:pPr algn="l">
              <a:lnSpc>
                <a:spcPts val="2700"/>
              </a:lnSpc>
            </a:pPr>
            <a:r>
              <a:rPr sz="2200" dirty="0">
                <a:solidFill>
                  <a:srgbClr val="000000"/>
                </a:solidFill>
                <a:latin typeface="Helvetica Neue Thin"/>
              </a:rPr>
              <a:t>• Mobile</a:t>
            </a:r>
          </a:p>
          <a:p>
            <a:pPr algn="l">
              <a:lnSpc>
                <a:spcPts val="2700"/>
              </a:lnSpc>
            </a:pPr>
            <a:r>
              <a:rPr sz="2200" dirty="0">
                <a:solidFill>
                  <a:srgbClr val="000000"/>
                </a:solidFill>
                <a:latin typeface="Helvetica Neue Thin"/>
              </a:rPr>
              <a:t>• Clear navigation</a:t>
            </a:r>
          </a:p>
          <a:p>
            <a:pPr algn="l">
              <a:lnSpc>
                <a:spcPts val="2700"/>
              </a:lnSpc>
            </a:pPr>
            <a:r>
              <a:rPr sz="2200" dirty="0">
                <a:solidFill>
                  <a:srgbClr val="000000"/>
                </a:solidFill>
                <a:latin typeface="Helvetica Neue Thin"/>
              </a:rPr>
              <a:t>• Clear workflow </a:t>
            </a:r>
          </a:p>
          <a:p>
            <a:pPr algn="l">
              <a:lnSpc>
                <a:spcPts val="2700"/>
              </a:lnSpc>
            </a:pPr>
            <a:r>
              <a:rPr sz="2200" dirty="0">
                <a:solidFill>
                  <a:srgbClr val="000000"/>
                </a:solidFill>
                <a:latin typeface="Helvetica Neue Thin"/>
              </a:rPr>
              <a:t>• Status awareness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660400" y="6403846"/>
            <a:ext cx="914157" cy="368503"/>
          </a:xfrm>
          <a:prstGeom prst="rect">
            <a:avLst/>
          </a:prstGeom>
          <a:noFill/>
        </p:spPr>
        <p:txBody>
          <a:bodyPr wrap="square" lIns="0" tIns="0" rIns="0" bIns="0">
            <a:noAutofit/>
          </a:bodyPr>
          <a:lstStyle/>
          <a:p>
            <a:pPr algn="l">
              <a:lnSpc>
                <a:spcPts val="1440"/>
              </a:lnSpc>
            </a:pPr>
            <a:r>
              <a:rPr sz="1200" dirty="0">
                <a:solidFill>
                  <a:srgbClr val="000000"/>
                </a:solidFill>
                <a:latin typeface="Helvetica Neue Light"/>
              </a:rPr>
              <a:t>Reviewer  User Journey</a:t>
            </a:r>
          </a:p>
        </p:txBody>
      </p:sp>
      <p:sp>
        <p:nvSpPr>
          <p:cNvPr id="4" name="TextBox 3"/>
          <p:cNvSpPr txBox="1"/>
          <p:nvPr/>
        </p:nvSpPr>
        <p:spPr>
          <a:xfrm>
            <a:off x="457200" y="322089"/>
            <a:ext cx="2853237" cy="313949"/>
          </a:xfrm>
          <a:prstGeom prst="rect">
            <a:avLst/>
          </a:prstGeom>
          <a:noFill/>
        </p:spPr>
        <p:txBody>
          <a:bodyPr wrap="none" lIns="0" tIns="0" rIns="0" bIns="0">
            <a:noAutofit/>
          </a:bodyPr>
          <a:lstStyle/>
          <a:p>
            <a:pPr algn="l"/>
            <a:r>
              <a:rPr sz="2050" dirty="0">
                <a:solidFill>
                  <a:srgbClr val="000000"/>
                </a:solidFill>
                <a:latin typeface="Helvetica Neue Light"/>
              </a:rPr>
              <a:t>Approver User Journey</a:t>
            </a:r>
          </a:p>
        </p:txBody>
      </p:sp>
      <p:sp>
        <p:nvSpPr>
          <p:cNvPr id="5" name="TextBox 4"/>
          <p:cNvSpPr txBox="1"/>
          <p:nvPr/>
        </p:nvSpPr>
        <p:spPr>
          <a:xfrm>
            <a:off x="6552941" y="6304786"/>
            <a:ext cx="914156" cy="368503"/>
          </a:xfrm>
          <a:prstGeom prst="rect">
            <a:avLst/>
          </a:prstGeom>
          <a:noFill/>
        </p:spPr>
        <p:txBody>
          <a:bodyPr wrap="square" lIns="0" tIns="0" rIns="0" bIns="0">
            <a:noAutofit/>
          </a:bodyPr>
          <a:lstStyle/>
          <a:p>
            <a:pPr algn="l">
              <a:lnSpc>
                <a:spcPts val="1439"/>
              </a:lnSpc>
            </a:pPr>
            <a:r>
              <a:rPr sz="1200" dirty="0">
                <a:solidFill>
                  <a:srgbClr val="000000"/>
                </a:solidFill>
                <a:latin typeface="Helvetica Neue Light"/>
              </a:rPr>
              <a:t>Employee  User Journey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189704" y="2561681"/>
            <a:ext cx="652018" cy="675989"/>
          </a:xfrm>
          <a:prstGeom prst="rect">
            <a:avLst/>
          </a:prstGeom>
        </p:spPr>
      </p:pic>
      <p:pic>
        <p:nvPicPr>
          <p:cNvPr id="4" name="Picture 2" descr="image.png"/>
          <p:cNvPicPr>
            <a:picLocks noChangeAspect="1"/>
          </p:cNvPicPr>
          <p:nvPr/>
        </p:nvPicPr>
        <p:blipFill>
          <a:blip r:embed="rId4"/>
          <a:stretch>
            <a:fillRect/>
          </a:stretch>
        </p:blipFill>
        <p:spPr>
          <a:xfrm>
            <a:off x="5773399" y="6261917"/>
            <a:ext cx="641013" cy="659593"/>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6" name="TextBox 5"/>
          <p:cNvSpPr txBox="1"/>
          <p:nvPr/>
        </p:nvSpPr>
        <p:spPr>
          <a:xfrm>
            <a:off x="2946400" y="18415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Risk and Compliance Managers</a:t>
            </a:r>
          </a:p>
        </p:txBody>
      </p:sp>
      <p:sp>
        <p:nvSpPr>
          <p:cNvPr id="7" name="TextBox 6"/>
          <p:cNvSpPr txBox="1"/>
          <p:nvPr/>
        </p:nvSpPr>
        <p:spPr>
          <a:xfrm>
            <a:off x="7620000" y="55499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Reviewers of CS Employees</a:t>
            </a:r>
          </a:p>
        </p:txBody>
      </p:sp>
      <p:sp>
        <p:nvSpPr>
          <p:cNvPr id="8" name="TextBox 7"/>
          <p:cNvSpPr txBox="1"/>
          <p:nvPr/>
        </p:nvSpPr>
        <p:spPr>
          <a:xfrm>
            <a:off x="457200" y="939800"/>
            <a:ext cx="1686560" cy="476250"/>
          </a:xfrm>
          <a:prstGeom prst="rect">
            <a:avLst/>
          </a:prstGeom>
          <a:noFill/>
        </p:spPr>
        <p:txBody>
          <a:bodyPr wrap="none" lIns="0" tIns="0" rIns="0" bIns="0">
            <a:noAutofit/>
          </a:bodyPr>
          <a:lstStyle/>
          <a:p>
            <a:pPr algn="l"/>
            <a:r>
              <a:rPr sz="3000" dirty="0">
                <a:solidFill>
                  <a:srgbClr val="1F1F1F"/>
                </a:solidFill>
                <a:latin typeface="Helvetica Neue Light"/>
              </a:rPr>
              <a:t>Personas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Design Thinking Exercises </a:t>
            </a:r>
          </a:p>
        </p:txBody>
      </p:sp>
      <p:sp>
        <p:nvSpPr>
          <p:cNvPr id="4" name="TextBox 3"/>
          <p:cNvSpPr txBox="1"/>
          <p:nvPr/>
        </p:nvSpPr>
        <p:spPr>
          <a:xfrm>
            <a:off x="457200" y="1517547"/>
            <a:ext cx="5859510" cy="266090"/>
          </a:xfrm>
          <a:prstGeom prst="rect">
            <a:avLst/>
          </a:prstGeom>
          <a:noFill/>
        </p:spPr>
        <p:txBody>
          <a:bodyPr wrap="none" lIns="0" tIns="0" rIns="0" bIns="0">
            <a:noAutofit/>
          </a:bodyPr>
          <a:lstStyle/>
          <a:p>
            <a:pPr algn="l"/>
            <a:r>
              <a:rPr sz="1800" dirty="0">
                <a:solidFill>
                  <a:srgbClr val="000000"/>
                </a:solidFill>
                <a:latin typeface="Helvetica Neue Thin"/>
              </a:rPr>
              <a:t>Generated concepts for interfaces with 30 participants  </a:t>
            </a:r>
          </a:p>
        </p:txBody>
      </p:sp>
      <p:sp>
        <p:nvSpPr>
          <p:cNvPr id="5" name="TextBox 4"/>
          <p:cNvSpPr txBox="1"/>
          <p:nvPr/>
        </p:nvSpPr>
        <p:spPr>
          <a:xfrm>
            <a:off x="457200" y="2002535"/>
            <a:ext cx="11383235" cy="295655"/>
          </a:xfrm>
          <a:prstGeom prst="rect">
            <a:avLst/>
          </a:prstGeom>
          <a:noFill/>
        </p:spPr>
        <p:txBody>
          <a:bodyPr wrap="none" lIns="0" tIns="0" rIns="0" bIns="0">
            <a:noAutofit/>
          </a:bodyPr>
          <a:lstStyle/>
          <a:p>
            <a:pPr algn="l"/>
            <a:r>
              <a:rPr sz="2000" dirty="0">
                <a:solidFill>
                  <a:srgbClr val="000000"/>
                </a:solidFill>
                <a:latin typeface="Helvetica Neue Thin"/>
              </a:rPr>
              <a:t>5 concepts for dashboard, reporting features and submission processes for all types of end-users</a:t>
            </a:r>
          </a:p>
        </p:txBody>
      </p:sp>
      <p:sp>
        <p:nvSpPr>
          <p:cNvPr id="6" name="TextBox 5"/>
          <p:cNvSpPr txBox="1"/>
          <p:nvPr/>
        </p:nvSpPr>
        <p:spPr>
          <a:xfrm>
            <a:off x="7340600" y="6196582"/>
            <a:ext cx="817360" cy="247497"/>
          </a:xfrm>
          <a:prstGeom prst="rect">
            <a:avLst/>
          </a:prstGeom>
          <a:noFill/>
        </p:spPr>
        <p:txBody>
          <a:bodyPr wrap="none" lIns="0" tIns="0" rIns="0" bIns="0">
            <a:noAutofit/>
          </a:bodyPr>
          <a:lstStyle/>
          <a:p>
            <a:pPr algn="l"/>
            <a:r>
              <a:rPr sz="1600" dirty="0">
                <a:solidFill>
                  <a:srgbClr val="000000"/>
                </a:solidFill>
                <a:latin typeface="Helvetica Neue Light"/>
              </a:rPr>
              <a:t>Format: </a:t>
            </a:r>
          </a:p>
        </p:txBody>
      </p:sp>
      <p:sp>
        <p:nvSpPr>
          <p:cNvPr id="7" name="TextBox 6"/>
          <p:cNvSpPr txBox="1"/>
          <p:nvPr/>
        </p:nvSpPr>
        <p:spPr>
          <a:xfrm>
            <a:off x="7340600" y="6514083"/>
            <a:ext cx="1263054" cy="247497"/>
          </a:xfrm>
          <a:prstGeom prst="rect">
            <a:avLst/>
          </a:prstGeom>
          <a:noFill/>
        </p:spPr>
        <p:txBody>
          <a:bodyPr wrap="none" lIns="0" tIns="0" rIns="0" bIns="0">
            <a:noAutofit/>
          </a:bodyPr>
          <a:lstStyle/>
          <a:p>
            <a:pPr algn="l"/>
            <a:r>
              <a:rPr sz="1600" dirty="0">
                <a:solidFill>
                  <a:srgbClr val="000000"/>
                </a:solidFill>
                <a:latin typeface="Helvetica Neue Light"/>
              </a:rPr>
              <a:t>• Ice breaker</a:t>
            </a:r>
          </a:p>
        </p:txBody>
      </p:sp>
      <p:sp>
        <p:nvSpPr>
          <p:cNvPr id="8" name="TextBox 7"/>
          <p:cNvSpPr txBox="1"/>
          <p:nvPr/>
        </p:nvSpPr>
        <p:spPr>
          <a:xfrm>
            <a:off x="7340600" y="6831583"/>
            <a:ext cx="3116338" cy="247497"/>
          </a:xfrm>
          <a:prstGeom prst="rect">
            <a:avLst/>
          </a:prstGeom>
          <a:noFill/>
        </p:spPr>
        <p:txBody>
          <a:bodyPr wrap="none" lIns="0" tIns="0" rIns="0" bIns="0">
            <a:noAutofit/>
          </a:bodyPr>
          <a:lstStyle/>
          <a:p>
            <a:pPr algn="l"/>
            <a:r>
              <a:rPr sz="1600" dirty="0">
                <a:solidFill>
                  <a:srgbClr val="000000"/>
                </a:solidFill>
                <a:latin typeface="Helvetica Neue Light"/>
              </a:rPr>
              <a:t>• What would the headlines say?</a:t>
            </a:r>
          </a:p>
        </p:txBody>
      </p:sp>
      <p:sp>
        <p:nvSpPr>
          <p:cNvPr id="9" name="TextBox 8"/>
          <p:cNvSpPr txBox="1"/>
          <p:nvPr/>
        </p:nvSpPr>
        <p:spPr>
          <a:xfrm>
            <a:off x="7340600" y="7149083"/>
            <a:ext cx="1364661" cy="247497"/>
          </a:xfrm>
          <a:prstGeom prst="rect">
            <a:avLst/>
          </a:prstGeom>
          <a:noFill/>
        </p:spPr>
        <p:txBody>
          <a:bodyPr wrap="none" lIns="0" tIns="0" rIns="0" bIns="0">
            <a:noAutofit/>
          </a:bodyPr>
          <a:lstStyle/>
          <a:p>
            <a:pPr algn="l"/>
            <a:r>
              <a:rPr sz="1600" dirty="0">
                <a:solidFill>
                  <a:srgbClr val="000000"/>
                </a:solidFill>
                <a:latin typeface="Helvetica Neue Light"/>
              </a:rPr>
              <a:t>• How do we?</a:t>
            </a:r>
          </a:p>
        </p:txBody>
      </p:sp>
      <p:sp>
        <p:nvSpPr>
          <p:cNvPr id="10" name="TextBox 9"/>
          <p:cNvSpPr txBox="1"/>
          <p:nvPr/>
        </p:nvSpPr>
        <p:spPr>
          <a:xfrm>
            <a:off x="7340600" y="7466583"/>
            <a:ext cx="2493566" cy="247497"/>
          </a:xfrm>
          <a:prstGeom prst="rect">
            <a:avLst/>
          </a:prstGeom>
          <a:noFill/>
        </p:spPr>
        <p:txBody>
          <a:bodyPr wrap="none" lIns="0" tIns="0" rIns="0" bIns="0">
            <a:noAutofit/>
          </a:bodyPr>
          <a:lstStyle/>
          <a:p>
            <a:pPr algn="l"/>
            <a:r>
              <a:rPr sz="1600" dirty="0">
                <a:solidFill>
                  <a:srgbClr val="000000"/>
                </a:solidFill>
                <a:latin typeface="Helvetica Neue Light"/>
              </a:rPr>
              <a:t>• Concepts and interfaces</a:t>
            </a:r>
          </a:p>
        </p:txBody>
      </p:sp>
      <p:sp>
        <p:nvSpPr>
          <p:cNvPr id="11" name="TextBox 10"/>
          <p:cNvSpPr txBox="1"/>
          <p:nvPr/>
        </p:nvSpPr>
        <p:spPr>
          <a:xfrm>
            <a:off x="7340600" y="7784083"/>
            <a:ext cx="791244" cy="247497"/>
          </a:xfrm>
          <a:prstGeom prst="rect">
            <a:avLst/>
          </a:prstGeom>
          <a:noFill/>
        </p:spPr>
        <p:txBody>
          <a:bodyPr wrap="none" lIns="0" tIns="0" rIns="0" bIns="0">
            <a:noAutofit/>
          </a:bodyPr>
          <a:lstStyle/>
          <a:p>
            <a:pPr algn="l"/>
            <a:r>
              <a:rPr sz="1600" dirty="0">
                <a:solidFill>
                  <a:srgbClr val="000000"/>
                </a:solidFill>
                <a:latin typeface="Helvetica Neue Light"/>
              </a:rPr>
              <a:t>• Voting</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4" name="TextBox 3"/>
          <p:cNvSpPr txBox="1"/>
          <p:nvPr/>
        </p:nvSpPr>
        <p:spPr>
          <a:xfrm>
            <a:off x="651454"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5" name="TextBox 4"/>
          <p:cNvSpPr txBox="1"/>
          <p:nvPr/>
        </p:nvSpPr>
        <p:spPr>
          <a:xfrm>
            <a:off x="642849" y="2868339"/>
            <a:ext cx="2129690" cy="590499"/>
          </a:xfrm>
          <a:prstGeom prst="rect">
            <a:avLst/>
          </a:prstGeom>
          <a:noFill/>
        </p:spPr>
        <p:txBody>
          <a:bodyPr wrap="square" lIns="0" tIns="0" rIns="0" bIns="0">
            <a:noAutofit/>
          </a:bodyPr>
          <a:lstStyle/>
          <a:p>
            <a:pPr marL="228600" indent="-228600" algn="l">
              <a:lnSpc>
                <a:spcPts val="2500"/>
              </a:lnSpc>
            </a:pPr>
            <a:r>
              <a:rPr sz="1400" dirty="0">
                <a:solidFill>
                  <a:srgbClr val="FFFFFF"/>
                </a:solidFill>
                <a:latin typeface="Helvetica Neue Thin"/>
              </a:rPr>
              <a:t>•	Integration with other systems on platform</a:t>
            </a:r>
          </a:p>
        </p:txBody>
      </p:sp>
      <p:sp>
        <p:nvSpPr>
          <p:cNvPr id="7" name="TextBox 6"/>
          <p:cNvSpPr txBox="1"/>
          <p:nvPr/>
        </p:nvSpPr>
        <p:spPr>
          <a:xfrm>
            <a:off x="642849" y="3569379"/>
            <a:ext cx="1164292" cy="206959"/>
          </a:xfrm>
          <a:prstGeom prst="rect">
            <a:avLst/>
          </a:prstGeom>
          <a:noFill/>
        </p:spPr>
        <p:txBody>
          <a:bodyPr wrap="none" lIns="0" tIns="0" rIns="0" bIns="0">
            <a:noAutofit/>
          </a:bodyPr>
          <a:lstStyle/>
          <a:p>
            <a:pPr algn="l"/>
            <a:r>
              <a:rPr sz="1400" dirty="0">
                <a:solidFill>
                  <a:srgbClr val="FFFFFF"/>
                </a:solidFill>
                <a:latin typeface="Helvetica Neue Thin"/>
              </a:rPr>
              <a:t>• Navigation</a:t>
            </a:r>
          </a:p>
        </p:txBody>
      </p:sp>
      <p:sp>
        <p:nvSpPr>
          <p:cNvPr id="8" name="TextBox 7"/>
          <p:cNvSpPr txBox="1"/>
          <p:nvPr/>
        </p:nvSpPr>
        <p:spPr>
          <a:xfrm>
            <a:off x="642849" y="38868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9" name="TextBox 8"/>
          <p:cNvSpPr txBox="1"/>
          <p:nvPr/>
        </p:nvSpPr>
        <p:spPr>
          <a:xfrm>
            <a:off x="642849" y="4204379"/>
            <a:ext cx="1725770" cy="206959"/>
          </a:xfrm>
          <a:prstGeom prst="rect">
            <a:avLst/>
          </a:prstGeom>
          <a:noFill/>
        </p:spPr>
        <p:txBody>
          <a:bodyPr wrap="none" lIns="0" tIns="0" rIns="0" bIns="0">
            <a:noAutofit/>
          </a:bodyPr>
          <a:lstStyle/>
          <a:p>
            <a:pPr algn="l"/>
            <a:r>
              <a:rPr sz="1400" dirty="0">
                <a:solidFill>
                  <a:srgbClr val="FFFFFF"/>
                </a:solidFill>
                <a:latin typeface="Helvetica Neue Thin"/>
              </a:rPr>
              <a:t>• Status awareness</a:t>
            </a:r>
          </a:p>
        </p:txBody>
      </p:sp>
      <p:sp>
        <p:nvSpPr>
          <p:cNvPr id="10" name="TextBox 9"/>
          <p:cNvSpPr txBox="1"/>
          <p:nvPr/>
        </p:nvSpPr>
        <p:spPr>
          <a:xfrm>
            <a:off x="642849" y="4521879"/>
            <a:ext cx="1596154" cy="206959"/>
          </a:xfrm>
          <a:prstGeom prst="rect">
            <a:avLst/>
          </a:prstGeom>
          <a:noFill/>
        </p:spPr>
        <p:txBody>
          <a:bodyPr wrap="none" lIns="0" tIns="0" rIns="0" bIns="0">
            <a:noAutofit/>
          </a:bodyPr>
          <a:lstStyle/>
          <a:p>
            <a:pPr algn="l"/>
            <a:r>
              <a:rPr sz="1400" dirty="0">
                <a:solidFill>
                  <a:srgbClr val="FFFFFF"/>
                </a:solidFill>
                <a:latin typeface="Helvetica Neue Thin"/>
              </a:rPr>
              <a:t>• Lack of features</a:t>
            </a:r>
          </a:p>
        </p:txBody>
      </p:sp>
      <p:sp>
        <p:nvSpPr>
          <p:cNvPr id="11" name="TextBox 10"/>
          <p:cNvSpPr txBox="1"/>
          <p:nvPr/>
        </p:nvSpPr>
        <p:spPr>
          <a:xfrm>
            <a:off x="4085941" y="2416525"/>
            <a:ext cx="8015156"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56341" algn="l">
              <a:lnSpc>
                <a:spcPts val="207"/>
              </a:lnSpc>
            </a:pPr>
            <a:r>
              <a:rPr sz="1900" dirty="0">
                <a:solidFill>
                  <a:srgbClr val="FFFFFF"/>
                </a:solidFill>
                <a:latin typeface="Helvetica Neue Light"/>
              </a:rPr>
              <a:t>Feature Set</a:t>
            </a:r>
          </a:p>
        </p:txBody>
      </p:sp>
      <p:sp>
        <p:nvSpPr>
          <p:cNvPr id="12" name="TextBox 11"/>
          <p:cNvSpPr txBox="1"/>
          <p:nvPr/>
        </p:nvSpPr>
        <p:spPr>
          <a:xfrm>
            <a:off x="10254408" y="2934379"/>
            <a:ext cx="870879" cy="206959"/>
          </a:xfrm>
          <a:prstGeom prst="rect">
            <a:avLst/>
          </a:prstGeom>
          <a:noFill/>
        </p:spPr>
        <p:txBody>
          <a:bodyPr wrap="none" lIns="0" tIns="0" rIns="0" bIns="0">
            <a:noAutofit/>
          </a:bodyPr>
          <a:lstStyle/>
          <a:p>
            <a:pPr algn="l"/>
            <a:r>
              <a:rPr sz="1400" dirty="0">
                <a:solidFill>
                  <a:srgbClr val="FFFFFF"/>
                </a:solidFill>
                <a:latin typeface="Helvetica Neue Thin"/>
              </a:rPr>
              <a:t>• Search</a:t>
            </a:r>
          </a:p>
        </p:txBody>
      </p:sp>
      <p:sp>
        <p:nvSpPr>
          <p:cNvPr id="13" name="TextBox 12"/>
          <p:cNvSpPr txBox="1"/>
          <p:nvPr/>
        </p:nvSpPr>
        <p:spPr>
          <a:xfrm>
            <a:off x="10254408" y="3251879"/>
            <a:ext cx="1086522" cy="206959"/>
          </a:xfrm>
          <a:prstGeom prst="rect">
            <a:avLst/>
          </a:prstGeom>
          <a:noFill/>
        </p:spPr>
        <p:txBody>
          <a:bodyPr wrap="none" lIns="0" tIns="0" rIns="0" bIns="0">
            <a:noAutofit/>
          </a:bodyPr>
          <a:lstStyle/>
          <a:p>
            <a:pPr algn="l"/>
            <a:r>
              <a:rPr sz="1400" dirty="0">
                <a:solidFill>
                  <a:srgbClr val="FFFFFF"/>
                </a:solidFill>
                <a:latin typeface="Helvetica Neue Thin"/>
              </a:rPr>
              <a:t>• Reporting</a:t>
            </a:r>
          </a:p>
        </p:txBody>
      </p:sp>
      <p:sp>
        <p:nvSpPr>
          <p:cNvPr id="14" name="TextBox 13"/>
          <p:cNvSpPr txBox="1"/>
          <p:nvPr/>
        </p:nvSpPr>
        <p:spPr>
          <a:xfrm>
            <a:off x="10254408" y="3569379"/>
            <a:ext cx="1210378" cy="206959"/>
          </a:xfrm>
          <a:prstGeom prst="rect">
            <a:avLst/>
          </a:prstGeom>
          <a:noFill/>
        </p:spPr>
        <p:txBody>
          <a:bodyPr wrap="none" lIns="0" tIns="0" rIns="0" bIns="0">
            <a:noAutofit/>
          </a:bodyPr>
          <a:lstStyle/>
          <a:p>
            <a:pPr algn="l"/>
            <a:r>
              <a:rPr sz="1400" dirty="0">
                <a:solidFill>
                  <a:srgbClr val="FFFFFF"/>
                </a:solidFill>
                <a:latin typeface="Helvetica Neue Thin"/>
              </a:rPr>
              <a:t>• Shadowing</a:t>
            </a:r>
          </a:p>
        </p:txBody>
      </p:sp>
      <p:sp>
        <p:nvSpPr>
          <p:cNvPr id="15" name="TextBox 14"/>
          <p:cNvSpPr txBox="1"/>
          <p:nvPr/>
        </p:nvSpPr>
        <p:spPr>
          <a:xfrm>
            <a:off x="10254408" y="3886879"/>
            <a:ext cx="940584" cy="206959"/>
          </a:xfrm>
          <a:prstGeom prst="rect">
            <a:avLst/>
          </a:prstGeom>
          <a:noFill/>
        </p:spPr>
        <p:txBody>
          <a:bodyPr wrap="none" lIns="0" tIns="0" rIns="0" bIns="0">
            <a:noAutofit/>
          </a:bodyPr>
          <a:lstStyle/>
          <a:p>
            <a:pPr algn="l"/>
            <a:r>
              <a:rPr sz="1400" dirty="0">
                <a:solidFill>
                  <a:srgbClr val="FFFFFF"/>
                </a:solidFill>
                <a:latin typeface="Helvetica Neue Thin"/>
              </a:rPr>
              <a:t>• Proxies </a:t>
            </a:r>
          </a:p>
        </p:txBody>
      </p:sp>
      <p:sp>
        <p:nvSpPr>
          <p:cNvPr id="16" name="TextBox 15"/>
          <p:cNvSpPr txBox="1"/>
          <p:nvPr/>
        </p:nvSpPr>
        <p:spPr>
          <a:xfrm>
            <a:off x="10254408" y="4204379"/>
            <a:ext cx="999344" cy="206959"/>
          </a:xfrm>
          <a:prstGeom prst="rect">
            <a:avLst/>
          </a:prstGeom>
          <a:noFill/>
        </p:spPr>
        <p:txBody>
          <a:bodyPr wrap="none" lIns="0" tIns="0" rIns="0" bIns="0">
            <a:noAutofit/>
          </a:bodyPr>
          <a:lstStyle/>
          <a:p>
            <a:pPr algn="l"/>
            <a:r>
              <a:rPr sz="1400" dirty="0">
                <a:solidFill>
                  <a:srgbClr val="FFFFFF"/>
                </a:solidFill>
                <a:latin typeface="Helvetica Neue Thin"/>
              </a:rPr>
              <a:t>• Queries </a:t>
            </a:r>
          </a:p>
        </p:txBody>
      </p:sp>
      <p:sp>
        <p:nvSpPr>
          <p:cNvPr id="17" name="TextBox 16"/>
          <p:cNvSpPr txBox="1"/>
          <p:nvPr/>
        </p:nvSpPr>
        <p:spPr>
          <a:xfrm>
            <a:off x="10254408" y="45218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18" name="TextBox 17"/>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19" name="TextBox 18"/>
          <p:cNvSpPr txBox="1"/>
          <p:nvPr/>
        </p:nvSpPr>
        <p:spPr>
          <a:xfrm>
            <a:off x="4021048" y="3251879"/>
            <a:ext cx="1855388" cy="206959"/>
          </a:xfrm>
          <a:prstGeom prst="rect">
            <a:avLst/>
          </a:prstGeom>
          <a:noFill/>
        </p:spPr>
        <p:txBody>
          <a:bodyPr wrap="none" lIns="0" tIns="0" rIns="0" bIns="0">
            <a:noAutofit/>
          </a:bodyPr>
          <a:lstStyle/>
          <a:p>
            <a:pPr algn="l"/>
            <a:r>
              <a:rPr sz="1400" dirty="0">
                <a:solidFill>
                  <a:srgbClr val="000000"/>
                </a:solidFill>
                <a:latin typeface="Helvetica Neue Thin"/>
              </a:rPr>
              <a:t>• Functionality parity </a:t>
            </a:r>
          </a:p>
        </p:txBody>
      </p:sp>
      <p:sp>
        <p:nvSpPr>
          <p:cNvPr id="20" name="TextBox 19"/>
          <p:cNvSpPr txBox="1"/>
          <p:nvPr/>
        </p:nvSpPr>
        <p:spPr>
          <a:xfrm>
            <a:off x="40210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1" name="TextBox 20"/>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Mobile</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2" name="TextBox 21"/>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3" name="TextBox 22"/>
          <p:cNvSpPr txBox="1"/>
          <p:nvPr/>
        </p:nvSpPr>
        <p:spPr>
          <a:xfrm>
            <a:off x="7024548" y="2934379"/>
            <a:ext cx="2151872" cy="206959"/>
          </a:xfrm>
          <a:prstGeom prst="rect">
            <a:avLst/>
          </a:prstGeom>
          <a:noFill/>
        </p:spPr>
        <p:txBody>
          <a:bodyPr wrap="none" lIns="0" tIns="0" rIns="0" bIns="0">
            <a:noAutofit/>
          </a:bodyPr>
          <a:lstStyle/>
          <a:p>
            <a:pPr algn="l"/>
            <a:r>
              <a:rPr sz="1400" dirty="0">
                <a:solidFill>
                  <a:srgbClr val="FFFFFF"/>
                </a:solidFill>
                <a:latin typeface="Helvetica Neue Thin"/>
              </a:rPr>
              <a:t>• Integrations with other </a:t>
            </a:r>
          </a:p>
        </p:txBody>
      </p:sp>
      <p:sp>
        <p:nvSpPr>
          <p:cNvPr id="24" name="TextBox 23"/>
          <p:cNvSpPr txBox="1"/>
          <p:nvPr/>
        </p:nvSpPr>
        <p:spPr>
          <a:xfrm>
            <a:off x="7253148" y="3251879"/>
            <a:ext cx="1677627" cy="206959"/>
          </a:xfrm>
          <a:prstGeom prst="rect">
            <a:avLst/>
          </a:prstGeom>
          <a:noFill/>
        </p:spPr>
        <p:txBody>
          <a:bodyPr wrap="none" lIns="0" tIns="0" rIns="0" bIns="0">
            <a:noAutofit/>
          </a:bodyPr>
          <a:lstStyle/>
          <a:p>
            <a:pPr algn="l"/>
            <a:r>
              <a:rPr sz="1400" dirty="0">
                <a:solidFill>
                  <a:srgbClr val="FFFFFF"/>
                </a:solidFill>
                <a:latin typeface="Helvetica Neue Thin"/>
              </a:rPr>
              <a:t>systems on platform</a:t>
            </a:r>
          </a:p>
        </p:txBody>
      </p:sp>
      <p:sp>
        <p:nvSpPr>
          <p:cNvPr id="25" name="TextBox 24"/>
          <p:cNvSpPr txBox="1"/>
          <p:nvPr/>
        </p:nvSpPr>
        <p:spPr>
          <a:xfrm>
            <a:off x="7024548" y="3569379"/>
            <a:ext cx="2264401" cy="206959"/>
          </a:xfrm>
          <a:prstGeom prst="rect">
            <a:avLst/>
          </a:prstGeom>
          <a:noFill/>
        </p:spPr>
        <p:txBody>
          <a:bodyPr wrap="none" lIns="0" tIns="0" rIns="0" bIns="0">
            <a:noAutofit/>
          </a:bodyPr>
          <a:lstStyle/>
          <a:p>
            <a:pPr algn="l"/>
            <a:r>
              <a:rPr sz="1400" dirty="0">
                <a:solidFill>
                  <a:srgbClr val="FFFFFF"/>
                </a:solidFill>
                <a:latin typeface="Helvetica Neue Thin"/>
              </a:rPr>
              <a:t>• All users understanding </a:t>
            </a:r>
          </a:p>
        </p:txBody>
      </p:sp>
      <p:sp>
        <p:nvSpPr>
          <p:cNvPr id="26" name="TextBox 25"/>
          <p:cNvSpPr txBox="1"/>
          <p:nvPr/>
        </p:nvSpPr>
        <p:spPr>
          <a:xfrm>
            <a:off x="7253148" y="3886879"/>
            <a:ext cx="1192766" cy="206959"/>
          </a:xfrm>
          <a:prstGeom prst="rect">
            <a:avLst/>
          </a:prstGeom>
          <a:noFill/>
        </p:spPr>
        <p:txBody>
          <a:bodyPr wrap="none" lIns="0" tIns="0" rIns="0" bIns="0">
            <a:noAutofit/>
          </a:bodyPr>
          <a:lstStyle/>
          <a:p>
            <a:pPr algn="l"/>
            <a:r>
              <a:rPr sz="1400" dirty="0">
                <a:solidFill>
                  <a:srgbClr val="FFFFFF"/>
                </a:solidFill>
                <a:latin typeface="Helvetica Neue Thin"/>
              </a:rPr>
              <a:t>of the policies</a:t>
            </a:r>
          </a:p>
        </p:txBody>
      </p:sp>
      <p:sp>
        <p:nvSpPr>
          <p:cNvPr id="27" name="TextBox 26"/>
          <p:cNvSpPr txBox="1"/>
          <p:nvPr/>
        </p:nvSpPr>
        <p:spPr>
          <a:xfrm>
            <a:off x="7024548" y="4204379"/>
            <a:ext cx="1934501" cy="206959"/>
          </a:xfrm>
          <a:prstGeom prst="rect">
            <a:avLst/>
          </a:prstGeom>
          <a:noFill/>
        </p:spPr>
        <p:txBody>
          <a:bodyPr wrap="none" lIns="0" tIns="0" rIns="0" bIns="0">
            <a:noAutofit/>
          </a:bodyPr>
          <a:lstStyle/>
          <a:p>
            <a:pPr algn="l"/>
            <a:r>
              <a:rPr sz="1400" dirty="0">
                <a:solidFill>
                  <a:srgbClr val="FFFFFF"/>
                </a:solidFill>
                <a:latin typeface="Helvetica Neue Thin"/>
              </a:rPr>
              <a:t>• Access for all in the </a:t>
            </a:r>
          </a:p>
        </p:txBody>
      </p:sp>
      <p:sp>
        <p:nvSpPr>
          <p:cNvPr id="28" name="TextBox 27"/>
          <p:cNvSpPr txBox="1"/>
          <p:nvPr/>
        </p:nvSpPr>
        <p:spPr>
          <a:xfrm>
            <a:off x="7253148" y="4521879"/>
            <a:ext cx="708288" cy="206959"/>
          </a:xfrm>
          <a:prstGeom prst="rect">
            <a:avLst/>
          </a:prstGeom>
          <a:noFill/>
        </p:spPr>
        <p:txBody>
          <a:bodyPr wrap="none" lIns="0" tIns="0" rIns="0" bIns="0">
            <a:noAutofit/>
          </a:bodyPr>
          <a:lstStyle/>
          <a:p>
            <a:pPr algn="l"/>
            <a:r>
              <a:rPr sz="1400" dirty="0">
                <a:solidFill>
                  <a:srgbClr val="FFFFFF"/>
                </a:solidFill>
                <a:latin typeface="Helvetica Neue Thin"/>
              </a:rPr>
              <a:t>platform</a:t>
            </a:r>
          </a:p>
        </p:txBody>
      </p:sp>
      <p:sp>
        <p:nvSpPr>
          <p:cNvPr id="29" name="TextBox 28"/>
          <p:cNvSpPr txBox="1"/>
          <p:nvPr/>
        </p:nvSpPr>
        <p:spPr>
          <a:xfrm>
            <a:off x="7024548" y="48393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30" name="TextBox 29"/>
          <p:cNvSpPr txBox="1"/>
          <p:nvPr/>
        </p:nvSpPr>
        <p:spPr>
          <a:xfrm>
            <a:off x="7024548" y="5156879"/>
            <a:ext cx="1616701" cy="206959"/>
          </a:xfrm>
          <a:prstGeom prst="rect">
            <a:avLst/>
          </a:prstGeom>
          <a:noFill/>
        </p:spPr>
        <p:txBody>
          <a:bodyPr wrap="none" lIns="0" tIns="0" rIns="0" bIns="0">
            <a:noAutofit/>
          </a:bodyPr>
          <a:lstStyle/>
          <a:p>
            <a:pPr algn="l"/>
            <a:r>
              <a:rPr sz="1400" dirty="0">
                <a:solidFill>
                  <a:srgbClr val="FFFFFF"/>
                </a:solidFill>
                <a:latin typeface="Helvetica Neue Thin"/>
              </a:rPr>
              <a:t>• Clear navigation</a:t>
            </a:r>
          </a:p>
        </p:txBody>
      </p:sp>
      <p:sp>
        <p:nvSpPr>
          <p:cNvPr id="31" name="TextBox 30"/>
          <p:cNvSpPr txBox="1"/>
          <p:nvPr/>
        </p:nvSpPr>
        <p:spPr>
          <a:xfrm>
            <a:off x="7024548" y="54743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32" name="TextBox 31"/>
          <p:cNvSpPr txBox="1"/>
          <p:nvPr/>
        </p:nvSpPr>
        <p:spPr>
          <a:xfrm>
            <a:off x="62726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
        <p:nvSpPr>
          <p:cNvPr id="33" name="TextBox 3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17600" y="981961"/>
            <a:ext cx="4931775" cy="556869"/>
          </a:xfrm>
          <a:prstGeom prst="rect">
            <a:avLst/>
          </a:prstGeom>
          <a:noFill/>
        </p:spPr>
        <p:txBody>
          <a:bodyPr wrap="none" lIns="0" tIns="0" rIns="0" bIns="0">
            <a:noAutofit/>
          </a:bodyPr>
          <a:lstStyle/>
          <a:p>
            <a:pPr algn="l"/>
            <a:r>
              <a:rPr sz="3600" dirty="0">
                <a:solidFill>
                  <a:srgbClr val="FFFFFF"/>
                </a:solidFill>
                <a:latin typeface="Helvetica Neue Light"/>
              </a:rPr>
              <a:t>The Delivered Solution</a:t>
            </a:r>
          </a:p>
        </p:txBody>
      </p:sp>
      <p:sp>
        <p:nvSpPr>
          <p:cNvPr id="4" name="TextBox 3"/>
          <p:cNvSpPr txBox="1"/>
          <p:nvPr/>
        </p:nvSpPr>
        <p:spPr>
          <a:xfrm>
            <a:off x="1117600" y="2122980"/>
            <a:ext cx="5322206" cy="2783128"/>
          </a:xfrm>
          <a:prstGeom prst="rect">
            <a:avLst/>
          </a:prstGeom>
          <a:noFill/>
        </p:spPr>
        <p:txBody>
          <a:bodyPr wrap="square" lIns="0" tIns="0" rIns="0" bIns="0">
            <a:noAutofit/>
          </a:bodyPr>
          <a:lstStyle/>
          <a:p>
            <a:pPr algn="l">
              <a:lnSpc>
                <a:spcPts val="5520"/>
              </a:lnSpc>
            </a:pPr>
            <a:r>
              <a:rPr sz="4600" dirty="0">
                <a:solidFill>
                  <a:srgbClr val="FFFFFF"/>
                </a:solidFill>
                <a:latin typeface="Helvetica Neue Thin"/>
              </a:rPr>
              <a:t>Risk &amp; Compliance Managers, Submitter and Reviewer  </a:t>
            </a:r>
          </a:p>
          <a:p>
            <a:pPr algn="l">
              <a:lnSpc>
                <a:spcPts val="5520"/>
              </a:lnSpc>
            </a:pPr>
            <a:r>
              <a:rPr sz="4600" dirty="0">
                <a:solidFill>
                  <a:srgbClr val="FFFFFF"/>
                </a:solidFill>
                <a:latin typeface="Helvetica Neue Thin"/>
              </a:rPr>
              <a:t>Experiences </a:t>
            </a:r>
          </a:p>
        </p:txBody>
      </p:sp>
      <p:sp>
        <p:nvSpPr>
          <p:cNvPr id="5" name="TextBox 4"/>
          <p:cNvSpPr txBox="1"/>
          <p:nvPr/>
        </p:nvSpPr>
        <p:spPr>
          <a:xfrm>
            <a:off x="1117600" y="5508088"/>
            <a:ext cx="5691008" cy="2001621"/>
          </a:xfrm>
          <a:prstGeom prst="rect">
            <a:avLst/>
          </a:prstGeom>
          <a:noFill/>
        </p:spPr>
        <p:txBody>
          <a:bodyPr wrap="square" lIns="0" tIns="0" rIns="0" bIns="0">
            <a:noAutofit/>
          </a:bodyPr>
          <a:lstStyle/>
          <a:p>
            <a:pPr algn="l">
              <a:lnSpc>
                <a:spcPts val="2639"/>
              </a:lnSpc>
            </a:pPr>
            <a:r>
              <a:rPr sz="2200" dirty="0">
                <a:solidFill>
                  <a:srgbClr val="FFFFFF"/>
                </a:solidFill>
                <a:latin typeface="Helvetica Neue Thin"/>
              </a:rPr>
              <a:t>The main jumping-off point for all 3 user types, the dashboard was the prioritized focus, and went through many iterations based on company goals, line of business goals, UX strategy, legal, risk, and ADA requirements, as well as design system requirements.</a:t>
            </a:r>
          </a:p>
        </p:txBody>
      </p:sp>
      <p:sp>
        <p:nvSpPr>
          <p:cNvPr id="6" name="TextBox 5"/>
          <p:cNvSpPr txBox="1"/>
          <p:nvPr/>
        </p:nvSpPr>
        <p:spPr>
          <a:xfrm>
            <a:off x="8178800" y="5507480"/>
            <a:ext cx="3845465" cy="278434"/>
          </a:xfrm>
          <a:prstGeom prst="rect">
            <a:avLst/>
          </a:prstGeom>
          <a:noFill/>
        </p:spPr>
        <p:txBody>
          <a:bodyPr wrap="none" lIns="0" tIns="0" rIns="0" bIns="0">
            <a:noAutofit/>
          </a:bodyPr>
          <a:lstStyle/>
          <a:p>
            <a:pPr algn="l"/>
            <a:r>
              <a:rPr sz="1800" dirty="0">
                <a:solidFill>
                  <a:srgbClr val="FFFFFF"/>
                </a:solidFill>
                <a:latin typeface="Helvetica Neue Light"/>
              </a:rPr>
              <a:t>• Feature refinement and road map </a:t>
            </a:r>
          </a:p>
        </p:txBody>
      </p:sp>
      <p:sp>
        <p:nvSpPr>
          <p:cNvPr id="7" name="TextBox 6"/>
          <p:cNvSpPr txBox="1"/>
          <p:nvPr/>
        </p:nvSpPr>
        <p:spPr>
          <a:xfrm>
            <a:off x="8178800" y="5863080"/>
            <a:ext cx="2582635" cy="278434"/>
          </a:xfrm>
          <a:prstGeom prst="rect">
            <a:avLst/>
          </a:prstGeom>
          <a:noFill/>
        </p:spPr>
        <p:txBody>
          <a:bodyPr wrap="none" lIns="0" tIns="0" rIns="0" bIns="0">
            <a:noAutofit/>
          </a:bodyPr>
          <a:lstStyle/>
          <a:p>
            <a:pPr algn="l"/>
            <a:r>
              <a:rPr sz="1800" dirty="0">
                <a:solidFill>
                  <a:srgbClr val="FFFFFF"/>
                </a:solidFill>
                <a:latin typeface="Helvetica Neue Light"/>
              </a:rPr>
              <a:t>• 33 Agile-based sprints</a:t>
            </a:r>
          </a:p>
        </p:txBody>
      </p:sp>
      <p:sp>
        <p:nvSpPr>
          <p:cNvPr id="8" name="TextBox 7"/>
          <p:cNvSpPr txBox="1"/>
          <p:nvPr/>
        </p:nvSpPr>
        <p:spPr>
          <a:xfrm>
            <a:off x="8178800" y="6218680"/>
            <a:ext cx="4027178" cy="278434"/>
          </a:xfrm>
          <a:prstGeom prst="rect">
            <a:avLst/>
          </a:prstGeom>
          <a:noFill/>
        </p:spPr>
        <p:txBody>
          <a:bodyPr wrap="none" lIns="0" tIns="0" rIns="0" bIns="0">
            <a:noAutofit/>
          </a:bodyPr>
          <a:lstStyle/>
          <a:p>
            <a:pPr algn="l"/>
            <a:r>
              <a:rPr sz="1800" dirty="0">
                <a:solidFill>
                  <a:srgbClr val="FFFFFF"/>
                </a:solidFill>
                <a:latin typeface="Helvetica Neue Light"/>
              </a:rPr>
              <a:t>• Usability testing on weekly cadence</a:t>
            </a:r>
          </a:p>
        </p:txBody>
      </p:sp>
      <p:sp>
        <p:nvSpPr>
          <p:cNvPr id="9" name="TextBox 8"/>
          <p:cNvSpPr txBox="1"/>
          <p:nvPr/>
        </p:nvSpPr>
        <p:spPr>
          <a:xfrm>
            <a:off x="8178800" y="6574280"/>
            <a:ext cx="1832565" cy="278434"/>
          </a:xfrm>
          <a:prstGeom prst="rect">
            <a:avLst/>
          </a:prstGeom>
          <a:noFill/>
        </p:spPr>
        <p:txBody>
          <a:bodyPr wrap="none" lIns="0" tIns="0" rIns="0" bIns="0">
            <a:noAutofit/>
          </a:bodyPr>
          <a:lstStyle/>
          <a:p>
            <a:pPr algn="l"/>
            <a:r>
              <a:rPr sz="1800" dirty="0">
                <a:solidFill>
                  <a:srgbClr val="FFFFFF"/>
                </a:solidFill>
                <a:latin typeface="Helvetica Neue Light"/>
              </a:rPr>
              <a:t>• Demos and QA</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157197" y="746631"/>
            <a:ext cx="3847602" cy="4998285"/>
          </a:xfrm>
          <a:prstGeom prst="rect">
            <a:avLst/>
          </a:prstGeom>
        </p:spPr>
      </p:pic>
      <p:pic>
        <p:nvPicPr>
          <p:cNvPr id="4" name="Picture 2" descr="image.png"/>
          <p:cNvPicPr>
            <a:picLocks noChangeAspect="1"/>
          </p:cNvPicPr>
          <p:nvPr/>
        </p:nvPicPr>
        <p:blipFill>
          <a:blip r:embed="rId4"/>
          <a:stretch>
            <a:fillRect/>
          </a:stretch>
        </p:blipFill>
        <p:spPr>
          <a:xfrm>
            <a:off x="9608352" y="5286374"/>
            <a:ext cx="2834472" cy="2554791"/>
          </a:xfrm>
          <a:prstGeom prst="rect">
            <a:avLst/>
          </a:prstGeom>
        </p:spPr>
      </p:pic>
      <p:pic>
        <p:nvPicPr>
          <p:cNvPr id="5" name="Picture 3" descr="image.png"/>
          <p:cNvPicPr>
            <a:picLocks noChangeAspect="1"/>
          </p:cNvPicPr>
          <p:nvPr/>
        </p:nvPicPr>
        <p:blipFill>
          <a:blip r:embed="rId5"/>
          <a:stretch>
            <a:fillRect/>
          </a:stretch>
        </p:blipFill>
        <p:spPr>
          <a:xfrm>
            <a:off x="7406731" y="2453731"/>
            <a:ext cx="2357038" cy="2534075"/>
          </a:xfrm>
          <a:prstGeom prst="rect">
            <a:avLst/>
          </a:prstGeom>
        </p:spPr>
      </p:pic>
      <p:pic>
        <p:nvPicPr>
          <p:cNvPr id="6" name="Picture 4" descr="image.png"/>
          <p:cNvPicPr>
            <a:picLocks noChangeAspect="1"/>
          </p:cNvPicPr>
          <p:nvPr/>
        </p:nvPicPr>
        <p:blipFill>
          <a:blip r:embed="rId6"/>
          <a:stretch>
            <a:fillRect/>
          </a:stretch>
        </p:blipFill>
        <p:spPr>
          <a:xfrm>
            <a:off x="6505575" y="5489575"/>
            <a:ext cx="3424986" cy="4065134"/>
          </a:xfrm>
          <a:prstGeom prst="rect">
            <a:avLst/>
          </a:prstGeom>
        </p:spPr>
      </p:pic>
      <p:pic>
        <p:nvPicPr>
          <p:cNvPr id="7" name="Picture 5" descr="image.png"/>
          <p:cNvPicPr>
            <a:picLocks noChangeAspect="1"/>
          </p:cNvPicPr>
          <p:nvPr/>
        </p:nvPicPr>
        <p:blipFill>
          <a:blip r:embed="rId7"/>
          <a:stretch>
            <a:fillRect/>
          </a:stretch>
        </p:blipFill>
        <p:spPr>
          <a:xfrm>
            <a:off x="10442575" y="7539839"/>
            <a:ext cx="2562225" cy="201397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
        <p:nvSpPr>
          <p:cNvPr id="9" name="TextBox 8"/>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OBI Experience Design Strategy</a:t>
            </a:r>
          </a:p>
        </p:txBody>
      </p:sp>
      <p:sp>
        <p:nvSpPr>
          <p:cNvPr id="10" name="TextBox 9"/>
          <p:cNvSpPr txBox="1"/>
          <p:nvPr/>
        </p:nvSpPr>
        <p:spPr>
          <a:xfrm>
            <a:off x="3149600" y="7606283"/>
            <a:ext cx="3257272" cy="247497"/>
          </a:xfrm>
          <a:prstGeom prst="rect">
            <a:avLst/>
          </a:prstGeom>
          <a:noFill/>
        </p:spPr>
        <p:txBody>
          <a:bodyPr wrap="none" lIns="0" tIns="0" rIns="0" bIns="0">
            <a:noAutofit/>
          </a:bodyPr>
          <a:lstStyle/>
          <a:p>
            <a:pPr algn="l"/>
            <a:r>
              <a:rPr sz="1600" dirty="0">
                <a:solidFill>
                  <a:srgbClr val="000000"/>
                </a:solidFill>
                <a:latin typeface="Helvetica Neue Light"/>
              </a:rPr>
              <a:t>Based on POC 2 from the Design </a:t>
            </a:r>
          </a:p>
        </p:txBody>
      </p:sp>
      <p:sp>
        <p:nvSpPr>
          <p:cNvPr id="11" name="TextBox 10"/>
          <p:cNvSpPr txBox="1"/>
          <p:nvPr/>
        </p:nvSpPr>
        <p:spPr>
          <a:xfrm>
            <a:off x="3149600" y="7961883"/>
            <a:ext cx="3169709" cy="247497"/>
          </a:xfrm>
          <a:prstGeom prst="rect">
            <a:avLst/>
          </a:prstGeom>
          <a:noFill/>
        </p:spPr>
        <p:txBody>
          <a:bodyPr wrap="none" lIns="0" tIns="0" rIns="0" bIns="0">
            <a:noAutofit/>
          </a:bodyPr>
          <a:lstStyle/>
          <a:p>
            <a:pPr algn="l"/>
            <a:r>
              <a:rPr sz="1600" dirty="0">
                <a:solidFill>
                  <a:srgbClr val="000000"/>
                </a:solidFill>
                <a:latin typeface="Helvetica Neue Light"/>
              </a:rPr>
              <a:t>Thinking process, and thumbnail </a:t>
            </a:r>
          </a:p>
        </p:txBody>
      </p:sp>
      <p:sp>
        <p:nvSpPr>
          <p:cNvPr id="12" name="TextBox 11"/>
          <p:cNvSpPr txBox="1"/>
          <p:nvPr/>
        </p:nvSpPr>
        <p:spPr>
          <a:xfrm>
            <a:off x="3149600" y="8317483"/>
            <a:ext cx="947057" cy="247497"/>
          </a:xfrm>
          <a:prstGeom prst="rect">
            <a:avLst/>
          </a:prstGeom>
          <a:noFill/>
        </p:spPr>
        <p:txBody>
          <a:bodyPr wrap="none" lIns="0" tIns="0" rIns="0" bIns="0">
            <a:noAutofit/>
          </a:bodyPr>
          <a:lstStyle/>
          <a:p>
            <a:pPr algn="l"/>
            <a:r>
              <a:rPr sz="1600" dirty="0">
                <a:solidFill>
                  <a:srgbClr val="000000"/>
                </a:solidFill>
                <a:latin typeface="Helvetica Neue Light"/>
              </a:rPr>
              <a:t>sketches.</a:t>
            </a:r>
          </a:p>
        </p:txBody>
      </p:sp>
      <p:sp>
        <p:nvSpPr>
          <p:cNvPr id="13" name="TextBox 12"/>
          <p:cNvSpPr txBox="1"/>
          <p:nvPr/>
        </p:nvSpPr>
        <p:spPr>
          <a:xfrm>
            <a:off x="812800" y="2113279"/>
            <a:ext cx="4963537" cy="1823210"/>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and design thinking</a:t>
            </a:r>
          </a:p>
          <a:p>
            <a:pPr algn="l">
              <a:lnSpc>
                <a:spcPts val="2400"/>
              </a:lnSpc>
            </a:pPr>
            <a:r>
              <a:rPr sz="2000" dirty="0">
                <a:solidFill>
                  <a:srgbClr val="FFFFFF"/>
                </a:solidFill>
                <a:latin typeface="Helvetica Neue Thin"/>
              </a:rPr>
              <a:t>•  For Risk &amp; Compliance Managers a dashboard with ways of understanding and filtering of request statuses</a:t>
            </a:r>
          </a:p>
        </p:txBody>
      </p:sp>
      <p:sp>
        <p:nvSpPr>
          <p:cNvPr id="14" name="TextBox 13"/>
          <p:cNvSpPr txBox="1"/>
          <p:nvPr/>
        </p:nvSpPr>
        <p:spPr>
          <a:xfrm>
            <a:off x="812800" y="3640834"/>
            <a:ext cx="4937308" cy="9052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Reporting and other major functionalities </a:t>
            </a:r>
          </a:p>
        </p:txBody>
      </p:sp>
      <p:sp>
        <p:nvSpPr>
          <p:cNvPr id="15" name="TextBox 14"/>
          <p:cNvSpPr txBox="1"/>
          <p:nvPr/>
        </p:nvSpPr>
        <p:spPr>
          <a:xfrm>
            <a:off x="812800" y="3945634"/>
            <a:ext cx="4960968" cy="905255"/>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with ability to share and alert 2nd line of defense managers</a:t>
            </a:r>
          </a:p>
          <a:p>
            <a:pPr algn="l">
              <a:lnSpc>
                <a:spcPts val="2400"/>
              </a:lnSpc>
            </a:pPr>
            <a:r>
              <a:rPr sz="2000" dirty="0">
                <a:solidFill>
                  <a:srgbClr val="FFFFFF"/>
                </a:solidFill>
                <a:latin typeface="Helvetica Neue Thin"/>
              </a:rPr>
              <a:t>•  Employees were often confused about </a:t>
            </a:r>
          </a:p>
        </p:txBody>
      </p:sp>
      <p:sp>
        <p:nvSpPr>
          <p:cNvPr id="16" name="TextBox 15"/>
          <p:cNvSpPr txBox="1"/>
          <p:nvPr/>
        </p:nvSpPr>
        <p:spPr>
          <a:xfrm>
            <a:off x="812800" y="4860034"/>
            <a:ext cx="5303452" cy="9052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what form they needed.</a:t>
            </a:r>
          </a:p>
          <a:p>
            <a:pPr algn="l">
              <a:lnSpc>
                <a:spcPts val="2400"/>
              </a:lnSpc>
            </a:pPr>
            <a:r>
              <a:rPr sz="2000" dirty="0">
                <a:solidFill>
                  <a:srgbClr val="FFFFFF"/>
                </a:solidFill>
                <a:latin typeface="Helvetica Neue Thin"/>
              </a:rPr>
              <a:t>• They needed education on why, how, when</a:t>
            </a:r>
          </a:p>
          <a:p>
            <a:pPr algn="l">
              <a:lnSpc>
                <a:spcPts val="2400"/>
              </a:lnSpc>
            </a:pPr>
            <a:r>
              <a:rPr sz="2000" dirty="0">
                <a:solidFill>
                  <a:srgbClr val="FFFFFF"/>
                </a:solidFill>
                <a:latin typeface="Helvetica Neue Thin"/>
              </a:rPr>
              <a:t>•  They needed their expectations managed </a:t>
            </a:r>
          </a:p>
        </p:txBody>
      </p:sp>
      <p:sp>
        <p:nvSpPr>
          <p:cNvPr id="17" name="TextBox 16"/>
          <p:cNvSpPr txBox="1"/>
          <p:nvPr/>
        </p:nvSpPr>
        <p:spPr>
          <a:xfrm>
            <a:off x="812800" y="5774434"/>
            <a:ext cx="5039217" cy="91541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when they returned so they’d have some idea of what to do</a:t>
            </a:r>
          </a:p>
          <a:p>
            <a:pPr algn="l">
              <a:lnSpc>
                <a:spcPts val="2400"/>
              </a:lnSpc>
            </a:pPr>
            <a:r>
              <a:rPr sz="2000" dirty="0">
                <a:solidFill>
                  <a:srgbClr val="FFFFFF"/>
                </a:solidFill>
                <a:latin typeface="Helvetica Neue Light"/>
              </a:rPr>
              <a:t>• Central space to see all submitted requests </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353175" y="688975"/>
            <a:ext cx="6188381" cy="9064624"/>
          </a:xfrm>
          <a:prstGeom prst="rect">
            <a:avLst/>
          </a:prstGeom>
        </p:spPr>
      </p:pic>
      <p:sp>
        <p:nvSpPr>
          <p:cNvPr id="4" name="TextBox 3"/>
          <p:cNvSpPr txBox="1"/>
          <p:nvPr/>
        </p:nvSpPr>
        <p:spPr>
          <a:xfrm>
            <a:off x="917274" y="3948428"/>
            <a:ext cx="4918412" cy="13660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in the research</a:t>
            </a:r>
          </a:p>
          <a:p>
            <a:pPr algn="l">
              <a:lnSpc>
                <a:spcPts val="2800"/>
              </a:lnSpc>
            </a:pPr>
            <a:r>
              <a:rPr sz="2000" dirty="0">
                <a:solidFill>
                  <a:srgbClr val="FFFFFF"/>
                </a:solidFill>
                <a:latin typeface="Helvetica Neue Thin"/>
              </a:rPr>
              <a:t>•  Submitters responded to a separate dashboard and progressive disclosure forms</a:t>
            </a:r>
          </a:p>
        </p:txBody>
      </p:sp>
      <p:sp>
        <p:nvSpPr>
          <p:cNvPr id="5" name="TextBox 4"/>
          <p:cNvSpPr txBox="1"/>
          <p:nvPr/>
        </p:nvSpPr>
        <p:spPr>
          <a:xfrm>
            <a:off x="917274" y="5018784"/>
            <a:ext cx="5286197" cy="651255"/>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Concepts tried having list view dashboards </a:t>
            </a:r>
          </a:p>
        </p:txBody>
      </p:sp>
      <p:sp>
        <p:nvSpPr>
          <p:cNvPr id="6" name="TextBox 5"/>
          <p:cNvSpPr txBox="1"/>
          <p:nvPr/>
        </p:nvSpPr>
        <p:spPr>
          <a:xfrm>
            <a:off x="1074240" y="5374384"/>
            <a:ext cx="3261715" cy="295655"/>
          </a:xfrm>
          <a:prstGeom prst="rect">
            <a:avLst/>
          </a:prstGeom>
          <a:noFill/>
        </p:spPr>
        <p:txBody>
          <a:bodyPr wrap="none" lIns="0" tIns="0" rIns="0" bIns="0">
            <a:noAutofit/>
          </a:bodyPr>
          <a:lstStyle/>
          <a:p>
            <a:pPr algn="l"/>
            <a:r>
              <a:rPr sz="2000" dirty="0">
                <a:solidFill>
                  <a:srgbClr val="FFFFFF"/>
                </a:solidFill>
                <a:latin typeface="Helvetica Neue Thin"/>
              </a:rPr>
              <a:t>or forms based dashboards</a:t>
            </a:r>
          </a:p>
        </p:txBody>
      </p:sp>
      <p:sp>
        <p:nvSpPr>
          <p:cNvPr id="7" name="TextBox 6"/>
          <p:cNvSpPr txBox="1"/>
          <p:nvPr/>
        </p:nvSpPr>
        <p:spPr>
          <a:xfrm>
            <a:off x="5501154" y="88795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8" name="TextBox 7"/>
          <p:cNvSpPr txBox="1"/>
          <p:nvPr/>
        </p:nvSpPr>
        <p:spPr>
          <a:xfrm>
            <a:off x="2240914" y="6474702"/>
            <a:ext cx="2148331"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2240914" y="6772506"/>
            <a:ext cx="3788282" cy="220854"/>
          </a:xfrm>
          <a:prstGeom prst="rect">
            <a:avLst/>
          </a:prstGeom>
          <a:noFill/>
        </p:spPr>
        <p:txBody>
          <a:bodyPr wrap="none" lIns="0" tIns="0" rIns="0" bIns="0">
            <a:noAutofit/>
          </a:bodyPr>
          <a:lstStyle/>
          <a:p>
            <a:pPr algn="l"/>
            <a:r>
              <a:rPr sz="1500" dirty="0">
                <a:solidFill>
                  <a:srgbClr val="FFFFFF"/>
                </a:solidFill>
                <a:latin typeface="Helvetica Neue Thin"/>
              </a:rPr>
              <a:t> Because of tech debt on mobile platforms, </a:t>
            </a:r>
          </a:p>
        </p:txBody>
      </p:sp>
      <p:sp>
        <p:nvSpPr>
          <p:cNvPr id="10" name="TextBox 9"/>
          <p:cNvSpPr txBox="1"/>
          <p:nvPr/>
        </p:nvSpPr>
        <p:spPr>
          <a:xfrm>
            <a:off x="2240914" y="7067654"/>
            <a:ext cx="3940944" cy="220854"/>
          </a:xfrm>
          <a:prstGeom prst="rect">
            <a:avLst/>
          </a:prstGeom>
          <a:noFill/>
        </p:spPr>
        <p:txBody>
          <a:bodyPr wrap="none" lIns="0" tIns="0" rIns="0" bIns="0">
            <a:noAutofit/>
          </a:bodyPr>
          <a:lstStyle/>
          <a:p>
            <a:pPr algn="l"/>
            <a:r>
              <a:rPr sz="1500" dirty="0">
                <a:solidFill>
                  <a:srgbClr val="FFFFFF"/>
                </a:solidFill>
                <a:latin typeface="Helvetica Neue Thin"/>
              </a:rPr>
              <a:t>Mobile Native work was re-prioritized on the </a:t>
            </a:r>
          </a:p>
        </p:txBody>
      </p:sp>
      <p:sp>
        <p:nvSpPr>
          <p:cNvPr id="11" name="TextBox 10"/>
          <p:cNvSpPr txBox="1"/>
          <p:nvPr/>
        </p:nvSpPr>
        <p:spPr>
          <a:xfrm>
            <a:off x="2240914" y="7362803"/>
            <a:ext cx="4058361" cy="220854"/>
          </a:xfrm>
          <a:prstGeom prst="rect">
            <a:avLst/>
          </a:prstGeom>
          <a:noFill/>
        </p:spPr>
        <p:txBody>
          <a:bodyPr wrap="none" lIns="0" tIns="0" rIns="0" bIns="0">
            <a:noAutofit/>
          </a:bodyPr>
          <a:lstStyle/>
          <a:p>
            <a:pPr algn="l"/>
            <a:r>
              <a:rPr sz="1500" dirty="0">
                <a:solidFill>
                  <a:srgbClr val="FFFFFF"/>
                </a:solidFill>
                <a:latin typeface="Helvetica Neue Thin"/>
              </a:rPr>
              <a:t>road map, to post MVP release. That required </a:t>
            </a:r>
          </a:p>
        </p:txBody>
      </p:sp>
      <p:sp>
        <p:nvSpPr>
          <p:cNvPr id="12" name="TextBox 11"/>
          <p:cNvSpPr txBox="1"/>
          <p:nvPr/>
        </p:nvSpPr>
        <p:spPr>
          <a:xfrm>
            <a:off x="2240914" y="7657951"/>
            <a:ext cx="3921271" cy="220854"/>
          </a:xfrm>
          <a:prstGeom prst="rect">
            <a:avLst/>
          </a:prstGeom>
          <a:noFill/>
        </p:spPr>
        <p:txBody>
          <a:bodyPr wrap="none" lIns="0" tIns="0" rIns="0" bIns="0">
            <a:noAutofit/>
          </a:bodyPr>
          <a:lstStyle/>
          <a:p>
            <a:pPr algn="l"/>
            <a:r>
              <a:rPr sz="1500" dirty="0">
                <a:solidFill>
                  <a:srgbClr val="FFFFFF"/>
                </a:solidFill>
                <a:latin typeface="Helvetica Neue Thin"/>
              </a:rPr>
              <a:t>a responsive experience and refactoring for </a:t>
            </a:r>
          </a:p>
        </p:txBody>
      </p:sp>
      <p:sp>
        <p:nvSpPr>
          <p:cNvPr id="13" name="TextBox 12"/>
          <p:cNvSpPr txBox="1"/>
          <p:nvPr/>
        </p:nvSpPr>
        <p:spPr>
          <a:xfrm>
            <a:off x="2240914" y="7953099"/>
            <a:ext cx="1567800" cy="220854"/>
          </a:xfrm>
          <a:prstGeom prst="rect">
            <a:avLst/>
          </a:prstGeom>
          <a:noFill/>
        </p:spPr>
        <p:txBody>
          <a:bodyPr wrap="none" lIns="0" tIns="0" rIns="0" bIns="0">
            <a:noAutofit/>
          </a:bodyPr>
          <a:lstStyle/>
          <a:p>
            <a:pPr algn="l"/>
            <a:r>
              <a:rPr sz="1500" dirty="0">
                <a:solidFill>
                  <a:srgbClr val="FFFFFF"/>
                </a:solidFill>
                <a:latin typeface="Helvetica Neue Thin"/>
              </a:rPr>
              <a:t>new design effort</a:t>
            </a:r>
          </a:p>
        </p:txBody>
      </p:sp>
      <p:sp>
        <p:nvSpPr>
          <p:cNvPr id="14" name="TextBox 13"/>
          <p:cNvSpPr txBox="1"/>
          <p:nvPr/>
        </p:nvSpPr>
        <p:spPr>
          <a:xfrm>
            <a:off x="457200" y="1761235"/>
            <a:ext cx="5198528" cy="1210055"/>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submission form allowed submitters to use a wizard, answering 3 questions to determine the correct form required and get into the submission process immediately.</a:t>
            </a:r>
          </a:p>
        </p:txBody>
      </p:sp>
      <p:sp>
        <p:nvSpPr>
          <p:cNvPr id="15" name="TextBox 14"/>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888512" y="741711"/>
            <a:ext cx="5171376" cy="9011888"/>
          </a:xfrm>
          <a:prstGeom prst="rect">
            <a:avLst/>
          </a:prstGeom>
        </p:spPr>
      </p:pic>
      <p:sp>
        <p:nvSpPr>
          <p:cNvPr id="4" name="TextBox 3"/>
          <p:cNvSpPr txBox="1"/>
          <p:nvPr/>
        </p:nvSpPr>
        <p:spPr>
          <a:xfrm>
            <a:off x="1054100" y="4704078"/>
            <a:ext cx="5434605" cy="9088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a:t>
            </a:r>
          </a:p>
          <a:p>
            <a:pPr algn="l">
              <a:lnSpc>
                <a:spcPts val="2400"/>
              </a:lnSpc>
            </a:pPr>
            <a:r>
              <a:rPr sz="2000" dirty="0">
                <a:solidFill>
                  <a:srgbClr val="FFFFFF"/>
                </a:solidFill>
                <a:latin typeface="Helvetica Neue Thin"/>
              </a:rPr>
              <a:t>•  Users responded to more friendly copy that  </a:t>
            </a:r>
          </a:p>
        </p:txBody>
      </p:sp>
      <p:sp>
        <p:nvSpPr>
          <p:cNvPr id="5" name="TextBox 4"/>
          <p:cNvSpPr txBox="1"/>
          <p:nvPr/>
        </p:nvSpPr>
        <p:spPr>
          <a:xfrm>
            <a:off x="1054100" y="5622034"/>
            <a:ext cx="5127412" cy="121005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illustrated the scenarios a person might be involved in</a:t>
            </a:r>
          </a:p>
          <a:p>
            <a:pPr marL="156966" indent="-156966" algn="l">
              <a:lnSpc>
                <a:spcPts val="2400"/>
              </a:lnSpc>
            </a:pPr>
            <a:r>
              <a:rPr sz="2000" dirty="0">
                <a:solidFill>
                  <a:srgbClr val="FFFFFF"/>
                </a:solidFill>
                <a:latin typeface="Helvetica Neue Thin"/>
              </a:rPr>
              <a:t>•	Content geared to Swiss users could be bubbled up based on user ID and location</a:t>
            </a:r>
          </a:p>
        </p:txBody>
      </p:sp>
      <p:sp>
        <p:nvSpPr>
          <p:cNvPr id="7" name="TextBox 6"/>
          <p:cNvSpPr txBox="1"/>
          <p:nvPr/>
        </p:nvSpPr>
        <p:spPr>
          <a:xfrm>
            <a:off x="5218732" y="8879584"/>
            <a:ext cx="1409753"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9" name="TextBox 8"/>
          <p:cNvSpPr txBox="1"/>
          <p:nvPr/>
        </p:nvSpPr>
        <p:spPr>
          <a:xfrm>
            <a:off x="457200" y="1913635"/>
            <a:ext cx="5227774" cy="651255"/>
          </a:xfrm>
          <a:prstGeom prst="rect">
            <a:avLst/>
          </a:prstGeom>
          <a:noFill/>
        </p:spPr>
        <p:txBody>
          <a:bodyPr wrap="square" lIns="0" tIns="0" rIns="0" bIns="0">
            <a:noAutofit/>
          </a:bodyPr>
          <a:lstStyle/>
          <a:p>
            <a:pPr algn="l">
              <a:lnSpc>
                <a:spcPts val="2800"/>
              </a:lnSpc>
            </a:pPr>
            <a:r>
              <a:rPr sz="2000" dirty="0">
                <a:solidFill>
                  <a:srgbClr val="000000"/>
                </a:solidFill>
                <a:latin typeface="Helvetica Neue Thin"/>
              </a:rPr>
              <a:t>The first iterations included educational options front and center on the dashboard.</a:t>
            </a:r>
          </a:p>
        </p:txBody>
      </p:sp>
      <p:sp>
        <p:nvSpPr>
          <p:cNvPr id="10" name="TextBox 9"/>
          <p:cNvSpPr txBox="1"/>
          <p:nvPr/>
        </p:nvSpPr>
        <p:spPr>
          <a:xfrm>
            <a:off x="457200" y="2980435"/>
            <a:ext cx="4979187" cy="651255"/>
          </a:xfrm>
          <a:prstGeom prst="rect">
            <a:avLst/>
          </a:prstGeom>
          <a:noFill/>
        </p:spPr>
        <p:txBody>
          <a:bodyPr wrap="square" lIns="0" tIns="0" rIns="0" bIns="0">
            <a:noAutofit/>
          </a:bodyPr>
          <a:lstStyle/>
          <a:p>
            <a:pPr algn="l">
              <a:lnSpc>
                <a:spcPts val="2799"/>
              </a:lnSpc>
            </a:pPr>
            <a:r>
              <a:rPr sz="2000" dirty="0">
                <a:solidFill>
                  <a:srgbClr val="000000"/>
                </a:solidFill>
                <a:latin typeface="Helvetica Neue Thin"/>
              </a:rPr>
              <a:t>Testing showed us that a segment of newer users needed it, but not all.</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400175" y="2549525"/>
            <a:ext cx="8509000" cy="6442528"/>
          </a:xfrm>
          <a:prstGeom prst="rect">
            <a:avLst/>
          </a:prstGeom>
        </p:spPr>
      </p:pic>
      <p:sp>
        <p:nvSpPr>
          <p:cNvPr id="4" name="TextBox 3"/>
          <p:cNvSpPr txBox="1"/>
          <p:nvPr/>
        </p:nvSpPr>
        <p:spPr>
          <a:xfrm>
            <a:off x="457200" y="1621535"/>
            <a:ext cx="8664897"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Education module positioned to answer users’ questions on when they need to submit a request, but further testing required a new solution.</a:t>
            </a:r>
          </a:p>
        </p:txBody>
      </p:sp>
      <p:sp>
        <p:nvSpPr>
          <p:cNvPr id="5" name="TextBox 4"/>
          <p:cNvSpPr txBox="1"/>
          <p:nvPr/>
        </p:nvSpPr>
        <p:spPr>
          <a:xfrm>
            <a:off x="11361111" y="8955784"/>
            <a:ext cx="1195068"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6" name="TextBox 5"/>
          <p:cNvSpPr txBox="1"/>
          <p:nvPr/>
        </p:nvSpPr>
        <p:spPr>
          <a:xfrm>
            <a:off x="8462644" y="7006588"/>
            <a:ext cx="4054951" cy="15184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marL="156967" indent="-156967" algn="l">
              <a:lnSpc>
                <a:spcPts val="2400"/>
              </a:lnSpc>
            </a:pPr>
            <a:r>
              <a:rPr sz="2000" dirty="0">
                <a:solidFill>
                  <a:srgbClr val="FFFFFF"/>
                </a:solidFill>
                <a:latin typeface="Helvetica Neue Thin"/>
              </a:rPr>
              <a:t>•	Users reacted to educational modules positively, but felt there might be too much information in the guidance. </a:t>
            </a:r>
          </a:p>
        </p:txBody>
      </p:sp>
      <p:sp>
        <p:nvSpPr>
          <p:cNvPr id="8" name="TextBox 7"/>
          <p:cNvSpPr txBox="1"/>
          <p:nvPr/>
        </p:nvSpPr>
        <p:spPr>
          <a:xfrm>
            <a:off x="716915" y="7903452"/>
            <a:ext cx="2148330"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716915" y="8201256"/>
            <a:ext cx="4314713" cy="220854"/>
          </a:xfrm>
          <a:prstGeom prst="rect">
            <a:avLst/>
          </a:prstGeom>
          <a:noFill/>
        </p:spPr>
        <p:txBody>
          <a:bodyPr wrap="none" lIns="0" tIns="0" rIns="0" bIns="0">
            <a:noAutofit/>
          </a:bodyPr>
          <a:lstStyle/>
          <a:p>
            <a:pPr algn="l"/>
            <a:r>
              <a:rPr sz="1500" dirty="0">
                <a:solidFill>
                  <a:srgbClr val="FFFFFF"/>
                </a:solidFill>
                <a:latin typeface="Helvetica Neue Thin"/>
              </a:rPr>
              <a:t>•  Delays in resourcing for content for translations </a:t>
            </a:r>
          </a:p>
        </p:txBody>
      </p:sp>
      <p:sp>
        <p:nvSpPr>
          <p:cNvPr id="10" name="TextBox 9"/>
          <p:cNvSpPr txBox="1"/>
          <p:nvPr/>
        </p:nvSpPr>
        <p:spPr>
          <a:xfrm>
            <a:off x="834169" y="8496404"/>
            <a:ext cx="4147091" cy="220854"/>
          </a:xfrm>
          <a:prstGeom prst="rect">
            <a:avLst/>
          </a:prstGeom>
          <a:noFill/>
        </p:spPr>
        <p:txBody>
          <a:bodyPr wrap="none" lIns="0" tIns="0" rIns="0" bIns="0">
            <a:noAutofit/>
          </a:bodyPr>
          <a:lstStyle/>
          <a:p>
            <a:pPr algn="l"/>
            <a:r>
              <a:rPr sz="1500" dirty="0">
                <a:solidFill>
                  <a:srgbClr val="FFFFFF"/>
                </a:solidFill>
                <a:latin typeface="Helvetica Neue Thin"/>
              </a:rPr>
              <a:t>required us to reprioritize some of the features </a:t>
            </a:r>
          </a:p>
        </p:txBody>
      </p:sp>
      <p:sp>
        <p:nvSpPr>
          <p:cNvPr id="11" name="TextBox 10"/>
          <p:cNvSpPr txBox="1"/>
          <p:nvPr/>
        </p:nvSpPr>
        <p:spPr>
          <a:xfrm>
            <a:off x="834169" y="8791552"/>
            <a:ext cx="1720054" cy="220854"/>
          </a:xfrm>
          <a:prstGeom prst="rect">
            <a:avLst/>
          </a:prstGeom>
          <a:noFill/>
        </p:spPr>
        <p:txBody>
          <a:bodyPr wrap="none" lIns="0" tIns="0" rIns="0" bIns="0">
            <a:noAutofit/>
          </a:bodyPr>
          <a:lstStyle/>
          <a:p>
            <a:pPr algn="l"/>
            <a:r>
              <a:rPr sz="1500" dirty="0">
                <a:solidFill>
                  <a:srgbClr val="FFFFFF"/>
                </a:solidFill>
                <a:latin typeface="Helvetica Neue Thin"/>
              </a:rPr>
              <a:t>and refactor sprints</a:t>
            </a:r>
          </a:p>
        </p:txBody>
      </p:sp>
      <p:sp>
        <p:nvSpPr>
          <p:cNvPr id="12" name="TextBox 11"/>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2452954"/>
            <a:ext cx="7708621" cy="7083112"/>
          </a:xfrm>
          <a:prstGeom prst="rect">
            <a:avLst/>
          </a:prstGeom>
        </p:spPr>
      </p:pic>
      <p:pic>
        <p:nvPicPr>
          <p:cNvPr id="4" name="Picture 2" descr="image.png"/>
          <p:cNvPicPr>
            <a:picLocks noChangeAspect="1"/>
          </p:cNvPicPr>
          <p:nvPr/>
        </p:nvPicPr>
        <p:blipFill>
          <a:blip r:embed="rId4"/>
          <a:stretch>
            <a:fillRect/>
          </a:stretch>
        </p:blipFill>
        <p:spPr>
          <a:xfrm>
            <a:off x="4727309" y="6949873"/>
            <a:ext cx="8058784" cy="2803726"/>
          </a:xfrm>
          <a:prstGeom prst="rect">
            <a:avLst/>
          </a:prstGeom>
        </p:spPr>
      </p:pic>
      <p:sp>
        <p:nvSpPr>
          <p:cNvPr id="5" name="TextBox 4"/>
          <p:cNvSpPr txBox="1"/>
          <p:nvPr/>
        </p:nvSpPr>
        <p:spPr>
          <a:xfrm>
            <a:off x="457200" y="1545335"/>
            <a:ext cx="10487746"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final dashboard allowed submitters to access a wizard, answering only 2 questions to determine the correct form required. </a:t>
            </a:r>
          </a:p>
        </p:txBody>
      </p:sp>
      <p:sp>
        <p:nvSpPr>
          <p:cNvPr id="6" name="TextBox 5"/>
          <p:cNvSpPr txBox="1"/>
          <p:nvPr/>
        </p:nvSpPr>
        <p:spPr>
          <a:xfrm>
            <a:off x="8526418" y="2426663"/>
            <a:ext cx="1115553" cy="216560"/>
          </a:xfrm>
          <a:prstGeom prst="rect">
            <a:avLst/>
          </a:prstGeom>
          <a:noFill/>
        </p:spPr>
        <p:txBody>
          <a:bodyPr wrap="none" lIns="0" tIns="0" rIns="0" bIns="0">
            <a:noAutofit/>
          </a:bodyPr>
          <a:lstStyle/>
          <a:p>
            <a:pPr algn="l"/>
            <a:r>
              <a:rPr sz="1400" dirty="0">
                <a:solidFill>
                  <a:srgbClr val="000000"/>
                </a:solidFill>
                <a:latin typeface="Helvetica Neue Light"/>
              </a:rPr>
              <a:t>Final Version</a:t>
            </a:r>
          </a:p>
        </p:txBody>
      </p:sp>
      <p:sp>
        <p:nvSpPr>
          <p:cNvPr id="7" name="TextBox 6"/>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8" name="TextBox 7"/>
          <p:cNvSpPr txBox="1"/>
          <p:nvPr/>
        </p:nvSpPr>
        <p:spPr>
          <a:xfrm>
            <a:off x="7708900" y="4856478"/>
            <a:ext cx="4756160"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research</a:t>
            </a:r>
          </a:p>
          <a:p>
            <a:pPr algn="l">
              <a:lnSpc>
                <a:spcPts val="2400"/>
              </a:lnSpc>
            </a:pPr>
            <a:r>
              <a:rPr sz="2000" dirty="0">
                <a:solidFill>
                  <a:srgbClr val="FFFFFF"/>
                </a:solidFill>
                <a:latin typeface="Helvetica Neue Thin"/>
              </a:rPr>
              <a:t>•  Final solution allowed easy access to  </a:t>
            </a:r>
          </a:p>
        </p:txBody>
      </p:sp>
      <p:sp>
        <p:nvSpPr>
          <p:cNvPr id="9" name="TextBox 8"/>
          <p:cNvSpPr txBox="1"/>
          <p:nvPr/>
        </p:nvSpPr>
        <p:spPr>
          <a:xfrm>
            <a:off x="7708900" y="5469634"/>
            <a:ext cx="2733373" cy="956055"/>
          </a:xfrm>
          <a:prstGeom prst="rect">
            <a:avLst/>
          </a:prstGeom>
          <a:noFill/>
        </p:spPr>
        <p:txBody>
          <a:bodyPr wrap="none" lIns="0" tIns="0" rIns="0" bIns="0">
            <a:noAutofit/>
          </a:bodyPr>
          <a:lstStyle/>
          <a:p>
            <a:pPr marL="228600" algn="l">
              <a:lnSpc>
                <a:spcPts val="2600"/>
              </a:lnSpc>
            </a:pPr>
            <a:r>
              <a:rPr sz="2000" dirty="0">
                <a:solidFill>
                  <a:srgbClr val="FFFFFF"/>
                </a:solidFill>
                <a:latin typeface="Helvetica Neue Thin"/>
              </a:rPr>
              <a:t>education</a:t>
            </a:r>
          </a:p>
          <a:p>
            <a:pPr algn="l">
              <a:lnSpc>
                <a:spcPts val="2600"/>
              </a:lnSpc>
            </a:pPr>
            <a:r>
              <a:rPr sz="2000" dirty="0">
                <a:solidFill>
                  <a:srgbClr val="FFFFFF"/>
                </a:solidFill>
                <a:latin typeface="Helvetica Neue Thin"/>
              </a:rPr>
              <a:t>• Cleaner interface </a:t>
            </a:r>
          </a:p>
          <a:p>
            <a:pPr algn="l">
              <a:lnSpc>
                <a:spcPts val="2600"/>
              </a:lnSpc>
              <a:spcBef>
                <a:spcPts val="200"/>
              </a:spcBef>
            </a:pPr>
            <a:r>
              <a:rPr sz="2000" dirty="0">
                <a:solidFill>
                  <a:srgbClr val="FFFFFF"/>
                </a:solidFill>
                <a:latin typeface="Helvetica Neue Thin"/>
              </a:rPr>
              <a:t>• Ability to quickly start</a:t>
            </a:r>
          </a:p>
        </p:txBody>
      </p:sp>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905000" y="4682028"/>
            <a:ext cx="3728525" cy="2082088"/>
          </a:xfrm>
          <a:prstGeom prst="rect">
            <a:avLst/>
          </a:prstGeom>
          <a:noFill/>
        </p:spPr>
        <p:txBody>
          <a:bodyPr wrap="none" lIns="0" tIns="0" rIns="0" bIns="0">
            <a:noAutofit/>
          </a:bodyPr>
          <a:lstStyle/>
          <a:p>
            <a:pPr algn="l">
              <a:lnSpc>
                <a:spcPts val="5519"/>
              </a:lnSpc>
            </a:pPr>
            <a:r>
              <a:rPr sz="4600" dirty="0">
                <a:solidFill>
                  <a:srgbClr val="FFFFFF"/>
                </a:solidFill>
                <a:latin typeface="Helvetica Neue Thin"/>
              </a:rPr>
              <a:t>Submitter </a:t>
            </a:r>
          </a:p>
          <a:p>
            <a:pPr algn="l">
              <a:lnSpc>
                <a:spcPts val="5519"/>
              </a:lnSpc>
            </a:pPr>
            <a:r>
              <a:rPr sz="4600" dirty="0">
                <a:solidFill>
                  <a:srgbClr val="FFFFFF"/>
                </a:solidFill>
                <a:latin typeface="Helvetica Neue Thin"/>
              </a:rPr>
              <a:t>Dashboard </a:t>
            </a:r>
          </a:p>
          <a:p>
            <a:pPr algn="l">
              <a:lnSpc>
                <a:spcPts val="5519"/>
              </a:lnSpc>
            </a:pPr>
            <a:r>
              <a:rPr sz="4600" dirty="0">
                <a:solidFill>
                  <a:srgbClr val="FFFFFF"/>
                </a:solidFill>
                <a:latin typeface="Helvetica Neue Thin"/>
              </a:rPr>
              <a:t>Landing Page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247775" y="2431120"/>
            <a:ext cx="10021121" cy="6637108"/>
          </a:xfrm>
          <a:prstGeom prst="rect">
            <a:avLst/>
          </a:prstGeom>
        </p:spPr>
      </p:pic>
      <p:sp>
        <p:nvSpPr>
          <p:cNvPr id="4" name="TextBox 3"/>
          <p:cNvSpPr txBox="1"/>
          <p:nvPr/>
        </p:nvSpPr>
        <p:spPr>
          <a:xfrm>
            <a:off x="457200" y="921439"/>
            <a:ext cx="12619951" cy="767674"/>
          </a:xfrm>
          <a:prstGeom prst="rect">
            <a:avLst/>
          </a:prstGeom>
          <a:noFill/>
        </p:spPr>
        <p:txBody>
          <a:bodyPr wrap="none" lIns="0" tIns="0" rIns="0" bIns="0">
            <a:noAutofit/>
          </a:bodyPr>
          <a:lstStyle/>
          <a:p>
            <a:pPr marL="8053825" algn="l">
              <a:lnSpc>
                <a:spcPts val="1442"/>
              </a:lnSpc>
            </a:pPr>
            <a:r>
              <a:rPr sz="1500" dirty="0">
                <a:solidFill>
                  <a:srgbClr val="FFFFFF"/>
                </a:solidFill>
                <a:latin typeface="Helvetica Neue Light"/>
              </a:rPr>
              <a:t>Legacy requests refer to your disclosures</a:t>
            </a:r>
          </a:p>
          <a:p>
            <a:pPr algn="l">
              <a:lnSpc>
                <a:spcPts val="1442"/>
              </a:lnSpc>
            </a:pPr>
            <a:r>
              <a:rPr sz="3000" dirty="0">
                <a:solidFill>
                  <a:srgbClr val="000000"/>
                </a:solidFill>
                <a:latin typeface="Helvetica Neue Light"/>
              </a:rPr>
              <a:t>Landing Page Design Sprint</a:t>
            </a:r>
          </a:p>
          <a:p>
            <a:pPr marL="8054018" algn="l">
              <a:lnSpc>
                <a:spcPts val="1442"/>
              </a:lnSpc>
            </a:pPr>
            <a:r>
              <a:rPr sz="1500" dirty="0">
                <a:solidFill>
                  <a:srgbClr val="FFFFFF"/>
                </a:solidFill>
                <a:latin typeface="Helvetica Neue Light"/>
              </a:rPr>
              <a:t>from the previous system, OIRS, that have</a:t>
            </a:r>
          </a:p>
          <a:p>
            <a:pPr marL="8053825" algn="l">
              <a:lnSpc>
                <a:spcPts val="1442"/>
              </a:lnSpc>
              <a:spcBef>
                <a:spcPts val="668"/>
              </a:spcBef>
            </a:pPr>
            <a:r>
              <a:rPr sz="1500" dirty="0">
                <a:solidFill>
                  <a:srgbClr val="FFFFFF"/>
                </a:solidFill>
                <a:latin typeface="Helvetica Neue Light"/>
              </a:rPr>
              <a:t>been migrated into OBI.</a:t>
            </a:r>
          </a:p>
        </p:txBody>
      </p:sp>
      <p:sp>
        <p:nvSpPr>
          <p:cNvPr id="5" name="TextBox 4"/>
          <p:cNvSpPr txBox="1"/>
          <p:nvPr/>
        </p:nvSpPr>
        <p:spPr>
          <a:xfrm>
            <a:off x="8413805" y="7034295"/>
            <a:ext cx="3882259"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The OBI landing page shows the requester dashboard. By default, the tab</a:t>
            </a:r>
          </a:p>
          <a:p>
            <a:pPr algn="l">
              <a:lnSpc>
                <a:spcPts val="2223"/>
              </a:lnSpc>
              <a:spcBef>
                <a:spcPts val="139"/>
              </a:spcBef>
            </a:pPr>
            <a:r>
              <a:rPr sz="1600" dirty="0">
                <a:solidFill>
                  <a:srgbClr val="FFFFFF"/>
                </a:solidFill>
                <a:latin typeface="Helvetica"/>
              </a:rPr>
              <a:t>“Your Requests” will be visible. </a:t>
            </a:r>
          </a:p>
          <a:p>
            <a:pPr algn="l">
              <a:lnSpc>
                <a:spcPts val="2223"/>
              </a:lnSpc>
            </a:pPr>
            <a:r>
              <a:rPr sz="1600" dirty="0">
                <a:solidFill>
                  <a:srgbClr val="FFFFFF"/>
                </a:solidFill>
                <a:latin typeface="Helvetica"/>
              </a:rPr>
              <a:t>This has three sections :</a:t>
            </a:r>
          </a:p>
          <a:p>
            <a:pPr algn="l">
              <a:lnSpc>
                <a:spcPts val="2223"/>
              </a:lnSpc>
            </a:pPr>
            <a:r>
              <a:rPr sz="1600" dirty="0">
                <a:solidFill>
                  <a:srgbClr val="FFFFFF"/>
                </a:solidFill>
                <a:latin typeface="Helvetica"/>
              </a:rPr>
              <a:t>1. Drafts Saved</a:t>
            </a:r>
          </a:p>
          <a:p>
            <a:pPr algn="l">
              <a:lnSpc>
                <a:spcPts val="2223"/>
              </a:lnSpc>
            </a:pPr>
            <a:r>
              <a:rPr sz="1600" dirty="0">
                <a:solidFill>
                  <a:srgbClr val="FFFFFF"/>
                </a:solidFill>
                <a:latin typeface="Helvetica"/>
              </a:rPr>
              <a:t>2. Pending Requests</a:t>
            </a:r>
          </a:p>
          <a:p>
            <a:pPr algn="l">
              <a:lnSpc>
                <a:spcPts val="2223"/>
              </a:lnSpc>
            </a:pPr>
            <a:r>
              <a:rPr sz="1600" dirty="0">
                <a:solidFill>
                  <a:srgbClr val="FFFFFF"/>
                </a:solidFill>
                <a:latin typeface="Helvetica"/>
              </a:rPr>
              <a:t>3. Completed Requests</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76400" y="1333750"/>
            <a:ext cx="2405629" cy="1412595"/>
          </a:xfrm>
          <a:prstGeom prst="rect">
            <a:avLst/>
          </a:prstGeom>
          <a:noFill/>
        </p:spPr>
        <p:txBody>
          <a:bodyPr wrap="square" lIns="0" tIns="0" rIns="0" bIns="0">
            <a:noAutofit/>
          </a:bodyPr>
          <a:lstStyle/>
          <a:p>
            <a:pPr algn="l">
              <a:lnSpc>
                <a:spcPts val="5519"/>
              </a:lnSpc>
            </a:pPr>
            <a:r>
              <a:rPr sz="4600" dirty="0">
                <a:solidFill>
                  <a:srgbClr val="FFFFFF"/>
                </a:solidFill>
                <a:latin typeface="Helvetica Neue Light"/>
              </a:rPr>
              <a:t>Approver Features</a:t>
            </a:r>
          </a:p>
        </p:txBody>
      </p:sp>
      <p:sp>
        <p:nvSpPr>
          <p:cNvPr id="4" name="TextBox 3"/>
          <p:cNvSpPr txBox="1"/>
          <p:nvPr/>
        </p:nvSpPr>
        <p:spPr>
          <a:xfrm>
            <a:off x="1676400" y="4490055"/>
            <a:ext cx="2100738" cy="1448409"/>
          </a:xfrm>
          <a:prstGeom prst="rect">
            <a:avLst/>
          </a:prstGeom>
          <a:noFill/>
        </p:spPr>
        <p:txBody>
          <a:bodyPr wrap="none" lIns="0" tIns="0" rIns="0" bIns="0">
            <a:noAutofit/>
          </a:bodyPr>
          <a:lstStyle/>
          <a:p>
            <a:pPr algn="l">
              <a:lnSpc>
                <a:spcPts val="3839"/>
              </a:lnSpc>
            </a:pPr>
            <a:r>
              <a:rPr sz="3200" dirty="0">
                <a:solidFill>
                  <a:srgbClr val="FFFFFF"/>
                </a:solidFill>
                <a:latin typeface="Helvetica Neue Thin"/>
              </a:rPr>
              <a:t>• Proxies</a:t>
            </a:r>
          </a:p>
          <a:p>
            <a:pPr algn="l">
              <a:lnSpc>
                <a:spcPts val="3839"/>
              </a:lnSpc>
            </a:pPr>
            <a:r>
              <a:rPr sz="3200" dirty="0">
                <a:solidFill>
                  <a:srgbClr val="FFFFFF"/>
                </a:solidFill>
                <a:latin typeface="Helvetica Neue Thin"/>
              </a:rPr>
              <a:t>• Reporting</a:t>
            </a:r>
          </a:p>
          <a:p>
            <a:pPr algn="l">
              <a:lnSpc>
                <a:spcPts val="3839"/>
              </a:lnSpc>
            </a:pPr>
            <a:r>
              <a:rPr sz="3200" dirty="0">
                <a:solidFill>
                  <a:srgbClr val="FFFFFF"/>
                </a:solidFill>
                <a:latin typeface="Helvetica Neue Thin"/>
              </a:rPr>
              <a:t>• Queries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144498" y="608390"/>
            <a:ext cx="4860301" cy="3896122"/>
          </a:xfrm>
          <a:prstGeom prst="rect">
            <a:avLst/>
          </a:prstGeom>
        </p:spPr>
      </p:pic>
      <p:pic>
        <p:nvPicPr>
          <p:cNvPr id="4" name="Picture 2" descr="image.png"/>
          <p:cNvPicPr>
            <a:picLocks noChangeAspect="1"/>
          </p:cNvPicPr>
          <p:nvPr/>
        </p:nvPicPr>
        <p:blipFill>
          <a:blip r:embed="rId4"/>
          <a:stretch>
            <a:fillRect/>
          </a:stretch>
        </p:blipFill>
        <p:spPr>
          <a:xfrm>
            <a:off x="459987" y="1973744"/>
            <a:ext cx="7470697" cy="4939581"/>
          </a:xfrm>
          <a:prstGeom prst="rect">
            <a:avLst/>
          </a:prstGeom>
        </p:spPr>
      </p:pic>
      <p:pic>
        <p:nvPicPr>
          <p:cNvPr id="5" name="Picture 3" descr="image.png"/>
          <p:cNvPicPr>
            <a:picLocks noChangeAspect="1"/>
          </p:cNvPicPr>
          <p:nvPr/>
        </p:nvPicPr>
        <p:blipFill>
          <a:blip r:embed="rId5"/>
          <a:stretch>
            <a:fillRect/>
          </a:stretch>
        </p:blipFill>
        <p:spPr>
          <a:xfrm>
            <a:off x="7012280" y="5056480"/>
            <a:ext cx="3764236" cy="4248210"/>
          </a:xfrm>
          <a:prstGeom prst="rect">
            <a:avLst/>
          </a:prstGeom>
        </p:spPr>
      </p:pic>
      <p:sp>
        <p:nvSpPr>
          <p:cNvPr id="6" name="TextBox 5"/>
          <p:cNvSpPr txBox="1"/>
          <p:nvPr/>
        </p:nvSpPr>
        <p:spPr>
          <a:xfrm>
            <a:off x="457200" y="939800"/>
            <a:ext cx="5088890" cy="476250"/>
          </a:xfrm>
          <a:prstGeom prst="rect">
            <a:avLst/>
          </a:prstGeom>
          <a:noFill/>
        </p:spPr>
        <p:txBody>
          <a:bodyPr wrap="none" lIns="0" tIns="0" rIns="0" bIns="0">
            <a:noAutofit/>
          </a:bodyPr>
          <a:lstStyle/>
          <a:p>
            <a:pPr algn="l"/>
            <a:r>
              <a:rPr sz="3000" dirty="0">
                <a:solidFill>
                  <a:srgbClr val="1F1F1F"/>
                </a:solidFill>
                <a:latin typeface="Helvetica Neue Light"/>
              </a:rPr>
              <a:t>Proxy Request Design Sprint</a:t>
            </a:r>
          </a:p>
        </p:txBody>
      </p:sp>
      <p:sp>
        <p:nvSpPr>
          <p:cNvPr id="7" name="TextBox 6"/>
          <p:cNvSpPr txBox="1"/>
          <p:nvPr/>
        </p:nvSpPr>
        <p:spPr>
          <a:xfrm>
            <a:off x="4875225" y="3220213"/>
            <a:ext cx="2703782" cy="729362"/>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For situations where individuals cannot access OBI themselves to make the </a:t>
            </a:r>
          </a:p>
          <a:p>
            <a:pPr algn="l">
              <a:lnSpc>
                <a:spcPts val="1492"/>
              </a:lnSpc>
            </a:pPr>
            <a:r>
              <a:rPr sz="1050" dirty="0">
                <a:solidFill>
                  <a:srgbClr val="FFFFFF"/>
                </a:solidFill>
                <a:latin typeface="Helvetica Neue Light"/>
              </a:rPr>
              <a:t>necessary disclosure submissions, OBI has proxy functions.</a:t>
            </a:r>
          </a:p>
        </p:txBody>
      </p:sp>
      <p:sp>
        <p:nvSpPr>
          <p:cNvPr id="8" name="TextBox 7"/>
          <p:cNvSpPr txBox="1"/>
          <p:nvPr/>
        </p:nvSpPr>
        <p:spPr>
          <a:xfrm>
            <a:off x="813226" y="6057964"/>
            <a:ext cx="2764311" cy="918960"/>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With these functions, staff members can name other staff members who can act as proxies. Proxies have the ability to submit requests on behalf of others who have given them this permission.</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2032000" y="5994650"/>
            <a:ext cx="2691266" cy="711555"/>
          </a:xfrm>
          <a:prstGeom prst="rect">
            <a:avLst/>
          </a:prstGeom>
          <a:noFill/>
        </p:spPr>
        <p:txBody>
          <a:bodyPr wrap="none" lIns="0" tIns="0" rIns="0" bIns="0">
            <a:noAutofit/>
          </a:bodyPr>
          <a:lstStyle/>
          <a:p>
            <a:pPr algn="l"/>
            <a:r>
              <a:rPr sz="4600" dirty="0">
                <a:solidFill>
                  <a:srgbClr val="FFFFFF"/>
                </a:solidFill>
                <a:latin typeface="Helvetica Neue Light"/>
              </a:rPr>
              <a:t>Reporting</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209477" y="700976"/>
            <a:ext cx="7572177" cy="9052623"/>
          </a:xfrm>
          <a:prstGeom prst="rect">
            <a:avLst/>
          </a:prstGeom>
        </p:spPr>
      </p:pic>
      <p:sp>
        <p:nvSpPr>
          <p:cNvPr id="4" name="TextBox 3"/>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Reporting Design Sprint</a:t>
            </a:r>
          </a:p>
        </p:txBody>
      </p:sp>
      <p:sp>
        <p:nvSpPr>
          <p:cNvPr id="5" name="TextBox 4"/>
          <p:cNvSpPr txBox="1"/>
          <p:nvPr/>
        </p:nvSpPr>
        <p:spPr>
          <a:xfrm>
            <a:off x="704906" y="6945395"/>
            <a:ext cx="3882256"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Reporting lets Risk &amp; Compliance Managers search requests by ID, requester, status, type, submission dates, company and office, then download the results as Excel or PDF.</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7863" y="4638007"/>
            <a:ext cx="6695630" cy="5115592"/>
          </a:xfrm>
          <a:prstGeom prst="rect">
            <a:avLst/>
          </a:prstGeom>
        </p:spPr>
      </p:pic>
      <p:sp>
        <p:nvSpPr>
          <p:cNvPr id="4" name="TextBox 3"/>
          <p:cNvSpPr txBox="1"/>
          <p:nvPr/>
        </p:nvSpPr>
        <p:spPr>
          <a:xfrm>
            <a:off x="457200" y="4669280"/>
            <a:ext cx="4958583" cy="278434"/>
          </a:xfrm>
          <a:prstGeom prst="rect">
            <a:avLst/>
          </a:prstGeom>
          <a:noFill/>
        </p:spPr>
        <p:txBody>
          <a:bodyPr wrap="none" lIns="0" tIns="0" rIns="0" bIns="0">
            <a:noAutofit/>
          </a:bodyPr>
          <a:lstStyle/>
          <a:p>
            <a:pPr algn="l"/>
            <a:r>
              <a:rPr sz="1800" dirty="0">
                <a:solidFill>
                  <a:srgbClr val="404040"/>
                </a:solidFill>
                <a:latin typeface="Helvetica Neue Light"/>
              </a:rPr>
              <a:t>Helping AMEX to increase revenue by aiding  </a:t>
            </a:r>
          </a:p>
        </p:txBody>
      </p:sp>
      <p:sp>
        <p:nvSpPr>
          <p:cNvPr id="5" name="TextBox 4"/>
          <p:cNvSpPr txBox="1"/>
          <p:nvPr/>
        </p:nvSpPr>
        <p:spPr>
          <a:xfrm>
            <a:off x="457200" y="5050280"/>
            <a:ext cx="4743102" cy="278434"/>
          </a:xfrm>
          <a:prstGeom prst="rect">
            <a:avLst/>
          </a:prstGeom>
          <a:noFill/>
        </p:spPr>
        <p:txBody>
          <a:bodyPr wrap="none" lIns="0" tIns="0" rIns="0" bIns="0">
            <a:noAutofit/>
          </a:bodyPr>
          <a:lstStyle/>
          <a:p>
            <a:pPr algn="l"/>
            <a:r>
              <a:rPr sz="1800" dirty="0">
                <a:solidFill>
                  <a:srgbClr val="404040"/>
                </a:solidFill>
                <a:latin typeface="Helvetica Neue Light"/>
              </a:rPr>
              <a:t>advertisers and marketers in their decisions </a:t>
            </a:r>
          </a:p>
        </p:txBody>
      </p:sp>
      <p:sp>
        <p:nvSpPr>
          <p:cNvPr id="6" name="TextBox 5"/>
          <p:cNvSpPr txBox="1"/>
          <p:nvPr/>
        </p:nvSpPr>
        <p:spPr>
          <a:xfrm>
            <a:off x="457200" y="5431280"/>
            <a:ext cx="2939340" cy="278434"/>
          </a:xfrm>
          <a:prstGeom prst="rect">
            <a:avLst/>
          </a:prstGeom>
          <a:noFill/>
        </p:spPr>
        <p:txBody>
          <a:bodyPr wrap="none" lIns="0" tIns="0" rIns="0" bIns="0">
            <a:noAutofit/>
          </a:bodyPr>
          <a:lstStyle/>
          <a:p>
            <a:pPr algn="l"/>
            <a:r>
              <a:rPr sz="1800" dirty="0">
                <a:solidFill>
                  <a:srgbClr val="404040"/>
                </a:solidFill>
                <a:latin typeface="Helvetica Neue Light"/>
              </a:rPr>
              <a:t>about advertising budgets</a:t>
            </a:r>
          </a:p>
        </p:txBody>
      </p:sp>
      <p:sp>
        <p:nvSpPr>
          <p:cNvPr id="7" name="TextBox 6"/>
          <p:cNvSpPr txBox="1"/>
          <p:nvPr/>
        </p:nvSpPr>
        <p:spPr>
          <a:xfrm>
            <a:off x="457200" y="735582"/>
            <a:ext cx="6145091" cy="247497"/>
          </a:xfrm>
          <a:prstGeom prst="rect">
            <a:avLst/>
          </a:prstGeom>
          <a:noFill/>
        </p:spPr>
        <p:txBody>
          <a:bodyPr wrap="none" lIns="0" tIns="0" rIns="0" bIns="0">
            <a:noAutofit/>
          </a:bodyPr>
          <a:lstStyle/>
          <a:p>
            <a:pPr algn="l"/>
            <a:r>
              <a:rPr sz="1600" dirty="0">
                <a:solidFill>
                  <a:srgbClr val="000000"/>
                </a:solidFill>
                <a:latin typeface="Helvetica Neue Light"/>
              </a:rPr>
              <a:t>Redesign and UX strategy process for a desktop-based application</a:t>
            </a:r>
          </a:p>
        </p:txBody>
      </p:sp>
      <p:sp>
        <p:nvSpPr>
          <p:cNvPr id="8" name="TextBox 7"/>
          <p:cNvSpPr txBox="1"/>
          <p:nvPr/>
        </p:nvSpPr>
        <p:spPr>
          <a:xfrm>
            <a:off x="457200" y="1758694"/>
            <a:ext cx="1792841" cy="742492"/>
          </a:xfrm>
          <a:prstGeom prst="rect">
            <a:avLst/>
          </a:prstGeom>
          <a:noFill/>
        </p:spPr>
        <p:txBody>
          <a:bodyPr wrap="none" lIns="0" tIns="0" rIns="0" bIns="0">
            <a:noAutofit/>
          </a:bodyPr>
          <a:lstStyle/>
          <a:p>
            <a:pPr algn="l"/>
            <a:r>
              <a:rPr sz="4800" dirty="0">
                <a:solidFill>
                  <a:srgbClr val="000000"/>
                </a:solidFill>
                <a:latin typeface="Helvetica Neue Light"/>
              </a:rPr>
              <a:t>AMEX</a:t>
            </a:r>
          </a:p>
        </p:txBody>
      </p:sp>
      <p:sp>
        <p:nvSpPr>
          <p:cNvPr id="9" name="TextBox 8"/>
          <p:cNvSpPr txBox="1"/>
          <p:nvPr/>
        </p:nvSpPr>
        <p:spPr>
          <a:xfrm>
            <a:off x="457200" y="2737610"/>
            <a:ext cx="995887" cy="371246"/>
          </a:xfrm>
          <a:prstGeom prst="rect">
            <a:avLst/>
          </a:prstGeom>
          <a:noFill/>
        </p:spPr>
        <p:txBody>
          <a:bodyPr wrap="none" lIns="0" tIns="0" rIns="0" bIns="0">
            <a:noAutofit/>
          </a:bodyPr>
          <a:lstStyle/>
          <a:p>
            <a:pPr algn="l"/>
            <a:r>
              <a:rPr sz="2400" dirty="0">
                <a:solidFill>
                  <a:srgbClr val="000000"/>
                </a:solidFill>
                <a:latin typeface="Helvetica Neue Light"/>
              </a:rPr>
              <a:t>MOCA</a:t>
            </a:r>
          </a:p>
        </p:txBody>
      </p:sp>
      <p:sp>
        <p:nvSpPr>
          <p:cNvPr id="10" name="TextBox 9"/>
          <p:cNvSpPr txBox="1"/>
          <p:nvPr/>
        </p:nvSpPr>
        <p:spPr>
          <a:xfrm>
            <a:off x="804947" y="7349235"/>
            <a:ext cx="4676938" cy="600455"/>
          </a:xfrm>
          <a:prstGeom prst="rect">
            <a:avLst/>
          </a:prstGeom>
          <a:noFill/>
        </p:spPr>
        <p:txBody>
          <a:bodyPr wrap="square" lIns="0" tIns="0" rIns="0" bIns="0">
            <a:noAutofit/>
          </a:bodyPr>
          <a:lstStyle/>
          <a:p>
            <a:pPr marL="29974" algn="l">
              <a:lnSpc>
                <a:spcPts val="2400"/>
              </a:lnSpc>
            </a:pPr>
            <a:r>
              <a:rPr sz="2000" dirty="0">
                <a:solidFill>
                  <a:srgbClr val="000000"/>
                </a:solidFill>
                <a:latin typeface="Helvetica Neue Thin"/>
              </a:rPr>
              <a:t>“Comparing budgets and then optimizing it would allow me to have the confidence,  </a:t>
            </a:r>
          </a:p>
        </p:txBody>
      </p:sp>
      <p:sp>
        <p:nvSpPr>
          <p:cNvPr id="11" name="TextBox 10"/>
          <p:cNvSpPr txBox="1"/>
          <p:nvPr/>
        </p:nvSpPr>
        <p:spPr>
          <a:xfrm>
            <a:off x="1773948" y="7958835"/>
            <a:ext cx="2789062" cy="295655"/>
          </a:xfrm>
          <a:prstGeom prst="rect">
            <a:avLst/>
          </a:prstGeom>
          <a:noFill/>
        </p:spPr>
        <p:txBody>
          <a:bodyPr wrap="none" lIns="0" tIns="0" rIns="0" bIns="0">
            <a:noAutofit/>
          </a:bodyPr>
          <a:lstStyle/>
          <a:p>
            <a:pPr algn="l"/>
            <a:r>
              <a:rPr sz="2000" dirty="0">
                <a:solidFill>
                  <a:srgbClr val="000000"/>
                </a:solidFill>
                <a:latin typeface="Helvetica Neue Thin"/>
              </a:rPr>
              <a:t>to increase the budget”</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AMEX MOCA</a:t>
            </a:r>
          </a:p>
        </p:txBody>
      </p:sp>
      <p:sp>
        <p:nvSpPr>
          <p:cNvPr id="4" name="TextBox 3"/>
          <p:cNvSpPr txBox="1"/>
          <p:nvPr/>
        </p:nvSpPr>
        <p:spPr>
          <a:xfrm>
            <a:off x="457200" y="47708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089041"/>
            <a:ext cx="5730240" cy="713130"/>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AMEX Sales partners don’t have an effective tool for external clients to budget their AMEX Advertising dollars</a:t>
            </a:r>
          </a:p>
        </p:txBody>
      </p:sp>
      <p:sp>
        <p:nvSpPr>
          <p:cNvPr id="7" name="TextBox 6"/>
          <p:cNvSpPr txBox="1"/>
          <p:nvPr/>
        </p:nvSpPr>
        <p:spPr>
          <a:xfrm>
            <a:off x="457200" y="5917081"/>
            <a:ext cx="3430449" cy="266090"/>
          </a:xfrm>
          <a:prstGeom prst="rect">
            <a:avLst/>
          </a:prstGeom>
          <a:noFill/>
        </p:spPr>
        <p:txBody>
          <a:bodyPr wrap="none" lIns="0" tIns="0" rIns="0" bIns="0">
            <a:noAutofit/>
          </a:bodyPr>
          <a:lstStyle/>
          <a:p>
            <a:pPr algn="l"/>
            <a:r>
              <a:rPr sz="1800" dirty="0">
                <a:solidFill>
                  <a:srgbClr val="000000"/>
                </a:solidFill>
                <a:latin typeface="Helvetica Neue Thin"/>
              </a:rPr>
              <a:t>• No way to compare scenarios</a:t>
            </a:r>
          </a:p>
        </p:txBody>
      </p:sp>
      <p:sp>
        <p:nvSpPr>
          <p:cNvPr id="8" name="TextBox 7"/>
          <p:cNvSpPr txBox="1"/>
          <p:nvPr/>
        </p:nvSpPr>
        <p:spPr>
          <a:xfrm>
            <a:off x="457200" y="6298081"/>
            <a:ext cx="5853408" cy="266090"/>
          </a:xfrm>
          <a:prstGeom prst="rect">
            <a:avLst/>
          </a:prstGeom>
          <a:noFill/>
        </p:spPr>
        <p:txBody>
          <a:bodyPr wrap="none" lIns="0" tIns="0" rIns="0" bIns="0">
            <a:noAutofit/>
          </a:bodyPr>
          <a:lstStyle/>
          <a:p>
            <a:pPr algn="l"/>
            <a:r>
              <a:rPr sz="1800" dirty="0">
                <a:solidFill>
                  <a:srgbClr val="000000"/>
                </a:solidFill>
                <a:latin typeface="Helvetica Neue Thin"/>
              </a:rPr>
              <a:t>• No way to understand effectiveness of investment</a:t>
            </a:r>
          </a:p>
        </p:txBody>
      </p:sp>
      <p:sp>
        <p:nvSpPr>
          <p:cNvPr id="9" name="TextBox 8"/>
          <p:cNvSpPr txBox="1"/>
          <p:nvPr/>
        </p:nvSpPr>
        <p:spPr>
          <a:xfrm>
            <a:off x="457200" y="6679081"/>
            <a:ext cx="5963766" cy="266089"/>
          </a:xfrm>
          <a:prstGeom prst="rect">
            <a:avLst/>
          </a:prstGeom>
          <a:noFill/>
        </p:spPr>
        <p:txBody>
          <a:bodyPr wrap="none" lIns="0" tIns="0" rIns="0" bIns="0">
            <a:noAutofit/>
          </a:bodyPr>
          <a:lstStyle/>
          <a:p>
            <a:pPr algn="l"/>
            <a:r>
              <a:rPr sz="1800" dirty="0">
                <a:solidFill>
                  <a:srgbClr val="000000"/>
                </a:solidFill>
                <a:latin typeface="Helvetica Neue Thin"/>
              </a:rPr>
              <a:t>• Need a more customizable and predictive application </a:t>
            </a:r>
          </a:p>
        </p:txBody>
      </p:sp>
      <p:sp>
        <p:nvSpPr>
          <p:cNvPr id="10" name="TextBox 9"/>
          <p:cNvSpPr txBox="1"/>
          <p:nvPr/>
        </p:nvSpPr>
        <p:spPr>
          <a:xfrm>
            <a:off x="685800" y="7060081"/>
            <a:ext cx="3050217" cy="266089"/>
          </a:xfrm>
          <a:prstGeom prst="rect">
            <a:avLst/>
          </a:prstGeom>
          <a:noFill/>
        </p:spPr>
        <p:txBody>
          <a:bodyPr wrap="none" lIns="0" tIns="0" rIns="0" bIns="0">
            <a:noAutofit/>
          </a:bodyPr>
          <a:lstStyle/>
          <a:p>
            <a:pPr algn="l"/>
            <a:r>
              <a:rPr sz="1800" dirty="0">
                <a:solidFill>
                  <a:srgbClr val="000000"/>
                </a:solidFill>
                <a:latin typeface="Helvetica Neue Thin"/>
              </a:rPr>
              <a:t>using nascent AI technology.</a:t>
            </a:r>
          </a:p>
        </p:txBody>
      </p:sp>
      <p:sp>
        <p:nvSpPr>
          <p:cNvPr id="11" name="TextBox 10"/>
          <p:cNvSpPr txBox="1"/>
          <p:nvPr/>
        </p:nvSpPr>
        <p:spPr>
          <a:xfrm>
            <a:off x="457200" y="2363976"/>
            <a:ext cx="6263181" cy="1846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MOCA? </a:t>
            </a:r>
          </a:p>
          <a:p>
            <a:pPr algn="l">
              <a:lnSpc>
                <a:spcPts val="3000"/>
              </a:lnSpc>
            </a:pPr>
            <a:r>
              <a:rPr sz="2000" dirty="0">
                <a:solidFill>
                  <a:srgbClr val="000000"/>
                </a:solidFill>
                <a:latin typeface="Helvetica Neue Thin"/>
              </a:rPr>
              <a:t>Desktop-based budgeting application that uses algorithmic engines to project a marketer’s potential budget, as well as compare the constructed and optimized budget scenarios.</a:t>
            </a:r>
          </a:p>
        </p:txBody>
      </p:sp>
      <p:sp>
        <p:nvSpPr>
          <p:cNvPr id="13" name="TextBox 12"/>
          <p:cNvSpPr txBox="1"/>
          <p:nvPr/>
        </p:nvSpPr>
        <p:spPr>
          <a:xfrm>
            <a:off x="9055100" y="17990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4" name="TextBox 13"/>
          <p:cNvSpPr txBox="1"/>
          <p:nvPr/>
        </p:nvSpPr>
        <p:spPr>
          <a:xfrm>
            <a:off x="9055100" y="2183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5" name="TextBox 14"/>
          <p:cNvSpPr txBox="1"/>
          <p:nvPr/>
        </p:nvSpPr>
        <p:spPr>
          <a:xfrm>
            <a:off x="9196371" y="2564279"/>
            <a:ext cx="1793088" cy="266090"/>
          </a:xfrm>
          <a:prstGeom prst="rect">
            <a:avLst/>
          </a:prstGeom>
          <a:noFill/>
        </p:spPr>
        <p:txBody>
          <a:bodyPr wrap="none" lIns="0" tIns="0" rIns="0" bIns="0">
            <a:noAutofit/>
          </a:bodyPr>
          <a:lstStyle/>
          <a:p>
            <a:pPr algn="l"/>
            <a:r>
              <a:rPr sz="1800" dirty="0">
                <a:solidFill>
                  <a:srgbClr val="FFFFFF"/>
                </a:solidFill>
                <a:latin typeface="Helvetica Neue Thin"/>
              </a:rPr>
              <a:t>Sales Managers </a:t>
            </a:r>
          </a:p>
        </p:txBody>
      </p:sp>
      <p:sp>
        <p:nvSpPr>
          <p:cNvPr id="16" name="TextBox 15"/>
          <p:cNvSpPr txBox="1"/>
          <p:nvPr/>
        </p:nvSpPr>
        <p:spPr>
          <a:xfrm>
            <a:off x="9055100" y="2945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7" name="TextBox 16"/>
          <p:cNvSpPr txBox="1"/>
          <p:nvPr/>
        </p:nvSpPr>
        <p:spPr>
          <a:xfrm>
            <a:off x="9196371" y="3326281"/>
            <a:ext cx="1589652" cy="266090"/>
          </a:xfrm>
          <a:prstGeom prst="rect">
            <a:avLst/>
          </a:prstGeom>
          <a:noFill/>
        </p:spPr>
        <p:txBody>
          <a:bodyPr wrap="none" lIns="0" tIns="0" rIns="0" bIns="0">
            <a:noAutofit/>
          </a:bodyPr>
          <a:lstStyle/>
          <a:p>
            <a:pPr algn="l"/>
            <a:r>
              <a:rPr sz="1800" dirty="0">
                <a:solidFill>
                  <a:srgbClr val="FFFFFF"/>
                </a:solidFill>
                <a:latin typeface="Helvetica Neue Thin"/>
              </a:rPr>
              <a:t>Sales Advisors</a:t>
            </a:r>
          </a:p>
        </p:txBody>
      </p:sp>
      <p:sp>
        <p:nvSpPr>
          <p:cNvPr id="18" name="TextBox 17"/>
          <p:cNvSpPr txBox="1"/>
          <p:nvPr/>
        </p:nvSpPr>
        <p:spPr>
          <a:xfrm>
            <a:off x="7924801" y="4774182"/>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19" name="TextBox 18"/>
          <p:cNvSpPr txBox="1"/>
          <p:nvPr/>
        </p:nvSpPr>
        <p:spPr>
          <a:xfrm>
            <a:off x="7924801" y="5168339"/>
            <a:ext cx="4271820" cy="206959"/>
          </a:xfrm>
          <a:prstGeom prst="rect">
            <a:avLst/>
          </a:prstGeom>
          <a:noFill/>
        </p:spPr>
        <p:txBody>
          <a:bodyPr wrap="none" lIns="0" tIns="0" rIns="0" bIns="0">
            <a:noAutofit/>
          </a:bodyPr>
          <a:lstStyle/>
          <a:p>
            <a:pPr algn="l"/>
            <a:r>
              <a:rPr sz="1400" dirty="0">
                <a:solidFill>
                  <a:srgbClr val="000000"/>
                </a:solidFill>
                <a:latin typeface="Helvetica Neue Thin"/>
              </a:rPr>
              <a:t>• By working with data scientists we created more </a:t>
            </a:r>
          </a:p>
        </p:txBody>
      </p:sp>
      <p:sp>
        <p:nvSpPr>
          <p:cNvPr id="20" name="TextBox 19"/>
          <p:cNvSpPr txBox="1"/>
          <p:nvPr/>
        </p:nvSpPr>
        <p:spPr>
          <a:xfrm>
            <a:off x="8153401" y="5473139"/>
            <a:ext cx="4213460" cy="206959"/>
          </a:xfrm>
          <a:prstGeom prst="rect">
            <a:avLst/>
          </a:prstGeom>
          <a:noFill/>
        </p:spPr>
        <p:txBody>
          <a:bodyPr wrap="none" lIns="0" tIns="0" rIns="0" bIns="0">
            <a:noAutofit/>
          </a:bodyPr>
          <a:lstStyle/>
          <a:p>
            <a:pPr algn="l"/>
            <a:r>
              <a:rPr sz="1400" dirty="0">
                <a:solidFill>
                  <a:srgbClr val="000000"/>
                </a:solidFill>
                <a:latin typeface="Helvetica Neue Thin"/>
              </a:rPr>
              <a:t>effective and engaging user experiences. Working </a:t>
            </a:r>
          </a:p>
        </p:txBody>
      </p:sp>
      <p:sp>
        <p:nvSpPr>
          <p:cNvPr id="21" name="TextBox 20"/>
          <p:cNvSpPr txBox="1"/>
          <p:nvPr/>
        </p:nvSpPr>
        <p:spPr>
          <a:xfrm>
            <a:off x="8153401" y="5777939"/>
            <a:ext cx="4291462" cy="206959"/>
          </a:xfrm>
          <a:prstGeom prst="rect">
            <a:avLst/>
          </a:prstGeom>
          <a:noFill/>
        </p:spPr>
        <p:txBody>
          <a:bodyPr wrap="none" lIns="0" tIns="0" rIns="0" bIns="0">
            <a:noAutofit/>
          </a:bodyPr>
          <a:lstStyle/>
          <a:p>
            <a:pPr algn="l"/>
            <a:r>
              <a:rPr sz="1400" dirty="0">
                <a:solidFill>
                  <a:srgbClr val="000000"/>
                </a:solidFill>
                <a:latin typeface="Helvetica Neue Thin"/>
              </a:rPr>
              <a:t>together we understood and predicted user needs, </a:t>
            </a:r>
          </a:p>
        </p:txBody>
      </p:sp>
      <p:sp>
        <p:nvSpPr>
          <p:cNvPr id="22" name="TextBox 21"/>
          <p:cNvSpPr txBox="1"/>
          <p:nvPr/>
        </p:nvSpPr>
        <p:spPr>
          <a:xfrm>
            <a:off x="8153401" y="6082739"/>
            <a:ext cx="4505566" cy="206959"/>
          </a:xfrm>
          <a:prstGeom prst="rect">
            <a:avLst/>
          </a:prstGeom>
          <a:noFill/>
        </p:spPr>
        <p:txBody>
          <a:bodyPr wrap="none" lIns="0" tIns="0" rIns="0" bIns="0">
            <a:noAutofit/>
          </a:bodyPr>
          <a:lstStyle/>
          <a:p>
            <a:pPr algn="l"/>
            <a:r>
              <a:rPr sz="1400" dirty="0">
                <a:solidFill>
                  <a:srgbClr val="000000"/>
                </a:solidFill>
                <a:latin typeface="Helvetica Neue Thin"/>
              </a:rPr>
              <a:t>optimizing various aspects of design and data analysis.</a:t>
            </a:r>
          </a:p>
        </p:txBody>
      </p:sp>
      <p:sp>
        <p:nvSpPr>
          <p:cNvPr id="23" name="TextBox 22"/>
          <p:cNvSpPr txBox="1"/>
          <p:nvPr/>
        </p:nvSpPr>
        <p:spPr>
          <a:xfrm>
            <a:off x="7924801" y="6395159"/>
            <a:ext cx="426823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a:t>
            </a:r>
          </a:p>
        </p:txBody>
      </p:sp>
      <p:sp>
        <p:nvSpPr>
          <p:cNvPr id="26" name="TextBox 25"/>
          <p:cNvSpPr txBox="1"/>
          <p:nvPr/>
        </p:nvSpPr>
        <p:spPr>
          <a:xfrm>
            <a:off x="7924801" y="7309559"/>
            <a:ext cx="4450060"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119120" cy="476250"/>
          </a:xfrm>
          <a:prstGeom prst="rect">
            <a:avLst/>
          </a:prstGeom>
          <a:noFill/>
        </p:spPr>
        <p:txBody>
          <a:bodyPr wrap="none" lIns="0" tIns="0" rIns="0" bIns="0">
            <a:noAutofit/>
          </a:bodyPr>
          <a:lstStyle/>
          <a:p>
            <a:pPr algn="l"/>
            <a:r>
              <a:rPr sz="3000" dirty="0">
                <a:solidFill>
                  <a:srgbClr val="1F1F1F"/>
                </a:solidFill>
                <a:latin typeface="Helvetica Neue Light"/>
              </a:rPr>
              <a:t>Why design MOCA?</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5" name="TextBox 4"/>
          <p:cNvSpPr txBox="1"/>
          <p:nvPr/>
        </p:nvSpPr>
        <p:spPr>
          <a:xfrm>
            <a:off x="762000" y="2032000"/>
            <a:ext cx="5334000" cy="2540000"/>
          </a:xfrm>
          <a:prstGeom prst="rect">
            <a:avLst/>
          </a:prstGeom>
          <a:noFill/>
        </p:spPr>
        <p:txBody>
          <a:bodyPr wrap="square" lIns="0" tIns="0" rIns="0" bIns="0">
            <a:noAutofit/>
          </a:bodyPr>
          <a:lstStyle/>
          <a:p>
            <a:r>
              <a:rPr sz="6400">
                <a:solidFill>
                  <a:srgbClr val="00BC48"/>
                </a:solidFill>
                <a:latin typeface="Helvetica Neue Light"/>
              </a:rPr>
              <a:t>$1.34 mil</a:t>
            </a:r>
          </a:p>
          <a:p>
            <a:pPr>
              <a:spcBef>
                <a:spcPts val="400"/>
              </a:spcBef>
            </a:pPr>
            <a:r>
              <a:rPr sz="1700">
                <a:solidFill>
                  <a:srgbClr val="1F1F1F"/>
                </a:solidFill>
                <a:latin typeface="Helvetica Neue Light"/>
              </a:rPr>
              <a:t>Average client budget</a:t>
            </a:r>
          </a:p>
        </p:txBody>
      </p:sp>
      <p:sp>
        <p:nvSpPr>
          <p:cNvPr id="6" name="TextBox 5"/>
          <p:cNvSpPr txBox="1"/>
          <p:nvPr/>
        </p:nvSpPr>
        <p:spPr>
          <a:xfrm>
            <a:off x="6858000" y="2032000"/>
            <a:ext cx="5334000" cy="2540000"/>
          </a:xfrm>
          <a:prstGeom prst="rect">
            <a:avLst/>
          </a:prstGeom>
          <a:noFill/>
        </p:spPr>
        <p:txBody>
          <a:bodyPr wrap="square" lIns="0" tIns="0" rIns="0" bIns="0">
            <a:noAutofit/>
          </a:bodyPr>
          <a:lstStyle/>
          <a:p>
            <a:r>
              <a:rPr sz="6400">
                <a:solidFill>
                  <a:srgbClr val="098791"/>
                </a:solidFill>
                <a:latin typeface="Helvetica Neue Light"/>
              </a:rPr>
              <a:t>5.4%</a:t>
            </a:r>
          </a:p>
          <a:p>
            <a:pPr>
              <a:spcBef>
                <a:spcPts val="400"/>
              </a:spcBef>
            </a:pPr>
            <a:r>
              <a:rPr sz="1700">
                <a:solidFill>
                  <a:srgbClr val="1F1F1F"/>
                </a:solidFill>
                <a:latin typeface="Helvetica Neue Light"/>
              </a:rPr>
              <a:t>Drop-off rate on the current budget process</a:t>
            </a:r>
          </a:p>
        </p:txBody>
      </p:sp>
      <p:sp>
        <p:nvSpPr>
          <p:cNvPr id="7" name="TextBox 6"/>
          <p:cNvSpPr txBox="1"/>
          <p:nvPr/>
        </p:nvSpPr>
        <p:spPr>
          <a:xfrm>
            <a:off x="762000" y="5334000"/>
            <a:ext cx="5334000" cy="2540000"/>
          </a:xfrm>
          <a:prstGeom prst="rect">
            <a:avLst/>
          </a:prstGeom>
          <a:noFill/>
        </p:spPr>
        <p:txBody>
          <a:bodyPr wrap="square" lIns="0" tIns="0" rIns="0" bIns="0">
            <a:noAutofit/>
          </a:bodyPr>
          <a:lstStyle/>
          <a:p>
            <a:r>
              <a:rPr sz="6400">
                <a:solidFill>
                  <a:srgbClr val="AF00EF"/>
                </a:solidFill>
                <a:latin typeface="Helvetica Neue Light"/>
              </a:rPr>
              <a:t>12 mins</a:t>
            </a:r>
          </a:p>
          <a:p>
            <a:pPr>
              <a:spcBef>
                <a:spcPts val="400"/>
              </a:spcBef>
            </a:pPr>
            <a:r>
              <a:rPr sz="1700">
                <a:solidFill>
                  <a:srgbClr val="1F1F1F"/>
                </a:solidFill>
                <a:latin typeface="Helvetica Neue Light"/>
              </a:rPr>
              <a:t>Average time partners need to complete a budget</a:t>
            </a:r>
          </a:p>
        </p:txBody>
      </p:sp>
      <p:sp>
        <p:nvSpPr>
          <p:cNvPr id="8" name="TextBox 7"/>
          <p:cNvSpPr txBox="1"/>
          <p:nvPr/>
        </p:nvSpPr>
        <p:spPr>
          <a:xfrm>
            <a:off x="6858000" y="5334000"/>
            <a:ext cx="5334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internal business partners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874320"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 AI tools to analyze user behavior, </a:t>
            </a:r>
          </a:p>
        </p:txBody>
      </p:sp>
      <p:sp>
        <p:nvSpPr>
          <p:cNvPr id="6" name="TextBox 5"/>
          <p:cNvSpPr txBox="1"/>
          <p:nvPr/>
        </p:nvSpPr>
        <p:spPr>
          <a:xfrm>
            <a:off x="965200" y="2183279"/>
            <a:ext cx="545445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For example, AI-driven sentiment analysis on user reviews or social media can provide insights into user satisfaction and pain points.</a:t>
            </a:r>
          </a:p>
        </p:txBody>
      </p:sp>
      <p:sp>
        <p:nvSpPr>
          <p:cNvPr id="7" name="TextBox 6"/>
          <p:cNvSpPr txBox="1"/>
          <p:nvPr/>
        </p:nvSpPr>
        <p:spPr>
          <a:xfrm>
            <a:off x="736600" y="3186581"/>
            <a:ext cx="588550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Apply machine learning algorithms to </a:t>
            </a:r>
          </a:p>
        </p:txBody>
      </p:sp>
      <p:sp>
        <p:nvSpPr>
          <p:cNvPr id="8" name="TextBox 7"/>
          <p:cNvSpPr txBox="1"/>
          <p:nvPr/>
        </p:nvSpPr>
        <p:spPr>
          <a:xfrm>
            <a:off x="965200" y="3478681"/>
            <a:ext cx="5450065" cy="11423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 UX design. This might include clustering users into segments or predicting user behavior based on historical data.</a:t>
            </a:r>
          </a:p>
        </p:txBody>
      </p:sp>
      <p:sp>
        <p:nvSpPr>
          <p:cNvPr id="9" name="TextBox 8"/>
          <p:cNvSpPr txBox="1"/>
          <p:nvPr/>
        </p:nvSpPr>
        <p:spPr>
          <a:xfrm>
            <a:off x="736600" y="53550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777381"/>
            <a:ext cx="617606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 with AI to create personalized user </a:t>
            </a:r>
          </a:p>
        </p:txBody>
      </p:sp>
      <p:sp>
        <p:nvSpPr>
          <p:cNvPr id="11" name="TextBox 10"/>
          <p:cNvSpPr txBox="1"/>
          <p:nvPr/>
        </p:nvSpPr>
        <p:spPr>
          <a:xfrm>
            <a:off x="965200" y="6069481"/>
            <a:ext cx="563939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experiences. For instance, using AI to tailor content, recommendations, or interfaces based on individual user preferences or behavior.</a:t>
            </a:r>
          </a:p>
        </p:txBody>
      </p:sp>
      <p:sp>
        <p:nvSpPr>
          <p:cNvPr id="12" name="TextBox 11"/>
          <p:cNvSpPr txBox="1"/>
          <p:nvPr/>
        </p:nvSpPr>
        <p:spPr>
          <a:xfrm>
            <a:off x="736600" y="7072781"/>
            <a:ext cx="6200533" cy="266089"/>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fine-tune recommendation </a:t>
            </a:r>
          </a:p>
        </p:txBody>
      </p:sp>
      <p:sp>
        <p:nvSpPr>
          <p:cNvPr id="13" name="TextBox 12"/>
          <p:cNvSpPr txBox="1"/>
          <p:nvPr/>
        </p:nvSpPr>
        <p:spPr>
          <a:xfrm>
            <a:off x="965200" y="7364881"/>
            <a:ext cx="5634313" cy="850288"/>
          </a:xfrm>
          <a:prstGeom prst="rect">
            <a:avLst/>
          </a:prstGeom>
          <a:noFill/>
        </p:spPr>
        <p:txBody>
          <a:bodyPr wrap="square" lIns="0" tIns="0" rIns="0" bIns="0">
            <a:noAutofit/>
          </a:bodyPr>
          <a:lstStyle/>
          <a:p>
            <a:pPr algn="l">
              <a:lnSpc>
                <a:spcPts val="2299"/>
              </a:lnSpc>
            </a:pPr>
            <a:r>
              <a:rPr sz="1800" dirty="0">
                <a:solidFill>
                  <a:srgbClr val="FFFFFF"/>
                </a:solidFill>
                <a:latin typeface="Helvetica Neue Thin"/>
              </a:rPr>
              <a:t>algorithms or personalization models that feed into UX design. They provide the data and insights necessary for creating these personalized experiences.</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682564"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 on the usability and aesthetic </a:t>
            </a:r>
          </a:p>
        </p:txBody>
      </p:sp>
      <p:sp>
        <p:nvSpPr>
          <p:cNvPr id="16" name="TextBox 15"/>
          <p:cNvSpPr txBox="1"/>
          <p:nvPr/>
        </p:nvSpPr>
        <p:spPr>
          <a:xfrm>
            <a:off x="6921500" y="2183279"/>
            <a:ext cx="5551196"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are intuitive and engaging for users.</a:t>
            </a:r>
          </a:p>
        </p:txBody>
      </p:sp>
      <p:sp>
        <p:nvSpPr>
          <p:cNvPr id="17" name="TextBox 16"/>
          <p:cNvSpPr txBox="1"/>
          <p:nvPr/>
        </p:nvSpPr>
        <p:spPr>
          <a:xfrm>
            <a:off x="6692900" y="2894479"/>
            <a:ext cx="5395185"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 AI to generate dynamic and </a:t>
            </a:r>
          </a:p>
        </p:txBody>
      </p:sp>
      <p:sp>
        <p:nvSpPr>
          <p:cNvPr id="18" name="TextBox 17"/>
          <p:cNvSpPr txBox="1"/>
          <p:nvPr/>
        </p:nvSpPr>
        <p:spPr>
          <a:xfrm>
            <a:off x="6921500" y="3186581"/>
            <a:ext cx="5592525"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interactive visualizations. For example, AI can automate the creation of charts and graphs based on user queries or highlight important trends and anomalies in the data. </a:t>
            </a:r>
          </a:p>
        </p:txBody>
      </p:sp>
      <p:sp>
        <p:nvSpPr>
          <p:cNvPr id="19" name="TextBox 18"/>
          <p:cNvSpPr txBox="1"/>
          <p:nvPr/>
        </p:nvSpPr>
        <p:spPr>
          <a:xfrm>
            <a:off x="6692900" y="47708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5193181"/>
            <a:ext cx="5371484"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 AI-driven features like </a:t>
            </a:r>
          </a:p>
        </p:txBody>
      </p:sp>
      <p:sp>
        <p:nvSpPr>
          <p:cNvPr id="21" name="TextBox 20"/>
          <p:cNvSpPr txBox="1"/>
          <p:nvPr/>
        </p:nvSpPr>
        <p:spPr>
          <a:xfrm>
            <a:off x="6921500" y="5485281"/>
            <a:ext cx="5210870"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chatbots or virtual assistants to enhance user </a:t>
            </a:r>
          </a:p>
          <a:p>
            <a:pPr algn="l">
              <a:lnSpc>
                <a:spcPts val="2300"/>
              </a:lnSpc>
            </a:pPr>
            <a:r>
              <a:rPr sz="1800" dirty="0">
                <a:solidFill>
                  <a:srgbClr val="FFFFFF"/>
                </a:solidFill>
                <a:latin typeface="Helvetica Neue Thin"/>
              </a:rPr>
              <a:t>interactions and support. They design interfaces that integrate these AI tools seamlessly.</a:t>
            </a:r>
          </a:p>
        </p:txBody>
      </p:sp>
      <p:sp>
        <p:nvSpPr>
          <p:cNvPr id="22" name="TextBox 21"/>
          <p:cNvSpPr txBox="1"/>
          <p:nvPr/>
        </p:nvSpPr>
        <p:spPr>
          <a:xfrm>
            <a:off x="6692900" y="6488581"/>
            <a:ext cx="6097828"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train AI models for natural </a:t>
            </a:r>
          </a:p>
        </p:txBody>
      </p:sp>
      <p:sp>
        <p:nvSpPr>
          <p:cNvPr id="23" name="TextBox 22"/>
          <p:cNvSpPr txBox="1"/>
          <p:nvPr/>
        </p:nvSpPr>
        <p:spPr>
          <a:xfrm>
            <a:off x="6921500" y="6780681"/>
            <a:ext cx="5064950"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language processing, speech recognition, or other interactive features. They ensure these models are accurate and effective in real-world applications.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892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185257"/>
            <a:ext cx="5064766" cy="325221"/>
          </a:xfrm>
          <a:prstGeom prst="rect">
            <a:avLst/>
          </a:prstGeom>
          <a:noFill/>
        </p:spPr>
        <p:txBody>
          <a:bodyPr wrap="none" lIns="0" tIns="0" rIns="0" bIns="0">
            <a:noAutofit/>
          </a:bodyPr>
          <a:lstStyle/>
          <a:p>
            <a:pPr algn="l"/>
            <a:r>
              <a:rPr sz="2200" dirty="0">
                <a:solidFill>
                  <a:srgbClr val="FFFFFF"/>
                </a:solidFill>
                <a:latin typeface="Helvetica Neue Thin"/>
              </a:rPr>
              <a:t>• Interviews with internal stakeholders, </a:t>
            </a:r>
          </a:p>
        </p:txBody>
      </p:sp>
      <p:sp>
        <p:nvSpPr>
          <p:cNvPr id="5" name="TextBox 4"/>
          <p:cNvSpPr txBox="1"/>
          <p:nvPr/>
        </p:nvSpPr>
        <p:spPr>
          <a:xfrm>
            <a:off x="1295400" y="3794857"/>
            <a:ext cx="2164271" cy="325221"/>
          </a:xfrm>
          <a:prstGeom prst="rect">
            <a:avLst/>
          </a:prstGeom>
          <a:noFill/>
        </p:spPr>
        <p:txBody>
          <a:bodyPr wrap="none" lIns="0" tIns="0" rIns="0" bIns="0">
            <a:noAutofit/>
          </a:bodyPr>
          <a:lstStyle/>
          <a:p>
            <a:pPr algn="l"/>
            <a:r>
              <a:rPr sz="2200" dirty="0">
                <a:solidFill>
                  <a:srgbClr val="FFFFFF"/>
                </a:solidFill>
                <a:latin typeface="Helvetica Neue Thin"/>
              </a:rPr>
              <a:t>SMEs, and users</a:t>
            </a:r>
          </a:p>
        </p:txBody>
      </p:sp>
      <p:sp>
        <p:nvSpPr>
          <p:cNvPr id="6" name="TextBox 5"/>
          <p:cNvSpPr txBox="1"/>
          <p:nvPr/>
        </p:nvSpPr>
        <p:spPr>
          <a:xfrm>
            <a:off x="1295400" y="4404457"/>
            <a:ext cx="2427150" cy="325221"/>
          </a:xfrm>
          <a:prstGeom prst="rect">
            <a:avLst/>
          </a:prstGeom>
          <a:noFill/>
        </p:spPr>
        <p:txBody>
          <a:bodyPr wrap="none" lIns="0" tIns="0" rIns="0" bIns="0">
            <a:noAutofit/>
          </a:bodyPr>
          <a:lstStyle/>
          <a:p>
            <a:pPr algn="l"/>
            <a:r>
              <a:rPr sz="2200" dirty="0">
                <a:solidFill>
                  <a:srgbClr val="FFFFFF"/>
                </a:solidFill>
                <a:latin typeface="Helvetica Neue Thin"/>
              </a:rPr>
              <a:t>•  Sales Managers</a:t>
            </a:r>
          </a:p>
        </p:txBody>
      </p:sp>
      <p:sp>
        <p:nvSpPr>
          <p:cNvPr id="7" name="TextBox 6"/>
          <p:cNvSpPr txBox="1"/>
          <p:nvPr/>
        </p:nvSpPr>
        <p:spPr>
          <a:xfrm>
            <a:off x="1295400" y="4963257"/>
            <a:ext cx="2256963" cy="325221"/>
          </a:xfrm>
          <a:prstGeom prst="rect">
            <a:avLst/>
          </a:prstGeom>
          <a:noFill/>
        </p:spPr>
        <p:txBody>
          <a:bodyPr wrap="none" lIns="0" tIns="0" rIns="0" bIns="0">
            <a:noAutofit/>
          </a:bodyPr>
          <a:lstStyle/>
          <a:p>
            <a:pPr algn="l"/>
            <a:r>
              <a:rPr sz="2200" dirty="0">
                <a:solidFill>
                  <a:srgbClr val="FFFFFF"/>
                </a:solidFill>
                <a:latin typeface="Helvetica Neue Thin"/>
              </a:rPr>
              <a:t>•  Sales Advisors</a:t>
            </a:r>
          </a:p>
        </p:txBody>
      </p:sp>
      <p:sp>
        <p:nvSpPr>
          <p:cNvPr id="8" name="TextBox 7"/>
          <p:cNvSpPr txBox="1"/>
          <p:nvPr/>
        </p:nvSpPr>
        <p:spPr>
          <a:xfrm>
            <a:off x="1066800" y="5572857"/>
            <a:ext cx="3196619" cy="325221"/>
          </a:xfrm>
          <a:prstGeom prst="rect">
            <a:avLst/>
          </a:prstGeom>
          <a:noFill/>
        </p:spPr>
        <p:txBody>
          <a:bodyPr wrap="none" lIns="0" tIns="0" rIns="0" bIns="0">
            <a:noAutofit/>
          </a:bodyPr>
          <a:lstStyle/>
          <a:p>
            <a:pPr algn="l"/>
            <a:r>
              <a:rPr sz="2200" dirty="0">
                <a:solidFill>
                  <a:srgbClr val="FFFFFF"/>
                </a:solidFill>
                <a:latin typeface="Helvetica Neue Thin"/>
              </a:rPr>
              <a:t>• Contextual interviews  </a:t>
            </a:r>
          </a:p>
        </p:txBody>
      </p:sp>
      <p:sp>
        <p:nvSpPr>
          <p:cNvPr id="9" name="TextBox 8"/>
          <p:cNvSpPr txBox="1"/>
          <p:nvPr/>
        </p:nvSpPr>
        <p:spPr>
          <a:xfrm>
            <a:off x="1066800" y="6182457"/>
            <a:ext cx="3129328" cy="325222"/>
          </a:xfrm>
          <a:prstGeom prst="rect">
            <a:avLst/>
          </a:prstGeom>
          <a:noFill/>
        </p:spPr>
        <p:txBody>
          <a:bodyPr wrap="none" lIns="0" tIns="0" rIns="0" bIns="0">
            <a:noAutofit/>
          </a:bodyPr>
          <a:lstStyle/>
          <a:p>
            <a:pPr algn="l"/>
            <a:r>
              <a:rPr sz="2200" dirty="0">
                <a:solidFill>
                  <a:srgbClr val="FFFFFF"/>
                </a:solidFill>
                <a:latin typeface="Helvetica Neue Thin"/>
              </a:rPr>
              <a:t>• Persona development</a:t>
            </a:r>
          </a:p>
        </p:txBody>
      </p:sp>
      <p:sp>
        <p:nvSpPr>
          <p:cNvPr id="10" name="TextBox 9"/>
          <p:cNvSpPr txBox="1"/>
          <p:nvPr/>
        </p:nvSpPr>
        <p:spPr>
          <a:xfrm>
            <a:off x="1066800" y="6792057"/>
            <a:ext cx="5204477" cy="325222"/>
          </a:xfrm>
          <a:prstGeom prst="rect">
            <a:avLst/>
          </a:prstGeom>
          <a:noFill/>
        </p:spPr>
        <p:txBody>
          <a:bodyPr wrap="none" lIns="0" tIns="0" rIns="0" bIns="0">
            <a:noAutofit/>
          </a:bodyPr>
          <a:lstStyle/>
          <a:p>
            <a:pPr algn="l"/>
            <a:r>
              <a:rPr sz="2200" dirty="0">
                <a:solidFill>
                  <a:srgbClr val="FFFFFF"/>
                </a:solidFill>
                <a:latin typeface="Helvetica Neue Thin"/>
              </a:rPr>
              <a:t>• Codesign sessions with data scientists</a:t>
            </a:r>
          </a:p>
        </p:txBody>
      </p:sp>
      <p:sp>
        <p:nvSpPr>
          <p:cNvPr id="11" name="TextBox 10"/>
          <p:cNvSpPr txBox="1"/>
          <p:nvPr/>
        </p:nvSpPr>
        <p:spPr>
          <a:xfrm>
            <a:off x="7442200" y="3265677"/>
            <a:ext cx="2503138" cy="340309"/>
          </a:xfrm>
          <a:prstGeom prst="rect">
            <a:avLst/>
          </a:prstGeom>
          <a:noFill/>
        </p:spPr>
        <p:txBody>
          <a:bodyPr wrap="none" lIns="0" tIns="0" rIns="0" bIns="0">
            <a:noAutofit/>
          </a:bodyPr>
          <a:lstStyle/>
          <a:p>
            <a:pPr algn="l"/>
            <a:r>
              <a:rPr sz="2200" dirty="0">
                <a:solidFill>
                  <a:srgbClr val="FFFFFF"/>
                </a:solidFill>
                <a:latin typeface="Helvetica Neue Light"/>
              </a:rPr>
              <a:t>Problem statement</a:t>
            </a:r>
          </a:p>
        </p:txBody>
      </p:sp>
      <p:sp>
        <p:nvSpPr>
          <p:cNvPr id="12" name="TextBox 11"/>
          <p:cNvSpPr txBox="1"/>
          <p:nvPr/>
        </p:nvSpPr>
        <p:spPr>
          <a:xfrm>
            <a:off x="7442200" y="3653128"/>
            <a:ext cx="4887952" cy="2761081"/>
          </a:xfrm>
          <a:prstGeom prst="rect">
            <a:avLst/>
          </a:prstGeom>
          <a:noFill/>
        </p:spPr>
        <p:txBody>
          <a:bodyPr wrap="square" lIns="0" tIns="0" rIns="0" bIns="0">
            <a:noAutofit/>
          </a:bodyPr>
          <a:lstStyle/>
          <a:p>
            <a:pPr algn="l">
              <a:lnSpc>
                <a:spcPts val="3700"/>
              </a:lnSpc>
            </a:pPr>
            <a:r>
              <a:rPr sz="2200" dirty="0">
                <a:solidFill>
                  <a:srgbClr val="FFFFFF"/>
                </a:solidFill>
                <a:latin typeface="Helvetica Neue Thin"/>
              </a:rPr>
              <a:t>Internal business partners don’t have a tool to help their external clients to budget their AMEX Advertising dollars effectively. Users need an application to effectively allocate marketing budgets through the various AMEX product lines.</a:t>
            </a:r>
          </a:p>
        </p:txBody>
      </p:sp>
      <p:sp>
        <p:nvSpPr>
          <p:cNvPr id="18" name="TextBox 17"/>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00273"/>
            <a:ext cx="7403453" cy="371246"/>
          </a:xfrm>
          <a:prstGeom prst="rect">
            <a:avLst/>
          </a:prstGeom>
          <a:noFill/>
        </p:spPr>
        <p:txBody>
          <a:bodyPr wrap="none" lIns="0" tIns="0" rIns="0" bIns="0">
            <a:noAutofit/>
          </a:bodyPr>
          <a:lstStyle/>
          <a:p>
            <a:pPr algn="l"/>
            <a:r>
              <a:rPr sz="2400" dirty="0">
                <a:solidFill>
                  <a:srgbClr val="000000"/>
                </a:solidFill>
                <a:latin typeface="Helvetica Neue Light"/>
              </a:rPr>
              <a:t>• Users want to compare different budget scenarios</a:t>
            </a:r>
          </a:p>
        </p:txBody>
      </p:sp>
      <p:sp>
        <p:nvSpPr>
          <p:cNvPr id="4" name="TextBox 3"/>
          <p:cNvSpPr txBox="1"/>
          <p:nvPr/>
        </p:nvSpPr>
        <p:spPr>
          <a:xfrm>
            <a:off x="457200" y="2271773"/>
            <a:ext cx="10273277" cy="371246"/>
          </a:xfrm>
          <a:prstGeom prst="rect">
            <a:avLst/>
          </a:prstGeom>
          <a:noFill/>
        </p:spPr>
        <p:txBody>
          <a:bodyPr wrap="none" lIns="0" tIns="0" rIns="0" bIns="0">
            <a:noAutofit/>
          </a:bodyPr>
          <a:lstStyle/>
          <a:p>
            <a:pPr algn="l"/>
            <a:r>
              <a:rPr sz="2400" dirty="0">
                <a:solidFill>
                  <a:srgbClr val="000000"/>
                </a:solidFill>
                <a:latin typeface="Helvetica Neue Light"/>
              </a:rPr>
              <a:t>• Determine through data visualizations the effectiveness between each</a:t>
            </a:r>
          </a:p>
        </p:txBody>
      </p:sp>
      <p:sp>
        <p:nvSpPr>
          <p:cNvPr id="5" name="TextBox 4"/>
          <p:cNvSpPr txBox="1"/>
          <p:nvPr/>
        </p:nvSpPr>
        <p:spPr>
          <a:xfrm>
            <a:off x="457200" y="2843273"/>
            <a:ext cx="10888192" cy="371246"/>
          </a:xfrm>
          <a:prstGeom prst="rect">
            <a:avLst/>
          </a:prstGeom>
          <a:noFill/>
        </p:spPr>
        <p:txBody>
          <a:bodyPr wrap="none" lIns="0" tIns="0" rIns="0" bIns="0">
            <a:noAutofit/>
          </a:bodyPr>
          <a:lstStyle/>
          <a:p>
            <a:pPr algn="l"/>
            <a:r>
              <a:rPr sz="2400" dirty="0">
                <a:solidFill>
                  <a:srgbClr val="000000"/>
                </a:solidFill>
                <a:latin typeface="Helvetica Neue Light"/>
              </a:rPr>
              <a:t>• For a deeper understanding of their allocations, users wanted to modulate </a:t>
            </a:r>
          </a:p>
        </p:txBody>
      </p:sp>
      <p:sp>
        <p:nvSpPr>
          <p:cNvPr id="6" name="TextBox 5"/>
          <p:cNvSpPr txBox="1"/>
          <p:nvPr/>
        </p:nvSpPr>
        <p:spPr>
          <a:xfrm>
            <a:off x="685800" y="3414773"/>
            <a:ext cx="7692380" cy="371246"/>
          </a:xfrm>
          <a:prstGeom prst="rect">
            <a:avLst/>
          </a:prstGeom>
          <a:noFill/>
        </p:spPr>
        <p:txBody>
          <a:bodyPr wrap="none" lIns="0" tIns="0" rIns="0" bIns="0">
            <a:noAutofit/>
          </a:bodyPr>
          <a:lstStyle/>
          <a:p>
            <a:pPr algn="l"/>
            <a:r>
              <a:rPr sz="2400" dirty="0">
                <a:solidFill>
                  <a:srgbClr val="000000"/>
                </a:solidFill>
                <a:latin typeface="Helvetica Neue Light"/>
              </a:rPr>
              <a:t>each channel and product that make up each channel</a:t>
            </a:r>
          </a:p>
        </p:txBody>
      </p:sp>
      <p:sp>
        <p:nvSpPr>
          <p:cNvPr id="7" name="TextBox 6"/>
          <p:cNvSpPr txBox="1"/>
          <p:nvPr/>
        </p:nvSpPr>
        <p:spPr>
          <a:xfrm>
            <a:off x="457200" y="3986273"/>
            <a:ext cx="3432836" cy="371246"/>
          </a:xfrm>
          <a:prstGeom prst="rect">
            <a:avLst/>
          </a:prstGeom>
          <a:noFill/>
        </p:spPr>
        <p:txBody>
          <a:bodyPr wrap="none" lIns="0" tIns="0" rIns="0" bIns="0">
            <a:noAutofit/>
          </a:bodyPr>
          <a:lstStyle/>
          <a:p>
            <a:pPr algn="l"/>
            <a:r>
              <a:rPr sz="2400" dirty="0">
                <a:solidFill>
                  <a:srgbClr val="000000"/>
                </a:solidFill>
                <a:latin typeface="Helvetica Neue Light"/>
              </a:rPr>
              <a:t>• Channels vs. products</a:t>
            </a:r>
          </a:p>
        </p:txBody>
      </p:sp>
      <p:sp>
        <p:nvSpPr>
          <p:cNvPr id="8" name="TextBox 7"/>
          <p:cNvSpPr txBox="1"/>
          <p:nvPr/>
        </p:nvSpPr>
        <p:spPr>
          <a:xfrm>
            <a:off x="457200" y="4557773"/>
            <a:ext cx="4479971" cy="371246"/>
          </a:xfrm>
          <a:prstGeom prst="rect">
            <a:avLst/>
          </a:prstGeom>
          <a:noFill/>
        </p:spPr>
        <p:txBody>
          <a:bodyPr wrap="none" lIns="0" tIns="0" rIns="0" bIns="0">
            <a:noAutofit/>
          </a:bodyPr>
          <a:lstStyle/>
          <a:p>
            <a:pPr algn="l"/>
            <a:r>
              <a:rPr sz="2400" dirty="0">
                <a:solidFill>
                  <a:srgbClr val="000000"/>
                </a:solidFill>
                <a:latin typeface="Helvetica Neue Light"/>
              </a:rPr>
              <a:t>• See the effects and modulate</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10" name="TextBox 9"/>
          <p:cNvSpPr txBox="1"/>
          <p:nvPr/>
        </p:nvSpPr>
        <p:spPr>
          <a:xfrm>
            <a:off x="457200" y="939800"/>
            <a:ext cx="5805170" cy="476250"/>
          </a:xfrm>
          <a:prstGeom prst="rect">
            <a:avLst/>
          </a:prstGeom>
          <a:noFill/>
        </p:spPr>
        <p:txBody>
          <a:bodyPr wrap="none" lIns="0" tIns="0" rIns="0" bIns="0">
            <a:noAutofit/>
          </a:bodyPr>
          <a:lstStyle/>
          <a:p>
            <a:pPr algn="l"/>
            <a:r>
              <a:rPr sz="3000" dirty="0">
                <a:solidFill>
                  <a:srgbClr val="1F1F1F"/>
                </a:solidFill>
                <a:latin typeface="Helvetica Neue Light"/>
              </a:rPr>
              <a:t>What we learned from interviews</a:t>
            </a:r>
          </a:p>
        </p:txBody>
      </p:sp>
      <p:sp>
        <p:nvSpPr>
          <p:cNvPr id="11" name="TextBox 10"/>
          <p:cNvSpPr txBox="1"/>
          <p:nvPr/>
        </p:nvSpPr>
        <p:spPr>
          <a:xfrm>
            <a:off x="6229125" y="6892035"/>
            <a:ext cx="5622759" cy="600455"/>
          </a:xfrm>
          <a:prstGeom prst="rect">
            <a:avLst/>
          </a:prstGeom>
          <a:noFill/>
        </p:spPr>
        <p:txBody>
          <a:bodyPr wrap="none" lIns="0" tIns="0" rIns="0" bIns="0">
            <a:noAutofit/>
          </a:bodyPr>
          <a:lstStyle/>
          <a:p>
            <a:pPr marL="48896" algn="l">
              <a:lnSpc>
                <a:spcPts val="2400"/>
              </a:lnSpc>
            </a:pPr>
            <a:r>
              <a:rPr sz="2000" dirty="0">
                <a:solidFill>
                  <a:srgbClr val="000000"/>
                </a:solidFill>
                <a:latin typeface="Helvetica Neue Thin"/>
              </a:rPr>
              <a:t>“If I could build a plan down to the product line </a:t>
            </a:r>
          </a:p>
          <a:p>
            <a:pPr algn="l">
              <a:lnSpc>
                <a:spcPts val="2400"/>
              </a:lnSpc>
            </a:pPr>
            <a:r>
              <a:rPr sz="2000" dirty="0">
                <a:solidFill>
                  <a:srgbClr val="000000"/>
                </a:solidFill>
                <a:latin typeface="Helvetica Neue Thin"/>
              </a:rPr>
              <a:t>and channel, I’d be super happy, but I’d also be </a:t>
            </a:r>
          </a:p>
        </p:txBody>
      </p:sp>
      <p:sp>
        <p:nvSpPr>
          <p:cNvPr id="12" name="TextBox 11"/>
          <p:cNvSpPr txBox="1"/>
          <p:nvPr/>
        </p:nvSpPr>
        <p:spPr>
          <a:xfrm>
            <a:off x="6988704" y="7501635"/>
            <a:ext cx="3982081" cy="295655"/>
          </a:xfrm>
          <a:prstGeom prst="rect">
            <a:avLst/>
          </a:prstGeom>
          <a:noFill/>
        </p:spPr>
        <p:txBody>
          <a:bodyPr wrap="none" lIns="0" tIns="0" rIns="0" bIns="0">
            <a:noAutofit/>
          </a:bodyPr>
          <a:lstStyle/>
          <a:p>
            <a:pPr algn="l"/>
            <a:r>
              <a:rPr sz="2000" dirty="0">
                <a:solidFill>
                  <a:srgbClr val="000000"/>
                </a:solidFill>
                <a:latin typeface="Helvetica Neue Thin"/>
              </a:rPr>
              <a:t>able to customize each quarter” </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1652974"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7" name="TextBox 6"/>
          <p:cNvSpPr txBox="1"/>
          <p:nvPr/>
        </p:nvSpPr>
        <p:spPr>
          <a:xfrm>
            <a:off x="642848" y="3236690"/>
            <a:ext cx="1532402"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8" name="TextBox 7"/>
          <p:cNvSpPr txBox="1"/>
          <p:nvPr/>
        </p:nvSpPr>
        <p:spPr>
          <a:xfrm>
            <a:off x="642848" y="3541490"/>
            <a:ext cx="2337751"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9" name="TextBox 8"/>
          <p:cNvSpPr txBox="1"/>
          <p:nvPr/>
        </p:nvSpPr>
        <p:spPr>
          <a:xfrm>
            <a:off x="642848" y="3846290"/>
            <a:ext cx="2367515"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 through </a:t>
            </a:r>
          </a:p>
        </p:txBody>
      </p:sp>
      <p:sp>
        <p:nvSpPr>
          <p:cNvPr id="10" name="TextBox 9"/>
          <p:cNvSpPr txBox="1"/>
          <p:nvPr/>
        </p:nvSpPr>
        <p:spPr>
          <a:xfrm>
            <a:off x="871448" y="4151090"/>
            <a:ext cx="1088689" cy="216560"/>
          </a:xfrm>
          <a:prstGeom prst="rect">
            <a:avLst/>
          </a:prstGeom>
          <a:noFill/>
        </p:spPr>
        <p:txBody>
          <a:bodyPr wrap="none" lIns="0" tIns="0" rIns="0" bIns="0">
            <a:noAutofit/>
          </a:bodyPr>
          <a:lstStyle/>
          <a:p>
            <a:pPr algn="l"/>
            <a:r>
              <a:rPr sz="1400" dirty="0">
                <a:solidFill>
                  <a:srgbClr val="FFFFFF"/>
                </a:solidFill>
                <a:latin typeface="Helvetica Neue Light"/>
              </a:rPr>
              <a:t>Excel sheets</a:t>
            </a:r>
          </a:p>
        </p:txBody>
      </p:sp>
      <p:sp>
        <p:nvSpPr>
          <p:cNvPr id="11" name="TextBox 10"/>
          <p:cNvSpPr txBox="1"/>
          <p:nvPr/>
        </p:nvSpPr>
        <p:spPr>
          <a:xfrm>
            <a:off x="642848" y="4455890"/>
            <a:ext cx="2532080" cy="216560"/>
          </a:xfrm>
          <a:prstGeom prst="rect">
            <a:avLst/>
          </a:prstGeom>
          <a:noFill/>
        </p:spPr>
        <p:txBody>
          <a:bodyPr wrap="none" lIns="0" tIns="0" rIns="0" bIns="0">
            <a:noAutofit/>
          </a:bodyPr>
          <a:lstStyle/>
          <a:p>
            <a:pPr algn="l"/>
            <a:r>
              <a:rPr sz="1400" dirty="0">
                <a:solidFill>
                  <a:srgbClr val="FFFFFF"/>
                </a:solidFill>
                <a:latin typeface="Helvetica Neue Light"/>
              </a:rPr>
              <a:t>• Modify each allocation per </a:t>
            </a:r>
          </a:p>
        </p:txBody>
      </p:sp>
      <p:sp>
        <p:nvSpPr>
          <p:cNvPr id="12" name="TextBox 11"/>
          <p:cNvSpPr txBox="1"/>
          <p:nvPr/>
        </p:nvSpPr>
        <p:spPr>
          <a:xfrm>
            <a:off x="871448" y="4760690"/>
            <a:ext cx="1851985" cy="216560"/>
          </a:xfrm>
          <a:prstGeom prst="rect">
            <a:avLst/>
          </a:prstGeom>
          <a:noFill/>
        </p:spPr>
        <p:txBody>
          <a:bodyPr wrap="none" lIns="0" tIns="0" rIns="0" bIns="0">
            <a:noAutofit/>
          </a:bodyPr>
          <a:lstStyle/>
          <a:p>
            <a:pPr algn="l"/>
            <a:r>
              <a:rPr sz="1400" dirty="0">
                <a:solidFill>
                  <a:srgbClr val="FFFFFF"/>
                </a:solidFill>
                <a:latin typeface="Helvetica Neue Light"/>
              </a:rPr>
              <a:t>channel / by product  </a:t>
            </a:r>
          </a:p>
        </p:txBody>
      </p:sp>
      <p:sp>
        <p:nvSpPr>
          <p:cNvPr id="13" name="TextBox 12"/>
          <p:cNvSpPr txBox="1"/>
          <p:nvPr/>
        </p:nvSpPr>
        <p:spPr>
          <a:xfrm>
            <a:off x="4085941" y="2416525"/>
            <a:ext cx="8026598"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66935" algn="l">
              <a:lnSpc>
                <a:spcPts val="207"/>
              </a:lnSpc>
            </a:pPr>
            <a:r>
              <a:rPr sz="1900" dirty="0">
                <a:solidFill>
                  <a:srgbClr val="FFFFFF"/>
                </a:solidFill>
                <a:latin typeface="Helvetica Neue Light"/>
              </a:rPr>
              <a:t>Feature Set</a:t>
            </a:r>
          </a:p>
        </p:txBody>
      </p:sp>
      <p:sp>
        <p:nvSpPr>
          <p:cNvPr id="14" name="TextBox 13"/>
          <p:cNvSpPr txBox="1"/>
          <p:nvPr/>
        </p:nvSpPr>
        <p:spPr>
          <a:xfrm>
            <a:off x="1025648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15" name="TextBox 14"/>
          <p:cNvSpPr txBox="1"/>
          <p:nvPr/>
        </p:nvSpPr>
        <p:spPr>
          <a:xfrm>
            <a:off x="1025648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16" name="TextBox 15"/>
          <p:cNvSpPr txBox="1"/>
          <p:nvPr/>
        </p:nvSpPr>
        <p:spPr>
          <a:xfrm>
            <a:off x="1025648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17" name="TextBox 16"/>
          <p:cNvSpPr txBox="1"/>
          <p:nvPr/>
        </p:nvSpPr>
        <p:spPr>
          <a:xfrm>
            <a:off x="10256480" y="3846290"/>
            <a:ext cx="2337750"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18" name="TextBox 17"/>
          <p:cNvSpPr txBox="1"/>
          <p:nvPr/>
        </p:nvSpPr>
        <p:spPr>
          <a:xfrm>
            <a:off x="10256480" y="41510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19" name="TextBox 18"/>
          <p:cNvSpPr txBox="1"/>
          <p:nvPr/>
        </p:nvSpPr>
        <p:spPr>
          <a:xfrm>
            <a:off x="10256480" y="4455890"/>
            <a:ext cx="1985167"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20" name="TextBox 19"/>
          <p:cNvSpPr txBox="1"/>
          <p:nvPr/>
        </p:nvSpPr>
        <p:spPr>
          <a:xfrm>
            <a:off x="10485080" y="47606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21" name="TextBox 20"/>
          <p:cNvSpPr txBox="1"/>
          <p:nvPr/>
        </p:nvSpPr>
        <p:spPr>
          <a:xfrm>
            <a:off x="10256480" y="5065490"/>
            <a:ext cx="2343892"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
        <p:nvSpPr>
          <p:cNvPr id="22" name="TextBox 21"/>
          <p:cNvSpPr txBox="1"/>
          <p:nvPr/>
        </p:nvSpPr>
        <p:spPr>
          <a:xfrm>
            <a:off x="10256480" y="5370290"/>
            <a:ext cx="2280523"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internal </a:t>
            </a:r>
          </a:p>
        </p:txBody>
      </p:sp>
      <p:sp>
        <p:nvSpPr>
          <p:cNvPr id="23" name="TextBox 22"/>
          <p:cNvSpPr txBox="1"/>
          <p:nvPr/>
        </p:nvSpPr>
        <p:spPr>
          <a:xfrm>
            <a:off x="10485080" y="5675090"/>
            <a:ext cx="72077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4" name="TextBox 23"/>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5" name="TextBox 24"/>
          <p:cNvSpPr txBox="1"/>
          <p:nvPr/>
        </p:nvSpPr>
        <p:spPr>
          <a:xfrm>
            <a:off x="4021048" y="32518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6" name="TextBox 25"/>
          <p:cNvSpPr txBox="1"/>
          <p:nvPr/>
        </p:nvSpPr>
        <p:spPr>
          <a:xfrm>
            <a:off x="4021048" y="35693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7" name="TextBox 26"/>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Data</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8" name="TextBox 27"/>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9" name="TextBox 28"/>
          <p:cNvSpPr txBox="1"/>
          <p:nvPr/>
        </p:nvSpPr>
        <p:spPr>
          <a:xfrm>
            <a:off x="690880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30" name="TextBox 29"/>
          <p:cNvSpPr txBox="1"/>
          <p:nvPr/>
        </p:nvSpPr>
        <p:spPr>
          <a:xfrm>
            <a:off x="690880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31" name="TextBox 30"/>
          <p:cNvSpPr txBox="1"/>
          <p:nvPr/>
        </p:nvSpPr>
        <p:spPr>
          <a:xfrm>
            <a:off x="690880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32" name="TextBox 31"/>
          <p:cNvSpPr txBox="1"/>
          <p:nvPr/>
        </p:nvSpPr>
        <p:spPr>
          <a:xfrm>
            <a:off x="6908800" y="38462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33" name="TextBox 32"/>
          <p:cNvSpPr txBox="1"/>
          <p:nvPr/>
        </p:nvSpPr>
        <p:spPr>
          <a:xfrm>
            <a:off x="6908800" y="4151090"/>
            <a:ext cx="1985165"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34" name="TextBox 33"/>
          <p:cNvSpPr txBox="1"/>
          <p:nvPr/>
        </p:nvSpPr>
        <p:spPr>
          <a:xfrm>
            <a:off x="7137400" y="44558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35" name="TextBox 34"/>
          <p:cNvSpPr txBox="1"/>
          <p:nvPr/>
        </p:nvSpPr>
        <p:spPr>
          <a:xfrm>
            <a:off x="6272603" y="4102315"/>
            <a:ext cx="3030984" cy="874934"/>
          </a:xfrm>
          <a:prstGeom prst="rect">
            <a:avLst/>
          </a:prstGeom>
          <a:noFill/>
        </p:spPr>
        <p:txBody>
          <a:bodyPr wrap="none" lIns="0" tIns="0" rIns="0" bIns="0">
            <a:noAutofit/>
          </a:bodyPr>
          <a:lstStyle/>
          <a:p>
            <a:pPr algn="l">
              <a:lnSpc>
                <a:spcPts val="2470"/>
              </a:lnSpc>
            </a:pPr>
            <a:r>
              <a:rPr sz="4350" dirty="0">
                <a:solidFill>
                  <a:srgbClr val="000000"/>
                </a:solidFill>
                <a:latin typeface="Helvetica Neue Light"/>
              </a:rPr>
              <a:t>+</a:t>
            </a:r>
          </a:p>
        </p:txBody>
      </p:sp>
      <p:sp>
        <p:nvSpPr>
          <p:cNvPr id="36" name="TextBox 31"/>
          <p:cNvSpPr txBox="1"/>
          <p:nvPr/>
        </p:nvSpPr>
        <p:spPr>
          <a:xfrm>
            <a:off x="6908800" y="4762500"/>
            <a:ext cx="2349500"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904395" y="3911592"/>
            <a:ext cx="9397900" cy="4561494"/>
          </a:xfrm>
          <a:prstGeom prst="rect">
            <a:avLst/>
          </a:prstGeom>
        </p:spPr>
      </p:pic>
      <p:sp>
        <p:nvSpPr>
          <p:cNvPr id="4" name="TextBox 3"/>
          <p:cNvSpPr txBox="1"/>
          <p:nvPr/>
        </p:nvSpPr>
        <p:spPr>
          <a:xfrm>
            <a:off x="457200" y="1858135"/>
            <a:ext cx="3782800"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1 WALK THROUGH WIZARD </a:t>
            </a:r>
          </a:p>
          <a:p>
            <a:pPr algn="l">
              <a:lnSpc>
                <a:spcPts val="1800"/>
              </a:lnSpc>
            </a:pPr>
            <a:r>
              <a:rPr sz="1300" dirty="0">
                <a:solidFill>
                  <a:srgbClr val="000000"/>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5" name="TextBox 4"/>
          <p:cNvSpPr txBox="1"/>
          <p:nvPr/>
        </p:nvSpPr>
        <p:spPr>
          <a:xfrm>
            <a:off x="4614333" y="1858135"/>
            <a:ext cx="3810814"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2 SCENARIO BUILDER</a:t>
            </a:r>
          </a:p>
          <a:p>
            <a:pPr algn="l">
              <a:lnSpc>
                <a:spcPts val="1800"/>
              </a:lnSpc>
            </a:pPr>
            <a:r>
              <a:rPr sz="1300" dirty="0">
                <a:solidFill>
                  <a:srgbClr val="000000"/>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6" name="TextBox 5"/>
          <p:cNvSpPr txBox="1"/>
          <p:nvPr/>
        </p:nvSpPr>
        <p:spPr>
          <a:xfrm>
            <a:off x="8771466" y="1858135"/>
            <a:ext cx="3877676" cy="8802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3 DATA VISUALIZER / SCENARIO COMPARISON</a:t>
            </a:r>
          </a:p>
          <a:p>
            <a:pPr algn="l">
              <a:lnSpc>
                <a:spcPts val="1800"/>
              </a:lnSpc>
            </a:pPr>
            <a:r>
              <a:rPr sz="1300" dirty="0">
                <a:solidFill>
                  <a:srgbClr val="000000"/>
                </a:solidFill>
                <a:latin typeface="Helvetica Neue Thin"/>
              </a:rPr>
              <a:t>A user can then understand through the data visualizations, how each individual plan is broken down and how they compare to one another.</a:t>
            </a:r>
          </a:p>
        </p:txBody>
      </p:sp>
      <p:sp>
        <p:nvSpPr>
          <p:cNvPr id="7" name="TextBox 6"/>
          <p:cNvSpPr txBox="1"/>
          <p:nvPr/>
        </p:nvSpPr>
        <p:spPr>
          <a:xfrm>
            <a:off x="457200" y="1138679"/>
            <a:ext cx="8753946" cy="278434"/>
          </a:xfrm>
          <a:prstGeom prst="rect">
            <a:avLst/>
          </a:prstGeom>
          <a:noFill/>
        </p:spPr>
        <p:txBody>
          <a:bodyPr wrap="none" lIns="0" tIns="0" rIns="0" bIns="0">
            <a:noAutofit/>
          </a:bodyPr>
          <a:lstStyle/>
          <a:p>
            <a:pPr algn="l"/>
            <a:r>
              <a:rPr sz="1800" dirty="0">
                <a:solidFill>
                  <a:srgbClr val="000000"/>
                </a:solidFill>
                <a:latin typeface="Helvetica Neue Light"/>
              </a:rPr>
              <a:t>The user journey was distilled into a 3-step process to build their investment plans</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59807" y="1894907"/>
            <a:ext cx="9234469" cy="5774621"/>
          </a:xfrm>
          <a:prstGeom prst="rect">
            <a:avLst/>
          </a:prstGeom>
        </p:spPr>
      </p:pic>
      <p:pic>
        <p:nvPicPr>
          <p:cNvPr id="4" name="Picture 2" descr="image.png"/>
          <p:cNvPicPr>
            <a:picLocks noChangeAspect="1"/>
          </p:cNvPicPr>
          <p:nvPr/>
        </p:nvPicPr>
        <p:blipFill>
          <a:blip r:embed="rId4"/>
          <a:stretch>
            <a:fillRect/>
          </a:stretch>
        </p:blipFill>
        <p:spPr>
          <a:xfrm>
            <a:off x="5564747" y="5983847"/>
            <a:ext cx="7191813" cy="3769752"/>
          </a:xfrm>
          <a:prstGeom prst="rect">
            <a:avLst/>
          </a:prstGeom>
        </p:spPr>
      </p:pic>
      <p:pic>
        <p:nvPicPr>
          <p:cNvPr id="5" name="Picture 3" descr="image.png"/>
          <p:cNvPicPr>
            <a:picLocks noChangeAspect="1"/>
          </p:cNvPicPr>
          <p:nvPr/>
        </p:nvPicPr>
        <p:blipFill>
          <a:blip r:embed="rId5"/>
          <a:stretch>
            <a:fillRect/>
          </a:stretch>
        </p:blipFill>
        <p:spPr>
          <a:xfrm>
            <a:off x="6876568" y="179570"/>
            <a:ext cx="5878328" cy="3135665"/>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7" name="TextBox 6"/>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User flows for feature sets </a:t>
            </a:r>
          </a:p>
        </p:txBody>
      </p:sp>
      <p:sp>
        <p:nvSpPr>
          <p:cNvPr id="8" name="TextBox 7"/>
          <p:cNvSpPr txBox="1"/>
          <p:nvPr/>
        </p:nvSpPr>
        <p:spPr>
          <a:xfrm>
            <a:off x="457200" y="7926627"/>
            <a:ext cx="4758405" cy="1112824"/>
          </a:xfrm>
          <a:prstGeom prst="rect">
            <a:avLst/>
          </a:prstGeom>
          <a:noFill/>
        </p:spPr>
        <p:txBody>
          <a:bodyPr wrap="square" lIns="0" tIns="0" rIns="0" bIns="0">
            <a:noAutofit/>
          </a:bodyPr>
          <a:lstStyle/>
          <a:p>
            <a:pPr algn="l">
              <a:lnSpc>
                <a:spcPts val="2300"/>
              </a:lnSpc>
            </a:pPr>
            <a:r>
              <a:rPr sz="1600" dirty="0">
                <a:solidFill>
                  <a:srgbClr val="000000"/>
                </a:solidFill>
                <a:latin typeface="Helvetica Neue Thin"/>
              </a:rPr>
              <a:t>Understanding the usage contexts of the application helped us develop a clear vision of the interactive expectations of the users. We developed a set of experience principles woven through the application. </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62607" y="5078982"/>
            <a:ext cx="3649797"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1 WALK THROUGH WIZARD </a:t>
            </a:r>
          </a:p>
          <a:p>
            <a:pPr algn="l">
              <a:lnSpc>
                <a:spcPts val="2400"/>
              </a:lnSpc>
            </a:pPr>
            <a:r>
              <a:rPr sz="1600" dirty="0">
                <a:solidFill>
                  <a:srgbClr val="FFFFFF"/>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4" name="TextBox 3"/>
          <p:cNvSpPr txBox="1"/>
          <p:nvPr/>
        </p:nvSpPr>
        <p:spPr>
          <a:xfrm>
            <a:off x="4925871" y="5078982"/>
            <a:ext cx="3645485"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2 SCENARIO BUILDER</a:t>
            </a:r>
          </a:p>
          <a:p>
            <a:pPr algn="l">
              <a:lnSpc>
                <a:spcPts val="2400"/>
              </a:lnSpc>
            </a:pPr>
            <a:r>
              <a:rPr sz="1600" dirty="0">
                <a:solidFill>
                  <a:srgbClr val="FFFFFF"/>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5" name="TextBox 4"/>
          <p:cNvSpPr txBox="1"/>
          <p:nvPr/>
        </p:nvSpPr>
        <p:spPr>
          <a:xfrm>
            <a:off x="8889134" y="5078982"/>
            <a:ext cx="3551489" cy="17633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3 DATA VISUALIZER / SCENARIO </a:t>
            </a:r>
          </a:p>
          <a:p>
            <a:pPr algn="l">
              <a:lnSpc>
                <a:spcPts val="2400"/>
              </a:lnSpc>
            </a:pPr>
            <a:r>
              <a:rPr sz="1600" dirty="0">
                <a:solidFill>
                  <a:srgbClr val="FFFFFF"/>
                </a:solidFill>
                <a:latin typeface="Helvetica Neue Light"/>
              </a:rPr>
              <a:t>COMPARISON</a:t>
            </a:r>
          </a:p>
          <a:p>
            <a:pPr algn="l">
              <a:lnSpc>
                <a:spcPts val="2400"/>
              </a:lnSpc>
            </a:pPr>
            <a:r>
              <a:rPr sz="1600" dirty="0">
                <a:solidFill>
                  <a:srgbClr val="FFFFFF"/>
                </a:solidFill>
                <a:latin typeface="Helvetica Neue Thin"/>
              </a:rPr>
              <a:t>A user can then understand through the data visualizations, how each individual plan is broken down and how they compare to one another.</a:t>
            </a:r>
          </a:p>
        </p:txBody>
      </p:sp>
      <p:sp>
        <p:nvSpPr>
          <p:cNvPr id="6" name="TextBox 5"/>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7" name="TextBox 6"/>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8" name="TextBox 7"/>
          <p:cNvSpPr txBox="1"/>
          <p:nvPr/>
        </p:nvSpPr>
        <p:spPr>
          <a:xfrm>
            <a:off x="8051800" y="1243479"/>
            <a:ext cx="3964715" cy="1180490"/>
          </a:xfrm>
          <a:prstGeom prst="rect">
            <a:avLst/>
          </a:prstGeom>
          <a:noFill/>
        </p:spPr>
        <p:txBody>
          <a:bodyPr wrap="none" lIns="0" tIns="0" rIns="0" bIns="0">
            <a:noAutofit/>
          </a:bodyPr>
          <a:lstStyle/>
          <a:p>
            <a:pPr algn="l">
              <a:lnSpc>
                <a:spcPts val="2400"/>
              </a:lnSpc>
            </a:pPr>
            <a:r>
              <a:rPr sz="1800" dirty="0">
                <a:solidFill>
                  <a:srgbClr val="FFFFFF"/>
                </a:solidFill>
                <a:latin typeface="Helvetica Neue Thin"/>
              </a:rPr>
              <a:t>• Feature refinement and road map </a:t>
            </a:r>
          </a:p>
          <a:p>
            <a:pPr algn="l">
              <a:lnSpc>
                <a:spcPts val="2400"/>
              </a:lnSpc>
            </a:pPr>
            <a:r>
              <a:rPr sz="1800" dirty="0">
                <a:solidFill>
                  <a:srgbClr val="FFFFFF"/>
                </a:solidFill>
                <a:latin typeface="Helvetica Neue Thin"/>
              </a:rPr>
              <a:t>• 12 Agile-based sprints</a:t>
            </a:r>
          </a:p>
          <a:p>
            <a:pPr algn="l">
              <a:lnSpc>
                <a:spcPts val="2400"/>
              </a:lnSpc>
            </a:pPr>
            <a:r>
              <a:rPr sz="1800" dirty="0">
                <a:solidFill>
                  <a:srgbClr val="FFFFFF"/>
                </a:solidFill>
                <a:latin typeface="Helvetica Neue Thin"/>
              </a:rPr>
              <a:t>• Usability testing on regular cadence</a:t>
            </a:r>
          </a:p>
          <a:p>
            <a:pPr algn="l">
              <a:lnSpc>
                <a:spcPts val="2400"/>
              </a:lnSpc>
            </a:pPr>
            <a:r>
              <a:rPr sz="1800" dirty="0">
                <a:solidFill>
                  <a:srgbClr val="FFFFFF"/>
                </a:solidFill>
                <a:latin typeface="Helvetica Neue Thin"/>
              </a:rPr>
              <a:t>• Demos and QA</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28467" y="4371975"/>
            <a:ext cx="8065156" cy="53816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5447030" cy="476250"/>
          </a:xfrm>
          <a:prstGeom prst="rect">
            <a:avLst/>
          </a:prstGeom>
          <a:noFill/>
        </p:spPr>
        <p:txBody>
          <a:bodyPr wrap="none" lIns="0" tIns="0" rIns="0" bIns="0">
            <a:noAutofit/>
          </a:bodyPr>
          <a:lstStyle/>
          <a:p>
            <a:pPr algn="l"/>
            <a:r>
              <a:rPr sz="3000" dirty="0">
                <a:solidFill>
                  <a:srgbClr val="1F1F1F"/>
                </a:solidFill>
                <a:latin typeface="Helvetica Neue Light"/>
              </a:rPr>
              <a:t>MOCA Experience Design Sprint</a:t>
            </a:r>
          </a:p>
        </p:txBody>
      </p:sp>
      <p:sp>
        <p:nvSpPr>
          <p:cNvPr id="6" name="TextBox 5"/>
          <p:cNvSpPr txBox="1"/>
          <p:nvPr/>
        </p:nvSpPr>
        <p:spPr>
          <a:xfrm>
            <a:off x="1269998" y="2151379"/>
            <a:ext cx="7865265" cy="1213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t>
            </a:r>
          </a:p>
          <a:p>
            <a:pPr algn="l">
              <a:lnSpc>
                <a:spcPts val="2400"/>
              </a:lnSpc>
            </a:pPr>
            <a:r>
              <a:rPr sz="2000" dirty="0">
                <a:solidFill>
                  <a:srgbClr val="FFFFFF"/>
                </a:solidFill>
                <a:latin typeface="Helvetica Neue Thin"/>
              </a:rPr>
              <a:t>Users wanted to import one budget and keep it as a template to build a second budget. Therefore, we built functionality to allow a user to base a new budget on an existing imported budget by duplicating it.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850996" y="4268730"/>
            <a:ext cx="3349739" cy="2237625"/>
          </a:xfrm>
          <a:prstGeom prst="rect">
            <a:avLst/>
          </a:prstGeom>
        </p:spPr>
      </p:pic>
      <p:pic>
        <p:nvPicPr>
          <p:cNvPr id="4" name="Picture 2" descr="image.png"/>
          <p:cNvPicPr>
            <a:picLocks noChangeAspect="1"/>
          </p:cNvPicPr>
          <p:nvPr/>
        </p:nvPicPr>
        <p:blipFill>
          <a:blip r:embed="rId4"/>
          <a:stretch>
            <a:fillRect/>
          </a:stretch>
        </p:blipFill>
        <p:spPr>
          <a:xfrm>
            <a:off x="7780591" y="1043435"/>
            <a:ext cx="4455750" cy="2976440"/>
          </a:xfrm>
          <a:prstGeom prst="rect">
            <a:avLst/>
          </a:prstGeom>
        </p:spPr>
      </p:pic>
      <p:pic>
        <p:nvPicPr>
          <p:cNvPr id="5" name="Picture 3" descr="image.png"/>
          <p:cNvPicPr>
            <a:picLocks noChangeAspect="1"/>
          </p:cNvPicPr>
          <p:nvPr/>
        </p:nvPicPr>
        <p:blipFill>
          <a:blip r:embed="rId5"/>
          <a:stretch>
            <a:fillRect/>
          </a:stretch>
        </p:blipFill>
        <p:spPr>
          <a:xfrm>
            <a:off x="638224" y="3055037"/>
            <a:ext cx="7057012" cy="4714083"/>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1237614" y="1166492"/>
            <a:ext cx="5368101" cy="1213612"/>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Unexpected Challenge </a:t>
            </a:r>
          </a:p>
          <a:p>
            <a:pPr algn="l">
              <a:lnSpc>
                <a:spcPts val="2400"/>
              </a:lnSpc>
            </a:pPr>
            <a:r>
              <a:rPr sz="2000" dirty="0">
                <a:solidFill>
                  <a:srgbClr val="FFFFFF"/>
                </a:solidFill>
                <a:latin typeface="Helvetica Neue Thin"/>
              </a:rPr>
              <a:t>As a desktop app, we needed to account for other applications that sat on the desktop and factor in how this app would connect to them through APIs</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38187" y="6376987"/>
            <a:ext cx="3692743" cy="2639635"/>
          </a:xfrm>
          <a:prstGeom prst="rect">
            <a:avLst/>
          </a:prstGeom>
        </p:spPr>
      </p:pic>
      <p:pic>
        <p:nvPicPr>
          <p:cNvPr id="4" name="Picture 2" descr="image.png"/>
          <p:cNvPicPr>
            <a:picLocks noChangeAspect="1"/>
          </p:cNvPicPr>
          <p:nvPr/>
        </p:nvPicPr>
        <p:blipFill>
          <a:blip r:embed="rId4"/>
          <a:stretch>
            <a:fillRect/>
          </a:stretch>
        </p:blipFill>
        <p:spPr>
          <a:xfrm>
            <a:off x="671874" y="1824892"/>
            <a:ext cx="5663643" cy="4060325"/>
          </a:xfrm>
          <a:prstGeom prst="rect">
            <a:avLst/>
          </a:prstGeom>
        </p:spPr>
      </p:pic>
      <p:pic>
        <p:nvPicPr>
          <p:cNvPr id="5" name="Picture 3" descr="image.png"/>
          <p:cNvPicPr>
            <a:picLocks noChangeAspect="1"/>
          </p:cNvPicPr>
          <p:nvPr/>
        </p:nvPicPr>
        <p:blipFill>
          <a:blip r:embed="rId5"/>
          <a:stretch>
            <a:fillRect/>
          </a:stretch>
        </p:blipFill>
        <p:spPr>
          <a:xfrm>
            <a:off x="5425126" y="3778893"/>
            <a:ext cx="6956166" cy="5193012"/>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985000" y="1433829"/>
            <a:ext cx="5269740" cy="9088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The navigation bar with tool bar scored high</a:t>
            </a:r>
          </a:p>
          <a:p>
            <a:pPr algn="l">
              <a:lnSpc>
                <a:spcPts val="2400"/>
              </a:lnSpc>
            </a:pPr>
            <a:r>
              <a:rPr sz="2000" dirty="0">
                <a:solidFill>
                  <a:srgbClr val="FFFFFF"/>
                </a:solidFill>
                <a:latin typeface="Helvetica Neue Thin"/>
              </a:rPr>
              <a:t>•  Users wanted to see the reset icon as a </a:t>
            </a:r>
          </a:p>
        </p:txBody>
      </p:sp>
      <p:sp>
        <p:nvSpPr>
          <p:cNvPr id="8" name="TextBox 7"/>
          <p:cNvSpPr txBox="1"/>
          <p:nvPr/>
        </p:nvSpPr>
        <p:spPr>
          <a:xfrm>
            <a:off x="7141967" y="2351785"/>
            <a:ext cx="1645148" cy="295655"/>
          </a:xfrm>
          <a:prstGeom prst="rect">
            <a:avLst/>
          </a:prstGeom>
          <a:noFill/>
        </p:spPr>
        <p:txBody>
          <a:bodyPr wrap="none" lIns="0" tIns="0" rIns="0" bIns="0">
            <a:noAutofit/>
          </a:bodyPr>
          <a:lstStyle/>
          <a:p>
            <a:pPr algn="l"/>
            <a:r>
              <a:rPr sz="2000" dirty="0">
                <a:solidFill>
                  <a:srgbClr val="FFFFFF"/>
                </a:solidFill>
                <a:latin typeface="Helvetica Neue Thin"/>
              </a:rPr>
              <a:t>separate tool.</a:t>
            </a:r>
          </a:p>
        </p:txBody>
      </p:sp>
      <p:sp>
        <p:nvSpPr>
          <p:cNvPr id="9" name="TextBox 8"/>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1819" y="1744520"/>
            <a:ext cx="5362705" cy="3681307"/>
          </a:xfrm>
          <a:prstGeom prst="rect">
            <a:avLst/>
          </a:prstGeom>
        </p:spPr>
      </p:pic>
      <p:pic>
        <p:nvPicPr>
          <p:cNvPr id="4" name="Picture 2" descr="image.png"/>
          <p:cNvPicPr>
            <a:picLocks noChangeAspect="1"/>
          </p:cNvPicPr>
          <p:nvPr/>
        </p:nvPicPr>
        <p:blipFill>
          <a:blip r:embed="rId4"/>
          <a:stretch>
            <a:fillRect/>
          </a:stretch>
        </p:blipFill>
        <p:spPr>
          <a:xfrm>
            <a:off x="663575" y="6149975"/>
            <a:ext cx="3690317" cy="2534716"/>
          </a:xfrm>
          <a:prstGeom prst="rect">
            <a:avLst/>
          </a:prstGeom>
        </p:spPr>
      </p:pic>
      <p:pic>
        <p:nvPicPr>
          <p:cNvPr id="5" name="Picture 3" descr="image.png"/>
          <p:cNvPicPr>
            <a:picLocks noChangeAspect="1"/>
          </p:cNvPicPr>
          <p:nvPr/>
        </p:nvPicPr>
        <p:blipFill>
          <a:blip r:embed="rId5"/>
          <a:stretch>
            <a:fillRect/>
          </a:stretch>
        </p:blipFill>
        <p:spPr>
          <a:xfrm>
            <a:off x="4651375" y="3965575"/>
            <a:ext cx="7692961" cy="5127824"/>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692901" y="1617979"/>
            <a:ext cx="5498221" cy="6040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Short term vs. long term was seen as a vital </a:t>
            </a:r>
          </a:p>
        </p:txBody>
      </p:sp>
      <p:sp>
        <p:nvSpPr>
          <p:cNvPr id="8" name="TextBox 7"/>
          <p:cNvSpPr txBox="1"/>
          <p:nvPr/>
        </p:nvSpPr>
        <p:spPr>
          <a:xfrm>
            <a:off x="6692901" y="2231135"/>
            <a:ext cx="5282081" cy="6004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dynamic</a:t>
            </a:r>
          </a:p>
          <a:p>
            <a:pPr algn="l">
              <a:lnSpc>
                <a:spcPts val="2400"/>
              </a:lnSpc>
            </a:pPr>
            <a:r>
              <a:rPr sz="2000" dirty="0">
                <a:solidFill>
                  <a:srgbClr val="FFFFFF"/>
                </a:solidFill>
                <a:latin typeface="Helvetica Neue Thin"/>
              </a:rPr>
              <a:t>•  Selecting a scenario to optimize tested well</a:t>
            </a:r>
          </a:p>
        </p:txBody>
      </p:sp>
      <p:sp>
        <p:nvSpPr>
          <p:cNvPr id="9" name="TextBox 8"/>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63700" y="1346450"/>
            <a:ext cx="6971537" cy="711555"/>
          </a:xfrm>
          <a:prstGeom prst="rect">
            <a:avLst/>
          </a:prstGeom>
          <a:noFill/>
        </p:spPr>
        <p:txBody>
          <a:bodyPr wrap="none" lIns="0" tIns="0" rIns="0" bIns="0">
            <a:noAutofit/>
          </a:bodyPr>
          <a:lstStyle/>
          <a:p>
            <a:pPr algn="l"/>
            <a:r>
              <a:rPr sz="4600" dirty="0">
                <a:solidFill>
                  <a:srgbClr val="FFFFFF"/>
                </a:solidFill>
                <a:latin typeface="Helvetica Neue Light"/>
              </a:rPr>
              <a:t>Budget Plan Construction</a:t>
            </a:r>
          </a:p>
        </p:txBody>
      </p:sp>
      <p:sp>
        <p:nvSpPr>
          <p:cNvPr id="4" name="TextBox 3"/>
          <p:cNvSpPr txBox="1"/>
          <p:nvPr/>
        </p:nvSpPr>
        <p:spPr>
          <a:xfrm>
            <a:off x="1663700" y="4275959"/>
            <a:ext cx="8069401" cy="2361665"/>
          </a:xfrm>
          <a:prstGeom prst="rect">
            <a:avLst/>
          </a:prstGeom>
          <a:noFill/>
        </p:spPr>
        <p:txBody>
          <a:bodyPr wrap="square" lIns="0" tIns="0" rIns="0" bIns="0">
            <a:noAutofit/>
          </a:bodyPr>
          <a:lstStyle/>
          <a:p>
            <a:pPr algn="l">
              <a:lnSpc>
                <a:spcPts val="3800"/>
              </a:lnSpc>
            </a:pPr>
            <a:r>
              <a:rPr sz="2500" dirty="0">
                <a:solidFill>
                  <a:srgbClr val="FFFFFF"/>
                </a:solidFill>
                <a:latin typeface="Helvetica Neue Thin"/>
              </a:rPr>
              <a:t>Users want to compare different budget scenarios, and determine, through data visualizations, the differences between each. For a deeper understanding of their allocations, users want to modulate each channel and product that make up each channel</a:t>
            </a:r>
            <a:r>
              <a:rPr sz="2600" dirty="0">
                <a:solidFill>
                  <a:srgbClr val="FFFFFF"/>
                </a:solidFill>
                <a:latin typeface="Helvetica Neue Thin"/>
              </a:rPr>
              <a:t>.</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807075" y="765175"/>
            <a:ext cx="6079993" cy="3785809"/>
          </a:xfrm>
          <a:prstGeom prst="rect">
            <a:avLst/>
          </a:prstGeom>
        </p:spPr>
      </p:pic>
      <p:pic>
        <p:nvPicPr>
          <p:cNvPr id="4" name="Picture 2" descr="image.png"/>
          <p:cNvPicPr>
            <a:picLocks noChangeAspect="1"/>
          </p:cNvPicPr>
          <p:nvPr/>
        </p:nvPicPr>
        <p:blipFill>
          <a:blip r:embed="rId4"/>
          <a:stretch>
            <a:fillRect/>
          </a:stretch>
        </p:blipFill>
        <p:spPr>
          <a:xfrm>
            <a:off x="4137140" y="3794267"/>
            <a:ext cx="8177589" cy="495016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6" name="TextBox 5"/>
          <p:cNvSpPr txBox="1"/>
          <p:nvPr/>
        </p:nvSpPr>
        <p:spPr>
          <a:xfrm>
            <a:off x="850900" y="69712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850900" y="7255763"/>
            <a:ext cx="4166870" cy="1385417"/>
          </a:xfrm>
          <a:prstGeom prst="rect">
            <a:avLst/>
          </a:prstGeom>
          <a:noFill/>
        </p:spPr>
        <p:txBody>
          <a:bodyPr wrap="square" lIns="0" tIns="0" rIns="0" bIns="0">
            <a:noAutofit/>
          </a:bodyPr>
          <a:lstStyle/>
          <a:p>
            <a:pPr algn="l">
              <a:lnSpc>
                <a:spcPts val="2800"/>
              </a:lnSpc>
            </a:pPr>
            <a:r>
              <a:rPr sz="1600" dirty="0">
                <a:solidFill>
                  <a:srgbClr val="FFFFFF"/>
                </a:solidFill>
                <a:latin typeface="Helvetica Neue Light"/>
              </a:rPr>
              <a:t> Through our discussion, we learned that because they only use the application once every 6-12 months, many users needed more structured guidance and hand-holding.</a:t>
            </a:r>
          </a:p>
        </p:txBody>
      </p:sp>
      <p:sp>
        <p:nvSpPr>
          <p:cNvPr id="11" name="TextBox 10"/>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Wizard Design Sprint</a:t>
            </a:r>
          </a:p>
        </p:txBody>
      </p:sp>
      <p:sp>
        <p:nvSpPr>
          <p:cNvPr id="12" name="TextBox 11"/>
          <p:cNvSpPr txBox="1"/>
          <p:nvPr/>
        </p:nvSpPr>
        <p:spPr>
          <a:xfrm>
            <a:off x="495300" y="1795779"/>
            <a:ext cx="4756432" cy="1731771"/>
          </a:xfrm>
          <a:prstGeom prst="rect">
            <a:avLst/>
          </a:prstGeom>
          <a:noFill/>
        </p:spPr>
        <p:txBody>
          <a:bodyPr wrap="square" lIns="0" tIns="0" rIns="0" bIns="0">
            <a:noAutofit/>
          </a:bodyPr>
          <a:lstStyle/>
          <a:p>
            <a:pPr algn="l">
              <a:lnSpc>
                <a:spcPts val="2800"/>
              </a:lnSpc>
            </a:pPr>
            <a:r>
              <a:rPr sz="2000" dirty="0">
                <a:solidFill>
                  <a:srgbClr val="000000"/>
                </a:solidFill>
                <a:latin typeface="Helvetica Neue Light"/>
              </a:rPr>
              <a:t>As a first-time user experience, users want a friction-free way to get started. Users needed a concise and efficient Wizard to start the process, entering budget details and time frame.</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982959" y="2746374"/>
            <a:ext cx="9129665" cy="7007225"/>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327901" y="900682"/>
            <a:ext cx="4878276" cy="11618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Users want to be able to allocate, down to the product line OR channel, in order to fine-tune their allocations to see effectiveness.</a:t>
            </a:r>
          </a:p>
        </p:txBody>
      </p:sp>
      <p:sp>
        <p:nvSpPr>
          <p:cNvPr id="6" name="TextBox 5"/>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
        <p:nvSpPr>
          <p:cNvPr id="7" name="TextBox 6"/>
          <p:cNvSpPr txBox="1"/>
          <p:nvPr/>
        </p:nvSpPr>
        <p:spPr>
          <a:xfrm>
            <a:off x="647700" y="7911083"/>
            <a:ext cx="3491088" cy="8570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Exporting, duplicating and saving functionality seen as vital feedback</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492375" y="1920875"/>
            <a:ext cx="10174158" cy="78327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74700" y="68569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6" name="TextBox 5"/>
          <p:cNvSpPr txBox="1"/>
          <p:nvPr/>
        </p:nvSpPr>
        <p:spPr>
          <a:xfrm>
            <a:off x="774700" y="7144307"/>
            <a:ext cx="3079593" cy="1730044"/>
          </a:xfrm>
          <a:prstGeom prst="rect">
            <a:avLst/>
          </a:prstGeom>
          <a:noFill/>
        </p:spPr>
        <p:txBody>
          <a:bodyPr wrap="square" lIns="0" tIns="0" rIns="0" bIns="0">
            <a:noAutofit/>
          </a:bodyPr>
          <a:lstStyle/>
          <a:p>
            <a:pPr marL="125573" indent="-125573" algn="l">
              <a:lnSpc>
                <a:spcPts val="2800"/>
              </a:lnSpc>
            </a:pPr>
            <a:r>
              <a:rPr sz="1600" dirty="0">
                <a:solidFill>
                  <a:srgbClr val="FFFFFF"/>
                </a:solidFill>
                <a:latin typeface="Helvetica Neue Thin"/>
              </a:rPr>
              <a:t>•	They like to see the data visualizations comparing plans and the optimization features to help them finish their planning by offering the “best” plan.</a:t>
            </a:r>
          </a:p>
        </p:txBody>
      </p:sp>
      <p:sp>
        <p:nvSpPr>
          <p:cNvPr id="11" name="TextBox 10"/>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1743075"/>
            <a:ext cx="11500181" cy="7452117"/>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6870701" y="900682"/>
            <a:ext cx="4081983" cy="544169"/>
          </a:xfrm>
          <a:prstGeom prst="rect">
            <a:avLst/>
          </a:prstGeom>
          <a:noFill/>
        </p:spPr>
        <p:txBody>
          <a:bodyPr wrap="non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Thin"/>
              </a:rPr>
              <a:t>• Channel breakdown seen as vital, and a </a:t>
            </a:r>
          </a:p>
        </p:txBody>
      </p:sp>
      <p:sp>
        <p:nvSpPr>
          <p:cNvPr id="7" name="TextBox 6"/>
          <p:cNvSpPr txBox="1"/>
          <p:nvPr/>
        </p:nvSpPr>
        <p:spPr>
          <a:xfrm>
            <a:off x="7099301" y="1513127"/>
            <a:ext cx="1408135" cy="236524"/>
          </a:xfrm>
          <a:prstGeom prst="rect">
            <a:avLst/>
          </a:prstGeom>
          <a:noFill/>
        </p:spPr>
        <p:txBody>
          <a:bodyPr wrap="none" lIns="0" tIns="0" rIns="0" bIns="0">
            <a:noAutofit/>
          </a:bodyPr>
          <a:lstStyle/>
          <a:p>
            <a:pPr algn="l"/>
            <a:r>
              <a:rPr sz="1600" dirty="0">
                <a:solidFill>
                  <a:srgbClr val="FFFFFF"/>
                </a:solidFill>
                <a:latin typeface="Helvetica Neue Thin"/>
              </a:rPr>
              <a:t>game changer</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675" y="1857374"/>
            <a:ext cx="10411712" cy="7315963"/>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7416800" y="735582"/>
            <a:ext cx="3023553"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7416800" y="1094027"/>
            <a:ext cx="4788630" cy="236524"/>
          </a:xfrm>
          <a:prstGeom prst="rect">
            <a:avLst/>
          </a:prstGeom>
          <a:noFill/>
        </p:spPr>
        <p:txBody>
          <a:bodyPr wrap="none" lIns="0" tIns="0" rIns="0" bIns="0">
            <a:noAutofit/>
          </a:bodyPr>
          <a:lstStyle/>
          <a:p>
            <a:pPr algn="l"/>
            <a:r>
              <a:rPr sz="1600" dirty="0">
                <a:solidFill>
                  <a:srgbClr val="FFFFFF"/>
                </a:solidFill>
                <a:latin typeface="Helvetica Neue Thin"/>
              </a:rPr>
              <a:t>• Toggling between chart types was seen as useful</a:t>
            </a:r>
          </a:p>
        </p:txBody>
      </p:sp>
      <p:sp>
        <p:nvSpPr>
          <p:cNvPr id="8" name="TextBox 7"/>
          <p:cNvSpPr txBox="1"/>
          <p:nvPr/>
        </p:nvSpPr>
        <p:spPr>
          <a:xfrm>
            <a:off x="7416800" y="1378507"/>
            <a:ext cx="4830980" cy="663244"/>
          </a:xfrm>
          <a:prstGeom prst="rect">
            <a:avLst/>
          </a:prstGeom>
          <a:noFill/>
        </p:spPr>
        <p:txBody>
          <a:bodyPr wrap="square" lIns="0" tIns="0" rIns="0" bIns="0">
            <a:noAutofit/>
          </a:bodyPr>
          <a:lstStyle/>
          <a:p>
            <a:pPr marL="228600" indent="-228600" algn="l">
              <a:lnSpc>
                <a:spcPts val="2800"/>
              </a:lnSpc>
            </a:pPr>
            <a:r>
              <a:rPr sz="1600" dirty="0">
                <a:solidFill>
                  <a:srgbClr val="FFFFFF"/>
                </a:solidFill>
                <a:latin typeface="Helvetica Neue Thin"/>
              </a:rPr>
              <a:t>•	Visualizing scenarios seen as a vital aspect of the tool, with the correct data metrics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Results   AMEX MOCA</a:t>
            </a:r>
          </a:p>
        </p:txBody>
      </p:sp>
      <p:sp>
        <p:nvSpPr>
          <p:cNvPr id="14" name="TextBox 13"/>
          <p:cNvSpPr txBox="1"/>
          <p:nvPr/>
        </p:nvSpPr>
        <p:spPr>
          <a:xfrm>
            <a:off x="457200" y="939800"/>
            <a:ext cx="4014469" cy="476250"/>
          </a:xfrm>
          <a:prstGeom prst="rect">
            <a:avLst/>
          </a:prstGeom>
          <a:noFill/>
        </p:spPr>
        <p:txBody>
          <a:bodyPr wrap="none" lIns="0" tIns="0" rIns="0" bIns="0">
            <a:noAutofit/>
          </a:bodyPr>
          <a:lstStyle/>
          <a:p>
            <a:pPr algn="l"/>
            <a:r>
              <a:rPr sz="3000" dirty="0">
                <a:solidFill>
                  <a:srgbClr val="1F1F1F"/>
                </a:solidFill>
                <a:latin typeface="Helvetica Neue Light"/>
              </a:rPr>
              <a:t>Results of the design</a:t>
            </a:r>
          </a:p>
        </p:txBody>
      </p:sp>
      <p:sp>
        <p:nvSpPr>
          <p:cNvPr id="15" name="TextBox 14"/>
          <p:cNvSpPr txBox="1"/>
          <p:nvPr/>
        </p:nvSpPr>
        <p:spPr>
          <a:xfrm>
            <a:off x="762000" y="1905000"/>
            <a:ext cx="3683000" cy="2540000"/>
          </a:xfrm>
          <a:prstGeom prst="rect">
            <a:avLst/>
          </a:prstGeom>
          <a:noFill/>
        </p:spPr>
        <p:txBody>
          <a:bodyPr wrap="square" lIns="0" tIns="0" rIns="0" bIns="0">
            <a:noAutofit/>
          </a:bodyPr>
          <a:lstStyle/>
          <a:p>
            <a:r>
              <a:rPr sz="1800">
                <a:solidFill>
                  <a:srgbClr val="1F1F1F"/>
                </a:solidFill>
                <a:latin typeface="Helvetica Neue Light"/>
              </a:rPr>
              <a:t>Increased approval ratings</a:t>
            </a:r>
          </a:p>
          <a:p>
            <a:pPr>
              <a:spcBef>
                <a:spcPts val="600"/>
              </a:spcBef>
            </a:pPr>
            <a:r>
              <a:rPr sz="6400">
                <a:solidFill>
                  <a:srgbClr val="1059FF"/>
                </a:solidFill>
                <a:latin typeface="Helvetica Neue Light"/>
              </a:rPr>
              <a:t>88%</a:t>
            </a:r>
          </a:p>
          <a:p>
            <a:pPr>
              <a:spcBef>
                <a:spcPts val="400"/>
              </a:spcBef>
            </a:pPr>
            <a:r>
              <a:rPr sz="1700">
                <a:solidFill>
                  <a:srgbClr val="1F1F1F"/>
                </a:solidFill>
                <a:latin typeface="Helvetica Neue Light"/>
              </a:rPr>
              <a:t>Approval rating from internal business partners</a:t>
            </a:r>
          </a:p>
        </p:txBody>
      </p:sp>
      <p:sp>
        <p:nvSpPr>
          <p:cNvPr id="16" name="TextBox 15"/>
          <p:cNvSpPr txBox="1"/>
          <p:nvPr/>
        </p:nvSpPr>
        <p:spPr>
          <a:xfrm>
            <a:off x="4826000" y="1905000"/>
            <a:ext cx="3683000" cy="2540000"/>
          </a:xfrm>
          <a:prstGeom prst="rect">
            <a:avLst/>
          </a:prstGeom>
          <a:noFill/>
        </p:spPr>
        <p:txBody>
          <a:bodyPr wrap="square" lIns="0" tIns="0" rIns="0" bIns="0">
            <a:noAutofit/>
          </a:bodyPr>
          <a:lstStyle/>
          <a:p>
            <a:r>
              <a:rPr sz="1800">
                <a:solidFill>
                  <a:srgbClr val="1F1F1F"/>
                </a:solidFill>
                <a:latin typeface="Helvetica Neue Light"/>
              </a:rPr>
              <a:t>Lower submission drop-off</a:t>
            </a:r>
          </a:p>
          <a:p>
            <a:pPr>
              <a:spcBef>
                <a:spcPts val="600"/>
              </a:spcBef>
            </a:pPr>
            <a:r>
              <a:rPr sz="6400">
                <a:solidFill>
                  <a:srgbClr val="098791"/>
                </a:solidFill>
                <a:latin typeface="Helvetica Neue Light"/>
              </a:rPr>
              <a:t>3.4%</a:t>
            </a:r>
          </a:p>
          <a:p>
            <a:pPr>
              <a:spcBef>
                <a:spcPts val="400"/>
              </a:spcBef>
            </a:pPr>
            <a:r>
              <a:rPr sz="1700">
                <a:solidFill>
                  <a:srgbClr val="1F1F1F"/>
                </a:solidFill>
                <a:latin typeface="Helvetica Neue Light"/>
              </a:rPr>
              <a:t>Drop-off rate on the new budget tool</a:t>
            </a:r>
          </a:p>
        </p:txBody>
      </p:sp>
      <p:sp>
        <p:nvSpPr>
          <p:cNvPr id="17" name="TextBox 16"/>
          <p:cNvSpPr txBox="1"/>
          <p:nvPr/>
        </p:nvSpPr>
        <p:spPr>
          <a:xfrm>
            <a:off x="8890000" y="1905000"/>
            <a:ext cx="3683000" cy="2540000"/>
          </a:xfrm>
          <a:prstGeom prst="rect">
            <a:avLst/>
          </a:prstGeom>
          <a:noFill/>
        </p:spPr>
        <p:txBody>
          <a:bodyPr wrap="square" lIns="0" tIns="0" rIns="0" bIns="0">
            <a:noAutofit/>
          </a:bodyPr>
          <a:lstStyle/>
          <a:p>
            <a:r>
              <a:rPr sz="1800">
                <a:solidFill>
                  <a:srgbClr val="1F1F1F"/>
                </a:solidFill>
                <a:latin typeface="Helvetica Neue Light"/>
              </a:rPr>
              <a:t>Faster comparison</a:t>
            </a:r>
          </a:p>
          <a:p>
            <a:pPr>
              <a:spcBef>
                <a:spcPts val="600"/>
              </a:spcBef>
            </a:pPr>
            <a:r>
              <a:rPr sz="6400">
                <a:solidFill>
                  <a:srgbClr val="AF00EF"/>
                </a:solidFill>
                <a:latin typeface="Helvetica Neue Light"/>
              </a:rPr>
              <a:t>5 mins</a:t>
            </a:r>
          </a:p>
          <a:p>
            <a:pPr>
              <a:spcBef>
                <a:spcPts val="400"/>
              </a:spcBef>
            </a:pPr>
            <a:r>
              <a:rPr sz="1700">
                <a:solidFill>
                  <a:srgbClr val="1F1F1F"/>
                </a:solidFill>
                <a:latin typeface="Helvetica Neue Light"/>
              </a:rPr>
              <a:t>Average time spent comparing budgets</a:t>
            </a:r>
          </a:p>
        </p:txBody>
      </p:sp>
      <p:sp>
        <p:nvSpPr>
          <p:cNvPr id="18" name="TextBox 17"/>
          <p:cNvSpPr txBox="1"/>
          <p:nvPr/>
        </p:nvSpPr>
        <p:spPr>
          <a:xfrm>
            <a:off x="762000" y="5588000"/>
            <a:ext cx="3683000" cy="2540000"/>
          </a:xfrm>
          <a:prstGeom prst="rect">
            <a:avLst/>
          </a:prstGeom>
          <a:noFill/>
        </p:spPr>
        <p:txBody>
          <a:bodyPr wrap="square" lIns="0" tIns="0" rIns="0" bIns="0">
            <a:noAutofit/>
          </a:bodyPr>
          <a:lstStyle/>
          <a:p>
            <a:r>
              <a:rPr sz="1800">
                <a:solidFill>
                  <a:srgbClr val="1F1F1F"/>
                </a:solidFill>
                <a:latin typeface="Helvetica Neue Light"/>
              </a:rPr>
              <a:t>Shorter submission time</a:t>
            </a:r>
          </a:p>
          <a:p>
            <a:pPr>
              <a:spcBef>
                <a:spcPts val="600"/>
              </a:spcBef>
            </a:pPr>
            <a:r>
              <a:rPr sz="6400">
                <a:solidFill>
                  <a:srgbClr val="AF00EF"/>
                </a:solidFill>
                <a:latin typeface="Helvetica Neue Light"/>
              </a:rPr>
              <a:t>10 mins</a:t>
            </a:r>
          </a:p>
          <a:p>
            <a:pPr>
              <a:spcBef>
                <a:spcPts val="400"/>
              </a:spcBef>
            </a:pPr>
            <a:r>
              <a:rPr sz="1700">
                <a:solidFill>
                  <a:srgbClr val="1F1F1F"/>
                </a:solidFill>
                <a:latin typeface="Helvetica Neue Light"/>
              </a:rPr>
              <a:t>Average time partners need to complete a budget</a:t>
            </a:r>
          </a:p>
        </p:txBody>
      </p:sp>
      <p:sp>
        <p:nvSpPr>
          <p:cNvPr id="19" name="TextBox 18"/>
          <p:cNvSpPr txBox="1"/>
          <p:nvPr/>
        </p:nvSpPr>
        <p:spPr>
          <a:xfrm>
            <a:off x="4826000" y="5588000"/>
            <a:ext cx="3683000" cy="2540000"/>
          </a:xfrm>
          <a:prstGeom prst="rect">
            <a:avLst/>
          </a:prstGeom>
          <a:noFill/>
        </p:spPr>
        <p:txBody>
          <a:bodyPr wrap="square" lIns="0" tIns="0" rIns="0" bIns="0">
            <a:noAutofit/>
          </a:bodyPr>
          <a:lstStyle/>
          <a:p>
            <a:r>
              <a:rPr sz="1800">
                <a:solidFill>
                  <a:srgbClr val="1F1F1F"/>
                </a:solidFill>
                <a:latin typeface="Helvetica Neue Light"/>
              </a:rPr>
              <a:t>Higher budget spending</a:t>
            </a:r>
          </a:p>
          <a:p>
            <a:pPr>
              <a:spcBef>
                <a:spcPts val="600"/>
              </a:spcBef>
            </a:pPr>
            <a:r>
              <a:rPr sz="6400">
                <a:solidFill>
                  <a:srgbClr val="00BC48"/>
                </a:solidFill>
                <a:latin typeface="Helvetica Neue Light"/>
              </a:rPr>
              <a:t>$1.8 mil</a:t>
            </a:r>
          </a:p>
          <a:p>
            <a:pPr>
              <a:spcBef>
                <a:spcPts val="400"/>
              </a:spcBef>
            </a:pPr>
            <a:r>
              <a:rPr sz="1700">
                <a:solidFill>
                  <a:srgbClr val="1F1F1F"/>
                </a:solidFill>
                <a:latin typeface="Helvetica Neue Light"/>
              </a:rPr>
              <a:t>Average client budget</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729851" y="764330"/>
            <a:ext cx="2645072"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4" name="TextBox 3"/>
          <p:cNvSpPr txBox="1"/>
          <p:nvPr/>
        </p:nvSpPr>
        <p:spPr>
          <a:xfrm>
            <a:off x="10098646" y="1168080"/>
            <a:ext cx="1984157" cy="459653"/>
          </a:xfrm>
          <a:prstGeom prst="rect">
            <a:avLst/>
          </a:prstGeom>
          <a:noFill/>
        </p:spPr>
        <p:txBody>
          <a:bodyPr wrap="square" lIns="0" tIns="0" rIns="0" bIns="0">
            <a:noAutofit/>
          </a:bodyPr>
          <a:lstStyle/>
          <a:p>
            <a:pPr algn="r">
              <a:lnSpc>
                <a:spcPts val="1900"/>
              </a:lnSpc>
            </a:pPr>
            <a:r>
              <a:rPr sz="1400" dirty="0">
                <a:solidFill>
                  <a:srgbClr val="404040"/>
                </a:solidFill>
                <a:latin typeface="Helvetica Neue Light"/>
              </a:rPr>
              <a:t>646 436 2876 michaelthbd@yahoo.com</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 Agent flows on 07-, full experience on 08-.</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whole experience, end to end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Entry, the five tabs, monitoring, Adapt, the trade flow, the learning loop, and the states. Proposal, mock data.</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pic>
        <p:nvPicPr>
          <p:cNvPr id="6" name="Image 1" descr="/tmp/meridian-deck/img/full-experience.png">    </p:cNvPr>
          <p:cNvPicPr>
            <a:picLocks noChangeAspect="1"/>
          </p:cNvPicPr>
          <p:nvPr/>
        </p:nvPicPr>
        <p:blipFill>
          <a:blip r:embed="rId3"/>
          <a:stretch>
            <a:fillRect/>
          </a:stretch>
        </p:blipFill>
        <p:spPr>
          <a:xfrm>
            <a:off x="457200" y="2194560"/>
            <a:ext cx="12070080" cy="5956663"/>
          </a:xfrm>
          <a:prstGeom prst="rect">
            <a:avLst/>
          </a:prstGeom>
        </p:spPr>
      </p:pic>
      <p:sp>
        <p:nvSpPr>
          <p:cNvPr id="7" name="Text 3"/>
          <p:cNvSpPr txBox="1"/>
          <p:nvPr/>
        </p:nvSpPr>
        <p:spPr>
          <a:xfrm>
            <a:off x="457200" y="8425543"/>
            <a:ext cx="12070080" cy="4572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Nothing trades unless the user approves, or has set Act within limits. Learned rules are visible and reversible.</a:t>
            </a:r>
            <a:endParaRPr lang="en-US" sz="1500" dirty="0"/>
          </a:p>
        </p:txBody>
      </p:sp>
      <p:pic>
        <p:nvPicPr>
          <p:cNvPr id="8"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wireframe pages: states, agent, and full experience (mock data)</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three wireframe pages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Replace Adapt buy and sell wording with proposed-step language, then schedule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
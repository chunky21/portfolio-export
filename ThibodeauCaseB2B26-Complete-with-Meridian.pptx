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3"/>
  </p:notesMasterIdLst>
  <p:sldIdLst>
    <p:sldId id="256" r:id="rId2"/>
    <p:sldId id="336" r:id="rId3"/>
    <p:sldId id="337" r:id="rId4"/>
    <p:sldId id="338" r:id="rId5"/>
    <p:sldId id="339" r:id="rId6"/>
    <p:sldId id="340" r:id="rId7"/>
    <p:sldId id="341" r:id="rId8"/>
    <p:sldId id="342" r:id="rId9"/>
    <p:sldId id="443" r:id="rId194"/>
    <p:sldId id="343" r:id="rId10"/>
    <p:sldId id="344" r:id="rId11"/>
    <p:sldId id="345" r:id="rId12"/>
    <p:sldId id="346" r:id="rId13"/>
    <p:sldId id="347" r:id="rId14"/>
    <p:sldId id="348" r:id="rId15"/>
    <p:sldId id="351" r:id="rId16"/>
    <p:sldId id="349" r:id="rId17"/>
    <p:sldId id="350" r:id="rId18"/>
    <p:sldId id="352" r:id="rId20"/>
    <p:sldId id="353" r:id="rId21"/>
    <p:sldId id="354" r:id="rId22"/>
    <p:sldId id="355" r:id="rId23"/>
    <p:sldId id="356" r:id="rId24"/>
    <p:sldId id="357" r:id="rId25"/>
    <p:sldId id="358" r:id="rId26"/>
    <p:sldId id="359" r:id="rId27"/>
    <p:sldId id="360" r:id="rId28"/>
    <p:sldId id="361" r:id="rId29"/>
    <p:sldId id="362" r:id="rId30"/>
    <p:sldId id="363" r:id="rId31"/>
    <p:sldId id="364" r:id="rId32"/>
    <p:sldId id="365" r:id="rId33"/>
    <p:sldId id="366" r:id="rId34"/>
    <p:sldId id="367" r:id="rId35"/>
    <p:sldId id="368" r:id="rId19"/>
    <p:sldId id="369" r:id="rId36"/>
    <p:sldId id="370" r:id="rId37"/>
    <p:sldId id="371" r:id="rId38"/>
    <p:sldId id="372" r:id="rId39"/>
    <p:sldId id="373" r:id="rId40"/>
    <p:sldId id="374" r:id="rId41"/>
    <p:sldId id="375" r:id="rId42"/>
    <p:sldId id="376" r:id="rId43"/>
    <p:sldId id="377" r:id="rId44"/>
    <p:sldId id="378" r:id="rId45"/>
    <p:sldId id="379" r:id="rId46"/>
    <p:sldId id="380" r:id="rId47"/>
    <p:sldId id="381" r:id="rId48"/>
    <p:sldId id="382" r:id="rId49"/>
    <p:sldId id="383" r:id="rId50"/>
    <p:sldId id="384" r:id="rId51"/>
    <p:sldId id="385" r:id="rId52"/>
    <p:sldId id="386" r:id="rId53"/>
    <p:sldId id="387" r:id="rId54"/>
    <p:sldId id="388" r:id="rId55"/>
    <p:sldId id="389" r:id="rId56"/>
    <p:sldId id="390" r:id="rId57"/>
    <p:sldId id="391" r:id="rId58"/>
    <p:sldId id="392" r:id="rId59"/>
    <p:sldId id="393" r:id="rId60"/>
    <p:sldId id="394" r:id="rId61"/>
    <p:sldId id="395" r:id="rId62"/>
    <p:sldId id="396" r:id="rId63"/>
    <p:sldId id="397" r:id="rId64"/>
    <p:sldId id="398" r:id="rId65"/>
    <p:sldId id="399" r:id="rId66"/>
    <p:sldId id="400" r:id="rId67"/>
    <p:sldId id="401" r:id="rId68"/>
    <p:sldId id="402" r:id="rId69"/>
    <p:sldId id="403" r:id="rId70"/>
    <p:sldId id="404" r:id="rId71"/>
    <p:sldId id="405" r:id="rId72"/>
    <p:sldId id="406" r:id="rId73"/>
    <p:sldId id="407" r:id="rId74"/>
    <p:sldId id="408" r:id="rId75"/>
    <p:sldId id="409" r:id="rId76"/>
    <p:sldId id="410" r:id="rId77"/>
    <p:sldId id="411" r:id="rId78"/>
    <p:sldId id="412" r:id="rId79"/>
    <p:sldId id="413" r:id="rId80"/>
    <p:sldId id="414" r:id="rId81"/>
    <p:sldId id="415" r:id="rId82"/>
    <p:sldId id="416" r:id="rId83"/>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313" r:id="rId140"/>
    <p:sldId id="314" r:id="rId141"/>
    <p:sldId id="315" r:id="rId142"/>
    <p:sldId id="316" r:id="rId143"/>
    <p:sldId id="317" r:id="rId144"/>
    <p:sldId id="318" r:id="rId145"/>
    <p:sldId id="319" r:id="rId146"/>
    <p:sldId id="320" r:id="rId147"/>
    <p:sldId id="321" r:id="rId148"/>
    <p:sldId id="322" r:id="rId149"/>
    <p:sldId id="323" r:id="rId150"/>
    <p:sldId id="324" r:id="rId151"/>
    <p:sldId id="325" r:id="rId152"/>
    <p:sldId id="326" r:id="rId153"/>
    <p:sldId id="327" r:id="rId154"/>
    <p:sldId id="328" r:id="rId155"/>
    <p:sldId id="329" r:id="rId156"/>
    <p:sldId id="330" r:id="rId157"/>
    <p:sldId id="331" r:id="rId158"/>
    <p:sldId id="332" r:id="rId159"/>
    <p:sldId id="333" r:id="rId160"/>
    <p:sldId id="334" r:id="rId161"/>
    <p:sldId id="257" r:id="rId84"/>
    <p:sldId id="258" r:id="rId85"/>
    <p:sldId id="259" r:id="rId86"/>
    <p:sldId id="260" r:id="rId87"/>
    <p:sldId id="261" r:id="rId88"/>
    <p:sldId id="262" r:id="rId89"/>
    <p:sldId id="263" r:id="rId90"/>
    <p:sldId id="264" r:id="rId91"/>
    <p:sldId id="265" r:id="rId92"/>
    <p:sldId id="266" r:id="rId93"/>
    <p:sldId id="267" r:id="rId94"/>
    <p:sldId id="268" r:id="rId95"/>
    <p:sldId id="269" r:id="rId96"/>
    <p:sldId id="270" r:id="rId97"/>
    <p:sldId id="271" r:id="rId98"/>
    <p:sldId id="272" r:id="rId99"/>
    <p:sldId id="273" r:id="rId100"/>
    <p:sldId id="274" r:id="rId101"/>
    <p:sldId id="275" r:id="rId102"/>
    <p:sldId id="276" r:id="rId103"/>
    <p:sldId id="277" r:id="rId104"/>
    <p:sldId id="278" r:id="rId105"/>
    <p:sldId id="279" r:id="rId106"/>
    <p:sldId id="280" r:id="rId107"/>
    <p:sldId id="281" r:id="rId108"/>
    <p:sldId id="282" r:id="rId109"/>
    <p:sldId id="283" r:id="rId110"/>
    <p:sldId id="284" r:id="rId111"/>
    <p:sldId id="285" r:id="rId112"/>
    <p:sldId id="286" r:id="rId113"/>
    <p:sldId id="287" r:id="rId114"/>
    <p:sldId id="288" r:id="rId115"/>
    <p:sldId id="289" r:id="rId116"/>
    <p:sldId id="290" r:id="rId117"/>
    <p:sldId id="291" r:id="rId118"/>
    <p:sldId id="292" r:id="rId119"/>
    <p:sldId id="293" r:id="rId120"/>
    <p:sldId id="294" r:id="rId121"/>
    <p:sldId id="309" r:id="rId136"/>
    <p:sldId id="295" r:id="rId122"/>
    <p:sldId id="296" r:id="rId123"/>
    <p:sldId id="297" r:id="rId124"/>
    <p:sldId id="298" r:id="rId125"/>
    <p:sldId id="299" r:id="rId126"/>
    <p:sldId id="300" r:id="rId127"/>
    <p:sldId id="301" r:id="rId128"/>
    <p:sldId id="302" r:id="rId129"/>
    <p:sldId id="303" r:id="rId130"/>
    <p:sldId id="304" r:id="rId131"/>
    <p:sldId id="305" r:id="rId132"/>
    <p:sldId id="306" r:id="rId133"/>
    <p:sldId id="307" r:id="rId134"/>
    <p:sldId id="308" r:id="rId135"/>
    <p:sldId id="310" r:id="rId137"/>
    <p:sldId id="311" r:id="rId138"/>
    <p:sldId id="312" r:id="rId139"/>
    <p:sldId id="335" r:id="rId162"/>
  </p:sldIdLst>
  <p:sldSz cx="13004800" cy="9753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63"/>
    <p:restoredTop sz="94658"/>
  </p:normalViewPr>
  <p:slideViewPr>
    <p:cSldViewPr snapToGrid="0" snapToObjects="1">
      <p:cViewPr varScale="1">
        <p:scale>
          <a:sx n="84" d="100"/>
          <a:sy n="84" d="100"/>
        </p:scale>
        <p:origin x="2056"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34.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105.xml"/><Relationship Id="rId85" Type="http://schemas.openxmlformats.org/officeDocument/2006/relationships/slide" Target="slides/slide106.xml"/><Relationship Id="rId86" Type="http://schemas.openxmlformats.org/officeDocument/2006/relationships/slide" Target="slides/slide107.xml"/><Relationship Id="rId87" Type="http://schemas.openxmlformats.org/officeDocument/2006/relationships/slide" Target="slides/slide108.xml"/><Relationship Id="rId88" Type="http://schemas.openxmlformats.org/officeDocument/2006/relationships/slide" Target="slides/slide109.xml"/><Relationship Id="rId89" Type="http://schemas.openxmlformats.org/officeDocument/2006/relationships/slide" Target="slides/slide110.xml"/><Relationship Id="rId90" Type="http://schemas.openxmlformats.org/officeDocument/2006/relationships/slide" Target="slides/slide111.xml"/><Relationship Id="rId91" Type="http://schemas.openxmlformats.org/officeDocument/2006/relationships/slide" Target="slides/slide112.xml"/><Relationship Id="rId92" Type="http://schemas.openxmlformats.org/officeDocument/2006/relationships/slide" Target="slides/slide113.xml"/><Relationship Id="rId93" Type="http://schemas.openxmlformats.org/officeDocument/2006/relationships/slide" Target="slides/slide114.xml"/><Relationship Id="rId94" Type="http://schemas.openxmlformats.org/officeDocument/2006/relationships/slide" Target="slides/slide115.xml"/><Relationship Id="rId95" Type="http://schemas.openxmlformats.org/officeDocument/2006/relationships/slide" Target="slides/slide116.xml"/><Relationship Id="rId96" Type="http://schemas.openxmlformats.org/officeDocument/2006/relationships/slide" Target="slides/slide117.xml"/><Relationship Id="rId97" Type="http://schemas.openxmlformats.org/officeDocument/2006/relationships/slide" Target="slides/slide118.xml"/><Relationship Id="rId98" Type="http://schemas.openxmlformats.org/officeDocument/2006/relationships/slide" Target="slides/slide119.xml"/><Relationship Id="rId99" Type="http://schemas.openxmlformats.org/officeDocument/2006/relationships/slide" Target="slides/slide120.xml"/><Relationship Id="rId100" Type="http://schemas.openxmlformats.org/officeDocument/2006/relationships/slide" Target="slides/slide121.xml"/><Relationship Id="rId101" Type="http://schemas.openxmlformats.org/officeDocument/2006/relationships/slide" Target="slides/slide122.xml"/><Relationship Id="rId102" Type="http://schemas.openxmlformats.org/officeDocument/2006/relationships/slide" Target="slides/slide123.xml"/><Relationship Id="rId103" Type="http://schemas.openxmlformats.org/officeDocument/2006/relationships/slide" Target="slides/slide124.xml"/><Relationship Id="rId104" Type="http://schemas.openxmlformats.org/officeDocument/2006/relationships/slide" Target="slides/slide125.xml"/><Relationship Id="rId105" Type="http://schemas.openxmlformats.org/officeDocument/2006/relationships/slide" Target="slides/slide126.xml"/><Relationship Id="rId106" Type="http://schemas.openxmlformats.org/officeDocument/2006/relationships/slide" Target="slides/slide127.xml"/><Relationship Id="rId107" Type="http://schemas.openxmlformats.org/officeDocument/2006/relationships/slide" Target="slides/slide128.xml"/><Relationship Id="rId108" Type="http://schemas.openxmlformats.org/officeDocument/2006/relationships/slide" Target="slides/slide129.xml"/><Relationship Id="rId109" Type="http://schemas.openxmlformats.org/officeDocument/2006/relationships/slide" Target="slides/slide130.xml"/><Relationship Id="rId110" Type="http://schemas.openxmlformats.org/officeDocument/2006/relationships/slide" Target="slides/slide131.xml"/><Relationship Id="rId111" Type="http://schemas.openxmlformats.org/officeDocument/2006/relationships/slide" Target="slides/slide132.xml"/><Relationship Id="rId112" Type="http://schemas.openxmlformats.org/officeDocument/2006/relationships/slide" Target="slides/slide133.xml"/><Relationship Id="rId113" Type="http://schemas.openxmlformats.org/officeDocument/2006/relationships/slide" Target="slides/slide134.xml"/><Relationship Id="rId114" Type="http://schemas.openxmlformats.org/officeDocument/2006/relationships/slide" Target="slides/slide135.xml"/><Relationship Id="rId115" Type="http://schemas.openxmlformats.org/officeDocument/2006/relationships/slide" Target="slides/slide136.xml"/><Relationship Id="rId116" Type="http://schemas.openxmlformats.org/officeDocument/2006/relationships/slide" Target="slides/slide137.xml"/><Relationship Id="rId117" Type="http://schemas.openxmlformats.org/officeDocument/2006/relationships/slide" Target="slides/slide138.xml"/><Relationship Id="rId118" Type="http://schemas.openxmlformats.org/officeDocument/2006/relationships/slide" Target="slides/slide139.xml"/><Relationship Id="rId119" Type="http://schemas.openxmlformats.org/officeDocument/2006/relationships/slide" Target="slides/slide140.xml"/><Relationship Id="rId120" Type="http://schemas.openxmlformats.org/officeDocument/2006/relationships/slide" Target="slides/slide141.xml"/><Relationship Id="rId121" Type="http://schemas.openxmlformats.org/officeDocument/2006/relationships/slide" Target="slides/slide142.xml"/><Relationship Id="rId122" Type="http://schemas.openxmlformats.org/officeDocument/2006/relationships/slide" Target="slides/slide144.xml"/><Relationship Id="rId123" Type="http://schemas.openxmlformats.org/officeDocument/2006/relationships/slide" Target="slides/slide145.xml"/><Relationship Id="rId124" Type="http://schemas.openxmlformats.org/officeDocument/2006/relationships/slide" Target="slides/slide146.xml"/><Relationship Id="rId125" Type="http://schemas.openxmlformats.org/officeDocument/2006/relationships/slide" Target="slides/slide147.xml"/><Relationship Id="rId126" Type="http://schemas.openxmlformats.org/officeDocument/2006/relationships/slide" Target="slides/slide148.xml"/><Relationship Id="rId127" Type="http://schemas.openxmlformats.org/officeDocument/2006/relationships/slide" Target="slides/slide149.xml"/><Relationship Id="rId128" Type="http://schemas.openxmlformats.org/officeDocument/2006/relationships/slide" Target="slides/slide150.xml"/><Relationship Id="rId129" Type="http://schemas.openxmlformats.org/officeDocument/2006/relationships/slide" Target="slides/slide151.xml"/><Relationship Id="rId130" Type="http://schemas.openxmlformats.org/officeDocument/2006/relationships/slide" Target="slides/slide152.xml"/><Relationship Id="rId131" Type="http://schemas.openxmlformats.org/officeDocument/2006/relationships/slide" Target="slides/slide153.xml"/><Relationship Id="rId132" Type="http://schemas.openxmlformats.org/officeDocument/2006/relationships/slide" Target="slides/slide154.xml"/><Relationship Id="rId133" Type="http://schemas.openxmlformats.org/officeDocument/2006/relationships/slide" Target="slides/slide155.xml"/><Relationship Id="rId134" Type="http://schemas.openxmlformats.org/officeDocument/2006/relationships/slide" Target="slides/slide156.xml"/><Relationship Id="rId135" Type="http://schemas.openxmlformats.org/officeDocument/2006/relationships/slide" Target="slides/slide157.xml"/><Relationship Id="rId136" Type="http://schemas.openxmlformats.org/officeDocument/2006/relationships/slide" Target="slides/slide143.xml"/><Relationship Id="rId137" Type="http://schemas.openxmlformats.org/officeDocument/2006/relationships/slide" Target="slides/slide158.xml"/><Relationship Id="rId138" Type="http://schemas.openxmlformats.org/officeDocument/2006/relationships/slide" Target="slides/slide159.xml"/><Relationship Id="rId139" Type="http://schemas.openxmlformats.org/officeDocument/2006/relationships/slide" Target="slides/slide160.xml"/><Relationship Id="rId140" Type="http://schemas.openxmlformats.org/officeDocument/2006/relationships/slide" Target="slides/slide83.xml"/><Relationship Id="rId141" Type="http://schemas.openxmlformats.org/officeDocument/2006/relationships/slide" Target="slides/slide84.xml"/><Relationship Id="rId142" Type="http://schemas.openxmlformats.org/officeDocument/2006/relationships/slide" Target="slides/slide85.xml"/><Relationship Id="rId143" Type="http://schemas.openxmlformats.org/officeDocument/2006/relationships/slide" Target="slides/slide86.xml"/><Relationship Id="rId144" Type="http://schemas.openxmlformats.org/officeDocument/2006/relationships/slide" Target="slides/slide87.xml"/><Relationship Id="rId145" Type="http://schemas.openxmlformats.org/officeDocument/2006/relationships/slide" Target="slides/slide88.xml"/><Relationship Id="rId146" Type="http://schemas.openxmlformats.org/officeDocument/2006/relationships/slide" Target="slides/slide89.xml"/><Relationship Id="rId147" Type="http://schemas.openxmlformats.org/officeDocument/2006/relationships/slide" Target="slides/slide90.xml"/><Relationship Id="rId148" Type="http://schemas.openxmlformats.org/officeDocument/2006/relationships/slide" Target="slides/slide91.xml"/><Relationship Id="rId149" Type="http://schemas.openxmlformats.org/officeDocument/2006/relationships/slide" Target="slides/slide92.xml"/><Relationship Id="rId150" Type="http://schemas.openxmlformats.org/officeDocument/2006/relationships/slide" Target="slides/slide93.xml"/><Relationship Id="rId151" Type="http://schemas.openxmlformats.org/officeDocument/2006/relationships/slide" Target="slides/slide94.xml"/><Relationship Id="rId152" Type="http://schemas.openxmlformats.org/officeDocument/2006/relationships/slide" Target="slides/slide95.xml"/><Relationship Id="rId153" Type="http://schemas.openxmlformats.org/officeDocument/2006/relationships/slide" Target="slides/slide96.xml"/><Relationship Id="rId154" Type="http://schemas.openxmlformats.org/officeDocument/2006/relationships/slide" Target="slides/slide97.xml"/><Relationship Id="rId155" Type="http://schemas.openxmlformats.org/officeDocument/2006/relationships/slide" Target="slides/slide98.xml"/><Relationship Id="rId156" Type="http://schemas.openxmlformats.org/officeDocument/2006/relationships/slide" Target="slides/slide99.xml"/><Relationship Id="rId157" Type="http://schemas.openxmlformats.org/officeDocument/2006/relationships/slide" Target="slides/slide100.xml"/><Relationship Id="rId158" Type="http://schemas.openxmlformats.org/officeDocument/2006/relationships/slide" Target="slides/slide101.xml"/><Relationship Id="rId159" Type="http://schemas.openxmlformats.org/officeDocument/2006/relationships/slide" Target="slides/slide102.xml"/><Relationship Id="rId160" Type="http://schemas.openxmlformats.org/officeDocument/2006/relationships/slide" Target="slides/slide103.xml"/><Relationship Id="rId161" Type="http://schemas.openxmlformats.org/officeDocument/2006/relationships/slide" Target="slides/slide104.xml"/><Relationship Id="rId162" Type="http://schemas.openxmlformats.org/officeDocument/2006/relationships/slide" Target="slides/slide161.xml"/><Relationship Id="rId163" Type="http://schemas.openxmlformats.org/officeDocument/2006/relationships/notesMaster" Target="notesMasters/notesMaster1.xml"/><Relationship Id="rId164" Type="http://schemas.openxmlformats.org/officeDocument/2006/relationships/presProps" Target="presProps.xml"/><Relationship Id="rId165" Type="http://schemas.openxmlformats.org/officeDocument/2006/relationships/viewProps" Target="viewProps.xml"/><Relationship Id="rId166" Type="http://schemas.openxmlformats.org/officeDocument/2006/relationships/theme" Target="theme/theme1.xml"/><Relationship Id="rId167" Type="http://schemas.openxmlformats.org/officeDocument/2006/relationships/tableStyles" Target="tableStyles.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164DF-5A26-5349-97CB-5F6E935D3C02}" type="datetimeFigureOut">
              <a:rPr lang="en-US" smtClean="0"/>
              <a:t>10/7/26</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8DF791-86A3-344B-9231-BE94FBB68C8C}" type="slidenum">
              <a:rPr lang="en-US" smtClean="0"/>
              <a:t>‹#›</a:t>
            </a:fld>
            <a:endParaRPr lang="en-US" dirty="0"/>
          </a:p>
        </p:txBody>
      </p:sp>
    </p:spTree>
    <p:extLst>
      <p:ext uri="{BB962C8B-B14F-4D97-AF65-F5344CB8AC3E}">
        <p14:creationId xmlns:p14="http://schemas.microsoft.com/office/powerpoint/2010/main" val="1940441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Opener in the portfolio format. Concept-stage work; screens are illustrative with fictional tickers. The quote paraphrases reviewer point R3 from the 30 Sept design review.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[open] Meet Gary. He swing trades, and he has a day job. He finds ideas at night, can't watch the market from 9:30 to 4, and too often misses the moment a stock does exactly what he was waiting for. Today, a FinViz screen is something he visits. By morning, it's forgotten.</a:t>
            </a:r>
          </a:p>
          <a:p>
            <a:endParaRPr/>
          </a:p>
          <a:p>
            <a:r>
              <a:t>This is what changes when FinViz keeps watch for him.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introduction page of the other case studies: what it is, target audience, problems, my role. Confirm the team description.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Course brief summarized in Research-Notes/Course-Design-Brief.md (all 🔶 case-brief facts). Live-site facts win for the real product, e.g. 7-day card trial vs the brief’s 30-day money-back.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from FINVIZ-CONTEXT (verified on the live site): 89 filter dropdowns, 87 with Custom as Elite-only, no generative AI. 42 → 21 days is the case-brief goal. Quote paraphrases reviewer point R5.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Current state, from screenshots taken Oct 4 2026. The Weekend Brief appears AI-generated but is not labelled as AI.</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pain register (03c), P1, P9, P5, P3, P2, P10, P13: 27 pains in total, scored urgency × business impact.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[open] Meet Gary. He swing trades, and he has a day job. He finds ideas at night, can't watch the market from 9:30 to 4, and too often misses the moment a stock does exactly what he was waiting for. Today, a FinViz screen is something he visits. By morning, it's forgotten.</a:t>
            </a:r>
          </a:p>
          <a:p>
            <a:endParaRPr/>
          </a:p>
          <a:p>
            <a:r>
              <a:t>This is what changes when FinViz keeps watch for him.</a:t>
            </a:r>
          </a:p>
          <a:p>
            <a:endParaRPr/>
          </a:p>
          <a:p>
            <a:r>
              <a:t>— Production notes —</a:t>
            </a:r>
          </a:p>
          <a:p>
            <a:r>
              <a:t>The one workflow this case study showcases: The Trading Day. Everything else in the deck either explains why (research), how it was led (leadership) or how it works (design).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WALKTHROUGH (5–7 min) · From market noise to a focused next step</a:t>
            </a:r>
          </a:p>
          <a:p>
            <a:r>
              <a:t>Positioning: AI is a contextual research and monitoring assistant, not a chat window. Monitoring and explanation are automatic; changes to preferences or layouts need approval; trading stays outside the agent's role.</a:t>
            </a:r>
          </a:p>
          <a:p>
            <a:endParaRPr/>
          </a:p>
          <a:p>
            <a:r>
              <a:t>[1 Morning · DB1] It's 7:45. Gary doesn't need another feed of headlines; he needs to know what changed for the names he follows. FinViz keeps the familiar context (futures, breadth, heatmap) but puts three findings first: DOCN is trading below its 50-day moving average before the open, so one of his saved reasons is at risk; QLYS reports after the close; semiconductor weakness may matter because RMBS is on his shortlist. Each has a source, a reliability label and somewhere to investigate.</a:t>
            </a:r>
          </a:p>
          <a:p>
            <a:endParaRPr/>
          </a:p>
          <a:p>
            <a:r>
              <a:t>[2 Investigating · DB2] He opens the semiconductor finding: measured moves, number of stocks, quote time, the Reuters report. His exposure is separated from the industry move: RMBS is up 1.1% on its own news while the industry falls 2.1%. FinViz measures the move; it attributes a cause only when a source supports it, otherwise "No reported cause". Research support, not a prediction or a trade recommendation.</a:t>
            </a:r>
          </a:p>
          <a:p>
            <a:endParaRPr/>
          </a:p>
          <a:p>
            <a:r>
              <a:t>[3 Refining · DB2] The move is too small to be useful to him. FinViz asks why and previews a change (only industry moves &gt; 3%; about two fewer cards a week). He applies or cancels. Borderline signals stay on the board without pushing. Reduce interruption, don't manufacture urgency.</a:t>
            </a:r>
          </a:p>
          <a:p>
            <a:endParaRPr/>
          </a:p>
          <a:p>
            <a:r>
              <a:t>[4 After the close · DB3] Technology is 46% of the portfolio, six points above his 40% target and outside his band; the cause is RMBS +18.4% this month. FinViz explains where he differs from his own plan; it doesn't rebalance or turn that into a trade instruction.</a:t>
            </a:r>
          </a:p>
          <a:p>
            <a:endParaRPr/>
          </a:p>
          <a:p>
            <a:r>
              <a:t>[5 Advisor · DB4] Mike manages 54 portfolios: 6 crossed one of his limits, 48 are within them. He starts with an exception queue; each shows evidence and when it appeared; uncertainty stays visible. Acknowledging records review, not resolution.</a:t>
            </a:r>
          </a:p>
          <a:p>
            <a:endParaRPr/>
          </a:p>
          <a:p>
            <a:r>
              <a:t>[6 Personalization · DB5] FinViz notices habits and offers to pin or hide cards, says why, and asks. "No thanks" is remembered; changes are reversible.</a:t>
            </a:r>
          </a:p>
          <a:p>
            <a:endParaRPr/>
          </a:p>
          <a:p>
            <a:r>
              <a:t>[Closing] AI has three jobs: notice relevant changes, explain them with evidence, keep a focused workflow. Sources, timestamps, uncertainty and approval are part of the experience. The user stays in control of criteria, attention and decisions.</a:t>
            </a:r>
          </a:p>
          <a:p>
            <a:endParaRPr/>
          </a:p>
          <a:p>
            <a:r>
              <a:t>Before presenting: conceptual screens with synthetic data; reliability labels describe the evidence, not investment performance; the "Ask about…" entry points are proposed.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Proposed agent entry points from the walkthrough narrative. Dashed rows = not yet designed; present as future additions, separate from the AI already shown.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[OW1] Gary doesn't start with 89 dropdowns or a chat box. He pastes three stocks he already likes. FinViz's AI works out what they have in common, and the result is real filter chips he can edit, with a live count. AI learns from his examples. It doesn't make him write a query.</a:t>
            </a:r>
          </a:p>
          <a:p>
            <a:endParaRPr/>
          </a:p>
          <a:p>
            <a:r>
              <a:t>[OW2] He opens his saved screen. The new names are at the top, and every row shows which of his criteria it meets, or how close it came. The "why it matched" comes from real values, never a score.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[CL1] Then the part that used to take an hour. FinViz reads his 30 charts at once and ranks them by how close each one is to his setup: "0.3% above support. Hammer at support." The AI looks at the charts first, so he doesn't have to.</a:t>
            </a:r>
          </a:p>
          <a:p>
            <a:endParaRPr/>
          </a:p>
          <a:p>
            <a:r>
              <a:t>[CL2] He picks three. The crosshairs are linked. Volume is measured against each stock's own normal, so he can see that the breakout has volume behind it.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[OW3] He pins three names. His reasons come with them, his own note too, and he drags an "out if" line straight onto the chart. The product remembers why he picked each one.</a:t>
            </a:r>
          </a:p>
          <a:p>
            <a:endParaRPr/>
          </a:p>
          <a:p>
            <a:r>
              <a:t>[OW4] One tap. Before he commits, FinViz replays the last 30 days: "Your criteria would have fired 4 times." He drags the noise dial and the timeline redraws. He sees what he'll get before he signs up for it. His 7-day Elite trial starts here, because this is the moment the value is obvious.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[OW4] One tap. Before he commits, FinViz replays the last 30 days: "Your criteria would have fired 4 times." He drags the noise dial and the timeline redraws. He sees what he'll get before he signs up for it. His 7-day Elite trial starts here, because this is the moment the value is obvious.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[OW5] Gary is asleep, and FinViz watches his three names and nothing else. At 7:30, a note he can read in 30 seconds: RMBS is up before the open on product news, with the source. QLYS reports tonight. DOCN is trading below its 50-day average before the open, so one of his three reasons is at risk. A tightly scoped AI agent, every line sourced.</a:t>
            </a:r>
          </a:p>
          <a:p>
            <a:endParaRPr/>
          </a:p>
          <a:p>
            <a:r>
              <a:t>[CL4] His chart setups show up too, but only the clear ones. Tap "Why?" and he sees what FinViz measured: wick 2.6 times the body, at support, volume 2.4 times its norm. When it isn't sure, it says so. Reliable by design: measurements, not confidence scores.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[CL4] His chart setups show up too, but only the clear ones. Tap "Why?" and he sees what FinViz measured: wick 2.6 times the body, at support, volume 2.4 times its norm. When it isn't sure, it says so. Reliable by design: measurements, not confidence scores.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[DB1] When Gary sits down, the board he keeps open isn't a page of data. At the top are three findings that need him, each one sourced: a DOCN reason at risk, QLYS reports tonight, and semis are down after NVDA's results, with RMBS in that group. Insights, not widgets.</a:t>
            </a:r>
          </a:p>
          <a:p>
            <a:endParaRPr/>
          </a:p>
          <a:p>
            <a:r>
              <a:t>[DB2] He opens one: the evidence, the source, the data time, and how sure FinViz is. If it isn't useful he says so, and FinViz shows what that will change before it changes anything.</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[DB1] When Gary sits down, the board he keeps open isn't a page of data. At the top are three findings that need him, each one sourced: a DOCN reason at risk, QLYS reports tonight, and semis are down after NVDA's results, with RMBS in that group. Insights, not widgets.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[OW6] Gary is at work, and FinViz stays quiet. At 10:14, one alert: "RMBS met your criteria: Rel Vol 2.9, your threshold 1.5." That's the only interruption all day.</a:t>
            </a:r>
          </a:p>
          <a:p>
            <a:endParaRPr/>
          </a:p>
          <a:p>
            <a:r>
              <a:t>[AN7] It came too early, so he taps "This was wrong" and gives the reason. FinViz proposes a tighter rule and shows him the replay: 4 alerts become 2, and the ones he acted on are kept. Nothing changes until he applies it. The AI learns from his corrections, in the open.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[AN7] It came too early, so he taps "This was wrong" and gives the reason. FinViz proposes a tighter rule and shows him the replay: 4 alerts become 2, and the ones he acted on are kept. Nothing changes until he applies it. The AI learns from his corrections, in the open.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[TD1] At lunch, one page: his shortlist, the day's one alert, what was held back, and what needs a decision. Silence means FinViz checked, not that something broke.</a:t>
            </a:r>
          </a:p>
          <a:p>
            <a:endParaRPr/>
          </a:p>
          <a:p>
            <a:r>
              <a:t>[OW7] After the close, a checklist that ticks itself. RMBS and QLYS: all reasons hold. DOCN: two of three. FinViz shows what changed and when. It checks his reasons. It doesn't give advice. Hold or exit is Gary's call, made in his own broker. FinViz never places a trade.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[OW7] After the close, a checklist that ticks itself. RMBS and QLYS: all reasons hold. DOCN: two of three. FinViz shows what changed and when. It checks his reasons. It doesn't give advice. Hold or exit is Gary's call, made in his own broker. FinViz never places a trade.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[DB3] His portfolio, measured against his own plan: tech is 6 points over his target, mostly because RMBS ran 18% this month. A fact, not an instruction. FinViz never rebalances.</a:t>
            </a:r>
          </a:p>
          <a:p>
            <a:endParaRPr/>
          </a:p>
          <a:p>
            <a:r>
              <a:t>[CL3] The same chart setup, run across all 12 of his holdings. Facts per holding, and what changed this week. No ratings.</a:t>
            </a:r>
          </a:p>
          <a:p>
            <a:endParaRPr/>
          </a:p>
          <a:p>
            <a:r>
              <a:t>[AN9] Everything FinViz sent and changed, and everything Gary changed, all in one log. Purple marks the AI's actions. Every change can be undone.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[AN8] Six alerts fired and he acted on four. FinViz suggests tightening one, loosening one and retiring one, each with a preview. He accepts or skips.</a:t>
            </a:r>
          </a:p>
          <a:p>
            <a:endParaRPr/>
          </a:p>
          <a:p>
            <a:r>
              <a:t>[DB5] And the board learns what he actually uses. It asks once before adding anything, and every change can be undone.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[DB4] For an advisor running 54 portfolios, the same idea scales: the 6 that crossed one of his limits, each with evidence. The other 48 are one line.</a:t>
            </a:r>
          </a:p>
          <a:p>
            <a:endParaRPr/>
          </a:p>
          <a:p>
            <a:r>
              <a:t>[close] That's the whole trading day, built mostly on what FinViz already has: the screener, pattern signals, alerts and the earnings calendar. What's new is that FinViz remembers why Gary picked a stock, and watches it on his schedule.</a:t>
            </a:r>
          </a:p>
          <a:p>
            <a:endParaRPr/>
          </a:p>
          <a:p>
            <a:r>
              <a:t>The AI does the watching and the explaining. Gary makes every decision.</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Crimson = design lead checkpoints; violet = AI. The workflow I ran for this project.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reflection; edit to match how I'd say it in an interview.</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Simplified Trading Day workflow. Purple ✦ marks what the AI does; the trader row is every human decision.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Watch = the concept name for the seven hero features of The Trading Day. Spec: Design-Specs/On-Watch-Hero-Features.md. Wireframes: Figma page “On Watch · hero wireframes (low-fi)”.</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[OW1] Gary doesn't start with 89 dropdowns or a chat box. He pastes three stocks he already likes. FinViz's AI works out what they have in common, and the result is real filter chips he can edit, with a live count. AI learns from his examples. It doesn't make him write a query.</a:t>
            </a:r>
          </a:p>
          <a:p>
            <a:endParaRPr/>
          </a:p>
          <a:p>
            <a:r>
              <a:t>— Production notes —</a:t>
            </a:r>
          </a:p>
          <a:p>
            <a:r>
              <a:t>Hero feature 1 of On Watch. Low-fi wireframe OW1 in Figma (page “On Watch · hero wireframes (low-fi)”), with numbered annotations. Iteration 1; next step is the test listed on the page.</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[OW2] He opens his saved screen. The new names are at the top, and every row shows which of his criteria it meets, or how close it came. The "why it matched" comes from real values, never a score.</a:t>
            </a:r>
          </a:p>
          <a:p>
            <a:endParaRPr/>
          </a:p>
          <a:p>
            <a:r>
              <a:t>— Production notes —</a:t>
            </a:r>
          </a:p>
          <a:p>
            <a:r>
              <a:t>Hero feature 2 of On Watch. Low-fi wireframe OW2 in Figma (page “On Watch · hero wireframes (low-fi)”), with numbered annotations. Iteration 1; next step is the test listed on the page.</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[OW3] He pins three names. His reasons come with them, his own note too, and he drags an "out if" line straight onto the chart. The product remembers why he picked each one.</a:t>
            </a:r>
          </a:p>
          <a:p>
            <a:endParaRPr/>
          </a:p>
          <a:p>
            <a:r>
              <a:t>— Production notes —</a:t>
            </a:r>
          </a:p>
          <a:p>
            <a:r>
              <a:t>Hero feature 3 of On Watch. Low-fi wireframe OW3 in Figma (page “On Watch · hero wireframes (low-fi)”), with numbered annotations. Iteration 1; next step is the test listed on the page.</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[OW4] One tap. Before he commits, FinViz replays the last 30 days: "Your criteria would have fired 4 times." He drags the noise dial and the timeline redraws. He sees what he'll get before he signs up for it. His 7-day Elite trial starts here, because this is the moment the value is obvious.</a:t>
            </a:r>
          </a:p>
          <a:p>
            <a:endParaRPr/>
          </a:p>
          <a:p>
            <a:r>
              <a:t>— Production notes —</a:t>
            </a:r>
          </a:p>
          <a:p>
            <a:r>
              <a:t>Hero feature 4 of On Watch. Low-fi wireframe OW4 in Figma (page “On Watch · hero wireframes (low-fi)”), with numbered annotations. Iteration 1; next step is the test listed on the page.</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[OW5] Gary is asleep, and FinViz watches his three names and nothing else. At 7:30, a note he can read in 30 seconds: RMBS is up before the open on product news, with the source. QLYS reports tonight. DOCN is trading below its 50-day average before the open, so one of his three reasons is at risk. A tightly scoped AI agent, every line sourced.</a:t>
            </a:r>
          </a:p>
          <a:p>
            <a:endParaRPr/>
          </a:p>
          <a:p>
            <a:r>
              <a:t>— Production notes —</a:t>
            </a:r>
          </a:p>
          <a:p>
            <a:r>
              <a:t>Hero feature 5 of On Watch. Low-fi wireframe OW5 in Figma (page “On Watch · hero wireframes (low-fi)”), with numbered annotations. Iteration 1; next step is the test listed on the page.</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[OW6] Gary is at work, and FinViz stays quiet. At 10:14, one alert: "RMBS met your criteria: Rel Vol 2.9, your threshold 1.5." That's the only interruption all day.</a:t>
            </a:r>
          </a:p>
          <a:p>
            <a:endParaRPr/>
          </a:p>
          <a:p>
            <a:r>
              <a:t>— Production notes —</a:t>
            </a:r>
          </a:p>
          <a:p>
            <a:r>
              <a:t>Hero feature 6 of On Watch. Low-fi wireframe OW6 in Figma (page “On Watch · hero wireframes (low-fi)”), with numbered annotations. Iteration 1; next step is the test listed on the page.</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[OW7] After the close, a checklist that ticks itself. RMBS and QLYS: all reasons hold. DOCN: two of three. FinViz shows what changed and when. It checks his reasons. It doesn't give advice. Hold or exit is Gary's call, made in his own broker. FinViz never places a trade.</a:t>
            </a:r>
          </a:p>
          <a:p>
            <a:endParaRPr/>
          </a:p>
          <a:p>
            <a:r>
              <a:t>— Production notes —</a:t>
            </a:r>
          </a:p>
          <a:p>
            <a:r>
              <a:t>Hero feature 7 of On Watch. Low-fi wireframe OW7 in Figma (page “On Watch · hero wireframes (low-fi)”), with numbered annotations. Iteration 1; next step is the test listed on the page.</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[TD1] At lunch, one page: his shortlist, the day's one alert, what was held back, and what needs a decision. Silence means FinViz checked, not that something broke.</a:t>
            </a:r>
          </a:p>
          <a:p>
            <a:endParaRPr/>
          </a:p>
          <a:p>
            <a:r>
              <a:t>[AN9] Everything FinViz sent and changed, and everything Gary changed, all in one log. Purple marks the AI's actions. Every change can be undone.</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workflows are now specified to the same depth: stages, feature list, first release and a first-release screen flow (FigJam sections 29, 32, 33).</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FigJam section 32. First release: drafts from saved screens and answers, pattern noticing with confirm, the playbook page with history, screen from an entry, test this setup, alerts in your words.</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FigJam section 33. First release: send to board, evidence cards, part-level compare, decision record with what would change my mind and pass with a reason, broker hand-off and conditions as watches.</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Solution Canvas v2 for alerts. Supersedes Solution 3 in 05-Solution-Canvas.md. Spec: Design-Specs/Alerts-and-Notifications.md.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[AN7] It came too early, so he taps "This was wrong" and gives the reason. FinViz proposes a tighter rule and shows him the replay: 4 alerts become 2, and the ones he acted on are kept. Nothing changes until he applies it. The AI learns from his corrections, in the open.</a:t>
            </a:r>
          </a:p>
          <a:p>
            <a:endParaRPr/>
          </a:p>
          <a:p>
            <a:r>
              <a:t>[AN8] Six alerts fired and he acted on four. FinViz suggests tightening one, loosening one and retiring one, each with a preview. He accepts or skips.</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Chart Lens: assignment scenarios S1–S5 (support, MA crosses, candlestick patterns in context, linked crosshairs/volume, templates on a portfolio). Spec: Design-Specs/Chart-Lens.md. FigJam section 38.</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[CL1] Then the part that used to take an hour. FinViz reads his 30 charts at once and ranks them by how close each one is to his setup: "0.3% above support. Hammer at support." The AI looks at the charts first, so he doesn't have to.</a:t>
            </a:r>
          </a:p>
          <a:p>
            <a:endParaRPr/>
          </a:p>
          <a:p>
            <a:r>
              <a:t>[CL2] He picks three. The crosshairs are linked. Volume is measured against each stock's own normal, so he can see that the breakout has volume behind it.</a:t>
            </a:r>
          </a:p>
          <a:p>
            <a:endParaRPr/>
          </a:p>
          <a:p>
            <a:r>
              <a:t>[CL3] The same chart setup, run across all 12 of his holdings. Facts per holding, and what changed this week. No ratings.</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[CL4] His chart setups show up too, but only the clear ones. Tap "Why?" and he sees what FinViz measured: wick 2.6 times the body, at support, volume 2.4 times its norm. When it isn't sure, it says so. Reliable by design: measurements, not confidence scores.</a:t>
            </a:r>
          </a:p>
          <a:p>
            <a:endParaRPr/>
          </a:p>
          <a:p>
            <a:r>
              <a:t>— Production notes —</a:t>
            </a:r>
          </a:p>
          <a:p>
            <a:r>
              <a:t>Week 4: accuracy despite unreliable AI, and insights just in time. Chart-Lens.md sections 5b and 5c.</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[DB1] When Gary sits down, the board he keeps open isn't a page of data. At the top are three findings that need him, each one sourced: a DOCN reason at risk, QLYS reports tonight, and semis are down after NVDA's results, with RMBS in that group. Insights, not widgets.</a:t>
            </a:r>
          </a:p>
          <a:p>
            <a:endParaRPr/>
          </a:p>
          <a:p>
            <a:r>
              <a:t>[DB2] He opens one: the evidence, the source, the data time, and how sure FinViz is. If it isn't useful he says so, and FinViz shows what that will change before it changes anything.</a:t>
            </a:r>
          </a:p>
          <a:p>
            <a:endParaRPr/>
          </a:p>
          <a:p>
            <a:r>
              <a:t>[DB3] His portfolio, measured against his own plan: tech is 6 points over his target, mostly because RMBS ran 18% this month. A fact, not an instruction. FinViz never rebalances.</a:t>
            </a:r>
          </a:p>
          <a:p>
            <a:endParaRPr/>
          </a:p>
          <a:p>
            <a:r>
              <a:t>[DB4] For an advisor running 54 portfolios, the same idea scales: the 6 that crossed one of his limits, each with evidence. The other 48 are one line.</a:t>
            </a:r>
          </a:p>
          <a:p>
            <a:endParaRPr/>
          </a:p>
          <a:p>
            <a:r>
              <a:t>[DB5] And the board learns what he actually uses. It asks once before adding anything, and every change can be undone.</a:t>
            </a:r>
          </a:p>
          <a:p>
            <a:endParaRPr/>
          </a:p>
          <a:p>
            <a:r>
              <a:t>[close] That's the whole trading day, built mostly on what FinViz already has: the screener, pattern signals, alerts and the earnings calendar. What's new is that FinViz remembers why Gary picked a stock, and watches it on his schedule.</a:t>
            </a:r>
          </a:p>
          <a:p>
            <a:endParaRPr/>
          </a:p>
          <a:p>
            <a:r>
              <a:t>The AI does the watching and the explaining. Gary makes every decision.</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Onboarding · Day One (Design-Specs/Onboarding-Day-One.md; Figma page "Onboarding · Day One"; FigJam 43). FinViz onboards Gary by doing his first evening with him. OB1: he brings a broker export and watches his board assemble; FinViz shows what it found and asks about 2 rows. OB2: the first jobs are real work, each teaching one concept. OB3: "breakout" is vague, so one question with three of his own charts; his pick becomes his definition. OB4: his watch replayed on 30 days, then the trial, not at sign-up. OB5: help fades per concept, out loud. Replaces the guided tour, the empty screener, a profile form and the card-at-sign-up trial.</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Day Board (Design-Specs/Day-Board.md; Figma page "Dashboards · The Day Board", first page; FigJam 42). From widgets to jobs: one board that reshapes across Gary’s day. 7:30 AM: a cited brief, then a queue of jobs he can finish. 2:15 PM: glance mode, quiet unless it matters, with what was held back and why. 4:30 PM: plan vs actual, one decision ending in his broker, a journal drafted from his own actions, tomorrow prepared. Industry patterns: next-best-action queues, cited summaries, time-aware layouts, calm status, agent ledgers, generative UI, daily recaps. Case-study guardrails apply. Next: onboarding builds from this board.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Rebalance Agent test (Design-Specs/Rebalance-Agent-Test.md; Figma page "Test · Rebalance Agent (outside guardrails)"; FigJam 41). Deliberately breaks Principle 5 and F62: the agent drafts, sizes and, after one approval, places orders. Kept out of the main story. Six innovations: rules from his own words; a solver sizes and AI explains, with a trade-off curve; re-plan by direct manipulation and ask the plan; drift attribution; a scoped approval with a pre-mortem and pre-trade re-checks; rules learned from his edits, proposed in the open. Main risk: regulatory (adviser and order routing). Test: draft-only vs one-approval execution.</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8DF791-86A3-344B-9231-BE94FBB68C8C}" type="slidenum">
              <a:rPr lang="en-US" smtClean="0"/>
              <a:t>93</a:t>
            </a:fld>
            <a:endParaRPr lang="en-US" dirty="0"/>
          </a:p>
        </p:txBody>
      </p:sp>
    </p:spTree>
    <p:extLst>
      <p:ext uri="{BB962C8B-B14F-4D97-AF65-F5344CB8AC3E}">
        <p14:creationId xmlns:p14="http://schemas.microsoft.com/office/powerpoint/2010/main" val="1092323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Page">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49944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ivider">
    <p:bg>
      <p:bgPr>
        <a:solidFill>
          <a:srgbClr val="C45A3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998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19.png"/><Relationship Id="rId5"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22.png"/><Relationship Id="rId5"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24.png"/><Relationship Id="rId5"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29.png"/><Relationship Id="rId5"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31.png"/><Relationship Id="rId5"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33.png"/><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4.png"/><Relationship Id="rId4" Type="http://schemas.openxmlformats.org/officeDocument/2006/relationships/image" Target="../media/image3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4.png"/><Relationship Id="rId4" Type="http://schemas.openxmlformats.org/officeDocument/2006/relationships/image" Target="../media/image3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4.png"/><Relationship Id="rId4" Type="http://schemas.openxmlformats.org/officeDocument/2006/relationships/image" Target="../media/image3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4.png"/><Relationship Id="rId4" Type="http://schemas.openxmlformats.org/officeDocument/2006/relationships/image" Target="../media/image3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4.png"/><Relationship Id="rId4" Type="http://schemas.openxmlformats.org/officeDocument/2006/relationships/image" Target="../media/image3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4.png"/><Relationship Id="rId4" Type="http://schemas.openxmlformats.org/officeDocument/2006/relationships/image" Target="../media/image3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4.png"/><Relationship Id="rId4" Type="http://schemas.openxmlformats.org/officeDocument/2006/relationships/image" Target="../media/image4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4.png"/><Relationship Id="rId4" Type="http://schemas.openxmlformats.org/officeDocument/2006/relationships/image" Target="../media/image41.png"/><Relationship Id="rId5" Type="http://schemas.openxmlformats.org/officeDocument/2006/relationships/image" Target="../media/image4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43.png"/><Relationship Id="rId4" Type="http://schemas.openxmlformats.org/officeDocument/2006/relationships/image" Target="../media/image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44.png"/><Relationship Id="rId4" Type="http://schemas.openxmlformats.org/officeDocument/2006/relationships/image" Target="../media/image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 Id="rId3" Type="http://schemas.openxmlformats.org/officeDocument/2006/relationships/image" Target="../media/image45.png"/><Relationship Id="rId4" Type="http://schemas.openxmlformats.org/officeDocument/2006/relationships/image" Target="../media/image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 Id="rId3" Type="http://schemas.openxmlformats.org/officeDocument/2006/relationships/image" Target="../media/image46.png"/><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47.png"/><Relationship Id="rId4" Type="http://schemas.openxmlformats.org/officeDocument/2006/relationships/image" Target="../media/image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image" Target="../media/image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4.png"/><Relationship Id="rId4" Type="http://schemas.openxmlformats.org/officeDocument/2006/relationships/image" Target="../media/image48.png"/><Relationship Id="rId5" Type="http://schemas.openxmlformats.org/officeDocument/2006/relationships/image" Target="../media/image4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8.png"/><Relationship Id="rId9" Type="http://schemas.openxmlformats.org/officeDocument/2006/relationships/image" Target="../media/image4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4.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 Id="rId3" Type="http://schemas.openxmlformats.org/officeDocument/2006/relationships/image" Target="../media/image4.png"/><Relationship Id="rId4" Type="http://schemas.openxmlformats.org/officeDocument/2006/relationships/image" Target="../media/image5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 Id="rId3" Type="http://schemas.openxmlformats.org/officeDocument/2006/relationships/image" Target="../media/image4.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 Id="rId3" Type="http://schemas.openxmlformats.org/officeDocument/2006/relationships/image" Target="../media/image4.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62.png"/><Relationship Id="rId8" Type="http://schemas.openxmlformats.org/officeDocument/2006/relationships/image" Target="../media/image6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 Id="rId3" Type="http://schemas.openxmlformats.org/officeDocument/2006/relationships/image" Target="../media/image4.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 Id="rId3" Type="http://schemas.openxmlformats.org/officeDocument/2006/relationships/image" Target="../media/image4.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image" Target="../media/image70.png"/><Relationship Id="rId8" Type="http://schemas.openxmlformats.org/officeDocument/2006/relationships/image" Target="../media/image71.png"/><Relationship Id="rId9" Type="http://schemas.openxmlformats.org/officeDocument/2006/relationships/image" Target="../media/image7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2.png"/><Relationship Id="rId3" Type="http://schemas.openxmlformats.org/officeDocument/2006/relationships/image" Target="../media/image21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6.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1.png"/><Relationship Id="rId3" Type="http://schemas.openxmlformats.org/officeDocument/2006/relationships/image" Target="../media/image217.png"/><Relationship Id="rId4" Type="http://schemas.openxmlformats.org/officeDocument/2006/relationships/image" Target="../media/image21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0.png"/><Relationship Id="rId3" Type="http://schemas.openxmlformats.org/officeDocument/2006/relationships/image" Target="../media/image221.png"/><Relationship Id="rId4" Type="http://schemas.openxmlformats.org/officeDocument/2006/relationships/image" Target="../media/image22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3.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4.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5.png"/><Relationship Id="rId3" Type="http://schemas.openxmlformats.org/officeDocument/2006/relationships/image" Target="../media/image226.png"/><Relationship Id="rId4" Type="http://schemas.openxmlformats.org/officeDocument/2006/relationships/image" Target="../media/image227.png"/><Relationship Id="rId5" Type="http://schemas.openxmlformats.org/officeDocument/2006/relationships/image" Target="../media/image228.png"/><Relationship Id="rId6" Type="http://schemas.openxmlformats.org/officeDocument/2006/relationships/image" Target="../media/image229.png"/><Relationship Id="rId7" Type="http://schemas.openxmlformats.org/officeDocument/2006/relationships/image" Target="../media/image23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1.png"/><Relationship Id="rId3" Type="http://schemas.openxmlformats.org/officeDocument/2006/relationships/image" Target="../media/image23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3.png"/><Relationship Id="rId3" Type="http://schemas.openxmlformats.org/officeDocument/2006/relationships/image" Target="../media/image23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5.png"/><Relationship Id="rId3" Type="http://schemas.openxmlformats.org/officeDocument/2006/relationships/image" Target="../media/image236.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7.png"/><Relationship Id="rId3" Type="http://schemas.openxmlformats.org/officeDocument/2006/relationships/image" Target="../media/image238.png"/><Relationship Id="rId4" Type="http://schemas.openxmlformats.org/officeDocument/2006/relationships/image" Target="../media/image239.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0.png"/><Relationship Id="rId3" Type="http://schemas.openxmlformats.org/officeDocument/2006/relationships/image" Target="../media/image24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6.png"/><Relationship Id="rId3" Type="http://schemas.openxmlformats.org/officeDocument/2006/relationships/image" Target="../media/image24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74.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88.png"/><Relationship Id="rId7" Type="http://schemas.openxmlformats.org/officeDocument/2006/relationships/image" Target="../media/image89.png"/><Relationship Id="rId8" Type="http://schemas.openxmlformats.org/officeDocument/2006/relationships/image" Target="../media/image90.png"/><Relationship Id="rId9" Type="http://schemas.openxmlformats.org/officeDocument/2006/relationships/image" Target="../media/image91.png"/><Relationship Id="rId10" Type="http://schemas.openxmlformats.org/officeDocument/2006/relationships/image" Target="../media/image92.png"/><Relationship Id="rId11" Type="http://schemas.openxmlformats.org/officeDocument/2006/relationships/image" Target="../media/image93.png"/><Relationship Id="rId12" Type="http://schemas.openxmlformats.org/officeDocument/2006/relationships/image" Target="../media/image94.png"/><Relationship Id="rId13" Type="http://schemas.openxmlformats.org/officeDocument/2006/relationships/image" Target="../media/image95.png"/><Relationship Id="rId14" Type="http://schemas.openxmlformats.org/officeDocument/2006/relationships/image" Target="../media/image96.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97.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png"/><Relationship Id="rId3" Type="http://schemas.openxmlformats.org/officeDocument/2006/relationships/image" Target="../media/image107.png"/><Relationship Id="rId4" Type="http://schemas.openxmlformats.org/officeDocument/2006/relationships/image" Target="../media/image108.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 Id="rId3" Type="http://schemas.openxmlformats.org/officeDocument/2006/relationships/image" Target="../media/image110.png"/><Relationship Id="rId4" Type="http://schemas.openxmlformats.org/officeDocument/2006/relationships/image" Target="../media/image11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 Id="rId3" Type="http://schemas.openxmlformats.org/officeDocument/2006/relationships/image" Target="../media/image119.png"/><Relationship Id="rId4" Type="http://schemas.openxmlformats.org/officeDocument/2006/relationships/image" Target="../media/image120.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png"/><Relationship Id="rId3" Type="http://schemas.openxmlformats.org/officeDocument/2006/relationships/image" Target="../media/image12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png"/><Relationship Id="rId3" Type="http://schemas.openxmlformats.org/officeDocument/2006/relationships/image" Target="../media/image128.png"/><Relationship Id="rId4" Type="http://schemas.openxmlformats.org/officeDocument/2006/relationships/image" Target="../media/image129.png"/><Relationship Id="rId5" Type="http://schemas.openxmlformats.org/officeDocument/2006/relationships/image" Target="../media/image130.png"/><Relationship Id="rId6" Type="http://schemas.openxmlformats.org/officeDocument/2006/relationships/image" Target="../media/image131.png"/><Relationship Id="rId7" Type="http://schemas.openxmlformats.org/officeDocument/2006/relationships/image" Target="../media/image13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3.png"/><Relationship Id="rId3" Type="http://schemas.openxmlformats.org/officeDocument/2006/relationships/image" Target="../media/image134.png"/><Relationship Id="rId4" Type="http://schemas.openxmlformats.org/officeDocument/2006/relationships/image" Target="../media/image135.png"/><Relationship Id="rId5" Type="http://schemas.openxmlformats.org/officeDocument/2006/relationships/image" Target="../media/image136.png"/><Relationship Id="rId6" Type="http://schemas.openxmlformats.org/officeDocument/2006/relationships/image" Target="../media/image137.png"/><Relationship Id="rId7" Type="http://schemas.openxmlformats.org/officeDocument/2006/relationships/image" Target="../media/image138.png"/><Relationship Id="rId8" Type="http://schemas.openxmlformats.org/officeDocument/2006/relationships/image" Target="../media/image139.png"/><Relationship Id="rId9" Type="http://schemas.openxmlformats.org/officeDocument/2006/relationships/image" Target="../media/image140.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8.png"/><Relationship Id="rId3" Type="http://schemas.openxmlformats.org/officeDocument/2006/relationships/image" Target="../media/image149.png"/><Relationship Id="rId4" Type="http://schemas.openxmlformats.org/officeDocument/2006/relationships/image" Target="../media/image150.png"/><Relationship Id="rId5" Type="http://schemas.openxmlformats.org/officeDocument/2006/relationships/image" Target="../media/image151.png"/><Relationship Id="rId6" Type="http://schemas.openxmlformats.org/officeDocument/2006/relationships/image" Target="../media/image15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3.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 Id="rId3" Type="http://schemas.openxmlformats.org/officeDocument/2006/relationships/image" Target="../media/image155.png"/><Relationship Id="rId4" Type="http://schemas.openxmlformats.org/officeDocument/2006/relationships/image" Target="../media/image156.png"/><Relationship Id="rId5" Type="http://schemas.openxmlformats.org/officeDocument/2006/relationships/image" Target="../media/image157.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8.png"/><Relationship Id="rId3" Type="http://schemas.openxmlformats.org/officeDocument/2006/relationships/image" Target="../media/image159.png"/><Relationship Id="rId4" Type="http://schemas.openxmlformats.org/officeDocument/2006/relationships/image" Target="../media/image160.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image" Target="../media/image163.png"/><Relationship Id="rId5" Type="http://schemas.openxmlformats.org/officeDocument/2006/relationships/image" Target="../media/image164.png"/><Relationship Id="rId6" Type="http://schemas.openxmlformats.org/officeDocument/2006/relationships/image" Target="../media/image165.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6.png"/><Relationship Id="rId3" Type="http://schemas.openxmlformats.org/officeDocument/2006/relationships/image" Target="../media/image167.png"/><Relationship Id="rId4" Type="http://schemas.openxmlformats.org/officeDocument/2006/relationships/image" Target="../media/image168.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9.png"/><Relationship Id="rId3" Type="http://schemas.openxmlformats.org/officeDocument/2006/relationships/image" Target="../media/image170.png"/><Relationship Id="rId4" Type="http://schemas.openxmlformats.org/officeDocument/2006/relationships/image" Target="../media/image171.png"/><Relationship Id="rId5" Type="http://schemas.openxmlformats.org/officeDocument/2006/relationships/image" Target="../media/image172.png"/><Relationship Id="rId6" Type="http://schemas.openxmlformats.org/officeDocument/2006/relationships/image" Target="../media/image173.png"/><Relationship Id="rId7" Type="http://schemas.openxmlformats.org/officeDocument/2006/relationships/image" Target="../media/image174.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5.png"/><Relationship Id="rId3" Type="http://schemas.openxmlformats.org/officeDocument/2006/relationships/image" Target="../media/image176.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7.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8.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9.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8.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0.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1.png"/><Relationship Id="rId3" Type="http://schemas.openxmlformats.org/officeDocument/2006/relationships/image" Target="../media/image18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3.png"/><Relationship Id="rId3" Type="http://schemas.openxmlformats.org/officeDocument/2006/relationships/image" Target="../media/image184.png"/><Relationship Id="rId4" Type="http://schemas.openxmlformats.org/officeDocument/2006/relationships/image" Target="../media/image185.png"/><Relationship Id="rId5" Type="http://schemas.openxmlformats.org/officeDocument/2006/relationships/image" Target="../media/image186.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7.png"/><Relationship Id="rId3" Type="http://schemas.openxmlformats.org/officeDocument/2006/relationships/image" Target="../media/image188.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9.png"/><Relationship Id="rId3" Type="http://schemas.openxmlformats.org/officeDocument/2006/relationships/image" Target="../media/image190.png"/><Relationship Id="rId4" Type="http://schemas.openxmlformats.org/officeDocument/2006/relationships/image" Target="../media/image191.png"/><Relationship Id="rId5" Type="http://schemas.openxmlformats.org/officeDocument/2006/relationships/image" Target="../media/image19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png"/><Relationship Id="rId3" Type="http://schemas.openxmlformats.org/officeDocument/2006/relationships/image" Target="../media/image194.png"/><Relationship Id="rId4" Type="http://schemas.openxmlformats.org/officeDocument/2006/relationships/image" Target="../media/image195.png"/><Relationship Id="rId5" Type="http://schemas.openxmlformats.org/officeDocument/2006/relationships/image" Target="../media/image196.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7.png"/><Relationship Id="rId3" Type="http://schemas.openxmlformats.org/officeDocument/2006/relationships/image" Target="../media/image198.png"/><Relationship Id="rId4" Type="http://schemas.openxmlformats.org/officeDocument/2006/relationships/image" Target="../media/image199.png"/><Relationship Id="rId5" Type="http://schemas.openxmlformats.org/officeDocument/2006/relationships/image" Target="../media/image200.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1.png"/><Relationship Id="rId3" Type="http://schemas.openxmlformats.org/officeDocument/2006/relationships/image" Target="../media/image202.png"/><Relationship Id="rId4" Type="http://schemas.openxmlformats.org/officeDocument/2006/relationships/image" Target="../media/image203.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4.png"/><Relationship Id="rId3" Type="http://schemas.openxmlformats.org/officeDocument/2006/relationships/image" Target="../media/image205.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6.png"/><Relationship Id="rId3" Type="http://schemas.openxmlformats.org/officeDocument/2006/relationships/image" Target="../media/image207.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8.png"/><Relationship Id="rId3" Type="http://schemas.openxmlformats.org/officeDocument/2006/relationships/image" Target="../media/image209.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0.png"/><Relationship Id="rId3" Type="http://schemas.openxmlformats.org/officeDocument/2006/relationships/image" Target="../media/image21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8.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49.png"/><Relationship Id="rId4" Type="http://schemas.openxmlformats.org/officeDocument/2006/relationships/image" Target="../media/image4.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50.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50.png"/><Relationship Id="rId4" Type="http://schemas.openxmlformats.org/officeDocument/2006/relationships/image" Target="../media/image249.png"/><Relationship Id="rId5" Type="http://schemas.openxmlformats.org/officeDocument/2006/relationships/image" Target="../media/image251.png"/><Relationship Id="rId6" Type="http://schemas.openxmlformats.org/officeDocument/2006/relationships/image" Target="../media/image252.png"/><Relationship Id="rId7" Type="http://schemas.openxmlformats.org/officeDocument/2006/relationships/image" Target="../media/image253.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54.png"/><Relationship Id="rId4" Type="http://schemas.openxmlformats.org/officeDocument/2006/relationships/image" Target="../media/image255.png"/><Relationship Id="rId5" Type="http://schemas.openxmlformats.org/officeDocument/2006/relationships/image" Target="../media/image256.png"/><Relationship Id="rId6" Type="http://schemas.openxmlformats.org/officeDocument/2006/relationships/image" Target="../media/image257.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58.png"/><Relationship Id="rId4" Type="http://schemas.openxmlformats.org/officeDocument/2006/relationships/image" Target="../media/image259.png"/><Relationship Id="rId5" Type="http://schemas.openxmlformats.org/officeDocument/2006/relationships/image" Target="../media/image260.png"/><Relationship Id="rId6" Type="http://schemas.openxmlformats.org/officeDocument/2006/relationships/image" Target="../media/image26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62.png"/><Relationship Id="rId4" Type="http://schemas.openxmlformats.org/officeDocument/2006/relationships/image" Target="../media/image263.png"/><Relationship Id="rId5" Type="http://schemas.openxmlformats.org/officeDocument/2006/relationships/image" Target="../media/image264.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65.png"/><Relationship Id="rId4" Type="http://schemas.openxmlformats.org/officeDocument/2006/relationships/image" Target="../media/image266.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67.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gma.com/board/OXpFHEhHcr2ZReOXKKPVxb" TargetMode="External"/><Relationship Id="rId3" Type="http://schemas.openxmlformats.org/officeDocument/2006/relationships/hyperlink" Target="https://www.figma.com/design/W9SuJ8HpznQuY6Fb3H442w" TargetMode="External"/><Relationship Id="rId4" Type="http://schemas.openxmlformats.org/officeDocument/2006/relationships/hyperlink" Target="https://www.figma.com/design/W9SuJ8HpznQuY6Fb3H442w?node-id=5123-3942" TargetMode="External"/><Relationship Id="rId5" Type="http://schemas.openxmlformats.org/officeDocument/2006/relationships/hyperlink" Target="https://www.figma.com/design/w9xAlgyQeXToR54UPbv7wG" TargetMode="External"/><Relationship Id="rId6" Type="http://schemas.openxmlformats.org/officeDocument/2006/relationships/hyperlink" Target="https://claude.ai/artifact/TwRA3JxYaMduyLo1MfpcZe" TargetMode="External"/><Relationship Id="rId7" Type="http://schemas.openxmlformats.org/officeDocument/2006/relationships/hyperlink" Target="https://claude.ai/artifact/QKAHav3ku5fRX5UTnohzsZ" TargetMode="External"/><Relationship Id="rId8" Type="http://schemas.openxmlformats.org/officeDocument/2006/relationships/hyperlink" Target="https://github.com/CHUNKY21/trading-platform" TargetMode="External"/><Relationship Id="rId9" Type="http://schemas.openxmlformats.org/officeDocument/2006/relationships/image" Target="../media/image4.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7569200" y="947022"/>
            <a:ext cx="4272714" cy="884192"/>
          </a:xfrm>
          <a:prstGeom prst="rect">
            <a:avLst/>
          </a:prstGeom>
          <a:noFill/>
        </p:spPr>
        <p:txBody>
          <a:bodyPr wrap="none" lIns="0" tIns="0" rIns="0" bIns="0">
            <a:noAutofit/>
          </a:bodyPr>
          <a:lstStyle/>
          <a:p>
            <a:pPr algn="l"/>
            <a:r>
              <a:rPr sz="5700" dirty="0">
                <a:solidFill>
                  <a:srgbClr val="E98C64"/>
                </a:solidFill>
                <a:latin typeface="Helvetica Neue Light"/>
              </a:rPr>
              <a:t>case studies</a:t>
            </a:r>
          </a:p>
        </p:txBody>
      </p:sp>
      <p:sp>
        <p:nvSpPr>
          <p:cNvPr id="4" name="TextBox 3"/>
          <p:cNvSpPr txBox="1"/>
          <p:nvPr/>
        </p:nvSpPr>
        <p:spPr>
          <a:xfrm>
            <a:off x="8349995" y="5285528"/>
            <a:ext cx="2645070" cy="391219"/>
          </a:xfrm>
          <a:prstGeom prst="rect">
            <a:avLst/>
          </a:prstGeom>
          <a:noFill/>
        </p:spPr>
        <p:txBody>
          <a:bodyPr wrap="none" lIns="0" tIns="0" rIns="0" bIns="0">
            <a:noAutofit/>
          </a:bodyPr>
          <a:lstStyle/>
          <a:p>
            <a:pPr algn="l"/>
            <a:r>
              <a:rPr sz="1400" dirty="0">
                <a:solidFill>
                  <a:srgbClr val="404040"/>
                </a:solidFill>
                <a:latin typeface="Helvetica Neue Light"/>
              </a:rPr>
              <a:t>michael</a:t>
            </a:r>
            <a:r>
              <a:rPr sz="2550" dirty="0">
                <a:solidFill>
                  <a:srgbClr val="404040"/>
                </a:solidFill>
                <a:latin typeface="Helvetica Neue Light"/>
              </a:rPr>
              <a:t>thibodea(UX)</a:t>
            </a:r>
          </a:p>
        </p:txBody>
      </p:sp>
      <p:sp>
        <p:nvSpPr>
          <p:cNvPr id="5" name="TextBox 4"/>
          <p:cNvSpPr txBox="1"/>
          <p:nvPr/>
        </p:nvSpPr>
        <p:spPr>
          <a:xfrm>
            <a:off x="8495044" y="5689279"/>
            <a:ext cx="2435347" cy="218353"/>
          </a:xfrm>
          <a:prstGeom prst="rect">
            <a:avLst/>
          </a:prstGeom>
          <a:noFill/>
        </p:spPr>
        <p:txBody>
          <a:bodyPr wrap="none" lIns="0" tIns="0" rIns="0" bIns="0">
            <a:noAutofit/>
          </a:bodyPr>
          <a:lstStyle/>
          <a:p>
            <a:pPr algn="l"/>
            <a:r>
              <a:rPr sz="1400" dirty="0">
                <a:solidFill>
                  <a:srgbClr val="404040"/>
                </a:solidFill>
                <a:latin typeface="Helvetica Neue Light"/>
              </a:rPr>
              <a:t>www.michaeljthibodeau.com</a:t>
            </a:r>
          </a:p>
        </p:txBody>
      </p:sp>
      <p:sp>
        <p:nvSpPr>
          <p:cNvPr id="6" name="TextBox 5"/>
          <p:cNvSpPr txBox="1"/>
          <p:nvPr/>
        </p:nvSpPr>
        <p:spPr>
          <a:xfrm>
            <a:off x="7651892" y="1945422"/>
            <a:ext cx="4202677" cy="216217"/>
          </a:xfrm>
          <a:prstGeom prst="rect">
            <a:avLst/>
          </a:prstGeom>
          <a:noFill/>
        </p:spPr>
        <p:txBody>
          <a:bodyPr wrap="none" lIns="0" tIns="0" rIns="0" bIns="0">
            <a:noAutofit/>
          </a:bodyPr>
          <a:lstStyle/>
          <a:p>
            <a:pPr algn="l"/>
            <a:r>
              <a:rPr sz="1400" dirty="0">
                <a:solidFill>
                  <a:srgbClr val="404040"/>
                </a:solidFill>
                <a:latin typeface="Helvetica Neue Light"/>
              </a:rPr>
              <a:t>Portfolio of case studies that show the conceptual </a:t>
            </a:r>
          </a:p>
        </p:txBody>
      </p:sp>
      <p:sp>
        <p:nvSpPr>
          <p:cNvPr id="7" name="TextBox 6"/>
          <p:cNvSpPr txBox="1"/>
          <p:nvPr/>
        </p:nvSpPr>
        <p:spPr>
          <a:xfrm>
            <a:off x="7604677" y="2262922"/>
            <a:ext cx="4304674" cy="216217"/>
          </a:xfrm>
          <a:prstGeom prst="rect">
            <a:avLst/>
          </a:prstGeom>
          <a:noFill/>
        </p:spPr>
        <p:txBody>
          <a:bodyPr wrap="none" lIns="0" tIns="0" rIns="0" bIns="0">
            <a:noAutofit/>
          </a:bodyPr>
          <a:lstStyle/>
          <a:p>
            <a:pPr algn="l"/>
            <a:r>
              <a:rPr sz="1400" dirty="0">
                <a:solidFill>
                  <a:srgbClr val="404040"/>
                </a:solidFill>
                <a:latin typeface="Helvetica Neue Light"/>
              </a:rPr>
              <a:t>development, design process, artifact construction, </a:t>
            </a:r>
          </a:p>
        </p:txBody>
      </p:sp>
      <p:sp>
        <p:nvSpPr>
          <p:cNvPr id="8" name="TextBox 7"/>
          <p:cNvSpPr txBox="1"/>
          <p:nvPr/>
        </p:nvSpPr>
        <p:spPr>
          <a:xfrm>
            <a:off x="8372073" y="2580422"/>
            <a:ext cx="2597411" cy="216217"/>
          </a:xfrm>
          <a:prstGeom prst="rect">
            <a:avLst/>
          </a:prstGeom>
          <a:noFill/>
        </p:spPr>
        <p:txBody>
          <a:bodyPr wrap="none" lIns="0" tIns="0" rIns="0" bIns="0">
            <a:noAutofit/>
          </a:bodyPr>
          <a:lstStyle/>
          <a:p>
            <a:pPr algn="l"/>
            <a:r>
              <a:rPr sz="1400" dirty="0">
                <a:solidFill>
                  <a:srgbClr val="404040"/>
                </a:solidFill>
                <a:latin typeface="Helvetica Neue Light"/>
              </a:rPr>
              <a:t>and final released experiences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image.png"/>
          <p:cNvPicPr>
            <a:picLocks noChangeAspect="1"/>
          </p:cNvPicPr>
          <p:nvPr/>
        </p:nvPicPr>
        <p:blipFill>
          <a:blip r:embed="rId3"/>
          <a:stretch>
            <a:fillRect/>
          </a:stretch>
        </p:blipFill>
        <p:spPr>
          <a:xfrm>
            <a:off x="0" y="0"/>
            <a:ext cx="13004800" cy="442163"/>
          </a:xfrm>
          <a:prstGeom prst="rect">
            <a:avLst/>
          </a:prstGeom>
        </p:spPr>
      </p:pic>
      <p:sp>
        <p:nvSpPr>
          <p:cNvPr id="3" name="Text 0"/>
          <p:cNvSpPr txBox="1"/>
          <p:nvPr/>
        </p:nvSpPr>
        <p:spPr>
          <a:xfrm>
            <a:off x="455169" y="650240"/>
            <a:ext cx="10577475" cy="715264"/>
          </a:xfrm>
          <a:prstGeom prst="rect">
            <a:avLst/>
          </a:prstGeom>
          <a:noFill/>
          <a:ln/>
        </p:spPr>
        <p:txBody>
          <a:bodyPr wrap="square" lIns="0" tIns="0" rIns="0" bIns="0" rtlCol="0" anchor="t"/>
          <a:lstStyle/>
          <a:p>
            <a:r>
              <a:rPr lang="en-US" sz="1564" dirty="0">
                <a:solidFill>
                  <a:srgbClr val="1F1F1F"/>
                </a:solidFill>
                <a:ea typeface="Helvetica Neue" pitchFamily="34" charset="-122"/>
                <a:cs typeface="Helvetica Neue" pitchFamily="34" charset="-120"/>
              </a:rPr>
              <a:t>End-to-end design process, including Design Thinking and AI-supported methods, for an AI layer on the FinViz stock screener that guides a swing trader through the trading day</a:t>
            </a:r>
            <a:endParaRPr lang="en-US" sz="1564" dirty="0"/>
          </a:p>
        </p:txBody>
      </p:sp>
      <p:sp>
        <p:nvSpPr>
          <p:cNvPr id="4" name="Text 1"/>
          <p:cNvSpPr txBox="1"/>
          <p:nvPr/>
        </p:nvSpPr>
        <p:spPr>
          <a:xfrm>
            <a:off x="455169" y="2122783"/>
            <a:ext cx="4932535" cy="1507126"/>
          </a:xfrm>
          <a:prstGeom prst="rect">
            <a:avLst/>
          </a:prstGeom>
          <a:noFill/>
          <a:ln/>
        </p:spPr>
        <p:txBody>
          <a:bodyPr wrap="square" lIns="0" tIns="0" rIns="0" bIns="0" rtlCol="0" anchor="t"/>
          <a:lstStyle/>
          <a:p>
            <a:r>
              <a:rPr lang="en-US" sz="8533" dirty="0">
                <a:solidFill>
                  <a:srgbClr val="1F1F1F"/>
                </a:solidFill>
                <a:latin typeface="Helvetica Neue Light" panose="02000403000000020004" pitchFamily="2" charset="0"/>
                <a:ea typeface="Helvetica Neue Light" panose="02000403000000020004" pitchFamily="2" charset="0"/>
                <a:cs typeface="Helvetica Neue" panose="02000503000000020004" pitchFamily="2" charset="0"/>
              </a:rPr>
              <a:t>FinViz</a:t>
            </a:r>
            <a:endParaRPr lang="en-US" sz="8533" dirty="0">
              <a:latin typeface="Helvetica Neue Light" panose="02000403000000020004" pitchFamily="2" charset="0"/>
              <a:ea typeface="Helvetica Neue Light" panose="02000403000000020004" pitchFamily="2" charset="0"/>
              <a:cs typeface="Helvetica Neue" panose="02000503000000020004" pitchFamily="2" charset="0"/>
            </a:endParaRPr>
          </a:p>
        </p:txBody>
      </p:sp>
      <p:sp>
        <p:nvSpPr>
          <p:cNvPr id="6" name="Text 3"/>
          <p:cNvSpPr txBox="1"/>
          <p:nvPr/>
        </p:nvSpPr>
        <p:spPr>
          <a:xfrm>
            <a:off x="455169" y="3863210"/>
            <a:ext cx="4375186" cy="2027180"/>
          </a:xfrm>
          <a:prstGeom prst="rect">
            <a:avLst/>
          </a:prstGeom>
          <a:noFill/>
          <a:ln/>
        </p:spPr>
        <p:txBody>
          <a:bodyPr wrap="square" lIns="0" tIns="0" rIns="0" bIns="0" rtlCol="0" anchor="t"/>
          <a:lstStyle/>
          <a:p>
            <a:pPr>
              <a:lnSpc>
                <a:spcPct val="130000"/>
              </a:lnSpc>
            </a:pPr>
            <a:r>
              <a:rPr lang="en-US" sz="1991" dirty="0">
                <a:solidFill>
                  <a:srgbClr val="1F1F1F"/>
                </a:solidFill>
                <a:latin typeface="Helvetica Neue Light" pitchFamily="34" charset="0"/>
                <a:ea typeface="Helvetica Neue Light" pitchFamily="34" charset="-122"/>
                <a:cs typeface="Helvetica Neue Light" pitchFamily="34" charset="-120"/>
              </a:rPr>
              <a:t>Helping FinViz cut the time from sign-up to Elite from 42 to 21 days by getting new traders to a screen they trust, then watching it for them</a:t>
            </a:r>
            <a:endParaRPr lang="en-US" sz="1991" dirty="0"/>
          </a:p>
        </p:txBody>
      </p:sp>
      <p:sp>
        <p:nvSpPr>
          <p:cNvPr id="7" name="Text 4"/>
          <p:cNvSpPr txBox="1"/>
          <p:nvPr/>
        </p:nvSpPr>
        <p:spPr>
          <a:xfrm>
            <a:off x="1155427" y="7802880"/>
            <a:ext cx="4795341" cy="1300480"/>
          </a:xfrm>
          <a:prstGeom prst="rect">
            <a:avLst/>
          </a:prstGeom>
          <a:noFill/>
          <a:ln/>
        </p:spPr>
        <p:txBody>
          <a:bodyPr wrap="square" lIns="0" tIns="0" rIns="0" bIns="0" rtlCol="0" anchor="t"/>
          <a:lstStyle/>
          <a:p>
            <a:pPr algn="ctr"/>
            <a:r>
              <a:rPr lang="en-US" sz="2276" dirty="0">
                <a:solidFill>
                  <a:srgbClr val="6E6E6E"/>
                </a:solidFill>
                <a:latin typeface="Helvetica Neue Light" pitchFamily="34" charset="0"/>
                <a:ea typeface="Helvetica Neue Light" pitchFamily="34" charset="-122"/>
                <a:cs typeface="Helvetica Neue Light" pitchFamily="34" charset="-120"/>
              </a:rPr>
              <a:t>“Alerts are everything. Once you close FinViz, you get nothing.”</a:t>
            </a:r>
            <a:endParaRPr lang="en-US" sz="2276" dirty="0"/>
          </a:p>
        </p:txBody>
      </p:sp>
      <p:pic>
        <p:nvPicPr>
          <p:cNvPr id="9" name="Picture 8" descr="image.png"/>
          <p:cNvPicPr>
            <a:picLocks noChangeAspect="1"/>
          </p:cNvPicPr>
          <p:nvPr/>
        </p:nvPicPr>
        <p:blipFill>
          <a:blip r:embed="rId4"/>
          <a:stretch>
            <a:fillRect/>
          </a:stretch>
        </p:blipFill>
        <p:spPr>
          <a:xfrm>
            <a:off x="7201957" y="2122784"/>
            <a:ext cx="5652787" cy="5193499"/>
          </a:xfrm>
          <a:prstGeom prst="rect">
            <a:avLst/>
          </a:prstGeom>
          <a:ln w="9525">
            <a:solidFill>
              <a:srgbClr val="1F1F1F"/>
            </a:solid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01 · Overview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The Trading Day: </a:t>
            </a:r>
            <a:r>
              <a:rPr sz="3200" dirty="0" err="1">
                <a:solidFill>
                  <a:srgbClr val="1F1F1F"/>
                </a:solidFill>
                <a:latin typeface="Helvetica Neue Light"/>
              </a:rPr>
              <a:t>FinViz</a:t>
            </a:r>
            <a:r>
              <a:rPr sz="3200" dirty="0">
                <a:solidFill>
                  <a:srgbClr val="1F1F1F"/>
                </a:solidFill>
                <a:latin typeface="Helvetica Neue Light"/>
              </a:rPr>
              <a:t> keeps watch while you work</a:t>
            </a:r>
          </a:p>
        </p:txBody>
      </p:sp>
      <p:pic>
        <p:nvPicPr>
          <p:cNvPr id="5" name="Picture 4" descr="09-DB1-insight-board-pre-market.png"/>
          <p:cNvPicPr>
            <a:picLocks noChangeAspect="1"/>
          </p:cNvPicPr>
          <p:nvPr/>
        </p:nvPicPr>
        <p:blipFill>
          <a:blip r:embed="rId4"/>
          <a:stretch>
            <a:fillRect/>
          </a:stretch>
        </p:blipFill>
        <p:spPr>
          <a:xfrm>
            <a:off x="455169" y="1625600"/>
            <a:ext cx="6440472" cy="5917184"/>
          </a:xfrm>
          <a:prstGeom prst="rect">
            <a:avLst/>
          </a:prstGeom>
          <a:ln w="9525">
            <a:solidFill>
              <a:srgbClr val="1F1F1F"/>
            </a:solidFill>
          </a:ln>
        </p:spPr>
      </p:pic>
      <p:sp>
        <p:nvSpPr>
          <p:cNvPr id="6" name="TextBox 5"/>
          <p:cNvSpPr txBox="1"/>
          <p:nvPr/>
        </p:nvSpPr>
        <p:spPr>
          <a:xfrm>
            <a:off x="7269480" y="1690625"/>
            <a:ext cx="4663440" cy="4704108"/>
          </a:xfrm>
          <a:prstGeom prst="rect">
            <a:avLst/>
          </a:prstGeom>
          <a:noFill/>
        </p:spPr>
        <p:txBody>
          <a:bodyPr wrap="square" lIns="0" tIns="0" rIns="0" bIns="0">
            <a:spAutoFit/>
          </a:bodyPr>
          <a:lstStyle/>
          <a:p>
            <a:pPr>
              <a:spcAft>
                <a:spcPts val="284"/>
              </a:spcAft>
            </a:pPr>
            <a:r>
              <a:rPr sz="1280" dirty="0">
                <a:solidFill>
                  <a:srgbClr val="C45A35"/>
                </a:solidFill>
                <a:latin typeface="Helvetica Neue"/>
              </a:rPr>
              <a:t>PRODUCT</a:t>
            </a:r>
          </a:p>
          <a:p>
            <a:pPr>
              <a:spcAft>
                <a:spcPts val="1707"/>
              </a:spcAft>
            </a:pPr>
            <a:r>
              <a:rPr sz="1849" dirty="0">
                <a:solidFill>
                  <a:srgbClr val="1F1F1F"/>
                </a:solidFill>
                <a:latin typeface="Helvetica Neue Light"/>
              </a:rPr>
              <a:t>An AI layer for the </a:t>
            </a:r>
            <a:r>
              <a:rPr sz="1849" dirty="0" err="1">
                <a:solidFill>
                  <a:srgbClr val="1F1F1F"/>
                </a:solidFill>
                <a:latin typeface="Helvetica Neue Light"/>
              </a:rPr>
              <a:t>FinViz</a:t>
            </a:r>
            <a:r>
              <a:rPr sz="1849" dirty="0">
                <a:solidFill>
                  <a:srgbClr val="1F1F1F"/>
                </a:solidFill>
                <a:latin typeface="Helvetica Neue Light"/>
              </a:rPr>
              <a:t> stock screener</a:t>
            </a:r>
          </a:p>
          <a:p>
            <a:pPr>
              <a:spcAft>
                <a:spcPts val="284"/>
              </a:spcAft>
            </a:pPr>
            <a:r>
              <a:rPr sz="1280" dirty="0">
                <a:solidFill>
                  <a:srgbClr val="C45A35"/>
                </a:solidFill>
                <a:latin typeface="Helvetica Neue"/>
              </a:rPr>
              <a:t>PROBLEM</a:t>
            </a:r>
          </a:p>
          <a:p>
            <a:pPr>
              <a:spcAft>
                <a:spcPts val="1707"/>
              </a:spcAft>
            </a:pPr>
            <a:r>
              <a:rPr sz="1707" dirty="0">
                <a:solidFill>
                  <a:srgbClr val="1F1F1F"/>
                </a:solidFill>
                <a:latin typeface="Helvetica Neue Light"/>
              </a:rPr>
              <a:t>Swing traders with day jobs build a screen at night, can’t watch the market 9:30–4, and miss the moment their setup happens. New users take 42 days to see why Elite is worth paying for.</a:t>
            </a:r>
          </a:p>
          <a:p>
            <a:pPr>
              <a:spcAft>
                <a:spcPts val="284"/>
              </a:spcAft>
            </a:pPr>
            <a:r>
              <a:rPr sz="1280" dirty="0">
                <a:solidFill>
                  <a:srgbClr val="C45A35"/>
                </a:solidFill>
                <a:latin typeface="Helvetica Neue"/>
              </a:rPr>
              <a:t>AI SOLUTION</a:t>
            </a:r>
          </a:p>
          <a:p>
            <a:pPr>
              <a:spcAft>
                <a:spcPts val="1707"/>
              </a:spcAft>
            </a:pPr>
            <a:r>
              <a:rPr sz="1707" dirty="0">
                <a:solidFill>
                  <a:srgbClr val="1F1F1F"/>
                </a:solidFill>
                <a:latin typeface="Helvetica Neue Light"/>
              </a:rPr>
              <a:t>AI turns the stocks he already likes into a working screen, remembers why he picked each one, watches it on his schedule and explains every finding with its evidence. It verifies; he decides.</a:t>
            </a:r>
          </a:p>
          <a:p>
            <a:pPr>
              <a:spcAft>
                <a:spcPts val="284"/>
              </a:spcAft>
            </a:pPr>
            <a:r>
              <a:rPr sz="1280" dirty="0">
                <a:solidFill>
                  <a:srgbClr val="C45A35"/>
                </a:solidFill>
                <a:latin typeface="Helvetica Neue"/>
              </a:rPr>
              <a:t>MY ROLE</a:t>
            </a:r>
          </a:p>
          <a:p>
            <a:r>
              <a:rPr sz="1564" dirty="0">
                <a:solidFill>
                  <a:srgbClr val="595959"/>
                </a:solidFill>
                <a:latin typeface="Helvetica Neue Light"/>
              </a:rPr>
              <a:t>Lead UX designer: research, strategy, AI UX principles, concept, low-fi to hi-fi, design system. AI agents for drafting; every call mine.</a:t>
            </a:r>
          </a:p>
        </p:txBody>
      </p:sp>
      <p:sp>
        <p:nvSpPr>
          <p:cNvPr id="7" name="TextBox 6"/>
          <p:cNvSpPr txBox="1"/>
          <p:nvPr/>
        </p:nvSpPr>
        <p:spPr>
          <a:xfrm>
            <a:off x="455168" y="7620814"/>
            <a:ext cx="7022592" cy="415755"/>
          </a:xfrm>
          <a:prstGeom prst="rect">
            <a:avLst/>
          </a:prstGeom>
          <a:noFill/>
        </p:spPr>
        <p:txBody>
          <a:bodyPr wrap="square" lIns="0" tIns="0" rIns="0" bIns="0">
            <a:spAutoFit/>
          </a:bodyPr>
          <a:lstStyle/>
          <a:p>
            <a:r>
              <a:rPr sz="1351">
                <a:solidFill>
                  <a:srgbClr val="5B3F96"/>
                </a:solidFill>
                <a:latin typeface="Helvetica Neue"/>
              </a:rPr>
              <a:t>Hero  </a:t>
            </a:r>
            <a:r>
              <a:rPr sz="1351">
                <a:solidFill>
                  <a:srgbClr val="595959"/>
                </a:solidFill>
                <a:latin typeface="Helvetica Neue Light"/>
              </a:rPr>
              <a:t>The Insight Board at 7:45 AM: three sourced findings about his own names, on the FinViz Home he already knows.</a:t>
            </a:r>
          </a:p>
        </p:txBody>
      </p:sp>
      <p:sp>
        <p:nvSpPr>
          <p:cNvPr id="8" name="TextBox 7"/>
          <p:cNvSpPr txBox="1"/>
          <p:nvPr/>
        </p:nvSpPr>
        <p:spPr>
          <a:xfrm>
            <a:off x="455168" y="8518145"/>
            <a:ext cx="12094464" cy="207877"/>
          </a:xfrm>
          <a:prstGeom prst="rect">
            <a:avLst/>
          </a:prstGeom>
          <a:noFill/>
        </p:spPr>
        <p:txBody>
          <a:bodyPr wrap="square" lIns="0" tIns="0" rIns="0" bIns="0">
            <a:spAutoFit/>
          </a:bodyPr>
          <a:lstStyle/>
          <a:p>
            <a:r>
              <a:rPr sz="1351">
                <a:solidFill>
                  <a:srgbClr val="8C8C8C"/>
                </a:solidFill>
                <a:latin typeface="Helvetica Neue Light"/>
              </a:rPr>
              <a:t>19 hi-fi screens · one trade · Monday evening to Sunday · dark theme, FinViz design system v1.0 · personas and data are synthetic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01 · Overview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How this case study is organized</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The final experience first, then the reasoning, data and method behind it. Process artifacts are in the appendix.</a:t>
            </a:r>
          </a:p>
        </p:txBody>
      </p:sp>
      <p:sp>
        <p:nvSpPr>
          <p:cNvPr id="6" name="Rectangle 5"/>
          <p:cNvSpPr/>
          <p:nvPr/>
        </p:nvSpPr>
        <p:spPr>
          <a:xfrm>
            <a:off x="455168" y="2535936"/>
            <a:ext cx="2314854" cy="279603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11226" y="2691993"/>
            <a:ext cx="2015744" cy="1193853"/>
          </a:xfrm>
          <a:prstGeom prst="rect">
            <a:avLst/>
          </a:prstGeom>
          <a:noFill/>
        </p:spPr>
        <p:txBody>
          <a:bodyPr wrap="square" lIns="0" tIns="0" rIns="0" bIns="0">
            <a:spAutoFit/>
          </a:bodyPr>
          <a:lstStyle/>
          <a:p>
            <a:pPr>
              <a:spcAft>
                <a:spcPts val="853"/>
              </a:spcAft>
            </a:pPr>
            <a:r>
              <a:rPr sz="3129">
                <a:solidFill>
                  <a:srgbClr val="FFFFFF"/>
                </a:solidFill>
                <a:latin typeface="Helvetica Neue"/>
              </a:rPr>
              <a:t>01</a:t>
            </a:r>
          </a:p>
          <a:p>
            <a:pPr>
              <a:spcAft>
                <a:spcPts val="853"/>
              </a:spcAft>
            </a:pPr>
            <a:r>
              <a:rPr sz="1778">
                <a:solidFill>
                  <a:srgbClr val="FFFFFF"/>
                </a:solidFill>
                <a:latin typeface="Helvetica Neue Light"/>
              </a:rPr>
              <a:t>Overview</a:t>
            </a:r>
          </a:p>
          <a:p>
            <a:r>
              <a:rPr sz="1351">
                <a:solidFill>
                  <a:srgbClr val="FFFFFF"/>
                </a:solidFill>
                <a:latin typeface="Helvetica Neue Light"/>
              </a:rPr>
              <a:t>Hero and contents</a:t>
            </a:r>
          </a:p>
        </p:txBody>
      </p:sp>
      <p:sp>
        <p:nvSpPr>
          <p:cNvPr id="8" name="Rectangle 7"/>
          <p:cNvSpPr/>
          <p:nvPr/>
        </p:nvSpPr>
        <p:spPr>
          <a:xfrm>
            <a:off x="2900071" y="2535936"/>
            <a:ext cx="2314854" cy="279603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3056128" y="2691992"/>
            <a:ext cx="2015744" cy="1883208"/>
          </a:xfrm>
          <a:prstGeom prst="rect">
            <a:avLst/>
          </a:prstGeom>
          <a:noFill/>
        </p:spPr>
        <p:txBody>
          <a:bodyPr wrap="square" lIns="0" tIns="0" rIns="0" bIns="0">
            <a:spAutoFit/>
          </a:bodyPr>
          <a:lstStyle/>
          <a:p>
            <a:pPr>
              <a:spcAft>
                <a:spcPts val="853"/>
              </a:spcAft>
            </a:pPr>
            <a:r>
              <a:rPr sz="3129">
                <a:solidFill>
                  <a:srgbClr val="FFFFFF"/>
                </a:solidFill>
                <a:latin typeface="Helvetica Neue"/>
              </a:rPr>
              <a:t>02</a:t>
            </a:r>
          </a:p>
          <a:p>
            <a:pPr>
              <a:spcAft>
                <a:spcPts val="853"/>
              </a:spcAft>
            </a:pPr>
            <a:r>
              <a:rPr sz="1778">
                <a:solidFill>
                  <a:srgbClr val="FFFFFF"/>
                </a:solidFill>
                <a:latin typeface="Helvetica Neue Light"/>
              </a:rPr>
              <a:t>Context &amp; constraints</a:t>
            </a:r>
          </a:p>
          <a:p>
            <a:r>
              <a:rPr sz="1351">
                <a:solidFill>
                  <a:srgbClr val="FFFFFF"/>
                </a:solidFill>
                <a:latin typeface="Helvetica Neue Light"/>
              </a:rPr>
              <a:t>Business goal, stakeholders, success, limits</a:t>
            </a:r>
          </a:p>
        </p:txBody>
      </p:sp>
      <p:sp>
        <p:nvSpPr>
          <p:cNvPr id="10" name="Rectangle 9"/>
          <p:cNvSpPr/>
          <p:nvPr/>
        </p:nvSpPr>
        <p:spPr>
          <a:xfrm>
            <a:off x="5344972" y="2535936"/>
            <a:ext cx="2314854" cy="279603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5501029" y="269199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03</a:t>
            </a:r>
          </a:p>
          <a:p>
            <a:pPr>
              <a:spcAft>
                <a:spcPts val="853"/>
              </a:spcAft>
            </a:pPr>
            <a:r>
              <a:rPr sz="1778">
                <a:solidFill>
                  <a:srgbClr val="FFFFFF"/>
                </a:solidFill>
                <a:latin typeface="Helvetica Neue Light"/>
              </a:rPr>
              <a:t>Problem: user and AI</a:t>
            </a:r>
          </a:p>
          <a:p>
            <a:r>
              <a:rPr sz="1351">
                <a:solidFill>
                  <a:srgbClr val="FFFFFF"/>
                </a:solidFill>
                <a:latin typeface="Helvetica Neue Light"/>
              </a:rPr>
              <a:t>What users struggle with; what the AI must do</a:t>
            </a:r>
          </a:p>
        </p:txBody>
      </p:sp>
      <p:sp>
        <p:nvSpPr>
          <p:cNvPr id="12" name="Rectangle 11"/>
          <p:cNvSpPr/>
          <p:nvPr/>
        </p:nvSpPr>
        <p:spPr>
          <a:xfrm>
            <a:off x="7789874" y="2535936"/>
            <a:ext cx="2314854" cy="279603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7945931" y="269199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04</a:t>
            </a:r>
          </a:p>
          <a:p>
            <a:pPr>
              <a:spcAft>
                <a:spcPts val="853"/>
              </a:spcAft>
            </a:pPr>
            <a:r>
              <a:rPr sz="1778">
                <a:solidFill>
                  <a:srgbClr val="FFFFFF"/>
                </a:solidFill>
                <a:latin typeface="Helvetica Neue Light"/>
              </a:rPr>
              <a:t>Data foundation</a:t>
            </a:r>
          </a:p>
          <a:p>
            <a:r>
              <a:rPr sz="1351">
                <a:solidFill>
                  <a:srgbClr val="FFFFFF"/>
                </a:solidFill>
                <a:latin typeface="Helvetica Neue Light"/>
              </a:rPr>
              <a:t>Sources, volume, quality, labels</a:t>
            </a:r>
          </a:p>
        </p:txBody>
      </p:sp>
      <p:sp>
        <p:nvSpPr>
          <p:cNvPr id="14" name="Rectangle 13"/>
          <p:cNvSpPr/>
          <p:nvPr/>
        </p:nvSpPr>
        <p:spPr>
          <a:xfrm>
            <a:off x="10234776" y="2535936"/>
            <a:ext cx="2314854" cy="2796032"/>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5" name="TextBox 14"/>
          <p:cNvSpPr txBox="1"/>
          <p:nvPr/>
        </p:nvSpPr>
        <p:spPr>
          <a:xfrm>
            <a:off x="10390834" y="269199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05</a:t>
            </a:r>
          </a:p>
          <a:p>
            <a:pPr>
              <a:spcAft>
                <a:spcPts val="853"/>
              </a:spcAft>
            </a:pPr>
            <a:r>
              <a:rPr sz="1778">
                <a:solidFill>
                  <a:srgbClr val="FFFFFF"/>
                </a:solidFill>
                <a:latin typeface="Helvetica Neue Light"/>
              </a:rPr>
              <a:t>The solution, hi-fi</a:t>
            </a:r>
          </a:p>
          <a:p>
            <a:r>
              <a:rPr sz="1351">
                <a:solidFill>
                  <a:srgbClr val="FFFFFF"/>
                </a:solidFill>
                <a:latin typeface="Helvetica Neue Light"/>
              </a:rPr>
              <a:t>One trade through one trading day, 19 screens</a:t>
            </a:r>
          </a:p>
        </p:txBody>
      </p:sp>
      <p:sp>
        <p:nvSpPr>
          <p:cNvPr id="16" name="Rectangle 15"/>
          <p:cNvSpPr/>
          <p:nvPr/>
        </p:nvSpPr>
        <p:spPr>
          <a:xfrm>
            <a:off x="455168" y="5592064"/>
            <a:ext cx="2314854" cy="279603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611226" y="574812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06</a:t>
            </a:r>
          </a:p>
          <a:p>
            <a:pPr>
              <a:spcAft>
                <a:spcPts val="853"/>
              </a:spcAft>
            </a:pPr>
            <a:r>
              <a:rPr sz="1778">
                <a:solidFill>
                  <a:srgbClr val="FFFFFF"/>
                </a:solidFill>
                <a:latin typeface="Helvetica Neue Light"/>
              </a:rPr>
              <a:t>Reasoning &amp; trade-offs</a:t>
            </a:r>
          </a:p>
          <a:p>
            <a:r>
              <a:rPr sz="1351">
                <a:solidFill>
                  <a:srgbClr val="FFFFFF"/>
                </a:solidFill>
                <a:latin typeface="Helvetica Neue Light"/>
              </a:rPr>
              <a:t>Chosen vs rejected, accuracy vs control</a:t>
            </a:r>
          </a:p>
        </p:txBody>
      </p:sp>
      <p:sp>
        <p:nvSpPr>
          <p:cNvPr id="18" name="Rectangle 17"/>
          <p:cNvSpPr/>
          <p:nvPr/>
        </p:nvSpPr>
        <p:spPr>
          <a:xfrm>
            <a:off x="2900071" y="5592064"/>
            <a:ext cx="2314854" cy="279603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9" name="TextBox 18"/>
          <p:cNvSpPr txBox="1"/>
          <p:nvPr/>
        </p:nvSpPr>
        <p:spPr>
          <a:xfrm>
            <a:off x="3056128"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07</a:t>
            </a:r>
          </a:p>
          <a:p>
            <a:pPr>
              <a:spcAft>
                <a:spcPts val="853"/>
              </a:spcAft>
            </a:pPr>
            <a:r>
              <a:rPr sz="1778">
                <a:solidFill>
                  <a:srgbClr val="FFFFFF"/>
                </a:solidFill>
                <a:latin typeface="Helvetica Neue Light"/>
              </a:rPr>
              <a:t>Methodology</a:t>
            </a:r>
          </a:p>
          <a:p>
            <a:r>
              <a:rPr sz="1351">
                <a:solidFill>
                  <a:srgbClr val="FFFFFF"/>
                </a:solidFill>
                <a:latin typeface="Helvetica Neue Light"/>
              </a:rPr>
              <a:t>AI methods, validation, UX research</a:t>
            </a:r>
          </a:p>
        </p:txBody>
      </p:sp>
      <p:sp>
        <p:nvSpPr>
          <p:cNvPr id="20" name="Rectangle 19"/>
          <p:cNvSpPr/>
          <p:nvPr/>
        </p:nvSpPr>
        <p:spPr>
          <a:xfrm>
            <a:off x="5344972" y="5592064"/>
            <a:ext cx="2314854" cy="279603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1" name="TextBox 20"/>
          <p:cNvSpPr txBox="1"/>
          <p:nvPr/>
        </p:nvSpPr>
        <p:spPr>
          <a:xfrm>
            <a:off x="5501029"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08</a:t>
            </a:r>
          </a:p>
          <a:p>
            <a:pPr>
              <a:spcAft>
                <a:spcPts val="853"/>
              </a:spcAft>
            </a:pPr>
            <a:r>
              <a:rPr sz="1778">
                <a:solidFill>
                  <a:srgbClr val="FFFFFF"/>
                </a:solidFill>
                <a:latin typeface="Helvetica Neue Light"/>
              </a:rPr>
              <a:t>Implementation</a:t>
            </a:r>
          </a:p>
          <a:p>
            <a:r>
              <a:rPr sz="1351">
                <a:solidFill>
                  <a:srgbClr val="FFFFFF"/>
                </a:solidFill>
                <a:latin typeface="Helvetica Neue Light"/>
              </a:rPr>
              <a:t>Built on FinViz; new services; collaboration</a:t>
            </a:r>
          </a:p>
        </p:txBody>
      </p:sp>
      <p:sp>
        <p:nvSpPr>
          <p:cNvPr id="22" name="Rectangle 21"/>
          <p:cNvSpPr/>
          <p:nvPr/>
        </p:nvSpPr>
        <p:spPr>
          <a:xfrm>
            <a:off x="7789874" y="5592064"/>
            <a:ext cx="2314854" cy="279603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TextBox 22"/>
          <p:cNvSpPr txBox="1"/>
          <p:nvPr/>
        </p:nvSpPr>
        <p:spPr>
          <a:xfrm>
            <a:off x="7945931"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09</a:t>
            </a:r>
          </a:p>
          <a:p>
            <a:pPr>
              <a:spcAft>
                <a:spcPts val="853"/>
              </a:spcAft>
            </a:pPr>
            <a:r>
              <a:rPr sz="1778">
                <a:solidFill>
                  <a:srgbClr val="FFFFFF"/>
                </a:solidFill>
                <a:latin typeface="Helvetica Neue Light"/>
              </a:rPr>
              <a:t>Results &amp; impact</a:t>
            </a:r>
          </a:p>
          <a:p>
            <a:r>
              <a:rPr sz="1351">
                <a:solidFill>
                  <a:srgbClr val="FFFFFF"/>
                </a:solidFill>
                <a:latin typeface="Helvetica Neue Light"/>
              </a:rPr>
              <a:t>Targets and how they’ll be measured</a:t>
            </a:r>
          </a:p>
        </p:txBody>
      </p:sp>
      <p:sp>
        <p:nvSpPr>
          <p:cNvPr id="24" name="Rectangle 23"/>
          <p:cNvSpPr/>
          <p:nvPr/>
        </p:nvSpPr>
        <p:spPr>
          <a:xfrm>
            <a:off x="10234776" y="5592064"/>
            <a:ext cx="2314854" cy="2796032"/>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5" name="TextBox 24"/>
          <p:cNvSpPr txBox="1"/>
          <p:nvPr/>
        </p:nvSpPr>
        <p:spPr>
          <a:xfrm>
            <a:off x="10390834" y="574812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10</a:t>
            </a:r>
          </a:p>
          <a:p>
            <a:pPr>
              <a:spcAft>
                <a:spcPts val="853"/>
              </a:spcAft>
            </a:pPr>
            <a:r>
              <a:rPr sz="1778">
                <a:solidFill>
                  <a:srgbClr val="FFFFFF"/>
                </a:solidFill>
                <a:latin typeface="Helvetica Neue Light"/>
              </a:rPr>
              <a:t>Learnings &amp; Next Steps</a:t>
            </a:r>
          </a:p>
          <a:p>
            <a:r>
              <a:rPr sz="1351">
                <a:solidFill>
                  <a:srgbClr val="FFFFFF"/>
                </a:solidFill>
                <a:latin typeface="Helvetica Neue Light"/>
              </a:rPr>
              <a:t>What I learned; what to validate before launch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dient strip" descr="gradient strip"/>
          <p:cNvPicPr>
            <a:picLocks noChangeAspect="1"/>
          </p:cNvPicPr>
          <p:nvPr/>
        </p:nvPicPr>
        <p:blipFill>
          <a:blip r:embed="rId3"/>
          <a:stretch>
            <a:fillRect/>
          </a:stretch>
        </p:blipFill>
        <p:spPr>
          <a:xfrm>
            <a:off x="0" y="0"/>
            <a:ext cx="13004800" cy="442163"/>
          </a:xfrm>
          <a:prstGeom prst="rect">
            <a:avLst/>
          </a:prstGeom>
        </p:spPr>
      </p:pic>
      <p:sp>
        <p:nvSpPr>
          <p:cNvPr id="3" name="Text 0"/>
          <p:cNvSpPr txBox="1"/>
          <p:nvPr/>
        </p:nvSpPr>
        <p:spPr>
          <a:xfrm>
            <a:off x="455168" y="780288"/>
            <a:ext cx="39014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02 · Context &amp; constraints   FinViz AI Screener</a:t>
            </a:r>
            <a:endParaRPr lang="en-US" sz="1422" dirty="0"/>
          </a:p>
        </p:txBody>
      </p:sp>
      <p:sp>
        <p:nvSpPr>
          <p:cNvPr id="4" name="Text 1"/>
          <p:cNvSpPr txBox="1"/>
          <p:nvPr/>
        </p:nvSpPr>
        <p:spPr>
          <a:xfrm>
            <a:off x="455169" y="1690624"/>
            <a:ext cx="5747511" cy="3381248"/>
          </a:xfrm>
          <a:prstGeom prst="rect">
            <a:avLst/>
          </a:prstGeom>
          <a:noFill/>
          <a:ln/>
        </p:spPr>
        <p:txBody>
          <a:bodyPr wrap="square" lIns="0" tIns="0" rIns="0" bIns="0" rtlCol="0" anchor="t"/>
          <a:lstStyle/>
          <a:p>
            <a:pPr>
              <a:lnSpc>
                <a:spcPct val="135000"/>
              </a:lnSpc>
            </a:pPr>
            <a:r>
              <a:rPr lang="en-US" sz="2800" dirty="0">
                <a:solidFill>
                  <a:srgbClr val="1F1F1F"/>
                </a:solidFill>
                <a:latin typeface="Helvetica Neue Light" pitchFamily="34" charset="0"/>
                <a:ea typeface="Helvetica Neue Light" pitchFamily="34" charset="-122"/>
                <a:cs typeface="Helvetica Neue Light" pitchFamily="34" charset="-120"/>
              </a:rPr>
              <a:t>What’s the FinViz AI layer?</a:t>
            </a:r>
            <a:endParaRPr lang="en-US" sz="2800" dirty="0"/>
          </a:p>
          <a:p>
            <a:pPr>
              <a:lnSpc>
                <a:spcPct val="135000"/>
              </a:lnSpc>
            </a:pPr>
            <a:r>
              <a:rPr lang="en-US" sz="1991" dirty="0">
                <a:solidFill>
                  <a:srgbClr val="595959"/>
                </a:solidFill>
                <a:latin typeface="Helvetica Neue Light" pitchFamily="34" charset="0"/>
                <a:ea typeface="Helvetica Neue Light" pitchFamily="34" charset="-122"/>
                <a:cs typeface="Helvetica Neue Light" pitchFamily="34" charset="-120"/>
              </a:rPr>
              <a:t>An AI layer on FinViz’s screener that turns what a trader already has (tickers, holdings, a chart) into a working screen, explains every match, and watches it through the trading day, so the trader only steps in when their own criteria are met.</a:t>
            </a:r>
            <a:endParaRPr lang="en-US" sz="1991" dirty="0"/>
          </a:p>
        </p:txBody>
      </p:sp>
      <p:sp>
        <p:nvSpPr>
          <p:cNvPr id="5" name="Shape 2"/>
          <p:cNvSpPr/>
          <p:nvPr/>
        </p:nvSpPr>
        <p:spPr>
          <a:xfrm>
            <a:off x="8518144" y="1235456"/>
            <a:ext cx="3121152" cy="3121152"/>
          </a:xfrm>
          <a:prstGeom prst="ellipse">
            <a:avLst/>
          </a:prstGeom>
          <a:solidFill>
            <a:srgbClr val="00868B"/>
          </a:solidFill>
          <a:ln w="12700">
            <a:solidFill>
              <a:srgbClr val="00868B"/>
            </a:solidFill>
            <a:prstDash val="solid"/>
          </a:ln>
        </p:spPr>
        <p:txBody>
          <a:bodyPr/>
          <a:lstStyle/>
          <a:p>
            <a:endParaRPr sz="2560"/>
          </a:p>
        </p:txBody>
      </p:sp>
      <p:sp>
        <p:nvSpPr>
          <p:cNvPr id="6" name="Text 3"/>
          <p:cNvSpPr txBox="1"/>
          <p:nvPr/>
        </p:nvSpPr>
        <p:spPr>
          <a:xfrm>
            <a:off x="9131944" y="2029321"/>
            <a:ext cx="2672412" cy="2130786"/>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Target audience</a:t>
            </a:r>
            <a:endParaRPr lang="en-US" sz="1707" dirty="0"/>
          </a:p>
          <a:p>
            <a:pPr>
              <a:buSzPct val="100000"/>
            </a:pPr>
            <a:r>
              <a:rPr lang="en-US" sz="1707" dirty="0">
                <a:solidFill>
                  <a:srgbClr val="FFFFFF"/>
                </a:solidFill>
                <a:latin typeface="Helvetica Neue Light" pitchFamily="34" charset="0"/>
                <a:ea typeface="Helvetica Neue Light" pitchFamily="34" charset="-122"/>
                <a:cs typeface="Helvetica Neue Light" pitchFamily="34" charset="-120"/>
              </a:rPr>
              <a:t>• Swing traders with </a:t>
            </a:r>
          </a:p>
          <a:p>
            <a:pPr>
              <a:buSzPct val="100000"/>
            </a:pPr>
            <a:r>
              <a:rPr lang="en-US" sz="1707" dirty="0">
                <a:solidFill>
                  <a:srgbClr val="FFFFFF"/>
                </a:solidFill>
                <a:latin typeface="Helvetica Neue Light" pitchFamily="34" charset="0"/>
                <a:ea typeface="Helvetica Neue Light" pitchFamily="34" charset="-122"/>
                <a:cs typeface="Helvetica Neue Light" pitchFamily="34" charset="-120"/>
              </a:rPr>
              <a:t>   a day job</a:t>
            </a:r>
            <a:endParaRPr lang="en-US" sz="1707" dirty="0"/>
          </a:p>
          <a:p>
            <a:pPr>
              <a:buSzPct val="100000"/>
            </a:pPr>
            <a:r>
              <a:rPr lang="en-US" sz="1707" dirty="0">
                <a:solidFill>
                  <a:srgbClr val="FFFFFF"/>
                </a:solidFill>
                <a:latin typeface="Helvetica Neue Light" pitchFamily="34" charset="0"/>
                <a:ea typeface="Helvetica Neue Light" pitchFamily="34" charset="-122"/>
                <a:cs typeface="Helvetica Neue Light" pitchFamily="34" charset="-120"/>
              </a:rPr>
              <a:t>• Day traders</a:t>
            </a:r>
            <a:endParaRPr lang="en-US" sz="1707" dirty="0"/>
          </a:p>
          <a:p>
            <a:pPr>
              <a:buSzPct val="100000"/>
            </a:pPr>
            <a:r>
              <a:rPr lang="en-US" sz="1707" dirty="0">
                <a:solidFill>
                  <a:srgbClr val="FFFFFF"/>
                </a:solidFill>
                <a:latin typeface="Helvetica Neue Light" pitchFamily="34" charset="0"/>
                <a:ea typeface="Helvetica Neue Light" pitchFamily="34" charset="-122"/>
                <a:cs typeface="Helvetica Neue Light" pitchFamily="34" charset="-120"/>
              </a:rPr>
              <a:t>• Value investors</a:t>
            </a:r>
            <a:endParaRPr lang="en-US" sz="1707" dirty="0"/>
          </a:p>
        </p:txBody>
      </p:sp>
      <p:sp>
        <p:nvSpPr>
          <p:cNvPr id="7" name="Text 4"/>
          <p:cNvSpPr txBox="1"/>
          <p:nvPr/>
        </p:nvSpPr>
        <p:spPr>
          <a:xfrm>
            <a:off x="455168" y="5396992"/>
            <a:ext cx="6502400" cy="2248687"/>
          </a:xfrm>
          <a:prstGeom prst="rect">
            <a:avLst/>
          </a:prstGeom>
          <a:noFill/>
          <a:ln/>
        </p:spPr>
        <p:txBody>
          <a:bodyPr wrap="square" lIns="0" tIns="0" rIns="0" bIns="0" rtlCol="0" anchor="t"/>
          <a:lstStyle/>
          <a:p>
            <a:pPr>
              <a:spcAft>
                <a:spcPts val="853"/>
              </a:spcAft>
            </a:pPr>
            <a:r>
              <a:rPr lang="en-US" sz="2133" dirty="0">
                <a:solidFill>
                  <a:srgbClr val="1F1F1F"/>
                </a:solidFill>
                <a:latin typeface="Helvetica Neue Light" pitchFamily="34" charset="0"/>
                <a:ea typeface="Helvetica Neue Light" pitchFamily="34" charset="-122"/>
                <a:cs typeface="Helvetica Neue Light" pitchFamily="34" charset="-120"/>
              </a:rPr>
              <a:t>The problems</a:t>
            </a:r>
            <a:endParaRPr lang="en-US" sz="1778" dirty="0"/>
          </a:p>
          <a:p>
            <a:pPr marL="487672" indent="-487672">
              <a:spcAft>
                <a:spcPts val="569"/>
              </a:spcAft>
              <a:buSzPct val="100000"/>
              <a:buChar char="•"/>
            </a:pPr>
            <a:r>
              <a:rPr lang="en-US" sz="1707" dirty="0">
                <a:solidFill>
                  <a:srgbClr val="1F1F1F"/>
                </a:solidFill>
                <a:latin typeface="Helvetica Neue Light" pitchFamily="34" charset="0"/>
                <a:ea typeface="Helvetica Neue Light" pitchFamily="34" charset="-122"/>
                <a:cs typeface="Helvetica Neue Light" pitchFamily="34" charset="-120"/>
              </a:rPr>
              <a:t>Ideas don’t become a working, watched screen</a:t>
            </a:r>
            <a:endParaRPr lang="en-US" sz="1707" dirty="0"/>
          </a:p>
          <a:p>
            <a:pPr marL="487672" indent="-487672">
              <a:spcAft>
                <a:spcPts val="569"/>
              </a:spcAft>
              <a:buSzPct val="100000"/>
              <a:buChar char="•"/>
            </a:pPr>
            <a:r>
              <a:rPr lang="en-US" sz="1707" dirty="0">
                <a:solidFill>
                  <a:srgbClr val="1F1F1F"/>
                </a:solidFill>
                <a:latin typeface="Helvetica Neue Light" pitchFamily="34" charset="0"/>
                <a:ea typeface="Helvetica Neue Light" pitchFamily="34" charset="-122"/>
                <a:cs typeface="Helvetica Neue Light" pitchFamily="34" charset="-120"/>
              </a:rPr>
              <a:t>FinViz is nearly absent during market hours</a:t>
            </a:r>
            <a:endParaRPr lang="en-US" sz="1707" dirty="0"/>
          </a:p>
          <a:p>
            <a:pPr marL="487672" indent="-487672">
              <a:spcAft>
                <a:spcPts val="569"/>
              </a:spcAft>
              <a:buSzPct val="100000"/>
              <a:buChar char="•"/>
            </a:pPr>
            <a:r>
              <a:rPr lang="en-US" sz="1707" dirty="0">
                <a:solidFill>
                  <a:srgbClr val="1F1F1F"/>
                </a:solidFill>
                <a:latin typeface="Helvetica Neue Light" pitchFamily="34" charset="0"/>
                <a:ea typeface="Helvetica Neue Light" pitchFamily="34" charset="-122"/>
                <a:cs typeface="Helvetica Neue Light" pitchFamily="34" charset="-120"/>
              </a:rPr>
              <a:t>89 filters in preset buckets; exact values are Elite-only</a:t>
            </a:r>
            <a:endParaRPr lang="en-US" sz="1707" dirty="0"/>
          </a:p>
          <a:p>
            <a:pPr marL="487672" indent="-487672">
              <a:spcAft>
                <a:spcPts val="569"/>
              </a:spcAft>
              <a:buSzPct val="100000"/>
              <a:buChar char="•"/>
            </a:pPr>
            <a:r>
              <a:rPr lang="en-US" sz="1707" dirty="0">
                <a:solidFill>
                  <a:srgbClr val="1F1F1F"/>
                </a:solidFill>
                <a:latin typeface="Helvetica Neue Light" pitchFamily="34" charset="0"/>
                <a:ea typeface="Helvetica Neue Light" pitchFamily="34" charset="-122"/>
                <a:cs typeface="Helvetica Neue Light" pitchFamily="34" charset="-120"/>
              </a:rPr>
              <a:t>Results show no reason why a stock matched</a:t>
            </a:r>
            <a:endParaRPr lang="en-US" sz="1707" dirty="0"/>
          </a:p>
          <a:p>
            <a:pPr marL="487672" indent="-487672">
              <a:spcAft>
                <a:spcPts val="569"/>
              </a:spcAft>
              <a:buSzPct val="100000"/>
              <a:buChar char="•"/>
            </a:pPr>
            <a:r>
              <a:rPr lang="en-US" sz="1707" dirty="0">
                <a:solidFill>
                  <a:srgbClr val="1F1F1F"/>
                </a:solidFill>
                <a:latin typeface="Helvetica Neue Light" pitchFamily="34" charset="0"/>
                <a:ea typeface="Helvetica Neue Light" pitchFamily="34" charset="-122"/>
                <a:cs typeface="Helvetica Neue Light" pitchFamily="34" charset="-120"/>
              </a:rPr>
              <a:t>New users stall before Elite’s value is obvious</a:t>
            </a:r>
            <a:endParaRPr lang="en-US" sz="1707" dirty="0"/>
          </a:p>
        </p:txBody>
      </p:sp>
      <p:sp>
        <p:nvSpPr>
          <p:cNvPr id="8" name="Text 5"/>
          <p:cNvSpPr txBox="1"/>
          <p:nvPr/>
        </p:nvSpPr>
        <p:spPr>
          <a:xfrm>
            <a:off x="7288405" y="5396993"/>
            <a:ext cx="5087593" cy="2920364"/>
          </a:xfrm>
          <a:prstGeom prst="rect">
            <a:avLst/>
          </a:prstGeom>
          <a:noFill/>
          <a:ln/>
        </p:spPr>
        <p:txBody>
          <a:bodyPr wrap="square" lIns="0" tIns="0" rIns="0" bIns="0" rtlCol="0" anchor="t"/>
          <a:lstStyle/>
          <a:p>
            <a:pPr>
              <a:spcAft>
                <a:spcPts val="853"/>
              </a:spcAft>
            </a:pPr>
            <a:r>
              <a:rPr lang="en-US" sz="2133" dirty="0">
                <a:solidFill>
                  <a:srgbClr val="595959"/>
                </a:solidFill>
                <a:latin typeface="Helvetica Neue Light" pitchFamily="34" charset="0"/>
                <a:ea typeface="Helvetica Neue Light" pitchFamily="34" charset="-122"/>
                <a:cs typeface="Helvetica Neue Light" pitchFamily="34" charset="-120"/>
              </a:rPr>
              <a:t>My Role</a:t>
            </a:r>
            <a:endParaRPr lang="en-US" sz="1564" dirty="0"/>
          </a:p>
          <a:p>
            <a:pPr marL="487672" indent="-487672">
              <a:spcAft>
                <a:spcPts val="569"/>
              </a:spcAft>
              <a:buSzPct val="100000"/>
              <a:buChar char="•"/>
            </a:pPr>
            <a:r>
              <a:rPr lang="en-US" sz="1707" dirty="0">
                <a:solidFill>
                  <a:srgbClr val="595959"/>
                </a:solidFill>
                <a:latin typeface="Helvetica Neue Light" pitchFamily="34" charset="0"/>
                <a:ea typeface="Helvetica Neue Light" pitchFamily="34" charset="-122"/>
                <a:cs typeface="Helvetica Neue Light" pitchFamily="34" charset="-120"/>
              </a:rPr>
              <a:t>I led the project with AI agents for drafting.</a:t>
            </a:r>
            <a:endParaRPr lang="en-US" sz="1707" dirty="0"/>
          </a:p>
          <a:p>
            <a:pPr marL="487672" indent="-487672">
              <a:spcAft>
                <a:spcPts val="569"/>
              </a:spcAft>
              <a:buSzPct val="100000"/>
              <a:buChar char="•"/>
            </a:pPr>
            <a:r>
              <a:rPr lang="en-US" sz="1707" dirty="0">
                <a:solidFill>
                  <a:srgbClr val="595959"/>
                </a:solidFill>
                <a:latin typeface="Helvetica Neue Light" pitchFamily="34" charset="0"/>
                <a:ea typeface="Helvetica Neue Light" pitchFamily="34" charset="-122"/>
                <a:cs typeface="Helvetica Neue Light" pitchFamily="34" charset="-120"/>
              </a:rPr>
              <a:t>I was responsible for discovery, research, strategy, the AI design principles and the hands-on design of artifacts, supported by AI applications.</a:t>
            </a:r>
            <a:endParaRPr lang="en-US" sz="1707" dirty="0"/>
          </a:p>
          <a:p>
            <a:pPr marL="487672" indent="-487672">
              <a:spcAft>
                <a:spcPts val="569"/>
              </a:spcAft>
              <a:buSzPct val="100000"/>
              <a:buChar char="•"/>
            </a:pPr>
            <a:r>
              <a:rPr lang="en-US" sz="1707" dirty="0">
                <a:solidFill>
                  <a:srgbClr val="595959"/>
                </a:solidFill>
                <a:latin typeface="Helvetica Neue Light" pitchFamily="34" charset="0"/>
                <a:ea typeface="Helvetica Neue Light" pitchFamily="34" charset="-122"/>
                <a:cs typeface="Helvetica Neue Light" pitchFamily="34" charset="-120"/>
              </a:rPr>
              <a:t>I led all deliverables in Figma and FigJam, ran the design review, and made and recorded the key calls.</a:t>
            </a:r>
            <a:endParaRPr lang="en-US" sz="170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dirty="0">
                <a:solidFill>
                  <a:srgbClr val="1F1F1F"/>
                </a:solidFill>
              </a:rPr>
              <a:t>02 · Context &amp; constraints   </a:t>
            </a:r>
            <a:r>
              <a:rPr sz="1422" dirty="0" err="1">
                <a:solidFill>
                  <a:srgbClr val="1F1F1F"/>
                </a:solidFill>
              </a:rPr>
              <a:t>FinViz</a:t>
            </a:r>
            <a:r>
              <a:rPr sz="1422" dirty="0">
                <a:solidFill>
                  <a:srgbClr val="1F1F1F"/>
                </a:solidFill>
              </a:rPr>
              <a:t>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The brief, and how </a:t>
            </a:r>
            <a:r>
              <a:rPr lang="en-US" sz="3200" dirty="0">
                <a:solidFill>
                  <a:srgbClr val="1F1F1F"/>
                </a:solidFill>
                <a:latin typeface="Helvetica Neue Light"/>
              </a:rPr>
              <a:t>we </a:t>
            </a:r>
            <a:r>
              <a:rPr sz="3200" dirty="0">
                <a:solidFill>
                  <a:srgbClr val="1F1F1F"/>
                </a:solidFill>
                <a:latin typeface="Helvetica Neue Light"/>
              </a:rPr>
              <a:t>answer it</a:t>
            </a:r>
          </a:p>
        </p:txBody>
      </p:sp>
      <p:sp>
        <p:nvSpPr>
          <p:cNvPr id="6" name="Rectangle 5"/>
          <p:cNvSpPr/>
          <p:nvPr/>
        </p:nvSpPr>
        <p:spPr>
          <a:xfrm>
            <a:off x="455168" y="1913924"/>
            <a:ext cx="2926080" cy="3186176"/>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11226" y="2043971"/>
            <a:ext cx="2600960" cy="1399870"/>
          </a:xfrm>
          <a:prstGeom prst="rect">
            <a:avLst/>
          </a:prstGeom>
          <a:noFill/>
        </p:spPr>
        <p:txBody>
          <a:bodyPr wrap="square" lIns="0" tIns="0" rIns="0" bIns="0">
            <a:spAutoFit/>
          </a:bodyPr>
          <a:lstStyle/>
          <a:p>
            <a:pPr>
              <a:spcAft>
                <a:spcPts val="569"/>
              </a:spcAft>
            </a:pPr>
            <a:r>
              <a:rPr sz="1280">
                <a:solidFill>
                  <a:srgbClr val="FFFFFF"/>
                </a:solidFill>
                <a:latin typeface="Helvetica Neue"/>
              </a:rPr>
              <a:t>WEEK 1</a:t>
            </a:r>
          </a:p>
          <a:p>
            <a:pPr>
              <a:spcAft>
                <a:spcPts val="1138"/>
              </a:spcAft>
            </a:pPr>
            <a:r>
              <a:rPr sz="1707">
                <a:solidFill>
                  <a:srgbClr val="FFFFFF"/>
                </a:solidFill>
                <a:latin typeface="Helvetica Neue Light"/>
              </a:rPr>
              <a:t>Domain, needs, pains, AI Solution Canvas</a:t>
            </a:r>
          </a:p>
          <a:p>
            <a:r>
              <a:rPr sz="1493">
                <a:solidFill>
                  <a:srgbClr val="FFFFFF"/>
                </a:solidFill>
                <a:latin typeface="Helvetica Neue Light"/>
              </a:rPr>
              <a:t>→ Context file, personas, 27 pains scored, KPI tree, canvas</a:t>
            </a:r>
          </a:p>
        </p:txBody>
      </p:sp>
      <p:sp>
        <p:nvSpPr>
          <p:cNvPr id="8" name="Rectangle 7"/>
          <p:cNvSpPr/>
          <p:nvPr/>
        </p:nvSpPr>
        <p:spPr>
          <a:xfrm>
            <a:off x="3511296" y="1913924"/>
            <a:ext cx="2926080" cy="3186176"/>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3667354" y="2043971"/>
            <a:ext cx="2600960" cy="1629613"/>
          </a:xfrm>
          <a:prstGeom prst="rect">
            <a:avLst/>
          </a:prstGeom>
          <a:noFill/>
        </p:spPr>
        <p:txBody>
          <a:bodyPr wrap="square" lIns="0" tIns="0" rIns="0" bIns="0">
            <a:spAutoFit/>
          </a:bodyPr>
          <a:lstStyle/>
          <a:p>
            <a:pPr>
              <a:spcAft>
                <a:spcPts val="569"/>
              </a:spcAft>
            </a:pPr>
            <a:r>
              <a:rPr sz="1280">
                <a:solidFill>
                  <a:srgbClr val="FFFFFF"/>
                </a:solidFill>
                <a:latin typeface="Helvetica Neue"/>
              </a:rPr>
              <a:t>WEEK 2</a:t>
            </a:r>
          </a:p>
          <a:p>
            <a:pPr>
              <a:spcAft>
                <a:spcPts val="1138"/>
              </a:spcAft>
            </a:pPr>
            <a:r>
              <a:rPr sz="1707">
                <a:solidFill>
                  <a:srgbClr val="FFFFFF"/>
                </a:solidFill>
                <a:latin typeface="Helvetica Neue Light"/>
              </a:rPr>
              <a:t>Onboarding or filters: first success faster</a:t>
            </a:r>
          </a:p>
          <a:p>
            <a:r>
              <a:rPr sz="1493">
                <a:solidFill>
                  <a:srgbClr val="FFFFFF"/>
                </a:solidFill>
                <a:latin typeface="Helvetica Neue Light"/>
              </a:rPr>
              <a:t>→ First Steps + Filtering → The Trading Day · On Watch (OW1–OW7) → hi-fi flow</a:t>
            </a:r>
          </a:p>
        </p:txBody>
      </p:sp>
      <p:sp>
        <p:nvSpPr>
          <p:cNvPr id="10" name="Rectangle 9"/>
          <p:cNvSpPr/>
          <p:nvPr/>
        </p:nvSpPr>
        <p:spPr>
          <a:xfrm>
            <a:off x="6567424" y="1913924"/>
            <a:ext cx="2926080" cy="3186176"/>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723482" y="2043971"/>
            <a:ext cx="2600960" cy="1399870"/>
          </a:xfrm>
          <a:prstGeom prst="rect">
            <a:avLst/>
          </a:prstGeom>
          <a:noFill/>
        </p:spPr>
        <p:txBody>
          <a:bodyPr wrap="square" lIns="0" tIns="0" rIns="0" bIns="0">
            <a:spAutoFit/>
          </a:bodyPr>
          <a:lstStyle/>
          <a:p>
            <a:pPr>
              <a:spcAft>
                <a:spcPts val="569"/>
              </a:spcAft>
            </a:pPr>
            <a:r>
              <a:rPr sz="1280">
                <a:solidFill>
                  <a:srgbClr val="FFFFFF"/>
                </a:solidFill>
                <a:latin typeface="Helvetica Neue"/>
              </a:rPr>
              <a:t>WEEK 3</a:t>
            </a:r>
          </a:p>
          <a:p>
            <a:pPr>
              <a:spcAft>
                <a:spcPts val="1138"/>
              </a:spcAft>
            </a:pPr>
            <a:r>
              <a:rPr sz="1707">
                <a:solidFill>
                  <a:srgbClr val="FFFFFF"/>
                </a:solidFill>
                <a:latin typeface="Helvetica Neue Light"/>
              </a:rPr>
              <a:t>Alerts &amp; notifications: input, output, refinement</a:t>
            </a:r>
          </a:p>
          <a:p>
            <a:r>
              <a:rPr sz="1493">
                <a:solidFill>
                  <a:srgbClr val="FFFFFF"/>
                </a:solidFill>
                <a:latin typeface="Helvetica Neue Light"/>
              </a:rPr>
              <a:t>→ Canvas v2, three journeys, 18 ideas, AN7–AN8</a:t>
            </a:r>
          </a:p>
        </p:txBody>
      </p:sp>
      <p:sp>
        <p:nvSpPr>
          <p:cNvPr id="12" name="Rectangle 11"/>
          <p:cNvSpPr/>
          <p:nvPr/>
        </p:nvSpPr>
        <p:spPr>
          <a:xfrm>
            <a:off x="9623552" y="1913924"/>
            <a:ext cx="2926080" cy="3186176"/>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9779610" y="2043972"/>
            <a:ext cx="2600960" cy="1859355"/>
          </a:xfrm>
          <a:prstGeom prst="rect">
            <a:avLst/>
          </a:prstGeom>
          <a:noFill/>
        </p:spPr>
        <p:txBody>
          <a:bodyPr wrap="square" lIns="0" tIns="0" rIns="0" bIns="0">
            <a:spAutoFit/>
          </a:bodyPr>
          <a:lstStyle/>
          <a:p>
            <a:pPr>
              <a:spcAft>
                <a:spcPts val="569"/>
              </a:spcAft>
            </a:pPr>
            <a:r>
              <a:rPr sz="1280">
                <a:solidFill>
                  <a:srgbClr val="FFFFFF"/>
                </a:solidFill>
                <a:latin typeface="Helvetica Neue"/>
              </a:rPr>
              <a:t>WEEK 4</a:t>
            </a:r>
          </a:p>
          <a:p>
            <a:pPr>
              <a:spcAft>
                <a:spcPts val="1138"/>
              </a:spcAft>
            </a:pPr>
            <a:r>
              <a:rPr sz="1707">
                <a:solidFill>
                  <a:srgbClr val="FFFFFF"/>
                </a:solidFill>
                <a:latin typeface="Helvetica Neue Light"/>
              </a:rPr>
              <a:t>Charts UX: insights, accuracy, just in time</a:t>
            </a:r>
          </a:p>
          <a:p>
            <a:r>
              <a:rPr sz="1493">
                <a:solidFill>
                  <a:srgbClr val="FFFFFF"/>
                </a:solidFill>
                <a:latin typeface="Helvetica Neue Light"/>
              </a:rPr>
              <a:t>→ Chart Lens: lenses over a list, reliability layer (CL1–CL4) · Insight Board dashboard (DB1–DB5)</a:t>
            </a:r>
          </a:p>
        </p:txBody>
      </p:sp>
      <p:sp>
        <p:nvSpPr>
          <p:cNvPr id="14" name="TextBox 13"/>
          <p:cNvSpPr txBox="1"/>
          <p:nvPr/>
        </p:nvSpPr>
        <p:spPr>
          <a:xfrm>
            <a:off x="455168" y="5664700"/>
            <a:ext cx="7802880" cy="196977"/>
          </a:xfrm>
          <a:prstGeom prst="rect">
            <a:avLst/>
          </a:prstGeom>
          <a:noFill/>
        </p:spPr>
        <p:txBody>
          <a:bodyPr wrap="square" lIns="0" tIns="0" rIns="0" bIns="0">
            <a:spAutoFit/>
          </a:bodyPr>
          <a:lstStyle/>
          <a:p>
            <a:r>
              <a:rPr sz="1280" dirty="0">
                <a:solidFill>
                  <a:srgbClr val="C45A35"/>
                </a:solidFill>
                <a:latin typeface="Helvetica Neue"/>
              </a:rPr>
              <a:t>WHERE WE DELIBERATELY DEPART FROM THE BRIEF</a:t>
            </a:r>
          </a:p>
        </p:txBody>
      </p:sp>
      <p:sp>
        <p:nvSpPr>
          <p:cNvPr id="15" name="Rectangle 14"/>
          <p:cNvSpPr/>
          <p:nvPr/>
        </p:nvSpPr>
        <p:spPr>
          <a:xfrm>
            <a:off x="455168" y="6015829"/>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650240" y="6106863"/>
            <a:ext cx="3565602" cy="437684"/>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users are mostly expert day traders and multi-portfolio managers.</a:t>
            </a:r>
          </a:p>
        </p:txBody>
      </p:sp>
      <p:sp>
        <p:nvSpPr>
          <p:cNvPr id="17" name="TextBox 16"/>
          <p:cNvSpPr txBox="1"/>
          <p:nvPr/>
        </p:nvSpPr>
        <p:spPr>
          <a:xfrm>
            <a:off x="4876800" y="6106863"/>
            <a:ext cx="7477760" cy="459485"/>
          </a:xfrm>
          <a:prstGeom prst="rect">
            <a:avLst/>
          </a:prstGeom>
          <a:noFill/>
        </p:spPr>
        <p:txBody>
          <a:bodyPr wrap="square" lIns="0" tIns="0" rIns="0" bIns="0">
            <a:spAutoFit/>
          </a:bodyPr>
          <a:lstStyle/>
          <a:p>
            <a:r>
              <a:rPr sz="1493">
                <a:solidFill>
                  <a:srgbClr val="1F1F1F"/>
                </a:solidFill>
                <a:latin typeface="Helvetica Neue Light"/>
              </a:rPr>
              <a:t>We center Growth Gary, a swing trader with a day job: the largest new-user group that can’t watch the market at work, where alerts sell Elite. Day traders stay the conversion lever.</a:t>
            </a:r>
          </a:p>
        </p:txBody>
      </p:sp>
      <p:sp>
        <p:nvSpPr>
          <p:cNvPr id="18" name="Rectangle 17"/>
          <p:cNvSpPr/>
          <p:nvPr/>
        </p:nvSpPr>
        <p:spPr>
          <a:xfrm>
            <a:off x="455168" y="6952175"/>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9" name="TextBox 18"/>
          <p:cNvSpPr txBox="1"/>
          <p:nvPr/>
        </p:nvSpPr>
        <p:spPr>
          <a:xfrm>
            <a:off x="650240" y="7043208"/>
            <a:ext cx="4031488" cy="437684"/>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users want expert recommendations with probability scores.</a:t>
            </a:r>
          </a:p>
        </p:txBody>
      </p:sp>
      <p:sp>
        <p:nvSpPr>
          <p:cNvPr id="20" name="TextBox 19"/>
          <p:cNvSpPr txBox="1"/>
          <p:nvPr/>
        </p:nvSpPr>
        <p:spPr>
          <a:xfrm>
            <a:off x="4876800" y="7043209"/>
            <a:ext cx="7477760" cy="459485"/>
          </a:xfrm>
          <a:prstGeom prst="rect">
            <a:avLst/>
          </a:prstGeom>
          <a:noFill/>
        </p:spPr>
        <p:txBody>
          <a:bodyPr wrap="square" lIns="0" tIns="0" rIns="0" bIns="0">
            <a:spAutoFit/>
          </a:bodyPr>
          <a:lstStyle/>
          <a:p>
            <a:r>
              <a:rPr sz="1493">
                <a:solidFill>
                  <a:srgbClr val="1F1F1F"/>
                </a:solidFill>
                <a:latin typeface="Helvetica Neue Light"/>
              </a:rPr>
              <a:t>No AI-originated probabilities or buy/sell. Attributed analyst views are allowed (pending compliance); history is shown as history, with sample sizes.</a:t>
            </a:r>
          </a:p>
        </p:txBody>
      </p:sp>
      <p:sp>
        <p:nvSpPr>
          <p:cNvPr id="21" name="Rectangle 20"/>
          <p:cNvSpPr/>
          <p:nvPr/>
        </p:nvSpPr>
        <p:spPr>
          <a:xfrm>
            <a:off x="455168" y="7888521"/>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650240" y="7979554"/>
            <a:ext cx="4031488" cy="218842"/>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mobile is a goal.</a:t>
            </a:r>
          </a:p>
        </p:txBody>
      </p:sp>
      <p:sp>
        <p:nvSpPr>
          <p:cNvPr id="23" name="TextBox 22"/>
          <p:cNvSpPr txBox="1"/>
          <p:nvPr/>
        </p:nvSpPr>
        <p:spPr>
          <a:xfrm>
            <a:off x="4876800" y="7979555"/>
            <a:ext cx="7477760" cy="459485"/>
          </a:xfrm>
          <a:prstGeom prst="rect">
            <a:avLst/>
          </a:prstGeom>
          <a:noFill/>
        </p:spPr>
        <p:txBody>
          <a:bodyPr wrap="square" lIns="0" tIns="0" rIns="0" bIns="0">
            <a:spAutoFit/>
          </a:bodyPr>
          <a:lstStyle/>
          <a:p>
            <a:r>
              <a:rPr sz="1493">
                <a:solidFill>
                  <a:srgbClr val="1F1F1F"/>
                </a:solidFill>
                <a:latin typeface="Helvetica Neue Light"/>
              </a:rPr>
              <a:t>Desktop only for this exploration, as Week 2 asks; FinViz has no native app. Mobile is deferred, not dropped.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02 · Context &amp; constraints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Why design an AI layer for the screener?</a:t>
            </a:r>
            <a:endParaRPr lang="en-US" sz="3200" dirty="0"/>
          </a:p>
        </p:txBody>
      </p:sp>
      <p:sp>
        <p:nvSpPr>
          <p:cNvPr id="4" name="Text 2"/>
          <p:cNvSpPr txBox="1"/>
          <p:nvPr/>
        </p:nvSpPr>
        <p:spPr>
          <a:xfrm>
            <a:off x="1170432" y="1950720"/>
            <a:ext cx="5201920" cy="1257131"/>
          </a:xfrm>
          <a:prstGeom prst="rect">
            <a:avLst/>
          </a:prstGeom>
          <a:noFill/>
          <a:ln/>
        </p:spPr>
        <p:txBody>
          <a:bodyPr wrap="square" lIns="0" tIns="0" rIns="0" bIns="0" rtlCol="0" anchor="t"/>
          <a:lstStyle/>
          <a:p>
            <a:r>
              <a:rPr lang="en-US" sz="8249" dirty="0">
                <a:solidFill>
                  <a:srgbClr val="1F5BFF"/>
                </a:solidFill>
                <a:latin typeface="Helvetica Neue Light" pitchFamily="34" charset="0"/>
                <a:ea typeface="Helvetica Neue Light" pitchFamily="34" charset="-122"/>
                <a:cs typeface="Helvetica Neue Light" pitchFamily="34" charset="-120"/>
              </a:rPr>
              <a:t>42 → 21</a:t>
            </a:r>
            <a:endParaRPr lang="en-US" sz="8249" dirty="0"/>
          </a:p>
        </p:txBody>
      </p:sp>
      <p:sp>
        <p:nvSpPr>
          <p:cNvPr id="5" name="Text 3"/>
          <p:cNvSpPr txBox="1"/>
          <p:nvPr/>
        </p:nvSpPr>
        <p:spPr>
          <a:xfrm>
            <a:off x="1429099" y="3168836"/>
            <a:ext cx="2729579" cy="780288"/>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days from sign-up to Elite: the business goal</a:t>
            </a:r>
            <a:endParaRPr lang="en-US" sz="1849" dirty="0"/>
          </a:p>
        </p:txBody>
      </p:sp>
      <p:sp>
        <p:nvSpPr>
          <p:cNvPr id="6" name="Text 4"/>
          <p:cNvSpPr txBox="1"/>
          <p:nvPr/>
        </p:nvSpPr>
        <p:spPr>
          <a:xfrm>
            <a:off x="7347712" y="2950970"/>
            <a:ext cx="5201920" cy="1257131"/>
          </a:xfrm>
          <a:prstGeom prst="rect">
            <a:avLst/>
          </a:prstGeom>
          <a:noFill/>
          <a:ln/>
        </p:spPr>
        <p:txBody>
          <a:bodyPr wrap="square" lIns="0" tIns="0" rIns="0" bIns="0" rtlCol="0" anchor="t"/>
          <a:lstStyle/>
          <a:p>
            <a:r>
              <a:rPr lang="en-US" sz="8249" dirty="0">
                <a:solidFill>
                  <a:srgbClr val="A100E8"/>
                </a:solidFill>
                <a:latin typeface="Helvetica Neue Light" pitchFamily="34" charset="0"/>
                <a:ea typeface="Helvetica Neue Light" pitchFamily="34" charset="-122"/>
                <a:cs typeface="Helvetica Neue Light" pitchFamily="34" charset="-120"/>
              </a:rPr>
              <a:t>89</a:t>
            </a:r>
            <a:endParaRPr lang="en-US" sz="8249" dirty="0"/>
          </a:p>
        </p:txBody>
      </p:sp>
      <p:sp>
        <p:nvSpPr>
          <p:cNvPr id="7" name="Text 5"/>
          <p:cNvSpPr txBox="1"/>
          <p:nvPr/>
        </p:nvSpPr>
        <p:spPr>
          <a:xfrm>
            <a:off x="8635266" y="3169325"/>
            <a:ext cx="1929283" cy="598221"/>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filter dropdowns, most in preset buckets</a:t>
            </a:r>
            <a:endParaRPr lang="en-US" sz="1849" dirty="0"/>
          </a:p>
        </p:txBody>
      </p:sp>
      <p:sp>
        <p:nvSpPr>
          <p:cNvPr id="8" name="Text 6"/>
          <p:cNvSpPr txBox="1"/>
          <p:nvPr/>
        </p:nvSpPr>
        <p:spPr>
          <a:xfrm>
            <a:off x="1292467" y="4521336"/>
            <a:ext cx="5470030" cy="953685"/>
          </a:xfrm>
          <a:prstGeom prst="rect">
            <a:avLst/>
          </a:prstGeom>
          <a:noFill/>
          <a:ln/>
        </p:spPr>
        <p:txBody>
          <a:bodyPr wrap="square" lIns="0" tIns="0" rIns="0" bIns="0" rtlCol="0" anchor="t"/>
          <a:lstStyle/>
          <a:p>
            <a:r>
              <a:rPr lang="en-US" sz="6258" dirty="0">
                <a:solidFill>
                  <a:srgbClr val="00B5CC"/>
                </a:solidFill>
                <a:latin typeface="Helvetica Neue Light" pitchFamily="34" charset="0"/>
                <a:ea typeface="Helvetica Neue Light" pitchFamily="34" charset="-122"/>
                <a:cs typeface="Helvetica Neue Light" pitchFamily="34" charset="-120"/>
              </a:rPr>
              <a:t>87 of 89</a:t>
            </a:r>
            <a:endParaRPr lang="en-US" sz="6258" dirty="0"/>
          </a:p>
        </p:txBody>
      </p:sp>
      <p:sp>
        <p:nvSpPr>
          <p:cNvPr id="9" name="Text 7"/>
          <p:cNvSpPr txBox="1"/>
          <p:nvPr/>
        </p:nvSpPr>
        <p:spPr>
          <a:xfrm>
            <a:off x="1429099" y="5475021"/>
            <a:ext cx="2682419" cy="780288"/>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filters need Elite for an exact value</a:t>
            </a:r>
            <a:endParaRPr lang="en-US" sz="1849" dirty="0"/>
          </a:p>
        </p:txBody>
      </p:sp>
      <p:sp>
        <p:nvSpPr>
          <p:cNvPr id="10" name="Text 8"/>
          <p:cNvSpPr txBox="1"/>
          <p:nvPr/>
        </p:nvSpPr>
        <p:spPr>
          <a:xfrm>
            <a:off x="1429100" y="7165645"/>
            <a:ext cx="521621" cy="953685"/>
          </a:xfrm>
          <a:prstGeom prst="rect">
            <a:avLst/>
          </a:prstGeom>
          <a:noFill/>
          <a:ln/>
        </p:spPr>
        <p:txBody>
          <a:bodyPr wrap="square" lIns="0" tIns="0" rIns="0" bIns="0" rtlCol="0" anchor="t"/>
          <a:lstStyle/>
          <a:p>
            <a:r>
              <a:rPr lang="en-US" sz="6258" dirty="0">
                <a:solidFill>
                  <a:srgbClr val="F040E0"/>
                </a:solidFill>
                <a:latin typeface="Helvetica Neue Light" pitchFamily="34" charset="0"/>
                <a:ea typeface="Helvetica Neue Light" pitchFamily="34" charset="-122"/>
                <a:cs typeface="Helvetica Neue Light" pitchFamily="34" charset="-120"/>
              </a:rPr>
              <a:t>0</a:t>
            </a:r>
            <a:endParaRPr lang="en-US" sz="6258" dirty="0"/>
          </a:p>
        </p:txBody>
      </p:sp>
      <p:sp>
        <p:nvSpPr>
          <p:cNvPr id="11" name="Text 9"/>
          <p:cNvSpPr txBox="1"/>
          <p:nvPr/>
        </p:nvSpPr>
        <p:spPr>
          <a:xfrm>
            <a:off x="1950720" y="7380224"/>
            <a:ext cx="2386597" cy="845312"/>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AI features in the FinViz screener today</a:t>
            </a:r>
            <a:endParaRPr lang="en-US" sz="1849" dirty="0"/>
          </a:p>
        </p:txBody>
      </p:sp>
      <p:sp>
        <p:nvSpPr>
          <p:cNvPr id="12" name="Text 10"/>
          <p:cNvSpPr txBox="1"/>
          <p:nvPr/>
        </p:nvSpPr>
        <p:spPr>
          <a:xfrm>
            <a:off x="6998948" y="6306209"/>
            <a:ext cx="5201920" cy="1300480"/>
          </a:xfrm>
          <a:prstGeom prst="rect">
            <a:avLst/>
          </a:prstGeom>
          <a:noFill/>
          <a:ln/>
        </p:spPr>
        <p:txBody>
          <a:bodyPr wrap="square" lIns="0" tIns="0" rIns="0" bIns="0" rtlCol="0" anchor="t"/>
          <a:lstStyle/>
          <a:p>
            <a:pPr algn="ctr"/>
            <a:r>
              <a:rPr lang="en-US" sz="2276" dirty="0">
                <a:solidFill>
                  <a:srgbClr val="6E6E6E"/>
                </a:solidFill>
                <a:latin typeface="Helvetica Neue Light" pitchFamily="34" charset="0"/>
                <a:ea typeface="Helvetica Neue Light" pitchFamily="34" charset="-122"/>
                <a:cs typeface="Helvetica Neue Light" pitchFamily="34" charset="-120"/>
              </a:rPr>
              <a:t>“Too many filters, and no filter literacy. And a chat box is not the answer.”</a:t>
            </a:r>
            <a:endParaRPr lang="en-US" sz="2276" dirty="0"/>
          </a:p>
        </p:txBody>
      </p:sp>
      <p:pic>
        <p:nvPicPr>
          <p:cNvPr id="1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02 · Context &amp; constraints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FinViz today: Tour-led onboarding, AI only on the news</a:t>
            </a:r>
            <a:endParaRPr lang="en-US" sz="3200" dirty="0"/>
          </a:p>
        </p:txBody>
      </p:sp>
      <p:pic>
        <p:nvPicPr>
          <p:cNvPr id="4" name="Picture 3" descr="image.png"/>
          <p:cNvPicPr>
            <a:picLocks noChangeAspect="1"/>
          </p:cNvPicPr>
          <p:nvPr/>
        </p:nvPicPr>
        <p:blipFill>
          <a:blip r:embed="rId3"/>
          <a:stretch>
            <a:fillRect/>
          </a:stretch>
        </p:blipFill>
        <p:spPr>
          <a:xfrm>
            <a:off x="0" y="9285427"/>
            <a:ext cx="13004800" cy="468173"/>
          </a:xfrm>
          <a:prstGeom prst="rect">
            <a:avLst/>
          </a:prstGeom>
        </p:spPr>
      </p:pic>
      <p:pic>
        <p:nvPicPr>
          <p:cNvPr id="5" name="FinViz home, top (Oct 4 2026)" descr="finviz-home-2026-10-04-2.png"/>
          <p:cNvPicPr>
            <a:picLocks noChangeAspect="1"/>
          </p:cNvPicPr>
          <p:nvPr/>
        </p:nvPicPr>
        <p:blipFill>
          <a:blip r:embed="rId4"/>
          <a:stretch>
            <a:fillRect/>
          </a:stretch>
        </p:blipFill>
        <p:spPr>
          <a:xfrm>
            <a:off x="455168" y="1820672"/>
            <a:ext cx="6502400" cy="3696614"/>
          </a:xfrm>
          <a:prstGeom prst="rect">
            <a:avLst/>
          </a:prstGeom>
          <a:ln w="9525">
            <a:solidFill>
              <a:srgbClr val="1F1F1F"/>
            </a:solidFill>
          </a:ln>
        </p:spPr>
      </p:pic>
      <p:pic>
        <p:nvPicPr>
          <p:cNvPr id="6" name="FinViz home, lower (Oct 4 2026)" descr="finviz-home-2026-10-04-1.png"/>
          <p:cNvPicPr>
            <a:picLocks noChangeAspect="1"/>
          </p:cNvPicPr>
          <p:nvPr/>
        </p:nvPicPr>
        <p:blipFill>
          <a:blip r:embed="rId5"/>
          <a:stretch>
            <a:fillRect/>
          </a:stretch>
        </p:blipFill>
        <p:spPr>
          <a:xfrm>
            <a:off x="455168" y="5712359"/>
            <a:ext cx="6502400" cy="3176422"/>
          </a:xfrm>
          <a:prstGeom prst="rect">
            <a:avLst/>
          </a:prstGeom>
          <a:ln w="9525">
            <a:solidFill>
              <a:srgbClr val="1F1F1F"/>
            </a:solidFill>
          </a:ln>
        </p:spPr>
      </p:pic>
      <p:sp>
        <p:nvSpPr>
          <p:cNvPr id="7" name="Oval 6"/>
          <p:cNvSpPr/>
          <p:nvPr/>
        </p:nvSpPr>
        <p:spPr>
          <a:xfrm>
            <a:off x="845310" y="2338197"/>
            <a:ext cx="416154" cy="416154"/>
          </a:xfrm>
          <a:prstGeom prst="ellipse">
            <a:avLst/>
          </a:prstGeom>
          <a:solidFill>
            <a:srgbClr val="C45A35"/>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64" b="1">
                <a:solidFill>
                  <a:srgbClr val="FFFFFF"/>
                </a:solidFill>
              </a:rPr>
              <a:t>2</a:t>
            </a:r>
          </a:p>
        </p:txBody>
      </p:sp>
      <p:sp>
        <p:nvSpPr>
          <p:cNvPr id="8" name="Oval 7"/>
          <p:cNvSpPr/>
          <p:nvPr/>
        </p:nvSpPr>
        <p:spPr>
          <a:xfrm>
            <a:off x="2015742" y="4112572"/>
            <a:ext cx="416154" cy="416154"/>
          </a:xfrm>
          <a:prstGeom prst="ellipse">
            <a:avLst/>
          </a:prstGeom>
          <a:solidFill>
            <a:srgbClr val="C45A35"/>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64" b="1">
                <a:solidFill>
                  <a:srgbClr val="FFFFFF"/>
                </a:solidFill>
              </a:rPr>
              <a:t>3</a:t>
            </a:r>
          </a:p>
        </p:txBody>
      </p:sp>
      <p:sp>
        <p:nvSpPr>
          <p:cNvPr id="9" name="Oval 8"/>
          <p:cNvSpPr/>
          <p:nvPr/>
        </p:nvSpPr>
        <p:spPr>
          <a:xfrm>
            <a:off x="3056128" y="8380552"/>
            <a:ext cx="416154" cy="416154"/>
          </a:xfrm>
          <a:prstGeom prst="ellipse">
            <a:avLst/>
          </a:prstGeom>
          <a:solidFill>
            <a:srgbClr val="C45A35"/>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64" b="1">
                <a:solidFill>
                  <a:srgbClr val="FFFFFF"/>
                </a:solidFill>
              </a:rPr>
              <a:t>1</a:t>
            </a:r>
          </a:p>
        </p:txBody>
      </p:sp>
      <p:sp>
        <p:nvSpPr>
          <p:cNvPr id="10" name="Oval 9"/>
          <p:cNvSpPr/>
          <p:nvPr/>
        </p:nvSpPr>
        <p:spPr>
          <a:xfrm>
            <a:off x="7412736" y="1885696"/>
            <a:ext cx="416154" cy="416154"/>
          </a:xfrm>
          <a:prstGeom prst="ellipse">
            <a:avLst/>
          </a:prstGeom>
          <a:solidFill>
            <a:srgbClr val="C45A35"/>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64" b="1">
                <a:solidFill>
                  <a:srgbClr val="FFFFFF"/>
                </a:solidFill>
              </a:rPr>
              <a:t>1</a:t>
            </a:r>
          </a:p>
        </p:txBody>
      </p:sp>
      <p:sp>
        <p:nvSpPr>
          <p:cNvPr id="11" name="TextBox 10"/>
          <p:cNvSpPr txBox="1"/>
          <p:nvPr/>
        </p:nvSpPr>
        <p:spPr>
          <a:xfrm>
            <a:off x="7997952" y="1885696"/>
            <a:ext cx="4551680" cy="306366"/>
          </a:xfrm>
          <a:prstGeom prst="rect">
            <a:avLst/>
          </a:prstGeom>
          <a:noFill/>
        </p:spPr>
        <p:txBody>
          <a:bodyPr wrap="square" lIns="0" tIns="0" rIns="0" bIns="0">
            <a:spAutoFit/>
          </a:bodyPr>
          <a:lstStyle/>
          <a:p>
            <a:r>
              <a:rPr sz="1991">
                <a:solidFill>
                  <a:srgbClr val="1F1F1F"/>
                </a:solidFill>
                <a:latin typeface="Helvetica Neue Light"/>
              </a:rPr>
              <a:t>The guided-tour prompt</a:t>
            </a:r>
          </a:p>
        </p:txBody>
      </p:sp>
      <p:sp>
        <p:nvSpPr>
          <p:cNvPr id="12" name="TextBox 11"/>
          <p:cNvSpPr txBox="1"/>
          <p:nvPr/>
        </p:nvSpPr>
        <p:spPr>
          <a:xfrm>
            <a:off x="7997952" y="2470912"/>
            <a:ext cx="4551680" cy="755207"/>
          </a:xfrm>
          <a:prstGeom prst="rect">
            <a:avLst/>
          </a:prstGeom>
          <a:noFill/>
        </p:spPr>
        <p:txBody>
          <a:bodyPr wrap="square" lIns="0" tIns="0" rIns="0" bIns="0">
            <a:spAutoFit/>
          </a:bodyPr>
          <a:lstStyle/>
          <a:p>
            <a:r>
              <a:rPr sz="1636">
                <a:solidFill>
                  <a:srgbClr val="595959"/>
                </a:solidFill>
                <a:latin typeface="Helvetica Neue Light"/>
              </a:rPr>
              <a:t>“First Time Here? Watch the Guided Tour”: FinViz’s answer to first use is still a tour, now promoted on the home page.</a:t>
            </a:r>
          </a:p>
        </p:txBody>
      </p:sp>
      <p:sp>
        <p:nvSpPr>
          <p:cNvPr id="13" name="Oval 12"/>
          <p:cNvSpPr/>
          <p:nvPr/>
        </p:nvSpPr>
        <p:spPr>
          <a:xfrm>
            <a:off x="7412736" y="4161536"/>
            <a:ext cx="416154" cy="416154"/>
          </a:xfrm>
          <a:prstGeom prst="ellipse">
            <a:avLst/>
          </a:prstGeom>
          <a:solidFill>
            <a:srgbClr val="C45A35"/>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64" b="1">
                <a:solidFill>
                  <a:srgbClr val="FFFFFF"/>
                </a:solidFill>
              </a:rPr>
              <a:t>2</a:t>
            </a:r>
          </a:p>
        </p:txBody>
      </p:sp>
      <p:sp>
        <p:nvSpPr>
          <p:cNvPr id="14" name="TextBox 13"/>
          <p:cNvSpPr txBox="1"/>
          <p:nvPr/>
        </p:nvSpPr>
        <p:spPr>
          <a:xfrm>
            <a:off x="7997952" y="4161536"/>
            <a:ext cx="4551680" cy="306366"/>
          </a:xfrm>
          <a:prstGeom prst="rect">
            <a:avLst/>
          </a:prstGeom>
          <a:noFill/>
        </p:spPr>
        <p:txBody>
          <a:bodyPr wrap="square" lIns="0" tIns="0" rIns="0" bIns="0">
            <a:spAutoFit/>
          </a:bodyPr>
          <a:lstStyle/>
          <a:p>
            <a:r>
              <a:rPr sz="1991">
                <a:solidFill>
                  <a:srgbClr val="1F1F1F"/>
                </a:solidFill>
                <a:latin typeface="Helvetica Neue Light"/>
              </a:rPr>
              <a:t>“Weekend Brief”</a:t>
            </a:r>
          </a:p>
        </p:txBody>
      </p:sp>
      <p:sp>
        <p:nvSpPr>
          <p:cNvPr id="15" name="TextBox 14"/>
          <p:cNvSpPr txBox="1"/>
          <p:nvPr/>
        </p:nvSpPr>
        <p:spPr>
          <a:xfrm>
            <a:off x="7997952" y="4746752"/>
            <a:ext cx="4551680" cy="755207"/>
          </a:xfrm>
          <a:prstGeom prst="rect">
            <a:avLst/>
          </a:prstGeom>
          <a:noFill/>
        </p:spPr>
        <p:txBody>
          <a:bodyPr wrap="square" lIns="0" tIns="0" rIns="0" bIns="0">
            <a:spAutoFit/>
          </a:bodyPr>
          <a:lstStyle/>
          <a:p>
            <a:r>
              <a:rPr sz="1636">
                <a:solidFill>
                  <a:srgbClr val="595959"/>
                </a:solidFill>
                <a:latin typeface="Helvetica Neue Light"/>
              </a:rPr>
              <a:t>A news summary that appears AI-generated, with 👍/👎, but isn’t labelled as AI. Nothing like it in the screener.</a:t>
            </a:r>
          </a:p>
        </p:txBody>
      </p:sp>
      <p:sp>
        <p:nvSpPr>
          <p:cNvPr id="16" name="Oval 15"/>
          <p:cNvSpPr/>
          <p:nvPr/>
        </p:nvSpPr>
        <p:spPr>
          <a:xfrm>
            <a:off x="7412736" y="6437376"/>
            <a:ext cx="416154" cy="416154"/>
          </a:xfrm>
          <a:prstGeom prst="ellipse">
            <a:avLst/>
          </a:prstGeom>
          <a:solidFill>
            <a:srgbClr val="C45A35"/>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64" b="1">
                <a:solidFill>
                  <a:srgbClr val="FFFFFF"/>
                </a:solidFill>
              </a:rPr>
              <a:t>3</a:t>
            </a:r>
          </a:p>
        </p:txBody>
      </p:sp>
      <p:sp>
        <p:nvSpPr>
          <p:cNvPr id="17" name="TextBox 16"/>
          <p:cNvSpPr txBox="1"/>
          <p:nvPr/>
        </p:nvSpPr>
        <p:spPr>
          <a:xfrm>
            <a:off x="7997952" y="6437376"/>
            <a:ext cx="4551680" cy="306366"/>
          </a:xfrm>
          <a:prstGeom prst="rect">
            <a:avLst/>
          </a:prstGeom>
          <a:noFill/>
        </p:spPr>
        <p:txBody>
          <a:bodyPr wrap="square" lIns="0" tIns="0" rIns="0" bIns="0">
            <a:spAutoFit/>
          </a:bodyPr>
          <a:lstStyle/>
          <a:p>
            <a:r>
              <a:rPr sz="1991">
                <a:solidFill>
                  <a:srgbClr val="1F1F1F"/>
                </a:solidFill>
                <a:latin typeface="Helvetica Neue Light"/>
              </a:rPr>
              <a:t>A dense dashboard</a:t>
            </a:r>
          </a:p>
        </p:txBody>
      </p:sp>
      <p:sp>
        <p:nvSpPr>
          <p:cNvPr id="18" name="TextBox 17"/>
          <p:cNvSpPr txBox="1"/>
          <p:nvPr/>
        </p:nvSpPr>
        <p:spPr>
          <a:xfrm>
            <a:off x="7997952" y="7022593"/>
            <a:ext cx="4551680" cy="503471"/>
          </a:xfrm>
          <a:prstGeom prst="rect">
            <a:avLst/>
          </a:prstGeom>
          <a:noFill/>
        </p:spPr>
        <p:txBody>
          <a:bodyPr wrap="square" lIns="0" tIns="0" rIns="0" bIns="0">
            <a:spAutoFit/>
          </a:bodyPr>
          <a:lstStyle/>
          <a:p>
            <a:r>
              <a:rPr sz="1636">
                <a:solidFill>
                  <a:srgbClr val="595959"/>
                </a:solidFill>
                <a:latin typeface="Helvetica Neue Light"/>
              </a:rPr>
              <a:t>Rule-based signals, insider tables, futures, a heat map and heavy ads: what a newcomer meets first.</a:t>
            </a:r>
          </a:p>
        </p:txBody>
      </p:sp>
      <p:sp>
        <p:nvSpPr>
          <p:cNvPr id="19" name="TextBox 18"/>
          <p:cNvSpPr txBox="1"/>
          <p:nvPr/>
        </p:nvSpPr>
        <p:spPr>
          <a:xfrm>
            <a:off x="7412736" y="8583169"/>
            <a:ext cx="5071872" cy="196977"/>
          </a:xfrm>
          <a:prstGeom prst="rect">
            <a:avLst/>
          </a:prstGeom>
          <a:noFill/>
        </p:spPr>
        <p:txBody>
          <a:bodyPr wrap="square" lIns="0" tIns="0" rIns="0" bIns="0">
            <a:spAutoFit/>
          </a:bodyPr>
          <a:lstStyle/>
          <a:p>
            <a:r>
              <a:rPr sz="1280">
                <a:solidFill>
                  <a:srgbClr val="6E6E6E"/>
                </a:solidFill>
                <a:latin typeface="Helvetica Neue"/>
              </a:rPr>
              <a:t>finviz.com home page, Oct 4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02 · Context &amp; constraints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Context and constraints</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The environment the AI had to fit: a business goal, four groups of people, a definition of success, and hard limits.</a:t>
            </a:r>
          </a:p>
        </p:txBody>
      </p:sp>
      <p:sp>
        <p:nvSpPr>
          <p:cNvPr id="6" name="Rectangle 5"/>
          <p:cNvSpPr/>
          <p:nvPr/>
        </p:nvSpPr>
        <p:spPr>
          <a:xfrm>
            <a:off x="455168" y="2405888"/>
            <a:ext cx="5982208" cy="2080768"/>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Rectangle 6"/>
          <p:cNvSpPr/>
          <p:nvPr/>
        </p:nvSpPr>
        <p:spPr>
          <a:xfrm>
            <a:off x="455168" y="2405888"/>
            <a:ext cx="104038" cy="2080768"/>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780288" y="2600961"/>
            <a:ext cx="5462016" cy="1319336"/>
          </a:xfrm>
          <a:prstGeom prst="rect">
            <a:avLst/>
          </a:prstGeom>
          <a:noFill/>
        </p:spPr>
        <p:txBody>
          <a:bodyPr wrap="square" lIns="0" tIns="0" rIns="0" bIns="0">
            <a:spAutoFit/>
          </a:bodyPr>
          <a:lstStyle/>
          <a:p>
            <a:pPr>
              <a:spcAft>
                <a:spcPts val="853"/>
              </a:spcAft>
            </a:pPr>
            <a:r>
              <a:rPr sz="1280">
                <a:solidFill>
                  <a:srgbClr val="5B3F96"/>
                </a:solidFill>
                <a:latin typeface="Helvetica Neue"/>
              </a:rPr>
              <a:t>BUSINESS CHALLENGE</a:t>
            </a:r>
          </a:p>
          <a:p>
            <a:r>
              <a:rPr sz="1636">
                <a:solidFill>
                  <a:srgbClr val="1F1F1F"/>
                </a:solidFill>
                <a:latin typeface="Helvetica Neue Light"/>
              </a:rPr>
              <a:t>Halve the time from free to Elite, 42 → 21 days, without annoying users (course brief, OKR 1). Elite sells persistence: alerts, real-time data, backtests. A user without a working screen has no reason to pay.</a:t>
            </a:r>
          </a:p>
        </p:txBody>
      </p:sp>
      <p:sp>
        <p:nvSpPr>
          <p:cNvPr id="9" name="Rectangle 8"/>
          <p:cNvSpPr/>
          <p:nvPr/>
        </p:nvSpPr>
        <p:spPr>
          <a:xfrm>
            <a:off x="6567424" y="2405888"/>
            <a:ext cx="5982208" cy="2080768"/>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0" name="Rectangle 9"/>
          <p:cNvSpPr/>
          <p:nvPr/>
        </p:nvSpPr>
        <p:spPr>
          <a:xfrm>
            <a:off x="6567424" y="2405888"/>
            <a:ext cx="104038" cy="2080768"/>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892544" y="2600961"/>
            <a:ext cx="5462016" cy="1067600"/>
          </a:xfrm>
          <a:prstGeom prst="rect">
            <a:avLst/>
          </a:prstGeom>
          <a:noFill/>
        </p:spPr>
        <p:txBody>
          <a:bodyPr wrap="square" lIns="0" tIns="0" rIns="0" bIns="0">
            <a:spAutoFit/>
          </a:bodyPr>
          <a:lstStyle/>
          <a:p>
            <a:pPr>
              <a:spcAft>
                <a:spcPts val="853"/>
              </a:spcAft>
            </a:pPr>
            <a:r>
              <a:rPr sz="1280">
                <a:solidFill>
                  <a:srgbClr val="00868B"/>
                </a:solidFill>
                <a:latin typeface="Helvetica Neue"/>
              </a:rPr>
              <a:t>STAKEHOLDERS</a:t>
            </a:r>
          </a:p>
          <a:p>
            <a:r>
              <a:rPr sz="1636">
                <a:solidFill>
                  <a:srgbClr val="1F1F1F"/>
                </a:solidFill>
                <a:latin typeface="Helvetica Neue Light"/>
              </a:rPr>
              <a:t>Traders: Growth Gary (primary), Fast Frank, Value Vivian, Multi Mike. FinViz growth (Elite conversion), compliance (the advice line), engineering (screener, alerts, data feeds).</a:t>
            </a:r>
          </a:p>
        </p:txBody>
      </p:sp>
      <p:sp>
        <p:nvSpPr>
          <p:cNvPr id="12" name="Rectangle 11"/>
          <p:cNvSpPr/>
          <p:nvPr/>
        </p:nvSpPr>
        <p:spPr>
          <a:xfrm>
            <a:off x="455168" y="4681728"/>
            <a:ext cx="5982208" cy="2080768"/>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Rectangle 12"/>
          <p:cNvSpPr/>
          <p:nvPr/>
        </p:nvSpPr>
        <p:spPr>
          <a:xfrm>
            <a:off x="455168" y="4681728"/>
            <a:ext cx="104038" cy="2080768"/>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780288" y="4876801"/>
            <a:ext cx="5462016" cy="1067600"/>
          </a:xfrm>
          <a:prstGeom prst="rect">
            <a:avLst/>
          </a:prstGeom>
          <a:noFill/>
        </p:spPr>
        <p:txBody>
          <a:bodyPr wrap="square" lIns="0" tIns="0" rIns="0" bIns="0">
            <a:spAutoFit/>
          </a:bodyPr>
          <a:lstStyle/>
          <a:p>
            <a:pPr>
              <a:spcAft>
                <a:spcPts val="853"/>
              </a:spcAft>
            </a:pPr>
            <a:r>
              <a:rPr sz="1280">
                <a:solidFill>
                  <a:srgbClr val="A12A37"/>
                </a:solidFill>
                <a:latin typeface="Helvetica Neue"/>
              </a:rPr>
              <a:t>SUCCESS CRITERIA</a:t>
            </a:r>
          </a:p>
          <a:p>
            <a:r>
              <a:rPr sz="1636">
                <a:solidFill>
                  <a:srgbClr val="1F1F1F"/>
                </a:solidFill>
                <a:latin typeface="Helvetica Neue Light"/>
              </a:rPr>
              <a:t>Time to first success: an insight that is actionable, timely and relevant to his own holdings, in the first session. Then a habit: a saved screen re-run 3+ days a week (North Star).</a:t>
            </a:r>
          </a:p>
        </p:txBody>
      </p:sp>
      <p:sp>
        <p:nvSpPr>
          <p:cNvPr id="15" name="Rectangle 14"/>
          <p:cNvSpPr/>
          <p:nvPr/>
        </p:nvSpPr>
        <p:spPr>
          <a:xfrm>
            <a:off x="6567424" y="4681728"/>
            <a:ext cx="5982208" cy="2080768"/>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Rectangle 15"/>
          <p:cNvSpPr/>
          <p:nvPr/>
        </p:nvSpPr>
        <p:spPr>
          <a:xfrm>
            <a:off x="6567424" y="4681728"/>
            <a:ext cx="104038" cy="2080768"/>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6892544" y="4876801"/>
            <a:ext cx="5462016" cy="1571071"/>
          </a:xfrm>
          <a:prstGeom prst="rect">
            <a:avLst/>
          </a:prstGeom>
          <a:noFill/>
        </p:spPr>
        <p:txBody>
          <a:bodyPr wrap="square" lIns="0" tIns="0" rIns="0" bIns="0">
            <a:spAutoFit/>
          </a:bodyPr>
          <a:lstStyle/>
          <a:p>
            <a:pPr>
              <a:spcAft>
                <a:spcPts val="853"/>
              </a:spcAft>
            </a:pPr>
            <a:r>
              <a:rPr sz="1280">
                <a:solidFill>
                  <a:srgbClr val="3A7D55"/>
                </a:solidFill>
                <a:latin typeface="Helvetica Neue"/>
              </a:rPr>
              <a:t>TECHNICAL CONSTRAINTS</a:t>
            </a:r>
          </a:p>
          <a:p>
            <a:r>
              <a:rPr sz="1636">
                <a:solidFill>
                  <a:srgbClr val="1F1F1F"/>
                </a:solidFill>
                <a:latin typeface="Helvetica Neue Light"/>
              </a:rPr>
              <a:t>No AI in FinViz’s screener today. 89 filters; Free uses preset buckets. Free quotes 1-min delayed; pre-market is Elite. LLMs can invent: output must map to real filters. Compliance: no AI-originated advice, predictions or confidence %. Desktop only.</a:t>
            </a:r>
          </a:p>
        </p:txBody>
      </p:sp>
      <p:sp>
        <p:nvSpPr>
          <p:cNvPr id="18" name="TextBox 17"/>
          <p:cNvSpPr txBox="1"/>
          <p:nvPr/>
        </p:nvSpPr>
        <p:spPr>
          <a:xfrm>
            <a:off x="455168" y="8817254"/>
            <a:ext cx="12094464" cy="196977"/>
          </a:xfrm>
          <a:prstGeom prst="rect">
            <a:avLst/>
          </a:prstGeom>
          <a:noFill/>
        </p:spPr>
        <p:txBody>
          <a:bodyPr wrap="square" lIns="0" tIns="0" rIns="0" bIns="0">
            <a:spAutoFit/>
          </a:bodyPr>
          <a:lstStyle/>
          <a:p>
            <a:r>
              <a:rPr sz="1280">
                <a:solidFill>
                  <a:srgbClr val="8C8C8C"/>
                </a:solidFill>
                <a:latin typeface="Helvetica Neue Light"/>
              </a:rPr>
              <a:t>Facts: FINVIZ-CONTEXT (✅ verified on finviz.com) and the course brief (🔶). Personas are synthetic; validate with research.</a:t>
            </a:r>
          </a:p>
        </p:txBody>
      </p:sp>
      <p:sp>
        <p:nvSpPr>
          <p:cNvPr id="19" name="TextBox 18"/>
          <p:cNvSpPr txBox="1"/>
          <p:nvPr/>
        </p:nvSpPr>
        <p:spPr>
          <a:xfrm>
            <a:off x="455168" y="7087617"/>
            <a:ext cx="12094464" cy="196977"/>
          </a:xfrm>
          <a:prstGeom prst="rect">
            <a:avLst/>
          </a:prstGeom>
          <a:noFill/>
        </p:spPr>
        <p:txBody>
          <a:bodyPr wrap="square" lIns="0" tIns="0" rIns="0" bIns="0">
            <a:spAutoFit/>
          </a:bodyPr>
          <a:lstStyle/>
          <a:p>
            <a:r>
              <a:rPr sz="1280">
                <a:solidFill>
                  <a:srgbClr val="C45A35"/>
                </a:solidFill>
                <a:latin typeface="Helvetica Neue"/>
              </a:rPr>
              <a:t>WHAT THIS MEANT FOR THE DESIGN</a:t>
            </a:r>
          </a:p>
        </p:txBody>
      </p:sp>
      <p:sp>
        <p:nvSpPr>
          <p:cNvPr id="20" name="Rectangle 19"/>
          <p:cNvSpPr/>
          <p:nvPr/>
        </p:nvSpPr>
        <p:spPr>
          <a:xfrm>
            <a:off x="455168" y="7477760"/>
            <a:ext cx="3901440" cy="1235456"/>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1" name="TextBox 20"/>
          <p:cNvSpPr txBox="1"/>
          <p:nvPr/>
        </p:nvSpPr>
        <p:spPr>
          <a:xfrm>
            <a:off x="611226" y="7581799"/>
            <a:ext cx="3589325" cy="707758"/>
          </a:xfrm>
          <a:prstGeom prst="rect">
            <a:avLst/>
          </a:prstGeom>
          <a:noFill/>
        </p:spPr>
        <p:txBody>
          <a:bodyPr wrap="square" lIns="0" tIns="0" rIns="0" bIns="0">
            <a:spAutoFit/>
          </a:bodyPr>
          <a:lstStyle/>
          <a:p>
            <a:pPr>
              <a:spcAft>
                <a:spcPts val="427"/>
              </a:spcAft>
            </a:pPr>
            <a:r>
              <a:rPr sz="1564">
                <a:solidFill>
                  <a:srgbClr val="FFFFFF"/>
                </a:solidFill>
                <a:latin typeface="Helvetica Neue"/>
              </a:rPr>
              <a:t>Free builds and previews; Elite watches</a:t>
            </a:r>
          </a:p>
          <a:p>
            <a:r>
              <a:rPr sz="1351">
                <a:solidFill>
                  <a:srgbClr val="FFFFFF"/>
                </a:solidFill>
                <a:latin typeface="Helvetica Neue Light"/>
              </a:rPr>
              <a:t>The paywall sits where the value is felt: live alerts on his own names.</a:t>
            </a:r>
          </a:p>
        </p:txBody>
      </p:sp>
      <p:sp>
        <p:nvSpPr>
          <p:cNvPr id="22" name="Rectangle 21"/>
          <p:cNvSpPr/>
          <p:nvPr/>
        </p:nvSpPr>
        <p:spPr>
          <a:xfrm>
            <a:off x="4525670" y="7477760"/>
            <a:ext cx="3901440" cy="1235456"/>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TextBox 22"/>
          <p:cNvSpPr txBox="1"/>
          <p:nvPr/>
        </p:nvSpPr>
        <p:spPr>
          <a:xfrm>
            <a:off x="4681728" y="7581799"/>
            <a:ext cx="3589325" cy="707758"/>
          </a:xfrm>
          <a:prstGeom prst="rect">
            <a:avLst/>
          </a:prstGeom>
          <a:noFill/>
        </p:spPr>
        <p:txBody>
          <a:bodyPr wrap="square" lIns="0" tIns="0" rIns="0" bIns="0">
            <a:spAutoFit/>
          </a:bodyPr>
          <a:lstStyle/>
          <a:p>
            <a:pPr>
              <a:spcAft>
                <a:spcPts val="427"/>
              </a:spcAft>
            </a:pPr>
            <a:r>
              <a:rPr sz="1564">
                <a:solidFill>
                  <a:srgbClr val="FFFFFF"/>
                </a:solidFill>
                <a:latin typeface="Helvetica Neue"/>
              </a:rPr>
              <a:t>Every AI output maps to something real</a:t>
            </a:r>
          </a:p>
          <a:p>
            <a:r>
              <a:rPr sz="1351">
                <a:solidFill>
                  <a:srgbClr val="FFFFFF"/>
                </a:solidFill>
                <a:latin typeface="Helvetica Neue Light"/>
              </a:rPr>
              <a:t>A FinViz filter, a measured value or a cited source, or it says it can’t tell.</a:t>
            </a:r>
          </a:p>
        </p:txBody>
      </p:sp>
      <p:sp>
        <p:nvSpPr>
          <p:cNvPr id="24" name="Rectangle 23"/>
          <p:cNvSpPr/>
          <p:nvPr/>
        </p:nvSpPr>
        <p:spPr>
          <a:xfrm>
            <a:off x="8596171" y="7477760"/>
            <a:ext cx="3901440" cy="1235456"/>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5" name="TextBox 24"/>
          <p:cNvSpPr txBox="1"/>
          <p:nvPr/>
        </p:nvSpPr>
        <p:spPr>
          <a:xfrm>
            <a:off x="8752230" y="7581798"/>
            <a:ext cx="3589325" cy="707758"/>
          </a:xfrm>
          <a:prstGeom prst="rect">
            <a:avLst/>
          </a:prstGeom>
          <a:noFill/>
        </p:spPr>
        <p:txBody>
          <a:bodyPr wrap="square" lIns="0" tIns="0" rIns="0" bIns="0">
            <a:spAutoFit/>
          </a:bodyPr>
          <a:lstStyle/>
          <a:p>
            <a:pPr>
              <a:spcAft>
                <a:spcPts val="427"/>
              </a:spcAft>
            </a:pPr>
            <a:r>
              <a:rPr sz="1564">
                <a:solidFill>
                  <a:srgbClr val="FFFFFF"/>
                </a:solidFill>
                <a:latin typeface="Helvetica Neue"/>
              </a:rPr>
              <a:t>Verification, not advice</a:t>
            </a:r>
          </a:p>
          <a:p>
            <a:r>
              <a:rPr sz="1351">
                <a:solidFill>
                  <a:srgbClr val="FFFFFF"/>
                </a:solidFill>
                <a:latin typeface="Helvetica Neue Light"/>
              </a:rPr>
              <a:t>The AI checks his own criteria; decisions end in his broker.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03 · Problem   FinViz AI Screener</a:t>
            </a:r>
          </a:p>
        </p:txBody>
      </p:sp>
      <p:sp>
        <p:nvSpPr>
          <p:cNvPr id="4" name="TextBox 3"/>
          <p:cNvSpPr txBox="1"/>
          <p:nvPr/>
        </p:nvSpPr>
        <p:spPr>
          <a:xfrm>
            <a:off x="455168" y="936346"/>
            <a:ext cx="12094464" cy="459678"/>
          </a:xfrm>
          <a:prstGeom prst="rect">
            <a:avLst/>
          </a:prstGeom>
          <a:noFill/>
        </p:spPr>
        <p:txBody>
          <a:bodyPr wrap="square" lIns="0" tIns="0" rIns="0" bIns="0">
            <a:spAutoFit/>
          </a:bodyPr>
          <a:lstStyle/>
          <a:p>
            <a:r>
              <a:rPr sz="2987">
                <a:solidFill>
                  <a:srgbClr val="1F1F1F"/>
                </a:solidFill>
                <a:latin typeface="Helvetica Neue Light"/>
              </a:rPr>
              <a:t>The user problem and the AI problem</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Defined separately, so the AI only does what a rule can’t.</a:t>
            </a:r>
          </a:p>
        </p:txBody>
      </p:sp>
      <p:sp>
        <p:nvSpPr>
          <p:cNvPr id="6" name="Rectangle 5"/>
          <p:cNvSpPr/>
          <p:nvPr/>
        </p:nvSpPr>
        <p:spPr>
          <a:xfrm>
            <a:off x="455168" y="2405888"/>
            <a:ext cx="3901440" cy="6177280"/>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50240" y="2600960"/>
            <a:ext cx="3511296" cy="1848455"/>
          </a:xfrm>
          <a:prstGeom prst="rect">
            <a:avLst/>
          </a:prstGeom>
          <a:noFill/>
        </p:spPr>
        <p:txBody>
          <a:bodyPr wrap="square" lIns="0" tIns="0" rIns="0" bIns="0">
            <a:spAutoFit/>
          </a:bodyPr>
          <a:lstStyle/>
          <a:p>
            <a:pPr>
              <a:spcAft>
                <a:spcPts val="1138"/>
              </a:spcAft>
            </a:pPr>
            <a:r>
              <a:rPr sz="1280">
                <a:solidFill>
                  <a:srgbClr val="FFFFFF"/>
                </a:solidFill>
                <a:latin typeface="Helvetica Neue"/>
              </a:rPr>
              <a:t>USER PROBLEM</a:t>
            </a:r>
          </a:p>
          <a:p>
            <a:r>
              <a:rPr sz="1636">
                <a:solidFill>
                  <a:srgbClr val="FFFFFF"/>
                </a:solidFill>
                <a:latin typeface="Helvetica Neue Light"/>
              </a:rPr>
              <a:t>Gary can find ideas but can’t hold on to them. 89 filters with no explanation; a list that forgets why he picked each stock; nothing reaches him at work; the decision to hold or exit happens in his head (P1, P5, P8, P9, P13).</a:t>
            </a:r>
          </a:p>
        </p:txBody>
      </p:sp>
      <p:sp>
        <p:nvSpPr>
          <p:cNvPr id="8" name="Rectangle 7"/>
          <p:cNvSpPr/>
          <p:nvPr/>
        </p:nvSpPr>
        <p:spPr>
          <a:xfrm>
            <a:off x="4525670" y="2405888"/>
            <a:ext cx="3901440" cy="6177280"/>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4720742" y="2600960"/>
            <a:ext cx="3511296" cy="2603661"/>
          </a:xfrm>
          <a:prstGeom prst="rect">
            <a:avLst/>
          </a:prstGeom>
          <a:noFill/>
        </p:spPr>
        <p:txBody>
          <a:bodyPr wrap="square" lIns="0" tIns="0" rIns="0" bIns="0">
            <a:spAutoFit/>
          </a:bodyPr>
          <a:lstStyle/>
          <a:p>
            <a:pPr>
              <a:spcAft>
                <a:spcPts val="1138"/>
              </a:spcAft>
            </a:pPr>
            <a:r>
              <a:rPr sz="1280">
                <a:solidFill>
                  <a:srgbClr val="FFFFFF"/>
                </a:solidFill>
                <a:latin typeface="Helvetica Neue"/>
              </a:rPr>
              <a:t>AI PROBLEM</a:t>
            </a:r>
          </a:p>
          <a:p>
            <a:r>
              <a:rPr sz="1636">
                <a:solidFill>
                  <a:srgbClr val="FFFFFF"/>
                </a:solidFill>
                <a:latin typeface="Helvetica Neue Light"/>
              </a:rPr>
              <a:t>Infer a screen from 3 example tickers · explain why each row matched from real values · re-check his own reasons against fresh data 3× a day · detect chart patterns at support with measurable criteria · summarize overnight news on his names only, with sources · turn his corrections into proposed rule changes.</a:t>
            </a:r>
          </a:p>
        </p:txBody>
      </p:sp>
      <p:sp>
        <p:nvSpPr>
          <p:cNvPr id="10" name="Rectangle 9"/>
          <p:cNvSpPr/>
          <p:nvPr/>
        </p:nvSpPr>
        <p:spPr>
          <a:xfrm>
            <a:off x="8596171" y="2405888"/>
            <a:ext cx="3901440" cy="6177280"/>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8791245" y="2600961"/>
            <a:ext cx="3511296" cy="2603661"/>
          </a:xfrm>
          <a:prstGeom prst="rect">
            <a:avLst/>
          </a:prstGeom>
          <a:noFill/>
        </p:spPr>
        <p:txBody>
          <a:bodyPr wrap="square" lIns="0" tIns="0" rIns="0" bIns="0">
            <a:spAutoFit/>
          </a:bodyPr>
          <a:lstStyle/>
          <a:p>
            <a:pPr>
              <a:spcAft>
                <a:spcPts val="1138"/>
              </a:spcAft>
            </a:pPr>
            <a:r>
              <a:rPr sz="1280">
                <a:solidFill>
                  <a:srgbClr val="FFFFFF"/>
                </a:solidFill>
                <a:latin typeface="Helvetica Neue"/>
              </a:rPr>
              <a:t>WHY AI IS APPROPRIATE</a:t>
            </a:r>
          </a:p>
          <a:p>
            <a:r>
              <a:rPr sz="1636">
                <a:solidFill>
                  <a:srgbClr val="FFFFFF"/>
                </a:solidFill>
                <a:latin typeface="Helvetica Neue Light"/>
              </a:rPr>
              <a:t>Translating examples and plain English into 89 filters, and summarizing many sources, are language tasks. Scanning 30 charts for the same setup every day is repetitive perception. Remembering his reasons needs memory. Where a rule is enough we used a rule: the since-last-night diff, exit lines, quiet hours and the activity log are not AI.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03 · Problem   FinViz AI Screener</a:t>
            </a:r>
            <a:endParaRPr lang="en-US" sz="1422" dirty="0"/>
          </a:p>
        </p:txBody>
      </p:sp>
      <p:sp>
        <p:nvSpPr>
          <p:cNvPr id="3" name="Shape 1"/>
          <p:cNvSpPr/>
          <p:nvPr/>
        </p:nvSpPr>
        <p:spPr>
          <a:xfrm>
            <a:off x="455168" y="977900"/>
            <a:ext cx="7282688" cy="4673600"/>
          </a:xfrm>
          <a:prstGeom prst="rect">
            <a:avLst/>
          </a:prstGeom>
          <a:solidFill>
            <a:srgbClr val="FFFFFF"/>
          </a:solidFill>
          <a:ln w="9525">
            <a:solidFill>
              <a:srgbClr val="1F1F1F"/>
            </a:solidFill>
            <a:prstDash val="solid"/>
          </a:ln>
        </p:spPr>
        <p:txBody>
          <a:bodyPr/>
          <a:lstStyle/>
          <a:p>
            <a:endParaRPr sz="2560"/>
          </a:p>
        </p:txBody>
      </p:sp>
      <p:sp>
        <p:nvSpPr>
          <p:cNvPr id="4" name="Shape 2"/>
          <p:cNvSpPr/>
          <p:nvPr/>
        </p:nvSpPr>
        <p:spPr>
          <a:xfrm>
            <a:off x="5852160" y="977900"/>
            <a:ext cx="1885696" cy="130048"/>
          </a:xfrm>
          <a:prstGeom prst="rect">
            <a:avLst/>
          </a:prstGeom>
          <a:solidFill>
            <a:srgbClr val="A6DE82"/>
          </a:solidFill>
          <a:ln w="12700">
            <a:solidFill>
              <a:srgbClr val="A6DE82"/>
            </a:solidFill>
            <a:prstDash val="solid"/>
          </a:ln>
        </p:spPr>
        <p:txBody>
          <a:bodyPr/>
          <a:lstStyle/>
          <a:p>
            <a:endParaRPr sz="2560"/>
          </a:p>
        </p:txBody>
      </p:sp>
      <p:sp>
        <p:nvSpPr>
          <p:cNvPr id="5" name="Text 3"/>
          <p:cNvSpPr txBox="1"/>
          <p:nvPr/>
        </p:nvSpPr>
        <p:spPr>
          <a:xfrm>
            <a:off x="715264" y="1295400"/>
            <a:ext cx="3901440" cy="780288"/>
          </a:xfrm>
          <a:prstGeom prst="rect">
            <a:avLst/>
          </a:prstGeom>
          <a:noFill/>
          <a:ln/>
        </p:spPr>
        <p:txBody>
          <a:bodyPr wrap="square" lIns="0" tIns="0" rIns="0" bIns="0" rtlCol="0" anchor="t"/>
          <a:lstStyle/>
          <a:p>
            <a:r>
              <a:rPr lang="en-US" sz="2133" dirty="0">
                <a:solidFill>
                  <a:srgbClr val="1F1F1F"/>
                </a:solidFill>
                <a:latin typeface="Helvetica Neue Light" pitchFamily="34" charset="0"/>
                <a:ea typeface="Helvetica Neue Light" pitchFamily="34" charset="-122"/>
                <a:cs typeface="Helvetica Neue Light" pitchFamily="34" charset="-120"/>
              </a:rPr>
              <a:t>Swing Trader · primary</a:t>
            </a:r>
            <a:endParaRPr lang="en-US" sz="1991" dirty="0"/>
          </a:p>
          <a:p>
            <a:r>
              <a:rPr lang="en-US" sz="1707" dirty="0">
                <a:solidFill>
                  <a:srgbClr val="1F1F1F"/>
                </a:solidFill>
                <a:latin typeface="Helvetica Neue Light" pitchFamily="34" charset="0"/>
                <a:ea typeface="Helvetica Neue Light" pitchFamily="34" charset="-122"/>
                <a:cs typeface="Helvetica Neue Light" pitchFamily="34" charset="-120"/>
              </a:rPr>
              <a:t>Growth Gary</a:t>
            </a:r>
            <a:endParaRPr lang="en-US" sz="1991" dirty="0"/>
          </a:p>
        </p:txBody>
      </p:sp>
      <p:sp>
        <p:nvSpPr>
          <p:cNvPr id="6" name="Shape 4"/>
          <p:cNvSpPr/>
          <p:nvPr/>
        </p:nvSpPr>
        <p:spPr>
          <a:xfrm>
            <a:off x="455168" y="2209800"/>
            <a:ext cx="3576320" cy="1219200"/>
          </a:xfrm>
          <a:prstGeom prst="rect">
            <a:avLst/>
          </a:prstGeom>
          <a:solidFill>
            <a:srgbClr val="D0EBC4"/>
          </a:solidFill>
          <a:ln w="12700">
            <a:solidFill>
              <a:srgbClr val="D0EBC4"/>
            </a:solidFill>
            <a:prstDash val="solid"/>
          </a:ln>
        </p:spPr>
        <p:txBody>
          <a:bodyPr/>
          <a:lstStyle/>
          <a:p>
            <a:endParaRPr sz="2560"/>
          </a:p>
        </p:txBody>
      </p:sp>
      <p:sp>
        <p:nvSpPr>
          <p:cNvPr id="7" name="Text 5"/>
          <p:cNvSpPr txBox="1"/>
          <p:nvPr/>
        </p:nvSpPr>
        <p:spPr>
          <a:xfrm>
            <a:off x="715264" y="2336800"/>
            <a:ext cx="3121152" cy="1092200"/>
          </a:xfrm>
          <a:prstGeom prst="rect">
            <a:avLst/>
          </a:prstGeom>
          <a:noFill/>
          <a:ln/>
        </p:spPr>
        <p:txBody>
          <a:bodyPr wrap="square" lIns="0" tIns="0" rIns="0" bIns="0" rtlCol="0" anchor="t"/>
          <a:lstStyle/>
          <a:p>
            <a:pPr>
              <a:spcAft>
                <a:spcPts val="711"/>
              </a:spcAft>
            </a:pPr>
            <a:r>
              <a:rPr lang="en-US" sz="1280" b="1" dirty="0">
                <a:solidFill>
                  <a:srgbClr val="1F1F1F"/>
                </a:solidFill>
                <a:latin typeface="Helvetica Neue" pitchFamily="34" charset="0"/>
                <a:ea typeface="Helvetica Neue" pitchFamily="34" charset="-122"/>
                <a:cs typeface="Helvetica Neue" pitchFamily="34" charset="-120"/>
              </a:rPr>
              <a:t>Holds  </a:t>
            </a:r>
            <a:r>
              <a:rPr sz="1280">
                <a:solidFill>
                  <a:srgbClr val="1F1F1F"/>
                </a:solidFill>
                <a:latin typeface="Helvetica Neue"/>
              </a:rPr>
              <a:t>Days to weeks</a:t>
            </a:r>
            <a:endParaRPr lang="en-US" sz="1280" dirty="0"/>
          </a:p>
          <a:p>
            <a:pPr>
              <a:spcAft>
                <a:spcPts val="711"/>
              </a:spcAft>
            </a:pPr>
            <a:r>
              <a:rPr lang="en-US" sz="1280" b="1" dirty="0">
                <a:solidFill>
                  <a:srgbClr val="1F1F1F"/>
                </a:solidFill>
                <a:latin typeface="Helvetica Neue" pitchFamily="34" charset="0"/>
                <a:ea typeface="Helvetica Neue" pitchFamily="34" charset="-122"/>
                <a:cs typeface="Helvetica Neue" pitchFamily="34" charset="-120"/>
              </a:rPr>
              <a:t>Day job  </a:t>
            </a:r>
            <a:r>
              <a:rPr sz="1280">
                <a:solidFill>
                  <a:srgbClr val="1F1F1F"/>
                </a:solidFill>
                <a:latin typeface="Helvetica Neue"/>
              </a:rPr>
              <a:t>Yes; can’t watch 9:30–4</a:t>
            </a:r>
            <a:endParaRPr lang="en-US" sz="1280" dirty="0"/>
          </a:p>
          <a:p>
            <a:pPr>
              <a:spcAft>
                <a:spcPts val="711"/>
              </a:spcAft>
            </a:pPr>
            <a:r>
              <a:rPr lang="en-US" sz="1280" b="1" dirty="0">
                <a:solidFill>
                  <a:srgbClr val="1F1F1F"/>
                </a:solidFill>
                <a:latin typeface="Helvetica Neue" pitchFamily="34" charset="0"/>
                <a:ea typeface="Helvetica Neue" pitchFamily="34" charset="-122"/>
                <a:cs typeface="Helvetica Neue" pitchFamily="34" charset="-120"/>
              </a:rPr>
              <a:t>Device  </a:t>
            </a:r>
            <a:r>
              <a:rPr sz="1280">
                <a:solidFill>
                  <a:srgbClr val="1F1F1F"/>
                </a:solidFill>
                <a:latin typeface="Helvetica Neue"/>
              </a:rPr>
              <a:t>Laptop at night, phone at work</a:t>
            </a:r>
            <a:endParaRPr lang="en-US" sz="1280" dirty="0"/>
          </a:p>
          <a:p>
            <a:pPr>
              <a:spcAft>
                <a:spcPts val="711"/>
              </a:spcAft>
            </a:pPr>
            <a:r>
              <a:rPr lang="en-US" sz="1280" b="1" dirty="0">
                <a:solidFill>
                  <a:srgbClr val="1F1F1F"/>
                </a:solidFill>
                <a:latin typeface="Helvetica Neue" pitchFamily="34" charset="0"/>
                <a:ea typeface="Helvetica Neue" pitchFamily="34" charset="-122"/>
                <a:cs typeface="Helvetica Neue" pitchFamily="34" charset="-120"/>
              </a:rPr>
              <a:t>Trades in  </a:t>
            </a:r>
            <a:r>
              <a:rPr sz="1280">
                <a:solidFill>
                  <a:srgbClr val="1F1F1F"/>
                </a:solidFill>
                <a:latin typeface="Helvetica Neue"/>
              </a:rPr>
              <a:t>His own broker</a:t>
            </a:r>
            <a:endParaRPr lang="en-US" sz="1280" dirty="0"/>
          </a:p>
        </p:txBody>
      </p:sp>
      <p:sp>
        <p:nvSpPr>
          <p:cNvPr id="8" name="Shape 6"/>
          <p:cNvSpPr/>
          <p:nvPr/>
        </p:nvSpPr>
        <p:spPr>
          <a:xfrm>
            <a:off x="455168" y="3429000"/>
            <a:ext cx="3576320" cy="2222500"/>
          </a:xfrm>
          <a:prstGeom prst="rect">
            <a:avLst/>
          </a:prstGeom>
          <a:solidFill>
            <a:srgbClr val="A6DE82"/>
          </a:solidFill>
          <a:ln w="12700">
            <a:solidFill>
              <a:srgbClr val="A6DE82"/>
            </a:solidFill>
            <a:prstDash val="solid"/>
          </a:ln>
        </p:spPr>
        <p:txBody>
          <a:bodyPr/>
          <a:lstStyle/>
          <a:p>
            <a:endParaRPr sz="2560"/>
          </a:p>
        </p:txBody>
      </p:sp>
      <p:sp>
        <p:nvSpPr>
          <p:cNvPr id="9" name="Text 7"/>
          <p:cNvSpPr txBox="1"/>
          <p:nvPr/>
        </p:nvSpPr>
        <p:spPr>
          <a:xfrm>
            <a:off x="715264" y="3619500"/>
            <a:ext cx="3121152" cy="1905000"/>
          </a:xfrm>
          <a:prstGeom prst="rect">
            <a:avLst/>
          </a:prstGeom>
          <a:noFill/>
          <a:ln/>
        </p:spPr>
        <p:txBody>
          <a:bodyPr wrap="square" lIns="0" tIns="0" rIns="0" bIns="0" rtlCol="0" anchor="t"/>
          <a:lstStyle/>
          <a:p>
            <a:r>
              <a:rPr lang="en-US" sz="1280" dirty="0">
                <a:solidFill>
                  <a:srgbClr val="1F1F1F"/>
                </a:solidFill>
                <a:latin typeface="Helvetica Neue" pitchFamily="34" charset="0"/>
                <a:ea typeface="Helvetica Neue" pitchFamily="34" charset="-122"/>
                <a:cs typeface="Helvetica Neue" pitchFamily="34" charset="-120"/>
              </a:rPr>
              <a:t>When they use FinViz</a:t>
            </a:r>
            <a:endParaRPr lang="en-US" sz="1991" dirty="0"/>
          </a:p>
          <a:p>
            <a:pPr>
              <a:spcAft>
                <a:spcPts val="853"/>
              </a:spcAft>
            </a:pPr>
            <a:r>
              <a:rPr lang="en-US" sz="2133" dirty="0">
                <a:solidFill>
                  <a:srgbClr val="1F1F1F"/>
                </a:solidFill>
                <a:latin typeface="Helvetica Neue Light" pitchFamily="34" charset="0"/>
                <a:ea typeface="Helvetica Neue Light" pitchFamily="34" charset="-122"/>
                <a:cs typeface="Helvetica Neue Light" pitchFamily="34" charset="-120"/>
              </a:rPr>
              <a:t>8–10 PM</a:t>
            </a:r>
            <a:endParaRPr lang="en-US" sz="1991" dirty="0"/>
          </a:p>
          <a:p>
            <a:r>
              <a:rPr lang="en-US" sz="1280" dirty="0">
                <a:solidFill>
                  <a:srgbClr val="1F1F1F"/>
                </a:solidFill>
                <a:latin typeface="Helvetica Neue" pitchFamily="34" charset="0"/>
                <a:ea typeface="Helvetica Neue" pitchFamily="34" charset="-122"/>
                <a:cs typeface="Helvetica Neue" pitchFamily="34" charset="-120"/>
              </a:rPr>
              <a:t>The evening scan: re-runs saved screens, builds a shortlist, plans tomorrow. Glances at his phone between meetings.</a:t>
            </a:r>
            <a:endParaRPr lang="en-US" sz="1991" dirty="0"/>
          </a:p>
        </p:txBody>
      </p:sp>
      <p:sp>
        <p:nvSpPr>
          <p:cNvPr id="10" name="Text 8"/>
          <p:cNvSpPr txBox="1"/>
          <p:nvPr/>
        </p:nvSpPr>
        <p:spPr>
          <a:xfrm>
            <a:off x="4291584" y="2209800"/>
            <a:ext cx="3251200" cy="4096512"/>
          </a:xfrm>
          <a:prstGeom prst="rect">
            <a:avLst/>
          </a:prstGeom>
          <a:noFill/>
          <a:ln/>
        </p:spPr>
        <p:txBody>
          <a:bodyPr wrap="square" lIns="0" tIns="0" rIns="0" bIns="0" rtlCol="0" anchor="t"/>
          <a:lstStyle/>
          <a:p>
            <a:pPr>
              <a:spcAft>
                <a:spcPts val="284"/>
              </a:spcAft>
            </a:pPr>
            <a:r>
              <a:rPr lang="en-US" sz="1564" dirty="0">
                <a:solidFill>
                  <a:srgbClr val="1F1F1F"/>
                </a:solidFill>
                <a:latin typeface="Helvetica Neue Light" pitchFamily="34" charset="0"/>
                <a:ea typeface="Helvetica Neue Light" pitchFamily="34" charset="-122"/>
                <a:cs typeface="Helvetica Neue Light" pitchFamily="34" charset="-120"/>
              </a:rPr>
              <a:t>Key challenges</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Blind during market hours</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Good screens forgotten by tomorrow</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Can’t see why a stock matched</a:t>
            </a:r>
            <a:endParaRPr lang="en-US" sz="1991" dirty="0"/>
          </a:p>
          <a:p>
            <a:pPr>
              <a:spcAft>
                <a:spcPts val="284"/>
              </a:spcAft>
            </a:pPr>
            <a:r>
              <a:rPr lang="en-US" sz="1564" dirty="0">
                <a:solidFill>
                  <a:srgbClr val="1F1F1F"/>
                </a:solidFill>
                <a:latin typeface="Helvetica Neue Light" pitchFamily="34" charset="0"/>
                <a:ea typeface="Helvetica Neue Light" pitchFamily="34" charset="-122"/>
                <a:cs typeface="Helvetica Neue Light" pitchFamily="34" charset="-120"/>
              </a:rPr>
              <a:t>Wishlist</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What’s new since last night</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Alerts from his own screen</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Reasons that still hold?</a:t>
            </a:r>
            <a:endParaRPr lang="en-US" sz="1991" dirty="0"/>
          </a:p>
        </p:txBody>
      </p:sp>
      <p:sp>
        <p:nvSpPr>
          <p:cNvPr id="11" name="Shape 9"/>
          <p:cNvSpPr/>
          <p:nvPr/>
        </p:nvSpPr>
        <p:spPr>
          <a:xfrm>
            <a:off x="5266944" y="4254500"/>
            <a:ext cx="7282688" cy="4826000"/>
          </a:xfrm>
          <a:prstGeom prst="rect">
            <a:avLst/>
          </a:prstGeom>
          <a:solidFill>
            <a:srgbClr val="FFFFFF"/>
          </a:solidFill>
          <a:ln w="9525">
            <a:solidFill>
              <a:srgbClr val="1F1F1F"/>
            </a:solidFill>
            <a:prstDash val="solid"/>
          </a:ln>
        </p:spPr>
        <p:txBody>
          <a:bodyPr/>
          <a:lstStyle/>
          <a:p>
            <a:endParaRPr sz="2560"/>
          </a:p>
        </p:txBody>
      </p:sp>
      <p:sp>
        <p:nvSpPr>
          <p:cNvPr id="12" name="Shape 10"/>
          <p:cNvSpPr/>
          <p:nvPr/>
        </p:nvSpPr>
        <p:spPr>
          <a:xfrm>
            <a:off x="10663936" y="4254500"/>
            <a:ext cx="1885696" cy="130048"/>
          </a:xfrm>
          <a:prstGeom prst="rect">
            <a:avLst/>
          </a:prstGeom>
          <a:solidFill>
            <a:srgbClr val="66E3D9"/>
          </a:solidFill>
          <a:ln w="12700">
            <a:solidFill>
              <a:srgbClr val="66E3D9"/>
            </a:solidFill>
            <a:prstDash val="solid"/>
          </a:ln>
        </p:spPr>
        <p:txBody>
          <a:bodyPr/>
          <a:lstStyle/>
          <a:p>
            <a:endParaRPr sz="2560"/>
          </a:p>
        </p:txBody>
      </p:sp>
      <p:sp>
        <p:nvSpPr>
          <p:cNvPr id="13" name="Text 11"/>
          <p:cNvSpPr txBox="1"/>
          <p:nvPr/>
        </p:nvSpPr>
        <p:spPr>
          <a:xfrm>
            <a:off x="5527040" y="4546600"/>
            <a:ext cx="3901440" cy="780288"/>
          </a:xfrm>
          <a:prstGeom prst="rect">
            <a:avLst/>
          </a:prstGeom>
          <a:noFill/>
          <a:ln/>
        </p:spPr>
        <p:txBody>
          <a:bodyPr wrap="square" lIns="0" tIns="0" rIns="0" bIns="0" rtlCol="0" anchor="t"/>
          <a:lstStyle/>
          <a:p>
            <a:r>
              <a:rPr lang="en-US" sz="2133" dirty="0">
                <a:solidFill>
                  <a:srgbClr val="1F1F1F"/>
                </a:solidFill>
                <a:latin typeface="Helvetica Neue Light" pitchFamily="34" charset="0"/>
                <a:ea typeface="Helvetica Neue Light" pitchFamily="34" charset="-122"/>
                <a:cs typeface="Helvetica Neue Light" pitchFamily="34" charset="-120"/>
              </a:rPr>
              <a:t>Day Trader · conversion lever</a:t>
            </a:r>
            <a:endParaRPr lang="en-US" sz="1991" dirty="0"/>
          </a:p>
          <a:p>
            <a:r>
              <a:rPr lang="en-US" sz="1707" dirty="0">
                <a:solidFill>
                  <a:srgbClr val="1F1F1F"/>
                </a:solidFill>
                <a:latin typeface="Helvetica Neue Light" pitchFamily="34" charset="0"/>
                <a:ea typeface="Helvetica Neue Light" pitchFamily="34" charset="-122"/>
                <a:cs typeface="Helvetica Neue Light" pitchFamily="34" charset="-120"/>
              </a:rPr>
              <a:t>Fast Frank</a:t>
            </a:r>
            <a:endParaRPr lang="en-US" sz="1991" dirty="0"/>
          </a:p>
        </p:txBody>
      </p:sp>
      <p:sp>
        <p:nvSpPr>
          <p:cNvPr id="14" name="Shape 12"/>
          <p:cNvSpPr/>
          <p:nvPr/>
        </p:nvSpPr>
        <p:spPr>
          <a:xfrm>
            <a:off x="5266944" y="5461000"/>
            <a:ext cx="3576320" cy="1219200"/>
          </a:xfrm>
          <a:prstGeom prst="rect">
            <a:avLst/>
          </a:prstGeom>
          <a:solidFill>
            <a:srgbClr val="CDE6E0"/>
          </a:solidFill>
          <a:ln w="12700">
            <a:solidFill>
              <a:srgbClr val="CDE6E0"/>
            </a:solidFill>
            <a:prstDash val="solid"/>
          </a:ln>
        </p:spPr>
        <p:txBody>
          <a:bodyPr/>
          <a:lstStyle/>
          <a:p>
            <a:endParaRPr sz="2560"/>
          </a:p>
        </p:txBody>
      </p:sp>
      <p:sp>
        <p:nvSpPr>
          <p:cNvPr id="15" name="Text 13"/>
          <p:cNvSpPr txBox="1"/>
          <p:nvPr/>
        </p:nvSpPr>
        <p:spPr>
          <a:xfrm>
            <a:off x="5527040" y="5588000"/>
            <a:ext cx="3121152" cy="1092200"/>
          </a:xfrm>
          <a:prstGeom prst="rect">
            <a:avLst/>
          </a:prstGeom>
          <a:noFill/>
          <a:ln/>
        </p:spPr>
        <p:txBody>
          <a:bodyPr wrap="square" lIns="0" tIns="0" rIns="0" bIns="0" rtlCol="0" anchor="t"/>
          <a:lstStyle/>
          <a:p>
            <a:pPr>
              <a:spcAft>
                <a:spcPts val="711"/>
              </a:spcAft>
            </a:pPr>
            <a:r>
              <a:rPr lang="en-US" sz="1280" b="1" dirty="0">
                <a:solidFill>
                  <a:srgbClr val="1F1F1F"/>
                </a:solidFill>
                <a:latin typeface="Helvetica Neue" pitchFamily="34" charset="0"/>
                <a:ea typeface="Helvetica Neue" pitchFamily="34" charset="-122"/>
                <a:cs typeface="Helvetica Neue" pitchFamily="34" charset="-120"/>
              </a:rPr>
              <a:t>Holds  </a:t>
            </a:r>
            <a:r>
              <a:rPr sz="1280">
                <a:solidFill>
                  <a:srgbClr val="1F1F1F"/>
                </a:solidFill>
                <a:latin typeface="Helvetica Neue"/>
              </a:rPr>
              <a:t>Minutes to hours</a:t>
            </a:r>
            <a:endParaRPr lang="en-US" sz="1280" dirty="0"/>
          </a:p>
          <a:p>
            <a:pPr>
              <a:spcAft>
                <a:spcPts val="711"/>
              </a:spcAft>
            </a:pPr>
            <a:r>
              <a:rPr lang="en-US" sz="1280" b="1" dirty="0">
                <a:solidFill>
                  <a:srgbClr val="1F1F1F"/>
                </a:solidFill>
                <a:latin typeface="Helvetica Neue" pitchFamily="34" charset="0"/>
                <a:ea typeface="Helvetica Neue" pitchFamily="34" charset="-122"/>
                <a:cs typeface="Helvetica Neue" pitchFamily="34" charset="-120"/>
              </a:rPr>
              <a:t>Scarcest time  </a:t>
            </a:r>
            <a:r>
              <a:rPr sz="1280">
                <a:solidFill>
                  <a:srgbClr val="1F1F1F"/>
                </a:solidFill>
                <a:latin typeface="Helvetica Neue"/>
              </a:rPr>
              <a:t>7:00–9:30 AM pre-market</a:t>
            </a:r>
            <a:endParaRPr lang="en-US" sz="1280" dirty="0"/>
          </a:p>
          <a:p>
            <a:pPr>
              <a:spcAft>
                <a:spcPts val="711"/>
              </a:spcAft>
            </a:pPr>
            <a:r>
              <a:rPr lang="en-US" sz="1280" b="1" dirty="0">
                <a:solidFill>
                  <a:srgbClr val="1F1F1F"/>
                </a:solidFill>
                <a:latin typeface="Helvetica Neue" pitchFamily="34" charset="0"/>
                <a:ea typeface="Helvetica Neue" pitchFamily="34" charset="-122"/>
                <a:cs typeface="Helvetica Neue" pitchFamily="34" charset="-120"/>
              </a:rPr>
              <a:t>Needs  </a:t>
            </a:r>
            <a:r>
              <a:rPr sz="1280">
                <a:solidFill>
                  <a:srgbClr val="1F1F1F"/>
                </a:solidFill>
                <a:latin typeface="Helvetica Neue"/>
              </a:rPr>
              <a:t>Speed, real-time data</a:t>
            </a:r>
            <a:endParaRPr lang="en-US" sz="1280" dirty="0"/>
          </a:p>
          <a:p>
            <a:pPr>
              <a:spcAft>
                <a:spcPts val="711"/>
              </a:spcAft>
            </a:pPr>
            <a:r>
              <a:rPr lang="en-US" sz="1280" b="1" dirty="0">
                <a:solidFill>
                  <a:srgbClr val="1F1F1F"/>
                </a:solidFill>
                <a:latin typeface="Helvetica Neue" pitchFamily="34" charset="0"/>
                <a:ea typeface="Helvetica Neue" pitchFamily="34" charset="-122"/>
                <a:cs typeface="Helvetica Neue" pitchFamily="34" charset="-120"/>
              </a:rPr>
              <a:t>Elite  </a:t>
            </a:r>
            <a:r>
              <a:rPr sz="1280">
                <a:solidFill>
                  <a:srgbClr val="1F1F1F"/>
                </a:solidFill>
                <a:latin typeface="Helvetica Neue"/>
              </a:rPr>
              <a:t>Most likely to pay</a:t>
            </a:r>
            <a:endParaRPr lang="en-US" sz="1280" dirty="0"/>
          </a:p>
        </p:txBody>
      </p:sp>
      <p:sp>
        <p:nvSpPr>
          <p:cNvPr id="16" name="Shape 14"/>
          <p:cNvSpPr/>
          <p:nvPr/>
        </p:nvSpPr>
        <p:spPr>
          <a:xfrm>
            <a:off x="5266944" y="6680200"/>
            <a:ext cx="3576320" cy="2400300"/>
          </a:xfrm>
          <a:prstGeom prst="rect">
            <a:avLst/>
          </a:prstGeom>
          <a:solidFill>
            <a:srgbClr val="66E3D9"/>
          </a:solidFill>
          <a:ln w="12700">
            <a:solidFill>
              <a:srgbClr val="66E3D9"/>
            </a:solidFill>
            <a:prstDash val="solid"/>
          </a:ln>
        </p:spPr>
        <p:txBody>
          <a:bodyPr/>
          <a:lstStyle/>
          <a:p>
            <a:endParaRPr sz="2560"/>
          </a:p>
        </p:txBody>
      </p:sp>
      <p:sp>
        <p:nvSpPr>
          <p:cNvPr id="17" name="Text 15"/>
          <p:cNvSpPr txBox="1"/>
          <p:nvPr/>
        </p:nvSpPr>
        <p:spPr>
          <a:xfrm>
            <a:off x="5527040" y="6883400"/>
            <a:ext cx="3121152" cy="2032000"/>
          </a:xfrm>
          <a:prstGeom prst="rect">
            <a:avLst/>
          </a:prstGeom>
          <a:noFill/>
          <a:ln/>
        </p:spPr>
        <p:txBody>
          <a:bodyPr wrap="square" lIns="0" tIns="0" rIns="0" bIns="0" rtlCol="0" anchor="t"/>
          <a:lstStyle/>
          <a:p>
            <a:r>
              <a:rPr lang="en-US" sz="1280" dirty="0">
                <a:solidFill>
                  <a:srgbClr val="1F1F1F"/>
                </a:solidFill>
                <a:latin typeface="Helvetica Neue" pitchFamily="34" charset="0"/>
                <a:ea typeface="Helvetica Neue" pitchFamily="34" charset="-122"/>
                <a:cs typeface="Helvetica Neue" pitchFamily="34" charset="-120"/>
              </a:rPr>
              <a:t>When they use FinViz</a:t>
            </a:r>
            <a:endParaRPr lang="en-US" sz="1991" dirty="0"/>
          </a:p>
          <a:p>
            <a:pPr>
              <a:spcAft>
                <a:spcPts val="853"/>
              </a:spcAft>
            </a:pPr>
            <a:r>
              <a:rPr lang="en-US" sz="2133" dirty="0">
                <a:solidFill>
                  <a:srgbClr val="1F1F1F"/>
                </a:solidFill>
                <a:latin typeface="Helvetica Neue Light" pitchFamily="34" charset="0"/>
                <a:ea typeface="Helvetica Neue Light" pitchFamily="34" charset="-122"/>
                <a:cs typeface="Helvetica Neue Light" pitchFamily="34" charset="-120"/>
              </a:rPr>
              <a:t>7:00–9:30 AM</a:t>
            </a:r>
            <a:endParaRPr lang="en-US" sz="1991" dirty="0"/>
          </a:p>
          <a:p>
            <a:r>
              <a:rPr lang="en-US" sz="1280" dirty="0">
                <a:solidFill>
                  <a:srgbClr val="1F1F1F"/>
                </a:solidFill>
                <a:latin typeface="Helvetica Neue" pitchFamily="34" charset="0"/>
                <a:ea typeface="Helvetica Neue" pitchFamily="34" charset="-122"/>
                <a:cs typeface="Helvetica Neue" pitchFamily="34" charset="-120"/>
              </a:rPr>
              <a:t>Pre-market shortlist: gaps, news, unusual volume. Every minute before the open counts.</a:t>
            </a:r>
            <a:endParaRPr lang="en-US" sz="1991" dirty="0"/>
          </a:p>
        </p:txBody>
      </p:sp>
      <p:sp>
        <p:nvSpPr>
          <p:cNvPr id="18" name="Text 16"/>
          <p:cNvSpPr txBox="1"/>
          <p:nvPr/>
        </p:nvSpPr>
        <p:spPr>
          <a:xfrm>
            <a:off x="9103360" y="5461000"/>
            <a:ext cx="3251200" cy="4096512"/>
          </a:xfrm>
          <a:prstGeom prst="rect">
            <a:avLst/>
          </a:prstGeom>
          <a:noFill/>
          <a:ln/>
        </p:spPr>
        <p:txBody>
          <a:bodyPr wrap="square" lIns="0" tIns="0" rIns="0" bIns="0" rtlCol="0" anchor="t"/>
          <a:lstStyle/>
          <a:p>
            <a:pPr>
              <a:spcAft>
                <a:spcPts val="284"/>
              </a:spcAft>
            </a:pPr>
            <a:r>
              <a:rPr lang="en-US" sz="1564" dirty="0">
                <a:solidFill>
                  <a:srgbClr val="1F1F1F"/>
                </a:solidFill>
                <a:latin typeface="Helvetica Neue Light" pitchFamily="34" charset="0"/>
                <a:ea typeface="Helvetica Neue Light" pitchFamily="34" charset="-122"/>
                <a:cs typeface="Helvetica Neue Light" pitchFamily="34" charset="-120"/>
              </a:rPr>
              <a:t>Key challenges</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Real-time data is Elite</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Too slow to build a screen</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Alert noise</a:t>
            </a:r>
            <a:endParaRPr lang="en-US" sz="1991" dirty="0"/>
          </a:p>
          <a:p>
            <a:pPr>
              <a:spcAft>
                <a:spcPts val="284"/>
              </a:spcAft>
            </a:pPr>
            <a:r>
              <a:rPr lang="en-US" sz="1564" dirty="0">
                <a:solidFill>
                  <a:srgbClr val="1F1F1F"/>
                </a:solidFill>
                <a:latin typeface="Helvetica Neue Light" pitchFamily="34" charset="0"/>
                <a:ea typeface="Helvetica Neue Light" pitchFamily="34" charset="-122"/>
                <a:cs typeface="Helvetica Neue Light" pitchFamily="34" charset="-120"/>
              </a:rPr>
              <a:t>Wishlist</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A pre-market note on his list</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A screen in under 5 minutes</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Fewer, better alerts</a:t>
            </a:r>
            <a:endParaRPr lang="en-US" sz="1991" dirty="0"/>
          </a:p>
        </p:txBody>
      </p:sp>
      <p:sp>
        <p:nvSpPr>
          <p:cNvPr id="19" name="Text 17"/>
          <p:cNvSpPr txBox="1"/>
          <p:nvPr/>
        </p:nvSpPr>
        <p:spPr>
          <a:xfrm>
            <a:off x="455168" y="8778240"/>
            <a:ext cx="5201920" cy="390144"/>
          </a:xfrm>
          <a:prstGeom prst="rect">
            <a:avLst/>
          </a:prstGeom>
          <a:noFill/>
          <a:ln/>
        </p:spPr>
        <p:txBody>
          <a:bodyPr wrap="square" lIns="0" tIns="0" rIns="0" bIns="0" rtlCol="0" anchor="t"/>
          <a:lstStyle/>
          <a:p>
            <a:r>
              <a:rPr lang="en-US" sz="1280" dirty="0">
                <a:solidFill>
                  <a:srgbClr val="6E6E6E"/>
                </a:solidFill>
                <a:latin typeface="Helvetica Neue" pitchFamily="34" charset="0"/>
                <a:ea typeface="Helvetica Neue" pitchFamily="34" charset="-122"/>
                <a:cs typeface="Helvetica Neue" pitchFamily="34" charset="-120"/>
              </a:rPr>
              <a:t>Personas are synthetic and need validation with real traders.</a:t>
            </a:r>
            <a:endParaRPr lang="en-US" sz="1280" dirty="0"/>
          </a:p>
        </p:txBody>
      </p:sp>
      <p:pic>
        <p:nvPicPr>
          <p:cNvPr id="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03 · Problem   FinViz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2987" dirty="0">
                <a:solidFill>
                  <a:srgbClr val="1F1F1F"/>
                </a:solidFill>
                <a:latin typeface="Helvetica Neue Light" pitchFamily="34" charset="0"/>
                <a:ea typeface="Helvetica Neue Light" pitchFamily="34" charset="-122"/>
                <a:cs typeface="Helvetica Neue Light" pitchFamily="34" charset="-120"/>
              </a:rPr>
              <a:t>Pain points, scored by user and business impact</a:t>
            </a:r>
            <a:endParaRPr lang="en-US" sz="2987" dirty="0"/>
          </a:p>
        </p:txBody>
      </p:sp>
      <p:sp>
        <p:nvSpPr>
          <p:cNvPr id="4" name="Text 2"/>
          <p:cNvSpPr txBox="1"/>
          <p:nvPr/>
        </p:nvSpPr>
        <p:spPr>
          <a:xfrm>
            <a:off x="975360" y="2015744"/>
            <a:ext cx="8453120" cy="5592064"/>
          </a:xfrm>
          <a:prstGeom prst="rect">
            <a:avLst/>
          </a:prstGeom>
          <a:noFill/>
          <a:ln/>
        </p:spPr>
        <p:txBody>
          <a:bodyPr wrap="square" lIns="0" tIns="0" rIns="0" bIns="0" rtlCol="0" anchor="t"/>
          <a:lstStyle/>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1  Ideas can’t become a working, watched screen</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2  Blind during market hours</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3  Too many results, and no reason why they matched</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4  Which metric matters, and what counts as good?</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5  Filters in fixed buckets; exact values are Elite</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6  Alert noise</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7  Catalysts scattered across pages</a:t>
            </a:r>
            <a:endParaRPr lang="en-US" sz="2133" dirty="0"/>
          </a:p>
        </p:txBody>
      </p:sp>
      <p:sp>
        <p:nvSpPr>
          <p:cNvPr id="5" name="Text 3"/>
          <p:cNvSpPr txBox="1"/>
          <p:nvPr/>
        </p:nvSpPr>
        <p:spPr>
          <a:xfrm>
            <a:off x="7002586" y="7146138"/>
            <a:ext cx="5159047" cy="780288"/>
          </a:xfrm>
          <a:prstGeom prst="rect">
            <a:avLst/>
          </a:prstGeom>
          <a:noFill/>
          <a:ln/>
        </p:spPr>
        <p:txBody>
          <a:bodyPr wrap="square" lIns="0" tIns="0" rIns="0" bIns="0" rtlCol="0" anchor="t"/>
          <a:lstStyle/>
          <a:p>
            <a:pPr algn="ctr"/>
            <a:r>
              <a:rPr lang="en-US" sz="2276" dirty="0">
                <a:solidFill>
                  <a:srgbClr val="6E6E6E"/>
                </a:solidFill>
                <a:latin typeface="Helvetica Neue Light" pitchFamily="34" charset="0"/>
                <a:ea typeface="Helvetica Neue Light" pitchFamily="34" charset="-122"/>
                <a:cs typeface="Helvetica Neue Light" pitchFamily="34" charset="-120"/>
              </a:rPr>
              <a:t>“Once you close FinViz you get nothing, and setting up alerts today is quirky.”</a:t>
            </a:r>
            <a:endParaRPr lang="en-US" sz="2276" dirty="0"/>
          </a:p>
        </p:txBody>
      </p:sp>
      <p:sp>
        <p:nvSpPr>
          <p:cNvPr id="6" name="Text 4"/>
          <p:cNvSpPr txBox="1"/>
          <p:nvPr/>
        </p:nvSpPr>
        <p:spPr>
          <a:xfrm>
            <a:off x="6502400" y="8258048"/>
            <a:ext cx="5852160" cy="390144"/>
          </a:xfrm>
          <a:prstGeom prst="rect">
            <a:avLst/>
          </a:prstGeom>
          <a:noFill/>
          <a:ln/>
        </p:spPr>
        <p:txBody>
          <a:bodyPr wrap="square" lIns="0" tIns="0" rIns="0" bIns="0" rtlCol="0" anchor="t"/>
          <a:lstStyle/>
          <a:p>
            <a:pPr algn="ctr"/>
            <a:r>
              <a:rPr lang="en-US" sz="1422" dirty="0">
                <a:solidFill>
                  <a:srgbClr val="6E6E6E"/>
                </a:solidFill>
                <a:latin typeface="Helvetica Neue" pitchFamily="34" charset="0"/>
                <a:ea typeface="Helvetica Neue" pitchFamily="34" charset="-122"/>
                <a:cs typeface="Helvetica Neue" pitchFamily="34" charset="-120"/>
              </a:rPr>
              <a:t>Design review feedback, Sept 30</a:t>
            </a:r>
            <a:endParaRPr lang="en-US" sz="1422" dirty="0"/>
          </a:p>
        </p:txBody>
      </p:sp>
      <p:pic>
        <p:nvPicPr>
          <p:cNvPr id="7"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04 · Data foundation   FinViz AI Screener</a:t>
            </a:r>
          </a:p>
        </p:txBody>
      </p:sp>
      <p:sp>
        <p:nvSpPr>
          <p:cNvPr id="4" name="TextBox 3"/>
          <p:cNvSpPr txBox="1"/>
          <p:nvPr/>
        </p:nvSpPr>
        <p:spPr>
          <a:xfrm>
            <a:off x="455168" y="936346"/>
            <a:ext cx="12094464" cy="459678"/>
          </a:xfrm>
          <a:prstGeom prst="rect">
            <a:avLst/>
          </a:prstGeom>
          <a:noFill/>
        </p:spPr>
        <p:txBody>
          <a:bodyPr wrap="square" lIns="0" tIns="0" rIns="0" bIns="0">
            <a:spAutoFit/>
          </a:bodyPr>
          <a:lstStyle/>
          <a:p>
            <a:r>
              <a:rPr sz="2987">
                <a:solidFill>
                  <a:srgbClr val="1F1F1F"/>
                </a:solidFill>
                <a:latin typeface="Helvetica Neue Light"/>
              </a:rPr>
              <a:t>Data foundation</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The design was shaped by what the data can and can’t support. Volumes are design estimates to validate with FinViz engineering.</a:t>
            </a:r>
          </a:p>
        </p:txBody>
      </p:sp>
      <p:sp>
        <p:nvSpPr>
          <p:cNvPr id="6" name="Rectangle 5"/>
          <p:cNvSpPr/>
          <p:nvPr/>
        </p:nvSpPr>
        <p:spPr>
          <a:xfrm>
            <a:off x="455168" y="2340864"/>
            <a:ext cx="12094464" cy="468173"/>
          </a:xfrm>
          <a:prstGeom prst="rect">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559206" y="2431898"/>
            <a:ext cx="2991104" cy="207877"/>
          </a:xfrm>
          <a:prstGeom prst="rect">
            <a:avLst/>
          </a:prstGeom>
          <a:noFill/>
        </p:spPr>
        <p:txBody>
          <a:bodyPr wrap="square" lIns="0" tIns="0" rIns="0" bIns="0">
            <a:spAutoFit/>
          </a:bodyPr>
          <a:lstStyle/>
          <a:p>
            <a:r>
              <a:rPr sz="1351">
                <a:solidFill>
                  <a:srgbClr val="FFFFFF"/>
                </a:solidFill>
                <a:latin typeface="Helvetica Neue"/>
              </a:rPr>
              <a:t>Data source</a:t>
            </a:r>
          </a:p>
        </p:txBody>
      </p:sp>
      <p:sp>
        <p:nvSpPr>
          <p:cNvPr id="8" name="TextBox 7"/>
          <p:cNvSpPr txBox="1"/>
          <p:nvPr/>
        </p:nvSpPr>
        <p:spPr>
          <a:xfrm>
            <a:off x="3680358" y="2431898"/>
            <a:ext cx="2796032" cy="207877"/>
          </a:xfrm>
          <a:prstGeom prst="rect">
            <a:avLst/>
          </a:prstGeom>
          <a:noFill/>
        </p:spPr>
        <p:txBody>
          <a:bodyPr wrap="square" lIns="0" tIns="0" rIns="0" bIns="0">
            <a:spAutoFit/>
          </a:bodyPr>
          <a:lstStyle/>
          <a:p>
            <a:r>
              <a:rPr sz="1351">
                <a:solidFill>
                  <a:srgbClr val="FFFFFF"/>
                </a:solidFill>
                <a:latin typeface="Helvetica Neue"/>
              </a:rPr>
              <a:t>Used for</a:t>
            </a:r>
          </a:p>
        </p:txBody>
      </p:sp>
      <p:sp>
        <p:nvSpPr>
          <p:cNvPr id="9" name="TextBox 8"/>
          <p:cNvSpPr txBox="1"/>
          <p:nvPr/>
        </p:nvSpPr>
        <p:spPr>
          <a:xfrm>
            <a:off x="6606438" y="2431898"/>
            <a:ext cx="2405888" cy="207877"/>
          </a:xfrm>
          <a:prstGeom prst="rect">
            <a:avLst/>
          </a:prstGeom>
          <a:noFill/>
        </p:spPr>
        <p:txBody>
          <a:bodyPr wrap="square" lIns="0" tIns="0" rIns="0" bIns="0">
            <a:spAutoFit/>
          </a:bodyPr>
          <a:lstStyle/>
          <a:p>
            <a:r>
              <a:rPr sz="1351">
                <a:solidFill>
                  <a:srgbClr val="FFFFFF"/>
                </a:solidFill>
                <a:latin typeface="Helvetica Neue"/>
              </a:rPr>
              <a:t>Volume (high level)</a:t>
            </a:r>
          </a:p>
        </p:txBody>
      </p:sp>
      <p:sp>
        <p:nvSpPr>
          <p:cNvPr id="10" name="TextBox 9"/>
          <p:cNvSpPr txBox="1"/>
          <p:nvPr/>
        </p:nvSpPr>
        <p:spPr>
          <a:xfrm>
            <a:off x="9142374" y="2431898"/>
            <a:ext cx="3511296" cy="207877"/>
          </a:xfrm>
          <a:prstGeom prst="rect">
            <a:avLst/>
          </a:prstGeom>
          <a:noFill/>
        </p:spPr>
        <p:txBody>
          <a:bodyPr wrap="square" lIns="0" tIns="0" rIns="0" bIns="0">
            <a:spAutoFit/>
          </a:bodyPr>
          <a:lstStyle/>
          <a:p>
            <a:r>
              <a:rPr sz="1351">
                <a:solidFill>
                  <a:srgbClr val="FFFFFF"/>
                </a:solidFill>
                <a:latin typeface="Helvetica Neue"/>
              </a:rPr>
              <a:t>Quality and constraints</a:t>
            </a:r>
          </a:p>
        </p:txBody>
      </p:sp>
      <p:sp>
        <p:nvSpPr>
          <p:cNvPr id="11" name="Rectangle 10"/>
          <p:cNvSpPr/>
          <p:nvPr/>
        </p:nvSpPr>
        <p:spPr>
          <a:xfrm>
            <a:off x="455168" y="2861056"/>
            <a:ext cx="12094464" cy="1092403"/>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559207" y="2965094"/>
            <a:ext cx="2861055" cy="437684"/>
          </a:xfrm>
          <a:prstGeom prst="rect">
            <a:avLst/>
          </a:prstGeom>
          <a:noFill/>
        </p:spPr>
        <p:txBody>
          <a:bodyPr wrap="square" lIns="0" tIns="0" rIns="0" bIns="0">
            <a:spAutoFit/>
          </a:bodyPr>
          <a:lstStyle/>
          <a:p>
            <a:r>
              <a:rPr sz="1422">
                <a:solidFill>
                  <a:srgbClr val="1F1F1F"/>
                </a:solidFill>
                <a:latin typeface="Helvetica Neue"/>
              </a:rPr>
              <a:t>FinViz screener data: 89 filters on ~11,700 tickers</a:t>
            </a:r>
          </a:p>
        </p:txBody>
      </p:sp>
      <p:sp>
        <p:nvSpPr>
          <p:cNvPr id="13" name="TextBox 12"/>
          <p:cNvSpPr txBox="1"/>
          <p:nvPr/>
        </p:nvSpPr>
        <p:spPr>
          <a:xfrm>
            <a:off x="3680359" y="2965095"/>
            <a:ext cx="2665983" cy="415755"/>
          </a:xfrm>
          <a:prstGeom prst="rect">
            <a:avLst/>
          </a:prstGeom>
          <a:noFill/>
        </p:spPr>
        <p:txBody>
          <a:bodyPr wrap="square" lIns="0" tIns="0" rIns="0" bIns="0">
            <a:spAutoFit/>
          </a:bodyPr>
          <a:lstStyle/>
          <a:p>
            <a:r>
              <a:rPr sz="1351">
                <a:solidFill>
                  <a:srgbClr val="1F1F1F"/>
                </a:solidFill>
                <a:latin typeface="Helvetica Neue Light"/>
              </a:rPr>
              <a:t>Examples → filters; why it matched; lenses</a:t>
            </a:r>
          </a:p>
        </p:txBody>
      </p:sp>
      <p:sp>
        <p:nvSpPr>
          <p:cNvPr id="14" name="TextBox 13"/>
          <p:cNvSpPr txBox="1"/>
          <p:nvPr/>
        </p:nvSpPr>
        <p:spPr>
          <a:xfrm>
            <a:off x="6606438" y="2965095"/>
            <a:ext cx="2275840" cy="415755"/>
          </a:xfrm>
          <a:prstGeom prst="rect">
            <a:avLst/>
          </a:prstGeom>
          <a:noFill/>
        </p:spPr>
        <p:txBody>
          <a:bodyPr wrap="square" lIns="0" tIns="0" rIns="0" bIns="0">
            <a:spAutoFit/>
          </a:bodyPr>
          <a:lstStyle/>
          <a:p>
            <a:r>
              <a:rPr sz="1351">
                <a:solidFill>
                  <a:srgbClr val="1F1F1F"/>
                </a:solidFill>
                <a:latin typeface="Helvetica Neue Light"/>
              </a:rPr>
              <a:t>~11.7k tickers × 89 fields, daily; intraday on Elite</a:t>
            </a:r>
          </a:p>
        </p:txBody>
      </p:sp>
      <p:sp>
        <p:nvSpPr>
          <p:cNvPr id="15" name="TextBox 14"/>
          <p:cNvSpPr txBox="1"/>
          <p:nvPr/>
        </p:nvSpPr>
        <p:spPr>
          <a:xfrm>
            <a:off x="9142374" y="2965095"/>
            <a:ext cx="3381248" cy="415755"/>
          </a:xfrm>
          <a:prstGeom prst="rect">
            <a:avLst/>
          </a:prstGeom>
          <a:noFill/>
        </p:spPr>
        <p:txBody>
          <a:bodyPr wrap="square" lIns="0" tIns="0" rIns="0" bIns="0">
            <a:spAutoFit/>
          </a:bodyPr>
          <a:lstStyle/>
          <a:p>
            <a:r>
              <a:rPr sz="1351">
                <a:solidFill>
                  <a:srgbClr val="595959"/>
                </a:solidFill>
                <a:latin typeface="Helvetica Neue Light"/>
              </a:rPr>
              <a:t>Free maps to preset buckets (marked ≈); exact values on Elite</a:t>
            </a:r>
          </a:p>
        </p:txBody>
      </p:sp>
      <p:sp>
        <p:nvSpPr>
          <p:cNvPr id="16" name="TextBox 15"/>
          <p:cNvSpPr txBox="1"/>
          <p:nvPr/>
        </p:nvSpPr>
        <p:spPr>
          <a:xfrm>
            <a:off x="559207" y="4083507"/>
            <a:ext cx="2861055" cy="218842"/>
          </a:xfrm>
          <a:prstGeom prst="rect">
            <a:avLst/>
          </a:prstGeom>
          <a:noFill/>
        </p:spPr>
        <p:txBody>
          <a:bodyPr wrap="square" lIns="0" tIns="0" rIns="0" bIns="0">
            <a:spAutoFit/>
          </a:bodyPr>
          <a:lstStyle/>
          <a:p>
            <a:r>
              <a:rPr sz="1422">
                <a:solidFill>
                  <a:srgbClr val="1F1F1F"/>
                </a:solidFill>
                <a:latin typeface="Helvetica Neue"/>
              </a:rPr>
              <a:t>Price and volume bars</a:t>
            </a:r>
          </a:p>
        </p:txBody>
      </p:sp>
      <p:sp>
        <p:nvSpPr>
          <p:cNvPr id="17" name="TextBox 16"/>
          <p:cNvSpPr txBox="1"/>
          <p:nvPr/>
        </p:nvSpPr>
        <p:spPr>
          <a:xfrm>
            <a:off x="3680359" y="4083507"/>
            <a:ext cx="2665983" cy="415755"/>
          </a:xfrm>
          <a:prstGeom prst="rect">
            <a:avLst/>
          </a:prstGeom>
          <a:noFill/>
        </p:spPr>
        <p:txBody>
          <a:bodyPr wrap="square" lIns="0" tIns="0" rIns="0" bIns="0">
            <a:spAutoFit/>
          </a:bodyPr>
          <a:lstStyle/>
          <a:p>
            <a:r>
              <a:rPr sz="1351">
                <a:solidFill>
                  <a:srgbClr val="1F1F1F"/>
                </a:solidFill>
                <a:latin typeface="Helvetica Neue Light"/>
              </a:rPr>
              <a:t>Pattern detection; 30-day replay; reasons checks</a:t>
            </a:r>
          </a:p>
        </p:txBody>
      </p:sp>
      <p:sp>
        <p:nvSpPr>
          <p:cNvPr id="18" name="TextBox 17"/>
          <p:cNvSpPr txBox="1"/>
          <p:nvPr/>
        </p:nvSpPr>
        <p:spPr>
          <a:xfrm>
            <a:off x="6606438" y="4083508"/>
            <a:ext cx="2275840" cy="415755"/>
          </a:xfrm>
          <a:prstGeom prst="rect">
            <a:avLst/>
          </a:prstGeom>
          <a:noFill/>
        </p:spPr>
        <p:txBody>
          <a:bodyPr wrap="square" lIns="0" tIns="0" rIns="0" bIns="0">
            <a:spAutoFit/>
          </a:bodyPr>
          <a:lstStyle/>
          <a:p>
            <a:r>
              <a:rPr sz="1351">
                <a:solidFill>
                  <a:srgbClr val="1F1F1F"/>
                </a:solidFill>
                <a:latin typeface="Helvetica Neue Light"/>
              </a:rPr>
              <a:t>3+ years of daily bars per ticker</a:t>
            </a:r>
          </a:p>
        </p:txBody>
      </p:sp>
      <p:sp>
        <p:nvSpPr>
          <p:cNvPr id="19" name="TextBox 18"/>
          <p:cNvSpPr txBox="1"/>
          <p:nvPr/>
        </p:nvSpPr>
        <p:spPr>
          <a:xfrm>
            <a:off x="9142374" y="4083507"/>
            <a:ext cx="3381248" cy="415755"/>
          </a:xfrm>
          <a:prstGeom prst="rect">
            <a:avLst/>
          </a:prstGeom>
          <a:noFill/>
        </p:spPr>
        <p:txBody>
          <a:bodyPr wrap="square" lIns="0" tIns="0" rIns="0" bIns="0">
            <a:spAutoFit/>
          </a:bodyPr>
          <a:lstStyle/>
          <a:p>
            <a:r>
              <a:rPr sz="1351">
                <a:solidFill>
                  <a:srgbClr val="595959"/>
                </a:solidFill>
                <a:latin typeface="Helvetica Neue Light"/>
              </a:rPr>
              <a:t>Gaps and splits → the detector abstains (“not enough data”) instead of guessing</a:t>
            </a:r>
          </a:p>
        </p:txBody>
      </p:sp>
      <p:sp>
        <p:nvSpPr>
          <p:cNvPr id="20" name="Rectangle 19"/>
          <p:cNvSpPr/>
          <p:nvPr/>
        </p:nvSpPr>
        <p:spPr>
          <a:xfrm>
            <a:off x="455168" y="5097882"/>
            <a:ext cx="12094464" cy="1092403"/>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1" name="TextBox 20"/>
          <p:cNvSpPr txBox="1"/>
          <p:nvPr/>
        </p:nvSpPr>
        <p:spPr>
          <a:xfrm>
            <a:off x="559207" y="5201920"/>
            <a:ext cx="2861055" cy="437684"/>
          </a:xfrm>
          <a:prstGeom prst="rect">
            <a:avLst/>
          </a:prstGeom>
          <a:noFill/>
        </p:spPr>
        <p:txBody>
          <a:bodyPr wrap="square" lIns="0" tIns="0" rIns="0" bIns="0">
            <a:spAutoFit/>
          </a:bodyPr>
          <a:lstStyle/>
          <a:p>
            <a:r>
              <a:rPr sz="1422">
                <a:solidFill>
                  <a:srgbClr val="1F1F1F"/>
                </a:solidFill>
                <a:latin typeface="Helvetica Neue"/>
              </a:rPr>
              <a:t>Earnings calendar, news, analyst changes (third party)</a:t>
            </a:r>
          </a:p>
        </p:txBody>
      </p:sp>
      <p:sp>
        <p:nvSpPr>
          <p:cNvPr id="22" name="TextBox 21"/>
          <p:cNvSpPr txBox="1"/>
          <p:nvPr/>
        </p:nvSpPr>
        <p:spPr>
          <a:xfrm>
            <a:off x="3680359" y="5201921"/>
            <a:ext cx="2665983" cy="415755"/>
          </a:xfrm>
          <a:prstGeom prst="rect">
            <a:avLst/>
          </a:prstGeom>
          <a:noFill/>
        </p:spPr>
        <p:txBody>
          <a:bodyPr wrap="square" lIns="0" tIns="0" rIns="0" bIns="0">
            <a:spAutoFit/>
          </a:bodyPr>
          <a:lstStyle/>
          <a:p>
            <a:r>
              <a:rPr sz="1351">
                <a:solidFill>
                  <a:srgbClr val="1F1F1F"/>
                </a:solidFill>
                <a:latin typeface="Helvetica Neue Light"/>
              </a:rPr>
              <a:t>Morning glance; insight cards; map annotations</a:t>
            </a:r>
          </a:p>
        </p:txBody>
      </p:sp>
      <p:sp>
        <p:nvSpPr>
          <p:cNvPr id="23" name="TextBox 22"/>
          <p:cNvSpPr txBox="1"/>
          <p:nvPr/>
        </p:nvSpPr>
        <p:spPr>
          <a:xfrm>
            <a:off x="6606438" y="5201921"/>
            <a:ext cx="2275840" cy="207877"/>
          </a:xfrm>
          <a:prstGeom prst="rect">
            <a:avLst/>
          </a:prstGeom>
          <a:noFill/>
        </p:spPr>
        <p:txBody>
          <a:bodyPr wrap="square" lIns="0" tIns="0" rIns="0" bIns="0">
            <a:spAutoFit/>
          </a:bodyPr>
          <a:lstStyle/>
          <a:p>
            <a:r>
              <a:rPr sz="1351">
                <a:solidFill>
                  <a:srgbClr val="1F1F1F"/>
                </a:solidFill>
                <a:latin typeface="Helvetica Neue Light"/>
              </a:rPr>
              <a:t>Dozens of sources a day</a:t>
            </a:r>
          </a:p>
        </p:txBody>
      </p:sp>
      <p:sp>
        <p:nvSpPr>
          <p:cNvPr id="24" name="TextBox 23"/>
          <p:cNvSpPr txBox="1"/>
          <p:nvPr/>
        </p:nvSpPr>
        <p:spPr>
          <a:xfrm>
            <a:off x="9142374" y="5201920"/>
            <a:ext cx="3381248" cy="415755"/>
          </a:xfrm>
          <a:prstGeom prst="rect">
            <a:avLst/>
          </a:prstGeom>
          <a:noFill/>
        </p:spPr>
        <p:txBody>
          <a:bodyPr wrap="square" lIns="0" tIns="0" rIns="0" bIns="0">
            <a:spAutoFit/>
          </a:bodyPr>
          <a:lstStyle/>
          <a:p>
            <a:r>
              <a:rPr sz="1351">
                <a:solidFill>
                  <a:srgbClr val="595959"/>
                </a:solidFill>
                <a:latin typeface="Helvetica Neue Light"/>
              </a:rPr>
              <a:t>Every claim cites source and time; no cause is inferred without a source</a:t>
            </a:r>
          </a:p>
        </p:txBody>
      </p:sp>
      <p:sp>
        <p:nvSpPr>
          <p:cNvPr id="25" name="TextBox 24"/>
          <p:cNvSpPr txBox="1"/>
          <p:nvPr/>
        </p:nvSpPr>
        <p:spPr>
          <a:xfrm>
            <a:off x="559207" y="6320333"/>
            <a:ext cx="2861055" cy="656526"/>
          </a:xfrm>
          <a:prstGeom prst="rect">
            <a:avLst/>
          </a:prstGeom>
          <a:noFill/>
        </p:spPr>
        <p:txBody>
          <a:bodyPr wrap="square" lIns="0" tIns="0" rIns="0" bIns="0">
            <a:spAutoFit/>
          </a:bodyPr>
          <a:lstStyle/>
          <a:p>
            <a:r>
              <a:rPr sz="1422">
                <a:solidFill>
                  <a:srgbClr val="1F1F1F"/>
                </a:solidFill>
                <a:latin typeface="Helvetica Neue"/>
              </a:rPr>
              <a:t>His data, opt-in: screens, shortlist, reasons, notes, exit lines, day profile</a:t>
            </a:r>
          </a:p>
        </p:txBody>
      </p:sp>
      <p:sp>
        <p:nvSpPr>
          <p:cNvPr id="26" name="TextBox 25"/>
          <p:cNvSpPr txBox="1"/>
          <p:nvPr/>
        </p:nvSpPr>
        <p:spPr>
          <a:xfrm>
            <a:off x="3680359" y="6320334"/>
            <a:ext cx="2665983" cy="415755"/>
          </a:xfrm>
          <a:prstGeom prst="rect">
            <a:avLst/>
          </a:prstGeom>
          <a:noFill/>
        </p:spPr>
        <p:txBody>
          <a:bodyPr wrap="square" lIns="0" tIns="0" rIns="0" bIns="0">
            <a:spAutoFit/>
          </a:bodyPr>
          <a:lstStyle/>
          <a:p>
            <a:r>
              <a:rPr sz="1351">
                <a:solidFill>
                  <a:srgbClr val="1F1F1F"/>
                </a:solidFill>
                <a:latin typeface="Helvetica Neue Light"/>
              </a:rPr>
              <a:t>Personal rules; what to watch and when</a:t>
            </a:r>
          </a:p>
        </p:txBody>
      </p:sp>
      <p:sp>
        <p:nvSpPr>
          <p:cNvPr id="27" name="TextBox 26"/>
          <p:cNvSpPr txBox="1"/>
          <p:nvPr/>
        </p:nvSpPr>
        <p:spPr>
          <a:xfrm>
            <a:off x="6606438" y="6320334"/>
            <a:ext cx="2275840" cy="207877"/>
          </a:xfrm>
          <a:prstGeom prst="rect">
            <a:avLst/>
          </a:prstGeom>
          <a:noFill/>
        </p:spPr>
        <p:txBody>
          <a:bodyPr wrap="square" lIns="0" tIns="0" rIns="0" bIns="0">
            <a:spAutoFit/>
          </a:bodyPr>
          <a:lstStyle/>
          <a:p>
            <a:r>
              <a:rPr sz="1351">
                <a:solidFill>
                  <a:srgbClr val="1F1F1F"/>
                </a:solidFill>
                <a:latin typeface="Helvetica Neue Light"/>
              </a:rPr>
              <a:t>Small, per user</a:t>
            </a:r>
          </a:p>
        </p:txBody>
      </p:sp>
      <p:sp>
        <p:nvSpPr>
          <p:cNvPr id="28" name="TextBox 27"/>
          <p:cNvSpPr txBox="1"/>
          <p:nvPr/>
        </p:nvSpPr>
        <p:spPr>
          <a:xfrm>
            <a:off x="9142374" y="6320333"/>
            <a:ext cx="3381248" cy="415755"/>
          </a:xfrm>
          <a:prstGeom prst="rect">
            <a:avLst/>
          </a:prstGeom>
          <a:noFill/>
        </p:spPr>
        <p:txBody>
          <a:bodyPr wrap="square" lIns="0" tIns="0" rIns="0" bIns="0">
            <a:spAutoFit/>
          </a:bodyPr>
          <a:lstStyle/>
          <a:p>
            <a:r>
              <a:rPr sz="1351">
                <a:solidFill>
                  <a:srgbClr val="595959"/>
                </a:solidFill>
                <a:latin typeface="Helvetica Neue Light"/>
              </a:rPr>
              <a:t>Sensitive: visible, editable and deletable; never turned into recommendations</a:t>
            </a:r>
          </a:p>
        </p:txBody>
      </p:sp>
      <p:sp>
        <p:nvSpPr>
          <p:cNvPr id="29" name="Rectangle 28"/>
          <p:cNvSpPr/>
          <p:nvPr/>
        </p:nvSpPr>
        <p:spPr>
          <a:xfrm>
            <a:off x="455168" y="7334707"/>
            <a:ext cx="12094464" cy="1092403"/>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0" name="TextBox 29"/>
          <p:cNvSpPr txBox="1"/>
          <p:nvPr/>
        </p:nvSpPr>
        <p:spPr>
          <a:xfrm>
            <a:off x="559207" y="7438746"/>
            <a:ext cx="2861055" cy="656526"/>
          </a:xfrm>
          <a:prstGeom prst="rect">
            <a:avLst/>
          </a:prstGeom>
          <a:noFill/>
        </p:spPr>
        <p:txBody>
          <a:bodyPr wrap="square" lIns="0" tIns="0" rIns="0" bIns="0">
            <a:spAutoFit/>
          </a:bodyPr>
          <a:lstStyle/>
          <a:p>
            <a:r>
              <a:rPr sz="1422">
                <a:solidFill>
                  <a:srgbClr val="1F1F1F"/>
                </a:solidFill>
                <a:latin typeface="Helvetica Neue"/>
              </a:rPr>
              <a:t>Labels: his corrections (“this was wrong”, “not a real hammer”) + weekly audits</a:t>
            </a:r>
          </a:p>
        </p:txBody>
      </p:sp>
      <p:sp>
        <p:nvSpPr>
          <p:cNvPr id="31" name="TextBox 30"/>
          <p:cNvSpPr txBox="1"/>
          <p:nvPr/>
        </p:nvSpPr>
        <p:spPr>
          <a:xfrm>
            <a:off x="3680359" y="7438746"/>
            <a:ext cx="2665983" cy="415755"/>
          </a:xfrm>
          <a:prstGeom prst="rect">
            <a:avLst/>
          </a:prstGeom>
          <a:noFill/>
        </p:spPr>
        <p:txBody>
          <a:bodyPr wrap="square" lIns="0" tIns="0" rIns="0" bIns="0">
            <a:spAutoFit/>
          </a:bodyPr>
          <a:lstStyle/>
          <a:p>
            <a:r>
              <a:rPr sz="1351">
                <a:solidFill>
                  <a:srgbClr val="1F1F1F"/>
                </a:solidFill>
                <a:latin typeface="Helvetica Neue Light"/>
              </a:rPr>
              <a:t>Evaluate and tune detection and alerts</a:t>
            </a:r>
          </a:p>
        </p:txBody>
      </p:sp>
      <p:sp>
        <p:nvSpPr>
          <p:cNvPr id="32" name="TextBox 31"/>
          <p:cNvSpPr txBox="1"/>
          <p:nvPr/>
        </p:nvSpPr>
        <p:spPr>
          <a:xfrm>
            <a:off x="6606438" y="7438746"/>
            <a:ext cx="2275840" cy="415755"/>
          </a:xfrm>
          <a:prstGeom prst="rect">
            <a:avLst/>
          </a:prstGeom>
          <a:noFill/>
        </p:spPr>
        <p:txBody>
          <a:bodyPr wrap="square" lIns="0" tIns="0" rIns="0" bIns="0">
            <a:spAutoFit/>
          </a:bodyPr>
          <a:lstStyle/>
          <a:p>
            <a:r>
              <a:rPr sz="1351">
                <a:solidFill>
                  <a:srgbClr val="1F1F1F"/>
                </a:solidFill>
                <a:latin typeface="Helvetica Neue Light"/>
              </a:rPr>
              <a:t>Grows with use; audit 50 detections a week</a:t>
            </a:r>
          </a:p>
        </p:txBody>
      </p:sp>
      <p:sp>
        <p:nvSpPr>
          <p:cNvPr id="33" name="TextBox 32"/>
          <p:cNvSpPr txBox="1"/>
          <p:nvPr/>
        </p:nvSpPr>
        <p:spPr>
          <a:xfrm>
            <a:off x="9142374" y="7438746"/>
            <a:ext cx="3381248" cy="415755"/>
          </a:xfrm>
          <a:prstGeom prst="rect">
            <a:avLst/>
          </a:prstGeom>
          <a:noFill/>
        </p:spPr>
        <p:txBody>
          <a:bodyPr wrap="square" lIns="0" tIns="0" rIns="0" bIns="0">
            <a:spAutoFit/>
          </a:bodyPr>
          <a:lstStyle/>
          <a:p>
            <a:r>
              <a:rPr sz="1351">
                <a:solidFill>
                  <a:srgbClr val="595959"/>
                </a:solidFill>
                <a:latin typeface="Helvetica Neue Light"/>
              </a:rPr>
              <a:t>Corrections are biased toward noise; sampled audits keep a fair error rate</a:t>
            </a:r>
          </a:p>
        </p:txBody>
      </p:sp>
      <p:sp>
        <p:nvSpPr>
          <p:cNvPr id="34" name="TextBox 33"/>
          <p:cNvSpPr txBox="1"/>
          <p:nvPr/>
        </p:nvSpPr>
        <p:spPr>
          <a:xfrm>
            <a:off x="455168" y="8583169"/>
            <a:ext cx="12094464" cy="229743"/>
          </a:xfrm>
          <a:prstGeom prst="rect">
            <a:avLst/>
          </a:prstGeom>
          <a:noFill/>
        </p:spPr>
        <p:txBody>
          <a:bodyPr wrap="square" lIns="0" tIns="0" rIns="0" bIns="0">
            <a:spAutoFit/>
          </a:bodyPr>
          <a:lstStyle/>
          <a:p>
            <a:r>
              <a:rPr sz="1493">
                <a:solidFill>
                  <a:srgbClr val="5B3F96"/>
                </a:solidFill>
                <a:latin typeface="Helvetica Neue Light"/>
              </a:rPr>
              <a:t>Design consequence: every AI output shows the data behind it and its time; when data is missing the product says so.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975360" y="975360"/>
            <a:ext cx="4551680" cy="1170432"/>
          </a:xfrm>
          <a:prstGeom prst="rect">
            <a:avLst/>
          </a:prstGeom>
          <a:noFill/>
          <a:ln/>
        </p:spPr>
        <p:txBody>
          <a:bodyPr wrap="square" lIns="0" tIns="0" rIns="0" bIns="0" rtlCol="0" anchor="t"/>
          <a:lstStyle/>
          <a:p>
            <a:r>
              <a:rPr lang="en-US" sz="5689" dirty="0">
                <a:solidFill>
                  <a:srgbClr val="FFFFFF"/>
                </a:solidFill>
                <a:latin typeface="Helvetica Neue Light" pitchFamily="34" charset="0"/>
                <a:ea typeface="Helvetica Neue Light" pitchFamily="34" charset="-122"/>
                <a:cs typeface="Helvetica Neue Light" pitchFamily="34" charset="-120"/>
              </a:rPr>
              <a:t>The solution</a:t>
            </a:r>
            <a:endParaRPr lang="en-US" sz="5689" dirty="0"/>
          </a:p>
        </p:txBody>
      </p:sp>
      <p:sp>
        <p:nvSpPr>
          <p:cNvPr id="3" name="Text 1"/>
          <p:cNvSpPr txBox="1"/>
          <p:nvPr/>
        </p:nvSpPr>
        <p:spPr>
          <a:xfrm>
            <a:off x="1077823" y="2145792"/>
            <a:ext cx="7282688" cy="2080768"/>
          </a:xfrm>
          <a:prstGeom prst="rect">
            <a:avLst/>
          </a:prstGeom>
          <a:noFill/>
          <a:ln/>
        </p:spPr>
        <p:txBody>
          <a:bodyPr wrap="square" lIns="0" tIns="0" rIns="0" bIns="0" rtlCol="0" anchor="t"/>
          <a:lstStyle/>
          <a:p>
            <a:pPr>
              <a:lnSpc>
                <a:spcPct val="130000"/>
              </a:lnSpc>
            </a:pPr>
            <a:r>
              <a:rPr lang="en-US" sz="1707" dirty="0">
                <a:solidFill>
                  <a:srgbClr val="FFE9DF"/>
                </a:solidFill>
                <a:latin typeface="Helvetica Neue Light" pitchFamily="34" charset="0"/>
                <a:ea typeface="Helvetica Neue Light" pitchFamily="34" charset="-122"/>
                <a:cs typeface="Helvetica Neue Light" pitchFamily="34" charset="-120"/>
              </a:rPr>
              <a:t>Hi-fi first: one trade followed through one trading day, Monday evening to Sunday. 19 screens in the FinViz dark theme, built only from the design system’s tokens. Purple marks AI and nothing else.</a:t>
            </a:r>
            <a:endParaRPr lang="en-US" sz="1707" dirty="0"/>
          </a:p>
        </p:txBody>
      </p:sp>
      <p:pic>
        <p:nvPicPr>
          <p:cNvPr id="4" name="Picture 3"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403149"/>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05 · Solution   FinViz AI Screener</a:t>
            </a:r>
            <a:endParaRPr lang="en-US" sz="1422" dirty="0"/>
          </a:p>
        </p:txBody>
      </p:sp>
      <p:pic>
        <p:nvPicPr>
          <p:cNvPr id="3" name="Picture 2" descr="image.png"/>
          <p:cNvPicPr>
            <a:picLocks noChangeAspect="1"/>
          </p:cNvPicPr>
          <p:nvPr/>
        </p:nvPicPr>
        <p:blipFill>
          <a:blip r:embed="rId3"/>
          <a:stretch>
            <a:fillRect/>
          </a:stretch>
        </p:blipFill>
        <p:spPr>
          <a:xfrm>
            <a:off x="0" y="9548150"/>
            <a:ext cx="13004800" cy="468173"/>
          </a:xfrm>
          <a:prstGeom prst="rect">
            <a:avLst/>
          </a:prstGeom>
        </p:spPr>
      </p:pic>
      <p:sp>
        <p:nvSpPr>
          <p:cNvPr id="4" name="TextBox 3"/>
          <p:cNvSpPr txBox="1"/>
          <p:nvPr/>
        </p:nvSpPr>
        <p:spPr>
          <a:xfrm>
            <a:off x="455168" y="975360"/>
            <a:ext cx="12094464" cy="612796"/>
          </a:xfrm>
          <a:prstGeom prst="rect">
            <a:avLst/>
          </a:prstGeom>
          <a:noFill/>
        </p:spPr>
        <p:txBody>
          <a:bodyPr wrap="square" lIns="0" tIns="0" rIns="0" bIns="0">
            <a:spAutoFit/>
          </a:bodyPr>
          <a:lstStyle/>
          <a:p>
            <a:r>
              <a:rPr lang="en-US" sz="3982" dirty="0">
                <a:solidFill>
                  <a:srgbClr val="1F1F1F"/>
                </a:solidFill>
                <a:latin typeface="Helvetica Neue Light"/>
              </a:rPr>
              <a:t>O</a:t>
            </a:r>
            <a:r>
              <a:rPr sz="3982" dirty="0">
                <a:solidFill>
                  <a:srgbClr val="1F1F1F"/>
                </a:solidFill>
                <a:latin typeface="Helvetica Neue Light"/>
              </a:rPr>
              <a:t>ne trade, followed through one trading day</a:t>
            </a:r>
          </a:p>
        </p:txBody>
      </p:sp>
      <p:sp>
        <p:nvSpPr>
          <p:cNvPr id="5" name="TextBox 4"/>
          <p:cNvSpPr txBox="1"/>
          <p:nvPr/>
        </p:nvSpPr>
        <p:spPr>
          <a:xfrm>
            <a:off x="455168" y="2110996"/>
            <a:ext cx="10934750" cy="1225464"/>
          </a:xfrm>
          <a:prstGeom prst="rect">
            <a:avLst/>
          </a:prstGeom>
          <a:noFill/>
        </p:spPr>
        <p:txBody>
          <a:bodyPr wrap="square" lIns="0" tIns="0" rIns="0" bIns="0">
            <a:spAutoFit/>
          </a:bodyPr>
          <a:lstStyle/>
          <a:p>
            <a:r>
              <a:rPr sz="1991" dirty="0">
                <a:solidFill>
                  <a:srgbClr val="1F1F1F"/>
                </a:solidFill>
                <a:latin typeface="Helvetica Neue Light"/>
              </a:rPr>
              <a:t>This case study follows </a:t>
            </a:r>
            <a:r>
              <a:rPr sz="1991" dirty="0">
                <a:solidFill>
                  <a:srgbClr val="1F1F1F"/>
                </a:solidFill>
                <a:latin typeface="Helvetica Neue"/>
              </a:rPr>
              <a:t>Growth Gary</a:t>
            </a:r>
            <a:r>
              <a:rPr sz="1991" dirty="0">
                <a:solidFill>
                  <a:srgbClr val="1F1F1F"/>
                </a:solidFill>
                <a:latin typeface="Helvetica Neue Light"/>
              </a:rPr>
              <a:t>, a swing trader with a day job, through a single trade. He finds an idea at night, checks it before work, gets one alert while he’s busy, and decides after the close whether his reasons still hold. </a:t>
            </a:r>
            <a:r>
              <a:rPr sz="1991" dirty="0" err="1">
                <a:solidFill>
                  <a:srgbClr val="1F1F1F"/>
                </a:solidFill>
                <a:latin typeface="Helvetica Neue"/>
              </a:rPr>
              <a:t>FinViz</a:t>
            </a:r>
            <a:r>
              <a:rPr sz="1991" dirty="0">
                <a:solidFill>
                  <a:srgbClr val="1F1F1F"/>
                </a:solidFill>
                <a:latin typeface="Helvetica Neue"/>
              </a:rPr>
              <a:t> does the watching and explaining at the right moment; Gary makes every decision, in his own broker.</a:t>
            </a:r>
          </a:p>
        </p:txBody>
      </p:sp>
      <p:sp>
        <p:nvSpPr>
          <p:cNvPr id="6" name="Rectangle 5"/>
          <p:cNvSpPr/>
          <p:nvPr/>
        </p:nvSpPr>
        <p:spPr>
          <a:xfrm>
            <a:off x="1430528" y="4866422"/>
            <a:ext cx="10143744" cy="3901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Oval 6"/>
          <p:cNvSpPr/>
          <p:nvPr/>
        </p:nvSpPr>
        <p:spPr>
          <a:xfrm>
            <a:off x="1014374" y="4463273"/>
            <a:ext cx="832307" cy="832307"/>
          </a:xfrm>
          <a:prstGeom prst="ellipse">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1</a:t>
            </a:r>
          </a:p>
        </p:txBody>
      </p:sp>
      <p:sp>
        <p:nvSpPr>
          <p:cNvPr id="8" name="TextBox 7"/>
          <p:cNvSpPr txBox="1"/>
          <p:nvPr/>
        </p:nvSpPr>
        <p:spPr>
          <a:xfrm>
            <a:off x="260096" y="3839043"/>
            <a:ext cx="2340864" cy="240707"/>
          </a:xfrm>
          <a:prstGeom prst="rect">
            <a:avLst/>
          </a:prstGeom>
          <a:noFill/>
        </p:spPr>
        <p:txBody>
          <a:bodyPr wrap="square" lIns="0" tIns="0" rIns="0" bIns="0">
            <a:spAutoFit/>
          </a:bodyPr>
          <a:lstStyle/>
          <a:p>
            <a:pPr algn="ctr"/>
            <a:r>
              <a:rPr sz="1564">
                <a:solidFill>
                  <a:srgbClr val="5B3F96"/>
                </a:solidFill>
                <a:latin typeface="Helvetica Neue"/>
              </a:rPr>
              <a:t>☾  8–10 PM</a:t>
            </a:r>
          </a:p>
        </p:txBody>
      </p:sp>
      <p:sp>
        <p:nvSpPr>
          <p:cNvPr id="9" name="TextBox 8"/>
          <p:cNvSpPr txBox="1"/>
          <p:nvPr/>
        </p:nvSpPr>
        <p:spPr>
          <a:xfrm>
            <a:off x="260096"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Evening</a:t>
            </a:r>
          </a:p>
        </p:txBody>
      </p:sp>
      <p:sp>
        <p:nvSpPr>
          <p:cNvPr id="10" name="TextBox 9"/>
          <p:cNvSpPr txBox="1"/>
          <p:nvPr/>
        </p:nvSpPr>
        <p:spPr>
          <a:xfrm>
            <a:off x="780288" y="6114883"/>
            <a:ext cx="1820672" cy="962828"/>
          </a:xfrm>
          <a:prstGeom prst="rect">
            <a:avLst/>
          </a:prstGeom>
          <a:noFill/>
        </p:spPr>
        <p:txBody>
          <a:bodyPr wrap="square" lIns="0" tIns="0" rIns="0" bIns="0">
            <a:spAutoFit/>
          </a:bodyPr>
          <a:lstStyle/>
          <a:p>
            <a:pPr algn="ctr"/>
            <a:r>
              <a:rPr sz="1564" dirty="0">
                <a:solidFill>
                  <a:srgbClr val="595959"/>
                </a:solidFill>
                <a:latin typeface="Helvetica Neue Light"/>
              </a:rPr>
              <a:t>Reviews what’s new, pins 3–5 names, taps “Watch these for me”</a:t>
            </a:r>
          </a:p>
        </p:txBody>
      </p:sp>
      <p:sp>
        <p:nvSpPr>
          <p:cNvPr id="11" name="Oval 10"/>
          <p:cNvSpPr/>
          <p:nvPr/>
        </p:nvSpPr>
        <p:spPr>
          <a:xfrm>
            <a:off x="3550311" y="4463273"/>
            <a:ext cx="832307" cy="832307"/>
          </a:xfrm>
          <a:prstGeom prst="ellipse">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2</a:t>
            </a:r>
          </a:p>
        </p:txBody>
      </p:sp>
      <p:sp>
        <p:nvSpPr>
          <p:cNvPr id="12" name="TextBox 11"/>
          <p:cNvSpPr txBox="1"/>
          <p:nvPr/>
        </p:nvSpPr>
        <p:spPr>
          <a:xfrm>
            <a:off x="2796032" y="3839043"/>
            <a:ext cx="2340864" cy="240707"/>
          </a:xfrm>
          <a:prstGeom prst="rect">
            <a:avLst/>
          </a:prstGeom>
          <a:noFill/>
        </p:spPr>
        <p:txBody>
          <a:bodyPr wrap="square" lIns="0" tIns="0" rIns="0" bIns="0">
            <a:spAutoFit/>
          </a:bodyPr>
          <a:lstStyle/>
          <a:p>
            <a:pPr algn="ctr"/>
            <a:r>
              <a:rPr sz="1564">
                <a:solidFill>
                  <a:srgbClr val="744A6C"/>
                </a:solidFill>
                <a:latin typeface="Helvetica Neue"/>
              </a:rPr>
              <a:t>☾  while he sleeps</a:t>
            </a:r>
          </a:p>
        </p:txBody>
      </p:sp>
      <p:sp>
        <p:nvSpPr>
          <p:cNvPr id="13" name="TextBox 12"/>
          <p:cNvSpPr txBox="1"/>
          <p:nvPr/>
        </p:nvSpPr>
        <p:spPr>
          <a:xfrm>
            <a:off x="2796032"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Overnight</a:t>
            </a:r>
          </a:p>
        </p:txBody>
      </p:sp>
      <p:sp>
        <p:nvSpPr>
          <p:cNvPr id="14" name="TextBox 13"/>
          <p:cNvSpPr txBox="1"/>
          <p:nvPr/>
        </p:nvSpPr>
        <p:spPr>
          <a:xfrm>
            <a:off x="2796032" y="6114883"/>
            <a:ext cx="2340864" cy="240707"/>
          </a:xfrm>
          <a:prstGeom prst="rect">
            <a:avLst/>
          </a:prstGeom>
          <a:noFill/>
        </p:spPr>
        <p:txBody>
          <a:bodyPr wrap="square" lIns="0" tIns="0" rIns="0" bIns="0">
            <a:spAutoFit/>
          </a:bodyPr>
          <a:lstStyle/>
          <a:p>
            <a:pPr algn="ctr"/>
            <a:r>
              <a:rPr sz="1564" dirty="0">
                <a:solidFill>
                  <a:srgbClr val="595959"/>
                </a:solidFill>
                <a:latin typeface="Helvetica Neue Light"/>
              </a:rPr>
              <a:t>Nothing</a:t>
            </a:r>
          </a:p>
        </p:txBody>
      </p:sp>
      <p:sp>
        <p:nvSpPr>
          <p:cNvPr id="15" name="Oval 14"/>
          <p:cNvSpPr/>
          <p:nvPr/>
        </p:nvSpPr>
        <p:spPr>
          <a:xfrm>
            <a:off x="6086247" y="4463273"/>
            <a:ext cx="832307" cy="832307"/>
          </a:xfrm>
          <a:prstGeom prst="ellipse">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3</a:t>
            </a:r>
          </a:p>
        </p:txBody>
      </p:sp>
      <p:sp>
        <p:nvSpPr>
          <p:cNvPr id="16" name="TextBox 15"/>
          <p:cNvSpPr txBox="1"/>
          <p:nvPr/>
        </p:nvSpPr>
        <p:spPr>
          <a:xfrm>
            <a:off x="5331967" y="3839043"/>
            <a:ext cx="2340864" cy="240707"/>
          </a:xfrm>
          <a:prstGeom prst="rect">
            <a:avLst/>
          </a:prstGeom>
          <a:noFill/>
        </p:spPr>
        <p:txBody>
          <a:bodyPr wrap="square" lIns="0" tIns="0" rIns="0" bIns="0">
            <a:spAutoFit/>
          </a:bodyPr>
          <a:lstStyle/>
          <a:p>
            <a:pPr algn="ctr"/>
            <a:r>
              <a:rPr sz="1564">
                <a:solidFill>
                  <a:srgbClr val="00868B"/>
                </a:solidFill>
                <a:latin typeface="Helvetica Neue"/>
              </a:rPr>
              <a:t>☀  7:30 AM</a:t>
            </a:r>
          </a:p>
        </p:txBody>
      </p:sp>
      <p:sp>
        <p:nvSpPr>
          <p:cNvPr id="17" name="TextBox 16"/>
          <p:cNvSpPr txBox="1"/>
          <p:nvPr/>
        </p:nvSpPr>
        <p:spPr>
          <a:xfrm>
            <a:off x="5331967"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Before work</a:t>
            </a:r>
          </a:p>
        </p:txBody>
      </p:sp>
      <p:sp>
        <p:nvSpPr>
          <p:cNvPr id="18" name="TextBox 17"/>
          <p:cNvSpPr txBox="1"/>
          <p:nvPr/>
        </p:nvSpPr>
        <p:spPr>
          <a:xfrm>
            <a:off x="5331967" y="6114883"/>
            <a:ext cx="2340864" cy="240707"/>
          </a:xfrm>
          <a:prstGeom prst="rect">
            <a:avLst/>
          </a:prstGeom>
          <a:noFill/>
        </p:spPr>
        <p:txBody>
          <a:bodyPr wrap="square" lIns="0" tIns="0" rIns="0" bIns="0">
            <a:spAutoFit/>
          </a:bodyPr>
          <a:lstStyle/>
          <a:p>
            <a:pPr algn="ctr"/>
            <a:r>
              <a:rPr sz="1564">
                <a:solidFill>
                  <a:srgbClr val="595959"/>
                </a:solidFill>
                <a:latin typeface="Helvetica Neue Light"/>
              </a:rPr>
              <a:t>Reads one short note</a:t>
            </a:r>
          </a:p>
        </p:txBody>
      </p:sp>
      <p:sp>
        <p:nvSpPr>
          <p:cNvPr id="19" name="Oval 18"/>
          <p:cNvSpPr/>
          <p:nvPr/>
        </p:nvSpPr>
        <p:spPr>
          <a:xfrm>
            <a:off x="8622181" y="4463273"/>
            <a:ext cx="832307" cy="832307"/>
          </a:xfrm>
          <a:prstGeom prst="ellipse">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4</a:t>
            </a:r>
          </a:p>
        </p:txBody>
      </p:sp>
      <p:sp>
        <p:nvSpPr>
          <p:cNvPr id="20" name="TextBox 19"/>
          <p:cNvSpPr txBox="1"/>
          <p:nvPr/>
        </p:nvSpPr>
        <p:spPr>
          <a:xfrm>
            <a:off x="7867903" y="3839043"/>
            <a:ext cx="2340864" cy="240707"/>
          </a:xfrm>
          <a:prstGeom prst="rect">
            <a:avLst/>
          </a:prstGeom>
          <a:noFill/>
        </p:spPr>
        <p:txBody>
          <a:bodyPr wrap="square" lIns="0" tIns="0" rIns="0" bIns="0">
            <a:spAutoFit/>
          </a:bodyPr>
          <a:lstStyle/>
          <a:p>
            <a:pPr algn="ctr"/>
            <a:r>
              <a:rPr sz="1564">
                <a:solidFill>
                  <a:srgbClr val="A12A37"/>
                </a:solidFill>
                <a:latin typeface="Helvetica Neue"/>
              </a:rPr>
              <a:t>☀  9:30 AM–4 PM</a:t>
            </a:r>
          </a:p>
        </p:txBody>
      </p:sp>
      <p:sp>
        <p:nvSpPr>
          <p:cNvPr id="21" name="TextBox 20"/>
          <p:cNvSpPr txBox="1"/>
          <p:nvPr/>
        </p:nvSpPr>
        <p:spPr>
          <a:xfrm>
            <a:off x="7867903"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During work</a:t>
            </a:r>
          </a:p>
        </p:txBody>
      </p:sp>
      <p:sp>
        <p:nvSpPr>
          <p:cNvPr id="22" name="TextBox 21"/>
          <p:cNvSpPr txBox="1"/>
          <p:nvPr/>
        </p:nvSpPr>
        <p:spPr>
          <a:xfrm>
            <a:off x="7867903" y="6114883"/>
            <a:ext cx="2340864" cy="240707"/>
          </a:xfrm>
          <a:prstGeom prst="rect">
            <a:avLst/>
          </a:prstGeom>
          <a:noFill/>
        </p:spPr>
        <p:txBody>
          <a:bodyPr wrap="square" lIns="0" tIns="0" rIns="0" bIns="0">
            <a:spAutoFit/>
          </a:bodyPr>
          <a:lstStyle/>
          <a:p>
            <a:pPr algn="ctr"/>
            <a:r>
              <a:rPr sz="1564">
                <a:solidFill>
                  <a:srgbClr val="595959"/>
                </a:solidFill>
                <a:latin typeface="Helvetica Neue Light"/>
              </a:rPr>
              <a:t>Taps one alert, if it comes</a:t>
            </a:r>
          </a:p>
        </p:txBody>
      </p:sp>
      <p:sp>
        <p:nvSpPr>
          <p:cNvPr id="23" name="Oval 22"/>
          <p:cNvSpPr/>
          <p:nvPr/>
        </p:nvSpPr>
        <p:spPr>
          <a:xfrm>
            <a:off x="11158119" y="4463273"/>
            <a:ext cx="832307" cy="832307"/>
          </a:xfrm>
          <a:prstGeom prst="ellipse">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5</a:t>
            </a:r>
          </a:p>
        </p:txBody>
      </p:sp>
      <p:sp>
        <p:nvSpPr>
          <p:cNvPr id="24" name="TextBox 23"/>
          <p:cNvSpPr txBox="1"/>
          <p:nvPr/>
        </p:nvSpPr>
        <p:spPr>
          <a:xfrm>
            <a:off x="10403840" y="3839043"/>
            <a:ext cx="2340864" cy="240707"/>
          </a:xfrm>
          <a:prstGeom prst="rect">
            <a:avLst/>
          </a:prstGeom>
          <a:noFill/>
        </p:spPr>
        <p:txBody>
          <a:bodyPr wrap="square" lIns="0" tIns="0" rIns="0" bIns="0">
            <a:spAutoFit/>
          </a:bodyPr>
          <a:lstStyle/>
          <a:p>
            <a:pPr algn="ctr"/>
            <a:r>
              <a:rPr sz="1564">
                <a:solidFill>
                  <a:srgbClr val="3A7D55"/>
                </a:solidFill>
                <a:latin typeface="Helvetica Neue"/>
              </a:rPr>
              <a:t>☀  4:30 PM</a:t>
            </a:r>
          </a:p>
        </p:txBody>
      </p:sp>
      <p:sp>
        <p:nvSpPr>
          <p:cNvPr id="25" name="TextBox 24"/>
          <p:cNvSpPr txBox="1"/>
          <p:nvPr/>
        </p:nvSpPr>
        <p:spPr>
          <a:xfrm>
            <a:off x="10403840" y="5529667"/>
            <a:ext cx="2340864" cy="328231"/>
          </a:xfrm>
          <a:prstGeom prst="rect">
            <a:avLst/>
          </a:prstGeom>
          <a:noFill/>
        </p:spPr>
        <p:txBody>
          <a:bodyPr wrap="square" lIns="0" tIns="0" rIns="0" bIns="0">
            <a:spAutoFit/>
          </a:bodyPr>
          <a:lstStyle/>
          <a:p>
            <a:pPr algn="ctr"/>
            <a:r>
              <a:rPr sz="2133">
                <a:solidFill>
                  <a:srgbClr val="1F1F1F"/>
                </a:solidFill>
                <a:latin typeface="Helvetica Neue Light"/>
              </a:rPr>
              <a:t>After the close</a:t>
            </a:r>
          </a:p>
        </p:txBody>
      </p:sp>
      <p:sp>
        <p:nvSpPr>
          <p:cNvPr id="26" name="TextBox 25"/>
          <p:cNvSpPr txBox="1"/>
          <p:nvPr/>
        </p:nvSpPr>
        <p:spPr>
          <a:xfrm>
            <a:off x="10640291" y="6114883"/>
            <a:ext cx="1584222" cy="722121"/>
          </a:xfrm>
          <a:prstGeom prst="rect">
            <a:avLst/>
          </a:prstGeom>
          <a:noFill/>
        </p:spPr>
        <p:txBody>
          <a:bodyPr wrap="square" lIns="0" tIns="0" rIns="0" bIns="0">
            <a:spAutoFit/>
          </a:bodyPr>
          <a:lstStyle/>
          <a:p>
            <a:pPr algn="ctr"/>
            <a:r>
              <a:rPr sz="1564" dirty="0">
                <a:solidFill>
                  <a:srgbClr val="595959"/>
                </a:solidFill>
                <a:latin typeface="Helvetica Neue Light"/>
              </a:rPr>
              <a:t>Decides: hold, or exit in his own broker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5"/>
            <a:ext cx="12094464" cy="459678"/>
          </a:xfrm>
          <a:prstGeom prst="rect">
            <a:avLst/>
          </a:prstGeom>
          <a:noFill/>
        </p:spPr>
        <p:txBody>
          <a:bodyPr wrap="square" lIns="0" tIns="0" rIns="0" bIns="0">
            <a:spAutoFit/>
          </a:bodyPr>
          <a:lstStyle/>
          <a:p>
            <a:r>
              <a:rPr sz="2987" dirty="0">
                <a:solidFill>
                  <a:srgbClr val="1F1F1F"/>
                </a:solidFill>
                <a:latin typeface="Helvetica Neue Light"/>
              </a:rPr>
              <a:t>The </a:t>
            </a:r>
            <a:r>
              <a:rPr lang="en-US" sz="2987" dirty="0">
                <a:solidFill>
                  <a:srgbClr val="1F1F1F"/>
                </a:solidFill>
                <a:latin typeface="Helvetica Neue Light"/>
              </a:rPr>
              <a:t>U</a:t>
            </a:r>
            <a:r>
              <a:rPr sz="2987" dirty="0">
                <a:solidFill>
                  <a:srgbClr val="1F1F1F"/>
                </a:solidFill>
                <a:latin typeface="Helvetica Neue Light"/>
              </a:rPr>
              <a:t>ser </a:t>
            </a:r>
            <a:r>
              <a:rPr lang="en-US" sz="2987" dirty="0">
                <a:solidFill>
                  <a:srgbClr val="1F1F1F"/>
                </a:solidFill>
                <a:latin typeface="Helvetica Neue Light"/>
              </a:rPr>
              <a:t>J</a:t>
            </a:r>
            <a:r>
              <a:rPr sz="2987" dirty="0">
                <a:solidFill>
                  <a:srgbClr val="1F1F1F"/>
                </a:solidFill>
                <a:latin typeface="Helvetica Neue Light"/>
              </a:rPr>
              <a:t>ourney: From market noise to a focused next step</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Six beats on the Insight Board: Gary’s day around work, then Mike, an advisor. The board surfaces what changed; he decides.</a:t>
            </a:r>
          </a:p>
        </p:txBody>
      </p:sp>
      <p:pic>
        <p:nvPicPr>
          <p:cNvPr id="6" name="Picture 5" descr="wt-1-board.png"/>
          <p:cNvPicPr>
            <a:picLocks noChangeAspect="1"/>
          </p:cNvPicPr>
          <p:nvPr/>
        </p:nvPicPr>
        <p:blipFill>
          <a:blip r:embed="rId4"/>
          <a:stretch>
            <a:fillRect/>
          </a:stretch>
        </p:blipFill>
        <p:spPr>
          <a:xfrm>
            <a:off x="455168" y="2210817"/>
            <a:ext cx="3901440" cy="2105152"/>
          </a:xfrm>
          <a:prstGeom prst="rect">
            <a:avLst/>
          </a:prstGeom>
          <a:ln w="6350">
            <a:solidFill>
              <a:srgbClr val="1F1F1F"/>
            </a:solidFill>
          </a:ln>
        </p:spPr>
      </p:pic>
      <p:sp>
        <p:nvSpPr>
          <p:cNvPr id="7" name="Rectangle 6"/>
          <p:cNvSpPr/>
          <p:nvPr/>
        </p:nvSpPr>
        <p:spPr>
          <a:xfrm>
            <a:off x="455168" y="4380992"/>
            <a:ext cx="3901440" cy="78029"/>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455168" y="4524045"/>
            <a:ext cx="3901440" cy="856388"/>
          </a:xfrm>
          <a:prstGeom prst="rect">
            <a:avLst/>
          </a:prstGeom>
          <a:noFill/>
        </p:spPr>
        <p:txBody>
          <a:bodyPr wrap="square" lIns="0" tIns="0" rIns="0" bIns="0">
            <a:spAutoFit/>
          </a:bodyPr>
          <a:lstStyle/>
          <a:p>
            <a:r>
              <a:rPr sz="1422" dirty="0">
                <a:solidFill>
                  <a:srgbClr val="5B3F96"/>
                </a:solidFill>
                <a:latin typeface="Helvetica Neue"/>
              </a:rPr>
              <a:t>1 · Morning  </a:t>
            </a:r>
            <a:r>
              <a:rPr sz="1209" dirty="0">
                <a:solidFill>
                  <a:srgbClr val="8C8C8C"/>
                </a:solidFill>
                <a:latin typeface="Helvetica Neue Light"/>
              </a:rPr>
              <a:t>DB1 · 7:45 AM</a:t>
            </a:r>
          </a:p>
          <a:p>
            <a:pPr>
              <a:spcAft>
                <a:spcPts val="284"/>
              </a:spcAft>
            </a:pPr>
            <a:r>
              <a:rPr sz="1493" dirty="0">
                <a:solidFill>
                  <a:srgbClr val="1F1F1F"/>
                </a:solidFill>
                <a:latin typeface="Helvetica Neue"/>
              </a:rPr>
              <a:t>“What needs my attention?”</a:t>
            </a:r>
          </a:p>
          <a:p>
            <a:r>
              <a:rPr sz="1100" dirty="0">
                <a:solidFill>
                  <a:srgbClr val="595959"/>
                </a:solidFill>
                <a:latin typeface="Helvetica Neue Light"/>
              </a:rPr>
              <a:t>Three findings about his own names come first: DOCN at risk, QLYS earnings, semis down with RMBS exposed.</a:t>
            </a:r>
          </a:p>
        </p:txBody>
      </p:sp>
      <p:pic>
        <p:nvPicPr>
          <p:cNvPr id="9" name="Picture 8" descr="wt-2-evidence.png"/>
          <p:cNvPicPr>
            <a:picLocks noChangeAspect="1"/>
          </p:cNvPicPr>
          <p:nvPr/>
        </p:nvPicPr>
        <p:blipFill>
          <a:blip r:embed="rId5"/>
          <a:stretch>
            <a:fillRect/>
          </a:stretch>
        </p:blipFill>
        <p:spPr>
          <a:xfrm>
            <a:off x="4525670" y="2210817"/>
            <a:ext cx="3901440" cy="2102970"/>
          </a:xfrm>
          <a:prstGeom prst="rect">
            <a:avLst/>
          </a:prstGeom>
          <a:ln w="6350">
            <a:solidFill>
              <a:srgbClr val="1F1F1F"/>
            </a:solidFill>
          </a:ln>
        </p:spPr>
      </p:pic>
      <p:sp>
        <p:nvSpPr>
          <p:cNvPr id="10" name="Rectangle 9"/>
          <p:cNvSpPr/>
          <p:nvPr/>
        </p:nvSpPr>
        <p:spPr>
          <a:xfrm>
            <a:off x="4525670" y="4378810"/>
            <a:ext cx="3901440" cy="78029"/>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4525670" y="4521864"/>
            <a:ext cx="3901440" cy="856388"/>
          </a:xfrm>
          <a:prstGeom prst="rect">
            <a:avLst/>
          </a:prstGeom>
          <a:noFill/>
        </p:spPr>
        <p:txBody>
          <a:bodyPr wrap="square" lIns="0" tIns="0" rIns="0" bIns="0">
            <a:spAutoFit/>
          </a:bodyPr>
          <a:lstStyle/>
          <a:p>
            <a:r>
              <a:rPr sz="1422" dirty="0">
                <a:solidFill>
                  <a:srgbClr val="00868B"/>
                </a:solidFill>
                <a:latin typeface="Helvetica Neue"/>
              </a:rPr>
              <a:t>2 · Investigating  </a:t>
            </a:r>
            <a:r>
              <a:rPr sz="1209" dirty="0">
                <a:solidFill>
                  <a:srgbClr val="8C8C8C"/>
                </a:solidFill>
                <a:latin typeface="Helvetica Neue Light"/>
              </a:rPr>
              <a:t>DB2</a:t>
            </a:r>
          </a:p>
          <a:p>
            <a:pPr>
              <a:spcAft>
                <a:spcPts val="284"/>
              </a:spcAft>
            </a:pPr>
            <a:r>
              <a:rPr sz="1493" dirty="0">
                <a:solidFill>
                  <a:srgbClr val="1F1F1F"/>
                </a:solidFill>
                <a:latin typeface="Helvetica Neue"/>
              </a:rPr>
              <a:t>“Show me the evidence.”</a:t>
            </a:r>
          </a:p>
          <a:p>
            <a:r>
              <a:rPr sz="1100" dirty="0">
                <a:solidFill>
                  <a:srgbClr val="595959"/>
                </a:solidFill>
                <a:latin typeface="Helvetica Neue Light"/>
              </a:rPr>
              <a:t>The card shows measured moves, quote time and the Reuters source; RMBS +1.1% on its own news.</a:t>
            </a:r>
          </a:p>
        </p:txBody>
      </p:sp>
      <p:pic>
        <p:nvPicPr>
          <p:cNvPr id="12" name="Picture 11" descr="wt-3-refine.png"/>
          <p:cNvPicPr>
            <a:picLocks noChangeAspect="1"/>
          </p:cNvPicPr>
          <p:nvPr/>
        </p:nvPicPr>
        <p:blipFill>
          <a:blip r:embed="rId6"/>
          <a:stretch>
            <a:fillRect/>
          </a:stretch>
        </p:blipFill>
        <p:spPr>
          <a:xfrm>
            <a:off x="8596171" y="2210816"/>
            <a:ext cx="3901440" cy="2106778"/>
          </a:xfrm>
          <a:prstGeom prst="rect">
            <a:avLst/>
          </a:prstGeom>
          <a:ln w="6350">
            <a:solidFill>
              <a:srgbClr val="1F1F1F"/>
            </a:solidFill>
          </a:ln>
        </p:spPr>
      </p:pic>
      <p:sp>
        <p:nvSpPr>
          <p:cNvPr id="13" name="Rectangle 12"/>
          <p:cNvSpPr/>
          <p:nvPr/>
        </p:nvSpPr>
        <p:spPr>
          <a:xfrm>
            <a:off x="8596171" y="4382618"/>
            <a:ext cx="3901440" cy="78029"/>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8596171" y="4525671"/>
            <a:ext cx="3901440" cy="856388"/>
          </a:xfrm>
          <a:prstGeom prst="rect">
            <a:avLst/>
          </a:prstGeom>
          <a:noFill/>
        </p:spPr>
        <p:txBody>
          <a:bodyPr wrap="square" lIns="0" tIns="0" rIns="0" bIns="0">
            <a:spAutoFit/>
          </a:bodyPr>
          <a:lstStyle/>
          <a:p>
            <a:r>
              <a:rPr sz="1422" dirty="0">
                <a:solidFill>
                  <a:srgbClr val="A12A37"/>
                </a:solidFill>
                <a:latin typeface="Helvetica Neue"/>
              </a:rPr>
              <a:t>3 · Refining  </a:t>
            </a:r>
            <a:r>
              <a:rPr sz="1209" dirty="0">
                <a:solidFill>
                  <a:srgbClr val="8C8C8C"/>
                </a:solidFill>
                <a:latin typeface="Helvetica Neue Light"/>
              </a:rPr>
              <a:t>DB2 · feedback</a:t>
            </a:r>
          </a:p>
          <a:p>
            <a:pPr>
              <a:spcAft>
                <a:spcPts val="284"/>
              </a:spcAft>
            </a:pPr>
            <a:r>
              <a:rPr sz="1493" dirty="0">
                <a:solidFill>
                  <a:srgbClr val="1F1F1F"/>
                </a:solidFill>
                <a:latin typeface="Helvetica Neue"/>
              </a:rPr>
              <a:t>“Ask before changing it.”</a:t>
            </a:r>
          </a:p>
          <a:p>
            <a:r>
              <a:rPr sz="1100" dirty="0">
                <a:solidFill>
                  <a:srgbClr val="595959"/>
                </a:solidFill>
                <a:latin typeface="Helvetica Neue Light"/>
              </a:rPr>
              <a:t>“Move too small for me” → a previewed threshold change he applies or cancels.</a:t>
            </a:r>
          </a:p>
        </p:txBody>
      </p:sp>
      <p:pic>
        <p:nvPicPr>
          <p:cNvPr id="15" name="Picture 14" descr="wt-4-plan.png"/>
          <p:cNvPicPr>
            <a:picLocks noChangeAspect="1"/>
          </p:cNvPicPr>
          <p:nvPr/>
        </p:nvPicPr>
        <p:blipFill>
          <a:blip r:embed="rId7"/>
          <a:stretch>
            <a:fillRect/>
          </a:stretch>
        </p:blipFill>
        <p:spPr>
          <a:xfrm>
            <a:off x="455168" y="5657087"/>
            <a:ext cx="3901440" cy="2105152"/>
          </a:xfrm>
          <a:prstGeom prst="rect">
            <a:avLst/>
          </a:prstGeom>
          <a:ln w="6350">
            <a:solidFill>
              <a:srgbClr val="1F1F1F"/>
            </a:solidFill>
          </a:ln>
        </p:spPr>
      </p:pic>
      <p:sp>
        <p:nvSpPr>
          <p:cNvPr id="16" name="Rectangle 15"/>
          <p:cNvSpPr/>
          <p:nvPr/>
        </p:nvSpPr>
        <p:spPr>
          <a:xfrm>
            <a:off x="455168" y="7827264"/>
            <a:ext cx="3901440" cy="78029"/>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455168" y="7970317"/>
            <a:ext cx="3901440" cy="856388"/>
          </a:xfrm>
          <a:prstGeom prst="rect">
            <a:avLst/>
          </a:prstGeom>
          <a:noFill/>
        </p:spPr>
        <p:txBody>
          <a:bodyPr wrap="square" lIns="0" tIns="0" rIns="0" bIns="0">
            <a:spAutoFit/>
          </a:bodyPr>
          <a:lstStyle/>
          <a:p>
            <a:r>
              <a:rPr sz="1422" dirty="0">
                <a:solidFill>
                  <a:srgbClr val="3A7D55"/>
                </a:solidFill>
                <a:latin typeface="Helvetica Neue"/>
              </a:rPr>
              <a:t>4 · After the close  </a:t>
            </a:r>
            <a:r>
              <a:rPr sz="1209" dirty="0">
                <a:solidFill>
                  <a:srgbClr val="8C8C8C"/>
                </a:solidFill>
                <a:latin typeface="Helvetica Neue Light"/>
              </a:rPr>
              <a:t>DB3 · 4:45 PM</a:t>
            </a:r>
          </a:p>
          <a:p>
            <a:pPr>
              <a:spcAft>
                <a:spcPts val="284"/>
              </a:spcAft>
            </a:pPr>
            <a:r>
              <a:rPr sz="1493" dirty="0">
                <a:solidFill>
                  <a:srgbClr val="1F1F1F"/>
                </a:solidFill>
                <a:latin typeface="Helvetica Neue"/>
              </a:rPr>
              <a:t>“How do I compare with my plan?”</a:t>
            </a:r>
          </a:p>
          <a:p>
            <a:r>
              <a:rPr sz="1100" dirty="0">
                <a:solidFill>
                  <a:srgbClr val="595959"/>
                </a:solidFill>
                <a:latin typeface="Helvetica Neue Light"/>
              </a:rPr>
              <a:t>Tech 46% vs his 40% target; the cause is RMBS +18.4%. Explained, never rebalanced.</a:t>
            </a:r>
          </a:p>
        </p:txBody>
      </p:sp>
      <p:pic>
        <p:nvPicPr>
          <p:cNvPr id="18" name="Picture 17" descr="wt-5-advisor.png"/>
          <p:cNvPicPr>
            <a:picLocks noChangeAspect="1"/>
          </p:cNvPicPr>
          <p:nvPr/>
        </p:nvPicPr>
        <p:blipFill>
          <a:blip r:embed="rId8"/>
          <a:stretch>
            <a:fillRect/>
          </a:stretch>
        </p:blipFill>
        <p:spPr>
          <a:xfrm>
            <a:off x="4525670" y="5657087"/>
            <a:ext cx="3901440" cy="2105152"/>
          </a:xfrm>
          <a:prstGeom prst="rect">
            <a:avLst/>
          </a:prstGeom>
          <a:ln w="6350">
            <a:solidFill>
              <a:srgbClr val="1F1F1F"/>
            </a:solidFill>
          </a:ln>
        </p:spPr>
      </p:pic>
      <p:sp>
        <p:nvSpPr>
          <p:cNvPr id="19" name="Rectangle 18"/>
          <p:cNvSpPr/>
          <p:nvPr/>
        </p:nvSpPr>
        <p:spPr>
          <a:xfrm>
            <a:off x="4525670" y="7827264"/>
            <a:ext cx="3901440" cy="78029"/>
          </a:xfrm>
          <a:prstGeom prst="rect">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TextBox 19"/>
          <p:cNvSpPr txBox="1"/>
          <p:nvPr/>
        </p:nvSpPr>
        <p:spPr>
          <a:xfrm>
            <a:off x="4525670" y="7970317"/>
            <a:ext cx="3901440" cy="856388"/>
          </a:xfrm>
          <a:prstGeom prst="rect">
            <a:avLst/>
          </a:prstGeom>
          <a:noFill/>
        </p:spPr>
        <p:txBody>
          <a:bodyPr wrap="square" lIns="0" tIns="0" rIns="0" bIns="0">
            <a:spAutoFit/>
          </a:bodyPr>
          <a:lstStyle/>
          <a:p>
            <a:r>
              <a:rPr sz="1422" dirty="0">
                <a:solidFill>
                  <a:srgbClr val="744A6C"/>
                </a:solidFill>
                <a:latin typeface="Helvetica Neue"/>
              </a:rPr>
              <a:t>5 · Advisor  </a:t>
            </a:r>
            <a:r>
              <a:rPr sz="1209" dirty="0">
                <a:solidFill>
                  <a:srgbClr val="8C8C8C"/>
                </a:solidFill>
                <a:latin typeface="Helvetica Neue Light"/>
              </a:rPr>
              <a:t>DB4 · Mike</a:t>
            </a:r>
          </a:p>
          <a:p>
            <a:pPr>
              <a:spcAft>
                <a:spcPts val="284"/>
              </a:spcAft>
            </a:pPr>
            <a:r>
              <a:rPr sz="1493" dirty="0">
                <a:solidFill>
                  <a:srgbClr val="1F1F1F"/>
                </a:solidFill>
                <a:latin typeface="Helvetica Neue"/>
              </a:rPr>
              <a:t>“Exceptions, not 54 dashboards.”</a:t>
            </a:r>
          </a:p>
          <a:p>
            <a:r>
              <a:rPr sz="1100" dirty="0">
                <a:solidFill>
                  <a:srgbClr val="595959"/>
                </a:solidFill>
                <a:latin typeface="Helvetica Neue Light"/>
              </a:rPr>
              <a:t>Mike starts with 6 portfolios that crossed his limits; uncertainty stays visible.</a:t>
            </a:r>
          </a:p>
        </p:txBody>
      </p:sp>
      <p:pic>
        <p:nvPicPr>
          <p:cNvPr id="21" name="Picture 20" descr="wt-6-board-builder.png"/>
          <p:cNvPicPr>
            <a:picLocks noChangeAspect="1"/>
          </p:cNvPicPr>
          <p:nvPr/>
        </p:nvPicPr>
        <p:blipFill>
          <a:blip r:embed="rId9"/>
          <a:stretch>
            <a:fillRect/>
          </a:stretch>
        </p:blipFill>
        <p:spPr>
          <a:xfrm>
            <a:off x="8596171" y="5657087"/>
            <a:ext cx="3901440" cy="2105152"/>
          </a:xfrm>
          <a:prstGeom prst="rect">
            <a:avLst/>
          </a:prstGeom>
          <a:ln w="6350">
            <a:solidFill>
              <a:srgbClr val="1F1F1F"/>
            </a:solidFill>
          </a:ln>
        </p:spPr>
      </p:pic>
      <p:sp>
        <p:nvSpPr>
          <p:cNvPr id="22" name="Rectangle 21"/>
          <p:cNvSpPr/>
          <p:nvPr/>
        </p:nvSpPr>
        <p:spPr>
          <a:xfrm>
            <a:off x="8596171" y="7827264"/>
            <a:ext cx="3901440" cy="78029"/>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TextBox 22"/>
          <p:cNvSpPr txBox="1"/>
          <p:nvPr/>
        </p:nvSpPr>
        <p:spPr>
          <a:xfrm>
            <a:off x="8596171" y="7970317"/>
            <a:ext cx="3901440" cy="856388"/>
          </a:xfrm>
          <a:prstGeom prst="rect">
            <a:avLst/>
          </a:prstGeom>
          <a:noFill/>
        </p:spPr>
        <p:txBody>
          <a:bodyPr wrap="square" lIns="0" tIns="0" rIns="0" bIns="0">
            <a:spAutoFit/>
          </a:bodyPr>
          <a:lstStyle/>
          <a:p>
            <a:r>
              <a:rPr sz="1422" dirty="0">
                <a:solidFill>
                  <a:srgbClr val="C45A35"/>
                </a:solidFill>
                <a:latin typeface="Helvetica Neue"/>
              </a:rPr>
              <a:t>6 · Personalization  </a:t>
            </a:r>
            <a:r>
              <a:rPr sz="1209" dirty="0">
                <a:solidFill>
                  <a:srgbClr val="8C8C8C"/>
                </a:solidFill>
                <a:latin typeface="Helvetica Neue Light"/>
              </a:rPr>
              <a:t>DB5 · Sunday</a:t>
            </a:r>
          </a:p>
          <a:p>
            <a:pPr>
              <a:spcAft>
                <a:spcPts val="284"/>
              </a:spcAft>
            </a:pPr>
            <a:r>
              <a:rPr sz="1493" dirty="0">
                <a:solidFill>
                  <a:srgbClr val="1F1F1F"/>
                </a:solidFill>
                <a:latin typeface="Helvetica Neue"/>
              </a:rPr>
              <a:t>“Build the board around my routine.”</a:t>
            </a:r>
          </a:p>
          <a:p>
            <a:r>
              <a:rPr sz="1100" dirty="0">
                <a:solidFill>
                  <a:srgbClr val="595959"/>
                </a:solidFill>
                <a:latin typeface="Helvetica Neue Light"/>
              </a:rPr>
              <a:t>Habit-based suggestions he accepts or declines; every change reversible.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59678"/>
          </a:xfrm>
          <a:prstGeom prst="rect">
            <a:avLst/>
          </a:prstGeom>
          <a:noFill/>
        </p:spPr>
        <p:txBody>
          <a:bodyPr wrap="square" lIns="0" tIns="0" rIns="0" bIns="0">
            <a:spAutoFit/>
          </a:bodyPr>
          <a:lstStyle/>
          <a:p>
            <a:r>
              <a:rPr sz="2987" dirty="0">
                <a:solidFill>
                  <a:srgbClr val="1F1F1F"/>
                </a:solidFill>
                <a:latin typeface="Helvetica Neue Light"/>
              </a:rPr>
              <a:t>Where </a:t>
            </a:r>
            <a:r>
              <a:rPr lang="en-US" sz="2987" dirty="0">
                <a:solidFill>
                  <a:srgbClr val="1F1F1F"/>
                </a:solidFill>
                <a:latin typeface="Helvetica Neue Light"/>
              </a:rPr>
              <a:t>the </a:t>
            </a:r>
            <a:r>
              <a:rPr sz="2987" dirty="0">
                <a:solidFill>
                  <a:srgbClr val="1F1F1F"/>
                </a:solidFill>
                <a:latin typeface="Helvetica Neue Light"/>
              </a:rPr>
              <a:t>agent fits</a:t>
            </a:r>
          </a:p>
        </p:txBody>
      </p:sp>
      <p:sp>
        <p:nvSpPr>
          <p:cNvPr id="5" name="TextBox 4"/>
          <p:cNvSpPr txBox="1"/>
          <p:nvPr/>
        </p:nvSpPr>
        <p:spPr>
          <a:xfrm>
            <a:off x="455168" y="1560577"/>
            <a:ext cx="12094464" cy="503471"/>
          </a:xfrm>
          <a:prstGeom prst="rect">
            <a:avLst/>
          </a:prstGeom>
          <a:noFill/>
        </p:spPr>
        <p:txBody>
          <a:bodyPr wrap="square" lIns="0" tIns="0" rIns="0" bIns="0">
            <a:spAutoFit/>
          </a:bodyPr>
          <a:lstStyle/>
          <a:p>
            <a:r>
              <a:rPr sz="1636" dirty="0">
                <a:solidFill>
                  <a:srgbClr val="595959"/>
                </a:solidFill>
                <a:latin typeface="Helvetica Neue Light"/>
              </a:rPr>
              <a:t>An assistant you can ask, beside the surfaces that already explain themselves. It starts with the board’s context, so he never re-types tickers.</a:t>
            </a:r>
          </a:p>
        </p:txBody>
      </p:sp>
      <p:sp>
        <p:nvSpPr>
          <p:cNvPr id="6" name="Rectangle 5"/>
          <p:cNvSpPr/>
          <p:nvPr/>
        </p:nvSpPr>
        <p:spPr>
          <a:xfrm>
            <a:off x="455168" y="2275840"/>
            <a:ext cx="12094464" cy="442163"/>
          </a:xfrm>
          <a:prstGeom prst="rect">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585215" y="2353870"/>
            <a:ext cx="2600960" cy="207877"/>
          </a:xfrm>
          <a:prstGeom prst="rect">
            <a:avLst/>
          </a:prstGeom>
          <a:noFill/>
        </p:spPr>
        <p:txBody>
          <a:bodyPr wrap="square" lIns="0" tIns="0" rIns="0" bIns="0">
            <a:spAutoFit/>
          </a:bodyPr>
          <a:lstStyle/>
          <a:p>
            <a:r>
              <a:rPr sz="1351">
                <a:solidFill>
                  <a:srgbClr val="FFFFFF"/>
                </a:solidFill>
                <a:latin typeface="Helvetica Neue"/>
              </a:rPr>
              <a:t>Entry point</a:t>
            </a:r>
          </a:p>
        </p:txBody>
      </p:sp>
      <p:sp>
        <p:nvSpPr>
          <p:cNvPr id="8" name="TextBox 7"/>
          <p:cNvSpPr txBox="1"/>
          <p:nvPr/>
        </p:nvSpPr>
        <p:spPr>
          <a:xfrm>
            <a:off x="3251200" y="2353870"/>
            <a:ext cx="2080768" cy="207877"/>
          </a:xfrm>
          <a:prstGeom prst="rect">
            <a:avLst/>
          </a:prstGeom>
          <a:noFill/>
        </p:spPr>
        <p:txBody>
          <a:bodyPr wrap="square" lIns="0" tIns="0" rIns="0" bIns="0">
            <a:spAutoFit/>
          </a:bodyPr>
          <a:lstStyle/>
          <a:p>
            <a:r>
              <a:rPr sz="1351">
                <a:solidFill>
                  <a:srgbClr val="FFFFFF"/>
                </a:solidFill>
                <a:latin typeface="Helvetica Neue"/>
              </a:rPr>
              <a:t>Where</a:t>
            </a:r>
          </a:p>
        </p:txBody>
      </p:sp>
      <p:sp>
        <p:nvSpPr>
          <p:cNvPr id="9" name="TextBox 8"/>
          <p:cNvSpPr txBox="1"/>
          <p:nvPr/>
        </p:nvSpPr>
        <p:spPr>
          <a:xfrm>
            <a:off x="5396991" y="2353870"/>
            <a:ext cx="3836416" cy="207877"/>
          </a:xfrm>
          <a:prstGeom prst="rect">
            <a:avLst/>
          </a:prstGeom>
          <a:noFill/>
        </p:spPr>
        <p:txBody>
          <a:bodyPr wrap="square" lIns="0" tIns="0" rIns="0" bIns="0">
            <a:spAutoFit/>
          </a:bodyPr>
          <a:lstStyle/>
          <a:p>
            <a:r>
              <a:rPr sz="1351">
                <a:solidFill>
                  <a:srgbClr val="FFFFFF"/>
                </a:solidFill>
                <a:latin typeface="Helvetica Neue"/>
              </a:rPr>
              <a:t>Example</a:t>
            </a:r>
          </a:p>
        </p:txBody>
      </p:sp>
      <p:sp>
        <p:nvSpPr>
          <p:cNvPr id="10" name="TextBox 9"/>
          <p:cNvSpPr txBox="1"/>
          <p:nvPr/>
        </p:nvSpPr>
        <p:spPr>
          <a:xfrm>
            <a:off x="9298431" y="2353870"/>
            <a:ext cx="3381248" cy="207877"/>
          </a:xfrm>
          <a:prstGeom prst="rect">
            <a:avLst/>
          </a:prstGeom>
          <a:noFill/>
        </p:spPr>
        <p:txBody>
          <a:bodyPr wrap="square" lIns="0" tIns="0" rIns="0" bIns="0">
            <a:spAutoFit/>
          </a:bodyPr>
          <a:lstStyle/>
          <a:p>
            <a:r>
              <a:rPr sz="1351">
                <a:solidFill>
                  <a:srgbClr val="FFFFFF"/>
                </a:solidFill>
                <a:latin typeface="Helvetica Neue"/>
              </a:rPr>
              <a:t>Boundary</a:t>
            </a:r>
          </a:p>
        </p:txBody>
      </p:sp>
      <p:sp>
        <p:nvSpPr>
          <p:cNvPr id="11" name="Rectangle 10"/>
          <p:cNvSpPr/>
          <p:nvPr/>
        </p:nvSpPr>
        <p:spPr>
          <a:xfrm>
            <a:off x="455168" y="2770022"/>
            <a:ext cx="12094464" cy="780288"/>
          </a:xfrm>
          <a:prstGeom prst="rect">
            <a:avLst/>
          </a:prstGeom>
          <a:noFill/>
          <a:ln w="9525">
            <a:solidFill>
              <a:srgbClr val="9A9A9A"/>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585215" y="2900070"/>
            <a:ext cx="2470912" cy="229743"/>
          </a:xfrm>
          <a:prstGeom prst="rect">
            <a:avLst/>
          </a:prstGeom>
          <a:noFill/>
        </p:spPr>
        <p:txBody>
          <a:bodyPr wrap="square" lIns="0" tIns="0" rIns="0" bIns="0">
            <a:spAutoFit/>
          </a:bodyPr>
          <a:lstStyle/>
          <a:p>
            <a:r>
              <a:rPr sz="1493">
                <a:solidFill>
                  <a:srgbClr val="5B3F96"/>
                </a:solidFill>
                <a:latin typeface="Helvetica Neue"/>
              </a:rPr>
              <a:t>Ask about your board</a:t>
            </a:r>
          </a:p>
        </p:txBody>
      </p:sp>
      <p:sp>
        <p:nvSpPr>
          <p:cNvPr id="13" name="TextBox 12"/>
          <p:cNvSpPr txBox="1"/>
          <p:nvPr/>
        </p:nvSpPr>
        <p:spPr>
          <a:xfrm>
            <a:off x="3251200" y="2900070"/>
            <a:ext cx="1950720" cy="437684"/>
          </a:xfrm>
          <a:prstGeom prst="rect">
            <a:avLst/>
          </a:prstGeom>
          <a:noFill/>
        </p:spPr>
        <p:txBody>
          <a:bodyPr wrap="square" lIns="0" tIns="0" rIns="0" bIns="0">
            <a:spAutoFit/>
          </a:bodyPr>
          <a:lstStyle/>
          <a:p>
            <a:r>
              <a:rPr sz="1422">
                <a:solidFill>
                  <a:srgbClr val="595959"/>
                </a:solidFill>
                <a:latin typeface="Helvetica Neue Light"/>
              </a:rPr>
              <a:t>Beside “Needs you today”</a:t>
            </a:r>
          </a:p>
        </p:txBody>
      </p:sp>
      <p:sp>
        <p:nvSpPr>
          <p:cNvPr id="14" name="TextBox 13"/>
          <p:cNvSpPr txBox="1"/>
          <p:nvPr/>
        </p:nvSpPr>
        <p:spPr>
          <a:xfrm>
            <a:off x="5396991" y="2874062"/>
            <a:ext cx="3706368" cy="207877"/>
          </a:xfrm>
          <a:prstGeom prst="rect">
            <a:avLst/>
          </a:prstGeom>
          <a:noFill/>
        </p:spPr>
        <p:txBody>
          <a:bodyPr wrap="square" lIns="0" tIns="0" rIns="0" bIns="0">
            <a:spAutoFit/>
          </a:bodyPr>
          <a:lstStyle/>
          <a:p>
            <a:r>
              <a:rPr sz="1351">
                <a:solidFill>
                  <a:srgbClr val="1F1F1F"/>
                </a:solidFill>
                <a:latin typeface="Helvetica Neue Light"/>
              </a:rPr>
              <a:t>“Which of my saved criteria changed overnight?”</a:t>
            </a:r>
          </a:p>
        </p:txBody>
      </p:sp>
      <p:sp>
        <p:nvSpPr>
          <p:cNvPr id="15" name="TextBox 14"/>
          <p:cNvSpPr txBox="1"/>
          <p:nvPr/>
        </p:nvSpPr>
        <p:spPr>
          <a:xfrm>
            <a:off x="9298431" y="2900071"/>
            <a:ext cx="3251200" cy="415755"/>
          </a:xfrm>
          <a:prstGeom prst="rect">
            <a:avLst/>
          </a:prstGeom>
          <a:noFill/>
        </p:spPr>
        <p:txBody>
          <a:bodyPr wrap="square" lIns="0" tIns="0" rIns="0" bIns="0">
            <a:spAutoFit/>
          </a:bodyPr>
          <a:lstStyle/>
          <a:p>
            <a:r>
              <a:rPr sz="1351">
                <a:solidFill>
                  <a:srgbClr val="595959"/>
                </a:solidFill>
                <a:latin typeface="Helvetica Neue Light"/>
              </a:rPr>
              <a:t>Answers from the board’s own data and sources</a:t>
            </a:r>
          </a:p>
        </p:txBody>
      </p:sp>
      <p:sp>
        <p:nvSpPr>
          <p:cNvPr id="16" name="Rectangle 15"/>
          <p:cNvSpPr/>
          <p:nvPr/>
        </p:nvSpPr>
        <p:spPr>
          <a:xfrm>
            <a:off x="455168" y="3628339"/>
            <a:ext cx="12094464" cy="780288"/>
          </a:xfrm>
          <a:prstGeom prst="rect">
            <a:avLst/>
          </a:prstGeom>
          <a:noFill/>
          <a:ln w="9525">
            <a:solidFill>
              <a:srgbClr val="9A9A9A"/>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585215" y="3758387"/>
            <a:ext cx="2470912" cy="229743"/>
          </a:xfrm>
          <a:prstGeom prst="rect">
            <a:avLst/>
          </a:prstGeom>
          <a:noFill/>
        </p:spPr>
        <p:txBody>
          <a:bodyPr wrap="square" lIns="0" tIns="0" rIns="0" bIns="0">
            <a:spAutoFit/>
          </a:bodyPr>
          <a:lstStyle/>
          <a:p>
            <a:r>
              <a:rPr sz="1493">
                <a:solidFill>
                  <a:srgbClr val="5B3F96"/>
                </a:solidFill>
                <a:latin typeface="Helvetica Neue"/>
              </a:rPr>
              <a:t>Ask about this insight</a:t>
            </a:r>
          </a:p>
        </p:txBody>
      </p:sp>
      <p:sp>
        <p:nvSpPr>
          <p:cNvPr id="18" name="TextBox 17"/>
          <p:cNvSpPr txBox="1"/>
          <p:nvPr/>
        </p:nvSpPr>
        <p:spPr>
          <a:xfrm>
            <a:off x="3251200" y="3758387"/>
            <a:ext cx="1950720" cy="218842"/>
          </a:xfrm>
          <a:prstGeom prst="rect">
            <a:avLst/>
          </a:prstGeom>
          <a:noFill/>
        </p:spPr>
        <p:txBody>
          <a:bodyPr wrap="square" lIns="0" tIns="0" rIns="0" bIns="0">
            <a:spAutoFit/>
          </a:bodyPr>
          <a:lstStyle/>
          <a:p>
            <a:r>
              <a:rPr sz="1422">
                <a:solidFill>
                  <a:srgbClr val="595959"/>
                </a:solidFill>
                <a:latin typeface="Helvetica Neue Light"/>
              </a:rPr>
              <a:t>Inside an opened card</a:t>
            </a:r>
          </a:p>
        </p:txBody>
      </p:sp>
      <p:sp>
        <p:nvSpPr>
          <p:cNvPr id="19" name="TextBox 18"/>
          <p:cNvSpPr txBox="1"/>
          <p:nvPr/>
        </p:nvSpPr>
        <p:spPr>
          <a:xfrm>
            <a:off x="5396991" y="3732378"/>
            <a:ext cx="3706368" cy="415755"/>
          </a:xfrm>
          <a:prstGeom prst="rect">
            <a:avLst/>
          </a:prstGeom>
          <a:noFill/>
        </p:spPr>
        <p:txBody>
          <a:bodyPr wrap="square" lIns="0" tIns="0" rIns="0" bIns="0">
            <a:spAutoFit/>
          </a:bodyPr>
          <a:lstStyle/>
          <a:p>
            <a:r>
              <a:rPr sz="1351">
                <a:solidFill>
                  <a:srgbClr val="1F1F1F"/>
                </a:solidFill>
                <a:latin typeface="Helvetica Neue Light"/>
              </a:rPr>
              <a:t>“Does this change any of my reasons for following RMBS?” · “What information is missing?”</a:t>
            </a:r>
          </a:p>
        </p:txBody>
      </p:sp>
      <p:sp>
        <p:nvSpPr>
          <p:cNvPr id="20" name="TextBox 19"/>
          <p:cNvSpPr txBox="1"/>
          <p:nvPr/>
        </p:nvSpPr>
        <p:spPr>
          <a:xfrm>
            <a:off x="9298431" y="3758388"/>
            <a:ext cx="3251200" cy="415755"/>
          </a:xfrm>
          <a:prstGeom prst="rect">
            <a:avLst/>
          </a:prstGeom>
          <a:noFill/>
        </p:spPr>
        <p:txBody>
          <a:bodyPr wrap="square" lIns="0" tIns="0" rIns="0" bIns="0">
            <a:spAutoFit/>
          </a:bodyPr>
          <a:lstStyle/>
          <a:p>
            <a:r>
              <a:rPr sz="1351">
                <a:solidFill>
                  <a:srgbClr val="595959"/>
                </a:solidFill>
                <a:latin typeface="Helvetica Neue Light"/>
              </a:rPr>
              <a:t>Says what’s missing instead of filling the gap</a:t>
            </a:r>
          </a:p>
        </p:txBody>
      </p:sp>
      <p:sp>
        <p:nvSpPr>
          <p:cNvPr id="21" name="Rectangle 20"/>
          <p:cNvSpPr/>
          <p:nvPr/>
        </p:nvSpPr>
        <p:spPr>
          <a:xfrm>
            <a:off x="455168" y="4486656"/>
            <a:ext cx="12094464" cy="780288"/>
          </a:xfrm>
          <a:prstGeom prst="rect">
            <a:avLst/>
          </a:prstGeom>
          <a:noFill/>
          <a:ln w="9525">
            <a:solidFill>
              <a:srgbClr val="9A9A9A"/>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585215" y="4616705"/>
            <a:ext cx="2470912" cy="229743"/>
          </a:xfrm>
          <a:prstGeom prst="rect">
            <a:avLst/>
          </a:prstGeom>
          <a:noFill/>
        </p:spPr>
        <p:txBody>
          <a:bodyPr wrap="square" lIns="0" tIns="0" rIns="0" bIns="0">
            <a:spAutoFit/>
          </a:bodyPr>
          <a:lstStyle/>
          <a:p>
            <a:r>
              <a:rPr sz="1493">
                <a:solidFill>
                  <a:srgbClr val="5B3F96"/>
                </a:solidFill>
                <a:latin typeface="Helvetica Neue"/>
              </a:rPr>
              <a:t>Say a preference</a:t>
            </a:r>
          </a:p>
        </p:txBody>
      </p:sp>
      <p:sp>
        <p:nvSpPr>
          <p:cNvPr id="23" name="TextBox 22"/>
          <p:cNvSpPr txBox="1"/>
          <p:nvPr/>
        </p:nvSpPr>
        <p:spPr>
          <a:xfrm>
            <a:off x="3251200" y="4616704"/>
            <a:ext cx="1950720" cy="218842"/>
          </a:xfrm>
          <a:prstGeom prst="rect">
            <a:avLst/>
          </a:prstGeom>
          <a:noFill/>
        </p:spPr>
        <p:txBody>
          <a:bodyPr wrap="square" lIns="0" tIns="0" rIns="0" bIns="0">
            <a:spAutoFit/>
          </a:bodyPr>
          <a:lstStyle/>
          <a:p>
            <a:r>
              <a:rPr sz="1422">
                <a:solidFill>
                  <a:srgbClr val="595959"/>
                </a:solidFill>
                <a:latin typeface="Helvetica Neue Light"/>
              </a:rPr>
              <a:t>Feedback panel</a:t>
            </a:r>
          </a:p>
        </p:txBody>
      </p:sp>
      <p:sp>
        <p:nvSpPr>
          <p:cNvPr id="24" name="TextBox 23"/>
          <p:cNvSpPr txBox="1"/>
          <p:nvPr/>
        </p:nvSpPr>
        <p:spPr>
          <a:xfrm>
            <a:off x="5396991" y="4590695"/>
            <a:ext cx="3706368" cy="415755"/>
          </a:xfrm>
          <a:prstGeom prst="rect">
            <a:avLst/>
          </a:prstGeom>
          <a:noFill/>
        </p:spPr>
        <p:txBody>
          <a:bodyPr wrap="square" lIns="0" tIns="0" rIns="0" bIns="0">
            <a:spAutoFit/>
          </a:bodyPr>
          <a:lstStyle/>
          <a:p>
            <a:r>
              <a:rPr sz="1351">
                <a:solidFill>
                  <a:srgbClr val="1F1F1F"/>
                </a:solidFill>
                <a:latin typeface="Helvetica Neue Light"/>
              </a:rPr>
              <a:t>“Keep these on my board, but don’t interrupt me unless my threshold is crossed.”</a:t>
            </a:r>
          </a:p>
        </p:txBody>
      </p:sp>
      <p:sp>
        <p:nvSpPr>
          <p:cNvPr id="25" name="TextBox 24"/>
          <p:cNvSpPr txBox="1"/>
          <p:nvPr/>
        </p:nvSpPr>
        <p:spPr>
          <a:xfrm>
            <a:off x="9298431" y="4616705"/>
            <a:ext cx="3251200" cy="415755"/>
          </a:xfrm>
          <a:prstGeom prst="rect">
            <a:avLst/>
          </a:prstGeom>
          <a:noFill/>
        </p:spPr>
        <p:txBody>
          <a:bodyPr wrap="square" lIns="0" tIns="0" rIns="0" bIns="0">
            <a:spAutoFit/>
          </a:bodyPr>
          <a:lstStyle/>
          <a:p>
            <a:r>
              <a:rPr sz="1351">
                <a:solidFill>
                  <a:srgbClr val="595959"/>
                </a:solidFill>
                <a:latin typeface="Helvetica Neue Light"/>
              </a:rPr>
              <a:t>Same confirmation preview; never bypasses approval</a:t>
            </a:r>
          </a:p>
        </p:txBody>
      </p:sp>
      <p:sp>
        <p:nvSpPr>
          <p:cNvPr id="26" name="Rectangle 25"/>
          <p:cNvSpPr/>
          <p:nvPr/>
        </p:nvSpPr>
        <p:spPr>
          <a:xfrm>
            <a:off x="455168" y="5344971"/>
            <a:ext cx="12094464" cy="780288"/>
          </a:xfrm>
          <a:prstGeom prst="rect">
            <a:avLst/>
          </a:prstGeom>
          <a:noFill/>
          <a:ln w="9525">
            <a:solidFill>
              <a:srgbClr val="9A9A9A"/>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7" name="TextBox 26"/>
          <p:cNvSpPr txBox="1"/>
          <p:nvPr/>
        </p:nvSpPr>
        <p:spPr>
          <a:xfrm>
            <a:off x="585215" y="5475020"/>
            <a:ext cx="2470912" cy="229743"/>
          </a:xfrm>
          <a:prstGeom prst="rect">
            <a:avLst/>
          </a:prstGeom>
          <a:noFill/>
        </p:spPr>
        <p:txBody>
          <a:bodyPr wrap="square" lIns="0" tIns="0" rIns="0" bIns="0">
            <a:spAutoFit/>
          </a:bodyPr>
          <a:lstStyle/>
          <a:p>
            <a:r>
              <a:rPr sz="1493">
                <a:solidFill>
                  <a:srgbClr val="5B3F96"/>
                </a:solidFill>
                <a:latin typeface="Helvetica Neue"/>
              </a:rPr>
              <a:t>Explain this drift</a:t>
            </a:r>
          </a:p>
        </p:txBody>
      </p:sp>
      <p:sp>
        <p:nvSpPr>
          <p:cNvPr id="28" name="TextBox 27"/>
          <p:cNvSpPr txBox="1"/>
          <p:nvPr/>
        </p:nvSpPr>
        <p:spPr>
          <a:xfrm>
            <a:off x="3251200" y="5475019"/>
            <a:ext cx="1950720" cy="218842"/>
          </a:xfrm>
          <a:prstGeom prst="rect">
            <a:avLst/>
          </a:prstGeom>
          <a:noFill/>
        </p:spPr>
        <p:txBody>
          <a:bodyPr wrap="square" lIns="0" tIns="0" rIns="0" bIns="0">
            <a:spAutoFit/>
          </a:bodyPr>
          <a:lstStyle/>
          <a:p>
            <a:r>
              <a:rPr sz="1422">
                <a:solidFill>
                  <a:srgbClr val="595959"/>
                </a:solidFill>
                <a:latin typeface="Helvetica Neue Light"/>
              </a:rPr>
              <a:t>Portfolio vs plan</a:t>
            </a:r>
          </a:p>
        </p:txBody>
      </p:sp>
      <p:sp>
        <p:nvSpPr>
          <p:cNvPr id="29" name="TextBox 28"/>
          <p:cNvSpPr txBox="1"/>
          <p:nvPr/>
        </p:nvSpPr>
        <p:spPr>
          <a:xfrm>
            <a:off x="5396991" y="5449010"/>
            <a:ext cx="3706368" cy="415755"/>
          </a:xfrm>
          <a:prstGeom prst="rect">
            <a:avLst/>
          </a:prstGeom>
          <a:noFill/>
        </p:spPr>
        <p:txBody>
          <a:bodyPr wrap="square" lIns="0" tIns="0" rIns="0" bIns="0">
            <a:spAutoFit/>
          </a:bodyPr>
          <a:lstStyle/>
          <a:p>
            <a:r>
              <a:rPr sz="1351">
                <a:solidFill>
                  <a:srgbClr val="1F1F1F"/>
                </a:solidFill>
                <a:latin typeface="Helvetica Neue Light"/>
              </a:rPr>
              <a:t>“Which holdings contributed most to the technology overweight?”</a:t>
            </a:r>
          </a:p>
        </p:txBody>
      </p:sp>
      <p:sp>
        <p:nvSpPr>
          <p:cNvPr id="30" name="TextBox 29"/>
          <p:cNvSpPr txBox="1"/>
          <p:nvPr/>
        </p:nvSpPr>
        <p:spPr>
          <a:xfrm>
            <a:off x="9298431" y="5475020"/>
            <a:ext cx="3251200" cy="415755"/>
          </a:xfrm>
          <a:prstGeom prst="rect">
            <a:avLst/>
          </a:prstGeom>
          <a:noFill/>
        </p:spPr>
        <p:txBody>
          <a:bodyPr wrap="square" lIns="0" tIns="0" rIns="0" bIns="0">
            <a:spAutoFit/>
          </a:bodyPr>
          <a:lstStyle/>
          <a:p>
            <a:r>
              <a:rPr sz="1351">
                <a:solidFill>
                  <a:srgbClr val="595959"/>
                </a:solidFill>
                <a:latin typeface="Helvetica Neue Light"/>
              </a:rPr>
              <a:t>Explains against his targets; never rebalances</a:t>
            </a:r>
          </a:p>
        </p:txBody>
      </p:sp>
      <p:sp>
        <p:nvSpPr>
          <p:cNvPr id="31" name="Rectangle 30"/>
          <p:cNvSpPr/>
          <p:nvPr/>
        </p:nvSpPr>
        <p:spPr>
          <a:xfrm>
            <a:off x="455168" y="6203290"/>
            <a:ext cx="12094464" cy="780288"/>
          </a:xfrm>
          <a:prstGeom prst="rect">
            <a:avLst/>
          </a:prstGeom>
          <a:noFill/>
          <a:ln w="9525">
            <a:solidFill>
              <a:srgbClr val="9A9A9A"/>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2" name="TextBox 31"/>
          <p:cNvSpPr txBox="1"/>
          <p:nvPr/>
        </p:nvSpPr>
        <p:spPr>
          <a:xfrm>
            <a:off x="585215" y="6333336"/>
            <a:ext cx="2470912" cy="229743"/>
          </a:xfrm>
          <a:prstGeom prst="rect">
            <a:avLst/>
          </a:prstGeom>
          <a:noFill/>
        </p:spPr>
        <p:txBody>
          <a:bodyPr wrap="square" lIns="0" tIns="0" rIns="0" bIns="0">
            <a:spAutoFit/>
          </a:bodyPr>
          <a:lstStyle/>
          <a:p>
            <a:r>
              <a:rPr sz="1493">
                <a:solidFill>
                  <a:srgbClr val="5B3F96"/>
                </a:solidFill>
                <a:latin typeface="Helvetica Neue"/>
              </a:rPr>
              <a:t>Ask across portfolios</a:t>
            </a:r>
          </a:p>
        </p:txBody>
      </p:sp>
      <p:sp>
        <p:nvSpPr>
          <p:cNvPr id="33" name="TextBox 32"/>
          <p:cNvSpPr txBox="1"/>
          <p:nvPr/>
        </p:nvSpPr>
        <p:spPr>
          <a:xfrm>
            <a:off x="3251200" y="6333336"/>
            <a:ext cx="1950720" cy="218842"/>
          </a:xfrm>
          <a:prstGeom prst="rect">
            <a:avLst/>
          </a:prstGeom>
          <a:noFill/>
        </p:spPr>
        <p:txBody>
          <a:bodyPr wrap="square" lIns="0" tIns="0" rIns="0" bIns="0">
            <a:spAutoFit/>
          </a:bodyPr>
          <a:lstStyle/>
          <a:p>
            <a:r>
              <a:rPr sz="1422">
                <a:solidFill>
                  <a:srgbClr val="595959"/>
                </a:solidFill>
                <a:latin typeface="Helvetica Neue Light"/>
              </a:rPr>
              <a:t>Advisor exception queue</a:t>
            </a:r>
          </a:p>
        </p:txBody>
      </p:sp>
      <p:sp>
        <p:nvSpPr>
          <p:cNvPr id="34" name="TextBox 33"/>
          <p:cNvSpPr txBox="1"/>
          <p:nvPr/>
        </p:nvSpPr>
        <p:spPr>
          <a:xfrm>
            <a:off x="5396991" y="6307329"/>
            <a:ext cx="3706368" cy="207877"/>
          </a:xfrm>
          <a:prstGeom prst="rect">
            <a:avLst/>
          </a:prstGeom>
          <a:noFill/>
        </p:spPr>
        <p:txBody>
          <a:bodyPr wrap="square" lIns="0" tIns="0" rIns="0" bIns="0">
            <a:spAutoFit/>
          </a:bodyPr>
          <a:lstStyle/>
          <a:p>
            <a:r>
              <a:rPr sz="1351">
                <a:solidFill>
                  <a:srgbClr val="1F1F1F"/>
                </a:solidFill>
                <a:latin typeface="Helvetica Neue Light"/>
              </a:rPr>
              <a:t>“Which exceptions still need source verification?”</a:t>
            </a:r>
          </a:p>
        </p:txBody>
      </p:sp>
      <p:sp>
        <p:nvSpPr>
          <p:cNvPr id="35" name="TextBox 34"/>
          <p:cNvSpPr txBox="1"/>
          <p:nvPr/>
        </p:nvSpPr>
        <p:spPr>
          <a:xfrm>
            <a:off x="9298431" y="6333337"/>
            <a:ext cx="3251200" cy="415755"/>
          </a:xfrm>
          <a:prstGeom prst="rect">
            <a:avLst/>
          </a:prstGeom>
          <a:noFill/>
        </p:spPr>
        <p:txBody>
          <a:bodyPr wrap="square" lIns="0" tIns="0" rIns="0" bIns="0">
            <a:spAutoFit/>
          </a:bodyPr>
          <a:lstStyle/>
          <a:p>
            <a:r>
              <a:rPr sz="1351">
                <a:solidFill>
                  <a:srgbClr val="595959"/>
                </a:solidFill>
                <a:latin typeface="Helvetica Neue Light"/>
              </a:rPr>
              <a:t>Only portfolios he may access; review ≠ resolution</a:t>
            </a:r>
          </a:p>
        </p:txBody>
      </p:sp>
      <p:sp>
        <p:nvSpPr>
          <p:cNvPr id="36" name="Rectangle 35"/>
          <p:cNvSpPr/>
          <p:nvPr/>
        </p:nvSpPr>
        <p:spPr>
          <a:xfrm>
            <a:off x="455168" y="7061606"/>
            <a:ext cx="12094464" cy="780288"/>
          </a:xfrm>
          <a:prstGeom prst="rect">
            <a:avLst/>
          </a:prstGeom>
          <a:noFill/>
          <a:ln w="9525">
            <a:solidFill>
              <a:srgbClr val="9A9A9A"/>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7" name="TextBox 36"/>
          <p:cNvSpPr txBox="1"/>
          <p:nvPr/>
        </p:nvSpPr>
        <p:spPr>
          <a:xfrm>
            <a:off x="585215" y="7191653"/>
            <a:ext cx="2470912" cy="229743"/>
          </a:xfrm>
          <a:prstGeom prst="rect">
            <a:avLst/>
          </a:prstGeom>
          <a:noFill/>
        </p:spPr>
        <p:txBody>
          <a:bodyPr wrap="square" lIns="0" tIns="0" rIns="0" bIns="0">
            <a:spAutoFit/>
          </a:bodyPr>
          <a:lstStyle/>
          <a:p>
            <a:r>
              <a:rPr sz="1493">
                <a:solidFill>
                  <a:srgbClr val="5B3F96"/>
                </a:solidFill>
                <a:latin typeface="Helvetica Neue"/>
              </a:rPr>
              <a:t>Describe your ideal board</a:t>
            </a:r>
          </a:p>
        </p:txBody>
      </p:sp>
      <p:sp>
        <p:nvSpPr>
          <p:cNvPr id="38" name="TextBox 37"/>
          <p:cNvSpPr txBox="1"/>
          <p:nvPr/>
        </p:nvSpPr>
        <p:spPr>
          <a:xfrm>
            <a:off x="3251200" y="7191653"/>
            <a:ext cx="1950720" cy="218842"/>
          </a:xfrm>
          <a:prstGeom prst="rect">
            <a:avLst/>
          </a:prstGeom>
          <a:noFill/>
        </p:spPr>
        <p:txBody>
          <a:bodyPr wrap="square" lIns="0" tIns="0" rIns="0" bIns="0">
            <a:spAutoFit/>
          </a:bodyPr>
          <a:lstStyle/>
          <a:p>
            <a:r>
              <a:rPr sz="1422">
                <a:solidFill>
                  <a:srgbClr val="595959"/>
                </a:solidFill>
                <a:latin typeface="Helvetica Neue Light"/>
              </a:rPr>
              <a:t>Customize mode</a:t>
            </a:r>
          </a:p>
        </p:txBody>
      </p:sp>
      <p:sp>
        <p:nvSpPr>
          <p:cNvPr id="39" name="TextBox 38"/>
          <p:cNvSpPr txBox="1"/>
          <p:nvPr/>
        </p:nvSpPr>
        <p:spPr>
          <a:xfrm>
            <a:off x="5396991" y="7165645"/>
            <a:ext cx="3706368" cy="415755"/>
          </a:xfrm>
          <a:prstGeom prst="rect">
            <a:avLst/>
          </a:prstGeom>
          <a:noFill/>
        </p:spPr>
        <p:txBody>
          <a:bodyPr wrap="square" lIns="0" tIns="0" rIns="0" bIns="0">
            <a:spAutoFit/>
          </a:bodyPr>
          <a:lstStyle/>
          <a:p>
            <a:r>
              <a:rPr sz="1351">
                <a:solidFill>
                  <a:srgbClr val="1F1F1F"/>
                </a:solidFill>
                <a:latin typeface="Helvetica Neue Light"/>
              </a:rPr>
              <a:t>“For mornings, prioritize my shortlist, earnings and sector performance.”</a:t>
            </a:r>
          </a:p>
        </p:txBody>
      </p:sp>
      <p:sp>
        <p:nvSpPr>
          <p:cNvPr id="40" name="TextBox 39"/>
          <p:cNvSpPr txBox="1"/>
          <p:nvPr/>
        </p:nvSpPr>
        <p:spPr>
          <a:xfrm>
            <a:off x="9298431" y="7191654"/>
            <a:ext cx="3251200" cy="207877"/>
          </a:xfrm>
          <a:prstGeom prst="rect">
            <a:avLst/>
          </a:prstGeom>
          <a:noFill/>
        </p:spPr>
        <p:txBody>
          <a:bodyPr wrap="square" lIns="0" tIns="0" rIns="0" bIns="0">
            <a:spAutoFit/>
          </a:bodyPr>
          <a:lstStyle/>
          <a:p>
            <a:r>
              <a:rPr sz="1351">
                <a:solidFill>
                  <a:srgbClr val="595959"/>
                </a:solidFill>
                <a:latin typeface="Helvetica Neue Light"/>
              </a:rPr>
              <a:t>A proposed layout he previews and saves</a:t>
            </a:r>
          </a:p>
        </p:txBody>
      </p:sp>
      <p:sp>
        <p:nvSpPr>
          <p:cNvPr id="41" name="Rectangle 40"/>
          <p:cNvSpPr/>
          <p:nvPr/>
        </p:nvSpPr>
        <p:spPr>
          <a:xfrm>
            <a:off x="455168" y="8062976"/>
            <a:ext cx="12094464" cy="78028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42" name="TextBox 41"/>
          <p:cNvSpPr txBox="1"/>
          <p:nvPr/>
        </p:nvSpPr>
        <p:spPr>
          <a:xfrm>
            <a:off x="650240" y="8193024"/>
            <a:ext cx="11704320" cy="437684"/>
          </a:xfrm>
          <a:prstGeom prst="rect">
            <a:avLst/>
          </a:prstGeom>
          <a:noFill/>
        </p:spPr>
        <p:txBody>
          <a:bodyPr wrap="square" lIns="0" tIns="0" rIns="0" bIns="0">
            <a:spAutoFit/>
          </a:bodyPr>
          <a:lstStyle/>
          <a:p>
            <a:r>
              <a:rPr sz="1351">
                <a:solidFill>
                  <a:srgbClr val="5B3F96"/>
                </a:solidFill>
                <a:latin typeface="Helvetica Neue"/>
              </a:rPr>
              <a:t>ALWAYS  </a:t>
            </a:r>
            <a:r>
              <a:rPr sz="1422">
                <a:solidFill>
                  <a:srgbClr val="1F1F1F"/>
                </a:solidFill>
                <a:latin typeface="Helvetica Neue Light"/>
              </a:rPr>
              <a:t>Monitoring and explanation can be automatic. Changes to preferences or layouts need approval. Trading stays outside the agent’s role: every flow still ends in his own broker.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Evening: </a:t>
            </a:r>
            <a:r>
              <a:rPr lang="en-US" sz="3200" dirty="0">
                <a:solidFill>
                  <a:srgbClr val="1F1F1F"/>
                </a:solidFill>
                <a:latin typeface="Helvetica Neue Light"/>
              </a:rPr>
              <a:t>T</a:t>
            </a:r>
            <a:r>
              <a:rPr sz="3200" dirty="0">
                <a:solidFill>
                  <a:srgbClr val="1F1F1F"/>
                </a:solidFill>
                <a:latin typeface="Helvetica Neue Light"/>
              </a:rPr>
              <a:t>urn his idea into a screen he trusts</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Mon Oct 5, 8 PM, after Monday’s close. Free account.</a:t>
            </a:r>
          </a:p>
        </p:txBody>
      </p:sp>
      <p:pic>
        <p:nvPicPr>
          <p:cNvPr id="6" name="Picture 5" descr="01-OW1-show-it.png"/>
          <p:cNvPicPr>
            <a:picLocks noChangeAspect="1"/>
          </p:cNvPicPr>
          <p:nvPr/>
        </p:nvPicPr>
        <p:blipFill>
          <a:blip r:embed="rId4"/>
          <a:stretch>
            <a:fillRect/>
          </a:stretch>
        </p:blipFill>
        <p:spPr>
          <a:xfrm>
            <a:off x="321354" y="2921620"/>
            <a:ext cx="6448980" cy="3699206"/>
          </a:xfrm>
          <a:prstGeom prst="rect">
            <a:avLst/>
          </a:prstGeom>
          <a:ln w="9525">
            <a:solidFill>
              <a:srgbClr val="1F1F1F"/>
            </a:solidFill>
          </a:ln>
        </p:spPr>
      </p:pic>
      <p:pic>
        <p:nvPicPr>
          <p:cNvPr id="7" name="Picture 6" descr="02-OW2-since-last-night.png"/>
          <p:cNvPicPr>
            <a:picLocks noChangeAspect="1"/>
          </p:cNvPicPr>
          <p:nvPr/>
        </p:nvPicPr>
        <p:blipFill>
          <a:blip r:embed="rId5"/>
          <a:stretch>
            <a:fillRect/>
          </a:stretch>
        </p:blipFill>
        <p:spPr>
          <a:xfrm>
            <a:off x="6808332" y="1942360"/>
            <a:ext cx="5761380" cy="2328557"/>
          </a:xfrm>
          <a:prstGeom prst="rect">
            <a:avLst/>
          </a:prstGeom>
          <a:ln w="9525">
            <a:solidFill>
              <a:srgbClr val="1F1F1F"/>
            </a:solidFill>
          </a:ln>
        </p:spPr>
      </p:pic>
      <p:sp>
        <p:nvSpPr>
          <p:cNvPr id="8" name="TextBox 7"/>
          <p:cNvSpPr txBox="1"/>
          <p:nvPr/>
        </p:nvSpPr>
        <p:spPr>
          <a:xfrm>
            <a:off x="321354" y="6698856"/>
            <a:ext cx="5917184" cy="415755"/>
          </a:xfrm>
          <a:prstGeom prst="rect">
            <a:avLst/>
          </a:prstGeom>
          <a:noFill/>
        </p:spPr>
        <p:txBody>
          <a:bodyPr wrap="square" lIns="0" tIns="0" rIns="0" bIns="0">
            <a:spAutoFit/>
          </a:bodyPr>
          <a:lstStyle/>
          <a:p>
            <a:r>
              <a:rPr sz="1351">
                <a:solidFill>
                  <a:srgbClr val="5B3F96"/>
                </a:solidFill>
                <a:latin typeface="Helvetica Neue"/>
              </a:rPr>
              <a:t>STEP 1 · OW1  </a:t>
            </a:r>
            <a:r>
              <a:rPr sz="1351">
                <a:solidFill>
                  <a:srgbClr val="595959"/>
                </a:solidFill>
                <a:latin typeface="Helvetica Neue Light"/>
              </a:rPr>
              <a:t>Pastes 3 tickers; AI writes what they share as editable filter chips</a:t>
            </a:r>
          </a:p>
        </p:txBody>
      </p:sp>
      <p:sp>
        <p:nvSpPr>
          <p:cNvPr id="9" name="TextBox 8"/>
          <p:cNvSpPr txBox="1"/>
          <p:nvPr/>
        </p:nvSpPr>
        <p:spPr>
          <a:xfrm>
            <a:off x="7225989" y="4417968"/>
            <a:ext cx="4516245" cy="415755"/>
          </a:xfrm>
          <a:prstGeom prst="rect">
            <a:avLst/>
          </a:prstGeom>
          <a:noFill/>
        </p:spPr>
        <p:txBody>
          <a:bodyPr wrap="square" lIns="0" tIns="0" rIns="0" bIns="0">
            <a:spAutoFit/>
          </a:bodyPr>
          <a:lstStyle/>
          <a:p>
            <a:r>
              <a:rPr sz="1351" dirty="0">
                <a:solidFill>
                  <a:srgbClr val="5B3F96"/>
                </a:solidFill>
                <a:latin typeface="Helvetica Neue"/>
              </a:rPr>
              <a:t>STEP 2 · OW2  </a:t>
            </a:r>
            <a:r>
              <a:rPr sz="1351" dirty="0">
                <a:solidFill>
                  <a:srgbClr val="595959"/>
                </a:solidFill>
                <a:latin typeface="Helvetica Neue Light"/>
              </a:rPr>
              <a:t>New, dropped and near-miss rows first, each with which of his criteria it meets</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AI BEHAVIOR  </a:t>
            </a:r>
            <a:r>
              <a:rPr sz="1422">
                <a:solidFill>
                  <a:srgbClr val="1F1F1F"/>
                </a:solidFill>
                <a:latin typeface="Helvetica Neue Light"/>
              </a:rPr>
              <a:t>Programming by example, constrained to FinViz’s real filters. Decision point: he keeps or drops each chip (Tab / Esc).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lang="en-US" sz="3200" dirty="0">
                <a:solidFill>
                  <a:srgbClr val="1F1F1F"/>
                </a:solidFill>
                <a:latin typeface="Helvetica Neue Light"/>
              </a:rPr>
              <a:t>Evening</a:t>
            </a:r>
            <a:r>
              <a:rPr sz="3200" dirty="0">
                <a:solidFill>
                  <a:srgbClr val="1F1F1F"/>
                </a:solidFill>
                <a:latin typeface="Helvetica Neue Light"/>
              </a:rPr>
              <a:t>: </a:t>
            </a:r>
            <a:r>
              <a:rPr lang="en-US" sz="3200" dirty="0">
                <a:solidFill>
                  <a:srgbClr val="1F1F1F"/>
                </a:solidFill>
                <a:latin typeface="Helvetica Neue Light"/>
              </a:rPr>
              <a:t>L</a:t>
            </a:r>
            <a:r>
              <a:rPr sz="3200" dirty="0">
                <a:solidFill>
                  <a:srgbClr val="1F1F1F"/>
                </a:solidFill>
                <a:latin typeface="Helvetica Neue Light"/>
              </a:rPr>
              <a:t>et </a:t>
            </a:r>
            <a:r>
              <a:rPr sz="3200" dirty="0" err="1">
                <a:solidFill>
                  <a:srgbClr val="1F1F1F"/>
                </a:solidFill>
                <a:latin typeface="Helvetica Neue Light"/>
              </a:rPr>
              <a:t>FinViz</a:t>
            </a:r>
            <a:r>
              <a:rPr sz="3200" dirty="0">
                <a:solidFill>
                  <a:srgbClr val="1F1F1F"/>
                </a:solidFill>
                <a:latin typeface="Helvetica Neue Light"/>
              </a:rPr>
              <a:t> look at the charts first</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Mon 8:20 PM. His 30 watchlist charts, ranked by distance to his own lens.</a:t>
            </a:r>
          </a:p>
        </p:txBody>
      </p:sp>
      <p:pic>
        <p:nvPicPr>
          <p:cNvPr id="6" name="Picture 5" descr="03-CL1-lens-grid.png"/>
          <p:cNvPicPr>
            <a:picLocks noChangeAspect="1"/>
          </p:cNvPicPr>
          <p:nvPr/>
        </p:nvPicPr>
        <p:blipFill>
          <a:blip r:embed="rId4"/>
          <a:stretch>
            <a:fillRect/>
          </a:stretch>
        </p:blipFill>
        <p:spPr>
          <a:xfrm>
            <a:off x="455168" y="2196790"/>
            <a:ext cx="7007286" cy="4131379"/>
          </a:xfrm>
          <a:prstGeom prst="rect">
            <a:avLst/>
          </a:prstGeom>
          <a:ln w="9525">
            <a:solidFill>
              <a:srgbClr val="1F1F1F"/>
            </a:solidFill>
          </a:ln>
        </p:spPr>
      </p:pic>
      <p:pic>
        <p:nvPicPr>
          <p:cNvPr id="7" name="Picture 6" descr="04-CL2-linked-compare.png"/>
          <p:cNvPicPr>
            <a:picLocks noChangeAspect="1"/>
          </p:cNvPicPr>
          <p:nvPr/>
        </p:nvPicPr>
        <p:blipFill>
          <a:blip r:embed="rId5"/>
          <a:stretch>
            <a:fillRect/>
          </a:stretch>
        </p:blipFill>
        <p:spPr>
          <a:xfrm>
            <a:off x="6914747" y="3872239"/>
            <a:ext cx="5824455" cy="3498717"/>
          </a:xfrm>
          <a:prstGeom prst="rect">
            <a:avLst/>
          </a:prstGeom>
          <a:ln w="9525">
            <a:solidFill>
              <a:srgbClr val="1F1F1F"/>
            </a:solidFill>
          </a:ln>
        </p:spPr>
      </p:pic>
      <p:sp>
        <p:nvSpPr>
          <p:cNvPr id="8" name="TextBox 7"/>
          <p:cNvSpPr txBox="1"/>
          <p:nvPr/>
        </p:nvSpPr>
        <p:spPr>
          <a:xfrm>
            <a:off x="455168" y="6406197"/>
            <a:ext cx="5917184" cy="415755"/>
          </a:xfrm>
          <a:prstGeom prst="rect">
            <a:avLst/>
          </a:prstGeom>
          <a:noFill/>
        </p:spPr>
        <p:txBody>
          <a:bodyPr wrap="square" lIns="0" tIns="0" rIns="0" bIns="0">
            <a:spAutoFit/>
          </a:bodyPr>
          <a:lstStyle/>
          <a:p>
            <a:r>
              <a:rPr sz="1351" dirty="0">
                <a:solidFill>
                  <a:srgbClr val="5B3F96"/>
                </a:solidFill>
                <a:latin typeface="Helvetica Neue"/>
              </a:rPr>
              <a:t>STEP 3 · CL1  </a:t>
            </a:r>
            <a:r>
              <a:rPr sz="1351" dirty="0">
                <a:solidFill>
                  <a:srgbClr val="595959"/>
                </a:solidFill>
                <a:latin typeface="Helvetica Neue Light"/>
              </a:rPr>
              <a:t>Support lines, patterns and distances detected; ranked by closeness to HIS conditions</a:t>
            </a:r>
          </a:p>
        </p:txBody>
      </p:sp>
      <p:sp>
        <p:nvSpPr>
          <p:cNvPr id="9" name="TextBox 8"/>
          <p:cNvSpPr txBox="1"/>
          <p:nvPr/>
        </p:nvSpPr>
        <p:spPr>
          <a:xfrm>
            <a:off x="7025267" y="7504687"/>
            <a:ext cx="5713935" cy="415755"/>
          </a:xfrm>
          <a:prstGeom prst="rect">
            <a:avLst/>
          </a:prstGeom>
          <a:noFill/>
        </p:spPr>
        <p:txBody>
          <a:bodyPr wrap="square" lIns="0" tIns="0" rIns="0" bIns="0">
            <a:spAutoFit/>
          </a:bodyPr>
          <a:lstStyle/>
          <a:p>
            <a:r>
              <a:rPr sz="1351" dirty="0">
                <a:solidFill>
                  <a:srgbClr val="5B3F96"/>
                </a:solidFill>
                <a:latin typeface="Helvetica Neue"/>
              </a:rPr>
              <a:t>STEP 4 · CL2  </a:t>
            </a:r>
            <a:r>
              <a:rPr sz="1351" dirty="0">
                <a:solidFill>
                  <a:srgbClr val="595959"/>
                </a:solidFill>
                <a:latin typeface="Helvetica Neue Light"/>
              </a:rPr>
              <a:t>One crosshair across three charts; volume against each stock’s own norm</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AI BEHAVIOR  </a:t>
            </a:r>
            <a:r>
              <a:rPr sz="1422">
                <a:solidFill>
                  <a:srgbClr val="1F1F1F"/>
                </a:solidFill>
                <a:latin typeface="Helvetica Neue Light"/>
              </a:rPr>
              <a:t>AI-drawn support he can drag to fix; clear vs borderline labels. Pattern names are labels, never advice.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Evening: </a:t>
            </a:r>
            <a:r>
              <a:rPr lang="en-US" sz="3200" dirty="0">
                <a:solidFill>
                  <a:srgbClr val="1F1F1F"/>
                </a:solidFill>
                <a:latin typeface="Helvetica Neue Light"/>
              </a:rPr>
              <a:t>R</a:t>
            </a:r>
            <a:r>
              <a:rPr sz="3200" dirty="0">
                <a:solidFill>
                  <a:srgbClr val="1F1F1F"/>
                </a:solidFill>
                <a:latin typeface="Helvetica Neue Light"/>
              </a:rPr>
              <a:t>emember why, then watch it for me</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Mon 8:32–8:52 PM. The one earned Elite moment.</a:t>
            </a:r>
          </a:p>
        </p:txBody>
      </p:sp>
      <p:pic>
        <p:nvPicPr>
          <p:cNvPr id="6" name="Picture 5" descr="05-OW3-reasons-ledger.png"/>
          <p:cNvPicPr>
            <a:picLocks noChangeAspect="1"/>
          </p:cNvPicPr>
          <p:nvPr/>
        </p:nvPicPr>
        <p:blipFill>
          <a:blip r:embed="rId4"/>
          <a:stretch>
            <a:fillRect/>
          </a:stretch>
        </p:blipFill>
        <p:spPr>
          <a:xfrm>
            <a:off x="455167" y="2117357"/>
            <a:ext cx="6726217" cy="4133820"/>
          </a:xfrm>
          <a:prstGeom prst="rect">
            <a:avLst/>
          </a:prstGeom>
          <a:ln w="9525">
            <a:solidFill>
              <a:srgbClr val="1F1F1F"/>
            </a:solidFill>
          </a:ln>
        </p:spPr>
      </p:pic>
      <p:pic>
        <p:nvPicPr>
          <p:cNvPr id="7" name="Picture 6" descr="06-OW4-watch-these-for-me.png"/>
          <p:cNvPicPr>
            <a:picLocks noChangeAspect="1"/>
          </p:cNvPicPr>
          <p:nvPr/>
        </p:nvPicPr>
        <p:blipFill>
          <a:blip r:embed="rId5"/>
          <a:stretch>
            <a:fillRect/>
          </a:stretch>
        </p:blipFill>
        <p:spPr>
          <a:xfrm>
            <a:off x="7222044" y="2725806"/>
            <a:ext cx="5532255" cy="3227149"/>
          </a:xfrm>
          <a:prstGeom prst="rect">
            <a:avLst/>
          </a:prstGeom>
          <a:ln w="9525">
            <a:solidFill>
              <a:srgbClr val="1F1F1F"/>
            </a:solidFill>
          </a:ln>
        </p:spPr>
      </p:pic>
      <p:sp>
        <p:nvSpPr>
          <p:cNvPr id="8" name="TextBox 7"/>
          <p:cNvSpPr txBox="1"/>
          <p:nvPr/>
        </p:nvSpPr>
        <p:spPr>
          <a:xfrm>
            <a:off x="455168" y="6329207"/>
            <a:ext cx="5917184" cy="415755"/>
          </a:xfrm>
          <a:prstGeom prst="rect">
            <a:avLst/>
          </a:prstGeom>
          <a:noFill/>
        </p:spPr>
        <p:txBody>
          <a:bodyPr wrap="square" lIns="0" tIns="0" rIns="0" bIns="0">
            <a:spAutoFit/>
          </a:bodyPr>
          <a:lstStyle/>
          <a:p>
            <a:r>
              <a:rPr sz="1351">
                <a:solidFill>
                  <a:srgbClr val="5B3F96"/>
                </a:solidFill>
                <a:latin typeface="Helvetica Neue"/>
              </a:rPr>
              <a:t>STEP 5 · OW3  </a:t>
            </a:r>
            <a:r>
              <a:rPr sz="1351">
                <a:solidFill>
                  <a:srgbClr val="595959"/>
                </a:solidFill>
                <a:latin typeface="Helvetica Neue Light"/>
              </a:rPr>
              <a:t>Pinned names keep their reasons as checkable conditions; exit lines dragged on the chart</a:t>
            </a:r>
          </a:p>
        </p:txBody>
      </p:sp>
      <p:sp>
        <p:nvSpPr>
          <p:cNvPr id="9" name="TextBox 8"/>
          <p:cNvSpPr txBox="1"/>
          <p:nvPr/>
        </p:nvSpPr>
        <p:spPr>
          <a:xfrm>
            <a:off x="7426712" y="6144294"/>
            <a:ext cx="5122920" cy="415755"/>
          </a:xfrm>
          <a:prstGeom prst="rect">
            <a:avLst/>
          </a:prstGeom>
          <a:noFill/>
        </p:spPr>
        <p:txBody>
          <a:bodyPr wrap="square" lIns="0" tIns="0" rIns="0" bIns="0">
            <a:spAutoFit/>
          </a:bodyPr>
          <a:lstStyle/>
          <a:p>
            <a:r>
              <a:rPr sz="1351" dirty="0">
                <a:solidFill>
                  <a:srgbClr val="5B3F96"/>
                </a:solidFill>
                <a:latin typeface="Helvetica Neue"/>
              </a:rPr>
              <a:t>STEP 6 · OW4  </a:t>
            </a:r>
            <a:r>
              <a:rPr sz="1351" dirty="0">
                <a:solidFill>
                  <a:srgbClr val="595959"/>
                </a:solidFill>
                <a:latin typeface="Helvetica Neue Light"/>
              </a:rPr>
              <a:t>Replay: “would have fired 4 times in the last 30 days”; noise dial; 7-day trial starts here</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DECISION POINT  </a:t>
            </a:r>
            <a:r>
              <a:rPr sz="1422">
                <a:solidFill>
                  <a:srgbClr val="1F1F1F"/>
                </a:solidFill>
                <a:latin typeface="Helvetica Neue Light"/>
              </a:rPr>
              <a:t>He commits only after seeing what watching would have done. History, never a forecast.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6 · OW4 · Watch These For Me</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Mon 8:40 PM. The one earned Elite moment.</a:t>
            </a:r>
          </a:p>
        </p:txBody>
      </p:sp>
      <p:pic>
        <p:nvPicPr>
          <p:cNvPr id="6" name="Picture 5" descr="image.png"/>
          <p:cNvPicPr>
            <a:picLocks noChangeAspect="1"/>
          </p:cNvPicPr>
          <p:nvPr/>
        </p:nvPicPr>
        <p:blipFill>
          <a:blip r:embed="rId4"/>
          <a:stretch>
            <a:fillRect/>
          </a:stretch>
        </p:blipFill>
        <p:spPr>
          <a:xfrm>
            <a:off x="1541999" y="2024569"/>
            <a:ext cx="9920802" cy="5787136"/>
          </a:xfrm>
          <a:prstGeom prst="rect">
            <a:avLst/>
          </a:prstGeom>
          <a:ln w="9525">
            <a:solidFill>
              <a:srgbClr val="1F1F1F"/>
            </a:solidFill>
          </a:ln>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DECISION POINT</a:t>
            </a:r>
          </a:p>
        </p:txBody>
      </p:sp>
      <p:sp>
        <p:nvSpPr>
          <p:cNvPr id="9" name="TextBox 8"/>
          <p:cNvSpPr txBox="1"/>
          <p:nvPr/>
        </p:nvSpPr>
        <p:spPr>
          <a:xfrm>
            <a:off x="650240" y="8414106"/>
            <a:ext cx="3771392" cy="459485"/>
          </a:xfrm>
          <a:prstGeom prst="rect">
            <a:avLst/>
          </a:prstGeom>
          <a:noFill/>
        </p:spPr>
        <p:txBody>
          <a:bodyPr wrap="square" lIns="0" tIns="0" rIns="0" bIns="0">
            <a:spAutoFit/>
          </a:bodyPr>
          <a:lstStyle/>
          <a:p>
            <a:r>
              <a:rPr sz="1493">
                <a:solidFill>
                  <a:srgbClr val="1F1F1F"/>
                </a:solidFill>
                <a:latin typeface="Helvetica Neue Light"/>
              </a:rPr>
              <a:t>Replay before commitment: his criteria “would have fired 4 times in the last 30 days”</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The noise dial redraws history live as he drags it (9 → 4 → 2 a month)</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The 7-day Elite trial starts here, where the value is obvious, not at sign-up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Before work: </a:t>
            </a:r>
            <a:r>
              <a:rPr lang="en-US" sz="3200" dirty="0">
                <a:solidFill>
                  <a:srgbClr val="1F1F1F"/>
                </a:solidFill>
                <a:latin typeface="Helvetica Neue Light"/>
              </a:rPr>
              <a:t>O</a:t>
            </a:r>
            <a:r>
              <a:rPr sz="3200" dirty="0">
                <a:solidFill>
                  <a:srgbClr val="1F1F1F"/>
                </a:solidFill>
                <a:latin typeface="Helvetica Neue Light"/>
              </a:rPr>
              <a:t>ne note, then the evidence</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Oct 6, 7:30–7:40 AM. DOCN trades below its SMA50 pre-market: one reason at risk.</a:t>
            </a:r>
          </a:p>
        </p:txBody>
      </p:sp>
      <p:pic>
        <p:nvPicPr>
          <p:cNvPr id="6" name="Picture 5" descr="07-OW5-morning-glance.png"/>
          <p:cNvPicPr>
            <a:picLocks noChangeAspect="1"/>
          </p:cNvPicPr>
          <p:nvPr/>
        </p:nvPicPr>
        <p:blipFill>
          <a:blip r:embed="rId4"/>
          <a:stretch>
            <a:fillRect/>
          </a:stretch>
        </p:blipFill>
        <p:spPr>
          <a:xfrm>
            <a:off x="455167" y="2055373"/>
            <a:ext cx="6648159" cy="4602927"/>
          </a:xfrm>
          <a:prstGeom prst="rect">
            <a:avLst/>
          </a:prstGeom>
          <a:ln w="9525">
            <a:solidFill>
              <a:srgbClr val="1F1F1F"/>
            </a:solidFill>
          </a:ln>
        </p:spPr>
      </p:pic>
      <p:pic>
        <p:nvPicPr>
          <p:cNvPr id="7" name="Picture 6" descr="08-CL4-why-marked.png"/>
          <p:cNvPicPr>
            <a:picLocks noChangeAspect="1"/>
          </p:cNvPicPr>
          <p:nvPr/>
        </p:nvPicPr>
        <p:blipFill>
          <a:blip r:embed="rId5"/>
          <a:stretch>
            <a:fillRect/>
          </a:stretch>
        </p:blipFill>
        <p:spPr>
          <a:xfrm>
            <a:off x="6632448" y="2561473"/>
            <a:ext cx="5917184" cy="3628383"/>
          </a:xfrm>
          <a:prstGeom prst="rect">
            <a:avLst/>
          </a:prstGeom>
          <a:ln w="9525">
            <a:solidFill>
              <a:srgbClr val="1F1F1F"/>
            </a:solidFill>
          </a:ln>
        </p:spPr>
      </p:pic>
      <p:sp>
        <p:nvSpPr>
          <p:cNvPr id="8" name="TextBox 7"/>
          <p:cNvSpPr txBox="1"/>
          <p:nvPr/>
        </p:nvSpPr>
        <p:spPr>
          <a:xfrm>
            <a:off x="455168" y="6736329"/>
            <a:ext cx="5917184" cy="415755"/>
          </a:xfrm>
          <a:prstGeom prst="rect">
            <a:avLst/>
          </a:prstGeom>
          <a:noFill/>
        </p:spPr>
        <p:txBody>
          <a:bodyPr wrap="square" lIns="0" tIns="0" rIns="0" bIns="0">
            <a:spAutoFit/>
          </a:bodyPr>
          <a:lstStyle/>
          <a:p>
            <a:r>
              <a:rPr sz="1351">
                <a:solidFill>
                  <a:srgbClr val="5B3F96"/>
                </a:solidFill>
                <a:latin typeface="Helvetica Neue"/>
              </a:rPr>
              <a:t>STEP 7 · OW5  </a:t>
            </a:r>
            <a:r>
              <a:rPr sz="1351">
                <a:solidFill>
                  <a:srgbClr val="595959"/>
                </a:solidFill>
                <a:latin typeface="Helvetica Neue Light"/>
              </a:rPr>
              <a:t>A bounded overnight agent on his 3 names: sourced news, earnings, his reasons re-checked</a:t>
            </a:r>
          </a:p>
        </p:txBody>
      </p:sp>
      <p:sp>
        <p:nvSpPr>
          <p:cNvPr id="9" name="TextBox 8"/>
          <p:cNvSpPr txBox="1"/>
          <p:nvPr/>
        </p:nvSpPr>
        <p:spPr>
          <a:xfrm>
            <a:off x="7415560" y="6267884"/>
            <a:ext cx="5134071" cy="415755"/>
          </a:xfrm>
          <a:prstGeom prst="rect">
            <a:avLst/>
          </a:prstGeom>
          <a:noFill/>
        </p:spPr>
        <p:txBody>
          <a:bodyPr wrap="square" lIns="0" tIns="0" rIns="0" bIns="0">
            <a:spAutoFit/>
          </a:bodyPr>
          <a:lstStyle/>
          <a:p>
            <a:r>
              <a:rPr sz="1351" dirty="0">
                <a:solidFill>
                  <a:srgbClr val="5B3F96"/>
                </a:solidFill>
                <a:latin typeface="Helvetica Neue"/>
              </a:rPr>
              <a:t>STEP 8 · CL4  </a:t>
            </a:r>
            <a:r>
              <a:rPr sz="1351" dirty="0">
                <a:solidFill>
                  <a:srgbClr val="595959"/>
                </a:solidFill>
                <a:latin typeface="Helvetica Neue Light"/>
              </a:rPr>
              <a:t>“Why </a:t>
            </a:r>
            <a:r>
              <a:rPr sz="1351" dirty="0" err="1">
                <a:solidFill>
                  <a:srgbClr val="595959"/>
                </a:solidFill>
                <a:latin typeface="Helvetica Neue Light"/>
              </a:rPr>
              <a:t>FinViz</a:t>
            </a:r>
            <a:r>
              <a:rPr sz="1351" dirty="0">
                <a:solidFill>
                  <a:srgbClr val="595959"/>
                </a:solidFill>
                <a:latin typeface="Helvetica Neue Light"/>
              </a:rPr>
              <a:t> marked this”: measurements, clear / borderline / abstain, history, track record</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AGENTIC INTERACTION  </a:t>
            </a:r>
            <a:r>
              <a:rPr sz="1422">
                <a:solidFill>
                  <a:srgbClr val="1F1F1F"/>
                </a:solidFill>
                <a:latin typeface="Helvetica Neue Light"/>
              </a:rPr>
              <a:t>The overnight agent’s scope is fixed to his names; every line is sourced; it reports, it never acts.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8 · CL4 · Why </a:t>
            </a:r>
            <a:r>
              <a:rPr sz="3200" dirty="0" err="1">
                <a:solidFill>
                  <a:srgbClr val="1F1F1F"/>
                </a:solidFill>
                <a:latin typeface="Helvetica Neue Light"/>
              </a:rPr>
              <a:t>FinViz</a:t>
            </a:r>
            <a:r>
              <a:rPr sz="3200" dirty="0">
                <a:solidFill>
                  <a:srgbClr val="1F1F1F"/>
                </a:solidFill>
                <a:latin typeface="Helvetica Neue Light"/>
              </a:rPr>
              <a:t> marked this</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7:40 AM. Opened from “Why marked?” in the morning glance.</a:t>
            </a:r>
          </a:p>
        </p:txBody>
      </p:sp>
      <p:pic>
        <p:nvPicPr>
          <p:cNvPr id="6" name="Picture 5" descr="image.png"/>
          <p:cNvPicPr>
            <a:picLocks noChangeAspect="1"/>
          </p:cNvPicPr>
          <p:nvPr/>
        </p:nvPicPr>
        <p:blipFill>
          <a:blip r:embed="rId4"/>
          <a:stretch>
            <a:fillRect/>
          </a:stretch>
        </p:blipFill>
        <p:spPr>
          <a:xfrm>
            <a:off x="1783558" y="2080768"/>
            <a:ext cx="9437685" cy="5787136"/>
          </a:xfrm>
          <a:prstGeom prst="rect">
            <a:avLst/>
          </a:prstGeom>
          <a:ln w="9525">
            <a:solidFill>
              <a:srgbClr val="1F1F1F"/>
            </a:solidFill>
          </a:ln>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AI BEHAVIOR</a:t>
            </a:r>
          </a:p>
        </p:txBody>
      </p:sp>
      <p:sp>
        <p:nvSpPr>
          <p:cNvPr id="9" name="TextBox 8"/>
          <p:cNvSpPr txBox="1"/>
          <p:nvPr/>
        </p:nvSpPr>
        <p:spPr>
          <a:xfrm>
            <a:off x="650240" y="8414105"/>
            <a:ext cx="3771392" cy="459485"/>
          </a:xfrm>
          <a:prstGeom prst="rect">
            <a:avLst/>
          </a:prstGeom>
          <a:noFill/>
        </p:spPr>
        <p:txBody>
          <a:bodyPr wrap="square" lIns="0" tIns="0" rIns="0" bIns="0">
            <a:spAutoFit/>
          </a:bodyPr>
          <a:lstStyle/>
          <a:p>
            <a:r>
              <a:rPr sz="1493">
                <a:solidFill>
                  <a:srgbClr val="1F1F1F"/>
                </a:solidFill>
                <a:latin typeface="Helvetica Neue Light"/>
              </a:rPr>
              <a:t>Measurements, not a confidence score: wick 2.6× body, at support, volume 2.4× its norm</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Clear, borderline or not enough data; only clear findings reach his inbox</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History with its sample size (38 matches in 3 years) and a visible track record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Before work: The board he keeps open</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Tue 7:45 AM. FinViz Home, upgraded: the Weekend Brief becomes three findings about his own names.</a:t>
            </a:r>
          </a:p>
        </p:txBody>
      </p:sp>
      <p:pic>
        <p:nvPicPr>
          <p:cNvPr id="6" name="Picture 5" descr="09-DB1-insight-board-pre-market.png"/>
          <p:cNvPicPr>
            <a:picLocks noChangeAspect="1"/>
          </p:cNvPicPr>
          <p:nvPr/>
        </p:nvPicPr>
        <p:blipFill>
          <a:blip r:embed="rId4"/>
          <a:stretch>
            <a:fillRect/>
          </a:stretch>
        </p:blipFill>
        <p:spPr>
          <a:xfrm>
            <a:off x="455168" y="2275841"/>
            <a:ext cx="5803500" cy="5331967"/>
          </a:xfrm>
          <a:prstGeom prst="rect">
            <a:avLst/>
          </a:prstGeom>
          <a:ln w="9525">
            <a:solidFill>
              <a:srgbClr val="1F1F1F"/>
            </a:solidFill>
          </a:ln>
        </p:spPr>
      </p:pic>
      <p:pic>
        <p:nvPicPr>
          <p:cNvPr id="7" name="Picture 6" descr="10-DB2-insight-card-opened.png"/>
          <p:cNvPicPr>
            <a:picLocks noChangeAspect="1"/>
          </p:cNvPicPr>
          <p:nvPr/>
        </p:nvPicPr>
        <p:blipFill>
          <a:blip r:embed="rId5"/>
          <a:stretch>
            <a:fillRect/>
          </a:stretch>
        </p:blipFill>
        <p:spPr>
          <a:xfrm>
            <a:off x="7282688" y="2275841"/>
            <a:ext cx="5266944" cy="4839004"/>
          </a:xfrm>
          <a:prstGeom prst="rect">
            <a:avLst/>
          </a:prstGeom>
          <a:ln w="9525">
            <a:solidFill>
              <a:srgbClr val="1F1F1F"/>
            </a:solidFill>
          </a:ln>
        </p:spPr>
      </p:pic>
      <p:sp>
        <p:nvSpPr>
          <p:cNvPr id="8" name="TextBox 7"/>
          <p:cNvSpPr txBox="1"/>
          <p:nvPr/>
        </p:nvSpPr>
        <p:spPr>
          <a:xfrm>
            <a:off x="455168" y="7685836"/>
            <a:ext cx="6502400" cy="207877"/>
          </a:xfrm>
          <a:prstGeom prst="rect">
            <a:avLst/>
          </a:prstGeom>
          <a:noFill/>
        </p:spPr>
        <p:txBody>
          <a:bodyPr wrap="square" lIns="0" tIns="0" rIns="0" bIns="0">
            <a:spAutoFit/>
          </a:bodyPr>
          <a:lstStyle/>
          <a:p>
            <a:r>
              <a:rPr sz="1351">
                <a:solidFill>
                  <a:srgbClr val="5B3F96"/>
                </a:solidFill>
                <a:latin typeface="Helvetica Neue"/>
              </a:rPr>
              <a:t>STEP 9 · DB1  </a:t>
            </a:r>
            <a:r>
              <a:rPr sz="1351">
                <a:solidFill>
                  <a:srgbClr val="595959"/>
                </a:solidFill>
                <a:latin typeface="Helvetica Neue Light"/>
              </a:rPr>
              <a:t>Insight Board: sourced findings, annotated map, his lists</a:t>
            </a:r>
          </a:p>
        </p:txBody>
      </p:sp>
      <p:sp>
        <p:nvSpPr>
          <p:cNvPr id="9" name="TextBox 8"/>
          <p:cNvSpPr txBox="1"/>
          <p:nvPr/>
        </p:nvSpPr>
        <p:spPr>
          <a:xfrm>
            <a:off x="7282688" y="7192874"/>
            <a:ext cx="5266944" cy="415755"/>
          </a:xfrm>
          <a:prstGeom prst="rect">
            <a:avLst/>
          </a:prstGeom>
          <a:noFill/>
        </p:spPr>
        <p:txBody>
          <a:bodyPr wrap="square" lIns="0" tIns="0" rIns="0" bIns="0">
            <a:spAutoFit/>
          </a:bodyPr>
          <a:lstStyle/>
          <a:p>
            <a:r>
              <a:rPr sz="1351">
                <a:solidFill>
                  <a:srgbClr val="5B3F96"/>
                </a:solidFill>
                <a:latin typeface="Helvetica Neue"/>
              </a:rPr>
              <a:t>STEP 10 · DB2  </a:t>
            </a:r>
            <a:r>
              <a:rPr sz="1351">
                <a:solidFill>
                  <a:srgbClr val="595959"/>
                </a:solidFill>
                <a:latin typeface="Helvetica Neue Light"/>
              </a:rPr>
              <a:t>Card opened: evidence, attributed cause, “Not useful” previewed</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AI BEHAVIOR  </a:t>
            </a:r>
            <a:r>
              <a:rPr sz="1422">
                <a:solidFill>
                  <a:srgbClr val="1F1F1F"/>
                </a:solidFill>
                <a:latin typeface="Helvetica Neue Light"/>
              </a:rPr>
              <a:t>Only clear findings reach the top. Causes are attributed to a source or labelled “no reported cause”.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30887"/>
          </a:xfrm>
          <a:prstGeom prst="rect">
            <a:avLst/>
          </a:prstGeom>
          <a:noFill/>
        </p:spPr>
        <p:txBody>
          <a:bodyPr wrap="square" lIns="0" tIns="0" rIns="0" bIns="0">
            <a:spAutoFit/>
          </a:bodyPr>
          <a:lstStyle/>
          <a:p>
            <a:r>
              <a:rPr sz="2800" dirty="0">
                <a:solidFill>
                  <a:srgbClr val="1F1F1F"/>
                </a:solidFill>
                <a:latin typeface="Helvetica Neue Light"/>
              </a:rPr>
              <a:t>Close-up · Step 9 · DB1 · Insight Board, pre-market</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7:45 AM. FinViz Home, upgraded.</a:t>
            </a:r>
          </a:p>
        </p:txBody>
      </p:sp>
      <p:pic>
        <p:nvPicPr>
          <p:cNvPr id="6" name="Picture 5" descr="image.png"/>
          <p:cNvPicPr>
            <a:picLocks noChangeAspect="1"/>
          </p:cNvPicPr>
          <p:nvPr/>
        </p:nvPicPr>
        <p:blipFill>
          <a:blip r:embed="rId4"/>
          <a:stretch>
            <a:fillRect/>
          </a:stretch>
        </p:blipFill>
        <p:spPr>
          <a:xfrm>
            <a:off x="455169" y="2080768"/>
            <a:ext cx="7572863" cy="6957568"/>
          </a:xfrm>
          <a:prstGeom prst="rect">
            <a:avLst/>
          </a:prstGeom>
          <a:ln w="9525">
            <a:solidFill>
              <a:srgbClr val="1F1F1F"/>
            </a:solidFill>
          </a:ln>
        </p:spPr>
      </p:pic>
      <p:sp>
        <p:nvSpPr>
          <p:cNvPr id="7" name="Rectangle 6"/>
          <p:cNvSpPr/>
          <p:nvPr/>
        </p:nvSpPr>
        <p:spPr>
          <a:xfrm>
            <a:off x="8418175" y="2080768"/>
            <a:ext cx="4131456" cy="695756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613247" y="2275840"/>
            <a:ext cx="3741312" cy="2064411"/>
          </a:xfrm>
          <a:prstGeom prst="rect">
            <a:avLst/>
          </a:prstGeom>
          <a:noFill/>
        </p:spPr>
        <p:txBody>
          <a:bodyPr wrap="square" lIns="0" tIns="0" rIns="0" bIns="0">
            <a:spAutoFit/>
          </a:bodyPr>
          <a:lstStyle/>
          <a:p>
            <a:pPr>
              <a:spcAft>
                <a:spcPts val="1138"/>
              </a:spcAft>
            </a:pPr>
            <a:r>
              <a:rPr sz="1280">
                <a:solidFill>
                  <a:srgbClr val="5B3F96"/>
                </a:solidFill>
                <a:latin typeface="Helvetica Neue"/>
              </a:rPr>
              <a:t>AI BEHAVIOR</a:t>
            </a:r>
          </a:p>
          <a:p>
            <a:pPr>
              <a:spcAft>
                <a:spcPts val="1138"/>
              </a:spcAft>
            </a:pPr>
            <a:r>
              <a:rPr sz="1564">
                <a:solidFill>
                  <a:srgbClr val="1F1F1F"/>
                </a:solidFill>
                <a:latin typeface="Helvetica Neue Light"/>
              </a:rPr>
              <a:t>• Three findings that need him today, each sourced and labelled Clear</a:t>
            </a:r>
          </a:p>
          <a:p>
            <a:pPr>
              <a:spcAft>
                <a:spcPts val="1138"/>
              </a:spcAft>
            </a:pPr>
            <a:r>
              <a:rPr sz="1564">
                <a:solidFill>
                  <a:srgbClr val="1F1F1F"/>
                </a:solidFill>
                <a:latin typeface="Helvetica Neue Light"/>
              </a:rPr>
              <a:t>• The familiar parts stay: index row, breadth bars, S&amp;P 500 map, now with AI notes</a:t>
            </a:r>
          </a:p>
          <a:p>
            <a:pPr>
              <a:spcAft>
                <a:spcPts val="1138"/>
              </a:spcAft>
            </a:pPr>
            <a:r>
              <a:rPr sz="1564">
                <a:solidFill>
                  <a:srgbClr val="1F1F1F"/>
                </a:solidFill>
                <a:latin typeface="Helvetica Neue Light"/>
              </a:rPr>
              <a:t>• Pre-market prices on his own names are the Elite moment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Work hours: </a:t>
            </a:r>
            <a:r>
              <a:rPr lang="en-US" sz="3200" dirty="0">
                <a:solidFill>
                  <a:srgbClr val="1F1F1F"/>
                </a:solidFill>
                <a:latin typeface="Helvetica Neue Light"/>
              </a:rPr>
              <a:t>S</a:t>
            </a:r>
            <a:r>
              <a:rPr sz="3200" dirty="0">
                <a:solidFill>
                  <a:srgbClr val="1F1F1F"/>
                </a:solidFill>
                <a:latin typeface="Helvetica Neue Light"/>
              </a:rPr>
              <a:t>ilence, one alert, and a correction</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10:14–10:31 AM. Quiet unless his own criteria are met.</a:t>
            </a:r>
          </a:p>
        </p:txBody>
      </p:sp>
      <p:pic>
        <p:nvPicPr>
          <p:cNvPr id="6" name="Picture 5" descr="11-OW6-quiet-hours-one-alert.png"/>
          <p:cNvPicPr>
            <a:picLocks noChangeAspect="1"/>
          </p:cNvPicPr>
          <p:nvPr/>
        </p:nvPicPr>
        <p:blipFill>
          <a:blip r:embed="rId4"/>
          <a:stretch>
            <a:fillRect/>
          </a:stretch>
        </p:blipFill>
        <p:spPr>
          <a:xfrm>
            <a:off x="455168" y="2178271"/>
            <a:ext cx="7301024" cy="2819006"/>
          </a:xfrm>
          <a:prstGeom prst="rect">
            <a:avLst/>
          </a:prstGeom>
          <a:ln w="9525">
            <a:solidFill>
              <a:srgbClr val="1F1F1F"/>
            </a:solidFill>
          </a:ln>
        </p:spPr>
      </p:pic>
      <p:pic>
        <p:nvPicPr>
          <p:cNvPr id="7" name="Picture 6" descr="12-AN7-this-was-wrong.png"/>
          <p:cNvPicPr>
            <a:picLocks noChangeAspect="1"/>
          </p:cNvPicPr>
          <p:nvPr/>
        </p:nvPicPr>
        <p:blipFill>
          <a:blip r:embed="rId5"/>
          <a:stretch>
            <a:fillRect/>
          </a:stretch>
        </p:blipFill>
        <p:spPr>
          <a:xfrm>
            <a:off x="6632448" y="4136627"/>
            <a:ext cx="5917184" cy="3451691"/>
          </a:xfrm>
          <a:prstGeom prst="rect">
            <a:avLst/>
          </a:prstGeom>
          <a:ln w="9525">
            <a:solidFill>
              <a:srgbClr val="1F1F1F"/>
            </a:solidFill>
          </a:ln>
        </p:spPr>
      </p:pic>
      <p:sp>
        <p:nvSpPr>
          <p:cNvPr id="8" name="TextBox 7"/>
          <p:cNvSpPr txBox="1"/>
          <p:nvPr/>
        </p:nvSpPr>
        <p:spPr>
          <a:xfrm>
            <a:off x="455168" y="5075306"/>
            <a:ext cx="5917184" cy="415755"/>
          </a:xfrm>
          <a:prstGeom prst="rect">
            <a:avLst/>
          </a:prstGeom>
          <a:noFill/>
        </p:spPr>
        <p:txBody>
          <a:bodyPr wrap="square" lIns="0" tIns="0" rIns="0" bIns="0">
            <a:spAutoFit/>
          </a:bodyPr>
          <a:lstStyle/>
          <a:p>
            <a:r>
              <a:rPr sz="1351">
                <a:solidFill>
                  <a:srgbClr val="5B3F96"/>
                </a:solidFill>
                <a:latin typeface="Helvetica Neue"/>
              </a:rPr>
              <a:t>STEP 11 · OW6  </a:t>
            </a:r>
            <a:r>
              <a:rPr sz="1351">
                <a:solidFill>
                  <a:srgbClr val="595959"/>
                </a:solidFill>
                <a:latin typeface="Helvetica Neue Light"/>
              </a:rPr>
              <a:t>Quiet hours painted once; one reason-first browser push at 10:14 AM</a:t>
            </a:r>
          </a:p>
        </p:txBody>
      </p:sp>
      <p:sp>
        <p:nvSpPr>
          <p:cNvPr id="9" name="TextBox 8"/>
          <p:cNvSpPr txBox="1"/>
          <p:nvPr/>
        </p:nvSpPr>
        <p:spPr>
          <a:xfrm>
            <a:off x="6632448" y="7666346"/>
            <a:ext cx="5917184" cy="415755"/>
          </a:xfrm>
          <a:prstGeom prst="rect">
            <a:avLst/>
          </a:prstGeom>
          <a:noFill/>
        </p:spPr>
        <p:txBody>
          <a:bodyPr wrap="square" lIns="0" tIns="0" rIns="0" bIns="0">
            <a:spAutoFit/>
          </a:bodyPr>
          <a:lstStyle/>
          <a:p>
            <a:r>
              <a:rPr sz="1351">
                <a:solidFill>
                  <a:srgbClr val="5B3F96"/>
                </a:solidFill>
                <a:latin typeface="Helvetica Neue"/>
              </a:rPr>
              <a:t>STEP 12 · AN7  </a:t>
            </a:r>
            <a:r>
              <a:rPr sz="1351">
                <a:solidFill>
                  <a:srgbClr val="595959"/>
                </a:solidFill>
                <a:latin typeface="Helvetica Neue Light"/>
              </a:rPr>
              <a:t>“Too early” → proposed rule change with a before/after replay (4 → 2)</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DECISION POINT  </a:t>
            </a:r>
            <a:r>
              <a:rPr sz="1422">
                <a:solidFill>
                  <a:srgbClr val="1F1F1F"/>
                </a:solidFill>
                <a:latin typeface="Helvetica Neue Light"/>
              </a:rPr>
              <a:t>The AI proposes; nothing changes until he applies it, and every change is logged with Undo.</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12 · AN7 · “This was wrong” → proposed fix</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10:31 AM. The alert opened on the RMBS quote page.</a:t>
            </a:r>
          </a:p>
        </p:txBody>
      </p:sp>
      <p:pic>
        <p:nvPicPr>
          <p:cNvPr id="6" name="Picture 5" descr="image.png"/>
          <p:cNvPicPr>
            <a:picLocks noChangeAspect="1"/>
          </p:cNvPicPr>
          <p:nvPr/>
        </p:nvPicPr>
        <p:blipFill>
          <a:blip r:embed="rId4"/>
          <a:stretch>
            <a:fillRect/>
          </a:stretch>
        </p:blipFill>
        <p:spPr>
          <a:xfrm>
            <a:off x="1541999" y="2080768"/>
            <a:ext cx="9920802" cy="5787136"/>
          </a:xfrm>
          <a:prstGeom prst="rect">
            <a:avLst/>
          </a:prstGeom>
          <a:ln w="9525">
            <a:solidFill>
              <a:srgbClr val="1F1F1F"/>
            </a:solidFill>
          </a:ln>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DECISION POINT</a:t>
            </a:r>
          </a:p>
        </p:txBody>
      </p:sp>
      <p:sp>
        <p:nvSpPr>
          <p:cNvPr id="9" name="TextBox 8"/>
          <p:cNvSpPr txBox="1"/>
          <p:nvPr/>
        </p:nvSpPr>
        <p:spPr>
          <a:xfrm>
            <a:off x="650240" y="8414106"/>
            <a:ext cx="3771392" cy="459485"/>
          </a:xfrm>
          <a:prstGeom prst="rect">
            <a:avLst/>
          </a:prstGeom>
          <a:noFill/>
        </p:spPr>
        <p:txBody>
          <a:bodyPr wrap="square" lIns="0" tIns="0" rIns="0" bIns="0">
            <a:spAutoFit/>
          </a:bodyPr>
          <a:lstStyle/>
          <a:p>
            <a:r>
              <a:rPr sz="1493">
                <a:solidFill>
                  <a:srgbClr val="1F1F1F"/>
                </a:solidFill>
                <a:latin typeface="Helvetica Neue Light"/>
              </a:rPr>
              <a:t>His reason (“too early”) becomes a specific change to his own rule</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Before/after replay: 4 → 2 alerts in 30 days, both acted-on alerts kept</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Nothing changes until he applies it; every change is logged with Undo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Lunch and the close: Did his reasons hold?</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12:30 PM and 4:30 PM. DOCN closes below its SMA50: a reason breaks.</a:t>
            </a:r>
          </a:p>
        </p:txBody>
      </p:sp>
      <p:pic>
        <p:nvPicPr>
          <p:cNvPr id="6" name="Picture 5" descr="13-TD1-board-at-lunch.png"/>
          <p:cNvPicPr>
            <a:picLocks noChangeAspect="1"/>
          </p:cNvPicPr>
          <p:nvPr/>
        </p:nvPicPr>
        <p:blipFill>
          <a:blip r:embed="rId4"/>
          <a:stretch>
            <a:fillRect/>
          </a:stretch>
        </p:blipFill>
        <p:spPr>
          <a:xfrm>
            <a:off x="455168" y="2275841"/>
            <a:ext cx="5917184" cy="4022862"/>
          </a:xfrm>
          <a:prstGeom prst="rect">
            <a:avLst/>
          </a:prstGeom>
          <a:ln w="9525">
            <a:solidFill>
              <a:srgbClr val="1F1F1F"/>
            </a:solidFill>
          </a:ln>
        </p:spPr>
      </p:pic>
      <p:pic>
        <p:nvPicPr>
          <p:cNvPr id="7" name="Picture 6" descr="14-OW7-reasons-still-hold.png"/>
          <p:cNvPicPr>
            <a:picLocks noChangeAspect="1"/>
          </p:cNvPicPr>
          <p:nvPr/>
        </p:nvPicPr>
        <p:blipFill>
          <a:blip r:embed="rId5"/>
          <a:stretch>
            <a:fillRect/>
          </a:stretch>
        </p:blipFill>
        <p:spPr>
          <a:xfrm>
            <a:off x="6632448" y="2275840"/>
            <a:ext cx="5917184" cy="3657148"/>
          </a:xfrm>
          <a:prstGeom prst="rect">
            <a:avLst/>
          </a:prstGeom>
          <a:ln w="9525">
            <a:solidFill>
              <a:srgbClr val="1F1F1F"/>
            </a:solidFill>
          </a:ln>
        </p:spPr>
      </p:pic>
      <p:sp>
        <p:nvSpPr>
          <p:cNvPr id="8" name="TextBox 7"/>
          <p:cNvSpPr txBox="1"/>
          <p:nvPr/>
        </p:nvSpPr>
        <p:spPr>
          <a:xfrm>
            <a:off x="455168" y="6376732"/>
            <a:ext cx="5917184" cy="207877"/>
          </a:xfrm>
          <a:prstGeom prst="rect">
            <a:avLst/>
          </a:prstGeom>
          <a:noFill/>
        </p:spPr>
        <p:txBody>
          <a:bodyPr wrap="square" lIns="0" tIns="0" rIns="0" bIns="0">
            <a:spAutoFit/>
          </a:bodyPr>
          <a:lstStyle/>
          <a:p>
            <a:r>
              <a:rPr sz="1351">
                <a:solidFill>
                  <a:srgbClr val="5B3F96"/>
                </a:solidFill>
                <a:latin typeface="Helvetica Neue"/>
              </a:rPr>
              <a:t>STEP 13 · TD1  </a:t>
            </a:r>
            <a:r>
              <a:rPr sz="1351">
                <a:solidFill>
                  <a:srgbClr val="595959"/>
                </a:solidFill>
                <a:latin typeface="Helvetica Neue Light"/>
              </a:rPr>
              <a:t>The same board in its lunch layout: alerts sent and held back</a:t>
            </a:r>
          </a:p>
        </p:txBody>
      </p:sp>
      <p:sp>
        <p:nvSpPr>
          <p:cNvPr id="9" name="TextBox 8"/>
          <p:cNvSpPr txBox="1"/>
          <p:nvPr/>
        </p:nvSpPr>
        <p:spPr>
          <a:xfrm>
            <a:off x="6632448" y="6011017"/>
            <a:ext cx="5917184" cy="415755"/>
          </a:xfrm>
          <a:prstGeom prst="rect">
            <a:avLst/>
          </a:prstGeom>
          <a:noFill/>
        </p:spPr>
        <p:txBody>
          <a:bodyPr wrap="square" lIns="0" tIns="0" rIns="0" bIns="0">
            <a:spAutoFit/>
          </a:bodyPr>
          <a:lstStyle/>
          <a:p>
            <a:r>
              <a:rPr sz="1351">
                <a:solidFill>
                  <a:srgbClr val="5B3F96"/>
                </a:solidFill>
                <a:latin typeface="Helvetica Neue"/>
              </a:rPr>
              <a:t>STEP 14 · OW7  </a:t>
            </a:r>
            <a:r>
              <a:rPr sz="1351">
                <a:solidFill>
                  <a:srgbClr val="595959"/>
                </a:solidFill>
                <a:latin typeface="Helvetica Neue Light"/>
              </a:rPr>
              <a:t>A checklist that ticks itself; what changed and when; Hold or Exit in his broker</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DECISION POINT  </a:t>
            </a:r>
            <a:r>
              <a:rPr sz="1422">
                <a:solidFill>
                  <a:srgbClr val="1F1F1F"/>
                </a:solidFill>
                <a:latin typeface="Helvetica Neue Light"/>
              </a:rPr>
              <a:t>Verification, not advice: FinViz re-checks HIS reasons; both choices end in his own broker.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14 · OW7 · Reasons Still Hold?</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4:30 PM. DOCN closes below its SMA50: a reason breaks.</a:t>
            </a:r>
          </a:p>
        </p:txBody>
      </p:sp>
      <p:pic>
        <p:nvPicPr>
          <p:cNvPr id="6" name="Picture 5" descr="image.png"/>
          <p:cNvPicPr>
            <a:picLocks noChangeAspect="1"/>
          </p:cNvPicPr>
          <p:nvPr/>
        </p:nvPicPr>
        <p:blipFill>
          <a:blip r:embed="rId4"/>
          <a:stretch>
            <a:fillRect/>
          </a:stretch>
        </p:blipFill>
        <p:spPr>
          <a:xfrm>
            <a:off x="1820673" y="2080768"/>
            <a:ext cx="9363455" cy="5787136"/>
          </a:xfrm>
          <a:prstGeom prst="rect">
            <a:avLst/>
          </a:prstGeom>
          <a:ln w="9525">
            <a:solidFill>
              <a:srgbClr val="1F1F1F"/>
            </a:solidFill>
          </a:ln>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DECISION POINT</a:t>
            </a:r>
          </a:p>
        </p:txBody>
      </p:sp>
      <p:sp>
        <p:nvSpPr>
          <p:cNvPr id="9" name="TextBox 8"/>
          <p:cNvSpPr txBox="1"/>
          <p:nvPr/>
        </p:nvSpPr>
        <p:spPr>
          <a:xfrm>
            <a:off x="650240" y="8414106"/>
            <a:ext cx="3771392" cy="459485"/>
          </a:xfrm>
          <a:prstGeom prst="rect">
            <a:avLst/>
          </a:prstGeom>
          <a:noFill/>
        </p:spPr>
        <p:txBody>
          <a:bodyPr wrap="square" lIns="0" tIns="0" rIns="0" bIns="0">
            <a:spAutoFit/>
          </a:bodyPr>
          <a:lstStyle/>
          <a:p>
            <a:r>
              <a:rPr sz="1493">
                <a:solidFill>
                  <a:srgbClr val="1F1F1F"/>
                </a:solidFill>
                <a:latin typeface="Helvetica Neue Light"/>
              </a:rPr>
              <a:t>A checklist that ticks itself against today’s close</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What changed and when, on the chart; his exit line ($34.00) not met</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Hold or exit is his call, in his own broker; FinViz never places orders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After the close: </a:t>
            </a:r>
            <a:r>
              <a:rPr lang="en-US" sz="3200" dirty="0">
                <a:solidFill>
                  <a:srgbClr val="1F1F1F"/>
                </a:solidFill>
                <a:latin typeface="Helvetica Neue Light"/>
              </a:rPr>
              <a:t>H</a:t>
            </a:r>
            <a:r>
              <a:rPr sz="3200" dirty="0">
                <a:solidFill>
                  <a:srgbClr val="1F1F1F"/>
                </a:solidFill>
                <a:latin typeface="Helvetica Neue Light"/>
              </a:rPr>
              <a:t>is plan, his lens, his record</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4:45–5:15 PM.</a:t>
            </a:r>
          </a:p>
        </p:txBody>
      </p:sp>
      <p:pic>
        <p:nvPicPr>
          <p:cNvPr id="6" name="Picture 5" descr="15-DB3-portfolio-vs-plan.png"/>
          <p:cNvPicPr>
            <a:picLocks noChangeAspect="1"/>
          </p:cNvPicPr>
          <p:nvPr/>
        </p:nvPicPr>
        <p:blipFill>
          <a:blip r:embed="rId4"/>
          <a:stretch>
            <a:fillRect/>
          </a:stretch>
        </p:blipFill>
        <p:spPr>
          <a:xfrm>
            <a:off x="455168" y="2107096"/>
            <a:ext cx="4250646" cy="3182080"/>
          </a:xfrm>
          <a:prstGeom prst="rect">
            <a:avLst/>
          </a:prstGeom>
          <a:ln w="9525">
            <a:solidFill>
              <a:srgbClr val="1F1F1F"/>
            </a:solidFill>
          </a:ln>
        </p:spPr>
      </p:pic>
      <p:sp>
        <p:nvSpPr>
          <p:cNvPr id="7" name="TextBox 6"/>
          <p:cNvSpPr txBox="1"/>
          <p:nvPr/>
        </p:nvSpPr>
        <p:spPr>
          <a:xfrm>
            <a:off x="455168" y="5352012"/>
            <a:ext cx="4250646" cy="430948"/>
          </a:xfrm>
          <a:prstGeom prst="rect">
            <a:avLst/>
          </a:prstGeom>
          <a:noFill/>
        </p:spPr>
        <p:txBody>
          <a:bodyPr wrap="square" lIns="0" tIns="0" rIns="0" bIns="0">
            <a:spAutoFit/>
          </a:bodyPr>
          <a:lstStyle/>
          <a:p>
            <a:r>
              <a:rPr sz="1351">
                <a:solidFill>
                  <a:srgbClr val="5B3F96"/>
                </a:solidFill>
                <a:latin typeface="Helvetica Neue"/>
              </a:rPr>
              <a:t>STEP 15 · DB3  </a:t>
            </a:r>
            <a:r>
              <a:rPr sz="1351">
                <a:solidFill>
                  <a:srgbClr val="595959"/>
                </a:solidFill>
                <a:latin typeface="Helvetica Neue Light"/>
              </a:rPr>
              <a:t>Allocation vs his targets; drift explained, never rebalanced</a:t>
            </a:r>
          </a:p>
        </p:txBody>
      </p:sp>
      <p:pic>
        <p:nvPicPr>
          <p:cNvPr id="8" name="Picture 7" descr="16-CL3-lens-on-portfolio.png"/>
          <p:cNvPicPr>
            <a:picLocks noChangeAspect="1"/>
          </p:cNvPicPr>
          <p:nvPr/>
        </p:nvPicPr>
        <p:blipFill>
          <a:blip r:embed="rId5"/>
          <a:stretch>
            <a:fillRect/>
          </a:stretch>
        </p:blipFill>
        <p:spPr>
          <a:xfrm>
            <a:off x="5188042" y="2118307"/>
            <a:ext cx="5053229" cy="2340627"/>
          </a:xfrm>
          <a:prstGeom prst="rect">
            <a:avLst/>
          </a:prstGeom>
          <a:ln w="9525">
            <a:solidFill>
              <a:srgbClr val="1F1F1F"/>
            </a:solidFill>
          </a:ln>
        </p:spPr>
      </p:pic>
      <p:sp>
        <p:nvSpPr>
          <p:cNvPr id="9" name="TextBox 8"/>
          <p:cNvSpPr txBox="1"/>
          <p:nvPr/>
        </p:nvSpPr>
        <p:spPr>
          <a:xfrm>
            <a:off x="5188042" y="4612742"/>
            <a:ext cx="5300803" cy="207877"/>
          </a:xfrm>
          <a:prstGeom prst="rect">
            <a:avLst/>
          </a:prstGeom>
          <a:noFill/>
        </p:spPr>
        <p:txBody>
          <a:bodyPr wrap="square" lIns="0" tIns="0" rIns="0" bIns="0">
            <a:spAutoFit/>
          </a:bodyPr>
          <a:lstStyle/>
          <a:p>
            <a:r>
              <a:rPr sz="1351" dirty="0">
                <a:solidFill>
                  <a:srgbClr val="5B3F96"/>
                </a:solidFill>
                <a:latin typeface="Helvetica Neue"/>
              </a:rPr>
              <a:t>STEP 16 · CL3  </a:t>
            </a:r>
            <a:r>
              <a:rPr sz="1351" dirty="0">
                <a:solidFill>
                  <a:srgbClr val="595959"/>
                </a:solidFill>
                <a:latin typeface="Helvetica Neue Light"/>
              </a:rPr>
              <a:t>His lens on 12 holdings: facts per holding, not ratings</a:t>
            </a:r>
          </a:p>
        </p:txBody>
      </p:sp>
      <p:pic>
        <p:nvPicPr>
          <p:cNvPr id="10" name="Picture 9" descr="17-AN9-activity-log.png"/>
          <p:cNvPicPr>
            <a:picLocks noChangeAspect="1"/>
          </p:cNvPicPr>
          <p:nvPr/>
        </p:nvPicPr>
        <p:blipFill>
          <a:blip r:embed="rId6"/>
          <a:stretch>
            <a:fillRect/>
          </a:stretch>
        </p:blipFill>
        <p:spPr>
          <a:xfrm>
            <a:off x="5188042" y="5311477"/>
            <a:ext cx="4347489" cy="2865116"/>
          </a:xfrm>
          <a:prstGeom prst="rect">
            <a:avLst/>
          </a:prstGeom>
          <a:ln w="9525">
            <a:solidFill>
              <a:srgbClr val="1F1F1F"/>
            </a:solidFill>
          </a:ln>
        </p:spPr>
      </p:pic>
      <p:sp>
        <p:nvSpPr>
          <p:cNvPr id="11" name="TextBox 10"/>
          <p:cNvSpPr txBox="1"/>
          <p:nvPr/>
        </p:nvSpPr>
        <p:spPr>
          <a:xfrm>
            <a:off x="9742251" y="5425040"/>
            <a:ext cx="2434880" cy="415755"/>
          </a:xfrm>
          <a:prstGeom prst="rect">
            <a:avLst/>
          </a:prstGeom>
          <a:noFill/>
        </p:spPr>
        <p:txBody>
          <a:bodyPr wrap="square" lIns="0" tIns="0" rIns="0" bIns="0">
            <a:spAutoFit/>
          </a:bodyPr>
          <a:lstStyle/>
          <a:p>
            <a:r>
              <a:rPr sz="1351" dirty="0">
                <a:solidFill>
                  <a:srgbClr val="5B3F96"/>
                </a:solidFill>
                <a:latin typeface="Helvetica Neue"/>
              </a:rPr>
              <a:t>STEP 17 · AN9  </a:t>
            </a:r>
            <a:r>
              <a:rPr sz="1351" dirty="0">
                <a:solidFill>
                  <a:srgbClr val="595959"/>
                </a:solidFill>
                <a:latin typeface="Helvetica Neue Light"/>
              </a:rPr>
              <a:t>Every send and change, who did it, why; Undo</a:t>
            </a:r>
          </a:p>
        </p:txBody>
      </p:sp>
      <p:sp>
        <p:nvSpPr>
          <p:cNvPr id="12" name="Rectangle 11"/>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AI BEHAVIOR  </a:t>
            </a:r>
            <a:r>
              <a:rPr sz="1422">
                <a:solidFill>
                  <a:srgbClr val="1F1F1F"/>
                </a:solidFill>
                <a:latin typeface="Helvetica Neue Light"/>
              </a:rPr>
              <a:t>Facts against his own plan and lens; the AI’s every action is on the record.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Sunday: </a:t>
            </a:r>
            <a:r>
              <a:rPr lang="en-US" sz="3200" dirty="0">
                <a:solidFill>
                  <a:srgbClr val="1F1F1F"/>
                </a:solidFill>
                <a:latin typeface="Helvetica Neue Light"/>
              </a:rPr>
              <a:t>T</a:t>
            </a:r>
            <a:r>
              <a:rPr sz="3200" dirty="0">
                <a:solidFill>
                  <a:srgbClr val="1F1F1F"/>
                </a:solidFill>
                <a:latin typeface="Helvetica Neue Light"/>
              </a:rPr>
              <a:t>une the week</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Sun Oct 11. Trial day 7 of 7.</a:t>
            </a:r>
          </a:p>
        </p:txBody>
      </p:sp>
      <p:pic>
        <p:nvPicPr>
          <p:cNvPr id="6" name="Picture 5" descr="18-AN8-weekly-review.png"/>
          <p:cNvPicPr>
            <a:picLocks noChangeAspect="1"/>
          </p:cNvPicPr>
          <p:nvPr/>
        </p:nvPicPr>
        <p:blipFill>
          <a:blip r:embed="rId4"/>
          <a:stretch>
            <a:fillRect/>
          </a:stretch>
        </p:blipFill>
        <p:spPr>
          <a:xfrm>
            <a:off x="455168" y="2525100"/>
            <a:ext cx="5917184" cy="2851753"/>
          </a:xfrm>
          <a:prstGeom prst="rect">
            <a:avLst/>
          </a:prstGeom>
          <a:ln w="9525">
            <a:solidFill>
              <a:srgbClr val="1F1F1F"/>
            </a:solidFill>
          </a:ln>
        </p:spPr>
      </p:pic>
      <p:pic>
        <p:nvPicPr>
          <p:cNvPr id="7" name="Picture 6" descr="19-DB5-build-the-board.png"/>
          <p:cNvPicPr>
            <a:picLocks noChangeAspect="1"/>
          </p:cNvPicPr>
          <p:nvPr/>
        </p:nvPicPr>
        <p:blipFill>
          <a:blip r:embed="rId5"/>
          <a:stretch>
            <a:fillRect/>
          </a:stretch>
        </p:blipFill>
        <p:spPr>
          <a:xfrm>
            <a:off x="6632448" y="2525099"/>
            <a:ext cx="5917184" cy="4536508"/>
          </a:xfrm>
          <a:prstGeom prst="rect">
            <a:avLst/>
          </a:prstGeom>
          <a:ln w="9525">
            <a:solidFill>
              <a:srgbClr val="1F1F1F"/>
            </a:solidFill>
          </a:ln>
        </p:spPr>
      </p:pic>
      <p:sp>
        <p:nvSpPr>
          <p:cNvPr id="8" name="TextBox 7"/>
          <p:cNvSpPr txBox="1"/>
          <p:nvPr/>
        </p:nvSpPr>
        <p:spPr>
          <a:xfrm>
            <a:off x="455168" y="5454881"/>
            <a:ext cx="5917184" cy="415755"/>
          </a:xfrm>
          <a:prstGeom prst="rect">
            <a:avLst/>
          </a:prstGeom>
          <a:noFill/>
        </p:spPr>
        <p:txBody>
          <a:bodyPr wrap="square" lIns="0" tIns="0" rIns="0" bIns="0">
            <a:spAutoFit/>
          </a:bodyPr>
          <a:lstStyle/>
          <a:p>
            <a:r>
              <a:rPr sz="1351" dirty="0">
                <a:solidFill>
                  <a:srgbClr val="5B3F96"/>
                </a:solidFill>
                <a:latin typeface="Helvetica Neue"/>
              </a:rPr>
              <a:t>STEP 18 · AN8  </a:t>
            </a:r>
            <a:r>
              <a:rPr sz="1351" dirty="0">
                <a:solidFill>
                  <a:srgbClr val="595959"/>
                </a:solidFill>
                <a:latin typeface="Helvetica Neue Light"/>
              </a:rPr>
              <a:t>Weekly review: tighten, loosen or retire each watch, each previewed</a:t>
            </a:r>
          </a:p>
        </p:txBody>
      </p:sp>
      <p:sp>
        <p:nvSpPr>
          <p:cNvPr id="9" name="TextBox 8"/>
          <p:cNvSpPr txBox="1"/>
          <p:nvPr/>
        </p:nvSpPr>
        <p:spPr>
          <a:xfrm>
            <a:off x="6632448" y="7139636"/>
            <a:ext cx="5917184" cy="415755"/>
          </a:xfrm>
          <a:prstGeom prst="rect">
            <a:avLst/>
          </a:prstGeom>
          <a:noFill/>
        </p:spPr>
        <p:txBody>
          <a:bodyPr wrap="square" lIns="0" tIns="0" rIns="0" bIns="0">
            <a:spAutoFit/>
          </a:bodyPr>
          <a:lstStyle/>
          <a:p>
            <a:r>
              <a:rPr sz="1351">
                <a:solidFill>
                  <a:srgbClr val="5B3F96"/>
                </a:solidFill>
                <a:latin typeface="Helvetica Neue"/>
              </a:rPr>
              <a:t>STEP 19 · DB5  </a:t>
            </a:r>
            <a:r>
              <a:rPr sz="1351">
                <a:solidFill>
                  <a:srgbClr val="595959"/>
                </a:solidFill>
                <a:latin typeface="Helvetica Neue Light"/>
              </a:rPr>
              <a:t>Build the board: pin anything; cards suggested from his habits, asked once</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AI BEHAVIOR  </a:t>
            </a:r>
            <a:r>
              <a:rPr sz="1422">
                <a:solidFill>
                  <a:srgbClr val="1F1F1F"/>
                </a:solidFill>
                <a:latin typeface="Helvetica Neue Light"/>
              </a:rPr>
              <a:t>It can loosen as well as tighten (DOCN’s missed move); suggestions come only from his own usage.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Beyond Gary: Many portfolios, and both themes</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The same components and tokens serve an advisor and the Light theme.</a:t>
            </a:r>
          </a:p>
        </p:txBody>
      </p:sp>
      <p:pic>
        <p:nvPicPr>
          <p:cNvPr id="6" name="Picture 5" descr="A1-DB4-many-portfolios.png"/>
          <p:cNvPicPr>
            <a:picLocks noChangeAspect="1"/>
          </p:cNvPicPr>
          <p:nvPr/>
        </p:nvPicPr>
        <p:blipFill>
          <a:blip r:embed="rId4"/>
          <a:stretch>
            <a:fillRect/>
          </a:stretch>
        </p:blipFill>
        <p:spPr>
          <a:xfrm>
            <a:off x="455168" y="2522932"/>
            <a:ext cx="5917184" cy="3829733"/>
          </a:xfrm>
          <a:prstGeom prst="rect">
            <a:avLst/>
          </a:prstGeom>
          <a:ln w="9525">
            <a:solidFill>
              <a:srgbClr val="1F1F1F"/>
            </a:solidFill>
          </a:ln>
        </p:spPr>
      </p:pic>
      <p:pic>
        <p:nvPicPr>
          <p:cNvPr id="7" name="Picture 6" descr="A2-DB1-light-theme.png"/>
          <p:cNvPicPr>
            <a:picLocks noChangeAspect="1"/>
          </p:cNvPicPr>
          <p:nvPr/>
        </p:nvPicPr>
        <p:blipFill>
          <a:blip r:embed="rId5"/>
          <a:stretch>
            <a:fillRect/>
          </a:stretch>
        </p:blipFill>
        <p:spPr>
          <a:xfrm>
            <a:off x="6632448" y="2522931"/>
            <a:ext cx="5520404" cy="5071872"/>
          </a:xfrm>
          <a:prstGeom prst="rect">
            <a:avLst/>
          </a:prstGeom>
          <a:ln w="9525">
            <a:solidFill>
              <a:srgbClr val="1F1F1F"/>
            </a:solidFill>
          </a:ln>
        </p:spPr>
      </p:pic>
      <p:sp>
        <p:nvSpPr>
          <p:cNvPr id="8" name="TextBox 7"/>
          <p:cNvSpPr txBox="1"/>
          <p:nvPr/>
        </p:nvSpPr>
        <p:spPr>
          <a:xfrm>
            <a:off x="455168" y="6430692"/>
            <a:ext cx="5917184" cy="207877"/>
          </a:xfrm>
          <a:prstGeom prst="rect">
            <a:avLst/>
          </a:prstGeom>
          <a:noFill/>
        </p:spPr>
        <p:txBody>
          <a:bodyPr wrap="square" lIns="0" tIns="0" rIns="0" bIns="0">
            <a:spAutoFit/>
          </a:bodyPr>
          <a:lstStyle/>
          <a:p>
            <a:r>
              <a:rPr sz="1351">
                <a:solidFill>
                  <a:srgbClr val="5B3F96"/>
                </a:solidFill>
                <a:latin typeface="Helvetica Neue"/>
              </a:rPr>
              <a:t>DB4  </a:t>
            </a:r>
            <a:r>
              <a:rPr sz="1351">
                <a:solidFill>
                  <a:srgbClr val="595959"/>
                </a:solidFill>
                <a:latin typeface="Helvetica Neue Light"/>
              </a:rPr>
              <a:t>Multi Mike: 54 client portfolios, only the 6 that crossed one of his limits</a:t>
            </a:r>
          </a:p>
        </p:txBody>
      </p:sp>
      <p:sp>
        <p:nvSpPr>
          <p:cNvPr id="9" name="TextBox 8"/>
          <p:cNvSpPr txBox="1"/>
          <p:nvPr/>
        </p:nvSpPr>
        <p:spPr>
          <a:xfrm>
            <a:off x="6632448" y="7672833"/>
            <a:ext cx="5917184" cy="207877"/>
          </a:xfrm>
          <a:prstGeom prst="rect">
            <a:avLst/>
          </a:prstGeom>
          <a:noFill/>
        </p:spPr>
        <p:txBody>
          <a:bodyPr wrap="square" lIns="0" tIns="0" rIns="0" bIns="0">
            <a:spAutoFit/>
          </a:bodyPr>
          <a:lstStyle/>
          <a:p>
            <a:r>
              <a:rPr sz="1351">
                <a:solidFill>
                  <a:srgbClr val="5B3F96"/>
                </a:solidFill>
                <a:latin typeface="Helvetica Neue"/>
              </a:rPr>
              <a:t>DB1 · light  </a:t>
            </a:r>
            <a:r>
              <a:rPr sz="1351">
                <a:solidFill>
                  <a:srgbClr val="595959"/>
                </a:solidFill>
                <a:latin typeface="Helvetica Neue Light"/>
              </a:rPr>
              <a:t>Same screen in the Light variable mode; no redrawing</a:t>
            </a:r>
          </a:p>
        </p:txBody>
      </p:sp>
      <p:sp>
        <p:nvSpPr>
          <p:cNvPr id="10" name="Rectangle 9"/>
          <p:cNvSpPr/>
          <p:nvPr/>
        </p:nvSpPr>
        <p:spPr>
          <a:xfrm>
            <a:off x="455168" y="8388096"/>
            <a:ext cx="12094464" cy="650240"/>
          </a:xfrm>
          <a:prstGeom prst="rect">
            <a:avLst/>
          </a:prstGeom>
          <a:solidFill>
            <a:srgbClr val="F6F6F6"/>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95959"/>
                </a:solidFill>
                <a:latin typeface="Helvetica Neue"/>
              </a:rPr>
              <a:t>DESIGN SYSTEM  </a:t>
            </a:r>
            <a:r>
              <a:rPr sz="1422">
                <a:solidFill>
                  <a:srgbClr val="1F1F1F"/>
                </a:solidFill>
                <a:latin typeface="Helvetica Neue Light"/>
              </a:rPr>
              <a:t>Every value is a FinViz token; new IB components (badge, reason dots, session switcher, insight card) live in the library.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06 · Reasoning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Trade-offs and rejected alternatives</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The section that matters most: why the AI behaves the way it does.</a:t>
            </a:r>
          </a:p>
        </p:txBody>
      </p:sp>
      <p:sp>
        <p:nvSpPr>
          <p:cNvPr id="6" name="Rectangle 5"/>
          <p:cNvSpPr/>
          <p:nvPr/>
        </p:nvSpPr>
        <p:spPr>
          <a:xfrm>
            <a:off x="455168" y="2275840"/>
            <a:ext cx="12094464" cy="442163"/>
          </a:xfrm>
          <a:prstGeom prst="rect">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585215" y="2353870"/>
            <a:ext cx="3706368" cy="207877"/>
          </a:xfrm>
          <a:prstGeom prst="rect">
            <a:avLst/>
          </a:prstGeom>
          <a:noFill/>
        </p:spPr>
        <p:txBody>
          <a:bodyPr wrap="square" lIns="0" tIns="0" rIns="0" bIns="0">
            <a:spAutoFit/>
          </a:bodyPr>
          <a:lstStyle/>
          <a:p>
            <a:r>
              <a:rPr sz="1351">
                <a:solidFill>
                  <a:srgbClr val="FFFFFF"/>
                </a:solidFill>
                <a:latin typeface="Helvetica Neue"/>
              </a:rPr>
              <a:t>We chose</a:t>
            </a:r>
          </a:p>
        </p:txBody>
      </p:sp>
      <p:sp>
        <p:nvSpPr>
          <p:cNvPr id="8" name="TextBox 7"/>
          <p:cNvSpPr txBox="1"/>
          <p:nvPr/>
        </p:nvSpPr>
        <p:spPr>
          <a:xfrm>
            <a:off x="4356608" y="2353870"/>
            <a:ext cx="3511296" cy="207877"/>
          </a:xfrm>
          <a:prstGeom prst="rect">
            <a:avLst/>
          </a:prstGeom>
          <a:noFill/>
        </p:spPr>
        <p:txBody>
          <a:bodyPr wrap="square" lIns="0" tIns="0" rIns="0" bIns="0">
            <a:spAutoFit/>
          </a:bodyPr>
          <a:lstStyle/>
          <a:p>
            <a:r>
              <a:rPr sz="1351">
                <a:solidFill>
                  <a:srgbClr val="FFFFFF"/>
                </a:solidFill>
                <a:latin typeface="Helvetica Neue"/>
              </a:rPr>
              <a:t>We rejected</a:t>
            </a:r>
          </a:p>
        </p:txBody>
      </p:sp>
      <p:sp>
        <p:nvSpPr>
          <p:cNvPr id="9" name="TextBox 8"/>
          <p:cNvSpPr txBox="1"/>
          <p:nvPr/>
        </p:nvSpPr>
        <p:spPr>
          <a:xfrm>
            <a:off x="7932928" y="2353870"/>
            <a:ext cx="4746752" cy="207877"/>
          </a:xfrm>
          <a:prstGeom prst="rect">
            <a:avLst/>
          </a:prstGeom>
          <a:noFill/>
        </p:spPr>
        <p:txBody>
          <a:bodyPr wrap="square" lIns="0" tIns="0" rIns="0" bIns="0">
            <a:spAutoFit/>
          </a:bodyPr>
          <a:lstStyle/>
          <a:p>
            <a:r>
              <a:rPr sz="1351">
                <a:solidFill>
                  <a:srgbClr val="FFFFFF"/>
                </a:solidFill>
                <a:latin typeface="Helvetica Neue"/>
              </a:rPr>
              <a:t>Why</a:t>
            </a:r>
          </a:p>
        </p:txBody>
      </p:sp>
      <p:sp>
        <p:nvSpPr>
          <p:cNvPr id="10" name="Rectangle 9"/>
          <p:cNvSpPr/>
          <p:nvPr/>
        </p:nvSpPr>
        <p:spPr>
          <a:xfrm>
            <a:off x="455168" y="2757018"/>
            <a:ext cx="12094464" cy="6502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585215" y="2887066"/>
            <a:ext cx="3576320" cy="218842"/>
          </a:xfrm>
          <a:prstGeom prst="rect">
            <a:avLst/>
          </a:prstGeom>
          <a:noFill/>
        </p:spPr>
        <p:txBody>
          <a:bodyPr wrap="square" lIns="0" tIns="0" rIns="0" bIns="0">
            <a:spAutoFit/>
          </a:bodyPr>
          <a:lstStyle/>
          <a:p>
            <a:r>
              <a:rPr sz="1422">
                <a:solidFill>
                  <a:srgbClr val="1F1F1F"/>
                </a:solidFill>
                <a:latin typeface="Helvetica Neue"/>
              </a:rPr>
              <a:t>Examples → editable filter chips</a:t>
            </a:r>
          </a:p>
        </p:txBody>
      </p:sp>
      <p:sp>
        <p:nvSpPr>
          <p:cNvPr id="12" name="TextBox 11"/>
          <p:cNvSpPr txBox="1"/>
          <p:nvPr/>
        </p:nvSpPr>
        <p:spPr>
          <a:xfrm>
            <a:off x="4356608" y="2887066"/>
            <a:ext cx="3381248" cy="218842"/>
          </a:xfrm>
          <a:prstGeom prst="rect">
            <a:avLst/>
          </a:prstGeom>
          <a:noFill/>
        </p:spPr>
        <p:txBody>
          <a:bodyPr wrap="square" lIns="0" tIns="0" rIns="0" bIns="0">
            <a:spAutoFit/>
          </a:bodyPr>
          <a:lstStyle/>
          <a:p>
            <a:r>
              <a:rPr sz="1422">
                <a:solidFill>
                  <a:srgbClr val="A12A37"/>
                </a:solidFill>
                <a:latin typeface="Helvetica Neue Light"/>
              </a:rPr>
              <a:t>A chat box as the main way in</a:t>
            </a:r>
          </a:p>
        </p:txBody>
      </p:sp>
      <p:sp>
        <p:nvSpPr>
          <p:cNvPr id="13" name="TextBox 12"/>
          <p:cNvSpPr txBox="1"/>
          <p:nvPr/>
        </p:nvSpPr>
        <p:spPr>
          <a:xfrm>
            <a:off x="7932928" y="2887066"/>
            <a:ext cx="4616704" cy="437684"/>
          </a:xfrm>
          <a:prstGeom prst="rect">
            <a:avLst/>
          </a:prstGeom>
          <a:noFill/>
        </p:spPr>
        <p:txBody>
          <a:bodyPr wrap="square" lIns="0" tIns="0" rIns="0" bIns="0">
            <a:spAutoFit/>
          </a:bodyPr>
          <a:lstStyle/>
          <a:p>
            <a:r>
              <a:rPr sz="1422">
                <a:solidFill>
                  <a:srgbClr val="595959"/>
                </a:solidFill>
                <a:latin typeface="Helvetica Neue Light"/>
              </a:rPr>
              <a:t>Real tasks are ambiguous; chips can be inspected, edited and saved</a:t>
            </a:r>
          </a:p>
        </p:txBody>
      </p:sp>
      <p:sp>
        <p:nvSpPr>
          <p:cNvPr id="14" name="TextBox 13"/>
          <p:cNvSpPr txBox="1"/>
          <p:nvPr/>
        </p:nvSpPr>
        <p:spPr>
          <a:xfrm>
            <a:off x="585215" y="3563315"/>
            <a:ext cx="3576320" cy="218842"/>
          </a:xfrm>
          <a:prstGeom prst="rect">
            <a:avLst/>
          </a:prstGeom>
          <a:noFill/>
        </p:spPr>
        <p:txBody>
          <a:bodyPr wrap="square" lIns="0" tIns="0" rIns="0" bIns="0">
            <a:spAutoFit/>
          </a:bodyPr>
          <a:lstStyle/>
          <a:p>
            <a:r>
              <a:rPr sz="1422">
                <a:solidFill>
                  <a:srgbClr val="1F1F1F"/>
                </a:solidFill>
                <a:latin typeface="Helvetica Neue"/>
              </a:rPr>
              <a:t>Measurements; clear / borderline / abstain</a:t>
            </a:r>
          </a:p>
        </p:txBody>
      </p:sp>
      <p:sp>
        <p:nvSpPr>
          <p:cNvPr id="15" name="TextBox 14"/>
          <p:cNvSpPr txBox="1"/>
          <p:nvPr/>
        </p:nvSpPr>
        <p:spPr>
          <a:xfrm>
            <a:off x="4356608" y="3563315"/>
            <a:ext cx="3381248" cy="218842"/>
          </a:xfrm>
          <a:prstGeom prst="rect">
            <a:avLst/>
          </a:prstGeom>
          <a:noFill/>
        </p:spPr>
        <p:txBody>
          <a:bodyPr wrap="square" lIns="0" tIns="0" rIns="0" bIns="0">
            <a:spAutoFit/>
          </a:bodyPr>
          <a:lstStyle/>
          <a:p>
            <a:r>
              <a:rPr sz="1422">
                <a:solidFill>
                  <a:srgbClr val="A12A37"/>
                </a:solidFill>
                <a:latin typeface="Helvetica Neue Light"/>
              </a:rPr>
              <a:t>A confidence % on each detection</a:t>
            </a:r>
          </a:p>
        </p:txBody>
      </p:sp>
      <p:sp>
        <p:nvSpPr>
          <p:cNvPr id="16" name="TextBox 15"/>
          <p:cNvSpPr txBox="1"/>
          <p:nvPr/>
        </p:nvSpPr>
        <p:spPr>
          <a:xfrm>
            <a:off x="7932928" y="3563315"/>
            <a:ext cx="4616704" cy="437684"/>
          </a:xfrm>
          <a:prstGeom prst="rect">
            <a:avLst/>
          </a:prstGeom>
          <a:noFill/>
        </p:spPr>
        <p:txBody>
          <a:bodyPr wrap="square" lIns="0" tIns="0" rIns="0" bIns="0">
            <a:spAutoFit/>
          </a:bodyPr>
          <a:lstStyle/>
          <a:p>
            <a:r>
              <a:rPr sz="1422">
                <a:solidFill>
                  <a:srgbClr val="595959"/>
                </a:solidFill>
                <a:latin typeface="Helvetica Neue Light"/>
              </a:rPr>
              <a:t>A number implies precision we can’t guarantee; measurements can be checked</a:t>
            </a:r>
          </a:p>
        </p:txBody>
      </p:sp>
      <p:sp>
        <p:nvSpPr>
          <p:cNvPr id="17" name="Rectangle 16"/>
          <p:cNvSpPr/>
          <p:nvPr/>
        </p:nvSpPr>
        <p:spPr>
          <a:xfrm>
            <a:off x="455168" y="4109517"/>
            <a:ext cx="12094464" cy="6502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8" name="TextBox 17"/>
          <p:cNvSpPr txBox="1"/>
          <p:nvPr/>
        </p:nvSpPr>
        <p:spPr>
          <a:xfrm>
            <a:off x="585215" y="4239565"/>
            <a:ext cx="3576320" cy="218842"/>
          </a:xfrm>
          <a:prstGeom prst="rect">
            <a:avLst/>
          </a:prstGeom>
          <a:noFill/>
        </p:spPr>
        <p:txBody>
          <a:bodyPr wrap="square" lIns="0" tIns="0" rIns="0" bIns="0">
            <a:spAutoFit/>
          </a:bodyPr>
          <a:lstStyle/>
          <a:p>
            <a:r>
              <a:rPr sz="1422">
                <a:solidFill>
                  <a:srgbClr val="1F1F1F"/>
                </a:solidFill>
                <a:latin typeface="Helvetica Neue"/>
              </a:rPr>
              <a:t>Verify the trader’s own reasons</a:t>
            </a:r>
          </a:p>
        </p:txBody>
      </p:sp>
      <p:sp>
        <p:nvSpPr>
          <p:cNvPr id="19" name="TextBox 18"/>
          <p:cNvSpPr txBox="1"/>
          <p:nvPr/>
        </p:nvSpPr>
        <p:spPr>
          <a:xfrm>
            <a:off x="4356608" y="4239565"/>
            <a:ext cx="3381248" cy="218842"/>
          </a:xfrm>
          <a:prstGeom prst="rect">
            <a:avLst/>
          </a:prstGeom>
          <a:noFill/>
        </p:spPr>
        <p:txBody>
          <a:bodyPr wrap="square" lIns="0" tIns="0" rIns="0" bIns="0">
            <a:spAutoFit/>
          </a:bodyPr>
          <a:lstStyle/>
          <a:p>
            <a:r>
              <a:rPr sz="1422">
                <a:solidFill>
                  <a:srgbClr val="A12A37"/>
                </a:solidFill>
                <a:latin typeface="Helvetica Neue Light"/>
              </a:rPr>
              <a:t>AI buy/sell calls, “top picks”, scores</a:t>
            </a:r>
          </a:p>
        </p:txBody>
      </p:sp>
      <p:sp>
        <p:nvSpPr>
          <p:cNvPr id="20" name="TextBox 19"/>
          <p:cNvSpPr txBox="1"/>
          <p:nvPr/>
        </p:nvSpPr>
        <p:spPr>
          <a:xfrm>
            <a:off x="7932928" y="4239565"/>
            <a:ext cx="4616704" cy="218842"/>
          </a:xfrm>
          <a:prstGeom prst="rect">
            <a:avLst/>
          </a:prstGeom>
          <a:noFill/>
        </p:spPr>
        <p:txBody>
          <a:bodyPr wrap="square" lIns="0" tIns="0" rIns="0" bIns="0">
            <a:spAutoFit/>
          </a:bodyPr>
          <a:lstStyle/>
          <a:p>
            <a:r>
              <a:rPr sz="1422">
                <a:solidFill>
                  <a:srgbClr val="595959"/>
                </a:solidFill>
                <a:latin typeface="Helvetica Neue Light"/>
              </a:rPr>
              <a:t>Compliance and trust; only attributed third-party views</a:t>
            </a:r>
          </a:p>
        </p:txBody>
      </p:sp>
      <p:sp>
        <p:nvSpPr>
          <p:cNvPr id="21" name="TextBox 20"/>
          <p:cNvSpPr txBox="1"/>
          <p:nvPr/>
        </p:nvSpPr>
        <p:spPr>
          <a:xfrm>
            <a:off x="585215" y="4915814"/>
            <a:ext cx="3576320" cy="218842"/>
          </a:xfrm>
          <a:prstGeom prst="rect">
            <a:avLst/>
          </a:prstGeom>
          <a:noFill/>
        </p:spPr>
        <p:txBody>
          <a:bodyPr wrap="square" lIns="0" tIns="0" rIns="0" bIns="0">
            <a:spAutoFit/>
          </a:bodyPr>
          <a:lstStyle/>
          <a:p>
            <a:r>
              <a:rPr sz="1422">
                <a:solidFill>
                  <a:srgbClr val="1F1F1F"/>
                </a:solidFill>
                <a:latin typeface="Helvetica Neue"/>
              </a:rPr>
              <a:t>One reason-first alert in quiet hours</a:t>
            </a:r>
          </a:p>
        </p:txBody>
      </p:sp>
      <p:sp>
        <p:nvSpPr>
          <p:cNvPr id="22" name="TextBox 21"/>
          <p:cNvSpPr txBox="1"/>
          <p:nvPr/>
        </p:nvSpPr>
        <p:spPr>
          <a:xfrm>
            <a:off x="4356608" y="4915814"/>
            <a:ext cx="3381248" cy="218842"/>
          </a:xfrm>
          <a:prstGeom prst="rect">
            <a:avLst/>
          </a:prstGeom>
          <a:noFill/>
        </p:spPr>
        <p:txBody>
          <a:bodyPr wrap="square" lIns="0" tIns="0" rIns="0" bIns="0">
            <a:spAutoFit/>
          </a:bodyPr>
          <a:lstStyle/>
          <a:p>
            <a:r>
              <a:rPr sz="1422">
                <a:solidFill>
                  <a:srgbClr val="A12A37"/>
                </a:solidFill>
                <a:latin typeface="Helvetica Neue Light"/>
              </a:rPr>
              <a:t>A live stream of every signal</a:t>
            </a:r>
          </a:p>
        </p:txBody>
      </p:sp>
      <p:sp>
        <p:nvSpPr>
          <p:cNvPr id="23" name="TextBox 22"/>
          <p:cNvSpPr txBox="1"/>
          <p:nvPr/>
        </p:nvSpPr>
        <p:spPr>
          <a:xfrm>
            <a:off x="7932928" y="4915814"/>
            <a:ext cx="4616704" cy="218842"/>
          </a:xfrm>
          <a:prstGeom prst="rect">
            <a:avLst/>
          </a:prstGeom>
          <a:noFill/>
        </p:spPr>
        <p:txBody>
          <a:bodyPr wrap="square" lIns="0" tIns="0" rIns="0" bIns="0">
            <a:spAutoFit/>
          </a:bodyPr>
          <a:lstStyle/>
          <a:p>
            <a:r>
              <a:rPr sz="1422">
                <a:solidFill>
                  <a:srgbClr val="595959"/>
                </a:solidFill>
                <a:latin typeface="Helvetica Neue Light"/>
              </a:rPr>
              <a:t>Alert fatigue kills the habit; replay shows the cost first</a:t>
            </a:r>
          </a:p>
        </p:txBody>
      </p:sp>
      <p:sp>
        <p:nvSpPr>
          <p:cNvPr id="24" name="Rectangle 23"/>
          <p:cNvSpPr/>
          <p:nvPr/>
        </p:nvSpPr>
        <p:spPr>
          <a:xfrm>
            <a:off x="455168" y="5462016"/>
            <a:ext cx="12094464" cy="6502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5" name="TextBox 24"/>
          <p:cNvSpPr txBox="1"/>
          <p:nvPr/>
        </p:nvSpPr>
        <p:spPr>
          <a:xfrm>
            <a:off x="585215" y="5592064"/>
            <a:ext cx="3576320" cy="218842"/>
          </a:xfrm>
          <a:prstGeom prst="rect">
            <a:avLst/>
          </a:prstGeom>
          <a:noFill/>
        </p:spPr>
        <p:txBody>
          <a:bodyPr wrap="square" lIns="0" tIns="0" rIns="0" bIns="0">
            <a:spAutoFit/>
          </a:bodyPr>
          <a:lstStyle/>
          <a:p>
            <a:r>
              <a:rPr sz="1422">
                <a:solidFill>
                  <a:srgbClr val="1F1F1F"/>
                </a:solidFill>
                <a:latin typeface="Helvetica Neue"/>
              </a:rPr>
              <a:t>Propose rule changes; apply on accept</a:t>
            </a:r>
          </a:p>
        </p:txBody>
      </p:sp>
      <p:sp>
        <p:nvSpPr>
          <p:cNvPr id="26" name="TextBox 25"/>
          <p:cNvSpPr txBox="1"/>
          <p:nvPr/>
        </p:nvSpPr>
        <p:spPr>
          <a:xfrm>
            <a:off x="4356608" y="5592064"/>
            <a:ext cx="3381248" cy="218842"/>
          </a:xfrm>
          <a:prstGeom prst="rect">
            <a:avLst/>
          </a:prstGeom>
          <a:noFill/>
        </p:spPr>
        <p:txBody>
          <a:bodyPr wrap="square" lIns="0" tIns="0" rIns="0" bIns="0">
            <a:spAutoFit/>
          </a:bodyPr>
          <a:lstStyle/>
          <a:p>
            <a:r>
              <a:rPr sz="1422">
                <a:solidFill>
                  <a:srgbClr val="A12A37"/>
                </a:solidFill>
                <a:latin typeface="Helvetica Neue Light"/>
              </a:rPr>
              <a:t>Silent auto-tuning</a:t>
            </a:r>
          </a:p>
        </p:txBody>
      </p:sp>
      <p:sp>
        <p:nvSpPr>
          <p:cNvPr id="27" name="TextBox 26"/>
          <p:cNvSpPr txBox="1"/>
          <p:nvPr/>
        </p:nvSpPr>
        <p:spPr>
          <a:xfrm>
            <a:off x="7932928" y="5592064"/>
            <a:ext cx="4616704" cy="218842"/>
          </a:xfrm>
          <a:prstGeom prst="rect">
            <a:avLst/>
          </a:prstGeom>
          <a:noFill/>
        </p:spPr>
        <p:txBody>
          <a:bodyPr wrap="square" lIns="0" tIns="0" rIns="0" bIns="0">
            <a:spAutoFit/>
          </a:bodyPr>
          <a:lstStyle/>
          <a:p>
            <a:r>
              <a:rPr sz="1422">
                <a:solidFill>
                  <a:srgbClr val="595959"/>
                </a:solidFill>
                <a:latin typeface="Helvetica Neue Light"/>
              </a:rPr>
              <a:t>He keeps control; every change announced, with Undo</a:t>
            </a:r>
          </a:p>
        </p:txBody>
      </p:sp>
      <p:sp>
        <p:nvSpPr>
          <p:cNvPr id="28" name="TextBox 27"/>
          <p:cNvSpPr txBox="1"/>
          <p:nvPr/>
        </p:nvSpPr>
        <p:spPr>
          <a:xfrm>
            <a:off x="585215" y="6268314"/>
            <a:ext cx="3576320" cy="218842"/>
          </a:xfrm>
          <a:prstGeom prst="rect">
            <a:avLst/>
          </a:prstGeom>
          <a:noFill/>
        </p:spPr>
        <p:txBody>
          <a:bodyPr wrap="square" lIns="0" tIns="0" rIns="0" bIns="0">
            <a:spAutoFit/>
          </a:bodyPr>
          <a:lstStyle/>
          <a:p>
            <a:r>
              <a:rPr sz="1422">
                <a:solidFill>
                  <a:srgbClr val="1F1F1F"/>
                </a:solidFill>
                <a:latin typeface="Helvetica Neue"/>
              </a:rPr>
              <a:t>A bounded agent on his names only</a:t>
            </a:r>
          </a:p>
        </p:txBody>
      </p:sp>
      <p:sp>
        <p:nvSpPr>
          <p:cNvPr id="29" name="TextBox 28"/>
          <p:cNvSpPr txBox="1"/>
          <p:nvPr/>
        </p:nvSpPr>
        <p:spPr>
          <a:xfrm>
            <a:off x="4356608" y="6268314"/>
            <a:ext cx="3381248" cy="218842"/>
          </a:xfrm>
          <a:prstGeom prst="rect">
            <a:avLst/>
          </a:prstGeom>
          <a:noFill/>
        </p:spPr>
        <p:txBody>
          <a:bodyPr wrap="square" lIns="0" tIns="0" rIns="0" bIns="0">
            <a:spAutoFit/>
          </a:bodyPr>
          <a:lstStyle/>
          <a:p>
            <a:r>
              <a:rPr sz="1422">
                <a:solidFill>
                  <a:srgbClr val="A12A37"/>
                </a:solidFill>
                <a:latin typeface="Helvetica Neue Light"/>
              </a:rPr>
              <a:t>An open-ended research agent</a:t>
            </a:r>
          </a:p>
        </p:txBody>
      </p:sp>
      <p:sp>
        <p:nvSpPr>
          <p:cNvPr id="30" name="TextBox 29"/>
          <p:cNvSpPr txBox="1"/>
          <p:nvPr/>
        </p:nvSpPr>
        <p:spPr>
          <a:xfrm>
            <a:off x="7932928" y="6268314"/>
            <a:ext cx="4616704" cy="218842"/>
          </a:xfrm>
          <a:prstGeom prst="rect">
            <a:avLst/>
          </a:prstGeom>
          <a:noFill/>
        </p:spPr>
        <p:txBody>
          <a:bodyPr wrap="square" lIns="0" tIns="0" rIns="0" bIns="0">
            <a:spAutoFit/>
          </a:bodyPr>
          <a:lstStyle/>
          <a:p>
            <a:r>
              <a:rPr sz="1422">
                <a:solidFill>
                  <a:srgbClr val="595959"/>
                </a:solidFill>
                <a:latin typeface="Helvetica Neue Light"/>
              </a:rPr>
              <a:t>Limits cost, hallucination surface and privacy exposure</a:t>
            </a:r>
          </a:p>
        </p:txBody>
      </p:sp>
      <p:sp>
        <p:nvSpPr>
          <p:cNvPr id="31" name="Rectangle 30"/>
          <p:cNvSpPr/>
          <p:nvPr/>
        </p:nvSpPr>
        <p:spPr>
          <a:xfrm>
            <a:off x="455168" y="6814515"/>
            <a:ext cx="12094464" cy="6502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2" name="TextBox 31"/>
          <p:cNvSpPr txBox="1"/>
          <p:nvPr/>
        </p:nvSpPr>
        <p:spPr>
          <a:xfrm>
            <a:off x="585215" y="6944563"/>
            <a:ext cx="3576320" cy="218842"/>
          </a:xfrm>
          <a:prstGeom prst="rect">
            <a:avLst/>
          </a:prstGeom>
          <a:noFill/>
        </p:spPr>
        <p:txBody>
          <a:bodyPr wrap="square" lIns="0" tIns="0" rIns="0" bIns="0">
            <a:spAutoFit/>
          </a:bodyPr>
          <a:lstStyle/>
          <a:p>
            <a:r>
              <a:rPr sz="1422">
                <a:solidFill>
                  <a:srgbClr val="1F1F1F"/>
                </a:solidFill>
                <a:latin typeface="Helvetica Neue"/>
              </a:rPr>
              <a:t>Neutral “Clear”, amber “Borderline”</a:t>
            </a:r>
          </a:p>
        </p:txBody>
      </p:sp>
      <p:sp>
        <p:nvSpPr>
          <p:cNvPr id="33" name="TextBox 32"/>
          <p:cNvSpPr txBox="1"/>
          <p:nvPr/>
        </p:nvSpPr>
        <p:spPr>
          <a:xfrm>
            <a:off x="4356608" y="6944563"/>
            <a:ext cx="3381248" cy="218842"/>
          </a:xfrm>
          <a:prstGeom prst="rect">
            <a:avLst/>
          </a:prstGeom>
          <a:noFill/>
        </p:spPr>
        <p:txBody>
          <a:bodyPr wrap="square" lIns="0" tIns="0" rIns="0" bIns="0">
            <a:spAutoFit/>
          </a:bodyPr>
          <a:lstStyle/>
          <a:p>
            <a:r>
              <a:rPr sz="1422">
                <a:solidFill>
                  <a:srgbClr val="A12A37"/>
                </a:solidFill>
                <a:latin typeface="Helvetica Neue Light"/>
              </a:rPr>
              <a:t>Green for “Clear”</a:t>
            </a:r>
          </a:p>
        </p:txBody>
      </p:sp>
      <p:sp>
        <p:nvSpPr>
          <p:cNvPr id="34" name="TextBox 33"/>
          <p:cNvSpPr txBox="1"/>
          <p:nvPr/>
        </p:nvSpPr>
        <p:spPr>
          <a:xfrm>
            <a:off x="7932928" y="6944563"/>
            <a:ext cx="4616704" cy="218842"/>
          </a:xfrm>
          <a:prstGeom prst="rect">
            <a:avLst/>
          </a:prstGeom>
          <a:noFill/>
        </p:spPr>
        <p:txBody>
          <a:bodyPr wrap="square" lIns="0" tIns="0" rIns="0" bIns="0">
            <a:spAutoFit/>
          </a:bodyPr>
          <a:lstStyle/>
          <a:p>
            <a:r>
              <a:rPr sz="1422">
                <a:solidFill>
                  <a:srgbClr val="595959"/>
                </a:solidFill>
                <a:latin typeface="Helvetica Neue Light"/>
              </a:rPr>
              <a:t>Green means price up, nothing else</a:t>
            </a:r>
          </a:p>
        </p:txBody>
      </p:sp>
      <p:sp>
        <p:nvSpPr>
          <p:cNvPr id="35" name="TextBox 34"/>
          <p:cNvSpPr txBox="1"/>
          <p:nvPr/>
        </p:nvSpPr>
        <p:spPr>
          <a:xfrm>
            <a:off x="585215" y="7620811"/>
            <a:ext cx="3576320" cy="218842"/>
          </a:xfrm>
          <a:prstGeom prst="rect">
            <a:avLst/>
          </a:prstGeom>
          <a:noFill/>
        </p:spPr>
        <p:txBody>
          <a:bodyPr wrap="square" lIns="0" tIns="0" rIns="0" bIns="0">
            <a:spAutoFit/>
          </a:bodyPr>
          <a:lstStyle/>
          <a:p>
            <a:r>
              <a:rPr sz="1422">
                <a:solidFill>
                  <a:srgbClr val="1F1F1F"/>
                </a:solidFill>
                <a:latin typeface="Helvetica Neue"/>
              </a:rPr>
              <a:t>Desktop first</a:t>
            </a:r>
          </a:p>
        </p:txBody>
      </p:sp>
      <p:sp>
        <p:nvSpPr>
          <p:cNvPr id="36" name="TextBox 35"/>
          <p:cNvSpPr txBox="1"/>
          <p:nvPr/>
        </p:nvSpPr>
        <p:spPr>
          <a:xfrm>
            <a:off x="4356608" y="7620811"/>
            <a:ext cx="3381248" cy="218842"/>
          </a:xfrm>
          <a:prstGeom prst="rect">
            <a:avLst/>
          </a:prstGeom>
          <a:noFill/>
        </p:spPr>
        <p:txBody>
          <a:bodyPr wrap="square" lIns="0" tIns="0" rIns="0" bIns="0">
            <a:spAutoFit/>
          </a:bodyPr>
          <a:lstStyle/>
          <a:p>
            <a:r>
              <a:rPr sz="1422">
                <a:solidFill>
                  <a:srgbClr val="A12A37"/>
                </a:solidFill>
                <a:latin typeface="Helvetica Neue Light"/>
              </a:rPr>
              <a:t>Mobile in release 1</a:t>
            </a:r>
          </a:p>
        </p:txBody>
      </p:sp>
      <p:sp>
        <p:nvSpPr>
          <p:cNvPr id="37" name="TextBox 36"/>
          <p:cNvSpPr txBox="1"/>
          <p:nvPr/>
        </p:nvSpPr>
        <p:spPr>
          <a:xfrm>
            <a:off x="7932928" y="7620811"/>
            <a:ext cx="4616704" cy="437684"/>
          </a:xfrm>
          <a:prstGeom prst="rect">
            <a:avLst/>
          </a:prstGeom>
          <a:noFill/>
        </p:spPr>
        <p:txBody>
          <a:bodyPr wrap="square" lIns="0" tIns="0" rIns="0" bIns="0">
            <a:spAutoFit/>
          </a:bodyPr>
          <a:lstStyle/>
          <a:p>
            <a:r>
              <a:rPr sz="1422">
                <a:solidFill>
                  <a:srgbClr val="595959"/>
                </a:solidFill>
                <a:latin typeface="Helvetica Neue Light"/>
              </a:rPr>
              <a:t>The screener lives on desktop; mobile deferred, not dropped</a:t>
            </a:r>
          </a:p>
        </p:txBody>
      </p:sp>
      <p:sp>
        <p:nvSpPr>
          <p:cNvPr id="38" name="Rectangle 37"/>
          <p:cNvSpPr/>
          <p:nvPr/>
        </p:nvSpPr>
        <p:spPr>
          <a:xfrm>
            <a:off x="455168" y="8323072"/>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9" name="TextBox 38"/>
          <p:cNvSpPr txBox="1"/>
          <p:nvPr/>
        </p:nvSpPr>
        <p:spPr>
          <a:xfrm>
            <a:off x="650240" y="8453120"/>
            <a:ext cx="11704320" cy="218842"/>
          </a:xfrm>
          <a:prstGeom prst="rect">
            <a:avLst/>
          </a:prstGeom>
          <a:noFill/>
        </p:spPr>
        <p:txBody>
          <a:bodyPr wrap="square" lIns="0" tIns="0" rIns="0" bIns="0">
            <a:spAutoFit/>
          </a:bodyPr>
          <a:lstStyle/>
          <a:p>
            <a:r>
              <a:rPr sz="1351">
                <a:solidFill>
                  <a:srgbClr val="5B3F96"/>
                </a:solidFill>
                <a:latin typeface="Helvetica Neue"/>
              </a:rPr>
              <a:t>ACCURACY VS CONTROL  </a:t>
            </a:r>
            <a:r>
              <a:rPr sz="1422">
                <a:solidFill>
                  <a:srgbClr val="1F1F1F"/>
                </a:solidFill>
                <a:latin typeface="Helvetica Neue Light"/>
              </a:rPr>
              <a:t>When the model is unsure, the product shows less and asks more. Borderline findings stay visible but never interrupt.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06 · Reasoning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3413" dirty="0">
                <a:solidFill>
                  <a:srgbClr val="1F1F1F"/>
                </a:solidFill>
                <a:latin typeface="Helvetica Neue Light" pitchFamily="34" charset="0"/>
                <a:ea typeface="Helvetica Neue Light" pitchFamily="34" charset="-122"/>
                <a:cs typeface="Helvetica Neue Light" pitchFamily="34" charset="-120"/>
              </a:rPr>
              <a:t>Eight design lead calls that changed the work</a:t>
            </a:r>
            <a:endParaRPr lang="en-US" sz="3413" dirty="0"/>
          </a:p>
        </p:txBody>
      </p:sp>
      <p:sp>
        <p:nvSpPr>
          <p:cNvPr id="4" name="Shape 2"/>
          <p:cNvSpPr/>
          <p:nvPr/>
        </p:nvSpPr>
        <p:spPr>
          <a:xfrm>
            <a:off x="650240" y="3108147"/>
            <a:ext cx="11704320" cy="0"/>
          </a:xfrm>
          <a:prstGeom prst="line">
            <a:avLst/>
          </a:prstGeom>
          <a:noFill/>
          <a:ln w="19050">
            <a:solidFill>
              <a:srgbClr val="C45A35"/>
            </a:solidFill>
            <a:prstDash val="solid"/>
          </a:ln>
        </p:spPr>
        <p:txBody>
          <a:bodyPr/>
          <a:lstStyle/>
          <a:p>
            <a:endParaRPr sz="2560"/>
          </a:p>
        </p:txBody>
      </p:sp>
      <p:sp>
        <p:nvSpPr>
          <p:cNvPr id="5" name="Shape 3"/>
          <p:cNvSpPr/>
          <p:nvPr/>
        </p:nvSpPr>
        <p:spPr>
          <a:xfrm>
            <a:off x="520192"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6" name="Text 4"/>
          <p:cNvSpPr txBox="1"/>
          <p:nvPr/>
        </p:nvSpPr>
        <p:spPr>
          <a:xfrm>
            <a:off x="455168"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7" name="Text 5"/>
          <p:cNvSpPr txBox="1"/>
          <p:nvPr/>
        </p:nvSpPr>
        <p:spPr>
          <a:xfrm>
            <a:off x="455168"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1</a:t>
            </a:r>
            <a:endParaRPr lang="en-US" sz="3698" dirty="0"/>
          </a:p>
        </p:txBody>
      </p:sp>
      <p:sp>
        <p:nvSpPr>
          <p:cNvPr id="8" name="Text 6"/>
          <p:cNvSpPr txBox="1"/>
          <p:nvPr/>
        </p:nvSpPr>
        <p:spPr>
          <a:xfrm>
            <a:off x="455168"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Map today’s onboarding before designing</a:t>
            </a:r>
            <a:endParaRPr lang="en-US" sz="1564" dirty="0"/>
          </a:p>
        </p:txBody>
      </p:sp>
      <p:sp>
        <p:nvSpPr>
          <p:cNvPr id="9" name="Shape 7"/>
          <p:cNvSpPr/>
          <p:nvPr/>
        </p:nvSpPr>
        <p:spPr>
          <a:xfrm>
            <a:off x="2041754"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0" name="Text 8"/>
          <p:cNvSpPr txBox="1"/>
          <p:nvPr/>
        </p:nvSpPr>
        <p:spPr>
          <a:xfrm>
            <a:off x="1976730"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11" name="Text 9"/>
          <p:cNvSpPr txBox="1"/>
          <p:nvPr/>
        </p:nvSpPr>
        <p:spPr>
          <a:xfrm>
            <a:off x="1976730"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2</a:t>
            </a:r>
            <a:endParaRPr lang="en-US" sz="3698" dirty="0"/>
          </a:p>
        </p:txBody>
      </p:sp>
      <p:sp>
        <p:nvSpPr>
          <p:cNvPr id="12" name="Text 10"/>
          <p:cNvSpPr txBox="1"/>
          <p:nvPr/>
        </p:nvSpPr>
        <p:spPr>
          <a:xfrm>
            <a:off x="1976730"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Desktop only, for now</a:t>
            </a:r>
            <a:endParaRPr lang="en-US" sz="1564" dirty="0"/>
          </a:p>
        </p:txBody>
      </p:sp>
      <p:sp>
        <p:nvSpPr>
          <p:cNvPr id="13" name="Shape 11"/>
          <p:cNvSpPr/>
          <p:nvPr/>
        </p:nvSpPr>
        <p:spPr>
          <a:xfrm>
            <a:off x="3563315"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4" name="Text 12"/>
          <p:cNvSpPr txBox="1"/>
          <p:nvPr/>
        </p:nvSpPr>
        <p:spPr>
          <a:xfrm>
            <a:off x="3498291"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15" name="Text 13"/>
          <p:cNvSpPr txBox="1"/>
          <p:nvPr/>
        </p:nvSpPr>
        <p:spPr>
          <a:xfrm>
            <a:off x="3498291"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3</a:t>
            </a:r>
            <a:endParaRPr lang="en-US" sz="3698" dirty="0"/>
          </a:p>
        </p:txBody>
      </p:sp>
      <p:sp>
        <p:nvSpPr>
          <p:cNvPr id="16" name="Text 14"/>
          <p:cNvSpPr txBox="1"/>
          <p:nvPr/>
        </p:nvSpPr>
        <p:spPr>
          <a:xfrm>
            <a:off x="3498291"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One design for first-time and repeat users</a:t>
            </a:r>
            <a:endParaRPr lang="en-US" sz="1564" dirty="0"/>
          </a:p>
        </p:txBody>
      </p:sp>
      <p:sp>
        <p:nvSpPr>
          <p:cNvPr id="17" name="Shape 15"/>
          <p:cNvSpPr/>
          <p:nvPr/>
        </p:nvSpPr>
        <p:spPr>
          <a:xfrm>
            <a:off x="5084877"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8" name="Text 16"/>
          <p:cNvSpPr txBox="1"/>
          <p:nvPr/>
        </p:nvSpPr>
        <p:spPr>
          <a:xfrm>
            <a:off x="5019853"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24</a:t>
            </a:r>
            <a:endParaRPr lang="en-US" sz="1564" dirty="0"/>
          </a:p>
        </p:txBody>
      </p:sp>
      <p:sp>
        <p:nvSpPr>
          <p:cNvPr id="19" name="Text 17"/>
          <p:cNvSpPr txBox="1"/>
          <p:nvPr/>
        </p:nvSpPr>
        <p:spPr>
          <a:xfrm>
            <a:off x="5019853"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4</a:t>
            </a:r>
            <a:endParaRPr lang="en-US" sz="3698" dirty="0"/>
          </a:p>
        </p:txBody>
      </p:sp>
      <p:sp>
        <p:nvSpPr>
          <p:cNvPr id="20" name="Text 18"/>
          <p:cNvSpPr txBox="1"/>
          <p:nvPr/>
        </p:nvSpPr>
        <p:spPr>
          <a:xfrm>
            <a:off x="5019853"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Remove real frictions with new AI models</a:t>
            </a:r>
            <a:endParaRPr lang="en-US" sz="1564" dirty="0"/>
          </a:p>
        </p:txBody>
      </p:sp>
      <p:sp>
        <p:nvSpPr>
          <p:cNvPr id="21" name="Shape 19"/>
          <p:cNvSpPr/>
          <p:nvPr/>
        </p:nvSpPr>
        <p:spPr>
          <a:xfrm>
            <a:off x="6606438" y="2939085"/>
            <a:ext cx="338125" cy="338125"/>
          </a:xfrm>
          <a:prstGeom prst="ellipse">
            <a:avLst/>
          </a:prstGeom>
          <a:solidFill>
            <a:srgbClr val="00868B"/>
          </a:solidFill>
          <a:ln w="19050">
            <a:solidFill>
              <a:srgbClr val="FFFFFF"/>
            </a:solidFill>
            <a:prstDash val="solid"/>
          </a:ln>
        </p:spPr>
        <p:txBody>
          <a:bodyPr/>
          <a:lstStyle/>
          <a:p>
            <a:endParaRPr sz="2560"/>
          </a:p>
        </p:txBody>
      </p:sp>
      <p:sp>
        <p:nvSpPr>
          <p:cNvPr id="22" name="Text 20"/>
          <p:cNvSpPr txBox="1"/>
          <p:nvPr/>
        </p:nvSpPr>
        <p:spPr>
          <a:xfrm>
            <a:off x="6541414"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23" name="Text 21"/>
          <p:cNvSpPr txBox="1"/>
          <p:nvPr/>
        </p:nvSpPr>
        <p:spPr>
          <a:xfrm>
            <a:off x="6541414" y="3628339"/>
            <a:ext cx="1300480" cy="650240"/>
          </a:xfrm>
          <a:prstGeom prst="rect">
            <a:avLst/>
          </a:prstGeom>
          <a:noFill/>
          <a:ln/>
        </p:spPr>
        <p:txBody>
          <a:bodyPr wrap="square" lIns="0" tIns="0" rIns="0" bIns="0" rtlCol="0" anchor="t"/>
          <a:lstStyle/>
          <a:p>
            <a:r>
              <a:rPr lang="en-US" sz="3698" dirty="0">
                <a:solidFill>
                  <a:srgbClr val="00868B"/>
                </a:solidFill>
                <a:latin typeface="Helvetica Neue Light" pitchFamily="34" charset="0"/>
                <a:ea typeface="Helvetica Neue Light" pitchFamily="34" charset="-122"/>
                <a:cs typeface="Helvetica Neue Light" pitchFamily="34" charset="-120"/>
              </a:rPr>
              <a:t>5</a:t>
            </a:r>
            <a:endParaRPr lang="en-US" sz="3698" dirty="0"/>
          </a:p>
        </p:txBody>
      </p:sp>
      <p:sp>
        <p:nvSpPr>
          <p:cNvPr id="24" name="Text 22"/>
          <p:cNvSpPr txBox="1"/>
          <p:nvPr/>
        </p:nvSpPr>
        <p:spPr>
          <a:xfrm>
            <a:off x="6541414"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Optimize time to first success; no chat box first</a:t>
            </a:r>
            <a:endParaRPr lang="en-US" sz="1564" dirty="0"/>
          </a:p>
        </p:txBody>
      </p:sp>
      <p:sp>
        <p:nvSpPr>
          <p:cNvPr id="25" name="Shape 23"/>
          <p:cNvSpPr/>
          <p:nvPr/>
        </p:nvSpPr>
        <p:spPr>
          <a:xfrm>
            <a:off x="8128000"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26" name="Text 24"/>
          <p:cNvSpPr txBox="1"/>
          <p:nvPr/>
        </p:nvSpPr>
        <p:spPr>
          <a:xfrm>
            <a:off x="8062976"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27" name="Text 25"/>
          <p:cNvSpPr txBox="1"/>
          <p:nvPr/>
        </p:nvSpPr>
        <p:spPr>
          <a:xfrm>
            <a:off x="8062976"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6</a:t>
            </a:r>
            <a:endParaRPr lang="en-US" sz="3698" dirty="0"/>
          </a:p>
        </p:txBody>
      </p:sp>
      <p:sp>
        <p:nvSpPr>
          <p:cNvPr id="28" name="Text 26"/>
          <p:cNvSpPr txBox="1"/>
          <p:nvPr/>
        </p:nvSpPr>
        <p:spPr>
          <a:xfrm>
            <a:off x="8062976"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Set the advice line, pending compliance</a:t>
            </a:r>
            <a:endParaRPr lang="en-US" sz="1564" dirty="0"/>
          </a:p>
        </p:txBody>
      </p:sp>
      <p:sp>
        <p:nvSpPr>
          <p:cNvPr id="29" name="Shape 27"/>
          <p:cNvSpPr/>
          <p:nvPr/>
        </p:nvSpPr>
        <p:spPr>
          <a:xfrm>
            <a:off x="9649562"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30" name="Text 28"/>
          <p:cNvSpPr txBox="1"/>
          <p:nvPr/>
        </p:nvSpPr>
        <p:spPr>
          <a:xfrm>
            <a:off x="9584538"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31" name="Text 29"/>
          <p:cNvSpPr txBox="1"/>
          <p:nvPr/>
        </p:nvSpPr>
        <p:spPr>
          <a:xfrm>
            <a:off x="9584538"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7</a:t>
            </a:r>
            <a:endParaRPr lang="en-US" sz="3698" dirty="0"/>
          </a:p>
        </p:txBody>
      </p:sp>
      <p:sp>
        <p:nvSpPr>
          <p:cNvPr id="32" name="Text 30"/>
          <p:cNvSpPr txBox="1"/>
          <p:nvPr/>
        </p:nvSpPr>
        <p:spPr>
          <a:xfrm>
            <a:off x="9584538"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Lead with the swing trader’s trading day</a:t>
            </a:r>
            <a:endParaRPr lang="en-US" sz="1564" dirty="0"/>
          </a:p>
        </p:txBody>
      </p:sp>
      <p:sp>
        <p:nvSpPr>
          <p:cNvPr id="33" name="Shape 31"/>
          <p:cNvSpPr/>
          <p:nvPr/>
        </p:nvSpPr>
        <p:spPr>
          <a:xfrm>
            <a:off x="11171123"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34" name="Text 32"/>
          <p:cNvSpPr txBox="1"/>
          <p:nvPr/>
        </p:nvSpPr>
        <p:spPr>
          <a:xfrm>
            <a:off x="11106099"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Oct 1</a:t>
            </a:r>
            <a:endParaRPr lang="en-US" sz="1564" dirty="0"/>
          </a:p>
        </p:txBody>
      </p:sp>
      <p:sp>
        <p:nvSpPr>
          <p:cNvPr id="35" name="Text 33"/>
          <p:cNvSpPr txBox="1"/>
          <p:nvPr/>
        </p:nvSpPr>
        <p:spPr>
          <a:xfrm>
            <a:off x="11106099"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8</a:t>
            </a:r>
            <a:endParaRPr lang="en-US" sz="3698" dirty="0"/>
          </a:p>
        </p:txBody>
      </p:sp>
      <p:sp>
        <p:nvSpPr>
          <p:cNvPr id="36" name="Text 34"/>
          <p:cNvSpPr txBox="1"/>
          <p:nvPr/>
        </p:nvSpPr>
        <p:spPr>
          <a:xfrm>
            <a:off x="11106099"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Bring teammates’ screens in line with the rules</a:t>
            </a:r>
            <a:endParaRPr lang="en-US" sz="1564" dirty="0"/>
          </a:p>
        </p:txBody>
      </p:sp>
      <p:sp>
        <p:nvSpPr>
          <p:cNvPr id="37" name="Text 35"/>
          <p:cNvSpPr txBox="1"/>
          <p:nvPr/>
        </p:nvSpPr>
        <p:spPr>
          <a:xfrm>
            <a:off x="469458" y="7672832"/>
            <a:ext cx="3446272" cy="650240"/>
          </a:xfrm>
          <a:prstGeom prst="rect">
            <a:avLst/>
          </a:prstGeom>
          <a:noFill/>
          <a:ln/>
        </p:spPr>
        <p:txBody>
          <a:bodyPr wrap="square" lIns="0" tIns="0" rIns="0" bIns="0" rtlCol="0" anchor="t"/>
          <a:lstStyle/>
          <a:p>
            <a:r>
              <a:rPr lang="en-US" sz="1422" dirty="0">
                <a:solidFill>
                  <a:srgbClr val="6E6E6E"/>
                </a:solidFill>
                <a:latin typeface="Helvetica Neue" pitchFamily="34" charset="0"/>
                <a:ea typeface="Helvetica Neue" pitchFamily="34" charset="-122"/>
                <a:cs typeface="Helvetica Neue" pitchFamily="34" charset="-120"/>
              </a:rPr>
              <a:t>Teal marks the team design review </a:t>
            </a:r>
            <a:endParaRPr lang="en-US" sz="1422" dirty="0"/>
          </a:p>
        </p:txBody>
      </p:sp>
      <p:pic>
        <p:nvPicPr>
          <p:cNvPr id="38"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06 · Reasoning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What each call solved (1 of 2)</a:t>
            </a:r>
            <a:endParaRPr lang="en-US" sz="3200" dirty="0"/>
          </a:p>
        </p:txBody>
      </p:sp>
      <p:graphicFrame>
        <p:nvGraphicFramePr>
          <p:cNvPr id="13" name="Table 0"/>
          <p:cNvGraphicFramePr>
            <a:graphicFrameLocks noGrp="1"/>
          </p:cNvGraphicFramePr>
          <p:nvPr/>
        </p:nvGraphicFramePr>
        <p:xfrm>
          <a:off x="455168" y="1885696"/>
          <a:ext cx="12094464" cy="4508332"/>
        </p:xfrm>
        <a:graphic>
          <a:graphicData uri="http://schemas.openxmlformats.org/drawingml/2006/table">
            <a:tbl>
              <a:tblPr/>
              <a:tblGrid>
                <a:gridCol w="585216">
                  <a:extLst>
                    <a:ext uri="{9D8B030D-6E8A-4147-A177-3AD203B41FA5}">
                      <a16:colId xmlns:a16="http://schemas.microsoft.com/office/drawing/2014/main" val="20000"/>
                    </a:ext>
                  </a:extLst>
                </a:gridCol>
                <a:gridCol w="3576320">
                  <a:extLst>
                    <a:ext uri="{9D8B030D-6E8A-4147-A177-3AD203B41FA5}">
                      <a16:colId xmlns:a16="http://schemas.microsoft.com/office/drawing/2014/main" val="20001"/>
                    </a:ext>
                  </a:extLst>
                </a:gridCol>
                <a:gridCol w="3771392">
                  <a:extLst>
                    <a:ext uri="{9D8B030D-6E8A-4147-A177-3AD203B41FA5}">
                      <a16:colId xmlns:a16="http://schemas.microsoft.com/office/drawing/2014/main" val="20002"/>
                    </a:ext>
                  </a:extLst>
                </a:gridCol>
                <a:gridCol w="4161536">
                  <a:extLst>
                    <a:ext uri="{9D8B030D-6E8A-4147-A177-3AD203B41FA5}">
                      <a16:colId xmlns:a16="http://schemas.microsoft.com/office/drawing/2014/main" val="20003"/>
                    </a:ext>
                  </a:extLst>
                </a:gridCol>
              </a:tblGrid>
              <a:tr h="502852">
                <a:tc>
                  <a:txBody>
                    <a:bodyPr/>
                    <a:lstStyle/>
                    <a:p>
                      <a:pPr marL="0" indent="0">
                        <a:buNone/>
                      </a:pPr>
                      <a:r>
                        <a:rPr lang="en-US" sz="1400" b="1" dirty="0">
                          <a:solidFill>
                            <a:srgbClr val="1F1F1F"/>
                          </a:solidFill>
                          <a:latin typeface="Helvetica Neue" pitchFamily="34" charset="0"/>
                          <a:ea typeface="Helvetica Neue" pitchFamily="34" charset="-122"/>
                          <a:cs typeface="Helvetica Neue" pitchFamily="34" charset="-120"/>
                        </a:rPr>
                        <a:t>#</a:t>
                      </a:r>
                      <a:endParaRPr lang="en-US" sz="1400" dirty="0">
                        <a:latin typeface="Helvetica Neue" charset="0"/>
                        <a:ea typeface="Helvetica Neue" charset="0"/>
                        <a:cs typeface="Helvetica Neue" charset="0"/>
                      </a:endParaRPr>
                    </a:p>
                  </a:txBody>
                  <a:tcPr marL="104038" marR="104038" marT="130048" marB="156058">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c>
                  <a:txBody>
                    <a:bodyPr/>
                    <a:lstStyle/>
                    <a:p>
                      <a:pPr marL="0" indent="0">
                        <a:buNone/>
                      </a:pPr>
                      <a:r>
                        <a:rPr lang="en-US" sz="1400" b="1" dirty="0">
                          <a:solidFill>
                            <a:srgbClr val="1F1F1F"/>
                          </a:solidFill>
                          <a:latin typeface="Helvetica Neue" pitchFamily="34" charset="0"/>
                          <a:ea typeface="Helvetica Neue" pitchFamily="34" charset="-122"/>
                          <a:cs typeface="Helvetica Neue" pitchFamily="34" charset="-120"/>
                        </a:rPr>
                        <a:t>Design lead call</a:t>
                      </a:r>
                      <a:endParaRPr lang="en-US" sz="1400" dirty="0">
                        <a:latin typeface="Helvetica Neue" charset="0"/>
                        <a:ea typeface="Helvetica Neue" charset="0"/>
                        <a:cs typeface="Helvetica Neue" charset="0"/>
                      </a:endParaRPr>
                    </a:p>
                  </a:txBody>
                  <a:tcPr marL="104038" marR="104038" marT="130048" marB="156058">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c>
                  <a:txBody>
                    <a:bodyPr/>
                    <a:lstStyle/>
                    <a:p>
                      <a:pPr marL="0" indent="0">
                        <a:buNone/>
                      </a:pPr>
                      <a:r>
                        <a:rPr lang="en-US" sz="1400" b="1" dirty="0">
                          <a:solidFill>
                            <a:srgbClr val="1F1F1F"/>
                          </a:solidFill>
                          <a:latin typeface="Helvetica Neue" pitchFamily="34" charset="0"/>
                          <a:ea typeface="Helvetica Neue" pitchFamily="34" charset="-122"/>
                          <a:cs typeface="Helvetica Neue" pitchFamily="34" charset="-120"/>
                        </a:rPr>
                        <a:t>Why it was needed</a:t>
                      </a:r>
                      <a:endParaRPr lang="en-US" sz="1400" dirty="0">
                        <a:latin typeface="Helvetica Neue" charset="0"/>
                        <a:ea typeface="Helvetica Neue" charset="0"/>
                        <a:cs typeface="Helvetica Neue" charset="0"/>
                      </a:endParaRPr>
                    </a:p>
                  </a:txBody>
                  <a:tcPr marL="104038" marR="104038" marT="130048" marB="156058">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c>
                  <a:txBody>
                    <a:bodyPr/>
                    <a:lstStyle/>
                    <a:p>
                      <a:pPr marL="0" indent="0">
                        <a:buNone/>
                      </a:pPr>
                      <a:r>
                        <a:rPr lang="en-US" sz="1400" b="1" dirty="0">
                          <a:solidFill>
                            <a:srgbClr val="1F1F1F"/>
                          </a:solidFill>
                          <a:latin typeface="Helvetica Neue" pitchFamily="34" charset="0"/>
                          <a:ea typeface="Helvetica Neue" pitchFamily="34" charset="-122"/>
                          <a:cs typeface="Helvetica Neue" pitchFamily="34" charset="-120"/>
                        </a:rPr>
                        <a:t>What it solved</a:t>
                      </a:r>
                      <a:endParaRPr lang="en-US" sz="1400" dirty="0">
                        <a:latin typeface="Helvetica Neue" charset="0"/>
                        <a:ea typeface="Helvetica Neue" charset="0"/>
                        <a:cs typeface="Helvetica Neue" charset="0"/>
                      </a:endParaRPr>
                    </a:p>
                  </a:txBody>
                  <a:tcPr marL="104038" marR="104038" marT="130048" marB="156058">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extLst>
                  <a:ext uri="{0D108BD9-81ED-4DB2-BD59-A6C34878D82A}">
                    <a16:rowId xmlns:a16="http://schemas.microsoft.com/office/drawing/2014/main" val="10000"/>
                  </a:ext>
                </a:extLst>
              </a:tr>
              <a:tr h="1066394">
                <a:tc>
                  <a:txBody>
                    <a:bodyPr/>
                    <a:lstStyle/>
                    <a:p>
                      <a:pPr marL="0" indent="0">
                        <a:buNone/>
                      </a:pPr>
                      <a:r>
                        <a:rPr lang="en-US" sz="2600" dirty="0">
                          <a:solidFill>
                            <a:srgbClr val="C45A35"/>
                          </a:solidFill>
                          <a:latin typeface="Helvetica Neue Light" pitchFamily="34" charset="0"/>
                          <a:ea typeface="Helvetica Neue Light" pitchFamily="34" charset="-122"/>
                          <a:cs typeface="Helvetica Neue Light" pitchFamily="34" charset="-120"/>
                        </a:rPr>
                        <a:t>1</a:t>
                      </a:r>
                      <a:endParaRPr lang="en-US" sz="26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12700" cap="flat" cmpd="sng" algn="ctr">
                      <a:solidFill>
                        <a:srgbClr val="1F1F1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800" dirty="0">
                          <a:solidFill>
                            <a:srgbClr val="1F1F1F"/>
                          </a:solidFill>
                          <a:latin typeface="Helvetica Neue Light" pitchFamily="34" charset="0"/>
                          <a:ea typeface="Helvetica Neue Light" pitchFamily="34" charset="-122"/>
                          <a:cs typeface="Helvetica Neue Light" pitchFamily="34" charset="-120"/>
                        </a:rPr>
                        <a:t>Map today’s onboarding before designing</a:t>
                      </a:r>
                      <a:endParaRPr lang="en-US" sz="1800" dirty="0">
                        <a:latin typeface="Helvetica Neue Light" charset="0"/>
                        <a:ea typeface="Helvetica Neue Light" charset="0"/>
                        <a:cs typeface="Helvetica Neue Light" charset="0"/>
                      </a:endParaRPr>
                    </a:p>
                    <a:p>
                      <a:pPr marL="0" indent="0">
                        <a:buNone/>
                      </a:pPr>
                      <a:r>
                        <a:rPr lang="en-US" sz="1400" dirty="0">
                          <a:solidFill>
                            <a:srgbClr val="C45A35"/>
                          </a:solidFill>
                          <a:latin typeface="Helvetica Neue" pitchFamily="34" charset="0"/>
                          <a:ea typeface="Helvetica Neue" pitchFamily="34" charset="-122"/>
                          <a:cs typeface="Helvetica Neue" pitchFamily="34" charset="-120"/>
                        </a:rPr>
                        <a:t>Sept 23</a:t>
                      </a:r>
                      <a:endParaRPr lang="en-US" sz="18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12700" cap="flat" cmpd="sng" algn="ctr">
                      <a:solidFill>
                        <a:srgbClr val="1F1F1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595959"/>
                          </a:solidFill>
                          <a:latin typeface="Helvetica Neue Light" pitchFamily="34" charset="0"/>
                          <a:ea typeface="Helvetica Neue Light" pitchFamily="34" charset="-122"/>
                          <a:cs typeface="Helvetica Neue Light" pitchFamily="34" charset="-120"/>
                        </a:rPr>
                        <a:t>The docs assumed there was no trial and that slow free quotes were a big pain</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12700" cap="flat" cmpd="sng" algn="ctr">
                      <a:solidFill>
                        <a:srgbClr val="1F1F1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1F1F1F"/>
                          </a:solidFill>
                          <a:latin typeface="Helvetica Neue Light" pitchFamily="34" charset="0"/>
                          <a:ea typeface="Helvetica Neue Light" pitchFamily="34" charset="-122"/>
                          <a:cs typeface="Helvetica Neue Light" pitchFamily="34" charset="-120"/>
                        </a:rPr>
                        <a:t>A live-site walk found the existing 7-day trial and 1-minute-delayed quotes; the trial now starts from the first saved screen</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12700" cap="flat" cmpd="sng" algn="ctr">
                      <a:solidFill>
                        <a:srgbClr val="1F1F1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extLst>
                  <a:ext uri="{0D108BD9-81ED-4DB2-BD59-A6C34878D82A}">
                    <a16:rowId xmlns:a16="http://schemas.microsoft.com/office/drawing/2014/main" val="10001"/>
                  </a:ext>
                </a:extLst>
              </a:tr>
              <a:tr h="806298">
                <a:tc>
                  <a:txBody>
                    <a:bodyPr/>
                    <a:lstStyle/>
                    <a:p>
                      <a:pPr marL="0" indent="0">
                        <a:buNone/>
                      </a:pPr>
                      <a:r>
                        <a:rPr lang="en-US" sz="2600" dirty="0">
                          <a:solidFill>
                            <a:srgbClr val="C45A35"/>
                          </a:solidFill>
                          <a:latin typeface="Helvetica Neue Light" pitchFamily="34" charset="0"/>
                          <a:ea typeface="Helvetica Neue Light" pitchFamily="34" charset="-122"/>
                          <a:cs typeface="Helvetica Neue Light" pitchFamily="34" charset="-120"/>
                        </a:rPr>
                        <a:t>2</a:t>
                      </a:r>
                      <a:endParaRPr lang="en-US" sz="26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800" dirty="0">
                          <a:solidFill>
                            <a:srgbClr val="1F1F1F"/>
                          </a:solidFill>
                          <a:latin typeface="Helvetica Neue Light" pitchFamily="34" charset="0"/>
                          <a:ea typeface="Helvetica Neue Light" pitchFamily="34" charset="-122"/>
                          <a:cs typeface="Helvetica Neue Light" pitchFamily="34" charset="-120"/>
                        </a:rPr>
                        <a:t>Desktop only, for now</a:t>
                      </a:r>
                      <a:endParaRPr lang="en-US" sz="1800" dirty="0">
                        <a:latin typeface="Helvetica Neue Light" charset="0"/>
                        <a:ea typeface="Helvetica Neue Light" charset="0"/>
                        <a:cs typeface="Helvetica Neue Light" charset="0"/>
                      </a:endParaRPr>
                    </a:p>
                    <a:p>
                      <a:pPr marL="0" indent="0">
                        <a:buNone/>
                      </a:pPr>
                      <a:r>
                        <a:rPr lang="en-US" sz="1400" dirty="0">
                          <a:solidFill>
                            <a:srgbClr val="C45A35"/>
                          </a:solidFill>
                          <a:latin typeface="Helvetica Neue" pitchFamily="34" charset="0"/>
                          <a:ea typeface="Helvetica Neue" pitchFamily="34" charset="-122"/>
                          <a:cs typeface="Helvetica Neue" pitchFamily="34" charset="-120"/>
                        </a:rPr>
                        <a:t>Sept 23</a:t>
                      </a:r>
                      <a:endParaRPr lang="en-US" sz="18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595959"/>
                          </a:solidFill>
                          <a:latin typeface="Helvetica Neue Light" pitchFamily="34" charset="0"/>
                          <a:ea typeface="Helvetica Neue Light" pitchFamily="34" charset="-122"/>
                          <a:cs typeface="Helvetica Neue Light" pitchFamily="34" charset="-120"/>
                        </a:rPr>
                        <a:t>No native app; two form factors would split the effort</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1F1F1F"/>
                          </a:solidFill>
                          <a:latin typeface="Helvetica Neue Light" pitchFamily="34" charset="0"/>
                          <a:ea typeface="Helvetica Neue Light" pitchFamily="34" charset="-122"/>
                          <a:cs typeface="Helvetica Neue Light" pitchFamily="34" charset="-120"/>
                        </a:rPr>
                        <a:t>Every screen scoped to 1440px desktop; mobile deferred</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extLst>
                  <a:ext uri="{0D108BD9-81ED-4DB2-BD59-A6C34878D82A}">
                    <a16:rowId xmlns:a16="http://schemas.microsoft.com/office/drawing/2014/main" val="10002"/>
                  </a:ext>
                </a:extLst>
              </a:tr>
              <a:tr h="1066394">
                <a:tc>
                  <a:txBody>
                    <a:bodyPr/>
                    <a:lstStyle/>
                    <a:p>
                      <a:pPr marL="0" indent="0">
                        <a:buNone/>
                      </a:pPr>
                      <a:r>
                        <a:rPr lang="en-US" sz="2600" dirty="0">
                          <a:solidFill>
                            <a:srgbClr val="C45A35"/>
                          </a:solidFill>
                          <a:latin typeface="Helvetica Neue Light" pitchFamily="34" charset="0"/>
                          <a:ea typeface="Helvetica Neue Light" pitchFamily="34" charset="-122"/>
                          <a:cs typeface="Helvetica Neue Light" pitchFamily="34" charset="-120"/>
                        </a:rPr>
                        <a:t>3</a:t>
                      </a:r>
                      <a:endParaRPr lang="en-US" sz="26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800" dirty="0">
                          <a:solidFill>
                            <a:srgbClr val="1F1F1F"/>
                          </a:solidFill>
                          <a:latin typeface="Helvetica Neue Light" pitchFamily="34" charset="0"/>
                          <a:ea typeface="Helvetica Neue Light" pitchFamily="34" charset="-122"/>
                          <a:cs typeface="Helvetica Neue Light" pitchFamily="34" charset="-120"/>
                        </a:rPr>
                        <a:t>One design for first-time and repeat users</a:t>
                      </a:r>
                      <a:endParaRPr lang="en-US" sz="1800" dirty="0">
                        <a:latin typeface="Helvetica Neue Light" charset="0"/>
                        <a:ea typeface="Helvetica Neue Light" charset="0"/>
                        <a:cs typeface="Helvetica Neue Light" charset="0"/>
                      </a:endParaRPr>
                    </a:p>
                    <a:p>
                      <a:pPr marL="0" indent="0">
                        <a:buNone/>
                      </a:pPr>
                      <a:r>
                        <a:rPr lang="en-US" sz="1400" dirty="0">
                          <a:solidFill>
                            <a:srgbClr val="C45A35"/>
                          </a:solidFill>
                          <a:latin typeface="Helvetica Neue" pitchFamily="34" charset="0"/>
                          <a:ea typeface="Helvetica Neue" pitchFamily="34" charset="-122"/>
                          <a:cs typeface="Helvetica Neue" pitchFamily="34" charset="-120"/>
                        </a:rPr>
                        <a:t>Sept 23</a:t>
                      </a:r>
                      <a:endParaRPr lang="en-US" sz="18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595959"/>
                          </a:solidFill>
                          <a:latin typeface="Helvetica Neue Light" pitchFamily="34" charset="0"/>
                          <a:ea typeface="Helvetica Neue Light" pitchFamily="34" charset="-122"/>
                          <a:cs typeface="Helvetica Neue Light" pitchFamily="34" charset="-120"/>
                        </a:rPr>
                        <a:t>Onboarding gates fail repeat users, who keep meeting new filters and decisions</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1F1F1F"/>
                          </a:solidFill>
                          <a:latin typeface="Helvetica Neue Light" pitchFamily="34" charset="0"/>
                          <a:ea typeface="Helvetica Neue Light" pitchFamily="34" charset="-122"/>
                          <a:cs typeface="Helvetica Neue Light" pitchFamily="34" charset="-120"/>
                        </a:rPr>
                        <a:t>“Onboarding is not a phase”: help fades per concept; no wizard, no tour</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extLst>
                  <a:ext uri="{0D108BD9-81ED-4DB2-BD59-A6C34878D82A}">
                    <a16:rowId xmlns:a16="http://schemas.microsoft.com/office/drawing/2014/main" val="10003"/>
                  </a:ext>
                </a:extLst>
              </a:tr>
              <a:tr h="1066394">
                <a:tc>
                  <a:txBody>
                    <a:bodyPr/>
                    <a:lstStyle/>
                    <a:p>
                      <a:pPr marL="0" indent="0">
                        <a:buNone/>
                      </a:pPr>
                      <a:r>
                        <a:rPr lang="en-US" sz="2600" dirty="0">
                          <a:solidFill>
                            <a:srgbClr val="C45A35"/>
                          </a:solidFill>
                          <a:latin typeface="Helvetica Neue Light" pitchFamily="34" charset="0"/>
                          <a:ea typeface="Helvetica Neue Light" pitchFamily="34" charset="-122"/>
                          <a:cs typeface="Helvetica Neue Light" pitchFamily="34" charset="-120"/>
                        </a:rPr>
                        <a:t>4</a:t>
                      </a:r>
                      <a:endParaRPr lang="en-US" sz="26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800" dirty="0">
                          <a:solidFill>
                            <a:srgbClr val="1F1F1F"/>
                          </a:solidFill>
                          <a:latin typeface="Helvetica Neue Light" pitchFamily="34" charset="0"/>
                          <a:ea typeface="Helvetica Neue Light" pitchFamily="34" charset="-122"/>
                          <a:cs typeface="Helvetica Neue Light" pitchFamily="34" charset="-120"/>
                        </a:rPr>
                        <a:t>Remove real frictions with new AI models</a:t>
                      </a:r>
                      <a:endParaRPr lang="en-US" sz="1800" dirty="0">
                        <a:latin typeface="Helvetica Neue Light" charset="0"/>
                        <a:ea typeface="Helvetica Neue Light" charset="0"/>
                        <a:cs typeface="Helvetica Neue Light" charset="0"/>
                      </a:endParaRPr>
                    </a:p>
                    <a:p>
                      <a:pPr marL="0" indent="0">
                        <a:buNone/>
                      </a:pPr>
                      <a:r>
                        <a:rPr lang="en-US" sz="1400" dirty="0">
                          <a:solidFill>
                            <a:srgbClr val="C45A35"/>
                          </a:solidFill>
                          <a:latin typeface="Helvetica Neue" pitchFamily="34" charset="0"/>
                          <a:ea typeface="Helvetica Neue" pitchFamily="34" charset="-122"/>
                          <a:cs typeface="Helvetica Neue" pitchFamily="34" charset="-120"/>
                        </a:rPr>
                        <a:t>Sept 24</a:t>
                      </a:r>
                      <a:endParaRPr lang="en-US" sz="18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595959"/>
                          </a:solidFill>
                          <a:latin typeface="Helvetica Neue Light" pitchFamily="34" charset="0"/>
                          <a:ea typeface="Helvetica Neue Light" pitchFamily="34" charset="-122"/>
                          <a:cs typeface="Helvetica Neue Light" pitchFamily="34" charset="-120"/>
                        </a:rPr>
                        <a:t>The first concepts were generic AI features</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1F1F1F"/>
                          </a:solidFill>
                          <a:latin typeface="Helvetica Neue Light" pitchFamily="34" charset="0"/>
                          <a:ea typeface="Helvetica Neue Light" pitchFamily="34" charset="-122"/>
                          <a:cs typeface="Helvetica Neue Light" pitchFamily="34" charset="-120"/>
                        </a:rPr>
                        <a:t>Every mechanic names the friction it removes and the AI advance it uses</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06 · Reasoning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What each call solved (2 of 2)</a:t>
            </a:r>
            <a:endParaRPr lang="en-US" sz="3200" dirty="0"/>
          </a:p>
        </p:txBody>
      </p:sp>
      <p:graphicFrame>
        <p:nvGraphicFramePr>
          <p:cNvPr id="14" name="Table 0"/>
          <p:cNvGraphicFramePr>
            <a:graphicFrameLocks noGrp="1"/>
          </p:cNvGraphicFramePr>
          <p:nvPr/>
        </p:nvGraphicFramePr>
        <p:xfrm>
          <a:off x="455168" y="1885696"/>
          <a:ext cx="12094464" cy="4768428"/>
        </p:xfrm>
        <a:graphic>
          <a:graphicData uri="http://schemas.openxmlformats.org/drawingml/2006/table">
            <a:tbl>
              <a:tblPr/>
              <a:tblGrid>
                <a:gridCol w="585216">
                  <a:extLst>
                    <a:ext uri="{9D8B030D-6E8A-4147-A177-3AD203B41FA5}">
                      <a16:colId xmlns:a16="http://schemas.microsoft.com/office/drawing/2014/main" val="20000"/>
                    </a:ext>
                  </a:extLst>
                </a:gridCol>
                <a:gridCol w="3576320">
                  <a:extLst>
                    <a:ext uri="{9D8B030D-6E8A-4147-A177-3AD203B41FA5}">
                      <a16:colId xmlns:a16="http://schemas.microsoft.com/office/drawing/2014/main" val="20001"/>
                    </a:ext>
                  </a:extLst>
                </a:gridCol>
                <a:gridCol w="3771392">
                  <a:extLst>
                    <a:ext uri="{9D8B030D-6E8A-4147-A177-3AD203B41FA5}">
                      <a16:colId xmlns:a16="http://schemas.microsoft.com/office/drawing/2014/main" val="20002"/>
                    </a:ext>
                  </a:extLst>
                </a:gridCol>
                <a:gridCol w="4161536">
                  <a:extLst>
                    <a:ext uri="{9D8B030D-6E8A-4147-A177-3AD203B41FA5}">
                      <a16:colId xmlns:a16="http://schemas.microsoft.com/office/drawing/2014/main" val="20003"/>
                    </a:ext>
                  </a:extLst>
                </a:gridCol>
              </a:tblGrid>
              <a:tr h="502852">
                <a:tc>
                  <a:txBody>
                    <a:bodyPr/>
                    <a:lstStyle/>
                    <a:p>
                      <a:pPr marL="0" indent="0">
                        <a:buNone/>
                      </a:pPr>
                      <a:r>
                        <a:rPr lang="en-US" sz="1400" b="1" dirty="0">
                          <a:solidFill>
                            <a:srgbClr val="1F1F1F"/>
                          </a:solidFill>
                          <a:latin typeface="Helvetica Neue" pitchFamily="34" charset="0"/>
                          <a:ea typeface="Helvetica Neue" pitchFamily="34" charset="-122"/>
                          <a:cs typeface="Helvetica Neue" pitchFamily="34" charset="-120"/>
                        </a:rPr>
                        <a:t>#</a:t>
                      </a:r>
                      <a:endParaRPr lang="en-US" sz="1400" dirty="0">
                        <a:latin typeface="Helvetica Neue" charset="0"/>
                        <a:ea typeface="Helvetica Neue" charset="0"/>
                        <a:cs typeface="Helvetica Neue" charset="0"/>
                      </a:endParaRPr>
                    </a:p>
                  </a:txBody>
                  <a:tcPr marL="104038" marR="104038" marT="130048" marB="156058">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c>
                  <a:txBody>
                    <a:bodyPr/>
                    <a:lstStyle/>
                    <a:p>
                      <a:pPr marL="0" indent="0">
                        <a:buNone/>
                      </a:pPr>
                      <a:r>
                        <a:rPr lang="en-US" sz="1400" b="1" dirty="0">
                          <a:solidFill>
                            <a:srgbClr val="1F1F1F"/>
                          </a:solidFill>
                          <a:latin typeface="Helvetica Neue" pitchFamily="34" charset="0"/>
                          <a:ea typeface="Helvetica Neue" pitchFamily="34" charset="-122"/>
                          <a:cs typeface="Helvetica Neue" pitchFamily="34" charset="-120"/>
                        </a:rPr>
                        <a:t>Design lead call</a:t>
                      </a:r>
                      <a:endParaRPr lang="en-US" sz="1400" dirty="0">
                        <a:latin typeface="Helvetica Neue" charset="0"/>
                        <a:ea typeface="Helvetica Neue" charset="0"/>
                        <a:cs typeface="Helvetica Neue" charset="0"/>
                      </a:endParaRPr>
                    </a:p>
                  </a:txBody>
                  <a:tcPr marL="104038" marR="104038" marT="130048" marB="156058">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c>
                  <a:txBody>
                    <a:bodyPr/>
                    <a:lstStyle/>
                    <a:p>
                      <a:pPr marL="0" indent="0">
                        <a:buNone/>
                      </a:pPr>
                      <a:r>
                        <a:rPr lang="en-US" sz="1400" b="1" dirty="0">
                          <a:solidFill>
                            <a:srgbClr val="1F1F1F"/>
                          </a:solidFill>
                          <a:latin typeface="Helvetica Neue" pitchFamily="34" charset="0"/>
                          <a:ea typeface="Helvetica Neue" pitchFamily="34" charset="-122"/>
                          <a:cs typeface="Helvetica Neue" pitchFamily="34" charset="-120"/>
                        </a:rPr>
                        <a:t>Why it was needed</a:t>
                      </a:r>
                      <a:endParaRPr lang="en-US" sz="1400" dirty="0">
                        <a:latin typeface="Helvetica Neue" charset="0"/>
                        <a:ea typeface="Helvetica Neue" charset="0"/>
                        <a:cs typeface="Helvetica Neue" charset="0"/>
                      </a:endParaRPr>
                    </a:p>
                  </a:txBody>
                  <a:tcPr marL="104038" marR="104038" marT="130048" marB="156058">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c>
                  <a:txBody>
                    <a:bodyPr/>
                    <a:lstStyle/>
                    <a:p>
                      <a:pPr marL="0" indent="0">
                        <a:buNone/>
                      </a:pPr>
                      <a:r>
                        <a:rPr lang="en-US" sz="1400" b="1" dirty="0">
                          <a:solidFill>
                            <a:srgbClr val="1F1F1F"/>
                          </a:solidFill>
                          <a:latin typeface="Helvetica Neue" pitchFamily="34" charset="0"/>
                          <a:ea typeface="Helvetica Neue" pitchFamily="34" charset="-122"/>
                          <a:cs typeface="Helvetica Neue" pitchFamily="34" charset="-120"/>
                        </a:rPr>
                        <a:t>What it solved</a:t>
                      </a:r>
                      <a:endParaRPr lang="en-US" sz="1400" dirty="0">
                        <a:latin typeface="Helvetica Neue" charset="0"/>
                        <a:ea typeface="Helvetica Neue" charset="0"/>
                        <a:cs typeface="Helvetica Neue" charset="0"/>
                      </a:endParaRPr>
                    </a:p>
                  </a:txBody>
                  <a:tcPr marL="104038" marR="104038" marT="130048" marB="156058">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extLst>
                  <a:ext uri="{0D108BD9-81ED-4DB2-BD59-A6C34878D82A}">
                    <a16:rowId xmlns:a16="http://schemas.microsoft.com/office/drawing/2014/main" val="10000"/>
                  </a:ext>
                </a:extLst>
              </a:tr>
              <a:tr h="1066394">
                <a:tc>
                  <a:txBody>
                    <a:bodyPr/>
                    <a:lstStyle/>
                    <a:p>
                      <a:pPr marL="0" indent="0">
                        <a:buNone/>
                      </a:pPr>
                      <a:r>
                        <a:rPr lang="en-US" sz="2600" dirty="0">
                          <a:solidFill>
                            <a:srgbClr val="C45A35"/>
                          </a:solidFill>
                          <a:latin typeface="Helvetica Neue Light" pitchFamily="34" charset="0"/>
                          <a:ea typeface="Helvetica Neue Light" pitchFamily="34" charset="-122"/>
                          <a:cs typeface="Helvetica Neue Light" pitchFamily="34" charset="-120"/>
                        </a:rPr>
                        <a:t>5</a:t>
                      </a:r>
                      <a:endParaRPr lang="en-US" sz="26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12700" cap="flat" cmpd="sng" algn="ctr">
                      <a:solidFill>
                        <a:srgbClr val="1F1F1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800" dirty="0">
                          <a:solidFill>
                            <a:srgbClr val="1F1F1F"/>
                          </a:solidFill>
                          <a:latin typeface="Helvetica Neue Light" pitchFamily="34" charset="0"/>
                          <a:ea typeface="Helvetica Neue Light" pitchFamily="34" charset="-122"/>
                          <a:cs typeface="Helvetica Neue Light" pitchFamily="34" charset="-120"/>
                        </a:rPr>
                        <a:t>Optimize time to first success; no chat box first</a:t>
                      </a:r>
                      <a:endParaRPr lang="en-US" sz="1800" dirty="0">
                        <a:latin typeface="Helvetica Neue Light" charset="0"/>
                        <a:ea typeface="Helvetica Neue Light" charset="0"/>
                        <a:cs typeface="Helvetica Neue Light" charset="0"/>
                      </a:endParaRPr>
                    </a:p>
                    <a:p>
                      <a:pPr marL="0" indent="0">
                        <a:buNone/>
                      </a:pPr>
                      <a:r>
                        <a:rPr lang="en-US" sz="1400" dirty="0">
                          <a:solidFill>
                            <a:srgbClr val="C45A35"/>
                          </a:solidFill>
                          <a:latin typeface="Helvetica Neue" pitchFamily="34" charset="0"/>
                          <a:ea typeface="Helvetica Neue" pitchFamily="34" charset="-122"/>
                          <a:cs typeface="Helvetica Neue" pitchFamily="34" charset="-120"/>
                        </a:rPr>
                        <a:t>Sept 30</a:t>
                      </a:r>
                      <a:endParaRPr lang="en-US" sz="18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12700" cap="flat" cmpd="sng" algn="ctr">
                      <a:solidFill>
                        <a:srgbClr val="1F1F1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595959"/>
                          </a:solidFill>
                          <a:latin typeface="Helvetica Neue Light" pitchFamily="34" charset="0"/>
                          <a:ea typeface="Helvetica Neue Light" pitchFamily="34" charset="-122"/>
                          <a:cs typeface="Helvetica Neue Light" pitchFamily="34" charset="-120"/>
                        </a:rPr>
                        <a:t>Text-to-filters assumed traders can state ambiguous intent precisely</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12700" cap="flat" cmpd="sng" algn="ctr">
                      <a:solidFill>
                        <a:srgbClr val="1F1F1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1F1F1F"/>
                          </a:solidFill>
                          <a:latin typeface="Helvetica Neue Light" pitchFamily="34" charset="0"/>
                          <a:ea typeface="Helvetica Neue Light" pitchFamily="34" charset="-122"/>
                          <a:cs typeface="Helvetica Neue Light" pitchFamily="34" charset="-120"/>
                        </a:rPr>
                        <a:t>Imports and examples lead; success must be timely, relevant and actionable</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12700" cap="flat" cmpd="sng" algn="ctr">
                      <a:solidFill>
                        <a:srgbClr val="1F1F1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extLst>
                  <a:ext uri="{0D108BD9-81ED-4DB2-BD59-A6C34878D82A}">
                    <a16:rowId xmlns:a16="http://schemas.microsoft.com/office/drawing/2014/main" val="10001"/>
                  </a:ext>
                </a:extLst>
              </a:tr>
              <a:tr h="1066394">
                <a:tc>
                  <a:txBody>
                    <a:bodyPr/>
                    <a:lstStyle/>
                    <a:p>
                      <a:pPr marL="0" indent="0">
                        <a:buNone/>
                      </a:pPr>
                      <a:r>
                        <a:rPr lang="en-US" sz="2600" dirty="0">
                          <a:solidFill>
                            <a:srgbClr val="C45A35"/>
                          </a:solidFill>
                          <a:latin typeface="Helvetica Neue Light" pitchFamily="34" charset="0"/>
                          <a:ea typeface="Helvetica Neue Light" pitchFamily="34" charset="-122"/>
                          <a:cs typeface="Helvetica Neue Light" pitchFamily="34" charset="-120"/>
                        </a:rPr>
                        <a:t>6</a:t>
                      </a:r>
                      <a:endParaRPr lang="en-US" sz="26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800" dirty="0">
                          <a:solidFill>
                            <a:srgbClr val="1F1F1F"/>
                          </a:solidFill>
                          <a:latin typeface="Helvetica Neue Light" pitchFamily="34" charset="0"/>
                          <a:ea typeface="Helvetica Neue Light" pitchFamily="34" charset="-122"/>
                          <a:cs typeface="Helvetica Neue Light" pitchFamily="34" charset="-120"/>
                        </a:rPr>
                        <a:t>Set the advice line, pending compliance</a:t>
                      </a:r>
                      <a:endParaRPr lang="en-US" sz="1800" dirty="0">
                        <a:latin typeface="Helvetica Neue Light" charset="0"/>
                        <a:ea typeface="Helvetica Neue Light" charset="0"/>
                        <a:cs typeface="Helvetica Neue Light" charset="0"/>
                      </a:endParaRPr>
                    </a:p>
                    <a:p>
                      <a:pPr marL="0" indent="0">
                        <a:buNone/>
                      </a:pPr>
                      <a:r>
                        <a:rPr lang="en-US" sz="1400" dirty="0">
                          <a:solidFill>
                            <a:srgbClr val="C45A35"/>
                          </a:solidFill>
                          <a:latin typeface="Helvetica Neue" pitchFamily="34" charset="0"/>
                          <a:ea typeface="Helvetica Neue" pitchFamily="34" charset="-122"/>
                          <a:cs typeface="Helvetica Neue" pitchFamily="34" charset="-120"/>
                        </a:rPr>
                        <a:t>Sept 30</a:t>
                      </a:r>
                      <a:endParaRPr lang="en-US" sz="18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595959"/>
                          </a:solidFill>
                          <a:latin typeface="Helvetica Neue Light" pitchFamily="34" charset="0"/>
                          <a:ea typeface="Helvetica Neue Light" pitchFamily="34" charset="-122"/>
                          <a:cs typeface="Helvetica Neue Light" pitchFamily="34" charset="-120"/>
                        </a:rPr>
                        <a:t>Buy or sell advice is a legal line</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1F1F1F"/>
                          </a:solidFill>
                          <a:latin typeface="Helvetica Neue Light" pitchFamily="34" charset="0"/>
                          <a:ea typeface="Helvetica Neue Light" pitchFamily="34" charset="-122"/>
                          <a:cs typeface="Helvetica Neue Light" pitchFamily="34" charset="-120"/>
                        </a:rPr>
                        <a:t>AI never originates advice; attributed analyst views behind a flag</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extLst>
                  <a:ext uri="{0D108BD9-81ED-4DB2-BD59-A6C34878D82A}">
                    <a16:rowId xmlns:a16="http://schemas.microsoft.com/office/drawing/2014/main" val="10002"/>
                  </a:ext>
                </a:extLst>
              </a:tr>
              <a:tr h="1066394">
                <a:tc>
                  <a:txBody>
                    <a:bodyPr/>
                    <a:lstStyle/>
                    <a:p>
                      <a:pPr marL="0" indent="0">
                        <a:buNone/>
                      </a:pPr>
                      <a:r>
                        <a:rPr lang="en-US" sz="2600" dirty="0">
                          <a:solidFill>
                            <a:srgbClr val="C45A35"/>
                          </a:solidFill>
                          <a:latin typeface="Helvetica Neue Light" pitchFamily="34" charset="0"/>
                          <a:ea typeface="Helvetica Neue Light" pitchFamily="34" charset="-122"/>
                          <a:cs typeface="Helvetica Neue Light" pitchFamily="34" charset="-120"/>
                        </a:rPr>
                        <a:t>7</a:t>
                      </a:r>
                      <a:endParaRPr lang="en-US" sz="26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800" dirty="0">
                          <a:solidFill>
                            <a:srgbClr val="1F1F1F"/>
                          </a:solidFill>
                          <a:latin typeface="Helvetica Neue Light" pitchFamily="34" charset="0"/>
                          <a:ea typeface="Helvetica Neue Light" pitchFamily="34" charset="-122"/>
                          <a:cs typeface="Helvetica Neue Light" pitchFamily="34" charset="-120"/>
                        </a:rPr>
                        <a:t>Lead with the swing trader’s trading day</a:t>
                      </a:r>
                      <a:endParaRPr lang="en-US" sz="1800" dirty="0">
                        <a:latin typeface="Helvetica Neue Light" charset="0"/>
                        <a:ea typeface="Helvetica Neue Light" charset="0"/>
                        <a:cs typeface="Helvetica Neue Light" charset="0"/>
                      </a:endParaRPr>
                    </a:p>
                    <a:p>
                      <a:pPr marL="0" indent="0">
                        <a:buNone/>
                      </a:pPr>
                      <a:r>
                        <a:rPr lang="en-US" sz="1400" dirty="0">
                          <a:solidFill>
                            <a:srgbClr val="C45A35"/>
                          </a:solidFill>
                          <a:latin typeface="Helvetica Neue" pitchFamily="34" charset="0"/>
                          <a:ea typeface="Helvetica Neue" pitchFamily="34" charset="-122"/>
                          <a:cs typeface="Helvetica Neue" pitchFamily="34" charset="-120"/>
                        </a:rPr>
                        <a:t>Sept 30</a:t>
                      </a:r>
                      <a:endParaRPr lang="en-US" sz="18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595959"/>
                          </a:solidFill>
                          <a:latin typeface="Helvetica Neue Light" pitchFamily="34" charset="0"/>
                          <a:ea typeface="Helvetica Neue Light" pitchFamily="34" charset="-122"/>
                          <a:cs typeface="Helvetica Neue Light" pitchFamily="34" charset="-120"/>
                        </a:rPr>
                        <a:t>Three concepts competed; none followed the real routine</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1F1F1F"/>
                          </a:solidFill>
                          <a:latin typeface="Helvetica Neue Light" pitchFamily="34" charset="0"/>
                          <a:ea typeface="Helvetica Neue Light" pitchFamily="34" charset="-122"/>
                          <a:cs typeface="Helvetica Neue Light" pitchFamily="34" charset="-120"/>
                        </a:rPr>
                        <a:t>The Trading Day became the lead concept</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extLst>
                  <a:ext uri="{0D108BD9-81ED-4DB2-BD59-A6C34878D82A}">
                    <a16:rowId xmlns:a16="http://schemas.microsoft.com/office/drawing/2014/main" val="10003"/>
                  </a:ext>
                </a:extLst>
              </a:tr>
              <a:tr h="1066394">
                <a:tc>
                  <a:txBody>
                    <a:bodyPr/>
                    <a:lstStyle/>
                    <a:p>
                      <a:pPr marL="0" indent="0">
                        <a:buNone/>
                      </a:pPr>
                      <a:r>
                        <a:rPr lang="en-US" sz="2600" dirty="0">
                          <a:solidFill>
                            <a:srgbClr val="C45A35"/>
                          </a:solidFill>
                          <a:latin typeface="Helvetica Neue Light" pitchFamily="34" charset="0"/>
                          <a:ea typeface="Helvetica Neue Light" pitchFamily="34" charset="-122"/>
                          <a:cs typeface="Helvetica Neue Light" pitchFamily="34" charset="-120"/>
                        </a:rPr>
                        <a:t>8</a:t>
                      </a:r>
                      <a:endParaRPr lang="en-US" sz="26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800" dirty="0">
                          <a:solidFill>
                            <a:srgbClr val="1F1F1F"/>
                          </a:solidFill>
                          <a:latin typeface="Helvetica Neue Light" pitchFamily="34" charset="0"/>
                          <a:ea typeface="Helvetica Neue Light" pitchFamily="34" charset="-122"/>
                          <a:cs typeface="Helvetica Neue Light" pitchFamily="34" charset="-120"/>
                        </a:rPr>
                        <a:t>Bring teammates’ screens in line with the rules</a:t>
                      </a:r>
                      <a:endParaRPr lang="en-US" sz="1800" dirty="0">
                        <a:latin typeface="Helvetica Neue Light" charset="0"/>
                        <a:ea typeface="Helvetica Neue Light" charset="0"/>
                        <a:cs typeface="Helvetica Neue Light" charset="0"/>
                      </a:endParaRPr>
                    </a:p>
                    <a:p>
                      <a:pPr marL="0" indent="0">
                        <a:buNone/>
                      </a:pPr>
                      <a:r>
                        <a:rPr lang="en-US" sz="1400" dirty="0">
                          <a:solidFill>
                            <a:srgbClr val="C45A35"/>
                          </a:solidFill>
                          <a:latin typeface="Helvetica Neue" pitchFamily="34" charset="0"/>
                          <a:ea typeface="Helvetica Neue" pitchFamily="34" charset="-122"/>
                          <a:cs typeface="Helvetica Neue" pitchFamily="34" charset="-120"/>
                        </a:rPr>
                        <a:t>Oct 1</a:t>
                      </a:r>
                      <a:endParaRPr lang="en-US" sz="18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595959"/>
                          </a:solidFill>
                          <a:latin typeface="Helvetica Neue Light" pitchFamily="34" charset="0"/>
                          <a:ea typeface="Helvetica Neue Light" pitchFamily="34" charset="-122"/>
                          <a:cs typeface="Helvetica Neue Light" pitchFamily="34" charset="-120"/>
                        </a:rPr>
                        <a:t>Frames drafted orders, showed confidence % and fit scores</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1F1F1F"/>
                          </a:solidFill>
                          <a:latin typeface="Helvetica Neue Light" pitchFamily="34" charset="0"/>
                          <a:ea typeface="Helvetica Neue Light" pitchFamily="34" charset="-122"/>
                          <a:cs typeface="Helvetica Neue Light" pitchFamily="34" charset="-120"/>
                        </a:rPr>
                        <a:t>Every flow ends at the trader’s decision and “Open in your broker”</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07 · Methodology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Methodology: AI and UX</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Kept at the level a product team needs; model choices to confirm with engineering.</a:t>
            </a:r>
          </a:p>
        </p:txBody>
      </p:sp>
      <p:sp>
        <p:nvSpPr>
          <p:cNvPr id="6" name="Rectangle 5"/>
          <p:cNvSpPr/>
          <p:nvPr/>
        </p:nvSpPr>
        <p:spPr>
          <a:xfrm>
            <a:off x="455168" y="2500732"/>
            <a:ext cx="5758236" cy="4975322"/>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Rectangle 6"/>
          <p:cNvSpPr/>
          <p:nvPr/>
        </p:nvSpPr>
        <p:spPr>
          <a:xfrm>
            <a:off x="6632448" y="2500732"/>
            <a:ext cx="5917184" cy="4975322"/>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715264" y="2695804"/>
            <a:ext cx="5222281" cy="4226606"/>
          </a:xfrm>
          <a:prstGeom prst="rect">
            <a:avLst/>
          </a:prstGeom>
          <a:noFill/>
        </p:spPr>
        <p:txBody>
          <a:bodyPr wrap="square" lIns="0" tIns="0" rIns="0" bIns="0">
            <a:spAutoFit/>
          </a:bodyPr>
          <a:lstStyle/>
          <a:p>
            <a:pPr>
              <a:spcAft>
                <a:spcPts val="853"/>
              </a:spcAft>
            </a:pPr>
            <a:r>
              <a:rPr sz="1280">
                <a:solidFill>
                  <a:srgbClr val="5B3F96"/>
                </a:solidFill>
                <a:latin typeface="Helvetica Neue"/>
              </a:rPr>
              <a:t>AI METHODS (HIGH LEVEL)</a:t>
            </a:r>
          </a:p>
          <a:p>
            <a:pPr>
              <a:spcAft>
                <a:spcPts val="142"/>
              </a:spcAft>
            </a:pPr>
            <a:r>
              <a:rPr sz="1493">
                <a:solidFill>
                  <a:srgbClr val="1F1F1F"/>
                </a:solidFill>
                <a:latin typeface="Helvetica Neue"/>
              </a:rPr>
              <a:t>Constrained generation</a:t>
            </a:r>
          </a:p>
          <a:p>
            <a:pPr>
              <a:spcAft>
                <a:spcPts val="996"/>
              </a:spcAft>
            </a:pPr>
            <a:r>
              <a:rPr sz="1422">
                <a:solidFill>
                  <a:srgbClr val="595959"/>
                </a:solidFill>
                <a:latin typeface="Helvetica Neue Light"/>
              </a:rPr>
              <a:t>An LLM maps examples or plain English to FinViz’s filter grammar; a validator rejects anything that isn’t a real filter.</a:t>
            </a:r>
          </a:p>
          <a:p>
            <a:pPr>
              <a:spcAft>
                <a:spcPts val="142"/>
              </a:spcAft>
            </a:pPr>
            <a:r>
              <a:rPr sz="1493">
                <a:solidFill>
                  <a:srgbClr val="1F1F1F"/>
                </a:solidFill>
                <a:latin typeface="Helvetica Neue"/>
              </a:rPr>
              <a:t>Rule-based and statistical detection</a:t>
            </a:r>
          </a:p>
          <a:p>
            <a:pPr>
              <a:spcAft>
                <a:spcPts val="996"/>
              </a:spcAft>
            </a:pPr>
            <a:r>
              <a:rPr sz="1422">
                <a:solidFill>
                  <a:srgbClr val="595959"/>
                </a:solidFill>
                <a:latin typeface="Helvetica Neue Light"/>
              </a:rPr>
              <a:t>Patterns as measurable criteria; support fitted to recent lows; thresholds decide clear vs borderline.</a:t>
            </a:r>
          </a:p>
          <a:p>
            <a:pPr>
              <a:spcAft>
                <a:spcPts val="142"/>
              </a:spcAft>
            </a:pPr>
            <a:r>
              <a:rPr sz="1493">
                <a:solidFill>
                  <a:srgbClr val="1F1F1F"/>
                </a:solidFill>
                <a:latin typeface="Helvetica Neue"/>
              </a:rPr>
              <a:t>Counterfactual replay</a:t>
            </a:r>
          </a:p>
          <a:p>
            <a:pPr>
              <a:spcAft>
                <a:spcPts val="996"/>
              </a:spcAft>
            </a:pPr>
            <a:r>
              <a:rPr sz="1422">
                <a:solidFill>
                  <a:srgbClr val="595959"/>
                </a:solidFill>
                <a:latin typeface="Helvetica Neue Light"/>
              </a:rPr>
              <a:t>His rule re-run on 30 days of history before he commits or changes it.</a:t>
            </a:r>
          </a:p>
          <a:p>
            <a:pPr>
              <a:spcAft>
                <a:spcPts val="142"/>
              </a:spcAft>
            </a:pPr>
            <a:r>
              <a:rPr sz="1493">
                <a:solidFill>
                  <a:srgbClr val="1F1F1F"/>
                </a:solidFill>
                <a:latin typeface="Helvetica Neue"/>
              </a:rPr>
              <a:t>Retrieval and summarization</a:t>
            </a:r>
          </a:p>
          <a:p>
            <a:pPr>
              <a:spcAft>
                <a:spcPts val="996"/>
              </a:spcAft>
            </a:pPr>
            <a:r>
              <a:rPr sz="1422">
                <a:solidFill>
                  <a:srgbClr val="595959"/>
                </a:solidFill>
                <a:latin typeface="Helvetica Neue Light"/>
              </a:rPr>
              <a:t>Overnight news and calendar items on his names only, each with source and time.</a:t>
            </a:r>
          </a:p>
          <a:p>
            <a:pPr>
              <a:spcAft>
                <a:spcPts val="142"/>
              </a:spcAft>
            </a:pPr>
            <a:r>
              <a:rPr sz="1493">
                <a:solidFill>
                  <a:srgbClr val="1F1F1F"/>
                </a:solidFill>
                <a:latin typeface="Helvetica Neue"/>
              </a:rPr>
              <a:t>Learning from corrections</a:t>
            </a:r>
          </a:p>
          <a:p>
            <a:pPr>
              <a:spcAft>
                <a:spcPts val="996"/>
              </a:spcAft>
            </a:pPr>
            <a:r>
              <a:rPr sz="1422">
                <a:solidFill>
                  <a:srgbClr val="595959"/>
                </a:solidFill>
                <a:latin typeface="Helvetica Neue Light"/>
              </a:rPr>
              <a:t>Feedback becomes proposed rule changes he approves, not hidden weights.</a:t>
            </a:r>
          </a:p>
        </p:txBody>
      </p:sp>
      <p:sp>
        <p:nvSpPr>
          <p:cNvPr id="9" name="TextBox 8"/>
          <p:cNvSpPr txBox="1"/>
          <p:nvPr/>
        </p:nvSpPr>
        <p:spPr>
          <a:xfrm>
            <a:off x="6892544" y="2695804"/>
            <a:ext cx="5462016" cy="4226606"/>
          </a:xfrm>
          <a:prstGeom prst="rect">
            <a:avLst/>
          </a:prstGeom>
          <a:noFill/>
        </p:spPr>
        <p:txBody>
          <a:bodyPr wrap="square" lIns="0" tIns="0" rIns="0" bIns="0">
            <a:spAutoFit/>
          </a:bodyPr>
          <a:lstStyle/>
          <a:p>
            <a:pPr>
              <a:spcAft>
                <a:spcPts val="853"/>
              </a:spcAft>
            </a:pPr>
            <a:r>
              <a:rPr sz="1280">
                <a:solidFill>
                  <a:srgbClr val="00868B"/>
                </a:solidFill>
                <a:latin typeface="Helvetica Neue"/>
              </a:rPr>
              <a:t>VALIDATION AND UX METHODS</a:t>
            </a:r>
          </a:p>
          <a:p>
            <a:pPr>
              <a:spcAft>
                <a:spcPts val="142"/>
              </a:spcAft>
            </a:pPr>
            <a:r>
              <a:rPr sz="1493">
                <a:solidFill>
                  <a:srgbClr val="1F1F1F"/>
                </a:solidFill>
                <a:latin typeface="Helvetica Neue"/>
              </a:rPr>
              <a:t>Validation of the AI</a:t>
            </a:r>
          </a:p>
          <a:p>
            <a:pPr>
              <a:spcAft>
                <a:spcPts val="996"/>
              </a:spcAft>
            </a:pPr>
            <a:r>
              <a:rPr sz="1422">
                <a:solidFill>
                  <a:srgbClr val="595959"/>
                </a:solidFill>
                <a:latin typeface="Helvetica Neue Light"/>
              </a:rPr>
              <a:t>Labeled chart sets for detection; weekly audits (&lt; 1% wrong among clear); every claim traced to a value or source; A/B on time to first success.</a:t>
            </a:r>
          </a:p>
          <a:p>
            <a:pPr>
              <a:spcAft>
                <a:spcPts val="142"/>
              </a:spcAft>
            </a:pPr>
            <a:r>
              <a:rPr sz="1493">
                <a:solidFill>
                  <a:srgbClr val="1F1F1F"/>
                </a:solidFill>
                <a:latin typeface="Helvetica Neue"/>
              </a:rPr>
              <a:t>UX research</a:t>
            </a:r>
          </a:p>
          <a:p>
            <a:pPr>
              <a:spcAft>
                <a:spcPts val="996"/>
              </a:spcAft>
            </a:pPr>
            <a:r>
              <a:rPr sz="1422">
                <a:solidFill>
                  <a:srgbClr val="595959"/>
                </a:solidFill>
                <a:latin typeface="Helvetica Neue Light"/>
              </a:rPr>
              <a:t>Live-site audit, competitor review, service blueprint of the trading day, pain register scored by user × business impact.</a:t>
            </a:r>
          </a:p>
          <a:p>
            <a:pPr>
              <a:spcAft>
                <a:spcPts val="142"/>
              </a:spcAft>
            </a:pPr>
            <a:r>
              <a:rPr sz="1493">
                <a:solidFill>
                  <a:srgbClr val="1F1F1F"/>
                </a:solidFill>
                <a:latin typeface="Helvetica Neue"/>
              </a:rPr>
              <a:t>Synthesis</a:t>
            </a:r>
          </a:p>
          <a:p>
            <a:pPr>
              <a:spcAft>
                <a:spcPts val="996"/>
              </a:spcAft>
            </a:pPr>
            <a:r>
              <a:rPr sz="1422">
                <a:solidFill>
                  <a:srgbClr val="595959"/>
                </a:solidFill>
                <a:latin typeface="Helvetica Neue Light"/>
              </a:rPr>
              <a:t>Synthetic personas (to validate), reviewer feedback R1–R31, KPI tree, AI Solution Canvas.</a:t>
            </a:r>
          </a:p>
          <a:p>
            <a:pPr>
              <a:spcAft>
                <a:spcPts val="142"/>
              </a:spcAft>
            </a:pPr>
            <a:r>
              <a:rPr sz="1493">
                <a:solidFill>
                  <a:srgbClr val="1F1F1F"/>
                </a:solidFill>
                <a:latin typeface="Helvetica Neue"/>
              </a:rPr>
              <a:t>Design iteration</a:t>
            </a:r>
          </a:p>
          <a:p>
            <a:pPr>
              <a:spcAft>
                <a:spcPts val="996"/>
              </a:spcAft>
            </a:pPr>
            <a:r>
              <a:rPr sz="1422">
                <a:solidFill>
                  <a:srgbClr val="595959"/>
                </a:solidFill>
                <a:latin typeface="Helvetica Neue Light"/>
              </a:rPr>
              <a:t>Concepts → low-fi wireframes (iteration 1) → hi-fi in the design system (iteration 2).</a:t>
            </a:r>
          </a:p>
          <a:p>
            <a:pPr>
              <a:spcAft>
                <a:spcPts val="142"/>
              </a:spcAft>
            </a:pPr>
            <a:r>
              <a:rPr sz="1493">
                <a:solidFill>
                  <a:srgbClr val="1F1F1F"/>
                </a:solidFill>
                <a:latin typeface="Helvetica Neue"/>
              </a:rPr>
              <a:t>Planned testing</a:t>
            </a:r>
          </a:p>
          <a:p>
            <a:pPr>
              <a:spcAft>
                <a:spcPts val="996"/>
              </a:spcAft>
            </a:pPr>
            <a:r>
              <a:rPr sz="1422">
                <a:solidFill>
                  <a:srgbClr val="595959"/>
                </a:solidFill>
                <a:latin typeface="Helvetica Neue Light"/>
              </a:rPr>
              <a:t>5-user think-aloud on the hi-fi flow; 2-week diary study of alerts.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975360" y="975360"/>
            <a:ext cx="3346438"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Discovery</a:t>
            </a:r>
            <a:endParaRPr lang="en-US" sz="5689" dirty="0"/>
          </a:p>
        </p:txBody>
      </p:sp>
      <p:sp>
        <p:nvSpPr>
          <p:cNvPr id="3" name="Text 1"/>
          <p:cNvSpPr txBox="1"/>
          <p:nvPr/>
        </p:nvSpPr>
        <p:spPr>
          <a:xfrm>
            <a:off x="5071871" y="975361"/>
            <a:ext cx="7282688" cy="1717554"/>
          </a:xfrm>
          <a:prstGeom prst="rect">
            <a:avLst/>
          </a:prstGeom>
          <a:noFill/>
          <a:ln/>
        </p:spPr>
        <p:txBody>
          <a:bodyPr wrap="square" lIns="0" tIns="0" rIns="0" bIns="0" rtlCol="0" anchor="t"/>
          <a:lstStyle/>
          <a:p>
            <a:pPr>
              <a:lnSpc>
                <a:spcPct val="130000"/>
              </a:lnSpc>
            </a:pPr>
            <a:r>
              <a:rPr lang="en-US" sz="1707" dirty="0">
                <a:solidFill>
                  <a:srgbClr val="FFE9DF"/>
                </a:solidFill>
                <a:latin typeface="Helvetica Neue Light" pitchFamily="34" charset="0"/>
                <a:ea typeface="Helvetica Neue Light" pitchFamily="34" charset="-122"/>
                <a:cs typeface="Helvetica Neue Light" pitchFamily="34" charset="-120"/>
              </a:rPr>
              <a:t>Because of the business goal, gaps in FinViz’s onboarding and what traders do every day, we needed methods that found the real frictions, checked our assumptions against the live product, and opened space for new AI interaction models.</a:t>
            </a:r>
            <a:endParaRPr lang="en-US" sz="1707" dirty="0"/>
          </a:p>
        </p:txBody>
      </p:sp>
      <p:sp>
        <p:nvSpPr>
          <p:cNvPr id="4" name="Text 2"/>
          <p:cNvSpPr txBox="1"/>
          <p:nvPr/>
        </p:nvSpPr>
        <p:spPr>
          <a:xfrm>
            <a:off x="975361" y="3576320"/>
            <a:ext cx="4898237" cy="4941824"/>
          </a:xfrm>
          <a:prstGeom prst="rect">
            <a:avLst/>
          </a:prstGeom>
          <a:noFill/>
          <a:ln/>
        </p:spPr>
        <p:txBody>
          <a:bodyPr wrap="square" lIns="0" tIns="0" rIns="0" bIns="0" rtlCol="0" anchor="t"/>
          <a:lstStyle/>
          <a:p>
            <a:pPr marL="487672" indent="-487672">
              <a:spcAft>
                <a:spcPts val="1138"/>
              </a:spcAft>
              <a:buSzPct val="100000"/>
              <a:buChar char="•"/>
            </a:pPr>
            <a:r>
              <a:rPr lang="en-US" sz="2276" dirty="0">
                <a:solidFill>
                  <a:srgbClr val="FFFFFF"/>
                </a:solidFill>
                <a:latin typeface="Helvetica Neue Light" pitchFamily="34" charset="0"/>
                <a:ea typeface="Helvetica Neue Light" pitchFamily="34" charset="-122"/>
                <a:cs typeface="Helvetica Neue Light" pitchFamily="34" charset="-120"/>
              </a:rPr>
              <a:t>Market and competitor research</a:t>
            </a:r>
            <a:endParaRPr lang="en-US" sz="2276" dirty="0"/>
          </a:p>
          <a:p>
            <a:pPr marL="487672" indent="-487672">
              <a:spcAft>
                <a:spcPts val="1138"/>
              </a:spcAft>
              <a:buSzPct val="100000"/>
              <a:buChar char="•"/>
            </a:pPr>
            <a:r>
              <a:rPr lang="en-US" sz="2276" dirty="0">
                <a:solidFill>
                  <a:srgbClr val="FFFFFF"/>
                </a:solidFill>
                <a:latin typeface="Helvetica Neue Light" pitchFamily="34" charset="0"/>
                <a:ea typeface="Helvetica Neue Light" pitchFamily="34" charset="-122"/>
                <a:cs typeface="Helvetica Neue Light" pitchFamily="34" charset="-120"/>
              </a:rPr>
              <a:t>Live-site audit of today’s onboarding</a:t>
            </a:r>
            <a:endParaRPr lang="en-US" sz="2276" dirty="0"/>
          </a:p>
          <a:p>
            <a:pPr marL="487672" indent="-487672">
              <a:spcAft>
                <a:spcPts val="1138"/>
              </a:spcAft>
              <a:buSzPct val="100000"/>
              <a:buChar char="•"/>
            </a:pPr>
            <a:r>
              <a:rPr lang="en-US" sz="2276" dirty="0">
                <a:solidFill>
                  <a:srgbClr val="FFFFFF"/>
                </a:solidFill>
                <a:latin typeface="Helvetica Neue Light" pitchFamily="34" charset="0"/>
                <a:ea typeface="Helvetica Neue Light" pitchFamily="34" charset="-122"/>
                <a:cs typeface="Helvetica Neue Light" pitchFamily="34" charset="-120"/>
              </a:rPr>
              <a:t>Persona development (synthetic, to validate)</a:t>
            </a:r>
            <a:endParaRPr lang="en-US" sz="2276" dirty="0"/>
          </a:p>
          <a:p>
            <a:pPr marL="487672" indent="-487672">
              <a:spcAft>
                <a:spcPts val="1138"/>
              </a:spcAft>
              <a:buSzPct val="100000"/>
              <a:buChar char="•"/>
            </a:pPr>
            <a:r>
              <a:rPr lang="en-US" sz="2276" dirty="0">
                <a:solidFill>
                  <a:srgbClr val="FFFFFF"/>
                </a:solidFill>
                <a:latin typeface="Helvetica Neue Light" pitchFamily="34" charset="0"/>
                <a:ea typeface="Helvetica Neue Light" pitchFamily="34" charset="-122"/>
                <a:cs typeface="Helvetica Neue Light" pitchFamily="34" charset="-120"/>
              </a:rPr>
              <a:t>Service blueprint of the trading day</a:t>
            </a:r>
            <a:endParaRPr lang="en-US" sz="2276" dirty="0"/>
          </a:p>
          <a:p>
            <a:pPr marL="487672" indent="-487672">
              <a:spcAft>
                <a:spcPts val="1138"/>
              </a:spcAft>
              <a:buSzPct val="100000"/>
              <a:buChar char="•"/>
            </a:pPr>
            <a:r>
              <a:rPr lang="en-US" sz="2276" dirty="0">
                <a:solidFill>
                  <a:srgbClr val="FFFFFF"/>
                </a:solidFill>
                <a:latin typeface="Helvetica Neue Light" pitchFamily="34" charset="0"/>
                <a:ea typeface="Helvetica Neue Light" pitchFamily="34" charset="-122"/>
                <a:cs typeface="Helvetica Neue Light" pitchFamily="34" charset="-120"/>
              </a:rPr>
              <a:t>Pain register scored by user and business impact</a:t>
            </a:r>
            <a:endParaRPr lang="en-US" sz="2276" dirty="0"/>
          </a:p>
          <a:p>
            <a:pPr marL="487672" indent="-487672">
              <a:spcAft>
                <a:spcPts val="1138"/>
              </a:spcAft>
              <a:buSzPct val="100000"/>
              <a:buChar char="•"/>
            </a:pPr>
            <a:r>
              <a:rPr lang="en-US" sz="2276" dirty="0">
                <a:solidFill>
                  <a:srgbClr val="FFFFFF"/>
                </a:solidFill>
                <a:latin typeface="Helvetica Neue Light" pitchFamily="34" charset="0"/>
                <a:ea typeface="Helvetica Neue Light" pitchFamily="34" charset="-122"/>
                <a:cs typeface="Helvetica Neue Light" pitchFamily="34" charset="-120"/>
              </a:rPr>
              <a:t>KPI tree and North Star</a:t>
            </a:r>
            <a:endParaRPr lang="en-US" sz="2276" dirty="0"/>
          </a:p>
        </p:txBody>
      </p:sp>
      <p:sp>
        <p:nvSpPr>
          <p:cNvPr id="5" name="Text 3"/>
          <p:cNvSpPr txBox="1"/>
          <p:nvPr/>
        </p:nvSpPr>
        <p:spPr>
          <a:xfrm>
            <a:off x="7674260" y="3576320"/>
            <a:ext cx="4680299" cy="4941824"/>
          </a:xfrm>
          <a:prstGeom prst="rect">
            <a:avLst/>
          </a:prstGeom>
          <a:noFill/>
          <a:ln/>
        </p:spPr>
        <p:txBody>
          <a:bodyPr wrap="square" lIns="0" tIns="0" rIns="0" bIns="0" rtlCol="0" anchor="t"/>
          <a:lstStyle/>
          <a:p>
            <a:pPr>
              <a:lnSpc>
                <a:spcPct val="135000"/>
              </a:lnSpc>
              <a:spcAft>
                <a:spcPts val="853"/>
              </a:spcAft>
            </a:pPr>
            <a:r>
              <a:rPr lang="en-US" sz="1991" b="1" dirty="0">
                <a:solidFill>
                  <a:srgbClr val="FFFFFF"/>
                </a:solidFill>
                <a:latin typeface="Helvetica Neue Light" pitchFamily="34" charset="0"/>
                <a:ea typeface="Helvetica Neue Light" pitchFamily="34" charset="-122"/>
                <a:cs typeface="Helvetica Neue Light" pitchFamily="34" charset="-120"/>
              </a:rPr>
              <a:t>Problem statement</a:t>
            </a:r>
            <a:endParaRPr lang="en-US" sz="1991" b="1" dirty="0"/>
          </a:p>
          <a:p>
            <a:pPr>
              <a:lnSpc>
                <a:spcPct val="135000"/>
              </a:lnSpc>
            </a:pPr>
            <a:r>
              <a:rPr lang="en-US" sz="1849" dirty="0">
                <a:solidFill>
                  <a:srgbClr val="FFE9DF"/>
                </a:solidFill>
                <a:latin typeface="Helvetica Neue Light" pitchFamily="34" charset="0"/>
                <a:ea typeface="Helvetica Neue Light" pitchFamily="34" charset="-122"/>
                <a:cs typeface="Helvetica Neue Light" pitchFamily="34" charset="-120"/>
              </a:rPr>
              <a:t>Swing traders find ideas at night but can’t watch the market at work, so good screens are forgotten and the moment passes. They need a screen they trust in their first session, and a quiet partner that watches it and explains every alert, while every decision stays theirs.</a:t>
            </a:r>
            <a:endParaRPr lang="en-US" sz="1991" dirty="0"/>
          </a:p>
        </p:txBody>
      </p:sp>
      <p:pic>
        <p:nvPicPr>
          <p:cNvPr id="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975360" y="910336"/>
            <a:ext cx="5771128"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AI UX Principles</a:t>
            </a:r>
            <a:endParaRPr lang="en-US" sz="6000" dirty="0"/>
          </a:p>
        </p:txBody>
      </p:sp>
      <p:sp>
        <p:nvSpPr>
          <p:cNvPr id="3" name="Text 1"/>
          <p:cNvSpPr txBox="1"/>
          <p:nvPr/>
        </p:nvSpPr>
        <p:spPr>
          <a:xfrm>
            <a:off x="975360" y="2600960"/>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Onboarding is not a phase: </a:t>
            </a:r>
            <a:r>
              <a:rPr lang="en-US" sz="1707" dirty="0">
                <a:solidFill>
                  <a:srgbClr val="FFE9DF"/>
                </a:solidFill>
                <a:latin typeface="Helvetica Neue Light" pitchFamily="34" charset="0"/>
                <a:ea typeface="Helvetica Neue Light" pitchFamily="34" charset="-122"/>
                <a:cs typeface="Helvetica Neue Light" pitchFamily="34" charset="-120"/>
              </a:rPr>
              <a:t>learnability is a property of every screen; no wizard, no tour.</a:t>
            </a:r>
            <a:endParaRPr lang="en-US" sz="1707" dirty="0"/>
          </a:p>
        </p:txBody>
      </p:sp>
      <p:sp>
        <p:nvSpPr>
          <p:cNvPr id="4" name="Text 2"/>
          <p:cNvSpPr txBox="1"/>
          <p:nvPr/>
        </p:nvSpPr>
        <p:spPr>
          <a:xfrm>
            <a:off x="975360" y="3836416"/>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Learn by doing: </a:t>
            </a:r>
            <a:r>
              <a:rPr lang="en-US" sz="1707" dirty="0">
                <a:solidFill>
                  <a:srgbClr val="FFE9DF"/>
                </a:solidFill>
                <a:latin typeface="Helvetica Neue Light" pitchFamily="34" charset="0"/>
                <a:ea typeface="Helvetica Neue Light" pitchFamily="34" charset="-122"/>
                <a:cs typeface="Helvetica Neue Light" pitchFamily="34" charset="-120"/>
              </a:rPr>
              <a:t>every explanation is attached to a chip, a row or an alert.</a:t>
            </a:r>
            <a:endParaRPr lang="en-US" sz="1707" dirty="0"/>
          </a:p>
        </p:txBody>
      </p:sp>
      <p:sp>
        <p:nvSpPr>
          <p:cNvPr id="5" name="Text 3"/>
          <p:cNvSpPr txBox="1"/>
          <p:nvPr/>
        </p:nvSpPr>
        <p:spPr>
          <a:xfrm>
            <a:off x="975360" y="5071872"/>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Scaffolds fade: </a:t>
            </a:r>
            <a:r>
              <a:rPr lang="en-US" sz="1707" dirty="0">
                <a:solidFill>
                  <a:srgbClr val="FFE9DF"/>
                </a:solidFill>
                <a:latin typeface="Helvetica Neue Light" pitchFamily="34" charset="0"/>
                <a:ea typeface="Helvetica Neue Light" pitchFamily="34" charset="-122"/>
                <a:cs typeface="Helvetica Neue Light" pitchFamily="34" charset="-120"/>
              </a:rPr>
              <a:t>help per concept fades with fluency and returns after 30 days.</a:t>
            </a:r>
            <a:endParaRPr lang="en-US" sz="1707" dirty="0"/>
          </a:p>
        </p:txBody>
      </p:sp>
      <p:sp>
        <p:nvSpPr>
          <p:cNvPr id="6" name="Text 4"/>
          <p:cNvSpPr txBox="1"/>
          <p:nvPr/>
        </p:nvSpPr>
        <p:spPr>
          <a:xfrm>
            <a:off x="975360" y="6307328"/>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Editable output: </a:t>
            </a:r>
            <a:r>
              <a:rPr lang="en-US" sz="1707" dirty="0">
                <a:solidFill>
                  <a:srgbClr val="FFE9DF"/>
                </a:solidFill>
                <a:latin typeface="Helvetica Neue Light" pitchFamily="34" charset="0"/>
                <a:ea typeface="Helvetica Neue Light" pitchFamily="34" charset="-122"/>
                <a:cs typeface="Helvetica Neue Light" pitchFamily="34" charset="-120"/>
              </a:rPr>
              <a:t>AI writes filters, rules and columns, never chat bubbles.</a:t>
            </a:r>
            <a:endParaRPr lang="en-US" sz="1707" dirty="0"/>
          </a:p>
        </p:txBody>
      </p:sp>
      <p:sp>
        <p:nvSpPr>
          <p:cNvPr id="7" name="Text 5"/>
          <p:cNvSpPr txBox="1"/>
          <p:nvPr/>
        </p:nvSpPr>
        <p:spPr>
          <a:xfrm>
            <a:off x="975360" y="7542784"/>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Remembers your why: </a:t>
            </a:r>
            <a:r>
              <a:rPr lang="en-US" sz="1707" dirty="0">
                <a:solidFill>
                  <a:srgbClr val="FFE9DF"/>
                </a:solidFill>
                <a:latin typeface="Helvetica Neue Light" pitchFamily="34" charset="0"/>
                <a:ea typeface="Helvetica Neue Light" pitchFamily="34" charset="-122"/>
                <a:cs typeface="Helvetica Neue Light" pitchFamily="34" charset="-120"/>
              </a:rPr>
              <a:t>screens and watches keep the reasons they were created.</a:t>
            </a:r>
            <a:endParaRPr lang="en-US" sz="1707" dirty="0"/>
          </a:p>
        </p:txBody>
      </p:sp>
      <p:sp>
        <p:nvSpPr>
          <p:cNvPr id="8" name="Text 6"/>
          <p:cNvSpPr txBox="1"/>
          <p:nvPr/>
        </p:nvSpPr>
        <p:spPr>
          <a:xfrm>
            <a:off x="7074039" y="2600960"/>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Judgment stays with the trader: </a:t>
            </a:r>
            <a:r>
              <a:rPr lang="en-US" sz="1707" dirty="0">
                <a:solidFill>
                  <a:srgbClr val="FFE9DF"/>
                </a:solidFill>
                <a:latin typeface="Helvetica Neue Light" pitchFamily="34" charset="0"/>
                <a:ea typeface="Helvetica Neue Light" pitchFamily="34" charset="-122"/>
                <a:cs typeface="Helvetica Neue Light" pitchFamily="34" charset="-120"/>
              </a:rPr>
              <a:t>AI explains and verifies; it never recommends, predicts or places orders.</a:t>
            </a:r>
            <a:endParaRPr lang="en-US" sz="1707" dirty="0"/>
          </a:p>
        </p:txBody>
      </p:sp>
      <p:sp>
        <p:nvSpPr>
          <p:cNvPr id="9" name="Text 7"/>
          <p:cNvSpPr txBox="1"/>
          <p:nvPr/>
        </p:nvSpPr>
        <p:spPr>
          <a:xfrm>
            <a:off x="7074039" y="3836416"/>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Explain at the moment of doubt: </a:t>
            </a:r>
            <a:r>
              <a:rPr lang="en-US" sz="1707" dirty="0">
                <a:solidFill>
                  <a:srgbClr val="FFE9DF"/>
                </a:solidFill>
                <a:latin typeface="Helvetica Neue Light" pitchFamily="34" charset="0"/>
                <a:ea typeface="Helvetica Neue Light" pitchFamily="34" charset="-122"/>
                <a:cs typeface="Helvetica Neue Light" pitchFamily="34" charset="-120"/>
              </a:rPr>
              <a:t>“why it matched” on every row and every alert.</a:t>
            </a:r>
            <a:endParaRPr lang="en-US" sz="1707" dirty="0"/>
          </a:p>
        </p:txBody>
      </p:sp>
      <p:sp>
        <p:nvSpPr>
          <p:cNvPr id="10" name="Text 8"/>
          <p:cNvSpPr txBox="1"/>
          <p:nvPr/>
        </p:nvSpPr>
        <p:spPr>
          <a:xfrm>
            <a:off x="7074039" y="5071872"/>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Show consequences first: </a:t>
            </a:r>
            <a:r>
              <a:rPr lang="en-US" sz="1707" dirty="0">
                <a:solidFill>
                  <a:srgbClr val="FFE9DF"/>
                </a:solidFill>
                <a:latin typeface="Helvetica Neue Light" pitchFamily="34" charset="0"/>
                <a:ea typeface="Helvetica Neue Light" pitchFamily="34" charset="-122"/>
                <a:cs typeface="Helvetica Neue Light" pitchFamily="34" charset="-120"/>
              </a:rPr>
              <a:t>an alert is previewed against the last 30 days before it is saved.</a:t>
            </a:r>
            <a:endParaRPr lang="en-US" sz="1707" dirty="0"/>
          </a:p>
        </p:txBody>
      </p:sp>
      <p:sp>
        <p:nvSpPr>
          <p:cNvPr id="11" name="Text 9"/>
          <p:cNvSpPr txBox="1"/>
          <p:nvPr/>
        </p:nvSpPr>
        <p:spPr>
          <a:xfrm>
            <a:off x="7074039" y="6307328"/>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Honest history: </a:t>
            </a:r>
            <a:r>
              <a:rPr lang="en-US" sz="1707" dirty="0">
                <a:solidFill>
                  <a:srgbClr val="FFE9DF"/>
                </a:solidFill>
                <a:latin typeface="Helvetica Neue Light" pitchFamily="34" charset="0"/>
                <a:ea typeface="Helvetica Neue Light" pitchFamily="34" charset="-122"/>
                <a:cs typeface="Helvetica Neue Light" pitchFamily="34" charset="-120"/>
              </a:rPr>
              <a:t>base rates with sample sizes, never a confidence % on a trade.</a:t>
            </a:r>
            <a:endParaRPr lang="en-US" sz="1707" dirty="0"/>
          </a:p>
        </p:txBody>
      </p:sp>
      <p:sp>
        <p:nvSpPr>
          <p:cNvPr id="12" name="Text 10"/>
          <p:cNvSpPr txBox="1"/>
          <p:nvPr/>
        </p:nvSpPr>
        <p:spPr>
          <a:xfrm>
            <a:off x="7074039" y="7542784"/>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Grounded in research: </a:t>
            </a:r>
            <a:r>
              <a:rPr lang="en-US" sz="1707" dirty="0">
                <a:solidFill>
                  <a:srgbClr val="FFE9DF"/>
                </a:solidFill>
                <a:latin typeface="Helvetica Neue Light" pitchFamily="34" charset="0"/>
                <a:ea typeface="Helvetica Neue Light" pitchFamily="34" charset="-122"/>
                <a:cs typeface="Helvetica Neue Light" pitchFamily="34" charset="-120"/>
              </a:rPr>
              <a:t>Microsoft HAX guidelines and Google PAIR.</a:t>
            </a:r>
            <a:endParaRPr lang="en-US" sz="1707" dirty="0"/>
          </a:p>
        </p:txBody>
      </p:sp>
      <p:sp>
        <p:nvSpPr>
          <p:cNvPr id="13" name="design lead call"/>
          <p:cNvSpPr/>
          <p:nvPr/>
        </p:nvSpPr>
        <p:spPr>
          <a:xfrm>
            <a:off x="6853530" y="312115"/>
            <a:ext cx="5696102" cy="416154"/>
          </a:xfrm>
          <a:prstGeom prst="rect">
            <a:avLst/>
          </a:prstGeom>
          <a:solidFill>
            <a:srgbClr val="C45A35"/>
          </a:solidFill>
          <a:ln w="12700">
            <a:solidFill>
              <a:srgbClr val="C45A35"/>
            </a:solidFill>
            <a:prstDash val="solid"/>
          </a:ln>
        </p:spPr>
        <p:txBody>
          <a:bodyPr/>
          <a:lstStyle/>
          <a:p>
            <a:endParaRPr sz="2560"/>
          </a:p>
        </p:txBody>
      </p:sp>
      <p:sp>
        <p:nvSpPr>
          <p:cNvPr id="14" name="Text 12"/>
          <p:cNvSpPr txBox="1"/>
          <p:nvPr/>
        </p:nvSpPr>
        <p:spPr>
          <a:xfrm>
            <a:off x="6853530" y="312115"/>
            <a:ext cx="5696102" cy="416154"/>
          </a:xfrm>
          <a:prstGeom prst="rect">
            <a:avLst/>
          </a:prstGeom>
          <a:noFill/>
          <a:ln/>
        </p:spPr>
        <p:txBody>
          <a:bodyPr wrap="square" lIns="0" tIns="0" rIns="0" bIns="0" rtlCol="0" anchor="ctr"/>
          <a:lstStyle/>
          <a:p>
            <a:pPr algn="ctr"/>
            <a:r>
              <a:rPr lang="en-US" sz="1280" b="1" kern="0" spc="142" dirty="0">
                <a:solidFill>
                  <a:srgbClr val="FFFFFF"/>
                </a:solidFill>
                <a:latin typeface="Helvetica Neue" pitchFamily="34" charset="0"/>
                <a:ea typeface="Helvetica Neue" pitchFamily="34" charset="-122"/>
                <a:cs typeface="Helvetica Neue" pitchFamily="34" charset="-120"/>
              </a:rPr>
              <a:t>DESIGN LEAD CALL  </a:t>
            </a:r>
            <a:r>
              <a:rPr lang="en-US" sz="1280" dirty="0">
                <a:solidFill>
                  <a:srgbClr val="FFFFFF"/>
                </a:solidFill>
                <a:latin typeface="Helvetica Neue Light" pitchFamily="34" charset="0"/>
                <a:ea typeface="Helvetica Neue Light" pitchFamily="34" charset="-122"/>
                <a:cs typeface="Helvetica Neue Light" pitchFamily="34" charset="-120"/>
              </a:rPr>
              <a:t>One design for first-time and repeat users</a:t>
            </a:r>
            <a:endParaRPr lang="en-US" sz="1280" dirty="0"/>
          </a:p>
        </p:txBody>
      </p:sp>
      <p:pic>
        <p:nvPicPr>
          <p:cNvPr id="1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07 · Methodology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The AI UX workflow: AI drafts, the design lead decides</a:t>
            </a:r>
            <a:endParaRPr lang="en-US" sz="3200" dirty="0"/>
          </a:p>
        </p:txBody>
      </p:sp>
      <p:sp>
        <p:nvSpPr>
          <p:cNvPr id="4" name="1 · Frame"/>
          <p:cNvSpPr/>
          <p:nvPr/>
        </p:nvSpPr>
        <p:spPr>
          <a:xfrm>
            <a:off x="455168" y="2080768"/>
            <a:ext cx="2275840" cy="4681728"/>
          </a:xfrm>
          <a:prstGeom prst="rect">
            <a:avLst/>
          </a:prstGeom>
          <a:solidFill>
            <a:srgbClr val="A12A37"/>
          </a:solidFill>
          <a:ln w="12700">
            <a:solidFill>
              <a:srgbClr val="A12A37"/>
            </a:solidFill>
            <a:prstDash val="solid"/>
          </a:ln>
        </p:spPr>
        <p:txBody>
          <a:bodyPr/>
          <a:lstStyle/>
          <a:p>
            <a:endParaRPr sz="2560"/>
          </a:p>
        </p:txBody>
      </p:sp>
      <p:sp>
        <p:nvSpPr>
          <p:cNvPr id="5" name="Text 3"/>
          <p:cNvSpPr txBox="1"/>
          <p:nvPr/>
        </p:nvSpPr>
        <p:spPr>
          <a:xfrm>
            <a:off x="715264"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1 · Frame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DESIGN LEAD</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Sets the question, audience, scope and rules: desktop only, no advice, purple means AI</a:t>
            </a:r>
            <a:endParaRPr lang="en-US" sz="1991" dirty="0"/>
          </a:p>
        </p:txBody>
      </p:sp>
      <p:sp>
        <p:nvSpPr>
          <p:cNvPr id="6" name="2 · Draft"/>
          <p:cNvSpPr/>
          <p:nvPr/>
        </p:nvSpPr>
        <p:spPr>
          <a:xfrm>
            <a:off x="2887066" y="2080768"/>
            <a:ext cx="2275840" cy="4681728"/>
          </a:xfrm>
          <a:prstGeom prst="rect">
            <a:avLst/>
          </a:prstGeom>
          <a:solidFill>
            <a:srgbClr val="5B3F96"/>
          </a:solidFill>
          <a:ln w="12700">
            <a:solidFill>
              <a:srgbClr val="5B3F96"/>
            </a:solidFill>
            <a:prstDash val="solid"/>
          </a:ln>
        </p:spPr>
        <p:txBody>
          <a:bodyPr/>
          <a:lstStyle/>
          <a:p>
            <a:endParaRPr sz="2560"/>
          </a:p>
        </p:txBody>
      </p:sp>
      <p:sp>
        <p:nvSpPr>
          <p:cNvPr id="7" name="Text 5"/>
          <p:cNvSpPr txBox="1"/>
          <p:nvPr/>
        </p:nvSpPr>
        <p:spPr>
          <a:xfrm>
            <a:off x="3147162"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2 · Draft</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AI AGENTS</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Research, docs, FigJam boards and Figma screens, drafted against those rules</a:t>
            </a:r>
            <a:endParaRPr lang="en-US" sz="1991" dirty="0"/>
          </a:p>
        </p:txBody>
      </p:sp>
      <p:sp>
        <p:nvSpPr>
          <p:cNvPr id="8" name="3 · Review"/>
          <p:cNvSpPr/>
          <p:nvPr/>
        </p:nvSpPr>
        <p:spPr>
          <a:xfrm>
            <a:off x="5318963" y="2080768"/>
            <a:ext cx="2275840" cy="4681728"/>
          </a:xfrm>
          <a:prstGeom prst="rect">
            <a:avLst/>
          </a:prstGeom>
          <a:solidFill>
            <a:srgbClr val="3A7D55"/>
          </a:solidFill>
          <a:ln w="12700">
            <a:solidFill>
              <a:srgbClr val="3A7D55"/>
            </a:solidFill>
            <a:prstDash val="solid"/>
          </a:ln>
        </p:spPr>
        <p:txBody>
          <a:bodyPr/>
          <a:lstStyle/>
          <a:p>
            <a:endParaRPr sz="2560"/>
          </a:p>
        </p:txBody>
      </p:sp>
      <p:sp>
        <p:nvSpPr>
          <p:cNvPr id="9" name="Text 7"/>
          <p:cNvSpPr txBox="1"/>
          <p:nvPr/>
        </p:nvSpPr>
        <p:spPr>
          <a:xfrm>
            <a:off x="5579059"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3 · Review</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LEAD + TEAM</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Fact checks on the live site; critique with the team; rule breaks caught</a:t>
            </a:r>
            <a:endParaRPr lang="en-US" sz="1991" dirty="0"/>
          </a:p>
        </p:txBody>
      </p:sp>
      <p:sp>
        <p:nvSpPr>
          <p:cNvPr id="10" name="4 · Decide"/>
          <p:cNvSpPr/>
          <p:nvPr/>
        </p:nvSpPr>
        <p:spPr>
          <a:xfrm>
            <a:off x="7750861" y="2080768"/>
            <a:ext cx="2275840" cy="4681728"/>
          </a:xfrm>
          <a:prstGeom prst="rect">
            <a:avLst/>
          </a:prstGeom>
          <a:solidFill>
            <a:srgbClr val="A12A37"/>
          </a:solidFill>
          <a:ln w="12700">
            <a:solidFill>
              <a:srgbClr val="A12A37"/>
            </a:solidFill>
            <a:prstDash val="solid"/>
          </a:ln>
        </p:spPr>
        <p:txBody>
          <a:bodyPr/>
          <a:lstStyle/>
          <a:p>
            <a:endParaRPr sz="2560"/>
          </a:p>
        </p:txBody>
      </p:sp>
      <p:sp>
        <p:nvSpPr>
          <p:cNvPr id="11" name="Text 9"/>
          <p:cNvSpPr txBox="1"/>
          <p:nvPr/>
        </p:nvSpPr>
        <p:spPr>
          <a:xfrm>
            <a:off x="8010957"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4 · Decide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DESIGN LEAD</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What to adopt, rename, cut or lead with, and why</a:t>
            </a:r>
            <a:endParaRPr lang="en-US" sz="1991" dirty="0"/>
          </a:p>
        </p:txBody>
      </p:sp>
      <p:sp>
        <p:nvSpPr>
          <p:cNvPr id="12" name="5 · Propagate"/>
          <p:cNvSpPr/>
          <p:nvPr/>
        </p:nvSpPr>
        <p:spPr>
          <a:xfrm>
            <a:off x="10182758" y="2080768"/>
            <a:ext cx="2275840" cy="4681728"/>
          </a:xfrm>
          <a:prstGeom prst="rect">
            <a:avLst/>
          </a:prstGeom>
          <a:solidFill>
            <a:srgbClr val="5B3F96"/>
          </a:solidFill>
          <a:ln w="12700">
            <a:solidFill>
              <a:srgbClr val="5B3F96"/>
            </a:solidFill>
            <a:prstDash val="solid"/>
          </a:ln>
        </p:spPr>
        <p:txBody>
          <a:bodyPr/>
          <a:lstStyle/>
          <a:p>
            <a:endParaRPr sz="2560"/>
          </a:p>
        </p:txBody>
      </p:sp>
      <p:sp>
        <p:nvSpPr>
          <p:cNvPr id="13" name="Text 11"/>
          <p:cNvSpPr txBox="1"/>
          <p:nvPr/>
        </p:nvSpPr>
        <p:spPr>
          <a:xfrm>
            <a:off x="10442854"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5 · Propagate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AI AGENTS</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Each decision applied across every doc, board and screen</a:t>
            </a:r>
            <a:endParaRPr lang="en-US" sz="1991" dirty="0"/>
          </a:p>
        </p:txBody>
      </p:sp>
      <p:sp>
        <p:nvSpPr>
          <p:cNvPr id="14" name="Text 12"/>
          <p:cNvSpPr txBox="1"/>
          <p:nvPr/>
        </p:nvSpPr>
        <p:spPr>
          <a:xfrm>
            <a:off x="455168" y="7152640"/>
            <a:ext cx="12094464" cy="910336"/>
          </a:xfrm>
          <a:prstGeom prst="rect">
            <a:avLst/>
          </a:prstGeom>
          <a:noFill/>
          <a:ln/>
        </p:spPr>
        <p:txBody>
          <a:bodyPr wrap="square" lIns="0" tIns="0" rIns="0" bIns="0" rtlCol="0" anchor="t"/>
          <a:lstStyle/>
          <a:p>
            <a:r>
              <a:rPr lang="en-US" sz="1849" dirty="0">
                <a:solidFill>
                  <a:srgbClr val="595959"/>
                </a:solidFill>
                <a:latin typeface="Helvetica Neue Light" pitchFamily="34" charset="0"/>
                <a:ea typeface="Helvetica Neue Light" pitchFamily="34" charset="-122"/>
                <a:cs typeface="Helvetica Neue Light" pitchFamily="34" charset="-120"/>
              </a:rPr>
              <a:t>Repeated in every phase: research → principles → concepts → screens. Rules set by the lead live in the project brief, so every AI draft starts from them.</a:t>
            </a:r>
            <a:endParaRPr lang="en-US" sz="1849" dirty="0"/>
          </a:p>
        </p:txBody>
      </p:sp>
      <p:pic>
        <p:nvPicPr>
          <p:cNvPr id="1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07 · Methodology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The trading day: A service blueprint</a:t>
            </a:r>
            <a:endParaRPr lang="en-US" sz="3200" dirty="0"/>
          </a:p>
        </p:txBody>
      </p:sp>
      <p:pic>
        <p:nvPicPr>
          <p:cNvPr id="4" name="Service blueprint of the trading day" descr="Service blueprint of the trading day"/>
          <p:cNvPicPr>
            <a:picLocks noChangeAspect="1"/>
          </p:cNvPicPr>
          <p:nvPr/>
        </p:nvPicPr>
        <p:blipFill>
          <a:blip r:embed="rId3"/>
          <a:stretch>
            <a:fillRect/>
          </a:stretch>
        </p:blipFill>
        <p:spPr>
          <a:xfrm>
            <a:off x="455168" y="1885696"/>
            <a:ext cx="8062976" cy="4543297"/>
          </a:xfrm>
          <a:prstGeom prst="rect">
            <a:avLst/>
          </a:prstGeom>
        </p:spPr>
      </p:pic>
      <p:sp>
        <p:nvSpPr>
          <p:cNvPr id="5" name="Shape 2"/>
          <p:cNvSpPr/>
          <p:nvPr/>
        </p:nvSpPr>
        <p:spPr>
          <a:xfrm>
            <a:off x="455168" y="1885696"/>
            <a:ext cx="8062976" cy="4543297"/>
          </a:xfrm>
          <a:prstGeom prst="rect">
            <a:avLst/>
          </a:prstGeom>
          <a:ln w="9525">
            <a:solidFill>
              <a:srgbClr val="1F1F1F"/>
            </a:solidFill>
            <a:prstDash val="solid"/>
          </a:ln>
        </p:spPr>
        <p:txBody>
          <a:bodyPr/>
          <a:lstStyle/>
          <a:p>
            <a:endParaRPr sz="2560"/>
          </a:p>
        </p:txBody>
      </p:sp>
      <p:sp>
        <p:nvSpPr>
          <p:cNvPr id="6" name="Text 3"/>
          <p:cNvSpPr txBox="1"/>
          <p:nvPr/>
        </p:nvSpPr>
        <p:spPr>
          <a:xfrm>
            <a:off x="8908288" y="1885696"/>
            <a:ext cx="3641344" cy="4551680"/>
          </a:xfrm>
          <a:prstGeom prst="rect">
            <a:avLst/>
          </a:prstGeom>
          <a:noFill/>
          <a:ln/>
        </p:spPr>
        <p:txBody>
          <a:bodyPr wrap="square" lIns="0" tIns="0" rIns="0" bIns="0" rtlCol="0" anchor="t"/>
          <a:lstStyle/>
          <a:p>
            <a:pPr>
              <a:lnSpc>
                <a:spcPct val="130000"/>
              </a:lnSpc>
              <a:spcAft>
                <a:spcPts val="1422"/>
              </a:spcAft>
            </a:pPr>
            <a:r>
              <a:rPr lang="en-US" sz="2133" dirty="0">
                <a:solidFill>
                  <a:srgbClr val="1F1F1F"/>
                </a:solidFill>
                <a:latin typeface="Helvetica Neue Light" pitchFamily="34" charset="0"/>
                <a:ea typeface="Helvetica Neue Light" pitchFamily="34" charset="-122"/>
                <a:cs typeface="Helvetica Neue Light" pitchFamily="34" charset="-120"/>
              </a:rPr>
              <a:t>Most of FinViz’s value lands outside market hours.</a:t>
            </a:r>
            <a:endParaRPr lang="en-US" sz="2133" dirty="0"/>
          </a:p>
          <a:p>
            <a:pPr>
              <a:lnSpc>
                <a:spcPct val="130000"/>
              </a:lnSpc>
            </a:pPr>
            <a:r>
              <a:rPr lang="en-US" sz="1849" dirty="0">
                <a:solidFill>
                  <a:srgbClr val="595959"/>
                </a:solidFill>
                <a:latin typeface="Helvetica Neue Light" pitchFamily="34" charset="0"/>
                <a:ea typeface="Helvetica Neue Light" pitchFamily="34" charset="-122"/>
                <a:cs typeface="Helvetica Neue Light" pitchFamily="34" charset="-120"/>
              </a:rPr>
              <a:t>The evening scan is the core session. During the day FinViz is nearly absent: no free alerts and no app. A good screen tonight is forgotten by tomorrow.</a:t>
            </a:r>
            <a:endParaRPr lang="en-US" sz="2133" dirty="0"/>
          </a:p>
        </p:txBody>
      </p:sp>
      <p:pic>
        <p:nvPicPr>
          <p:cNvPr id="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08 · Implementation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Implementation and integration</a:t>
            </a:r>
          </a:p>
        </p:txBody>
      </p:sp>
      <p:sp>
        <p:nvSpPr>
          <p:cNvPr id="5" name="TextBox 4"/>
          <p:cNvSpPr txBox="1"/>
          <p:nvPr/>
        </p:nvSpPr>
        <p:spPr>
          <a:xfrm>
            <a:off x="455168" y="1638605"/>
            <a:ext cx="12094464" cy="251736"/>
          </a:xfrm>
          <a:prstGeom prst="rect">
            <a:avLst/>
          </a:prstGeom>
          <a:noFill/>
        </p:spPr>
        <p:txBody>
          <a:bodyPr wrap="square" lIns="0" tIns="0" rIns="0" bIns="0">
            <a:spAutoFit/>
          </a:bodyPr>
          <a:lstStyle/>
          <a:p>
            <a:r>
              <a:rPr sz="1636" dirty="0">
                <a:solidFill>
                  <a:srgbClr val="595959"/>
                </a:solidFill>
                <a:latin typeface="Helvetica Neue Light"/>
              </a:rPr>
              <a:t>Built mostly on what </a:t>
            </a:r>
            <a:r>
              <a:rPr sz="1636" dirty="0" err="1">
                <a:solidFill>
                  <a:srgbClr val="595959"/>
                </a:solidFill>
                <a:latin typeface="Helvetica Neue Light"/>
              </a:rPr>
              <a:t>FinViz</a:t>
            </a:r>
            <a:r>
              <a:rPr sz="1636" dirty="0">
                <a:solidFill>
                  <a:srgbClr val="595959"/>
                </a:solidFill>
                <a:latin typeface="Helvetica Neue Light"/>
              </a:rPr>
              <a:t> already runs; the new pieces are small services around it. Not built; a plan to agree with engineering.</a:t>
            </a:r>
          </a:p>
        </p:txBody>
      </p:sp>
      <p:sp>
        <p:nvSpPr>
          <p:cNvPr id="6" name="Rectangle 5"/>
          <p:cNvSpPr/>
          <p:nvPr/>
        </p:nvSpPr>
        <p:spPr>
          <a:xfrm>
            <a:off x="455168" y="2405888"/>
            <a:ext cx="3901440" cy="520192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Rectangle 6"/>
          <p:cNvSpPr/>
          <p:nvPr/>
        </p:nvSpPr>
        <p:spPr>
          <a:xfrm>
            <a:off x="455168" y="2405888"/>
            <a:ext cx="3901440" cy="104038"/>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2665983"/>
            <a:ext cx="3511296" cy="1845826"/>
          </a:xfrm>
          <a:prstGeom prst="rect">
            <a:avLst/>
          </a:prstGeom>
          <a:noFill/>
        </p:spPr>
        <p:txBody>
          <a:bodyPr wrap="square" lIns="0" tIns="0" rIns="0" bIns="0">
            <a:spAutoFit/>
          </a:bodyPr>
          <a:lstStyle/>
          <a:p>
            <a:pPr>
              <a:spcAft>
                <a:spcPts val="1138"/>
              </a:spcAft>
            </a:pPr>
            <a:r>
              <a:rPr sz="1280">
                <a:solidFill>
                  <a:srgbClr val="3A7D55"/>
                </a:solidFill>
                <a:latin typeface="Helvetica Neue"/>
              </a:rPr>
              <a:t>ALREADY IN FINVIZ</a:t>
            </a:r>
          </a:p>
          <a:p>
            <a:pPr>
              <a:spcAft>
                <a:spcPts val="711"/>
              </a:spcAft>
            </a:pPr>
            <a:r>
              <a:rPr sz="1493">
                <a:solidFill>
                  <a:srgbClr val="1F1F1F"/>
                </a:solidFill>
                <a:latin typeface="Helvetica Neue Light"/>
              </a:rPr>
              <a:t>• Screener and its URL filter engine</a:t>
            </a:r>
          </a:p>
          <a:p>
            <a:pPr>
              <a:spcAft>
                <a:spcPts val="711"/>
              </a:spcAft>
            </a:pPr>
            <a:r>
              <a:rPr sz="1493">
                <a:solidFill>
                  <a:srgbClr val="1F1F1F"/>
                </a:solidFill>
                <a:latin typeface="Helvetica Neue Light"/>
              </a:rPr>
              <a:t>• Rule-based pattern signals</a:t>
            </a:r>
          </a:p>
          <a:p>
            <a:pPr>
              <a:spcAft>
                <a:spcPts val="711"/>
              </a:spcAft>
            </a:pPr>
            <a:r>
              <a:rPr sz="1493">
                <a:solidFill>
                  <a:srgbClr val="1F1F1F"/>
                </a:solidFill>
                <a:latin typeface="Helvetica Neue Light"/>
              </a:rPr>
              <a:t>• Elite alerts and the 7-day trial</a:t>
            </a:r>
          </a:p>
          <a:p>
            <a:pPr>
              <a:spcAft>
                <a:spcPts val="711"/>
              </a:spcAft>
            </a:pPr>
            <a:r>
              <a:rPr sz="1493">
                <a:solidFill>
                  <a:srgbClr val="1F1F1F"/>
                </a:solidFill>
                <a:latin typeface="Helvetica Neue Light"/>
              </a:rPr>
              <a:t>• Earnings calendar and news feeds</a:t>
            </a:r>
          </a:p>
          <a:p>
            <a:pPr>
              <a:spcAft>
                <a:spcPts val="711"/>
              </a:spcAft>
            </a:pPr>
            <a:r>
              <a:rPr sz="1493">
                <a:solidFill>
                  <a:srgbClr val="1F1F1F"/>
                </a:solidFill>
                <a:latin typeface="Helvetica Neue Light"/>
              </a:rPr>
              <a:t>• Portfolio and Maps</a:t>
            </a:r>
          </a:p>
        </p:txBody>
      </p:sp>
      <p:sp>
        <p:nvSpPr>
          <p:cNvPr id="9" name="Rectangle 8"/>
          <p:cNvSpPr/>
          <p:nvPr/>
        </p:nvSpPr>
        <p:spPr>
          <a:xfrm>
            <a:off x="4525670" y="2405888"/>
            <a:ext cx="3901440" cy="520192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0" name="Rectangle 9"/>
          <p:cNvSpPr/>
          <p:nvPr/>
        </p:nvSpPr>
        <p:spPr>
          <a:xfrm>
            <a:off x="4525670" y="2405888"/>
            <a:ext cx="3901440" cy="104038"/>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4720742" y="2665983"/>
            <a:ext cx="3511296" cy="2305311"/>
          </a:xfrm>
          <a:prstGeom prst="rect">
            <a:avLst/>
          </a:prstGeom>
          <a:noFill/>
        </p:spPr>
        <p:txBody>
          <a:bodyPr wrap="square" lIns="0" tIns="0" rIns="0" bIns="0">
            <a:spAutoFit/>
          </a:bodyPr>
          <a:lstStyle/>
          <a:p>
            <a:pPr>
              <a:spcAft>
                <a:spcPts val="1138"/>
              </a:spcAft>
            </a:pPr>
            <a:r>
              <a:rPr sz="1280">
                <a:solidFill>
                  <a:srgbClr val="5B3F96"/>
                </a:solidFill>
                <a:latin typeface="Helvetica Neue"/>
              </a:rPr>
              <a:t>NEW SERVICES</a:t>
            </a:r>
          </a:p>
          <a:p>
            <a:pPr>
              <a:spcAft>
                <a:spcPts val="711"/>
              </a:spcAft>
            </a:pPr>
            <a:r>
              <a:rPr sz="1493">
                <a:solidFill>
                  <a:srgbClr val="1F1F1F"/>
                </a:solidFill>
                <a:latin typeface="Helvetica Neue Light"/>
              </a:rPr>
              <a:t>• Translation: LLM + filter-schema validator</a:t>
            </a:r>
          </a:p>
          <a:p>
            <a:pPr>
              <a:spcAft>
                <a:spcPts val="711"/>
              </a:spcAft>
            </a:pPr>
            <a:r>
              <a:rPr sz="1493">
                <a:solidFill>
                  <a:srgbClr val="1F1F1F"/>
                </a:solidFill>
                <a:latin typeface="Helvetica Neue Light"/>
              </a:rPr>
              <a:t>• Reasons engine: checks at 7:30, 12:00, 4:30</a:t>
            </a:r>
          </a:p>
          <a:p>
            <a:pPr>
              <a:spcAft>
                <a:spcPts val="711"/>
              </a:spcAft>
            </a:pPr>
            <a:r>
              <a:rPr sz="1493">
                <a:solidFill>
                  <a:srgbClr val="1F1F1F"/>
                </a:solidFill>
                <a:latin typeface="Helvetica Neue Light"/>
              </a:rPr>
              <a:t>• Replay service for alert previews</a:t>
            </a:r>
          </a:p>
          <a:p>
            <a:pPr>
              <a:spcAft>
                <a:spcPts val="711"/>
              </a:spcAft>
            </a:pPr>
            <a:r>
              <a:rPr sz="1493">
                <a:solidFill>
                  <a:srgbClr val="1F1F1F"/>
                </a:solidFill>
                <a:latin typeface="Helvetica Neue Light"/>
              </a:rPr>
              <a:t>• Overnight agent: one batch at 6 AM</a:t>
            </a:r>
          </a:p>
          <a:p>
            <a:pPr>
              <a:spcAft>
                <a:spcPts val="711"/>
              </a:spcAft>
            </a:pPr>
            <a:r>
              <a:rPr sz="1493">
                <a:solidFill>
                  <a:srgbClr val="1F1F1F"/>
                </a:solidFill>
                <a:latin typeface="Helvetica Neue Light"/>
              </a:rPr>
              <a:t>• Notification scheduler (quiet hours) + activity log</a:t>
            </a:r>
          </a:p>
        </p:txBody>
      </p:sp>
      <p:sp>
        <p:nvSpPr>
          <p:cNvPr id="12" name="Rectangle 11"/>
          <p:cNvSpPr/>
          <p:nvPr/>
        </p:nvSpPr>
        <p:spPr>
          <a:xfrm>
            <a:off x="8596171" y="2405888"/>
            <a:ext cx="3901440" cy="520192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Rectangle 12"/>
          <p:cNvSpPr/>
          <p:nvPr/>
        </p:nvSpPr>
        <p:spPr>
          <a:xfrm>
            <a:off x="8596171" y="2405888"/>
            <a:ext cx="3901440" cy="104038"/>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8791245" y="2665983"/>
            <a:ext cx="3511296" cy="2215543"/>
          </a:xfrm>
          <a:prstGeom prst="rect">
            <a:avLst/>
          </a:prstGeom>
          <a:noFill/>
        </p:spPr>
        <p:txBody>
          <a:bodyPr wrap="square" lIns="0" tIns="0" rIns="0" bIns="0">
            <a:spAutoFit/>
          </a:bodyPr>
          <a:lstStyle/>
          <a:p>
            <a:pPr>
              <a:spcAft>
                <a:spcPts val="1138"/>
              </a:spcAft>
            </a:pPr>
            <a:r>
              <a:rPr sz="1280">
                <a:solidFill>
                  <a:srgbClr val="A12A37"/>
                </a:solidFill>
                <a:latin typeface="Helvetica Neue"/>
              </a:rPr>
              <a:t>INTEGRATION CHALLENGES</a:t>
            </a:r>
          </a:p>
          <a:p>
            <a:pPr>
              <a:spcAft>
                <a:spcPts val="711"/>
              </a:spcAft>
            </a:pPr>
            <a:r>
              <a:rPr sz="1493">
                <a:solidFill>
                  <a:srgbClr val="1F1F1F"/>
                </a:solidFill>
                <a:latin typeface="Helvetica Neue Light"/>
              </a:rPr>
              <a:t>• LLM latency vs an instant screener: stream chips, cache common screens</a:t>
            </a:r>
          </a:p>
          <a:p>
            <a:pPr>
              <a:spcAft>
                <a:spcPts val="711"/>
              </a:spcAft>
            </a:pPr>
            <a:r>
              <a:rPr sz="1493">
                <a:solidFill>
                  <a:srgbClr val="1F1F1F"/>
                </a:solidFill>
                <a:latin typeface="Helvetica Neue Light"/>
              </a:rPr>
              <a:t>• Free (delayed) vs Elite (real-time) data paths</a:t>
            </a:r>
          </a:p>
          <a:p>
            <a:pPr>
              <a:spcAft>
                <a:spcPts val="711"/>
              </a:spcAft>
            </a:pPr>
            <a:r>
              <a:rPr sz="1493">
                <a:solidFill>
                  <a:srgbClr val="1F1F1F"/>
                </a:solidFill>
                <a:latin typeface="Helvetica Neue Light"/>
              </a:rPr>
              <a:t>• Cost of the overnight agent per user</a:t>
            </a:r>
          </a:p>
          <a:p>
            <a:pPr>
              <a:spcAft>
                <a:spcPts val="711"/>
              </a:spcAft>
            </a:pPr>
            <a:r>
              <a:rPr sz="1493">
                <a:solidFill>
                  <a:srgbClr val="1F1F1F"/>
                </a:solidFill>
                <a:latin typeface="Helvetica Neue Light"/>
              </a:rPr>
              <a:t>• Compliance gate and feature flag for attributed expert views</a:t>
            </a:r>
          </a:p>
        </p:txBody>
      </p:sp>
      <p:sp>
        <p:nvSpPr>
          <p:cNvPr id="15" name="Rectangle 14"/>
          <p:cNvSpPr/>
          <p:nvPr/>
        </p:nvSpPr>
        <p:spPr>
          <a:xfrm>
            <a:off x="455168" y="7867904"/>
            <a:ext cx="12094464" cy="650240"/>
          </a:xfrm>
          <a:prstGeom prst="rect">
            <a:avLst/>
          </a:prstGeom>
          <a:solidFill>
            <a:srgbClr val="F6F6F6"/>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650240" y="7997951"/>
            <a:ext cx="11704320" cy="415755"/>
          </a:xfrm>
          <a:prstGeom prst="rect">
            <a:avLst/>
          </a:prstGeom>
          <a:noFill/>
        </p:spPr>
        <p:txBody>
          <a:bodyPr wrap="square" lIns="0" tIns="0" rIns="0" bIns="0">
            <a:spAutoFit/>
          </a:bodyPr>
          <a:lstStyle/>
          <a:p>
            <a:r>
              <a:rPr sz="1351">
                <a:solidFill>
                  <a:srgbClr val="595959"/>
                </a:solidFill>
                <a:latin typeface="Helvetica Neue"/>
              </a:rPr>
              <a:t>COLLABORATION  One token library (Figma variables matched to FinViz CSS variables), components specified, KPI events defined with analytics, compliance pre-review.</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09 · Results &amp; impact   FinViz AI Screener</a:t>
            </a:r>
            <a:endParaRPr lang="en-US" sz="1422" dirty="0"/>
          </a:p>
        </p:txBody>
      </p:sp>
      <p:sp>
        <p:nvSpPr>
          <p:cNvPr id="3" name="Text 1"/>
          <p:cNvSpPr txBox="1"/>
          <p:nvPr/>
        </p:nvSpPr>
        <p:spPr>
          <a:xfrm>
            <a:off x="455168" y="936346"/>
            <a:ext cx="624230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Trust is designed, then measured</a:t>
            </a:r>
            <a:endParaRPr lang="en-US" sz="3200" dirty="0"/>
          </a:p>
        </p:txBody>
      </p:sp>
      <p:sp>
        <p:nvSpPr>
          <p:cNvPr id="4" name="Text 2"/>
          <p:cNvSpPr txBox="1"/>
          <p:nvPr/>
        </p:nvSpPr>
        <p:spPr>
          <a:xfrm>
            <a:off x="975360" y="2015744"/>
            <a:ext cx="5201920" cy="1170432"/>
          </a:xfrm>
          <a:prstGeom prst="rect">
            <a:avLst/>
          </a:prstGeom>
          <a:noFill/>
          <a:ln/>
        </p:spPr>
        <p:txBody>
          <a:bodyPr wrap="square" lIns="0" tIns="0" rIns="0" bIns="0" rtlCol="0" anchor="t"/>
          <a:lstStyle/>
          <a:p>
            <a:r>
              <a:rPr lang="en-US" sz="7395" dirty="0">
                <a:solidFill>
                  <a:srgbClr val="1F5BFF"/>
                </a:solidFill>
                <a:latin typeface="Helvetica Neue Light" pitchFamily="34" charset="0"/>
                <a:ea typeface="Helvetica Neue Light" pitchFamily="34" charset="-122"/>
                <a:cs typeface="Helvetica Neue Light" pitchFamily="34" charset="-120"/>
              </a:rPr>
              <a:t>&lt; 2%</a:t>
            </a:r>
            <a:endParaRPr lang="en-US" sz="7395" dirty="0"/>
          </a:p>
        </p:txBody>
      </p:sp>
      <p:sp>
        <p:nvSpPr>
          <p:cNvPr id="5" name="Text 3"/>
          <p:cNvSpPr txBox="1"/>
          <p:nvPr/>
        </p:nvSpPr>
        <p:spPr>
          <a:xfrm>
            <a:off x="975360" y="3251200"/>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filter translations wrong (weekly audit)</a:t>
            </a:r>
            <a:endParaRPr lang="en-US" sz="1849" dirty="0"/>
          </a:p>
        </p:txBody>
      </p:sp>
      <p:sp>
        <p:nvSpPr>
          <p:cNvPr id="6" name="Text 4"/>
          <p:cNvSpPr txBox="1"/>
          <p:nvPr/>
        </p:nvSpPr>
        <p:spPr>
          <a:xfrm>
            <a:off x="6697472" y="2015744"/>
            <a:ext cx="5201920" cy="1170432"/>
          </a:xfrm>
          <a:prstGeom prst="rect">
            <a:avLst/>
          </a:prstGeom>
          <a:noFill/>
          <a:ln/>
        </p:spPr>
        <p:txBody>
          <a:bodyPr wrap="square" lIns="0" tIns="0" rIns="0" bIns="0" rtlCol="0" anchor="t"/>
          <a:lstStyle/>
          <a:p>
            <a:r>
              <a:rPr lang="en-US" sz="7395" dirty="0">
                <a:solidFill>
                  <a:srgbClr val="A100E8"/>
                </a:solidFill>
                <a:latin typeface="Helvetica Neue Light" pitchFamily="34" charset="0"/>
                <a:ea typeface="Helvetica Neue Light" pitchFamily="34" charset="-122"/>
                <a:cs typeface="Helvetica Neue Light" pitchFamily="34" charset="-120"/>
              </a:rPr>
              <a:t>100%</a:t>
            </a:r>
            <a:endParaRPr lang="en-US" sz="7395" dirty="0"/>
          </a:p>
        </p:txBody>
      </p:sp>
      <p:sp>
        <p:nvSpPr>
          <p:cNvPr id="7" name="Text 5"/>
          <p:cNvSpPr txBox="1"/>
          <p:nvPr/>
        </p:nvSpPr>
        <p:spPr>
          <a:xfrm>
            <a:off x="6697472" y="3251200"/>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explanation accuracy: “why it matched” built from real values</a:t>
            </a:r>
            <a:endParaRPr lang="en-US" sz="1849" dirty="0"/>
          </a:p>
        </p:txBody>
      </p:sp>
      <p:sp>
        <p:nvSpPr>
          <p:cNvPr id="8" name="Text 6"/>
          <p:cNvSpPr txBox="1"/>
          <p:nvPr/>
        </p:nvSpPr>
        <p:spPr>
          <a:xfrm>
            <a:off x="975360" y="4746752"/>
            <a:ext cx="5201920" cy="1170432"/>
          </a:xfrm>
          <a:prstGeom prst="rect">
            <a:avLst/>
          </a:prstGeom>
          <a:noFill/>
          <a:ln/>
        </p:spPr>
        <p:txBody>
          <a:bodyPr wrap="square" lIns="0" tIns="0" rIns="0" bIns="0" rtlCol="0" anchor="t"/>
          <a:lstStyle/>
          <a:p>
            <a:r>
              <a:rPr lang="en-US" sz="7395" dirty="0">
                <a:solidFill>
                  <a:srgbClr val="00B5CC"/>
                </a:solidFill>
                <a:latin typeface="Helvetica Neue Light" pitchFamily="34" charset="0"/>
                <a:ea typeface="Helvetica Neue Light" pitchFamily="34" charset="-122"/>
                <a:cs typeface="Helvetica Neue Light" pitchFamily="34" charset="-120"/>
              </a:rPr>
              <a:t>&lt; 40%</a:t>
            </a:r>
            <a:endParaRPr lang="en-US" sz="7395" dirty="0"/>
          </a:p>
        </p:txBody>
      </p:sp>
      <p:sp>
        <p:nvSpPr>
          <p:cNvPr id="9" name="Text 7"/>
          <p:cNvSpPr txBox="1"/>
          <p:nvPr/>
        </p:nvSpPr>
        <p:spPr>
          <a:xfrm>
            <a:off x="975360" y="5982208"/>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alerts with no action, the biggest driver of trust erosion</a:t>
            </a:r>
            <a:endParaRPr lang="en-US" sz="1849" dirty="0"/>
          </a:p>
        </p:txBody>
      </p:sp>
      <p:sp>
        <p:nvSpPr>
          <p:cNvPr id="10" name="Text 8"/>
          <p:cNvSpPr txBox="1"/>
          <p:nvPr/>
        </p:nvSpPr>
        <p:spPr>
          <a:xfrm>
            <a:off x="6697472" y="4746752"/>
            <a:ext cx="5201920" cy="1170432"/>
          </a:xfrm>
          <a:prstGeom prst="rect">
            <a:avLst/>
          </a:prstGeom>
          <a:noFill/>
          <a:ln/>
        </p:spPr>
        <p:txBody>
          <a:bodyPr wrap="square" lIns="0" tIns="0" rIns="0" bIns="0" rtlCol="0" anchor="t"/>
          <a:lstStyle/>
          <a:p>
            <a:r>
              <a:rPr lang="en-US" sz="7395" dirty="0">
                <a:solidFill>
                  <a:srgbClr val="F040E0"/>
                </a:solidFill>
                <a:latin typeface="Helvetica Neue Light" pitchFamily="34" charset="0"/>
                <a:ea typeface="Helvetica Neue Light" pitchFamily="34" charset="-122"/>
                <a:cs typeface="Helvetica Neue Light" pitchFamily="34" charset="-120"/>
              </a:rPr>
              <a:t>0</a:t>
            </a:r>
            <a:endParaRPr lang="en-US" sz="7395" dirty="0"/>
          </a:p>
        </p:txBody>
      </p:sp>
      <p:sp>
        <p:nvSpPr>
          <p:cNvPr id="11" name="Text 9"/>
          <p:cNvSpPr txBox="1"/>
          <p:nvPr/>
        </p:nvSpPr>
        <p:spPr>
          <a:xfrm>
            <a:off x="6697472" y="5982208"/>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compliance incidents: no advice, no forecasts, no orders</a:t>
            </a:r>
            <a:endParaRPr lang="en-US" sz="1849" dirty="0"/>
          </a:p>
        </p:txBody>
      </p:sp>
      <p:sp>
        <p:nvSpPr>
          <p:cNvPr id="12" name="Text 10"/>
          <p:cNvSpPr txBox="1"/>
          <p:nvPr/>
        </p:nvSpPr>
        <p:spPr>
          <a:xfrm>
            <a:off x="975360" y="7607808"/>
            <a:ext cx="11054080" cy="780288"/>
          </a:xfrm>
          <a:prstGeom prst="rect">
            <a:avLst/>
          </a:prstGeom>
          <a:noFill/>
          <a:ln/>
        </p:spPr>
        <p:txBody>
          <a:bodyPr wrap="square" lIns="0" tIns="0" rIns="0" bIns="0" rtlCol="0" anchor="t"/>
          <a:lstStyle/>
          <a:p>
            <a:r>
              <a:rPr lang="en-US" sz="1707" dirty="0">
                <a:solidFill>
                  <a:srgbClr val="595959"/>
                </a:solidFill>
                <a:latin typeface="Helvetica Neue Light" pitchFamily="34" charset="0"/>
                <a:ea typeface="Helvetica Neue Light" pitchFamily="34" charset="-122"/>
                <a:cs typeface="Helvetica Neue Light" pitchFamily="34" charset="-120"/>
              </a:rPr>
              <a:t>Targets from the KPI framework, sitting next to product metrics so a faster screen never comes at the cost of a wrong one.</a:t>
            </a:r>
            <a:endParaRPr lang="en-US" sz="1707" dirty="0"/>
          </a:p>
        </p:txBody>
      </p:sp>
      <p:pic>
        <p:nvPicPr>
          <p:cNvPr id="1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09 · Results &amp; impact   FinViz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3982" dirty="0">
                <a:solidFill>
                  <a:srgbClr val="1F1F1F"/>
                </a:solidFill>
                <a:latin typeface="Helvetica Neue Light" pitchFamily="34" charset="0"/>
                <a:ea typeface="Helvetica Neue Light" pitchFamily="34" charset="-122"/>
                <a:cs typeface="Helvetica Neue Light" pitchFamily="34" charset="-120"/>
              </a:rPr>
              <a:t>How success will be measured</a:t>
            </a:r>
            <a:endParaRPr lang="en-US" sz="3982" dirty="0"/>
          </a:p>
        </p:txBody>
      </p:sp>
      <p:sp>
        <p:nvSpPr>
          <p:cNvPr id="4" name="Text 2"/>
          <p:cNvSpPr txBox="1"/>
          <p:nvPr/>
        </p:nvSpPr>
        <p:spPr>
          <a:xfrm>
            <a:off x="975360" y="2015744"/>
            <a:ext cx="5201920" cy="1170432"/>
          </a:xfrm>
          <a:prstGeom prst="rect">
            <a:avLst/>
          </a:prstGeom>
          <a:noFill/>
          <a:ln/>
        </p:spPr>
        <p:txBody>
          <a:bodyPr wrap="square" lIns="0" tIns="0" rIns="0" bIns="0" rtlCol="0" anchor="t"/>
          <a:lstStyle/>
          <a:p>
            <a:r>
              <a:rPr lang="en-US" sz="6827" dirty="0">
                <a:solidFill>
                  <a:srgbClr val="1F5BFF"/>
                </a:solidFill>
                <a:latin typeface="Helvetica Neue Light" pitchFamily="34" charset="0"/>
                <a:ea typeface="Helvetica Neue Light" pitchFamily="34" charset="-122"/>
                <a:cs typeface="Helvetica Neue Light" pitchFamily="34" charset="-120"/>
              </a:rPr>
              <a:t>42 → 21</a:t>
            </a:r>
            <a:endParaRPr lang="en-US" sz="6827" dirty="0"/>
          </a:p>
        </p:txBody>
      </p:sp>
      <p:sp>
        <p:nvSpPr>
          <p:cNvPr id="5" name="Text 3"/>
          <p:cNvSpPr txBox="1"/>
          <p:nvPr/>
        </p:nvSpPr>
        <p:spPr>
          <a:xfrm>
            <a:off x="1543427" y="3186176"/>
            <a:ext cx="2858200" cy="598221"/>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days from sign-up to Elite</a:t>
            </a:r>
            <a:endParaRPr lang="en-US" sz="1849" dirty="0"/>
          </a:p>
        </p:txBody>
      </p:sp>
      <p:sp>
        <p:nvSpPr>
          <p:cNvPr id="6" name="Text 4"/>
          <p:cNvSpPr txBox="1"/>
          <p:nvPr/>
        </p:nvSpPr>
        <p:spPr>
          <a:xfrm>
            <a:off x="6697472" y="2015744"/>
            <a:ext cx="5201920" cy="1170432"/>
          </a:xfrm>
          <a:prstGeom prst="rect">
            <a:avLst/>
          </a:prstGeom>
          <a:noFill/>
          <a:ln/>
        </p:spPr>
        <p:txBody>
          <a:bodyPr wrap="square" lIns="0" tIns="0" rIns="0" bIns="0" rtlCol="0" anchor="t"/>
          <a:lstStyle/>
          <a:p>
            <a:r>
              <a:rPr lang="en-US" sz="6827" dirty="0">
                <a:solidFill>
                  <a:srgbClr val="A100E8"/>
                </a:solidFill>
                <a:latin typeface="Helvetica Neue Light" pitchFamily="34" charset="0"/>
                <a:ea typeface="Helvetica Neue Light" pitchFamily="34" charset="-122"/>
                <a:cs typeface="Helvetica Neue Light" pitchFamily="34" charset="-120"/>
              </a:rPr>
              <a:t>3+ days</a:t>
            </a:r>
            <a:endParaRPr lang="en-US" sz="6827" dirty="0"/>
          </a:p>
        </p:txBody>
      </p:sp>
      <p:sp>
        <p:nvSpPr>
          <p:cNvPr id="7" name="Text 5"/>
          <p:cNvSpPr txBox="1"/>
          <p:nvPr/>
        </p:nvSpPr>
        <p:spPr>
          <a:xfrm>
            <a:off x="7374148" y="3186176"/>
            <a:ext cx="2858200" cy="780288"/>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a week re-running a saved screen: the North Star</a:t>
            </a:r>
            <a:endParaRPr lang="en-US" sz="1849" dirty="0"/>
          </a:p>
        </p:txBody>
      </p:sp>
      <p:sp>
        <p:nvSpPr>
          <p:cNvPr id="8" name="Text 6"/>
          <p:cNvSpPr txBox="1"/>
          <p:nvPr/>
        </p:nvSpPr>
        <p:spPr>
          <a:xfrm>
            <a:off x="975360" y="4746752"/>
            <a:ext cx="5201920" cy="1170432"/>
          </a:xfrm>
          <a:prstGeom prst="rect">
            <a:avLst/>
          </a:prstGeom>
          <a:noFill/>
          <a:ln/>
        </p:spPr>
        <p:txBody>
          <a:bodyPr wrap="square" lIns="0" tIns="0" rIns="0" bIns="0" rtlCol="0" anchor="t"/>
          <a:lstStyle/>
          <a:p>
            <a:r>
              <a:rPr lang="en-US" sz="6827" dirty="0">
                <a:solidFill>
                  <a:srgbClr val="00B5CC"/>
                </a:solidFill>
                <a:latin typeface="Helvetica Neue Light" pitchFamily="34" charset="0"/>
                <a:ea typeface="Helvetica Neue Light" pitchFamily="34" charset="-122"/>
                <a:cs typeface="Helvetica Neue Light" pitchFamily="34" charset="-120"/>
              </a:rPr>
              <a:t>&lt; 5 min</a:t>
            </a:r>
            <a:endParaRPr lang="en-US" sz="6827" dirty="0"/>
          </a:p>
        </p:txBody>
      </p:sp>
      <p:sp>
        <p:nvSpPr>
          <p:cNvPr id="9" name="Text 7"/>
          <p:cNvSpPr txBox="1"/>
          <p:nvPr/>
        </p:nvSpPr>
        <p:spPr>
          <a:xfrm>
            <a:off x="1757791" y="5917184"/>
            <a:ext cx="2343724" cy="342269"/>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to a first saved screen</a:t>
            </a:r>
            <a:endParaRPr lang="en-US" sz="1849" dirty="0"/>
          </a:p>
        </p:txBody>
      </p:sp>
      <p:sp>
        <p:nvSpPr>
          <p:cNvPr id="10" name="Text 8"/>
          <p:cNvSpPr txBox="1"/>
          <p:nvPr/>
        </p:nvSpPr>
        <p:spPr>
          <a:xfrm>
            <a:off x="6697472" y="4746752"/>
            <a:ext cx="5201920" cy="1170432"/>
          </a:xfrm>
          <a:prstGeom prst="rect">
            <a:avLst/>
          </a:prstGeom>
          <a:noFill/>
          <a:ln/>
        </p:spPr>
        <p:txBody>
          <a:bodyPr wrap="square" lIns="0" tIns="0" rIns="0" bIns="0" rtlCol="0" anchor="t"/>
          <a:lstStyle/>
          <a:p>
            <a:r>
              <a:rPr lang="en-US" sz="6827" dirty="0">
                <a:solidFill>
                  <a:srgbClr val="F040E0"/>
                </a:solidFill>
                <a:latin typeface="Helvetica Neue Light" pitchFamily="34" charset="0"/>
                <a:ea typeface="Helvetica Neue Light" pitchFamily="34" charset="-122"/>
                <a:cs typeface="Helvetica Neue Light" pitchFamily="34" charset="-120"/>
              </a:rPr>
              <a:t>&gt; 40%</a:t>
            </a:r>
            <a:endParaRPr lang="en-US" sz="6827" dirty="0"/>
          </a:p>
        </p:txBody>
      </p:sp>
      <p:sp>
        <p:nvSpPr>
          <p:cNvPr id="11" name="Text 9"/>
          <p:cNvSpPr txBox="1"/>
          <p:nvPr/>
        </p:nvSpPr>
        <p:spPr>
          <a:xfrm>
            <a:off x="7374149" y="5917184"/>
            <a:ext cx="2758162" cy="342269"/>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of alerts lead to an action</a:t>
            </a:r>
            <a:endParaRPr lang="en-US" sz="1849" dirty="0"/>
          </a:p>
        </p:txBody>
      </p:sp>
      <p:sp>
        <p:nvSpPr>
          <p:cNvPr id="12" name="Text 10"/>
          <p:cNvSpPr txBox="1"/>
          <p:nvPr/>
        </p:nvSpPr>
        <p:spPr>
          <a:xfrm>
            <a:off x="975360" y="7672832"/>
            <a:ext cx="11054080" cy="650240"/>
          </a:xfrm>
          <a:prstGeom prst="rect">
            <a:avLst/>
          </a:prstGeom>
          <a:noFill/>
          <a:ln/>
        </p:spPr>
        <p:txBody>
          <a:bodyPr wrap="square" lIns="0" tIns="0" rIns="0" bIns="0" rtlCol="0" anchor="t"/>
          <a:lstStyle/>
          <a:p>
            <a:r>
              <a:rPr lang="en-US" sz="1707" dirty="0">
                <a:solidFill>
                  <a:srgbClr val="595959"/>
                </a:solidFill>
                <a:latin typeface="Helvetica Neue Light" pitchFamily="34" charset="0"/>
                <a:ea typeface="Helvetica Neue Light" pitchFamily="34" charset="-122"/>
                <a:cs typeface="Helvetica Neue Light" pitchFamily="34" charset="-120"/>
              </a:rPr>
              <a:t>Concept-stage work: these are targets with a plan to baseline them, not results.</a:t>
            </a:r>
            <a:endParaRPr lang="en-US" sz="1707" dirty="0"/>
          </a:p>
        </p:txBody>
      </p:sp>
      <p:pic>
        <p:nvPicPr>
          <p:cNvPr id="1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10 · Learnings &amp; Next Steps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What leading with AI taught me</a:t>
            </a:r>
            <a:endParaRPr lang="en-US" sz="3200" dirty="0"/>
          </a:p>
        </p:txBody>
      </p:sp>
      <p:sp>
        <p:nvSpPr>
          <p:cNvPr id="4" name="The bottleneck moves to judgment"/>
          <p:cNvSpPr/>
          <p:nvPr/>
        </p:nvSpPr>
        <p:spPr>
          <a:xfrm>
            <a:off x="455168" y="1950720"/>
            <a:ext cx="5982208" cy="3251200"/>
          </a:xfrm>
          <a:prstGeom prst="rect">
            <a:avLst/>
          </a:prstGeom>
          <a:solidFill>
            <a:srgbClr val="A12A37"/>
          </a:solidFill>
          <a:ln w="12700">
            <a:solidFill>
              <a:srgbClr val="A12A37"/>
            </a:solidFill>
            <a:prstDash val="solid"/>
          </a:ln>
        </p:spPr>
        <p:txBody>
          <a:bodyPr/>
          <a:lstStyle/>
          <a:p>
            <a:endParaRPr sz="2560"/>
          </a:p>
        </p:txBody>
      </p:sp>
      <p:sp>
        <p:nvSpPr>
          <p:cNvPr id="5" name="Text 3"/>
          <p:cNvSpPr txBox="1"/>
          <p:nvPr/>
        </p:nvSpPr>
        <p:spPr>
          <a:xfrm>
            <a:off x="715265" y="2210816"/>
            <a:ext cx="4515238"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The bottleneck moves to judgment</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Drafts take minutes. The lead’s value is framing, checking facts and deciding what to keep.</a:t>
            </a:r>
            <a:endParaRPr lang="en-US" dirty="0"/>
          </a:p>
        </p:txBody>
      </p:sp>
      <p:sp>
        <p:nvSpPr>
          <p:cNvPr id="6" name="Write the rules down once"/>
          <p:cNvSpPr/>
          <p:nvPr/>
        </p:nvSpPr>
        <p:spPr>
          <a:xfrm>
            <a:off x="6567424" y="1950720"/>
            <a:ext cx="5982208" cy="3251200"/>
          </a:xfrm>
          <a:prstGeom prst="rect">
            <a:avLst/>
          </a:prstGeom>
          <a:solidFill>
            <a:srgbClr val="5B3F96"/>
          </a:solidFill>
          <a:ln w="12700">
            <a:solidFill>
              <a:srgbClr val="5B3F96"/>
            </a:solidFill>
            <a:prstDash val="solid"/>
          </a:ln>
        </p:spPr>
        <p:txBody>
          <a:bodyPr/>
          <a:lstStyle/>
          <a:p>
            <a:endParaRPr sz="2560"/>
          </a:p>
        </p:txBody>
      </p:sp>
      <p:sp>
        <p:nvSpPr>
          <p:cNvPr id="7" name="Text 5"/>
          <p:cNvSpPr txBox="1"/>
          <p:nvPr/>
        </p:nvSpPr>
        <p:spPr>
          <a:xfrm>
            <a:off x="6827520" y="2210816"/>
            <a:ext cx="3804976"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Write the rules down once</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Rules in the project brief made every AI draft start compliant.</a:t>
            </a:r>
            <a:endParaRPr lang="en-US" dirty="0"/>
          </a:p>
        </p:txBody>
      </p:sp>
      <p:sp>
        <p:nvSpPr>
          <p:cNvPr id="8" name="Check the live product, not the docs"/>
          <p:cNvSpPr/>
          <p:nvPr/>
        </p:nvSpPr>
        <p:spPr>
          <a:xfrm>
            <a:off x="455168" y="5462016"/>
            <a:ext cx="5982208" cy="3251200"/>
          </a:xfrm>
          <a:prstGeom prst="rect">
            <a:avLst/>
          </a:prstGeom>
          <a:solidFill>
            <a:srgbClr val="3A7D55"/>
          </a:solidFill>
          <a:ln w="12700">
            <a:solidFill>
              <a:srgbClr val="3A7D55"/>
            </a:solidFill>
            <a:prstDash val="solid"/>
          </a:ln>
        </p:spPr>
        <p:txBody>
          <a:bodyPr/>
          <a:lstStyle/>
          <a:p>
            <a:endParaRPr sz="2560"/>
          </a:p>
        </p:txBody>
      </p:sp>
      <p:sp>
        <p:nvSpPr>
          <p:cNvPr id="9" name="Text 7"/>
          <p:cNvSpPr txBox="1"/>
          <p:nvPr/>
        </p:nvSpPr>
        <p:spPr>
          <a:xfrm>
            <a:off x="715265" y="5722112"/>
            <a:ext cx="4701020"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Check the live product, not the docs</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One live-site walk overturned two assumptions.</a:t>
            </a:r>
            <a:endParaRPr lang="en-US" dirty="0"/>
          </a:p>
        </p:txBody>
      </p:sp>
      <p:sp>
        <p:nvSpPr>
          <p:cNvPr id="10" name="Reconcile, don’t overwrite"/>
          <p:cNvSpPr/>
          <p:nvPr/>
        </p:nvSpPr>
        <p:spPr>
          <a:xfrm>
            <a:off x="6567424" y="5462016"/>
            <a:ext cx="5982208" cy="3251200"/>
          </a:xfrm>
          <a:prstGeom prst="rect">
            <a:avLst/>
          </a:prstGeom>
          <a:solidFill>
            <a:srgbClr val="744A6C"/>
          </a:solidFill>
          <a:ln w="12700">
            <a:solidFill>
              <a:srgbClr val="744A6C"/>
            </a:solidFill>
            <a:prstDash val="solid"/>
          </a:ln>
        </p:spPr>
        <p:txBody>
          <a:bodyPr/>
          <a:lstStyle/>
          <a:p>
            <a:endParaRPr sz="2560"/>
          </a:p>
        </p:txBody>
      </p:sp>
      <p:sp>
        <p:nvSpPr>
          <p:cNvPr id="11" name="Text 9"/>
          <p:cNvSpPr txBox="1"/>
          <p:nvPr/>
        </p:nvSpPr>
        <p:spPr>
          <a:xfrm>
            <a:off x="6827520" y="5722112"/>
            <a:ext cx="4719599"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Reconcile, don’t overwrite</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Teammates’ screens kept their best ideas and lost only what broke the rules.</a:t>
            </a:r>
            <a:endParaRPr lang="en-US" dirty="0"/>
          </a:p>
        </p:txBody>
      </p:sp>
      <p:pic>
        <p:nvPicPr>
          <p:cNvPr id="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dirty="0">
                <a:solidFill>
                  <a:srgbClr val="1F1F1F"/>
                </a:solidFill>
                <a:latin typeface="Helvetica Neue"/>
              </a:rPr>
              <a:t>10 · Learnings &amp; Next Steps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Before launch: What </a:t>
            </a:r>
            <a:r>
              <a:rPr lang="en-US" sz="3200" dirty="0">
                <a:solidFill>
                  <a:srgbClr val="1F1F1F"/>
                </a:solidFill>
                <a:latin typeface="Helvetica Neue Light"/>
              </a:rPr>
              <a:t>to</a:t>
            </a:r>
            <a:r>
              <a:rPr sz="3200" dirty="0">
                <a:solidFill>
                  <a:srgbClr val="1F1F1F"/>
                </a:solidFill>
                <a:latin typeface="Helvetica Neue Light"/>
              </a:rPr>
              <a:t> validate next</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Nothing has launched, so these replace post-launch learnings: the riskiest assumptions, and how to test them.</a:t>
            </a:r>
          </a:p>
        </p:txBody>
      </p:sp>
      <p:sp>
        <p:nvSpPr>
          <p:cNvPr id="6" name="Rectangle 5"/>
          <p:cNvSpPr/>
          <p:nvPr/>
        </p:nvSpPr>
        <p:spPr>
          <a:xfrm>
            <a:off x="455168" y="2405888"/>
            <a:ext cx="12094464" cy="106639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Rectangle 6"/>
          <p:cNvSpPr/>
          <p:nvPr/>
        </p:nvSpPr>
        <p:spPr>
          <a:xfrm>
            <a:off x="455168" y="2405888"/>
            <a:ext cx="104038" cy="1066394"/>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780288" y="2561945"/>
            <a:ext cx="4681728" cy="240707"/>
          </a:xfrm>
          <a:prstGeom prst="rect">
            <a:avLst/>
          </a:prstGeom>
          <a:noFill/>
        </p:spPr>
        <p:txBody>
          <a:bodyPr wrap="square" lIns="0" tIns="0" rIns="0" bIns="0">
            <a:spAutoFit/>
          </a:bodyPr>
          <a:lstStyle/>
          <a:p>
            <a:r>
              <a:rPr sz="1564">
                <a:solidFill>
                  <a:srgbClr val="1F1F1F"/>
                </a:solidFill>
                <a:latin typeface="Helvetica Neue"/>
              </a:rPr>
              <a:t>Will traders trust AI-detected patterns?</a:t>
            </a:r>
          </a:p>
        </p:txBody>
      </p:sp>
      <p:sp>
        <p:nvSpPr>
          <p:cNvPr id="9" name="TextBox 8"/>
          <p:cNvSpPr txBox="1"/>
          <p:nvPr/>
        </p:nvSpPr>
        <p:spPr>
          <a:xfrm>
            <a:off x="5592064" y="2561946"/>
            <a:ext cx="6762496" cy="459485"/>
          </a:xfrm>
          <a:prstGeom prst="rect">
            <a:avLst/>
          </a:prstGeom>
          <a:noFill/>
        </p:spPr>
        <p:txBody>
          <a:bodyPr wrap="square" lIns="0" tIns="0" rIns="0" bIns="0">
            <a:spAutoFit/>
          </a:bodyPr>
          <a:lstStyle/>
          <a:p>
            <a:r>
              <a:rPr sz="1493">
                <a:solidFill>
                  <a:srgbClr val="595959"/>
                </a:solidFill>
                <a:latin typeface="Helvetica Neue Light"/>
              </a:rPr>
              <a:t>Offline audit of 500 labeled charts; track “not a real hammer” rate; test clear vs borderline wording.</a:t>
            </a:r>
          </a:p>
        </p:txBody>
      </p:sp>
      <p:sp>
        <p:nvSpPr>
          <p:cNvPr id="10" name="Rectangle 9"/>
          <p:cNvSpPr/>
          <p:nvPr/>
        </p:nvSpPr>
        <p:spPr>
          <a:xfrm>
            <a:off x="455168" y="3602329"/>
            <a:ext cx="12094464" cy="106639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Rectangle 10"/>
          <p:cNvSpPr/>
          <p:nvPr/>
        </p:nvSpPr>
        <p:spPr>
          <a:xfrm>
            <a:off x="455168" y="3602329"/>
            <a:ext cx="104038" cy="1066394"/>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780288" y="3758387"/>
            <a:ext cx="4681728" cy="481414"/>
          </a:xfrm>
          <a:prstGeom prst="rect">
            <a:avLst/>
          </a:prstGeom>
          <a:noFill/>
        </p:spPr>
        <p:txBody>
          <a:bodyPr wrap="square" lIns="0" tIns="0" rIns="0" bIns="0">
            <a:spAutoFit/>
          </a:bodyPr>
          <a:lstStyle/>
          <a:p>
            <a:r>
              <a:rPr sz="1564">
                <a:solidFill>
                  <a:srgbClr val="1F1F1F"/>
                </a:solidFill>
                <a:latin typeface="Helvetica Neue"/>
              </a:rPr>
              <a:t>Does free AI screen-building speed up Elite or replace it?</a:t>
            </a:r>
          </a:p>
        </p:txBody>
      </p:sp>
      <p:sp>
        <p:nvSpPr>
          <p:cNvPr id="13" name="TextBox 12"/>
          <p:cNvSpPr txBox="1"/>
          <p:nvPr/>
        </p:nvSpPr>
        <p:spPr>
          <a:xfrm>
            <a:off x="5592064" y="3758388"/>
            <a:ext cx="6762496" cy="459485"/>
          </a:xfrm>
          <a:prstGeom prst="rect">
            <a:avLst/>
          </a:prstGeom>
          <a:noFill/>
        </p:spPr>
        <p:txBody>
          <a:bodyPr wrap="square" lIns="0" tIns="0" rIns="0" bIns="0">
            <a:spAutoFit/>
          </a:bodyPr>
          <a:lstStyle/>
          <a:p>
            <a:r>
              <a:rPr sz="1493">
                <a:solidFill>
                  <a:srgbClr val="595959"/>
                </a:solidFill>
                <a:latin typeface="Helvetica Neue Light"/>
              </a:rPr>
              <a:t>A/B the earned Elite moment (step 6) against today’s sign-up trial; measure days to Elite.</a:t>
            </a:r>
          </a:p>
        </p:txBody>
      </p:sp>
      <p:sp>
        <p:nvSpPr>
          <p:cNvPr id="14" name="Rectangle 13"/>
          <p:cNvSpPr/>
          <p:nvPr/>
        </p:nvSpPr>
        <p:spPr>
          <a:xfrm>
            <a:off x="455168" y="4798771"/>
            <a:ext cx="12094464" cy="106639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5" name="Rectangle 14"/>
          <p:cNvSpPr/>
          <p:nvPr/>
        </p:nvSpPr>
        <p:spPr>
          <a:xfrm>
            <a:off x="455168" y="4798771"/>
            <a:ext cx="104038" cy="1066394"/>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780288" y="4954829"/>
            <a:ext cx="4681728" cy="240707"/>
          </a:xfrm>
          <a:prstGeom prst="rect">
            <a:avLst/>
          </a:prstGeom>
          <a:noFill/>
        </p:spPr>
        <p:txBody>
          <a:bodyPr wrap="square" lIns="0" tIns="0" rIns="0" bIns="0">
            <a:spAutoFit/>
          </a:bodyPr>
          <a:lstStyle/>
          <a:p>
            <a:r>
              <a:rPr sz="1564">
                <a:solidFill>
                  <a:srgbClr val="1F1F1F"/>
                </a:solidFill>
                <a:latin typeface="Helvetica Neue"/>
              </a:rPr>
              <a:t>Is one alert a day the right amount?</a:t>
            </a:r>
          </a:p>
        </p:txBody>
      </p:sp>
      <p:sp>
        <p:nvSpPr>
          <p:cNvPr id="17" name="TextBox 16"/>
          <p:cNvSpPr txBox="1"/>
          <p:nvPr/>
        </p:nvSpPr>
        <p:spPr>
          <a:xfrm>
            <a:off x="5592064" y="4954829"/>
            <a:ext cx="6762496" cy="229743"/>
          </a:xfrm>
          <a:prstGeom prst="rect">
            <a:avLst/>
          </a:prstGeom>
          <a:noFill/>
        </p:spPr>
        <p:txBody>
          <a:bodyPr wrap="square" lIns="0" tIns="0" rIns="0" bIns="0">
            <a:spAutoFit/>
          </a:bodyPr>
          <a:lstStyle/>
          <a:p>
            <a:r>
              <a:rPr sz="1493">
                <a:solidFill>
                  <a:srgbClr val="595959"/>
                </a:solidFill>
                <a:latin typeface="Helvetica Neue Light"/>
              </a:rPr>
              <a:t>2-week diary study with alerts on; alert-to-action &gt; 40%, muted &lt; 10%.</a:t>
            </a:r>
          </a:p>
        </p:txBody>
      </p:sp>
      <p:sp>
        <p:nvSpPr>
          <p:cNvPr id="18" name="Rectangle 17"/>
          <p:cNvSpPr/>
          <p:nvPr/>
        </p:nvSpPr>
        <p:spPr>
          <a:xfrm>
            <a:off x="455168" y="5995213"/>
            <a:ext cx="12094464" cy="106639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9" name="Rectangle 18"/>
          <p:cNvSpPr/>
          <p:nvPr/>
        </p:nvSpPr>
        <p:spPr>
          <a:xfrm>
            <a:off x="455168" y="5995213"/>
            <a:ext cx="104038" cy="1066394"/>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TextBox 19"/>
          <p:cNvSpPr txBox="1"/>
          <p:nvPr/>
        </p:nvSpPr>
        <p:spPr>
          <a:xfrm>
            <a:off x="780288" y="6151270"/>
            <a:ext cx="4681728" cy="240707"/>
          </a:xfrm>
          <a:prstGeom prst="rect">
            <a:avLst/>
          </a:prstGeom>
          <a:noFill/>
        </p:spPr>
        <p:txBody>
          <a:bodyPr wrap="square" lIns="0" tIns="0" rIns="0" bIns="0">
            <a:spAutoFit/>
          </a:bodyPr>
          <a:lstStyle/>
          <a:p>
            <a:r>
              <a:rPr sz="1564">
                <a:solidFill>
                  <a:srgbClr val="1F1F1F"/>
                </a:solidFill>
                <a:latin typeface="Helvetica Neue"/>
              </a:rPr>
              <a:t>Can the overnight agent pay for itself?</a:t>
            </a:r>
          </a:p>
        </p:txBody>
      </p:sp>
      <p:sp>
        <p:nvSpPr>
          <p:cNvPr id="21" name="TextBox 20"/>
          <p:cNvSpPr txBox="1"/>
          <p:nvPr/>
        </p:nvSpPr>
        <p:spPr>
          <a:xfrm>
            <a:off x="5592064" y="6151271"/>
            <a:ext cx="6762496" cy="229743"/>
          </a:xfrm>
          <a:prstGeom prst="rect">
            <a:avLst/>
          </a:prstGeom>
          <a:noFill/>
        </p:spPr>
        <p:txBody>
          <a:bodyPr wrap="square" lIns="0" tIns="0" rIns="0" bIns="0">
            <a:spAutoFit/>
          </a:bodyPr>
          <a:lstStyle/>
          <a:p>
            <a:r>
              <a:rPr sz="1493">
                <a:solidFill>
                  <a:srgbClr val="595959"/>
                </a:solidFill>
                <a:latin typeface="Helvetica Neue Light"/>
              </a:rPr>
              <a:t>Cost per user per morning vs conversion lift; batch and cache by ticker.</a:t>
            </a:r>
          </a:p>
        </p:txBody>
      </p:sp>
      <p:sp>
        <p:nvSpPr>
          <p:cNvPr id="22" name="Rectangle 21"/>
          <p:cNvSpPr/>
          <p:nvPr/>
        </p:nvSpPr>
        <p:spPr>
          <a:xfrm>
            <a:off x="455168" y="7191654"/>
            <a:ext cx="12094464" cy="106639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Rectangle 22"/>
          <p:cNvSpPr/>
          <p:nvPr/>
        </p:nvSpPr>
        <p:spPr>
          <a:xfrm>
            <a:off x="455168" y="7191654"/>
            <a:ext cx="104038" cy="1066394"/>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4" name="TextBox 23"/>
          <p:cNvSpPr txBox="1"/>
          <p:nvPr/>
        </p:nvSpPr>
        <p:spPr>
          <a:xfrm>
            <a:off x="780288" y="7347712"/>
            <a:ext cx="4681728" cy="240707"/>
          </a:xfrm>
          <a:prstGeom prst="rect">
            <a:avLst/>
          </a:prstGeom>
          <a:noFill/>
        </p:spPr>
        <p:txBody>
          <a:bodyPr wrap="square" lIns="0" tIns="0" rIns="0" bIns="0">
            <a:spAutoFit/>
          </a:bodyPr>
          <a:lstStyle/>
          <a:p>
            <a:r>
              <a:rPr sz="1564">
                <a:solidFill>
                  <a:srgbClr val="1F1F1F"/>
                </a:solidFill>
                <a:latin typeface="Helvetica Neue"/>
              </a:rPr>
              <a:t>Is the advice line clear enough for compliance?</a:t>
            </a:r>
          </a:p>
        </p:txBody>
      </p:sp>
      <p:sp>
        <p:nvSpPr>
          <p:cNvPr id="25" name="TextBox 24"/>
          <p:cNvSpPr txBox="1"/>
          <p:nvPr/>
        </p:nvSpPr>
        <p:spPr>
          <a:xfrm>
            <a:off x="5592064" y="7347713"/>
            <a:ext cx="6762496" cy="229743"/>
          </a:xfrm>
          <a:prstGeom prst="rect">
            <a:avLst/>
          </a:prstGeom>
          <a:noFill/>
        </p:spPr>
        <p:txBody>
          <a:bodyPr wrap="square" lIns="0" tIns="0" rIns="0" bIns="0">
            <a:spAutoFit/>
          </a:bodyPr>
          <a:lstStyle/>
          <a:p>
            <a:r>
              <a:rPr sz="1493">
                <a:solidFill>
                  <a:srgbClr val="595959"/>
                </a:solidFill>
                <a:latin typeface="Helvetica Neue Light"/>
              </a:rPr>
              <a:t>Legal review of every AI string; attributed views stay behind a flag until cleared.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975360" y="975360"/>
            <a:ext cx="4551680"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Next Steps</a:t>
            </a:r>
            <a:endParaRPr lang="en-US" sz="6000" dirty="0"/>
          </a:p>
        </p:txBody>
      </p:sp>
      <p:sp>
        <p:nvSpPr>
          <p:cNvPr id="3" name="Text 1"/>
          <p:cNvSpPr txBox="1"/>
          <p:nvPr/>
        </p:nvSpPr>
        <p:spPr>
          <a:xfrm>
            <a:off x="975360" y="3121152"/>
            <a:ext cx="10924032" cy="4941824"/>
          </a:xfrm>
          <a:prstGeom prst="rect">
            <a:avLst/>
          </a:prstGeom>
          <a:noFill/>
          <a:ln/>
        </p:spPr>
        <p:txBody>
          <a:bodyPr wrap="square" lIns="0" tIns="0" rIns="0" bIns="0" rtlCol="0" anchor="t"/>
          <a:lstStyle/>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Usability test the first-release flow with swing traders in their first 14 days</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Baseline time to first success and habit before claiming improvement</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Clear the advice line and attributed analyst views with compliance</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Clickable hi-fi prototype of the 19-step flow for usability testing</a:t>
            </a:r>
            <a:endParaRPr lang="en-US" sz="2418" dirty="0"/>
          </a:p>
        </p:txBody>
      </p:sp>
      <p:pic>
        <p:nvPicPr>
          <p:cNvPr id="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975360" y="975360"/>
            <a:ext cx="4551680"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Appendix</a:t>
            </a:r>
            <a:endParaRPr lang="en-US" sz="6000" dirty="0"/>
          </a:p>
        </p:txBody>
      </p:sp>
      <p:sp>
        <p:nvSpPr>
          <p:cNvPr id="3" name="Text 1"/>
          <p:cNvSpPr txBox="1"/>
          <p:nvPr/>
        </p:nvSpPr>
        <p:spPr>
          <a:xfrm>
            <a:off x="975360" y="2796032"/>
            <a:ext cx="7282688" cy="2080768"/>
          </a:xfrm>
          <a:prstGeom prst="rect">
            <a:avLst/>
          </a:prstGeom>
          <a:noFill/>
          <a:ln/>
        </p:spPr>
        <p:txBody>
          <a:bodyPr wrap="square" lIns="0" tIns="0" rIns="0" bIns="0" rtlCol="0" anchor="t"/>
          <a:lstStyle/>
          <a:p>
            <a:pPr>
              <a:lnSpc>
                <a:spcPct val="130000"/>
              </a:lnSpc>
            </a:pPr>
            <a:r>
              <a:rPr lang="en-US" sz="1707" dirty="0">
                <a:solidFill>
                  <a:srgbClr val="FFE9DF"/>
                </a:solidFill>
                <a:latin typeface="Helvetica Neue Light" pitchFamily="34" charset="0"/>
                <a:ea typeface="Helvetica Neue Light" pitchFamily="34" charset="-122"/>
                <a:cs typeface="Helvetica Neue Light" pitchFamily="34" charset="-120"/>
              </a:rPr>
              <a:t>How we got here: the concept work, low-fi iterations, the Alerts &amp; Notifications and Chart Lens assignment tracks, and the dashboard concept in low fidelity.</a:t>
            </a:r>
            <a:endParaRPr lang="en-US" sz="1707" dirty="0"/>
          </a:p>
        </p:txBody>
      </p:sp>
      <p:pic>
        <p:nvPicPr>
          <p:cNvPr id="4" name="Picture 3"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975360" y="975360"/>
            <a:ext cx="4551680"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Design</a:t>
            </a:r>
            <a:endParaRPr lang="en-US" sz="5689" dirty="0"/>
          </a:p>
        </p:txBody>
      </p:sp>
      <p:sp>
        <p:nvSpPr>
          <p:cNvPr id="3" name="Text 1"/>
          <p:cNvSpPr txBox="1"/>
          <p:nvPr/>
        </p:nvSpPr>
        <p:spPr>
          <a:xfrm>
            <a:off x="7477763" y="975360"/>
            <a:ext cx="4826778" cy="1820672"/>
          </a:xfrm>
          <a:prstGeom prst="rect">
            <a:avLst/>
          </a:prstGeom>
          <a:noFill/>
          <a:ln/>
        </p:spPr>
        <p:txBody>
          <a:bodyPr wrap="square" lIns="0" tIns="0" rIns="0" bIns="0" rtlCol="0" anchor="t"/>
          <a:lstStyle/>
          <a:p>
            <a:pPr>
              <a:spcAft>
                <a:spcPts val="853"/>
              </a:spcAft>
              <a:buSzPct val="100000"/>
            </a:pPr>
            <a:r>
              <a:rPr lang="en-US" sz="1849" dirty="0">
                <a:solidFill>
                  <a:srgbClr val="FFFFFF"/>
                </a:solidFill>
                <a:latin typeface="Helvetica Neue Light" pitchFamily="34" charset="0"/>
                <a:ea typeface="Helvetica Neue Light" pitchFamily="34" charset="-122"/>
                <a:cs typeface="Helvetica Neue Light" pitchFamily="34" charset="-120"/>
              </a:rPr>
              <a:t>• Three lead concepts, one per property of a first success</a:t>
            </a:r>
            <a:endParaRPr lang="en-US" sz="1849" dirty="0"/>
          </a:p>
          <a:p>
            <a:pPr>
              <a:spcAft>
                <a:spcPts val="853"/>
              </a:spcAft>
              <a:buSzPct val="100000"/>
            </a:pPr>
            <a:r>
              <a:rPr lang="en-US" sz="1849" dirty="0">
                <a:solidFill>
                  <a:srgbClr val="FFFFFF"/>
                </a:solidFill>
                <a:latin typeface="Helvetica Neue Light" pitchFamily="34" charset="0"/>
                <a:ea typeface="Helvetica Neue Light" pitchFamily="34" charset="-122"/>
                <a:cs typeface="Helvetica Neue Light" pitchFamily="34" charset="-120"/>
              </a:rPr>
              <a:t>• An eight-feature, nine-screen first release</a:t>
            </a:r>
            <a:endParaRPr lang="en-US" sz="1849" dirty="0"/>
          </a:p>
          <a:p>
            <a:pPr>
              <a:spcAft>
                <a:spcPts val="853"/>
              </a:spcAft>
              <a:buSzPct val="100000"/>
            </a:pPr>
            <a:r>
              <a:rPr lang="en-US" sz="1849" dirty="0">
                <a:solidFill>
                  <a:srgbClr val="FFFFFF"/>
                </a:solidFill>
                <a:latin typeface="Helvetica Neue Light" pitchFamily="34" charset="0"/>
                <a:ea typeface="Helvetica Neue Light" pitchFamily="34" charset="-122"/>
                <a:cs typeface="Helvetica Neue Light" pitchFamily="34" charset="-120"/>
              </a:rPr>
              <a:t>• Nine screens from the team’s early concepts (A · B · C), reconciled with the rules</a:t>
            </a:r>
            <a:endParaRPr lang="en-US" sz="1849" dirty="0"/>
          </a:p>
        </p:txBody>
      </p:sp>
      <p:sp>
        <p:nvSpPr>
          <p:cNvPr id="4" name="Text 2"/>
          <p:cNvSpPr txBox="1"/>
          <p:nvPr/>
        </p:nvSpPr>
        <p:spPr>
          <a:xfrm>
            <a:off x="975360" y="3186176"/>
            <a:ext cx="4432981" cy="780288"/>
          </a:xfrm>
          <a:prstGeom prst="rect">
            <a:avLst/>
          </a:prstGeom>
          <a:noFill/>
          <a:ln/>
        </p:spPr>
        <p:txBody>
          <a:bodyPr wrap="square" lIns="0" tIns="0" rIns="0" bIns="0" rtlCol="0" anchor="t"/>
          <a:lstStyle/>
          <a:p>
            <a:r>
              <a:rPr lang="en-US" sz="3982" dirty="0">
                <a:solidFill>
                  <a:srgbClr val="FFFFFF"/>
                </a:solidFill>
                <a:latin typeface="Helvetica Neue Light" pitchFamily="34" charset="0"/>
                <a:ea typeface="Helvetica Neue Light" pitchFamily="34" charset="-122"/>
                <a:cs typeface="Helvetica Neue Light" pitchFamily="34" charset="-120"/>
              </a:rPr>
              <a:t>The Concept</a:t>
            </a:r>
            <a:endParaRPr lang="en-US" sz="3982" dirty="0"/>
          </a:p>
        </p:txBody>
      </p:sp>
      <p:sp>
        <p:nvSpPr>
          <p:cNvPr id="5" name="Text 3"/>
          <p:cNvSpPr txBox="1"/>
          <p:nvPr/>
        </p:nvSpPr>
        <p:spPr>
          <a:xfrm>
            <a:off x="975360" y="4356608"/>
            <a:ext cx="2668843" cy="2880533"/>
          </a:xfrm>
          <a:prstGeom prst="rect">
            <a:avLst/>
          </a:prstGeom>
          <a:noFill/>
          <a:ln/>
        </p:spPr>
        <p:txBody>
          <a:bodyPr wrap="square" lIns="0" tIns="0" rIns="0" bIns="0" rtlCol="0" anchor="t"/>
          <a:lstStyle/>
          <a:p>
            <a:pPr>
              <a:lnSpc>
                <a:spcPct val="120000"/>
              </a:lnSpc>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The Trading Day · </a:t>
            </a:r>
            <a:br>
              <a:rPr lang="en-US" sz="1849" dirty="0">
                <a:solidFill>
                  <a:srgbClr val="FFFFFF"/>
                </a:solidFill>
                <a:latin typeface="Helvetica Neue Light" pitchFamily="34" charset="0"/>
                <a:ea typeface="Helvetica Neue Light" pitchFamily="34" charset="-122"/>
                <a:cs typeface="Helvetica Neue Light" pitchFamily="34" charset="-120"/>
              </a:rPr>
            </a:br>
            <a:r>
              <a:rPr lang="en-US" sz="1849" dirty="0">
                <a:solidFill>
                  <a:srgbClr val="FFFFFF"/>
                </a:solidFill>
                <a:latin typeface="Helvetica Neue Light" pitchFamily="34" charset="0"/>
                <a:ea typeface="Helvetica Neue Light" pitchFamily="34" charset="-122"/>
                <a:cs typeface="Helvetica Neue Light" pitchFamily="34" charset="-120"/>
              </a:rPr>
              <a:t>the showcase</a:t>
            </a:r>
            <a:endParaRPr lang="en-US" sz="1991" dirty="0"/>
          </a:p>
          <a:p>
            <a:pPr>
              <a:lnSpc>
                <a:spcPct val="120000"/>
              </a:lnSpc>
            </a:pPr>
            <a:r>
              <a:rPr lang="en-US" sz="1707" dirty="0">
                <a:solidFill>
                  <a:srgbClr val="FFE9DF"/>
                </a:solidFill>
                <a:latin typeface="Helvetica Neue Light" pitchFamily="34" charset="0"/>
                <a:ea typeface="Helvetica Neue Light" pitchFamily="34" charset="-122"/>
                <a:cs typeface="Helvetica Neue Light" pitchFamily="34" charset="-120"/>
              </a:rPr>
              <a:t>Timely. Follows one trade through the day: find at night, check before work, watch during work, review after the close.</a:t>
            </a:r>
            <a:endParaRPr lang="en-US" sz="1991" dirty="0"/>
          </a:p>
        </p:txBody>
      </p:sp>
      <p:sp>
        <p:nvSpPr>
          <p:cNvPr id="6" name="Text 4"/>
          <p:cNvSpPr txBox="1"/>
          <p:nvPr/>
        </p:nvSpPr>
        <p:spPr>
          <a:xfrm>
            <a:off x="4147246" y="4356608"/>
            <a:ext cx="2393025" cy="2490241"/>
          </a:xfrm>
          <a:prstGeom prst="rect">
            <a:avLst/>
          </a:prstGeom>
          <a:noFill/>
          <a:ln/>
        </p:spPr>
        <p:txBody>
          <a:bodyPr wrap="square" lIns="0" tIns="0" rIns="0" bIns="0" rtlCol="0" anchor="t"/>
          <a:lstStyle/>
          <a:p>
            <a:pPr>
              <a:lnSpc>
                <a:spcPct val="120000"/>
              </a:lnSpc>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Your Playbook</a:t>
            </a:r>
            <a:endParaRPr lang="en-US" sz="1991" dirty="0"/>
          </a:p>
          <a:p>
            <a:pPr>
              <a:lnSpc>
                <a:spcPct val="120000"/>
              </a:lnSpc>
            </a:pPr>
            <a:r>
              <a:rPr lang="en-US" sz="1707" dirty="0">
                <a:solidFill>
                  <a:srgbClr val="FFE9DF"/>
                </a:solidFill>
                <a:latin typeface="Helvetica Neue Light" pitchFamily="34" charset="0"/>
                <a:ea typeface="Helvetica Neue Light" pitchFamily="34" charset="-122"/>
                <a:cs typeface="Helvetica Neue Light" pitchFamily="34" charset="-120"/>
              </a:rPr>
              <a:t>Relevant. Learns how you trade (your setups, your words, your rules) and speaks your language back.</a:t>
            </a:r>
            <a:endParaRPr lang="en-US" sz="1991" dirty="0"/>
          </a:p>
        </p:txBody>
      </p:sp>
      <p:sp>
        <p:nvSpPr>
          <p:cNvPr id="7" name="Text 5"/>
          <p:cNvSpPr txBox="1"/>
          <p:nvPr/>
        </p:nvSpPr>
        <p:spPr>
          <a:xfrm>
            <a:off x="6905405" y="4356608"/>
            <a:ext cx="2393025" cy="2690963"/>
          </a:xfrm>
          <a:prstGeom prst="rect">
            <a:avLst/>
          </a:prstGeom>
          <a:noFill/>
          <a:ln/>
        </p:spPr>
        <p:txBody>
          <a:bodyPr wrap="square" lIns="0" tIns="0" rIns="0" bIns="0" rtlCol="0" anchor="t"/>
          <a:lstStyle/>
          <a:p>
            <a:pPr>
              <a:lnSpc>
                <a:spcPct val="120000"/>
              </a:lnSpc>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The Decision Board</a:t>
            </a:r>
            <a:endParaRPr lang="en-US" sz="1991" dirty="0"/>
          </a:p>
          <a:p>
            <a:pPr>
              <a:lnSpc>
                <a:spcPct val="120000"/>
              </a:lnSpc>
            </a:pPr>
            <a:r>
              <a:rPr lang="en-US" sz="1707" dirty="0">
                <a:solidFill>
                  <a:srgbClr val="FFE9DF"/>
                </a:solidFill>
                <a:latin typeface="Helvetica Neue Light" pitchFamily="34" charset="0"/>
                <a:ea typeface="Helvetica Neue Light" pitchFamily="34" charset="-122"/>
                <a:cs typeface="Helvetica Neue Light" pitchFamily="34" charset="-120"/>
              </a:rPr>
              <a:t>Actionable. Sourced evidence for and against each candidate; you record the decision and what would change your mind.</a:t>
            </a:r>
            <a:endParaRPr lang="en-US" sz="1991" dirty="0"/>
          </a:p>
        </p:txBody>
      </p:sp>
      <p:sp>
        <p:nvSpPr>
          <p:cNvPr id="8" name="Text 6"/>
          <p:cNvSpPr txBox="1"/>
          <p:nvPr/>
        </p:nvSpPr>
        <p:spPr>
          <a:xfrm>
            <a:off x="9663563" y="4356608"/>
            <a:ext cx="2495923" cy="2334124"/>
          </a:xfrm>
          <a:prstGeom prst="rect">
            <a:avLst/>
          </a:prstGeom>
          <a:noFill/>
          <a:ln/>
        </p:spPr>
        <p:txBody>
          <a:bodyPr wrap="square" lIns="0" tIns="0" rIns="0" bIns="0" rtlCol="0" anchor="t"/>
          <a:lstStyle/>
          <a:p>
            <a:pPr>
              <a:lnSpc>
                <a:spcPct val="120000"/>
              </a:lnSpc>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Designing the AI</a:t>
            </a:r>
            <a:endParaRPr lang="en-US" sz="1991" dirty="0"/>
          </a:p>
          <a:p>
            <a:pPr>
              <a:lnSpc>
                <a:spcPct val="120000"/>
              </a:lnSpc>
            </a:pPr>
            <a:r>
              <a:rPr lang="en-US" sz="1707" dirty="0">
                <a:solidFill>
                  <a:srgbClr val="FFE9DF"/>
                </a:solidFill>
                <a:latin typeface="Helvetica Neue Light" pitchFamily="34" charset="0"/>
                <a:ea typeface="Helvetica Neue Light" pitchFamily="34" charset="-122"/>
                <a:cs typeface="Helvetica Neue Light" pitchFamily="34" charset="-120"/>
              </a:rPr>
              <a:t>Trust by design: editable output, honest history, no advice, and quality metrics that hold it to account.</a:t>
            </a:r>
            <a:endParaRPr lang="en-US" sz="1991" dirty="0"/>
          </a:p>
        </p:txBody>
      </p:sp>
      <p:pic>
        <p:nvPicPr>
          <p:cNvPr id="9"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Appendix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Pain Points + Business Goals + UX Strategy = Feature Set</a:t>
            </a:r>
            <a:endParaRPr lang="en-US" sz="3200" dirty="0"/>
          </a:p>
        </p:txBody>
      </p:sp>
      <p:sp>
        <p:nvSpPr>
          <p:cNvPr id="4" name="Pain Points"/>
          <p:cNvSpPr/>
          <p:nvPr/>
        </p:nvSpPr>
        <p:spPr>
          <a:xfrm>
            <a:off x="455168" y="2145792"/>
            <a:ext cx="2665984" cy="6112256"/>
          </a:xfrm>
          <a:prstGeom prst="rect">
            <a:avLst/>
          </a:prstGeom>
          <a:solidFill>
            <a:srgbClr val="E0505C"/>
          </a:solidFill>
          <a:ln w="12700">
            <a:solidFill>
              <a:srgbClr val="E0505C"/>
            </a:solidFill>
            <a:prstDash val="solid"/>
          </a:ln>
        </p:spPr>
        <p:txBody>
          <a:bodyPr/>
          <a:lstStyle/>
          <a:p>
            <a:endParaRPr sz="2560"/>
          </a:p>
        </p:txBody>
      </p:sp>
      <p:sp>
        <p:nvSpPr>
          <p:cNvPr id="5" name="Text 3"/>
          <p:cNvSpPr txBox="1"/>
          <p:nvPr/>
        </p:nvSpPr>
        <p:spPr>
          <a:xfrm>
            <a:off x="715263" y="2405888"/>
            <a:ext cx="2271552" cy="5722112"/>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Pain Points</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Ideas don’t become screens</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Blind in market hours</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No reason why it matched</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Fixed filter buckets</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Alert noise</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Scattered catalysts</a:t>
            </a:r>
            <a:endParaRPr lang="en-US" sz="1991" dirty="0"/>
          </a:p>
        </p:txBody>
      </p:sp>
      <p:sp>
        <p:nvSpPr>
          <p:cNvPr id="6" name="Text 4"/>
          <p:cNvSpPr txBox="1"/>
          <p:nvPr/>
        </p:nvSpPr>
        <p:spPr>
          <a:xfrm>
            <a:off x="3121152" y="4681728"/>
            <a:ext cx="520192" cy="650240"/>
          </a:xfrm>
          <a:prstGeom prst="rect">
            <a:avLst/>
          </a:prstGeom>
          <a:noFill/>
          <a:ln/>
        </p:spPr>
        <p:txBody>
          <a:bodyPr wrap="square" lIns="0" tIns="0" rIns="0" bIns="0" rtlCol="0" anchor="t"/>
          <a:lstStyle/>
          <a:p>
            <a:pPr algn="ctr"/>
            <a:r>
              <a:rPr lang="en-US" sz="3698" dirty="0">
                <a:solidFill>
                  <a:srgbClr val="1F1F1F"/>
                </a:solidFill>
                <a:latin typeface="Helvetica Neue Light" pitchFamily="34" charset="0"/>
                <a:ea typeface="Helvetica Neue Light" pitchFamily="34" charset="-122"/>
                <a:cs typeface="Helvetica Neue Light" pitchFamily="34" charset="-120"/>
              </a:rPr>
              <a:t>+</a:t>
            </a:r>
            <a:endParaRPr lang="en-US" sz="3698" dirty="0"/>
          </a:p>
        </p:txBody>
      </p:sp>
      <p:sp>
        <p:nvSpPr>
          <p:cNvPr id="7" name="Business Goals"/>
          <p:cNvSpPr/>
          <p:nvPr/>
        </p:nvSpPr>
        <p:spPr>
          <a:xfrm>
            <a:off x="3641344" y="2145792"/>
            <a:ext cx="2405888" cy="6112256"/>
          </a:xfrm>
          <a:prstGeom prst="rect">
            <a:avLst/>
          </a:prstGeom>
          <a:solidFill>
            <a:srgbClr val="7DCBE8"/>
          </a:solidFill>
          <a:ln w="12700">
            <a:solidFill>
              <a:srgbClr val="7DCBE8"/>
            </a:solidFill>
            <a:prstDash val="solid"/>
          </a:ln>
        </p:spPr>
        <p:txBody>
          <a:bodyPr/>
          <a:lstStyle/>
          <a:p>
            <a:endParaRPr sz="2560"/>
          </a:p>
        </p:txBody>
      </p:sp>
      <p:sp>
        <p:nvSpPr>
          <p:cNvPr id="8" name="Text 6"/>
          <p:cNvSpPr txBox="1"/>
          <p:nvPr/>
        </p:nvSpPr>
        <p:spPr>
          <a:xfrm>
            <a:off x="3901439" y="2405888"/>
            <a:ext cx="2000738" cy="5722112"/>
          </a:xfrm>
          <a:prstGeom prst="rect">
            <a:avLst/>
          </a:prstGeom>
          <a:noFill/>
          <a:ln/>
        </p:spPr>
        <p:txBody>
          <a:bodyPr wrap="square" lIns="0" tIns="0" rIns="0" bIns="0" rtlCol="0" anchor="t"/>
          <a:lstStyle/>
          <a:p>
            <a:pPr>
              <a:spcAft>
                <a:spcPts val="853"/>
              </a:spcAft>
            </a:pPr>
            <a:r>
              <a:rPr lang="en-US" sz="2276" dirty="0">
                <a:solidFill>
                  <a:srgbClr val="1F1F1F"/>
                </a:solidFill>
                <a:latin typeface="Helvetica Neue Light" pitchFamily="34" charset="0"/>
                <a:ea typeface="Helvetica Neue Light" pitchFamily="34" charset="-122"/>
                <a:cs typeface="Helvetica Neue Light" pitchFamily="34" charset="-120"/>
              </a:rPr>
              <a:t>Business Goals</a:t>
            </a:r>
            <a:endParaRPr lang="en-US" sz="1707" dirty="0"/>
          </a:p>
          <a:p>
            <a:pPr marL="487672" indent="-487672">
              <a:spcAft>
                <a:spcPts val="569"/>
              </a:spcAft>
              <a:buSzPct val="100000"/>
              <a:buChar char="•"/>
            </a:pPr>
            <a:r>
              <a:rPr lang="en-US" sz="1564" dirty="0">
                <a:solidFill>
                  <a:srgbClr val="1F1F1F"/>
                </a:solidFill>
                <a:latin typeface="Helvetica Neue Light" pitchFamily="34" charset="0"/>
                <a:ea typeface="Helvetica Neue Light" pitchFamily="34" charset="-122"/>
                <a:cs typeface="Helvetica Neue Light" pitchFamily="34" charset="-120"/>
              </a:rPr>
              <a:t>Sign-up → Elite in 21 days</a:t>
            </a:r>
            <a:endParaRPr lang="en-US" sz="1707" dirty="0"/>
          </a:p>
          <a:p>
            <a:pPr marL="487672" indent="-487672">
              <a:spcAft>
                <a:spcPts val="569"/>
              </a:spcAft>
              <a:buSzPct val="100000"/>
              <a:buChar char="•"/>
            </a:pPr>
            <a:r>
              <a:rPr lang="en-US" sz="1564" dirty="0">
                <a:solidFill>
                  <a:srgbClr val="1F1F1F"/>
                </a:solidFill>
                <a:latin typeface="Helvetica Neue Light" pitchFamily="34" charset="0"/>
                <a:ea typeface="Helvetica Neue Light" pitchFamily="34" charset="-122"/>
                <a:cs typeface="Helvetica Neue Light" pitchFamily="34" charset="-120"/>
              </a:rPr>
              <a:t>Active Screeners habit</a:t>
            </a:r>
            <a:endParaRPr lang="en-US" sz="1707" dirty="0"/>
          </a:p>
          <a:p>
            <a:pPr marL="487672" indent="-487672">
              <a:spcAft>
                <a:spcPts val="569"/>
              </a:spcAft>
              <a:buSzPct val="100000"/>
              <a:buChar char="•"/>
            </a:pPr>
            <a:r>
              <a:rPr lang="en-US" sz="1564" dirty="0">
                <a:solidFill>
                  <a:srgbClr val="1F1F1F"/>
                </a:solidFill>
                <a:latin typeface="Helvetica Neue Light" pitchFamily="34" charset="0"/>
                <a:ea typeface="Helvetica Neue Light" pitchFamily="34" charset="-122"/>
                <a:cs typeface="Helvetica Neue Light" pitchFamily="34" charset="-120"/>
              </a:rPr>
              <a:t>Make Elite’s value obvious</a:t>
            </a:r>
            <a:endParaRPr lang="en-US" sz="1707" dirty="0"/>
          </a:p>
          <a:p>
            <a:pPr marL="487672" indent="-487672">
              <a:spcAft>
                <a:spcPts val="569"/>
              </a:spcAft>
              <a:buSzPct val="100000"/>
              <a:buChar char="•"/>
            </a:pPr>
            <a:r>
              <a:rPr lang="en-US" sz="1564" dirty="0">
                <a:solidFill>
                  <a:srgbClr val="1F1F1F"/>
                </a:solidFill>
                <a:latin typeface="Helvetica Neue Light" pitchFamily="34" charset="0"/>
                <a:ea typeface="Helvetica Neue Light" pitchFamily="34" charset="-122"/>
                <a:cs typeface="Helvetica Neue Light" pitchFamily="34" charset="-120"/>
              </a:rPr>
              <a:t>Keep the free tier useful</a:t>
            </a:r>
            <a:endParaRPr lang="en-US" sz="1707" dirty="0"/>
          </a:p>
        </p:txBody>
      </p:sp>
      <p:sp>
        <p:nvSpPr>
          <p:cNvPr id="9" name="Text 7"/>
          <p:cNvSpPr txBox="1"/>
          <p:nvPr/>
        </p:nvSpPr>
        <p:spPr>
          <a:xfrm>
            <a:off x="6047232" y="4681728"/>
            <a:ext cx="520192" cy="650240"/>
          </a:xfrm>
          <a:prstGeom prst="rect">
            <a:avLst/>
          </a:prstGeom>
          <a:noFill/>
          <a:ln/>
        </p:spPr>
        <p:txBody>
          <a:bodyPr wrap="square" lIns="0" tIns="0" rIns="0" bIns="0" rtlCol="0" anchor="t"/>
          <a:lstStyle/>
          <a:p>
            <a:pPr algn="ctr"/>
            <a:r>
              <a:rPr lang="en-US" sz="3698" dirty="0">
                <a:solidFill>
                  <a:srgbClr val="1F1F1F"/>
                </a:solidFill>
                <a:latin typeface="Helvetica Neue Light" pitchFamily="34" charset="0"/>
                <a:ea typeface="Helvetica Neue Light" pitchFamily="34" charset="-122"/>
                <a:cs typeface="Helvetica Neue Light" pitchFamily="34" charset="-120"/>
              </a:rPr>
              <a:t>+</a:t>
            </a:r>
            <a:endParaRPr lang="en-US" sz="3698" dirty="0"/>
          </a:p>
        </p:txBody>
      </p:sp>
      <p:sp>
        <p:nvSpPr>
          <p:cNvPr id="10" name="UX Strategy"/>
          <p:cNvSpPr/>
          <p:nvPr/>
        </p:nvSpPr>
        <p:spPr>
          <a:xfrm>
            <a:off x="6567424" y="2145792"/>
            <a:ext cx="2535936" cy="6112256"/>
          </a:xfrm>
          <a:prstGeom prst="rect">
            <a:avLst/>
          </a:prstGeom>
          <a:solidFill>
            <a:srgbClr val="3A7D55"/>
          </a:solidFill>
          <a:ln w="12700">
            <a:solidFill>
              <a:srgbClr val="3A7D55"/>
            </a:solidFill>
            <a:prstDash val="solid"/>
          </a:ln>
        </p:spPr>
        <p:txBody>
          <a:bodyPr/>
          <a:lstStyle/>
          <a:p>
            <a:endParaRPr sz="2560"/>
          </a:p>
        </p:txBody>
      </p:sp>
      <p:sp>
        <p:nvSpPr>
          <p:cNvPr id="11" name="Text 9"/>
          <p:cNvSpPr txBox="1"/>
          <p:nvPr/>
        </p:nvSpPr>
        <p:spPr>
          <a:xfrm>
            <a:off x="6827520" y="2405888"/>
            <a:ext cx="2015744" cy="5722112"/>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UX Strategy</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Learn by doing</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Editable AI output</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Timely, relevant, actionable</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Judgment stays with the trader</a:t>
            </a:r>
            <a:endParaRPr lang="en-US" sz="1707" dirty="0"/>
          </a:p>
        </p:txBody>
      </p:sp>
      <p:sp>
        <p:nvSpPr>
          <p:cNvPr id="12" name="Text 10"/>
          <p:cNvSpPr txBox="1"/>
          <p:nvPr/>
        </p:nvSpPr>
        <p:spPr>
          <a:xfrm>
            <a:off x="9103360" y="4681728"/>
            <a:ext cx="520192" cy="650240"/>
          </a:xfrm>
          <a:prstGeom prst="rect">
            <a:avLst/>
          </a:prstGeom>
          <a:noFill/>
          <a:ln/>
        </p:spPr>
        <p:txBody>
          <a:bodyPr wrap="square" lIns="0" tIns="0" rIns="0" bIns="0" rtlCol="0" anchor="t"/>
          <a:lstStyle/>
          <a:p>
            <a:pPr algn="ctr"/>
            <a:r>
              <a:rPr lang="en-US" sz="3698" dirty="0">
                <a:solidFill>
                  <a:srgbClr val="1F1F1F"/>
                </a:solidFill>
                <a:latin typeface="Helvetica Neue Light" pitchFamily="34" charset="0"/>
                <a:ea typeface="Helvetica Neue Light" pitchFamily="34" charset="-122"/>
                <a:cs typeface="Helvetica Neue Light" pitchFamily="34" charset="-120"/>
              </a:rPr>
              <a:t>=</a:t>
            </a:r>
            <a:endParaRPr lang="en-US" sz="3698" dirty="0"/>
          </a:p>
        </p:txBody>
      </p:sp>
      <p:sp>
        <p:nvSpPr>
          <p:cNvPr id="13" name="Feature Set"/>
          <p:cNvSpPr/>
          <p:nvPr/>
        </p:nvSpPr>
        <p:spPr>
          <a:xfrm>
            <a:off x="9623552" y="2145792"/>
            <a:ext cx="2926080" cy="6112256"/>
          </a:xfrm>
          <a:prstGeom prst="rect">
            <a:avLst/>
          </a:prstGeom>
          <a:solidFill>
            <a:srgbClr val="744A6C"/>
          </a:solidFill>
          <a:ln w="12700">
            <a:solidFill>
              <a:srgbClr val="744A6C"/>
            </a:solidFill>
            <a:prstDash val="solid"/>
          </a:ln>
        </p:spPr>
        <p:txBody>
          <a:bodyPr/>
          <a:lstStyle/>
          <a:p>
            <a:endParaRPr sz="2560"/>
          </a:p>
        </p:txBody>
      </p:sp>
      <p:sp>
        <p:nvSpPr>
          <p:cNvPr id="14" name="Text 12"/>
          <p:cNvSpPr txBox="1"/>
          <p:nvPr/>
        </p:nvSpPr>
        <p:spPr>
          <a:xfrm>
            <a:off x="9883648" y="2405888"/>
            <a:ext cx="2405888" cy="5722112"/>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Feature Set</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Bring what you have</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Living screen sentence</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Why it matched</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Watch it for me (alerts)</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Morning glance</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Reasons still hold?</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Decision Board</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Your Playbook</a:t>
            </a:r>
            <a:endParaRPr lang="en-US" sz="1991" dirty="0"/>
          </a:p>
        </p:txBody>
      </p:sp>
      <p:pic>
        <p:nvPicPr>
          <p:cNvPr id="1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Appendix   FinViz AI Screener</a:t>
            </a:r>
            <a:endParaRPr lang="en-US" sz="1422" dirty="0"/>
          </a:p>
        </p:txBody>
      </p:sp>
      <p:pic>
        <p:nvPicPr>
          <p:cNvPr id="3" name="Picture 2" descr="image.png"/>
          <p:cNvPicPr>
            <a:picLocks noChangeAspect="1"/>
          </p:cNvPicPr>
          <p:nvPr/>
        </p:nvPicPr>
        <p:blipFill>
          <a:blip r:embed="rId3"/>
          <a:stretch>
            <a:fillRect/>
          </a:stretch>
        </p:blipFill>
        <p:spPr>
          <a:xfrm>
            <a:off x="0" y="9285427"/>
            <a:ext cx="13004800" cy="468173"/>
          </a:xfrm>
          <a:prstGeom prst="rect">
            <a:avLst/>
          </a:prstGeom>
        </p:spPr>
      </p:pic>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The Trading Day, simplified</a:t>
            </a:r>
          </a:p>
        </p:txBody>
      </p:sp>
      <p:sp>
        <p:nvSpPr>
          <p:cNvPr id="5" name="TextBox 4"/>
          <p:cNvSpPr txBox="1"/>
          <p:nvPr/>
        </p:nvSpPr>
        <p:spPr>
          <a:xfrm>
            <a:off x="455168" y="1625601"/>
            <a:ext cx="12094464" cy="284565"/>
          </a:xfrm>
          <a:prstGeom prst="rect">
            <a:avLst/>
          </a:prstGeom>
          <a:noFill/>
        </p:spPr>
        <p:txBody>
          <a:bodyPr wrap="square" lIns="0" tIns="0" rIns="0" bIns="0">
            <a:spAutoFit/>
          </a:bodyPr>
          <a:lstStyle/>
          <a:p>
            <a:r>
              <a:rPr sz="1849">
                <a:solidFill>
                  <a:srgbClr val="595959"/>
                </a:solidFill>
                <a:latin typeface="Helvetica Neue Light"/>
              </a:rPr>
              <a:t>Five moments, two roles. FinViz watches and explains; Gary decides.</a:t>
            </a:r>
          </a:p>
        </p:txBody>
      </p:sp>
      <p:sp>
        <p:nvSpPr>
          <p:cNvPr id="6" name="TextBox 5"/>
          <p:cNvSpPr txBox="1"/>
          <p:nvPr/>
        </p:nvSpPr>
        <p:spPr>
          <a:xfrm>
            <a:off x="455168" y="2470912"/>
            <a:ext cx="1300480" cy="218842"/>
          </a:xfrm>
          <a:prstGeom prst="rect">
            <a:avLst/>
          </a:prstGeom>
          <a:noFill/>
        </p:spPr>
        <p:txBody>
          <a:bodyPr wrap="square" lIns="0" tIns="0" rIns="0" bIns="0">
            <a:spAutoFit/>
          </a:bodyPr>
          <a:lstStyle/>
          <a:p>
            <a:r>
              <a:rPr sz="1422">
                <a:solidFill>
                  <a:srgbClr val="1F1F1F"/>
                </a:solidFill>
                <a:latin typeface="Helvetica Neue"/>
              </a:rPr>
              <a:t>WHEN</a:t>
            </a:r>
          </a:p>
        </p:txBody>
      </p:sp>
      <p:sp>
        <p:nvSpPr>
          <p:cNvPr id="7" name="TextBox 6"/>
          <p:cNvSpPr txBox="1"/>
          <p:nvPr/>
        </p:nvSpPr>
        <p:spPr>
          <a:xfrm>
            <a:off x="455168" y="3511295"/>
            <a:ext cx="1300480" cy="218842"/>
          </a:xfrm>
          <a:prstGeom prst="rect">
            <a:avLst/>
          </a:prstGeom>
          <a:noFill/>
        </p:spPr>
        <p:txBody>
          <a:bodyPr wrap="square" lIns="0" tIns="0" rIns="0" bIns="0">
            <a:spAutoFit/>
          </a:bodyPr>
          <a:lstStyle/>
          <a:p>
            <a:r>
              <a:rPr sz="1422">
                <a:solidFill>
                  <a:srgbClr val="1F1F1F"/>
                </a:solidFill>
                <a:latin typeface="Helvetica Neue"/>
              </a:rPr>
              <a:t>GARY</a:t>
            </a:r>
          </a:p>
        </p:txBody>
      </p:sp>
      <p:sp>
        <p:nvSpPr>
          <p:cNvPr id="8" name="TextBox 7"/>
          <p:cNvSpPr txBox="1"/>
          <p:nvPr/>
        </p:nvSpPr>
        <p:spPr>
          <a:xfrm>
            <a:off x="455168" y="5331967"/>
            <a:ext cx="1300480" cy="218842"/>
          </a:xfrm>
          <a:prstGeom prst="rect">
            <a:avLst/>
          </a:prstGeom>
          <a:noFill/>
        </p:spPr>
        <p:txBody>
          <a:bodyPr wrap="square" lIns="0" tIns="0" rIns="0" bIns="0">
            <a:spAutoFit/>
          </a:bodyPr>
          <a:lstStyle/>
          <a:p>
            <a:r>
              <a:rPr sz="1422">
                <a:solidFill>
                  <a:srgbClr val="1F1F1F"/>
                </a:solidFill>
                <a:latin typeface="Helvetica Neue"/>
              </a:rPr>
              <a:t>FINVIZ</a:t>
            </a:r>
          </a:p>
        </p:txBody>
      </p:sp>
      <p:sp>
        <p:nvSpPr>
          <p:cNvPr id="9" name="Rectangle 8"/>
          <p:cNvSpPr/>
          <p:nvPr/>
        </p:nvSpPr>
        <p:spPr>
          <a:xfrm>
            <a:off x="1885696" y="2405888"/>
            <a:ext cx="2080768" cy="975360"/>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0" name="TextBox 9"/>
          <p:cNvSpPr txBox="1"/>
          <p:nvPr/>
        </p:nvSpPr>
        <p:spPr>
          <a:xfrm>
            <a:off x="2015744" y="2470912"/>
            <a:ext cx="1820672" cy="520014"/>
          </a:xfrm>
          <a:prstGeom prst="rect">
            <a:avLst/>
          </a:prstGeom>
          <a:noFill/>
        </p:spPr>
        <p:txBody>
          <a:bodyPr wrap="square" lIns="0" tIns="0" rIns="0" bIns="0">
            <a:spAutoFit/>
          </a:bodyPr>
          <a:lstStyle/>
          <a:p>
            <a:pPr>
              <a:spcAft>
                <a:spcPts val="284"/>
              </a:spcAft>
            </a:pPr>
            <a:r>
              <a:rPr sz="1849">
                <a:solidFill>
                  <a:srgbClr val="FFFFFF"/>
                </a:solidFill>
                <a:latin typeface="Helvetica Neue Light"/>
              </a:rPr>
              <a:t>Evening</a:t>
            </a:r>
          </a:p>
          <a:p>
            <a:r>
              <a:rPr sz="1280">
                <a:solidFill>
                  <a:srgbClr val="FFFFFF"/>
                </a:solidFill>
                <a:latin typeface="Helvetica Neue"/>
              </a:rPr>
              <a:t>8–10 PM · Home · laptop</a:t>
            </a:r>
          </a:p>
        </p:txBody>
      </p:sp>
      <p:sp>
        <p:nvSpPr>
          <p:cNvPr id="11" name="Rectangle 10"/>
          <p:cNvSpPr/>
          <p:nvPr/>
        </p:nvSpPr>
        <p:spPr>
          <a:xfrm>
            <a:off x="1885696" y="3446272"/>
            <a:ext cx="2080768" cy="1755648"/>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2015744" y="3576320"/>
            <a:ext cx="1820672" cy="962828"/>
          </a:xfrm>
          <a:prstGeom prst="rect">
            <a:avLst/>
          </a:prstGeom>
          <a:noFill/>
        </p:spPr>
        <p:txBody>
          <a:bodyPr wrap="square" lIns="0" tIns="0" rIns="0" bIns="0">
            <a:spAutoFit/>
          </a:bodyPr>
          <a:lstStyle/>
          <a:p>
            <a:r>
              <a:rPr sz="1564">
                <a:solidFill>
                  <a:srgbClr val="1F1F1F"/>
                </a:solidFill>
                <a:latin typeface="Helvetica Neue Light"/>
              </a:rPr>
              <a:t>Reviews what’s new, pins 3–5 names, taps “Watch these for me”</a:t>
            </a:r>
          </a:p>
        </p:txBody>
      </p:sp>
      <p:sp>
        <p:nvSpPr>
          <p:cNvPr id="13" name="Rectangle 12"/>
          <p:cNvSpPr/>
          <p:nvPr/>
        </p:nvSpPr>
        <p:spPr>
          <a:xfrm>
            <a:off x="1885696" y="5266944"/>
            <a:ext cx="2080768" cy="2015744"/>
          </a:xfrm>
          <a:prstGeom prst="rect">
            <a:avLst/>
          </a:prstGeom>
          <a:solidFill>
            <a:srgbClr val="F7F4FB"/>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2015744" y="5396993"/>
            <a:ext cx="1820672" cy="962828"/>
          </a:xfrm>
          <a:prstGeom prst="rect">
            <a:avLst/>
          </a:prstGeom>
          <a:noFill/>
        </p:spPr>
        <p:txBody>
          <a:bodyPr wrap="square" lIns="0" tIns="0" rIns="0" bIns="0">
            <a:spAutoFit/>
          </a:bodyPr>
          <a:lstStyle/>
          <a:p>
            <a:r>
              <a:rPr sz="1564">
                <a:solidFill>
                  <a:srgbClr val="A100E8"/>
                </a:solidFill>
                <a:latin typeface="Helvetica Neue Light"/>
              </a:rPr>
              <a:t>✦ </a:t>
            </a:r>
            <a:r>
              <a:rPr sz="1564">
                <a:solidFill>
                  <a:srgbClr val="1F1F1F"/>
                </a:solidFill>
                <a:latin typeface="Helvetica Neue Light"/>
              </a:rPr>
              <a:t>Shows what changed since last night and why each stock matched</a:t>
            </a:r>
          </a:p>
        </p:txBody>
      </p:sp>
      <p:sp>
        <p:nvSpPr>
          <p:cNvPr id="15" name="Rectangle 14"/>
          <p:cNvSpPr/>
          <p:nvPr/>
        </p:nvSpPr>
        <p:spPr>
          <a:xfrm>
            <a:off x="4044493" y="2405888"/>
            <a:ext cx="2080768" cy="975360"/>
          </a:xfrm>
          <a:prstGeom prst="rect">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4174541" y="2470912"/>
            <a:ext cx="1820672" cy="716991"/>
          </a:xfrm>
          <a:prstGeom prst="rect">
            <a:avLst/>
          </a:prstGeom>
          <a:noFill/>
        </p:spPr>
        <p:txBody>
          <a:bodyPr wrap="square" lIns="0" tIns="0" rIns="0" bIns="0">
            <a:spAutoFit/>
          </a:bodyPr>
          <a:lstStyle/>
          <a:p>
            <a:pPr>
              <a:spcAft>
                <a:spcPts val="284"/>
              </a:spcAft>
            </a:pPr>
            <a:r>
              <a:rPr sz="1849">
                <a:solidFill>
                  <a:srgbClr val="FFFFFF"/>
                </a:solidFill>
                <a:latin typeface="Helvetica Neue Light"/>
              </a:rPr>
              <a:t>Overnight</a:t>
            </a:r>
          </a:p>
          <a:p>
            <a:r>
              <a:rPr sz="1280">
                <a:solidFill>
                  <a:srgbClr val="FFFFFF"/>
                </a:solidFill>
                <a:latin typeface="Helvetica Neue"/>
              </a:rPr>
              <a:t>while he sleeps · Background</a:t>
            </a:r>
          </a:p>
        </p:txBody>
      </p:sp>
      <p:sp>
        <p:nvSpPr>
          <p:cNvPr id="17" name="Rectangle 16"/>
          <p:cNvSpPr/>
          <p:nvPr/>
        </p:nvSpPr>
        <p:spPr>
          <a:xfrm>
            <a:off x="4044493" y="3446272"/>
            <a:ext cx="2080768" cy="1755648"/>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8" name="TextBox 17"/>
          <p:cNvSpPr txBox="1"/>
          <p:nvPr/>
        </p:nvSpPr>
        <p:spPr>
          <a:xfrm>
            <a:off x="4174541" y="3576321"/>
            <a:ext cx="1820672" cy="240707"/>
          </a:xfrm>
          <a:prstGeom prst="rect">
            <a:avLst/>
          </a:prstGeom>
          <a:noFill/>
        </p:spPr>
        <p:txBody>
          <a:bodyPr wrap="square" lIns="0" tIns="0" rIns="0" bIns="0">
            <a:spAutoFit/>
          </a:bodyPr>
          <a:lstStyle/>
          <a:p>
            <a:r>
              <a:rPr sz="1564">
                <a:solidFill>
                  <a:srgbClr val="1F1F1F"/>
                </a:solidFill>
                <a:latin typeface="Helvetica Neue Light"/>
              </a:rPr>
              <a:t>Nothing</a:t>
            </a:r>
          </a:p>
        </p:txBody>
      </p:sp>
      <p:sp>
        <p:nvSpPr>
          <p:cNvPr id="19" name="Rectangle 18"/>
          <p:cNvSpPr/>
          <p:nvPr/>
        </p:nvSpPr>
        <p:spPr>
          <a:xfrm>
            <a:off x="4044493" y="5266944"/>
            <a:ext cx="2080768" cy="2015744"/>
          </a:xfrm>
          <a:prstGeom prst="rect">
            <a:avLst/>
          </a:prstGeom>
          <a:solidFill>
            <a:srgbClr val="F7F4FB"/>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TextBox 19"/>
          <p:cNvSpPr txBox="1"/>
          <p:nvPr/>
        </p:nvSpPr>
        <p:spPr>
          <a:xfrm>
            <a:off x="4174541" y="5396992"/>
            <a:ext cx="1820672" cy="722121"/>
          </a:xfrm>
          <a:prstGeom prst="rect">
            <a:avLst/>
          </a:prstGeom>
          <a:noFill/>
        </p:spPr>
        <p:txBody>
          <a:bodyPr wrap="square" lIns="0" tIns="0" rIns="0" bIns="0">
            <a:spAutoFit/>
          </a:bodyPr>
          <a:lstStyle/>
          <a:p>
            <a:r>
              <a:rPr sz="1564">
                <a:solidFill>
                  <a:srgbClr val="A100E8"/>
                </a:solidFill>
                <a:latin typeface="Helvetica Neue Light"/>
              </a:rPr>
              <a:t>✦ </a:t>
            </a:r>
            <a:r>
              <a:rPr sz="1564">
                <a:solidFill>
                  <a:srgbClr val="1F1F1F"/>
                </a:solidFill>
                <a:latin typeface="Helvetica Neue Light"/>
              </a:rPr>
              <a:t>Checks gaps, earnings and news on his shortlist</a:t>
            </a:r>
          </a:p>
        </p:txBody>
      </p:sp>
      <p:sp>
        <p:nvSpPr>
          <p:cNvPr id="21" name="Rectangle 20"/>
          <p:cNvSpPr/>
          <p:nvPr/>
        </p:nvSpPr>
        <p:spPr>
          <a:xfrm>
            <a:off x="6203290" y="2405888"/>
            <a:ext cx="2080768" cy="975360"/>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6333338" y="2470912"/>
            <a:ext cx="1820672" cy="716991"/>
          </a:xfrm>
          <a:prstGeom prst="rect">
            <a:avLst/>
          </a:prstGeom>
          <a:noFill/>
        </p:spPr>
        <p:txBody>
          <a:bodyPr wrap="square" lIns="0" tIns="0" rIns="0" bIns="0">
            <a:spAutoFit/>
          </a:bodyPr>
          <a:lstStyle/>
          <a:p>
            <a:pPr>
              <a:spcAft>
                <a:spcPts val="284"/>
              </a:spcAft>
            </a:pPr>
            <a:r>
              <a:rPr sz="1849">
                <a:solidFill>
                  <a:srgbClr val="FFFFFF"/>
                </a:solidFill>
                <a:latin typeface="Helvetica Neue Light"/>
              </a:rPr>
              <a:t>Before work</a:t>
            </a:r>
          </a:p>
          <a:p>
            <a:r>
              <a:rPr sz="1280">
                <a:solidFill>
                  <a:srgbClr val="FFFFFF"/>
                </a:solidFill>
                <a:latin typeface="Helvetica Neue"/>
              </a:rPr>
              <a:t>7:30 AM · Phone · 30 seconds</a:t>
            </a:r>
          </a:p>
        </p:txBody>
      </p:sp>
      <p:sp>
        <p:nvSpPr>
          <p:cNvPr id="23" name="Rectangle 22"/>
          <p:cNvSpPr/>
          <p:nvPr/>
        </p:nvSpPr>
        <p:spPr>
          <a:xfrm>
            <a:off x="6203290" y="3446272"/>
            <a:ext cx="2080768" cy="1755648"/>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4" name="TextBox 23"/>
          <p:cNvSpPr txBox="1"/>
          <p:nvPr/>
        </p:nvSpPr>
        <p:spPr>
          <a:xfrm>
            <a:off x="6333338" y="3576320"/>
            <a:ext cx="1820672" cy="481414"/>
          </a:xfrm>
          <a:prstGeom prst="rect">
            <a:avLst/>
          </a:prstGeom>
          <a:noFill/>
        </p:spPr>
        <p:txBody>
          <a:bodyPr wrap="square" lIns="0" tIns="0" rIns="0" bIns="0">
            <a:spAutoFit/>
          </a:bodyPr>
          <a:lstStyle/>
          <a:p>
            <a:r>
              <a:rPr sz="1564">
                <a:solidFill>
                  <a:srgbClr val="1F1F1F"/>
                </a:solidFill>
                <a:latin typeface="Helvetica Neue Light"/>
              </a:rPr>
              <a:t>Reads one short note</a:t>
            </a:r>
          </a:p>
        </p:txBody>
      </p:sp>
      <p:sp>
        <p:nvSpPr>
          <p:cNvPr id="25" name="Rectangle 24"/>
          <p:cNvSpPr/>
          <p:nvPr/>
        </p:nvSpPr>
        <p:spPr>
          <a:xfrm>
            <a:off x="6203290" y="5266944"/>
            <a:ext cx="2080768" cy="2015744"/>
          </a:xfrm>
          <a:prstGeom prst="rect">
            <a:avLst/>
          </a:prstGeom>
          <a:solidFill>
            <a:srgbClr val="F7F4FB"/>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6" name="TextBox 25"/>
          <p:cNvSpPr txBox="1"/>
          <p:nvPr/>
        </p:nvSpPr>
        <p:spPr>
          <a:xfrm>
            <a:off x="6333338" y="5396993"/>
            <a:ext cx="1820672" cy="962828"/>
          </a:xfrm>
          <a:prstGeom prst="rect">
            <a:avLst/>
          </a:prstGeom>
          <a:noFill/>
        </p:spPr>
        <p:txBody>
          <a:bodyPr wrap="square" lIns="0" tIns="0" rIns="0" bIns="0">
            <a:spAutoFit/>
          </a:bodyPr>
          <a:lstStyle/>
          <a:p>
            <a:r>
              <a:rPr sz="1564">
                <a:solidFill>
                  <a:srgbClr val="A100E8"/>
                </a:solidFill>
                <a:latin typeface="Helvetica Neue Light"/>
              </a:rPr>
              <a:t>✦ </a:t>
            </a:r>
            <a:r>
              <a:rPr sz="1564">
                <a:solidFill>
                  <a:srgbClr val="1F1F1F"/>
                </a:solidFill>
                <a:latin typeface="Helvetica Neue Light"/>
              </a:rPr>
              <a:t>Says what changed and whether his reasons still hold</a:t>
            </a:r>
          </a:p>
        </p:txBody>
      </p:sp>
      <p:sp>
        <p:nvSpPr>
          <p:cNvPr id="27" name="Rectangle 26"/>
          <p:cNvSpPr/>
          <p:nvPr/>
        </p:nvSpPr>
        <p:spPr>
          <a:xfrm>
            <a:off x="8362086" y="2405888"/>
            <a:ext cx="2080768" cy="975360"/>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8" name="TextBox 27"/>
          <p:cNvSpPr txBox="1"/>
          <p:nvPr/>
        </p:nvSpPr>
        <p:spPr>
          <a:xfrm>
            <a:off x="8492134" y="2470912"/>
            <a:ext cx="1820672" cy="716991"/>
          </a:xfrm>
          <a:prstGeom prst="rect">
            <a:avLst/>
          </a:prstGeom>
          <a:noFill/>
        </p:spPr>
        <p:txBody>
          <a:bodyPr wrap="square" lIns="0" tIns="0" rIns="0" bIns="0">
            <a:spAutoFit/>
          </a:bodyPr>
          <a:lstStyle/>
          <a:p>
            <a:pPr>
              <a:spcAft>
                <a:spcPts val="284"/>
              </a:spcAft>
            </a:pPr>
            <a:r>
              <a:rPr sz="1849">
                <a:solidFill>
                  <a:srgbClr val="FFFFFF"/>
                </a:solidFill>
                <a:latin typeface="Helvetica Neue Light"/>
              </a:rPr>
              <a:t>During work</a:t>
            </a:r>
          </a:p>
          <a:p>
            <a:r>
              <a:rPr sz="1280">
                <a:solidFill>
                  <a:srgbClr val="FFFFFF"/>
                </a:solidFill>
                <a:latin typeface="Helvetica Neue"/>
              </a:rPr>
              <a:t>9:30 AM–4 PM · In meetings</a:t>
            </a:r>
          </a:p>
        </p:txBody>
      </p:sp>
      <p:sp>
        <p:nvSpPr>
          <p:cNvPr id="29" name="Rectangle 28"/>
          <p:cNvSpPr/>
          <p:nvPr/>
        </p:nvSpPr>
        <p:spPr>
          <a:xfrm>
            <a:off x="8362086" y="3446272"/>
            <a:ext cx="2080768" cy="1755648"/>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0" name="TextBox 29"/>
          <p:cNvSpPr txBox="1"/>
          <p:nvPr/>
        </p:nvSpPr>
        <p:spPr>
          <a:xfrm>
            <a:off x="8492134" y="3576320"/>
            <a:ext cx="1820672" cy="481414"/>
          </a:xfrm>
          <a:prstGeom prst="rect">
            <a:avLst/>
          </a:prstGeom>
          <a:noFill/>
        </p:spPr>
        <p:txBody>
          <a:bodyPr wrap="square" lIns="0" tIns="0" rIns="0" bIns="0">
            <a:spAutoFit/>
          </a:bodyPr>
          <a:lstStyle/>
          <a:p>
            <a:r>
              <a:rPr sz="1564">
                <a:solidFill>
                  <a:srgbClr val="1F1F1F"/>
                </a:solidFill>
                <a:latin typeface="Helvetica Neue Light"/>
              </a:rPr>
              <a:t>Taps one alert, if it comes</a:t>
            </a:r>
          </a:p>
        </p:txBody>
      </p:sp>
      <p:sp>
        <p:nvSpPr>
          <p:cNvPr id="31" name="Rectangle 30"/>
          <p:cNvSpPr/>
          <p:nvPr/>
        </p:nvSpPr>
        <p:spPr>
          <a:xfrm>
            <a:off x="8362086" y="5266944"/>
            <a:ext cx="2080768" cy="2015744"/>
          </a:xfrm>
          <a:prstGeom prst="rect">
            <a:avLst/>
          </a:prstGeom>
          <a:solidFill>
            <a:srgbClr val="F7F4FB"/>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2" name="TextBox 31"/>
          <p:cNvSpPr txBox="1"/>
          <p:nvPr/>
        </p:nvSpPr>
        <p:spPr>
          <a:xfrm>
            <a:off x="8492134" y="5396992"/>
            <a:ext cx="1820672" cy="962828"/>
          </a:xfrm>
          <a:prstGeom prst="rect">
            <a:avLst/>
          </a:prstGeom>
          <a:noFill/>
        </p:spPr>
        <p:txBody>
          <a:bodyPr wrap="square" lIns="0" tIns="0" rIns="0" bIns="0">
            <a:spAutoFit/>
          </a:bodyPr>
          <a:lstStyle/>
          <a:p>
            <a:r>
              <a:rPr sz="1564">
                <a:solidFill>
                  <a:srgbClr val="A100E8"/>
                </a:solidFill>
                <a:latin typeface="Helvetica Neue Light"/>
              </a:rPr>
              <a:t>✦ </a:t>
            </a:r>
            <a:r>
              <a:rPr sz="1564">
                <a:solidFill>
                  <a:srgbClr val="1F1F1F"/>
                </a:solidFill>
                <a:latin typeface="Helvetica Neue Light"/>
              </a:rPr>
              <a:t>Stays silent unless his own criteria are met; then one alert with the reason</a:t>
            </a:r>
          </a:p>
        </p:txBody>
      </p:sp>
      <p:sp>
        <p:nvSpPr>
          <p:cNvPr id="33" name="Rectangle 32"/>
          <p:cNvSpPr/>
          <p:nvPr/>
        </p:nvSpPr>
        <p:spPr>
          <a:xfrm>
            <a:off x="10520883" y="2405888"/>
            <a:ext cx="2080768" cy="975360"/>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4" name="TextBox 33"/>
          <p:cNvSpPr txBox="1"/>
          <p:nvPr/>
        </p:nvSpPr>
        <p:spPr>
          <a:xfrm>
            <a:off x="10650931" y="2470912"/>
            <a:ext cx="1820672" cy="520014"/>
          </a:xfrm>
          <a:prstGeom prst="rect">
            <a:avLst/>
          </a:prstGeom>
          <a:noFill/>
        </p:spPr>
        <p:txBody>
          <a:bodyPr wrap="square" lIns="0" tIns="0" rIns="0" bIns="0">
            <a:spAutoFit/>
          </a:bodyPr>
          <a:lstStyle/>
          <a:p>
            <a:pPr>
              <a:spcAft>
                <a:spcPts val="284"/>
              </a:spcAft>
            </a:pPr>
            <a:r>
              <a:rPr sz="1849">
                <a:solidFill>
                  <a:srgbClr val="FFFFFF"/>
                </a:solidFill>
                <a:latin typeface="Helvetica Neue Light"/>
              </a:rPr>
              <a:t>After the close</a:t>
            </a:r>
          </a:p>
          <a:p>
            <a:r>
              <a:rPr sz="1280">
                <a:solidFill>
                  <a:srgbClr val="FFFFFF"/>
                </a:solidFill>
                <a:latin typeface="Helvetica Neue"/>
              </a:rPr>
              <a:t>4:30 PM · Commute</a:t>
            </a:r>
          </a:p>
        </p:txBody>
      </p:sp>
      <p:sp>
        <p:nvSpPr>
          <p:cNvPr id="35" name="Rectangle 34"/>
          <p:cNvSpPr/>
          <p:nvPr/>
        </p:nvSpPr>
        <p:spPr>
          <a:xfrm>
            <a:off x="10520883" y="3446272"/>
            <a:ext cx="2080768" cy="1755648"/>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6" name="TextBox 35"/>
          <p:cNvSpPr txBox="1"/>
          <p:nvPr/>
        </p:nvSpPr>
        <p:spPr>
          <a:xfrm>
            <a:off x="10650931" y="3576320"/>
            <a:ext cx="1820672" cy="481414"/>
          </a:xfrm>
          <a:prstGeom prst="rect">
            <a:avLst/>
          </a:prstGeom>
          <a:noFill/>
        </p:spPr>
        <p:txBody>
          <a:bodyPr wrap="square" lIns="0" tIns="0" rIns="0" bIns="0">
            <a:spAutoFit/>
          </a:bodyPr>
          <a:lstStyle/>
          <a:p>
            <a:r>
              <a:rPr sz="1564">
                <a:solidFill>
                  <a:srgbClr val="1F1F1F"/>
                </a:solidFill>
                <a:latin typeface="Helvetica Neue Light"/>
              </a:rPr>
              <a:t>Decides: hold, or exit in his own broker</a:t>
            </a:r>
          </a:p>
        </p:txBody>
      </p:sp>
      <p:sp>
        <p:nvSpPr>
          <p:cNvPr id="37" name="Rectangle 36"/>
          <p:cNvSpPr/>
          <p:nvPr/>
        </p:nvSpPr>
        <p:spPr>
          <a:xfrm>
            <a:off x="10520883" y="5266944"/>
            <a:ext cx="2080768" cy="2015744"/>
          </a:xfrm>
          <a:prstGeom prst="rect">
            <a:avLst/>
          </a:prstGeom>
          <a:solidFill>
            <a:srgbClr val="F7F4FB"/>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8" name="TextBox 37"/>
          <p:cNvSpPr txBox="1"/>
          <p:nvPr/>
        </p:nvSpPr>
        <p:spPr>
          <a:xfrm>
            <a:off x="10650931" y="5396992"/>
            <a:ext cx="1820672" cy="962828"/>
          </a:xfrm>
          <a:prstGeom prst="rect">
            <a:avLst/>
          </a:prstGeom>
          <a:noFill/>
        </p:spPr>
        <p:txBody>
          <a:bodyPr wrap="square" lIns="0" tIns="0" rIns="0" bIns="0">
            <a:spAutoFit/>
          </a:bodyPr>
          <a:lstStyle/>
          <a:p>
            <a:r>
              <a:rPr sz="1564">
                <a:solidFill>
                  <a:srgbClr val="A100E8"/>
                </a:solidFill>
                <a:latin typeface="Helvetica Neue Light"/>
              </a:rPr>
              <a:t>✦ </a:t>
            </a:r>
            <a:r>
              <a:rPr sz="1564">
                <a:solidFill>
                  <a:srgbClr val="1F1F1F"/>
                </a:solidFill>
                <a:latin typeface="Helvetica Neue Light"/>
              </a:rPr>
              <a:t>Shows which of his reasons still hold and which exit conditions fired</a:t>
            </a:r>
          </a:p>
        </p:txBody>
      </p:sp>
      <p:sp>
        <p:nvSpPr>
          <p:cNvPr id="39" name="TextBox 38"/>
          <p:cNvSpPr txBox="1"/>
          <p:nvPr/>
        </p:nvSpPr>
        <p:spPr>
          <a:xfrm>
            <a:off x="455168" y="7607808"/>
            <a:ext cx="12094464" cy="262701"/>
          </a:xfrm>
          <a:prstGeom prst="rect">
            <a:avLst/>
          </a:prstGeom>
          <a:noFill/>
        </p:spPr>
        <p:txBody>
          <a:bodyPr wrap="square" lIns="0" tIns="0" rIns="0" bIns="0">
            <a:spAutoFit/>
          </a:bodyPr>
          <a:lstStyle/>
          <a:p>
            <a:r>
              <a:rPr sz="1707">
                <a:solidFill>
                  <a:srgbClr val="1F1F1F"/>
                </a:solidFill>
                <a:latin typeface="Helvetica Neue"/>
              </a:rPr>
              <a:t>Gary’s checkpoints: </a:t>
            </a:r>
            <a:r>
              <a:rPr sz="1707">
                <a:solidFill>
                  <a:srgbClr val="595959"/>
                </a:solidFill>
                <a:latin typeface="Helvetica Neue Light"/>
              </a:rPr>
              <a:t>pin the shortlist · tap “watch these” · open an alert · hold or exit. FinViz never drafts, sizes or places orders.</a:t>
            </a:r>
          </a:p>
        </p:txBody>
      </p:sp>
      <p:sp>
        <p:nvSpPr>
          <p:cNvPr id="40" name="TextBox 39"/>
          <p:cNvSpPr txBox="1"/>
          <p:nvPr/>
        </p:nvSpPr>
        <p:spPr>
          <a:xfrm>
            <a:off x="455168" y="8193024"/>
            <a:ext cx="12094464" cy="262701"/>
          </a:xfrm>
          <a:prstGeom prst="rect">
            <a:avLst/>
          </a:prstGeom>
          <a:noFill/>
        </p:spPr>
        <p:txBody>
          <a:bodyPr wrap="square" lIns="0" tIns="0" rIns="0" bIns="0">
            <a:spAutoFit/>
          </a:bodyPr>
          <a:lstStyle/>
          <a:p>
            <a:r>
              <a:rPr sz="1707">
                <a:solidFill>
                  <a:srgbClr val="1F1F1F"/>
                </a:solidFill>
                <a:latin typeface="Helvetica Neue"/>
              </a:rPr>
              <a:t>First release: </a:t>
            </a:r>
            <a:r>
              <a:rPr sz="1707">
                <a:solidFill>
                  <a:srgbClr val="595959"/>
                </a:solidFill>
                <a:latin typeface="Helvetica Neue Light"/>
              </a:rPr>
              <a:t>8 features, 9 screens (next page). The Elite trial starts at “Watch these for me”.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On Watch: </a:t>
            </a:r>
            <a:r>
              <a:rPr lang="en-US" sz="3200" dirty="0">
                <a:solidFill>
                  <a:srgbClr val="1F1F1F"/>
                </a:solidFill>
                <a:latin typeface="Helvetica Neue Light"/>
              </a:rPr>
              <a:t>T</a:t>
            </a:r>
            <a:r>
              <a:rPr sz="3200" dirty="0">
                <a:solidFill>
                  <a:srgbClr val="1F1F1F"/>
                </a:solidFill>
                <a:latin typeface="Helvetica Neue Light"/>
              </a:rPr>
              <a:t>he hero features of The Trading Day</a:t>
            </a:r>
          </a:p>
        </p:txBody>
      </p:sp>
      <p:sp>
        <p:nvSpPr>
          <p:cNvPr id="5" name="TextBox 4"/>
          <p:cNvSpPr txBox="1"/>
          <p:nvPr/>
        </p:nvSpPr>
        <p:spPr>
          <a:xfrm>
            <a:off x="455168" y="1625600"/>
            <a:ext cx="12094464" cy="350224"/>
          </a:xfrm>
          <a:prstGeom prst="rect">
            <a:avLst/>
          </a:prstGeom>
          <a:noFill/>
        </p:spPr>
        <p:txBody>
          <a:bodyPr wrap="square" lIns="0" tIns="0" rIns="0" bIns="0">
            <a:spAutoFit/>
          </a:bodyPr>
          <a:lstStyle/>
          <a:p>
            <a:r>
              <a:rPr sz="2276">
                <a:solidFill>
                  <a:srgbClr val="C45A35"/>
                </a:solidFill>
                <a:latin typeface="Helvetica Neue Light"/>
              </a:rPr>
              <a:t>Find it tonight. FinViz keeps watch while you work. You decide.</a:t>
            </a:r>
          </a:p>
        </p:txBody>
      </p:sp>
      <p:sp>
        <p:nvSpPr>
          <p:cNvPr id="6" name="TextBox 5"/>
          <p:cNvSpPr txBox="1"/>
          <p:nvPr/>
        </p:nvSpPr>
        <p:spPr>
          <a:xfrm>
            <a:off x="455168" y="2275841"/>
            <a:ext cx="12094464" cy="1050800"/>
          </a:xfrm>
          <a:prstGeom prst="rect">
            <a:avLst/>
          </a:prstGeom>
          <a:noFill/>
        </p:spPr>
        <p:txBody>
          <a:bodyPr wrap="square" lIns="0" tIns="0" rIns="0" bIns="0">
            <a:spAutoFit/>
          </a:bodyPr>
          <a:lstStyle/>
          <a:p>
            <a:r>
              <a:rPr sz="1707">
                <a:solidFill>
                  <a:srgbClr val="595959"/>
                </a:solidFill>
                <a:latin typeface="Helvetica Neue Light"/>
              </a:rPr>
              <a:t>Today a FinViz screen is something Gary visits: he builds it at night, and by 9:30 the next morning it’s forgotten. On Watch turns a screen into something that keeps watch for him. It remembers why he picked each stock, watches those reasons on his schedule, and hands every decision back to him and his broker. It is built on what FinViz already has: the screener and its 89 filters, pattern signals, Elite alerts, the earnings calendar and the 7-day trial.</a:t>
            </a:r>
          </a:p>
        </p:txBody>
      </p:sp>
      <p:sp>
        <p:nvSpPr>
          <p:cNvPr id="7" name="TextBox 6"/>
          <p:cNvSpPr txBox="1"/>
          <p:nvPr/>
        </p:nvSpPr>
        <p:spPr>
          <a:xfrm>
            <a:off x="455168" y="3836416"/>
            <a:ext cx="4551680" cy="196977"/>
          </a:xfrm>
          <a:prstGeom prst="rect">
            <a:avLst/>
          </a:prstGeom>
          <a:noFill/>
        </p:spPr>
        <p:txBody>
          <a:bodyPr wrap="square" lIns="0" tIns="0" rIns="0" bIns="0">
            <a:spAutoFit/>
          </a:bodyPr>
          <a:lstStyle/>
          <a:p>
            <a:r>
              <a:rPr sz="1280">
                <a:solidFill>
                  <a:srgbClr val="1F1F1F"/>
                </a:solidFill>
                <a:latin typeface="Helvetica Neue"/>
              </a:rPr>
              <a:t>WHAT GARY NEEDS TO DO</a:t>
            </a:r>
          </a:p>
        </p:txBody>
      </p:sp>
      <p:sp>
        <p:nvSpPr>
          <p:cNvPr id="8" name="Rectangle 7"/>
          <p:cNvSpPr/>
          <p:nvPr/>
        </p:nvSpPr>
        <p:spPr>
          <a:xfrm>
            <a:off x="455168" y="4161536"/>
            <a:ext cx="2314854" cy="1625600"/>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611226" y="4265575"/>
            <a:ext cx="2015744" cy="968920"/>
          </a:xfrm>
          <a:prstGeom prst="rect">
            <a:avLst/>
          </a:prstGeom>
          <a:noFill/>
        </p:spPr>
        <p:txBody>
          <a:bodyPr wrap="square" lIns="0" tIns="0" rIns="0" bIns="0">
            <a:spAutoFit/>
          </a:bodyPr>
          <a:lstStyle/>
          <a:p>
            <a:pPr>
              <a:spcAft>
                <a:spcPts val="284"/>
              </a:spcAft>
            </a:pPr>
            <a:r>
              <a:rPr sz="1280">
                <a:solidFill>
                  <a:srgbClr val="FFFFFF"/>
                </a:solidFill>
                <a:latin typeface="Helvetica Neue"/>
              </a:rPr>
              <a:t>Job 1</a:t>
            </a:r>
          </a:p>
          <a:p>
            <a:pPr>
              <a:spcAft>
                <a:spcPts val="569"/>
              </a:spcAft>
            </a:pPr>
            <a:r>
              <a:rPr sz="1564">
                <a:solidFill>
                  <a:srgbClr val="FFFFFF"/>
                </a:solidFill>
                <a:latin typeface="Helvetica Neue Light"/>
              </a:rPr>
              <a:t>“Turn my idea into a screen that works.”</a:t>
            </a:r>
          </a:p>
          <a:p>
            <a:r>
              <a:rPr sz="1138">
                <a:solidFill>
                  <a:srgbClr val="FFFFFF"/>
                </a:solidFill>
                <a:latin typeface="Helvetica Neue"/>
              </a:rPr>
              <a:t>P1 · P2 · P3</a:t>
            </a:r>
          </a:p>
        </p:txBody>
      </p:sp>
      <p:sp>
        <p:nvSpPr>
          <p:cNvPr id="10" name="Rectangle 9"/>
          <p:cNvSpPr/>
          <p:nvPr/>
        </p:nvSpPr>
        <p:spPr>
          <a:xfrm>
            <a:off x="2900071" y="4161536"/>
            <a:ext cx="2314854" cy="1625600"/>
          </a:xfrm>
          <a:prstGeom prst="rect">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3056128" y="4265575"/>
            <a:ext cx="2015744" cy="968920"/>
          </a:xfrm>
          <a:prstGeom prst="rect">
            <a:avLst/>
          </a:prstGeom>
          <a:noFill/>
        </p:spPr>
        <p:txBody>
          <a:bodyPr wrap="square" lIns="0" tIns="0" rIns="0" bIns="0">
            <a:spAutoFit/>
          </a:bodyPr>
          <a:lstStyle/>
          <a:p>
            <a:pPr>
              <a:spcAft>
                <a:spcPts val="284"/>
              </a:spcAft>
            </a:pPr>
            <a:r>
              <a:rPr sz="1280">
                <a:solidFill>
                  <a:srgbClr val="FFFFFF"/>
                </a:solidFill>
                <a:latin typeface="Helvetica Neue"/>
              </a:rPr>
              <a:t>Job 2</a:t>
            </a:r>
          </a:p>
          <a:p>
            <a:pPr>
              <a:spcAft>
                <a:spcPts val="569"/>
              </a:spcAft>
            </a:pPr>
            <a:r>
              <a:rPr sz="1564">
                <a:solidFill>
                  <a:srgbClr val="FFFFFF"/>
                </a:solidFill>
                <a:latin typeface="Helvetica Neue Light"/>
              </a:rPr>
              <a:t>“Show me what’s new, and why it’s here.”</a:t>
            </a:r>
          </a:p>
          <a:p>
            <a:r>
              <a:rPr sz="1138">
                <a:solidFill>
                  <a:srgbClr val="FFFFFF"/>
                </a:solidFill>
                <a:latin typeface="Helvetica Neue"/>
              </a:rPr>
              <a:t>P5 · P6 · P8</a:t>
            </a:r>
          </a:p>
        </p:txBody>
      </p:sp>
      <p:sp>
        <p:nvSpPr>
          <p:cNvPr id="12" name="Rectangle 11"/>
          <p:cNvSpPr/>
          <p:nvPr/>
        </p:nvSpPr>
        <p:spPr>
          <a:xfrm>
            <a:off x="5344972" y="4161536"/>
            <a:ext cx="2314854" cy="1625600"/>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5501029" y="4265574"/>
            <a:ext cx="2015744" cy="968920"/>
          </a:xfrm>
          <a:prstGeom prst="rect">
            <a:avLst/>
          </a:prstGeom>
          <a:noFill/>
        </p:spPr>
        <p:txBody>
          <a:bodyPr wrap="square" lIns="0" tIns="0" rIns="0" bIns="0">
            <a:spAutoFit/>
          </a:bodyPr>
          <a:lstStyle/>
          <a:p>
            <a:pPr>
              <a:spcAft>
                <a:spcPts val="284"/>
              </a:spcAft>
            </a:pPr>
            <a:r>
              <a:rPr sz="1280">
                <a:solidFill>
                  <a:srgbClr val="FFFFFF"/>
                </a:solidFill>
                <a:latin typeface="Helvetica Neue"/>
              </a:rPr>
              <a:t>Job 3</a:t>
            </a:r>
          </a:p>
          <a:p>
            <a:pPr>
              <a:spcAft>
                <a:spcPts val="569"/>
              </a:spcAft>
            </a:pPr>
            <a:r>
              <a:rPr sz="1564">
                <a:solidFill>
                  <a:srgbClr val="FFFFFF"/>
                </a:solidFill>
                <a:latin typeface="Helvetica Neue Light"/>
              </a:rPr>
              <a:t>“Remember why I picked it.”</a:t>
            </a:r>
          </a:p>
          <a:p>
            <a:r>
              <a:rPr sz="1138">
                <a:solidFill>
                  <a:srgbClr val="FFFFFF"/>
                </a:solidFill>
                <a:latin typeface="Helvetica Neue"/>
              </a:rPr>
              <a:t>P8 · P16</a:t>
            </a:r>
          </a:p>
        </p:txBody>
      </p:sp>
      <p:sp>
        <p:nvSpPr>
          <p:cNvPr id="14" name="Rectangle 13"/>
          <p:cNvSpPr/>
          <p:nvPr/>
        </p:nvSpPr>
        <p:spPr>
          <a:xfrm>
            <a:off x="7789874" y="4161536"/>
            <a:ext cx="2314854" cy="1625600"/>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5" name="TextBox 14"/>
          <p:cNvSpPr txBox="1"/>
          <p:nvPr/>
        </p:nvSpPr>
        <p:spPr>
          <a:xfrm>
            <a:off x="7945931" y="4265575"/>
            <a:ext cx="2015744" cy="968920"/>
          </a:xfrm>
          <a:prstGeom prst="rect">
            <a:avLst/>
          </a:prstGeom>
          <a:noFill/>
        </p:spPr>
        <p:txBody>
          <a:bodyPr wrap="square" lIns="0" tIns="0" rIns="0" bIns="0">
            <a:spAutoFit/>
          </a:bodyPr>
          <a:lstStyle/>
          <a:p>
            <a:pPr>
              <a:spcAft>
                <a:spcPts val="284"/>
              </a:spcAft>
            </a:pPr>
            <a:r>
              <a:rPr sz="1280">
                <a:solidFill>
                  <a:srgbClr val="FFFFFF"/>
                </a:solidFill>
                <a:latin typeface="Helvetica Neue"/>
              </a:rPr>
              <a:t>Job 4</a:t>
            </a:r>
          </a:p>
          <a:p>
            <a:pPr>
              <a:spcAft>
                <a:spcPts val="569"/>
              </a:spcAft>
            </a:pPr>
            <a:r>
              <a:rPr sz="1564">
                <a:solidFill>
                  <a:srgbClr val="FFFFFF"/>
                </a:solidFill>
                <a:latin typeface="Helvetica Neue Light"/>
              </a:rPr>
              <a:t>“Tell me when it matters, not all day.”</a:t>
            </a:r>
          </a:p>
          <a:p>
            <a:r>
              <a:rPr sz="1138">
                <a:solidFill>
                  <a:srgbClr val="FFFFFF"/>
                </a:solidFill>
                <a:latin typeface="Helvetica Neue"/>
              </a:rPr>
              <a:t>P9 · P10 · P11</a:t>
            </a:r>
          </a:p>
        </p:txBody>
      </p:sp>
      <p:sp>
        <p:nvSpPr>
          <p:cNvPr id="16" name="Rectangle 15"/>
          <p:cNvSpPr/>
          <p:nvPr/>
        </p:nvSpPr>
        <p:spPr>
          <a:xfrm>
            <a:off x="10234776" y="4161536"/>
            <a:ext cx="2314854" cy="1625600"/>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10390834" y="4265575"/>
            <a:ext cx="2015744" cy="968920"/>
          </a:xfrm>
          <a:prstGeom prst="rect">
            <a:avLst/>
          </a:prstGeom>
          <a:noFill/>
        </p:spPr>
        <p:txBody>
          <a:bodyPr wrap="square" lIns="0" tIns="0" rIns="0" bIns="0">
            <a:spAutoFit/>
          </a:bodyPr>
          <a:lstStyle/>
          <a:p>
            <a:pPr>
              <a:spcAft>
                <a:spcPts val="284"/>
              </a:spcAft>
            </a:pPr>
            <a:r>
              <a:rPr sz="1280">
                <a:solidFill>
                  <a:srgbClr val="FFFFFF"/>
                </a:solidFill>
                <a:latin typeface="Helvetica Neue"/>
              </a:rPr>
              <a:t>Job 5</a:t>
            </a:r>
          </a:p>
          <a:p>
            <a:pPr>
              <a:spcAft>
                <a:spcPts val="569"/>
              </a:spcAft>
            </a:pPr>
            <a:r>
              <a:rPr sz="1564">
                <a:solidFill>
                  <a:srgbClr val="FFFFFF"/>
                </a:solidFill>
                <a:latin typeface="Helvetica Neue Light"/>
              </a:rPr>
              <a:t>“Help me decide: hold or get out.”</a:t>
            </a:r>
          </a:p>
          <a:p>
            <a:r>
              <a:rPr sz="1138">
                <a:solidFill>
                  <a:srgbClr val="FFFFFF"/>
                </a:solidFill>
                <a:latin typeface="Helvetica Neue"/>
              </a:rPr>
              <a:t>P13 · P15 · P16</a:t>
            </a:r>
          </a:p>
        </p:txBody>
      </p:sp>
      <p:sp>
        <p:nvSpPr>
          <p:cNvPr id="18" name="TextBox 17"/>
          <p:cNvSpPr txBox="1"/>
          <p:nvPr/>
        </p:nvSpPr>
        <p:spPr>
          <a:xfrm>
            <a:off x="455168" y="6047232"/>
            <a:ext cx="4551680" cy="196977"/>
          </a:xfrm>
          <a:prstGeom prst="rect">
            <a:avLst/>
          </a:prstGeom>
          <a:noFill/>
        </p:spPr>
        <p:txBody>
          <a:bodyPr wrap="square" lIns="0" tIns="0" rIns="0" bIns="0">
            <a:spAutoFit/>
          </a:bodyPr>
          <a:lstStyle/>
          <a:p>
            <a:r>
              <a:rPr sz="1280">
                <a:solidFill>
                  <a:srgbClr val="1F1F1F"/>
                </a:solidFill>
                <a:latin typeface="Helvetica Neue"/>
              </a:rPr>
              <a:t>SEVEN HERO FEATURES</a:t>
            </a:r>
          </a:p>
        </p:txBody>
      </p:sp>
      <p:sp>
        <p:nvSpPr>
          <p:cNvPr id="19" name="Rectangle 18"/>
          <p:cNvSpPr/>
          <p:nvPr/>
        </p:nvSpPr>
        <p:spPr>
          <a:xfrm>
            <a:off x="455168" y="6398362"/>
            <a:ext cx="2926080" cy="1144422"/>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Rectangle 19"/>
          <p:cNvSpPr/>
          <p:nvPr/>
        </p:nvSpPr>
        <p:spPr>
          <a:xfrm>
            <a:off x="455168" y="6398362"/>
            <a:ext cx="104038" cy="114442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1" name="TextBox 20"/>
          <p:cNvSpPr txBox="1"/>
          <p:nvPr/>
        </p:nvSpPr>
        <p:spPr>
          <a:xfrm>
            <a:off x="715264" y="6502400"/>
            <a:ext cx="2600960" cy="476284"/>
          </a:xfrm>
          <a:prstGeom prst="rect">
            <a:avLst/>
          </a:prstGeom>
          <a:noFill/>
        </p:spPr>
        <p:txBody>
          <a:bodyPr wrap="square" lIns="0" tIns="0" rIns="0" bIns="0">
            <a:spAutoFit/>
          </a:bodyPr>
          <a:lstStyle/>
          <a:p>
            <a:pPr>
              <a:spcAft>
                <a:spcPts val="284"/>
              </a:spcAft>
            </a:pPr>
            <a:r>
              <a:rPr sz="1707">
                <a:solidFill>
                  <a:srgbClr val="1F1F1F"/>
                </a:solidFill>
                <a:latin typeface="Helvetica Neue Light"/>
              </a:rPr>
              <a:t>1 · Show It</a:t>
            </a:r>
          </a:p>
          <a:p>
            <a:r>
              <a:rPr sz="1138">
                <a:solidFill>
                  <a:srgbClr val="6E6E6E"/>
                </a:solidFill>
                <a:latin typeface="Helvetica Neue"/>
              </a:rPr>
              <a:t>Evening</a:t>
            </a:r>
          </a:p>
        </p:txBody>
      </p:sp>
      <p:sp>
        <p:nvSpPr>
          <p:cNvPr id="22" name="Rectangle 21"/>
          <p:cNvSpPr/>
          <p:nvPr/>
        </p:nvSpPr>
        <p:spPr>
          <a:xfrm>
            <a:off x="3511296" y="6398362"/>
            <a:ext cx="2926080" cy="1144422"/>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Rectangle 22"/>
          <p:cNvSpPr/>
          <p:nvPr/>
        </p:nvSpPr>
        <p:spPr>
          <a:xfrm>
            <a:off x="3511296" y="6398362"/>
            <a:ext cx="104038" cy="1144422"/>
          </a:xfrm>
          <a:prstGeom prst="rect">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4" name="TextBox 23"/>
          <p:cNvSpPr txBox="1"/>
          <p:nvPr/>
        </p:nvSpPr>
        <p:spPr>
          <a:xfrm>
            <a:off x="3771392" y="6502400"/>
            <a:ext cx="2600960" cy="476284"/>
          </a:xfrm>
          <a:prstGeom prst="rect">
            <a:avLst/>
          </a:prstGeom>
          <a:noFill/>
        </p:spPr>
        <p:txBody>
          <a:bodyPr wrap="square" lIns="0" tIns="0" rIns="0" bIns="0">
            <a:spAutoFit/>
          </a:bodyPr>
          <a:lstStyle/>
          <a:p>
            <a:pPr>
              <a:spcAft>
                <a:spcPts val="284"/>
              </a:spcAft>
            </a:pPr>
            <a:r>
              <a:rPr sz="1707">
                <a:solidFill>
                  <a:srgbClr val="1F1F1F"/>
                </a:solidFill>
                <a:latin typeface="Helvetica Neue Light"/>
              </a:rPr>
              <a:t>2 · Since Last Night</a:t>
            </a:r>
          </a:p>
          <a:p>
            <a:r>
              <a:rPr sz="1138">
                <a:solidFill>
                  <a:srgbClr val="6E6E6E"/>
                </a:solidFill>
                <a:latin typeface="Helvetica Neue"/>
              </a:rPr>
              <a:t>Evening</a:t>
            </a:r>
          </a:p>
        </p:txBody>
      </p:sp>
      <p:sp>
        <p:nvSpPr>
          <p:cNvPr id="25" name="Rectangle 24"/>
          <p:cNvSpPr/>
          <p:nvPr/>
        </p:nvSpPr>
        <p:spPr>
          <a:xfrm>
            <a:off x="6567424" y="6398362"/>
            <a:ext cx="2926080" cy="1144422"/>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6" name="Rectangle 25"/>
          <p:cNvSpPr/>
          <p:nvPr/>
        </p:nvSpPr>
        <p:spPr>
          <a:xfrm>
            <a:off x="6567424" y="6398362"/>
            <a:ext cx="104038" cy="114442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7" name="TextBox 26"/>
          <p:cNvSpPr txBox="1"/>
          <p:nvPr/>
        </p:nvSpPr>
        <p:spPr>
          <a:xfrm>
            <a:off x="6827520" y="6502401"/>
            <a:ext cx="2600960" cy="476284"/>
          </a:xfrm>
          <a:prstGeom prst="rect">
            <a:avLst/>
          </a:prstGeom>
          <a:noFill/>
        </p:spPr>
        <p:txBody>
          <a:bodyPr wrap="square" lIns="0" tIns="0" rIns="0" bIns="0">
            <a:spAutoFit/>
          </a:bodyPr>
          <a:lstStyle/>
          <a:p>
            <a:pPr>
              <a:spcAft>
                <a:spcPts val="284"/>
              </a:spcAft>
            </a:pPr>
            <a:r>
              <a:rPr sz="1707">
                <a:solidFill>
                  <a:srgbClr val="1F1F1F"/>
                </a:solidFill>
                <a:latin typeface="Helvetica Neue Light"/>
              </a:rPr>
              <a:t>3 · Reasons Ledger</a:t>
            </a:r>
          </a:p>
          <a:p>
            <a:r>
              <a:rPr sz="1138">
                <a:solidFill>
                  <a:srgbClr val="6E6E6E"/>
                </a:solidFill>
                <a:latin typeface="Helvetica Neue"/>
              </a:rPr>
              <a:t>Evening</a:t>
            </a:r>
          </a:p>
        </p:txBody>
      </p:sp>
      <p:sp>
        <p:nvSpPr>
          <p:cNvPr id="28" name="Rectangle 27"/>
          <p:cNvSpPr/>
          <p:nvPr/>
        </p:nvSpPr>
        <p:spPr>
          <a:xfrm>
            <a:off x="9623552" y="6398362"/>
            <a:ext cx="2926080" cy="1144422"/>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9" name="Rectangle 28"/>
          <p:cNvSpPr/>
          <p:nvPr/>
        </p:nvSpPr>
        <p:spPr>
          <a:xfrm>
            <a:off x="9623552" y="6398362"/>
            <a:ext cx="104038" cy="114442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0" name="TextBox 29"/>
          <p:cNvSpPr txBox="1"/>
          <p:nvPr/>
        </p:nvSpPr>
        <p:spPr>
          <a:xfrm>
            <a:off x="9883648" y="6502401"/>
            <a:ext cx="2600960" cy="476284"/>
          </a:xfrm>
          <a:prstGeom prst="rect">
            <a:avLst/>
          </a:prstGeom>
          <a:noFill/>
        </p:spPr>
        <p:txBody>
          <a:bodyPr wrap="square" lIns="0" tIns="0" rIns="0" bIns="0">
            <a:spAutoFit/>
          </a:bodyPr>
          <a:lstStyle/>
          <a:p>
            <a:pPr>
              <a:spcAft>
                <a:spcPts val="284"/>
              </a:spcAft>
            </a:pPr>
            <a:r>
              <a:rPr sz="1707">
                <a:solidFill>
                  <a:srgbClr val="1F1F1F"/>
                </a:solidFill>
                <a:latin typeface="Helvetica Neue Light"/>
              </a:rPr>
              <a:t>4 · Watch These For Me</a:t>
            </a:r>
          </a:p>
          <a:p>
            <a:r>
              <a:rPr sz="1138">
                <a:solidFill>
                  <a:srgbClr val="6E6E6E"/>
                </a:solidFill>
                <a:latin typeface="Helvetica Neue"/>
              </a:rPr>
              <a:t>Evening · Elite trial starts</a:t>
            </a:r>
          </a:p>
        </p:txBody>
      </p:sp>
      <p:sp>
        <p:nvSpPr>
          <p:cNvPr id="31" name="Rectangle 30"/>
          <p:cNvSpPr/>
          <p:nvPr/>
        </p:nvSpPr>
        <p:spPr>
          <a:xfrm>
            <a:off x="455168" y="7698842"/>
            <a:ext cx="2926080" cy="1144422"/>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2" name="Rectangle 31"/>
          <p:cNvSpPr/>
          <p:nvPr/>
        </p:nvSpPr>
        <p:spPr>
          <a:xfrm>
            <a:off x="455168" y="7698842"/>
            <a:ext cx="104038" cy="114442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3" name="TextBox 32"/>
          <p:cNvSpPr txBox="1"/>
          <p:nvPr/>
        </p:nvSpPr>
        <p:spPr>
          <a:xfrm>
            <a:off x="715264" y="7802880"/>
            <a:ext cx="2600960" cy="476284"/>
          </a:xfrm>
          <a:prstGeom prst="rect">
            <a:avLst/>
          </a:prstGeom>
          <a:noFill/>
        </p:spPr>
        <p:txBody>
          <a:bodyPr wrap="square" lIns="0" tIns="0" rIns="0" bIns="0">
            <a:spAutoFit/>
          </a:bodyPr>
          <a:lstStyle/>
          <a:p>
            <a:pPr>
              <a:spcAft>
                <a:spcPts val="284"/>
              </a:spcAft>
            </a:pPr>
            <a:r>
              <a:rPr sz="1707">
                <a:solidFill>
                  <a:srgbClr val="1F1F1F"/>
                </a:solidFill>
                <a:latin typeface="Helvetica Neue Light"/>
              </a:rPr>
              <a:t>5 · Morning Glance</a:t>
            </a:r>
          </a:p>
          <a:p>
            <a:r>
              <a:rPr sz="1138">
                <a:solidFill>
                  <a:srgbClr val="6E6E6E"/>
                </a:solidFill>
                <a:latin typeface="Helvetica Neue"/>
              </a:rPr>
              <a:t>7:30 AM</a:t>
            </a:r>
          </a:p>
        </p:txBody>
      </p:sp>
      <p:sp>
        <p:nvSpPr>
          <p:cNvPr id="34" name="Rectangle 33"/>
          <p:cNvSpPr/>
          <p:nvPr/>
        </p:nvSpPr>
        <p:spPr>
          <a:xfrm>
            <a:off x="3511296" y="7698842"/>
            <a:ext cx="2926080" cy="1144422"/>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5" name="Rectangle 34"/>
          <p:cNvSpPr/>
          <p:nvPr/>
        </p:nvSpPr>
        <p:spPr>
          <a:xfrm>
            <a:off x="3511296" y="7698842"/>
            <a:ext cx="104038" cy="114442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6" name="TextBox 35"/>
          <p:cNvSpPr txBox="1"/>
          <p:nvPr/>
        </p:nvSpPr>
        <p:spPr>
          <a:xfrm>
            <a:off x="3771392" y="7802881"/>
            <a:ext cx="2600960" cy="476284"/>
          </a:xfrm>
          <a:prstGeom prst="rect">
            <a:avLst/>
          </a:prstGeom>
          <a:noFill/>
        </p:spPr>
        <p:txBody>
          <a:bodyPr wrap="square" lIns="0" tIns="0" rIns="0" bIns="0">
            <a:spAutoFit/>
          </a:bodyPr>
          <a:lstStyle/>
          <a:p>
            <a:pPr>
              <a:spcAft>
                <a:spcPts val="284"/>
              </a:spcAft>
            </a:pPr>
            <a:r>
              <a:rPr sz="1707">
                <a:solidFill>
                  <a:srgbClr val="1F1F1F"/>
                </a:solidFill>
                <a:latin typeface="Helvetica Neue Light"/>
              </a:rPr>
              <a:t>6 · Quiet Hours, One Alert</a:t>
            </a:r>
          </a:p>
          <a:p>
            <a:r>
              <a:rPr sz="1138">
                <a:solidFill>
                  <a:srgbClr val="6E6E6E"/>
                </a:solidFill>
                <a:latin typeface="Helvetica Neue"/>
              </a:rPr>
              <a:t>9:30 AM–4 PM</a:t>
            </a:r>
          </a:p>
        </p:txBody>
      </p:sp>
      <p:sp>
        <p:nvSpPr>
          <p:cNvPr id="37" name="Rectangle 36"/>
          <p:cNvSpPr/>
          <p:nvPr/>
        </p:nvSpPr>
        <p:spPr>
          <a:xfrm>
            <a:off x="6567424" y="7698842"/>
            <a:ext cx="2926080" cy="1144422"/>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8" name="Rectangle 37"/>
          <p:cNvSpPr/>
          <p:nvPr/>
        </p:nvSpPr>
        <p:spPr>
          <a:xfrm>
            <a:off x="6567424" y="7698842"/>
            <a:ext cx="104038" cy="114442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9" name="TextBox 38"/>
          <p:cNvSpPr txBox="1"/>
          <p:nvPr/>
        </p:nvSpPr>
        <p:spPr>
          <a:xfrm>
            <a:off x="6827520" y="7802881"/>
            <a:ext cx="2600960" cy="476284"/>
          </a:xfrm>
          <a:prstGeom prst="rect">
            <a:avLst/>
          </a:prstGeom>
          <a:noFill/>
        </p:spPr>
        <p:txBody>
          <a:bodyPr wrap="square" lIns="0" tIns="0" rIns="0" bIns="0">
            <a:spAutoFit/>
          </a:bodyPr>
          <a:lstStyle/>
          <a:p>
            <a:pPr>
              <a:spcAft>
                <a:spcPts val="284"/>
              </a:spcAft>
            </a:pPr>
            <a:r>
              <a:rPr sz="1707">
                <a:solidFill>
                  <a:srgbClr val="1F1F1F"/>
                </a:solidFill>
                <a:latin typeface="Helvetica Neue Light"/>
              </a:rPr>
              <a:t>7 · Reasons Still Hold?</a:t>
            </a:r>
          </a:p>
          <a:p>
            <a:r>
              <a:rPr sz="1138">
                <a:solidFill>
                  <a:srgbClr val="6E6E6E"/>
                </a:solidFill>
                <a:latin typeface="Helvetica Neue"/>
              </a:rPr>
              <a:t>4:30 PM</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Hero feature 1 · Show It</a:t>
            </a:r>
          </a:p>
        </p:txBody>
      </p:sp>
      <p:sp>
        <p:nvSpPr>
          <p:cNvPr id="5" name="TextBox 4"/>
          <p:cNvSpPr txBox="1"/>
          <p:nvPr/>
        </p:nvSpPr>
        <p:spPr>
          <a:xfrm>
            <a:off x="455168" y="1560577"/>
            <a:ext cx="7802880" cy="196977"/>
          </a:xfrm>
          <a:prstGeom prst="rect">
            <a:avLst/>
          </a:prstGeom>
          <a:noFill/>
        </p:spPr>
        <p:txBody>
          <a:bodyPr wrap="square" lIns="0" tIns="0" rIns="0" bIns="0">
            <a:spAutoFit/>
          </a:bodyPr>
          <a:lstStyle/>
          <a:p>
            <a:r>
              <a:rPr sz="1280">
                <a:solidFill>
                  <a:srgbClr val="C45A35"/>
                </a:solidFill>
                <a:latin typeface="Helvetica Neue"/>
              </a:rPr>
              <a:t>ITERATION 1 · LOW-FI WIREFRAME   </a:t>
            </a:r>
            <a:r>
              <a:rPr sz="1280">
                <a:solidFill>
                  <a:srgbClr val="6E6E6E"/>
                </a:solidFill>
                <a:latin typeface="Helvetica Neue"/>
              </a:rPr>
              <a:t>Evening</a:t>
            </a:r>
          </a:p>
        </p:txBody>
      </p:sp>
      <p:pic>
        <p:nvPicPr>
          <p:cNvPr id="6" name="Picture 5" descr="OW1-show-it.png"/>
          <p:cNvPicPr>
            <a:picLocks noChangeAspect="1"/>
          </p:cNvPicPr>
          <p:nvPr/>
        </p:nvPicPr>
        <p:blipFill>
          <a:blip r:embed="rId4"/>
          <a:stretch>
            <a:fillRect/>
          </a:stretch>
        </p:blipFill>
        <p:spPr>
          <a:xfrm>
            <a:off x="455168" y="1950721"/>
            <a:ext cx="7802880" cy="4663440"/>
          </a:xfrm>
          <a:prstGeom prst="rect">
            <a:avLst/>
          </a:prstGeom>
          <a:ln w="9525">
            <a:solidFill>
              <a:srgbClr val="1F1F1F"/>
            </a:solidFill>
          </a:ln>
        </p:spPr>
      </p:pic>
      <p:sp>
        <p:nvSpPr>
          <p:cNvPr id="7" name="Rectangle 6"/>
          <p:cNvSpPr/>
          <p:nvPr/>
        </p:nvSpPr>
        <p:spPr>
          <a:xfrm>
            <a:off x="8583168" y="1950720"/>
            <a:ext cx="3966464" cy="1365504"/>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739226" y="2054758"/>
            <a:ext cx="3641344" cy="965392"/>
          </a:xfrm>
          <a:prstGeom prst="rect">
            <a:avLst/>
          </a:prstGeom>
          <a:noFill/>
        </p:spPr>
        <p:txBody>
          <a:bodyPr wrap="square" lIns="0" tIns="0" rIns="0" bIns="0">
            <a:spAutoFit/>
          </a:bodyPr>
          <a:lstStyle/>
          <a:p>
            <a:pPr>
              <a:spcAft>
                <a:spcPts val="284"/>
              </a:spcAft>
            </a:pPr>
            <a:r>
              <a:rPr sz="1138">
                <a:solidFill>
                  <a:srgbClr val="FFFFFF"/>
                </a:solidFill>
                <a:latin typeface="Helvetica Neue"/>
              </a:rPr>
              <a:t>JOB 1</a:t>
            </a:r>
          </a:p>
          <a:p>
            <a:pPr>
              <a:spcAft>
                <a:spcPts val="427"/>
              </a:spcAft>
            </a:pPr>
            <a:r>
              <a:rPr sz="1707">
                <a:solidFill>
                  <a:srgbClr val="FFFFFF"/>
                </a:solidFill>
                <a:latin typeface="Helvetica Neue Light"/>
              </a:rPr>
              <a:t>“Turn my idea into a screen that works.”</a:t>
            </a:r>
          </a:p>
          <a:p>
            <a:r>
              <a:rPr sz="1138">
                <a:solidFill>
                  <a:srgbClr val="FFFFFF"/>
                </a:solidFill>
                <a:latin typeface="Helvetica Neue"/>
              </a:rPr>
              <a:t>P1 · P2 · P3</a:t>
            </a:r>
          </a:p>
        </p:txBody>
      </p:sp>
      <p:sp>
        <p:nvSpPr>
          <p:cNvPr id="9" name="TextBox 8"/>
          <p:cNvSpPr txBox="1"/>
          <p:nvPr/>
        </p:nvSpPr>
        <p:spPr>
          <a:xfrm>
            <a:off x="8583168" y="3511296"/>
            <a:ext cx="4161536" cy="196977"/>
          </a:xfrm>
          <a:prstGeom prst="rect">
            <a:avLst/>
          </a:prstGeom>
          <a:noFill/>
        </p:spPr>
        <p:txBody>
          <a:bodyPr wrap="square" lIns="0" tIns="0" rIns="0" bIns="0">
            <a:spAutoFit/>
          </a:bodyPr>
          <a:lstStyle/>
          <a:p>
            <a:r>
              <a:rPr sz="1280">
                <a:solidFill>
                  <a:srgbClr val="1F1F1F"/>
                </a:solidFill>
                <a:latin typeface="Helvetica Neue"/>
              </a:rPr>
              <a:t>WHAT HAPPENS</a:t>
            </a:r>
          </a:p>
        </p:txBody>
      </p:sp>
      <p:sp>
        <p:nvSpPr>
          <p:cNvPr id="10" name="TextBox 9"/>
          <p:cNvSpPr txBox="1"/>
          <p:nvPr/>
        </p:nvSpPr>
        <p:spPr>
          <a:xfrm>
            <a:off x="8583168" y="3797402"/>
            <a:ext cx="3966464" cy="1148712"/>
          </a:xfrm>
          <a:prstGeom prst="rect">
            <a:avLst/>
          </a:prstGeom>
          <a:noFill/>
        </p:spPr>
        <p:txBody>
          <a:bodyPr wrap="square" lIns="0" tIns="0" rIns="0" bIns="0">
            <a:spAutoFit/>
          </a:bodyPr>
          <a:lstStyle/>
          <a:p>
            <a:r>
              <a:rPr sz="1493">
                <a:solidFill>
                  <a:srgbClr val="1F1F1F"/>
                </a:solidFill>
                <a:latin typeface="Helvetica Neue Light"/>
              </a:rPr>
              <a:t>Gary pastes 3–5 tickers he already likes (or drops a chart screenshot). FinViz shows what they share as editable filter chips with a live count, and a sentence that reads the screen back.</a:t>
            </a:r>
          </a:p>
        </p:txBody>
      </p:sp>
      <p:sp>
        <p:nvSpPr>
          <p:cNvPr id="11" name="Rectangle 10"/>
          <p:cNvSpPr/>
          <p:nvPr/>
        </p:nvSpPr>
        <p:spPr>
          <a:xfrm>
            <a:off x="455168" y="6874256"/>
            <a:ext cx="5982208" cy="22758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650240" y="7004304"/>
            <a:ext cx="5592064" cy="1266180"/>
          </a:xfrm>
          <a:prstGeom prst="rect">
            <a:avLst/>
          </a:prstGeom>
          <a:noFill/>
        </p:spPr>
        <p:txBody>
          <a:bodyPr wrap="square" lIns="0" tIns="0" rIns="0" bIns="0">
            <a:spAutoFit/>
          </a:bodyPr>
          <a:lstStyle/>
          <a:p>
            <a:pPr>
              <a:spcAft>
                <a:spcPts val="427"/>
              </a:spcAft>
            </a:pPr>
            <a:r>
              <a:rPr sz="1280">
                <a:solidFill>
                  <a:srgbClr val="5B3F96"/>
                </a:solidFill>
                <a:latin typeface="Helvetica Neue"/>
              </a:rPr>
              <a:t>NEW INTERACTION</a:t>
            </a:r>
          </a:p>
          <a:p>
            <a:pPr>
              <a:spcAft>
                <a:spcPts val="569"/>
              </a:spcAft>
            </a:pPr>
            <a:r>
              <a:rPr sz="1422">
                <a:solidFill>
                  <a:srgbClr val="6E6E6E"/>
                </a:solidFill>
                <a:latin typeface="Helvetica Neue Light"/>
              </a:rPr>
              <a:t>Instead of: Fill in 89 dropdowns, or type a request into a chat box</a:t>
            </a:r>
          </a:p>
          <a:p>
            <a:r>
              <a:rPr sz="1564">
                <a:solidFill>
                  <a:srgbClr val="1F1F1F"/>
                </a:solidFill>
                <a:latin typeface="Helvetica Neue Light"/>
              </a:rPr>
              <a:t>Drop tickers in; ghost chips appear with coverage (3/3). Tab keeps a chip, Esc drops it; the sentence and chips stay in sync both ways.</a:t>
            </a:r>
          </a:p>
        </p:txBody>
      </p:sp>
      <p:sp>
        <p:nvSpPr>
          <p:cNvPr id="13" name="Rectangle 12"/>
          <p:cNvSpPr/>
          <p:nvPr/>
        </p:nvSpPr>
        <p:spPr>
          <a:xfrm>
            <a:off x="6567424" y="6874256"/>
            <a:ext cx="5982208" cy="227584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6762496" y="7004304"/>
            <a:ext cx="5592064" cy="1222451"/>
          </a:xfrm>
          <a:prstGeom prst="rect">
            <a:avLst/>
          </a:prstGeom>
          <a:noFill/>
        </p:spPr>
        <p:txBody>
          <a:bodyPr wrap="square" lIns="0" tIns="0" rIns="0" bIns="0">
            <a:spAutoFit/>
          </a:bodyPr>
          <a:lstStyle/>
          <a:p>
            <a:pPr>
              <a:spcAft>
                <a:spcPts val="427"/>
              </a:spcAft>
            </a:pPr>
            <a:r>
              <a:rPr sz="1280">
                <a:solidFill>
                  <a:srgbClr val="A100E8"/>
                </a:solidFill>
                <a:latin typeface="Helvetica Neue"/>
              </a:rPr>
              <a:t>✦ WHY IT’S AI-INNOVATIVE</a:t>
            </a:r>
          </a:p>
          <a:p>
            <a:pPr>
              <a:spcAft>
                <a:spcPts val="569"/>
              </a:spcAft>
            </a:pPr>
            <a:r>
              <a:rPr sz="1564">
                <a:solidFill>
                  <a:srgbClr val="1F1F1F"/>
                </a:solidFill>
                <a:latin typeface="Helvetica Neue Light"/>
              </a:rPr>
              <a:t>Programming by example plus constrained generation: the output can only be FinViz’s real filters, mapped to buckets on Free and exact values on Elite.</a:t>
            </a:r>
          </a:p>
          <a:p>
            <a:r>
              <a:rPr sz="1138">
                <a:solidFill>
                  <a:srgbClr val="6E6E6E"/>
                </a:solidFill>
                <a:latin typeface="Helvetica Neue"/>
              </a:rPr>
              <a:t>Built on: Screener URL and its 89 filters · Free · F44 F36 F35</a:t>
            </a:r>
          </a:p>
        </p:txBody>
      </p:sp>
      <p:sp>
        <p:nvSpPr>
          <p:cNvPr id="15" name="Rectangle 14"/>
          <p:cNvSpPr/>
          <p:nvPr/>
        </p:nvSpPr>
        <p:spPr>
          <a:xfrm>
            <a:off x="8583168" y="5462017"/>
            <a:ext cx="3966464" cy="125618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8739226" y="5553048"/>
            <a:ext cx="3641344" cy="1088952"/>
          </a:xfrm>
          <a:prstGeom prst="rect">
            <a:avLst/>
          </a:prstGeom>
          <a:noFill/>
        </p:spPr>
        <p:txBody>
          <a:bodyPr wrap="square" lIns="0" tIns="0" rIns="0" bIns="0">
            <a:spAutoFit/>
          </a:bodyPr>
          <a:lstStyle/>
          <a:p>
            <a:pPr>
              <a:spcAft>
                <a:spcPts val="284"/>
              </a:spcAft>
            </a:pPr>
            <a:r>
              <a:rPr sz="1138">
                <a:solidFill>
                  <a:srgbClr val="FFFFFF"/>
                </a:solidFill>
                <a:latin typeface="Helvetica Neue"/>
              </a:rPr>
              <a:t>WHAT WE’LL TEST NEXT</a:t>
            </a:r>
          </a:p>
          <a:p>
            <a:r>
              <a:rPr sz="1422">
                <a:solidFill>
                  <a:srgbClr val="FFFFFF"/>
                </a:solidFill>
                <a:latin typeface="Helvetica Neue Light"/>
              </a:rPr>
              <a:t>Can a first-time user get a working screen from 3 tickers in under 5 minutes, without help? Do they edit the ghost chips or accept them blindly?</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Hero feature 2 · Since Last Night</a:t>
            </a:r>
          </a:p>
        </p:txBody>
      </p:sp>
      <p:sp>
        <p:nvSpPr>
          <p:cNvPr id="5" name="TextBox 4"/>
          <p:cNvSpPr txBox="1"/>
          <p:nvPr/>
        </p:nvSpPr>
        <p:spPr>
          <a:xfrm>
            <a:off x="455168" y="1560577"/>
            <a:ext cx="7802880" cy="196977"/>
          </a:xfrm>
          <a:prstGeom prst="rect">
            <a:avLst/>
          </a:prstGeom>
          <a:noFill/>
        </p:spPr>
        <p:txBody>
          <a:bodyPr wrap="square" lIns="0" tIns="0" rIns="0" bIns="0">
            <a:spAutoFit/>
          </a:bodyPr>
          <a:lstStyle/>
          <a:p>
            <a:r>
              <a:rPr sz="1280">
                <a:solidFill>
                  <a:srgbClr val="C45A35"/>
                </a:solidFill>
                <a:latin typeface="Helvetica Neue"/>
              </a:rPr>
              <a:t>ITERATION 1 · LOW-FI WIREFRAME   </a:t>
            </a:r>
            <a:r>
              <a:rPr sz="1280">
                <a:solidFill>
                  <a:srgbClr val="6E6E6E"/>
                </a:solidFill>
                <a:latin typeface="Helvetica Neue"/>
              </a:rPr>
              <a:t>Evening</a:t>
            </a:r>
          </a:p>
        </p:txBody>
      </p:sp>
      <p:pic>
        <p:nvPicPr>
          <p:cNvPr id="6" name="Picture 5" descr="OW2-since-last-night.png"/>
          <p:cNvPicPr>
            <a:picLocks noChangeAspect="1"/>
          </p:cNvPicPr>
          <p:nvPr/>
        </p:nvPicPr>
        <p:blipFill>
          <a:blip r:embed="rId4"/>
          <a:stretch>
            <a:fillRect/>
          </a:stretch>
        </p:blipFill>
        <p:spPr>
          <a:xfrm>
            <a:off x="455168" y="1950721"/>
            <a:ext cx="7802880" cy="4663440"/>
          </a:xfrm>
          <a:prstGeom prst="rect">
            <a:avLst/>
          </a:prstGeom>
          <a:ln w="9525">
            <a:solidFill>
              <a:srgbClr val="1F1F1F"/>
            </a:solidFill>
          </a:ln>
        </p:spPr>
      </p:pic>
      <p:sp>
        <p:nvSpPr>
          <p:cNvPr id="7" name="Rectangle 6"/>
          <p:cNvSpPr/>
          <p:nvPr/>
        </p:nvSpPr>
        <p:spPr>
          <a:xfrm>
            <a:off x="8583168" y="1950720"/>
            <a:ext cx="3966464" cy="1365504"/>
          </a:xfrm>
          <a:prstGeom prst="rect">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739226" y="2054758"/>
            <a:ext cx="3641344" cy="965392"/>
          </a:xfrm>
          <a:prstGeom prst="rect">
            <a:avLst/>
          </a:prstGeom>
          <a:noFill/>
        </p:spPr>
        <p:txBody>
          <a:bodyPr wrap="square" lIns="0" tIns="0" rIns="0" bIns="0">
            <a:spAutoFit/>
          </a:bodyPr>
          <a:lstStyle/>
          <a:p>
            <a:pPr>
              <a:spcAft>
                <a:spcPts val="284"/>
              </a:spcAft>
            </a:pPr>
            <a:r>
              <a:rPr sz="1138">
                <a:solidFill>
                  <a:srgbClr val="FFFFFF"/>
                </a:solidFill>
                <a:latin typeface="Helvetica Neue"/>
              </a:rPr>
              <a:t>JOB 2</a:t>
            </a:r>
          </a:p>
          <a:p>
            <a:pPr>
              <a:spcAft>
                <a:spcPts val="427"/>
              </a:spcAft>
            </a:pPr>
            <a:r>
              <a:rPr sz="1707">
                <a:solidFill>
                  <a:srgbClr val="FFFFFF"/>
                </a:solidFill>
                <a:latin typeface="Helvetica Neue Light"/>
              </a:rPr>
              <a:t>“Show me what’s new, and why it’s here.”</a:t>
            </a:r>
          </a:p>
          <a:p>
            <a:r>
              <a:rPr sz="1138">
                <a:solidFill>
                  <a:srgbClr val="FFFFFF"/>
                </a:solidFill>
                <a:latin typeface="Helvetica Neue"/>
              </a:rPr>
              <a:t>P5 · P6 · P8</a:t>
            </a:r>
          </a:p>
        </p:txBody>
      </p:sp>
      <p:sp>
        <p:nvSpPr>
          <p:cNvPr id="9" name="TextBox 8"/>
          <p:cNvSpPr txBox="1"/>
          <p:nvPr/>
        </p:nvSpPr>
        <p:spPr>
          <a:xfrm>
            <a:off x="8583168" y="3511296"/>
            <a:ext cx="4161536" cy="196977"/>
          </a:xfrm>
          <a:prstGeom prst="rect">
            <a:avLst/>
          </a:prstGeom>
          <a:noFill/>
        </p:spPr>
        <p:txBody>
          <a:bodyPr wrap="square" lIns="0" tIns="0" rIns="0" bIns="0">
            <a:spAutoFit/>
          </a:bodyPr>
          <a:lstStyle/>
          <a:p>
            <a:r>
              <a:rPr sz="1280">
                <a:solidFill>
                  <a:srgbClr val="1F1F1F"/>
                </a:solidFill>
                <a:latin typeface="Helvetica Neue"/>
              </a:rPr>
              <a:t>WHAT HAPPENS</a:t>
            </a:r>
          </a:p>
        </p:txBody>
      </p:sp>
      <p:sp>
        <p:nvSpPr>
          <p:cNvPr id="10" name="TextBox 9"/>
          <p:cNvSpPr txBox="1"/>
          <p:nvPr/>
        </p:nvSpPr>
        <p:spPr>
          <a:xfrm>
            <a:off x="8583168" y="3797401"/>
            <a:ext cx="3966464" cy="918970"/>
          </a:xfrm>
          <a:prstGeom prst="rect">
            <a:avLst/>
          </a:prstGeom>
          <a:noFill/>
        </p:spPr>
        <p:txBody>
          <a:bodyPr wrap="square" lIns="0" tIns="0" rIns="0" bIns="0">
            <a:spAutoFit/>
          </a:bodyPr>
          <a:lstStyle/>
          <a:p>
            <a:r>
              <a:rPr sz="1493">
                <a:solidFill>
                  <a:srgbClr val="1F1F1F"/>
                </a:solidFill>
                <a:latin typeface="Helvetica Neue Light"/>
              </a:rPr>
              <a:t>His saved screen opens on what changed: new and dropped names on top, a near miss with the one criterion it misses, and an alignment strip on every row.</a:t>
            </a:r>
          </a:p>
        </p:txBody>
      </p:sp>
      <p:sp>
        <p:nvSpPr>
          <p:cNvPr id="11" name="Rectangle 10"/>
          <p:cNvSpPr/>
          <p:nvPr/>
        </p:nvSpPr>
        <p:spPr>
          <a:xfrm>
            <a:off x="455168" y="6874256"/>
            <a:ext cx="5982208" cy="22758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650240" y="7004304"/>
            <a:ext cx="5592064" cy="1485022"/>
          </a:xfrm>
          <a:prstGeom prst="rect">
            <a:avLst/>
          </a:prstGeom>
          <a:noFill/>
        </p:spPr>
        <p:txBody>
          <a:bodyPr wrap="square" lIns="0" tIns="0" rIns="0" bIns="0">
            <a:spAutoFit/>
          </a:bodyPr>
          <a:lstStyle/>
          <a:p>
            <a:pPr>
              <a:spcAft>
                <a:spcPts val="427"/>
              </a:spcAft>
            </a:pPr>
            <a:r>
              <a:rPr sz="1280">
                <a:solidFill>
                  <a:srgbClr val="5B3F96"/>
                </a:solidFill>
                <a:latin typeface="Helvetica Neue"/>
              </a:rPr>
              <a:t>NEW INTERACTION</a:t>
            </a:r>
          </a:p>
          <a:p>
            <a:pPr>
              <a:spcAft>
                <a:spcPts val="569"/>
              </a:spcAft>
            </a:pPr>
            <a:r>
              <a:rPr sz="1422">
                <a:solidFill>
                  <a:srgbClr val="6E6E6E"/>
                </a:solidFill>
                <a:latin typeface="Helvetica Neue Light"/>
              </a:rPr>
              <a:t>Instead of: Scroll the whole list A→Z and re-check every name each night</a:t>
            </a:r>
          </a:p>
          <a:p>
            <a:r>
              <a:rPr sz="1564">
                <a:solidFill>
                  <a:srgbClr val="1F1F1F"/>
                </a:solidFill>
                <a:latin typeface="Helvetica Neue Light"/>
              </a:rPr>
              <a:t>The diff is the default view. Hover a pip for the exact distance to his limit; a near miss offers “+1 to include”; Pin sends a row to the shortlist.</a:t>
            </a:r>
          </a:p>
        </p:txBody>
      </p:sp>
      <p:sp>
        <p:nvSpPr>
          <p:cNvPr id="13" name="Rectangle 12"/>
          <p:cNvSpPr/>
          <p:nvPr/>
        </p:nvSpPr>
        <p:spPr>
          <a:xfrm>
            <a:off x="6567424" y="6874256"/>
            <a:ext cx="5982208" cy="227584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6762496" y="7004304"/>
            <a:ext cx="5592064" cy="1222451"/>
          </a:xfrm>
          <a:prstGeom prst="rect">
            <a:avLst/>
          </a:prstGeom>
          <a:noFill/>
        </p:spPr>
        <p:txBody>
          <a:bodyPr wrap="square" lIns="0" tIns="0" rIns="0" bIns="0">
            <a:spAutoFit/>
          </a:bodyPr>
          <a:lstStyle/>
          <a:p>
            <a:pPr>
              <a:spcAft>
                <a:spcPts val="427"/>
              </a:spcAft>
            </a:pPr>
            <a:r>
              <a:rPr sz="1280">
                <a:solidFill>
                  <a:srgbClr val="A100E8"/>
                </a:solidFill>
                <a:latin typeface="Helvetica Neue"/>
              </a:rPr>
              <a:t>✦ WHY IT’S AI-INNOVATIVE</a:t>
            </a:r>
          </a:p>
          <a:p>
            <a:pPr>
              <a:spcAft>
                <a:spcPts val="569"/>
              </a:spcAft>
            </a:pPr>
            <a:r>
              <a:rPr sz="1564">
                <a:solidFill>
                  <a:srgbClr val="1F1F1F"/>
                </a:solidFill>
                <a:latin typeface="Helvetica Neue Light"/>
              </a:rPr>
              <a:t>Grounded “why it matched”, built from real filter values, never generated prose; alignment is distance from his criteria, never a quality score.</a:t>
            </a:r>
          </a:p>
          <a:p>
            <a:r>
              <a:rPr sz="1138">
                <a:solidFill>
                  <a:srgbClr val="6E6E6E"/>
                </a:solidFill>
                <a:latin typeface="Helvetica Neue"/>
              </a:rPr>
              <a:t>Built on: Saved screens and filter values · Free · F4 F3 F34</a:t>
            </a:r>
          </a:p>
        </p:txBody>
      </p:sp>
      <p:sp>
        <p:nvSpPr>
          <p:cNvPr id="15" name="Rectangle 14"/>
          <p:cNvSpPr/>
          <p:nvPr/>
        </p:nvSpPr>
        <p:spPr>
          <a:xfrm>
            <a:off x="8583168" y="5462017"/>
            <a:ext cx="3966464" cy="125618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8739226" y="5553048"/>
            <a:ext cx="3641344" cy="870110"/>
          </a:xfrm>
          <a:prstGeom prst="rect">
            <a:avLst/>
          </a:prstGeom>
          <a:noFill/>
        </p:spPr>
        <p:txBody>
          <a:bodyPr wrap="square" lIns="0" tIns="0" rIns="0" bIns="0">
            <a:spAutoFit/>
          </a:bodyPr>
          <a:lstStyle/>
          <a:p>
            <a:pPr>
              <a:spcAft>
                <a:spcPts val="284"/>
              </a:spcAft>
            </a:pPr>
            <a:r>
              <a:rPr sz="1138">
                <a:solidFill>
                  <a:srgbClr val="FFFFFF"/>
                </a:solidFill>
                <a:latin typeface="Helvetica Neue"/>
              </a:rPr>
              <a:t>WHAT WE’LL TEST NEXT</a:t>
            </a:r>
          </a:p>
          <a:p>
            <a:r>
              <a:rPr sz="1422">
                <a:solidFill>
                  <a:srgbClr val="FFFFFF"/>
                </a:solidFill>
                <a:latin typeface="Helvetica Neue Light"/>
              </a:rPr>
              <a:t>Do traders stop re-checking every row? Is the alignment strip read as distance from their criteria, not as a rating?</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Hero feature 3 · Reasons Ledger</a:t>
            </a:r>
          </a:p>
        </p:txBody>
      </p:sp>
      <p:sp>
        <p:nvSpPr>
          <p:cNvPr id="5" name="TextBox 4"/>
          <p:cNvSpPr txBox="1"/>
          <p:nvPr/>
        </p:nvSpPr>
        <p:spPr>
          <a:xfrm>
            <a:off x="455168" y="1560577"/>
            <a:ext cx="7802880" cy="196977"/>
          </a:xfrm>
          <a:prstGeom prst="rect">
            <a:avLst/>
          </a:prstGeom>
          <a:noFill/>
        </p:spPr>
        <p:txBody>
          <a:bodyPr wrap="square" lIns="0" tIns="0" rIns="0" bIns="0">
            <a:spAutoFit/>
          </a:bodyPr>
          <a:lstStyle/>
          <a:p>
            <a:r>
              <a:rPr sz="1280">
                <a:solidFill>
                  <a:srgbClr val="C45A35"/>
                </a:solidFill>
                <a:latin typeface="Helvetica Neue"/>
              </a:rPr>
              <a:t>ITERATION 1 · LOW-FI WIREFRAME   </a:t>
            </a:r>
            <a:r>
              <a:rPr sz="1280">
                <a:solidFill>
                  <a:srgbClr val="6E6E6E"/>
                </a:solidFill>
                <a:latin typeface="Helvetica Neue"/>
              </a:rPr>
              <a:t>Evening</a:t>
            </a:r>
          </a:p>
        </p:txBody>
      </p:sp>
      <p:pic>
        <p:nvPicPr>
          <p:cNvPr id="6" name="Picture 5" descr="OW3-reasons-ledger.png"/>
          <p:cNvPicPr>
            <a:picLocks noChangeAspect="1"/>
          </p:cNvPicPr>
          <p:nvPr/>
        </p:nvPicPr>
        <p:blipFill>
          <a:blip r:embed="rId4"/>
          <a:stretch>
            <a:fillRect/>
          </a:stretch>
        </p:blipFill>
        <p:spPr>
          <a:xfrm>
            <a:off x="455168" y="1950721"/>
            <a:ext cx="7802880" cy="4663440"/>
          </a:xfrm>
          <a:prstGeom prst="rect">
            <a:avLst/>
          </a:prstGeom>
          <a:ln w="9525">
            <a:solidFill>
              <a:srgbClr val="1F1F1F"/>
            </a:solidFill>
          </a:ln>
        </p:spPr>
      </p:pic>
      <p:sp>
        <p:nvSpPr>
          <p:cNvPr id="7" name="Rectangle 6"/>
          <p:cNvSpPr/>
          <p:nvPr/>
        </p:nvSpPr>
        <p:spPr>
          <a:xfrm>
            <a:off x="8583168" y="1950720"/>
            <a:ext cx="3966464" cy="1365504"/>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739226" y="2054758"/>
            <a:ext cx="3641344" cy="702693"/>
          </a:xfrm>
          <a:prstGeom prst="rect">
            <a:avLst/>
          </a:prstGeom>
          <a:noFill/>
        </p:spPr>
        <p:txBody>
          <a:bodyPr wrap="square" lIns="0" tIns="0" rIns="0" bIns="0">
            <a:spAutoFit/>
          </a:bodyPr>
          <a:lstStyle/>
          <a:p>
            <a:pPr>
              <a:spcAft>
                <a:spcPts val="284"/>
              </a:spcAft>
            </a:pPr>
            <a:r>
              <a:rPr sz="1138">
                <a:solidFill>
                  <a:srgbClr val="FFFFFF"/>
                </a:solidFill>
                <a:latin typeface="Helvetica Neue"/>
              </a:rPr>
              <a:t>JOB 3</a:t>
            </a:r>
          </a:p>
          <a:p>
            <a:pPr>
              <a:spcAft>
                <a:spcPts val="427"/>
              </a:spcAft>
            </a:pPr>
            <a:r>
              <a:rPr sz="1707">
                <a:solidFill>
                  <a:srgbClr val="FFFFFF"/>
                </a:solidFill>
                <a:latin typeface="Helvetica Neue Light"/>
              </a:rPr>
              <a:t>“Remember why I picked it.”</a:t>
            </a:r>
          </a:p>
          <a:p>
            <a:r>
              <a:rPr sz="1138">
                <a:solidFill>
                  <a:srgbClr val="FFFFFF"/>
                </a:solidFill>
                <a:latin typeface="Helvetica Neue"/>
              </a:rPr>
              <a:t>P8 · P16</a:t>
            </a:r>
          </a:p>
        </p:txBody>
      </p:sp>
      <p:sp>
        <p:nvSpPr>
          <p:cNvPr id="9" name="TextBox 8"/>
          <p:cNvSpPr txBox="1"/>
          <p:nvPr/>
        </p:nvSpPr>
        <p:spPr>
          <a:xfrm>
            <a:off x="8583168" y="3511296"/>
            <a:ext cx="4161536" cy="196977"/>
          </a:xfrm>
          <a:prstGeom prst="rect">
            <a:avLst/>
          </a:prstGeom>
          <a:noFill/>
        </p:spPr>
        <p:txBody>
          <a:bodyPr wrap="square" lIns="0" tIns="0" rIns="0" bIns="0">
            <a:spAutoFit/>
          </a:bodyPr>
          <a:lstStyle/>
          <a:p>
            <a:r>
              <a:rPr sz="1280">
                <a:solidFill>
                  <a:srgbClr val="1F1F1F"/>
                </a:solidFill>
                <a:latin typeface="Helvetica Neue"/>
              </a:rPr>
              <a:t>WHAT HAPPENS</a:t>
            </a:r>
          </a:p>
        </p:txBody>
      </p:sp>
      <p:sp>
        <p:nvSpPr>
          <p:cNvPr id="10" name="TextBox 9"/>
          <p:cNvSpPr txBox="1"/>
          <p:nvPr/>
        </p:nvSpPr>
        <p:spPr>
          <a:xfrm>
            <a:off x="8583168" y="3797401"/>
            <a:ext cx="3966464" cy="918970"/>
          </a:xfrm>
          <a:prstGeom prst="rect">
            <a:avLst/>
          </a:prstGeom>
          <a:noFill/>
        </p:spPr>
        <p:txBody>
          <a:bodyPr wrap="square" lIns="0" tIns="0" rIns="0" bIns="0">
            <a:spAutoFit/>
          </a:bodyPr>
          <a:lstStyle/>
          <a:p>
            <a:r>
              <a:rPr sz="1493">
                <a:solidFill>
                  <a:srgbClr val="1F1F1F"/>
                </a:solidFill>
                <a:latin typeface="Helvetica Neue Light"/>
              </a:rPr>
              <a:t>Pinning a row carries its reasons with it as chips. Gary adds a note in his words and sets an optional exit condition, then watches the shortlist.</a:t>
            </a:r>
          </a:p>
        </p:txBody>
      </p:sp>
      <p:sp>
        <p:nvSpPr>
          <p:cNvPr id="11" name="Rectangle 10"/>
          <p:cNvSpPr/>
          <p:nvPr/>
        </p:nvSpPr>
        <p:spPr>
          <a:xfrm>
            <a:off x="455168" y="6874256"/>
            <a:ext cx="5982208" cy="22758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650240" y="7004304"/>
            <a:ext cx="5592064" cy="1266180"/>
          </a:xfrm>
          <a:prstGeom prst="rect">
            <a:avLst/>
          </a:prstGeom>
          <a:noFill/>
        </p:spPr>
        <p:txBody>
          <a:bodyPr wrap="square" lIns="0" tIns="0" rIns="0" bIns="0">
            <a:spAutoFit/>
          </a:bodyPr>
          <a:lstStyle/>
          <a:p>
            <a:pPr>
              <a:spcAft>
                <a:spcPts val="427"/>
              </a:spcAft>
            </a:pPr>
            <a:r>
              <a:rPr sz="1280">
                <a:solidFill>
                  <a:srgbClr val="5B3F96"/>
                </a:solidFill>
                <a:latin typeface="Helvetica Neue"/>
              </a:rPr>
              <a:t>NEW INTERACTION</a:t>
            </a:r>
          </a:p>
          <a:p>
            <a:pPr>
              <a:spcAft>
                <a:spcPts val="569"/>
              </a:spcAft>
            </a:pPr>
            <a:r>
              <a:rPr sz="1422">
                <a:solidFill>
                  <a:srgbClr val="6E6E6E"/>
                </a:solidFill>
                <a:latin typeface="Helvetica Neue Light"/>
              </a:rPr>
              <a:t>Instead of: Add a ticker to a watchlist and keep the reason in his head</a:t>
            </a:r>
          </a:p>
          <a:p>
            <a:r>
              <a:rPr sz="1564">
                <a:solidFill>
                  <a:srgbClr val="1F1F1F"/>
                </a:solidFill>
                <a:latin typeface="Helvetica Neue Light"/>
              </a:rPr>
              <a:t>Pinning captures intent in the gesture: reasons arrive as chips he can strike or edit. “Out if…” is set by dragging a line on the chart, not typing a number.</a:t>
            </a:r>
          </a:p>
        </p:txBody>
      </p:sp>
      <p:sp>
        <p:nvSpPr>
          <p:cNvPr id="13" name="Rectangle 12"/>
          <p:cNvSpPr/>
          <p:nvPr/>
        </p:nvSpPr>
        <p:spPr>
          <a:xfrm>
            <a:off x="6567424" y="6874256"/>
            <a:ext cx="5982208" cy="227584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6762496" y="7004304"/>
            <a:ext cx="5592064" cy="1222451"/>
          </a:xfrm>
          <a:prstGeom prst="rect">
            <a:avLst/>
          </a:prstGeom>
          <a:noFill/>
        </p:spPr>
        <p:txBody>
          <a:bodyPr wrap="square" lIns="0" tIns="0" rIns="0" bIns="0">
            <a:spAutoFit/>
          </a:bodyPr>
          <a:lstStyle/>
          <a:p>
            <a:pPr>
              <a:spcAft>
                <a:spcPts val="427"/>
              </a:spcAft>
            </a:pPr>
            <a:r>
              <a:rPr sz="1280">
                <a:solidFill>
                  <a:srgbClr val="A100E8"/>
                </a:solidFill>
                <a:latin typeface="Helvetica Neue"/>
              </a:rPr>
              <a:t>✦ WHY IT’S AI-INNOVATIVE</a:t>
            </a:r>
          </a:p>
          <a:p>
            <a:pPr>
              <a:spcAft>
                <a:spcPts val="569"/>
              </a:spcAft>
            </a:pPr>
            <a:r>
              <a:rPr sz="1564">
                <a:solidFill>
                  <a:srgbClr val="1F1F1F"/>
                </a:solidFill>
                <a:latin typeface="Helvetica Neue Light"/>
              </a:rPr>
              <a:t>Matched criteria become checkable conditions (“Rel Vol &gt; 1.5”, “above SMA50”) that FinViz can re-verify later: transparent, editable memory of the why.</a:t>
            </a:r>
          </a:p>
          <a:p>
            <a:r>
              <a:rPr sz="1138">
                <a:solidFill>
                  <a:srgbClr val="6E6E6E"/>
                </a:solidFill>
                <a:latin typeface="Helvetica Neue"/>
              </a:rPr>
              <a:t>Built on: Watchlists and Portfolio · Free · F60 F54 F58</a:t>
            </a:r>
          </a:p>
        </p:txBody>
      </p:sp>
      <p:sp>
        <p:nvSpPr>
          <p:cNvPr id="15" name="Rectangle 14"/>
          <p:cNvSpPr/>
          <p:nvPr/>
        </p:nvSpPr>
        <p:spPr>
          <a:xfrm>
            <a:off x="8583168" y="5462017"/>
            <a:ext cx="3966464" cy="125618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8739226" y="5553048"/>
            <a:ext cx="3641344" cy="870110"/>
          </a:xfrm>
          <a:prstGeom prst="rect">
            <a:avLst/>
          </a:prstGeom>
          <a:noFill/>
        </p:spPr>
        <p:txBody>
          <a:bodyPr wrap="square" lIns="0" tIns="0" rIns="0" bIns="0">
            <a:spAutoFit/>
          </a:bodyPr>
          <a:lstStyle/>
          <a:p>
            <a:pPr>
              <a:spcAft>
                <a:spcPts val="284"/>
              </a:spcAft>
            </a:pPr>
            <a:r>
              <a:rPr sz="1138">
                <a:solidFill>
                  <a:srgbClr val="FFFFFF"/>
                </a:solidFill>
                <a:latin typeface="Helvetica Neue"/>
              </a:rPr>
              <a:t>WHAT WE’LL TEST NEXT</a:t>
            </a:r>
          </a:p>
          <a:p>
            <a:r>
              <a:rPr sz="1422">
                <a:solidFill>
                  <a:srgbClr val="FFFFFF"/>
                </a:solidFill>
                <a:latin typeface="Helvetica Neue Light"/>
              </a:rPr>
              <a:t>Do traders keep the auto-captured reasons? Is dragging the exit line faster and clearer than typing a price?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Hero feature 4 · Watch These For Me</a:t>
            </a:r>
          </a:p>
        </p:txBody>
      </p:sp>
      <p:sp>
        <p:nvSpPr>
          <p:cNvPr id="5" name="TextBox 4"/>
          <p:cNvSpPr txBox="1"/>
          <p:nvPr/>
        </p:nvSpPr>
        <p:spPr>
          <a:xfrm>
            <a:off x="455168" y="1560577"/>
            <a:ext cx="7802880" cy="196977"/>
          </a:xfrm>
          <a:prstGeom prst="rect">
            <a:avLst/>
          </a:prstGeom>
          <a:noFill/>
        </p:spPr>
        <p:txBody>
          <a:bodyPr wrap="square" lIns="0" tIns="0" rIns="0" bIns="0">
            <a:spAutoFit/>
          </a:bodyPr>
          <a:lstStyle/>
          <a:p>
            <a:r>
              <a:rPr sz="1280" dirty="0">
                <a:solidFill>
                  <a:srgbClr val="C45A35"/>
                </a:solidFill>
                <a:latin typeface="Helvetica Neue"/>
              </a:rPr>
              <a:t>ITERATION 1 · LOW-FI WIREFRAME   </a:t>
            </a:r>
            <a:r>
              <a:rPr sz="1280" dirty="0">
                <a:solidFill>
                  <a:srgbClr val="6E6E6E"/>
                </a:solidFill>
                <a:latin typeface="Helvetica Neue"/>
              </a:rPr>
              <a:t>Evening · Elite trial starts</a:t>
            </a:r>
          </a:p>
        </p:txBody>
      </p:sp>
      <p:pic>
        <p:nvPicPr>
          <p:cNvPr id="6" name="Picture 5" descr="OW4-watch-these-for-me.png"/>
          <p:cNvPicPr>
            <a:picLocks noChangeAspect="1"/>
          </p:cNvPicPr>
          <p:nvPr/>
        </p:nvPicPr>
        <p:blipFill>
          <a:blip r:embed="rId4"/>
          <a:stretch>
            <a:fillRect/>
          </a:stretch>
        </p:blipFill>
        <p:spPr>
          <a:xfrm>
            <a:off x="455168" y="1950721"/>
            <a:ext cx="7802880" cy="4663440"/>
          </a:xfrm>
          <a:prstGeom prst="rect">
            <a:avLst/>
          </a:prstGeom>
          <a:ln w="9525">
            <a:solidFill>
              <a:srgbClr val="1F1F1F"/>
            </a:solidFill>
          </a:ln>
        </p:spPr>
      </p:pic>
      <p:sp>
        <p:nvSpPr>
          <p:cNvPr id="7" name="Rectangle 6"/>
          <p:cNvSpPr/>
          <p:nvPr/>
        </p:nvSpPr>
        <p:spPr>
          <a:xfrm>
            <a:off x="8583168" y="1950720"/>
            <a:ext cx="3966464" cy="1365504"/>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739226" y="2054758"/>
            <a:ext cx="3641344" cy="702693"/>
          </a:xfrm>
          <a:prstGeom prst="rect">
            <a:avLst/>
          </a:prstGeom>
          <a:noFill/>
        </p:spPr>
        <p:txBody>
          <a:bodyPr wrap="square" lIns="0" tIns="0" rIns="0" bIns="0">
            <a:spAutoFit/>
          </a:bodyPr>
          <a:lstStyle/>
          <a:p>
            <a:pPr>
              <a:spcAft>
                <a:spcPts val="284"/>
              </a:spcAft>
            </a:pPr>
            <a:r>
              <a:rPr sz="1138">
                <a:solidFill>
                  <a:srgbClr val="FFFFFF"/>
                </a:solidFill>
                <a:latin typeface="Helvetica Neue"/>
              </a:rPr>
              <a:t>JOB 4</a:t>
            </a:r>
          </a:p>
          <a:p>
            <a:pPr>
              <a:spcAft>
                <a:spcPts val="427"/>
              </a:spcAft>
            </a:pPr>
            <a:r>
              <a:rPr sz="1707">
                <a:solidFill>
                  <a:srgbClr val="FFFFFF"/>
                </a:solidFill>
                <a:latin typeface="Helvetica Neue Light"/>
              </a:rPr>
              <a:t>“Tell me when it matters, not all day.”</a:t>
            </a:r>
          </a:p>
          <a:p>
            <a:r>
              <a:rPr sz="1138">
                <a:solidFill>
                  <a:srgbClr val="FFFFFF"/>
                </a:solidFill>
                <a:latin typeface="Helvetica Neue"/>
              </a:rPr>
              <a:t>P9 · P10 · P11</a:t>
            </a:r>
          </a:p>
        </p:txBody>
      </p:sp>
      <p:sp>
        <p:nvSpPr>
          <p:cNvPr id="9" name="TextBox 8"/>
          <p:cNvSpPr txBox="1"/>
          <p:nvPr/>
        </p:nvSpPr>
        <p:spPr>
          <a:xfrm>
            <a:off x="8583168" y="3511296"/>
            <a:ext cx="4161536" cy="196977"/>
          </a:xfrm>
          <a:prstGeom prst="rect">
            <a:avLst/>
          </a:prstGeom>
          <a:noFill/>
        </p:spPr>
        <p:txBody>
          <a:bodyPr wrap="square" lIns="0" tIns="0" rIns="0" bIns="0">
            <a:spAutoFit/>
          </a:bodyPr>
          <a:lstStyle/>
          <a:p>
            <a:r>
              <a:rPr sz="1280">
                <a:solidFill>
                  <a:srgbClr val="1F1F1F"/>
                </a:solidFill>
                <a:latin typeface="Helvetica Neue"/>
              </a:rPr>
              <a:t>WHAT HAPPENS</a:t>
            </a:r>
          </a:p>
        </p:txBody>
      </p:sp>
      <p:sp>
        <p:nvSpPr>
          <p:cNvPr id="10" name="TextBox 9"/>
          <p:cNvSpPr txBox="1"/>
          <p:nvPr/>
        </p:nvSpPr>
        <p:spPr>
          <a:xfrm>
            <a:off x="8583168" y="3797402"/>
            <a:ext cx="3966464" cy="1148712"/>
          </a:xfrm>
          <a:prstGeom prst="rect">
            <a:avLst/>
          </a:prstGeom>
          <a:noFill/>
        </p:spPr>
        <p:txBody>
          <a:bodyPr wrap="square" lIns="0" tIns="0" rIns="0" bIns="0">
            <a:spAutoFit/>
          </a:bodyPr>
          <a:lstStyle/>
          <a:p>
            <a:r>
              <a:rPr sz="1493">
                <a:solidFill>
                  <a:srgbClr val="1F1F1F"/>
                </a:solidFill>
                <a:latin typeface="Helvetica Neue Light"/>
              </a:rPr>
              <a:t>One tap on the shortlist opens a sheet: on these 3 names his criteria would have fired 4 times in the last 30 days. He sets the noise dial and when FinViz checks in; the 7-day Elite trial starts here.</a:t>
            </a:r>
          </a:p>
        </p:txBody>
      </p:sp>
      <p:sp>
        <p:nvSpPr>
          <p:cNvPr id="11" name="Rectangle 10"/>
          <p:cNvSpPr/>
          <p:nvPr/>
        </p:nvSpPr>
        <p:spPr>
          <a:xfrm>
            <a:off x="455168" y="6874256"/>
            <a:ext cx="5982208" cy="22758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650240" y="7004304"/>
            <a:ext cx="5592064" cy="1025474"/>
          </a:xfrm>
          <a:prstGeom prst="rect">
            <a:avLst/>
          </a:prstGeom>
          <a:noFill/>
        </p:spPr>
        <p:txBody>
          <a:bodyPr wrap="square" lIns="0" tIns="0" rIns="0" bIns="0">
            <a:spAutoFit/>
          </a:bodyPr>
          <a:lstStyle/>
          <a:p>
            <a:pPr>
              <a:spcAft>
                <a:spcPts val="427"/>
              </a:spcAft>
            </a:pPr>
            <a:r>
              <a:rPr sz="1280">
                <a:solidFill>
                  <a:srgbClr val="5B3F96"/>
                </a:solidFill>
                <a:latin typeface="Helvetica Neue"/>
              </a:rPr>
              <a:t>NEW INTERACTION</a:t>
            </a:r>
          </a:p>
          <a:p>
            <a:pPr>
              <a:spcAft>
                <a:spcPts val="569"/>
              </a:spcAft>
            </a:pPr>
            <a:r>
              <a:rPr sz="1422">
                <a:solidFill>
                  <a:srgbClr val="6E6E6E"/>
                </a:solidFill>
                <a:latin typeface="Helvetica Neue Light"/>
              </a:rPr>
              <a:t>Instead of: Fill in an alert form blind and discover the noise later</a:t>
            </a:r>
          </a:p>
          <a:p>
            <a:r>
              <a:rPr sz="1564">
                <a:solidFill>
                  <a:srgbClr val="1F1F1F"/>
                </a:solidFill>
                <a:latin typeface="Helvetica Neue Light"/>
              </a:rPr>
              <a:t>A noise dial that replays the past live: dragging it re-draws the 30-day timeline (fired 9 → 4 → 2) before anything is saved.</a:t>
            </a:r>
          </a:p>
        </p:txBody>
      </p:sp>
      <p:sp>
        <p:nvSpPr>
          <p:cNvPr id="13" name="Rectangle 12"/>
          <p:cNvSpPr/>
          <p:nvPr/>
        </p:nvSpPr>
        <p:spPr>
          <a:xfrm>
            <a:off x="6567424" y="6874256"/>
            <a:ext cx="5982208" cy="227584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6762496" y="7004304"/>
            <a:ext cx="5592064" cy="1222451"/>
          </a:xfrm>
          <a:prstGeom prst="rect">
            <a:avLst/>
          </a:prstGeom>
          <a:noFill/>
        </p:spPr>
        <p:txBody>
          <a:bodyPr wrap="square" lIns="0" tIns="0" rIns="0" bIns="0">
            <a:spAutoFit/>
          </a:bodyPr>
          <a:lstStyle/>
          <a:p>
            <a:pPr>
              <a:spcAft>
                <a:spcPts val="427"/>
              </a:spcAft>
            </a:pPr>
            <a:r>
              <a:rPr sz="1280">
                <a:solidFill>
                  <a:srgbClr val="A100E8"/>
                </a:solidFill>
                <a:latin typeface="Helvetica Neue"/>
              </a:rPr>
              <a:t>✦ WHY IT’S AI-INNOVATIVE</a:t>
            </a:r>
          </a:p>
          <a:p>
            <a:pPr>
              <a:spcAft>
                <a:spcPts val="569"/>
              </a:spcAft>
            </a:pPr>
            <a:r>
              <a:rPr sz="1564">
                <a:solidFill>
                  <a:srgbClr val="1F1F1F"/>
                </a:solidFill>
                <a:latin typeface="Helvetica Neue Light"/>
              </a:rPr>
              <a:t>Counterfactual replay of the alert against the last 30 days (simulation before commitment); every future alert carries his reason.</a:t>
            </a:r>
          </a:p>
          <a:p>
            <a:r>
              <a:rPr sz="1138">
                <a:solidFill>
                  <a:srgbClr val="6E6E6E"/>
                </a:solidFill>
                <a:latin typeface="Helvetica Neue"/>
              </a:rPr>
              <a:t>Built on: Elite alerts and the existing 7-day trial · Elite (trial) · F52 F28 F6</a:t>
            </a:r>
          </a:p>
        </p:txBody>
      </p:sp>
      <p:sp>
        <p:nvSpPr>
          <p:cNvPr id="15" name="Rectangle 14"/>
          <p:cNvSpPr/>
          <p:nvPr/>
        </p:nvSpPr>
        <p:spPr>
          <a:xfrm>
            <a:off x="8583168" y="5462017"/>
            <a:ext cx="3966464" cy="125618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8739226" y="5553048"/>
            <a:ext cx="3641344" cy="870110"/>
          </a:xfrm>
          <a:prstGeom prst="rect">
            <a:avLst/>
          </a:prstGeom>
          <a:noFill/>
        </p:spPr>
        <p:txBody>
          <a:bodyPr wrap="square" lIns="0" tIns="0" rIns="0" bIns="0">
            <a:spAutoFit/>
          </a:bodyPr>
          <a:lstStyle/>
          <a:p>
            <a:pPr>
              <a:spcAft>
                <a:spcPts val="284"/>
              </a:spcAft>
            </a:pPr>
            <a:r>
              <a:rPr sz="1138">
                <a:solidFill>
                  <a:srgbClr val="FFFFFF"/>
                </a:solidFill>
                <a:latin typeface="Helvetica Neue"/>
              </a:rPr>
              <a:t>WHAT WE’LL TEST NEXT</a:t>
            </a:r>
          </a:p>
          <a:p>
            <a:r>
              <a:rPr sz="1422">
                <a:solidFill>
                  <a:srgbClr val="FFFFFF"/>
                </a:solidFill>
                <a:latin typeface="Helvetica Neue Light"/>
              </a:rPr>
              <a:t>Does the replay change the noise setting traders choose? How many start the trial from this sheet vs from sign-up?</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Hero feature 5 · Morning Glance</a:t>
            </a:r>
          </a:p>
        </p:txBody>
      </p:sp>
      <p:sp>
        <p:nvSpPr>
          <p:cNvPr id="5" name="TextBox 4"/>
          <p:cNvSpPr txBox="1"/>
          <p:nvPr/>
        </p:nvSpPr>
        <p:spPr>
          <a:xfrm>
            <a:off x="455168" y="1560577"/>
            <a:ext cx="7802880" cy="196977"/>
          </a:xfrm>
          <a:prstGeom prst="rect">
            <a:avLst/>
          </a:prstGeom>
          <a:noFill/>
        </p:spPr>
        <p:txBody>
          <a:bodyPr wrap="square" lIns="0" tIns="0" rIns="0" bIns="0">
            <a:spAutoFit/>
          </a:bodyPr>
          <a:lstStyle/>
          <a:p>
            <a:r>
              <a:rPr sz="1280">
                <a:solidFill>
                  <a:srgbClr val="C45A35"/>
                </a:solidFill>
                <a:latin typeface="Helvetica Neue"/>
              </a:rPr>
              <a:t>ITERATION 1 · LOW-FI WIREFRAME   </a:t>
            </a:r>
            <a:r>
              <a:rPr sz="1280">
                <a:solidFill>
                  <a:srgbClr val="6E6E6E"/>
                </a:solidFill>
                <a:latin typeface="Helvetica Neue"/>
              </a:rPr>
              <a:t>7:30 AM</a:t>
            </a:r>
          </a:p>
        </p:txBody>
      </p:sp>
      <p:pic>
        <p:nvPicPr>
          <p:cNvPr id="6" name="Picture 5" descr="OW5-morning-glance.png"/>
          <p:cNvPicPr>
            <a:picLocks noChangeAspect="1"/>
          </p:cNvPicPr>
          <p:nvPr/>
        </p:nvPicPr>
        <p:blipFill>
          <a:blip r:embed="rId4"/>
          <a:stretch>
            <a:fillRect/>
          </a:stretch>
        </p:blipFill>
        <p:spPr>
          <a:xfrm>
            <a:off x="455168" y="1950721"/>
            <a:ext cx="7802880" cy="4663440"/>
          </a:xfrm>
          <a:prstGeom prst="rect">
            <a:avLst/>
          </a:prstGeom>
          <a:ln w="9525">
            <a:solidFill>
              <a:srgbClr val="1F1F1F"/>
            </a:solidFill>
          </a:ln>
        </p:spPr>
      </p:pic>
      <p:sp>
        <p:nvSpPr>
          <p:cNvPr id="7" name="Rectangle 6"/>
          <p:cNvSpPr/>
          <p:nvPr/>
        </p:nvSpPr>
        <p:spPr>
          <a:xfrm>
            <a:off x="8583168" y="1950720"/>
            <a:ext cx="3966464" cy="1365504"/>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739226" y="2054758"/>
            <a:ext cx="3641344" cy="702693"/>
          </a:xfrm>
          <a:prstGeom prst="rect">
            <a:avLst/>
          </a:prstGeom>
          <a:noFill/>
        </p:spPr>
        <p:txBody>
          <a:bodyPr wrap="square" lIns="0" tIns="0" rIns="0" bIns="0">
            <a:spAutoFit/>
          </a:bodyPr>
          <a:lstStyle/>
          <a:p>
            <a:pPr>
              <a:spcAft>
                <a:spcPts val="284"/>
              </a:spcAft>
            </a:pPr>
            <a:r>
              <a:rPr sz="1138">
                <a:solidFill>
                  <a:srgbClr val="FFFFFF"/>
                </a:solidFill>
                <a:latin typeface="Helvetica Neue"/>
              </a:rPr>
              <a:t>JOB 4</a:t>
            </a:r>
          </a:p>
          <a:p>
            <a:pPr>
              <a:spcAft>
                <a:spcPts val="427"/>
              </a:spcAft>
            </a:pPr>
            <a:r>
              <a:rPr sz="1707">
                <a:solidFill>
                  <a:srgbClr val="FFFFFF"/>
                </a:solidFill>
                <a:latin typeface="Helvetica Neue Light"/>
              </a:rPr>
              <a:t>“Tell me when it matters, not all day.”</a:t>
            </a:r>
          </a:p>
          <a:p>
            <a:r>
              <a:rPr sz="1138">
                <a:solidFill>
                  <a:srgbClr val="FFFFFF"/>
                </a:solidFill>
                <a:latin typeface="Helvetica Neue"/>
              </a:rPr>
              <a:t>P9 · P10 · P11</a:t>
            </a:r>
          </a:p>
        </p:txBody>
      </p:sp>
      <p:sp>
        <p:nvSpPr>
          <p:cNvPr id="9" name="TextBox 8"/>
          <p:cNvSpPr txBox="1"/>
          <p:nvPr/>
        </p:nvSpPr>
        <p:spPr>
          <a:xfrm>
            <a:off x="8583168" y="3511296"/>
            <a:ext cx="4161536" cy="196977"/>
          </a:xfrm>
          <a:prstGeom prst="rect">
            <a:avLst/>
          </a:prstGeom>
          <a:noFill/>
        </p:spPr>
        <p:txBody>
          <a:bodyPr wrap="square" lIns="0" tIns="0" rIns="0" bIns="0">
            <a:spAutoFit/>
          </a:bodyPr>
          <a:lstStyle/>
          <a:p>
            <a:r>
              <a:rPr sz="1280">
                <a:solidFill>
                  <a:srgbClr val="1F1F1F"/>
                </a:solidFill>
                <a:latin typeface="Helvetica Neue"/>
              </a:rPr>
              <a:t>WHAT HAPPENS</a:t>
            </a:r>
          </a:p>
        </p:txBody>
      </p:sp>
      <p:sp>
        <p:nvSpPr>
          <p:cNvPr id="10" name="TextBox 9"/>
          <p:cNvSpPr txBox="1"/>
          <p:nvPr/>
        </p:nvSpPr>
        <p:spPr>
          <a:xfrm>
            <a:off x="8583168" y="3797402"/>
            <a:ext cx="3966464" cy="918970"/>
          </a:xfrm>
          <a:prstGeom prst="rect">
            <a:avLst/>
          </a:prstGeom>
          <a:noFill/>
        </p:spPr>
        <p:txBody>
          <a:bodyPr wrap="square" lIns="0" tIns="0" rIns="0" bIns="0">
            <a:spAutoFit/>
          </a:bodyPr>
          <a:lstStyle/>
          <a:p>
            <a:r>
              <a:rPr sz="1493">
                <a:solidFill>
                  <a:srgbClr val="1F1F1F"/>
                </a:solidFill>
                <a:latin typeface="Helvetica Neue Light"/>
              </a:rPr>
              <a:t>At 7:30 AM one short note covers only his names: pre-market move, overnight news with sources, and whether his reasons still hold. A broken reason is named in his words.</a:t>
            </a:r>
          </a:p>
        </p:txBody>
      </p:sp>
      <p:sp>
        <p:nvSpPr>
          <p:cNvPr id="11" name="Rectangle 10"/>
          <p:cNvSpPr/>
          <p:nvPr/>
        </p:nvSpPr>
        <p:spPr>
          <a:xfrm>
            <a:off x="455168" y="6874256"/>
            <a:ext cx="5982208" cy="22758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650240" y="7004304"/>
            <a:ext cx="5592064" cy="1266180"/>
          </a:xfrm>
          <a:prstGeom prst="rect">
            <a:avLst/>
          </a:prstGeom>
          <a:noFill/>
        </p:spPr>
        <p:txBody>
          <a:bodyPr wrap="square" lIns="0" tIns="0" rIns="0" bIns="0">
            <a:spAutoFit/>
          </a:bodyPr>
          <a:lstStyle/>
          <a:p>
            <a:pPr>
              <a:spcAft>
                <a:spcPts val="427"/>
              </a:spcAft>
            </a:pPr>
            <a:r>
              <a:rPr sz="1280">
                <a:solidFill>
                  <a:srgbClr val="5B3F96"/>
                </a:solidFill>
                <a:latin typeface="Helvetica Neue"/>
              </a:rPr>
              <a:t>NEW INTERACTION</a:t>
            </a:r>
          </a:p>
          <a:p>
            <a:pPr>
              <a:spcAft>
                <a:spcPts val="569"/>
              </a:spcAft>
            </a:pPr>
            <a:r>
              <a:rPr sz="1422">
                <a:solidFill>
                  <a:srgbClr val="6E6E6E"/>
                </a:solidFill>
                <a:latin typeface="Helvetica Neue Light"/>
              </a:rPr>
              <a:t>Instead of: Scan a news feed and look up each ticker</a:t>
            </a:r>
          </a:p>
          <a:p>
            <a:r>
              <a:rPr sz="1564">
                <a:solidFill>
                  <a:srgbClr val="1F1F1F"/>
                </a:solidFill>
                <a:latin typeface="Helvetica Neue Light"/>
              </a:rPr>
              <a:t>One card per name, readable in 30 seconds. Reason dots go hollow when a reason breaks; “Show me” opens the chart at the exact moment it changed.</a:t>
            </a:r>
          </a:p>
        </p:txBody>
      </p:sp>
      <p:sp>
        <p:nvSpPr>
          <p:cNvPr id="13" name="Rectangle 12"/>
          <p:cNvSpPr/>
          <p:nvPr/>
        </p:nvSpPr>
        <p:spPr>
          <a:xfrm>
            <a:off x="6567424" y="6874256"/>
            <a:ext cx="5982208" cy="227584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6762496" y="7004304"/>
            <a:ext cx="5592064" cy="1397562"/>
          </a:xfrm>
          <a:prstGeom prst="rect">
            <a:avLst/>
          </a:prstGeom>
          <a:noFill/>
        </p:spPr>
        <p:txBody>
          <a:bodyPr wrap="square" lIns="0" tIns="0" rIns="0" bIns="0">
            <a:spAutoFit/>
          </a:bodyPr>
          <a:lstStyle/>
          <a:p>
            <a:pPr>
              <a:spcAft>
                <a:spcPts val="427"/>
              </a:spcAft>
            </a:pPr>
            <a:r>
              <a:rPr sz="1280">
                <a:solidFill>
                  <a:srgbClr val="A100E8"/>
                </a:solidFill>
                <a:latin typeface="Helvetica Neue"/>
              </a:rPr>
              <a:t>✦ WHY IT’S AI-INNOVATIVE</a:t>
            </a:r>
          </a:p>
          <a:p>
            <a:pPr>
              <a:spcAft>
                <a:spcPts val="569"/>
              </a:spcAft>
            </a:pPr>
            <a:r>
              <a:rPr sz="1564">
                <a:solidFill>
                  <a:srgbClr val="1F1F1F"/>
                </a:solidFill>
                <a:latin typeface="Helvetica Neue Light"/>
              </a:rPr>
              <a:t>A bounded overnight agent scoped to his shortlist and holdings; every line grounded, sourced and labelled as AI (unlike FinViz’s unlabelled Weekend Brief).</a:t>
            </a:r>
          </a:p>
          <a:p>
            <a:r>
              <a:rPr sz="1138">
                <a:solidFill>
                  <a:srgbClr val="6E6E6E"/>
                </a:solidFill>
                <a:latin typeface="Helvetica Neue"/>
              </a:rPr>
              <a:t>Built on: Earnings calendar (real-time on Free), news, pre-market data · Free / Elite pre-market · F10 F61 F53</a:t>
            </a:r>
          </a:p>
        </p:txBody>
      </p:sp>
      <p:sp>
        <p:nvSpPr>
          <p:cNvPr id="15" name="Rectangle 14"/>
          <p:cNvSpPr/>
          <p:nvPr/>
        </p:nvSpPr>
        <p:spPr>
          <a:xfrm>
            <a:off x="8583168" y="5462017"/>
            <a:ext cx="3966464" cy="125618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8739226" y="5553048"/>
            <a:ext cx="3641344" cy="870110"/>
          </a:xfrm>
          <a:prstGeom prst="rect">
            <a:avLst/>
          </a:prstGeom>
          <a:noFill/>
        </p:spPr>
        <p:txBody>
          <a:bodyPr wrap="square" lIns="0" tIns="0" rIns="0" bIns="0">
            <a:spAutoFit/>
          </a:bodyPr>
          <a:lstStyle/>
          <a:p>
            <a:pPr>
              <a:spcAft>
                <a:spcPts val="284"/>
              </a:spcAft>
            </a:pPr>
            <a:r>
              <a:rPr sz="1138">
                <a:solidFill>
                  <a:srgbClr val="FFFFFF"/>
                </a:solidFill>
                <a:latin typeface="Helvetica Neue"/>
              </a:rPr>
              <a:t>WHAT WE’LL TEST NEXT</a:t>
            </a:r>
          </a:p>
          <a:p>
            <a:r>
              <a:rPr sz="1422">
                <a:solidFill>
                  <a:srgbClr val="FFFFFF"/>
                </a:solidFill>
                <a:latin typeface="Helvetica Neue Light"/>
              </a:rPr>
              <a:t>Can traders read it in under 30 seconds? Do they notice a hollow dot and open “Show me”?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Hero feature 6 · Quiet Hours, One Alert</a:t>
            </a:r>
          </a:p>
        </p:txBody>
      </p:sp>
      <p:sp>
        <p:nvSpPr>
          <p:cNvPr id="5" name="TextBox 4"/>
          <p:cNvSpPr txBox="1"/>
          <p:nvPr/>
        </p:nvSpPr>
        <p:spPr>
          <a:xfrm>
            <a:off x="455168" y="1560577"/>
            <a:ext cx="7802880" cy="196977"/>
          </a:xfrm>
          <a:prstGeom prst="rect">
            <a:avLst/>
          </a:prstGeom>
          <a:noFill/>
        </p:spPr>
        <p:txBody>
          <a:bodyPr wrap="square" lIns="0" tIns="0" rIns="0" bIns="0">
            <a:spAutoFit/>
          </a:bodyPr>
          <a:lstStyle/>
          <a:p>
            <a:r>
              <a:rPr sz="1280">
                <a:solidFill>
                  <a:srgbClr val="C45A35"/>
                </a:solidFill>
                <a:latin typeface="Helvetica Neue"/>
              </a:rPr>
              <a:t>ITERATION 1 · LOW-FI WIREFRAME   </a:t>
            </a:r>
            <a:r>
              <a:rPr sz="1280">
                <a:solidFill>
                  <a:srgbClr val="6E6E6E"/>
                </a:solidFill>
                <a:latin typeface="Helvetica Neue"/>
              </a:rPr>
              <a:t>9:30 AM–4 PM</a:t>
            </a:r>
          </a:p>
        </p:txBody>
      </p:sp>
      <p:pic>
        <p:nvPicPr>
          <p:cNvPr id="6" name="Picture 5" descr="OW6-quiet-hours-one-alert.png"/>
          <p:cNvPicPr>
            <a:picLocks noChangeAspect="1"/>
          </p:cNvPicPr>
          <p:nvPr/>
        </p:nvPicPr>
        <p:blipFill>
          <a:blip r:embed="rId4"/>
          <a:stretch>
            <a:fillRect/>
          </a:stretch>
        </p:blipFill>
        <p:spPr>
          <a:xfrm>
            <a:off x="455168" y="1950721"/>
            <a:ext cx="7802880" cy="4663440"/>
          </a:xfrm>
          <a:prstGeom prst="rect">
            <a:avLst/>
          </a:prstGeom>
          <a:ln w="9525">
            <a:solidFill>
              <a:srgbClr val="1F1F1F"/>
            </a:solidFill>
          </a:ln>
        </p:spPr>
      </p:pic>
      <p:sp>
        <p:nvSpPr>
          <p:cNvPr id="7" name="Rectangle 6"/>
          <p:cNvSpPr/>
          <p:nvPr/>
        </p:nvSpPr>
        <p:spPr>
          <a:xfrm>
            <a:off x="8583168" y="1950720"/>
            <a:ext cx="3966464" cy="1365504"/>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739226" y="2054758"/>
            <a:ext cx="3641344" cy="702693"/>
          </a:xfrm>
          <a:prstGeom prst="rect">
            <a:avLst/>
          </a:prstGeom>
          <a:noFill/>
        </p:spPr>
        <p:txBody>
          <a:bodyPr wrap="square" lIns="0" tIns="0" rIns="0" bIns="0">
            <a:spAutoFit/>
          </a:bodyPr>
          <a:lstStyle/>
          <a:p>
            <a:pPr>
              <a:spcAft>
                <a:spcPts val="284"/>
              </a:spcAft>
            </a:pPr>
            <a:r>
              <a:rPr sz="1138">
                <a:solidFill>
                  <a:srgbClr val="FFFFFF"/>
                </a:solidFill>
                <a:latin typeface="Helvetica Neue"/>
              </a:rPr>
              <a:t>JOB 4</a:t>
            </a:r>
          </a:p>
          <a:p>
            <a:pPr>
              <a:spcAft>
                <a:spcPts val="427"/>
              </a:spcAft>
            </a:pPr>
            <a:r>
              <a:rPr sz="1707">
                <a:solidFill>
                  <a:srgbClr val="FFFFFF"/>
                </a:solidFill>
                <a:latin typeface="Helvetica Neue Light"/>
              </a:rPr>
              <a:t>“Tell me when it matters, not all day.”</a:t>
            </a:r>
          </a:p>
          <a:p>
            <a:r>
              <a:rPr sz="1138">
                <a:solidFill>
                  <a:srgbClr val="FFFFFF"/>
                </a:solidFill>
                <a:latin typeface="Helvetica Neue"/>
              </a:rPr>
              <a:t>P9 · P10 · P11</a:t>
            </a:r>
          </a:p>
        </p:txBody>
      </p:sp>
      <p:sp>
        <p:nvSpPr>
          <p:cNvPr id="9" name="TextBox 8"/>
          <p:cNvSpPr txBox="1"/>
          <p:nvPr/>
        </p:nvSpPr>
        <p:spPr>
          <a:xfrm>
            <a:off x="8583168" y="3511296"/>
            <a:ext cx="4161536" cy="196977"/>
          </a:xfrm>
          <a:prstGeom prst="rect">
            <a:avLst/>
          </a:prstGeom>
          <a:noFill/>
        </p:spPr>
        <p:txBody>
          <a:bodyPr wrap="square" lIns="0" tIns="0" rIns="0" bIns="0">
            <a:spAutoFit/>
          </a:bodyPr>
          <a:lstStyle/>
          <a:p>
            <a:r>
              <a:rPr sz="1280">
                <a:solidFill>
                  <a:srgbClr val="1F1F1F"/>
                </a:solidFill>
                <a:latin typeface="Helvetica Neue"/>
              </a:rPr>
              <a:t>WHAT HAPPENS</a:t>
            </a:r>
          </a:p>
        </p:txBody>
      </p:sp>
      <p:sp>
        <p:nvSpPr>
          <p:cNvPr id="10" name="TextBox 9"/>
          <p:cNvSpPr txBox="1"/>
          <p:nvPr/>
        </p:nvSpPr>
        <p:spPr>
          <a:xfrm>
            <a:off x="8583168" y="3797402"/>
            <a:ext cx="3966464" cy="918970"/>
          </a:xfrm>
          <a:prstGeom prst="rect">
            <a:avLst/>
          </a:prstGeom>
          <a:noFill/>
        </p:spPr>
        <p:txBody>
          <a:bodyPr wrap="square" lIns="0" tIns="0" rIns="0" bIns="0">
            <a:spAutoFit/>
          </a:bodyPr>
          <a:lstStyle/>
          <a:p>
            <a:r>
              <a:rPr sz="1493">
                <a:solidFill>
                  <a:srgbClr val="1F1F1F"/>
                </a:solidFill>
                <a:latin typeface="Helvetica Neue Light"/>
              </a:rPr>
              <a:t>Gary paints his quiet hours once. During work FinViz stays silent unless his own criteria are met; then one alert with the reason. “This was wrong” proposes a tighter rule with a preview.</a:t>
            </a:r>
          </a:p>
        </p:txBody>
      </p:sp>
      <p:sp>
        <p:nvSpPr>
          <p:cNvPr id="11" name="Rectangle 10"/>
          <p:cNvSpPr/>
          <p:nvPr/>
        </p:nvSpPr>
        <p:spPr>
          <a:xfrm>
            <a:off x="455168" y="6874256"/>
            <a:ext cx="5982208" cy="22758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650240" y="7004304"/>
            <a:ext cx="5592064" cy="1485022"/>
          </a:xfrm>
          <a:prstGeom prst="rect">
            <a:avLst/>
          </a:prstGeom>
          <a:noFill/>
        </p:spPr>
        <p:txBody>
          <a:bodyPr wrap="square" lIns="0" tIns="0" rIns="0" bIns="0">
            <a:spAutoFit/>
          </a:bodyPr>
          <a:lstStyle/>
          <a:p>
            <a:pPr>
              <a:spcAft>
                <a:spcPts val="427"/>
              </a:spcAft>
            </a:pPr>
            <a:r>
              <a:rPr sz="1280">
                <a:solidFill>
                  <a:srgbClr val="5B3F96"/>
                </a:solidFill>
                <a:latin typeface="Helvetica Neue"/>
              </a:rPr>
              <a:t>NEW INTERACTION</a:t>
            </a:r>
          </a:p>
          <a:p>
            <a:pPr>
              <a:spcAft>
                <a:spcPts val="569"/>
              </a:spcAft>
            </a:pPr>
            <a:r>
              <a:rPr sz="1422">
                <a:solidFill>
                  <a:srgbClr val="6E6E6E"/>
                </a:solidFill>
                <a:latin typeface="Helvetica Neue Light"/>
              </a:rPr>
              <a:t>Instead of: Set price alerts one by one, then mute the app when it gets noisy</a:t>
            </a:r>
          </a:p>
          <a:p>
            <a:r>
              <a:rPr sz="1564">
                <a:solidFill>
                  <a:srgbClr val="1F1F1F"/>
                </a:solidFill>
                <a:latin typeface="Helvetica Neue Light"/>
              </a:rPr>
              <a:t>Paint quiet hours on a day strip. “This was wrong” teaches instead of muting: a tighter rule with a preview of what would have changed, announced and undoable.</a:t>
            </a:r>
          </a:p>
        </p:txBody>
      </p:sp>
      <p:sp>
        <p:nvSpPr>
          <p:cNvPr id="13" name="Rectangle 12"/>
          <p:cNvSpPr/>
          <p:nvPr/>
        </p:nvSpPr>
        <p:spPr>
          <a:xfrm>
            <a:off x="6567424" y="6874256"/>
            <a:ext cx="5982208" cy="227584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6762496" y="7004304"/>
            <a:ext cx="5592064" cy="1222451"/>
          </a:xfrm>
          <a:prstGeom prst="rect">
            <a:avLst/>
          </a:prstGeom>
          <a:noFill/>
        </p:spPr>
        <p:txBody>
          <a:bodyPr wrap="square" lIns="0" tIns="0" rIns="0" bIns="0">
            <a:spAutoFit/>
          </a:bodyPr>
          <a:lstStyle/>
          <a:p>
            <a:pPr>
              <a:spcAft>
                <a:spcPts val="427"/>
              </a:spcAft>
            </a:pPr>
            <a:r>
              <a:rPr sz="1280">
                <a:solidFill>
                  <a:srgbClr val="A100E8"/>
                </a:solidFill>
                <a:latin typeface="Helvetica Neue"/>
              </a:rPr>
              <a:t>✦ WHY IT’S AI-INNOVATIVE</a:t>
            </a:r>
          </a:p>
          <a:p>
            <a:pPr>
              <a:spcAft>
                <a:spcPts val="569"/>
              </a:spcAft>
            </a:pPr>
            <a:r>
              <a:rPr sz="1564">
                <a:solidFill>
                  <a:srgbClr val="1F1F1F"/>
                </a:solidFill>
                <a:latin typeface="Helvetica Neue Light"/>
              </a:rPr>
              <a:t>Time-aware batching on his day profile; anomaly detection against the stock’s own normal; feedback tunes the rule, never silently.</a:t>
            </a:r>
          </a:p>
          <a:p>
            <a:r>
              <a:rPr sz="1138">
                <a:solidFill>
                  <a:srgbClr val="6E6E6E"/>
                </a:solidFill>
                <a:latin typeface="Helvetica Neue"/>
              </a:rPr>
              <a:t>Built on: Elite alerts and pattern signals · Elite · F59 F52 Q22</a:t>
            </a:r>
          </a:p>
        </p:txBody>
      </p:sp>
      <p:sp>
        <p:nvSpPr>
          <p:cNvPr id="15" name="Rectangle 14"/>
          <p:cNvSpPr/>
          <p:nvPr/>
        </p:nvSpPr>
        <p:spPr>
          <a:xfrm>
            <a:off x="8583168" y="5462017"/>
            <a:ext cx="3966464" cy="125618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8739226" y="5553048"/>
            <a:ext cx="3641344" cy="651269"/>
          </a:xfrm>
          <a:prstGeom prst="rect">
            <a:avLst/>
          </a:prstGeom>
          <a:noFill/>
        </p:spPr>
        <p:txBody>
          <a:bodyPr wrap="square" lIns="0" tIns="0" rIns="0" bIns="0">
            <a:spAutoFit/>
          </a:bodyPr>
          <a:lstStyle/>
          <a:p>
            <a:pPr>
              <a:spcAft>
                <a:spcPts val="284"/>
              </a:spcAft>
            </a:pPr>
            <a:r>
              <a:rPr sz="1138">
                <a:solidFill>
                  <a:srgbClr val="FFFFFF"/>
                </a:solidFill>
                <a:latin typeface="Helvetica Neue"/>
              </a:rPr>
              <a:t>WHAT WE’LL TEST NEXT</a:t>
            </a:r>
          </a:p>
          <a:p>
            <a:r>
              <a:rPr sz="1422">
                <a:solidFill>
                  <a:srgbClr val="FFFFFF"/>
                </a:solidFill>
                <a:latin typeface="Helvetica Neue Light"/>
              </a:rPr>
              <a:t>Do traders feel interrupted at work? Do they use “This was wrong” instead of muting?</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Hero feature 7 · Reasons Still Hold?</a:t>
            </a:r>
          </a:p>
        </p:txBody>
      </p:sp>
      <p:sp>
        <p:nvSpPr>
          <p:cNvPr id="5" name="TextBox 4"/>
          <p:cNvSpPr txBox="1"/>
          <p:nvPr/>
        </p:nvSpPr>
        <p:spPr>
          <a:xfrm>
            <a:off x="455168" y="1560577"/>
            <a:ext cx="7802880" cy="196977"/>
          </a:xfrm>
          <a:prstGeom prst="rect">
            <a:avLst/>
          </a:prstGeom>
          <a:noFill/>
        </p:spPr>
        <p:txBody>
          <a:bodyPr wrap="square" lIns="0" tIns="0" rIns="0" bIns="0">
            <a:spAutoFit/>
          </a:bodyPr>
          <a:lstStyle/>
          <a:p>
            <a:r>
              <a:rPr sz="1280">
                <a:solidFill>
                  <a:srgbClr val="C45A35"/>
                </a:solidFill>
                <a:latin typeface="Helvetica Neue"/>
              </a:rPr>
              <a:t>ITERATION 1 · LOW-FI WIREFRAME   </a:t>
            </a:r>
            <a:r>
              <a:rPr sz="1280">
                <a:solidFill>
                  <a:srgbClr val="6E6E6E"/>
                </a:solidFill>
                <a:latin typeface="Helvetica Neue"/>
              </a:rPr>
              <a:t>4:30 PM</a:t>
            </a:r>
          </a:p>
        </p:txBody>
      </p:sp>
      <p:pic>
        <p:nvPicPr>
          <p:cNvPr id="6" name="Picture 5" descr="OW7-reasons-still-hold.png"/>
          <p:cNvPicPr>
            <a:picLocks noChangeAspect="1"/>
          </p:cNvPicPr>
          <p:nvPr/>
        </p:nvPicPr>
        <p:blipFill>
          <a:blip r:embed="rId4"/>
          <a:stretch>
            <a:fillRect/>
          </a:stretch>
        </p:blipFill>
        <p:spPr>
          <a:xfrm>
            <a:off x="455168" y="1950721"/>
            <a:ext cx="7802880" cy="4663440"/>
          </a:xfrm>
          <a:prstGeom prst="rect">
            <a:avLst/>
          </a:prstGeom>
          <a:ln w="9525">
            <a:solidFill>
              <a:srgbClr val="1F1F1F"/>
            </a:solidFill>
          </a:ln>
        </p:spPr>
      </p:pic>
      <p:sp>
        <p:nvSpPr>
          <p:cNvPr id="7" name="Rectangle 6"/>
          <p:cNvSpPr/>
          <p:nvPr/>
        </p:nvSpPr>
        <p:spPr>
          <a:xfrm>
            <a:off x="8583168" y="1950720"/>
            <a:ext cx="3966464" cy="1365504"/>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739226" y="2054758"/>
            <a:ext cx="3641344" cy="702693"/>
          </a:xfrm>
          <a:prstGeom prst="rect">
            <a:avLst/>
          </a:prstGeom>
          <a:noFill/>
        </p:spPr>
        <p:txBody>
          <a:bodyPr wrap="square" lIns="0" tIns="0" rIns="0" bIns="0">
            <a:spAutoFit/>
          </a:bodyPr>
          <a:lstStyle/>
          <a:p>
            <a:pPr>
              <a:spcAft>
                <a:spcPts val="284"/>
              </a:spcAft>
            </a:pPr>
            <a:r>
              <a:rPr sz="1138">
                <a:solidFill>
                  <a:srgbClr val="FFFFFF"/>
                </a:solidFill>
                <a:latin typeface="Helvetica Neue"/>
              </a:rPr>
              <a:t>JOB 5</a:t>
            </a:r>
          </a:p>
          <a:p>
            <a:pPr>
              <a:spcAft>
                <a:spcPts val="427"/>
              </a:spcAft>
            </a:pPr>
            <a:r>
              <a:rPr sz="1707">
                <a:solidFill>
                  <a:srgbClr val="FFFFFF"/>
                </a:solidFill>
                <a:latin typeface="Helvetica Neue Light"/>
              </a:rPr>
              <a:t>“Help me decide: hold or get out.”</a:t>
            </a:r>
          </a:p>
          <a:p>
            <a:r>
              <a:rPr sz="1138">
                <a:solidFill>
                  <a:srgbClr val="FFFFFF"/>
                </a:solidFill>
                <a:latin typeface="Helvetica Neue"/>
              </a:rPr>
              <a:t>P13 · P15 · P16</a:t>
            </a:r>
          </a:p>
        </p:txBody>
      </p:sp>
      <p:sp>
        <p:nvSpPr>
          <p:cNvPr id="9" name="TextBox 8"/>
          <p:cNvSpPr txBox="1"/>
          <p:nvPr/>
        </p:nvSpPr>
        <p:spPr>
          <a:xfrm>
            <a:off x="8583168" y="3511296"/>
            <a:ext cx="4161536" cy="196977"/>
          </a:xfrm>
          <a:prstGeom prst="rect">
            <a:avLst/>
          </a:prstGeom>
          <a:noFill/>
        </p:spPr>
        <p:txBody>
          <a:bodyPr wrap="square" lIns="0" tIns="0" rIns="0" bIns="0">
            <a:spAutoFit/>
          </a:bodyPr>
          <a:lstStyle/>
          <a:p>
            <a:r>
              <a:rPr sz="1280">
                <a:solidFill>
                  <a:srgbClr val="1F1F1F"/>
                </a:solidFill>
                <a:latin typeface="Helvetica Neue"/>
              </a:rPr>
              <a:t>WHAT HAPPENS</a:t>
            </a:r>
          </a:p>
        </p:txBody>
      </p:sp>
      <p:sp>
        <p:nvSpPr>
          <p:cNvPr id="10" name="TextBox 9"/>
          <p:cNvSpPr txBox="1"/>
          <p:nvPr/>
        </p:nvSpPr>
        <p:spPr>
          <a:xfrm>
            <a:off x="8583168" y="3797401"/>
            <a:ext cx="3966464" cy="918970"/>
          </a:xfrm>
          <a:prstGeom prst="rect">
            <a:avLst/>
          </a:prstGeom>
          <a:noFill/>
        </p:spPr>
        <p:txBody>
          <a:bodyPr wrap="square" lIns="0" tIns="0" rIns="0" bIns="0">
            <a:spAutoFit/>
          </a:bodyPr>
          <a:lstStyle/>
          <a:p>
            <a:r>
              <a:rPr sz="1493">
                <a:solidFill>
                  <a:srgbClr val="1F1F1F"/>
                </a:solidFill>
                <a:latin typeface="Helvetica Neue Light"/>
              </a:rPr>
              <a:t>After the close, each name’s reasons are re-checked. A broken one shows exactly when it broke; his exit condition shows its status. Hold or Exit is his call.</a:t>
            </a:r>
          </a:p>
        </p:txBody>
      </p:sp>
      <p:sp>
        <p:nvSpPr>
          <p:cNvPr id="11" name="Rectangle 10"/>
          <p:cNvSpPr/>
          <p:nvPr/>
        </p:nvSpPr>
        <p:spPr>
          <a:xfrm>
            <a:off x="455168" y="6874256"/>
            <a:ext cx="5982208" cy="22758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650240" y="7004304"/>
            <a:ext cx="5592064" cy="1266180"/>
          </a:xfrm>
          <a:prstGeom prst="rect">
            <a:avLst/>
          </a:prstGeom>
          <a:noFill/>
        </p:spPr>
        <p:txBody>
          <a:bodyPr wrap="square" lIns="0" tIns="0" rIns="0" bIns="0">
            <a:spAutoFit/>
          </a:bodyPr>
          <a:lstStyle/>
          <a:p>
            <a:pPr>
              <a:spcAft>
                <a:spcPts val="427"/>
              </a:spcAft>
            </a:pPr>
            <a:r>
              <a:rPr sz="1280">
                <a:solidFill>
                  <a:srgbClr val="5B3F96"/>
                </a:solidFill>
                <a:latin typeface="Helvetica Neue"/>
              </a:rPr>
              <a:t>NEW INTERACTION</a:t>
            </a:r>
          </a:p>
          <a:p>
            <a:pPr>
              <a:spcAft>
                <a:spcPts val="569"/>
              </a:spcAft>
            </a:pPr>
            <a:r>
              <a:rPr sz="1422">
                <a:solidFill>
                  <a:srgbClr val="6E6E6E"/>
                </a:solidFill>
                <a:latin typeface="Helvetica Neue Light"/>
              </a:rPr>
              <a:t>Instead of: Re-open charts, decide on gut feel, switch to the broker</a:t>
            </a:r>
          </a:p>
          <a:p>
            <a:r>
              <a:rPr sz="1564">
                <a:solidFill>
                  <a:srgbClr val="1F1F1F"/>
                </a:solidFill>
                <a:latin typeface="Helvetica Neue Light"/>
              </a:rPr>
              <a:t>A checklist that ticks itself. A broken reason opens a “what changed” scrubber on the chart; Exit hands off to his broker and the decision is logged.</a:t>
            </a:r>
          </a:p>
        </p:txBody>
      </p:sp>
      <p:sp>
        <p:nvSpPr>
          <p:cNvPr id="13" name="Rectangle 12"/>
          <p:cNvSpPr/>
          <p:nvPr/>
        </p:nvSpPr>
        <p:spPr>
          <a:xfrm>
            <a:off x="6567424" y="6874256"/>
            <a:ext cx="5982208" cy="227584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6762496" y="7004304"/>
            <a:ext cx="5592064" cy="1222451"/>
          </a:xfrm>
          <a:prstGeom prst="rect">
            <a:avLst/>
          </a:prstGeom>
          <a:noFill/>
        </p:spPr>
        <p:txBody>
          <a:bodyPr wrap="square" lIns="0" tIns="0" rIns="0" bIns="0">
            <a:spAutoFit/>
          </a:bodyPr>
          <a:lstStyle/>
          <a:p>
            <a:pPr>
              <a:spcAft>
                <a:spcPts val="427"/>
              </a:spcAft>
            </a:pPr>
            <a:r>
              <a:rPr sz="1280">
                <a:solidFill>
                  <a:srgbClr val="A100E8"/>
                </a:solidFill>
                <a:latin typeface="Helvetica Neue"/>
              </a:rPr>
              <a:t>✦ WHY IT’S AI-INNOVATIVE</a:t>
            </a:r>
          </a:p>
          <a:p>
            <a:pPr>
              <a:spcAft>
                <a:spcPts val="569"/>
              </a:spcAft>
            </a:pPr>
            <a:r>
              <a:rPr sz="1564">
                <a:solidFill>
                  <a:srgbClr val="1F1F1F"/>
                </a:solidFill>
                <a:latin typeface="Helvetica Neue Light"/>
              </a:rPr>
              <a:t>Re-verifies the trader’s own stated reasons and conditions: a verifier, never an advisor. That is both the ethical and the compliance line.</a:t>
            </a:r>
          </a:p>
          <a:p>
            <a:r>
              <a:rPr sz="1138">
                <a:solidFill>
                  <a:srgbClr val="6E6E6E"/>
                </a:solidFill>
                <a:latin typeface="Helvetica Neue"/>
              </a:rPr>
              <a:t>Built on: Price and indicator data · Free daily / Elite live · F54 F58 F62 F63</a:t>
            </a:r>
          </a:p>
        </p:txBody>
      </p:sp>
      <p:sp>
        <p:nvSpPr>
          <p:cNvPr id="15" name="Rectangle 14"/>
          <p:cNvSpPr/>
          <p:nvPr/>
        </p:nvSpPr>
        <p:spPr>
          <a:xfrm>
            <a:off x="8583168" y="5462017"/>
            <a:ext cx="3966464" cy="125618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8739226" y="5553048"/>
            <a:ext cx="3641344" cy="651269"/>
          </a:xfrm>
          <a:prstGeom prst="rect">
            <a:avLst/>
          </a:prstGeom>
          <a:noFill/>
        </p:spPr>
        <p:txBody>
          <a:bodyPr wrap="square" lIns="0" tIns="0" rIns="0" bIns="0">
            <a:spAutoFit/>
          </a:bodyPr>
          <a:lstStyle/>
          <a:p>
            <a:pPr>
              <a:spcAft>
                <a:spcPts val="284"/>
              </a:spcAft>
            </a:pPr>
            <a:r>
              <a:rPr sz="1138">
                <a:solidFill>
                  <a:srgbClr val="FFFFFF"/>
                </a:solidFill>
                <a:latin typeface="Helvetica Neue"/>
              </a:rPr>
              <a:t>WHAT WE’LL TEST NEXT</a:t>
            </a:r>
          </a:p>
          <a:p>
            <a:r>
              <a:rPr sz="1422">
                <a:solidFill>
                  <a:srgbClr val="FFFFFF"/>
                </a:solidFill>
                <a:latin typeface="Helvetica Neue Light"/>
              </a:rPr>
              <a:t>Does the checklist help traders act on exits without reading it as advice?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Appendix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Today: </a:t>
            </a:r>
            <a:r>
              <a:rPr lang="en-US" sz="3200" dirty="0">
                <a:solidFill>
                  <a:srgbClr val="1F1F1F"/>
                </a:solidFill>
                <a:latin typeface="Helvetica Neue Light"/>
              </a:rPr>
              <a:t>O</a:t>
            </a:r>
            <a:r>
              <a:rPr sz="3200" dirty="0">
                <a:solidFill>
                  <a:srgbClr val="1F1F1F"/>
                </a:solidFill>
                <a:latin typeface="Helvetica Neue Light"/>
              </a:rPr>
              <a:t>ne page for the whole trading day</a:t>
            </a:r>
          </a:p>
        </p:txBody>
      </p:sp>
      <p:sp>
        <p:nvSpPr>
          <p:cNvPr id="5" name="TextBox 4"/>
          <p:cNvSpPr txBox="1"/>
          <p:nvPr/>
        </p:nvSpPr>
        <p:spPr>
          <a:xfrm>
            <a:off x="455168" y="1560576"/>
            <a:ext cx="12094464" cy="525400"/>
          </a:xfrm>
          <a:prstGeom prst="rect">
            <a:avLst/>
          </a:prstGeom>
          <a:noFill/>
        </p:spPr>
        <p:txBody>
          <a:bodyPr wrap="square" lIns="0" tIns="0" rIns="0" bIns="0">
            <a:spAutoFit/>
          </a:bodyPr>
          <a:lstStyle/>
          <a:p>
            <a:r>
              <a:rPr sz="1707">
                <a:solidFill>
                  <a:srgbClr val="595959"/>
                </a:solidFill>
                <a:latin typeface="Helvetica Neue Light"/>
              </a:rPr>
              <a:t>The hero features meet on one dashboard. It reorders by market session, shows what was held back as well as what was sent, and logs every change with Undo.</a:t>
            </a:r>
          </a:p>
        </p:txBody>
      </p:sp>
      <p:pic>
        <p:nvPicPr>
          <p:cNvPr id="6" name="Picture 5" descr="TD1-today-dashboard.png"/>
          <p:cNvPicPr>
            <a:picLocks noChangeAspect="1"/>
          </p:cNvPicPr>
          <p:nvPr/>
        </p:nvPicPr>
        <p:blipFill>
          <a:blip r:embed="rId4"/>
          <a:stretch>
            <a:fillRect/>
          </a:stretch>
        </p:blipFill>
        <p:spPr>
          <a:xfrm>
            <a:off x="455168" y="2405888"/>
            <a:ext cx="7932928" cy="4741163"/>
          </a:xfrm>
          <a:prstGeom prst="rect">
            <a:avLst/>
          </a:prstGeom>
          <a:ln w="9525">
            <a:solidFill>
              <a:srgbClr val="1F1F1F"/>
            </a:solidFill>
          </a:ln>
        </p:spPr>
      </p:pic>
      <p:sp>
        <p:nvSpPr>
          <p:cNvPr id="7" name="TextBox 6"/>
          <p:cNvSpPr txBox="1"/>
          <p:nvPr/>
        </p:nvSpPr>
        <p:spPr>
          <a:xfrm>
            <a:off x="455168" y="7251089"/>
            <a:ext cx="7932928" cy="437684"/>
          </a:xfrm>
          <a:prstGeom prst="rect">
            <a:avLst/>
          </a:prstGeom>
          <a:noFill/>
        </p:spPr>
        <p:txBody>
          <a:bodyPr wrap="square" lIns="0" tIns="0" rIns="0" bIns="0">
            <a:spAutoFit/>
          </a:bodyPr>
          <a:lstStyle/>
          <a:p>
            <a:r>
              <a:rPr sz="1422">
                <a:solidFill>
                  <a:srgbClr val="1F1F1F"/>
                </a:solidFill>
                <a:latin typeface="Helvetica Neue"/>
              </a:rPr>
              <a:t>TD1 · Today  </a:t>
            </a:r>
            <a:r>
              <a:rPr sz="1422">
                <a:solidFill>
                  <a:srgbClr val="595959"/>
                </a:solidFill>
                <a:latin typeface="Helvetica Neue Light"/>
              </a:rPr>
              <a:t>Shortlist with reason dots and exit lines, the day’s alerts, watches with their noise level, the night’s changes and lens hits.</a:t>
            </a:r>
          </a:p>
        </p:txBody>
      </p:sp>
      <p:pic>
        <p:nvPicPr>
          <p:cNvPr id="8" name="Picture 7" descr="AN9-activity-log-undo.png"/>
          <p:cNvPicPr>
            <a:picLocks noChangeAspect="1"/>
          </p:cNvPicPr>
          <p:nvPr/>
        </p:nvPicPr>
        <p:blipFill>
          <a:blip r:embed="rId5"/>
          <a:stretch>
            <a:fillRect/>
          </a:stretch>
        </p:blipFill>
        <p:spPr>
          <a:xfrm>
            <a:off x="8648192" y="2405888"/>
            <a:ext cx="3901440" cy="2331719"/>
          </a:xfrm>
          <a:prstGeom prst="rect">
            <a:avLst/>
          </a:prstGeom>
          <a:ln w="9525">
            <a:solidFill>
              <a:srgbClr val="1F1F1F"/>
            </a:solidFill>
          </a:ln>
        </p:spPr>
      </p:pic>
      <p:sp>
        <p:nvSpPr>
          <p:cNvPr id="9" name="TextBox 8"/>
          <p:cNvSpPr txBox="1"/>
          <p:nvPr/>
        </p:nvSpPr>
        <p:spPr>
          <a:xfrm>
            <a:off x="8648192" y="4841645"/>
            <a:ext cx="3901440" cy="694998"/>
          </a:xfrm>
          <a:prstGeom prst="rect">
            <a:avLst/>
          </a:prstGeom>
          <a:noFill/>
        </p:spPr>
        <p:txBody>
          <a:bodyPr wrap="square" lIns="0" tIns="0" rIns="0" bIns="0">
            <a:spAutoFit/>
          </a:bodyPr>
          <a:lstStyle/>
          <a:p>
            <a:pPr>
              <a:spcAft>
                <a:spcPts val="284"/>
              </a:spcAft>
            </a:pPr>
            <a:r>
              <a:rPr sz="1422">
                <a:solidFill>
                  <a:srgbClr val="1F1F1F"/>
                </a:solidFill>
                <a:latin typeface="Helvetica Neue"/>
              </a:rPr>
              <a:t>AN9 · Activity log + Undo  </a:t>
            </a:r>
          </a:p>
          <a:p>
            <a:r>
              <a:rPr sz="1422">
                <a:solidFill>
                  <a:srgbClr val="595959"/>
                </a:solidFill>
                <a:latin typeface="Helvetica Neue Light"/>
              </a:rPr>
              <a:t>Who did it (✦ FinViz or Gary), why, and the effect. Undo previews before restoring.</a:t>
            </a:r>
          </a:p>
        </p:txBody>
      </p:sp>
      <p:sp>
        <p:nvSpPr>
          <p:cNvPr id="10" name="Rectangle 9"/>
          <p:cNvSpPr/>
          <p:nvPr/>
        </p:nvSpPr>
        <p:spPr>
          <a:xfrm>
            <a:off x="8648192" y="5787136"/>
            <a:ext cx="3901440" cy="22758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8804250" y="5917185"/>
            <a:ext cx="3641344" cy="1500154"/>
          </a:xfrm>
          <a:prstGeom prst="rect">
            <a:avLst/>
          </a:prstGeom>
          <a:noFill/>
        </p:spPr>
        <p:txBody>
          <a:bodyPr wrap="square" lIns="0" tIns="0" rIns="0" bIns="0">
            <a:spAutoFit/>
          </a:bodyPr>
          <a:lstStyle/>
          <a:p>
            <a:pPr>
              <a:spcAft>
                <a:spcPts val="569"/>
              </a:spcAft>
            </a:pPr>
            <a:r>
              <a:rPr sz="1138">
                <a:solidFill>
                  <a:srgbClr val="5B3F96"/>
                </a:solidFill>
                <a:latin typeface="Helvetica Neue"/>
              </a:rPr>
              <a:t>WHY A DASHBOARD</a:t>
            </a:r>
          </a:p>
          <a:p>
            <a:pPr>
              <a:spcAft>
                <a:spcPts val="427"/>
              </a:spcAft>
            </a:pPr>
            <a:r>
              <a:rPr sz="1422">
                <a:solidFill>
                  <a:srgbClr val="1F1F1F"/>
                </a:solidFill>
                <a:latin typeface="Helvetica Neue Light"/>
              </a:rPr>
              <a:t>Answers “what needs me now?” without visiting Screener, Portfolio and Alerts</a:t>
            </a:r>
          </a:p>
          <a:p>
            <a:pPr>
              <a:spcAft>
                <a:spcPts val="427"/>
              </a:spcAft>
            </a:pPr>
            <a:r>
              <a:rPr sz="1422">
                <a:solidFill>
                  <a:srgbClr val="1F1F1F"/>
                </a:solidFill>
                <a:latin typeface="Helvetica Neue Light"/>
              </a:rPr>
              <a:t>Silence reads as “checked”, not “broken”</a:t>
            </a:r>
          </a:p>
          <a:p>
            <a:pPr>
              <a:spcAft>
                <a:spcPts val="427"/>
              </a:spcAft>
            </a:pPr>
            <a:r>
              <a:rPr sz="1422">
                <a:solidFill>
                  <a:srgbClr val="1F1F1F"/>
                </a:solidFill>
                <a:latin typeface="Helvetica Neue Light"/>
              </a:rPr>
              <a:t>Reasons are dots, not scores</a:t>
            </a:r>
          </a:p>
          <a:p>
            <a:pPr>
              <a:spcAft>
                <a:spcPts val="427"/>
              </a:spcAft>
            </a:pPr>
            <a:r>
              <a:rPr sz="1422">
                <a:solidFill>
                  <a:srgbClr val="1F1F1F"/>
                </a:solidFill>
                <a:latin typeface="Helvetica Neue Light"/>
              </a:rPr>
              <a:t>Purple = AI only; green and red = price only</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5489883" cy="338125"/>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The Trading Day concept scenario</a:t>
            </a:r>
            <a:endParaRPr lang="en-US" sz="3200" dirty="0"/>
          </a:p>
        </p:txBody>
      </p:sp>
      <p:sp>
        <p:nvSpPr>
          <p:cNvPr id="4" name="design lead call"/>
          <p:cNvSpPr/>
          <p:nvPr/>
        </p:nvSpPr>
        <p:spPr>
          <a:xfrm>
            <a:off x="8622182" y="312115"/>
            <a:ext cx="3927450" cy="416154"/>
          </a:xfrm>
          <a:prstGeom prst="rect">
            <a:avLst/>
          </a:prstGeom>
          <a:solidFill>
            <a:srgbClr val="C45A35"/>
          </a:solidFill>
          <a:ln w="12700">
            <a:solidFill>
              <a:srgbClr val="C45A35"/>
            </a:solidFill>
            <a:prstDash val="solid"/>
          </a:ln>
        </p:spPr>
        <p:txBody>
          <a:bodyPr/>
          <a:lstStyle/>
          <a:p>
            <a:endParaRPr sz="2560"/>
          </a:p>
        </p:txBody>
      </p:sp>
      <p:sp>
        <p:nvSpPr>
          <p:cNvPr id="5" name="Text 3"/>
          <p:cNvSpPr txBox="1"/>
          <p:nvPr/>
        </p:nvSpPr>
        <p:spPr>
          <a:xfrm>
            <a:off x="8622182" y="312115"/>
            <a:ext cx="3927450" cy="416154"/>
          </a:xfrm>
          <a:prstGeom prst="rect">
            <a:avLst/>
          </a:prstGeom>
          <a:noFill/>
          <a:ln/>
        </p:spPr>
        <p:txBody>
          <a:bodyPr wrap="square" lIns="0" tIns="0" rIns="0" bIns="0" rtlCol="0" anchor="ctr"/>
          <a:lstStyle/>
          <a:p>
            <a:pPr algn="ctr"/>
            <a:r>
              <a:rPr lang="en-US" sz="1280" b="1" kern="0" spc="142" dirty="0">
                <a:solidFill>
                  <a:srgbClr val="FFFFFF"/>
                </a:solidFill>
                <a:latin typeface="Helvetica Neue" pitchFamily="34" charset="0"/>
                <a:ea typeface="Helvetica Neue" pitchFamily="34" charset="-122"/>
                <a:cs typeface="Helvetica Neue" pitchFamily="34" charset="-120"/>
              </a:rPr>
              <a:t>DESIGN LEAD CALL  </a:t>
            </a:r>
            <a:r>
              <a:rPr lang="en-US" sz="1280" dirty="0">
                <a:solidFill>
                  <a:srgbClr val="FFFFFF"/>
                </a:solidFill>
                <a:latin typeface="Helvetica Neue Light" pitchFamily="34" charset="0"/>
                <a:ea typeface="Helvetica Neue Light" pitchFamily="34" charset="-122"/>
                <a:cs typeface="Helvetica Neue Light" pitchFamily="34" charset="-120"/>
              </a:rPr>
              <a:t>Chose the lead concept</a:t>
            </a:r>
            <a:endParaRPr lang="en-US" sz="1280" dirty="0"/>
          </a:p>
        </p:txBody>
      </p:sp>
      <p:pic>
        <p:nvPicPr>
          <p:cNvPr id="6" name="Trading Day first-release screen flow" descr="Trading Day first-release screen flow"/>
          <p:cNvPicPr>
            <a:picLocks noChangeAspect="1"/>
          </p:cNvPicPr>
          <p:nvPr/>
        </p:nvPicPr>
        <p:blipFill>
          <a:blip r:embed="rId3"/>
          <a:stretch>
            <a:fillRect/>
          </a:stretch>
        </p:blipFill>
        <p:spPr>
          <a:xfrm>
            <a:off x="455168" y="1820673"/>
            <a:ext cx="6892544" cy="5687696"/>
          </a:xfrm>
          <a:prstGeom prst="rect">
            <a:avLst/>
          </a:prstGeom>
        </p:spPr>
      </p:pic>
      <p:sp>
        <p:nvSpPr>
          <p:cNvPr id="7" name="Shape 4"/>
          <p:cNvSpPr/>
          <p:nvPr/>
        </p:nvSpPr>
        <p:spPr>
          <a:xfrm>
            <a:off x="455168" y="1820673"/>
            <a:ext cx="6892544" cy="5687696"/>
          </a:xfrm>
          <a:prstGeom prst="rect">
            <a:avLst/>
          </a:prstGeom>
          <a:ln w="9525">
            <a:solidFill>
              <a:srgbClr val="1F1F1F"/>
            </a:solidFill>
            <a:prstDash val="solid"/>
          </a:ln>
        </p:spPr>
        <p:txBody>
          <a:bodyPr/>
          <a:lstStyle/>
          <a:p>
            <a:endParaRPr sz="2560"/>
          </a:p>
        </p:txBody>
      </p:sp>
      <p:sp>
        <p:nvSpPr>
          <p:cNvPr id="8" name="Text 5"/>
          <p:cNvSpPr txBox="1"/>
          <p:nvPr/>
        </p:nvSpPr>
        <p:spPr>
          <a:xfrm>
            <a:off x="7737856" y="1820672"/>
            <a:ext cx="4811776" cy="1560576"/>
          </a:xfrm>
          <a:prstGeom prst="rect">
            <a:avLst/>
          </a:prstGeom>
          <a:noFill/>
          <a:ln/>
        </p:spPr>
        <p:txBody>
          <a:bodyPr wrap="square" lIns="0" tIns="0" rIns="0" bIns="0" rtlCol="0" anchor="t"/>
          <a:lstStyle/>
          <a:p>
            <a:r>
              <a:rPr lang="en-US" sz="1707" dirty="0">
                <a:solidFill>
                  <a:srgbClr val="C45A35"/>
                </a:solidFill>
                <a:latin typeface="Helvetica Neue" pitchFamily="34" charset="0"/>
                <a:ea typeface="Helvetica Neue" pitchFamily="34" charset="-122"/>
                <a:cs typeface="Helvetica Neue" pitchFamily="34" charset="-120"/>
              </a:rPr>
              <a:t>8–10 PM</a:t>
            </a:r>
            <a:endParaRPr lang="en-US" sz="1991" dirty="0"/>
          </a:p>
          <a:p>
            <a:r>
              <a:rPr lang="en-US" sz="1707" dirty="0">
                <a:solidFill>
                  <a:srgbClr val="1F1F1F"/>
                </a:solidFill>
                <a:latin typeface="Helvetica Neue Light" pitchFamily="34" charset="0"/>
                <a:ea typeface="Helvetica Neue Light" pitchFamily="34" charset="-122"/>
                <a:cs typeface="Helvetica Neue Light" pitchFamily="34" charset="-120"/>
              </a:rPr>
              <a:t>Gary sees what’s new since last night and why each name matched, pins a shortlist and taps “watch these for me”.</a:t>
            </a:r>
            <a:endParaRPr lang="en-US" sz="1991" dirty="0"/>
          </a:p>
        </p:txBody>
      </p:sp>
      <p:sp>
        <p:nvSpPr>
          <p:cNvPr id="9" name="Text 6"/>
          <p:cNvSpPr txBox="1"/>
          <p:nvPr/>
        </p:nvSpPr>
        <p:spPr>
          <a:xfrm>
            <a:off x="7737856" y="3511296"/>
            <a:ext cx="4811776" cy="1560576"/>
          </a:xfrm>
          <a:prstGeom prst="rect">
            <a:avLst/>
          </a:prstGeom>
          <a:noFill/>
          <a:ln/>
        </p:spPr>
        <p:txBody>
          <a:bodyPr wrap="square" lIns="0" tIns="0" rIns="0" bIns="0" rtlCol="0" anchor="t"/>
          <a:lstStyle/>
          <a:p>
            <a:r>
              <a:rPr lang="en-US" sz="1707" dirty="0">
                <a:solidFill>
                  <a:srgbClr val="C45A35"/>
                </a:solidFill>
                <a:latin typeface="Helvetica Neue" pitchFamily="34" charset="0"/>
                <a:ea typeface="Helvetica Neue" pitchFamily="34" charset="-122"/>
                <a:cs typeface="Helvetica Neue" pitchFamily="34" charset="-120"/>
              </a:rPr>
              <a:t>7:30 AM</a:t>
            </a:r>
            <a:endParaRPr lang="en-US" sz="1991" dirty="0"/>
          </a:p>
          <a:p>
            <a:r>
              <a:rPr lang="en-US" sz="1707" dirty="0">
                <a:solidFill>
                  <a:srgbClr val="1F1F1F"/>
                </a:solidFill>
                <a:latin typeface="Helvetica Neue Light" pitchFamily="34" charset="0"/>
                <a:ea typeface="Helvetica Neue Light" pitchFamily="34" charset="-122"/>
                <a:cs typeface="Helvetica Neue Light" pitchFamily="34" charset="-120"/>
              </a:rPr>
              <a:t>A morning note he reads in 30 seconds: what changed, and what needs him today.</a:t>
            </a:r>
            <a:endParaRPr lang="en-US" sz="1991" dirty="0"/>
          </a:p>
        </p:txBody>
      </p:sp>
      <p:sp>
        <p:nvSpPr>
          <p:cNvPr id="10" name="Text 7"/>
          <p:cNvSpPr txBox="1"/>
          <p:nvPr/>
        </p:nvSpPr>
        <p:spPr>
          <a:xfrm>
            <a:off x="7737856" y="5201920"/>
            <a:ext cx="4811776" cy="1560576"/>
          </a:xfrm>
          <a:prstGeom prst="rect">
            <a:avLst/>
          </a:prstGeom>
          <a:noFill/>
          <a:ln/>
        </p:spPr>
        <p:txBody>
          <a:bodyPr wrap="square" lIns="0" tIns="0" rIns="0" bIns="0" rtlCol="0" anchor="t"/>
          <a:lstStyle/>
          <a:p>
            <a:r>
              <a:rPr lang="en-US" sz="1707" dirty="0">
                <a:solidFill>
                  <a:srgbClr val="C45A35"/>
                </a:solidFill>
                <a:latin typeface="Helvetica Neue" pitchFamily="34" charset="0"/>
                <a:ea typeface="Helvetica Neue" pitchFamily="34" charset="-122"/>
                <a:cs typeface="Helvetica Neue" pitchFamily="34" charset="-120"/>
              </a:rPr>
              <a:t>10:14 AM</a:t>
            </a:r>
            <a:endParaRPr lang="en-US" sz="1991" dirty="0"/>
          </a:p>
          <a:p>
            <a:r>
              <a:rPr lang="en-US" sz="1707" dirty="0">
                <a:solidFill>
                  <a:srgbClr val="1F1F1F"/>
                </a:solidFill>
                <a:latin typeface="Helvetica Neue Light" pitchFamily="34" charset="0"/>
                <a:ea typeface="Helvetica Neue Light" pitchFamily="34" charset="-122"/>
                <a:cs typeface="Helvetica Neue Light" pitchFamily="34" charset="-120"/>
              </a:rPr>
              <a:t>One alert at work, only because his own criteria were met, with the reason.</a:t>
            </a:r>
            <a:endParaRPr lang="en-US" sz="1991" dirty="0"/>
          </a:p>
        </p:txBody>
      </p:sp>
      <p:sp>
        <p:nvSpPr>
          <p:cNvPr id="11" name="Text 8"/>
          <p:cNvSpPr txBox="1"/>
          <p:nvPr/>
        </p:nvSpPr>
        <p:spPr>
          <a:xfrm>
            <a:off x="7737856" y="6892544"/>
            <a:ext cx="4811776" cy="1560576"/>
          </a:xfrm>
          <a:prstGeom prst="rect">
            <a:avLst/>
          </a:prstGeom>
          <a:noFill/>
          <a:ln/>
        </p:spPr>
        <p:txBody>
          <a:bodyPr wrap="square" lIns="0" tIns="0" rIns="0" bIns="0" rtlCol="0" anchor="t"/>
          <a:lstStyle/>
          <a:p>
            <a:r>
              <a:rPr lang="en-US" sz="1707" dirty="0">
                <a:solidFill>
                  <a:srgbClr val="C45A35"/>
                </a:solidFill>
                <a:latin typeface="Helvetica Neue" pitchFamily="34" charset="0"/>
                <a:ea typeface="Helvetica Neue" pitchFamily="34" charset="-122"/>
                <a:cs typeface="Helvetica Neue" pitchFamily="34" charset="-120"/>
              </a:rPr>
              <a:t>4:30 PM</a:t>
            </a:r>
            <a:endParaRPr lang="en-US" sz="1991" dirty="0"/>
          </a:p>
          <a:p>
            <a:r>
              <a:rPr lang="en-US" sz="1707" dirty="0">
                <a:solidFill>
                  <a:srgbClr val="1F1F1F"/>
                </a:solidFill>
                <a:latin typeface="Helvetica Neue Light" pitchFamily="34" charset="0"/>
                <a:ea typeface="Helvetica Neue Light" pitchFamily="34" charset="-122"/>
                <a:cs typeface="Helvetica Neue Light" pitchFamily="34" charset="-120"/>
              </a:rPr>
              <a:t>After the close: do his reasons still hold? Exits stay his call, in his own broker.</a:t>
            </a:r>
            <a:endParaRPr lang="en-US" sz="1991" dirty="0"/>
          </a:p>
        </p:txBody>
      </p:sp>
      <p:pic>
        <p:nvPicPr>
          <p:cNvPr id="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Proof of Concept Design 1</a:t>
            </a:r>
            <a:endParaRPr lang="en-US" sz="3200" dirty="0"/>
          </a:p>
        </p:txBody>
      </p:sp>
      <p:sp>
        <p:nvSpPr>
          <p:cNvPr id="4" name="Text 2"/>
          <p:cNvSpPr txBox="1"/>
          <p:nvPr/>
        </p:nvSpPr>
        <p:spPr>
          <a:xfrm>
            <a:off x="455168" y="1755648"/>
            <a:ext cx="4551680" cy="3251200"/>
          </a:xfrm>
          <a:prstGeom prst="rect">
            <a:avLst/>
          </a:prstGeom>
          <a:noFill/>
          <a:ln/>
        </p:spPr>
        <p:txBody>
          <a:bodyPr wrap="square" lIns="0" tIns="0" rIns="0" bIns="0" rtlCol="0" anchor="t"/>
          <a:lstStyle/>
          <a:p>
            <a:pPr>
              <a:lnSpc>
                <a:spcPct val="130000"/>
              </a:lnSpc>
              <a:spcAft>
                <a:spcPts val="569"/>
              </a:spcAft>
            </a:pPr>
            <a:r>
              <a:rPr lang="en-US" sz="1991" dirty="0">
                <a:solidFill>
                  <a:srgbClr val="1F1F1F"/>
                </a:solidFill>
                <a:latin typeface="Helvetica Neue Light" pitchFamily="34" charset="0"/>
                <a:ea typeface="Helvetica Neue Light" pitchFamily="34" charset="-122"/>
                <a:cs typeface="Helvetica Neue Light" pitchFamily="34" charset="-120"/>
              </a:rPr>
              <a:t>Morning briefing</a:t>
            </a:r>
            <a:endParaRPr lang="en-US" sz="1991" dirty="0"/>
          </a:p>
          <a:p>
            <a:pPr>
              <a:lnSpc>
                <a:spcPct val="130000"/>
              </a:lnSpc>
            </a:pPr>
            <a:r>
              <a:rPr lang="en-US" sz="1778" dirty="0">
                <a:solidFill>
                  <a:srgbClr val="595959"/>
                </a:solidFill>
                <a:latin typeface="Helvetica Neue Light" pitchFamily="34" charset="0"/>
                <a:ea typeface="Helvetica Neue Light" pitchFamily="34" charset="-122"/>
                <a:cs typeface="Helvetica Neue Light" pitchFamily="34" charset="-120"/>
              </a:rPr>
              <a:t>Gary’s 7:30 AM glance: what needs him vs. FYI, the rule nudges he set, and a log of everything FinViz did on its own, each with Undo.</a:t>
            </a:r>
            <a:endParaRPr lang="en-US" sz="1991" dirty="0"/>
          </a:p>
        </p:txBody>
      </p:sp>
      <p:pic>
        <p:nvPicPr>
          <p:cNvPr id="5" name="Morning briefing" descr="Morning briefing"/>
          <p:cNvPicPr>
            <a:picLocks noChangeAspect="1"/>
          </p:cNvPicPr>
          <p:nvPr/>
        </p:nvPicPr>
        <p:blipFill>
          <a:blip r:embed="rId3"/>
          <a:stretch>
            <a:fillRect/>
          </a:stretch>
        </p:blipFill>
        <p:spPr>
          <a:xfrm>
            <a:off x="5396992" y="1755649"/>
            <a:ext cx="7152640" cy="4770755"/>
          </a:xfrm>
          <a:prstGeom prst="rect">
            <a:avLst/>
          </a:prstGeom>
        </p:spPr>
      </p:pic>
      <p:sp>
        <p:nvSpPr>
          <p:cNvPr id="6" name="Shape 3"/>
          <p:cNvSpPr/>
          <p:nvPr/>
        </p:nvSpPr>
        <p:spPr>
          <a:xfrm>
            <a:off x="5396992" y="1755649"/>
            <a:ext cx="7152640" cy="4770755"/>
          </a:xfrm>
          <a:prstGeom prst="rect">
            <a:avLst/>
          </a:prstGeom>
          <a:ln w="9525">
            <a:solidFill>
              <a:srgbClr val="1F1F1F"/>
            </a:solidFill>
            <a:prstDash val="solid"/>
          </a:ln>
        </p:spPr>
        <p:txBody>
          <a:bodyPr/>
          <a:lstStyle/>
          <a:p>
            <a:endParaRPr sz="2560"/>
          </a:p>
        </p:txBody>
      </p:sp>
      <p:sp>
        <p:nvSpPr>
          <p:cNvPr id="7" name="What we learned in the review"/>
          <p:cNvSpPr/>
          <p:nvPr/>
        </p:nvSpPr>
        <p:spPr>
          <a:xfrm>
            <a:off x="455168" y="6149413"/>
            <a:ext cx="4551680" cy="2628827"/>
          </a:xfrm>
          <a:prstGeom prst="rect">
            <a:avLst/>
          </a:prstGeom>
          <a:solidFill>
            <a:srgbClr val="3A7D55"/>
          </a:solidFill>
          <a:ln w="12700">
            <a:solidFill>
              <a:srgbClr val="3A7D55"/>
            </a:solidFill>
            <a:prstDash val="solid"/>
          </a:ln>
        </p:spPr>
        <p:txBody>
          <a:bodyPr/>
          <a:lstStyle/>
          <a:p>
            <a:endParaRPr sz="2560"/>
          </a:p>
        </p:txBody>
      </p:sp>
      <p:sp>
        <p:nvSpPr>
          <p:cNvPr id="8" name="Text 5"/>
          <p:cNvSpPr txBox="1"/>
          <p:nvPr/>
        </p:nvSpPr>
        <p:spPr>
          <a:xfrm>
            <a:off x="715264" y="6409509"/>
            <a:ext cx="4031488" cy="2145792"/>
          </a:xfrm>
          <a:prstGeom prst="rect">
            <a:avLst/>
          </a:prstGeom>
          <a:noFill/>
          <a:ln/>
        </p:spPr>
        <p:txBody>
          <a:bodyPr wrap="square" lIns="0" tIns="0" rIns="0" bIns="0" rtlCol="0" anchor="t"/>
          <a:lstStyle/>
          <a:p>
            <a:pPr>
              <a:spcAft>
                <a:spcPts val="853"/>
              </a:spcAft>
            </a:pPr>
            <a:r>
              <a:rPr lang="en-US" sz="1991" dirty="0">
                <a:solidFill>
                  <a:srgbClr val="FFFFFF"/>
                </a:solidFill>
                <a:latin typeface="Helvetica Neue Light" pitchFamily="34" charset="0"/>
                <a:ea typeface="Helvetica Neue Light" pitchFamily="34" charset="-122"/>
                <a:cs typeface="Helvetica Neue Light" pitchFamily="34" charset="-120"/>
              </a:rPr>
              <a:t>What we learned in the review</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Alerts are everything for timeliness</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A first success must be timely, relevant and actionable at once</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Habit comes from satisfaction, not excitement</a:t>
            </a:r>
            <a:endParaRPr lang="en-US" sz="1991" dirty="0"/>
          </a:p>
        </p:txBody>
      </p:sp>
      <p:sp>
        <p:nvSpPr>
          <p:cNvPr id="9" name="Text 6"/>
          <p:cNvSpPr txBox="1"/>
          <p:nvPr/>
        </p:nvSpPr>
        <p:spPr>
          <a:xfrm>
            <a:off x="5396992" y="6697472"/>
            <a:ext cx="7152640" cy="520192"/>
          </a:xfrm>
          <a:prstGeom prst="rect">
            <a:avLst/>
          </a:prstGeom>
          <a:noFill/>
          <a:ln/>
        </p:spPr>
        <p:txBody>
          <a:bodyPr wrap="square" lIns="0" tIns="0" rIns="0" bIns="0" rtlCol="0" anchor="t"/>
          <a:lstStyle/>
          <a:p>
            <a:r>
              <a:rPr lang="en-US" sz="1422" dirty="0">
                <a:solidFill>
                  <a:srgbClr val="6E6E6E"/>
                </a:solidFill>
                <a:latin typeface="Helvetica Neue" pitchFamily="34" charset="0"/>
                <a:ea typeface="Helvetica Neue" pitchFamily="34" charset="-122"/>
                <a:cs typeface="Helvetica Neue" pitchFamily="34" charset="-120"/>
              </a:rPr>
              <a:t>The Trading Day · morning briefing and activity log</a:t>
            </a:r>
            <a:endParaRPr lang="en-US" sz="1422" dirty="0"/>
          </a:p>
        </p:txBody>
      </p:sp>
      <p:pic>
        <p:nvPicPr>
          <p:cNvPr id="10"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latin typeface="Helvetica Neue" pitchFamily="34" charset="0"/>
                <a:ea typeface="Helvetica Neue" pitchFamily="34" charset="-122"/>
                <a:cs typeface="Helvetica Neue" pitchFamily="34" charset="-120"/>
              </a:rPr>
              <a:t>Appendix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Proof of Concept Design 2</a:t>
            </a:r>
            <a:endParaRPr lang="en-US" sz="3200" dirty="0"/>
          </a:p>
        </p:txBody>
      </p:sp>
      <p:sp>
        <p:nvSpPr>
          <p:cNvPr id="4" name="design lead call"/>
          <p:cNvSpPr/>
          <p:nvPr/>
        </p:nvSpPr>
        <p:spPr>
          <a:xfrm>
            <a:off x="6234502" y="312115"/>
            <a:ext cx="6315130" cy="416154"/>
          </a:xfrm>
          <a:prstGeom prst="rect">
            <a:avLst/>
          </a:prstGeom>
          <a:solidFill>
            <a:srgbClr val="C45A35"/>
          </a:solidFill>
          <a:ln w="12700">
            <a:solidFill>
              <a:srgbClr val="C45A35"/>
            </a:solidFill>
            <a:prstDash val="solid"/>
          </a:ln>
        </p:spPr>
        <p:txBody>
          <a:bodyPr/>
          <a:lstStyle/>
          <a:p>
            <a:endParaRPr sz="2560"/>
          </a:p>
        </p:txBody>
      </p:sp>
      <p:sp>
        <p:nvSpPr>
          <p:cNvPr id="5" name="Text 3"/>
          <p:cNvSpPr txBox="1"/>
          <p:nvPr/>
        </p:nvSpPr>
        <p:spPr>
          <a:xfrm>
            <a:off x="6234502" y="312115"/>
            <a:ext cx="6315130" cy="416154"/>
          </a:xfrm>
          <a:prstGeom prst="rect">
            <a:avLst/>
          </a:prstGeom>
          <a:noFill/>
          <a:ln/>
        </p:spPr>
        <p:txBody>
          <a:bodyPr wrap="square" lIns="0" tIns="0" rIns="0" bIns="0" rtlCol="0" anchor="ctr"/>
          <a:lstStyle/>
          <a:p>
            <a:pPr algn="ctr"/>
            <a:r>
              <a:rPr lang="en-US" sz="1280" b="1" kern="0" spc="142" dirty="0">
                <a:solidFill>
                  <a:srgbClr val="FFFFFF"/>
                </a:solidFill>
                <a:latin typeface="Helvetica Neue" pitchFamily="34" charset="0"/>
                <a:ea typeface="Helvetica Neue" pitchFamily="34" charset="-122"/>
                <a:cs typeface="Helvetica Neue" pitchFamily="34" charset="-120"/>
              </a:rPr>
              <a:t>DESIGN LEAD CALL  </a:t>
            </a:r>
            <a:r>
              <a:rPr lang="en-US" sz="1280" dirty="0">
                <a:solidFill>
                  <a:srgbClr val="FFFFFF"/>
                </a:solidFill>
                <a:latin typeface="Helvetica Neue Light" pitchFamily="34" charset="0"/>
                <a:ea typeface="Helvetica Neue Light" pitchFamily="34" charset="-122"/>
                <a:cs typeface="Helvetica Neue Light" pitchFamily="34" charset="-120"/>
              </a:rPr>
              <a:t>Brought teammates’ screens in line with the rules</a:t>
            </a:r>
            <a:endParaRPr lang="en-US" sz="1280" dirty="0"/>
          </a:p>
        </p:txBody>
      </p:sp>
      <p:sp>
        <p:nvSpPr>
          <p:cNvPr id="6" name="Text 4"/>
          <p:cNvSpPr txBox="1"/>
          <p:nvPr/>
        </p:nvSpPr>
        <p:spPr>
          <a:xfrm>
            <a:off x="455168" y="1755648"/>
            <a:ext cx="3932166" cy="3251200"/>
          </a:xfrm>
          <a:prstGeom prst="rect">
            <a:avLst/>
          </a:prstGeom>
          <a:noFill/>
          <a:ln/>
        </p:spPr>
        <p:txBody>
          <a:bodyPr wrap="square" lIns="0" tIns="0" rIns="0" bIns="0" rtlCol="0" anchor="t"/>
          <a:lstStyle/>
          <a:p>
            <a:pPr>
              <a:lnSpc>
                <a:spcPct val="130000"/>
              </a:lnSpc>
              <a:spcAft>
                <a:spcPts val="569"/>
              </a:spcAft>
            </a:pPr>
            <a:r>
              <a:rPr lang="en-US" sz="1991" dirty="0">
                <a:solidFill>
                  <a:srgbClr val="1F1F1F"/>
                </a:solidFill>
                <a:latin typeface="Helvetica Neue Light" pitchFamily="34" charset="0"/>
                <a:ea typeface="Helvetica Neue Light" pitchFamily="34" charset="-122"/>
                <a:cs typeface="Helvetica Neue Light" pitchFamily="34" charset="-120"/>
              </a:rPr>
              <a:t>Alert opened · your plan, your call</a:t>
            </a:r>
            <a:endParaRPr lang="en-US" sz="1991" dirty="0"/>
          </a:p>
          <a:p>
            <a:pPr>
              <a:lnSpc>
                <a:spcPct val="130000"/>
              </a:lnSpc>
            </a:pPr>
            <a:r>
              <a:rPr lang="en-US" sz="1778" dirty="0">
                <a:solidFill>
                  <a:srgbClr val="595959"/>
                </a:solidFill>
                <a:latin typeface="Helvetica Neue Light" pitchFamily="34" charset="0"/>
                <a:ea typeface="Helvetica Neue Light" pitchFamily="34" charset="-122"/>
                <a:cs typeface="Helvetica Neue Light" pitchFamily="34" charset="-120"/>
              </a:rPr>
              <a:t>Reasoning shown as auditable steps, the case against with its base rate (history, n = 38), and the trader’s own plan. It ends at “Open in your broker”.</a:t>
            </a:r>
            <a:endParaRPr lang="en-US" sz="1991" dirty="0"/>
          </a:p>
        </p:txBody>
      </p:sp>
      <p:pic>
        <p:nvPicPr>
          <p:cNvPr id="7" name="Alert opened · your plan, your call" descr="Alert opened · your plan, your call"/>
          <p:cNvPicPr>
            <a:picLocks noChangeAspect="1"/>
          </p:cNvPicPr>
          <p:nvPr/>
        </p:nvPicPr>
        <p:blipFill>
          <a:blip r:embed="rId3"/>
          <a:stretch>
            <a:fillRect/>
          </a:stretch>
        </p:blipFill>
        <p:spPr>
          <a:xfrm>
            <a:off x="5396992" y="1755649"/>
            <a:ext cx="7152640" cy="4770755"/>
          </a:xfrm>
          <a:prstGeom prst="rect">
            <a:avLst/>
          </a:prstGeom>
        </p:spPr>
      </p:pic>
      <p:sp>
        <p:nvSpPr>
          <p:cNvPr id="8" name="Shape 5"/>
          <p:cNvSpPr/>
          <p:nvPr/>
        </p:nvSpPr>
        <p:spPr>
          <a:xfrm>
            <a:off x="5396992" y="1755649"/>
            <a:ext cx="7152640" cy="4770755"/>
          </a:xfrm>
          <a:prstGeom prst="rect">
            <a:avLst/>
          </a:prstGeom>
          <a:ln w="9525">
            <a:solidFill>
              <a:srgbClr val="1F1F1F"/>
            </a:solidFill>
            <a:prstDash val="solid"/>
          </a:ln>
        </p:spPr>
        <p:txBody>
          <a:bodyPr/>
          <a:lstStyle/>
          <a:p>
            <a:endParaRPr sz="2560"/>
          </a:p>
        </p:txBody>
      </p:sp>
      <p:sp>
        <p:nvSpPr>
          <p:cNvPr id="9" name="What we changed"/>
          <p:cNvSpPr/>
          <p:nvPr/>
        </p:nvSpPr>
        <p:spPr>
          <a:xfrm>
            <a:off x="455168" y="6195859"/>
            <a:ext cx="4551680" cy="2582382"/>
          </a:xfrm>
          <a:prstGeom prst="rect">
            <a:avLst/>
          </a:prstGeom>
          <a:solidFill>
            <a:srgbClr val="744A6C"/>
          </a:solidFill>
          <a:ln w="12700">
            <a:solidFill>
              <a:srgbClr val="744A6C"/>
            </a:solidFill>
            <a:prstDash val="solid"/>
          </a:ln>
        </p:spPr>
        <p:txBody>
          <a:bodyPr/>
          <a:lstStyle/>
          <a:p>
            <a:endParaRPr sz="2560"/>
          </a:p>
        </p:txBody>
      </p:sp>
      <p:sp>
        <p:nvSpPr>
          <p:cNvPr id="10" name="Text 7"/>
          <p:cNvSpPr txBox="1"/>
          <p:nvPr/>
        </p:nvSpPr>
        <p:spPr>
          <a:xfrm>
            <a:off x="715264" y="6455954"/>
            <a:ext cx="4031488" cy="2145792"/>
          </a:xfrm>
          <a:prstGeom prst="rect">
            <a:avLst/>
          </a:prstGeom>
          <a:noFill/>
          <a:ln/>
        </p:spPr>
        <p:txBody>
          <a:bodyPr wrap="square" lIns="0" tIns="0" rIns="0" bIns="0" rtlCol="0" anchor="t"/>
          <a:lstStyle/>
          <a:p>
            <a:pPr>
              <a:spcAft>
                <a:spcPts val="853"/>
              </a:spcAft>
            </a:pPr>
            <a:r>
              <a:rPr lang="en-US" sz="1991" dirty="0">
                <a:solidFill>
                  <a:srgbClr val="FFFFFF"/>
                </a:solidFill>
                <a:latin typeface="Helvetica Neue Light" pitchFamily="34" charset="0"/>
                <a:ea typeface="Helvetica Neue Light" pitchFamily="34" charset="-122"/>
                <a:cs typeface="Helvetica Neue Light" pitchFamily="34" charset="-120"/>
              </a:rPr>
              <a:t>What we changed</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Removed the order ticket, sizing and confidence %</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Kept the counter-signal as history, not a forecast</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Skip reasons tune future alerts</a:t>
            </a:r>
            <a:endParaRPr lang="en-US" sz="1991" dirty="0"/>
          </a:p>
        </p:txBody>
      </p:sp>
      <p:sp>
        <p:nvSpPr>
          <p:cNvPr id="11" name="Text 8"/>
          <p:cNvSpPr txBox="1"/>
          <p:nvPr/>
        </p:nvSpPr>
        <p:spPr>
          <a:xfrm>
            <a:off x="5396992" y="6697472"/>
            <a:ext cx="7152640" cy="520192"/>
          </a:xfrm>
          <a:prstGeom prst="rect">
            <a:avLst/>
          </a:prstGeom>
          <a:noFill/>
          <a:ln/>
        </p:spPr>
        <p:txBody>
          <a:bodyPr wrap="square" lIns="0" tIns="0" rIns="0" bIns="0" rtlCol="0" anchor="t"/>
          <a:lstStyle/>
          <a:p>
            <a:r>
              <a:rPr lang="en-US" sz="1422" dirty="0">
                <a:solidFill>
                  <a:srgbClr val="6E6E6E"/>
                </a:solidFill>
                <a:latin typeface="Helvetica Neue" pitchFamily="34" charset="0"/>
                <a:ea typeface="Helvetica Neue" pitchFamily="34" charset="-122"/>
                <a:cs typeface="Helvetica Neue" pitchFamily="34" charset="-120"/>
              </a:rPr>
              <a:t>The Trading Day · alert opened</a:t>
            </a:r>
            <a:endParaRPr lang="en-US" sz="1422" dirty="0"/>
          </a:p>
        </p:txBody>
      </p:sp>
      <p:pic>
        <p:nvPicPr>
          <p:cNvPr id="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Three workflows, one trader’s checkpoint each</a:t>
            </a:r>
            <a:endParaRPr lang="en-US" sz="3200" dirty="0"/>
          </a:p>
        </p:txBody>
      </p:sp>
      <p:sp>
        <p:nvSpPr>
          <p:cNvPr id="4" name="The Trading Day ★"/>
          <p:cNvSpPr/>
          <p:nvPr/>
        </p:nvSpPr>
        <p:spPr>
          <a:xfrm>
            <a:off x="455168" y="1885696"/>
            <a:ext cx="3901440" cy="7022592"/>
          </a:xfrm>
          <a:prstGeom prst="rect">
            <a:avLst/>
          </a:prstGeom>
          <a:solidFill>
            <a:srgbClr val="3A7D55"/>
          </a:solidFill>
          <a:ln w="12700">
            <a:solidFill>
              <a:srgbClr val="3A7D55"/>
            </a:solidFill>
            <a:prstDash val="solid"/>
          </a:ln>
        </p:spPr>
        <p:txBody>
          <a:bodyPr/>
          <a:lstStyle/>
          <a:p>
            <a:endParaRPr sz="2560"/>
          </a:p>
        </p:txBody>
      </p:sp>
      <p:sp>
        <p:nvSpPr>
          <p:cNvPr id="5" name="Text 3"/>
          <p:cNvSpPr txBox="1"/>
          <p:nvPr/>
        </p:nvSpPr>
        <p:spPr>
          <a:xfrm>
            <a:off x="715264" y="2080768"/>
            <a:ext cx="3381248" cy="975360"/>
          </a:xfrm>
          <a:prstGeom prst="rect">
            <a:avLst/>
          </a:prstGeom>
          <a:noFill/>
          <a:ln/>
        </p:spPr>
        <p:txBody>
          <a:bodyPr wrap="square" lIns="0" tIns="0" rIns="0" bIns="0" rtlCol="0" anchor="t"/>
          <a:lstStyle/>
          <a:p>
            <a:r>
              <a:rPr lang="en-US" sz="1280" kern="0" spc="284" dirty="0">
                <a:solidFill>
                  <a:srgbClr val="FFFFFF"/>
                </a:solidFill>
                <a:latin typeface="Helvetica Neue" pitchFamily="34" charset="0"/>
                <a:ea typeface="Helvetica Neue" pitchFamily="34" charset="-122"/>
                <a:cs typeface="Helvetica Neue" pitchFamily="34" charset="-120"/>
              </a:rPr>
              <a:t>TIMELY</a:t>
            </a:r>
            <a:endParaRPr lang="en-US" sz="1991" kern="0" spc="284" dirty="0"/>
          </a:p>
          <a:p>
            <a:r>
              <a:rPr lang="en-US" sz="2418" dirty="0">
                <a:solidFill>
                  <a:srgbClr val="FFFFFF"/>
                </a:solidFill>
                <a:latin typeface="Helvetica Neue Light" pitchFamily="34" charset="0"/>
                <a:ea typeface="Helvetica Neue Light" pitchFamily="34" charset="-122"/>
                <a:cs typeface="Helvetica Neue Light" pitchFamily="34" charset="-120"/>
              </a:rPr>
              <a:t>The Trading Day · the showcase</a:t>
            </a:r>
            <a:endParaRPr lang="en-US" sz="1991" dirty="0"/>
          </a:p>
        </p:txBody>
      </p:sp>
      <p:sp>
        <p:nvSpPr>
          <p:cNvPr id="6" name="Text 4"/>
          <p:cNvSpPr txBox="1"/>
          <p:nvPr/>
        </p:nvSpPr>
        <p:spPr>
          <a:xfrm>
            <a:off x="715264" y="3251200"/>
            <a:ext cx="3381248" cy="3251200"/>
          </a:xfrm>
          <a:prstGeom prst="rect">
            <a:avLst/>
          </a:prstGeom>
          <a:noFill/>
          <a:ln/>
        </p:spPr>
        <p:txBody>
          <a:bodyPr wrap="square" lIns="0" tIns="0" rIns="0" bIns="0" rtlCol="0" anchor="t"/>
          <a:lstStyle/>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1  Evening</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2  Overnight</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3  Before work</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4  During work</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5  After the close</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6  Weekend</a:t>
            </a:r>
            <a:endParaRPr lang="en-US" sz="1849" dirty="0"/>
          </a:p>
        </p:txBody>
      </p:sp>
      <p:sp>
        <p:nvSpPr>
          <p:cNvPr id="7" name="Text 5"/>
          <p:cNvSpPr txBox="1"/>
          <p:nvPr/>
        </p:nvSpPr>
        <p:spPr>
          <a:xfrm>
            <a:off x="715264" y="6502400"/>
            <a:ext cx="3381248" cy="650240"/>
          </a:xfrm>
          <a:prstGeom prst="rect">
            <a:avLst/>
          </a:prstGeom>
          <a:noFill/>
          <a:ln/>
        </p:spPr>
        <p:txBody>
          <a:bodyPr wrap="square" lIns="0" tIns="0" rIns="0" bIns="0" rtlCol="0" anchor="t"/>
          <a:lstStyle/>
          <a:p>
            <a:r>
              <a:rPr lang="en-US" sz="1422" dirty="0">
                <a:solidFill>
                  <a:srgbClr val="FFFFFF"/>
                </a:solidFill>
                <a:latin typeface="Helvetica Neue" pitchFamily="34" charset="0"/>
                <a:ea typeface="Helvetica Neue" pitchFamily="34" charset="-122"/>
                <a:cs typeface="Helvetica Neue" pitchFamily="34" charset="-120"/>
              </a:rPr>
              <a:t>38 features · 8 in the first release · 9 screens</a:t>
            </a:r>
            <a:endParaRPr lang="en-US" sz="1422" dirty="0"/>
          </a:p>
        </p:txBody>
      </p:sp>
      <p:sp>
        <p:nvSpPr>
          <p:cNvPr id="8" name="Text 6"/>
          <p:cNvSpPr txBox="1"/>
          <p:nvPr/>
        </p:nvSpPr>
        <p:spPr>
          <a:xfrm>
            <a:off x="715264" y="7282688"/>
            <a:ext cx="3381248" cy="1430528"/>
          </a:xfrm>
          <a:prstGeom prst="rect">
            <a:avLst/>
          </a:prstGeom>
          <a:noFill/>
          <a:ln/>
        </p:spPr>
        <p:txBody>
          <a:bodyPr wrap="square" lIns="0" tIns="0" rIns="0" bIns="0" rtlCol="0" anchor="t"/>
          <a:lstStyle/>
          <a:p>
            <a:r>
              <a:rPr lang="en-US" sz="1280" dirty="0">
                <a:solidFill>
                  <a:srgbClr val="FFFFFF"/>
                </a:solidFill>
                <a:latin typeface="Helvetica Neue" pitchFamily="34" charset="0"/>
                <a:ea typeface="Helvetica Neue" pitchFamily="34" charset="-122"/>
                <a:cs typeface="Helvetica Neue" pitchFamily="34" charset="-120"/>
              </a:rPr>
              <a:t>Trader’s checkpoint</a:t>
            </a:r>
            <a:endParaRPr lang="en-US" sz="1991" dirty="0"/>
          </a:p>
          <a:p>
            <a:r>
              <a:rPr lang="en-US" sz="1707" dirty="0">
                <a:solidFill>
                  <a:srgbClr val="FFFFFF"/>
                </a:solidFill>
                <a:latin typeface="Helvetica Neue Light" pitchFamily="34" charset="0"/>
                <a:ea typeface="Helvetica Neue Light" pitchFamily="34" charset="-122"/>
                <a:cs typeface="Helvetica Neue Light" pitchFamily="34" charset="-120"/>
              </a:rPr>
              <a:t>Every alert ends at his own call and his broker</a:t>
            </a:r>
            <a:endParaRPr lang="en-US" sz="1991" dirty="0"/>
          </a:p>
        </p:txBody>
      </p:sp>
      <p:sp>
        <p:nvSpPr>
          <p:cNvPr id="9" name="Your Playbook"/>
          <p:cNvSpPr/>
          <p:nvPr/>
        </p:nvSpPr>
        <p:spPr>
          <a:xfrm>
            <a:off x="4525670" y="1885696"/>
            <a:ext cx="3901440" cy="7022592"/>
          </a:xfrm>
          <a:prstGeom prst="rect">
            <a:avLst/>
          </a:prstGeom>
          <a:solidFill>
            <a:srgbClr val="744A6C"/>
          </a:solidFill>
          <a:ln w="12700">
            <a:solidFill>
              <a:srgbClr val="744A6C"/>
            </a:solidFill>
            <a:prstDash val="solid"/>
          </a:ln>
        </p:spPr>
        <p:txBody>
          <a:bodyPr/>
          <a:lstStyle/>
          <a:p>
            <a:endParaRPr sz="2560"/>
          </a:p>
        </p:txBody>
      </p:sp>
      <p:sp>
        <p:nvSpPr>
          <p:cNvPr id="10" name="Text 8"/>
          <p:cNvSpPr txBox="1"/>
          <p:nvPr/>
        </p:nvSpPr>
        <p:spPr>
          <a:xfrm>
            <a:off x="4785766" y="2080768"/>
            <a:ext cx="3381248" cy="975360"/>
          </a:xfrm>
          <a:prstGeom prst="rect">
            <a:avLst/>
          </a:prstGeom>
          <a:noFill/>
          <a:ln/>
        </p:spPr>
        <p:txBody>
          <a:bodyPr wrap="square" lIns="0" tIns="0" rIns="0" bIns="0" rtlCol="0" anchor="t"/>
          <a:lstStyle/>
          <a:p>
            <a:r>
              <a:rPr lang="en-US" sz="1280" kern="0" spc="284" dirty="0">
                <a:solidFill>
                  <a:srgbClr val="FFFFFF"/>
                </a:solidFill>
                <a:latin typeface="Helvetica Neue" pitchFamily="34" charset="0"/>
                <a:ea typeface="Helvetica Neue" pitchFamily="34" charset="-122"/>
                <a:cs typeface="Helvetica Neue" pitchFamily="34" charset="-120"/>
              </a:rPr>
              <a:t>RELEVANT</a:t>
            </a:r>
            <a:endParaRPr lang="en-US" sz="1991" dirty="0"/>
          </a:p>
          <a:p>
            <a:r>
              <a:rPr lang="en-US" sz="2418" dirty="0">
                <a:solidFill>
                  <a:srgbClr val="FFFFFF"/>
                </a:solidFill>
                <a:latin typeface="Helvetica Neue Light" pitchFamily="34" charset="0"/>
                <a:ea typeface="Helvetica Neue Light" pitchFamily="34" charset="-122"/>
                <a:cs typeface="Helvetica Neue Light" pitchFamily="34" charset="-120"/>
              </a:rPr>
              <a:t>Your Playbook</a:t>
            </a:r>
            <a:endParaRPr lang="en-US" sz="1991" dirty="0"/>
          </a:p>
        </p:txBody>
      </p:sp>
      <p:sp>
        <p:nvSpPr>
          <p:cNvPr id="11" name="Text 9"/>
          <p:cNvSpPr txBox="1"/>
          <p:nvPr/>
        </p:nvSpPr>
        <p:spPr>
          <a:xfrm>
            <a:off x="4785766" y="3251200"/>
            <a:ext cx="3381248" cy="3251200"/>
          </a:xfrm>
          <a:prstGeom prst="rect">
            <a:avLst/>
          </a:prstGeom>
          <a:noFill/>
          <a:ln/>
        </p:spPr>
        <p:txBody>
          <a:bodyPr wrap="square" lIns="0" tIns="0" rIns="0" bIns="0" rtlCol="0" anchor="t"/>
          <a:lstStyle/>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1  Seed</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2  Notice</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3  Own</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4  Test</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5  Use</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6  Reflect</a:t>
            </a:r>
            <a:endParaRPr lang="en-US" sz="1849" dirty="0"/>
          </a:p>
        </p:txBody>
      </p:sp>
      <p:sp>
        <p:nvSpPr>
          <p:cNvPr id="12" name="Text 10"/>
          <p:cNvSpPr txBox="1"/>
          <p:nvPr/>
        </p:nvSpPr>
        <p:spPr>
          <a:xfrm>
            <a:off x="4785766" y="6502400"/>
            <a:ext cx="3381248" cy="650240"/>
          </a:xfrm>
          <a:prstGeom prst="rect">
            <a:avLst/>
          </a:prstGeom>
          <a:noFill/>
          <a:ln/>
        </p:spPr>
        <p:txBody>
          <a:bodyPr wrap="square" lIns="0" tIns="0" rIns="0" bIns="0" rtlCol="0" anchor="t"/>
          <a:lstStyle/>
          <a:p>
            <a:r>
              <a:rPr lang="en-US" sz="1422" dirty="0">
                <a:solidFill>
                  <a:srgbClr val="FFFFFF"/>
                </a:solidFill>
                <a:latin typeface="Helvetica Neue" pitchFamily="34" charset="0"/>
                <a:ea typeface="Helvetica Neue" pitchFamily="34" charset="-122"/>
                <a:cs typeface="Helvetica Neue" pitchFamily="34" charset="-120"/>
              </a:rPr>
              <a:t>18 features · 6 in the first release · 8 screens</a:t>
            </a:r>
            <a:endParaRPr lang="en-US" sz="1422" dirty="0"/>
          </a:p>
        </p:txBody>
      </p:sp>
      <p:sp>
        <p:nvSpPr>
          <p:cNvPr id="13" name="Text 11"/>
          <p:cNvSpPr txBox="1"/>
          <p:nvPr/>
        </p:nvSpPr>
        <p:spPr>
          <a:xfrm>
            <a:off x="4785766" y="7282688"/>
            <a:ext cx="3381248" cy="1430528"/>
          </a:xfrm>
          <a:prstGeom prst="rect">
            <a:avLst/>
          </a:prstGeom>
          <a:noFill/>
          <a:ln/>
        </p:spPr>
        <p:txBody>
          <a:bodyPr wrap="square" lIns="0" tIns="0" rIns="0" bIns="0" rtlCol="0" anchor="t"/>
          <a:lstStyle/>
          <a:p>
            <a:r>
              <a:rPr lang="en-US" sz="1280" dirty="0">
                <a:solidFill>
                  <a:srgbClr val="FFFFFF"/>
                </a:solidFill>
                <a:latin typeface="Helvetica Neue" pitchFamily="34" charset="0"/>
                <a:ea typeface="Helvetica Neue" pitchFamily="34" charset="-122"/>
                <a:cs typeface="Helvetica Neue" pitchFamily="34" charset="-120"/>
              </a:rPr>
              <a:t>Trader’s checkpoint</a:t>
            </a:r>
            <a:endParaRPr lang="en-US" sz="1991" dirty="0"/>
          </a:p>
          <a:p>
            <a:r>
              <a:rPr lang="en-US" sz="1707" dirty="0">
                <a:solidFill>
                  <a:srgbClr val="FFFFFF"/>
                </a:solidFill>
                <a:latin typeface="Helvetica Neue Light" pitchFamily="34" charset="0"/>
                <a:ea typeface="Helvetica Neue Light" pitchFamily="34" charset="-122"/>
                <a:cs typeface="Helvetica Neue Light" pitchFamily="34" charset="-120"/>
              </a:rPr>
              <a:t>Nothing enters the playbook until he taps “Add”</a:t>
            </a:r>
            <a:endParaRPr lang="en-US" sz="1991" dirty="0"/>
          </a:p>
        </p:txBody>
      </p:sp>
      <p:sp>
        <p:nvSpPr>
          <p:cNvPr id="14" name="The Decision Board"/>
          <p:cNvSpPr/>
          <p:nvPr/>
        </p:nvSpPr>
        <p:spPr>
          <a:xfrm>
            <a:off x="8596173" y="1885696"/>
            <a:ext cx="3901440" cy="7022592"/>
          </a:xfrm>
          <a:prstGeom prst="rect">
            <a:avLst/>
          </a:prstGeom>
          <a:solidFill>
            <a:srgbClr val="A12A37"/>
          </a:solidFill>
          <a:ln w="12700">
            <a:solidFill>
              <a:srgbClr val="A12A37"/>
            </a:solidFill>
            <a:prstDash val="solid"/>
          </a:ln>
        </p:spPr>
        <p:txBody>
          <a:bodyPr/>
          <a:lstStyle/>
          <a:p>
            <a:endParaRPr sz="2560"/>
          </a:p>
        </p:txBody>
      </p:sp>
      <p:sp>
        <p:nvSpPr>
          <p:cNvPr id="15" name="Text 13"/>
          <p:cNvSpPr txBox="1"/>
          <p:nvPr/>
        </p:nvSpPr>
        <p:spPr>
          <a:xfrm>
            <a:off x="8856269" y="2080768"/>
            <a:ext cx="3381248" cy="975360"/>
          </a:xfrm>
          <a:prstGeom prst="rect">
            <a:avLst/>
          </a:prstGeom>
          <a:noFill/>
          <a:ln/>
        </p:spPr>
        <p:txBody>
          <a:bodyPr wrap="square" lIns="0" tIns="0" rIns="0" bIns="0" rtlCol="0" anchor="t"/>
          <a:lstStyle/>
          <a:p>
            <a:r>
              <a:rPr lang="en-US" sz="1280" kern="0" spc="284" dirty="0">
                <a:solidFill>
                  <a:srgbClr val="FFFFFF"/>
                </a:solidFill>
                <a:latin typeface="Helvetica Neue" pitchFamily="34" charset="0"/>
                <a:ea typeface="Helvetica Neue" pitchFamily="34" charset="-122"/>
                <a:cs typeface="Helvetica Neue" pitchFamily="34" charset="-120"/>
              </a:rPr>
              <a:t>ACTIONABLE</a:t>
            </a:r>
            <a:endParaRPr lang="en-US" sz="1991" dirty="0"/>
          </a:p>
          <a:p>
            <a:r>
              <a:rPr lang="en-US" sz="2418" dirty="0">
                <a:solidFill>
                  <a:srgbClr val="FFFFFF"/>
                </a:solidFill>
                <a:latin typeface="Helvetica Neue Light" pitchFamily="34" charset="0"/>
                <a:ea typeface="Helvetica Neue Light" pitchFamily="34" charset="-122"/>
                <a:cs typeface="Helvetica Neue Light" pitchFamily="34" charset="-120"/>
              </a:rPr>
              <a:t>The Decision Board</a:t>
            </a:r>
            <a:endParaRPr lang="en-US" sz="1991" dirty="0"/>
          </a:p>
        </p:txBody>
      </p:sp>
      <p:sp>
        <p:nvSpPr>
          <p:cNvPr id="16" name="Text 14"/>
          <p:cNvSpPr txBox="1"/>
          <p:nvPr/>
        </p:nvSpPr>
        <p:spPr>
          <a:xfrm>
            <a:off x="8856269" y="3251200"/>
            <a:ext cx="3381248" cy="3251200"/>
          </a:xfrm>
          <a:prstGeom prst="rect">
            <a:avLst/>
          </a:prstGeom>
          <a:noFill/>
          <a:ln/>
        </p:spPr>
        <p:txBody>
          <a:bodyPr wrap="square" lIns="0" tIns="0" rIns="0" bIns="0" rtlCol="0" anchor="t"/>
          <a:lstStyle/>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1  Select</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2  Assemble</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3  Compare &amp; question</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4  Decide</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5  Hand off &amp; watch</a:t>
            </a:r>
            <a:endParaRPr lang="en-US" sz="1849" dirty="0"/>
          </a:p>
        </p:txBody>
      </p:sp>
      <p:sp>
        <p:nvSpPr>
          <p:cNvPr id="17" name="Text 15"/>
          <p:cNvSpPr txBox="1"/>
          <p:nvPr/>
        </p:nvSpPr>
        <p:spPr>
          <a:xfrm>
            <a:off x="8856269" y="6502400"/>
            <a:ext cx="3381248" cy="650240"/>
          </a:xfrm>
          <a:prstGeom prst="rect">
            <a:avLst/>
          </a:prstGeom>
          <a:noFill/>
          <a:ln/>
        </p:spPr>
        <p:txBody>
          <a:bodyPr wrap="square" lIns="0" tIns="0" rIns="0" bIns="0" rtlCol="0" anchor="t"/>
          <a:lstStyle/>
          <a:p>
            <a:r>
              <a:rPr lang="en-US" sz="1422" dirty="0">
                <a:solidFill>
                  <a:srgbClr val="FFFFFF"/>
                </a:solidFill>
                <a:latin typeface="Helvetica Neue" pitchFamily="34" charset="0"/>
                <a:ea typeface="Helvetica Neue" pitchFamily="34" charset="-122"/>
                <a:cs typeface="Helvetica Neue" pitchFamily="34" charset="-120"/>
              </a:rPr>
              <a:t>20 features · 5 in the first release · 7 screens</a:t>
            </a:r>
            <a:endParaRPr lang="en-US" sz="1422" dirty="0"/>
          </a:p>
        </p:txBody>
      </p:sp>
      <p:sp>
        <p:nvSpPr>
          <p:cNvPr id="18" name="Text 16"/>
          <p:cNvSpPr txBox="1"/>
          <p:nvPr/>
        </p:nvSpPr>
        <p:spPr>
          <a:xfrm>
            <a:off x="8856269" y="7282688"/>
            <a:ext cx="3381248" cy="1430528"/>
          </a:xfrm>
          <a:prstGeom prst="rect">
            <a:avLst/>
          </a:prstGeom>
          <a:noFill/>
          <a:ln/>
        </p:spPr>
        <p:txBody>
          <a:bodyPr wrap="square" lIns="0" tIns="0" rIns="0" bIns="0" rtlCol="0" anchor="t"/>
          <a:lstStyle/>
          <a:p>
            <a:r>
              <a:rPr lang="en-US" sz="1280" dirty="0">
                <a:solidFill>
                  <a:srgbClr val="FFFFFF"/>
                </a:solidFill>
                <a:latin typeface="Helvetica Neue" pitchFamily="34" charset="0"/>
                <a:ea typeface="Helvetica Neue" pitchFamily="34" charset="-122"/>
                <a:cs typeface="Helvetica Neue" pitchFamily="34" charset="-120"/>
              </a:rPr>
              <a:t>Trader’s checkpoint</a:t>
            </a:r>
            <a:endParaRPr lang="en-US" sz="1991" dirty="0"/>
          </a:p>
          <a:p>
            <a:r>
              <a:rPr lang="en-US" sz="1707" dirty="0">
                <a:solidFill>
                  <a:srgbClr val="FFFFFF"/>
                </a:solidFill>
                <a:latin typeface="Helvetica Neue Light" pitchFamily="34" charset="0"/>
                <a:ea typeface="Helvetica Neue Light" pitchFamily="34" charset="-122"/>
                <a:cs typeface="Helvetica Neue Light" pitchFamily="34" charset="-120"/>
              </a:rPr>
              <a:t>Every board ends in a decision he writes</a:t>
            </a:r>
            <a:endParaRPr lang="en-US" sz="1991" dirty="0"/>
          </a:p>
        </p:txBody>
      </p:sp>
      <p:pic>
        <p:nvPicPr>
          <p:cNvPr id="19"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Your Playbook workflow</a:t>
            </a:r>
            <a:endParaRPr lang="en-US" sz="3200" dirty="0"/>
          </a:p>
        </p:txBody>
      </p:sp>
      <p:sp>
        <p:nvSpPr>
          <p:cNvPr id="4" name="Text 2"/>
          <p:cNvSpPr txBox="1"/>
          <p:nvPr/>
        </p:nvSpPr>
        <p:spPr>
          <a:xfrm>
            <a:off x="455168" y="1625600"/>
            <a:ext cx="12094464" cy="780288"/>
          </a:xfrm>
          <a:prstGeom prst="rect">
            <a:avLst/>
          </a:prstGeom>
          <a:noFill/>
          <a:ln/>
        </p:spPr>
        <p:txBody>
          <a:bodyPr wrap="square" lIns="0" tIns="0" rIns="0" bIns="0" rtlCol="0" anchor="t"/>
          <a:lstStyle/>
          <a:p>
            <a:r>
              <a:rPr lang="en-US" sz="1849" dirty="0">
                <a:solidFill>
                  <a:srgbClr val="595959"/>
                </a:solidFill>
                <a:latin typeface="Helvetica Neue Light" pitchFamily="34" charset="0"/>
                <a:ea typeface="Helvetica Neue Light" pitchFamily="34" charset="-122"/>
                <a:cs typeface="Helvetica Neue Light" pitchFamily="34" charset="-120"/>
              </a:rPr>
              <a:t>FinViz drafts and asks; the trader owns every entry. The playbook grows from what he already does, never from what FinViz thinks he should do.</a:t>
            </a:r>
            <a:endParaRPr lang="en-US" sz="1849" dirty="0"/>
          </a:p>
        </p:txBody>
      </p:sp>
      <p:sp>
        <p:nvSpPr>
          <p:cNvPr id="5" name="Seed"/>
          <p:cNvSpPr/>
          <p:nvPr/>
        </p:nvSpPr>
        <p:spPr>
          <a:xfrm>
            <a:off x="455168" y="2535936"/>
            <a:ext cx="1885696" cy="2405888"/>
          </a:xfrm>
          <a:prstGeom prst="rect">
            <a:avLst/>
          </a:prstGeom>
          <a:solidFill>
            <a:srgbClr val="744A6C"/>
          </a:solidFill>
          <a:ln w="12700">
            <a:solidFill>
              <a:srgbClr val="744A6C"/>
            </a:solidFill>
            <a:prstDash val="solid"/>
          </a:ln>
        </p:spPr>
        <p:txBody>
          <a:bodyPr/>
          <a:lstStyle/>
          <a:p>
            <a:endParaRPr sz="2560"/>
          </a:p>
        </p:txBody>
      </p:sp>
      <p:sp>
        <p:nvSpPr>
          <p:cNvPr id="6" name="Text 4"/>
          <p:cNvSpPr txBox="1"/>
          <p:nvPr/>
        </p:nvSpPr>
        <p:spPr>
          <a:xfrm>
            <a:off x="611225" y="2665984"/>
            <a:ext cx="1573581"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1 · Seed</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Imports, saved screens and inline answers become draft entries, each showing its source</a:t>
            </a:r>
            <a:endParaRPr lang="en-US" sz="1991" dirty="0"/>
          </a:p>
        </p:txBody>
      </p:sp>
      <p:sp>
        <p:nvSpPr>
          <p:cNvPr id="7" name="Notice"/>
          <p:cNvSpPr/>
          <p:nvPr/>
        </p:nvSpPr>
        <p:spPr>
          <a:xfrm>
            <a:off x="2496922" y="2535936"/>
            <a:ext cx="1885696" cy="2405888"/>
          </a:xfrm>
          <a:prstGeom prst="rect">
            <a:avLst/>
          </a:prstGeom>
          <a:solidFill>
            <a:srgbClr val="744A6C"/>
          </a:solidFill>
          <a:ln w="12700">
            <a:solidFill>
              <a:srgbClr val="744A6C"/>
            </a:solidFill>
            <a:prstDash val="solid"/>
          </a:ln>
        </p:spPr>
        <p:txBody>
          <a:bodyPr/>
          <a:lstStyle/>
          <a:p>
            <a:endParaRPr sz="2560"/>
          </a:p>
        </p:txBody>
      </p:sp>
      <p:sp>
        <p:nvSpPr>
          <p:cNvPr id="8" name="Text 6"/>
          <p:cNvSpPr txBox="1"/>
          <p:nvPr/>
        </p:nvSpPr>
        <p:spPr>
          <a:xfrm>
            <a:off x="2652979" y="2665984"/>
            <a:ext cx="1573581"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2 · Notice</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A repeated pattern becomes one question: “Add ‘No earnings risk’?” Add, or Not a rule</a:t>
            </a:r>
            <a:endParaRPr lang="en-US" sz="1991" dirty="0"/>
          </a:p>
        </p:txBody>
      </p:sp>
      <p:sp>
        <p:nvSpPr>
          <p:cNvPr id="9" name="Own"/>
          <p:cNvSpPr/>
          <p:nvPr/>
        </p:nvSpPr>
        <p:spPr>
          <a:xfrm>
            <a:off x="4538675" y="2535936"/>
            <a:ext cx="1885696" cy="2405888"/>
          </a:xfrm>
          <a:prstGeom prst="rect">
            <a:avLst/>
          </a:prstGeom>
          <a:solidFill>
            <a:srgbClr val="744A6C"/>
          </a:solidFill>
          <a:ln w="12700">
            <a:solidFill>
              <a:srgbClr val="744A6C"/>
            </a:solidFill>
            <a:prstDash val="solid"/>
          </a:ln>
        </p:spPr>
        <p:txBody>
          <a:bodyPr/>
          <a:lstStyle/>
          <a:p>
            <a:endParaRPr sz="2560"/>
          </a:p>
        </p:txBody>
      </p:sp>
      <p:sp>
        <p:nvSpPr>
          <p:cNvPr id="10" name="Text 8"/>
          <p:cNvSpPr txBox="1"/>
          <p:nvPr/>
        </p:nvSpPr>
        <p:spPr>
          <a:xfrm>
            <a:off x="4694733" y="2665984"/>
            <a:ext cx="1573581"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3 · Own</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Every entry visible, editable, versioned and deletable</a:t>
            </a:r>
            <a:endParaRPr lang="en-US" sz="1991" dirty="0"/>
          </a:p>
        </p:txBody>
      </p:sp>
      <p:sp>
        <p:nvSpPr>
          <p:cNvPr id="11" name="Test"/>
          <p:cNvSpPr/>
          <p:nvPr/>
        </p:nvSpPr>
        <p:spPr>
          <a:xfrm>
            <a:off x="6580429" y="2535936"/>
            <a:ext cx="1885696" cy="2405888"/>
          </a:xfrm>
          <a:prstGeom prst="rect">
            <a:avLst/>
          </a:prstGeom>
          <a:solidFill>
            <a:srgbClr val="744A6C"/>
          </a:solidFill>
          <a:ln w="12700">
            <a:solidFill>
              <a:srgbClr val="744A6C"/>
            </a:solidFill>
            <a:prstDash val="solid"/>
          </a:ln>
        </p:spPr>
        <p:txBody>
          <a:bodyPr/>
          <a:lstStyle/>
          <a:p>
            <a:endParaRPr sz="2560"/>
          </a:p>
        </p:txBody>
      </p:sp>
      <p:sp>
        <p:nvSpPr>
          <p:cNvPr id="12" name="Text 10"/>
          <p:cNvSpPr txBox="1"/>
          <p:nvPr/>
        </p:nvSpPr>
        <p:spPr>
          <a:xfrm>
            <a:off x="6736486" y="2665984"/>
            <a:ext cx="1573581"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4 · Test</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One-tap backtest: matches and moves with sample size, as history</a:t>
            </a:r>
            <a:endParaRPr lang="en-US" sz="1991" dirty="0"/>
          </a:p>
        </p:txBody>
      </p:sp>
      <p:sp>
        <p:nvSpPr>
          <p:cNvPr id="13" name="Use"/>
          <p:cNvSpPr/>
          <p:nvPr/>
        </p:nvSpPr>
        <p:spPr>
          <a:xfrm>
            <a:off x="8622182" y="2535936"/>
            <a:ext cx="1885696" cy="2405888"/>
          </a:xfrm>
          <a:prstGeom prst="rect">
            <a:avLst/>
          </a:prstGeom>
          <a:solidFill>
            <a:srgbClr val="744A6C"/>
          </a:solidFill>
          <a:ln w="12700">
            <a:solidFill>
              <a:srgbClr val="744A6C"/>
            </a:solidFill>
            <a:prstDash val="solid"/>
          </a:ln>
        </p:spPr>
        <p:txBody>
          <a:bodyPr/>
          <a:lstStyle/>
          <a:p>
            <a:endParaRPr sz="2560"/>
          </a:p>
        </p:txBody>
      </p:sp>
      <p:sp>
        <p:nvSpPr>
          <p:cNvPr id="14" name="Text 12"/>
          <p:cNvSpPr txBox="1"/>
          <p:nvPr/>
        </p:nvSpPr>
        <p:spPr>
          <a:xfrm>
            <a:off x="8778240" y="2665984"/>
            <a:ext cx="1573581"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5 · Use</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Screens, alerts and reasons speak the entry’s words</a:t>
            </a:r>
            <a:endParaRPr lang="en-US" sz="1991" dirty="0"/>
          </a:p>
        </p:txBody>
      </p:sp>
      <p:sp>
        <p:nvSpPr>
          <p:cNvPr id="15" name="Reflect"/>
          <p:cNvSpPr/>
          <p:nvPr/>
        </p:nvSpPr>
        <p:spPr>
          <a:xfrm>
            <a:off x="10663936" y="2535936"/>
            <a:ext cx="1885696" cy="2405888"/>
          </a:xfrm>
          <a:prstGeom prst="rect">
            <a:avLst/>
          </a:prstGeom>
          <a:solidFill>
            <a:srgbClr val="744A6C"/>
          </a:solidFill>
          <a:ln w="12700">
            <a:solidFill>
              <a:srgbClr val="744A6C"/>
            </a:solidFill>
            <a:prstDash val="solid"/>
          </a:ln>
        </p:spPr>
        <p:txBody>
          <a:bodyPr/>
          <a:lstStyle/>
          <a:p>
            <a:endParaRPr sz="2560"/>
          </a:p>
        </p:txBody>
      </p:sp>
      <p:sp>
        <p:nvSpPr>
          <p:cNvPr id="16" name="Text 14"/>
          <p:cNvSpPr txBox="1"/>
          <p:nvPr/>
        </p:nvSpPr>
        <p:spPr>
          <a:xfrm>
            <a:off x="10819994" y="2665984"/>
            <a:ext cx="1573581"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6 · Reflect</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Opt-in: his trades vs his own rules, never advice</a:t>
            </a:r>
            <a:endParaRPr lang="en-US" sz="1991" dirty="0"/>
          </a:p>
        </p:txBody>
      </p:sp>
      <p:sp>
        <p:nvSpPr>
          <p:cNvPr id="17" name="Text 15"/>
          <p:cNvSpPr txBox="1"/>
          <p:nvPr/>
        </p:nvSpPr>
        <p:spPr>
          <a:xfrm>
            <a:off x="455168" y="5266944"/>
            <a:ext cx="6502400" cy="455168"/>
          </a:xfrm>
          <a:prstGeom prst="rect">
            <a:avLst/>
          </a:prstGeom>
          <a:noFill/>
          <a:ln/>
        </p:spPr>
        <p:txBody>
          <a:bodyPr wrap="square" lIns="0" tIns="0" rIns="0" bIns="0" rtlCol="0" anchor="t"/>
          <a:lstStyle/>
          <a:p>
            <a:r>
              <a:rPr lang="en-US" sz="2133" dirty="0">
                <a:solidFill>
                  <a:srgbClr val="1F1F1F"/>
                </a:solidFill>
                <a:latin typeface="Helvetica Neue Light" pitchFamily="34" charset="0"/>
                <a:ea typeface="Helvetica Neue Light" pitchFamily="34" charset="-122"/>
                <a:cs typeface="Helvetica Neue Light" pitchFamily="34" charset="-120"/>
              </a:rPr>
              <a:t>First-release screen flow</a:t>
            </a:r>
            <a:endParaRPr lang="en-US" sz="2133" dirty="0"/>
          </a:p>
        </p:txBody>
      </p:sp>
      <p:sp>
        <p:nvSpPr>
          <p:cNvPr id="18" name="Text 16"/>
          <p:cNvSpPr txBox="1"/>
          <p:nvPr/>
        </p:nvSpPr>
        <p:spPr>
          <a:xfrm>
            <a:off x="455168" y="5852160"/>
            <a:ext cx="5917184" cy="3251200"/>
          </a:xfrm>
          <a:prstGeom prst="rect">
            <a:avLst/>
          </a:prstGeom>
          <a:noFill/>
          <a:ln/>
        </p:spPr>
        <p:txBody>
          <a:bodyPr wrap="square" lIns="0" tIns="0" rIns="0" bIns="0" rtlCol="0" anchor="t"/>
          <a:lstStyle/>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①  </a:t>
            </a:r>
            <a:r>
              <a:rPr lang="en-US" sz="1564" dirty="0">
                <a:solidFill>
                  <a:srgbClr val="1F1F1F"/>
                </a:solidFill>
                <a:latin typeface="Helvetica Neue Light" pitchFamily="34" charset="0"/>
                <a:ea typeface="Helvetica Neue Light" pitchFamily="34" charset="-122"/>
                <a:cs typeface="Helvetica Neue Light" pitchFamily="34" charset="-120"/>
              </a:rPr>
              <a:t>A suggestion appears after the 6th similar screen</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②  </a:t>
            </a:r>
            <a:r>
              <a:rPr lang="en-US" sz="1564" dirty="0">
                <a:solidFill>
                  <a:srgbClr val="1F1F1F"/>
                </a:solidFill>
                <a:latin typeface="Helvetica Neue Light" pitchFamily="34" charset="0"/>
                <a:ea typeface="Helvetica Neue Light" pitchFamily="34" charset="-122"/>
                <a:cs typeface="Helvetica Neue Light" pitchFamily="34" charset="-120"/>
              </a:rPr>
              <a:t>Name it: editable definition chips</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③  </a:t>
            </a:r>
            <a:r>
              <a:rPr lang="en-US" sz="1564" dirty="0">
                <a:solidFill>
                  <a:srgbClr val="1F1F1F"/>
                </a:solidFill>
                <a:latin typeface="Helvetica Neue Light" pitchFamily="34" charset="0"/>
                <a:ea typeface="Helvetica Neue Light" pitchFamily="34" charset="-122"/>
                <a:cs typeface="Helvetica Neue Light" pitchFamily="34" charset="-120"/>
              </a:rPr>
              <a:t>Your Playbook page: source and where used</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④  </a:t>
            </a:r>
            <a:r>
              <a:rPr lang="en-US" sz="1564" dirty="0">
                <a:solidFill>
                  <a:srgbClr val="1F1F1F"/>
                </a:solidFill>
                <a:latin typeface="Helvetica Neue Light" pitchFamily="34" charset="0"/>
                <a:ea typeface="Helvetica Neue Light" pitchFamily="34" charset="-122"/>
                <a:cs typeface="Helvetica Neue Light" pitchFamily="34" charset="-120"/>
              </a:rPr>
              <a:t>Entry detail: version history and Undo</a:t>
            </a:r>
            <a:endParaRPr lang="en-US" sz="1564" dirty="0"/>
          </a:p>
        </p:txBody>
      </p:sp>
      <p:sp>
        <p:nvSpPr>
          <p:cNvPr id="19" name="Text 17"/>
          <p:cNvSpPr txBox="1"/>
          <p:nvPr/>
        </p:nvSpPr>
        <p:spPr>
          <a:xfrm>
            <a:off x="6632448" y="5852160"/>
            <a:ext cx="5917184" cy="3251200"/>
          </a:xfrm>
          <a:prstGeom prst="rect">
            <a:avLst/>
          </a:prstGeom>
          <a:noFill/>
          <a:ln/>
        </p:spPr>
        <p:txBody>
          <a:bodyPr wrap="square" lIns="0" tIns="0" rIns="0" bIns="0" rtlCol="0" anchor="t"/>
          <a:lstStyle/>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⑤  </a:t>
            </a:r>
            <a:r>
              <a:rPr lang="en-US" sz="1564" dirty="0">
                <a:solidFill>
                  <a:srgbClr val="1F1F1F"/>
                </a:solidFill>
                <a:latin typeface="Helvetica Neue Light" pitchFamily="34" charset="0"/>
                <a:ea typeface="Helvetica Neue Light" pitchFamily="34" charset="-122"/>
                <a:cs typeface="Helvetica Neue Light" pitchFamily="34" charset="-120"/>
              </a:rPr>
              <a:t>Test this setup: the earned Elite moment</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⑥  </a:t>
            </a:r>
            <a:r>
              <a:rPr lang="en-US" sz="1564" dirty="0">
                <a:solidFill>
                  <a:srgbClr val="1F1F1F"/>
                </a:solidFill>
                <a:latin typeface="Helvetica Neue Light" pitchFamily="34" charset="0"/>
                <a:ea typeface="Helvetica Neue Light" pitchFamily="34" charset="-122"/>
                <a:cs typeface="Helvetica Neue Light" pitchFamily="34" charset="-120"/>
              </a:rPr>
              <a:t>Screen from the entry, closest to your setup</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⑦  </a:t>
            </a:r>
            <a:r>
              <a:rPr lang="en-US" sz="1564" dirty="0">
                <a:solidFill>
                  <a:srgbClr val="1F1F1F"/>
                </a:solidFill>
                <a:latin typeface="Helvetica Neue Light" pitchFamily="34" charset="0"/>
                <a:ea typeface="Helvetica Neue Light" pitchFamily="34" charset="-122"/>
                <a:cs typeface="Helvetica Neue Light" pitchFamily="34" charset="-120"/>
              </a:rPr>
              <a:t>An alert in your words</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⑧  </a:t>
            </a:r>
            <a:r>
              <a:rPr lang="en-US" sz="1564" dirty="0">
                <a:solidFill>
                  <a:srgbClr val="1F1F1F"/>
                </a:solidFill>
                <a:latin typeface="Helvetica Neue Light" pitchFamily="34" charset="0"/>
                <a:ea typeface="Helvetica Neue Light" pitchFamily="34" charset="-122"/>
                <a:cs typeface="Helvetica Neue Light" pitchFamily="34" charset="-120"/>
              </a:rPr>
              <a:t>Monthly reflection (later)</a:t>
            </a:r>
            <a:endParaRPr lang="en-US" sz="1564" dirty="0"/>
          </a:p>
        </p:txBody>
      </p:sp>
      <p:pic>
        <p:nvPicPr>
          <p:cNvPr id="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The Decision Board workflow</a:t>
            </a:r>
            <a:endParaRPr lang="en-US" sz="3200" dirty="0"/>
          </a:p>
        </p:txBody>
      </p:sp>
      <p:sp>
        <p:nvSpPr>
          <p:cNvPr id="4" name="Text 2"/>
          <p:cNvSpPr txBox="1"/>
          <p:nvPr/>
        </p:nvSpPr>
        <p:spPr>
          <a:xfrm>
            <a:off x="455168" y="1625600"/>
            <a:ext cx="12094464" cy="780288"/>
          </a:xfrm>
          <a:prstGeom prst="rect">
            <a:avLst/>
          </a:prstGeom>
          <a:noFill/>
          <a:ln/>
        </p:spPr>
        <p:txBody>
          <a:bodyPr wrap="square" lIns="0" tIns="0" rIns="0" bIns="0" rtlCol="0" anchor="t"/>
          <a:lstStyle/>
          <a:p>
            <a:r>
              <a:rPr lang="en-US" sz="1849" dirty="0">
                <a:solidFill>
                  <a:srgbClr val="595959"/>
                </a:solidFill>
                <a:latin typeface="Helvetica Neue Light" pitchFamily="34" charset="0"/>
                <a:ea typeface="Helvetica Neue Light" pitchFamily="34" charset="-122"/>
                <a:cs typeface="Helvetica Neue Light" pitchFamily="34" charset="-120"/>
              </a:rPr>
              <a:t>From 3 matches at night to a written decision, a broker hand-off and watches the next morning. The AI assembles and compares; the trader decides.</a:t>
            </a:r>
            <a:endParaRPr lang="en-US" sz="1849" dirty="0"/>
          </a:p>
        </p:txBody>
      </p:sp>
      <p:sp>
        <p:nvSpPr>
          <p:cNvPr id="5" name="Select"/>
          <p:cNvSpPr/>
          <p:nvPr/>
        </p:nvSpPr>
        <p:spPr>
          <a:xfrm>
            <a:off x="455168" y="2535936"/>
            <a:ext cx="2294047" cy="2405888"/>
          </a:xfrm>
          <a:prstGeom prst="rect">
            <a:avLst/>
          </a:prstGeom>
          <a:solidFill>
            <a:srgbClr val="A12A37"/>
          </a:solidFill>
          <a:ln w="12700">
            <a:solidFill>
              <a:srgbClr val="A12A37"/>
            </a:solidFill>
            <a:prstDash val="solid"/>
          </a:ln>
        </p:spPr>
        <p:txBody>
          <a:bodyPr/>
          <a:lstStyle/>
          <a:p>
            <a:endParaRPr sz="2560"/>
          </a:p>
        </p:txBody>
      </p:sp>
      <p:sp>
        <p:nvSpPr>
          <p:cNvPr id="6" name="Text 4"/>
          <p:cNvSpPr txBox="1"/>
          <p:nvPr/>
        </p:nvSpPr>
        <p:spPr>
          <a:xfrm>
            <a:off x="611226" y="2665984"/>
            <a:ext cx="1981932"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1 · Select</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Check 2–8 rows, the whole screen or the shortlist → send to board</a:t>
            </a:r>
            <a:endParaRPr lang="en-US" sz="1991" dirty="0"/>
          </a:p>
        </p:txBody>
      </p:sp>
      <p:sp>
        <p:nvSpPr>
          <p:cNvPr id="7" name="Assemble"/>
          <p:cNvSpPr/>
          <p:nvPr/>
        </p:nvSpPr>
        <p:spPr>
          <a:xfrm>
            <a:off x="2905273" y="2535936"/>
            <a:ext cx="2294047" cy="2405888"/>
          </a:xfrm>
          <a:prstGeom prst="rect">
            <a:avLst/>
          </a:prstGeom>
          <a:solidFill>
            <a:srgbClr val="A12A37"/>
          </a:solidFill>
          <a:ln w="12700">
            <a:solidFill>
              <a:srgbClr val="A12A37"/>
            </a:solidFill>
            <a:prstDash val="solid"/>
          </a:ln>
        </p:spPr>
        <p:txBody>
          <a:bodyPr/>
          <a:lstStyle/>
          <a:p>
            <a:endParaRPr sz="2560"/>
          </a:p>
        </p:txBody>
      </p:sp>
      <p:sp>
        <p:nvSpPr>
          <p:cNvPr id="8" name="Text 6"/>
          <p:cNvSpPr txBox="1"/>
          <p:nvPr/>
        </p:nvSpPr>
        <p:spPr>
          <a:xfrm>
            <a:off x="3061331" y="2665984"/>
            <a:ext cx="1981932"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2 · Assemble</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Sourced evidence cards per stock, including the evidence against his setup</a:t>
            </a:r>
            <a:endParaRPr lang="en-US" sz="1991" dirty="0"/>
          </a:p>
        </p:txBody>
      </p:sp>
      <p:sp>
        <p:nvSpPr>
          <p:cNvPr id="9" name="Compare &amp; question"/>
          <p:cNvSpPr/>
          <p:nvPr/>
        </p:nvSpPr>
        <p:spPr>
          <a:xfrm>
            <a:off x="5355377" y="2535936"/>
            <a:ext cx="2294047" cy="2405888"/>
          </a:xfrm>
          <a:prstGeom prst="rect">
            <a:avLst/>
          </a:prstGeom>
          <a:solidFill>
            <a:srgbClr val="A12A37"/>
          </a:solidFill>
          <a:ln w="12700">
            <a:solidFill>
              <a:srgbClr val="A12A37"/>
            </a:solidFill>
            <a:prstDash val="solid"/>
          </a:ln>
        </p:spPr>
        <p:txBody>
          <a:bodyPr/>
          <a:lstStyle/>
          <a:p>
            <a:endParaRPr sz="2560"/>
          </a:p>
        </p:txBody>
      </p:sp>
      <p:sp>
        <p:nvSpPr>
          <p:cNvPr id="10" name="Text 8"/>
          <p:cNvSpPr txBox="1"/>
          <p:nvPr/>
        </p:nvSpPr>
        <p:spPr>
          <a:xfrm>
            <a:off x="5511434" y="2665984"/>
            <a:ext cx="1981932"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3 · Compare &amp; question</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Pin the same card across stocks; ask at a scope; honest gaps</a:t>
            </a:r>
            <a:endParaRPr lang="en-US" sz="1991" dirty="0"/>
          </a:p>
        </p:txBody>
      </p:sp>
      <p:sp>
        <p:nvSpPr>
          <p:cNvPr id="11" name="Decide"/>
          <p:cNvSpPr/>
          <p:nvPr/>
        </p:nvSpPr>
        <p:spPr>
          <a:xfrm>
            <a:off x="7805481" y="2535936"/>
            <a:ext cx="2294047" cy="2405888"/>
          </a:xfrm>
          <a:prstGeom prst="rect">
            <a:avLst/>
          </a:prstGeom>
          <a:solidFill>
            <a:srgbClr val="A12A37"/>
          </a:solidFill>
          <a:ln w="12700">
            <a:solidFill>
              <a:srgbClr val="A12A37"/>
            </a:solidFill>
            <a:prstDash val="solid"/>
          </a:ln>
        </p:spPr>
        <p:txBody>
          <a:bodyPr/>
          <a:lstStyle/>
          <a:p>
            <a:endParaRPr sz="2560"/>
          </a:p>
        </p:txBody>
      </p:sp>
      <p:sp>
        <p:nvSpPr>
          <p:cNvPr id="12" name="Text 10"/>
          <p:cNvSpPr txBox="1"/>
          <p:nvPr/>
        </p:nvSpPr>
        <p:spPr>
          <a:xfrm>
            <a:off x="7961539" y="2665984"/>
            <a:ext cx="1981932"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4 · Decide</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Take, pass or keep watching; thesis and what would change his mind</a:t>
            </a:r>
            <a:endParaRPr lang="en-US" sz="1991" dirty="0"/>
          </a:p>
        </p:txBody>
      </p:sp>
      <p:sp>
        <p:nvSpPr>
          <p:cNvPr id="13" name="Hand off &amp; watch"/>
          <p:cNvSpPr/>
          <p:nvPr/>
        </p:nvSpPr>
        <p:spPr>
          <a:xfrm>
            <a:off x="10255585" y="2535936"/>
            <a:ext cx="2294047" cy="2405888"/>
          </a:xfrm>
          <a:prstGeom prst="rect">
            <a:avLst/>
          </a:prstGeom>
          <a:solidFill>
            <a:srgbClr val="A12A37"/>
          </a:solidFill>
          <a:ln w="12700">
            <a:solidFill>
              <a:srgbClr val="A12A37"/>
            </a:solidFill>
            <a:prstDash val="solid"/>
          </a:ln>
        </p:spPr>
        <p:txBody>
          <a:bodyPr/>
          <a:lstStyle/>
          <a:p>
            <a:endParaRPr sz="2560"/>
          </a:p>
        </p:txBody>
      </p:sp>
      <p:sp>
        <p:nvSpPr>
          <p:cNvPr id="14" name="Text 12"/>
          <p:cNvSpPr txBox="1"/>
          <p:nvPr/>
        </p:nvSpPr>
        <p:spPr>
          <a:xfrm>
            <a:off x="10411642" y="2665984"/>
            <a:ext cx="1981932"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5 · Hand off &amp; watch</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Open in your broker; conditions become Trading Day watches</a:t>
            </a:r>
            <a:endParaRPr lang="en-US" sz="1991" dirty="0"/>
          </a:p>
        </p:txBody>
      </p:sp>
      <p:sp>
        <p:nvSpPr>
          <p:cNvPr id="15" name="Text 13"/>
          <p:cNvSpPr txBox="1"/>
          <p:nvPr/>
        </p:nvSpPr>
        <p:spPr>
          <a:xfrm>
            <a:off x="455168" y="5266944"/>
            <a:ext cx="6502400" cy="455168"/>
          </a:xfrm>
          <a:prstGeom prst="rect">
            <a:avLst/>
          </a:prstGeom>
          <a:noFill/>
          <a:ln/>
        </p:spPr>
        <p:txBody>
          <a:bodyPr wrap="square" lIns="0" tIns="0" rIns="0" bIns="0" rtlCol="0" anchor="t"/>
          <a:lstStyle/>
          <a:p>
            <a:r>
              <a:rPr lang="en-US" sz="2133" dirty="0">
                <a:solidFill>
                  <a:srgbClr val="1F1F1F"/>
                </a:solidFill>
                <a:latin typeface="Helvetica Neue Light" pitchFamily="34" charset="0"/>
                <a:ea typeface="Helvetica Neue Light" pitchFamily="34" charset="-122"/>
                <a:cs typeface="Helvetica Neue Light" pitchFamily="34" charset="-120"/>
              </a:rPr>
              <a:t>First-release screen flow</a:t>
            </a:r>
            <a:endParaRPr lang="en-US" sz="2133" dirty="0"/>
          </a:p>
        </p:txBody>
      </p:sp>
      <p:sp>
        <p:nvSpPr>
          <p:cNvPr id="16" name="Text 14"/>
          <p:cNvSpPr txBox="1"/>
          <p:nvPr/>
        </p:nvSpPr>
        <p:spPr>
          <a:xfrm>
            <a:off x="455168" y="5852160"/>
            <a:ext cx="5917184" cy="3251200"/>
          </a:xfrm>
          <a:prstGeom prst="rect">
            <a:avLst/>
          </a:prstGeom>
          <a:noFill/>
          <a:ln/>
        </p:spPr>
        <p:txBody>
          <a:bodyPr wrap="square" lIns="0" tIns="0" rIns="0" bIns="0" rtlCol="0" anchor="t"/>
          <a:lstStyle/>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①  </a:t>
            </a:r>
            <a:r>
              <a:rPr lang="en-US" sz="1564" dirty="0">
                <a:solidFill>
                  <a:srgbClr val="1F1F1F"/>
                </a:solidFill>
                <a:latin typeface="Helvetica Neue Light" pitchFamily="34" charset="0"/>
                <a:ea typeface="Helvetica Neue Light" pitchFamily="34" charset="-122"/>
                <a:cs typeface="Helvetica Neue Light" pitchFamily="34" charset="-120"/>
              </a:rPr>
              <a:t>Select 3 rows → Send to board</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②  </a:t>
            </a:r>
            <a:r>
              <a:rPr lang="en-US" sz="1564" dirty="0">
                <a:solidFill>
                  <a:srgbClr val="1F1F1F"/>
                </a:solidFill>
                <a:latin typeface="Helvetica Neue Light" pitchFamily="34" charset="0"/>
                <a:ea typeface="Helvetica Neue Light" pitchFamily="34" charset="-122"/>
                <a:cs typeface="Helvetica Neue Light" pitchFamily="34" charset="-120"/>
              </a:rPr>
              <a:t>Assembling: cards stream in, each sourced</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③  </a:t>
            </a:r>
            <a:r>
              <a:rPr lang="en-US" sz="1564" dirty="0">
                <a:solidFill>
                  <a:srgbClr val="1F1F1F"/>
                </a:solidFill>
                <a:latin typeface="Helvetica Neue Light" pitchFamily="34" charset="0"/>
                <a:ea typeface="Helvetica Neue Light" pitchFamily="34" charset="-122"/>
                <a:cs typeface="Helvetica Neue Light" pitchFamily="34" charset="-120"/>
              </a:rPr>
              <a:t>Evidence stacks, including the case against</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④  </a:t>
            </a:r>
            <a:r>
              <a:rPr lang="en-US" sz="1564" dirty="0">
                <a:solidFill>
                  <a:srgbClr val="1F1F1F"/>
                </a:solidFill>
                <a:latin typeface="Helvetica Neue Light" pitchFamily="34" charset="0"/>
                <a:ea typeface="Helvetica Neue Light" pitchFamily="34" charset="-122"/>
                <a:cs typeface="Helvetica Neue Light" pitchFamily="34" charset="-120"/>
              </a:rPr>
              <a:t>Compare parts + a scoped question</a:t>
            </a:r>
            <a:endParaRPr lang="en-US" sz="1564" dirty="0"/>
          </a:p>
        </p:txBody>
      </p:sp>
      <p:sp>
        <p:nvSpPr>
          <p:cNvPr id="17" name="Text 15"/>
          <p:cNvSpPr txBox="1"/>
          <p:nvPr/>
        </p:nvSpPr>
        <p:spPr>
          <a:xfrm>
            <a:off x="6632448" y="5852160"/>
            <a:ext cx="5917184" cy="3251200"/>
          </a:xfrm>
          <a:prstGeom prst="rect">
            <a:avLst/>
          </a:prstGeom>
          <a:noFill/>
          <a:ln/>
        </p:spPr>
        <p:txBody>
          <a:bodyPr wrap="square" lIns="0" tIns="0" rIns="0" bIns="0" rtlCol="0" anchor="t"/>
          <a:lstStyle/>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⑤  </a:t>
            </a:r>
            <a:r>
              <a:rPr lang="en-US" sz="1564" dirty="0">
                <a:solidFill>
                  <a:srgbClr val="1F1F1F"/>
                </a:solidFill>
                <a:latin typeface="Helvetica Neue Light" pitchFamily="34" charset="0"/>
                <a:ea typeface="Helvetica Neue Light" pitchFamily="34" charset="-122"/>
                <a:cs typeface="Helvetica Neue Light" pitchFamily="34" charset="-120"/>
              </a:rPr>
              <a:t>Decide: thesis + what would change my mind</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⑥  </a:t>
            </a:r>
            <a:r>
              <a:rPr lang="en-US" sz="1564" dirty="0">
                <a:solidFill>
                  <a:srgbClr val="1F1F1F"/>
                </a:solidFill>
                <a:latin typeface="Helvetica Neue Light" pitchFamily="34" charset="0"/>
                <a:ea typeface="Helvetica Neue Light" pitchFamily="34" charset="-122"/>
                <a:cs typeface="Helvetica Neue Light" pitchFamily="34" charset="-120"/>
              </a:rPr>
              <a:t>Hand off: broker link + watch my conditions</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⑦  </a:t>
            </a:r>
            <a:r>
              <a:rPr lang="en-US" sz="1564" dirty="0">
                <a:solidFill>
                  <a:srgbClr val="1F1F1F"/>
                </a:solidFill>
                <a:latin typeface="Helvetica Neue Light" pitchFamily="34" charset="0"/>
                <a:ea typeface="Helvetica Neue Light" pitchFamily="34" charset="-122"/>
                <a:cs typeface="Helvetica Neue Light" pitchFamily="34" charset="-120"/>
              </a:rPr>
              <a:t>Next morning: reasons still hold?</a:t>
            </a:r>
            <a:endParaRPr lang="en-US" sz="1564" dirty="0"/>
          </a:p>
        </p:txBody>
      </p:sp>
      <p:pic>
        <p:nvPicPr>
          <p:cNvPr id="18"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Proof of Concept Design 3</a:t>
            </a:r>
            <a:endParaRPr lang="en-US" sz="3200" dirty="0"/>
          </a:p>
        </p:txBody>
      </p:sp>
      <p:sp>
        <p:nvSpPr>
          <p:cNvPr id="4" name="Text 2"/>
          <p:cNvSpPr txBox="1"/>
          <p:nvPr/>
        </p:nvSpPr>
        <p:spPr>
          <a:xfrm>
            <a:off x="455168" y="1755648"/>
            <a:ext cx="4551680" cy="3251200"/>
          </a:xfrm>
          <a:prstGeom prst="rect">
            <a:avLst/>
          </a:prstGeom>
          <a:noFill/>
          <a:ln/>
        </p:spPr>
        <p:txBody>
          <a:bodyPr wrap="square" lIns="0" tIns="0" rIns="0" bIns="0" rtlCol="0" anchor="t"/>
          <a:lstStyle/>
          <a:p>
            <a:pPr>
              <a:lnSpc>
                <a:spcPct val="130000"/>
              </a:lnSpc>
              <a:spcAft>
                <a:spcPts val="569"/>
              </a:spcAft>
            </a:pPr>
            <a:r>
              <a:rPr lang="en-US" sz="1991" dirty="0">
                <a:solidFill>
                  <a:srgbClr val="1F1F1F"/>
                </a:solidFill>
                <a:latin typeface="Helvetica Neue Light" pitchFamily="34" charset="0"/>
                <a:ea typeface="Helvetica Neue Light" pitchFamily="34" charset="-122"/>
                <a:cs typeface="Helvetica Neue Light" pitchFamily="34" charset="-120"/>
              </a:rPr>
              <a:t>Bring what you have</a:t>
            </a:r>
            <a:endParaRPr lang="en-US" sz="1991" dirty="0"/>
          </a:p>
          <a:p>
            <a:pPr>
              <a:lnSpc>
                <a:spcPct val="130000"/>
              </a:lnSpc>
            </a:pPr>
            <a:r>
              <a:rPr lang="en-US" sz="1778" dirty="0">
                <a:solidFill>
                  <a:srgbClr val="595959"/>
                </a:solidFill>
                <a:latin typeface="Helvetica Neue Light" pitchFamily="34" charset="0"/>
                <a:ea typeface="Helvetica Neue Light" pitchFamily="34" charset="-122"/>
                <a:cs typeface="Helvetica Neue Light" pitchFamily="34" charset="-120"/>
              </a:rPr>
              <a:t>Start from tickers, a chart screenshot or a template instead of a blank box. Each filter becomes an editable chip; matches show how close they sit to your limits, never a fit score.</a:t>
            </a:r>
            <a:endParaRPr lang="en-US" sz="1991" dirty="0"/>
          </a:p>
        </p:txBody>
      </p:sp>
      <p:pic>
        <p:nvPicPr>
          <p:cNvPr id="5" name="Bring what you have" descr="Bring what you have"/>
          <p:cNvPicPr>
            <a:picLocks noChangeAspect="1"/>
          </p:cNvPicPr>
          <p:nvPr/>
        </p:nvPicPr>
        <p:blipFill>
          <a:blip r:embed="rId3"/>
          <a:stretch>
            <a:fillRect/>
          </a:stretch>
        </p:blipFill>
        <p:spPr>
          <a:xfrm>
            <a:off x="5396992" y="1755649"/>
            <a:ext cx="7152640" cy="4770755"/>
          </a:xfrm>
          <a:prstGeom prst="rect">
            <a:avLst/>
          </a:prstGeom>
        </p:spPr>
      </p:pic>
      <p:sp>
        <p:nvSpPr>
          <p:cNvPr id="6" name="Shape 3"/>
          <p:cNvSpPr/>
          <p:nvPr/>
        </p:nvSpPr>
        <p:spPr>
          <a:xfrm>
            <a:off x="5396992" y="1755649"/>
            <a:ext cx="7152640" cy="4770755"/>
          </a:xfrm>
          <a:prstGeom prst="rect">
            <a:avLst/>
          </a:prstGeom>
          <a:ln w="9525">
            <a:solidFill>
              <a:srgbClr val="1F1F1F"/>
            </a:solidFill>
            <a:prstDash val="solid"/>
          </a:ln>
        </p:spPr>
        <p:txBody>
          <a:bodyPr/>
          <a:lstStyle/>
          <a:p>
            <a:endParaRPr sz="2560"/>
          </a:p>
        </p:txBody>
      </p:sp>
      <p:sp>
        <p:nvSpPr>
          <p:cNvPr id="7" name="What we learned in the review"/>
          <p:cNvSpPr/>
          <p:nvPr/>
        </p:nvSpPr>
        <p:spPr>
          <a:xfrm>
            <a:off x="455168" y="5592064"/>
            <a:ext cx="4551680" cy="3316224"/>
          </a:xfrm>
          <a:prstGeom prst="rect">
            <a:avLst/>
          </a:prstGeom>
          <a:solidFill>
            <a:srgbClr val="3A7D55"/>
          </a:solidFill>
          <a:ln w="12700">
            <a:solidFill>
              <a:srgbClr val="3A7D55"/>
            </a:solidFill>
            <a:prstDash val="solid"/>
          </a:ln>
        </p:spPr>
        <p:txBody>
          <a:bodyPr/>
          <a:lstStyle/>
          <a:p>
            <a:endParaRPr sz="2560"/>
          </a:p>
        </p:txBody>
      </p:sp>
      <p:sp>
        <p:nvSpPr>
          <p:cNvPr id="8" name="Text 5"/>
          <p:cNvSpPr txBox="1"/>
          <p:nvPr/>
        </p:nvSpPr>
        <p:spPr>
          <a:xfrm>
            <a:off x="715264" y="5852160"/>
            <a:ext cx="4031488" cy="2926080"/>
          </a:xfrm>
          <a:prstGeom prst="rect">
            <a:avLst/>
          </a:prstGeom>
          <a:noFill/>
          <a:ln/>
        </p:spPr>
        <p:txBody>
          <a:bodyPr wrap="square" lIns="0" tIns="0" rIns="0" bIns="0" rtlCol="0" anchor="t"/>
          <a:lstStyle/>
          <a:p>
            <a:pPr>
              <a:spcAft>
                <a:spcPts val="853"/>
              </a:spcAft>
            </a:pPr>
            <a:r>
              <a:rPr lang="en-US" sz="1991" dirty="0">
                <a:solidFill>
                  <a:srgbClr val="FFFFFF"/>
                </a:solidFill>
                <a:latin typeface="Helvetica Neue Light" pitchFamily="34" charset="0"/>
                <a:ea typeface="Helvetica Neue Light" pitchFamily="34" charset="-122"/>
                <a:cs typeface="Helvetica Neue Light" pitchFamily="34" charset="-120"/>
              </a:rPr>
              <a:t>What we learned in the review</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A chat box is not the answer</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Pre-fill filters from what users already have</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Ask one question about vague terms, never guess</a:t>
            </a:r>
            <a:endParaRPr lang="en-US" sz="1991" dirty="0"/>
          </a:p>
        </p:txBody>
      </p:sp>
      <p:sp>
        <p:nvSpPr>
          <p:cNvPr id="9" name="Text 6"/>
          <p:cNvSpPr txBox="1"/>
          <p:nvPr/>
        </p:nvSpPr>
        <p:spPr>
          <a:xfrm>
            <a:off x="5396992" y="6697472"/>
            <a:ext cx="7152640" cy="520192"/>
          </a:xfrm>
          <a:prstGeom prst="rect">
            <a:avLst/>
          </a:prstGeom>
          <a:noFill/>
          <a:ln/>
        </p:spPr>
        <p:txBody>
          <a:bodyPr wrap="square" lIns="0" tIns="0" rIns="0" bIns="0" rtlCol="0" anchor="t"/>
          <a:lstStyle/>
          <a:p>
            <a:r>
              <a:rPr lang="en-US" sz="1422" dirty="0">
                <a:solidFill>
                  <a:srgbClr val="6E6E6E"/>
                </a:solidFill>
                <a:latin typeface="Helvetica Neue" pitchFamily="34" charset="0"/>
                <a:ea typeface="Helvetica Neue" pitchFamily="34" charset="-122"/>
                <a:cs typeface="Helvetica Neue" pitchFamily="34" charset="-120"/>
              </a:rPr>
              <a:t>Filtering · screener with alignment strip</a:t>
            </a:r>
            <a:endParaRPr lang="en-US" sz="1422" dirty="0"/>
          </a:p>
        </p:txBody>
      </p:sp>
      <p:pic>
        <p:nvPicPr>
          <p:cNvPr id="10"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Proof of Concept Design 4</a:t>
            </a:r>
            <a:endParaRPr lang="en-US" sz="3200" dirty="0"/>
          </a:p>
        </p:txBody>
      </p:sp>
      <p:sp>
        <p:nvSpPr>
          <p:cNvPr id="4" name="design lead call"/>
          <p:cNvSpPr/>
          <p:nvPr/>
        </p:nvSpPr>
        <p:spPr>
          <a:xfrm>
            <a:off x="7118828" y="312115"/>
            <a:ext cx="5430804" cy="416154"/>
          </a:xfrm>
          <a:prstGeom prst="rect">
            <a:avLst/>
          </a:prstGeom>
          <a:solidFill>
            <a:srgbClr val="C45A35"/>
          </a:solidFill>
          <a:ln w="12700">
            <a:solidFill>
              <a:srgbClr val="C45A35"/>
            </a:solidFill>
            <a:prstDash val="solid"/>
          </a:ln>
        </p:spPr>
        <p:txBody>
          <a:bodyPr/>
          <a:lstStyle/>
          <a:p>
            <a:endParaRPr sz="2560"/>
          </a:p>
        </p:txBody>
      </p:sp>
      <p:sp>
        <p:nvSpPr>
          <p:cNvPr id="5" name="Text 3"/>
          <p:cNvSpPr txBox="1"/>
          <p:nvPr/>
        </p:nvSpPr>
        <p:spPr>
          <a:xfrm>
            <a:off x="7118828" y="312115"/>
            <a:ext cx="5430804" cy="416154"/>
          </a:xfrm>
          <a:prstGeom prst="rect">
            <a:avLst/>
          </a:prstGeom>
          <a:noFill/>
          <a:ln/>
        </p:spPr>
        <p:txBody>
          <a:bodyPr wrap="square" lIns="0" tIns="0" rIns="0" bIns="0" rtlCol="0" anchor="ctr"/>
          <a:lstStyle/>
          <a:p>
            <a:pPr algn="ctr"/>
            <a:r>
              <a:rPr lang="en-US" sz="1280" b="1" kern="0" spc="142" dirty="0">
                <a:solidFill>
                  <a:srgbClr val="FFFFFF"/>
                </a:solidFill>
                <a:latin typeface="Helvetica Neue" pitchFamily="34" charset="0"/>
                <a:ea typeface="Helvetica Neue" pitchFamily="34" charset="-122"/>
                <a:cs typeface="Helvetica Neue" pitchFamily="34" charset="-120"/>
              </a:rPr>
              <a:t>DESIGN LEAD CALL  </a:t>
            </a:r>
            <a:r>
              <a:rPr lang="en-US" sz="1280" dirty="0">
                <a:solidFill>
                  <a:srgbClr val="FFFFFF"/>
                </a:solidFill>
                <a:latin typeface="Helvetica Neue Light" pitchFamily="34" charset="0"/>
                <a:ea typeface="Helvetica Neue Light" pitchFamily="34" charset="-122"/>
                <a:cs typeface="Helvetica Neue Light" pitchFamily="34" charset="-120"/>
              </a:rPr>
              <a:t>Set the advice line, pending compliance</a:t>
            </a:r>
            <a:endParaRPr lang="en-US" sz="1280" dirty="0"/>
          </a:p>
        </p:txBody>
      </p:sp>
      <p:sp>
        <p:nvSpPr>
          <p:cNvPr id="6" name="Text 4"/>
          <p:cNvSpPr txBox="1"/>
          <p:nvPr/>
        </p:nvSpPr>
        <p:spPr>
          <a:xfrm>
            <a:off x="455168" y="1755648"/>
            <a:ext cx="4551680" cy="3251200"/>
          </a:xfrm>
          <a:prstGeom prst="rect">
            <a:avLst/>
          </a:prstGeom>
          <a:noFill/>
          <a:ln/>
        </p:spPr>
        <p:txBody>
          <a:bodyPr wrap="square" lIns="0" tIns="0" rIns="0" bIns="0" rtlCol="0" anchor="t"/>
          <a:lstStyle/>
          <a:p>
            <a:pPr>
              <a:lnSpc>
                <a:spcPct val="130000"/>
              </a:lnSpc>
              <a:spcAft>
                <a:spcPts val="569"/>
              </a:spcAft>
            </a:pPr>
            <a:r>
              <a:rPr lang="en-US" sz="1991" dirty="0">
                <a:solidFill>
                  <a:srgbClr val="1F1F1F"/>
                </a:solidFill>
                <a:latin typeface="Helvetica Neue Light" pitchFamily="34" charset="0"/>
                <a:ea typeface="Helvetica Neue Light" pitchFamily="34" charset="-122"/>
                <a:cs typeface="Helvetica Neue Light" pitchFamily="34" charset="-120"/>
              </a:rPr>
              <a:t>The Decision Board</a:t>
            </a:r>
            <a:endParaRPr lang="en-US" sz="1991" dirty="0"/>
          </a:p>
          <a:p>
            <a:pPr>
              <a:lnSpc>
                <a:spcPct val="130000"/>
              </a:lnSpc>
            </a:pPr>
            <a:r>
              <a:rPr lang="en-US" sz="1778" dirty="0">
                <a:solidFill>
                  <a:srgbClr val="595959"/>
                </a:solidFill>
                <a:latin typeface="Helvetica Neue Light" pitchFamily="34" charset="0"/>
                <a:ea typeface="Helvetica Neue Light" pitchFamily="34" charset="-122"/>
                <a:cs typeface="Helvetica Neue Light" pitchFamily="34" charset="-120"/>
              </a:rPr>
              <a:t>Sourced evidence for and against your setup, what would break it, and your plan. FinViz never says which stock is best.</a:t>
            </a:r>
            <a:endParaRPr lang="en-US" sz="1991" dirty="0"/>
          </a:p>
        </p:txBody>
      </p:sp>
      <p:pic>
        <p:nvPicPr>
          <p:cNvPr id="7" name="The Decision Board" descr="The Decision Board"/>
          <p:cNvPicPr>
            <a:picLocks noChangeAspect="1"/>
          </p:cNvPicPr>
          <p:nvPr/>
        </p:nvPicPr>
        <p:blipFill>
          <a:blip r:embed="rId3"/>
          <a:stretch>
            <a:fillRect/>
          </a:stretch>
        </p:blipFill>
        <p:spPr>
          <a:xfrm>
            <a:off x="5396992" y="1755649"/>
            <a:ext cx="7152640" cy="4770755"/>
          </a:xfrm>
          <a:prstGeom prst="rect">
            <a:avLst/>
          </a:prstGeom>
        </p:spPr>
      </p:pic>
      <p:sp>
        <p:nvSpPr>
          <p:cNvPr id="8" name="Shape 5"/>
          <p:cNvSpPr/>
          <p:nvPr/>
        </p:nvSpPr>
        <p:spPr>
          <a:xfrm>
            <a:off x="5396992" y="1755649"/>
            <a:ext cx="7152640" cy="4770755"/>
          </a:xfrm>
          <a:prstGeom prst="rect">
            <a:avLst/>
          </a:prstGeom>
          <a:ln w="9525">
            <a:solidFill>
              <a:srgbClr val="1F1F1F"/>
            </a:solidFill>
            <a:prstDash val="solid"/>
          </a:ln>
        </p:spPr>
        <p:txBody>
          <a:bodyPr/>
          <a:lstStyle/>
          <a:p>
            <a:endParaRPr sz="2560"/>
          </a:p>
        </p:txBody>
      </p:sp>
      <p:sp>
        <p:nvSpPr>
          <p:cNvPr id="9" name="Guardrails"/>
          <p:cNvSpPr/>
          <p:nvPr/>
        </p:nvSpPr>
        <p:spPr>
          <a:xfrm>
            <a:off x="455168" y="5592064"/>
            <a:ext cx="4551680" cy="3316224"/>
          </a:xfrm>
          <a:prstGeom prst="rect">
            <a:avLst/>
          </a:prstGeom>
          <a:solidFill>
            <a:srgbClr val="A12A37"/>
          </a:solidFill>
          <a:ln w="12700">
            <a:solidFill>
              <a:srgbClr val="A12A37"/>
            </a:solidFill>
            <a:prstDash val="solid"/>
          </a:ln>
        </p:spPr>
        <p:txBody>
          <a:bodyPr/>
          <a:lstStyle/>
          <a:p>
            <a:endParaRPr sz="2560"/>
          </a:p>
        </p:txBody>
      </p:sp>
      <p:sp>
        <p:nvSpPr>
          <p:cNvPr id="10" name="Text 7"/>
          <p:cNvSpPr txBox="1"/>
          <p:nvPr/>
        </p:nvSpPr>
        <p:spPr>
          <a:xfrm>
            <a:off x="715264" y="5852160"/>
            <a:ext cx="4031488" cy="2926080"/>
          </a:xfrm>
          <a:prstGeom prst="rect">
            <a:avLst/>
          </a:prstGeom>
          <a:noFill/>
          <a:ln/>
        </p:spPr>
        <p:txBody>
          <a:bodyPr wrap="square" lIns="0" tIns="0" rIns="0" bIns="0" rtlCol="0" anchor="t"/>
          <a:lstStyle/>
          <a:p>
            <a:pPr>
              <a:spcAft>
                <a:spcPts val="853"/>
              </a:spcAft>
            </a:pPr>
            <a:r>
              <a:rPr lang="en-US" sz="1991" dirty="0">
                <a:solidFill>
                  <a:srgbClr val="FFFFFF"/>
                </a:solidFill>
                <a:latin typeface="Helvetica Neue Light" pitchFamily="34" charset="0"/>
                <a:ea typeface="Helvetica Neue Light" pitchFamily="34" charset="-122"/>
                <a:cs typeface="Helvetica Neue Light" pitchFamily="34" charset="-120"/>
              </a:rPr>
              <a:t>Guardrails</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No AI verdict, no quality score</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Every claim cited to its source</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Analyst views behind a flag until compliance clears them</a:t>
            </a:r>
            <a:endParaRPr lang="en-US" sz="1991" dirty="0"/>
          </a:p>
        </p:txBody>
      </p:sp>
      <p:sp>
        <p:nvSpPr>
          <p:cNvPr id="11" name="Text 8"/>
          <p:cNvSpPr txBox="1"/>
          <p:nvPr/>
        </p:nvSpPr>
        <p:spPr>
          <a:xfrm>
            <a:off x="5396992" y="6697472"/>
            <a:ext cx="7152640" cy="520192"/>
          </a:xfrm>
          <a:prstGeom prst="rect">
            <a:avLst/>
          </a:prstGeom>
          <a:noFill/>
          <a:ln/>
        </p:spPr>
        <p:txBody>
          <a:bodyPr wrap="square" lIns="0" tIns="0" rIns="0" bIns="0" rtlCol="0" anchor="t"/>
          <a:lstStyle/>
          <a:p>
            <a:r>
              <a:rPr lang="en-US" sz="1422" dirty="0">
                <a:solidFill>
                  <a:srgbClr val="6E6E6E"/>
                </a:solidFill>
                <a:latin typeface="Helvetica Neue" pitchFamily="34" charset="0"/>
                <a:ea typeface="Helvetica Neue" pitchFamily="34" charset="-122"/>
                <a:cs typeface="Helvetica Neue" pitchFamily="34" charset="-120"/>
              </a:rPr>
              <a:t>Decision Board · cited evidence and broker hand-off</a:t>
            </a:r>
            <a:endParaRPr lang="en-US" sz="1422" dirty="0"/>
          </a:p>
        </p:txBody>
      </p:sp>
      <p:pic>
        <p:nvPicPr>
          <p:cNvPr id="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975360" y="975360"/>
            <a:ext cx="5852160" cy="1846659"/>
          </a:xfrm>
          <a:prstGeom prst="rect">
            <a:avLst/>
          </a:prstGeom>
          <a:noFill/>
        </p:spPr>
        <p:txBody>
          <a:bodyPr wrap="square" lIns="0" tIns="0" rIns="0" bIns="0">
            <a:spAutoFit/>
          </a:bodyPr>
          <a:lstStyle/>
          <a:p>
            <a:r>
              <a:rPr sz="6000" dirty="0">
                <a:solidFill>
                  <a:srgbClr val="FFFFFF"/>
                </a:solidFill>
                <a:latin typeface="Helvetica Neue Light"/>
              </a:rPr>
              <a:t>Alerts &amp;</a:t>
            </a:r>
          </a:p>
          <a:p>
            <a:r>
              <a:rPr sz="6000" dirty="0">
                <a:solidFill>
                  <a:srgbClr val="FFFFFF"/>
                </a:solidFill>
                <a:latin typeface="Helvetica Neue Light"/>
              </a:rPr>
              <a:t>Notifications</a:t>
            </a:r>
          </a:p>
        </p:txBody>
      </p:sp>
      <p:sp>
        <p:nvSpPr>
          <p:cNvPr id="4" name="TextBox 3"/>
          <p:cNvSpPr txBox="1"/>
          <p:nvPr/>
        </p:nvSpPr>
        <p:spPr>
          <a:xfrm>
            <a:off x="6762496" y="1040385"/>
            <a:ext cx="4870369" cy="1576201"/>
          </a:xfrm>
          <a:prstGeom prst="rect">
            <a:avLst/>
          </a:prstGeom>
          <a:noFill/>
        </p:spPr>
        <p:txBody>
          <a:bodyPr wrap="square" lIns="0" tIns="0" rIns="0" bIns="0">
            <a:spAutoFit/>
          </a:bodyPr>
          <a:lstStyle/>
          <a:p>
            <a:r>
              <a:rPr sz="1707" dirty="0">
                <a:solidFill>
                  <a:srgbClr val="FFE9DF"/>
                </a:solidFill>
                <a:latin typeface="Helvetica Neue Light"/>
              </a:rPr>
              <a:t>Watching the market is mundane, manual work. Gary does it today by keeping tabs open, re-running screens and setting price alerts one at a time. This track asks how AI, and plain good product, can take that work off him without taking the decision away from him.</a:t>
            </a:r>
          </a:p>
        </p:txBody>
      </p:sp>
      <p:sp>
        <p:nvSpPr>
          <p:cNvPr id="5" name="TextBox 4"/>
          <p:cNvSpPr txBox="1"/>
          <p:nvPr/>
        </p:nvSpPr>
        <p:spPr>
          <a:xfrm>
            <a:off x="975360" y="4031488"/>
            <a:ext cx="11054080" cy="2578591"/>
          </a:xfrm>
          <a:prstGeom prst="rect">
            <a:avLst/>
          </a:prstGeom>
          <a:noFill/>
        </p:spPr>
        <p:txBody>
          <a:bodyPr wrap="square" lIns="0" tIns="0" rIns="0" bIns="0">
            <a:spAutoFit/>
          </a:bodyPr>
          <a:lstStyle/>
          <a:p>
            <a:pPr>
              <a:spcAft>
                <a:spcPts val="1422"/>
              </a:spcAft>
            </a:pPr>
            <a:r>
              <a:rPr sz="2418">
                <a:solidFill>
                  <a:srgbClr val="FFFFFF"/>
                </a:solidFill>
                <a:latin typeface="Helvetica Neue Light"/>
              </a:rPr>
              <a:t>•  AI Solution Canvas v2 for alerts</a:t>
            </a:r>
          </a:p>
          <a:p>
            <a:pPr>
              <a:spcAft>
                <a:spcPts val="1422"/>
              </a:spcAft>
            </a:pPr>
            <a:r>
              <a:rPr sz="2418">
                <a:solidFill>
                  <a:srgbClr val="FFFFFF"/>
                </a:solidFill>
                <a:latin typeface="Helvetica Neue Light"/>
              </a:rPr>
              <a:t>•  Input, output and refinement journeys</a:t>
            </a:r>
          </a:p>
          <a:p>
            <a:pPr>
              <a:spcAft>
                <a:spcPts val="1422"/>
              </a:spcAft>
            </a:pPr>
            <a:r>
              <a:rPr sz="2418">
                <a:solidFill>
                  <a:srgbClr val="FFFFFF"/>
                </a:solidFill>
                <a:latin typeface="Helvetica Neue Light"/>
              </a:rPr>
              <a:t>•  18 ideas, AI and non-AI, prioritized by impact</a:t>
            </a:r>
          </a:p>
          <a:p>
            <a:pPr>
              <a:spcAft>
                <a:spcPts val="1422"/>
              </a:spcAft>
            </a:pPr>
            <a:r>
              <a:rPr sz="2418">
                <a:solidFill>
                  <a:srgbClr val="FFFFFF"/>
                </a:solidFill>
                <a:latin typeface="Helvetica Neue Light"/>
              </a:rPr>
              <a:t>•  The sketched AI-powered alerts journey</a:t>
            </a:r>
          </a:p>
          <a:p>
            <a:pPr>
              <a:spcAft>
                <a:spcPts val="1422"/>
              </a:spcAft>
            </a:pPr>
            <a:r>
              <a:rPr sz="2418">
                <a:solidFill>
                  <a:srgbClr val="FFFFFF"/>
                </a:solidFill>
                <a:latin typeface="Helvetica Neue Light"/>
              </a:rPr>
              <a:t>•  Today’s entry point: a bell on the quote page, one rule at a time, Elite only</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dirty="0">
                <a:solidFill>
                  <a:srgbClr val="1F1F1F"/>
                </a:solidFill>
              </a:rPr>
              <a:t>Appendix   </a:t>
            </a:r>
            <a:r>
              <a:rPr sz="1422" dirty="0" err="1">
                <a:solidFill>
                  <a:srgbClr val="1F1F1F"/>
                </a:solidFill>
              </a:rPr>
              <a:t>FinViz</a:t>
            </a:r>
            <a:r>
              <a:rPr sz="1422" dirty="0">
                <a:solidFill>
                  <a:srgbClr val="1F1F1F"/>
                </a:solidFill>
              </a:rPr>
              <a:t>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AI Solution Canvas: Alerts &amp; notifications</a:t>
            </a:r>
          </a:p>
        </p:txBody>
      </p:sp>
      <p:sp>
        <p:nvSpPr>
          <p:cNvPr id="5" name="Rectangle 4"/>
          <p:cNvSpPr/>
          <p:nvPr/>
        </p:nvSpPr>
        <p:spPr>
          <a:xfrm>
            <a:off x="455168" y="1820672"/>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6" name="TextBox 5"/>
          <p:cNvSpPr txBox="1"/>
          <p:nvPr/>
        </p:nvSpPr>
        <p:spPr>
          <a:xfrm>
            <a:off x="611226" y="1924710"/>
            <a:ext cx="3589325" cy="915635"/>
          </a:xfrm>
          <a:prstGeom prst="rect">
            <a:avLst/>
          </a:prstGeom>
          <a:noFill/>
        </p:spPr>
        <p:txBody>
          <a:bodyPr wrap="square" lIns="0" tIns="0" rIns="0" bIns="0">
            <a:spAutoFit/>
          </a:bodyPr>
          <a:lstStyle/>
          <a:p>
            <a:pPr>
              <a:spcAft>
                <a:spcPts val="427"/>
              </a:spcAft>
            </a:pPr>
            <a:r>
              <a:rPr sz="1138">
                <a:solidFill>
                  <a:srgbClr val="6E6E6E"/>
                </a:solidFill>
                <a:latin typeface="Helvetica Neue"/>
              </a:rPr>
              <a:t>PROBLEM</a:t>
            </a:r>
          </a:p>
          <a:p>
            <a:r>
              <a:rPr sz="1493">
                <a:solidFill>
                  <a:srgbClr val="1F1F1F"/>
                </a:solidFill>
                <a:latin typeface="Helvetica Neue Light"/>
              </a:rPr>
              <a:t>Can’t watch the market at work (P9). Alerts are Elite-only, one rule at a time, no reason, noisy (P10)</a:t>
            </a:r>
          </a:p>
        </p:txBody>
      </p:sp>
      <p:sp>
        <p:nvSpPr>
          <p:cNvPr id="7" name="Rectangle 6"/>
          <p:cNvSpPr/>
          <p:nvPr/>
        </p:nvSpPr>
        <p:spPr>
          <a:xfrm>
            <a:off x="4525670" y="1820672"/>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4681728" y="1924710"/>
            <a:ext cx="3589325" cy="915635"/>
          </a:xfrm>
          <a:prstGeom prst="rect">
            <a:avLst/>
          </a:prstGeom>
          <a:noFill/>
        </p:spPr>
        <p:txBody>
          <a:bodyPr wrap="square" lIns="0" tIns="0" rIns="0" bIns="0">
            <a:spAutoFit/>
          </a:bodyPr>
          <a:lstStyle/>
          <a:p>
            <a:pPr>
              <a:spcAft>
                <a:spcPts val="427"/>
              </a:spcAft>
            </a:pPr>
            <a:r>
              <a:rPr sz="1138">
                <a:solidFill>
                  <a:srgbClr val="6E6E6E"/>
                </a:solidFill>
                <a:latin typeface="Helvetica Neue"/>
              </a:rPr>
              <a:t>USERS</a:t>
            </a:r>
          </a:p>
          <a:p>
            <a:r>
              <a:rPr sz="1493">
                <a:solidFill>
                  <a:srgbClr val="1F1F1F"/>
                </a:solidFill>
                <a:latin typeface="Helvetica Neue Light"/>
              </a:rPr>
              <a:t>Primary: Growth Gary, swing trader with a day job. Conversion lever: Fast Frank, pre-market</a:t>
            </a:r>
          </a:p>
        </p:txBody>
      </p:sp>
      <p:sp>
        <p:nvSpPr>
          <p:cNvPr id="9" name="Rectangle 8"/>
          <p:cNvSpPr/>
          <p:nvPr/>
        </p:nvSpPr>
        <p:spPr>
          <a:xfrm>
            <a:off x="8596171" y="1820672"/>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0" name="TextBox 9"/>
          <p:cNvSpPr txBox="1"/>
          <p:nvPr/>
        </p:nvSpPr>
        <p:spPr>
          <a:xfrm>
            <a:off x="8752230" y="1924711"/>
            <a:ext cx="3589325" cy="685893"/>
          </a:xfrm>
          <a:prstGeom prst="rect">
            <a:avLst/>
          </a:prstGeom>
          <a:noFill/>
        </p:spPr>
        <p:txBody>
          <a:bodyPr wrap="square" lIns="0" tIns="0" rIns="0" bIns="0">
            <a:spAutoFit/>
          </a:bodyPr>
          <a:lstStyle/>
          <a:p>
            <a:pPr>
              <a:spcAft>
                <a:spcPts val="427"/>
              </a:spcAft>
            </a:pPr>
            <a:r>
              <a:rPr sz="1138">
                <a:solidFill>
                  <a:srgbClr val="6E6E6E"/>
                </a:solidFill>
                <a:latin typeface="Helvetica Neue"/>
              </a:rPr>
              <a:t>VALUE</a:t>
            </a:r>
          </a:p>
          <a:p>
            <a:r>
              <a:rPr sz="1493">
                <a:solidFill>
                  <a:srgbClr val="1F1F1F"/>
                </a:solidFill>
                <a:latin typeface="Helvetica Neue Light"/>
              </a:rPr>
              <a:t>Your criteria, watched on your schedule, explained when they fire, easy to tune</a:t>
            </a:r>
          </a:p>
        </p:txBody>
      </p:sp>
      <p:sp>
        <p:nvSpPr>
          <p:cNvPr id="11" name="Rectangle 10"/>
          <p:cNvSpPr/>
          <p:nvPr/>
        </p:nvSpPr>
        <p:spPr>
          <a:xfrm>
            <a:off x="455168" y="3641344"/>
            <a:ext cx="3901440" cy="1690624"/>
          </a:xfrm>
          <a:prstGeom prst="rect">
            <a:avLst/>
          </a:prstGeom>
          <a:solidFill>
            <a:srgbClr val="F3EAFE"/>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611226" y="3745382"/>
            <a:ext cx="3589325" cy="915635"/>
          </a:xfrm>
          <a:prstGeom prst="rect">
            <a:avLst/>
          </a:prstGeom>
          <a:noFill/>
        </p:spPr>
        <p:txBody>
          <a:bodyPr wrap="square" lIns="0" tIns="0" rIns="0" bIns="0">
            <a:spAutoFit/>
          </a:bodyPr>
          <a:lstStyle/>
          <a:p>
            <a:pPr>
              <a:spcAft>
                <a:spcPts val="427"/>
              </a:spcAft>
            </a:pPr>
            <a:r>
              <a:rPr sz="1138">
                <a:solidFill>
                  <a:srgbClr val="5B3F96"/>
                </a:solidFill>
                <a:latin typeface="Helvetica Neue"/>
              </a:rPr>
              <a:t>WHERE AI HELPS</a:t>
            </a:r>
          </a:p>
          <a:p>
            <a:r>
              <a:rPr sz="1493">
                <a:solidFill>
                  <a:srgbClr val="1F1F1F"/>
                </a:solidFill>
                <a:latin typeface="Helvetica Neue Light"/>
              </a:rPr>
              <a:t>Intent → rules · 30-day replay · reason-first alerts · unusual-for-this-stock · learning from corrections · missed moves</a:t>
            </a:r>
          </a:p>
        </p:txBody>
      </p:sp>
      <p:sp>
        <p:nvSpPr>
          <p:cNvPr id="13" name="Rectangle 12"/>
          <p:cNvSpPr/>
          <p:nvPr/>
        </p:nvSpPr>
        <p:spPr>
          <a:xfrm>
            <a:off x="4525670" y="3641344"/>
            <a:ext cx="3901440" cy="1690624"/>
          </a:xfrm>
          <a:prstGeom prst="rect">
            <a:avLst/>
          </a:prstGeom>
          <a:solidFill>
            <a:srgbClr val="FDECEE"/>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4681728" y="3745382"/>
            <a:ext cx="3589325" cy="915635"/>
          </a:xfrm>
          <a:prstGeom prst="rect">
            <a:avLst/>
          </a:prstGeom>
          <a:noFill/>
        </p:spPr>
        <p:txBody>
          <a:bodyPr wrap="square" lIns="0" tIns="0" rIns="0" bIns="0">
            <a:spAutoFit/>
          </a:bodyPr>
          <a:lstStyle/>
          <a:p>
            <a:pPr>
              <a:spcAft>
                <a:spcPts val="427"/>
              </a:spcAft>
            </a:pPr>
            <a:r>
              <a:rPr sz="1138">
                <a:solidFill>
                  <a:srgbClr val="A12A37"/>
                </a:solidFill>
                <a:latin typeface="Helvetica Neue"/>
              </a:rPr>
              <a:t>WHERE AI MUST NOT</a:t>
            </a:r>
          </a:p>
          <a:p>
            <a:r>
              <a:rPr sz="1493">
                <a:solidFill>
                  <a:srgbClr val="1F1F1F"/>
                </a:solidFill>
                <a:latin typeface="Helvetica Neue Light"/>
              </a:rPr>
              <a:t>Originate buy/sell or predictions · place orders · change a rule silently · invent reasons</a:t>
            </a:r>
          </a:p>
        </p:txBody>
      </p:sp>
      <p:sp>
        <p:nvSpPr>
          <p:cNvPr id="15" name="Rectangle 14"/>
          <p:cNvSpPr/>
          <p:nvPr/>
        </p:nvSpPr>
        <p:spPr>
          <a:xfrm>
            <a:off x="8596171" y="3641344"/>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8752230" y="3745382"/>
            <a:ext cx="3589325" cy="915635"/>
          </a:xfrm>
          <a:prstGeom prst="rect">
            <a:avLst/>
          </a:prstGeom>
          <a:noFill/>
        </p:spPr>
        <p:txBody>
          <a:bodyPr wrap="square" lIns="0" tIns="0" rIns="0" bIns="0">
            <a:spAutoFit/>
          </a:bodyPr>
          <a:lstStyle/>
          <a:p>
            <a:pPr>
              <a:spcAft>
                <a:spcPts val="427"/>
              </a:spcAft>
            </a:pPr>
            <a:r>
              <a:rPr sz="1138">
                <a:solidFill>
                  <a:srgbClr val="6E6E6E"/>
                </a:solidFill>
                <a:latin typeface="Helvetica Neue"/>
              </a:rPr>
              <a:t>NON-AI THAT MATTERS</a:t>
            </a:r>
          </a:p>
          <a:p>
            <a:r>
              <a:rPr sz="1493">
                <a:solidFill>
                  <a:srgbClr val="1F1F1F"/>
                </a:solidFill>
                <a:latin typeface="Helvetica Neue Light"/>
              </a:rPr>
              <a:t>Day profile + quiet hours · channels · grouping · pause · activity log + Undo · broker hand-off</a:t>
            </a:r>
          </a:p>
        </p:txBody>
      </p:sp>
      <p:sp>
        <p:nvSpPr>
          <p:cNvPr id="17" name="Rectangle 16"/>
          <p:cNvSpPr/>
          <p:nvPr/>
        </p:nvSpPr>
        <p:spPr>
          <a:xfrm>
            <a:off x="455168" y="5462015"/>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8" name="TextBox 17"/>
          <p:cNvSpPr txBox="1"/>
          <p:nvPr/>
        </p:nvSpPr>
        <p:spPr>
          <a:xfrm>
            <a:off x="611226" y="5566053"/>
            <a:ext cx="3589325" cy="915635"/>
          </a:xfrm>
          <a:prstGeom prst="rect">
            <a:avLst/>
          </a:prstGeom>
          <a:noFill/>
        </p:spPr>
        <p:txBody>
          <a:bodyPr wrap="square" lIns="0" tIns="0" rIns="0" bIns="0">
            <a:spAutoFit/>
          </a:bodyPr>
          <a:lstStyle/>
          <a:p>
            <a:pPr>
              <a:spcAft>
                <a:spcPts val="427"/>
              </a:spcAft>
            </a:pPr>
            <a:r>
              <a:rPr sz="1138">
                <a:solidFill>
                  <a:srgbClr val="6E6E6E"/>
                </a:solidFill>
                <a:latin typeface="Helvetica Neue"/>
              </a:rPr>
              <a:t>DATA IN</a:t>
            </a:r>
          </a:p>
          <a:p>
            <a:r>
              <a:rPr sz="1493">
                <a:solidFill>
                  <a:srgbClr val="1F1F1F"/>
                </a:solidFill>
                <a:latin typeface="Helvetica Neue Light"/>
              </a:rPr>
              <a:t>His screens, shortlist, reasons, exit lines, feedback; prices, volume, signals, earnings, news, insider, analyst</a:t>
            </a:r>
          </a:p>
        </p:txBody>
      </p:sp>
      <p:sp>
        <p:nvSpPr>
          <p:cNvPr id="19" name="Rectangle 18"/>
          <p:cNvSpPr/>
          <p:nvPr/>
        </p:nvSpPr>
        <p:spPr>
          <a:xfrm>
            <a:off x="4525670" y="5462015"/>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TextBox 19"/>
          <p:cNvSpPr txBox="1"/>
          <p:nvPr/>
        </p:nvSpPr>
        <p:spPr>
          <a:xfrm>
            <a:off x="4681728" y="5566053"/>
            <a:ext cx="3589325" cy="915635"/>
          </a:xfrm>
          <a:prstGeom prst="rect">
            <a:avLst/>
          </a:prstGeom>
          <a:noFill/>
        </p:spPr>
        <p:txBody>
          <a:bodyPr wrap="square" lIns="0" tIns="0" rIns="0" bIns="0">
            <a:spAutoFit/>
          </a:bodyPr>
          <a:lstStyle/>
          <a:p>
            <a:pPr>
              <a:spcAft>
                <a:spcPts val="427"/>
              </a:spcAft>
            </a:pPr>
            <a:r>
              <a:rPr sz="1138">
                <a:solidFill>
                  <a:srgbClr val="6E6E6E"/>
                </a:solidFill>
                <a:latin typeface="Helvetica Neue"/>
              </a:rPr>
              <a:t>OUTPUTS</a:t>
            </a:r>
          </a:p>
          <a:p>
            <a:r>
              <a:rPr sz="1493">
                <a:solidFill>
                  <a:srgbClr val="1F1F1F"/>
                </a:solidFill>
                <a:latin typeface="Helvetica Neue Light"/>
              </a:rPr>
              <a:t>Watches · previews (“fired 4×”) · alerts with reasons · morning glance · after-close check · weekly review</a:t>
            </a:r>
          </a:p>
        </p:txBody>
      </p:sp>
      <p:sp>
        <p:nvSpPr>
          <p:cNvPr id="21" name="Rectangle 20"/>
          <p:cNvSpPr/>
          <p:nvPr/>
        </p:nvSpPr>
        <p:spPr>
          <a:xfrm>
            <a:off x="8596171" y="5462015"/>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8752230" y="5566054"/>
            <a:ext cx="3589325" cy="915635"/>
          </a:xfrm>
          <a:prstGeom prst="rect">
            <a:avLst/>
          </a:prstGeom>
          <a:noFill/>
        </p:spPr>
        <p:txBody>
          <a:bodyPr wrap="square" lIns="0" tIns="0" rIns="0" bIns="0">
            <a:spAutoFit/>
          </a:bodyPr>
          <a:lstStyle/>
          <a:p>
            <a:pPr>
              <a:spcAft>
                <a:spcPts val="427"/>
              </a:spcAft>
            </a:pPr>
            <a:r>
              <a:rPr sz="1138">
                <a:solidFill>
                  <a:srgbClr val="6E6E6E"/>
                </a:solidFill>
                <a:latin typeface="Helvetica Neue"/>
              </a:rPr>
              <a:t>FEEDBACK LOOPS</a:t>
            </a:r>
          </a:p>
          <a:p>
            <a:r>
              <a:rPr sz="1493">
                <a:solidFill>
                  <a:srgbClr val="1F1F1F"/>
                </a:solidFill>
                <a:latin typeface="Helvetica Neue Light"/>
              </a:rPr>
              <a:t>This was wrong (+ reason) · noise dial · snooze · retire · I missed one · alert-to-action</a:t>
            </a:r>
          </a:p>
        </p:txBody>
      </p:sp>
      <p:sp>
        <p:nvSpPr>
          <p:cNvPr id="23" name="Rectangle 22"/>
          <p:cNvSpPr/>
          <p:nvPr/>
        </p:nvSpPr>
        <p:spPr>
          <a:xfrm>
            <a:off x="455168" y="7282688"/>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4" name="TextBox 23"/>
          <p:cNvSpPr txBox="1"/>
          <p:nvPr/>
        </p:nvSpPr>
        <p:spPr>
          <a:xfrm>
            <a:off x="611226" y="7386727"/>
            <a:ext cx="3589325" cy="915635"/>
          </a:xfrm>
          <a:prstGeom prst="rect">
            <a:avLst/>
          </a:prstGeom>
          <a:noFill/>
        </p:spPr>
        <p:txBody>
          <a:bodyPr wrap="square" lIns="0" tIns="0" rIns="0" bIns="0">
            <a:spAutoFit/>
          </a:bodyPr>
          <a:lstStyle/>
          <a:p>
            <a:pPr>
              <a:spcAft>
                <a:spcPts val="427"/>
              </a:spcAft>
            </a:pPr>
            <a:r>
              <a:rPr sz="1138">
                <a:solidFill>
                  <a:srgbClr val="6E6E6E"/>
                </a:solidFill>
                <a:latin typeface="Helvetica Neue"/>
              </a:rPr>
              <a:t>RISKS → GUARDRAILS</a:t>
            </a:r>
          </a:p>
          <a:p>
            <a:r>
              <a:rPr sz="1493">
                <a:solidFill>
                  <a:srgbClr val="1F1F1F"/>
                </a:solidFill>
                <a:latin typeface="Helvetica Neue Light"/>
              </a:rPr>
              <a:t>Fatigue, false triggers, read-as-advice → quiet hours default, reason + source, previewed changes + Undo, AI label</a:t>
            </a:r>
          </a:p>
        </p:txBody>
      </p:sp>
      <p:sp>
        <p:nvSpPr>
          <p:cNvPr id="25" name="Rectangle 24"/>
          <p:cNvSpPr/>
          <p:nvPr/>
        </p:nvSpPr>
        <p:spPr>
          <a:xfrm>
            <a:off x="4525670" y="7282688"/>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6" name="TextBox 25"/>
          <p:cNvSpPr txBox="1"/>
          <p:nvPr/>
        </p:nvSpPr>
        <p:spPr>
          <a:xfrm>
            <a:off x="4681728" y="7386727"/>
            <a:ext cx="3589325" cy="685893"/>
          </a:xfrm>
          <a:prstGeom prst="rect">
            <a:avLst/>
          </a:prstGeom>
          <a:noFill/>
        </p:spPr>
        <p:txBody>
          <a:bodyPr wrap="square" lIns="0" tIns="0" rIns="0" bIns="0">
            <a:spAutoFit/>
          </a:bodyPr>
          <a:lstStyle/>
          <a:p>
            <a:pPr>
              <a:spcAft>
                <a:spcPts val="427"/>
              </a:spcAft>
            </a:pPr>
            <a:r>
              <a:rPr sz="1138">
                <a:solidFill>
                  <a:srgbClr val="6E6E6E"/>
                </a:solidFill>
                <a:latin typeface="Helvetica Neue"/>
              </a:rPr>
              <a:t>BUSINESS</a:t>
            </a:r>
          </a:p>
          <a:p>
            <a:r>
              <a:rPr sz="1493">
                <a:solidFill>
                  <a:srgbClr val="1F1F1F"/>
                </a:solidFill>
                <a:latin typeface="Helvetica Neue Light"/>
              </a:rPr>
              <a:t>Build + preview Free; live watching Elite; trial starts at “Watch these for me”</a:t>
            </a:r>
          </a:p>
        </p:txBody>
      </p:sp>
      <p:sp>
        <p:nvSpPr>
          <p:cNvPr id="27" name="Rectangle 26"/>
          <p:cNvSpPr/>
          <p:nvPr/>
        </p:nvSpPr>
        <p:spPr>
          <a:xfrm>
            <a:off x="8596171" y="7282688"/>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8" name="TextBox 27"/>
          <p:cNvSpPr txBox="1"/>
          <p:nvPr/>
        </p:nvSpPr>
        <p:spPr>
          <a:xfrm>
            <a:off x="8752230" y="7386726"/>
            <a:ext cx="3589325" cy="915635"/>
          </a:xfrm>
          <a:prstGeom prst="rect">
            <a:avLst/>
          </a:prstGeom>
          <a:noFill/>
        </p:spPr>
        <p:txBody>
          <a:bodyPr wrap="square" lIns="0" tIns="0" rIns="0" bIns="0">
            <a:spAutoFit/>
          </a:bodyPr>
          <a:lstStyle/>
          <a:p>
            <a:pPr>
              <a:spcAft>
                <a:spcPts val="427"/>
              </a:spcAft>
            </a:pPr>
            <a:r>
              <a:rPr sz="1138">
                <a:solidFill>
                  <a:srgbClr val="6E6E6E"/>
                </a:solidFill>
                <a:latin typeface="Helvetica Neue"/>
              </a:rPr>
              <a:t>METRICS</a:t>
            </a:r>
          </a:p>
          <a:p>
            <a:r>
              <a:rPr sz="1493">
                <a:solidFill>
                  <a:srgbClr val="1F1F1F"/>
                </a:solidFill>
                <a:latin typeface="Helvetica Neue Light"/>
              </a:rPr>
              <a:t>Alert-to-action &gt; 40% · no-action &lt; 40%, muted &lt; 10% · alert → chart &lt; 10 min · “wrong” rate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rPr>
              <a:t>Appendix   </a:t>
            </a:r>
            <a:r>
              <a:rPr lang="en-US" sz="1422" dirty="0" err="1">
                <a:solidFill>
                  <a:srgbClr val="1F1F1F"/>
                </a:solidFill>
              </a:rPr>
              <a:t>FinViz</a:t>
            </a:r>
            <a:r>
              <a:rPr lang="en-US" sz="1422" dirty="0">
                <a:solidFill>
                  <a:srgbClr val="1F1F1F"/>
                </a:solidFill>
              </a:rPr>
              <a:t>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Input, output and refinement journeys</a:t>
            </a:r>
          </a:p>
        </p:txBody>
      </p:sp>
      <p:sp>
        <p:nvSpPr>
          <p:cNvPr id="5" name="Rectangle 4"/>
          <p:cNvSpPr/>
          <p:nvPr/>
        </p:nvSpPr>
        <p:spPr>
          <a:xfrm>
            <a:off x="455168" y="1820672"/>
            <a:ext cx="2210816" cy="2210816"/>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6" name="TextBox 5"/>
          <p:cNvSpPr txBox="1"/>
          <p:nvPr/>
        </p:nvSpPr>
        <p:spPr>
          <a:xfrm>
            <a:off x="611226" y="1976729"/>
            <a:ext cx="1950720" cy="843051"/>
          </a:xfrm>
          <a:prstGeom prst="rect">
            <a:avLst/>
          </a:prstGeom>
          <a:noFill/>
        </p:spPr>
        <p:txBody>
          <a:bodyPr wrap="square" lIns="0" tIns="0" rIns="0" bIns="0">
            <a:spAutoFit/>
          </a:bodyPr>
          <a:lstStyle/>
          <a:p>
            <a:pPr>
              <a:spcAft>
                <a:spcPts val="569"/>
              </a:spcAft>
            </a:pPr>
            <a:r>
              <a:rPr sz="1280">
                <a:solidFill>
                  <a:srgbClr val="FFFFFF"/>
                </a:solidFill>
                <a:latin typeface="Helvetica Neue"/>
              </a:rPr>
              <a:t>INPUT</a:t>
            </a:r>
          </a:p>
          <a:p>
            <a:r>
              <a:rPr sz="1849">
                <a:solidFill>
                  <a:srgbClr val="FFFFFF"/>
                </a:solidFill>
                <a:latin typeface="Helvetica Neue Light"/>
              </a:rPr>
              <a:t>Setting up what to watch</a:t>
            </a:r>
          </a:p>
        </p:txBody>
      </p:sp>
      <p:sp>
        <p:nvSpPr>
          <p:cNvPr id="7" name="Rectangle 6"/>
          <p:cNvSpPr/>
          <p:nvPr/>
        </p:nvSpPr>
        <p:spPr>
          <a:xfrm>
            <a:off x="2796032" y="1820672"/>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2926080" y="1950720"/>
            <a:ext cx="1586586" cy="882934"/>
          </a:xfrm>
          <a:prstGeom prst="rect">
            <a:avLst/>
          </a:prstGeom>
          <a:noFill/>
        </p:spPr>
        <p:txBody>
          <a:bodyPr wrap="square" lIns="0" tIns="0" rIns="0" bIns="0">
            <a:spAutoFit/>
          </a:bodyPr>
          <a:lstStyle/>
          <a:p>
            <a:pPr>
              <a:spcAft>
                <a:spcPts val="427"/>
              </a:spcAft>
            </a:pPr>
            <a:r>
              <a:rPr sz="1138">
                <a:solidFill>
                  <a:srgbClr val="5B3F96"/>
                </a:solidFill>
                <a:latin typeface="Helvetica Neue"/>
              </a:rPr>
              <a:t>I1</a:t>
            </a:r>
          </a:p>
          <a:p>
            <a:r>
              <a:rPr sz="1422">
                <a:solidFill>
                  <a:srgbClr val="1F1F1F"/>
                </a:solidFill>
                <a:latin typeface="Helvetica Neue Light"/>
              </a:rPr>
              <a:t>Start from context: “Watch” on a screen, row, chart</a:t>
            </a:r>
          </a:p>
        </p:txBody>
      </p:sp>
      <p:sp>
        <p:nvSpPr>
          <p:cNvPr id="9" name="Rectangle 8"/>
          <p:cNvSpPr/>
          <p:nvPr/>
        </p:nvSpPr>
        <p:spPr>
          <a:xfrm>
            <a:off x="4746752" y="1820672"/>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0" name="TextBox 9"/>
          <p:cNvSpPr txBox="1"/>
          <p:nvPr/>
        </p:nvSpPr>
        <p:spPr>
          <a:xfrm>
            <a:off x="4876800" y="1950720"/>
            <a:ext cx="1586586" cy="882934"/>
          </a:xfrm>
          <a:prstGeom prst="rect">
            <a:avLst/>
          </a:prstGeom>
          <a:noFill/>
        </p:spPr>
        <p:txBody>
          <a:bodyPr wrap="square" lIns="0" tIns="0" rIns="0" bIns="0">
            <a:spAutoFit/>
          </a:bodyPr>
          <a:lstStyle/>
          <a:p>
            <a:pPr>
              <a:spcAft>
                <a:spcPts val="427"/>
              </a:spcAft>
            </a:pPr>
            <a:r>
              <a:rPr sz="1138">
                <a:solidFill>
                  <a:srgbClr val="5B3F96"/>
                </a:solidFill>
                <a:latin typeface="Helvetica Neue"/>
              </a:rPr>
              <a:t>I2</a:t>
            </a:r>
          </a:p>
          <a:p>
            <a:r>
              <a:rPr sz="1422">
                <a:solidFill>
                  <a:srgbClr val="1F1F1F"/>
                </a:solidFill>
                <a:latin typeface="Helvetica Neue Light"/>
              </a:rPr>
              <a:t>State intent: reasons, a dragged exit line, or type</a:t>
            </a:r>
          </a:p>
        </p:txBody>
      </p:sp>
      <p:sp>
        <p:nvSpPr>
          <p:cNvPr id="11" name="Rectangle 10"/>
          <p:cNvSpPr/>
          <p:nvPr/>
        </p:nvSpPr>
        <p:spPr>
          <a:xfrm>
            <a:off x="6697472" y="1820672"/>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6827520" y="1950720"/>
            <a:ext cx="1586586" cy="882934"/>
          </a:xfrm>
          <a:prstGeom prst="rect">
            <a:avLst/>
          </a:prstGeom>
          <a:noFill/>
        </p:spPr>
        <p:txBody>
          <a:bodyPr wrap="square" lIns="0" tIns="0" rIns="0" bIns="0">
            <a:spAutoFit/>
          </a:bodyPr>
          <a:lstStyle/>
          <a:p>
            <a:pPr>
              <a:spcAft>
                <a:spcPts val="427"/>
              </a:spcAft>
            </a:pPr>
            <a:r>
              <a:rPr sz="1138">
                <a:solidFill>
                  <a:srgbClr val="5B3F96"/>
                </a:solidFill>
                <a:latin typeface="Helvetica Neue"/>
              </a:rPr>
              <a:t>I3</a:t>
            </a:r>
          </a:p>
          <a:p>
            <a:r>
              <a:rPr sz="1422">
                <a:solidFill>
                  <a:srgbClr val="1F1F1F"/>
                </a:solidFill>
                <a:latin typeface="Helvetica Neue Light"/>
              </a:rPr>
              <a:t>Preview: noise dial redraws 30 days (9 → 4 → 2)</a:t>
            </a:r>
          </a:p>
        </p:txBody>
      </p:sp>
      <p:sp>
        <p:nvSpPr>
          <p:cNvPr id="13" name="Rectangle 12"/>
          <p:cNvSpPr/>
          <p:nvPr/>
        </p:nvSpPr>
        <p:spPr>
          <a:xfrm>
            <a:off x="8648192" y="1820672"/>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8778240" y="1950720"/>
            <a:ext cx="1586586" cy="664093"/>
          </a:xfrm>
          <a:prstGeom prst="rect">
            <a:avLst/>
          </a:prstGeom>
          <a:noFill/>
        </p:spPr>
        <p:txBody>
          <a:bodyPr wrap="square" lIns="0" tIns="0" rIns="0" bIns="0">
            <a:spAutoFit/>
          </a:bodyPr>
          <a:lstStyle/>
          <a:p>
            <a:pPr>
              <a:spcAft>
                <a:spcPts val="427"/>
              </a:spcAft>
            </a:pPr>
            <a:r>
              <a:rPr sz="1138">
                <a:solidFill>
                  <a:srgbClr val="5B3F96"/>
                </a:solidFill>
                <a:latin typeface="Helvetica Neue"/>
              </a:rPr>
              <a:t>I4</a:t>
            </a:r>
          </a:p>
          <a:p>
            <a:r>
              <a:rPr sz="1422">
                <a:solidFill>
                  <a:srgbClr val="1F1F1F"/>
                </a:solidFill>
                <a:latin typeface="Helvetica Neue Light"/>
              </a:rPr>
              <a:t>When + how: paint quiet hours once</a:t>
            </a:r>
          </a:p>
        </p:txBody>
      </p:sp>
      <p:sp>
        <p:nvSpPr>
          <p:cNvPr id="15" name="Rectangle 14"/>
          <p:cNvSpPr/>
          <p:nvPr/>
        </p:nvSpPr>
        <p:spPr>
          <a:xfrm>
            <a:off x="10598912" y="1820672"/>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10728960" y="1950720"/>
            <a:ext cx="1586586" cy="664093"/>
          </a:xfrm>
          <a:prstGeom prst="rect">
            <a:avLst/>
          </a:prstGeom>
          <a:noFill/>
        </p:spPr>
        <p:txBody>
          <a:bodyPr wrap="square" lIns="0" tIns="0" rIns="0" bIns="0">
            <a:spAutoFit/>
          </a:bodyPr>
          <a:lstStyle/>
          <a:p>
            <a:pPr>
              <a:spcAft>
                <a:spcPts val="427"/>
              </a:spcAft>
            </a:pPr>
            <a:r>
              <a:rPr sz="1138">
                <a:solidFill>
                  <a:srgbClr val="5B3F96"/>
                </a:solidFill>
                <a:latin typeface="Helvetica Neue"/>
              </a:rPr>
              <a:t>I5</a:t>
            </a:r>
          </a:p>
          <a:p>
            <a:r>
              <a:rPr sz="1422">
                <a:solidFill>
                  <a:srgbClr val="1F1F1F"/>
                </a:solidFill>
                <a:latin typeface="Helvetica Neue Light"/>
              </a:rPr>
              <a:t>Commit: Elite trial starts here</a:t>
            </a:r>
          </a:p>
        </p:txBody>
      </p:sp>
      <p:sp>
        <p:nvSpPr>
          <p:cNvPr id="17" name="Rectangle 16"/>
          <p:cNvSpPr/>
          <p:nvPr/>
        </p:nvSpPr>
        <p:spPr>
          <a:xfrm>
            <a:off x="455168" y="4226560"/>
            <a:ext cx="2210816" cy="2210816"/>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8" name="TextBox 17"/>
          <p:cNvSpPr txBox="1"/>
          <p:nvPr/>
        </p:nvSpPr>
        <p:spPr>
          <a:xfrm>
            <a:off x="611226" y="4382618"/>
            <a:ext cx="1950720" cy="843051"/>
          </a:xfrm>
          <a:prstGeom prst="rect">
            <a:avLst/>
          </a:prstGeom>
          <a:noFill/>
        </p:spPr>
        <p:txBody>
          <a:bodyPr wrap="square" lIns="0" tIns="0" rIns="0" bIns="0">
            <a:spAutoFit/>
          </a:bodyPr>
          <a:lstStyle/>
          <a:p>
            <a:pPr>
              <a:spcAft>
                <a:spcPts val="569"/>
              </a:spcAft>
            </a:pPr>
            <a:r>
              <a:rPr sz="1280">
                <a:solidFill>
                  <a:srgbClr val="FFFFFF"/>
                </a:solidFill>
                <a:latin typeface="Helvetica Neue"/>
              </a:rPr>
              <a:t>OUTPUT</a:t>
            </a:r>
          </a:p>
          <a:p>
            <a:r>
              <a:rPr sz="1849">
                <a:solidFill>
                  <a:srgbClr val="FFFFFF"/>
                </a:solidFill>
                <a:latin typeface="Helvetica Neue Light"/>
              </a:rPr>
              <a:t>What arrives, and when</a:t>
            </a:r>
          </a:p>
        </p:txBody>
      </p:sp>
      <p:sp>
        <p:nvSpPr>
          <p:cNvPr id="19" name="Rectangle 18"/>
          <p:cNvSpPr/>
          <p:nvPr/>
        </p:nvSpPr>
        <p:spPr>
          <a:xfrm>
            <a:off x="2796032" y="4226560"/>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TextBox 19"/>
          <p:cNvSpPr txBox="1"/>
          <p:nvPr/>
        </p:nvSpPr>
        <p:spPr>
          <a:xfrm>
            <a:off x="2926080" y="4356608"/>
            <a:ext cx="1586586" cy="882934"/>
          </a:xfrm>
          <a:prstGeom prst="rect">
            <a:avLst/>
          </a:prstGeom>
          <a:noFill/>
        </p:spPr>
        <p:txBody>
          <a:bodyPr wrap="square" lIns="0" tIns="0" rIns="0" bIns="0">
            <a:spAutoFit/>
          </a:bodyPr>
          <a:lstStyle/>
          <a:p>
            <a:pPr>
              <a:spcAft>
                <a:spcPts val="427"/>
              </a:spcAft>
            </a:pPr>
            <a:r>
              <a:rPr sz="1138">
                <a:solidFill>
                  <a:srgbClr val="00868B"/>
                </a:solidFill>
                <a:latin typeface="Helvetica Neue"/>
              </a:rPr>
              <a:t>O1</a:t>
            </a:r>
          </a:p>
          <a:p>
            <a:r>
              <a:rPr sz="1422">
                <a:solidFill>
                  <a:srgbClr val="1F1F1F"/>
                </a:solidFill>
                <a:latin typeface="Helvetica Neue Light"/>
              </a:rPr>
              <a:t>7:30 AM morning glance, his names only</a:t>
            </a:r>
          </a:p>
        </p:txBody>
      </p:sp>
      <p:sp>
        <p:nvSpPr>
          <p:cNvPr id="21" name="Rectangle 20"/>
          <p:cNvSpPr/>
          <p:nvPr/>
        </p:nvSpPr>
        <p:spPr>
          <a:xfrm>
            <a:off x="4746752" y="4226560"/>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4876800" y="4356608"/>
            <a:ext cx="1586586" cy="882934"/>
          </a:xfrm>
          <a:prstGeom prst="rect">
            <a:avLst/>
          </a:prstGeom>
          <a:noFill/>
        </p:spPr>
        <p:txBody>
          <a:bodyPr wrap="square" lIns="0" tIns="0" rIns="0" bIns="0">
            <a:spAutoFit/>
          </a:bodyPr>
          <a:lstStyle/>
          <a:p>
            <a:pPr>
              <a:spcAft>
                <a:spcPts val="427"/>
              </a:spcAft>
            </a:pPr>
            <a:r>
              <a:rPr sz="1138">
                <a:solidFill>
                  <a:srgbClr val="00868B"/>
                </a:solidFill>
                <a:latin typeface="Helvetica Neue"/>
              </a:rPr>
              <a:t>O2</a:t>
            </a:r>
          </a:p>
          <a:p>
            <a:r>
              <a:rPr sz="1422">
                <a:solidFill>
                  <a:srgbClr val="1F1F1F"/>
                </a:solidFill>
                <a:latin typeface="Helvetica Neue Light"/>
              </a:rPr>
              <a:t>One reason-first alert at work; grouped if several</a:t>
            </a:r>
          </a:p>
        </p:txBody>
      </p:sp>
      <p:sp>
        <p:nvSpPr>
          <p:cNvPr id="23" name="Rectangle 22"/>
          <p:cNvSpPr/>
          <p:nvPr/>
        </p:nvSpPr>
        <p:spPr>
          <a:xfrm>
            <a:off x="6697472" y="4226560"/>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4" name="TextBox 23"/>
          <p:cNvSpPr txBox="1"/>
          <p:nvPr/>
        </p:nvSpPr>
        <p:spPr>
          <a:xfrm>
            <a:off x="6827520" y="4356608"/>
            <a:ext cx="1586586" cy="882934"/>
          </a:xfrm>
          <a:prstGeom prst="rect">
            <a:avLst/>
          </a:prstGeom>
          <a:noFill/>
        </p:spPr>
        <p:txBody>
          <a:bodyPr wrap="square" lIns="0" tIns="0" rIns="0" bIns="0">
            <a:spAutoFit/>
          </a:bodyPr>
          <a:lstStyle/>
          <a:p>
            <a:pPr>
              <a:spcAft>
                <a:spcPts val="427"/>
              </a:spcAft>
            </a:pPr>
            <a:r>
              <a:rPr sz="1138">
                <a:solidFill>
                  <a:srgbClr val="00868B"/>
                </a:solidFill>
                <a:latin typeface="Helvetica Neue"/>
              </a:rPr>
              <a:t>O3</a:t>
            </a:r>
          </a:p>
          <a:p>
            <a:r>
              <a:rPr sz="1422">
                <a:solidFill>
                  <a:srgbClr val="1F1F1F"/>
                </a:solidFill>
                <a:latin typeface="Helvetica Neue Light"/>
              </a:rPr>
              <a:t>Opened: chart at the trigger bar + his plan</a:t>
            </a:r>
          </a:p>
        </p:txBody>
      </p:sp>
      <p:sp>
        <p:nvSpPr>
          <p:cNvPr id="25" name="Rectangle 24"/>
          <p:cNvSpPr/>
          <p:nvPr/>
        </p:nvSpPr>
        <p:spPr>
          <a:xfrm>
            <a:off x="8648192" y="4226560"/>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6" name="TextBox 25"/>
          <p:cNvSpPr txBox="1"/>
          <p:nvPr/>
        </p:nvSpPr>
        <p:spPr>
          <a:xfrm>
            <a:off x="8778240" y="4356608"/>
            <a:ext cx="1586586" cy="664093"/>
          </a:xfrm>
          <a:prstGeom prst="rect">
            <a:avLst/>
          </a:prstGeom>
          <a:noFill/>
        </p:spPr>
        <p:txBody>
          <a:bodyPr wrap="square" lIns="0" tIns="0" rIns="0" bIns="0">
            <a:spAutoFit/>
          </a:bodyPr>
          <a:lstStyle/>
          <a:p>
            <a:pPr>
              <a:spcAft>
                <a:spcPts val="427"/>
              </a:spcAft>
            </a:pPr>
            <a:r>
              <a:rPr sz="1138">
                <a:solidFill>
                  <a:srgbClr val="00868B"/>
                </a:solidFill>
                <a:latin typeface="Helvetica Neue"/>
              </a:rPr>
              <a:t>O4</a:t>
            </a:r>
          </a:p>
          <a:p>
            <a:r>
              <a:rPr sz="1422">
                <a:solidFill>
                  <a:srgbClr val="1F1F1F"/>
                </a:solidFill>
                <a:latin typeface="Helvetica Neue Light"/>
              </a:rPr>
              <a:t>4:30 PM reasons still hold? checklist</a:t>
            </a:r>
          </a:p>
        </p:txBody>
      </p:sp>
      <p:sp>
        <p:nvSpPr>
          <p:cNvPr id="27" name="Rectangle 26"/>
          <p:cNvSpPr/>
          <p:nvPr/>
        </p:nvSpPr>
        <p:spPr>
          <a:xfrm>
            <a:off x="10598912" y="4226560"/>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8" name="TextBox 27"/>
          <p:cNvSpPr txBox="1"/>
          <p:nvPr/>
        </p:nvSpPr>
        <p:spPr>
          <a:xfrm>
            <a:off x="10728960" y="4356608"/>
            <a:ext cx="1586586" cy="882934"/>
          </a:xfrm>
          <a:prstGeom prst="rect">
            <a:avLst/>
          </a:prstGeom>
          <a:noFill/>
        </p:spPr>
        <p:txBody>
          <a:bodyPr wrap="square" lIns="0" tIns="0" rIns="0" bIns="0">
            <a:spAutoFit/>
          </a:bodyPr>
          <a:lstStyle/>
          <a:p>
            <a:pPr>
              <a:spcAft>
                <a:spcPts val="427"/>
              </a:spcAft>
            </a:pPr>
            <a:r>
              <a:rPr sz="1138">
                <a:solidFill>
                  <a:srgbClr val="00868B"/>
                </a:solidFill>
                <a:latin typeface="Helvetica Neue"/>
              </a:rPr>
              <a:t>O5</a:t>
            </a:r>
          </a:p>
          <a:p>
            <a:r>
              <a:rPr sz="1422">
                <a:solidFill>
                  <a:srgbClr val="1F1F1F"/>
                </a:solidFill>
                <a:latin typeface="Helvetica Neue Light"/>
              </a:rPr>
              <a:t>Activity log: every send and change, Undo</a:t>
            </a:r>
          </a:p>
        </p:txBody>
      </p:sp>
      <p:sp>
        <p:nvSpPr>
          <p:cNvPr id="29" name="Rectangle 28"/>
          <p:cNvSpPr/>
          <p:nvPr/>
        </p:nvSpPr>
        <p:spPr>
          <a:xfrm>
            <a:off x="455168" y="6632448"/>
            <a:ext cx="2210816" cy="2210816"/>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0" name="TextBox 29"/>
          <p:cNvSpPr txBox="1"/>
          <p:nvPr/>
        </p:nvSpPr>
        <p:spPr>
          <a:xfrm>
            <a:off x="611226" y="6788506"/>
            <a:ext cx="1950720" cy="1127616"/>
          </a:xfrm>
          <a:prstGeom prst="rect">
            <a:avLst/>
          </a:prstGeom>
          <a:noFill/>
        </p:spPr>
        <p:txBody>
          <a:bodyPr wrap="square" lIns="0" tIns="0" rIns="0" bIns="0">
            <a:spAutoFit/>
          </a:bodyPr>
          <a:lstStyle/>
          <a:p>
            <a:pPr>
              <a:spcAft>
                <a:spcPts val="569"/>
              </a:spcAft>
            </a:pPr>
            <a:r>
              <a:rPr sz="1280">
                <a:solidFill>
                  <a:srgbClr val="FFFFFF"/>
                </a:solidFill>
                <a:latin typeface="Helvetica Neue"/>
              </a:rPr>
              <a:t>REFINEMENT</a:t>
            </a:r>
          </a:p>
          <a:p>
            <a:r>
              <a:rPr sz="1849">
                <a:solidFill>
                  <a:srgbClr val="FFFFFF"/>
                </a:solidFill>
                <a:latin typeface="Helvetica Neue Light"/>
              </a:rPr>
              <a:t>Keeping alerts useful (the hard one)</a:t>
            </a:r>
          </a:p>
        </p:txBody>
      </p:sp>
      <p:sp>
        <p:nvSpPr>
          <p:cNvPr id="31" name="Rectangle 30"/>
          <p:cNvSpPr/>
          <p:nvPr/>
        </p:nvSpPr>
        <p:spPr>
          <a:xfrm>
            <a:off x="2796032" y="6632448"/>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2" name="TextBox 31"/>
          <p:cNvSpPr txBox="1"/>
          <p:nvPr/>
        </p:nvSpPr>
        <p:spPr>
          <a:xfrm>
            <a:off x="2926080" y="6762495"/>
            <a:ext cx="1586586" cy="882934"/>
          </a:xfrm>
          <a:prstGeom prst="rect">
            <a:avLst/>
          </a:prstGeom>
          <a:noFill/>
        </p:spPr>
        <p:txBody>
          <a:bodyPr wrap="square" lIns="0" tIns="0" rIns="0" bIns="0">
            <a:spAutoFit/>
          </a:bodyPr>
          <a:lstStyle/>
          <a:p>
            <a:pPr>
              <a:spcAft>
                <a:spcPts val="427"/>
              </a:spcAft>
            </a:pPr>
            <a:r>
              <a:rPr sz="1138">
                <a:solidFill>
                  <a:srgbClr val="A12A37"/>
                </a:solidFill>
                <a:latin typeface="Helvetica Neue"/>
              </a:rPr>
              <a:t>R1</a:t>
            </a:r>
          </a:p>
          <a:p>
            <a:r>
              <a:rPr sz="1422">
                <a:solidFill>
                  <a:srgbClr val="1F1F1F"/>
                </a:solidFill>
                <a:latin typeface="Helvetica Neue Light"/>
              </a:rPr>
              <a:t>“This was wrong” → tighter rule, previewed</a:t>
            </a:r>
          </a:p>
        </p:txBody>
      </p:sp>
      <p:sp>
        <p:nvSpPr>
          <p:cNvPr id="33" name="Rectangle 32"/>
          <p:cNvSpPr/>
          <p:nvPr/>
        </p:nvSpPr>
        <p:spPr>
          <a:xfrm>
            <a:off x="4746752" y="6632448"/>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4" name="TextBox 33"/>
          <p:cNvSpPr txBox="1"/>
          <p:nvPr/>
        </p:nvSpPr>
        <p:spPr>
          <a:xfrm>
            <a:off x="4876800" y="6762495"/>
            <a:ext cx="1586586" cy="664093"/>
          </a:xfrm>
          <a:prstGeom prst="rect">
            <a:avLst/>
          </a:prstGeom>
          <a:noFill/>
        </p:spPr>
        <p:txBody>
          <a:bodyPr wrap="square" lIns="0" tIns="0" rIns="0" bIns="0">
            <a:spAutoFit/>
          </a:bodyPr>
          <a:lstStyle/>
          <a:p>
            <a:pPr>
              <a:spcAft>
                <a:spcPts val="427"/>
              </a:spcAft>
            </a:pPr>
            <a:r>
              <a:rPr sz="1138">
                <a:solidFill>
                  <a:srgbClr val="A12A37"/>
                </a:solidFill>
                <a:latin typeface="Helvetica Neue"/>
              </a:rPr>
              <a:t>R2</a:t>
            </a:r>
          </a:p>
          <a:p>
            <a:r>
              <a:rPr sz="1422">
                <a:solidFill>
                  <a:srgbClr val="1F1F1F"/>
                </a:solidFill>
                <a:latin typeface="Helvetica Neue Light"/>
              </a:rPr>
              <a:t>Noise dial re-ranks what survives</a:t>
            </a:r>
          </a:p>
        </p:txBody>
      </p:sp>
      <p:sp>
        <p:nvSpPr>
          <p:cNvPr id="35" name="Rectangle 34"/>
          <p:cNvSpPr/>
          <p:nvPr/>
        </p:nvSpPr>
        <p:spPr>
          <a:xfrm>
            <a:off x="6697472" y="6632448"/>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6" name="TextBox 35"/>
          <p:cNvSpPr txBox="1"/>
          <p:nvPr/>
        </p:nvSpPr>
        <p:spPr>
          <a:xfrm>
            <a:off x="6827520" y="6762495"/>
            <a:ext cx="1586586" cy="882934"/>
          </a:xfrm>
          <a:prstGeom prst="rect">
            <a:avLst/>
          </a:prstGeom>
          <a:noFill/>
        </p:spPr>
        <p:txBody>
          <a:bodyPr wrap="square" lIns="0" tIns="0" rIns="0" bIns="0">
            <a:spAutoFit/>
          </a:bodyPr>
          <a:lstStyle/>
          <a:p>
            <a:pPr>
              <a:spcAft>
                <a:spcPts val="427"/>
              </a:spcAft>
            </a:pPr>
            <a:r>
              <a:rPr sz="1138">
                <a:solidFill>
                  <a:srgbClr val="A12A37"/>
                </a:solidFill>
                <a:latin typeface="Helvetica Neue"/>
              </a:rPr>
              <a:t>R3</a:t>
            </a:r>
          </a:p>
          <a:p>
            <a:r>
              <a:rPr sz="1422">
                <a:solidFill>
                  <a:srgbClr val="1F1F1F"/>
                </a:solidFill>
                <a:latin typeface="Helvetica Neue Light"/>
              </a:rPr>
              <a:t>“I missed one” → which condition blocked it</a:t>
            </a:r>
          </a:p>
        </p:txBody>
      </p:sp>
      <p:sp>
        <p:nvSpPr>
          <p:cNvPr id="37" name="Rectangle 36"/>
          <p:cNvSpPr/>
          <p:nvPr/>
        </p:nvSpPr>
        <p:spPr>
          <a:xfrm>
            <a:off x="8648192" y="6632448"/>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8" name="TextBox 37"/>
          <p:cNvSpPr txBox="1"/>
          <p:nvPr/>
        </p:nvSpPr>
        <p:spPr>
          <a:xfrm>
            <a:off x="8778240" y="6762495"/>
            <a:ext cx="1586586" cy="882934"/>
          </a:xfrm>
          <a:prstGeom prst="rect">
            <a:avLst/>
          </a:prstGeom>
          <a:noFill/>
        </p:spPr>
        <p:txBody>
          <a:bodyPr wrap="square" lIns="0" tIns="0" rIns="0" bIns="0">
            <a:spAutoFit/>
          </a:bodyPr>
          <a:lstStyle/>
          <a:p>
            <a:pPr>
              <a:spcAft>
                <a:spcPts val="427"/>
              </a:spcAft>
            </a:pPr>
            <a:r>
              <a:rPr sz="1138">
                <a:solidFill>
                  <a:srgbClr val="A12A37"/>
                </a:solidFill>
                <a:latin typeface="Helvetica Neue"/>
              </a:rPr>
              <a:t>R4</a:t>
            </a:r>
          </a:p>
          <a:p>
            <a:r>
              <a:rPr sz="1422">
                <a:solidFill>
                  <a:srgbClr val="1F1F1F"/>
                </a:solidFill>
                <a:latin typeface="Helvetica Neue Light"/>
              </a:rPr>
              <a:t>Broken reasons and stale watches: asked, not imposed</a:t>
            </a:r>
          </a:p>
        </p:txBody>
      </p:sp>
      <p:sp>
        <p:nvSpPr>
          <p:cNvPr id="39" name="Rectangle 38"/>
          <p:cNvSpPr/>
          <p:nvPr/>
        </p:nvSpPr>
        <p:spPr>
          <a:xfrm>
            <a:off x="10598912" y="6632448"/>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40" name="TextBox 39"/>
          <p:cNvSpPr txBox="1"/>
          <p:nvPr/>
        </p:nvSpPr>
        <p:spPr>
          <a:xfrm>
            <a:off x="10728960" y="6762495"/>
            <a:ext cx="1586586" cy="882934"/>
          </a:xfrm>
          <a:prstGeom prst="rect">
            <a:avLst/>
          </a:prstGeom>
          <a:noFill/>
        </p:spPr>
        <p:txBody>
          <a:bodyPr wrap="square" lIns="0" tIns="0" rIns="0" bIns="0">
            <a:spAutoFit/>
          </a:bodyPr>
          <a:lstStyle/>
          <a:p>
            <a:pPr>
              <a:spcAft>
                <a:spcPts val="427"/>
              </a:spcAft>
            </a:pPr>
            <a:r>
              <a:rPr sz="1138">
                <a:solidFill>
                  <a:srgbClr val="A12A37"/>
                </a:solidFill>
                <a:latin typeface="Helvetica Neue"/>
              </a:rPr>
              <a:t>R5</a:t>
            </a:r>
          </a:p>
          <a:p>
            <a:r>
              <a:rPr sz="1422">
                <a:solidFill>
                  <a:srgbClr val="1F1F1F"/>
                </a:solidFill>
                <a:latin typeface="Helvetica Neue Light"/>
              </a:rPr>
              <a:t>Sunday review; every change announced + Undo</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rPr>
              <a:t>Appendix   </a:t>
            </a:r>
            <a:r>
              <a:rPr lang="en-US" sz="1422" dirty="0" err="1">
                <a:solidFill>
                  <a:srgbClr val="1F1F1F"/>
                </a:solidFill>
              </a:rPr>
              <a:t>FinViz</a:t>
            </a:r>
            <a:r>
              <a:rPr lang="en-US" sz="1422" dirty="0">
                <a:solidFill>
                  <a:srgbClr val="1F1F1F"/>
                </a:solidFill>
              </a:rPr>
              <a:t>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Refinement: Making tuning as light as dismissing</a:t>
            </a:r>
          </a:p>
        </p:txBody>
      </p:sp>
      <p:sp>
        <p:nvSpPr>
          <p:cNvPr id="5" name="TextBox 4"/>
          <p:cNvSpPr txBox="1"/>
          <p:nvPr/>
        </p:nvSpPr>
        <p:spPr>
          <a:xfrm>
            <a:off x="455168" y="1560576"/>
            <a:ext cx="12094464" cy="525400"/>
          </a:xfrm>
          <a:prstGeom prst="rect">
            <a:avLst/>
          </a:prstGeom>
          <a:noFill/>
        </p:spPr>
        <p:txBody>
          <a:bodyPr wrap="square" lIns="0" tIns="0" rIns="0" bIns="0">
            <a:spAutoFit/>
          </a:bodyPr>
          <a:lstStyle/>
          <a:p>
            <a:r>
              <a:rPr sz="1707">
                <a:solidFill>
                  <a:srgbClr val="595959"/>
                </a:solidFill>
                <a:latin typeface="Helvetica Neue Light"/>
              </a:rPr>
              <a:t>Alerts decay: the market changes, reasons break, noise creeps in. Most tools offer only edit, mute or delete. Every refinement here is proposed, previewed and reversible.</a:t>
            </a:r>
          </a:p>
        </p:txBody>
      </p:sp>
      <p:pic>
        <p:nvPicPr>
          <p:cNvPr id="6" name="Picture 5" descr="AN7-this-was-wrong-proposed-fix.png"/>
          <p:cNvPicPr>
            <a:picLocks noChangeAspect="1"/>
          </p:cNvPicPr>
          <p:nvPr/>
        </p:nvPicPr>
        <p:blipFill>
          <a:blip r:embed="rId4"/>
          <a:stretch>
            <a:fillRect/>
          </a:stretch>
        </p:blipFill>
        <p:spPr>
          <a:xfrm>
            <a:off x="455168" y="2405888"/>
            <a:ext cx="5917184" cy="3536441"/>
          </a:xfrm>
          <a:prstGeom prst="rect">
            <a:avLst/>
          </a:prstGeom>
          <a:ln w="9525">
            <a:solidFill>
              <a:srgbClr val="1F1F1F"/>
            </a:solidFill>
          </a:ln>
        </p:spPr>
      </p:pic>
      <p:pic>
        <p:nvPicPr>
          <p:cNvPr id="7" name="Picture 6" descr="AN8-weekly-alert-review.png"/>
          <p:cNvPicPr>
            <a:picLocks noChangeAspect="1"/>
          </p:cNvPicPr>
          <p:nvPr/>
        </p:nvPicPr>
        <p:blipFill>
          <a:blip r:embed="rId5"/>
          <a:stretch>
            <a:fillRect/>
          </a:stretch>
        </p:blipFill>
        <p:spPr>
          <a:xfrm>
            <a:off x="6632448" y="2405888"/>
            <a:ext cx="5917184" cy="3536441"/>
          </a:xfrm>
          <a:prstGeom prst="rect">
            <a:avLst/>
          </a:prstGeom>
          <a:ln w="9525">
            <a:solidFill>
              <a:srgbClr val="1F1F1F"/>
            </a:solidFill>
          </a:ln>
        </p:spPr>
      </p:pic>
      <p:sp>
        <p:nvSpPr>
          <p:cNvPr id="8" name="TextBox 7"/>
          <p:cNvSpPr txBox="1"/>
          <p:nvPr/>
        </p:nvSpPr>
        <p:spPr>
          <a:xfrm>
            <a:off x="455168" y="6072377"/>
            <a:ext cx="5917184" cy="656526"/>
          </a:xfrm>
          <a:prstGeom prst="rect">
            <a:avLst/>
          </a:prstGeom>
          <a:noFill/>
        </p:spPr>
        <p:txBody>
          <a:bodyPr wrap="square" lIns="0" tIns="0" rIns="0" bIns="0">
            <a:spAutoFit/>
          </a:bodyPr>
          <a:lstStyle/>
          <a:p>
            <a:r>
              <a:rPr sz="1422">
                <a:solidFill>
                  <a:srgbClr val="1F1F1F"/>
                </a:solidFill>
                <a:latin typeface="Helvetica Neue"/>
              </a:rPr>
              <a:t>AN7 · “This was wrong” → proposed fix  </a:t>
            </a:r>
            <a:r>
              <a:rPr sz="1422">
                <a:solidFill>
                  <a:srgbClr val="595959"/>
                </a:solidFill>
                <a:latin typeface="Helvetica Neue Light"/>
              </a:rPr>
              <a:t>A reason, a specific rule change, a before/after replay (4 → 2 alerts, both acted-on kept). Apply, Snooze or Keep.</a:t>
            </a:r>
          </a:p>
        </p:txBody>
      </p:sp>
      <p:sp>
        <p:nvSpPr>
          <p:cNvPr id="9" name="TextBox 8"/>
          <p:cNvSpPr txBox="1"/>
          <p:nvPr/>
        </p:nvSpPr>
        <p:spPr>
          <a:xfrm>
            <a:off x="6632448" y="6072377"/>
            <a:ext cx="5917184" cy="437684"/>
          </a:xfrm>
          <a:prstGeom prst="rect">
            <a:avLst/>
          </a:prstGeom>
          <a:noFill/>
        </p:spPr>
        <p:txBody>
          <a:bodyPr wrap="square" lIns="0" tIns="0" rIns="0" bIns="0">
            <a:spAutoFit/>
          </a:bodyPr>
          <a:lstStyle/>
          <a:p>
            <a:r>
              <a:rPr sz="1422">
                <a:solidFill>
                  <a:srgbClr val="1F1F1F"/>
                </a:solidFill>
                <a:latin typeface="Helvetica Neue"/>
              </a:rPr>
              <a:t>AN8 · Weekly alert review  </a:t>
            </a:r>
            <a:r>
              <a:rPr sz="1422">
                <a:solidFill>
                  <a:srgbClr val="595959"/>
                </a:solidFill>
                <a:latin typeface="Helvetica Neue Light"/>
              </a:rPr>
              <a:t>Fired, acted on, muted, missed; then tighten, loosen or retire, each previewed. Accept or Skip.</a:t>
            </a:r>
          </a:p>
        </p:txBody>
      </p:sp>
      <p:sp>
        <p:nvSpPr>
          <p:cNvPr id="10" name="Rectangle 9"/>
          <p:cNvSpPr/>
          <p:nvPr/>
        </p:nvSpPr>
        <p:spPr>
          <a:xfrm>
            <a:off x="455168" y="7282688"/>
            <a:ext cx="12094464" cy="1755648"/>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7412736"/>
            <a:ext cx="11704320" cy="751809"/>
          </a:xfrm>
          <a:prstGeom prst="rect">
            <a:avLst/>
          </a:prstGeom>
          <a:noFill/>
        </p:spPr>
        <p:txBody>
          <a:bodyPr wrap="square" lIns="0" tIns="0" rIns="0" bIns="0">
            <a:spAutoFit/>
          </a:bodyPr>
          <a:lstStyle/>
          <a:p>
            <a:pPr>
              <a:spcAft>
                <a:spcPts val="427"/>
              </a:spcAft>
            </a:pPr>
            <a:r>
              <a:rPr sz="1138">
                <a:solidFill>
                  <a:srgbClr val="FFFFFF"/>
                </a:solidFill>
                <a:latin typeface="Helvetica Neue"/>
              </a:rPr>
              <a:t>REFINEMENT PRINCIPLES</a:t>
            </a:r>
          </a:p>
          <a:p>
            <a:r>
              <a:rPr sz="1707">
                <a:solidFill>
                  <a:srgbClr val="FFFFFF"/>
                </a:solidFill>
                <a:latin typeface="Helvetica Neue Light"/>
              </a:rPr>
              <a:t>Every suggestion comes with a preview of its effect · nothing changes silently · corrections count as feedback · decay is asked, not imposed · the trader can always see and undo.</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rPr>
              <a:t>Appendix   </a:t>
            </a:r>
            <a:r>
              <a:rPr lang="en-US" sz="1422" dirty="0" err="1">
                <a:solidFill>
                  <a:srgbClr val="1F1F1F"/>
                </a:solidFill>
              </a:rPr>
              <a:t>FinViz</a:t>
            </a:r>
            <a:r>
              <a:rPr lang="en-US" sz="1422" dirty="0">
                <a:solidFill>
                  <a:srgbClr val="1F1F1F"/>
                </a:solidFill>
              </a:rPr>
              <a:t>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Prioritized ideas: Highest impact first</a:t>
            </a:r>
          </a:p>
        </p:txBody>
      </p:sp>
      <p:sp>
        <p:nvSpPr>
          <p:cNvPr id="5" name="TextBox 4"/>
          <p:cNvSpPr txBox="1"/>
          <p:nvPr/>
        </p:nvSpPr>
        <p:spPr>
          <a:xfrm>
            <a:off x="455168" y="1560576"/>
            <a:ext cx="12094464" cy="240707"/>
          </a:xfrm>
          <a:prstGeom prst="rect">
            <a:avLst/>
          </a:prstGeom>
          <a:noFill/>
        </p:spPr>
        <p:txBody>
          <a:bodyPr wrap="square" lIns="0" tIns="0" rIns="0" bIns="0">
            <a:spAutoFit/>
          </a:bodyPr>
          <a:lstStyle/>
          <a:p>
            <a:r>
              <a:rPr sz="1564">
                <a:solidFill>
                  <a:srgbClr val="595959"/>
                </a:solidFill>
                <a:latin typeface="Helvetica Neue Light"/>
              </a:rPr>
              <a:t>User impact × business impact (1–5 each); effort S / M / L. Scores are design judgment, to validate with users.</a:t>
            </a:r>
          </a:p>
        </p:txBody>
      </p:sp>
      <p:sp>
        <p:nvSpPr>
          <p:cNvPr id="6" name="TextBox 5"/>
          <p:cNvSpPr txBox="1"/>
          <p:nvPr/>
        </p:nvSpPr>
        <p:spPr>
          <a:xfrm>
            <a:off x="455168" y="2288845"/>
            <a:ext cx="520192" cy="306366"/>
          </a:xfrm>
          <a:prstGeom prst="rect">
            <a:avLst/>
          </a:prstGeom>
          <a:noFill/>
        </p:spPr>
        <p:txBody>
          <a:bodyPr wrap="square" lIns="0" tIns="0" rIns="0" bIns="0">
            <a:spAutoFit/>
          </a:bodyPr>
          <a:lstStyle/>
          <a:p>
            <a:r>
              <a:rPr sz="1991">
                <a:solidFill>
                  <a:srgbClr val="C45A35"/>
                </a:solidFill>
                <a:latin typeface="Helvetica Neue Light"/>
              </a:rPr>
              <a:t>1</a:t>
            </a:r>
          </a:p>
        </p:txBody>
      </p:sp>
      <p:sp>
        <p:nvSpPr>
          <p:cNvPr id="7" name="TextBox 6"/>
          <p:cNvSpPr txBox="1"/>
          <p:nvPr/>
        </p:nvSpPr>
        <p:spPr>
          <a:xfrm>
            <a:off x="975360" y="2314855"/>
            <a:ext cx="4291584" cy="262701"/>
          </a:xfrm>
          <a:prstGeom prst="rect">
            <a:avLst/>
          </a:prstGeom>
          <a:noFill/>
        </p:spPr>
        <p:txBody>
          <a:bodyPr wrap="square" lIns="0" tIns="0" rIns="0" bIns="0">
            <a:spAutoFit/>
          </a:bodyPr>
          <a:lstStyle/>
          <a:p>
            <a:r>
              <a:rPr sz="1707">
                <a:solidFill>
                  <a:srgbClr val="1F1F1F"/>
                </a:solidFill>
                <a:latin typeface="Helvetica Neue Light"/>
              </a:rPr>
              <a:t>30-day replay + noise dial  </a:t>
            </a:r>
            <a:r>
              <a:rPr sz="1422">
                <a:solidFill>
                  <a:srgbClr val="1F1F1F"/>
                </a:solidFill>
                <a:latin typeface="Helvetica Neue Light"/>
              </a:rPr>
              <a:t>🤖</a:t>
            </a:r>
          </a:p>
        </p:txBody>
      </p:sp>
      <p:sp>
        <p:nvSpPr>
          <p:cNvPr id="8" name="Rectangle 7"/>
          <p:cNvSpPr/>
          <p:nvPr/>
        </p:nvSpPr>
        <p:spPr>
          <a:xfrm>
            <a:off x="5396992" y="2314854"/>
            <a:ext cx="5462016" cy="338125"/>
          </a:xfrm>
          <a:prstGeom prst="rect">
            <a:avLst/>
          </a:prstGeom>
          <a:solidFill>
            <a:srgbClr val="1F5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10924032" y="2314854"/>
            <a:ext cx="1820672" cy="218842"/>
          </a:xfrm>
          <a:prstGeom prst="rect">
            <a:avLst/>
          </a:prstGeom>
          <a:noFill/>
        </p:spPr>
        <p:txBody>
          <a:bodyPr wrap="square" lIns="0" tIns="0" rIns="0" bIns="0">
            <a:spAutoFit/>
          </a:bodyPr>
          <a:lstStyle/>
          <a:p>
            <a:r>
              <a:rPr sz="1422">
                <a:solidFill>
                  <a:srgbClr val="595959"/>
                </a:solidFill>
                <a:latin typeface="Helvetica Neue"/>
              </a:rPr>
              <a:t>25 · M</a:t>
            </a:r>
          </a:p>
        </p:txBody>
      </p:sp>
      <p:sp>
        <p:nvSpPr>
          <p:cNvPr id="10" name="TextBox 9"/>
          <p:cNvSpPr txBox="1"/>
          <p:nvPr/>
        </p:nvSpPr>
        <p:spPr>
          <a:xfrm>
            <a:off x="455168" y="2913074"/>
            <a:ext cx="520192" cy="306366"/>
          </a:xfrm>
          <a:prstGeom prst="rect">
            <a:avLst/>
          </a:prstGeom>
          <a:noFill/>
        </p:spPr>
        <p:txBody>
          <a:bodyPr wrap="square" lIns="0" tIns="0" rIns="0" bIns="0">
            <a:spAutoFit/>
          </a:bodyPr>
          <a:lstStyle/>
          <a:p>
            <a:r>
              <a:rPr sz="1991">
                <a:solidFill>
                  <a:srgbClr val="C45A35"/>
                </a:solidFill>
                <a:latin typeface="Helvetica Neue Light"/>
              </a:rPr>
              <a:t>2</a:t>
            </a:r>
          </a:p>
        </p:txBody>
      </p:sp>
      <p:sp>
        <p:nvSpPr>
          <p:cNvPr id="11" name="TextBox 10"/>
          <p:cNvSpPr txBox="1"/>
          <p:nvPr/>
        </p:nvSpPr>
        <p:spPr>
          <a:xfrm>
            <a:off x="975360" y="2939084"/>
            <a:ext cx="4291584" cy="262701"/>
          </a:xfrm>
          <a:prstGeom prst="rect">
            <a:avLst/>
          </a:prstGeom>
          <a:noFill/>
        </p:spPr>
        <p:txBody>
          <a:bodyPr wrap="square" lIns="0" tIns="0" rIns="0" bIns="0">
            <a:spAutoFit/>
          </a:bodyPr>
          <a:lstStyle/>
          <a:p>
            <a:r>
              <a:rPr sz="1707">
                <a:solidFill>
                  <a:srgbClr val="1F1F1F"/>
                </a:solidFill>
                <a:latin typeface="Helvetica Neue Light"/>
              </a:rPr>
              <a:t>Reason-first alert copy  </a:t>
            </a:r>
            <a:r>
              <a:rPr sz="1422">
                <a:solidFill>
                  <a:srgbClr val="1F1F1F"/>
                </a:solidFill>
                <a:latin typeface="Helvetica Neue Light"/>
              </a:rPr>
              <a:t>🤖</a:t>
            </a:r>
          </a:p>
        </p:txBody>
      </p:sp>
      <p:sp>
        <p:nvSpPr>
          <p:cNvPr id="12" name="Rectangle 11"/>
          <p:cNvSpPr/>
          <p:nvPr/>
        </p:nvSpPr>
        <p:spPr>
          <a:xfrm>
            <a:off x="5396992" y="2939083"/>
            <a:ext cx="4369613" cy="338125"/>
          </a:xfrm>
          <a:prstGeom prst="rect">
            <a:avLst/>
          </a:prstGeom>
          <a:solidFill>
            <a:srgbClr val="1F5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9831629" y="2939083"/>
            <a:ext cx="1820672" cy="218842"/>
          </a:xfrm>
          <a:prstGeom prst="rect">
            <a:avLst/>
          </a:prstGeom>
          <a:noFill/>
        </p:spPr>
        <p:txBody>
          <a:bodyPr wrap="square" lIns="0" tIns="0" rIns="0" bIns="0">
            <a:spAutoFit/>
          </a:bodyPr>
          <a:lstStyle/>
          <a:p>
            <a:r>
              <a:rPr sz="1422">
                <a:solidFill>
                  <a:srgbClr val="595959"/>
                </a:solidFill>
                <a:latin typeface="Helvetica Neue"/>
              </a:rPr>
              <a:t>20 · S</a:t>
            </a:r>
          </a:p>
        </p:txBody>
      </p:sp>
      <p:sp>
        <p:nvSpPr>
          <p:cNvPr id="14" name="TextBox 13"/>
          <p:cNvSpPr txBox="1"/>
          <p:nvPr/>
        </p:nvSpPr>
        <p:spPr>
          <a:xfrm>
            <a:off x="455168" y="3537305"/>
            <a:ext cx="520192" cy="306366"/>
          </a:xfrm>
          <a:prstGeom prst="rect">
            <a:avLst/>
          </a:prstGeom>
          <a:noFill/>
        </p:spPr>
        <p:txBody>
          <a:bodyPr wrap="square" lIns="0" tIns="0" rIns="0" bIns="0">
            <a:spAutoFit/>
          </a:bodyPr>
          <a:lstStyle/>
          <a:p>
            <a:r>
              <a:rPr sz="1991">
                <a:solidFill>
                  <a:srgbClr val="C45A35"/>
                </a:solidFill>
                <a:latin typeface="Helvetica Neue Light"/>
              </a:rPr>
              <a:t>3</a:t>
            </a:r>
          </a:p>
        </p:txBody>
      </p:sp>
      <p:sp>
        <p:nvSpPr>
          <p:cNvPr id="15" name="TextBox 14"/>
          <p:cNvSpPr txBox="1"/>
          <p:nvPr/>
        </p:nvSpPr>
        <p:spPr>
          <a:xfrm>
            <a:off x="975360" y="3563316"/>
            <a:ext cx="4291584" cy="262701"/>
          </a:xfrm>
          <a:prstGeom prst="rect">
            <a:avLst/>
          </a:prstGeom>
          <a:noFill/>
        </p:spPr>
        <p:txBody>
          <a:bodyPr wrap="square" lIns="0" tIns="0" rIns="0" bIns="0">
            <a:spAutoFit/>
          </a:bodyPr>
          <a:lstStyle/>
          <a:p>
            <a:r>
              <a:rPr sz="1707">
                <a:solidFill>
                  <a:srgbClr val="1F1F1F"/>
                </a:solidFill>
                <a:latin typeface="Helvetica Neue Light"/>
              </a:rPr>
              <a:t>Reasons become rules  </a:t>
            </a:r>
            <a:r>
              <a:rPr sz="1422">
                <a:solidFill>
                  <a:srgbClr val="1F1F1F"/>
                </a:solidFill>
                <a:latin typeface="Helvetica Neue Light"/>
              </a:rPr>
              <a:t>🤖</a:t>
            </a:r>
          </a:p>
        </p:txBody>
      </p:sp>
      <p:sp>
        <p:nvSpPr>
          <p:cNvPr id="16" name="Rectangle 15"/>
          <p:cNvSpPr/>
          <p:nvPr/>
        </p:nvSpPr>
        <p:spPr>
          <a:xfrm>
            <a:off x="5396992" y="3563315"/>
            <a:ext cx="4369613" cy="338125"/>
          </a:xfrm>
          <a:prstGeom prst="rect">
            <a:avLst/>
          </a:prstGeom>
          <a:solidFill>
            <a:srgbClr val="1F5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9831629" y="3563315"/>
            <a:ext cx="1820672" cy="218842"/>
          </a:xfrm>
          <a:prstGeom prst="rect">
            <a:avLst/>
          </a:prstGeom>
          <a:noFill/>
        </p:spPr>
        <p:txBody>
          <a:bodyPr wrap="square" lIns="0" tIns="0" rIns="0" bIns="0">
            <a:spAutoFit/>
          </a:bodyPr>
          <a:lstStyle/>
          <a:p>
            <a:r>
              <a:rPr sz="1422">
                <a:solidFill>
                  <a:srgbClr val="595959"/>
                </a:solidFill>
                <a:latin typeface="Helvetica Neue"/>
              </a:rPr>
              <a:t>20 · M</a:t>
            </a:r>
          </a:p>
        </p:txBody>
      </p:sp>
      <p:sp>
        <p:nvSpPr>
          <p:cNvPr id="18" name="TextBox 17"/>
          <p:cNvSpPr txBox="1"/>
          <p:nvPr/>
        </p:nvSpPr>
        <p:spPr>
          <a:xfrm>
            <a:off x="455168" y="4161534"/>
            <a:ext cx="520192" cy="306366"/>
          </a:xfrm>
          <a:prstGeom prst="rect">
            <a:avLst/>
          </a:prstGeom>
          <a:noFill/>
        </p:spPr>
        <p:txBody>
          <a:bodyPr wrap="square" lIns="0" tIns="0" rIns="0" bIns="0">
            <a:spAutoFit/>
          </a:bodyPr>
          <a:lstStyle/>
          <a:p>
            <a:r>
              <a:rPr sz="1991">
                <a:solidFill>
                  <a:srgbClr val="C45A35"/>
                </a:solidFill>
                <a:latin typeface="Helvetica Neue Light"/>
              </a:rPr>
              <a:t>4</a:t>
            </a:r>
          </a:p>
        </p:txBody>
      </p:sp>
      <p:sp>
        <p:nvSpPr>
          <p:cNvPr id="19" name="TextBox 18"/>
          <p:cNvSpPr txBox="1"/>
          <p:nvPr/>
        </p:nvSpPr>
        <p:spPr>
          <a:xfrm>
            <a:off x="975360" y="4187545"/>
            <a:ext cx="4291584" cy="262701"/>
          </a:xfrm>
          <a:prstGeom prst="rect">
            <a:avLst/>
          </a:prstGeom>
          <a:noFill/>
        </p:spPr>
        <p:txBody>
          <a:bodyPr wrap="square" lIns="0" tIns="0" rIns="0" bIns="0">
            <a:spAutoFit/>
          </a:bodyPr>
          <a:lstStyle/>
          <a:p>
            <a:r>
              <a:rPr sz="1707">
                <a:solidFill>
                  <a:srgbClr val="1F1F1F"/>
                </a:solidFill>
                <a:latin typeface="Helvetica Neue Light"/>
              </a:rPr>
              <a:t>“This was wrong” → proposed fix  </a:t>
            </a:r>
            <a:r>
              <a:rPr sz="1422">
                <a:solidFill>
                  <a:srgbClr val="1F1F1F"/>
                </a:solidFill>
                <a:latin typeface="Helvetica Neue Light"/>
              </a:rPr>
              <a:t>🤖</a:t>
            </a:r>
          </a:p>
        </p:txBody>
      </p:sp>
      <p:sp>
        <p:nvSpPr>
          <p:cNvPr id="20" name="Rectangle 19"/>
          <p:cNvSpPr/>
          <p:nvPr/>
        </p:nvSpPr>
        <p:spPr>
          <a:xfrm>
            <a:off x="5396992" y="4187546"/>
            <a:ext cx="4369613" cy="338125"/>
          </a:xfrm>
          <a:prstGeom prst="rect">
            <a:avLst/>
          </a:prstGeom>
          <a:solidFill>
            <a:srgbClr val="1F5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1" name="TextBox 20"/>
          <p:cNvSpPr txBox="1"/>
          <p:nvPr/>
        </p:nvSpPr>
        <p:spPr>
          <a:xfrm>
            <a:off x="9831629" y="4187546"/>
            <a:ext cx="1820672" cy="218842"/>
          </a:xfrm>
          <a:prstGeom prst="rect">
            <a:avLst/>
          </a:prstGeom>
          <a:noFill/>
        </p:spPr>
        <p:txBody>
          <a:bodyPr wrap="square" lIns="0" tIns="0" rIns="0" bIns="0">
            <a:spAutoFit/>
          </a:bodyPr>
          <a:lstStyle/>
          <a:p>
            <a:r>
              <a:rPr sz="1422">
                <a:solidFill>
                  <a:srgbClr val="595959"/>
                </a:solidFill>
                <a:latin typeface="Helvetica Neue"/>
              </a:rPr>
              <a:t>20 · M</a:t>
            </a:r>
          </a:p>
        </p:txBody>
      </p:sp>
      <p:sp>
        <p:nvSpPr>
          <p:cNvPr id="22" name="TextBox 21"/>
          <p:cNvSpPr txBox="1"/>
          <p:nvPr/>
        </p:nvSpPr>
        <p:spPr>
          <a:xfrm>
            <a:off x="455168" y="4785766"/>
            <a:ext cx="520192" cy="306366"/>
          </a:xfrm>
          <a:prstGeom prst="rect">
            <a:avLst/>
          </a:prstGeom>
          <a:noFill/>
        </p:spPr>
        <p:txBody>
          <a:bodyPr wrap="square" lIns="0" tIns="0" rIns="0" bIns="0">
            <a:spAutoFit/>
          </a:bodyPr>
          <a:lstStyle/>
          <a:p>
            <a:r>
              <a:rPr sz="1991">
                <a:solidFill>
                  <a:srgbClr val="C45A35"/>
                </a:solidFill>
                <a:latin typeface="Helvetica Neue Light"/>
              </a:rPr>
              <a:t>5</a:t>
            </a:r>
          </a:p>
        </p:txBody>
      </p:sp>
      <p:sp>
        <p:nvSpPr>
          <p:cNvPr id="23" name="TextBox 22"/>
          <p:cNvSpPr txBox="1"/>
          <p:nvPr/>
        </p:nvSpPr>
        <p:spPr>
          <a:xfrm>
            <a:off x="975360" y="4811777"/>
            <a:ext cx="4291584" cy="262701"/>
          </a:xfrm>
          <a:prstGeom prst="rect">
            <a:avLst/>
          </a:prstGeom>
          <a:noFill/>
        </p:spPr>
        <p:txBody>
          <a:bodyPr wrap="square" lIns="0" tIns="0" rIns="0" bIns="0">
            <a:spAutoFit/>
          </a:bodyPr>
          <a:lstStyle/>
          <a:p>
            <a:r>
              <a:rPr sz="1707">
                <a:solidFill>
                  <a:srgbClr val="1F1F1F"/>
                </a:solidFill>
                <a:latin typeface="Helvetica Neue Light"/>
              </a:rPr>
              <a:t>Day profile + quiet hours  </a:t>
            </a:r>
            <a:r>
              <a:rPr sz="1422">
                <a:solidFill>
                  <a:srgbClr val="1F1F1F"/>
                </a:solidFill>
                <a:latin typeface="Helvetica Neue Light"/>
              </a:rPr>
              <a:t>⚙️</a:t>
            </a:r>
          </a:p>
        </p:txBody>
      </p:sp>
      <p:sp>
        <p:nvSpPr>
          <p:cNvPr id="24" name="Rectangle 23"/>
          <p:cNvSpPr/>
          <p:nvPr/>
        </p:nvSpPr>
        <p:spPr>
          <a:xfrm>
            <a:off x="5396992" y="4811776"/>
            <a:ext cx="4369613" cy="338125"/>
          </a:xfrm>
          <a:prstGeom prst="rect">
            <a:avLst/>
          </a:prstGeom>
          <a:solidFill>
            <a:srgbClr val="1F5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5" name="TextBox 24"/>
          <p:cNvSpPr txBox="1"/>
          <p:nvPr/>
        </p:nvSpPr>
        <p:spPr>
          <a:xfrm>
            <a:off x="9831629" y="4811776"/>
            <a:ext cx="1820672" cy="218842"/>
          </a:xfrm>
          <a:prstGeom prst="rect">
            <a:avLst/>
          </a:prstGeom>
          <a:noFill/>
        </p:spPr>
        <p:txBody>
          <a:bodyPr wrap="square" lIns="0" tIns="0" rIns="0" bIns="0">
            <a:spAutoFit/>
          </a:bodyPr>
          <a:lstStyle/>
          <a:p>
            <a:r>
              <a:rPr sz="1422">
                <a:solidFill>
                  <a:srgbClr val="595959"/>
                </a:solidFill>
                <a:latin typeface="Helvetica Neue"/>
              </a:rPr>
              <a:t>20 · S</a:t>
            </a:r>
          </a:p>
        </p:txBody>
      </p:sp>
      <p:sp>
        <p:nvSpPr>
          <p:cNvPr id="26" name="TextBox 25"/>
          <p:cNvSpPr txBox="1"/>
          <p:nvPr/>
        </p:nvSpPr>
        <p:spPr>
          <a:xfrm>
            <a:off x="455168" y="5409995"/>
            <a:ext cx="520192" cy="306366"/>
          </a:xfrm>
          <a:prstGeom prst="rect">
            <a:avLst/>
          </a:prstGeom>
          <a:noFill/>
        </p:spPr>
        <p:txBody>
          <a:bodyPr wrap="square" lIns="0" tIns="0" rIns="0" bIns="0">
            <a:spAutoFit/>
          </a:bodyPr>
          <a:lstStyle/>
          <a:p>
            <a:r>
              <a:rPr sz="1991">
                <a:solidFill>
                  <a:srgbClr val="C45A35"/>
                </a:solidFill>
                <a:latin typeface="Helvetica Neue Light"/>
              </a:rPr>
              <a:t>6</a:t>
            </a:r>
          </a:p>
        </p:txBody>
      </p:sp>
      <p:sp>
        <p:nvSpPr>
          <p:cNvPr id="27" name="TextBox 26"/>
          <p:cNvSpPr txBox="1"/>
          <p:nvPr/>
        </p:nvSpPr>
        <p:spPr>
          <a:xfrm>
            <a:off x="975360" y="5436006"/>
            <a:ext cx="4291584" cy="262701"/>
          </a:xfrm>
          <a:prstGeom prst="rect">
            <a:avLst/>
          </a:prstGeom>
          <a:noFill/>
        </p:spPr>
        <p:txBody>
          <a:bodyPr wrap="square" lIns="0" tIns="0" rIns="0" bIns="0">
            <a:spAutoFit/>
          </a:bodyPr>
          <a:lstStyle/>
          <a:p>
            <a:r>
              <a:rPr sz="1707">
                <a:solidFill>
                  <a:srgbClr val="1F1F1F"/>
                </a:solidFill>
                <a:latin typeface="Helvetica Neue Light"/>
              </a:rPr>
              <a:t>Morning glance  </a:t>
            </a:r>
            <a:r>
              <a:rPr sz="1422">
                <a:solidFill>
                  <a:srgbClr val="1F1F1F"/>
                </a:solidFill>
                <a:latin typeface="Helvetica Neue Light"/>
              </a:rPr>
              <a:t>🤖</a:t>
            </a:r>
          </a:p>
        </p:txBody>
      </p:sp>
      <p:sp>
        <p:nvSpPr>
          <p:cNvPr id="28" name="Rectangle 27"/>
          <p:cNvSpPr/>
          <p:nvPr/>
        </p:nvSpPr>
        <p:spPr>
          <a:xfrm>
            <a:off x="5396993" y="5436005"/>
            <a:ext cx="3495690" cy="338125"/>
          </a:xfrm>
          <a:prstGeom prst="rect">
            <a:avLst/>
          </a:prstGeom>
          <a:solidFill>
            <a:srgbClr val="A9B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9" name="TextBox 28"/>
          <p:cNvSpPr txBox="1"/>
          <p:nvPr/>
        </p:nvSpPr>
        <p:spPr>
          <a:xfrm>
            <a:off x="8957706" y="5436005"/>
            <a:ext cx="1820672" cy="218842"/>
          </a:xfrm>
          <a:prstGeom prst="rect">
            <a:avLst/>
          </a:prstGeom>
          <a:noFill/>
        </p:spPr>
        <p:txBody>
          <a:bodyPr wrap="square" lIns="0" tIns="0" rIns="0" bIns="0">
            <a:spAutoFit/>
          </a:bodyPr>
          <a:lstStyle/>
          <a:p>
            <a:r>
              <a:rPr sz="1422">
                <a:solidFill>
                  <a:srgbClr val="595959"/>
                </a:solidFill>
                <a:latin typeface="Helvetica Neue"/>
              </a:rPr>
              <a:t>16 · M</a:t>
            </a:r>
          </a:p>
        </p:txBody>
      </p:sp>
      <p:sp>
        <p:nvSpPr>
          <p:cNvPr id="30" name="TextBox 29"/>
          <p:cNvSpPr txBox="1"/>
          <p:nvPr/>
        </p:nvSpPr>
        <p:spPr>
          <a:xfrm>
            <a:off x="455168" y="6034227"/>
            <a:ext cx="520192" cy="306366"/>
          </a:xfrm>
          <a:prstGeom prst="rect">
            <a:avLst/>
          </a:prstGeom>
          <a:noFill/>
        </p:spPr>
        <p:txBody>
          <a:bodyPr wrap="square" lIns="0" tIns="0" rIns="0" bIns="0">
            <a:spAutoFit/>
          </a:bodyPr>
          <a:lstStyle/>
          <a:p>
            <a:r>
              <a:rPr sz="1991">
                <a:solidFill>
                  <a:srgbClr val="C45A35"/>
                </a:solidFill>
                <a:latin typeface="Helvetica Neue Light"/>
              </a:rPr>
              <a:t>7</a:t>
            </a:r>
          </a:p>
        </p:txBody>
      </p:sp>
      <p:sp>
        <p:nvSpPr>
          <p:cNvPr id="31" name="TextBox 30"/>
          <p:cNvSpPr txBox="1"/>
          <p:nvPr/>
        </p:nvSpPr>
        <p:spPr>
          <a:xfrm>
            <a:off x="975360" y="6060238"/>
            <a:ext cx="4291584" cy="262701"/>
          </a:xfrm>
          <a:prstGeom prst="rect">
            <a:avLst/>
          </a:prstGeom>
          <a:noFill/>
        </p:spPr>
        <p:txBody>
          <a:bodyPr wrap="square" lIns="0" tIns="0" rIns="0" bIns="0">
            <a:spAutoFit/>
          </a:bodyPr>
          <a:lstStyle/>
          <a:p>
            <a:r>
              <a:rPr sz="1707">
                <a:solidFill>
                  <a:srgbClr val="1F1F1F"/>
                </a:solidFill>
                <a:latin typeface="Helvetica Neue Light"/>
              </a:rPr>
              <a:t>Reasons still hold?  </a:t>
            </a:r>
            <a:r>
              <a:rPr sz="1422">
                <a:solidFill>
                  <a:srgbClr val="1F1F1F"/>
                </a:solidFill>
                <a:latin typeface="Helvetica Neue Light"/>
              </a:rPr>
              <a:t>🤖</a:t>
            </a:r>
          </a:p>
        </p:txBody>
      </p:sp>
      <p:sp>
        <p:nvSpPr>
          <p:cNvPr id="32" name="Rectangle 31"/>
          <p:cNvSpPr/>
          <p:nvPr/>
        </p:nvSpPr>
        <p:spPr>
          <a:xfrm>
            <a:off x="5396993" y="6060237"/>
            <a:ext cx="3495690" cy="338125"/>
          </a:xfrm>
          <a:prstGeom prst="rect">
            <a:avLst/>
          </a:prstGeom>
          <a:solidFill>
            <a:srgbClr val="A9B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3" name="TextBox 32"/>
          <p:cNvSpPr txBox="1"/>
          <p:nvPr/>
        </p:nvSpPr>
        <p:spPr>
          <a:xfrm>
            <a:off x="8957706" y="6060237"/>
            <a:ext cx="1820672" cy="218842"/>
          </a:xfrm>
          <a:prstGeom prst="rect">
            <a:avLst/>
          </a:prstGeom>
          <a:noFill/>
        </p:spPr>
        <p:txBody>
          <a:bodyPr wrap="square" lIns="0" tIns="0" rIns="0" bIns="0">
            <a:spAutoFit/>
          </a:bodyPr>
          <a:lstStyle/>
          <a:p>
            <a:r>
              <a:rPr sz="1422">
                <a:solidFill>
                  <a:srgbClr val="595959"/>
                </a:solidFill>
                <a:latin typeface="Helvetica Neue"/>
              </a:rPr>
              <a:t>16 · M</a:t>
            </a:r>
          </a:p>
        </p:txBody>
      </p:sp>
      <p:sp>
        <p:nvSpPr>
          <p:cNvPr id="34" name="TextBox 33"/>
          <p:cNvSpPr txBox="1"/>
          <p:nvPr/>
        </p:nvSpPr>
        <p:spPr>
          <a:xfrm>
            <a:off x="455168" y="6658456"/>
            <a:ext cx="520192" cy="306366"/>
          </a:xfrm>
          <a:prstGeom prst="rect">
            <a:avLst/>
          </a:prstGeom>
          <a:noFill/>
        </p:spPr>
        <p:txBody>
          <a:bodyPr wrap="square" lIns="0" tIns="0" rIns="0" bIns="0">
            <a:spAutoFit/>
          </a:bodyPr>
          <a:lstStyle/>
          <a:p>
            <a:r>
              <a:rPr sz="1991">
                <a:solidFill>
                  <a:srgbClr val="C45A35"/>
                </a:solidFill>
                <a:latin typeface="Helvetica Neue Light"/>
              </a:rPr>
              <a:t>8</a:t>
            </a:r>
          </a:p>
        </p:txBody>
      </p:sp>
      <p:sp>
        <p:nvSpPr>
          <p:cNvPr id="35" name="TextBox 34"/>
          <p:cNvSpPr txBox="1"/>
          <p:nvPr/>
        </p:nvSpPr>
        <p:spPr>
          <a:xfrm>
            <a:off x="975360" y="6684468"/>
            <a:ext cx="4291584" cy="262701"/>
          </a:xfrm>
          <a:prstGeom prst="rect">
            <a:avLst/>
          </a:prstGeom>
          <a:noFill/>
        </p:spPr>
        <p:txBody>
          <a:bodyPr wrap="square" lIns="0" tIns="0" rIns="0" bIns="0">
            <a:spAutoFit/>
          </a:bodyPr>
          <a:lstStyle/>
          <a:p>
            <a:r>
              <a:rPr sz="1707">
                <a:solidFill>
                  <a:srgbClr val="1F1F1F"/>
                </a:solidFill>
                <a:latin typeface="Helvetica Neue Light"/>
              </a:rPr>
              <a:t>Free preview, Elite live  </a:t>
            </a:r>
            <a:r>
              <a:rPr sz="1422">
                <a:solidFill>
                  <a:srgbClr val="1F1F1F"/>
                </a:solidFill>
                <a:latin typeface="Helvetica Neue Light"/>
              </a:rPr>
              <a:t>⚙️</a:t>
            </a:r>
          </a:p>
        </p:txBody>
      </p:sp>
      <p:sp>
        <p:nvSpPr>
          <p:cNvPr id="36" name="Rectangle 35"/>
          <p:cNvSpPr/>
          <p:nvPr/>
        </p:nvSpPr>
        <p:spPr>
          <a:xfrm>
            <a:off x="5396992" y="6684467"/>
            <a:ext cx="3277210" cy="338125"/>
          </a:xfrm>
          <a:prstGeom prst="rect">
            <a:avLst/>
          </a:prstGeom>
          <a:solidFill>
            <a:srgbClr val="A9B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7" name="TextBox 36"/>
          <p:cNvSpPr txBox="1"/>
          <p:nvPr/>
        </p:nvSpPr>
        <p:spPr>
          <a:xfrm>
            <a:off x="8739226" y="6684467"/>
            <a:ext cx="1820672" cy="218842"/>
          </a:xfrm>
          <a:prstGeom prst="rect">
            <a:avLst/>
          </a:prstGeom>
          <a:noFill/>
        </p:spPr>
        <p:txBody>
          <a:bodyPr wrap="square" lIns="0" tIns="0" rIns="0" bIns="0">
            <a:spAutoFit/>
          </a:bodyPr>
          <a:lstStyle/>
          <a:p>
            <a:r>
              <a:rPr sz="1422">
                <a:solidFill>
                  <a:srgbClr val="595959"/>
                </a:solidFill>
                <a:latin typeface="Helvetica Neue"/>
              </a:rPr>
              <a:t>15 · S</a:t>
            </a:r>
          </a:p>
        </p:txBody>
      </p:sp>
      <p:sp>
        <p:nvSpPr>
          <p:cNvPr id="38" name="TextBox 37"/>
          <p:cNvSpPr txBox="1"/>
          <p:nvPr/>
        </p:nvSpPr>
        <p:spPr>
          <a:xfrm>
            <a:off x="455168" y="7282688"/>
            <a:ext cx="520192" cy="306366"/>
          </a:xfrm>
          <a:prstGeom prst="rect">
            <a:avLst/>
          </a:prstGeom>
          <a:noFill/>
        </p:spPr>
        <p:txBody>
          <a:bodyPr wrap="square" lIns="0" tIns="0" rIns="0" bIns="0">
            <a:spAutoFit/>
          </a:bodyPr>
          <a:lstStyle/>
          <a:p>
            <a:r>
              <a:rPr sz="1991">
                <a:solidFill>
                  <a:srgbClr val="C45A35"/>
                </a:solidFill>
                <a:latin typeface="Helvetica Neue Light"/>
              </a:rPr>
              <a:t>9</a:t>
            </a:r>
          </a:p>
        </p:txBody>
      </p:sp>
      <p:sp>
        <p:nvSpPr>
          <p:cNvPr id="39" name="TextBox 38"/>
          <p:cNvSpPr txBox="1"/>
          <p:nvPr/>
        </p:nvSpPr>
        <p:spPr>
          <a:xfrm>
            <a:off x="975360" y="7308698"/>
            <a:ext cx="4291584" cy="262701"/>
          </a:xfrm>
          <a:prstGeom prst="rect">
            <a:avLst/>
          </a:prstGeom>
          <a:noFill/>
        </p:spPr>
        <p:txBody>
          <a:bodyPr wrap="square" lIns="0" tIns="0" rIns="0" bIns="0">
            <a:spAutoFit/>
          </a:bodyPr>
          <a:lstStyle/>
          <a:p>
            <a:r>
              <a:rPr sz="1707">
                <a:solidFill>
                  <a:srgbClr val="1F1F1F"/>
                </a:solidFill>
                <a:latin typeface="Helvetica Neue Light"/>
              </a:rPr>
              <a:t>Grouped triggers  </a:t>
            </a:r>
            <a:r>
              <a:rPr sz="1422">
                <a:solidFill>
                  <a:srgbClr val="1F1F1F"/>
                </a:solidFill>
                <a:latin typeface="Helvetica Neue Light"/>
              </a:rPr>
              <a:t>⚙️</a:t>
            </a:r>
          </a:p>
        </p:txBody>
      </p:sp>
      <p:sp>
        <p:nvSpPr>
          <p:cNvPr id="40" name="Rectangle 39"/>
          <p:cNvSpPr/>
          <p:nvPr/>
        </p:nvSpPr>
        <p:spPr>
          <a:xfrm>
            <a:off x="5396992" y="7308698"/>
            <a:ext cx="2621767" cy="338125"/>
          </a:xfrm>
          <a:prstGeom prst="rect">
            <a:avLst/>
          </a:prstGeom>
          <a:solidFill>
            <a:srgbClr val="A9B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41" name="TextBox 40"/>
          <p:cNvSpPr txBox="1"/>
          <p:nvPr/>
        </p:nvSpPr>
        <p:spPr>
          <a:xfrm>
            <a:off x="8083783" y="7308698"/>
            <a:ext cx="1820672" cy="218842"/>
          </a:xfrm>
          <a:prstGeom prst="rect">
            <a:avLst/>
          </a:prstGeom>
          <a:noFill/>
        </p:spPr>
        <p:txBody>
          <a:bodyPr wrap="square" lIns="0" tIns="0" rIns="0" bIns="0">
            <a:spAutoFit/>
          </a:bodyPr>
          <a:lstStyle/>
          <a:p>
            <a:r>
              <a:rPr sz="1422">
                <a:solidFill>
                  <a:srgbClr val="595959"/>
                </a:solidFill>
                <a:latin typeface="Helvetica Neue"/>
              </a:rPr>
              <a:t>12 · S</a:t>
            </a:r>
          </a:p>
        </p:txBody>
      </p:sp>
      <p:sp>
        <p:nvSpPr>
          <p:cNvPr id="42" name="TextBox 41"/>
          <p:cNvSpPr txBox="1"/>
          <p:nvPr/>
        </p:nvSpPr>
        <p:spPr>
          <a:xfrm>
            <a:off x="455168" y="7906918"/>
            <a:ext cx="520192" cy="306366"/>
          </a:xfrm>
          <a:prstGeom prst="rect">
            <a:avLst/>
          </a:prstGeom>
          <a:noFill/>
        </p:spPr>
        <p:txBody>
          <a:bodyPr wrap="square" lIns="0" tIns="0" rIns="0" bIns="0">
            <a:spAutoFit/>
          </a:bodyPr>
          <a:lstStyle/>
          <a:p>
            <a:r>
              <a:rPr sz="1991">
                <a:solidFill>
                  <a:srgbClr val="C45A35"/>
                </a:solidFill>
                <a:latin typeface="Helvetica Neue Light"/>
              </a:rPr>
              <a:t>10</a:t>
            </a:r>
          </a:p>
        </p:txBody>
      </p:sp>
      <p:sp>
        <p:nvSpPr>
          <p:cNvPr id="43" name="TextBox 42"/>
          <p:cNvSpPr txBox="1"/>
          <p:nvPr/>
        </p:nvSpPr>
        <p:spPr>
          <a:xfrm>
            <a:off x="975360" y="7932929"/>
            <a:ext cx="4291584" cy="262701"/>
          </a:xfrm>
          <a:prstGeom prst="rect">
            <a:avLst/>
          </a:prstGeom>
          <a:noFill/>
        </p:spPr>
        <p:txBody>
          <a:bodyPr wrap="square" lIns="0" tIns="0" rIns="0" bIns="0">
            <a:spAutoFit/>
          </a:bodyPr>
          <a:lstStyle/>
          <a:p>
            <a:r>
              <a:rPr sz="1707">
                <a:solidFill>
                  <a:srgbClr val="1F1F1F"/>
                </a:solidFill>
                <a:latin typeface="Helvetica Neue Light"/>
              </a:rPr>
              <a:t>Activity log + Undo  </a:t>
            </a:r>
            <a:r>
              <a:rPr sz="1422">
                <a:solidFill>
                  <a:srgbClr val="1F1F1F"/>
                </a:solidFill>
                <a:latin typeface="Helvetica Neue Light"/>
              </a:rPr>
              <a:t>⚙️</a:t>
            </a:r>
          </a:p>
        </p:txBody>
      </p:sp>
      <p:sp>
        <p:nvSpPr>
          <p:cNvPr id="44" name="Rectangle 43"/>
          <p:cNvSpPr/>
          <p:nvPr/>
        </p:nvSpPr>
        <p:spPr>
          <a:xfrm>
            <a:off x="5396992" y="7932928"/>
            <a:ext cx="1966325" cy="338125"/>
          </a:xfrm>
          <a:prstGeom prst="rect">
            <a:avLst/>
          </a:prstGeom>
          <a:solidFill>
            <a:srgbClr val="A9B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45" name="TextBox 44"/>
          <p:cNvSpPr txBox="1"/>
          <p:nvPr/>
        </p:nvSpPr>
        <p:spPr>
          <a:xfrm>
            <a:off x="7428341" y="7932928"/>
            <a:ext cx="1820672" cy="218842"/>
          </a:xfrm>
          <a:prstGeom prst="rect">
            <a:avLst/>
          </a:prstGeom>
          <a:noFill/>
        </p:spPr>
        <p:txBody>
          <a:bodyPr wrap="square" lIns="0" tIns="0" rIns="0" bIns="0">
            <a:spAutoFit/>
          </a:bodyPr>
          <a:lstStyle/>
          <a:p>
            <a:r>
              <a:rPr sz="1422">
                <a:solidFill>
                  <a:srgbClr val="595959"/>
                </a:solidFill>
                <a:latin typeface="Helvetica Neue"/>
              </a:rPr>
              <a:t>9 · S</a:t>
            </a:r>
          </a:p>
        </p:txBody>
      </p:sp>
      <p:sp>
        <p:nvSpPr>
          <p:cNvPr id="46" name="TextBox 45"/>
          <p:cNvSpPr txBox="1"/>
          <p:nvPr/>
        </p:nvSpPr>
        <p:spPr>
          <a:xfrm>
            <a:off x="455168" y="8518144"/>
            <a:ext cx="12094464" cy="437684"/>
          </a:xfrm>
          <a:prstGeom prst="rect">
            <a:avLst/>
          </a:prstGeom>
          <a:noFill/>
        </p:spPr>
        <p:txBody>
          <a:bodyPr wrap="square" lIns="0" tIns="0" rIns="0" bIns="0">
            <a:spAutoFit/>
          </a:bodyPr>
          <a:lstStyle/>
          <a:p>
            <a:r>
              <a:rPr sz="1422">
                <a:solidFill>
                  <a:srgbClr val="595959"/>
                </a:solidFill>
                <a:latin typeface="Helvetica Neue Light"/>
              </a:rPr>
              <a:t>Release 1: the ten above. Release 2: “I missed one” → loosening · weekly alert review · stale-watch retirement · unusual-for-this-stock · plain-language watch (secondary door).</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rPr>
              <a:t>Appendix   </a:t>
            </a:r>
            <a:r>
              <a:rPr lang="en-US" sz="1422" dirty="0" err="1">
                <a:solidFill>
                  <a:srgbClr val="1F1F1F"/>
                </a:solidFill>
              </a:rPr>
              <a:t>FinViz</a:t>
            </a:r>
            <a:r>
              <a:rPr lang="en-US" sz="1422" dirty="0">
                <a:solidFill>
                  <a:srgbClr val="1F1F1F"/>
                </a:solidFill>
              </a:rPr>
              <a:t>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The new AI-powered alerts journey</a:t>
            </a:r>
          </a:p>
        </p:txBody>
      </p:sp>
      <p:sp>
        <p:nvSpPr>
          <p:cNvPr id="5" name="Rectangle 4"/>
          <p:cNvSpPr/>
          <p:nvPr/>
        </p:nvSpPr>
        <p:spPr>
          <a:xfrm>
            <a:off x="455168" y="1755648"/>
            <a:ext cx="2861056" cy="54620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6" name="TextBox 5"/>
          <p:cNvSpPr txBox="1"/>
          <p:nvPr/>
        </p:nvSpPr>
        <p:spPr>
          <a:xfrm>
            <a:off x="559206" y="1820673"/>
            <a:ext cx="2731008" cy="240707"/>
          </a:xfrm>
          <a:prstGeom prst="rect">
            <a:avLst/>
          </a:prstGeom>
          <a:noFill/>
        </p:spPr>
        <p:txBody>
          <a:bodyPr wrap="square" lIns="0" tIns="0" rIns="0" bIns="0">
            <a:spAutoFit/>
          </a:bodyPr>
          <a:lstStyle/>
          <a:p>
            <a:r>
              <a:rPr sz="996">
                <a:solidFill>
                  <a:srgbClr val="FFFFFF"/>
                </a:solidFill>
                <a:latin typeface="Helvetica Neue"/>
              </a:rPr>
              <a:t>INPUT  </a:t>
            </a:r>
            <a:r>
              <a:rPr sz="1564">
                <a:solidFill>
                  <a:srgbClr val="FFFFFF"/>
                </a:solidFill>
                <a:latin typeface="Helvetica Neue Light"/>
              </a:rPr>
              <a:t>① Pin 3 names</a:t>
            </a:r>
          </a:p>
        </p:txBody>
      </p:sp>
      <p:pic>
        <p:nvPicPr>
          <p:cNvPr id="7" name="Picture 6" descr="image.png"/>
          <p:cNvPicPr>
            <a:picLocks noChangeAspect="1"/>
          </p:cNvPicPr>
          <p:nvPr/>
        </p:nvPicPr>
        <p:blipFill>
          <a:blip r:embed="rId3"/>
          <a:stretch>
            <a:fillRect/>
          </a:stretch>
        </p:blipFill>
        <p:spPr>
          <a:xfrm>
            <a:off x="455168" y="2340865"/>
            <a:ext cx="2861056" cy="1709928"/>
          </a:xfrm>
          <a:prstGeom prst="rect">
            <a:avLst/>
          </a:prstGeom>
          <a:ln w="9525">
            <a:solidFill>
              <a:srgbClr val="1F1F1F"/>
            </a:solidFill>
          </a:ln>
        </p:spPr>
      </p:pic>
      <p:sp>
        <p:nvSpPr>
          <p:cNvPr id="8" name="TextBox 7"/>
          <p:cNvSpPr txBox="1"/>
          <p:nvPr/>
        </p:nvSpPr>
        <p:spPr>
          <a:xfrm>
            <a:off x="455168" y="4115816"/>
            <a:ext cx="2861056" cy="218842"/>
          </a:xfrm>
          <a:prstGeom prst="rect">
            <a:avLst/>
          </a:prstGeom>
          <a:noFill/>
        </p:spPr>
        <p:txBody>
          <a:bodyPr wrap="square" lIns="0" tIns="0" rIns="0" bIns="0">
            <a:spAutoFit/>
          </a:bodyPr>
          <a:lstStyle/>
          <a:p>
            <a:r>
              <a:rPr sz="1422">
                <a:solidFill>
                  <a:srgbClr val="595959"/>
                </a:solidFill>
                <a:latin typeface="Helvetica Neue Light"/>
              </a:rPr>
              <a:t>Reasons come along</a:t>
            </a:r>
          </a:p>
        </p:txBody>
      </p:sp>
      <p:sp>
        <p:nvSpPr>
          <p:cNvPr id="9" name="Rectangle 8"/>
          <p:cNvSpPr/>
          <p:nvPr/>
        </p:nvSpPr>
        <p:spPr>
          <a:xfrm>
            <a:off x="3537306" y="1755648"/>
            <a:ext cx="2861056" cy="54620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0" name="TextBox 9"/>
          <p:cNvSpPr txBox="1"/>
          <p:nvPr/>
        </p:nvSpPr>
        <p:spPr>
          <a:xfrm>
            <a:off x="3641344" y="1820673"/>
            <a:ext cx="2731008" cy="240707"/>
          </a:xfrm>
          <a:prstGeom prst="rect">
            <a:avLst/>
          </a:prstGeom>
          <a:noFill/>
        </p:spPr>
        <p:txBody>
          <a:bodyPr wrap="square" lIns="0" tIns="0" rIns="0" bIns="0">
            <a:spAutoFit/>
          </a:bodyPr>
          <a:lstStyle/>
          <a:p>
            <a:r>
              <a:rPr sz="996">
                <a:solidFill>
                  <a:srgbClr val="FFFFFF"/>
                </a:solidFill>
                <a:latin typeface="Helvetica Neue"/>
              </a:rPr>
              <a:t>INPUT  </a:t>
            </a:r>
            <a:r>
              <a:rPr sz="1564">
                <a:solidFill>
                  <a:srgbClr val="FFFFFF"/>
                </a:solidFill>
                <a:latin typeface="Helvetica Neue Light"/>
              </a:rPr>
              <a:t>② Watch these</a:t>
            </a:r>
          </a:p>
        </p:txBody>
      </p:sp>
      <p:pic>
        <p:nvPicPr>
          <p:cNvPr id="11" name="Picture 10" descr="image.png"/>
          <p:cNvPicPr>
            <a:picLocks noChangeAspect="1"/>
          </p:cNvPicPr>
          <p:nvPr/>
        </p:nvPicPr>
        <p:blipFill>
          <a:blip r:embed="rId4"/>
          <a:stretch>
            <a:fillRect/>
          </a:stretch>
        </p:blipFill>
        <p:spPr>
          <a:xfrm>
            <a:off x="3537306" y="2340865"/>
            <a:ext cx="2861056" cy="1709928"/>
          </a:xfrm>
          <a:prstGeom prst="rect">
            <a:avLst/>
          </a:prstGeom>
          <a:ln w="9525">
            <a:solidFill>
              <a:srgbClr val="1F1F1F"/>
            </a:solidFill>
          </a:ln>
        </p:spPr>
      </p:pic>
      <p:sp>
        <p:nvSpPr>
          <p:cNvPr id="12" name="TextBox 11"/>
          <p:cNvSpPr txBox="1"/>
          <p:nvPr/>
        </p:nvSpPr>
        <p:spPr>
          <a:xfrm>
            <a:off x="3537306" y="4115816"/>
            <a:ext cx="2861056" cy="218842"/>
          </a:xfrm>
          <a:prstGeom prst="rect">
            <a:avLst/>
          </a:prstGeom>
          <a:noFill/>
        </p:spPr>
        <p:txBody>
          <a:bodyPr wrap="square" lIns="0" tIns="0" rIns="0" bIns="0">
            <a:spAutoFit/>
          </a:bodyPr>
          <a:lstStyle/>
          <a:p>
            <a:r>
              <a:rPr sz="1422">
                <a:solidFill>
                  <a:srgbClr val="595959"/>
                </a:solidFill>
                <a:latin typeface="Helvetica Neue Light"/>
              </a:rPr>
              <a:t>Replay “fired 4×”, noise dial, trial</a:t>
            </a:r>
          </a:p>
        </p:txBody>
      </p:sp>
      <p:sp>
        <p:nvSpPr>
          <p:cNvPr id="13" name="Rectangle 12"/>
          <p:cNvSpPr/>
          <p:nvPr/>
        </p:nvSpPr>
        <p:spPr>
          <a:xfrm>
            <a:off x="6619443" y="1755648"/>
            <a:ext cx="2861056" cy="54620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6723482" y="1820672"/>
            <a:ext cx="2731008" cy="240707"/>
          </a:xfrm>
          <a:prstGeom prst="rect">
            <a:avLst/>
          </a:prstGeom>
          <a:noFill/>
        </p:spPr>
        <p:txBody>
          <a:bodyPr wrap="square" lIns="0" tIns="0" rIns="0" bIns="0">
            <a:spAutoFit/>
          </a:bodyPr>
          <a:lstStyle/>
          <a:p>
            <a:r>
              <a:rPr sz="996">
                <a:solidFill>
                  <a:srgbClr val="FFFFFF"/>
                </a:solidFill>
                <a:latin typeface="Helvetica Neue"/>
              </a:rPr>
              <a:t>OUTPUT  </a:t>
            </a:r>
            <a:r>
              <a:rPr sz="1564">
                <a:solidFill>
                  <a:srgbClr val="FFFFFF"/>
                </a:solidFill>
                <a:latin typeface="Helvetica Neue Light"/>
              </a:rPr>
              <a:t>③ 7:30 AM glance</a:t>
            </a:r>
          </a:p>
        </p:txBody>
      </p:sp>
      <p:pic>
        <p:nvPicPr>
          <p:cNvPr id="15" name="Picture 14" descr="image.png"/>
          <p:cNvPicPr>
            <a:picLocks noChangeAspect="1"/>
          </p:cNvPicPr>
          <p:nvPr/>
        </p:nvPicPr>
        <p:blipFill>
          <a:blip r:embed="rId5"/>
          <a:stretch>
            <a:fillRect/>
          </a:stretch>
        </p:blipFill>
        <p:spPr>
          <a:xfrm>
            <a:off x="6619443" y="2340865"/>
            <a:ext cx="2861056" cy="1709928"/>
          </a:xfrm>
          <a:prstGeom prst="rect">
            <a:avLst/>
          </a:prstGeom>
          <a:ln w="9525">
            <a:solidFill>
              <a:srgbClr val="1F1F1F"/>
            </a:solidFill>
          </a:ln>
        </p:spPr>
      </p:pic>
      <p:sp>
        <p:nvSpPr>
          <p:cNvPr id="16" name="TextBox 15"/>
          <p:cNvSpPr txBox="1"/>
          <p:nvPr/>
        </p:nvSpPr>
        <p:spPr>
          <a:xfrm>
            <a:off x="6619443" y="4115816"/>
            <a:ext cx="2861056" cy="218842"/>
          </a:xfrm>
          <a:prstGeom prst="rect">
            <a:avLst/>
          </a:prstGeom>
          <a:noFill/>
        </p:spPr>
        <p:txBody>
          <a:bodyPr wrap="square" lIns="0" tIns="0" rIns="0" bIns="0">
            <a:spAutoFit/>
          </a:bodyPr>
          <a:lstStyle/>
          <a:p>
            <a:r>
              <a:rPr sz="1422">
                <a:solidFill>
                  <a:srgbClr val="595959"/>
                </a:solidFill>
                <a:latin typeface="Helvetica Neue Light"/>
              </a:rPr>
              <a:t>His names, sourced</a:t>
            </a:r>
          </a:p>
        </p:txBody>
      </p:sp>
      <p:sp>
        <p:nvSpPr>
          <p:cNvPr id="17" name="Rectangle 16"/>
          <p:cNvSpPr/>
          <p:nvPr/>
        </p:nvSpPr>
        <p:spPr>
          <a:xfrm>
            <a:off x="9701581" y="1755648"/>
            <a:ext cx="2861056" cy="54620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8" name="TextBox 17"/>
          <p:cNvSpPr txBox="1"/>
          <p:nvPr/>
        </p:nvSpPr>
        <p:spPr>
          <a:xfrm>
            <a:off x="9805619" y="1820673"/>
            <a:ext cx="2731008" cy="240707"/>
          </a:xfrm>
          <a:prstGeom prst="rect">
            <a:avLst/>
          </a:prstGeom>
          <a:noFill/>
        </p:spPr>
        <p:txBody>
          <a:bodyPr wrap="square" lIns="0" tIns="0" rIns="0" bIns="0">
            <a:spAutoFit/>
          </a:bodyPr>
          <a:lstStyle/>
          <a:p>
            <a:r>
              <a:rPr sz="996">
                <a:solidFill>
                  <a:srgbClr val="FFFFFF"/>
                </a:solidFill>
                <a:latin typeface="Helvetica Neue"/>
              </a:rPr>
              <a:t>OUTPUT  </a:t>
            </a:r>
            <a:r>
              <a:rPr sz="1564">
                <a:solidFill>
                  <a:srgbClr val="FFFFFF"/>
                </a:solidFill>
                <a:latin typeface="Helvetica Neue Light"/>
              </a:rPr>
              <a:t>④ One alert</a:t>
            </a:r>
          </a:p>
        </p:txBody>
      </p:sp>
      <p:pic>
        <p:nvPicPr>
          <p:cNvPr id="19" name="Picture 18" descr="image.png"/>
          <p:cNvPicPr>
            <a:picLocks noChangeAspect="1"/>
          </p:cNvPicPr>
          <p:nvPr/>
        </p:nvPicPr>
        <p:blipFill>
          <a:blip r:embed="rId6"/>
          <a:stretch>
            <a:fillRect/>
          </a:stretch>
        </p:blipFill>
        <p:spPr>
          <a:xfrm>
            <a:off x="9701581" y="2340865"/>
            <a:ext cx="2861056" cy="1709928"/>
          </a:xfrm>
          <a:prstGeom prst="rect">
            <a:avLst/>
          </a:prstGeom>
          <a:ln w="9525">
            <a:solidFill>
              <a:srgbClr val="1F1F1F"/>
            </a:solidFill>
          </a:ln>
        </p:spPr>
      </p:pic>
      <p:sp>
        <p:nvSpPr>
          <p:cNvPr id="20" name="TextBox 19"/>
          <p:cNvSpPr txBox="1"/>
          <p:nvPr/>
        </p:nvSpPr>
        <p:spPr>
          <a:xfrm>
            <a:off x="9701581" y="4115816"/>
            <a:ext cx="2861056" cy="218842"/>
          </a:xfrm>
          <a:prstGeom prst="rect">
            <a:avLst/>
          </a:prstGeom>
          <a:noFill/>
        </p:spPr>
        <p:txBody>
          <a:bodyPr wrap="square" lIns="0" tIns="0" rIns="0" bIns="0">
            <a:spAutoFit/>
          </a:bodyPr>
          <a:lstStyle/>
          <a:p>
            <a:r>
              <a:rPr sz="1422">
                <a:solidFill>
                  <a:srgbClr val="595959"/>
                </a:solidFill>
                <a:latin typeface="Helvetica Neue Light"/>
              </a:rPr>
              <a:t>Reason-first, grouped</a:t>
            </a:r>
          </a:p>
        </p:txBody>
      </p:sp>
      <p:sp>
        <p:nvSpPr>
          <p:cNvPr id="21" name="Rectangle 20"/>
          <p:cNvSpPr/>
          <p:nvPr/>
        </p:nvSpPr>
        <p:spPr>
          <a:xfrm>
            <a:off x="455168" y="5331966"/>
            <a:ext cx="2861056" cy="54620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559206" y="5396990"/>
            <a:ext cx="2731008" cy="240707"/>
          </a:xfrm>
          <a:prstGeom prst="rect">
            <a:avLst/>
          </a:prstGeom>
          <a:noFill/>
        </p:spPr>
        <p:txBody>
          <a:bodyPr wrap="square" lIns="0" tIns="0" rIns="0" bIns="0">
            <a:spAutoFit/>
          </a:bodyPr>
          <a:lstStyle/>
          <a:p>
            <a:r>
              <a:rPr sz="996">
                <a:solidFill>
                  <a:srgbClr val="FFFFFF"/>
                </a:solidFill>
                <a:latin typeface="Helvetica Neue"/>
              </a:rPr>
              <a:t>OUTPUT  </a:t>
            </a:r>
            <a:r>
              <a:rPr sz="1564">
                <a:solidFill>
                  <a:srgbClr val="FFFFFF"/>
                </a:solidFill>
                <a:latin typeface="Helvetica Neue Light"/>
              </a:rPr>
              <a:t>⑤ 4:30 PM still hold?</a:t>
            </a:r>
          </a:p>
        </p:txBody>
      </p:sp>
      <p:pic>
        <p:nvPicPr>
          <p:cNvPr id="23" name="Picture 22" descr="image.png"/>
          <p:cNvPicPr>
            <a:picLocks noChangeAspect="1"/>
          </p:cNvPicPr>
          <p:nvPr/>
        </p:nvPicPr>
        <p:blipFill>
          <a:blip r:embed="rId7"/>
          <a:stretch>
            <a:fillRect/>
          </a:stretch>
        </p:blipFill>
        <p:spPr>
          <a:xfrm>
            <a:off x="455168" y="5917185"/>
            <a:ext cx="2861056" cy="1709928"/>
          </a:xfrm>
          <a:prstGeom prst="rect">
            <a:avLst/>
          </a:prstGeom>
          <a:ln w="9525">
            <a:solidFill>
              <a:srgbClr val="1F1F1F"/>
            </a:solidFill>
          </a:ln>
        </p:spPr>
      </p:pic>
      <p:sp>
        <p:nvSpPr>
          <p:cNvPr id="24" name="TextBox 23"/>
          <p:cNvSpPr txBox="1"/>
          <p:nvPr/>
        </p:nvSpPr>
        <p:spPr>
          <a:xfrm>
            <a:off x="455168" y="7692136"/>
            <a:ext cx="2861056" cy="218842"/>
          </a:xfrm>
          <a:prstGeom prst="rect">
            <a:avLst/>
          </a:prstGeom>
          <a:noFill/>
        </p:spPr>
        <p:txBody>
          <a:bodyPr wrap="square" lIns="0" tIns="0" rIns="0" bIns="0">
            <a:spAutoFit/>
          </a:bodyPr>
          <a:lstStyle/>
          <a:p>
            <a:r>
              <a:rPr sz="1422">
                <a:solidFill>
                  <a:srgbClr val="595959"/>
                </a:solidFill>
                <a:latin typeface="Helvetica Neue Light"/>
              </a:rPr>
              <a:t>Hold / Exit in his broker</a:t>
            </a:r>
          </a:p>
        </p:txBody>
      </p:sp>
      <p:sp>
        <p:nvSpPr>
          <p:cNvPr id="25" name="Rectangle 24"/>
          <p:cNvSpPr/>
          <p:nvPr/>
        </p:nvSpPr>
        <p:spPr>
          <a:xfrm>
            <a:off x="3537306" y="5331966"/>
            <a:ext cx="2861056" cy="54620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6" name="TextBox 25"/>
          <p:cNvSpPr txBox="1"/>
          <p:nvPr/>
        </p:nvSpPr>
        <p:spPr>
          <a:xfrm>
            <a:off x="3641344" y="5396990"/>
            <a:ext cx="2731008" cy="240707"/>
          </a:xfrm>
          <a:prstGeom prst="rect">
            <a:avLst/>
          </a:prstGeom>
          <a:noFill/>
        </p:spPr>
        <p:txBody>
          <a:bodyPr wrap="square" lIns="0" tIns="0" rIns="0" bIns="0">
            <a:spAutoFit/>
          </a:bodyPr>
          <a:lstStyle/>
          <a:p>
            <a:r>
              <a:rPr sz="996">
                <a:solidFill>
                  <a:srgbClr val="FFFFFF"/>
                </a:solidFill>
                <a:latin typeface="Helvetica Neue"/>
              </a:rPr>
              <a:t>REFINE  </a:t>
            </a:r>
            <a:r>
              <a:rPr sz="1564">
                <a:solidFill>
                  <a:srgbClr val="FFFFFF"/>
                </a:solidFill>
                <a:latin typeface="Helvetica Neue Light"/>
              </a:rPr>
              <a:t>⑥ “This was wrong”</a:t>
            </a:r>
          </a:p>
        </p:txBody>
      </p:sp>
      <p:pic>
        <p:nvPicPr>
          <p:cNvPr id="27" name="Picture 26" descr="AN7-this-was-wrong-proposed-fix.png"/>
          <p:cNvPicPr>
            <a:picLocks noChangeAspect="1"/>
          </p:cNvPicPr>
          <p:nvPr/>
        </p:nvPicPr>
        <p:blipFill>
          <a:blip r:embed="rId8"/>
          <a:stretch>
            <a:fillRect/>
          </a:stretch>
        </p:blipFill>
        <p:spPr>
          <a:xfrm>
            <a:off x="3537306" y="5917185"/>
            <a:ext cx="2861056" cy="1709928"/>
          </a:xfrm>
          <a:prstGeom prst="rect">
            <a:avLst/>
          </a:prstGeom>
          <a:ln w="9525">
            <a:solidFill>
              <a:srgbClr val="1F1F1F"/>
            </a:solidFill>
          </a:ln>
        </p:spPr>
      </p:pic>
      <p:sp>
        <p:nvSpPr>
          <p:cNvPr id="28" name="TextBox 27"/>
          <p:cNvSpPr txBox="1"/>
          <p:nvPr/>
        </p:nvSpPr>
        <p:spPr>
          <a:xfrm>
            <a:off x="3537306" y="7692136"/>
            <a:ext cx="2861056" cy="218842"/>
          </a:xfrm>
          <a:prstGeom prst="rect">
            <a:avLst/>
          </a:prstGeom>
          <a:noFill/>
        </p:spPr>
        <p:txBody>
          <a:bodyPr wrap="square" lIns="0" tIns="0" rIns="0" bIns="0">
            <a:spAutoFit/>
          </a:bodyPr>
          <a:lstStyle/>
          <a:p>
            <a:r>
              <a:rPr sz="1422">
                <a:solidFill>
                  <a:srgbClr val="595959"/>
                </a:solidFill>
                <a:latin typeface="Helvetica Neue Light"/>
              </a:rPr>
              <a:t>Tighter rule, previewed</a:t>
            </a:r>
          </a:p>
        </p:txBody>
      </p:sp>
      <p:sp>
        <p:nvSpPr>
          <p:cNvPr id="29" name="Rectangle 28"/>
          <p:cNvSpPr/>
          <p:nvPr/>
        </p:nvSpPr>
        <p:spPr>
          <a:xfrm>
            <a:off x="6619443" y="5331966"/>
            <a:ext cx="2861056" cy="54620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0" name="TextBox 29"/>
          <p:cNvSpPr txBox="1"/>
          <p:nvPr/>
        </p:nvSpPr>
        <p:spPr>
          <a:xfrm>
            <a:off x="6723482" y="5396990"/>
            <a:ext cx="2731008" cy="240707"/>
          </a:xfrm>
          <a:prstGeom prst="rect">
            <a:avLst/>
          </a:prstGeom>
          <a:noFill/>
        </p:spPr>
        <p:txBody>
          <a:bodyPr wrap="square" lIns="0" tIns="0" rIns="0" bIns="0">
            <a:spAutoFit/>
          </a:bodyPr>
          <a:lstStyle/>
          <a:p>
            <a:r>
              <a:rPr sz="996">
                <a:solidFill>
                  <a:srgbClr val="FFFFFF"/>
                </a:solidFill>
                <a:latin typeface="Helvetica Neue"/>
              </a:rPr>
              <a:t>REFINE  </a:t>
            </a:r>
            <a:r>
              <a:rPr sz="1564">
                <a:solidFill>
                  <a:srgbClr val="FFFFFF"/>
                </a:solidFill>
                <a:latin typeface="Helvetica Neue Light"/>
              </a:rPr>
              <a:t>⑦ Sunday review</a:t>
            </a:r>
          </a:p>
        </p:txBody>
      </p:sp>
      <p:pic>
        <p:nvPicPr>
          <p:cNvPr id="31" name="Picture 30" descr="AN8-weekly-alert-review.png"/>
          <p:cNvPicPr>
            <a:picLocks noChangeAspect="1"/>
          </p:cNvPicPr>
          <p:nvPr/>
        </p:nvPicPr>
        <p:blipFill>
          <a:blip r:embed="rId9"/>
          <a:stretch>
            <a:fillRect/>
          </a:stretch>
        </p:blipFill>
        <p:spPr>
          <a:xfrm>
            <a:off x="6619443" y="5917185"/>
            <a:ext cx="2861056" cy="1709928"/>
          </a:xfrm>
          <a:prstGeom prst="rect">
            <a:avLst/>
          </a:prstGeom>
          <a:ln w="9525">
            <a:solidFill>
              <a:srgbClr val="1F1F1F"/>
            </a:solidFill>
          </a:ln>
        </p:spPr>
      </p:pic>
      <p:sp>
        <p:nvSpPr>
          <p:cNvPr id="32" name="TextBox 31"/>
          <p:cNvSpPr txBox="1"/>
          <p:nvPr/>
        </p:nvSpPr>
        <p:spPr>
          <a:xfrm>
            <a:off x="6619443" y="7692136"/>
            <a:ext cx="2861056" cy="218842"/>
          </a:xfrm>
          <a:prstGeom prst="rect">
            <a:avLst/>
          </a:prstGeom>
          <a:noFill/>
        </p:spPr>
        <p:txBody>
          <a:bodyPr wrap="square" lIns="0" tIns="0" rIns="0" bIns="0">
            <a:spAutoFit/>
          </a:bodyPr>
          <a:lstStyle/>
          <a:p>
            <a:r>
              <a:rPr sz="1422">
                <a:solidFill>
                  <a:srgbClr val="595959"/>
                </a:solidFill>
                <a:latin typeface="Helvetica Neue Light"/>
              </a:rPr>
              <a:t>Tighten, loosen, retire</a:t>
            </a:r>
          </a:p>
        </p:txBody>
      </p:sp>
      <p:sp>
        <p:nvSpPr>
          <p:cNvPr id="33" name="Rectangle 32"/>
          <p:cNvSpPr/>
          <p:nvPr/>
        </p:nvSpPr>
        <p:spPr>
          <a:xfrm>
            <a:off x="9701581" y="5331967"/>
            <a:ext cx="2861056" cy="2731008"/>
          </a:xfrm>
          <a:prstGeom prst="rect">
            <a:avLst/>
          </a:prstGeom>
          <a:solidFill>
            <a:srgbClr val="F3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4" name="TextBox 33"/>
          <p:cNvSpPr txBox="1"/>
          <p:nvPr/>
        </p:nvSpPr>
        <p:spPr>
          <a:xfrm>
            <a:off x="9857638" y="5527040"/>
            <a:ext cx="2548941" cy="1455591"/>
          </a:xfrm>
          <a:prstGeom prst="rect">
            <a:avLst/>
          </a:prstGeom>
          <a:noFill/>
        </p:spPr>
        <p:txBody>
          <a:bodyPr wrap="square" lIns="0" tIns="0" rIns="0" bIns="0">
            <a:spAutoFit/>
          </a:bodyPr>
          <a:lstStyle/>
          <a:p>
            <a:pPr>
              <a:spcAft>
                <a:spcPts val="569"/>
              </a:spcAft>
            </a:pPr>
            <a:r>
              <a:rPr sz="1138">
                <a:solidFill>
                  <a:srgbClr val="C45A35"/>
                </a:solidFill>
                <a:latin typeface="Helvetica Neue"/>
              </a:rPr>
              <a:t>THE LOOP</a:t>
            </a:r>
          </a:p>
          <a:p>
            <a:r>
              <a:rPr sz="1564">
                <a:solidFill>
                  <a:srgbClr val="1F1F1F"/>
                </a:solidFill>
                <a:latin typeface="Helvetica Neue Light"/>
              </a:rPr>
              <a:t>Refinement feeds better watches back into input. AI translates, previews, explains and learns; the trader decides, in his own broker.</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dirty="0">
                <a:solidFill>
                  <a:srgbClr val="1F1F1F"/>
                </a:solidFill>
              </a:rPr>
              <a:t>Appendix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Chart Lens: Let </a:t>
            </a:r>
            <a:r>
              <a:rPr sz="3200" dirty="0" err="1">
                <a:solidFill>
                  <a:srgbClr val="1F1F1F"/>
                </a:solidFill>
                <a:latin typeface="Helvetica Neue Light"/>
              </a:rPr>
              <a:t>FinViz</a:t>
            </a:r>
            <a:r>
              <a:rPr sz="3200" dirty="0">
                <a:solidFill>
                  <a:srgbClr val="1F1F1F"/>
                </a:solidFill>
                <a:latin typeface="Helvetica Neue Light"/>
              </a:rPr>
              <a:t> look at the charts first</a:t>
            </a:r>
          </a:p>
        </p:txBody>
      </p:sp>
      <p:sp>
        <p:nvSpPr>
          <p:cNvPr id="5" name="TextBox 4"/>
          <p:cNvSpPr txBox="1"/>
          <p:nvPr/>
        </p:nvSpPr>
        <p:spPr>
          <a:xfrm>
            <a:off x="455168" y="1560577"/>
            <a:ext cx="12094464" cy="525400"/>
          </a:xfrm>
          <a:prstGeom prst="rect">
            <a:avLst/>
          </a:prstGeom>
          <a:noFill/>
        </p:spPr>
        <p:txBody>
          <a:bodyPr wrap="square" lIns="0" tIns="0" rIns="0" bIns="0">
            <a:spAutoFit/>
          </a:bodyPr>
          <a:lstStyle/>
          <a:p>
            <a:r>
              <a:rPr sz="1707">
                <a:solidFill>
                  <a:srgbClr val="595959"/>
                </a:solidFill>
                <a:latin typeface="Helvetica Neue Light"/>
              </a:rPr>
              <a:t>Before deciding anything, traders flip through dozens of charts checking the same few things. Each is a check run over a list, every day: exactly what a computer should do, and what the alerts track already watches.</a:t>
            </a:r>
          </a:p>
        </p:txBody>
      </p:sp>
      <p:sp>
        <p:nvSpPr>
          <p:cNvPr id="6" name="Rectangle 5"/>
          <p:cNvSpPr/>
          <p:nvPr/>
        </p:nvSpPr>
        <p:spPr>
          <a:xfrm>
            <a:off x="455168" y="2535936"/>
            <a:ext cx="2314854" cy="33162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11226" y="2665982"/>
            <a:ext cx="2015744" cy="1478418"/>
          </a:xfrm>
          <a:prstGeom prst="rect">
            <a:avLst/>
          </a:prstGeom>
          <a:noFill/>
        </p:spPr>
        <p:txBody>
          <a:bodyPr wrap="square" lIns="0" tIns="0" rIns="0" bIns="0">
            <a:spAutoFit/>
          </a:bodyPr>
          <a:lstStyle/>
          <a:p>
            <a:pPr>
              <a:spcAft>
                <a:spcPts val="284"/>
              </a:spcAft>
            </a:pPr>
            <a:r>
              <a:rPr sz="1280">
                <a:solidFill>
                  <a:srgbClr val="5B3F96"/>
                </a:solidFill>
                <a:latin typeface="Helvetica Neue"/>
              </a:rPr>
              <a:t>S1</a:t>
            </a:r>
          </a:p>
          <a:p>
            <a:pPr>
              <a:spcAft>
                <a:spcPts val="569"/>
              </a:spcAft>
            </a:pPr>
            <a:r>
              <a:rPr sz="1707">
                <a:solidFill>
                  <a:srgbClr val="1F1F1F"/>
                </a:solidFill>
                <a:latin typeface="Helvetica Neue Light"/>
              </a:rPr>
              <a:t>Price at support</a:t>
            </a:r>
          </a:p>
          <a:p>
            <a:pPr>
              <a:spcAft>
                <a:spcPts val="853"/>
              </a:spcAft>
            </a:pPr>
            <a:r>
              <a:rPr sz="1422">
                <a:solidFill>
                  <a:srgbClr val="595959"/>
                </a:solidFill>
                <a:latin typeface="Helvetica Neue Light"/>
              </a:rPr>
              <a:t>Which charts touch the diagonal support line?</a:t>
            </a:r>
          </a:p>
          <a:p>
            <a:r>
              <a:rPr sz="1138">
                <a:solidFill>
                  <a:srgbClr val="6E6E6E"/>
                </a:solidFill>
                <a:latin typeface="Helvetica Neue"/>
              </a:rPr>
              <a:t>FinViz today: Auto trendlines exist; no distance sort or alert</a:t>
            </a:r>
          </a:p>
        </p:txBody>
      </p:sp>
      <p:sp>
        <p:nvSpPr>
          <p:cNvPr id="8" name="Rectangle 7"/>
          <p:cNvSpPr/>
          <p:nvPr/>
        </p:nvSpPr>
        <p:spPr>
          <a:xfrm>
            <a:off x="2900071" y="2535936"/>
            <a:ext cx="2314854" cy="33162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3056128" y="2665983"/>
            <a:ext cx="2015744" cy="1478418"/>
          </a:xfrm>
          <a:prstGeom prst="rect">
            <a:avLst/>
          </a:prstGeom>
          <a:noFill/>
        </p:spPr>
        <p:txBody>
          <a:bodyPr wrap="square" lIns="0" tIns="0" rIns="0" bIns="0">
            <a:spAutoFit/>
          </a:bodyPr>
          <a:lstStyle/>
          <a:p>
            <a:pPr>
              <a:spcAft>
                <a:spcPts val="284"/>
              </a:spcAft>
            </a:pPr>
            <a:r>
              <a:rPr sz="1280">
                <a:solidFill>
                  <a:srgbClr val="5B3F96"/>
                </a:solidFill>
                <a:latin typeface="Helvetica Neue"/>
              </a:rPr>
              <a:t>S2</a:t>
            </a:r>
          </a:p>
          <a:p>
            <a:pPr>
              <a:spcAft>
                <a:spcPts val="569"/>
              </a:spcAft>
            </a:pPr>
            <a:r>
              <a:rPr sz="1707">
                <a:solidFill>
                  <a:srgbClr val="1F1F1F"/>
                </a:solidFill>
                <a:latin typeface="Helvetica Neue Light"/>
              </a:rPr>
              <a:t>SMA20 × SMA200</a:t>
            </a:r>
          </a:p>
          <a:p>
            <a:pPr>
              <a:spcAft>
                <a:spcPts val="853"/>
              </a:spcAft>
            </a:pPr>
            <a:r>
              <a:rPr sz="1422">
                <a:solidFill>
                  <a:srgbClr val="595959"/>
                </a:solidFill>
                <a:latin typeface="Helvetica Neue Light"/>
              </a:rPr>
              <a:t>Golden / death cross across the list, every day</a:t>
            </a:r>
          </a:p>
          <a:p>
            <a:r>
              <a:rPr sz="1138">
                <a:solidFill>
                  <a:srgbClr val="6E6E6E"/>
                </a:solidFill>
                <a:latin typeface="Helvetica Neue"/>
              </a:rPr>
              <a:t>FinViz today: SMA filters exist; no “about to cross” or history</a:t>
            </a:r>
          </a:p>
        </p:txBody>
      </p:sp>
      <p:sp>
        <p:nvSpPr>
          <p:cNvPr id="10" name="Rectangle 9"/>
          <p:cNvSpPr/>
          <p:nvPr/>
        </p:nvSpPr>
        <p:spPr>
          <a:xfrm>
            <a:off x="5344972" y="2535936"/>
            <a:ext cx="2314854" cy="33162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5501029" y="2665983"/>
            <a:ext cx="2015744" cy="1478418"/>
          </a:xfrm>
          <a:prstGeom prst="rect">
            <a:avLst/>
          </a:prstGeom>
          <a:noFill/>
        </p:spPr>
        <p:txBody>
          <a:bodyPr wrap="square" lIns="0" tIns="0" rIns="0" bIns="0">
            <a:spAutoFit/>
          </a:bodyPr>
          <a:lstStyle/>
          <a:p>
            <a:pPr>
              <a:spcAft>
                <a:spcPts val="284"/>
              </a:spcAft>
            </a:pPr>
            <a:r>
              <a:rPr sz="1280">
                <a:solidFill>
                  <a:srgbClr val="5B3F96"/>
                </a:solidFill>
                <a:latin typeface="Helvetica Neue"/>
              </a:rPr>
              <a:t>S3</a:t>
            </a:r>
          </a:p>
          <a:p>
            <a:pPr>
              <a:spcAft>
                <a:spcPts val="569"/>
              </a:spcAft>
            </a:pPr>
            <a:r>
              <a:rPr sz="1707">
                <a:solidFill>
                  <a:srgbClr val="1F1F1F"/>
                </a:solidFill>
                <a:latin typeface="Helvetica Neue Light"/>
              </a:rPr>
              <a:t>Pattern in context</a:t>
            </a:r>
          </a:p>
          <a:p>
            <a:pPr>
              <a:spcAft>
                <a:spcPts val="853"/>
              </a:spcAft>
            </a:pPr>
            <a:r>
              <a:rPr sz="1422">
                <a:solidFill>
                  <a:srgbClr val="595959"/>
                </a:solidFill>
                <a:latin typeface="Helvetica Neue Light"/>
              </a:rPr>
              <a:t>Hammer or engulfing, and is it at support?</a:t>
            </a:r>
          </a:p>
          <a:p>
            <a:r>
              <a:rPr sz="1138">
                <a:solidFill>
                  <a:srgbClr val="6E6E6E"/>
                </a:solidFill>
                <a:latin typeface="Helvetica Neue"/>
              </a:rPr>
              <a:t>FinViz today: Candlestick filter exists; location is missing</a:t>
            </a:r>
          </a:p>
        </p:txBody>
      </p:sp>
      <p:sp>
        <p:nvSpPr>
          <p:cNvPr id="12" name="Rectangle 11"/>
          <p:cNvSpPr/>
          <p:nvPr/>
        </p:nvSpPr>
        <p:spPr>
          <a:xfrm>
            <a:off x="7789874" y="2535936"/>
            <a:ext cx="2314854" cy="33162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7945931" y="2665982"/>
            <a:ext cx="2015744" cy="1697260"/>
          </a:xfrm>
          <a:prstGeom prst="rect">
            <a:avLst/>
          </a:prstGeom>
          <a:noFill/>
        </p:spPr>
        <p:txBody>
          <a:bodyPr wrap="square" lIns="0" tIns="0" rIns="0" bIns="0">
            <a:spAutoFit/>
          </a:bodyPr>
          <a:lstStyle/>
          <a:p>
            <a:pPr>
              <a:spcAft>
                <a:spcPts val="284"/>
              </a:spcAft>
            </a:pPr>
            <a:r>
              <a:rPr sz="1280">
                <a:solidFill>
                  <a:srgbClr val="5B3F96"/>
                </a:solidFill>
                <a:latin typeface="Helvetica Neue"/>
              </a:rPr>
              <a:t>S4</a:t>
            </a:r>
          </a:p>
          <a:p>
            <a:pPr>
              <a:spcAft>
                <a:spcPts val="569"/>
              </a:spcAft>
            </a:pPr>
            <a:r>
              <a:rPr sz="1707">
                <a:solidFill>
                  <a:srgbClr val="1F1F1F"/>
                </a:solidFill>
                <a:latin typeface="Helvetica Neue Light"/>
              </a:rPr>
              <a:t>Linked crosshairs</a:t>
            </a:r>
          </a:p>
          <a:p>
            <a:pPr>
              <a:spcAft>
                <a:spcPts val="853"/>
              </a:spcAft>
            </a:pPr>
            <a:r>
              <a:rPr sz="1422">
                <a:solidFill>
                  <a:srgbClr val="595959"/>
                </a:solidFill>
                <a:latin typeface="Helvetica Neue Light"/>
              </a:rPr>
              <a:t>Same day across charts; volume confirms the breakout?</a:t>
            </a:r>
          </a:p>
          <a:p>
            <a:r>
              <a:rPr sz="1138">
                <a:solidFill>
                  <a:srgbClr val="6E6E6E"/>
                </a:solidFill>
                <a:latin typeface="Helvetica Neue"/>
              </a:rPr>
              <a:t>FinViz today: No linked crosshair found</a:t>
            </a:r>
          </a:p>
        </p:txBody>
      </p:sp>
      <p:sp>
        <p:nvSpPr>
          <p:cNvPr id="14" name="Rectangle 13"/>
          <p:cNvSpPr/>
          <p:nvPr/>
        </p:nvSpPr>
        <p:spPr>
          <a:xfrm>
            <a:off x="10234776" y="2535936"/>
            <a:ext cx="2314854" cy="33162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5" name="TextBox 14"/>
          <p:cNvSpPr txBox="1"/>
          <p:nvPr/>
        </p:nvSpPr>
        <p:spPr>
          <a:xfrm>
            <a:off x="10390834" y="2665983"/>
            <a:ext cx="2015744" cy="1741118"/>
          </a:xfrm>
          <a:prstGeom prst="rect">
            <a:avLst/>
          </a:prstGeom>
          <a:noFill/>
        </p:spPr>
        <p:txBody>
          <a:bodyPr wrap="square" lIns="0" tIns="0" rIns="0" bIns="0">
            <a:spAutoFit/>
          </a:bodyPr>
          <a:lstStyle/>
          <a:p>
            <a:pPr>
              <a:spcAft>
                <a:spcPts val="284"/>
              </a:spcAft>
            </a:pPr>
            <a:r>
              <a:rPr sz="1280">
                <a:solidFill>
                  <a:srgbClr val="5B3F96"/>
                </a:solidFill>
                <a:latin typeface="Helvetica Neue"/>
              </a:rPr>
              <a:t>S5</a:t>
            </a:r>
          </a:p>
          <a:p>
            <a:pPr>
              <a:spcAft>
                <a:spcPts val="569"/>
              </a:spcAft>
            </a:pPr>
            <a:r>
              <a:rPr sz="1707">
                <a:solidFill>
                  <a:srgbClr val="1F1F1F"/>
                </a:solidFill>
                <a:latin typeface="Helvetica Neue Light"/>
              </a:rPr>
              <a:t>Templates on a portfolio</a:t>
            </a:r>
          </a:p>
          <a:p>
            <a:pPr>
              <a:spcAft>
                <a:spcPts val="853"/>
              </a:spcAft>
            </a:pPr>
            <a:r>
              <a:rPr sz="1422">
                <a:solidFill>
                  <a:srgbClr val="595959"/>
                </a:solidFill>
                <a:latin typeface="Helvetica Neue Light"/>
              </a:rPr>
              <a:t>One setup, applied to every holding</a:t>
            </a:r>
          </a:p>
          <a:p>
            <a:r>
              <a:rPr sz="1138">
                <a:solidFill>
                  <a:srgbClr val="6E6E6E"/>
                </a:solidFill>
                <a:latin typeface="Helvetica Neue"/>
              </a:rPr>
              <a:t>FinViz today: No “apply to my portfolio and summarize”</a:t>
            </a:r>
          </a:p>
        </p:txBody>
      </p:sp>
      <p:sp>
        <p:nvSpPr>
          <p:cNvPr id="16" name="TextBox 15"/>
          <p:cNvSpPr txBox="1"/>
          <p:nvPr/>
        </p:nvSpPr>
        <p:spPr>
          <a:xfrm>
            <a:off x="455168" y="6112257"/>
            <a:ext cx="5201920" cy="196977"/>
          </a:xfrm>
          <a:prstGeom prst="rect">
            <a:avLst/>
          </a:prstGeom>
          <a:noFill/>
        </p:spPr>
        <p:txBody>
          <a:bodyPr wrap="square" lIns="0" tIns="0" rIns="0" bIns="0">
            <a:spAutoFit/>
          </a:bodyPr>
          <a:lstStyle/>
          <a:p>
            <a:r>
              <a:rPr sz="1280">
                <a:solidFill>
                  <a:srgbClr val="1F1F1F"/>
                </a:solidFill>
                <a:latin typeface="Helvetica Neue"/>
              </a:rPr>
              <a:t>THE KEY JOURNEY</a:t>
            </a:r>
          </a:p>
        </p:txBody>
      </p:sp>
      <p:sp>
        <p:nvSpPr>
          <p:cNvPr id="17" name="Rectangle 16"/>
          <p:cNvSpPr/>
          <p:nvPr/>
        </p:nvSpPr>
        <p:spPr>
          <a:xfrm>
            <a:off x="455168" y="6476390"/>
            <a:ext cx="2926080" cy="2080768"/>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8" name="TextBox 17"/>
          <p:cNvSpPr txBox="1"/>
          <p:nvPr/>
        </p:nvSpPr>
        <p:spPr>
          <a:xfrm>
            <a:off x="611226" y="6606439"/>
            <a:ext cx="2600960" cy="799321"/>
          </a:xfrm>
          <a:prstGeom prst="rect">
            <a:avLst/>
          </a:prstGeom>
          <a:noFill/>
        </p:spPr>
        <p:txBody>
          <a:bodyPr wrap="square" lIns="0" tIns="0" rIns="0" bIns="0">
            <a:spAutoFit/>
          </a:bodyPr>
          <a:lstStyle/>
          <a:p>
            <a:pPr>
              <a:spcAft>
                <a:spcPts val="569"/>
              </a:spcAft>
            </a:pPr>
            <a:r>
              <a:rPr sz="1280">
                <a:solidFill>
                  <a:srgbClr val="FFFFFF"/>
                </a:solidFill>
                <a:latin typeface="Helvetica Neue"/>
              </a:rPr>
              <a:t>SCAN</a:t>
            </a:r>
          </a:p>
          <a:p>
            <a:r>
              <a:rPr sz="1707">
                <a:solidFill>
                  <a:srgbClr val="FFFFFF"/>
                </a:solidFill>
                <a:latin typeface="Helvetica Neue Light"/>
              </a:rPr>
              <a:t>One grid of his list, ranked by distance to his lens</a:t>
            </a:r>
          </a:p>
        </p:txBody>
      </p:sp>
      <p:sp>
        <p:nvSpPr>
          <p:cNvPr id="19" name="Rectangle 18"/>
          <p:cNvSpPr/>
          <p:nvPr/>
        </p:nvSpPr>
        <p:spPr>
          <a:xfrm>
            <a:off x="3511296" y="6476390"/>
            <a:ext cx="2926080" cy="2080768"/>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TextBox 19"/>
          <p:cNvSpPr txBox="1"/>
          <p:nvPr/>
        </p:nvSpPr>
        <p:spPr>
          <a:xfrm>
            <a:off x="3667354" y="6606439"/>
            <a:ext cx="2600960" cy="799321"/>
          </a:xfrm>
          <a:prstGeom prst="rect">
            <a:avLst/>
          </a:prstGeom>
          <a:noFill/>
        </p:spPr>
        <p:txBody>
          <a:bodyPr wrap="square" lIns="0" tIns="0" rIns="0" bIns="0">
            <a:spAutoFit/>
          </a:bodyPr>
          <a:lstStyle/>
          <a:p>
            <a:pPr>
              <a:spcAft>
                <a:spcPts val="569"/>
              </a:spcAft>
            </a:pPr>
            <a:r>
              <a:rPr sz="1280">
                <a:solidFill>
                  <a:srgbClr val="FFFFFF"/>
                </a:solidFill>
                <a:latin typeface="Helvetica Neue"/>
              </a:rPr>
              <a:t>CONFIRM</a:t>
            </a:r>
          </a:p>
          <a:p>
            <a:r>
              <a:rPr sz="1707">
                <a:solidFill>
                  <a:srgbClr val="FFFFFF"/>
                </a:solidFill>
                <a:latin typeface="Helvetica Neue Light"/>
              </a:rPr>
              <a:t>Linked crosshair; volume vs each stock’s own norm</a:t>
            </a:r>
          </a:p>
        </p:txBody>
      </p:sp>
      <p:sp>
        <p:nvSpPr>
          <p:cNvPr id="21" name="Rectangle 20"/>
          <p:cNvSpPr/>
          <p:nvPr/>
        </p:nvSpPr>
        <p:spPr>
          <a:xfrm>
            <a:off x="6567424" y="6476390"/>
            <a:ext cx="2926080" cy="2080768"/>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6723482" y="6606439"/>
            <a:ext cx="2600960" cy="799321"/>
          </a:xfrm>
          <a:prstGeom prst="rect">
            <a:avLst/>
          </a:prstGeom>
          <a:noFill/>
        </p:spPr>
        <p:txBody>
          <a:bodyPr wrap="square" lIns="0" tIns="0" rIns="0" bIns="0">
            <a:spAutoFit/>
          </a:bodyPr>
          <a:lstStyle/>
          <a:p>
            <a:pPr>
              <a:spcAft>
                <a:spcPts val="569"/>
              </a:spcAft>
            </a:pPr>
            <a:r>
              <a:rPr sz="1280">
                <a:solidFill>
                  <a:srgbClr val="FFFFFF"/>
                </a:solidFill>
                <a:latin typeface="Helvetica Neue"/>
              </a:rPr>
              <a:t>WATCH</a:t>
            </a:r>
          </a:p>
          <a:p>
            <a:r>
              <a:rPr sz="1707">
                <a:solidFill>
                  <a:srgbClr val="FFFFFF"/>
                </a:solidFill>
                <a:latin typeface="Helvetica Neue Light"/>
              </a:rPr>
              <a:t>“Watch this lens” hands off to the alerts track</a:t>
            </a:r>
          </a:p>
        </p:txBody>
      </p:sp>
      <p:sp>
        <p:nvSpPr>
          <p:cNvPr id="23" name="Rectangle 22"/>
          <p:cNvSpPr/>
          <p:nvPr/>
        </p:nvSpPr>
        <p:spPr>
          <a:xfrm>
            <a:off x="9623552" y="6476390"/>
            <a:ext cx="2926080" cy="2080768"/>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4" name="TextBox 23"/>
          <p:cNvSpPr txBox="1"/>
          <p:nvPr/>
        </p:nvSpPr>
        <p:spPr>
          <a:xfrm>
            <a:off x="9779610" y="6606439"/>
            <a:ext cx="2600960" cy="799321"/>
          </a:xfrm>
          <a:prstGeom prst="rect">
            <a:avLst/>
          </a:prstGeom>
          <a:noFill/>
        </p:spPr>
        <p:txBody>
          <a:bodyPr wrap="square" lIns="0" tIns="0" rIns="0" bIns="0">
            <a:spAutoFit/>
          </a:bodyPr>
          <a:lstStyle/>
          <a:p>
            <a:pPr>
              <a:spcAft>
                <a:spcPts val="569"/>
              </a:spcAft>
            </a:pPr>
            <a:r>
              <a:rPr sz="1280">
                <a:solidFill>
                  <a:srgbClr val="FFFFFF"/>
                </a:solidFill>
                <a:latin typeface="Helvetica Neue"/>
              </a:rPr>
              <a:t>REVIEW</a:t>
            </a:r>
          </a:p>
          <a:p>
            <a:r>
              <a:rPr sz="1707">
                <a:solidFill>
                  <a:srgbClr val="FFFFFF"/>
                </a:solidFill>
                <a:latin typeface="Helvetica Neue Light"/>
              </a:rPr>
              <a:t>Drag the line, flag the label; FinViz remembers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dirty="0">
                <a:solidFill>
                  <a:srgbClr val="1F1F1F"/>
                </a:solidFill>
              </a:rPr>
              <a:t>Appendix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Chart Lens: Input, output and refinement</a:t>
            </a:r>
          </a:p>
        </p:txBody>
      </p:sp>
      <p:sp>
        <p:nvSpPr>
          <p:cNvPr id="5" name="Rectangle 4"/>
          <p:cNvSpPr/>
          <p:nvPr/>
        </p:nvSpPr>
        <p:spPr>
          <a:xfrm>
            <a:off x="455168" y="1755648"/>
            <a:ext cx="2210816" cy="2210816"/>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6" name="TextBox 5"/>
          <p:cNvSpPr txBox="1"/>
          <p:nvPr/>
        </p:nvSpPr>
        <p:spPr>
          <a:xfrm>
            <a:off x="611226" y="1911706"/>
            <a:ext cx="1950720" cy="558486"/>
          </a:xfrm>
          <a:prstGeom prst="rect">
            <a:avLst/>
          </a:prstGeom>
          <a:noFill/>
        </p:spPr>
        <p:txBody>
          <a:bodyPr wrap="square" lIns="0" tIns="0" rIns="0" bIns="0">
            <a:spAutoFit/>
          </a:bodyPr>
          <a:lstStyle/>
          <a:p>
            <a:pPr>
              <a:spcAft>
                <a:spcPts val="569"/>
              </a:spcAft>
            </a:pPr>
            <a:r>
              <a:rPr sz="1280">
                <a:solidFill>
                  <a:srgbClr val="FFFFFF"/>
                </a:solidFill>
                <a:latin typeface="Helvetica Neue"/>
              </a:rPr>
              <a:t>INPUT</a:t>
            </a:r>
          </a:p>
          <a:p>
            <a:r>
              <a:rPr sz="1849">
                <a:solidFill>
                  <a:srgbClr val="FFFFFF"/>
                </a:solidFill>
                <a:latin typeface="Helvetica Neue Light"/>
              </a:rPr>
              <a:t>Define a lens</a:t>
            </a:r>
          </a:p>
        </p:txBody>
      </p:sp>
      <p:sp>
        <p:nvSpPr>
          <p:cNvPr id="7" name="Rectangle 6"/>
          <p:cNvSpPr/>
          <p:nvPr/>
        </p:nvSpPr>
        <p:spPr>
          <a:xfrm>
            <a:off x="2796032" y="1755648"/>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2952090" y="1911706"/>
            <a:ext cx="2028749" cy="707822"/>
          </a:xfrm>
          <a:prstGeom prst="rect">
            <a:avLst/>
          </a:prstGeom>
          <a:noFill/>
        </p:spPr>
        <p:txBody>
          <a:bodyPr wrap="square" lIns="0" tIns="0" rIns="0" bIns="0">
            <a:spAutoFit/>
          </a:bodyPr>
          <a:lstStyle/>
          <a:p>
            <a:pPr>
              <a:spcAft>
                <a:spcPts val="427"/>
              </a:spcAft>
            </a:pPr>
            <a:r>
              <a:rPr sz="1138">
                <a:solidFill>
                  <a:srgbClr val="5B3F96"/>
                </a:solidFill>
                <a:latin typeface="Helvetica Neue"/>
              </a:rPr>
              <a:t>I1</a:t>
            </a:r>
          </a:p>
          <a:p>
            <a:r>
              <a:rPr sz="1564">
                <a:solidFill>
                  <a:srgbClr val="1F1F1F"/>
                </a:solidFill>
                <a:latin typeface="Helvetica Neue Light"/>
              </a:rPr>
              <a:t>Pick a starter lens or his own</a:t>
            </a:r>
          </a:p>
        </p:txBody>
      </p:sp>
      <p:sp>
        <p:nvSpPr>
          <p:cNvPr id="9" name="Rectangle 8"/>
          <p:cNvSpPr/>
          <p:nvPr/>
        </p:nvSpPr>
        <p:spPr>
          <a:xfrm>
            <a:off x="5240933" y="1755648"/>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0" name="TextBox 9"/>
          <p:cNvSpPr txBox="1"/>
          <p:nvPr/>
        </p:nvSpPr>
        <p:spPr>
          <a:xfrm>
            <a:off x="5396990" y="1911706"/>
            <a:ext cx="2028749" cy="948529"/>
          </a:xfrm>
          <a:prstGeom prst="rect">
            <a:avLst/>
          </a:prstGeom>
          <a:noFill/>
        </p:spPr>
        <p:txBody>
          <a:bodyPr wrap="square" lIns="0" tIns="0" rIns="0" bIns="0">
            <a:spAutoFit/>
          </a:bodyPr>
          <a:lstStyle/>
          <a:p>
            <a:pPr>
              <a:spcAft>
                <a:spcPts val="427"/>
              </a:spcAft>
            </a:pPr>
            <a:r>
              <a:rPr sz="1138">
                <a:solidFill>
                  <a:srgbClr val="5B3F96"/>
                </a:solidFill>
                <a:latin typeface="Helvetica Neue"/>
              </a:rPr>
              <a:t>I2</a:t>
            </a:r>
          </a:p>
          <a:p>
            <a:r>
              <a:rPr sz="1564">
                <a:solidFill>
                  <a:srgbClr val="1F1F1F"/>
                </a:solidFill>
                <a:latin typeface="Helvetica Neue Light"/>
              </a:rPr>
              <a:t>Tune chips: “within 1% of support”, “hammer AT support”</a:t>
            </a:r>
          </a:p>
        </p:txBody>
      </p:sp>
      <p:sp>
        <p:nvSpPr>
          <p:cNvPr id="11" name="Rectangle 10"/>
          <p:cNvSpPr/>
          <p:nvPr/>
        </p:nvSpPr>
        <p:spPr>
          <a:xfrm>
            <a:off x="7685837" y="1755648"/>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7841894" y="1911706"/>
            <a:ext cx="2028749" cy="948529"/>
          </a:xfrm>
          <a:prstGeom prst="rect">
            <a:avLst/>
          </a:prstGeom>
          <a:noFill/>
        </p:spPr>
        <p:txBody>
          <a:bodyPr wrap="square" lIns="0" tIns="0" rIns="0" bIns="0">
            <a:spAutoFit/>
          </a:bodyPr>
          <a:lstStyle/>
          <a:p>
            <a:pPr>
              <a:spcAft>
                <a:spcPts val="427"/>
              </a:spcAft>
            </a:pPr>
            <a:r>
              <a:rPr sz="1138">
                <a:solidFill>
                  <a:srgbClr val="5B3F96"/>
                </a:solidFill>
                <a:latin typeface="Helvetica Neue"/>
              </a:rPr>
              <a:t>I3</a:t>
            </a:r>
          </a:p>
          <a:p>
            <a:r>
              <a:rPr sz="1564">
                <a:solidFill>
                  <a:srgbClr val="1F1F1F"/>
                </a:solidFill>
                <a:latin typeface="Helvetica Neue Light"/>
              </a:rPr>
              <a:t>Draw a line on one chart → a rule for the list</a:t>
            </a:r>
          </a:p>
        </p:txBody>
      </p:sp>
      <p:sp>
        <p:nvSpPr>
          <p:cNvPr id="13" name="Rectangle 12"/>
          <p:cNvSpPr/>
          <p:nvPr/>
        </p:nvSpPr>
        <p:spPr>
          <a:xfrm>
            <a:off x="10130738" y="1755648"/>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10286795" y="1911706"/>
            <a:ext cx="2028749" cy="707822"/>
          </a:xfrm>
          <a:prstGeom prst="rect">
            <a:avLst/>
          </a:prstGeom>
          <a:noFill/>
        </p:spPr>
        <p:txBody>
          <a:bodyPr wrap="square" lIns="0" tIns="0" rIns="0" bIns="0">
            <a:spAutoFit/>
          </a:bodyPr>
          <a:lstStyle/>
          <a:p>
            <a:pPr>
              <a:spcAft>
                <a:spcPts val="427"/>
              </a:spcAft>
            </a:pPr>
            <a:r>
              <a:rPr sz="1138">
                <a:solidFill>
                  <a:srgbClr val="5B3F96"/>
                </a:solidFill>
                <a:latin typeface="Helvetica Neue"/>
              </a:rPr>
              <a:t>I4</a:t>
            </a:r>
          </a:p>
          <a:p>
            <a:r>
              <a:rPr sz="1564">
                <a:solidFill>
                  <a:srgbClr val="1F1F1F"/>
                </a:solidFill>
                <a:latin typeface="Helvetica Neue Light"/>
              </a:rPr>
              <a:t>Save as “Breakout lens (mine)”</a:t>
            </a:r>
          </a:p>
        </p:txBody>
      </p:sp>
      <p:sp>
        <p:nvSpPr>
          <p:cNvPr id="15" name="Rectangle 14"/>
          <p:cNvSpPr/>
          <p:nvPr/>
        </p:nvSpPr>
        <p:spPr>
          <a:xfrm>
            <a:off x="455168" y="4161536"/>
            <a:ext cx="2210816" cy="2210816"/>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611226" y="4317594"/>
            <a:ext cx="1950720" cy="558486"/>
          </a:xfrm>
          <a:prstGeom prst="rect">
            <a:avLst/>
          </a:prstGeom>
          <a:noFill/>
        </p:spPr>
        <p:txBody>
          <a:bodyPr wrap="square" lIns="0" tIns="0" rIns="0" bIns="0">
            <a:spAutoFit/>
          </a:bodyPr>
          <a:lstStyle/>
          <a:p>
            <a:pPr>
              <a:spcAft>
                <a:spcPts val="569"/>
              </a:spcAft>
            </a:pPr>
            <a:r>
              <a:rPr sz="1280">
                <a:solidFill>
                  <a:srgbClr val="FFFFFF"/>
                </a:solidFill>
                <a:latin typeface="Helvetica Neue"/>
              </a:rPr>
              <a:t>OUTPUT</a:t>
            </a:r>
          </a:p>
          <a:p>
            <a:r>
              <a:rPr sz="1849">
                <a:solidFill>
                  <a:srgbClr val="FFFFFF"/>
                </a:solidFill>
                <a:latin typeface="Helvetica Neue Light"/>
              </a:rPr>
              <a:t>What he sees</a:t>
            </a:r>
          </a:p>
        </p:txBody>
      </p:sp>
      <p:sp>
        <p:nvSpPr>
          <p:cNvPr id="17" name="Rectangle 16"/>
          <p:cNvSpPr/>
          <p:nvPr/>
        </p:nvSpPr>
        <p:spPr>
          <a:xfrm>
            <a:off x="2796032" y="4161536"/>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8" name="TextBox 17"/>
          <p:cNvSpPr txBox="1"/>
          <p:nvPr/>
        </p:nvSpPr>
        <p:spPr>
          <a:xfrm>
            <a:off x="2952090" y="4317594"/>
            <a:ext cx="2028749" cy="707822"/>
          </a:xfrm>
          <a:prstGeom prst="rect">
            <a:avLst/>
          </a:prstGeom>
          <a:noFill/>
        </p:spPr>
        <p:txBody>
          <a:bodyPr wrap="square" lIns="0" tIns="0" rIns="0" bIns="0">
            <a:spAutoFit/>
          </a:bodyPr>
          <a:lstStyle/>
          <a:p>
            <a:pPr>
              <a:spcAft>
                <a:spcPts val="427"/>
              </a:spcAft>
            </a:pPr>
            <a:r>
              <a:rPr sz="1138">
                <a:solidFill>
                  <a:srgbClr val="00868B"/>
                </a:solidFill>
                <a:latin typeface="Helvetica Neue"/>
              </a:rPr>
              <a:t>O1</a:t>
            </a:r>
          </a:p>
          <a:p>
            <a:r>
              <a:rPr sz="1564">
                <a:solidFill>
                  <a:srgbClr val="1F1F1F"/>
                </a:solidFill>
                <a:latin typeface="Helvetica Neue Light"/>
              </a:rPr>
              <a:t>Grid ranked by distance to the lens</a:t>
            </a:r>
          </a:p>
        </p:txBody>
      </p:sp>
      <p:sp>
        <p:nvSpPr>
          <p:cNvPr id="19" name="Rectangle 18"/>
          <p:cNvSpPr/>
          <p:nvPr/>
        </p:nvSpPr>
        <p:spPr>
          <a:xfrm>
            <a:off x="5240933" y="4161536"/>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TextBox 19"/>
          <p:cNvSpPr txBox="1"/>
          <p:nvPr/>
        </p:nvSpPr>
        <p:spPr>
          <a:xfrm>
            <a:off x="5396990" y="4317594"/>
            <a:ext cx="2028749" cy="707822"/>
          </a:xfrm>
          <a:prstGeom prst="rect">
            <a:avLst/>
          </a:prstGeom>
          <a:noFill/>
        </p:spPr>
        <p:txBody>
          <a:bodyPr wrap="square" lIns="0" tIns="0" rIns="0" bIns="0">
            <a:spAutoFit/>
          </a:bodyPr>
          <a:lstStyle/>
          <a:p>
            <a:pPr>
              <a:spcAft>
                <a:spcPts val="427"/>
              </a:spcAft>
            </a:pPr>
            <a:r>
              <a:rPr sz="1138">
                <a:solidFill>
                  <a:srgbClr val="00868B"/>
                </a:solidFill>
                <a:latin typeface="Helvetica Neue"/>
              </a:rPr>
              <a:t>O2</a:t>
            </a:r>
          </a:p>
          <a:p>
            <a:r>
              <a:rPr sz="1564">
                <a:solidFill>
                  <a:srgbClr val="1F1F1F"/>
                </a:solidFill>
                <a:latin typeface="Helvetica Neue Light"/>
              </a:rPr>
              <a:t>What happened, marked on the bar</a:t>
            </a:r>
          </a:p>
        </p:txBody>
      </p:sp>
      <p:sp>
        <p:nvSpPr>
          <p:cNvPr id="21" name="Rectangle 20"/>
          <p:cNvSpPr/>
          <p:nvPr/>
        </p:nvSpPr>
        <p:spPr>
          <a:xfrm>
            <a:off x="7685837" y="4161536"/>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7841894" y="4317594"/>
            <a:ext cx="2028749" cy="707822"/>
          </a:xfrm>
          <a:prstGeom prst="rect">
            <a:avLst/>
          </a:prstGeom>
          <a:noFill/>
        </p:spPr>
        <p:txBody>
          <a:bodyPr wrap="square" lIns="0" tIns="0" rIns="0" bIns="0">
            <a:spAutoFit/>
          </a:bodyPr>
          <a:lstStyle/>
          <a:p>
            <a:pPr>
              <a:spcAft>
                <a:spcPts val="427"/>
              </a:spcAft>
            </a:pPr>
            <a:r>
              <a:rPr sz="1138">
                <a:solidFill>
                  <a:srgbClr val="00868B"/>
                </a:solidFill>
                <a:latin typeface="Helvetica Neue"/>
              </a:rPr>
              <a:t>O3</a:t>
            </a:r>
          </a:p>
          <a:p>
            <a:r>
              <a:rPr sz="1564">
                <a:solidFill>
                  <a:srgbClr val="1F1F1F"/>
                </a:solidFill>
                <a:latin typeface="Helvetica Neue Light"/>
              </a:rPr>
              <a:t>Linked compare; volume vs its norm</a:t>
            </a:r>
          </a:p>
        </p:txBody>
      </p:sp>
      <p:sp>
        <p:nvSpPr>
          <p:cNvPr id="23" name="Rectangle 22"/>
          <p:cNvSpPr/>
          <p:nvPr/>
        </p:nvSpPr>
        <p:spPr>
          <a:xfrm>
            <a:off x="10130738" y="4161536"/>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4" name="TextBox 23"/>
          <p:cNvSpPr txBox="1"/>
          <p:nvPr/>
        </p:nvSpPr>
        <p:spPr>
          <a:xfrm>
            <a:off x="10286795" y="4317594"/>
            <a:ext cx="2028749" cy="707822"/>
          </a:xfrm>
          <a:prstGeom prst="rect">
            <a:avLst/>
          </a:prstGeom>
          <a:noFill/>
        </p:spPr>
        <p:txBody>
          <a:bodyPr wrap="square" lIns="0" tIns="0" rIns="0" bIns="0">
            <a:spAutoFit/>
          </a:bodyPr>
          <a:lstStyle/>
          <a:p>
            <a:pPr>
              <a:spcAft>
                <a:spcPts val="427"/>
              </a:spcAft>
            </a:pPr>
            <a:r>
              <a:rPr sz="1138">
                <a:solidFill>
                  <a:srgbClr val="00868B"/>
                </a:solidFill>
                <a:latin typeface="Helvetica Neue"/>
              </a:rPr>
              <a:t>O4</a:t>
            </a:r>
          </a:p>
          <a:p>
            <a:r>
              <a:rPr sz="1564">
                <a:solidFill>
                  <a:srgbClr val="1F1F1F"/>
                </a:solidFill>
                <a:latin typeface="Helvetica Neue Light"/>
              </a:rPr>
              <a:t>Portfolio summary: facts, not scores</a:t>
            </a:r>
          </a:p>
        </p:txBody>
      </p:sp>
      <p:sp>
        <p:nvSpPr>
          <p:cNvPr id="25" name="Rectangle 24"/>
          <p:cNvSpPr/>
          <p:nvPr/>
        </p:nvSpPr>
        <p:spPr>
          <a:xfrm>
            <a:off x="455168" y="6567424"/>
            <a:ext cx="2210816" cy="2210816"/>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6" name="TextBox 25"/>
          <p:cNvSpPr txBox="1"/>
          <p:nvPr/>
        </p:nvSpPr>
        <p:spPr>
          <a:xfrm>
            <a:off x="611226" y="6723481"/>
            <a:ext cx="1950720" cy="843051"/>
          </a:xfrm>
          <a:prstGeom prst="rect">
            <a:avLst/>
          </a:prstGeom>
          <a:noFill/>
        </p:spPr>
        <p:txBody>
          <a:bodyPr wrap="square" lIns="0" tIns="0" rIns="0" bIns="0">
            <a:spAutoFit/>
          </a:bodyPr>
          <a:lstStyle/>
          <a:p>
            <a:pPr>
              <a:spcAft>
                <a:spcPts val="569"/>
              </a:spcAft>
            </a:pPr>
            <a:r>
              <a:rPr sz="1280">
                <a:solidFill>
                  <a:srgbClr val="FFFFFF"/>
                </a:solidFill>
                <a:latin typeface="Helvetica Neue"/>
              </a:rPr>
              <a:t>REFINEMENT</a:t>
            </a:r>
          </a:p>
          <a:p>
            <a:r>
              <a:rPr sz="1849">
                <a:solidFill>
                  <a:srgbClr val="FFFFFF"/>
                </a:solidFill>
                <a:latin typeface="Helvetica Neue Light"/>
              </a:rPr>
              <a:t>When the AI’s eyes are wrong</a:t>
            </a:r>
          </a:p>
        </p:txBody>
      </p:sp>
      <p:sp>
        <p:nvSpPr>
          <p:cNvPr id="27" name="Rectangle 26"/>
          <p:cNvSpPr/>
          <p:nvPr/>
        </p:nvSpPr>
        <p:spPr>
          <a:xfrm>
            <a:off x="2796032" y="6567424"/>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8" name="TextBox 27"/>
          <p:cNvSpPr txBox="1"/>
          <p:nvPr/>
        </p:nvSpPr>
        <p:spPr>
          <a:xfrm>
            <a:off x="2952090" y="6723482"/>
            <a:ext cx="2028749" cy="948529"/>
          </a:xfrm>
          <a:prstGeom prst="rect">
            <a:avLst/>
          </a:prstGeom>
          <a:noFill/>
        </p:spPr>
        <p:txBody>
          <a:bodyPr wrap="square" lIns="0" tIns="0" rIns="0" bIns="0">
            <a:spAutoFit/>
          </a:bodyPr>
          <a:lstStyle/>
          <a:p>
            <a:pPr>
              <a:spcAft>
                <a:spcPts val="427"/>
              </a:spcAft>
            </a:pPr>
            <a:r>
              <a:rPr sz="1138">
                <a:solidFill>
                  <a:srgbClr val="A12A37"/>
                </a:solidFill>
                <a:latin typeface="Helvetica Neue"/>
              </a:rPr>
              <a:t>R1</a:t>
            </a:r>
          </a:p>
          <a:p>
            <a:r>
              <a:rPr sz="1564">
                <a:solidFill>
                  <a:srgbClr val="1F1F1F"/>
                </a:solidFill>
                <a:latin typeface="Helvetica Neue Light"/>
              </a:rPr>
              <a:t>Drag a misdrawn support line; it’s remembered</a:t>
            </a:r>
          </a:p>
        </p:txBody>
      </p:sp>
      <p:sp>
        <p:nvSpPr>
          <p:cNvPr id="29" name="Rectangle 28"/>
          <p:cNvSpPr/>
          <p:nvPr/>
        </p:nvSpPr>
        <p:spPr>
          <a:xfrm>
            <a:off x="5240933" y="6567424"/>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0" name="TextBox 29"/>
          <p:cNvSpPr txBox="1"/>
          <p:nvPr/>
        </p:nvSpPr>
        <p:spPr>
          <a:xfrm>
            <a:off x="5396990" y="6723482"/>
            <a:ext cx="2028749" cy="707822"/>
          </a:xfrm>
          <a:prstGeom prst="rect">
            <a:avLst/>
          </a:prstGeom>
          <a:noFill/>
        </p:spPr>
        <p:txBody>
          <a:bodyPr wrap="square" lIns="0" tIns="0" rIns="0" bIns="0">
            <a:spAutoFit/>
          </a:bodyPr>
          <a:lstStyle/>
          <a:p>
            <a:pPr>
              <a:spcAft>
                <a:spcPts val="427"/>
              </a:spcAft>
            </a:pPr>
            <a:r>
              <a:rPr sz="1138">
                <a:solidFill>
                  <a:srgbClr val="A12A37"/>
                </a:solidFill>
                <a:latin typeface="Helvetica Neue"/>
              </a:rPr>
              <a:t>R2</a:t>
            </a:r>
          </a:p>
          <a:p>
            <a:r>
              <a:rPr sz="1564">
                <a:solidFill>
                  <a:srgbClr val="1F1F1F"/>
                </a:solidFill>
                <a:latin typeface="Helvetica Neue Light"/>
              </a:rPr>
              <a:t>“Not a real engulfing” + why</a:t>
            </a:r>
          </a:p>
        </p:txBody>
      </p:sp>
      <p:sp>
        <p:nvSpPr>
          <p:cNvPr id="31" name="Rectangle 30"/>
          <p:cNvSpPr/>
          <p:nvPr/>
        </p:nvSpPr>
        <p:spPr>
          <a:xfrm>
            <a:off x="7685837" y="6567424"/>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2" name="TextBox 31"/>
          <p:cNvSpPr txBox="1"/>
          <p:nvPr/>
        </p:nvSpPr>
        <p:spPr>
          <a:xfrm>
            <a:off x="7841894" y="6723482"/>
            <a:ext cx="2028749" cy="707822"/>
          </a:xfrm>
          <a:prstGeom prst="rect">
            <a:avLst/>
          </a:prstGeom>
          <a:noFill/>
        </p:spPr>
        <p:txBody>
          <a:bodyPr wrap="square" lIns="0" tIns="0" rIns="0" bIns="0">
            <a:spAutoFit/>
          </a:bodyPr>
          <a:lstStyle/>
          <a:p>
            <a:pPr>
              <a:spcAft>
                <a:spcPts val="427"/>
              </a:spcAft>
            </a:pPr>
            <a:r>
              <a:rPr sz="1138">
                <a:solidFill>
                  <a:srgbClr val="A12A37"/>
                </a:solidFill>
                <a:latin typeface="Helvetica Neue"/>
              </a:rPr>
              <a:t>R3</a:t>
            </a:r>
          </a:p>
          <a:p>
            <a:r>
              <a:rPr sz="1564">
                <a:solidFill>
                  <a:srgbClr val="1F1F1F"/>
                </a:solidFill>
                <a:latin typeface="Helvetica Neue Light"/>
              </a:rPr>
              <a:t>Move tolerance with a live count</a:t>
            </a:r>
          </a:p>
        </p:txBody>
      </p:sp>
      <p:sp>
        <p:nvSpPr>
          <p:cNvPr id="33" name="Rectangle 32"/>
          <p:cNvSpPr/>
          <p:nvPr/>
        </p:nvSpPr>
        <p:spPr>
          <a:xfrm>
            <a:off x="10130738" y="6567424"/>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4" name="TextBox 33"/>
          <p:cNvSpPr txBox="1"/>
          <p:nvPr/>
        </p:nvSpPr>
        <p:spPr>
          <a:xfrm>
            <a:off x="10286795" y="6723482"/>
            <a:ext cx="2028749" cy="707822"/>
          </a:xfrm>
          <a:prstGeom prst="rect">
            <a:avLst/>
          </a:prstGeom>
          <a:noFill/>
        </p:spPr>
        <p:txBody>
          <a:bodyPr wrap="square" lIns="0" tIns="0" rIns="0" bIns="0">
            <a:spAutoFit/>
          </a:bodyPr>
          <a:lstStyle/>
          <a:p>
            <a:pPr>
              <a:spcAft>
                <a:spcPts val="427"/>
              </a:spcAft>
            </a:pPr>
            <a:r>
              <a:rPr sz="1138">
                <a:solidFill>
                  <a:srgbClr val="A12A37"/>
                </a:solidFill>
                <a:latin typeface="Helvetica Neue"/>
              </a:rPr>
              <a:t>R4</a:t>
            </a:r>
          </a:p>
          <a:p>
            <a:r>
              <a:rPr sz="1564">
                <a:solidFill>
                  <a:srgbClr val="1F1F1F"/>
                </a:solidFill>
                <a:latin typeface="Helvetica Neue Light"/>
              </a:rPr>
              <a:t>Weekly lens review; every change + Undo</a:t>
            </a:r>
          </a:p>
        </p:txBody>
      </p:sp>
      <p:sp>
        <p:nvSpPr>
          <p:cNvPr id="35" name="TextBox 34"/>
          <p:cNvSpPr txBox="1"/>
          <p:nvPr/>
        </p:nvSpPr>
        <p:spPr>
          <a:xfrm>
            <a:off x="455168" y="8869274"/>
            <a:ext cx="12094464" cy="218842"/>
          </a:xfrm>
          <a:prstGeom prst="rect">
            <a:avLst/>
          </a:prstGeom>
          <a:noFill/>
        </p:spPr>
        <p:txBody>
          <a:bodyPr wrap="square" lIns="0" tIns="0" rIns="0" bIns="0">
            <a:spAutoFit/>
          </a:bodyPr>
          <a:lstStyle/>
          <a:p>
            <a:r>
              <a:rPr sz="1422">
                <a:solidFill>
                  <a:srgbClr val="595959"/>
                </a:solidFill>
                <a:latin typeface="Helvetica Neue Light"/>
              </a:rPr>
              <a:t>Pattern names are labels, never advice · distance is to his condition, never a quality score · every marker sourced to the bar.</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dirty="0">
                <a:solidFill>
                  <a:srgbClr val="1F1F1F"/>
                </a:solidFill>
              </a:rPr>
              <a:t>Appendix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Chart Lens: The sketched journey</a:t>
            </a:r>
          </a:p>
        </p:txBody>
      </p:sp>
      <p:pic>
        <p:nvPicPr>
          <p:cNvPr id="5" name="Picture 4" descr="CL1-lens-grid.png"/>
          <p:cNvPicPr>
            <a:picLocks noChangeAspect="1"/>
          </p:cNvPicPr>
          <p:nvPr/>
        </p:nvPicPr>
        <p:blipFill>
          <a:blip r:embed="rId4"/>
          <a:stretch>
            <a:fillRect/>
          </a:stretch>
        </p:blipFill>
        <p:spPr>
          <a:xfrm>
            <a:off x="455168" y="1690624"/>
            <a:ext cx="5917184" cy="3536441"/>
          </a:xfrm>
          <a:prstGeom prst="rect">
            <a:avLst/>
          </a:prstGeom>
          <a:ln w="9525">
            <a:solidFill>
              <a:srgbClr val="1F1F1F"/>
            </a:solidFill>
          </a:ln>
        </p:spPr>
      </p:pic>
      <p:pic>
        <p:nvPicPr>
          <p:cNvPr id="6" name="Picture 5" descr="CL2-linked-compare.png"/>
          <p:cNvPicPr>
            <a:picLocks noChangeAspect="1"/>
          </p:cNvPicPr>
          <p:nvPr/>
        </p:nvPicPr>
        <p:blipFill>
          <a:blip r:embed="rId5"/>
          <a:stretch>
            <a:fillRect/>
          </a:stretch>
        </p:blipFill>
        <p:spPr>
          <a:xfrm>
            <a:off x="6632448" y="1690624"/>
            <a:ext cx="5917184" cy="3536441"/>
          </a:xfrm>
          <a:prstGeom prst="rect">
            <a:avLst/>
          </a:prstGeom>
          <a:ln w="9525">
            <a:solidFill>
              <a:srgbClr val="1F1F1F"/>
            </a:solidFill>
          </a:ln>
        </p:spPr>
      </p:pic>
      <p:sp>
        <p:nvSpPr>
          <p:cNvPr id="7" name="TextBox 6"/>
          <p:cNvSpPr txBox="1"/>
          <p:nvPr/>
        </p:nvSpPr>
        <p:spPr>
          <a:xfrm>
            <a:off x="455168" y="5331103"/>
            <a:ext cx="5917184" cy="437684"/>
          </a:xfrm>
          <a:prstGeom prst="rect">
            <a:avLst/>
          </a:prstGeom>
          <a:noFill/>
        </p:spPr>
        <p:txBody>
          <a:bodyPr wrap="square" lIns="0" tIns="0" rIns="0" bIns="0">
            <a:spAutoFit/>
          </a:bodyPr>
          <a:lstStyle/>
          <a:p>
            <a:r>
              <a:rPr sz="1422">
                <a:solidFill>
                  <a:srgbClr val="1F1F1F"/>
                </a:solidFill>
                <a:latin typeface="Helvetica Neue"/>
              </a:rPr>
              <a:t>① Ranked lens grid  </a:t>
            </a:r>
            <a:r>
              <a:rPr sz="1422">
                <a:solidFill>
                  <a:srgbClr val="595959"/>
                </a:solidFill>
                <a:latin typeface="Helvetica Neue Light"/>
              </a:rPr>
              <a:t>his 30 names ranked by distance to support; markers on the bar; W to watch</a:t>
            </a:r>
          </a:p>
        </p:txBody>
      </p:sp>
      <p:sp>
        <p:nvSpPr>
          <p:cNvPr id="8" name="TextBox 7"/>
          <p:cNvSpPr txBox="1"/>
          <p:nvPr/>
        </p:nvSpPr>
        <p:spPr>
          <a:xfrm>
            <a:off x="6632448" y="5331103"/>
            <a:ext cx="5917184" cy="437684"/>
          </a:xfrm>
          <a:prstGeom prst="rect">
            <a:avLst/>
          </a:prstGeom>
          <a:noFill/>
        </p:spPr>
        <p:txBody>
          <a:bodyPr wrap="square" lIns="0" tIns="0" rIns="0" bIns="0">
            <a:spAutoFit/>
          </a:bodyPr>
          <a:lstStyle/>
          <a:p>
            <a:r>
              <a:rPr sz="1422">
                <a:solidFill>
                  <a:srgbClr val="1F1F1F"/>
                </a:solidFill>
                <a:latin typeface="Helvetica Neue"/>
              </a:rPr>
              <a:t>② Linked compare  </a:t>
            </a:r>
            <a:r>
              <a:rPr sz="1422">
                <a:solidFill>
                  <a:srgbClr val="595959"/>
                </a:solidFill>
                <a:latin typeface="Helvetica Neue Light"/>
              </a:rPr>
              <a:t>one crosshair across 3 charts; volume 2.4× its norm = volume-confirmed</a:t>
            </a:r>
          </a:p>
        </p:txBody>
      </p:sp>
      <p:pic>
        <p:nvPicPr>
          <p:cNvPr id="9" name="Picture 8" descr="CL3-lens-on-portfolio.png"/>
          <p:cNvPicPr>
            <a:picLocks noChangeAspect="1"/>
          </p:cNvPicPr>
          <p:nvPr/>
        </p:nvPicPr>
        <p:blipFill>
          <a:blip r:embed="rId6"/>
          <a:stretch>
            <a:fillRect/>
          </a:stretch>
        </p:blipFill>
        <p:spPr>
          <a:xfrm>
            <a:off x="455168" y="5982208"/>
            <a:ext cx="4681728" cy="2798063"/>
          </a:xfrm>
          <a:prstGeom prst="rect">
            <a:avLst/>
          </a:prstGeom>
          <a:ln w="9525">
            <a:solidFill>
              <a:srgbClr val="1F1F1F"/>
            </a:solidFill>
          </a:ln>
        </p:spPr>
      </p:pic>
      <p:sp>
        <p:nvSpPr>
          <p:cNvPr id="10" name="TextBox 9"/>
          <p:cNvSpPr txBox="1"/>
          <p:nvPr/>
        </p:nvSpPr>
        <p:spPr>
          <a:xfrm>
            <a:off x="5396992" y="5982208"/>
            <a:ext cx="3251200" cy="926664"/>
          </a:xfrm>
          <a:prstGeom prst="rect">
            <a:avLst/>
          </a:prstGeom>
          <a:noFill/>
        </p:spPr>
        <p:txBody>
          <a:bodyPr wrap="square" lIns="0" tIns="0" rIns="0" bIns="0">
            <a:spAutoFit/>
          </a:bodyPr>
          <a:lstStyle/>
          <a:p>
            <a:pPr>
              <a:spcAft>
                <a:spcPts val="427"/>
              </a:spcAft>
            </a:pPr>
            <a:r>
              <a:rPr sz="1422">
                <a:solidFill>
                  <a:srgbClr val="1F1F1F"/>
                </a:solidFill>
                <a:latin typeface="Helvetica Neue"/>
              </a:rPr>
              <a:t>③ Lens on a portfolio  </a:t>
            </a:r>
          </a:p>
          <a:p>
            <a:r>
              <a:rPr sz="1422">
                <a:solidFill>
                  <a:srgbClr val="595959"/>
                </a:solidFill>
                <a:latin typeface="Helvetica Neue Light"/>
              </a:rPr>
              <a:t>Apply the lens to 12 holdings: which meet which checks, what changed this week. Facts, not ratings.</a:t>
            </a:r>
          </a:p>
        </p:txBody>
      </p:sp>
      <p:sp>
        <p:nvSpPr>
          <p:cNvPr id="11" name="Rectangle 10"/>
          <p:cNvSpPr/>
          <p:nvPr/>
        </p:nvSpPr>
        <p:spPr>
          <a:xfrm>
            <a:off x="8908288" y="5982208"/>
            <a:ext cx="3641344" cy="305612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9064346" y="6112257"/>
            <a:ext cx="3381248" cy="1822871"/>
          </a:xfrm>
          <a:prstGeom prst="rect">
            <a:avLst/>
          </a:prstGeom>
          <a:noFill/>
        </p:spPr>
        <p:txBody>
          <a:bodyPr wrap="square" lIns="0" tIns="0" rIns="0" bIns="0">
            <a:spAutoFit/>
          </a:bodyPr>
          <a:lstStyle/>
          <a:p>
            <a:pPr>
              <a:spcAft>
                <a:spcPts val="569"/>
              </a:spcAft>
            </a:pPr>
            <a:r>
              <a:rPr sz="1138">
                <a:solidFill>
                  <a:srgbClr val="5B3F96"/>
                </a:solidFill>
                <a:latin typeface="Helvetica Neue"/>
              </a:rPr>
              <a:t>PRIORITIZED (RELEASE 1)</a:t>
            </a:r>
          </a:p>
          <a:p>
            <a:pPr>
              <a:spcAft>
                <a:spcPts val="284"/>
              </a:spcAft>
            </a:pPr>
            <a:r>
              <a:rPr sz="1493">
                <a:solidFill>
                  <a:srgbClr val="1F1F1F"/>
                </a:solidFill>
                <a:latin typeface="Helvetica Neue Light"/>
              </a:rPr>
              <a:t>1 Distance-to-condition sort</a:t>
            </a:r>
          </a:p>
          <a:p>
            <a:pPr>
              <a:spcAft>
                <a:spcPts val="284"/>
              </a:spcAft>
            </a:pPr>
            <a:r>
              <a:rPr sz="1493">
                <a:solidFill>
                  <a:srgbClr val="1F1F1F"/>
                </a:solidFill>
                <a:latin typeface="Helvetica Neue Light"/>
              </a:rPr>
              <a:t>2 Lenses on a list</a:t>
            </a:r>
          </a:p>
          <a:p>
            <a:pPr>
              <a:spcAft>
                <a:spcPts val="284"/>
              </a:spcAft>
            </a:pPr>
            <a:r>
              <a:rPr sz="1493">
                <a:solidFill>
                  <a:srgbClr val="1F1F1F"/>
                </a:solidFill>
                <a:latin typeface="Helvetica Neue Light"/>
              </a:rPr>
              <a:t>3 Pattern in context</a:t>
            </a:r>
          </a:p>
          <a:p>
            <a:pPr>
              <a:spcAft>
                <a:spcPts val="284"/>
              </a:spcAft>
            </a:pPr>
            <a:r>
              <a:rPr sz="1493">
                <a:solidFill>
                  <a:srgbClr val="1F1F1F"/>
                </a:solidFill>
                <a:latin typeface="Helvetica Neue Light"/>
              </a:rPr>
              <a:t>4 Watch this lens</a:t>
            </a:r>
          </a:p>
          <a:p>
            <a:pPr>
              <a:spcAft>
                <a:spcPts val="284"/>
              </a:spcAft>
            </a:pPr>
            <a:r>
              <a:rPr sz="1493">
                <a:solidFill>
                  <a:srgbClr val="1F1F1F"/>
                </a:solidFill>
                <a:latin typeface="Helvetica Neue Light"/>
              </a:rPr>
              <a:t>5 Linked crosshair grid</a:t>
            </a:r>
          </a:p>
          <a:p>
            <a:pPr>
              <a:spcAft>
                <a:spcPts val="284"/>
              </a:spcAft>
            </a:pPr>
            <a:r>
              <a:rPr sz="1493">
                <a:solidFill>
                  <a:srgbClr val="1F1F1F"/>
                </a:solidFill>
                <a:latin typeface="Helvetica Neue Light"/>
              </a:rPr>
              <a:t>6 Volume vs its own norm</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dirty="0">
                <a:solidFill>
                  <a:srgbClr val="1F1F1F"/>
                </a:solidFill>
              </a:rPr>
              <a:t>Appendix   </a:t>
            </a:r>
            <a:r>
              <a:rPr sz="1422" dirty="0" err="1">
                <a:solidFill>
                  <a:srgbClr val="1F1F1F"/>
                </a:solidFill>
              </a:rPr>
              <a:t>FinViz</a:t>
            </a:r>
            <a:r>
              <a:rPr sz="1422" dirty="0">
                <a:solidFill>
                  <a:srgbClr val="1F1F1F"/>
                </a:solidFill>
              </a:rPr>
              <a:t>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Chart Lens: Reliable insights, just in time</a:t>
            </a:r>
          </a:p>
        </p:txBody>
      </p:sp>
      <p:sp>
        <p:nvSpPr>
          <p:cNvPr id="5" name="TextBox 4"/>
          <p:cNvSpPr txBox="1"/>
          <p:nvPr/>
        </p:nvSpPr>
        <p:spPr>
          <a:xfrm>
            <a:off x="455168" y="1560576"/>
            <a:ext cx="12094464" cy="525400"/>
          </a:xfrm>
          <a:prstGeom prst="rect">
            <a:avLst/>
          </a:prstGeom>
          <a:noFill/>
        </p:spPr>
        <p:txBody>
          <a:bodyPr wrap="square" lIns="0" tIns="0" rIns="0" bIns="0">
            <a:spAutoFit/>
          </a:bodyPr>
          <a:lstStyle/>
          <a:p>
            <a:r>
              <a:rPr sz="1707">
                <a:solidFill>
                  <a:srgbClr val="595959"/>
                </a:solidFill>
                <a:latin typeface="Helvetica Neue Light"/>
              </a:rPr>
              <a:t>Chart detection will sometimes be wrong. The answer is not a confidence %: FinViz shows what it measured, says when it’s borderline, and stays quiet when it can’t tell.</a:t>
            </a:r>
          </a:p>
        </p:txBody>
      </p:sp>
      <p:pic>
        <p:nvPicPr>
          <p:cNvPr id="6" name="Picture 5" descr="CL4-lens-hits-reliability.png"/>
          <p:cNvPicPr>
            <a:picLocks noChangeAspect="1"/>
          </p:cNvPicPr>
          <p:nvPr/>
        </p:nvPicPr>
        <p:blipFill>
          <a:blip r:embed="rId4"/>
          <a:stretch>
            <a:fillRect/>
          </a:stretch>
        </p:blipFill>
        <p:spPr>
          <a:xfrm>
            <a:off x="455168" y="2405888"/>
            <a:ext cx="7282688" cy="4352543"/>
          </a:xfrm>
          <a:prstGeom prst="rect">
            <a:avLst/>
          </a:prstGeom>
          <a:ln w="9525">
            <a:solidFill>
              <a:srgbClr val="1F1F1F"/>
            </a:solidFill>
          </a:ln>
        </p:spPr>
      </p:pic>
      <p:sp>
        <p:nvSpPr>
          <p:cNvPr id="7" name="TextBox 6"/>
          <p:cNvSpPr txBox="1"/>
          <p:nvPr/>
        </p:nvSpPr>
        <p:spPr>
          <a:xfrm>
            <a:off x="455168" y="6862470"/>
            <a:ext cx="7282688" cy="437684"/>
          </a:xfrm>
          <a:prstGeom prst="rect">
            <a:avLst/>
          </a:prstGeom>
          <a:noFill/>
        </p:spPr>
        <p:txBody>
          <a:bodyPr wrap="square" lIns="0" tIns="0" rIns="0" bIns="0">
            <a:spAutoFit/>
          </a:bodyPr>
          <a:lstStyle/>
          <a:p>
            <a:r>
              <a:rPr sz="1422">
                <a:solidFill>
                  <a:srgbClr val="1F1F1F"/>
                </a:solidFill>
                <a:latin typeface="Helvetica Neue"/>
              </a:rPr>
              <a:t>CL4  </a:t>
            </a:r>
            <a:r>
              <a:rPr sz="1422">
                <a:solidFill>
                  <a:srgbClr val="595959"/>
                </a:solidFill>
                <a:latin typeface="Helvetica Neue Light"/>
              </a:rPr>
              <a:t>Clear lens hits arrive in the 7:30 AM glance; “Why marked?” opens the measurements, borderline and abstain examples, history and track record.</a:t>
            </a:r>
          </a:p>
        </p:txBody>
      </p:sp>
      <p:sp>
        <p:nvSpPr>
          <p:cNvPr id="8" name="Rectangle 7"/>
          <p:cNvSpPr/>
          <p:nvPr/>
        </p:nvSpPr>
        <p:spPr>
          <a:xfrm>
            <a:off x="7997952" y="2405888"/>
            <a:ext cx="4551680" cy="75427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8154010" y="2483918"/>
            <a:ext cx="4291584" cy="448584"/>
          </a:xfrm>
          <a:prstGeom prst="rect">
            <a:avLst/>
          </a:prstGeom>
          <a:noFill/>
        </p:spPr>
        <p:txBody>
          <a:bodyPr wrap="square" lIns="0" tIns="0" rIns="0" bIns="0">
            <a:spAutoFit/>
          </a:bodyPr>
          <a:lstStyle/>
          <a:p>
            <a:r>
              <a:rPr sz="1280">
                <a:solidFill>
                  <a:srgbClr val="5B3F96"/>
                </a:solidFill>
                <a:latin typeface="Helvetica Neue"/>
              </a:rPr>
              <a:t>T1 </a:t>
            </a:r>
            <a:r>
              <a:rPr sz="1564">
                <a:solidFill>
                  <a:srgbClr val="1F1F1F"/>
                </a:solidFill>
                <a:latin typeface="Helvetica Neue Light"/>
              </a:rPr>
              <a:t>Show the measurement, not a score</a:t>
            </a:r>
          </a:p>
          <a:p>
            <a:r>
              <a:rPr sz="1351">
                <a:solidFill>
                  <a:srgbClr val="595959"/>
                </a:solidFill>
                <a:latin typeface="Helvetica Neue Light"/>
              </a:rPr>
              <a:t>“wick 2.6× body · top third · at support”</a:t>
            </a:r>
          </a:p>
        </p:txBody>
      </p:sp>
      <p:sp>
        <p:nvSpPr>
          <p:cNvPr id="10" name="Rectangle 9"/>
          <p:cNvSpPr/>
          <p:nvPr/>
        </p:nvSpPr>
        <p:spPr>
          <a:xfrm>
            <a:off x="7997952" y="3264205"/>
            <a:ext cx="4551680" cy="75427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8154010" y="3342234"/>
            <a:ext cx="4291584" cy="448584"/>
          </a:xfrm>
          <a:prstGeom prst="rect">
            <a:avLst/>
          </a:prstGeom>
          <a:noFill/>
        </p:spPr>
        <p:txBody>
          <a:bodyPr wrap="square" lIns="0" tIns="0" rIns="0" bIns="0">
            <a:spAutoFit/>
          </a:bodyPr>
          <a:lstStyle/>
          <a:p>
            <a:r>
              <a:rPr sz="1280">
                <a:solidFill>
                  <a:srgbClr val="5B3F96"/>
                </a:solidFill>
                <a:latin typeface="Helvetica Neue"/>
              </a:rPr>
              <a:t>T2 </a:t>
            </a:r>
            <a:r>
              <a:rPr sz="1564">
                <a:solidFill>
                  <a:srgbClr val="1F1F1F"/>
                </a:solidFill>
                <a:latin typeface="Helvetica Neue Light"/>
              </a:rPr>
              <a:t>Clear vs borderline</a:t>
            </a:r>
          </a:p>
          <a:p>
            <a:r>
              <a:rPr sz="1351">
                <a:solidFill>
                  <a:srgbClr val="595959"/>
                </a:solidFill>
                <a:latin typeface="Helvetica Neue Light"/>
              </a:rPr>
              <a:t>and the criterion that made it borderline</a:t>
            </a:r>
          </a:p>
        </p:txBody>
      </p:sp>
      <p:sp>
        <p:nvSpPr>
          <p:cNvPr id="12" name="Rectangle 11"/>
          <p:cNvSpPr/>
          <p:nvPr/>
        </p:nvSpPr>
        <p:spPr>
          <a:xfrm>
            <a:off x="7997952" y="4122522"/>
            <a:ext cx="4551680" cy="75427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8154010" y="4200550"/>
            <a:ext cx="4291584" cy="448584"/>
          </a:xfrm>
          <a:prstGeom prst="rect">
            <a:avLst/>
          </a:prstGeom>
          <a:noFill/>
        </p:spPr>
        <p:txBody>
          <a:bodyPr wrap="square" lIns="0" tIns="0" rIns="0" bIns="0">
            <a:spAutoFit/>
          </a:bodyPr>
          <a:lstStyle/>
          <a:p>
            <a:r>
              <a:rPr sz="1280">
                <a:solidFill>
                  <a:srgbClr val="5B3F96"/>
                </a:solidFill>
                <a:latin typeface="Helvetica Neue"/>
              </a:rPr>
              <a:t>T3 </a:t>
            </a:r>
            <a:r>
              <a:rPr sz="1564">
                <a:solidFill>
                  <a:srgbClr val="1F1F1F"/>
                </a:solidFill>
                <a:latin typeface="Helvetica Neue Light"/>
              </a:rPr>
              <a:t>Abstain when it can’t tell</a:t>
            </a:r>
          </a:p>
          <a:p>
            <a:r>
              <a:rPr sz="1351">
                <a:solidFill>
                  <a:srgbClr val="595959"/>
                </a:solidFill>
                <a:latin typeface="Helvetica Neue Light"/>
              </a:rPr>
              <a:t>“Not enough data to call this”</a:t>
            </a:r>
          </a:p>
        </p:txBody>
      </p:sp>
      <p:sp>
        <p:nvSpPr>
          <p:cNvPr id="14" name="Rectangle 13"/>
          <p:cNvSpPr/>
          <p:nvPr/>
        </p:nvSpPr>
        <p:spPr>
          <a:xfrm>
            <a:off x="7997952" y="4980839"/>
            <a:ext cx="4551680" cy="75427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5" name="TextBox 14"/>
          <p:cNvSpPr txBox="1"/>
          <p:nvPr/>
        </p:nvSpPr>
        <p:spPr>
          <a:xfrm>
            <a:off x="8154010" y="5058867"/>
            <a:ext cx="4291584" cy="448584"/>
          </a:xfrm>
          <a:prstGeom prst="rect">
            <a:avLst/>
          </a:prstGeom>
          <a:noFill/>
        </p:spPr>
        <p:txBody>
          <a:bodyPr wrap="square" lIns="0" tIns="0" rIns="0" bIns="0">
            <a:spAutoFit/>
          </a:bodyPr>
          <a:lstStyle/>
          <a:p>
            <a:r>
              <a:rPr sz="1280">
                <a:solidFill>
                  <a:srgbClr val="5B3F96"/>
                </a:solidFill>
                <a:latin typeface="Helvetica Neue"/>
              </a:rPr>
              <a:t>T4 </a:t>
            </a:r>
            <a:r>
              <a:rPr sz="1564">
                <a:solidFill>
                  <a:srgbClr val="1F1F1F"/>
                </a:solidFill>
                <a:latin typeface="Helvetica Neue Light"/>
              </a:rPr>
              <a:t>Borderline never interrupts</a:t>
            </a:r>
          </a:p>
          <a:p>
            <a:r>
              <a:rPr sz="1351">
                <a:solidFill>
                  <a:srgbClr val="595959"/>
                </a:solidFill>
                <a:latin typeface="Helvetica Neue Light"/>
              </a:rPr>
              <a:t>only clear detections reach alerts</a:t>
            </a:r>
          </a:p>
        </p:txBody>
      </p:sp>
      <p:sp>
        <p:nvSpPr>
          <p:cNvPr id="16" name="Rectangle 15"/>
          <p:cNvSpPr/>
          <p:nvPr/>
        </p:nvSpPr>
        <p:spPr>
          <a:xfrm>
            <a:off x="7997952" y="5839155"/>
            <a:ext cx="4551680" cy="75427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8154010" y="5917184"/>
            <a:ext cx="4291584" cy="448584"/>
          </a:xfrm>
          <a:prstGeom prst="rect">
            <a:avLst/>
          </a:prstGeom>
          <a:noFill/>
        </p:spPr>
        <p:txBody>
          <a:bodyPr wrap="square" lIns="0" tIns="0" rIns="0" bIns="0">
            <a:spAutoFit/>
          </a:bodyPr>
          <a:lstStyle/>
          <a:p>
            <a:r>
              <a:rPr sz="1280">
                <a:solidFill>
                  <a:srgbClr val="5B3F96"/>
                </a:solidFill>
                <a:latin typeface="Helvetica Neue"/>
              </a:rPr>
              <a:t>T5 </a:t>
            </a:r>
            <a:r>
              <a:rPr sz="1564">
                <a:solidFill>
                  <a:srgbClr val="1F1F1F"/>
                </a:solidFill>
                <a:latin typeface="Helvetica Neue Light"/>
              </a:rPr>
              <a:t>History, with sample size</a:t>
            </a:r>
          </a:p>
          <a:p>
            <a:r>
              <a:rPr sz="1351">
                <a:solidFill>
                  <a:srgbClr val="595959"/>
                </a:solidFill>
                <a:latin typeface="Helvetica Neue Light"/>
              </a:rPr>
              <a:t>“matched 38 times in 3 years”</a:t>
            </a:r>
          </a:p>
        </p:txBody>
      </p:sp>
      <p:sp>
        <p:nvSpPr>
          <p:cNvPr id="18" name="Rectangle 17"/>
          <p:cNvSpPr/>
          <p:nvPr/>
        </p:nvSpPr>
        <p:spPr>
          <a:xfrm>
            <a:off x="7997952" y="6697472"/>
            <a:ext cx="4551680" cy="75427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9" name="TextBox 18"/>
          <p:cNvSpPr txBox="1"/>
          <p:nvPr/>
        </p:nvSpPr>
        <p:spPr>
          <a:xfrm>
            <a:off x="8154010" y="6775501"/>
            <a:ext cx="4291584" cy="448584"/>
          </a:xfrm>
          <a:prstGeom prst="rect">
            <a:avLst/>
          </a:prstGeom>
          <a:noFill/>
        </p:spPr>
        <p:txBody>
          <a:bodyPr wrap="square" lIns="0" tIns="0" rIns="0" bIns="0">
            <a:spAutoFit/>
          </a:bodyPr>
          <a:lstStyle/>
          <a:p>
            <a:r>
              <a:rPr sz="1280">
                <a:solidFill>
                  <a:srgbClr val="5B3F96"/>
                </a:solidFill>
                <a:latin typeface="Helvetica Neue"/>
              </a:rPr>
              <a:t>T6 </a:t>
            </a:r>
            <a:r>
              <a:rPr sz="1564">
                <a:solidFill>
                  <a:srgbClr val="1F1F1F"/>
                </a:solidFill>
                <a:latin typeface="Helvetica Neue Light"/>
              </a:rPr>
              <a:t>Visible track record</a:t>
            </a:r>
          </a:p>
          <a:p>
            <a:r>
              <a:rPr sz="1351">
                <a:solidFill>
                  <a:srgbClr val="595959"/>
                </a:solidFill>
                <a:latin typeface="Helvetica Neue Light"/>
              </a:rPr>
              <a:t>“112 detections · 3 corrected by you”</a:t>
            </a:r>
          </a:p>
        </p:txBody>
      </p:sp>
      <p:sp>
        <p:nvSpPr>
          <p:cNvPr id="20" name="Rectangle 19"/>
          <p:cNvSpPr/>
          <p:nvPr/>
        </p:nvSpPr>
        <p:spPr>
          <a:xfrm>
            <a:off x="7997952" y="7555789"/>
            <a:ext cx="4551680" cy="754278"/>
          </a:xfrm>
          <a:prstGeom prst="rect">
            <a:avLst/>
          </a:prstGeom>
          <a:solidFill>
            <a:srgbClr val="FFFFFF"/>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1" name="TextBox 20"/>
          <p:cNvSpPr txBox="1"/>
          <p:nvPr/>
        </p:nvSpPr>
        <p:spPr>
          <a:xfrm>
            <a:off x="8154010" y="7633818"/>
            <a:ext cx="4291584" cy="448584"/>
          </a:xfrm>
          <a:prstGeom prst="rect">
            <a:avLst/>
          </a:prstGeom>
          <a:noFill/>
        </p:spPr>
        <p:txBody>
          <a:bodyPr wrap="square" lIns="0" tIns="0" rIns="0" bIns="0">
            <a:spAutoFit/>
          </a:bodyPr>
          <a:lstStyle/>
          <a:p>
            <a:r>
              <a:rPr sz="1564">
                <a:solidFill>
                  <a:srgbClr val="1F1F1F"/>
                </a:solidFill>
                <a:latin typeface="Helvetica Neue Light"/>
              </a:rPr>
              <a:t>Just in time</a:t>
            </a:r>
          </a:p>
          <a:p>
            <a:r>
              <a:rPr sz="1351">
                <a:solidFill>
                  <a:srgbClr val="595959"/>
                </a:solidFill>
                <a:latin typeface="Helvetica Neue Light"/>
              </a:rPr>
              <a:t>clear hits on his lists, before work</a:t>
            </a:r>
          </a:p>
        </p:txBody>
      </p:sp>
      <p:sp>
        <p:nvSpPr>
          <p:cNvPr id="22" name="TextBox 21"/>
          <p:cNvSpPr txBox="1"/>
          <p:nvPr/>
        </p:nvSpPr>
        <p:spPr>
          <a:xfrm>
            <a:off x="455168" y="8583168"/>
            <a:ext cx="12094464" cy="218842"/>
          </a:xfrm>
          <a:prstGeom prst="rect">
            <a:avLst/>
          </a:prstGeom>
          <a:noFill/>
        </p:spPr>
        <p:txBody>
          <a:bodyPr wrap="square" lIns="0" tIns="0" rIns="0" bIns="0">
            <a:spAutoFit/>
          </a:bodyPr>
          <a:lstStyle/>
          <a:p>
            <a:r>
              <a:rPr sz="1422">
                <a:solidFill>
                  <a:srgbClr val="595959"/>
                </a:solidFill>
                <a:latin typeface="Helvetica Neue Light"/>
              </a:rPr>
              <a:t>Accuracy measures: corrections per 100 detections · weekly audits &lt; 1% wrong among clear detections · abstain rate tracked.</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Appendix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Insight Board: Insights, not widgets</a:t>
            </a:r>
          </a:p>
        </p:txBody>
      </p:sp>
      <p:sp>
        <p:nvSpPr>
          <p:cNvPr id="5" name="TextBox 4"/>
          <p:cNvSpPr txBox="1"/>
          <p:nvPr/>
        </p:nvSpPr>
        <p:spPr>
          <a:xfrm>
            <a:off x="455168" y="1560576"/>
            <a:ext cx="12094464" cy="525400"/>
          </a:xfrm>
          <a:prstGeom prst="rect">
            <a:avLst/>
          </a:prstGeom>
          <a:noFill/>
        </p:spPr>
        <p:txBody>
          <a:bodyPr wrap="square" lIns="0" tIns="0" rIns="0" bIns="0">
            <a:spAutoFit/>
          </a:bodyPr>
          <a:lstStyle/>
          <a:p>
            <a:r>
              <a:rPr sz="1707">
                <a:solidFill>
                  <a:srgbClr val="595959"/>
                </a:solidFill>
                <a:latin typeface="Helvetica Neue Light"/>
              </a:rPr>
              <a:t>Week 4’s dashboard option. The board he keeps open becomes a few findings about his own stocks and portfolios, each with evidence, a reliability label and one next step.</a:t>
            </a:r>
          </a:p>
        </p:txBody>
      </p:sp>
      <p:pic>
        <p:nvPicPr>
          <p:cNvPr id="6" name="Picture 5" descr="DB1-insight-board-pre-market.png"/>
          <p:cNvPicPr>
            <a:picLocks noChangeAspect="1"/>
          </p:cNvPicPr>
          <p:nvPr/>
        </p:nvPicPr>
        <p:blipFill>
          <a:blip r:embed="rId4"/>
          <a:stretch>
            <a:fillRect/>
          </a:stretch>
        </p:blipFill>
        <p:spPr>
          <a:xfrm>
            <a:off x="455168" y="2405888"/>
            <a:ext cx="7282688" cy="4352543"/>
          </a:xfrm>
          <a:prstGeom prst="rect">
            <a:avLst/>
          </a:prstGeom>
          <a:ln w="9525">
            <a:solidFill>
              <a:srgbClr val="1F1F1F"/>
            </a:solidFill>
          </a:ln>
        </p:spPr>
      </p:pic>
      <p:sp>
        <p:nvSpPr>
          <p:cNvPr id="7" name="TextBox 6"/>
          <p:cNvSpPr txBox="1"/>
          <p:nvPr/>
        </p:nvSpPr>
        <p:spPr>
          <a:xfrm>
            <a:off x="455168" y="6836460"/>
            <a:ext cx="7282688" cy="218842"/>
          </a:xfrm>
          <a:prstGeom prst="rect">
            <a:avLst/>
          </a:prstGeom>
          <a:noFill/>
        </p:spPr>
        <p:txBody>
          <a:bodyPr wrap="square" lIns="0" tIns="0" rIns="0" bIns="0">
            <a:spAutoFit/>
          </a:bodyPr>
          <a:lstStyle/>
          <a:p>
            <a:r>
              <a:rPr sz="1422">
                <a:solidFill>
                  <a:srgbClr val="1F1F1F"/>
                </a:solidFill>
                <a:latin typeface="Helvetica Neue"/>
              </a:rPr>
              <a:t>DB1  </a:t>
            </a:r>
            <a:r>
              <a:rPr sz="1422">
                <a:solidFill>
                  <a:srgbClr val="595959"/>
                </a:solidFill>
                <a:latin typeface="Helvetica Neue Light"/>
              </a:rPr>
              <a:t>Pre-market: three sourced findings that need him, annotated map, his lists.</a:t>
            </a:r>
          </a:p>
        </p:txBody>
      </p:sp>
      <p:pic>
        <p:nvPicPr>
          <p:cNvPr id="8" name="Picture 7" descr="DB2-insight-card-opened.png"/>
          <p:cNvPicPr>
            <a:picLocks noChangeAspect="1"/>
          </p:cNvPicPr>
          <p:nvPr/>
        </p:nvPicPr>
        <p:blipFill>
          <a:blip r:embed="rId5"/>
          <a:stretch>
            <a:fillRect/>
          </a:stretch>
        </p:blipFill>
        <p:spPr>
          <a:xfrm>
            <a:off x="7997952" y="2405888"/>
            <a:ext cx="2210816" cy="1321307"/>
          </a:xfrm>
          <a:prstGeom prst="rect">
            <a:avLst/>
          </a:prstGeom>
          <a:ln w="6350">
            <a:solidFill>
              <a:srgbClr val="1F1F1F"/>
            </a:solidFill>
          </a:ln>
        </p:spPr>
      </p:pic>
      <p:sp>
        <p:nvSpPr>
          <p:cNvPr id="9" name="TextBox 8"/>
          <p:cNvSpPr txBox="1"/>
          <p:nvPr/>
        </p:nvSpPr>
        <p:spPr>
          <a:xfrm>
            <a:off x="7997952" y="3779214"/>
            <a:ext cx="2210816" cy="175113"/>
          </a:xfrm>
          <a:prstGeom prst="rect">
            <a:avLst/>
          </a:prstGeom>
          <a:noFill/>
        </p:spPr>
        <p:txBody>
          <a:bodyPr wrap="square" lIns="0" tIns="0" rIns="0" bIns="0">
            <a:spAutoFit/>
          </a:bodyPr>
          <a:lstStyle/>
          <a:p>
            <a:r>
              <a:rPr sz="1138">
                <a:solidFill>
                  <a:srgbClr val="595959"/>
                </a:solidFill>
                <a:latin typeface="Helvetica Neue Light"/>
              </a:rPr>
              <a:t>DB2 · Card with its evidence</a:t>
            </a:r>
          </a:p>
        </p:txBody>
      </p:sp>
      <p:pic>
        <p:nvPicPr>
          <p:cNvPr id="10" name="Picture 9" descr="DB3-portfolio-vs-plan.png"/>
          <p:cNvPicPr>
            <a:picLocks noChangeAspect="1"/>
          </p:cNvPicPr>
          <p:nvPr/>
        </p:nvPicPr>
        <p:blipFill>
          <a:blip r:embed="rId6"/>
          <a:stretch>
            <a:fillRect/>
          </a:stretch>
        </p:blipFill>
        <p:spPr>
          <a:xfrm>
            <a:off x="10312806" y="2405888"/>
            <a:ext cx="2210816" cy="1321307"/>
          </a:xfrm>
          <a:prstGeom prst="rect">
            <a:avLst/>
          </a:prstGeom>
          <a:ln w="6350">
            <a:solidFill>
              <a:srgbClr val="1F1F1F"/>
            </a:solidFill>
          </a:ln>
        </p:spPr>
      </p:pic>
      <p:sp>
        <p:nvSpPr>
          <p:cNvPr id="11" name="TextBox 10"/>
          <p:cNvSpPr txBox="1"/>
          <p:nvPr/>
        </p:nvSpPr>
        <p:spPr>
          <a:xfrm>
            <a:off x="10312806" y="3779214"/>
            <a:ext cx="2210816" cy="175113"/>
          </a:xfrm>
          <a:prstGeom prst="rect">
            <a:avLst/>
          </a:prstGeom>
          <a:noFill/>
        </p:spPr>
        <p:txBody>
          <a:bodyPr wrap="square" lIns="0" tIns="0" rIns="0" bIns="0">
            <a:spAutoFit/>
          </a:bodyPr>
          <a:lstStyle/>
          <a:p>
            <a:r>
              <a:rPr sz="1138">
                <a:solidFill>
                  <a:srgbClr val="595959"/>
                </a:solidFill>
                <a:latin typeface="Helvetica Neue Light"/>
              </a:rPr>
              <a:t>DB3 · Portfolio vs his plan</a:t>
            </a:r>
          </a:p>
        </p:txBody>
      </p:sp>
      <p:pic>
        <p:nvPicPr>
          <p:cNvPr id="12" name="Picture 11" descr="DB4-many-portfolios-exceptions.png"/>
          <p:cNvPicPr>
            <a:picLocks noChangeAspect="1"/>
          </p:cNvPicPr>
          <p:nvPr/>
        </p:nvPicPr>
        <p:blipFill>
          <a:blip r:embed="rId7"/>
          <a:stretch>
            <a:fillRect/>
          </a:stretch>
        </p:blipFill>
        <p:spPr>
          <a:xfrm>
            <a:off x="7997952" y="4252570"/>
            <a:ext cx="2210816" cy="1321307"/>
          </a:xfrm>
          <a:prstGeom prst="rect">
            <a:avLst/>
          </a:prstGeom>
          <a:ln w="6350">
            <a:solidFill>
              <a:srgbClr val="1F1F1F"/>
            </a:solidFill>
          </a:ln>
        </p:spPr>
      </p:pic>
      <p:sp>
        <p:nvSpPr>
          <p:cNvPr id="13" name="TextBox 12"/>
          <p:cNvSpPr txBox="1"/>
          <p:nvPr/>
        </p:nvSpPr>
        <p:spPr>
          <a:xfrm>
            <a:off x="7997952" y="5625896"/>
            <a:ext cx="2210816" cy="175113"/>
          </a:xfrm>
          <a:prstGeom prst="rect">
            <a:avLst/>
          </a:prstGeom>
          <a:noFill/>
        </p:spPr>
        <p:txBody>
          <a:bodyPr wrap="square" lIns="0" tIns="0" rIns="0" bIns="0">
            <a:spAutoFit/>
          </a:bodyPr>
          <a:lstStyle/>
          <a:p>
            <a:r>
              <a:rPr sz="1138">
                <a:solidFill>
                  <a:srgbClr val="595959"/>
                </a:solidFill>
                <a:latin typeface="Helvetica Neue Light"/>
              </a:rPr>
              <a:t>DB4 · 54 portfolios, exceptions first</a:t>
            </a:r>
          </a:p>
        </p:txBody>
      </p:sp>
      <p:pic>
        <p:nvPicPr>
          <p:cNvPr id="14" name="Picture 13" descr="DB5-build-the-board.png"/>
          <p:cNvPicPr>
            <a:picLocks noChangeAspect="1"/>
          </p:cNvPicPr>
          <p:nvPr/>
        </p:nvPicPr>
        <p:blipFill>
          <a:blip r:embed="rId8"/>
          <a:stretch>
            <a:fillRect/>
          </a:stretch>
        </p:blipFill>
        <p:spPr>
          <a:xfrm>
            <a:off x="10312806" y="4252570"/>
            <a:ext cx="2210816" cy="1321307"/>
          </a:xfrm>
          <a:prstGeom prst="rect">
            <a:avLst/>
          </a:prstGeom>
          <a:ln w="6350">
            <a:solidFill>
              <a:srgbClr val="1F1F1F"/>
            </a:solidFill>
          </a:ln>
        </p:spPr>
      </p:pic>
      <p:sp>
        <p:nvSpPr>
          <p:cNvPr id="15" name="TextBox 14"/>
          <p:cNvSpPr txBox="1"/>
          <p:nvPr/>
        </p:nvSpPr>
        <p:spPr>
          <a:xfrm>
            <a:off x="10312806" y="5625896"/>
            <a:ext cx="2210816" cy="175113"/>
          </a:xfrm>
          <a:prstGeom prst="rect">
            <a:avLst/>
          </a:prstGeom>
          <a:noFill/>
        </p:spPr>
        <p:txBody>
          <a:bodyPr wrap="square" lIns="0" tIns="0" rIns="0" bIns="0">
            <a:spAutoFit/>
          </a:bodyPr>
          <a:lstStyle/>
          <a:p>
            <a:r>
              <a:rPr sz="1138">
                <a:solidFill>
                  <a:srgbClr val="595959"/>
                </a:solidFill>
                <a:latin typeface="Helvetica Neue Light"/>
              </a:rPr>
              <a:t>DB5 · Build the board, asked first</a:t>
            </a:r>
          </a:p>
        </p:txBody>
      </p:sp>
      <p:sp>
        <p:nvSpPr>
          <p:cNvPr id="16" name="Rectangle 15"/>
          <p:cNvSpPr/>
          <p:nvPr/>
        </p:nvSpPr>
        <p:spPr>
          <a:xfrm>
            <a:off x="7997952" y="6177280"/>
            <a:ext cx="4551680" cy="1885696"/>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8154010" y="6281318"/>
            <a:ext cx="4291584" cy="1173335"/>
          </a:xfrm>
          <a:prstGeom prst="rect">
            <a:avLst/>
          </a:prstGeom>
          <a:noFill/>
        </p:spPr>
        <p:txBody>
          <a:bodyPr wrap="square" lIns="0" tIns="0" rIns="0" bIns="0">
            <a:spAutoFit/>
          </a:bodyPr>
          <a:lstStyle/>
          <a:p>
            <a:pPr>
              <a:spcAft>
                <a:spcPts val="427"/>
              </a:spcAft>
            </a:pPr>
            <a:r>
              <a:rPr sz="1138">
                <a:solidFill>
                  <a:srgbClr val="5B3F96"/>
                </a:solidFill>
                <a:latin typeface="Helvetica Neue"/>
              </a:rPr>
              <a:t>GUARDRAILS</a:t>
            </a:r>
          </a:p>
          <a:p>
            <a:pPr>
              <a:spcAft>
                <a:spcPts val="284"/>
              </a:spcAft>
            </a:pPr>
            <a:r>
              <a:rPr sz="1351">
                <a:solidFill>
                  <a:srgbClr val="1F1F1F"/>
                </a:solidFill>
                <a:latin typeface="Helvetica Neue Light"/>
              </a:rPr>
              <a:t>Clear findings only reach the top; borderline never pushes</a:t>
            </a:r>
          </a:p>
          <a:p>
            <a:pPr>
              <a:spcAft>
                <a:spcPts val="284"/>
              </a:spcAft>
            </a:pPr>
            <a:r>
              <a:rPr sz="1351">
                <a:solidFill>
                  <a:srgbClr val="1F1F1F"/>
                </a:solidFill>
                <a:latin typeface="Helvetica Neue Light"/>
              </a:rPr>
              <a:t>Causes are attributed to a source, or “no reported cause”</a:t>
            </a:r>
          </a:p>
          <a:p>
            <a:pPr>
              <a:spcAft>
                <a:spcPts val="284"/>
              </a:spcAft>
            </a:pPr>
            <a:r>
              <a:rPr sz="1351">
                <a:solidFill>
                  <a:srgbClr val="1F1F1F"/>
                </a:solidFill>
                <a:latin typeface="Helvetica Neue Light"/>
              </a:rPr>
              <a:t>Drift is a fact against his targets; FinViz never rebalances</a:t>
            </a:r>
          </a:p>
          <a:p>
            <a:pPr>
              <a:spcAft>
                <a:spcPts val="284"/>
              </a:spcAft>
            </a:pPr>
            <a:r>
              <a:rPr sz="1351">
                <a:solidFill>
                  <a:srgbClr val="1F1F1F"/>
                </a:solidFill>
                <a:latin typeface="Helvetica Neue Light"/>
              </a:rPr>
              <a:t>Ranked by what changed for him, never a score</a:t>
            </a:r>
          </a:p>
        </p:txBody>
      </p:sp>
      <p:sp>
        <p:nvSpPr>
          <p:cNvPr id="18" name="TextBox 17"/>
          <p:cNvSpPr txBox="1"/>
          <p:nvPr/>
        </p:nvSpPr>
        <p:spPr>
          <a:xfrm>
            <a:off x="455168" y="8583169"/>
            <a:ext cx="12094464" cy="196977"/>
          </a:xfrm>
          <a:prstGeom prst="rect">
            <a:avLst/>
          </a:prstGeom>
          <a:noFill/>
        </p:spPr>
        <p:txBody>
          <a:bodyPr wrap="square" lIns="0" tIns="0" rIns="0" bIns="0">
            <a:spAutoFit/>
          </a:bodyPr>
          <a:lstStyle/>
          <a:p>
            <a:r>
              <a:rPr sz="1280">
                <a:solidFill>
                  <a:srgbClr val="8C8C8C"/>
                </a:solidFill>
                <a:latin typeface="Helvetica Neue Light"/>
              </a:rPr>
              <a:t>Spec: Design-Specs/Insight-Board.md · FigJam 39 · Figma lo-fi page, part 2</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2"/>
          </a:xfrm>
          <a:prstGeom prst="rect">
            <a:avLst/>
          </a:prstGeom>
        </p:spPr>
      </p:pic>
      <p:sp>
        <p:nvSpPr>
          <p:cNvPr id="3" name="TextBox 2"/>
          <p:cNvSpPr txBox="1"/>
          <p:nvPr/>
        </p:nvSpPr>
        <p:spPr>
          <a:xfrm>
            <a:off x="455168" y="390144"/>
            <a:ext cx="10403840" cy="325120"/>
          </a:xfrm>
          <a:prstGeom prst="rect">
            <a:avLst/>
          </a:prstGeom>
          <a:noFill/>
        </p:spPr>
        <p:txBody>
          <a:bodyPr wrap="square" lIns="0" tIns="0" rIns="0" bIns="0">
            <a:spAutoFit/>
          </a:bodyPr>
          <a:lstStyle/>
          <a:p>
            <a:pPr>
              <a:spcAft>
                <a:spcPts val="0"/>
              </a:spcAft>
            </a:pPr>
            <a:r>
              <a:rPr sz="1422">
                <a:solidFill>
                  <a:srgbClr val="1F1F1F"/>
                </a:solidFill>
                <a:latin typeface="Helvetica Neue"/>
              </a:rPr>
              <a:t>Appendix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pPr>
              <a:spcAft>
                <a:spcPts val="0"/>
              </a:spcAft>
            </a:pPr>
            <a:r>
              <a:rPr sz="3200" dirty="0">
                <a:solidFill>
                  <a:srgbClr val="1F1F1F"/>
                </a:solidFill>
                <a:latin typeface="Helvetica Neue Light"/>
              </a:rPr>
              <a:t>Onboarding, Day One: No tour, his first evening</a:t>
            </a:r>
          </a:p>
        </p:txBody>
      </p:sp>
      <p:sp>
        <p:nvSpPr>
          <p:cNvPr id="5" name="TextBox 4"/>
          <p:cNvSpPr txBox="1"/>
          <p:nvPr/>
        </p:nvSpPr>
        <p:spPr>
          <a:xfrm>
            <a:off x="455168" y="1560576"/>
            <a:ext cx="12094464" cy="715264"/>
          </a:xfrm>
          <a:prstGeom prst="rect">
            <a:avLst/>
          </a:prstGeom>
          <a:noFill/>
        </p:spPr>
        <p:txBody>
          <a:bodyPr wrap="square" lIns="0" tIns="0" rIns="0" bIns="0">
            <a:spAutoFit/>
          </a:bodyPr>
          <a:lstStyle/>
          <a:p>
            <a:pPr>
              <a:spcAft>
                <a:spcPts val="0"/>
              </a:spcAft>
            </a:pPr>
            <a:r>
              <a:rPr sz="1707">
                <a:solidFill>
                  <a:srgbClr val="595959"/>
                </a:solidFill>
                <a:latin typeface="Helvetica Neue Light"/>
              </a:rPr>
              <a:t>Replaces the tour, the empty screener and a profile form. He brings what he has, the board builds from it, first jobs teach on his own stocks, and the trial comes after his first success.</a:t>
            </a:r>
          </a:p>
        </p:txBody>
      </p:sp>
      <p:pic>
        <p:nvPicPr>
          <p:cNvPr id="6" name="Picture 5" descr="OB1-bring-what-you-have.png"/>
          <p:cNvPicPr>
            <a:picLocks noChangeAspect="1"/>
          </p:cNvPicPr>
          <p:nvPr/>
        </p:nvPicPr>
        <p:blipFill>
          <a:blip r:embed="rId4"/>
          <a:stretch>
            <a:fillRect/>
          </a:stretch>
        </p:blipFill>
        <p:spPr>
          <a:xfrm>
            <a:off x="455168" y="2405888"/>
            <a:ext cx="3901440" cy="2308352"/>
          </a:xfrm>
          <a:prstGeom prst="rect">
            <a:avLst/>
          </a:prstGeom>
          <a:ln w="13546">
            <a:solidFill>
              <a:srgbClr val="1F1F1F"/>
            </a:solidFill>
          </a:ln>
        </p:spPr>
      </p:pic>
      <p:sp>
        <p:nvSpPr>
          <p:cNvPr id="7" name="TextBox 6"/>
          <p:cNvSpPr txBox="1"/>
          <p:nvPr/>
        </p:nvSpPr>
        <p:spPr>
          <a:xfrm>
            <a:off x="455168" y="4792268"/>
            <a:ext cx="3901440" cy="650240"/>
          </a:xfrm>
          <a:prstGeom prst="rect">
            <a:avLst/>
          </a:prstGeom>
          <a:noFill/>
        </p:spPr>
        <p:txBody>
          <a:bodyPr wrap="square" lIns="0" tIns="0" rIns="0" bIns="0">
            <a:spAutoFit/>
          </a:bodyPr>
          <a:lstStyle/>
          <a:p>
            <a:pPr>
              <a:spcAft>
                <a:spcPts val="142"/>
              </a:spcAft>
            </a:pPr>
            <a:r>
              <a:rPr sz="1351">
                <a:solidFill>
                  <a:srgbClr val="1F1F1F"/>
                </a:solidFill>
                <a:latin typeface="Helvetica Neue"/>
              </a:rPr>
              <a:t>OB1 · Bring what you have</a:t>
            </a:r>
          </a:p>
          <a:p>
            <a:pPr>
              <a:spcAft>
                <a:spcPts val="0"/>
              </a:spcAft>
            </a:pPr>
            <a:r>
              <a:rPr sz="1209">
                <a:solidFill>
                  <a:srgbClr val="595959"/>
                </a:solidFill>
                <a:latin typeface="Helvetica Neue Light"/>
              </a:rPr>
              <a:t>Broker export → what FinViz found, with source; asks about 2 rows; board previews live</a:t>
            </a:r>
          </a:p>
        </p:txBody>
      </p:sp>
      <p:pic>
        <p:nvPicPr>
          <p:cNvPr id="8" name="Picture 7" descr="OB2-your-first-board.png"/>
          <p:cNvPicPr>
            <a:picLocks noChangeAspect="1"/>
          </p:cNvPicPr>
          <p:nvPr/>
        </p:nvPicPr>
        <p:blipFill>
          <a:blip r:embed="rId5"/>
          <a:stretch>
            <a:fillRect/>
          </a:stretch>
        </p:blipFill>
        <p:spPr>
          <a:xfrm>
            <a:off x="4525670" y="2405888"/>
            <a:ext cx="3901440" cy="2308352"/>
          </a:xfrm>
          <a:prstGeom prst="rect">
            <a:avLst/>
          </a:prstGeom>
          <a:ln w="13546">
            <a:solidFill>
              <a:srgbClr val="1F1F1F"/>
            </a:solidFill>
          </a:ln>
        </p:spPr>
      </p:pic>
      <p:sp>
        <p:nvSpPr>
          <p:cNvPr id="9" name="TextBox 8"/>
          <p:cNvSpPr txBox="1"/>
          <p:nvPr/>
        </p:nvSpPr>
        <p:spPr>
          <a:xfrm>
            <a:off x="4525670" y="4792268"/>
            <a:ext cx="3901440" cy="650240"/>
          </a:xfrm>
          <a:prstGeom prst="rect">
            <a:avLst/>
          </a:prstGeom>
          <a:noFill/>
        </p:spPr>
        <p:txBody>
          <a:bodyPr wrap="square" lIns="0" tIns="0" rIns="0" bIns="0">
            <a:spAutoFit/>
          </a:bodyPr>
          <a:lstStyle/>
          <a:p>
            <a:pPr>
              <a:spcAft>
                <a:spcPts val="142"/>
              </a:spcAft>
            </a:pPr>
            <a:r>
              <a:rPr sz="1351">
                <a:solidFill>
                  <a:srgbClr val="1F1F1F"/>
                </a:solidFill>
                <a:latin typeface="Helvetica Neue"/>
              </a:rPr>
              <a:t>OB2 · Your first board</a:t>
            </a:r>
          </a:p>
          <a:p>
            <a:pPr>
              <a:spcAft>
                <a:spcPts val="0"/>
              </a:spcAft>
            </a:pPr>
            <a:r>
              <a:rPr sz="1209">
                <a:solidFill>
                  <a:srgbClr val="595959"/>
                </a:solidFill>
                <a:latin typeface="Helvetica Neue Light"/>
              </a:rPr>
              <a:t>Cited brief on his names; 3 first jobs, each teaching one concept</a:t>
            </a:r>
          </a:p>
        </p:txBody>
      </p:sp>
      <p:pic>
        <p:nvPicPr>
          <p:cNvPr id="10" name="Picture 9" descr="OB3-definitions-by-example.png"/>
          <p:cNvPicPr>
            <a:picLocks noChangeAspect="1"/>
          </p:cNvPicPr>
          <p:nvPr/>
        </p:nvPicPr>
        <p:blipFill>
          <a:blip r:embed="rId6"/>
          <a:stretch>
            <a:fillRect/>
          </a:stretch>
        </p:blipFill>
        <p:spPr>
          <a:xfrm>
            <a:off x="8596172" y="2405888"/>
            <a:ext cx="3901440" cy="2308352"/>
          </a:xfrm>
          <a:prstGeom prst="rect">
            <a:avLst/>
          </a:prstGeom>
          <a:ln w="13546">
            <a:solidFill>
              <a:srgbClr val="1F1F1F"/>
            </a:solidFill>
          </a:ln>
        </p:spPr>
      </p:pic>
      <p:sp>
        <p:nvSpPr>
          <p:cNvPr id="11" name="TextBox 10"/>
          <p:cNvSpPr txBox="1"/>
          <p:nvPr/>
        </p:nvSpPr>
        <p:spPr>
          <a:xfrm>
            <a:off x="8596172" y="4792268"/>
            <a:ext cx="3901440" cy="650240"/>
          </a:xfrm>
          <a:prstGeom prst="rect">
            <a:avLst/>
          </a:prstGeom>
          <a:noFill/>
        </p:spPr>
        <p:txBody>
          <a:bodyPr wrap="square" lIns="0" tIns="0" rIns="0" bIns="0">
            <a:spAutoFit/>
          </a:bodyPr>
          <a:lstStyle/>
          <a:p>
            <a:pPr>
              <a:spcAft>
                <a:spcPts val="142"/>
              </a:spcAft>
            </a:pPr>
            <a:r>
              <a:rPr sz="1351">
                <a:solidFill>
                  <a:srgbClr val="1F1F1F"/>
                </a:solidFill>
                <a:latin typeface="Helvetica Neue"/>
              </a:rPr>
              <a:t>OB3 · One question, his charts</a:t>
            </a:r>
          </a:p>
          <a:p>
            <a:pPr>
              <a:spcAft>
                <a:spcPts val="0"/>
              </a:spcAft>
            </a:pPr>
            <a:r>
              <a:rPr sz="1209">
                <a:solidFill>
                  <a:srgbClr val="595959"/>
                </a:solidFill>
                <a:latin typeface="Helvetica Neue Light"/>
              </a:rPr>
              <a:t>“Breakout?” answered with 3 of his own charts; his pick = his definition</a:t>
            </a:r>
          </a:p>
        </p:txBody>
      </p:sp>
      <p:pic>
        <p:nvPicPr>
          <p:cNvPr id="12" name="Picture 11" descr="OB4-first-success-trial.png"/>
          <p:cNvPicPr>
            <a:picLocks noChangeAspect="1"/>
          </p:cNvPicPr>
          <p:nvPr/>
        </p:nvPicPr>
        <p:blipFill>
          <a:blip r:embed="rId7"/>
          <a:stretch>
            <a:fillRect/>
          </a:stretch>
        </p:blipFill>
        <p:spPr>
          <a:xfrm>
            <a:off x="455168" y="5462016"/>
            <a:ext cx="3901440" cy="2308352"/>
          </a:xfrm>
          <a:prstGeom prst="rect">
            <a:avLst/>
          </a:prstGeom>
          <a:ln w="13546">
            <a:solidFill>
              <a:srgbClr val="1F1F1F"/>
            </a:solidFill>
          </a:ln>
        </p:spPr>
      </p:pic>
      <p:sp>
        <p:nvSpPr>
          <p:cNvPr id="13" name="TextBox 12"/>
          <p:cNvSpPr txBox="1"/>
          <p:nvPr/>
        </p:nvSpPr>
        <p:spPr>
          <a:xfrm>
            <a:off x="455168" y="7848395"/>
            <a:ext cx="3901440" cy="650240"/>
          </a:xfrm>
          <a:prstGeom prst="rect">
            <a:avLst/>
          </a:prstGeom>
          <a:noFill/>
        </p:spPr>
        <p:txBody>
          <a:bodyPr wrap="square" lIns="0" tIns="0" rIns="0" bIns="0">
            <a:spAutoFit/>
          </a:bodyPr>
          <a:lstStyle/>
          <a:p>
            <a:pPr>
              <a:spcAft>
                <a:spcPts val="142"/>
              </a:spcAft>
            </a:pPr>
            <a:r>
              <a:rPr sz="1351">
                <a:solidFill>
                  <a:srgbClr val="1F1F1F"/>
                </a:solidFill>
                <a:latin typeface="Helvetica Neue"/>
              </a:rPr>
              <a:t>OB4 · First success, then trial</a:t>
            </a:r>
          </a:p>
          <a:p>
            <a:pPr>
              <a:spcAft>
                <a:spcPts val="0"/>
              </a:spcAft>
            </a:pPr>
            <a:r>
              <a:rPr sz="1209">
                <a:solidFill>
                  <a:srgbClr val="595959"/>
                </a:solidFill>
                <a:latin typeface="Helvetica Neue Light"/>
              </a:rPr>
              <a:t>Watch replayed: “would have fired 4×”; trial offered here</a:t>
            </a:r>
          </a:p>
        </p:txBody>
      </p:sp>
      <p:pic>
        <p:nvPicPr>
          <p:cNvPr id="14" name="Picture 13" descr="OB5-board-steps-back.png"/>
          <p:cNvPicPr>
            <a:picLocks noChangeAspect="1"/>
          </p:cNvPicPr>
          <p:nvPr/>
        </p:nvPicPr>
        <p:blipFill>
          <a:blip r:embed="rId8"/>
          <a:stretch>
            <a:fillRect/>
          </a:stretch>
        </p:blipFill>
        <p:spPr>
          <a:xfrm>
            <a:off x="4525670" y="5462016"/>
            <a:ext cx="3901440" cy="2308352"/>
          </a:xfrm>
          <a:prstGeom prst="rect">
            <a:avLst/>
          </a:prstGeom>
          <a:ln w="13546">
            <a:solidFill>
              <a:srgbClr val="1F1F1F"/>
            </a:solidFill>
          </a:ln>
        </p:spPr>
      </p:pic>
      <p:sp>
        <p:nvSpPr>
          <p:cNvPr id="15" name="TextBox 14"/>
          <p:cNvSpPr txBox="1"/>
          <p:nvPr/>
        </p:nvSpPr>
        <p:spPr>
          <a:xfrm>
            <a:off x="4525670" y="7848395"/>
            <a:ext cx="3901440" cy="650240"/>
          </a:xfrm>
          <a:prstGeom prst="rect">
            <a:avLst/>
          </a:prstGeom>
          <a:noFill/>
        </p:spPr>
        <p:txBody>
          <a:bodyPr wrap="square" lIns="0" tIns="0" rIns="0" bIns="0">
            <a:spAutoFit/>
          </a:bodyPr>
          <a:lstStyle/>
          <a:p>
            <a:pPr>
              <a:spcAft>
                <a:spcPts val="142"/>
              </a:spcAft>
            </a:pPr>
            <a:r>
              <a:rPr sz="1351">
                <a:solidFill>
                  <a:srgbClr val="1F1F1F"/>
                </a:solidFill>
                <a:latin typeface="Helvetica Neue"/>
              </a:rPr>
              <a:t>OB5 · The board steps back</a:t>
            </a:r>
          </a:p>
          <a:p>
            <a:pPr>
              <a:spcAft>
                <a:spcPts val="0"/>
              </a:spcAft>
            </a:pPr>
            <a:r>
              <a:rPr sz="1209">
                <a:solidFill>
                  <a:srgbClr val="595959"/>
                </a:solidFill>
                <a:latin typeface="Helvetica Neue Light"/>
              </a:rPr>
              <a:t>Help fades per concept, announced and resettable</a:t>
            </a:r>
          </a:p>
        </p:txBody>
      </p:sp>
      <p:sp>
        <p:nvSpPr>
          <p:cNvPr id="16" name="Rectangle 15"/>
          <p:cNvSpPr/>
          <p:nvPr/>
        </p:nvSpPr>
        <p:spPr>
          <a:xfrm>
            <a:off x="8596172" y="5462016"/>
            <a:ext cx="3953459" cy="2991104"/>
          </a:xfrm>
          <a:prstGeom prst="rect">
            <a:avLst/>
          </a:prstGeom>
          <a:solidFill>
            <a:srgbClr val="F3EAFE"/>
          </a:solidFill>
          <a:ln w="13546">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752230" y="5592064"/>
            <a:ext cx="3667353" cy="2731008"/>
          </a:xfrm>
          <a:prstGeom prst="rect">
            <a:avLst/>
          </a:prstGeom>
          <a:noFill/>
        </p:spPr>
        <p:txBody>
          <a:bodyPr wrap="square" lIns="0" tIns="0" rIns="0" bIns="0">
            <a:spAutoFit/>
          </a:bodyPr>
          <a:lstStyle/>
          <a:p>
            <a:pPr>
              <a:spcAft>
                <a:spcPts val="569"/>
              </a:spcAft>
            </a:pPr>
            <a:r>
              <a:rPr sz="1138">
                <a:solidFill>
                  <a:srgbClr val="5B3F96"/>
                </a:solidFill>
                <a:latin typeface="Helvetica Neue"/>
              </a:rPr>
              <a:t>SIX AI UX INNOVATIONS</a:t>
            </a:r>
          </a:p>
          <a:p>
            <a:pPr>
              <a:spcAft>
                <a:spcPts val="284"/>
              </a:spcAft>
            </a:pPr>
            <a:r>
              <a:rPr sz="1351">
                <a:solidFill>
                  <a:srgbClr val="1F1F1F"/>
                </a:solidFill>
                <a:latin typeface="Helvetica Neue Light"/>
              </a:rPr>
              <a:t>1 Multimodal start + live preview</a:t>
            </a:r>
          </a:p>
          <a:p>
            <a:pPr>
              <a:spcAft>
                <a:spcPts val="284"/>
              </a:spcAft>
            </a:pPr>
            <a:r>
              <a:rPr sz="1351">
                <a:solidFill>
                  <a:srgbClr val="1F1F1F"/>
                </a:solidFill>
                <a:latin typeface="Helvetica Neue Light"/>
              </a:rPr>
              <a:t>2 Jobs as lessons</a:t>
            </a:r>
          </a:p>
          <a:p>
            <a:pPr>
              <a:spcAft>
                <a:spcPts val="284"/>
              </a:spcAft>
            </a:pPr>
            <a:r>
              <a:rPr sz="1351">
                <a:solidFill>
                  <a:srgbClr val="1F1F1F"/>
                </a:solidFill>
                <a:latin typeface="Helvetica Neue Light"/>
              </a:rPr>
              <a:t>3 Definitions by example (his charts)</a:t>
            </a:r>
          </a:p>
          <a:p>
            <a:pPr>
              <a:spcAft>
                <a:spcPts val="284"/>
              </a:spcAft>
            </a:pPr>
            <a:r>
              <a:rPr sz="1351">
                <a:solidFill>
                  <a:srgbClr val="1F1F1F"/>
                </a:solidFill>
                <a:latin typeface="Helvetica Neue Light"/>
              </a:rPr>
              <a:t>4 Value before the paywall (replay)</a:t>
            </a:r>
          </a:p>
          <a:p>
            <a:pPr>
              <a:spcAft>
                <a:spcPts val="284"/>
              </a:spcAft>
            </a:pPr>
            <a:r>
              <a:rPr sz="1351">
                <a:solidFill>
                  <a:srgbClr val="1F1F1F"/>
                </a:solidFill>
                <a:latin typeface="Helvetica Neue Light"/>
              </a:rPr>
              <a:t>5 Help that fades, out loud</a:t>
            </a:r>
          </a:p>
          <a:p>
            <a:pPr>
              <a:spcAft>
                <a:spcPts val="284"/>
              </a:spcAft>
            </a:pPr>
            <a:r>
              <a:rPr sz="1351">
                <a:solidFill>
                  <a:srgbClr val="1F1F1F"/>
                </a:solidFill>
                <a:latin typeface="Helvetica Neue Light"/>
              </a:rPr>
              <a:t>6 Memory with consent</a:t>
            </a:r>
          </a:p>
        </p:txBody>
      </p:sp>
      <p:sp>
        <p:nvSpPr>
          <p:cNvPr id="18" name="TextBox 17"/>
          <p:cNvSpPr txBox="1"/>
          <p:nvPr/>
        </p:nvSpPr>
        <p:spPr>
          <a:xfrm>
            <a:off x="455168" y="8518144"/>
            <a:ext cx="12094464" cy="390144"/>
          </a:xfrm>
          <a:prstGeom prst="rect">
            <a:avLst/>
          </a:prstGeom>
          <a:noFill/>
        </p:spPr>
        <p:txBody>
          <a:bodyPr wrap="square" lIns="0" tIns="0" rIns="0" bIns="0">
            <a:spAutoFit/>
          </a:bodyPr>
          <a:lstStyle/>
          <a:p>
            <a:pPr>
              <a:spcAft>
                <a:spcPts val="0"/>
              </a:spcAft>
            </a:pPr>
            <a:r>
              <a:rPr sz="1209">
                <a:solidFill>
                  <a:srgbClr val="8C8C8C"/>
                </a:solidFill>
                <a:latin typeface="Helvetica Neue Light"/>
              </a:rPr>
              <a:t>Spec: Design-Specs/Onboarding-Day-One.md · Figma: Onboarding · Day One · FigJam 43 · persona and data synthetic</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2"/>
          </a:xfrm>
          <a:prstGeom prst="rect">
            <a:avLst/>
          </a:prstGeom>
        </p:spPr>
      </p:pic>
      <p:sp>
        <p:nvSpPr>
          <p:cNvPr id="3" name="TextBox 2"/>
          <p:cNvSpPr txBox="1"/>
          <p:nvPr/>
        </p:nvSpPr>
        <p:spPr>
          <a:xfrm>
            <a:off x="455168" y="390144"/>
            <a:ext cx="10403840" cy="325120"/>
          </a:xfrm>
          <a:prstGeom prst="rect">
            <a:avLst/>
          </a:prstGeom>
          <a:noFill/>
        </p:spPr>
        <p:txBody>
          <a:bodyPr wrap="square" lIns="0" tIns="0" rIns="0" bIns="0">
            <a:spAutoFit/>
          </a:bodyPr>
          <a:lstStyle/>
          <a:p>
            <a:pPr>
              <a:spcAft>
                <a:spcPts val="0"/>
              </a:spcAft>
            </a:pPr>
            <a:r>
              <a:rPr sz="1422">
                <a:solidFill>
                  <a:srgbClr val="1F1F1F"/>
                </a:solidFill>
                <a:latin typeface="Helvetica Neue"/>
              </a:rPr>
              <a:t>Appendix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pPr>
              <a:spcAft>
                <a:spcPts val="0"/>
              </a:spcAft>
            </a:pPr>
            <a:r>
              <a:rPr sz="3200" dirty="0">
                <a:solidFill>
                  <a:srgbClr val="1F1F1F"/>
                </a:solidFill>
                <a:latin typeface="Helvetica Neue Light"/>
              </a:rPr>
              <a:t>The Day Board: A dashboard for three times of day</a:t>
            </a:r>
          </a:p>
        </p:txBody>
      </p:sp>
      <p:sp>
        <p:nvSpPr>
          <p:cNvPr id="5" name="TextBox 4"/>
          <p:cNvSpPr txBox="1"/>
          <p:nvPr/>
        </p:nvSpPr>
        <p:spPr>
          <a:xfrm>
            <a:off x="455168" y="1560576"/>
            <a:ext cx="12094464" cy="715264"/>
          </a:xfrm>
          <a:prstGeom prst="rect">
            <a:avLst/>
          </a:prstGeom>
          <a:noFill/>
        </p:spPr>
        <p:txBody>
          <a:bodyPr wrap="square" lIns="0" tIns="0" rIns="0" bIns="0">
            <a:spAutoFit/>
          </a:bodyPr>
          <a:lstStyle/>
          <a:p>
            <a:pPr>
              <a:spcAft>
                <a:spcPts val="0"/>
              </a:spcAft>
            </a:pPr>
            <a:r>
              <a:rPr sz="1707">
                <a:solidFill>
                  <a:srgbClr val="595959"/>
                </a:solidFill>
                <a:latin typeface="Helvetica Neue Light"/>
              </a:rPr>
              <a:t>From widgets to jobs. The same board is a brief at logon, a glance in a busy afternoon and a wrap-up at the close, built around what a swing trader with a day job actually does.</a:t>
            </a:r>
          </a:p>
        </p:txBody>
      </p:sp>
      <p:pic>
        <p:nvPicPr>
          <p:cNvPr id="6" name="Picture 5" descr="DSH1-at-logon.png"/>
          <p:cNvPicPr>
            <a:picLocks noChangeAspect="1"/>
          </p:cNvPicPr>
          <p:nvPr/>
        </p:nvPicPr>
        <p:blipFill>
          <a:blip r:embed="rId4"/>
          <a:stretch>
            <a:fillRect/>
          </a:stretch>
        </p:blipFill>
        <p:spPr>
          <a:xfrm>
            <a:off x="455168" y="2470912"/>
            <a:ext cx="3901440" cy="2308352"/>
          </a:xfrm>
          <a:prstGeom prst="rect">
            <a:avLst/>
          </a:prstGeom>
          <a:ln w="13546">
            <a:solidFill>
              <a:srgbClr val="1F1F1F"/>
            </a:solidFill>
          </a:ln>
        </p:spPr>
      </p:pic>
      <p:sp>
        <p:nvSpPr>
          <p:cNvPr id="7" name="TextBox 6"/>
          <p:cNvSpPr txBox="1"/>
          <p:nvPr/>
        </p:nvSpPr>
        <p:spPr>
          <a:xfrm>
            <a:off x="455168" y="4883302"/>
            <a:ext cx="3901440" cy="1430528"/>
          </a:xfrm>
          <a:prstGeom prst="rect">
            <a:avLst/>
          </a:prstGeom>
          <a:noFill/>
        </p:spPr>
        <p:txBody>
          <a:bodyPr wrap="square" lIns="0" tIns="0" rIns="0" bIns="0">
            <a:spAutoFit/>
          </a:bodyPr>
          <a:lstStyle/>
          <a:p>
            <a:pPr>
              <a:spcAft>
                <a:spcPts val="284"/>
              </a:spcAft>
            </a:pPr>
            <a:r>
              <a:rPr sz="1422">
                <a:solidFill>
                  <a:srgbClr val="1F1F1F"/>
                </a:solidFill>
                <a:latin typeface="Helvetica Neue"/>
              </a:rPr>
              <a:t>DSH1 · 7:30 AM · At logon</a:t>
            </a:r>
          </a:p>
          <a:p>
            <a:pPr>
              <a:spcAft>
                <a:spcPts val="0"/>
              </a:spcAft>
            </a:pPr>
            <a:r>
              <a:rPr sz="1351">
                <a:solidFill>
                  <a:srgbClr val="595959"/>
                </a:solidFill>
                <a:latin typeface="Helvetica Neue Light"/>
              </a:rPr>
              <a:t>Cited 3-line brief, then 4 jobs (about 6 min), each with why, time and one action; a queue with an end; “while you slept” ledger.</a:t>
            </a:r>
          </a:p>
        </p:txBody>
      </p:sp>
      <p:pic>
        <p:nvPicPr>
          <p:cNvPr id="8" name="Picture 7" descr="DSH2-busy-afternoon.png"/>
          <p:cNvPicPr>
            <a:picLocks noChangeAspect="1"/>
          </p:cNvPicPr>
          <p:nvPr/>
        </p:nvPicPr>
        <p:blipFill>
          <a:blip r:embed="rId5"/>
          <a:stretch>
            <a:fillRect/>
          </a:stretch>
        </p:blipFill>
        <p:spPr>
          <a:xfrm>
            <a:off x="4525670" y="2470912"/>
            <a:ext cx="3901440" cy="2308352"/>
          </a:xfrm>
          <a:prstGeom prst="rect">
            <a:avLst/>
          </a:prstGeom>
          <a:ln w="13546">
            <a:solidFill>
              <a:srgbClr val="1F1F1F"/>
            </a:solidFill>
          </a:ln>
        </p:spPr>
      </p:pic>
      <p:sp>
        <p:nvSpPr>
          <p:cNvPr id="9" name="TextBox 8"/>
          <p:cNvSpPr txBox="1"/>
          <p:nvPr/>
        </p:nvSpPr>
        <p:spPr>
          <a:xfrm>
            <a:off x="4525670" y="4883302"/>
            <a:ext cx="3901440" cy="1430528"/>
          </a:xfrm>
          <a:prstGeom prst="rect">
            <a:avLst/>
          </a:prstGeom>
          <a:noFill/>
        </p:spPr>
        <p:txBody>
          <a:bodyPr wrap="square" lIns="0" tIns="0" rIns="0" bIns="0">
            <a:spAutoFit/>
          </a:bodyPr>
          <a:lstStyle/>
          <a:p>
            <a:pPr>
              <a:spcAft>
                <a:spcPts val="284"/>
              </a:spcAft>
            </a:pPr>
            <a:r>
              <a:rPr sz="1422">
                <a:solidFill>
                  <a:srgbClr val="1F1F1F"/>
                </a:solidFill>
                <a:latin typeface="Helvetica Neue"/>
              </a:rPr>
              <a:t>DSH2 · 2:15 PM · Busy afternoon</a:t>
            </a:r>
          </a:p>
          <a:p>
            <a:pPr>
              <a:spcAft>
                <a:spcPts val="0"/>
              </a:spcAft>
            </a:pPr>
            <a:r>
              <a:rPr sz="1351">
                <a:solidFill>
                  <a:srgbClr val="595959"/>
                </a:solidFill>
                <a:latin typeface="Helvetica Neue Light"/>
              </a:rPr>
              <a:t>“All quiet until 4:00.” One row per name against his lines; held back, with reasons; a quick note becomes a watch.</a:t>
            </a:r>
          </a:p>
        </p:txBody>
      </p:sp>
      <p:pic>
        <p:nvPicPr>
          <p:cNvPr id="10" name="Picture 9" descr="DSH3-end-of-day.png"/>
          <p:cNvPicPr>
            <a:picLocks noChangeAspect="1"/>
          </p:cNvPicPr>
          <p:nvPr/>
        </p:nvPicPr>
        <p:blipFill>
          <a:blip r:embed="rId6"/>
          <a:stretch>
            <a:fillRect/>
          </a:stretch>
        </p:blipFill>
        <p:spPr>
          <a:xfrm>
            <a:off x="8596171" y="2470912"/>
            <a:ext cx="3901440" cy="2308352"/>
          </a:xfrm>
          <a:prstGeom prst="rect">
            <a:avLst/>
          </a:prstGeom>
          <a:ln w="13546">
            <a:solidFill>
              <a:srgbClr val="1F1F1F"/>
            </a:solidFill>
          </a:ln>
        </p:spPr>
      </p:pic>
      <p:sp>
        <p:nvSpPr>
          <p:cNvPr id="11" name="TextBox 10"/>
          <p:cNvSpPr txBox="1"/>
          <p:nvPr/>
        </p:nvSpPr>
        <p:spPr>
          <a:xfrm>
            <a:off x="8596171" y="4883302"/>
            <a:ext cx="3901440" cy="1430528"/>
          </a:xfrm>
          <a:prstGeom prst="rect">
            <a:avLst/>
          </a:prstGeom>
          <a:noFill/>
        </p:spPr>
        <p:txBody>
          <a:bodyPr wrap="square" lIns="0" tIns="0" rIns="0" bIns="0">
            <a:spAutoFit/>
          </a:bodyPr>
          <a:lstStyle/>
          <a:p>
            <a:pPr>
              <a:spcAft>
                <a:spcPts val="284"/>
              </a:spcAft>
            </a:pPr>
            <a:r>
              <a:rPr sz="1422">
                <a:solidFill>
                  <a:srgbClr val="1F1F1F"/>
                </a:solidFill>
                <a:latin typeface="Helvetica Neue"/>
              </a:rPr>
              <a:t>DSH3 · 4:30 PM · End of day</a:t>
            </a:r>
          </a:p>
          <a:p>
            <a:pPr>
              <a:spcAft>
                <a:spcPts val="0"/>
              </a:spcAft>
            </a:pPr>
            <a:r>
              <a:rPr sz="1351">
                <a:solidFill>
                  <a:srgbClr val="595959"/>
                </a:solidFill>
                <a:latin typeface="Helvetica Neue Light"/>
              </a:rPr>
              <a:t>Plan vs actual; one decision ending in his broker; journal drafted from his actions; tomorrow prepared; close the day.</a:t>
            </a:r>
          </a:p>
        </p:txBody>
      </p:sp>
      <p:sp>
        <p:nvSpPr>
          <p:cNvPr id="12" name="Rectangle 11"/>
          <p:cNvSpPr/>
          <p:nvPr/>
        </p:nvSpPr>
        <p:spPr>
          <a:xfrm>
            <a:off x="455168" y="6177280"/>
            <a:ext cx="12094464" cy="1690624"/>
          </a:xfrm>
          <a:prstGeom prst="rect">
            <a:avLst/>
          </a:prstGeom>
          <a:solidFill>
            <a:srgbClr val="F3EAFE"/>
          </a:solidFill>
          <a:ln w="13546">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0240" y="6307328"/>
            <a:ext cx="11704320" cy="1885696"/>
          </a:xfrm>
          <a:prstGeom prst="rect">
            <a:avLst/>
          </a:prstGeom>
          <a:noFill/>
        </p:spPr>
        <p:txBody>
          <a:bodyPr wrap="square" lIns="0" tIns="0" rIns="0" bIns="0">
            <a:spAutoFit/>
          </a:bodyPr>
          <a:lstStyle/>
          <a:p>
            <a:pPr>
              <a:spcAft>
                <a:spcPts val="569"/>
              </a:spcAft>
            </a:pPr>
            <a:r>
              <a:rPr sz="1138">
                <a:solidFill>
                  <a:srgbClr val="5B3F96"/>
                </a:solidFill>
                <a:latin typeface="Helvetica Neue"/>
              </a:rPr>
              <a:t>WHERE DASHBOARDS ARE GOING · PATTERNS WE BUILD ON</a:t>
            </a:r>
          </a:p>
          <a:p>
            <a:pPr>
              <a:spcAft>
                <a:spcPts val="284"/>
              </a:spcAft>
            </a:pPr>
            <a:r>
              <a:rPr sz="1422">
                <a:solidFill>
                  <a:srgbClr val="1F1F1F"/>
                </a:solidFill>
                <a:latin typeface="Helvetica Neue Light"/>
              </a:rPr>
              <a:t>Jobs, not widgets: a ranked queue with one action each, and an end (next-best-action, inbox triage)</a:t>
            </a:r>
          </a:p>
          <a:p>
            <a:pPr>
              <a:spcAft>
                <a:spcPts val="284"/>
              </a:spcAft>
            </a:pPr>
            <a:r>
              <a:rPr sz="1422">
                <a:solidFill>
                  <a:srgbClr val="1F1F1F"/>
                </a:solidFill>
                <a:latin typeface="Helvetica Neue Light"/>
              </a:rPr>
              <a:t>A brief with citations; calm status in work hours (“silence means checked”); an agent ledger with undo</a:t>
            </a:r>
          </a:p>
          <a:p>
            <a:pPr>
              <a:spcAft>
                <a:spcPts val="284"/>
              </a:spcAft>
            </a:pPr>
            <a:r>
              <a:rPr sz="1422">
                <a:solidFill>
                  <a:srgbClr val="1F1F1F"/>
                </a:solidFill>
                <a:latin typeface="Helvetica Neue Light"/>
              </a:rPr>
              <a:t>Ask the board returns UI (a list, a column, a watch), not chat; a daily recap and journal close the loop</a:t>
            </a:r>
          </a:p>
          <a:p>
            <a:pPr>
              <a:spcAft>
                <a:spcPts val="284"/>
              </a:spcAft>
            </a:pPr>
            <a:r>
              <a:rPr sz="1422">
                <a:solidFill>
                  <a:srgbClr val="1F1F1F"/>
                </a:solidFill>
                <a:latin typeface="Helvetica Neue Light"/>
              </a:rPr>
              <a:t>Guardrails: ranked by his own criteria; no buy/sell or forecasts in the AI’s voice; decisions end at “Open in your broker”</a:t>
            </a:r>
          </a:p>
        </p:txBody>
      </p:sp>
      <p:sp>
        <p:nvSpPr>
          <p:cNvPr id="14" name="TextBox 13"/>
          <p:cNvSpPr txBox="1"/>
          <p:nvPr/>
        </p:nvSpPr>
        <p:spPr>
          <a:xfrm>
            <a:off x="455168" y="8453120"/>
            <a:ext cx="12094464" cy="390144"/>
          </a:xfrm>
          <a:prstGeom prst="rect">
            <a:avLst/>
          </a:prstGeom>
          <a:noFill/>
        </p:spPr>
        <p:txBody>
          <a:bodyPr wrap="square" lIns="0" tIns="0" rIns="0" bIns="0">
            <a:spAutoFit/>
          </a:bodyPr>
          <a:lstStyle/>
          <a:p>
            <a:pPr>
              <a:spcAft>
                <a:spcPts val="0"/>
              </a:spcAft>
            </a:pPr>
            <a:r>
              <a:rPr sz="1209">
                <a:solidFill>
                  <a:srgbClr val="8C8C8C"/>
                </a:solidFill>
                <a:latin typeface="Helvetica Neue Light"/>
              </a:rPr>
              <a:t>Spec: Design-Specs/Day-Board.md · Figma: Dashboards · The Day Board · FigJam 42 · persona and data synthetic</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2"/>
          </a:xfrm>
          <a:prstGeom prst="rect">
            <a:avLst/>
          </a:prstGeom>
        </p:spPr>
      </p:pic>
      <p:sp>
        <p:nvSpPr>
          <p:cNvPr id="3" name="TextBox 2"/>
          <p:cNvSpPr txBox="1"/>
          <p:nvPr/>
        </p:nvSpPr>
        <p:spPr>
          <a:xfrm>
            <a:off x="455168" y="390144"/>
            <a:ext cx="10403840" cy="325120"/>
          </a:xfrm>
          <a:prstGeom prst="rect">
            <a:avLst/>
          </a:prstGeom>
          <a:noFill/>
        </p:spPr>
        <p:txBody>
          <a:bodyPr wrap="square" lIns="0" tIns="0" rIns="0" bIns="0">
            <a:spAutoFit/>
          </a:bodyPr>
          <a:lstStyle/>
          <a:p>
            <a:pPr>
              <a:spcAft>
                <a:spcPts val="0"/>
              </a:spcAft>
            </a:pPr>
            <a:r>
              <a:rPr sz="1422">
                <a:solidFill>
                  <a:srgbClr val="1F1F1F"/>
                </a:solidFill>
                <a:latin typeface="Helvetica Neue"/>
              </a:rPr>
              <a:t>Appendix · Test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pPr>
              <a:spcAft>
                <a:spcPts val="0"/>
              </a:spcAft>
            </a:pPr>
            <a:r>
              <a:rPr sz="3200" dirty="0">
                <a:solidFill>
                  <a:srgbClr val="1F1F1F"/>
                </a:solidFill>
                <a:latin typeface="Helvetica Neue Light"/>
              </a:rPr>
              <a:t>Test: A Rebalance Agent, outside the guardrails</a:t>
            </a:r>
          </a:p>
        </p:txBody>
      </p:sp>
      <p:sp>
        <p:nvSpPr>
          <p:cNvPr id="5" name="Rectangle 4"/>
          <p:cNvSpPr/>
          <p:nvPr/>
        </p:nvSpPr>
        <p:spPr>
          <a:xfrm>
            <a:off x="455168" y="1560576"/>
            <a:ext cx="12094464" cy="676249"/>
          </a:xfrm>
          <a:prstGeom prst="rect">
            <a:avLst/>
          </a:prstGeom>
          <a:solidFill>
            <a:srgbClr val="FFF4CC"/>
          </a:solidFill>
          <a:ln w="13546">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0240" y="1651609"/>
            <a:ext cx="11704320" cy="390144"/>
          </a:xfrm>
          <a:prstGeom prst="rect">
            <a:avLst/>
          </a:prstGeom>
          <a:noFill/>
        </p:spPr>
        <p:txBody>
          <a:bodyPr wrap="square" lIns="0" tIns="0" rIns="0" bIns="0">
            <a:spAutoFit/>
          </a:bodyPr>
          <a:lstStyle/>
          <a:p>
            <a:pPr>
              <a:spcAft>
                <a:spcPts val="0"/>
              </a:spcAft>
            </a:pPr>
            <a:r>
              <a:rPr sz="1280">
                <a:solidFill>
                  <a:srgbClr val="7A5A00"/>
                </a:solidFill>
                <a:latin typeface="Helvetica Neue"/>
              </a:rPr>
              <a:t>TEST EXPLORATION  </a:t>
            </a:r>
            <a:r>
              <a:rPr sz="1422">
                <a:solidFill>
                  <a:srgbClr val="7A5A00"/>
                </a:solidFill>
                <a:latin typeface="Helvetica Neue Light"/>
              </a:rPr>
              <a:t>This breaks Principle 5 and F62 on purpose (the agent sizes and places orders after one approval), so it is not part of the case study’s solution.</a:t>
            </a:r>
          </a:p>
        </p:txBody>
      </p:sp>
      <p:pic>
        <p:nvPicPr>
          <p:cNvPr id="7" name="Picture 6" descr="RB1-write-the-mandate.png"/>
          <p:cNvPicPr>
            <a:picLocks noChangeAspect="1"/>
          </p:cNvPicPr>
          <p:nvPr/>
        </p:nvPicPr>
        <p:blipFill>
          <a:blip r:embed="rId4"/>
          <a:stretch>
            <a:fillRect/>
          </a:stretch>
        </p:blipFill>
        <p:spPr>
          <a:xfrm>
            <a:off x="455168" y="2340864"/>
            <a:ext cx="3901440" cy="2308352"/>
          </a:xfrm>
          <a:prstGeom prst="rect">
            <a:avLst/>
          </a:prstGeom>
          <a:ln w="13546">
            <a:solidFill>
              <a:srgbClr val="1F1F1F"/>
            </a:solidFill>
          </a:ln>
        </p:spPr>
      </p:pic>
      <p:sp>
        <p:nvSpPr>
          <p:cNvPr id="8" name="TextBox 7"/>
          <p:cNvSpPr txBox="1"/>
          <p:nvPr/>
        </p:nvSpPr>
        <p:spPr>
          <a:xfrm>
            <a:off x="455168" y="4727244"/>
            <a:ext cx="3901440" cy="390144"/>
          </a:xfrm>
          <a:prstGeom prst="rect">
            <a:avLst/>
          </a:prstGeom>
          <a:noFill/>
        </p:spPr>
        <p:txBody>
          <a:bodyPr wrap="square" lIns="0" tIns="0" rIns="0" bIns="0">
            <a:spAutoFit/>
          </a:bodyPr>
          <a:lstStyle/>
          <a:p>
            <a:pPr>
              <a:spcAft>
                <a:spcPts val="0"/>
              </a:spcAft>
            </a:pPr>
            <a:r>
              <a:rPr sz="1351">
                <a:solidFill>
                  <a:srgbClr val="1F1F1F"/>
                </a:solidFill>
                <a:latin typeface="Helvetica Neue"/>
              </a:rPr>
              <a:t>RB1 · Rules from his own words</a:t>
            </a:r>
          </a:p>
        </p:txBody>
      </p:sp>
      <p:pic>
        <p:nvPicPr>
          <p:cNvPr id="9" name="Picture 8" descr="RB2-drift-found.png"/>
          <p:cNvPicPr>
            <a:picLocks noChangeAspect="1"/>
          </p:cNvPicPr>
          <p:nvPr/>
        </p:nvPicPr>
        <p:blipFill>
          <a:blip r:embed="rId5"/>
          <a:stretch>
            <a:fillRect/>
          </a:stretch>
        </p:blipFill>
        <p:spPr>
          <a:xfrm>
            <a:off x="4525670" y="2340864"/>
            <a:ext cx="3901440" cy="2308352"/>
          </a:xfrm>
          <a:prstGeom prst="rect">
            <a:avLst/>
          </a:prstGeom>
          <a:ln w="13546">
            <a:solidFill>
              <a:srgbClr val="1F1F1F"/>
            </a:solidFill>
          </a:ln>
        </p:spPr>
      </p:pic>
      <p:sp>
        <p:nvSpPr>
          <p:cNvPr id="10" name="TextBox 9"/>
          <p:cNvSpPr txBox="1"/>
          <p:nvPr/>
        </p:nvSpPr>
        <p:spPr>
          <a:xfrm>
            <a:off x="4525670" y="4727244"/>
            <a:ext cx="3901440" cy="390144"/>
          </a:xfrm>
          <a:prstGeom prst="rect">
            <a:avLst/>
          </a:prstGeom>
          <a:noFill/>
        </p:spPr>
        <p:txBody>
          <a:bodyPr wrap="square" lIns="0" tIns="0" rIns="0" bIns="0">
            <a:spAutoFit/>
          </a:bodyPr>
          <a:lstStyle/>
          <a:p>
            <a:pPr>
              <a:spcAft>
                <a:spcPts val="0"/>
              </a:spcAft>
            </a:pPr>
            <a:r>
              <a:rPr sz="1351">
                <a:solidFill>
                  <a:srgbClr val="1F1F1F"/>
                </a:solidFill>
                <a:latin typeface="Helvetica Neue"/>
              </a:rPr>
              <a:t>RB2 · Why it drifted, decomposed</a:t>
            </a:r>
          </a:p>
        </p:txBody>
      </p:sp>
      <p:pic>
        <p:nvPicPr>
          <p:cNvPr id="11" name="Picture 10" descr="RB3-plan-explained.png"/>
          <p:cNvPicPr>
            <a:picLocks noChangeAspect="1"/>
          </p:cNvPicPr>
          <p:nvPr/>
        </p:nvPicPr>
        <p:blipFill>
          <a:blip r:embed="rId6"/>
          <a:stretch>
            <a:fillRect/>
          </a:stretch>
        </p:blipFill>
        <p:spPr>
          <a:xfrm>
            <a:off x="8596171" y="2340864"/>
            <a:ext cx="3901440" cy="2308352"/>
          </a:xfrm>
          <a:prstGeom prst="rect">
            <a:avLst/>
          </a:prstGeom>
          <a:ln w="13546">
            <a:solidFill>
              <a:srgbClr val="1F1F1F"/>
            </a:solidFill>
          </a:ln>
        </p:spPr>
      </p:pic>
      <p:sp>
        <p:nvSpPr>
          <p:cNvPr id="12" name="TextBox 11"/>
          <p:cNvSpPr txBox="1"/>
          <p:nvPr/>
        </p:nvSpPr>
        <p:spPr>
          <a:xfrm>
            <a:off x="8596171" y="4727244"/>
            <a:ext cx="3901440" cy="390144"/>
          </a:xfrm>
          <a:prstGeom prst="rect">
            <a:avLst/>
          </a:prstGeom>
          <a:noFill/>
        </p:spPr>
        <p:txBody>
          <a:bodyPr wrap="square" lIns="0" tIns="0" rIns="0" bIns="0">
            <a:spAutoFit/>
          </a:bodyPr>
          <a:lstStyle/>
          <a:p>
            <a:pPr>
              <a:spcAft>
                <a:spcPts val="0"/>
              </a:spcAft>
            </a:pPr>
            <a:r>
              <a:rPr sz="1351">
                <a:solidFill>
                  <a:srgbClr val="1F1F1F"/>
                </a:solidFill>
                <a:latin typeface="Helvetica Neue"/>
              </a:rPr>
              <a:t>RB3 · 3 plans on a trade-off curve</a:t>
            </a:r>
          </a:p>
        </p:txBody>
      </p:sp>
      <p:pic>
        <p:nvPicPr>
          <p:cNvPr id="13" name="Picture 12" descr="RB4-edit-replan.png"/>
          <p:cNvPicPr>
            <a:picLocks noChangeAspect="1"/>
          </p:cNvPicPr>
          <p:nvPr/>
        </p:nvPicPr>
        <p:blipFill>
          <a:blip r:embed="rId7"/>
          <a:stretch>
            <a:fillRect/>
          </a:stretch>
        </p:blipFill>
        <p:spPr>
          <a:xfrm>
            <a:off x="455168" y="5201920"/>
            <a:ext cx="3901440" cy="2308352"/>
          </a:xfrm>
          <a:prstGeom prst="rect">
            <a:avLst/>
          </a:prstGeom>
          <a:ln w="13546">
            <a:solidFill>
              <a:srgbClr val="1F1F1F"/>
            </a:solidFill>
          </a:ln>
        </p:spPr>
      </p:pic>
      <p:sp>
        <p:nvSpPr>
          <p:cNvPr id="14" name="TextBox 13"/>
          <p:cNvSpPr txBox="1"/>
          <p:nvPr/>
        </p:nvSpPr>
        <p:spPr>
          <a:xfrm>
            <a:off x="455168" y="7588300"/>
            <a:ext cx="3901440" cy="390144"/>
          </a:xfrm>
          <a:prstGeom prst="rect">
            <a:avLst/>
          </a:prstGeom>
          <a:noFill/>
        </p:spPr>
        <p:txBody>
          <a:bodyPr wrap="square" lIns="0" tIns="0" rIns="0" bIns="0">
            <a:spAutoFit/>
          </a:bodyPr>
          <a:lstStyle/>
          <a:p>
            <a:pPr>
              <a:spcAft>
                <a:spcPts val="0"/>
              </a:spcAft>
            </a:pPr>
            <a:r>
              <a:rPr sz="1351">
                <a:solidFill>
                  <a:srgbClr val="1F1F1F"/>
                </a:solidFill>
                <a:latin typeface="Helvetica Neue"/>
              </a:rPr>
              <a:t>RB4 · Edit the plan; ask “why MSFT?”</a:t>
            </a:r>
          </a:p>
        </p:txBody>
      </p:sp>
      <p:pic>
        <p:nvPicPr>
          <p:cNvPr id="15" name="Picture 14" descr="RB5-one-approval.png"/>
          <p:cNvPicPr>
            <a:picLocks noChangeAspect="1"/>
          </p:cNvPicPr>
          <p:nvPr/>
        </p:nvPicPr>
        <p:blipFill>
          <a:blip r:embed="rId8"/>
          <a:stretch>
            <a:fillRect/>
          </a:stretch>
        </p:blipFill>
        <p:spPr>
          <a:xfrm>
            <a:off x="4525670" y="5201920"/>
            <a:ext cx="3901440" cy="2308352"/>
          </a:xfrm>
          <a:prstGeom prst="rect">
            <a:avLst/>
          </a:prstGeom>
          <a:ln w="13546">
            <a:solidFill>
              <a:srgbClr val="1F1F1F"/>
            </a:solidFill>
          </a:ln>
        </p:spPr>
      </p:pic>
      <p:sp>
        <p:nvSpPr>
          <p:cNvPr id="16" name="TextBox 15"/>
          <p:cNvSpPr txBox="1"/>
          <p:nvPr/>
        </p:nvSpPr>
        <p:spPr>
          <a:xfrm>
            <a:off x="4525670" y="7588300"/>
            <a:ext cx="3901440" cy="390144"/>
          </a:xfrm>
          <a:prstGeom prst="rect">
            <a:avLst/>
          </a:prstGeom>
          <a:noFill/>
        </p:spPr>
        <p:txBody>
          <a:bodyPr wrap="square" lIns="0" tIns="0" rIns="0" bIns="0">
            <a:spAutoFit/>
          </a:bodyPr>
          <a:lstStyle/>
          <a:p>
            <a:pPr>
              <a:spcAft>
                <a:spcPts val="0"/>
              </a:spcAft>
            </a:pPr>
            <a:r>
              <a:rPr sz="1351">
                <a:solidFill>
                  <a:srgbClr val="1F1F1F"/>
                </a:solidFill>
                <a:latin typeface="Helvetica Neue"/>
              </a:rPr>
              <a:t>RB5 · Scoped approval + pre-mortem</a:t>
            </a:r>
          </a:p>
        </p:txBody>
      </p:sp>
      <p:pic>
        <p:nvPicPr>
          <p:cNvPr id="17" name="Picture 16" descr="RB6-execution-report.png"/>
          <p:cNvPicPr>
            <a:picLocks noChangeAspect="1"/>
          </p:cNvPicPr>
          <p:nvPr/>
        </p:nvPicPr>
        <p:blipFill>
          <a:blip r:embed="rId9"/>
          <a:stretch>
            <a:fillRect/>
          </a:stretch>
        </p:blipFill>
        <p:spPr>
          <a:xfrm>
            <a:off x="8596171" y="5201920"/>
            <a:ext cx="3901440" cy="2308352"/>
          </a:xfrm>
          <a:prstGeom prst="rect">
            <a:avLst/>
          </a:prstGeom>
          <a:ln w="13546">
            <a:solidFill>
              <a:srgbClr val="1F1F1F"/>
            </a:solidFill>
          </a:ln>
        </p:spPr>
      </p:pic>
      <p:sp>
        <p:nvSpPr>
          <p:cNvPr id="18" name="TextBox 17"/>
          <p:cNvSpPr txBox="1"/>
          <p:nvPr/>
        </p:nvSpPr>
        <p:spPr>
          <a:xfrm>
            <a:off x="8596171" y="7588300"/>
            <a:ext cx="3901440" cy="390144"/>
          </a:xfrm>
          <a:prstGeom prst="rect">
            <a:avLst/>
          </a:prstGeom>
          <a:noFill/>
        </p:spPr>
        <p:txBody>
          <a:bodyPr wrap="square" lIns="0" tIns="0" rIns="0" bIns="0">
            <a:spAutoFit/>
          </a:bodyPr>
          <a:lstStyle/>
          <a:p>
            <a:pPr>
              <a:spcAft>
                <a:spcPts val="0"/>
              </a:spcAft>
            </a:pPr>
            <a:r>
              <a:rPr sz="1351">
                <a:solidFill>
                  <a:srgbClr val="1F1F1F"/>
                </a:solidFill>
                <a:latin typeface="Helvetica Neue"/>
              </a:rPr>
              <a:t>RB6 · Pause, report, learn in the open</a:t>
            </a:r>
          </a:p>
        </p:txBody>
      </p:sp>
      <p:sp>
        <p:nvSpPr>
          <p:cNvPr id="19" name="TextBox 18"/>
          <p:cNvSpPr txBox="1"/>
          <p:nvPr/>
        </p:nvSpPr>
        <p:spPr>
          <a:xfrm>
            <a:off x="455168" y="8128000"/>
            <a:ext cx="12094464" cy="650240"/>
          </a:xfrm>
          <a:prstGeom prst="rect">
            <a:avLst/>
          </a:prstGeom>
          <a:noFill/>
        </p:spPr>
        <p:txBody>
          <a:bodyPr wrap="square" lIns="0" tIns="0" rIns="0" bIns="0">
            <a:spAutoFit/>
          </a:bodyPr>
          <a:lstStyle/>
          <a:p>
            <a:pPr>
              <a:spcAft>
                <a:spcPts val="0"/>
              </a:spcAft>
            </a:pPr>
            <a:r>
              <a:rPr sz="1422">
                <a:solidFill>
                  <a:srgbClr val="1F1F1F"/>
                </a:solidFill>
                <a:latin typeface="Helvetica Neue"/>
              </a:rPr>
              <a:t>Beyond pattern recognition: </a:t>
            </a:r>
            <a:r>
              <a:rPr sz="1422">
                <a:solidFill>
                  <a:srgbClr val="595959"/>
                </a:solidFill>
                <a:latin typeface="Helvetica Neue Light"/>
              </a:rPr>
              <a:t>a solver sizes and the LLM explains; counterfactual re-planning with contrastive “why not” answers; drift attribution; a bounded agent with a scoped permission; preference learning shown as editable rules. Main risk: regulatory.</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5995987" y="4598987"/>
            <a:ext cx="6089812" cy="5154612"/>
          </a:xfrm>
          <a:prstGeom prst="rect">
            <a:avLst/>
          </a:prstGeom>
        </p:spPr>
      </p:pic>
      <p:sp>
        <p:nvSpPr>
          <p:cNvPr id="4" name="TextBox 3"/>
          <p:cNvSpPr txBox="1"/>
          <p:nvPr/>
        </p:nvSpPr>
        <p:spPr>
          <a:xfrm>
            <a:off x="457200" y="735582"/>
            <a:ext cx="12377210" cy="247497"/>
          </a:xfrm>
          <a:prstGeom prst="rect">
            <a:avLst/>
          </a:prstGeom>
          <a:noFill/>
        </p:spPr>
        <p:txBody>
          <a:bodyPr wrap="none" lIns="0" tIns="0" rIns="0" bIns="0">
            <a:noAutofit/>
          </a:bodyPr>
          <a:lstStyle/>
          <a:p>
            <a:pPr algn="l"/>
            <a:r>
              <a:rPr sz="1600" dirty="0">
                <a:solidFill>
                  <a:srgbClr val="000000"/>
                </a:solidFill>
                <a:latin typeface="Helvetica Neue Light"/>
              </a:rPr>
              <a:t>End-to-end design process for a risk and compliance system serving Credit Suisse’s Risk and Compliance personnel</a:t>
            </a:r>
          </a:p>
        </p:txBody>
      </p:sp>
      <p:sp>
        <p:nvSpPr>
          <p:cNvPr id="5" name="TextBox 4"/>
          <p:cNvSpPr txBox="1"/>
          <p:nvPr/>
        </p:nvSpPr>
        <p:spPr>
          <a:xfrm>
            <a:off x="457200" y="1758694"/>
            <a:ext cx="3827199" cy="742492"/>
          </a:xfrm>
          <a:prstGeom prst="rect">
            <a:avLst/>
          </a:prstGeom>
          <a:noFill/>
        </p:spPr>
        <p:txBody>
          <a:bodyPr wrap="none" lIns="0" tIns="0" rIns="0" bIns="0">
            <a:noAutofit/>
          </a:bodyPr>
          <a:lstStyle/>
          <a:p>
            <a:pPr algn="l"/>
            <a:r>
              <a:rPr sz="4800" dirty="0">
                <a:solidFill>
                  <a:srgbClr val="000000"/>
                </a:solidFill>
                <a:latin typeface="Helvetica Neue Light"/>
              </a:rPr>
              <a:t>Credit Suisse</a:t>
            </a:r>
          </a:p>
        </p:txBody>
      </p:sp>
      <p:sp>
        <p:nvSpPr>
          <p:cNvPr id="6" name="TextBox 5"/>
          <p:cNvSpPr txBox="1"/>
          <p:nvPr/>
        </p:nvSpPr>
        <p:spPr>
          <a:xfrm>
            <a:off x="457200" y="2737610"/>
            <a:ext cx="3817324" cy="371246"/>
          </a:xfrm>
          <a:prstGeom prst="rect">
            <a:avLst/>
          </a:prstGeom>
          <a:noFill/>
        </p:spPr>
        <p:txBody>
          <a:bodyPr wrap="none" lIns="0" tIns="0" rIns="0" bIns="0">
            <a:noAutofit/>
          </a:bodyPr>
          <a:lstStyle/>
          <a:p>
            <a:pPr algn="l"/>
            <a:r>
              <a:rPr sz="2400" dirty="0">
                <a:solidFill>
                  <a:srgbClr val="000000"/>
                </a:solidFill>
                <a:latin typeface="Helvetica Neue Light"/>
              </a:rPr>
              <a:t>Outside Business Interests</a:t>
            </a:r>
          </a:p>
        </p:txBody>
      </p:sp>
      <p:sp>
        <p:nvSpPr>
          <p:cNvPr id="7" name="TextBox 6"/>
          <p:cNvSpPr txBox="1"/>
          <p:nvPr/>
        </p:nvSpPr>
        <p:spPr>
          <a:xfrm>
            <a:off x="457200" y="4710682"/>
            <a:ext cx="5290092" cy="247497"/>
          </a:xfrm>
          <a:prstGeom prst="rect">
            <a:avLst/>
          </a:prstGeom>
          <a:noFill/>
        </p:spPr>
        <p:txBody>
          <a:bodyPr wrap="none" lIns="0" tIns="0" rIns="0" bIns="0">
            <a:noAutofit/>
          </a:bodyPr>
          <a:lstStyle/>
          <a:p>
            <a:pPr algn="l"/>
            <a:r>
              <a:rPr sz="1600" dirty="0">
                <a:solidFill>
                  <a:srgbClr val="404040"/>
                </a:solidFill>
                <a:latin typeface="Helvetica Neue Light"/>
              </a:rPr>
              <a:t>Helping Credit Suisse save money by reducing friction, </a:t>
            </a:r>
          </a:p>
        </p:txBody>
      </p:sp>
      <p:sp>
        <p:nvSpPr>
          <p:cNvPr id="8" name="TextBox 7"/>
          <p:cNvSpPr txBox="1"/>
          <p:nvPr/>
        </p:nvSpPr>
        <p:spPr>
          <a:xfrm>
            <a:off x="457200" y="5104382"/>
            <a:ext cx="5310284" cy="247497"/>
          </a:xfrm>
          <a:prstGeom prst="rect">
            <a:avLst/>
          </a:prstGeom>
          <a:noFill/>
        </p:spPr>
        <p:txBody>
          <a:bodyPr wrap="none" lIns="0" tIns="0" rIns="0" bIns="0">
            <a:noAutofit/>
          </a:bodyPr>
          <a:lstStyle/>
          <a:p>
            <a:pPr algn="l"/>
            <a:r>
              <a:rPr sz="1600" dirty="0">
                <a:solidFill>
                  <a:srgbClr val="404040"/>
                </a:solidFill>
                <a:latin typeface="Helvetica Neue Light"/>
              </a:rPr>
              <a:t>educating employees and removing risk vulnerability in </a:t>
            </a:r>
          </a:p>
        </p:txBody>
      </p:sp>
      <p:sp>
        <p:nvSpPr>
          <p:cNvPr id="9" name="TextBox 8"/>
          <p:cNvSpPr txBox="1"/>
          <p:nvPr/>
        </p:nvSpPr>
        <p:spPr>
          <a:xfrm>
            <a:off x="457200" y="5498082"/>
            <a:ext cx="2908117" cy="247497"/>
          </a:xfrm>
          <a:prstGeom prst="rect">
            <a:avLst/>
          </a:prstGeom>
          <a:noFill/>
        </p:spPr>
        <p:txBody>
          <a:bodyPr wrap="none" lIns="0" tIns="0" rIns="0" bIns="0">
            <a:noAutofit/>
          </a:bodyPr>
          <a:lstStyle/>
          <a:p>
            <a:pPr algn="l"/>
            <a:r>
              <a:rPr sz="1600" dirty="0">
                <a:solidFill>
                  <a:srgbClr val="404040"/>
                </a:solidFill>
                <a:latin typeface="Helvetica Neue Light"/>
              </a:rPr>
              <a:t>its risk and compliance efforts.</a:t>
            </a:r>
          </a:p>
        </p:txBody>
      </p:sp>
      <p:sp>
        <p:nvSpPr>
          <p:cNvPr id="10" name="TextBox 9"/>
          <p:cNvSpPr txBox="1"/>
          <p:nvPr/>
        </p:nvSpPr>
        <p:spPr>
          <a:xfrm>
            <a:off x="1031378" y="7552435"/>
            <a:ext cx="4518390" cy="905255"/>
          </a:xfrm>
          <a:prstGeom prst="rect">
            <a:avLst/>
          </a:prstGeom>
          <a:noFill/>
        </p:spPr>
        <p:txBody>
          <a:bodyPr wrap="square" lIns="0" tIns="0" rIns="0" bIns="0">
            <a:noAutofit/>
          </a:bodyPr>
          <a:lstStyle/>
          <a:p>
            <a:pPr algn="ctr">
              <a:lnSpc>
                <a:spcPts val="2400"/>
              </a:lnSpc>
            </a:pPr>
            <a:r>
              <a:rPr sz="2000" dirty="0">
                <a:solidFill>
                  <a:srgbClr val="000000"/>
                </a:solidFill>
                <a:latin typeface="Helvetica Neue Thin"/>
              </a:rPr>
              <a:t>“It’s too limited in its functionality to be of use for an Approver. Too much time is wasted trying to do more complex tasks”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660400"/>
            <a:ext cx="10160000" cy="228600"/>
          </a:xfrm>
          <a:prstGeom prst="rect">
            <a:avLst/>
          </a:prstGeom>
          <a:noFill/>
        </p:spPr>
        <p:txBody>
          <a:bodyPr wrap="none" lIns="0" tIns="0" rIns="0" bIns="0">
            <a:noAutofit/>
          </a:bodyPr>
          <a:lstStyle/>
          <a:p>
            <a:pPr algn="l"/>
            <a:r>
              <a:rPr sz="1400" dirty="0">
                <a:solidFill>
                  <a:srgbClr val="1F1F1F"/>
                </a:solidFill>
                <a:latin typeface="Helvetica Neue"/>
              </a:rPr>
              <a:t>Introduction   Credit Suisse OBI</a:t>
            </a:r>
          </a:p>
        </p:txBody>
      </p:sp>
      <p:sp>
        <p:nvSpPr>
          <p:cNvPr id="4" name="TextBox 3"/>
          <p:cNvSpPr txBox="1"/>
          <p:nvPr/>
        </p:nvSpPr>
        <p:spPr>
          <a:xfrm>
            <a:off x="8686800" y="1621279"/>
            <a:ext cx="1775064" cy="278434"/>
          </a:xfrm>
          <a:prstGeom prst="rect">
            <a:avLst/>
          </a:prstGeom>
          <a:noFill/>
        </p:spPr>
        <p:txBody>
          <a:bodyPr wrap="none" lIns="0" tIns="0" rIns="0" bIns="0">
            <a:noAutofit/>
          </a:bodyPr>
          <a:lstStyle/>
          <a:p>
            <a:pPr algn="l"/>
            <a:r>
              <a:rPr sz="1800" dirty="0">
                <a:solidFill>
                  <a:srgbClr val="FFFFFF"/>
                </a:solidFill>
                <a:latin typeface="Helvetica Neue Light"/>
              </a:rPr>
              <a:t>Target audience</a:t>
            </a:r>
          </a:p>
        </p:txBody>
      </p:sp>
      <p:sp>
        <p:nvSpPr>
          <p:cNvPr id="5" name="TextBox 4"/>
          <p:cNvSpPr txBox="1"/>
          <p:nvPr/>
        </p:nvSpPr>
        <p:spPr>
          <a:xfrm>
            <a:off x="8686800" y="2005479"/>
            <a:ext cx="2568564" cy="266090"/>
          </a:xfrm>
          <a:prstGeom prst="rect">
            <a:avLst/>
          </a:prstGeom>
          <a:noFill/>
        </p:spPr>
        <p:txBody>
          <a:bodyPr wrap="none" lIns="0" tIns="0" rIns="0" bIns="0">
            <a:noAutofit/>
          </a:bodyPr>
          <a:lstStyle/>
          <a:p>
            <a:pPr algn="l"/>
            <a:r>
              <a:rPr sz="1800" dirty="0">
                <a:solidFill>
                  <a:srgbClr val="FFFFFF"/>
                </a:solidFill>
                <a:latin typeface="Helvetica Neue Thin"/>
              </a:rPr>
              <a:t>• Risk and Compliance </a:t>
            </a:r>
          </a:p>
        </p:txBody>
      </p:sp>
      <p:sp>
        <p:nvSpPr>
          <p:cNvPr id="6" name="TextBox 5"/>
          <p:cNvSpPr txBox="1"/>
          <p:nvPr/>
        </p:nvSpPr>
        <p:spPr>
          <a:xfrm>
            <a:off x="8915400" y="2386479"/>
            <a:ext cx="1092914" cy="266090"/>
          </a:xfrm>
          <a:prstGeom prst="rect">
            <a:avLst/>
          </a:prstGeom>
          <a:noFill/>
        </p:spPr>
        <p:txBody>
          <a:bodyPr wrap="none" lIns="0" tIns="0" rIns="0" bIns="0">
            <a:noAutofit/>
          </a:bodyPr>
          <a:lstStyle/>
          <a:p>
            <a:pPr algn="l"/>
            <a:r>
              <a:rPr sz="1800" dirty="0">
                <a:solidFill>
                  <a:srgbClr val="FFFFFF"/>
                </a:solidFill>
                <a:latin typeface="Helvetica Neue Thin"/>
              </a:rPr>
              <a:t>managers</a:t>
            </a:r>
          </a:p>
        </p:txBody>
      </p:sp>
      <p:sp>
        <p:nvSpPr>
          <p:cNvPr id="7" name="TextBox 6"/>
          <p:cNvSpPr txBox="1"/>
          <p:nvPr/>
        </p:nvSpPr>
        <p:spPr>
          <a:xfrm>
            <a:off x="8686800" y="2767479"/>
            <a:ext cx="2160210" cy="266090"/>
          </a:xfrm>
          <a:prstGeom prst="rect">
            <a:avLst/>
          </a:prstGeom>
          <a:noFill/>
        </p:spPr>
        <p:txBody>
          <a:bodyPr wrap="none" lIns="0" tIns="0" rIns="0" bIns="0">
            <a:noAutofit/>
          </a:bodyPr>
          <a:lstStyle/>
          <a:p>
            <a:pPr algn="l"/>
            <a:r>
              <a:rPr sz="1800" dirty="0">
                <a:solidFill>
                  <a:srgbClr val="FFFFFF"/>
                </a:solidFill>
                <a:latin typeface="Helvetica Neue Thin"/>
              </a:rPr>
              <a:t>• All CS employees</a:t>
            </a:r>
          </a:p>
        </p:txBody>
      </p:sp>
      <p:sp>
        <p:nvSpPr>
          <p:cNvPr id="8" name="TextBox 7"/>
          <p:cNvSpPr txBox="1"/>
          <p:nvPr/>
        </p:nvSpPr>
        <p:spPr>
          <a:xfrm>
            <a:off x="8686800" y="3148481"/>
            <a:ext cx="2031581" cy="266090"/>
          </a:xfrm>
          <a:prstGeom prst="rect">
            <a:avLst/>
          </a:prstGeom>
          <a:noFill/>
        </p:spPr>
        <p:txBody>
          <a:bodyPr wrap="none" lIns="0" tIns="0" rIns="0" bIns="0">
            <a:noAutofit/>
          </a:bodyPr>
          <a:lstStyle/>
          <a:p>
            <a:pPr algn="l"/>
            <a:r>
              <a:rPr sz="1800" dirty="0">
                <a:solidFill>
                  <a:srgbClr val="FFFFFF"/>
                </a:solidFill>
                <a:latin typeface="Helvetica Neue Thin"/>
              </a:rPr>
              <a:t>• All CS managers</a:t>
            </a:r>
          </a:p>
        </p:txBody>
      </p:sp>
      <p:sp>
        <p:nvSpPr>
          <p:cNvPr id="9" name="TextBox 8"/>
          <p:cNvSpPr txBox="1"/>
          <p:nvPr/>
        </p:nvSpPr>
        <p:spPr>
          <a:xfrm>
            <a:off x="457200" y="4780278"/>
            <a:ext cx="4902971" cy="1442211"/>
          </a:xfrm>
          <a:prstGeom prst="rect">
            <a:avLst/>
          </a:prstGeom>
          <a:noFill/>
        </p:spPr>
        <p:txBody>
          <a:bodyPr wrap="none" lIns="0" tIns="0" rIns="0" bIns="0">
            <a:noAutofit/>
          </a:bodyPr>
          <a:lstStyle/>
          <a:p>
            <a:pPr algn="l">
              <a:lnSpc>
                <a:spcPts val="3000"/>
              </a:lnSpc>
            </a:pPr>
            <a:r>
              <a:rPr sz="2000" dirty="0">
                <a:solidFill>
                  <a:srgbClr val="000000"/>
                </a:solidFill>
                <a:latin typeface="Helvetica Neue Light"/>
              </a:rPr>
              <a:t>The problems</a:t>
            </a:r>
          </a:p>
          <a:p>
            <a:pPr algn="l">
              <a:lnSpc>
                <a:spcPts val="3000"/>
              </a:lnSpc>
            </a:pPr>
            <a:r>
              <a:rPr sz="2000" dirty="0">
                <a:solidFill>
                  <a:srgbClr val="000000"/>
                </a:solidFill>
                <a:latin typeface="Helvetica Neue Thin"/>
              </a:rPr>
              <a:t>• Submission status tracking is not clear </a:t>
            </a:r>
          </a:p>
          <a:p>
            <a:pPr algn="l">
              <a:lnSpc>
                <a:spcPts val="3000"/>
              </a:lnSpc>
            </a:pPr>
            <a:r>
              <a:rPr sz="2000" dirty="0">
                <a:solidFill>
                  <a:srgbClr val="000000"/>
                </a:solidFill>
                <a:latin typeface="Helvetica Neue Thin"/>
              </a:rPr>
              <a:t>• Lines of responsibility are not transparent</a:t>
            </a:r>
          </a:p>
          <a:p>
            <a:pPr algn="l">
              <a:lnSpc>
                <a:spcPts val="3000"/>
              </a:lnSpc>
            </a:pPr>
            <a:r>
              <a:rPr sz="2000" dirty="0">
                <a:solidFill>
                  <a:srgbClr val="000000"/>
                </a:solidFill>
                <a:latin typeface="Helvetica Neue Thin"/>
              </a:rPr>
              <a:t>• No ability for reporting </a:t>
            </a:r>
          </a:p>
        </p:txBody>
      </p:sp>
      <p:sp>
        <p:nvSpPr>
          <p:cNvPr id="10" name="TextBox 9"/>
          <p:cNvSpPr txBox="1"/>
          <p:nvPr/>
        </p:nvSpPr>
        <p:spPr>
          <a:xfrm>
            <a:off x="457200" y="6307835"/>
            <a:ext cx="5270835" cy="676655"/>
          </a:xfrm>
          <a:prstGeom prst="rect">
            <a:avLst/>
          </a:prstGeom>
          <a:noFill/>
        </p:spPr>
        <p:txBody>
          <a:bodyPr wrap="none" lIns="0" tIns="0" rIns="0" bIns="0">
            <a:noAutofit/>
          </a:bodyPr>
          <a:lstStyle/>
          <a:p>
            <a:pPr algn="l">
              <a:lnSpc>
                <a:spcPts val="3000"/>
              </a:lnSpc>
            </a:pPr>
            <a:r>
              <a:rPr sz="2000" dirty="0">
                <a:solidFill>
                  <a:srgbClr val="000000"/>
                </a:solidFill>
                <a:latin typeface="Helvetica Neue Thin"/>
              </a:rPr>
              <a:t>• Navigation in the tool is challenging</a:t>
            </a:r>
          </a:p>
          <a:p>
            <a:pPr algn="l">
              <a:lnSpc>
                <a:spcPts val="3000"/>
              </a:lnSpc>
            </a:pPr>
            <a:r>
              <a:rPr sz="2000" dirty="0">
                <a:solidFill>
                  <a:srgbClr val="000000"/>
                </a:solidFill>
                <a:latin typeface="Helvetica Neue Thin"/>
              </a:rPr>
              <a:t>• Users often don’t know why and when they </a:t>
            </a:r>
          </a:p>
        </p:txBody>
      </p:sp>
      <p:sp>
        <p:nvSpPr>
          <p:cNvPr id="11" name="TextBox 10"/>
          <p:cNvSpPr txBox="1"/>
          <p:nvPr/>
        </p:nvSpPr>
        <p:spPr>
          <a:xfrm>
            <a:off x="457200" y="7069835"/>
            <a:ext cx="5100208" cy="676655"/>
          </a:xfrm>
          <a:prstGeom prst="rect">
            <a:avLst/>
          </a:prstGeom>
          <a:noFill/>
        </p:spPr>
        <p:txBody>
          <a:bodyPr wrap="none" lIns="0" tIns="0" rIns="0" bIns="0">
            <a:noAutofit/>
          </a:bodyPr>
          <a:lstStyle/>
          <a:p>
            <a:pPr marL="228600" algn="l">
              <a:lnSpc>
                <a:spcPts val="3000"/>
              </a:lnSpc>
            </a:pPr>
            <a:r>
              <a:rPr sz="2000" dirty="0">
                <a:solidFill>
                  <a:srgbClr val="000000"/>
                </a:solidFill>
                <a:latin typeface="Helvetica Neue Thin"/>
              </a:rPr>
              <a:t>should submit</a:t>
            </a:r>
          </a:p>
          <a:p>
            <a:pPr algn="l">
              <a:lnSpc>
                <a:spcPts val="3000"/>
              </a:lnSpc>
            </a:pPr>
            <a:r>
              <a:rPr sz="2000" dirty="0">
                <a:solidFill>
                  <a:srgbClr val="000000"/>
                </a:solidFill>
                <a:latin typeface="Helvetica Neue Thin"/>
              </a:rPr>
              <a:t>• No Mobile access for Risk &amp; Compliance </a:t>
            </a:r>
          </a:p>
        </p:txBody>
      </p:sp>
      <p:sp>
        <p:nvSpPr>
          <p:cNvPr id="12" name="TextBox 11"/>
          <p:cNvSpPr txBox="1"/>
          <p:nvPr/>
        </p:nvSpPr>
        <p:spPr>
          <a:xfrm>
            <a:off x="457200" y="7831835"/>
            <a:ext cx="3834221" cy="1057655"/>
          </a:xfrm>
          <a:prstGeom prst="rect">
            <a:avLst/>
          </a:prstGeom>
          <a:noFill/>
        </p:spPr>
        <p:txBody>
          <a:bodyPr wrap="none" lIns="0" tIns="0" rIns="0" bIns="0">
            <a:noAutofit/>
          </a:bodyPr>
          <a:lstStyle/>
          <a:p>
            <a:pPr marL="228600" algn="l">
              <a:lnSpc>
                <a:spcPts val="3000"/>
              </a:lnSpc>
            </a:pPr>
            <a:r>
              <a:rPr sz="2000" dirty="0">
                <a:solidFill>
                  <a:srgbClr val="000000"/>
                </a:solidFill>
                <a:latin typeface="Helvetica Neue Thin"/>
              </a:rPr>
              <a:t>Managers</a:t>
            </a:r>
          </a:p>
          <a:p>
            <a:pPr algn="l">
              <a:lnSpc>
                <a:spcPts val="3000"/>
              </a:lnSpc>
            </a:pPr>
            <a:r>
              <a:rPr sz="2000" dirty="0">
                <a:solidFill>
                  <a:srgbClr val="000000"/>
                </a:solidFill>
                <a:latin typeface="Helvetica Neue Thin"/>
              </a:rPr>
              <a:t>• Submission process confusing</a:t>
            </a:r>
          </a:p>
          <a:p>
            <a:pPr algn="l">
              <a:lnSpc>
                <a:spcPts val="3000"/>
              </a:lnSpc>
            </a:pPr>
            <a:r>
              <a:rPr sz="2000" dirty="0">
                <a:solidFill>
                  <a:srgbClr val="000000"/>
                </a:solidFill>
                <a:latin typeface="Helvetica Neue Thin"/>
              </a:rPr>
              <a:t>• No education available</a:t>
            </a:r>
          </a:p>
        </p:txBody>
      </p:sp>
      <p:sp>
        <p:nvSpPr>
          <p:cNvPr id="13" name="TextBox 12"/>
          <p:cNvSpPr txBox="1"/>
          <p:nvPr/>
        </p:nvSpPr>
        <p:spPr>
          <a:xfrm>
            <a:off x="457200" y="1894076"/>
            <a:ext cx="5753169" cy="2227579"/>
          </a:xfrm>
          <a:prstGeom prst="rect">
            <a:avLst/>
          </a:prstGeom>
          <a:noFill/>
        </p:spPr>
        <p:txBody>
          <a:bodyPr wrap="square" lIns="0" tIns="0" rIns="0" bIns="0">
            <a:noAutofit/>
          </a:bodyPr>
          <a:lstStyle/>
          <a:p>
            <a:pPr algn="l">
              <a:lnSpc>
                <a:spcPts val="3000"/>
              </a:lnSpc>
            </a:pPr>
            <a:r>
              <a:rPr sz="2200" dirty="0">
                <a:solidFill>
                  <a:srgbClr val="000000"/>
                </a:solidFill>
                <a:latin typeface="Helvetica Neue Light"/>
              </a:rPr>
              <a:t>What’s OBI?</a:t>
            </a:r>
          </a:p>
          <a:p>
            <a:pPr algn="l">
              <a:lnSpc>
                <a:spcPts val="3000"/>
              </a:lnSpc>
            </a:pPr>
            <a:r>
              <a:rPr sz="2000" dirty="0">
                <a:solidFill>
                  <a:srgbClr val="000000"/>
                </a:solidFill>
                <a:latin typeface="Helvetica Neue Thin"/>
              </a:rPr>
              <a:t>Browser-based application that’s part of the Risk &amp; Compliance platform, that gives users pre-clearance for outside activities where requests can be reviewed by first line Reviewers and second line Risk &amp; Compliance Managers.</a:t>
            </a:r>
          </a:p>
        </p:txBody>
      </p:sp>
      <p:sp>
        <p:nvSpPr>
          <p:cNvPr id="15" name="TextBox 14"/>
          <p:cNvSpPr txBox="1"/>
          <p:nvPr/>
        </p:nvSpPr>
        <p:spPr>
          <a:xfrm>
            <a:off x="7061200" y="4799073"/>
            <a:ext cx="901576" cy="278434"/>
          </a:xfrm>
          <a:prstGeom prst="rect">
            <a:avLst/>
          </a:prstGeom>
          <a:noFill/>
        </p:spPr>
        <p:txBody>
          <a:bodyPr wrap="none" lIns="0" tIns="0" rIns="0" bIns="0">
            <a:noAutofit/>
          </a:bodyPr>
          <a:lstStyle/>
          <a:p>
            <a:pPr algn="l"/>
            <a:r>
              <a:rPr sz="1800" dirty="0">
                <a:solidFill>
                  <a:srgbClr val="000000"/>
                </a:solidFill>
                <a:latin typeface="Helvetica Neue Light"/>
              </a:rPr>
              <a:t>My Role</a:t>
            </a:r>
          </a:p>
        </p:txBody>
      </p:sp>
      <p:sp>
        <p:nvSpPr>
          <p:cNvPr id="16" name="TextBox 15"/>
          <p:cNvSpPr txBox="1"/>
          <p:nvPr/>
        </p:nvSpPr>
        <p:spPr>
          <a:xfrm>
            <a:off x="7061200" y="5114846"/>
            <a:ext cx="4735830" cy="708964"/>
          </a:xfrm>
          <a:prstGeom prst="rect">
            <a:avLst/>
          </a:prstGeom>
          <a:noFill/>
        </p:spPr>
        <p:txBody>
          <a:bodyPr wrap="square" lIns="0" tIns="0" rIns="0" bIns="0">
            <a:noAutofit/>
          </a:bodyPr>
          <a:lstStyle/>
          <a:p>
            <a:pPr marL="228600" indent="-228600" algn="l">
              <a:lnSpc>
                <a:spcPts val="3000"/>
              </a:lnSpc>
            </a:pPr>
            <a:r>
              <a:rPr sz="1600" dirty="0">
                <a:solidFill>
                  <a:srgbClr val="000000"/>
                </a:solidFill>
                <a:latin typeface="Helvetica Neue Thin"/>
              </a:rPr>
              <a:t>•	I led the project team utilizing the support of 2 UX designers, and a content designer. </a:t>
            </a:r>
          </a:p>
        </p:txBody>
      </p:sp>
      <p:sp>
        <p:nvSpPr>
          <p:cNvPr id="18" name="TextBox 17"/>
          <p:cNvSpPr txBox="1"/>
          <p:nvPr/>
        </p:nvSpPr>
        <p:spPr>
          <a:xfrm>
            <a:off x="7061200" y="5876846"/>
            <a:ext cx="4846300" cy="1089964"/>
          </a:xfrm>
          <a:prstGeom prst="rect">
            <a:avLst/>
          </a:prstGeom>
          <a:noFill/>
        </p:spPr>
        <p:txBody>
          <a:bodyPr wrap="square" lIns="0" tIns="0" rIns="0" bIns="0">
            <a:noAutofit/>
          </a:bodyPr>
          <a:lstStyle/>
          <a:p>
            <a:pPr marL="228600" indent="-228600" algn="l">
              <a:lnSpc>
                <a:spcPts val="3000"/>
              </a:lnSpc>
            </a:pPr>
            <a:r>
              <a:rPr sz="1600" dirty="0">
                <a:solidFill>
                  <a:srgbClr val="000000"/>
                </a:solidFill>
                <a:latin typeface="Helvetica Neue Thin"/>
              </a:rPr>
              <a:t>•	I was responsible for managing the discovery process, including research, strategy and overall hands-on design of the material and artifacts. </a:t>
            </a:r>
          </a:p>
        </p:txBody>
      </p:sp>
      <p:sp>
        <p:nvSpPr>
          <p:cNvPr id="21" name="TextBox 20"/>
          <p:cNvSpPr txBox="1"/>
          <p:nvPr/>
        </p:nvSpPr>
        <p:spPr>
          <a:xfrm>
            <a:off x="7061200" y="7019846"/>
            <a:ext cx="5025251" cy="1115364"/>
          </a:xfrm>
          <a:prstGeom prst="rect">
            <a:avLst/>
          </a:prstGeom>
          <a:noFill/>
        </p:spPr>
        <p:txBody>
          <a:bodyPr wrap="square" lIns="0" tIns="0" rIns="0" bIns="0">
            <a:noAutofit/>
          </a:bodyPr>
          <a:lstStyle/>
          <a:p>
            <a:pPr marL="228600" indent="-228600" algn="l">
              <a:lnSpc>
                <a:spcPts val="3000"/>
              </a:lnSpc>
            </a:pPr>
            <a:r>
              <a:rPr sz="1600" dirty="0">
                <a:solidFill>
                  <a:srgbClr val="000000"/>
                </a:solidFill>
                <a:latin typeface="Helvetica Neue Thin"/>
              </a:rPr>
              <a:t>•	I led the work on all deliverables and artifacts in Sketch and Figma using Lean UX and usability testing, presenting these to the client and key stakeholders.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939800"/>
            <a:ext cx="3835400" cy="476250"/>
          </a:xfrm>
          <a:prstGeom prst="rect">
            <a:avLst/>
          </a:prstGeom>
          <a:noFill/>
        </p:spPr>
        <p:txBody>
          <a:bodyPr wrap="none" lIns="0" tIns="0" rIns="0" bIns="0">
            <a:noAutofit/>
          </a:bodyPr>
          <a:lstStyle/>
          <a:p>
            <a:pPr algn="l"/>
            <a:r>
              <a:rPr sz="3000" dirty="0">
                <a:solidFill>
                  <a:srgbClr val="1F1F1F"/>
                </a:solidFill>
                <a:latin typeface="Helvetica Neue Light"/>
              </a:rPr>
              <a:t>Original Application</a:t>
            </a:r>
          </a:p>
        </p:txBody>
      </p:sp>
      <p:sp>
        <p:nvSpPr>
          <p:cNvPr id="4" name="TextBox 3"/>
          <p:cNvSpPr txBox="1"/>
          <p:nvPr/>
        </p:nvSpPr>
        <p:spPr>
          <a:xfrm>
            <a:off x="457200" y="393700"/>
            <a:ext cx="10160000" cy="228600"/>
          </a:xfrm>
          <a:prstGeom prst="rect">
            <a:avLst/>
          </a:prstGeom>
          <a:noFill/>
        </p:spPr>
        <p:txBody>
          <a:bodyPr wrap="none" lIns="0" tIns="0" rIns="0" bIns="0">
            <a:noAutofit/>
          </a:bodyPr>
          <a:lstStyle/>
          <a:p>
            <a:r>
              <a:rPr sz="1400">
                <a:solidFill>
                  <a:srgbClr val="1F1F1F"/>
                </a:solidFill>
                <a:latin typeface="Helvetica Neue"/>
              </a:rPr>
              <a:t>Discovery &amp; Research   Credit Suisse OBI</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7" name="TextBox 6"/>
          <p:cNvSpPr txBox="1"/>
          <p:nvPr/>
        </p:nvSpPr>
        <p:spPr>
          <a:xfrm>
            <a:off x="457200" y="939800"/>
            <a:ext cx="3298190" cy="476250"/>
          </a:xfrm>
          <a:prstGeom prst="rect">
            <a:avLst/>
          </a:prstGeom>
          <a:noFill/>
        </p:spPr>
        <p:txBody>
          <a:bodyPr wrap="none" lIns="0" tIns="0" rIns="0" bIns="0">
            <a:noAutofit/>
          </a:bodyPr>
          <a:lstStyle/>
          <a:p>
            <a:pPr algn="l">
              <a:lnSpc>
                <a:spcPts val="5600"/>
              </a:lnSpc>
            </a:pPr>
            <a:r>
              <a:rPr sz="3000" dirty="0">
                <a:solidFill>
                  <a:srgbClr val="1F1F1F"/>
                </a:solidFill>
                <a:latin typeface="Helvetica Neue Light"/>
              </a:rPr>
              <a:t>Why redesign OBI?</a:t>
            </a:r>
          </a:p>
        </p:txBody>
      </p:sp>
      <p:sp>
        <p:nvSpPr>
          <p:cNvPr id="8" name="TextBox 7"/>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Credit Suisse OBI</a:t>
            </a:r>
          </a:p>
        </p:txBody>
      </p:sp>
      <p:sp>
        <p:nvSpPr>
          <p:cNvPr id="9" name="TextBox 8"/>
          <p:cNvSpPr txBox="1"/>
          <p:nvPr/>
        </p:nvSpPr>
        <p:spPr>
          <a:xfrm>
            <a:off x="762000" y="1778000"/>
            <a:ext cx="3683000" cy="2540000"/>
          </a:xfrm>
          <a:prstGeom prst="rect">
            <a:avLst/>
          </a:prstGeom>
          <a:noFill/>
        </p:spPr>
        <p:txBody>
          <a:bodyPr wrap="square" lIns="0" tIns="0" rIns="0" bIns="0">
            <a:noAutofit/>
          </a:bodyPr>
          <a:lstStyle/>
          <a:p>
            <a:r>
              <a:rPr sz="6400">
                <a:solidFill>
                  <a:srgbClr val="EF6100"/>
                </a:solidFill>
                <a:latin typeface="Helvetica Neue Light"/>
              </a:rPr>
              <a:t>475</a:t>
            </a:r>
          </a:p>
          <a:p>
            <a:pPr>
              <a:spcBef>
                <a:spcPts val="400"/>
              </a:spcBef>
            </a:pPr>
            <a:r>
              <a:rPr sz="1700">
                <a:solidFill>
                  <a:srgbClr val="1F1F1F"/>
                </a:solidFill>
                <a:latin typeface="Helvetica Neue Light"/>
              </a:rPr>
              <a:t>Returned submissions missing required information, per year</a:t>
            </a:r>
          </a:p>
        </p:txBody>
      </p:sp>
      <p:sp>
        <p:nvSpPr>
          <p:cNvPr id="10" name="TextBox 9"/>
          <p:cNvSpPr txBox="1"/>
          <p:nvPr/>
        </p:nvSpPr>
        <p:spPr>
          <a:xfrm>
            <a:off x="4826000" y="1778000"/>
            <a:ext cx="3683000" cy="2540000"/>
          </a:xfrm>
          <a:prstGeom prst="rect">
            <a:avLst/>
          </a:prstGeom>
          <a:noFill/>
        </p:spPr>
        <p:txBody>
          <a:bodyPr wrap="square" lIns="0" tIns="0" rIns="0" bIns="0">
            <a:noAutofit/>
          </a:bodyPr>
          <a:lstStyle/>
          <a:p>
            <a:r>
              <a:rPr sz="6400">
                <a:solidFill>
                  <a:srgbClr val="1D00DF"/>
                </a:solidFill>
                <a:latin typeface="Helvetica Neue Light"/>
              </a:rPr>
              <a:t>22 mins</a:t>
            </a:r>
          </a:p>
          <a:p>
            <a:pPr>
              <a:spcBef>
                <a:spcPts val="400"/>
              </a:spcBef>
            </a:pPr>
            <a:r>
              <a:rPr sz="1700">
                <a:solidFill>
                  <a:srgbClr val="1F1F1F"/>
                </a:solidFill>
                <a:latin typeface="Helvetica Neue Light"/>
              </a:rPr>
              <a:t>Average time employees need to resubmit</a:t>
            </a:r>
          </a:p>
        </p:txBody>
      </p:sp>
      <p:sp>
        <p:nvSpPr>
          <p:cNvPr id="11" name="TextBox 10"/>
          <p:cNvSpPr txBox="1"/>
          <p:nvPr/>
        </p:nvSpPr>
        <p:spPr>
          <a:xfrm>
            <a:off x="8890000" y="1778000"/>
            <a:ext cx="3683000" cy="2540000"/>
          </a:xfrm>
          <a:prstGeom prst="rect">
            <a:avLst/>
          </a:prstGeom>
          <a:noFill/>
        </p:spPr>
        <p:txBody>
          <a:bodyPr wrap="square" lIns="0" tIns="0" rIns="0" bIns="0">
            <a:noAutofit/>
          </a:bodyPr>
          <a:lstStyle/>
          <a:p>
            <a:r>
              <a:rPr sz="6400">
                <a:solidFill>
                  <a:srgbClr val="1059FF"/>
                </a:solidFill>
                <a:latin typeface="Helvetica Neue Light"/>
              </a:rPr>
              <a:t>58%</a:t>
            </a:r>
          </a:p>
          <a:p>
            <a:pPr>
              <a:spcBef>
                <a:spcPts val="400"/>
              </a:spcBef>
            </a:pPr>
            <a:r>
              <a:rPr sz="1700">
                <a:solidFill>
                  <a:srgbClr val="1F1F1F"/>
                </a:solidFill>
                <a:latin typeface="Helvetica Neue Light"/>
              </a:rPr>
              <a:t>Approval rating from Process Risk &amp; Compliance Managers</a:t>
            </a:r>
          </a:p>
        </p:txBody>
      </p:sp>
      <p:sp>
        <p:nvSpPr>
          <p:cNvPr id="12" name="TextBox 11"/>
          <p:cNvSpPr txBox="1"/>
          <p:nvPr/>
        </p:nvSpPr>
        <p:spPr>
          <a:xfrm>
            <a:off x="762000" y="5461000"/>
            <a:ext cx="3683000" cy="2540000"/>
          </a:xfrm>
          <a:prstGeom prst="rect">
            <a:avLst/>
          </a:prstGeom>
          <a:noFill/>
        </p:spPr>
        <p:txBody>
          <a:bodyPr wrap="square" lIns="0" tIns="0" rIns="0" bIns="0">
            <a:noAutofit/>
          </a:bodyPr>
          <a:lstStyle/>
          <a:p>
            <a:r>
              <a:rPr sz="6400">
                <a:solidFill>
                  <a:srgbClr val="1D00DF"/>
                </a:solidFill>
                <a:latin typeface="Helvetica Neue Light"/>
              </a:rPr>
              <a:t>5.4%</a:t>
            </a:r>
          </a:p>
          <a:p>
            <a:pPr>
              <a:spcBef>
                <a:spcPts val="400"/>
              </a:spcBef>
            </a:pPr>
            <a:r>
              <a:rPr sz="1700">
                <a:solidFill>
                  <a:srgbClr val="1F1F1F"/>
                </a:solidFill>
                <a:latin typeface="Helvetica Neue Light"/>
              </a:rPr>
              <a:t>Drop-off rate on Outside Business Activities form submissions</a:t>
            </a:r>
          </a:p>
        </p:txBody>
      </p:sp>
      <p:sp>
        <p:nvSpPr>
          <p:cNvPr id="13" name="TextBox 12"/>
          <p:cNvSpPr txBox="1"/>
          <p:nvPr/>
        </p:nvSpPr>
        <p:spPr>
          <a:xfrm>
            <a:off x="4826000" y="5461000"/>
            <a:ext cx="3683000" cy="2540000"/>
          </a:xfrm>
          <a:prstGeom prst="rect">
            <a:avLst/>
          </a:prstGeom>
          <a:noFill/>
        </p:spPr>
        <p:txBody>
          <a:bodyPr wrap="square" lIns="0" tIns="0" rIns="0" bIns="0">
            <a:noAutofit/>
          </a:bodyPr>
          <a:lstStyle/>
          <a:p>
            <a:r>
              <a:rPr sz="6400">
                <a:solidFill>
                  <a:srgbClr val="6B267A"/>
                </a:solidFill>
                <a:latin typeface="Helvetica Neue Light"/>
              </a:rPr>
              <a:t>6.1%</a:t>
            </a:r>
          </a:p>
          <a:p>
            <a:pPr>
              <a:spcBef>
                <a:spcPts val="400"/>
              </a:spcBef>
            </a:pPr>
            <a:r>
              <a:rPr sz="1700">
                <a:solidFill>
                  <a:srgbClr val="1F1F1F"/>
                </a:solidFill>
                <a:latin typeface="Helvetica Neue Light"/>
              </a:rPr>
              <a:t>Drop-off rate on Private Investments form submissions</a:t>
            </a:r>
          </a:p>
        </p:txBody>
      </p:sp>
      <p:sp>
        <p:nvSpPr>
          <p:cNvPr id="14" name="TextBox 13"/>
          <p:cNvSpPr txBox="1"/>
          <p:nvPr/>
        </p:nvSpPr>
        <p:spPr>
          <a:xfrm>
            <a:off x="8890000" y="5461000"/>
            <a:ext cx="3683000" cy="2540000"/>
          </a:xfrm>
          <a:prstGeom prst="rect">
            <a:avLst/>
          </a:prstGeom>
          <a:noFill/>
        </p:spPr>
        <p:txBody>
          <a:bodyPr wrap="square" lIns="0" tIns="0" rIns="0" bIns="0">
            <a:noAutofit/>
          </a:bodyPr>
          <a:lstStyle/>
          <a:p>
            <a:r>
              <a:rPr sz="6400">
                <a:solidFill>
                  <a:srgbClr val="00DF57"/>
                </a:solidFill>
                <a:latin typeface="Helvetica Neue Light"/>
              </a:rPr>
              <a:t>61%</a:t>
            </a:r>
          </a:p>
          <a:p>
            <a:pPr>
              <a:spcBef>
                <a:spcPts val="400"/>
              </a:spcBef>
            </a:pPr>
            <a:r>
              <a:rPr sz="1700">
                <a:solidFill>
                  <a:srgbClr val="1F1F1F"/>
                </a:solidFill>
                <a:latin typeface="Helvetica Neue Light"/>
              </a:rPr>
              <a:t>Approval rating from employees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1066800" y="863850"/>
            <a:ext cx="2748682" cy="711555"/>
          </a:xfrm>
          <a:prstGeom prst="rect">
            <a:avLst/>
          </a:prstGeom>
          <a:noFill/>
        </p:spPr>
        <p:txBody>
          <a:bodyPr wrap="none" lIns="0" tIns="0" rIns="0" bIns="0">
            <a:noAutofit/>
          </a:bodyPr>
          <a:lstStyle/>
          <a:p>
            <a:pPr algn="l"/>
            <a:r>
              <a:rPr sz="4600" dirty="0">
                <a:solidFill>
                  <a:srgbClr val="FFFFFF"/>
                </a:solidFill>
                <a:latin typeface="Helvetica Neue Light"/>
              </a:rPr>
              <a:t>Discovery</a:t>
            </a:r>
          </a:p>
        </p:txBody>
      </p:sp>
      <p:sp>
        <p:nvSpPr>
          <p:cNvPr id="4" name="TextBox 3"/>
          <p:cNvSpPr txBox="1"/>
          <p:nvPr/>
        </p:nvSpPr>
        <p:spPr>
          <a:xfrm>
            <a:off x="1066800" y="3604205"/>
            <a:ext cx="6171318" cy="3021786"/>
          </a:xfrm>
          <a:prstGeom prst="rect">
            <a:avLst/>
          </a:prstGeom>
          <a:noFill/>
        </p:spPr>
        <p:txBody>
          <a:bodyPr wrap="none" lIns="0" tIns="0" rIns="0" bIns="0">
            <a:noAutofit/>
          </a:bodyPr>
          <a:lstStyle/>
          <a:p>
            <a:pPr algn="l">
              <a:lnSpc>
                <a:spcPts val="3500"/>
              </a:lnSpc>
            </a:pPr>
            <a:r>
              <a:rPr sz="2400" dirty="0">
                <a:solidFill>
                  <a:srgbClr val="FFFFFF"/>
                </a:solidFill>
                <a:latin typeface="Helvetica Neue Thin"/>
              </a:rPr>
              <a:t>•  Interviews </a:t>
            </a:r>
          </a:p>
          <a:p>
            <a:pPr marL="457200" algn="l">
              <a:lnSpc>
                <a:spcPts val="3500"/>
              </a:lnSpc>
            </a:pPr>
            <a:r>
              <a:rPr sz="2400" dirty="0">
                <a:solidFill>
                  <a:srgbClr val="FFFFFF"/>
                </a:solidFill>
                <a:latin typeface="Helvetica Neue Thin"/>
              </a:rPr>
              <a:t>• Reviewers</a:t>
            </a:r>
          </a:p>
          <a:p>
            <a:pPr marL="457200" algn="l">
              <a:lnSpc>
                <a:spcPts val="3500"/>
              </a:lnSpc>
            </a:pPr>
            <a:r>
              <a:rPr sz="2400" dirty="0">
                <a:solidFill>
                  <a:srgbClr val="FFFFFF"/>
                </a:solidFill>
                <a:latin typeface="Helvetica Neue Thin"/>
              </a:rPr>
              <a:t>• Manager Risk &amp; Compliance Managers</a:t>
            </a:r>
          </a:p>
          <a:p>
            <a:pPr marL="457200" algn="l">
              <a:lnSpc>
                <a:spcPts val="3500"/>
              </a:lnSpc>
            </a:pPr>
            <a:r>
              <a:rPr sz="2400" dirty="0">
                <a:solidFill>
                  <a:srgbClr val="FFFFFF"/>
                </a:solidFill>
                <a:latin typeface="Helvetica Neue Thin"/>
              </a:rPr>
              <a:t>• Risk and Compliance Managers</a:t>
            </a:r>
          </a:p>
          <a:p>
            <a:pPr algn="l">
              <a:lnSpc>
                <a:spcPts val="3500"/>
              </a:lnSpc>
            </a:pPr>
            <a:r>
              <a:rPr sz="2400" dirty="0">
                <a:solidFill>
                  <a:srgbClr val="FFFFFF"/>
                </a:solidFill>
                <a:latin typeface="Helvetica Neue Thin"/>
              </a:rPr>
              <a:t>• Contextual interviews </a:t>
            </a:r>
          </a:p>
          <a:p>
            <a:pPr algn="l">
              <a:lnSpc>
                <a:spcPts val="3500"/>
              </a:lnSpc>
            </a:pPr>
            <a:r>
              <a:rPr sz="2400" dirty="0">
                <a:solidFill>
                  <a:srgbClr val="FFFFFF"/>
                </a:solidFill>
                <a:latin typeface="Helvetica Neue Thin"/>
              </a:rPr>
              <a:t>• Persona development</a:t>
            </a:r>
          </a:p>
          <a:p>
            <a:pPr algn="l">
              <a:lnSpc>
                <a:spcPts val="3500"/>
              </a:lnSpc>
            </a:pPr>
            <a:r>
              <a:rPr sz="2400" dirty="0">
                <a:solidFill>
                  <a:srgbClr val="FFFFFF"/>
                </a:solidFill>
                <a:latin typeface="Helvetica Neue Thin"/>
              </a:rPr>
              <a:t>• Research Synthesis</a:t>
            </a:r>
          </a:p>
        </p:txBody>
      </p:sp>
      <p:sp>
        <p:nvSpPr>
          <p:cNvPr id="5" name="TextBox 4"/>
          <p:cNvSpPr txBox="1"/>
          <p:nvPr/>
        </p:nvSpPr>
        <p:spPr>
          <a:xfrm>
            <a:off x="1066800" y="7160204"/>
            <a:ext cx="3932175" cy="354787"/>
          </a:xfrm>
          <a:prstGeom prst="rect">
            <a:avLst/>
          </a:prstGeom>
          <a:noFill/>
        </p:spPr>
        <p:txBody>
          <a:bodyPr wrap="none" lIns="0" tIns="0" rIns="0" bIns="0">
            <a:noAutofit/>
          </a:bodyPr>
          <a:lstStyle/>
          <a:p>
            <a:pPr algn="l"/>
            <a:r>
              <a:rPr sz="2400" dirty="0">
                <a:solidFill>
                  <a:srgbClr val="FFFFFF"/>
                </a:solidFill>
                <a:latin typeface="Helvetica Neue Thin"/>
              </a:rPr>
              <a:t>• Design Thinking Exercises</a:t>
            </a:r>
          </a:p>
        </p:txBody>
      </p:sp>
      <p:sp>
        <p:nvSpPr>
          <p:cNvPr id="6" name="TextBox 5"/>
          <p:cNvSpPr txBox="1"/>
          <p:nvPr/>
        </p:nvSpPr>
        <p:spPr>
          <a:xfrm>
            <a:off x="7671394" y="3704080"/>
            <a:ext cx="2057259" cy="278434"/>
          </a:xfrm>
          <a:prstGeom prst="rect">
            <a:avLst/>
          </a:prstGeom>
          <a:noFill/>
        </p:spPr>
        <p:txBody>
          <a:bodyPr wrap="none" lIns="0" tIns="0" rIns="0" bIns="0">
            <a:noAutofit/>
          </a:bodyPr>
          <a:lstStyle/>
          <a:p>
            <a:pPr algn="l"/>
            <a:r>
              <a:rPr sz="1800" dirty="0">
                <a:solidFill>
                  <a:srgbClr val="FFFFFF"/>
                </a:solidFill>
                <a:latin typeface="Helvetica Neue Light"/>
              </a:rPr>
              <a:t>Problem statement</a:t>
            </a:r>
          </a:p>
        </p:txBody>
      </p:sp>
      <p:sp>
        <p:nvSpPr>
          <p:cNvPr id="7" name="TextBox 6"/>
          <p:cNvSpPr txBox="1"/>
          <p:nvPr/>
        </p:nvSpPr>
        <p:spPr>
          <a:xfrm>
            <a:off x="7671394" y="4139081"/>
            <a:ext cx="5018680" cy="266090"/>
          </a:xfrm>
          <a:prstGeom prst="rect">
            <a:avLst/>
          </a:prstGeom>
          <a:noFill/>
        </p:spPr>
        <p:txBody>
          <a:bodyPr wrap="none" lIns="0" tIns="0" rIns="0" bIns="0">
            <a:noAutofit/>
          </a:bodyPr>
          <a:lstStyle/>
          <a:p>
            <a:pPr algn="l"/>
            <a:r>
              <a:rPr sz="1800" dirty="0">
                <a:solidFill>
                  <a:srgbClr val="FFFFFF"/>
                </a:solidFill>
                <a:latin typeface="Helvetica Neue Thin"/>
              </a:rPr>
              <a:t>As part of the iComply ecosystem of Employee </a:t>
            </a:r>
          </a:p>
        </p:txBody>
      </p:sp>
      <p:sp>
        <p:nvSpPr>
          <p:cNvPr id="8" name="TextBox 7"/>
          <p:cNvSpPr txBox="1"/>
          <p:nvPr/>
        </p:nvSpPr>
        <p:spPr>
          <a:xfrm>
            <a:off x="7671394" y="4464201"/>
            <a:ext cx="4497070" cy="2531769"/>
          </a:xfrm>
          <a:prstGeom prst="rect">
            <a:avLst/>
          </a:prstGeom>
          <a:noFill/>
        </p:spPr>
        <p:txBody>
          <a:bodyPr wrap="square" lIns="0" tIns="0" rIns="0" bIns="0">
            <a:noAutofit/>
          </a:bodyPr>
          <a:lstStyle/>
          <a:p>
            <a:pPr algn="l">
              <a:lnSpc>
                <a:spcPts val="3400"/>
              </a:lnSpc>
            </a:pPr>
            <a:r>
              <a:rPr sz="1800" dirty="0">
                <a:solidFill>
                  <a:srgbClr val="FFFFFF"/>
                </a:solidFill>
                <a:latin typeface="Helvetica Neue Thin"/>
              </a:rPr>
              <a:t>Compliance, users need an interactive, web-based pre-clearance application for outside activities where requests flow through an integrated and pre-defined workflow for review by first line Reviewers and second line Risk &amp; Compliance Managers. </a:t>
            </a:r>
          </a:p>
        </p:txBody>
      </p:sp>
      <p:sp>
        <p:nvSpPr>
          <p:cNvPr id="14" name="TextBox 13"/>
          <p:cNvSpPr txBox="1"/>
          <p:nvPr/>
        </p:nvSpPr>
        <p:spPr>
          <a:xfrm>
            <a:off x="5130800" y="608479"/>
            <a:ext cx="7344949" cy="1294790"/>
          </a:xfrm>
          <a:prstGeom prst="rect">
            <a:avLst/>
          </a:prstGeom>
          <a:noFill/>
        </p:spPr>
        <p:txBody>
          <a:bodyPr wrap="square" lIns="0" tIns="0" rIns="0" bIns="0">
            <a:noAutofit/>
          </a:bodyPr>
          <a:lstStyle/>
          <a:p>
            <a:pPr algn="l">
              <a:lnSpc>
                <a:spcPts val="2700"/>
              </a:lnSpc>
            </a:pPr>
            <a:r>
              <a:rPr sz="1800" dirty="0">
                <a:solidFill>
                  <a:srgbClr val="FFFFFF"/>
                </a:solidFill>
                <a:latin typeface="Helvetica Neue Thin"/>
              </a:rPr>
              <a:t>Because of the KPIs assembled, the assumptions of the business partners, and feedback from users based on help requests we determined we needed to use methods to identify user needs, validate existing assumptions, and generate new ideas.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5395389" y="3885583"/>
            <a:ext cx="7609410" cy="5868016"/>
          </a:xfrm>
          <a:prstGeom prst="rect">
            <a:avLst/>
          </a:prstGeom>
        </p:spPr>
      </p:pic>
      <p:pic>
        <p:nvPicPr>
          <p:cNvPr id="4" name="Picture 2" descr="image.png"/>
          <p:cNvPicPr>
            <a:picLocks noChangeAspect="1"/>
          </p:cNvPicPr>
          <p:nvPr/>
        </p:nvPicPr>
        <p:blipFill>
          <a:blip r:embed="rId4"/>
          <a:stretch>
            <a:fillRect/>
          </a:stretch>
        </p:blipFill>
        <p:spPr>
          <a:xfrm>
            <a:off x="240016" y="5675352"/>
            <a:ext cx="4265680" cy="4078247"/>
          </a:xfrm>
          <a:prstGeom prst="rect">
            <a:avLst/>
          </a:prstGeom>
        </p:spPr>
      </p:pic>
      <p:sp>
        <p:nvSpPr>
          <p:cNvPr id="5" name="TextBox 4"/>
          <p:cNvSpPr txBox="1"/>
          <p:nvPr/>
        </p:nvSpPr>
        <p:spPr>
          <a:xfrm>
            <a:off x="6908800" y="2599435"/>
            <a:ext cx="5216680" cy="905255"/>
          </a:xfrm>
          <a:prstGeom prst="rect">
            <a:avLst/>
          </a:prstGeom>
          <a:noFill/>
        </p:spPr>
        <p:txBody>
          <a:bodyPr wrap="square" lIns="0" tIns="0" rIns="0" bIns="0">
            <a:noAutofit/>
          </a:bodyPr>
          <a:lstStyle/>
          <a:p>
            <a:pPr algn="l">
              <a:lnSpc>
                <a:spcPts val="2399"/>
              </a:lnSpc>
            </a:pPr>
            <a:r>
              <a:rPr sz="2000" dirty="0">
                <a:solidFill>
                  <a:srgbClr val="000000"/>
                </a:solidFill>
                <a:latin typeface="Helvetica Neue Thin"/>
              </a:rPr>
              <a:t>Pain points we heard from the interviews with  Reviewers, Manager Risk &amp; Compliance  </a:t>
            </a:r>
          </a:p>
          <a:p>
            <a:pPr algn="l">
              <a:lnSpc>
                <a:spcPts val="2399"/>
              </a:lnSpc>
            </a:pPr>
            <a:r>
              <a:rPr sz="2000" dirty="0">
                <a:solidFill>
                  <a:srgbClr val="000000"/>
                </a:solidFill>
                <a:latin typeface="Helvetica Neue Thin"/>
              </a:rPr>
              <a:t>Managers, and Risk and Compliance Managers </a:t>
            </a:r>
          </a:p>
        </p:txBody>
      </p:sp>
      <p:sp>
        <p:nvSpPr>
          <p:cNvPr id="6" name="TextBox 5"/>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Credit Suisse OBI</a:t>
            </a:r>
          </a:p>
        </p:txBody>
      </p:sp>
      <p:sp>
        <p:nvSpPr>
          <p:cNvPr id="7" name="TextBox 6"/>
          <p:cNvSpPr txBox="1"/>
          <p:nvPr/>
        </p:nvSpPr>
        <p:spPr>
          <a:xfrm>
            <a:off x="635000" y="979676"/>
            <a:ext cx="4597654" cy="672033"/>
          </a:xfrm>
          <a:prstGeom prst="rect">
            <a:avLst/>
          </a:prstGeom>
          <a:noFill/>
        </p:spPr>
        <p:txBody>
          <a:bodyPr wrap="none" lIns="0" tIns="0" rIns="0" bIns="0">
            <a:noAutofit/>
          </a:bodyPr>
          <a:lstStyle/>
          <a:p>
            <a:pPr algn="l">
              <a:lnSpc>
                <a:spcPts val="2700"/>
              </a:lnSpc>
            </a:pPr>
            <a:r>
              <a:rPr sz="2200" dirty="0">
                <a:solidFill>
                  <a:srgbClr val="000000"/>
                </a:solidFill>
                <a:latin typeface="Helvetica Neue Light"/>
              </a:rPr>
              <a:t>Major Themes from Interviews</a:t>
            </a:r>
          </a:p>
          <a:p>
            <a:pPr algn="l">
              <a:lnSpc>
                <a:spcPts val="2700"/>
              </a:lnSpc>
            </a:pPr>
            <a:r>
              <a:rPr sz="2200" dirty="0">
                <a:solidFill>
                  <a:srgbClr val="000000"/>
                </a:solidFill>
                <a:latin typeface="Helvetica Neue Thin"/>
              </a:rPr>
              <a:t>• Integration with other systems on </a:t>
            </a:r>
          </a:p>
        </p:txBody>
      </p:sp>
      <p:sp>
        <p:nvSpPr>
          <p:cNvPr id="8" name="TextBox 7"/>
          <p:cNvSpPr txBox="1"/>
          <p:nvPr/>
        </p:nvSpPr>
        <p:spPr>
          <a:xfrm>
            <a:off x="635000" y="1669388"/>
            <a:ext cx="4200246" cy="1696822"/>
          </a:xfrm>
          <a:prstGeom prst="rect">
            <a:avLst/>
          </a:prstGeom>
          <a:noFill/>
        </p:spPr>
        <p:txBody>
          <a:bodyPr wrap="none" lIns="0" tIns="0" rIns="0" bIns="0">
            <a:noAutofit/>
          </a:bodyPr>
          <a:lstStyle/>
          <a:p>
            <a:pPr marL="228600" algn="l">
              <a:lnSpc>
                <a:spcPts val="2700"/>
              </a:lnSpc>
            </a:pPr>
            <a:r>
              <a:rPr sz="2200" dirty="0">
                <a:solidFill>
                  <a:srgbClr val="000000"/>
                </a:solidFill>
                <a:latin typeface="Helvetica Neue Thin"/>
              </a:rPr>
              <a:t>platform</a:t>
            </a:r>
          </a:p>
          <a:p>
            <a:pPr algn="l">
              <a:lnSpc>
                <a:spcPts val="2700"/>
              </a:lnSpc>
            </a:pPr>
            <a:r>
              <a:rPr sz="2200" dirty="0">
                <a:solidFill>
                  <a:srgbClr val="000000"/>
                </a:solidFill>
                <a:latin typeface="Helvetica Neue Thin"/>
              </a:rPr>
              <a:t>• Search</a:t>
            </a:r>
          </a:p>
          <a:p>
            <a:pPr algn="l">
              <a:lnSpc>
                <a:spcPts val="2700"/>
              </a:lnSpc>
            </a:pPr>
            <a:r>
              <a:rPr sz="2200" dirty="0">
                <a:solidFill>
                  <a:srgbClr val="000000"/>
                </a:solidFill>
                <a:latin typeface="Helvetica Neue Thin"/>
              </a:rPr>
              <a:t>• Reporting</a:t>
            </a:r>
          </a:p>
          <a:p>
            <a:pPr algn="l">
              <a:lnSpc>
                <a:spcPts val="2700"/>
              </a:lnSpc>
            </a:pPr>
            <a:r>
              <a:rPr sz="2200" dirty="0">
                <a:solidFill>
                  <a:srgbClr val="000000"/>
                </a:solidFill>
                <a:latin typeface="Helvetica Neue Thin"/>
              </a:rPr>
              <a:t>• Shadowing </a:t>
            </a:r>
          </a:p>
          <a:p>
            <a:pPr algn="l">
              <a:lnSpc>
                <a:spcPts val="2700"/>
              </a:lnSpc>
            </a:pPr>
            <a:r>
              <a:rPr sz="2200" dirty="0">
                <a:solidFill>
                  <a:srgbClr val="000000"/>
                </a:solidFill>
                <a:latin typeface="Helvetica Neue Thin"/>
              </a:rPr>
              <a:t>• All users understanding of the </a:t>
            </a:r>
          </a:p>
        </p:txBody>
      </p:sp>
      <p:sp>
        <p:nvSpPr>
          <p:cNvPr id="9" name="TextBox 8"/>
          <p:cNvSpPr txBox="1"/>
          <p:nvPr/>
        </p:nvSpPr>
        <p:spPr>
          <a:xfrm>
            <a:off x="635000" y="3383888"/>
            <a:ext cx="2541817" cy="1696821"/>
          </a:xfrm>
          <a:prstGeom prst="rect">
            <a:avLst/>
          </a:prstGeom>
          <a:noFill/>
        </p:spPr>
        <p:txBody>
          <a:bodyPr wrap="none" lIns="0" tIns="0" rIns="0" bIns="0">
            <a:noAutofit/>
          </a:bodyPr>
          <a:lstStyle/>
          <a:p>
            <a:pPr marL="228600" algn="l">
              <a:lnSpc>
                <a:spcPts val="2700"/>
              </a:lnSpc>
            </a:pPr>
            <a:r>
              <a:rPr sz="2200" dirty="0">
                <a:solidFill>
                  <a:srgbClr val="000000"/>
                </a:solidFill>
                <a:latin typeface="Helvetica Neue Thin"/>
              </a:rPr>
              <a:t>policies</a:t>
            </a:r>
          </a:p>
          <a:p>
            <a:pPr algn="l">
              <a:lnSpc>
                <a:spcPts val="2700"/>
              </a:lnSpc>
            </a:pPr>
            <a:r>
              <a:rPr sz="2200" dirty="0">
                <a:solidFill>
                  <a:srgbClr val="000000"/>
                </a:solidFill>
                <a:latin typeface="Helvetica Neue Thin"/>
              </a:rPr>
              <a:t>• Mobile</a:t>
            </a:r>
          </a:p>
          <a:p>
            <a:pPr algn="l">
              <a:lnSpc>
                <a:spcPts val="2700"/>
              </a:lnSpc>
            </a:pPr>
            <a:r>
              <a:rPr sz="2200" dirty="0">
                <a:solidFill>
                  <a:srgbClr val="000000"/>
                </a:solidFill>
                <a:latin typeface="Helvetica Neue Thin"/>
              </a:rPr>
              <a:t>• Clear navigation</a:t>
            </a:r>
          </a:p>
          <a:p>
            <a:pPr algn="l">
              <a:lnSpc>
                <a:spcPts val="2700"/>
              </a:lnSpc>
            </a:pPr>
            <a:r>
              <a:rPr sz="2200" dirty="0">
                <a:solidFill>
                  <a:srgbClr val="000000"/>
                </a:solidFill>
                <a:latin typeface="Helvetica Neue Thin"/>
              </a:rPr>
              <a:t>• Clear workflow </a:t>
            </a:r>
          </a:p>
          <a:p>
            <a:pPr algn="l">
              <a:lnSpc>
                <a:spcPts val="2700"/>
              </a:lnSpc>
            </a:pPr>
            <a:r>
              <a:rPr sz="2200" dirty="0">
                <a:solidFill>
                  <a:srgbClr val="000000"/>
                </a:solidFill>
                <a:latin typeface="Helvetica Neue Thin"/>
              </a:rPr>
              <a:t>• Status awareness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660400" y="6403846"/>
            <a:ext cx="914157" cy="368503"/>
          </a:xfrm>
          <a:prstGeom prst="rect">
            <a:avLst/>
          </a:prstGeom>
          <a:noFill/>
        </p:spPr>
        <p:txBody>
          <a:bodyPr wrap="square" lIns="0" tIns="0" rIns="0" bIns="0">
            <a:noAutofit/>
          </a:bodyPr>
          <a:lstStyle/>
          <a:p>
            <a:pPr algn="l">
              <a:lnSpc>
                <a:spcPts val="1440"/>
              </a:lnSpc>
            </a:pPr>
            <a:r>
              <a:rPr sz="1200" dirty="0">
                <a:solidFill>
                  <a:srgbClr val="000000"/>
                </a:solidFill>
                <a:latin typeface="Helvetica Neue Light"/>
              </a:rPr>
              <a:t>Reviewer  User Journey</a:t>
            </a:r>
          </a:p>
        </p:txBody>
      </p:sp>
      <p:sp>
        <p:nvSpPr>
          <p:cNvPr id="4" name="TextBox 3"/>
          <p:cNvSpPr txBox="1"/>
          <p:nvPr/>
        </p:nvSpPr>
        <p:spPr>
          <a:xfrm>
            <a:off x="457200" y="322089"/>
            <a:ext cx="2853237" cy="313949"/>
          </a:xfrm>
          <a:prstGeom prst="rect">
            <a:avLst/>
          </a:prstGeom>
          <a:noFill/>
        </p:spPr>
        <p:txBody>
          <a:bodyPr wrap="none" lIns="0" tIns="0" rIns="0" bIns="0">
            <a:noAutofit/>
          </a:bodyPr>
          <a:lstStyle/>
          <a:p>
            <a:pPr algn="l"/>
            <a:r>
              <a:rPr sz="2050" dirty="0">
                <a:solidFill>
                  <a:srgbClr val="000000"/>
                </a:solidFill>
                <a:latin typeface="Helvetica Neue Light"/>
              </a:rPr>
              <a:t>Approver User Journey</a:t>
            </a:r>
          </a:p>
        </p:txBody>
      </p:sp>
      <p:sp>
        <p:nvSpPr>
          <p:cNvPr id="5" name="TextBox 4"/>
          <p:cNvSpPr txBox="1"/>
          <p:nvPr/>
        </p:nvSpPr>
        <p:spPr>
          <a:xfrm>
            <a:off x="6552941" y="6304786"/>
            <a:ext cx="914156" cy="368503"/>
          </a:xfrm>
          <a:prstGeom prst="rect">
            <a:avLst/>
          </a:prstGeom>
          <a:noFill/>
        </p:spPr>
        <p:txBody>
          <a:bodyPr wrap="square" lIns="0" tIns="0" rIns="0" bIns="0">
            <a:noAutofit/>
          </a:bodyPr>
          <a:lstStyle/>
          <a:p>
            <a:pPr algn="l">
              <a:lnSpc>
                <a:spcPts val="1439"/>
              </a:lnSpc>
            </a:pPr>
            <a:r>
              <a:rPr sz="1200" dirty="0">
                <a:solidFill>
                  <a:srgbClr val="000000"/>
                </a:solidFill>
                <a:latin typeface="Helvetica Neue Light"/>
              </a:rPr>
              <a:t>Employee  User Journey</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1189704" y="2561681"/>
            <a:ext cx="652018" cy="675989"/>
          </a:xfrm>
          <a:prstGeom prst="rect">
            <a:avLst/>
          </a:prstGeom>
        </p:spPr>
      </p:pic>
      <p:pic>
        <p:nvPicPr>
          <p:cNvPr id="4" name="Picture 2" descr="image.png"/>
          <p:cNvPicPr>
            <a:picLocks noChangeAspect="1"/>
          </p:cNvPicPr>
          <p:nvPr/>
        </p:nvPicPr>
        <p:blipFill>
          <a:blip r:embed="rId4"/>
          <a:stretch>
            <a:fillRect/>
          </a:stretch>
        </p:blipFill>
        <p:spPr>
          <a:xfrm>
            <a:off x="5773399" y="6261917"/>
            <a:ext cx="641013" cy="659593"/>
          </a:xfrm>
          <a:prstGeom prst="rect">
            <a:avLst/>
          </a:prstGeom>
        </p:spPr>
      </p:pic>
      <p:sp>
        <p:nvSpPr>
          <p:cNvPr id="5" name="TextBox 4"/>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Credit Suisse OBI</a:t>
            </a:r>
          </a:p>
        </p:txBody>
      </p:sp>
      <p:sp>
        <p:nvSpPr>
          <p:cNvPr id="6" name="TextBox 5"/>
          <p:cNvSpPr txBox="1"/>
          <p:nvPr/>
        </p:nvSpPr>
        <p:spPr>
          <a:xfrm>
            <a:off x="2946400" y="1841500"/>
            <a:ext cx="3556000" cy="304800"/>
          </a:xfrm>
          <a:prstGeom prst="rect">
            <a:avLst/>
          </a:prstGeom>
          <a:noFill/>
        </p:spPr>
        <p:txBody>
          <a:bodyPr wrap="none" lIns="0" tIns="0" rIns="0" bIns="0">
            <a:noAutofit/>
          </a:bodyPr>
          <a:lstStyle/>
          <a:p>
            <a:pPr algn="l">
              <a:lnSpc>
                <a:spcPts val="1800"/>
              </a:lnSpc>
            </a:pPr>
            <a:r>
              <a:rPr sz="1800" dirty="0">
                <a:solidFill>
                  <a:srgbClr val="000000"/>
                </a:solidFill>
                <a:latin typeface="Helvetica Neue Light"/>
              </a:rPr>
              <a:t>Risk and Compliance Managers</a:t>
            </a:r>
          </a:p>
        </p:txBody>
      </p:sp>
      <p:sp>
        <p:nvSpPr>
          <p:cNvPr id="7" name="TextBox 6"/>
          <p:cNvSpPr txBox="1"/>
          <p:nvPr/>
        </p:nvSpPr>
        <p:spPr>
          <a:xfrm>
            <a:off x="7620000" y="5549900"/>
            <a:ext cx="3556000" cy="304800"/>
          </a:xfrm>
          <a:prstGeom prst="rect">
            <a:avLst/>
          </a:prstGeom>
          <a:noFill/>
        </p:spPr>
        <p:txBody>
          <a:bodyPr wrap="none" lIns="0" tIns="0" rIns="0" bIns="0">
            <a:noAutofit/>
          </a:bodyPr>
          <a:lstStyle/>
          <a:p>
            <a:pPr algn="l">
              <a:lnSpc>
                <a:spcPts val="1800"/>
              </a:lnSpc>
            </a:pPr>
            <a:r>
              <a:rPr sz="1800" dirty="0">
                <a:solidFill>
                  <a:srgbClr val="000000"/>
                </a:solidFill>
                <a:latin typeface="Helvetica Neue Light"/>
              </a:rPr>
              <a:t>Reviewers of CS Employees</a:t>
            </a:r>
          </a:p>
        </p:txBody>
      </p:sp>
      <p:sp>
        <p:nvSpPr>
          <p:cNvPr id="8" name="TextBox 7"/>
          <p:cNvSpPr txBox="1"/>
          <p:nvPr/>
        </p:nvSpPr>
        <p:spPr>
          <a:xfrm>
            <a:off x="457200" y="939800"/>
            <a:ext cx="1686560" cy="476250"/>
          </a:xfrm>
          <a:prstGeom prst="rect">
            <a:avLst/>
          </a:prstGeom>
          <a:noFill/>
        </p:spPr>
        <p:txBody>
          <a:bodyPr wrap="none" lIns="0" tIns="0" rIns="0" bIns="0">
            <a:noAutofit/>
          </a:bodyPr>
          <a:lstStyle/>
          <a:p>
            <a:pPr algn="l"/>
            <a:r>
              <a:rPr sz="3000" dirty="0">
                <a:solidFill>
                  <a:srgbClr val="1F1F1F"/>
                </a:solidFill>
                <a:latin typeface="Helvetica Neue Light"/>
              </a:rPr>
              <a:t>Personas</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939800"/>
            <a:ext cx="4909820" cy="476250"/>
          </a:xfrm>
          <a:prstGeom prst="rect">
            <a:avLst/>
          </a:prstGeom>
          <a:noFill/>
        </p:spPr>
        <p:txBody>
          <a:bodyPr wrap="none" lIns="0" tIns="0" rIns="0" bIns="0">
            <a:noAutofit/>
          </a:bodyPr>
          <a:lstStyle/>
          <a:p>
            <a:pPr algn="l"/>
            <a:r>
              <a:rPr sz="3000" dirty="0">
                <a:solidFill>
                  <a:srgbClr val="1F1F1F"/>
                </a:solidFill>
                <a:latin typeface="Helvetica Neue Light"/>
              </a:rPr>
              <a:t>Design Thinking Exercises </a:t>
            </a:r>
          </a:p>
        </p:txBody>
      </p:sp>
      <p:sp>
        <p:nvSpPr>
          <p:cNvPr id="4" name="TextBox 3"/>
          <p:cNvSpPr txBox="1"/>
          <p:nvPr/>
        </p:nvSpPr>
        <p:spPr>
          <a:xfrm>
            <a:off x="457200" y="1517547"/>
            <a:ext cx="5859510" cy="266090"/>
          </a:xfrm>
          <a:prstGeom prst="rect">
            <a:avLst/>
          </a:prstGeom>
          <a:noFill/>
        </p:spPr>
        <p:txBody>
          <a:bodyPr wrap="none" lIns="0" tIns="0" rIns="0" bIns="0">
            <a:noAutofit/>
          </a:bodyPr>
          <a:lstStyle/>
          <a:p>
            <a:pPr algn="l"/>
            <a:r>
              <a:rPr sz="1800" dirty="0">
                <a:solidFill>
                  <a:srgbClr val="000000"/>
                </a:solidFill>
                <a:latin typeface="Helvetica Neue Thin"/>
              </a:rPr>
              <a:t>Generated concepts for interfaces with 30 participants  </a:t>
            </a:r>
          </a:p>
        </p:txBody>
      </p:sp>
      <p:sp>
        <p:nvSpPr>
          <p:cNvPr id="5" name="TextBox 4"/>
          <p:cNvSpPr txBox="1"/>
          <p:nvPr/>
        </p:nvSpPr>
        <p:spPr>
          <a:xfrm>
            <a:off x="457200" y="2002535"/>
            <a:ext cx="11383235" cy="295655"/>
          </a:xfrm>
          <a:prstGeom prst="rect">
            <a:avLst/>
          </a:prstGeom>
          <a:noFill/>
        </p:spPr>
        <p:txBody>
          <a:bodyPr wrap="none" lIns="0" tIns="0" rIns="0" bIns="0">
            <a:noAutofit/>
          </a:bodyPr>
          <a:lstStyle/>
          <a:p>
            <a:pPr algn="l"/>
            <a:r>
              <a:rPr sz="2000" dirty="0">
                <a:solidFill>
                  <a:srgbClr val="000000"/>
                </a:solidFill>
                <a:latin typeface="Helvetica Neue Thin"/>
              </a:rPr>
              <a:t>5 concepts for dashboard, reporting features and submission processes for all types of end-users</a:t>
            </a:r>
          </a:p>
        </p:txBody>
      </p:sp>
      <p:sp>
        <p:nvSpPr>
          <p:cNvPr id="6" name="TextBox 5"/>
          <p:cNvSpPr txBox="1"/>
          <p:nvPr/>
        </p:nvSpPr>
        <p:spPr>
          <a:xfrm>
            <a:off x="7340600" y="6196582"/>
            <a:ext cx="817360" cy="247497"/>
          </a:xfrm>
          <a:prstGeom prst="rect">
            <a:avLst/>
          </a:prstGeom>
          <a:noFill/>
        </p:spPr>
        <p:txBody>
          <a:bodyPr wrap="none" lIns="0" tIns="0" rIns="0" bIns="0">
            <a:noAutofit/>
          </a:bodyPr>
          <a:lstStyle/>
          <a:p>
            <a:pPr algn="l"/>
            <a:r>
              <a:rPr sz="1600" dirty="0">
                <a:solidFill>
                  <a:srgbClr val="000000"/>
                </a:solidFill>
                <a:latin typeface="Helvetica Neue Light"/>
              </a:rPr>
              <a:t>Format: </a:t>
            </a:r>
          </a:p>
        </p:txBody>
      </p:sp>
      <p:sp>
        <p:nvSpPr>
          <p:cNvPr id="7" name="TextBox 6"/>
          <p:cNvSpPr txBox="1"/>
          <p:nvPr/>
        </p:nvSpPr>
        <p:spPr>
          <a:xfrm>
            <a:off x="7340600" y="6514083"/>
            <a:ext cx="1263054" cy="247497"/>
          </a:xfrm>
          <a:prstGeom prst="rect">
            <a:avLst/>
          </a:prstGeom>
          <a:noFill/>
        </p:spPr>
        <p:txBody>
          <a:bodyPr wrap="none" lIns="0" tIns="0" rIns="0" bIns="0">
            <a:noAutofit/>
          </a:bodyPr>
          <a:lstStyle/>
          <a:p>
            <a:pPr algn="l"/>
            <a:r>
              <a:rPr sz="1600" dirty="0">
                <a:solidFill>
                  <a:srgbClr val="000000"/>
                </a:solidFill>
                <a:latin typeface="Helvetica Neue Light"/>
              </a:rPr>
              <a:t>• Ice breaker</a:t>
            </a:r>
          </a:p>
        </p:txBody>
      </p:sp>
      <p:sp>
        <p:nvSpPr>
          <p:cNvPr id="8" name="TextBox 7"/>
          <p:cNvSpPr txBox="1"/>
          <p:nvPr/>
        </p:nvSpPr>
        <p:spPr>
          <a:xfrm>
            <a:off x="7340600" y="6831583"/>
            <a:ext cx="3116338" cy="247497"/>
          </a:xfrm>
          <a:prstGeom prst="rect">
            <a:avLst/>
          </a:prstGeom>
          <a:noFill/>
        </p:spPr>
        <p:txBody>
          <a:bodyPr wrap="none" lIns="0" tIns="0" rIns="0" bIns="0">
            <a:noAutofit/>
          </a:bodyPr>
          <a:lstStyle/>
          <a:p>
            <a:pPr algn="l"/>
            <a:r>
              <a:rPr sz="1600" dirty="0">
                <a:solidFill>
                  <a:srgbClr val="000000"/>
                </a:solidFill>
                <a:latin typeface="Helvetica Neue Light"/>
              </a:rPr>
              <a:t>• What would the headlines say?</a:t>
            </a:r>
          </a:p>
        </p:txBody>
      </p:sp>
      <p:sp>
        <p:nvSpPr>
          <p:cNvPr id="9" name="TextBox 8"/>
          <p:cNvSpPr txBox="1"/>
          <p:nvPr/>
        </p:nvSpPr>
        <p:spPr>
          <a:xfrm>
            <a:off x="7340600" y="7149083"/>
            <a:ext cx="1364661" cy="247497"/>
          </a:xfrm>
          <a:prstGeom prst="rect">
            <a:avLst/>
          </a:prstGeom>
          <a:noFill/>
        </p:spPr>
        <p:txBody>
          <a:bodyPr wrap="none" lIns="0" tIns="0" rIns="0" bIns="0">
            <a:noAutofit/>
          </a:bodyPr>
          <a:lstStyle/>
          <a:p>
            <a:pPr algn="l"/>
            <a:r>
              <a:rPr sz="1600" dirty="0">
                <a:solidFill>
                  <a:srgbClr val="000000"/>
                </a:solidFill>
                <a:latin typeface="Helvetica Neue Light"/>
              </a:rPr>
              <a:t>• How do we?</a:t>
            </a:r>
          </a:p>
        </p:txBody>
      </p:sp>
      <p:sp>
        <p:nvSpPr>
          <p:cNvPr id="10" name="TextBox 9"/>
          <p:cNvSpPr txBox="1"/>
          <p:nvPr/>
        </p:nvSpPr>
        <p:spPr>
          <a:xfrm>
            <a:off x="7340600" y="7466583"/>
            <a:ext cx="2493566" cy="247497"/>
          </a:xfrm>
          <a:prstGeom prst="rect">
            <a:avLst/>
          </a:prstGeom>
          <a:noFill/>
        </p:spPr>
        <p:txBody>
          <a:bodyPr wrap="none" lIns="0" tIns="0" rIns="0" bIns="0">
            <a:noAutofit/>
          </a:bodyPr>
          <a:lstStyle/>
          <a:p>
            <a:pPr algn="l"/>
            <a:r>
              <a:rPr sz="1600" dirty="0">
                <a:solidFill>
                  <a:srgbClr val="000000"/>
                </a:solidFill>
                <a:latin typeface="Helvetica Neue Light"/>
              </a:rPr>
              <a:t>• Concepts and interfaces</a:t>
            </a:r>
          </a:p>
        </p:txBody>
      </p:sp>
      <p:sp>
        <p:nvSpPr>
          <p:cNvPr id="11" name="TextBox 10"/>
          <p:cNvSpPr txBox="1"/>
          <p:nvPr/>
        </p:nvSpPr>
        <p:spPr>
          <a:xfrm>
            <a:off x="7340600" y="7784083"/>
            <a:ext cx="791244" cy="247497"/>
          </a:xfrm>
          <a:prstGeom prst="rect">
            <a:avLst/>
          </a:prstGeom>
          <a:noFill/>
        </p:spPr>
        <p:txBody>
          <a:bodyPr wrap="none" lIns="0" tIns="0" rIns="0" bIns="0">
            <a:noAutofit/>
          </a:bodyPr>
          <a:lstStyle/>
          <a:p>
            <a:pPr algn="l"/>
            <a:r>
              <a:rPr sz="1600" dirty="0">
                <a:solidFill>
                  <a:srgbClr val="000000"/>
                </a:solidFill>
                <a:latin typeface="Helvetica Neue Light"/>
              </a:rPr>
              <a:t>• Voting</a:t>
            </a:r>
          </a:p>
        </p:txBody>
      </p:sp>
      <p:sp>
        <p:nvSpPr>
          <p:cNvPr id="12" name="TextBox 11"/>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Credit Suisse OBI</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939800"/>
            <a:ext cx="10281919" cy="476250"/>
          </a:xfrm>
          <a:prstGeom prst="rect">
            <a:avLst/>
          </a:prstGeom>
          <a:noFill/>
        </p:spPr>
        <p:txBody>
          <a:bodyPr wrap="none" lIns="0" tIns="0" rIns="0" bIns="0">
            <a:noAutofit/>
          </a:bodyPr>
          <a:lstStyle/>
          <a:p>
            <a:pPr algn="l"/>
            <a:r>
              <a:rPr sz="3000" dirty="0">
                <a:solidFill>
                  <a:srgbClr val="1F1F1F"/>
                </a:solidFill>
                <a:latin typeface="Helvetica Neue Light"/>
              </a:rPr>
              <a:t>Pain Points + Business Goals + UX Strategy = Feature Set</a:t>
            </a:r>
          </a:p>
        </p:txBody>
      </p:sp>
      <p:sp>
        <p:nvSpPr>
          <p:cNvPr id="4" name="TextBox 3"/>
          <p:cNvSpPr txBox="1"/>
          <p:nvPr/>
        </p:nvSpPr>
        <p:spPr>
          <a:xfrm>
            <a:off x="651454" y="2464380"/>
            <a:ext cx="1285451" cy="296068"/>
          </a:xfrm>
          <a:prstGeom prst="rect">
            <a:avLst/>
          </a:prstGeom>
          <a:noFill/>
        </p:spPr>
        <p:txBody>
          <a:bodyPr wrap="none" lIns="0" tIns="0" rIns="0" bIns="0">
            <a:noAutofit/>
          </a:bodyPr>
          <a:lstStyle/>
          <a:p>
            <a:pPr algn="l"/>
            <a:r>
              <a:rPr sz="1900" dirty="0">
                <a:solidFill>
                  <a:srgbClr val="FFFFFF"/>
                </a:solidFill>
                <a:latin typeface="Helvetica Neue Light"/>
              </a:rPr>
              <a:t>Pain Points</a:t>
            </a:r>
          </a:p>
        </p:txBody>
      </p:sp>
      <p:sp>
        <p:nvSpPr>
          <p:cNvPr id="5" name="TextBox 4"/>
          <p:cNvSpPr txBox="1"/>
          <p:nvPr/>
        </p:nvSpPr>
        <p:spPr>
          <a:xfrm>
            <a:off x="642849" y="2868339"/>
            <a:ext cx="2129690" cy="590499"/>
          </a:xfrm>
          <a:prstGeom prst="rect">
            <a:avLst/>
          </a:prstGeom>
          <a:noFill/>
        </p:spPr>
        <p:txBody>
          <a:bodyPr wrap="square" lIns="0" tIns="0" rIns="0" bIns="0">
            <a:noAutofit/>
          </a:bodyPr>
          <a:lstStyle/>
          <a:p>
            <a:pPr marL="228600" indent="-228600" algn="l">
              <a:lnSpc>
                <a:spcPts val="2500"/>
              </a:lnSpc>
            </a:pPr>
            <a:r>
              <a:rPr sz="1400" dirty="0">
                <a:solidFill>
                  <a:srgbClr val="FFFFFF"/>
                </a:solidFill>
                <a:latin typeface="Helvetica Neue Thin"/>
              </a:rPr>
              <a:t>•	Integration with other systems on platform</a:t>
            </a:r>
          </a:p>
        </p:txBody>
      </p:sp>
      <p:sp>
        <p:nvSpPr>
          <p:cNvPr id="7" name="TextBox 6"/>
          <p:cNvSpPr txBox="1"/>
          <p:nvPr/>
        </p:nvSpPr>
        <p:spPr>
          <a:xfrm>
            <a:off x="642849" y="3569379"/>
            <a:ext cx="1164292" cy="206959"/>
          </a:xfrm>
          <a:prstGeom prst="rect">
            <a:avLst/>
          </a:prstGeom>
          <a:noFill/>
        </p:spPr>
        <p:txBody>
          <a:bodyPr wrap="none" lIns="0" tIns="0" rIns="0" bIns="0">
            <a:noAutofit/>
          </a:bodyPr>
          <a:lstStyle/>
          <a:p>
            <a:pPr algn="l"/>
            <a:r>
              <a:rPr sz="1400" dirty="0">
                <a:solidFill>
                  <a:srgbClr val="FFFFFF"/>
                </a:solidFill>
                <a:latin typeface="Helvetica Neue Thin"/>
              </a:rPr>
              <a:t>• Navigation</a:t>
            </a:r>
          </a:p>
        </p:txBody>
      </p:sp>
      <p:sp>
        <p:nvSpPr>
          <p:cNvPr id="8" name="TextBox 7"/>
          <p:cNvSpPr txBox="1"/>
          <p:nvPr/>
        </p:nvSpPr>
        <p:spPr>
          <a:xfrm>
            <a:off x="642849" y="3886879"/>
            <a:ext cx="1597306" cy="206959"/>
          </a:xfrm>
          <a:prstGeom prst="rect">
            <a:avLst/>
          </a:prstGeom>
          <a:noFill/>
        </p:spPr>
        <p:txBody>
          <a:bodyPr wrap="none" lIns="0" tIns="0" rIns="0" bIns="0">
            <a:noAutofit/>
          </a:bodyPr>
          <a:lstStyle/>
          <a:p>
            <a:pPr algn="l"/>
            <a:r>
              <a:rPr sz="1400" dirty="0">
                <a:solidFill>
                  <a:srgbClr val="FFFFFF"/>
                </a:solidFill>
                <a:latin typeface="Helvetica Neue Thin"/>
              </a:rPr>
              <a:t>• Clear workflows</a:t>
            </a:r>
          </a:p>
        </p:txBody>
      </p:sp>
      <p:sp>
        <p:nvSpPr>
          <p:cNvPr id="9" name="TextBox 8"/>
          <p:cNvSpPr txBox="1"/>
          <p:nvPr/>
        </p:nvSpPr>
        <p:spPr>
          <a:xfrm>
            <a:off x="642849" y="4204379"/>
            <a:ext cx="1725770" cy="206959"/>
          </a:xfrm>
          <a:prstGeom prst="rect">
            <a:avLst/>
          </a:prstGeom>
          <a:noFill/>
        </p:spPr>
        <p:txBody>
          <a:bodyPr wrap="none" lIns="0" tIns="0" rIns="0" bIns="0">
            <a:noAutofit/>
          </a:bodyPr>
          <a:lstStyle/>
          <a:p>
            <a:pPr algn="l"/>
            <a:r>
              <a:rPr sz="1400" dirty="0">
                <a:solidFill>
                  <a:srgbClr val="FFFFFF"/>
                </a:solidFill>
                <a:latin typeface="Helvetica Neue Thin"/>
              </a:rPr>
              <a:t>• Status awareness</a:t>
            </a:r>
          </a:p>
        </p:txBody>
      </p:sp>
      <p:sp>
        <p:nvSpPr>
          <p:cNvPr id="10" name="TextBox 9"/>
          <p:cNvSpPr txBox="1"/>
          <p:nvPr/>
        </p:nvSpPr>
        <p:spPr>
          <a:xfrm>
            <a:off x="642849" y="4521879"/>
            <a:ext cx="1596154" cy="206959"/>
          </a:xfrm>
          <a:prstGeom prst="rect">
            <a:avLst/>
          </a:prstGeom>
          <a:noFill/>
        </p:spPr>
        <p:txBody>
          <a:bodyPr wrap="none" lIns="0" tIns="0" rIns="0" bIns="0">
            <a:noAutofit/>
          </a:bodyPr>
          <a:lstStyle/>
          <a:p>
            <a:pPr algn="l"/>
            <a:r>
              <a:rPr sz="1400" dirty="0">
                <a:solidFill>
                  <a:srgbClr val="FFFFFF"/>
                </a:solidFill>
                <a:latin typeface="Helvetica Neue Thin"/>
              </a:rPr>
              <a:t>• Lack of features</a:t>
            </a:r>
          </a:p>
        </p:txBody>
      </p:sp>
      <p:sp>
        <p:nvSpPr>
          <p:cNvPr id="11" name="TextBox 10"/>
          <p:cNvSpPr txBox="1"/>
          <p:nvPr/>
        </p:nvSpPr>
        <p:spPr>
          <a:xfrm>
            <a:off x="4085941" y="2416525"/>
            <a:ext cx="8015156" cy="322388"/>
          </a:xfrm>
          <a:prstGeom prst="rect">
            <a:avLst/>
          </a:prstGeom>
          <a:noFill/>
        </p:spPr>
        <p:txBody>
          <a:bodyPr wrap="none" lIns="0" tIns="0" rIns="0" bIns="0">
            <a:noAutofit/>
          </a:bodyPr>
          <a:lstStyle/>
          <a:p>
            <a:pPr algn="l">
              <a:lnSpc>
                <a:spcPts val="207"/>
              </a:lnSpc>
            </a:pPr>
            <a:r>
              <a:rPr sz="1900" dirty="0">
                <a:solidFill>
                  <a:srgbClr val="000000"/>
                </a:solidFill>
                <a:latin typeface="Helvetica Neue Light"/>
              </a:rPr>
              <a:t>Business Goals</a:t>
            </a:r>
          </a:p>
          <a:p>
            <a:pPr marL="6156341" algn="l">
              <a:lnSpc>
                <a:spcPts val="207"/>
              </a:lnSpc>
            </a:pPr>
            <a:r>
              <a:rPr sz="1900" dirty="0">
                <a:solidFill>
                  <a:srgbClr val="FFFFFF"/>
                </a:solidFill>
                <a:latin typeface="Helvetica Neue Light"/>
              </a:rPr>
              <a:t>Feature Set</a:t>
            </a:r>
          </a:p>
        </p:txBody>
      </p:sp>
      <p:sp>
        <p:nvSpPr>
          <p:cNvPr id="12" name="TextBox 11"/>
          <p:cNvSpPr txBox="1"/>
          <p:nvPr/>
        </p:nvSpPr>
        <p:spPr>
          <a:xfrm>
            <a:off x="10254408" y="2934379"/>
            <a:ext cx="870879" cy="206959"/>
          </a:xfrm>
          <a:prstGeom prst="rect">
            <a:avLst/>
          </a:prstGeom>
          <a:noFill/>
        </p:spPr>
        <p:txBody>
          <a:bodyPr wrap="none" lIns="0" tIns="0" rIns="0" bIns="0">
            <a:noAutofit/>
          </a:bodyPr>
          <a:lstStyle/>
          <a:p>
            <a:pPr algn="l"/>
            <a:r>
              <a:rPr sz="1400" dirty="0">
                <a:solidFill>
                  <a:srgbClr val="FFFFFF"/>
                </a:solidFill>
                <a:latin typeface="Helvetica Neue Thin"/>
              </a:rPr>
              <a:t>• Search</a:t>
            </a:r>
          </a:p>
        </p:txBody>
      </p:sp>
      <p:sp>
        <p:nvSpPr>
          <p:cNvPr id="13" name="TextBox 12"/>
          <p:cNvSpPr txBox="1"/>
          <p:nvPr/>
        </p:nvSpPr>
        <p:spPr>
          <a:xfrm>
            <a:off x="10254408" y="3251879"/>
            <a:ext cx="1086522" cy="206959"/>
          </a:xfrm>
          <a:prstGeom prst="rect">
            <a:avLst/>
          </a:prstGeom>
          <a:noFill/>
        </p:spPr>
        <p:txBody>
          <a:bodyPr wrap="none" lIns="0" tIns="0" rIns="0" bIns="0">
            <a:noAutofit/>
          </a:bodyPr>
          <a:lstStyle/>
          <a:p>
            <a:pPr algn="l"/>
            <a:r>
              <a:rPr sz="1400" dirty="0">
                <a:solidFill>
                  <a:srgbClr val="FFFFFF"/>
                </a:solidFill>
                <a:latin typeface="Helvetica Neue Thin"/>
              </a:rPr>
              <a:t>• Reporting</a:t>
            </a:r>
          </a:p>
        </p:txBody>
      </p:sp>
      <p:sp>
        <p:nvSpPr>
          <p:cNvPr id="14" name="TextBox 13"/>
          <p:cNvSpPr txBox="1"/>
          <p:nvPr/>
        </p:nvSpPr>
        <p:spPr>
          <a:xfrm>
            <a:off x="10254408" y="3569379"/>
            <a:ext cx="1210378" cy="206959"/>
          </a:xfrm>
          <a:prstGeom prst="rect">
            <a:avLst/>
          </a:prstGeom>
          <a:noFill/>
        </p:spPr>
        <p:txBody>
          <a:bodyPr wrap="none" lIns="0" tIns="0" rIns="0" bIns="0">
            <a:noAutofit/>
          </a:bodyPr>
          <a:lstStyle/>
          <a:p>
            <a:pPr algn="l"/>
            <a:r>
              <a:rPr sz="1400" dirty="0">
                <a:solidFill>
                  <a:srgbClr val="FFFFFF"/>
                </a:solidFill>
                <a:latin typeface="Helvetica Neue Thin"/>
              </a:rPr>
              <a:t>• Shadowing</a:t>
            </a:r>
          </a:p>
        </p:txBody>
      </p:sp>
      <p:sp>
        <p:nvSpPr>
          <p:cNvPr id="15" name="TextBox 14"/>
          <p:cNvSpPr txBox="1"/>
          <p:nvPr/>
        </p:nvSpPr>
        <p:spPr>
          <a:xfrm>
            <a:off x="10254408" y="3886879"/>
            <a:ext cx="940584" cy="206959"/>
          </a:xfrm>
          <a:prstGeom prst="rect">
            <a:avLst/>
          </a:prstGeom>
          <a:noFill/>
        </p:spPr>
        <p:txBody>
          <a:bodyPr wrap="none" lIns="0" tIns="0" rIns="0" bIns="0">
            <a:noAutofit/>
          </a:bodyPr>
          <a:lstStyle/>
          <a:p>
            <a:pPr algn="l"/>
            <a:r>
              <a:rPr sz="1400" dirty="0">
                <a:solidFill>
                  <a:srgbClr val="FFFFFF"/>
                </a:solidFill>
                <a:latin typeface="Helvetica Neue Thin"/>
              </a:rPr>
              <a:t>• Proxies </a:t>
            </a:r>
          </a:p>
        </p:txBody>
      </p:sp>
      <p:sp>
        <p:nvSpPr>
          <p:cNvPr id="16" name="TextBox 15"/>
          <p:cNvSpPr txBox="1"/>
          <p:nvPr/>
        </p:nvSpPr>
        <p:spPr>
          <a:xfrm>
            <a:off x="10254408" y="4204379"/>
            <a:ext cx="999344" cy="206959"/>
          </a:xfrm>
          <a:prstGeom prst="rect">
            <a:avLst/>
          </a:prstGeom>
          <a:noFill/>
        </p:spPr>
        <p:txBody>
          <a:bodyPr wrap="none" lIns="0" tIns="0" rIns="0" bIns="0">
            <a:noAutofit/>
          </a:bodyPr>
          <a:lstStyle/>
          <a:p>
            <a:pPr algn="l"/>
            <a:r>
              <a:rPr sz="1400" dirty="0">
                <a:solidFill>
                  <a:srgbClr val="FFFFFF"/>
                </a:solidFill>
                <a:latin typeface="Helvetica Neue Thin"/>
              </a:rPr>
              <a:t>• Queries </a:t>
            </a:r>
          </a:p>
        </p:txBody>
      </p:sp>
      <p:sp>
        <p:nvSpPr>
          <p:cNvPr id="17" name="TextBox 16"/>
          <p:cNvSpPr txBox="1"/>
          <p:nvPr/>
        </p:nvSpPr>
        <p:spPr>
          <a:xfrm>
            <a:off x="10254408" y="4521879"/>
            <a:ext cx="850909" cy="206959"/>
          </a:xfrm>
          <a:prstGeom prst="rect">
            <a:avLst/>
          </a:prstGeom>
          <a:noFill/>
        </p:spPr>
        <p:txBody>
          <a:bodyPr wrap="none" lIns="0" tIns="0" rIns="0" bIns="0">
            <a:noAutofit/>
          </a:bodyPr>
          <a:lstStyle/>
          <a:p>
            <a:pPr algn="l"/>
            <a:r>
              <a:rPr sz="1400" dirty="0">
                <a:solidFill>
                  <a:srgbClr val="FFFFFF"/>
                </a:solidFill>
                <a:latin typeface="Helvetica Neue Thin"/>
              </a:rPr>
              <a:t>• Mobile</a:t>
            </a:r>
          </a:p>
        </p:txBody>
      </p:sp>
      <p:sp>
        <p:nvSpPr>
          <p:cNvPr id="18" name="TextBox 17"/>
          <p:cNvSpPr txBox="1"/>
          <p:nvPr/>
        </p:nvSpPr>
        <p:spPr>
          <a:xfrm>
            <a:off x="4021048" y="2934379"/>
            <a:ext cx="1107070" cy="206959"/>
          </a:xfrm>
          <a:prstGeom prst="rect">
            <a:avLst/>
          </a:prstGeom>
          <a:noFill/>
        </p:spPr>
        <p:txBody>
          <a:bodyPr wrap="none" lIns="0" tIns="0" rIns="0" bIns="0">
            <a:noAutofit/>
          </a:bodyPr>
          <a:lstStyle/>
          <a:p>
            <a:pPr algn="l"/>
            <a:r>
              <a:rPr sz="1400" dirty="0">
                <a:solidFill>
                  <a:srgbClr val="000000"/>
                </a:solidFill>
                <a:latin typeface="Helvetica Neue Thin"/>
              </a:rPr>
              <a:t>• Education</a:t>
            </a:r>
          </a:p>
        </p:txBody>
      </p:sp>
      <p:sp>
        <p:nvSpPr>
          <p:cNvPr id="19" name="TextBox 18"/>
          <p:cNvSpPr txBox="1"/>
          <p:nvPr/>
        </p:nvSpPr>
        <p:spPr>
          <a:xfrm>
            <a:off x="4021048" y="3251879"/>
            <a:ext cx="1855388" cy="206959"/>
          </a:xfrm>
          <a:prstGeom prst="rect">
            <a:avLst/>
          </a:prstGeom>
          <a:noFill/>
        </p:spPr>
        <p:txBody>
          <a:bodyPr wrap="none" lIns="0" tIns="0" rIns="0" bIns="0">
            <a:noAutofit/>
          </a:bodyPr>
          <a:lstStyle/>
          <a:p>
            <a:pPr algn="l"/>
            <a:r>
              <a:rPr sz="1400" dirty="0">
                <a:solidFill>
                  <a:srgbClr val="000000"/>
                </a:solidFill>
                <a:latin typeface="Helvetica Neue Thin"/>
              </a:rPr>
              <a:t>• Functionality parity </a:t>
            </a:r>
          </a:p>
        </p:txBody>
      </p:sp>
      <p:sp>
        <p:nvSpPr>
          <p:cNvPr id="20" name="TextBox 19"/>
          <p:cNvSpPr txBox="1"/>
          <p:nvPr/>
        </p:nvSpPr>
        <p:spPr>
          <a:xfrm>
            <a:off x="4021048" y="3569379"/>
            <a:ext cx="1497071" cy="206959"/>
          </a:xfrm>
          <a:prstGeom prst="rect">
            <a:avLst/>
          </a:prstGeom>
          <a:noFill/>
        </p:spPr>
        <p:txBody>
          <a:bodyPr wrap="none" lIns="0" tIns="0" rIns="0" bIns="0">
            <a:noAutofit/>
          </a:bodyPr>
          <a:lstStyle/>
          <a:p>
            <a:pPr algn="l"/>
            <a:r>
              <a:rPr sz="1400" dirty="0">
                <a:solidFill>
                  <a:srgbClr val="000000"/>
                </a:solidFill>
                <a:latin typeface="Helvetica Neue Thin"/>
              </a:rPr>
              <a:t>• Platform parity </a:t>
            </a:r>
          </a:p>
        </p:txBody>
      </p:sp>
      <p:sp>
        <p:nvSpPr>
          <p:cNvPr id="21" name="TextBox 20"/>
          <p:cNvSpPr txBox="1"/>
          <p:nvPr/>
        </p:nvSpPr>
        <p:spPr>
          <a:xfrm>
            <a:off x="3288691" y="3886879"/>
            <a:ext cx="7008120" cy="910599"/>
          </a:xfrm>
          <a:prstGeom prst="rect">
            <a:avLst/>
          </a:prstGeom>
          <a:noFill/>
        </p:spPr>
        <p:txBody>
          <a:bodyPr wrap="none" lIns="0" tIns="0" rIns="0" bIns="0">
            <a:noAutofit/>
          </a:bodyPr>
          <a:lstStyle/>
          <a:p>
            <a:pPr marL="732357" algn="l">
              <a:lnSpc>
                <a:spcPts val="2302"/>
              </a:lnSpc>
            </a:pPr>
            <a:r>
              <a:rPr sz="1400" dirty="0">
                <a:solidFill>
                  <a:srgbClr val="000000"/>
                </a:solidFill>
                <a:latin typeface="Helvetica Neue Thin"/>
              </a:rPr>
              <a:t>• Mobile</a:t>
            </a:r>
          </a:p>
          <a:p>
            <a:pPr marL="6167948" algn="l">
              <a:lnSpc>
                <a:spcPts val="2302"/>
              </a:lnSpc>
              <a:spcBef>
                <a:spcPts val="2127"/>
              </a:spcBef>
            </a:pPr>
            <a:r>
              <a:rPr sz="4350" dirty="0">
                <a:solidFill>
                  <a:srgbClr val="000000"/>
                </a:solidFill>
                <a:latin typeface="Helvetica Neue Light"/>
              </a:rPr>
              <a:t>=</a:t>
            </a:r>
          </a:p>
          <a:p>
            <a:pPr algn="l">
              <a:lnSpc>
                <a:spcPts val="2302"/>
              </a:lnSpc>
            </a:pPr>
            <a:r>
              <a:rPr sz="4350" dirty="0">
                <a:solidFill>
                  <a:srgbClr val="000000"/>
                </a:solidFill>
                <a:latin typeface="Helvetica Neue Light"/>
              </a:rPr>
              <a:t>+</a:t>
            </a:r>
          </a:p>
        </p:txBody>
      </p:sp>
      <p:sp>
        <p:nvSpPr>
          <p:cNvPr id="22" name="TextBox 21"/>
          <p:cNvSpPr txBox="1"/>
          <p:nvPr/>
        </p:nvSpPr>
        <p:spPr>
          <a:xfrm>
            <a:off x="7114557" y="2402562"/>
            <a:ext cx="1404900" cy="296068"/>
          </a:xfrm>
          <a:prstGeom prst="rect">
            <a:avLst/>
          </a:prstGeom>
          <a:noFill/>
        </p:spPr>
        <p:txBody>
          <a:bodyPr wrap="none" lIns="0" tIns="0" rIns="0" bIns="0">
            <a:noAutofit/>
          </a:bodyPr>
          <a:lstStyle/>
          <a:p>
            <a:pPr algn="l"/>
            <a:r>
              <a:rPr sz="1900" dirty="0">
                <a:solidFill>
                  <a:srgbClr val="FFFFFF"/>
                </a:solidFill>
                <a:latin typeface="Helvetica Neue Light"/>
              </a:rPr>
              <a:t>UX Strategy</a:t>
            </a:r>
          </a:p>
        </p:txBody>
      </p:sp>
      <p:sp>
        <p:nvSpPr>
          <p:cNvPr id="23" name="TextBox 22"/>
          <p:cNvSpPr txBox="1"/>
          <p:nvPr/>
        </p:nvSpPr>
        <p:spPr>
          <a:xfrm>
            <a:off x="7024548" y="2934379"/>
            <a:ext cx="2151872" cy="206959"/>
          </a:xfrm>
          <a:prstGeom prst="rect">
            <a:avLst/>
          </a:prstGeom>
          <a:noFill/>
        </p:spPr>
        <p:txBody>
          <a:bodyPr wrap="none" lIns="0" tIns="0" rIns="0" bIns="0">
            <a:noAutofit/>
          </a:bodyPr>
          <a:lstStyle/>
          <a:p>
            <a:pPr algn="l"/>
            <a:r>
              <a:rPr sz="1400" dirty="0">
                <a:solidFill>
                  <a:srgbClr val="FFFFFF"/>
                </a:solidFill>
                <a:latin typeface="Helvetica Neue Thin"/>
              </a:rPr>
              <a:t>• Integrations with other </a:t>
            </a:r>
          </a:p>
        </p:txBody>
      </p:sp>
      <p:sp>
        <p:nvSpPr>
          <p:cNvPr id="24" name="TextBox 23"/>
          <p:cNvSpPr txBox="1"/>
          <p:nvPr/>
        </p:nvSpPr>
        <p:spPr>
          <a:xfrm>
            <a:off x="7253148" y="3251879"/>
            <a:ext cx="1677627" cy="206959"/>
          </a:xfrm>
          <a:prstGeom prst="rect">
            <a:avLst/>
          </a:prstGeom>
          <a:noFill/>
        </p:spPr>
        <p:txBody>
          <a:bodyPr wrap="none" lIns="0" tIns="0" rIns="0" bIns="0">
            <a:noAutofit/>
          </a:bodyPr>
          <a:lstStyle/>
          <a:p>
            <a:pPr algn="l"/>
            <a:r>
              <a:rPr sz="1400" dirty="0">
                <a:solidFill>
                  <a:srgbClr val="FFFFFF"/>
                </a:solidFill>
                <a:latin typeface="Helvetica Neue Thin"/>
              </a:rPr>
              <a:t>systems on platform</a:t>
            </a:r>
          </a:p>
        </p:txBody>
      </p:sp>
      <p:sp>
        <p:nvSpPr>
          <p:cNvPr id="25" name="TextBox 24"/>
          <p:cNvSpPr txBox="1"/>
          <p:nvPr/>
        </p:nvSpPr>
        <p:spPr>
          <a:xfrm>
            <a:off x="7024548" y="3569379"/>
            <a:ext cx="2264401" cy="206959"/>
          </a:xfrm>
          <a:prstGeom prst="rect">
            <a:avLst/>
          </a:prstGeom>
          <a:noFill/>
        </p:spPr>
        <p:txBody>
          <a:bodyPr wrap="none" lIns="0" tIns="0" rIns="0" bIns="0">
            <a:noAutofit/>
          </a:bodyPr>
          <a:lstStyle/>
          <a:p>
            <a:pPr algn="l"/>
            <a:r>
              <a:rPr sz="1400" dirty="0">
                <a:solidFill>
                  <a:srgbClr val="FFFFFF"/>
                </a:solidFill>
                <a:latin typeface="Helvetica Neue Thin"/>
              </a:rPr>
              <a:t>• All users understanding </a:t>
            </a:r>
          </a:p>
        </p:txBody>
      </p:sp>
      <p:sp>
        <p:nvSpPr>
          <p:cNvPr id="26" name="TextBox 25"/>
          <p:cNvSpPr txBox="1"/>
          <p:nvPr/>
        </p:nvSpPr>
        <p:spPr>
          <a:xfrm>
            <a:off x="7253148" y="3886879"/>
            <a:ext cx="1192766" cy="206959"/>
          </a:xfrm>
          <a:prstGeom prst="rect">
            <a:avLst/>
          </a:prstGeom>
          <a:noFill/>
        </p:spPr>
        <p:txBody>
          <a:bodyPr wrap="none" lIns="0" tIns="0" rIns="0" bIns="0">
            <a:noAutofit/>
          </a:bodyPr>
          <a:lstStyle/>
          <a:p>
            <a:pPr algn="l"/>
            <a:r>
              <a:rPr sz="1400" dirty="0">
                <a:solidFill>
                  <a:srgbClr val="FFFFFF"/>
                </a:solidFill>
                <a:latin typeface="Helvetica Neue Thin"/>
              </a:rPr>
              <a:t>of the policies</a:t>
            </a:r>
          </a:p>
        </p:txBody>
      </p:sp>
      <p:sp>
        <p:nvSpPr>
          <p:cNvPr id="27" name="TextBox 26"/>
          <p:cNvSpPr txBox="1"/>
          <p:nvPr/>
        </p:nvSpPr>
        <p:spPr>
          <a:xfrm>
            <a:off x="7024548" y="4204379"/>
            <a:ext cx="1934501" cy="206959"/>
          </a:xfrm>
          <a:prstGeom prst="rect">
            <a:avLst/>
          </a:prstGeom>
          <a:noFill/>
        </p:spPr>
        <p:txBody>
          <a:bodyPr wrap="none" lIns="0" tIns="0" rIns="0" bIns="0">
            <a:noAutofit/>
          </a:bodyPr>
          <a:lstStyle/>
          <a:p>
            <a:pPr algn="l"/>
            <a:r>
              <a:rPr sz="1400" dirty="0">
                <a:solidFill>
                  <a:srgbClr val="FFFFFF"/>
                </a:solidFill>
                <a:latin typeface="Helvetica Neue Thin"/>
              </a:rPr>
              <a:t>• Access for all in the </a:t>
            </a:r>
          </a:p>
        </p:txBody>
      </p:sp>
      <p:sp>
        <p:nvSpPr>
          <p:cNvPr id="28" name="TextBox 27"/>
          <p:cNvSpPr txBox="1"/>
          <p:nvPr/>
        </p:nvSpPr>
        <p:spPr>
          <a:xfrm>
            <a:off x="7253148" y="4521879"/>
            <a:ext cx="708288" cy="206959"/>
          </a:xfrm>
          <a:prstGeom prst="rect">
            <a:avLst/>
          </a:prstGeom>
          <a:noFill/>
        </p:spPr>
        <p:txBody>
          <a:bodyPr wrap="none" lIns="0" tIns="0" rIns="0" bIns="0">
            <a:noAutofit/>
          </a:bodyPr>
          <a:lstStyle/>
          <a:p>
            <a:pPr algn="l"/>
            <a:r>
              <a:rPr sz="1400" dirty="0">
                <a:solidFill>
                  <a:srgbClr val="FFFFFF"/>
                </a:solidFill>
                <a:latin typeface="Helvetica Neue Thin"/>
              </a:rPr>
              <a:t>platform</a:t>
            </a:r>
          </a:p>
        </p:txBody>
      </p:sp>
      <p:sp>
        <p:nvSpPr>
          <p:cNvPr id="29" name="TextBox 28"/>
          <p:cNvSpPr txBox="1"/>
          <p:nvPr/>
        </p:nvSpPr>
        <p:spPr>
          <a:xfrm>
            <a:off x="7024548" y="4839379"/>
            <a:ext cx="850909" cy="206959"/>
          </a:xfrm>
          <a:prstGeom prst="rect">
            <a:avLst/>
          </a:prstGeom>
          <a:noFill/>
        </p:spPr>
        <p:txBody>
          <a:bodyPr wrap="none" lIns="0" tIns="0" rIns="0" bIns="0">
            <a:noAutofit/>
          </a:bodyPr>
          <a:lstStyle/>
          <a:p>
            <a:pPr algn="l"/>
            <a:r>
              <a:rPr sz="1400" dirty="0">
                <a:solidFill>
                  <a:srgbClr val="FFFFFF"/>
                </a:solidFill>
                <a:latin typeface="Helvetica Neue Thin"/>
              </a:rPr>
              <a:t>• Mobile</a:t>
            </a:r>
          </a:p>
        </p:txBody>
      </p:sp>
      <p:sp>
        <p:nvSpPr>
          <p:cNvPr id="30" name="TextBox 29"/>
          <p:cNvSpPr txBox="1"/>
          <p:nvPr/>
        </p:nvSpPr>
        <p:spPr>
          <a:xfrm>
            <a:off x="7024548" y="5156879"/>
            <a:ext cx="1616701" cy="206959"/>
          </a:xfrm>
          <a:prstGeom prst="rect">
            <a:avLst/>
          </a:prstGeom>
          <a:noFill/>
        </p:spPr>
        <p:txBody>
          <a:bodyPr wrap="none" lIns="0" tIns="0" rIns="0" bIns="0">
            <a:noAutofit/>
          </a:bodyPr>
          <a:lstStyle/>
          <a:p>
            <a:pPr algn="l"/>
            <a:r>
              <a:rPr sz="1400" dirty="0">
                <a:solidFill>
                  <a:srgbClr val="FFFFFF"/>
                </a:solidFill>
                <a:latin typeface="Helvetica Neue Thin"/>
              </a:rPr>
              <a:t>• Clear navigation</a:t>
            </a:r>
          </a:p>
        </p:txBody>
      </p:sp>
      <p:sp>
        <p:nvSpPr>
          <p:cNvPr id="31" name="TextBox 30"/>
          <p:cNvSpPr txBox="1"/>
          <p:nvPr/>
        </p:nvSpPr>
        <p:spPr>
          <a:xfrm>
            <a:off x="7024548" y="5474379"/>
            <a:ext cx="1597306" cy="206959"/>
          </a:xfrm>
          <a:prstGeom prst="rect">
            <a:avLst/>
          </a:prstGeom>
          <a:noFill/>
        </p:spPr>
        <p:txBody>
          <a:bodyPr wrap="none" lIns="0" tIns="0" rIns="0" bIns="0">
            <a:noAutofit/>
          </a:bodyPr>
          <a:lstStyle/>
          <a:p>
            <a:pPr algn="l"/>
            <a:r>
              <a:rPr sz="1400" dirty="0">
                <a:solidFill>
                  <a:srgbClr val="FFFFFF"/>
                </a:solidFill>
                <a:latin typeface="Helvetica Neue Thin"/>
              </a:rPr>
              <a:t>• Clear workflows</a:t>
            </a:r>
          </a:p>
        </p:txBody>
      </p:sp>
      <p:sp>
        <p:nvSpPr>
          <p:cNvPr id="32" name="TextBox 31"/>
          <p:cNvSpPr txBox="1"/>
          <p:nvPr/>
        </p:nvSpPr>
        <p:spPr>
          <a:xfrm>
            <a:off x="6272603" y="4102315"/>
            <a:ext cx="346736" cy="672884"/>
          </a:xfrm>
          <a:prstGeom prst="rect">
            <a:avLst/>
          </a:prstGeom>
          <a:noFill/>
        </p:spPr>
        <p:txBody>
          <a:bodyPr wrap="none" lIns="0" tIns="0" rIns="0" bIns="0">
            <a:noAutofit/>
          </a:bodyPr>
          <a:lstStyle/>
          <a:p>
            <a:pPr algn="l"/>
            <a:r>
              <a:rPr sz="4350" dirty="0">
                <a:solidFill>
                  <a:srgbClr val="000000"/>
                </a:solidFill>
                <a:latin typeface="Helvetica Neue Light"/>
              </a:rPr>
              <a:t>+</a:t>
            </a:r>
          </a:p>
        </p:txBody>
      </p:sp>
      <p:sp>
        <p:nvSpPr>
          <p:cNvPr id="33" name="TextBox 32"/>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Credit Suisse OBI</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1117600" y="981961"/>
            <a:ext cx="4931775" cy="556869"/>
          </a:xfrm>
          <a:prstGeom prst="rect">
            <a:avLst/>
          </a:prstGeom>
          <a:noFill/>
        </p:spPr>
        <p:txBody>
          <a:bodyPr wrap="none" lIns="0" tIns="0" rIns="0" bIns="0">
            <a:noAutofit/>
          </a:bodyPr>
          <a:lstStyle/>
          <a:p>
            <a:pPr algn="l"/>
            <a:r>
              <a:rPr sz="3600" dirty="0">
                <a:solidFill>
                  <a:srgbClr val="FFFFFF"/>
                </a:solidFill>
                <a:latin typeface="Helvetica Neue Light"/>
              </a:rPr>
              <a:t>The Delivered Solution</a:t>
            </a:r>
          </a:p>
        </p:txBody>
      </p:sp>
      <p:sp>
        <p:nvSpPr>
          <p:cNvPr id="4" name="TextBox 3"/>
          <p:cNvSpPr txBox="1"/>
          <p:nvPr/>
        </p:nvSpPr>
        <p:spPr>
          <a:xfrm>
            <a:off x="1117600" y="2122980"/>
            <a:ext cx="5322206" cy="2783128"/>
          </a:xfrm>
          <a:prstGeom prst="rect">
            <a:avLst/>
          </a:prstGeom>
          <a:noFill/>
        </p:spPr>
        <p:txBody>
          <a:bodyPr wrap="square" lIns="0" tIns="0" rIns="0" bIns="0">
            <a:noAutofit/>
          </a:bodyPr>
          <a:lstStyle/>
          <a:p>
            <a:pPr algn="l">
              <a:lnSpc>
                <a:spcPts val="5520"/>
              </a:lnSpc>
            </a:pPr>
            <a:r>
              <a:rPr sz="4600" dirty="0">
                <a:solidFill>
                  <a:srgbClr val="FFFFFF"/>
                </a:solidFill>
                <a:latin typeface="Helvetica Neue Thin"/>
              </a:rPr>
              <a:t>Risk &amp; Compliance Managers, Submitter and Reviewer  </a:t>
            </a:r>
          </a:p>
          <a:p>
            <a:pPr algn="l">
              <a:lnSpc>
                <a:spcPts val="5520"/>
              </a:lnSpc>
            </a:pPr>
            <a:r>
              <a:rPr sz="4600" dirty="0">
                <a:solidFill>
                  <a:srgbClr val="FFFFFF"/>
                </a:solidFill>
                <a:latin typeface="Helvetica Neue Thin"/>
              </a:rPr>
              <a:t>Experiences </a:t>
            </a:r>
          </a:p>
        </p:txBody>
      </p:sp>
      <p:sp>
        <p:nvSpPr>
          <p:cNvPr id="5" name="TextBox 4"/>
          <p:cNvSpPr txBox="1"/>
          <p:nvPr/>
        </p:nvSpPr>
        <p:spPr>
          <a:xfrm>
            <a:off x="1117600" y="5508088"/>
            <a:ext cx="5691008" cy="2001621"/>
          </a:xfrm>
          <a:prstGeom prst="rect">
            <a:avLst/>
          </a:prstGeom>
          <a:noFill/>
        </p:spPr>
        <p:txBody>
          <a:bodyPr wrap="square" lIns="0" tIns="0" rIns="0" bIns="0">
            <a:noAutofit/>
          </a:bodyPr>
          <a:lstStyle/>
          <a:p>
            <a:pPr algn="l">
              <a:lnSpc>
                <a:spcPts val="2639"/>
              </a:lnSpc>
            </a:pPr>
            <a:r>
              <a:rPr sz="2200" dirty="0">
                <a:solidFill>
                  <a:srgbClr val="FFFFFF"/>
                </a:solidFill>
                <a:latin typeface="Helvetica Neue Thin"/>
              </a:rPr>
              <a:t>The main jumping-off point for all 3 user types, the dashboard was the prioritized focus, and went through many iterations based on company goals, line of business goals, UX strategy, legal, risk, and ADA requirements, as well as design system requirements.</a:t>
            </a:r>
          </a:p>
        </p:txBody>
      </p:sp>
      <p:sp>
        <p:nvSpPr>
          <p:cNvPr id="6" name="TextBox 5"/>
          <p:cNvSpPr txBox="1"/>
          <p:nvPr/>
        </p:nvSpPr>
        <p:spPr>
          <a:xfrm>
            <a:off x="8178800" y="5507480"/>
            <a:ext cx="3845465" cy="278434"/>
          </a:xfrm>
          <a:prstGeom prst="rect">
            <a:avLst/>
          </a:prstGeom>
          <a:noFill/>
        </p:spPr>
        <p:txBody>
          <a:bodyPr wrap="none" lIns="0" tIns="0" rIns="0" bIns="0">
            <a:noAutofit/>
          </a:bodyPr>
          <a:lstStyle/>
          <a:p>
            <a:pPr algn="l"/>
            <a:r>
              <a:rPr sz="1800" dirty="0">
                <a:solidFill>
                  <a:srgbClr val="FFFFFF"/>
                </a:solidFill>
                <a:latin typeface="Helvetica Neue Light"/>
              </a:rPr>
              <a:t>• Feature refinement and road map </a:t>
            </a:r>
          </a:p>
        </p:txBody>
      </p:sp>
      <p:sp>
        <p:nvSpPr>
          <p:cNvPr id="7" name="TextBox 6"/>
          <p:cNvSpPr txBox="1"/>
          <p:nvPr/>
        </p:nvSpPr>
        <p:spPr>
          <a:xfrm>
            <a:off x="8178800" y="5863080"/>
            <a:ext cx="2582635" cy="278434"/>
          </a:xfrm>
          <a:prstGeom prst="rect">
            <a:avLst/>
          </a:prstGeom>
          <a:noFill/>
        </p:spPr>
        <p:txBody>
          <a:bodyPr wrap="none" lIns="0" tIns="0" rIns="0" bIns="0">
            <a:noAutofit/>
          </a:bodyPr>
          <a:lstStyle/>
          <a:p>
            <a:pPr algn="l"/>
            <a:r>
              <a:rPr sz="1800" dirty="0">
                <a:solidFill>
                  <a:srgbClr val="FFFFFF"/>
                </a:solidFill>
                <a:latin typeface="Helvetica Neue Light"/>
              </a:rPr>
              <a:t>• 33 Agile-based sprints</a:t>
            </a:r>
          </a:p>
        </p:txBody>
      </p:sp>
      <p:sp>
        <p:nvSpPr>
          <p:cNvPr id="8" name="TextBox 7"/>
          <p:cNvSpPr txBox="1"/>
          <p:nvPr/>
        </p:nvSpPr>
        <p:spPr>
          <a:xfrm>
            <a:off x="8178800" y="6218680"/>
            <a:ext cx="4027178" cy="278434"/>
          </a:xfrm>
          <a:prstGeom prst="rect">
            <a:avLst/>
          </a:prstGeom>
          <a:noFill/>
        </p:spPr>
        <p:txBody>
          <a:bodyPr wrap="none" lIns="0" tIns="0" rIns="0" bIns="0">
            <a:noAutofit/>
          </a:bodyPr>
          <a:lstStyle/>
          <a:p>
            <a:pPr algn="l"/>
            <a:r>
              <a:rPr sz="1800" dirty="0">
                <a:solidFill>
                  <a:srgbClr val="FFFFFF"/>
                </a:solidFill>
                <a:latin typeface="Helvetica Neue Light"/>
              </a:rPr>
              <a:t>• Usability testing on weekly cadence</a:t>
            </a:r>
          </a:p>
        </p:txBody>
      </p:sp>
      <p:sp>
        <p:nvSpPr>
          <p:cNvPr id="9" name="TextBox 8"/>
          <p:cNvSpPr txBox="1"/>
          <p:nvPr/>
        </p:nvSpPr>
        <p:spPr>
          <a:xfrm>
            <a:off x="8178800" y="6574280"/>
            <a:ext cx="1832565" cy="278434"/>
          </a:xfrm>
          <a:prstGeom prst="rect">
            <a:avLst/>
          </a:prstGeom>
          <a:noFill/>
        </p:spPr>
        <p:txBody>
          <a:bodyPr wrap="none" lIns="0" tIns="0" rIns="0" bIns="0">
            <a:noAutofit/>
          </a:bodyPr>
          <a:lstStyle/>
          <a:p>
            <a:pPr algn="l"/>
            <a:r>
              <a:rPr sz="1800" dirty="0">
                <a:solidFill>
                  <a:srgbClr val="FFFFFF"/>
                </a:solidFill>
                <a:latin typeface="Helvetica Neue Light"/>
              </a:rPr>
              <a:t>• Demos and QA</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9157197" y="746631"/>
            <a:ext cx="3847602" cy="4998285"/>
          </a:xfrm>
          <a:prstGeom prst="rect">
            <a:avLst/>
          </a:prstGeom>
        </p:spPr>
      </p:pic>
      <p:pic>
        <p:nvPicPr>
          <p:cNvPr id="4" name="Picture 2" descr="image.png"/>
          <p:cNvPicPr>
            <a:picLocks noChangeAspect="1"/>
          </p:cNvPicPr>
          <p:nvPr/>
        </p:nvPicPr>
        <p:blipFill>
          <a:blip r:embed="rId4"/>
          <a:stretch>
            <a:fillRect/>
          </a:stretch>
        </p:blipFill>
        <p:spPr>
          <a:xfrm>
            <a:off x="9608352" y="5286374"/>
            <a:ext cx="2834472" cy="2554791"/>
          </a:xfrm>
          <a:prstGeom prst="rect">
            <a:avLst/>
          </a:prstGeom>
        </p:spPr>
      </p:pic>
      <p:pic>
        <p:nvPicPr>
          <p:cNvPr id="5" name="Picture 3" descr="image.png"/>
          <p:cNvPicPr>
            <a:picLocks noChangeAspect="1"/>
          </p:cNvPicPr>
          <p:nvPr/>
        </p:nvPicPr>
        <p:blipFill>
          <a:blip r:embed="rId5"/>
          <a:stretch>
            <a:fillRect/>
          </a:stretch>
        </p:blipFill>
        <p:spPr>
          <a:xfrm>
            <a:off x="7406731" y="2453731"/>
            <a:ext cx="2357038" cy="2534075"/>
          </a:xfrm>
          <a:prstGeom prst="rect">
            <a:avLst/>
          </a:prstGeom>
        </p:spPr>
      </p:pic>
      <p:pic>
        <p:nvPicPr>
          <p:cNvPr id="6" name="Picture 4" descr="image.png"/>
          <p:cNvPicPr>
            <a:picLocks noChangeAspect="1"/>
          </p:cNvPicPr>
          <p:nvPr/>
        </p:nvPicPr>
        <p:blipFill>
          <a:blip r:embed="rId6"/>
          <a:stretch>
            <a:fillRect/>
          </a:stretch>
        </p:blipFill>
        <p:spPr>
          <a:xfrm>
            <a:off x="6505575" y="5489575"/>
            <a:ext cx="3424986" cy="4065134"/>
          </a:xfrm>
          <a:prstGeom prst="rect">
            <a:avLst/>
          </a:prstGeom>
        </p:spPr>
      </p:pic>
      <p:pic>
        <p:nvPicPr>
          <p:cNvPr id="7" name="Picture 5" descr="image.png"/>
          <p:cNvPicPr>
            <a:picLocks noChangeAspect="1"/>
          </p:cNvPicPr>
          <p:nvPr/>
        </p:nvPicPr>
        <p:blipFill>
          <a:blip r:embed="rId7"/>
          <a:stretch>
            <a:fillRect/>
          </a:stretch>
        </p:blipFill>
        <p:spPr>
          <a:xfrm>
            <a:off x="10442575" y="7539839"/>
            <a:ext cx="2562225" cy="2013970"/>
          </a:xfrm>
          <a:prstGeom prst="rect">
            <a:avLst/>
          </a:prstGeom>
        </p:spPr>
      </p:pic>
      <p:sp>
        <p:nvSpPr>
          <p:cNvPr id="8" name="TextBox 7"/>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Credit Suisse OBI</a:t>
            </a:r>
          </a:p>
        </p:txBody>
      </p:sp>
      <p:sp>
        <p:nvSpPr>
          <p:cNvPr id="9" name="TextBox 8"/>
          <p:cNvSpPr txBox="1"/>
          <p:nvPr/>
        </p:nvSpPr>
        <p:spPr>
          <a:xfrm>
            <a:off x="457200" y="939800"/>
            <a:ext cx="5626100" cy="476250"/>
          </a:xfrm>
          <a:prstGeom prst="rect">
            <a:avLst/>
          </a:prstGeom>
          <a:noFill/>
        </p:spPr>
        <p:txBody>
          <a:bodyPr wrap="none" lIns="0" tIns="0" rIns="0" bIns="0">
            <a:noAutofit/>
          </a:bodyPr>
          <a:lstStyle/>
          <a:p>
            <a:pPr algn="l"/>
            <a:r>
              <a:rPr sz="3000" dirty="0">
                <a:solidFill>
                  <a:srgbClr val="1F1F1F"/>
                </a:solidFill>
                <a:latin typeface="Helvetica Neue Light"/>
              </a:rPr>
              <a:t>OBI Experience Design Strategy</a:t>
            </a:r>
          </a:p>
        </p:txBody>
      </p:sp>
      <p:sp>
        <p:nvSpPr>
          <p:cNvPr id="10" name="TextBox 9"/>
          <p:cNvSpPr txBox="1"/>
          <p:nvPr/>
        </p:nvSpPr>
        <p:spPr>
          <a:xfrm>
            <a:off x="3149600" y="7606283"/>
            <a:ext cx="3257272" cy="247497"/>
          </a:xfrm>
          <a:prstGeom prst="rect">
            <a:avLst/>
          </a:prstGeom>
          <a:noFill/>
        </p:spPr>
        <p:txBody>
          <a:bodyPr wrap="none" lIns="0" tIns="0" rIns="0" bIns="0">
            <a:noAutofit/>
          </a:bodyPr>
          <a:lstStyle/>
          <a:p>
            <a:pPr algn="l"/>
            <a:r>
              <a:rPr sz="1600" dirty="0">
                <a:solidFill>
                  <a:srgbClr val="000000"/>
                </a:solidFill>
                <a:latin typeface="Helvetica Neue Light"/>
              </a:rPr>
              <a:t>Based on POC 2 from the Design </a:t>
            </a:r>
          </a:p>
        </p:txBody>
      </p:sp>
      <p:sp>
        <p:nvSpPr>
          <p:cNvPr id="11" name="TextBox 10"/>
          <p:cNvSpPr txBox="1"/>
          <p:nvPr/>
        </p:nvSpPr>
        <p:spPr>
          <a:xfrm>
            <a:off x="3149600" y="7961883"/>
            <a:ext cx="3169709" cy="247497"/>
          </a:xfrm>
          <a:prstGeom prst="rect">
            <a:avLst/>
          </a:prstGeom>
          <a:noFill/>
        </p:spPr>
        <p:txBody>
          <a:bodyPr wrap="none" lIns="0" tIns="0" rIns="0" bIns="0">
            <a:noAutofit/>
          </a:bodyPr>
          <a:lstStyle/>
          <a:p>
            <a:pPr algn="l"/>
            <a:r>
              <a:rPr sz="1600" dirty="0">
                <a:solidFill>
                  <a:srgbClr val="000000"/>
                </a:solidFill>
                <a:latin typeface="Helvetica Neue Light"/>
              </a:rPr>
              <a:t>Thinking process, and thumbnail </a:t>
            </a:r>
          </a:p>
        </p:txBody>
      </p:sp>
      <p:sp>
        <p:nvSpPr>
          <p:cNvPr id="12" name="TextBox 11"/>
          <p:cNvSpPr txBox="1"/>
          <p:nvPr/>
        </p:nvSpPr>
        <p:spPr>
          <a:xfrm>
            <a:off x="3149600" y="8317483"/>
            <a:ext cx="947057" cy="247497"/>
          </a:xfrm>
          <a:prstGeom prst="rect">
            <a:avLst/>
          </a:prstGeom>
          <a:noFill/>
        </p:spPr>
        <p:txBody>
          <a:bodyPr wrap="none" lIns="0" tIns="0" rIns="0" bIns="0">
            <a:noAutofit/>
          </a:bodyPr>
          <a:lstStyle/>
          <a:p>
            <a:pPr algn="l"/>
            <a:r>
              <a:rPr sz="1600" dirty="0">
                <a:solidFill>
                  <a:srgbClr val="000000"/>
                </a:solidFill>
                <a:latin typeface="Helvetica Neue Light"/>
              </a:rPr>
              <a:t>sketches.</a:t>
            </a:r>
          </a:p>
        </p:txBody>
      </p:sp>
      <p:sp>
        <p:nvSpPr>
          <p:cNvPr id="13" name="TextBox 12"/>
          <p:cNvSpPr txBox="1"/>
          <p:nvPr/>
        </p:nvSpPr>
        <p:spPr>
          <a:xfrm>
            <a:off x="812800" y="2113279"/>
            <a:ext cx="4963537" cy="1823210"/>
          </a:xfrm>
          <a:prstGeom prst="rect">
            <a:avLst/>
          </a:prstGeom>
          <a:noFill/>
        </p:spPr>
        <p:txBody>
          <a:bodyPr wrap="square" lIns="0" tIns="0" rIns="0" bIns="0">
            <a:noAutofit/>
          </a:bodyPr>
          <a:lstStyle/>
          <a:p>
            <a:pPr algn="l">
              <a:lnSpc>
                <a:spcPts val="2400"/>
              </a:lnSpc>
            </a:pPr>
            <a:r>
              <a:rPr sz="2000" dirty="0">
                <a:solidFill>
                  <a:srgbClr val="FFFFFF"/>
                </a:solidFill>
                <a:latin typeface="Helvetica Neue Light"/>
              </a:rPr>
              <a:t>What we learned from discovery and design thinking</a:t>
            </a:r>
          </a:p>
          <a:p>
            <a:pPr algn="l">
              <a:lnSpc>
                <a:spcPts val="2400"/>
              </a:lnSpc>
            </a:pPr>
            <a:r>
              <a:rPr sz="2000" dirty="0">
                <a:solidFill>
                  <a:srgbClr val="FFFFFF"/>
                </a:solidFill>
                <a:latin typeface="Helvetica Neue Thin"/>
              </a:rPr>
              <a:t>•  For Risk &amp; Compliance Managers a dashboard with ways of understanding and filtering of request statuses</a:t>
            </a:r>
          </a:p>
        </p:txBody>
      </p:sp>
      <p:sp>
        <p:nvSpPr>
          <p:cNvPr id="14" name="TextBox 13"/>
          <p:cNvSpPr txBox="1"/>
          <p:nvPr/>
        </p:nvSpPr>
        <p:spPr>
          <a:xfrm>
            <a:off x="812800" y="3640834"/>
            <a:ext cx="4937308" cy="905255"/>
          </a:xfrm>
          <a:prstGeom prst="rect">
            <a:avLst/>
          </a:prstGeom>
          <a:noFill/>
        </p:spPr>
        <p:txBody>
          <a:bodyPr wrap="square" lIns="0" tIns="0" rIns="0" bIns="0">
            <a:noAutofit/>
          </a:bodyPr>
          <a:lstStyle/>
          <a:p>
            <a:pPr algn="l">
              <a:lnSpc>
                <a:spcPts val="2400"/>
              </a:lnSpc>
            </a:pPr>
            <a:r>
              <a:rPr sz="2000" dirty="0">
                <a:solidFill>
                  <a:srgbClr val="FFFFFF"/>
                </a:solidFill>
                <a:latin typeface="Helvetica Neue Thin"/>
              </a:rPr>
              <a:t>•  Reporting and other major functionalities </a:t>
            </a:r>
          </a:p>
        </p:txBody>
      </p:sp>
      <p:sp>
        <p:nvSpPr>
          <p:cNvPr id="15" name="TextBox 14"/>
          <p:cNvSpPr txBox="1"/>
          <p:nvPr/>
        </p:nvSpPr>
        <p:spPr>
          <a:xfrm>
            <a:off x="812800" y="3945634"/>
            <a:ext cx="4960968" cy="905255"/>
          </a:xfrm>
          <a:prstGeom prst="rect">
            <a:avLst/>
          </a:prstGeom>
          <a:noFill/>
        </p:spPr>
        <p:txBody>
          <a:bodyPr wrap="square" lIns="0" tIns="0" rIns="0" bIns="0">
            <a:noAutofit/>
          </a:bodyPr>
          <a:lstStyle/>
          <a:p>
            <a:pPr marL="156966" algn="l">
              <a:lnSpc>
                <a:spcPts val="2400"/>
              </a:lnSpc>
            </a:pPr>
            <a:r>
              <a:rPr sz="2000" dirty="0">
                <a:solidFill>
                  <a:srgbClr val="FFFFFF"/>
                </a:solidFill>
                <a:latin typeface="Helvetica Neue Thin"/>
              </a:rPr>
              <a:t>with ability to share and alert 2nd line of defense managers</a:t>
            </a:r>
          </a:p>
          <a:p>
            <a:pPr algn="l">
              <a:lnSpc>
                <a:spcPts val="2400"/>
              </a:lnSpc>
            </a:pPr>
            <a:r>
              <a:rPr sz="2000" dirty="0">
                <a:solidFill>
                  <a:srgbClr val="FFFFFF"/>
                </a:solidFill>
                <a:latin typeface="Helvetica Neue Thin"/>
              </a:rPr>
              <a:t>•  Employees were often confused about </a:t>
            </a:r>
          </a:p>
        </p:txBody>
      </p:sp>
      <p:sp>
        <p:nvSpPr>
          <p:cNvPr id="16" name="TextBox 15"/>
          <p:cNvSpPr txBox="1"/>
          <p:nvPr/>
        </p:nvSpPr>
        <p:spPr>
          <a:xfrm>
            <a:off x="812800" y="4860034"/>
            <a:ext cx="5303452" cy="905255"/>
          </a:xfrm>
          <a:prstGeom prst="rect">
            <a:avLst/>
          </a:prstGeom>
          <a:noFill/>
        </p:spPr>
        <p:txBody>
          <a:bodyPr wrap="none" lIns="0" tIns="0" rIns="0" bIns="0">
            <a:noAutofit/>
          </a:bodyPr>
          <a:lstStyle/>
          <a:p>
            <a:pPr marL="156966" algn="l">
              <a:lnSpc>
                <a:spcPts val="2400"/>
              </a:lnSpc>
            </a:pPr>
            <a:r>
              <a:rPr sz="2000" dirty="0">
                <a:solidFill>
                  <a:srgbClr val="FFFFFF"/>
                </a:solidFill>
                <a:latin typeface="Helvetica Neue Thin"/>
              </a:rPr>
              <a:t>what form they needed.</a:t>
            </a:r>
          </a:p>
          <a:p>
            <a:pPr algn="l">
              <a:lnSpc>
                <a:spcPts val="2400"/>
              </a:lnSpc>
            </a:pPr>
            <a:r>
              <a:rPr sz="2000" dirty="0">
                <a:solidFill>
                  <a:srgbClr val="FFFFFF"/>
                </a:solidFill>
                <a:latin typeface="Helvetica Neue Thin"/>
              </a:rPr>
              <a:t>• They needed education on why, how, when</a:t>
            </a:r>
          </a:p>
          <a:p>
            <a:pPr algn="l">
              <a:lnSpc>
                <a:spcPts val="2400"/>
              </a:lnSpc>
            </a:pPr>
            <a:r>
              <a:rPr sz="2000" dirty="0">
                <a:solidFill>
                  <a:srgbClr val="FFFFFF"/>
                </a:solidFill>
                <a:latin typeface="Helvetica Neue Thin"/>
              </a:rPr>
              <a:t>•  They needed their expectations managed </a:t>
            </a:r>
          </a:p>
        </p:txBody>
      </p:sp>
      <p:sp>
        <p:nvSpPr>
          <p:cNvPr id="17" name="TextBox 16"/>
          <p:cNvSpPr txBox="1"/>
          <p:nvPr/>
        </p:nvSpPr>
        <p:spPr>
          <a:xfrm>
            <a:off x="812800" y="5774434"/>
            <a:ext cx="5039217" cy="915416"/>
          </a:xfrm>
          <a:prstGeom prst="rect">
            <a:avLst/>
          </a:prstGeom>
          <a:noFill/>
        </p:spPr>
        <p:txBody>
          <a:bodyPr wrap="square" lIns="0" tIns="0" rIns="0" bIns="0">
            <a:noAutofit/>
          </a:bodyPr>
          <a:lstStyle/>
          <a:p>
            <a:pPr marL="156966" algn="l">
              <a:lnSpc>
                <a:spcPts val="2400"/>
              </a:lnSpc>
            </a:pPr>
            <a:r>
              <a:rPr sz="2000" dirty="0">
                <a:solidFill>
                  <a:srgbClr val="FFFFFF"/>
                </a:solidFill>
                <a:latin typeface="Helvetica Neue Thin"/>
              </a:rPr>
              <a:t>when they returned so they’d have some idea of what to do</a:t>
            </a:r>
          </a:p>
          <a:p>
            <a:pPr algn="l">
              <a:lnSpc>
                <a:spcPts val="2400"/>
              </a:lnSpc>
            </a:pPr>
            <a:r>
              <a:rPr sz="2000" dirty="0">
                <a:solidFill>
                  <a:srgbClr val="FFFFFF"/>
                </a:solidFill>
                <a:latin typeface="Helvetica Neue Light"/>
              </a:rPr>
              <a:t>• Central space to see all submitted requests </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6353175" y="688975"/>
            <a:ext cx="6188381" cy="9064624"/>
          </a:xfrm>
          <a:prstGeom prst="rect">
            <a:avLst/>
          </a:prstGeom>
        </p:spPr>
      </p:pic>
      <p:sp>
        <p:nvSpPr>
          <p:cNvPr id="4" name="TextBox 3"/>
          <p:cNvSpPr txBox="1"/>
          <p:nvPr/>
        </p:nvSpPr>
        <p:spPr>
          <a:xfrm>
            <a:off x="917274" y="3948428"/>
            <a:ext cx="4918412" cy="1366011"/>
          </a:xfrm>
          <a:prstGeom prst="rect">
            <a:avLst/>
          </a:prstGeom>
          <a:noFill/>
        </p:spPr>
        <p:txBody>
          <a:bodyPr wrap="square" lIns="0" tIns="0" rIns="0" bIns="0">
            <a:noAutofit/>
          </a:bodyPr>
          <a:lstStyle/>
          <a:p>
            <a:pPr algn="l">
              <a:lnSpc>
                <a:spcPts val="2800"/>
              </a:lnSpc>
            </a:pPr>
            <a:r>
              <a:rPr sz="2000" dirty="0">
                <a:solidFill>
                  <a:srgbClr val="FFFFFF"/>
                </a:solidFill>
                <a:latin typeface="Helvetica Neue Light"/>
              </a:rPr>
              <a:t>What we learned in the research</a:t>
            </a:r>
          </a:p>
          <a:p>
            <a:pPr algn="l">
              <a:lnSpc>
                <a:spcPts val="2800"/>
              </a:lnSpc>
            </a:pPr>
            <a:r>
              <a:rPr sz="2000" dirty="0">
                <a:solidFill>
                  <a:srgbClr val="FFFFFF"/>
                </a:solidFill>
                <a:latin typeface="Helvetica Neue Thin"/>
              </a:rPr>
              <a:t>•  Submitters responded to a separate dashboard and progressive disclosure forms</a:t>
            </a:r>
          </a:p>
        </p:txBody>
      </p:sp>
      <p:sp>
        <p:nvSpPr>
          <p:cNvPr id="5" name="TextBox 4"/>
          <p:cNvSpPr txBox="1"/>
          <p:nvPr/>
        </p:nvSpPr>
        <p:spPr>
          <a:xfrm>
            <a:off x="917274" y="5018784"/>
            <a:ext cx="5286197" cy="651255"/>
          </a:xfrm>
          <a:prstGeom prst="rect">
            <a:avLst/>
          </a:prstGeom>
          <a:noFill/>
        </p:spPr>
        <p:txBody>
          <a:bodyPr wrap="none" lIns="0" tIns="0" rIns="0" bIns="0">
            <a:noAutofit/>
          </a:bodyPr>
          <a:lstStyle/>
          <a:p>
            <a:pPr algn="l">
              <a:lnSpc>
                <a:spcPts val="2800"/>
              </a:lnSpc>
            </a:pPr>
            <a:r>
              <a:rPr sz="2000" dirty="0">
                <a:solidFill>
                  <a:srgbClr val="FFFFFF"/>
                </a:solidFill>
                <a:latin typeface="Helvetica Neue Thin"/>
              </a:rPr>
              <a:t>•  Concepts tried having list view dashboards </a:t>
            </a:r>
          </a:p>
        </p:txBody>
      </p:sp>
      <p:sp>
        <p:nvSpPr>
          <p:cNvPr id="6" name="TextBox 5"/>
          <p:cNvSpPr txBox="1"/>
          <p:nvPr/>
        </p:nvSpPr>
        <p:spPr>
          <a:xfrm>
            <a:off x="1074240" y="5374384"/>
            <a:ext cx="3261715" cy="295655"/>
          </a:xfrm>
          <a:prstGeom prst="rect">
            <a:avLst/>
          </a:prstGeom>
          <a:noFill/>
        </p:spPr>
        <p:txBody>
          <a:bodyPr wrap="none" lIns="0" tIns="0" rIns="0" bIns="0">
            <a:noAutofit/>
          </a:bodyPr>
          <a:lstStyle/>
          <a:p>
            <a:pPr algn="l"/>
            <a:r>
              <a:rPr sz="2000" dirty="0">
                <a:solidFill>
                  <a:srgbClr val="FFFFFF"/>
                </a:solidFill>
                <a:latin typeface="Helvetica Neue Thin"/>
              </a:rPr>
              <a:t>or forms based dashboards</a:t>
            </a:r>
          </a:p>
        </p:txBody>
      </p:sp>
      <p:sp>
        <p:nvSpPr>
          <p:cNvPr id="7" name="TextBox 6"/>
          <p:cNvSpPr txBox="1"/>
          <p:nvPr/>
        </p:nvSpPr>
        <p:spPr>
          <a:xfrm>
            <a:off x="5501154" y="8879584"/>
            <a:ext cx="1118453" cy="216560"/>
          </a:xfrm>
          <a:prstGeom prst="rect">
            <a:avLst/>
          </a:prstGeom>
          <a:noFill/>
        </p:spPr>
        <p:txBody>
          <a:bodyPr wrap="none" lIns="0" tIns="0" rIns="0" bIns="0">
            <a:noAutofit/>
          </a:bodyPr>
          <a:lstStyle/>
          <a:p>
            <a:pPr algn="l"/>
            <a:r>
              <a:rPr sz="1400" dirty="0">
                <a:solidFill>
                  <a:srgbClr val="000000"/>
                </a:solidFill>
                <a:latin typeface="Helvetica Neue Light"/>
              </a:rPr>
              <a:t>First iteration</a:t>
            </a:r>
          </a:p>
        </p:txBody>
      </p:sp>
      <p:sp>
        <p:nvSpPr>
          <p:cNvPr id="8" name="TextBox 7"/>
          <p:cNvSpPr txBox="1"/>
          <p:nvPr/>
        </p:nvSpPr>
        <p:spPr>
          <a:xfrm>
            <a:off x="2240914" y="6474702"/>
            <a:ext cx="2148331" cy="231101"/>
          </a:xfrm>
          <a:prstGeom prst="rect">
            <a:avLst/>
          </a:prstGeom>
          <a:noFill/>
        </p:spPr>
        <p:txBody>
          <a:bodyPr wrap="none" lIns="0" tIns="0" rIns="0" bIns="0">
            <a:noAutofit/>
          </a:bodyPr>
          <a:lstStyle/>
          <a:p>
            <a:pPr algn="l"/>
            <a:r>
              <a:rPr sz="1500" dirty="0">
                <a:solidFill>
                  <a:srgbClr val="FFFFFF"/>
                </a:solidFill>
                <a:latin typeface="Helvetica Neue Light"/>
              </a:rPr>
              <a:t>Unexpected Challenge </a:t>
            </a:r>
          </a:p>
        </p:txBody>
      </p:sp>
      <p:sp>
        <p:nvSpPr>
          <p:cNvPr id="9" name="TextBox 8"/>
          <p:cNvSpPr txBox="1"/>
          <p:nvPr/>
        </p:nvSpPr>
        <p:spPr>
          <a:xfrm>
            <a:off x="2240914" y="6772506"/>
            <a:ext cx="3788282" cy="220854"/>
          </a:xfrm>
          <a:prstGeom prst="rect">
            <a:avLst/>
          </a:prstGeom>
          <a:noFill/>
        </p:spPr>
        <p:txBody>
          <a:bodyPr wrap="none" lIns="0" tIns="0" rIns="0" bIns="0">
            <a:noAutofit/>
          </a:bodyPr>
          <a:lstStyle/>
          <a:p>
            <a:pPr algn="l"/>
            <a:r>
              <a:rPr sz="1500" dirty="0">
                <a:solidFill>
                  <a:srgbClr val="FFFFFF"/>
                </a:solidFill>
                <a:latin typeface="Helvetica Neue Thin"/>
              </a:rPr>
              <a:t> Because of tech debt on mobile platforms, </a:t>
            </a:r>
          </a:p>
        </p:txBody>
      </p:sp>
      <p:sp>
        <p:nvSpPr>
          <p:cNvPr id="10" name="TextBox 9"/>
          <p:cNvSpPr txBox="1"/>
          <p:nvPr/>
        </p:nvSpPr>
        <p:spPr>
          <a:xfrm>
            <a:off x="2240914" y="7067654"/>
            <a:ext cx="3940944" cy="220854"/>
          </a:xfrm>
          <a:prstGeom prst="rect">
            <a:avLst/>
          </a:prstGeom>
          <a:noFill/>
        </p:spPr>
        <p:txBody>
          <a:bodyPr wrap="none" lIns="0" tIns="0" rIns="0" bIns="0">
            <a:noAutofit/>
          </a:bodyPr>
          <a:lstStyle/>
          <a:p>
            <a:pPr algn="l"/>
            <a:r>
              <a:rPr sz="1500" dirty="0">
                <a:solidFill>
                  <a:srgbClr val="FFFFFF"/>
                </a:solidFill>
                <a:latin typeface="Helvetica Neue Thin"/>
              </a:rPr>
              <a:t>Mobile Native work was re-prioritized on the </a:t>
            </a:r>
          </a:p>
        </p:txBody>
      </p:sp>
      <p:sp>
        <p:nvSpPr>
          <p:cNvPr id="11" name="TextBox 10"/>
          <p:cNvSpPr txBox="1"/>
          <p:nvPr/>
        </p:nvSpPr>
        <p:spPr>
          <a:xfrm>
            <a:off x="2240914" y="7362803"/>
            <a:ext cx="4058361" cy="220854"/>
          </a:xfrm>
          <a:prstGeom prst="rect">
            <a:avLst/>
          </a:prstGeom>
          <a:noFill/>
        </p:spPr>
        <p:txBody>
          <a:bodyPr wrap="none" lIns="0" tIns="0" rIns="0" bIns="0">
            <a:noAutofit/>
          </a:bodyPr>
          <a:lstStyle/>
          <a:p>
            <a:pPr algn="l"/>
            <a:r>
              <a:rPr sz="1500" dirty="0">
                <a:solidFill>
                  <a:srgbClr val="FFFFFF"/>
                </a:solidFill>
                <a:latin typeface="Helvetica Neue Thin"/>
              </a:rPr>
              <a:t>road map, to post MVP release. That required </a:t>
            </a:r>
          </a:p>
        </p:txBody>
      </p:sp>
      <p:sp>
        <p:nvSpPr>
          <p:cNvPr id="12" name="TextBox 11"/>
          <p:cNvSpPr txBox="1"/>
          <p:nvPr/>
        </p:nvSpPr>
        <p:spPr>
          <a:xfrm>
            <a:off x="2240914" y="7657951"/>
            <a:ext cx="3921271" cy="220854"/>
          </a:xfrm>
          <a:prstGeom prst="rect">
            <a:avLst/>
          </a:prstGeom>
          <a:noFill/>
        </p:spPr>
        <p:txBody>
          <a:bodyPr wrap="none" lIns="0" tIns="0" rIns="0" bIns="0">
            <a:noAutofit/>
          </a:bodyPr>
          <a:lstStyle/>
          <a:p>
            <a:pPr algn="l"/>
            <a:r>
              <a:rPr sz="1500" dirty="0">
                <a:solidFill>
                  <a:srgbClr val="FFFFFF"/>
                </a:solidFill>
                <a:latin typeface="Helvetica Neue Thin"/>
              </a:rPr>
              <a:t>a responsive experience and refactoring for </a:t>
            </a:r>
          </a:p>
        </p:txBody>
      </p:sp>
      <p:sp>
        <p:nvSpPr>
          <p:cNvPr id="13" name="TextBox 12"/>
          <p:cNvSpPr txBox="1"/>
          <p:nvPr/>
        </p:nvSpPr>
        <p:spPr>
          <a:xfrm>
            <a:off x="2240914" y="7953099"/>
            <a:ext cx="1567800" cy="220854"/>
          </a:xfrm>
          <a:prstGeom prst="rect">
            <a:avLst/>
          </a:prstGeom>
          <a:noFill/>
        </p:spPr>
        <p:txBody>
          <a:bodyPr wrap="none" lIns="0" tIns="0" rIns="0" bIns="0">
            <a:noAutofit/>
          </a:bodyPr>
          <a:lstStyle/>
          <a:p>
            <a:pPr algn="l"/>
            <a:r>
              <a:rPr sz="1500" dirty="0">
                <a:solidFill>
                  <a:srgbClr val="FFFFFF"/>
                </a:solidFill>
                <a:latin typeface="Helvetica Neue Thin"/>
              </a:rPr>
              <a:t>new design effort</a:t>
            </a:r>
          </a:p>
        </p:txBody>
      </p:sp>
      <p:sp>
        <p:nvSpPr>
          <p:cNvPr id="14" name="TextBox 13"/>
          <p:cNvSpPr txBox="1"/>
          <p:nvPr/>
        </p:nvSpPr>
        <p:spPr>
          <a:xfrm>
            <a:off x="457200" y="1761235"/>
            <a:ext cx="5198528" cy="1210055"/>
          </a:xfrm>
          <a:prstGeom prst="rect">
            <a:avLst/>
          </a:prstGeom>
          <a:noFill/>
        </p:spPr>
        <p:txBody>
          <a:bodyPr wrap="square" lIns="0" tIns="0" rIns="0" bIns="0">
            <a:noAutofit/>
          </a:bodyPr>
          <a:lstStyle/>
          <a:p>
            <a:pPr algn="l">
              <a:lnSpc>
                <a:spcPts val="2400"/>
              </a:lnSpc>
            </a:pPr>
            <a:r>
              <a:rPr sz="2000" dirty="0">
                <a:solidFill>
                  <a:srgbClr val="000000"/>
                </a:solidFill>
                <a:latin typeface="Helvetica Neue Thin"/>
              </a:rPr>
              <a:t>The submission form allowed submitters to use a wizard, answering 3 questions to determine the correct form required and get into the submission process immediately.</a:t>
            </a:r>
          </a:p>
        </p:txBody>
      </p:sp>
      <p:sp>
        <p:nvSpPr>
          <p:cNvPr id="15" name="TextBox 14"/>
          <p:cNvSpPr txBox="1"/>
          <p:nvPr/>
        </p:nvSpPr>
        <p:spPr>
          <a:xfrm>
            <a:off x="457200" y="939800"/>
            <a:ext cx="4372609" cy="476250"/>
          </a:xfrm>
          <a:prstGeom prst="rect">
            <a:avLst/>
          </a:prstGeom>
          <a:noFill/>
        </p:spPr>
        <p:txBody>
          <a:bodyPr wrap="none" lIns="0" tIns="0" rIns="0" bIns="0">
            <a:noAutofit/>
          </a:bodyPr>
          <a:lstStyle/>
          <a:p>
            <a:pPr algn="l"/>
            <a:r>
              <a:rPr sz="3000" dirty="0">
                <a:solidFill>
                  <a:srgbClr val="1F1F1F"/>
                </a:solidFill>
                <a:latin typeface="Helvetica Neue Light"/>
              </a:rPr>
              <a:t>Dashboard Design Sprint</a:t>
            </a:r>
          </a:p>
        </p:txBody>
      </p:sp>
      <p:sp>
        <p:nvSpPr>
          <p:cNvPr id="16" name="TextBox 15"/>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Credit Suisse OBI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6888512" y="741711"/>
            <a:ext cx="5171376" cy="9011888"/>
          </a:xfrm>
          <a:prstGeom prst="rect">
            <a:avLst/>
          </a:prstGeom>
        </p:spPr>
      </p:pic>
      <p:sp>
        <p:nvSpPr>
          <p:cNvPr id="4" name="TextBox 3"/>
          <p:cNvSpPr txBox="1"/>
          <p:nvPr/>
        </p:nvSpPr>
        <p:spPr>
          <a:xfrm>
            <a:off x="1054100" y="4704078"/>
            <a:ext cx="5434605" cy="908811"/>
          </a:xfrm>
          <a:prstGeom prst="rect">
            <a:avLst/>
          </a:prstGeom>
          <a:noFill/>
        </p:spPr>
        <p:txBody>
          <a:bodyPr wrap="none" lIns="0" tIns="0" rIns="0" bIns="0">
            <a:noAutofit/>
          </a:bodyPr>
          <a:lstStyle/>
          <a:p>
            <a:pPr algn="l">
              <a:lnSpc>
                <a:spcPts val="2400"/>
              </a:lnSpc>
            </a:pPr>
            <a:r>
              <a:rPr sz="2000" dirty="0">
                <a:solidFill>
                  <a:srgbClr val="FFFFFF"/>
                </a:solidFill>
                <a:latin typeface="Helvetica Neue Light"/>
              </a:rPr>
              <a:t>What we learned in the testing</a:t>
            </a:r>
          </a:p>
          <a:p>
            <a:pPr algn="l">
              <a:lnSpc>
                <a:spcPts val="2400"/>
              </a:lnSpc>
            </a:pPr>
            <a:r>
              <a:rPr sz="2000" dirty="0">
                <a:solidFill>
                  <a:srgbClr val="FFFFFF"/>
                </a:solidFill>
                <a:latin typeface="Helvetica Neue Thin"/>
              </a:rPr>
              <a:t>•  Education was a priority for all users</a:t>
            </a:r>
          </a:p>
          <a:p>
            <a:pPr algn="l">
              <a:lnSpc>
                <a:spcPts val="2400"/>
              </a:lnSpc>
            </a:pPr>
            <a:r>
              <a:rPr sz="2000" dirty="0">
                <a:solidFill>
                  <a:srgbClr val="FFFFFF"/>
                </a:solidFill>
                <a:latin typeface="Helvetica Neue Thin"/>
              </a:rPr>
              <a:t>•  Users responded to more friendly copy that  </a:t>
            </a:r>
          </a:p>
        </p:txBody>
      </p:sp>
      <p:sp>
        <p:nvSpPr>
          <p:cNvPr id="5" name="TextBox 4"/>
          <p:cNvSpPr txBox="1"/>
          <p:nvPr/>
        </p:nvSpPr>
        <p:spPr>
          <a:xfrm>
            <a:off x="1054100" y="5622034"/>
            <a:ext cx="5127412" cy="1210056"/>
          </a:xfrm>
          <a:prstGeom prst="rect">
            <a:avLst/>
          </a:prstGeom>
          <a:noFill/>
        </p:spPr>
        <p:txBody>
          <a:bodyPr wrap="square" lIns="0" tIns="0" rIns="0" bIns="0">
            <a:noAutofit/>
          </a:bodyPr>
          <a:lstStyle/>
          <a:p>
            <a:pPr marL="156966" algn="l">
              <a:lnSpc>
                <a:spcPts val="2400"/>
              </a:lnSpc>
            </a:pPr>
            <a:r>
              <a:rPr sz="2000" dirty="0">
                <a:solidFill>
                  <a:srgbClr val="FFFFFF"/>
                </a:solidFill>
                <a:latin typeface="Helvetica Neue Thin"/>
              </a:rPr>
              <a:t>illustrated the scenarios a person might be involved in</a:t>
            </a:r>
          </a:p>
          <a:p>
            <a:pPr marL="156966" indent="-156966" algn="l">
              <a:lnSpc>
                <a:spcPts val="2400"/>
              </a:lnSpc>
            </a:pPr>
            <a:r>
              <a:rPr sz="2000" dirty="0">
                <a:solidFill>
                  <a:srgbClr val="FFFFFF"/>
                </a:solidFill>
                <a:latin typeface="Helvetica Neue Thin"/>
              </a:rPr>
              <a:t>•	Content geared to Swiss users could be bubbled up based on user ID and location</a:t>
            </a:r>
          </a:p>
        </p:txBody>
      </p:sp>
      <p:sp>
        <p:nvSpPr>
          <p:cNvPr id="7" name="TextBox 6"/>
          <p:cNvSpPr txBox="1"/>
          <p:nvPr/>
        </p:nvSpPr>
        <p:spPr>
          <a:xfrm>
            <a:off x="5218732" y="8879584"/>
            <a:ext cx="1409753" cy="216560"/>
          </a:xfrm>
          <a:prstGeom prst="rect">
            <a:avLst/>
          </a:prstGeom>
          <a:noFill/>
        </p:spPr>
        <p:txBody>
          <a:bodyPr wrap="none" lIns="0" tIns="0" rIns="0" bIns="0">
            <a:noAutofit/>
          </a:bodyPr>
          <a:lstStyle/>
          <a:p>
            <a:pPr algn="l"/>
            <a:r>
              <a:rPr sz="1400" dirty="0">
                <a:solidFill>
                  <a:srgbClr val="000000"/>
                </a:solidFill>
                <a:latin typeface="Helvetica Neue Light"/>
              </a:rPr>
              <a:t>Second iteration</a:t>
            </a:r>
          </a:p>
        </p:txBody>
      </p:sp>
      <p:sp>
        <p:nvSpPr>
          <p:cNvPr id="8" name="TextBox 7"/>
          <p:cNvSpPr txBox="1"/>
          <p:nvPr/>
        </p:nvSpPr>
        <p:spPr>
          <a:xfrm>
            <a:off x="457200" y="939800"/>
            <a:ext cx="4372609" cy="476250"/>
          </a:xfrm>
          <a:prstGeom prst="rect">
            <a:avLst/>
          </a:prstGeom>
          <a:noFill/>
        </p:spPr>
        <p:txBody>
          <a:bodyPr wrap="none" lIns="0" tIns="0" rIns="0" bIns="0">
            <a:noAutofit/>
          </a:bodyPr>
          <a:lstStyle/>
          <a:p>
            <a:pPr algn="l"/>
            <a:r>
              <a:rPr sz="3000" dirty="0">
                <a:solidFill>
                  <a:srgbClr val="1F1F1F"/>
                </a:solidFill>
                <a:latin typeface="Helvetica Neue Light"/>
              </a:rPr>
              <a:t>Dashboard Design Sprint</a:t>
            </a:r>
          </a:p>
        </p:txBody>
      </p:sp>
      <p:sp>
        <p:nvSpPr>
          <p:cNvPr id="9" name="TextBox 8"/>
          <p:cNvSpPr txBox="1"/>
          <p:nvPr/>
        </p:nvSpPr>
        <p:spPr>
          <a:xfrm>
            <a:off x="457200" y="1913635"/>
            <a:ext cx="5227774" cy="651255"/>
          </a:xfrm>
          <a:prstGeom prst="rect">
            <a:avLst/>
          </a:prstGeom>
          <a:noFill/>
        </p:spPr>
        <p:txBody>
          <a:bodyPr wrap="square" lIns="0" tIns="0" rIns="0" bIns="0">
            <a:noAutofit/>
          </a:bodyPr>
          <a:lstStyle/>
          <a:p>
            <a:pPr algn="l">
              <a:lnSpc>
                <a:spcPts val="2800"/>
              </a:lnSpc>
            </a:pPr>
            <a:r>
              <a:rPr sz="2000" dirty="0">
                <a:solidFill>
                  <a:srgbClr val="000000"/>
                </a:solidFill>
                <a:latin typeface="Helvetica Neue Thin"/>
              </a:rPr>
              <a:t>The first iterations included educational options front and center on the dashboard.</a:t>
            </a:r>
          </a:p>
        </p:txBody>
      </p:sp>
      <p:sp>
        <p:nvSpPr>
          <p:cNvPr id="10" name="TextBox 9"/>
          <p:cNvSpPr txBox="1"/>
          <p:nvPr/>
        </p:nvSpPr>
        <p:spPr>
          <a:xfrm>
            <a:off x="457200" y="2980435"/>
            <a:ext cx="4979187" cy="651255"/>
          </a:xfrm>
          <a:prstGeom prst="rect">
            <a:avLst/>
          </a:prstGeom>
          <a:noFill/>
        </p:spPr>
        <p:txBody>
          <a:bodyPr wrap="square" lIns="0" tIns="0" rIns="0" bIns="0">
            <a:noAutofit/>
          </a:bodyPr>
          <a:lstStyle/>
          <a:p>
            <a:pPr algn="l">
              <a:lnSpc>
                <a:spcPts val="2799"/>
              </a:lnSpc>
            </a:pPr>
            <a:r>
              <a:rPr sz="2000" dirty="0">
                <a:solidFill>
                  <a:srgbClr val="000000"/>
                </a:solidFill>
                <a:latin typeface="Helvetica Neue Thin"/>
              </a:rPr>
              <a:t>Testing showed us that a segment of newer users needed it, but not all.</a:t>
            </a:r>
          </a:p>
        </p:txBody>
      </p:sp>
      <p:sp>
        <p:nvSpPr>
          <p:cNvPr id="11" name="TextBox 10"/>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Credit Suisse OBI</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1400175" y="2549525"/>
            <a:ext cx="8509000" cy="6442528"/>
          </a:xfrm>
          <a:prstGeom prst="rect">
            <a:avLst/>
          </a:prstGeom>
        </p:spPr>
      </p:pic>
      <p:sp>
        <p:nvSpPr>
          <p:cNvPr id="4" name="TextBox 3"/>
          <p:cNvSpPr txBox="1"/>
          <p:nvPr/>
        </p:nvSpPr>
        <p:spPr>
          <a:xfrm>
            <a:off x="457200" y="1621535"/>
            <a:ext cx="8664897" cy="600456"/>
          </a:xfrm>
          <a:prstGeom prst="rect">
            <a:avLst/>
          </a:prstGeom>
          <a:noFill/>
        </p:spPr>
        <p:txBody>
          <a:bodyPr wrap="square" lIns="0" tIns="0" rIns="0" bIns="0">
            <a:noAutofit/>
          </a:bodyPr>
          <a:lstStyle/>
          <a:p>
            <a:pPr algn="l">
              <a:lnSpc>
                <a:spcPts val="2400"/>
              </a:lnSpc>
            </a:pPr>
            <a:r>
              <a:rPr sz="2000" dirty="0">
                <a:solidFill>
                  <a:srgbClr val="000000"/>
                </a:solidFill>
                <a:latin typeface="Helvetica Neue Thin"/>
              </a:rPr>
              <a:t>Education module positioned to answer users’ questions on when they need to submit a request, but further testing required a new solution.</a:t>
            </a:r>
          </a:p>
        </p:txBody>
      </p:sp>
      <p:sp>
        <p:nvSpPr>
          <p:cNvPr id="5" name="TextBox 4"/>
          <p:cNvSpPr txBox="1"/>
          <p:nvPr/>
        </p:nvSpPr>
        <p:spPr>
          <a:xfrm>
            <a:off x="11361111" y="8955784"/>
            <a:ext cx="1195068" cy="216560"/>
          </a:xfrm>
          <a:prstGeom prst="rect">
            <a:avLst/>
          </a:prstGeom>
          <a:noFill/>
        </p:spPr>
        <p:txBody>
          <a:bodyPr wrap="none" lIns="0" tIns="0" rIns="0" bIns="0">
            <a:noAutofit/>
          </a:bodyPr>
          <a:lstStyle/>
          <a:p>
            <a:pPr algn="l"/>
            <a:r>
              <a:rPr sz="1400" dirty="0">
                <a:solidFill>
                  <a:srgbClr val="000000"/>
                </a:solidFill>
                <a:latin typeface="Helvetica Neue Light"/>
              </a:rPr>
              <a:t>Third iteration</a:t>
            </a:r>
          </a:p>
        </p:txBody>
      </p:sp>
      <p:sp>
        <p:nvSpPr>
          <p:cNvPr id="6" name="TextBox 5"/>
          <p:cNvSpPr txBox="1"/>
          <p:nvPr/>
        </p:nvSpPr>
        <p:spPr>
          <a:xfrm>
            <a:off x="8462644" y="7006588"/>
            <a:ext cx="4054951" cy="1518411"/>
          </a:xfrm>
          <a:prstGeom prst="rect">
            <a:avLst/>
          </a:prstGeom>
          <a:noFill/>
        </p:spPr>
        <p:txBody>
          <a:bodyPr wrap="square" lIns="0" tIns="0" rIns="0" bIns="0">
            <a:noAutofit/>
          </a:bodyPr>
          <a:lstStyle/>
          <a:p>
            <a:pPr algn="l">
              <a:lnSpc>
                <a:spcPts val="2400"/>
              </a:lnSpc>
            </a:pPr>
            <a:r>
              <a:rPr sz="2000" dirty="0">
                <a:solidFill>
                  <a:srgbClr val="FFFFFF"/>
                </a:solidFill>
                <a:latin typeface="Helvetica Neue Light"/>
              </a:rPr>
              <a:t>What we learned in the testing</a:t>
            </a:r>
          </a:p>
          <a:p>
            <a:pPr marL="156967" indent="-156967" algn="l">
              <a:lnSpc>
                <a:spcPts val="2400"/>
              </a:lnSpc>
            </a:pPr>
            <a:r>
              <a:rPr sz="2000" dirty="0">
                <a:solidFill>
                  <a:srgbClr val="FFFFFF"/>
                </a:solidFill>
                <a:latin typeface="Helvetica Neue Thin"/>
              </a:rPr>
              <a:t>•	Users reacted to educational modules positively, but felt there might be too much information in the guidance. </a:t>
            </a:r>
          </a:p>
        </p:txBody>
      </p:sp>
      <p:sp>
        <p:nvSpPr>
          <p:cNvPr id="8" name="TextBox 7"/>
          <p:cNvSpPr txBox="1"/>
          <p:nvPr/>
        </p:nvSpPr>
        <p:spPr>
          <a:xfrm>
            <a:off x="716915" y="7903452"/>
            <a:ext cx="2148330" cy="231101"/>
          </a:xfrm>
          <a:prstGeom prst="rect">
            <a:avLst/>
          </a:prstGeom>
          <a:noFill/>
        </p:spPr>
        <p:txBody>
          <a:bodyPr wrap="none" lIns="0" tIns="0" rIns="0" bIns="0">
            <a:noAutofit/>
          </a:bodyPr>
          <a:lstStyle/>
          <a:p>
            <a:pPr algn="l"/>
            <a:r>
              <a:rPr sz="1500" dirty="0">
                <a:solidFill>
                  <a:srgbClr val="FFFFFF"/>
                </a:solidFill>
                <a:latin typeface="Helvetica Neue Light"/>
              </a:rPr>
              <a:t>Unexpected Challenge </a:t>
            </a:r>
          </a:p>
        </p:txBody>
      </p:sp>
      <p:sp>
        <p:nvSpPr>
          <p:cNvPr id="9" name="TextBox 8"/>
          <p:cNvSpPr txBox="1"/>
          <p:nvPr/>
        </p:nvSpPr>
        <p:spPr>
          <a:xfrm>
            <a:off x="716915" y="8201256"/>
            <a:ext cx="4314713" cy="220854"/>
          </a:xfrm>
          <a:prstGeom prst="rect">
            <a:avLst/>
          </a:prstGeom>
          <a:noFill/>
        </p:spPr>
        <p:txBody>
          <a:bodyPr wrap="none" lIns="0" tIns="0" rIns="0" bIns="0">
            <a:noAutofit/>
          </a:bodyPr>
          <a:lstStyle/>
          <a:p>
            <a:pPr algn="l"/>
            <a:r>
              <a:rPr sz="1500" dirty="0">
                <a:solidFill>
                  <a:srgbClr val="FFFFFF"/>
                </a:solidFill>
                <a:latin typeface="Helvetica Neue Thin"/>
              </a:rPr>
              <a:t>•  Delays in resourcing for content for translations </a:t>
            </a:r>
          </a:p>
        </p:txBody>
      </p:sp>
      <p:sp>
        <p:nvSpPr>
          <p:cNvPr id="10" name="TextBox 9"/>
          <p:cNvSpPr txBox="1"/>
          <p:nvPr/>
        </p:nvSpPr>
        <p:spPr>
          <a:xfrm>
            <a:off x="834169" y="8496404"/>
            <a:ext cx="4147091" cy="220854"/>
          </a:xfrm>
          <a:prstGeom prst="rect">
            <a:avLst/>
          </a:prstGeom>
          <a:noFill/>
        </p:spPr>
        <p:txBody>
          <a:bodyPr wrap="none" lIns="0" tIns="0" rIns="0" bIns="0">
            <a:noAutofit/>
          </a:bodyPr>
          <a:lstStyle/>
          <a:p>
            <a:pPr algn="l"/>
            <a:r>
              <a:rPr sz="1500" dirty="0">
                <a:solidFill>
                  <a:srgbClr val="FFFFFF"/>
                </a:solidFill>
                <a:latin typeface="Helvetica Neue Thin"/>
              </a:rPr>
              <a:t>required us to reprioritize some of the features </a:t>
            </a:r>
          </a:p>
        </p:txBody>
      </p:sp>
      <p:sp>
        <p:nvSpPr>
          <p:cNvPr id="11" name="TextBox 10"/>
          <p:cNvSpPr txBox="1"/>
          <p:nvPr/>
        </p:nvSpPr>
        <p:spPr>
          <a:xfrm>
            <a:off x="834169" y="8791552"/>
            <a:ext cx="1720054" cy="220854"/>
          </a:xfrm>
          <a:prstGeom prst="rect">
            <a:avLst/>
          </a:prstGeom>
          <a:noFill/>
        </p:spPr>
        <p:txBody>
          <a:bodyPr wrap="none" lIns="0" tIns="0" rIns="0" bIns="0">
            <a:noAutofit/>
          </a:bodyPr>
          <a:lstStyle/>
          <a:p>
            <a:pPr algn="l"/>
            <a:r>
              <a:rPr sz="1500" dirty="0">
                <a:solidFill>
                  <a:srgbClr val="FFFFFF"/>
                </a:solidFill>
                <a:latin typeface="Helvetica Neue Thin"/>
              </a:rPr>
              <a:t>and refactor sprints</a:t>
            </a:r>
          </a:p>
        </p:txBody>
      </p:sp>
      <p:sp>
        <p:nvSpPr>
          <p:cNvPr id="12" name="TextBox 11"/>
          <p:cNvSpPr txBox="1"/>
          <p:nvPr/>
        </p:nvSpPr>
        <p:spPr>
          <a:xfrm>
            <a:off x="457200" y="939800"/>
            <a:ext cx="4372609" cy="476250"/>
          </a:xfrm>
          <a:prstGeom prst="rect">
            <a:avLst/>
          </a:prstGeom>
          <a:noFill/>
        </p:spPr>
        <p:txBody>
          <a:bodyPr wrap="none" lIns="0" tIns="0" rIns="0" bIns="0">
            <a:noAutofit/>
          </a:bodyPr>
          <a:lstStyle/>
          <a:p>
            <a:pPr algn="l"/>
            <a:r>
              <a:rPr sz="3000" dirty="0">
                <a:solidFill>
                  <a:srgbClr val="1F1F1F"/>
                </a:solidFill>
                <a:latin typeface="Helvetica Neue Light"/>
              </a:rPr>
              <a:t>Dashboard Design Sprint</a:t>
            </a:r>
          </a:p>
        </p:txBody>
      </p:sp>
      <p:sp>
        <p:nvSpPr>
          <p:cNvPr id="13" name="TextBox 12"/>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Credit Suisse OBI</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460375" y="2452954"/>
            <a:ext cx="7708621" cy="7083112"/>
          </a:xfrm>
          <a:prstGeom prst="rect">
            <a:avLst/>
          </a:prstGeom>
        </p:spPr>
      </p:pic>
      <p:pic>
        <p:nvPicPr>
          <p:cNvPr id="4" name="Picture 2" descr="image.png"/>
          <p:cNvPicPr>
            <a:picLocks noChangeAspect="1"/>
          </p:cNvPicPr>
          <p:nvPr/>
        </p:nvPicPr>
        <p:blipFill>
          <a:blip r:embed="rId4"/>
          <a:stretch>
            <a:fillRect/>
          </a:stretch>
        </p:blipFill>
        <p:spPr>
          <a:xfrm>
            <a:off x="4727309" y="6949873"/>
            <a:ext cx="8058784" cy="2803726"/>
          </a:xfrm>
          <a:prstGeom prst="rect">
            <a:avLst/>
          </a:prstGeom>
        </p:spPr>
      </p:pic>
      <p:sp>
        <p:nvSpPr>
          <p:cNvPr id="5" name="TextBox 4"/>
          <p:cNvSpPr txBox="1"/>
          <p:nvPr/>
        </p:nvSpPr>
        <p:spPr>
          <a:xfrm>
            <a:off x="457200" y="1545335"/>
            <a:ext cx="10487746" cy="600456"/>
          </a:xfrm>
          <a:prstGeom prst="rect">
            <a:avLst/>
          </a:prstGeom>
          <a:noFill/>
        </p:spPr>
        <p:txBody>
          <a:bodyPr wrap="square" lIns="0" tIns="0" rIns="0" bIns="0">
            <a:noAutofit/>
          </a:bodyPr>
          <a:lstStyle/>
          <a:p>
            <a:pPr algn="l">
              <a:lnSpc>
                <a:spcPts val="2400"/>
              </a:lnSpc>
            </a:pPr>
            <a:r>
              <a:rPr sz="2000" dirty="0">
                <a:solidFill>
                  <a:srgbClr val="000000"/>
                </a:solidFill>
                <a:latin typeface="Helvetica Neue Thin"/>
              </a:rPr>
              <a:t>The final dashboard allowed submitters to access a wizard, answering only 2 questions to determine the correct form required. </a:t>
            </a:r>
          </a:p>
        </p:txBody>
      </p:sp>
      <p:sp>
        <p:nvSpPr>
          <p:cNvPr id="6" name="TextBox 5"/>
          <p:cNvSpPr txBox="1"/>
          <p:nvPr/>
        </p:nvSpPr>
        <p:spPr>
          <a:xfrm>
            <a:off x="8526418" y="2426663"/>
            <a:ext cx="1115553" cy="216560"/>
          </a:xfrm>
          <a:prstGeom prst="rect">
            <a:avLst/>
          </a:prstGeom>
          <a:noFill/>
        </p:spPr>
        <p:txBody>
          <a:bodyPr wrap="none" lIns="0" tIns="0" rIns="0" bIns="0">
            <a:noAutofit/>
          </a:bodyPr>
          <a:lstStyle/>
          <a:p>
            <a:pPr algn="l"/>
            <a:r>
              <a:rPr sz="1400" dirty="0">
                <a:solidFill>
                  <a:srgbClr val="000000"/>
                </a:solidFill>
                <a:latin typeface="Helvetica Neue Light"/>
              </a:rPr>
              <a:t>Final Version</a:t>
            </a:r>
          </a:p>
        </p:txBody>
      </p:sp>
      <p:sp>
        <p:nvSpPr>
          <p:cNvPr id="7" name="TextBox 6"/>
          <p:cNvSpPr txBox="1"/>
          <p:nvPr/>
        </p:nvSpPr>
        <p:spPr>
          <a:xfrm>
            <a:off x="457200" y="939800"/>
            <a:ext cx="4372609" cy="476250"/>
          </a:xfrm>
          <a:prstGeom prst="rect">
            <a:avLst/>
          </a:prstGeom>
          <a:noFill/>
        </p:spPr>
        <p:txBody>
          <a:bodyPr wrap="none" lIns="0" tIns="0" rIns="0" bIns="0">
            <a:noAutofit/>
          </a:bodyPr>
          <a:lstStyle/>
          <a:p>
            <a:pPr algn="l"/>
            <a:r>
              <a:rPr sz="3000" dirty="0">
                <a:solidFill>
                  <a:srgbClr val="1F1F1F"/>
                </a:solidFill>
                <a:latin typeface="Helvetica Neue Light"/>
              </a:rPr>
              <a:t>Dashboard Design Sprint</a:t>
            </a:r>
          </a:p>
        </p:txBody>
      </p:sp>
      <p:sp>
        <p:nvSpPr>
          <p:cNvPr id="8" name="TextBox 7"/>
          <p:cNvSpPr txBox="1"/>
          <p:nvPr/>
        </p:nvSpPr>
        <p:spPr>
          <a:xfrm>
            <a:off x="7708900" y="4856478"/>
            <a:ext cx="4756160" cy="604011"/>
          </a:xfrm>
          <a:prstGeom prst="rect">
            <a:avLst/>
          </a:prstGeom>
          <a:noFill/>
        </p:spPr>
        <p:txBody>
          <a:bodyPr wrap="none" lIns="0" tIns="0" rIns="0" bIns="0">
            <a:noAutofit/>
          </a:bodyPr>
          <a:lstStyle/>
          <a:p>
            <a:pPr algn="l">
              <a:lnSpc>
                <a:spcPts val="2400"/>
              </a:lnSpc>
            </a:pPr>
            <a:r>
              <a:rPr sz="2000" dirty="0">
                <a:solidFill>
                  <a:srgbClr val="FFFFFF"/>
                </a:solidFill>
                <a:latin typeface="Helvetica Neue Light"/>
              </a:rPr>
              <a:t>What we learned in the research</a:t>
            </a:r>
          </a:p>
          <a:p>
            <a:pPr algn="l">
              <a:lnSpc>
                <a:spcPts val="2400"/>
              </a:lnSpc>
            </a:pPr>
            <a:r>
              <a:rPr sz="2000" dirty="0">
                <a:solidFill>
                  <a:srgbClr val="FFFFFF"/>
                </a:solidFill>
                <a:latin typeface="Helvetica Neue Thin"/>
              </a:rPr>
              <a:t>•  Final solution allowed easy access to  </a:t>
            </a:r>
          </a:p>
        </p:txBody>
      </p:sp>
      <p:sp>
        <p:nvSpPr>
          <p:cNvPr id="9" name="TextBox 8"/>
          <p:cNvSpPr txBox="1"/>
          <p:nvPr/>
        </p:nvSpPr>
        <p:spPr>
          <a:xfrm>
            <a:off x="7708900" y="5469634"/>
            <a:ext cx="2733373" cy="956055"/>
          </a:xfrm>
          <a:prstGeom prst="rect">
            <a:avLst/>
          </a:prstGeom>
          <a:noFill/>
        </p:spPr>
        <p:txBody>
          <a:bodyPr wrap="none" lIns="0" tIns="0" rIns="0" bIns="0">
            <a:noAutofit/>
          </a:bodyPr>
          <a:lstStyle/>
          <a:p>
            <a:pPr marL="228600" algn="l">
              <a:lnSpc>
                <a:spcPts val="2600"/>
              </a:lnSpc>
            </a:pPr>
            <a:r>
              <a:rPr sz="2000" dirty="0">
                <a:solidFill>
                  <a:srgbClr val="FFFFFF"/>
                </a:solidFill>
                <a:latin typeface="Helvetica Neue Thin"/>
              </a:rPr>
              <a:t>education</a:t>
            </a:r>
          </a:p>
          <a:p>
            <a:pPr algn="l">
              <a:lnSpc>
                <a:spcPts val="2600"/>
              </a:lnSpc>
            </a:pPr>
            <a:r>
              <a:rPr sz="2000" dirty="0">
                <a:solidFill>
                  <a:srgbClr val="FFFFFF"/>
                </a:solidFill>
                <a:latin typeface="Helvetica Neue Thin"/>
              </a:rPr>
              <a:t>• Cleaner interface </a:t>
            </a:r>
          </a:p>
          <a:p>
            <a:pPr algn="l">
              <a:lnSpc>
                <a:spcPts val="2600"/>
              </a:lnSpc>
              <a:spcBef>
                <a:spcPts val="200"/>
              </a:spcBef>
            </a:pPr>
            <a:r>
              <a:rPr sz="2000" dirty="0">
                <a:solidFill>
                  <a:srgbClr val="FFFFFF"/>
                </a:solidFill>
                <a:latin typeface="Helvetica Neue Thin"/>
              </a:rPr>
              <a:t>• Ability to quickly start</a:t>
            </a:r>
          </a:p>
        </p:txBody>
      </p:sp>
      <p:sp>
        <p:nvSpPr>
          <p:cNvPr id="10" name="TextBox 9"/>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Credit Suisse OBI</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1905000" y="4682028"/>
            <a:ext cx="3728525" cy="2082088"/>
          </a:xfrm>
          <a:prstGeom prst="rect">
            <a:avLst/>
          </a:prstGeom>
          <a:noFill/>
        </p:spPr>
        <p:txBody>
          <a:bodyPr wrap="none" lIns="0" tIns="0" rIns="0" bIns="0">
            <a:noAutofit/>
          </a:bodyPr>
          <a:lstStyle/>
          <a:p>
            <a:pPr algn="l">
              <a:lnSpc>
                <a:spcPts val="5519"/>
              </a:lnSpc>
            </a:pPr>
            <a:r>
              <a:rPr sz="4600" dirty="0">
                <a:solidFill>
                  <a:srgbClr val="FFFFFF"/>
                </a:solidFill>
                <a:latin typeface="Helvetica Neue Thin"/>
              </a:rPr>
              <a:t>Submitter </a:t>
            </a:r>
          </a:p>
          <a:p>
            <a:pPr algn="l">
              <a:lnSpc>
                <a:spcPts val="5519"/>
              </a:lnSpc>
            </a:pPr>
            <a:r>
              <a:rPr sz="4600" dirty="0">
                <a:solidFill>
                  <a:srgbClr val="FFFFFF"/>
                </a:solidFill>
                <a:latin typeface="Helvetica Neue Thin"/>
              </a:rPr>
              <a:t>Dashboard </a:t>
            </a:r>
          </a:p>
          <a:p>
            <a:pPr algn="l">
              <a:lnSpc>
                <a:spcPts val="5519"/>
              </a:lnSpc>
            </a:pPr>
            <a:r>
              <a:rPr sz="4600" dirty="0">
                <a:solidFill>
                  <a:srgbClr val="FFFFFF"/>
                </a:solidFill>
                <a:latin typeface="Helvetica Neue Thin"/>
              </a:rPr>
              <a:t>Landing Page</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1247775" y="2431120"/>
            <a:ext cx="10021121" cy="6637108"/>
          </a:xfrm>
          <a:prstGeom prst="rect">
            <a:avLst/>
          </a:prstGeom>
        </p:spPr>
      </p:pic>
      <p:sp>
        <p:nvSpPr>
          <p:cNvPr id="4" name="TextBox 3"/>
          <p:cNvSpPr txBox="1"/>
          <p:nvPr/>
        </p:nvSpPr>
        <p:spPr>
          <a:xfrm>
            <a:off x="457200" y="921439"/>
            <a:ext cx="12619951" cy="767674"/>
          </a:xfrm>
          <a:prstGeom prst="rect">
            <a:avLst/>
          </a:prstGeom>
          <a:noFill/>
        </p:spPr>
        <p:txBody>
          <a:bodyPr wrap="none" lIns="0" tIns="0" rIns="0" bIns="0">
            <a:noAutofit/>
          </a:bodyPr>
          <a:lstStyle/>
          <a:p>
            <a:pPr marL="8053825" algn="l">
              <a:lnSpc>
                <a:spcPts val="1442"/>
              </a:lnSpc>
            </a:pPr>
            <a:r>
              <a:rPr sz="1500" dirty="0">
                <a:solidFill>
                  <a:srgbClr val="FFFFFF"/>
                </a:solidFill>
                <a:latin typeface="Helvetica Neue Light"/>
              </a:rPr>
              <a:t>Legacy requests refer to your disclosures</a:t>
            </a:r>
          </a:p>
          <a:p>
            <a:pPr algn="l">
              <a:lnSpc>
                <a:spcPts val="1442"/>
              </a:lnSpc>
            </a:pPr>
            <a:r>
              <a:rPr sz="3000" dirty="0">
                <a:solidFill>
                  <a:srgbClr val="000000"/>
                </a:solidFill>
                <a:latin typeface="Helvetica Neue Light"/>
              </a:rPr>
              <a:t>Landing Page Design Sprint</a:t>
            </a:r>
          </a:p>
          <a:p>
            <a:pPr marL="8054018" algn="l">
              <a:lnSpc>
                <a:spcPts val="1442"/>
              </a:lnSpc>
            </a:pPr>
            <a:r>
              <a:rPr sz="1500" dirty="0">
                <a:solidFill>
                  <a:srgbClr val="FFFFFF"/>
                </a:solidFill>
                <a:latin typeface="Helvetica Neue Light"/>
              </a:rPr>
              <a:t>from the previous system, OIRS, that have</a:t>
            </a:r>
          </a:p>
          <a:p>
            <a:pPr marL="8053825" algn="l">
              <a:lnSpc>
                <a:spcPts val="1442"/>
              </a:lnSpc>
              <a:spcBef>
                <a:spcPts val="668"/>
              </a:spcBef>
            </a:pPr>
            <a:r>
              <a:rPr sz="1500" dirty="0">
                <a:solidFill>
                  <a:srgbClr val="FFFFFF"/>
                </a:solidFill>
                <a:latin typeface="Helvetica Neue Light"/>
              </a:rPr>
              <a:t>been migrated into OBI.</a:t>
            </a:r>
          </a:p>
        </p:txBody>
      </p:sp>
      <p:sp>
        <p:nvSpPr>
          <p:cNvPr id="5" name="TextBox 4"/>
          <p:cNvSpPr txBox="1"/>
          <p:nvPr/>
        </p:nvSpPr>
        <p:spPr>
          <a:xfrm>
            <a:off x="8413805" y="7034295"/>
            <a:ext cx="3882259" cy="1914989"/>
          </a:xfrm>
          <a:prstGeom prst="rect">
            <a:avLst/>
          </a:prstGeom>
          <a:noFill/>
        </p:spPr>
        <p:txBody>
          <a:bodyPr wrap="square" lIns="0" tIns="0" rIns="0" bIns="0">
            <a:noAutofit/>
          </a:bodyPr>
          <a:lstStyle/>
          <a:p>
            <a:pPr algn="l">
              <a:lnSpc>
                <a:spcPts val="2223"/>
              </a:lnSpc>
            </a:pPr>
            <a:r>
              <a:rPr sz="1600" dirty="0">
                <a:solidFill>
                  <a:srgbClr val="FFFFFF"/>
                </a:solidFill>
                <a:latin typeface="Helvetica"/>
              </a:rPr>
              <a:t>The OBI landing page shows the requester dashboard. By default, the tab</a:t>
            </a:r>
          </a:p>
          <a:p>
            <a:pPr algn="l">
              <a:lnSpc>
                <a:spcPts val="2223"/>
              </a:lnSpc>
              <a:spcBef>
                <a:spcPts val="139"/>
              </a:spcBef>
            </a:pPr>
            <a:r>
              <a:rPr sz="1600" dirty="0">
                <a:solidFill>
                  <a:srgbClr val="FFFFFF"/>
                </a:solidFill>
                <a:latin typeface="Helvetica"/>
              </a:rPr>
              <a:t>“Your Requests” will be visible. </a:t>
            </a:r>
          </a:p>
          <a:p>
            <a:pPr algn="l">
              <a:lnSpc>
                <a:spcPts val="2223"/>
              </a:lnSpc>
            </a:pPr>
            <a:r>
              <a:rPr sz="1600" dirty="0">
                <a:solidFill>
                  <a:srgbClr val="FFFFFF"/>
                </a:solidFill>
                <a:latin typeface="Helvetica"/>
              </a:rPr>
              <a:t>This has three sections :</a:t>
            </a:r>
          </a:p>
          <a:p>
            <a:pPr algn="l">
              <a:lnSpc>
                <a:spcPts val="2223"/>
              </a:lnSpc>
            </a:pPr>
            <a:r>
              <a:rPr sz="1600" dirty="0">
                <a:solidFill>
                  <a:srgbClr val="FFFFFF"/>
                </a:solidFill>
                <a:latin typeface="Helvetica"/>
              </a:rPr>
              <a:t>1. Drafts Saved</a:t>
            </a:r>
          </a:p>
          <a:p>
            <a:pPr algn="l">
              <a:lnSpc>
                <a:spcPts val="2223"/>
              </a:lnSpc>
            </a:pPr>
            <a:r>
              <a:rPr sz="1600" dirty="0">
                <a:solidFill>
                  <a:srgbClr val="FFFFFF"/>
                </a:solidFill>
                <a:latin typeface="Helvetica"/>
              </a:rPr>
              <a:t>2. Pending Requests</a:t>
            </a:r>
          </a:p>
          <a:p>
            <a:pPr algn="l">
              <a:lnSpc>
                <a:spcPts val="2223"/>
              </a:lnSpc>
            </a:pPr>
            <a:r>
              <a:rPr sz="1600" dirty="0">
                <a:solidFill>
                  <a:srgbClr val="FFFFFF"/>
                </a:solidFill>
                <a:latin typeface="Helvetica"/>
              </a:rPr>
              <a:t>3. Completed Requests</a:t>
            </a:r>
          </a:p>
        </p:txBody>
      </p:sp>
      <p:sp>
        <p:nvSpPr>
          <p:cNvPr id="6" name="TextBox 5"/>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Credit Suisse OBI</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1676400" y="1333750"/>
            <a:ext cx="2405629" cy="1412595"/>
          </a:xfrm>
          <a:prstGeom prst="rect">
            <a:avLst/>
          </a:prstGeom>
          <a:noFill/>
        </p:spPr>
        <p:txBody>
          <a:bodyPr wrap="square" lIns="0" tIns="0" rIns="0" bIns="0">
            <a:noAutofit/>
          </a:bodyPr>
          <a:lstStyle/>
          <a:p>
            <a:pPr algn="l">
              <a:lnSpc>
                <a:spcPts val="5519"/>
              </a:lnSpc>
            </a:pPr>
            <a:r>
              <a:rPr sz="4600" dirty="0">
                <a:solidFill>
                  <a:srgbClr val="FFFFFF"/>
                </a:solidFill>
                <a:latin typeface="Helvetica Neue Light"/>
              </a:rPr>
              <a:t>Approver Features</a:t>
            </a:r>
          </a:p>
        </p:txBody>
      </p:sp>
      <p:sp>
        <p:nvSpPr>
          <p:cNvPr id="4" name="TextBox 3"/>
          <p:cNvSpPr txBox="1"/>
          <p:nvPr/>
        </p:nvSpPr>
        <p:spPr>
          <a:xfrm>
            <a:off x="1676400" y="4490055"/>
            <a:ext cx="2100738" cy="1448409"/>
          </a:xfrm>
          <a:prstGeom prst="rect">
            <a:avLst/>
          </a:prstGeom>
          <a:noFill/>
        </p:spPr>
        <p:txBody>
          <a:bodyPr wrap="none" lIns="0" tIns="0" rIns="0" bIns="0">
            <a:noAutofit/>
          </a:bodyPr>
          <a:lstStyle/>
          <a:p>
            <a:pPr algn="l">
              <a:lnSpc>
                <a:spcPts val="3839"/>
              </a:lnSpc>
            </a:pPr>
            <a:r>
              <a:rPr sz="3200" dirty="0">
                <a:solidFill>
                  <a:srgbClr val="FFFFFF"/>
                </a:solidFill>
                <a:latin typeface="Helvetica Neue Thin"/>
              </a:rPr>
              <a:t>• Proxies</a:t>
            </a:r>
          </a:p>
          <a:p>
            <a:pPr algn="l">
              <a:lnSpc>
                <a:spcPts val="3839"/>
              </a:lnSpc>
            </a:pPr>
            <a:r>
              <a:rPr sz="3200" dirty="0">
                <a:solidFill>
                  <a:srgbClr val="FFFFFF"/>
                </a:solidFill>
                <a:latin typeface="Helvetica Neue Thin"/>
              </a:rPr>
              <a:t>• Reporting</a:t>
            </a:r>
          </a:p>
          <a:p>
            <a:pPr algn="l">
              <a:lnSpc>
                <a:spcPts val="3839"/>
              </a:lnSpc>
            </a:pPr>
            <a:r>
              <a:rPr sz="3200" dirty="0">
                <a:solidFill>
                  <a:srgbClr val="FFFFFF"/>
                </a:solidFill>
                <a:latin typeface="Helvetica Neue Thin"/>
              </a:rPr>
              <a:t>• Queries</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8144498" y="608390"/>
            <a:ext cx="4860301" cy="3896122"/>
          </a:xfrm>
          <a:prstGeom prst="rect">
            <a:avLst/>
          </a:prstGeom>
        </p:spPr>
      </p:pic>
      <p:pic>
        <p:nvPicPr>
          <p:cNvPr id="4" name="Picture 2" descr="image.png"/>
          <p:cNvPicPr>
            <a:picLocks noChangeAspect="1"/>
          </p:cNvPicPr>
          <p:nvPr/>
        </p:nvPicPr>
        <p:blipFill>
          <a:blip r:embed="rId4"/>
          <a:stretch>
            <a:fillRect/>
          </a:stretch>
        </p:blipFill>
        <p:spPr>
          <a:xfrm>
            <a:off x="459987" y="1973744"/>
            <a:ext cx="7470697" cy="4939581"/>
          </a:xfrm>
          <a:prstGeom prst="rect">
            <a:avLst/>
          </a:prstGeom>
        </p:spPr>
      </p:pic>
      <p:pic>
        <p:nvPicPr>
          <p:cNvPr id="5" name="Picture 3" descr="image.png"/>
          <p:cNvPicPr>
            <a:picLocks noChangeAspect="1"/>
          </p:cNvPicPr>
          <p:nvPr/>
        </p:nvPicPr>
        <p:blipFill>
          <a:blip r:embed="rId5"/>
          <a:stretch>
            <a:fillRect/>
          </a:stretch>
        </p:blipFill>
        <p:spPr>
          <a:xfrm>
            <a:off x="7012280" y="5056480"/>
            <a:ext cx="3764236" cy="4248210"/>
          </a:xfrm>
          <a:prstGeom prst="rect">
            <a:avLst/>
          </a:prstGeom>
        </p:spPr>
      </p:pic>
      <p:sp>
        <p:nvSpPr>
          <p:cNvPr id="6" name="TextBox 5"/>
          <p:cNvSpPr txBox="1"/>
          <p:nvPr/>
        </p:nvSpPr>
        <p:spPr>
          <a:xfrm>
            <a:off x="457200" y="939800"/>
            <a:ext cx="5088890" cy="476250"/>
          </a:xfrm>
          <a:prstGeom prst="rect">
            <a:avLst/>
          </a:prstGeom>
          <a:noFill/>
        </p:spPr>
        <p:txBody>
          <a:bodyPr wrap="none" lIns="0" tIns="0" rIns="0" bIns="0">
            <a:noAutofit/>
          </a:bodyPr>
          <a:lstStyle/>
          <a:p>
            <a:pPr algn="l"/>
            <a:r>
              <a:rPr sz="3000" dirty="0">
                <a:solidFill>
                  <a:srgbClr val="1F1F1F"/>
                </a:solidFill>
                <a:latin typeface="Helvetica Neue Light"/>
              </a:rPr>
              <a:t>Proxy Request Design Sprint</a:t>
            </a:r>
          </a:p>
        </p:txBody>
      </p:sp>
      <p:sp>
        <p:nvSpPr>
          <p:cNvPr id="7" name="TextBox 6"/>
          <p:cNvSpPr txBox="1"/>
          <p:nvPr/>
        </p:nvSpPr>
        <p:spPr>
          <a:xfrm>
            <a:off x="4875225" y="3220213"/>
            <a:ext cx="2703782" cy="729362"/>
          </a:xfrm>
          <a:prstGeom prst="rect">
            <a:avLst/>
          </a:prstGeom>
          <a:noFill/>
        </p:spPr>
        <p:txBody>
          <a:bodyPr wrap="square" lIns="0" tIns="0" rIns="0" bIns="0">
            <a:noAutofit/>
          </a:bodyPr>
          <a:lstStyle/>
          <a:p>
            <a:pPr algn="l">
              <a:lnSpc>
                <a:spcPts val="1492"/>
              </a:lnSpc>
            </a:pPr>
            <a:r>
              <a:rPr sz="1050" dirty="0">
                <a:solidFill>
                  <a:srgbClr val="FFFFFF"/>
                </a:solidFill>
                <a:latin typeface="Helvetica Neue Light"/>
              </a:rPr>
              <a:t>For situations where individuals cannot access OBI themselves to make the </a:t>
            </a:r>
          </a:p>
          <a:p>
            <a:pPr algn="l">
              <a:lnSpc>
                <a:spcPts val="1492"/>
              </a:lnSpc>
            </a:pPr>
            <a:r>
              <a:rPr sz="1050" dirty="0">
                <a:solidFill>
                  <a:srgbClr val="FFFFFF"/>
                </a:solidFill>
                <a:latin typeface="Helvetica Neue Light"/>
              </a:rPr>
              <a:t>necessary disclosure submissions, OBI has proxy functions.</a:t>
            </a:r>
          </a:p>
        </p:txBody>
      </p:sp>
      <p:sp>
        <p:nvSpPr>
          <p:cNvPr id="8" name="TextBox 7"/>
          <p:cNvSpPr txBox="1"/>
          <p:nvPr/>
        </p:nvSpPr>
        <p:spPr>
          <a:xfrm>
            <a:off x="813226" y="6057964"/>
            <a:ext cx="2764311" cy="918960"/>
          </a:xfrm>
          <a:prstGeom prst="rect">
            <a:avLst/>
          </a:prstGeom>
          <a:noFill/>
        </p:spPr>
        <p:txBody>
          <a:bodyPr wrap="square" lIns="0" tIns="0" rIns="0" bIns="0">
            <a:noAutofit/>
          </a:bodyPr>
          <a:lstStyle/>
          <a:p>
            <a:pPr algn="l">
              <a:lnSpc>
                <a:spcPts val="1492"/>
              </a:lnSpc>
            </a:pPr>
            <a:r>
              <a:rPr sz="1050" dirty="0">
                <a:solidFill>
                  <a:srgbClr val="FFFFFF"/>
                </a:solidFill>
                <a:latin typeface="Helvetica Neue Light"/>
              </a:rPr>
              <a:t>With these functions, staff members can name other staff members who can act as proxies. Proxies have the ability to submit requests on behalf of others who have given them this permission.</a:t>
            </a:r>
          </a:p>
        </p:txBody>
      </p:sp>
      <p:sp>
        <p:nvSpPr>
          <p:cNvPr id="9" name="TextBox 8"/>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Credit Suisse OBI</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2032000" y="5994650"/>
            <a:ext cx="2691266" cy="711555"/>
          </a:xfrm>
          <a:prstGeom prst="rect">
            <a:avLst/>
          </a:prstGeom>
          <a:noFill/>
        </p:spPr>
        <p:txBody>
          <a:bodyPr wrap="none" lIns="0" tIns="0" rIns="0" bIns="0">
            <a:noAutofit/>
          </a:bodyPr>
          <a:lstStyle/>
          <a:p>
            <a:pPr algn="l"/>
            <a:r>
              <a:rPr sz="4600" dirty="0">
                <a:solidFill>
                  <a:srgbClr val="FFFFFF"/>
                </a:solidFill>
                <a:latin typeface="Helvetica Neue Light"/>
              </a:rPr>
              <a:t>Reporting</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5209477" y="700976"/>
            <a:ext cx="7572177" cy="9052623"/>
          </a:xfrm>
          <a:prstGeom prst="rect">
            <a:avLst/>
          </a:prstGeom>
        </p:spPr>
      </p:pic>
      <p:sp>
        <p:nvSpPr>
          <p:cNvPr id="4" name="TextBox 3"/>
          <p:cNvSpPr txBox="1"/>
          <p:nvPr/>
        </p:nvSpPr>
        <p:spPr>
          <a:xfrm>
            <a:off x="457200" y="939800"/>
            <a:ext cx="4372609" cy="476250"/>
          </a:xfrm>
          <a:prstGeom prst="rect">
            <a:avLst/>
          </a:prstGeom>
          <a:noFill/>
        </p:spPr>
        <p:txBody>
          <a:bodyPr wrap="none" lIns="0" tIns="0" rIns="0" bIns="0">
            <a:noAutofit/>
          </a:bodyPr>
          <a:lstStyle/>
          <a:p>
            <a:pPr algn="l"/>
            <a:r>
              <a:rPr sz="3000" dirty="0">
                <a:solidFill>
                  <a:srgbClr val="1F1F1F"/>
                </a:solidFill>
                <a:latin typeface="Helvetica Neue Light"/>
              </a:rPr>
              <a:t>Reporting Design Sprint</a:t>
            </a:r>
          </a:p>
        </p:txBody>
      </p:sp>
      <p:sp>
        <p:nvSpPr>
          <p:cNvPr id="5" name="TextBox 4"/>
          <p:cNvSpPr txBox="1"/>
          <p:nvPr/>
        </p:nvSpPr>
        <p:spPr>
          <a:xfrm>
            <a:off x="704906" y="6945395"/>
            <a:ext cx="3882256" cy="1914989"/>
          </a:xfrm>
          <a:prstGeom prst="rect">
            <a:avLst/>
          </a:prstGeom>
          <a:noFill/>
        </p:spPr>
        <p:txBody>
          <a:bodyPr wrap="square" lIns="0" tIns="0" rIns="0" bIns="0">
            <a:noAutofit/>
          </a:bodyPr>
          <a:lstStyle/>
          <a:p>
            <a:pPr algn="l">
              <a:lnSpc>
                <a:spcPts val="2223"/>
              </a:lnSpc>
            </a:pPr>
            <a:r>
              <a:rPr sz="1600" dirty="0">
                <a:solidFill>
                  <a:srgbClr val="FFFFFF"/>
                </a:solidFill>
                <a:latin typeface="Helvetica"/>
              </a:rPr>
              <a:t>Reporting lets Risk &amp; Compliance Managers search requests by ID, requester, status, type, submission dates, company and office, then download the results as Excel or PDF.</a:t>
            </a:r>
          </a:p>
        </p:txBody>
      </p:sp>
      <p:sp>
        <p:nvSpPr>
          <p:cNvPr id="6" name="TextBox 5"/>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Credit Suisse OBI</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6734175" y="3227002"/>
            <a:ext cx="4151041" cy="6526597"/>
          </a:xfrm>
          <a:prstGeom prst="rect">
            <a:avLst/>
          </a:prstGeom>
        </p:spPr>
      </p:pic>
      <p:sp>
        <p:nvSpPr>
          <p:cNvPr id="4" name="TextBox 3"/>
          <p:cNvSpPr txBox="1"/>
          <p:nvPr/>
        </p:nvSpPr>
        <p:spPr>
          <a:xfrm>
            <a:off x="457200" y="738884"/>
            <a:ext cx="10221345" cy="216560"/>
          </a:xfrm>
          <a:prstGeom prst="rect">
            <a:avLst/>
          </a:prstGeom>
          <a:noFill/>
        </p:spPr>
        <p:txBody>
          <a:bodyPr wrap="none" lIns="0" tIns="0" rIns="0" bIns="0">
            <a:noAutofit/>
          </a:bodyPr>
          <a:lstStyle/>
          <a:p>
            <a:pPr algn="l"/>
            <a:r>
              <a:rPr sz="1400" dirty="0">
                <a:solidFill>
                  <a:srgbClr val="000000"/>
                </a:solidFill>
                <a:latin typeface="Helvetica Neue Light"/>
              </a:rPr>
              <a:t>End-to-end design process, including Design Thinking and AI-supported methods, for a trading experience that serves a </a:t>
            </a:r>
          </a:p>
        </p:txBody>
      </p:sp>
      <p:sp>
        <p:nvSpPr>
          <p:cNvPr id="5" name="TextBox 4"/>
          <p:cNvSpPr txBox="1"/>
          <p:nvPr/>
        </p:nvSpPr>
        <p:spPr>
          <a:xfrm>
            <a:off x="457200" y="1056384"/>
            <a:ext cx="7172240" cy="216560"/>
          </a:xfrm>
          <a:prstGeom prst="rect">
            <a:avLst/>
          </a:prstGeom>
          <a:noFill/>
        </p:spPr>
        <p:txBody>
          <a:bodyPr wrap="none" lIns="0" tIns="0" rIns="0" bIns="0">
            <a:noAutofit/>
          </a:bodyPr>
          <a:lstStyle/>
          <a:p>
            <a:pPr algn="l"/>
            <a:r>
              <a:rPr sz="1400" dirty="0">
                <a:solidFill>
                  <a:srgbClr val="000000"/>
                </a:solidFill>
                <a:latin typeface="Helvetica Neue Light"/>
              </a:rPr>
              <a:t>wide variety of Wells Fargo customers and gives them an easier way to trade</a:t>
            </a:r>
          </a:p>
        </p:txBody>
      </p:sp>
      <p:sp>
        <p:nvSpPr>
          <p:cNvPr id="6" name="TextBox 5"/>
          <p:cNvSpPr txBox="1"/>
          <p:nvPr/>
        </p:nvSpPr>
        <p:spPr>
          <a:xfrm>
            <a:off x="457200" y="1675128"/>
            <a:ext cx="3382800" cy="742492"/>
          </a:xfrm>
          <a:prstGeom prst="rect">
            <a:avLst/>
          </a:prstGeom>
          <a:noFill/>
        </p:spPr>
        <p:txBody>
          <a:bodyPr wrap="none" lIns="0" tIns="0" rIns="0" bIns="0">
            <a:noAutofit/>
          </a:bodyPr>
          <a:lstStyle/>
          <a:p>
            <a:pPr algn="l"/>
            <a:r>
              <a:rPr sz="4800" dirty="0">
                <a:solidFill>
                  <a:srgbClr val="000000"/>
                </a:solidFill>
                <a:latin typeface="Helvetica Neue Light"/>
              </a:rPr>
              <a:t>Wells Fargo</a:t>
            </a:r>
          </a:p>
        </p:txBody>
      </p:sp>
      <p:sp>
        <p:nvSpPr>
          <p:cNvPr id="7" name="TextBox 6"/>
          <p:cNvSpPr txBox="1"/>
          <p:nvPr/>
        </p:nvSpPr>
        <p:spPr>
          <a:xfrm>
            <a:off x="457200" y="2654044"/>
            <a:ext cx="3430795" cy="371246"/>
          </a:xfrm>
          <a:prstGeom prst="rect">
            <a:avLst/>
          </a:prstGeom>
          <a:noFill/>
        </p:spPr>
        <p:txBody>
          <a:bodyPr wrap="none" lIns="0" tIns="0" rIns="0" bIns="0">
            <a:noAutofit/>
          </a:bodyPr>
          <a:lstStyle/>
          <a:p>
            <a:pPr algn="l"/>
            <a:r>
              <a:rPr sz="2400" dirty="0">
                <a:solidFill>
                  <a:srgbClr val="000000"/>
                </a:solidFill>
                <a:latin typeface="Helvetica Neue Light"/>
              </a:rPr>
              <a:t>Integrated Trade Ticket </a:t>
            </a:r>
          </a:p>
        </p:txBody>
      </p:sp>
      <p:sp>
        <p:nvSpPr>
          <p:cNvPr id="8" name="TextBox 7"/>
          <p:cNvSpPr txBox="1"/>
          <p:nvPr/>
        </p:nvSpPr>
        <p:spPr>
          <a:xfrm>
            <a:off x="457200" y="4281930"/>
            <a:ext cx="5448485" cy="278434"/>
          </a:xfrm>
          <a:prstGeom prst="rect">
            <a:avLst/>
          </a:prstGeom>
          <a:noFill/>
        </p:spPr>
        <p:txBody>
          <a:bodyPr wrap="none" lIns="0" tIns="0" rIns="0" bIns="0">
            <a:noAutofit/>
          </a:bodyPr>
          <a:lstStyle/>
          <a:p>
            <a:pPr algn="l"/>
            <a:r>
              <a:rPr sz="1800" dirty="0">
                <a:solidFill>
                  <a:srgbClr val="000000"/>
                </a:solidFill>
                <a:latin typeface="Helvetica Neue Light"/>
              </a:rPr>
              <a:t>Helping Wells Fargo increase revenue by allowing </a:t>
            </a:r>
          </a:p>
        </p:txBody>
      </p:sp>
      <p:sp>
        <p:nvSpPr>
          <p:cNvPr id="9" name="TextBox 8"/>
          <p:cNvSpPr txBox="1"/>
          <p:nvPr/>
        </p:nvSpPr>
        <p:spPr>
          <a:xfrm>
            <a:off x="457200" y="4726430"/>
            <a:ext cx="4591317" cy="278434"/>
          </a:xfrm>
          <a:prstGeom prst="rect">
            <a:avLst/>
          </a:prstGeom>
          <a:noFill/>
        </p:spPr>
        <p:txBody>
          <a:bodyPr wrap="none" lIns="0" tIns="0" rIns="0" bIns="0">
            <a:noAutofit/>
          </a:bodyPr>
          <a:lstStyle/>
          <a:p>
            <a:pPr algn="l"/>
            <a:r>
              <a:rPr sz="1800" dirty="0">
                <a:solidFill>
                  <a:srgbClr val="000000"/>
                </a:solidFill>
                <a:latin typeface="Helvetica Neue Light"/>
              </a:rPr>
              <a:t>users to transact by share or dollar amount</a:t>
            </a:r>
          </a:p>
        </p:txBody>
      </p:sp>
      <p:sp>
        <p:nvSpPr>
          <p:cNvPr id="10" name="TextBox 9"/>
          <p:cNvSpPr txBox="1"/>
          <p:nvPr/>
        </p:nvSpPr>
        <p:spPr>
          <a:xfrm>
            <a:off x="1080818" y="6647178"/>
            <a:ext cx="5331102" cy="309372"/>
          </a:xfrm>
          <a:prstGeom prst="rect">
            <a:avLst/>
          </a:prstGeom>
          <a:noFill/>
        </p:spPr>
        <p:txBody>
          <a:bodyPr wrap="none" lIns="0" tIns="0" rIns="0" bIns="0">
            <a:noAutofit/>
          </a:bodyPr>
          <a:lstStyle/>
          <a:p>
            <a:pPr algn="l"/>
            <a:r>
              <a:rPr sz="2000" dirty="0">
                <a:solidFill>
                  <a:srgbClr val="000000"/>
                </a:solidFill>
                <a:latin typeface="Helvetica Neue Light"/>
              </a:rPr>
              <a:t>“It’s a confusing interface, the app’s interface </a:t>
            </a:r>
          </a:p>
        </p:txBody>
      </p:sp>
      <p:sp>
        <p:nvSpPr>
          <p:cNvPr id="11" name="TextBox 10"/>
          <p:cNvSpPr txBox="1"/>
          <p:nvPr/>
        </p:nvSpPr>
        <p:spPr>
          <a:xfrm>
            <a:off x="1089454" y="7040878"/>
            <a:ext cx="5312504" cy="309372"/>
          </a:xfrm>
          <a:prstGeom prst="rect">
            <a:avLst/>
          </a:prstGeom>
          <a:noFill/>
        </p:spPr>
        <p:txBody>
          <a:bodyPr wrap="none" lIns="0" tIns="0" rIns="0" bIns="0">
            <a:noAutofit/>
          </a:bodyPr>
          <a:lstStyle/>
          <a:p>
            <a:pPr algn="l"/>
            <a:r>
              <a:rPr sz="2000" dirty="0">
                <a:solidFill>
                  <a:srgbClr val="000000"/>
                </a:solidFill>
                <a:latin typeface="Helvetica Neue Light"/>
              </a:rPr>
              <a:t>is non-intuitive, making it difficult to navigate </a:t>
            </a:r>
          </a:p>
        </p:txBody>
      </p:sp>
      <p:sp>
        <p:nvSpPr>
          <p:cNvPr id="12" name="TextBox 11"/>
          <p:cNvSpPr txBox="1"/>
          <p:nvPr/>
        </p:nvSpPr>
        <p:spPr>
          <a:xfrm>
            <a:off x="1163233" y="7434578"/>
            <a:ext cx="5153150" cy="309372"/>
          </a:xfrm>
          <a:prstGeom prst="rect">
            <a:avLst/>
          </a:prstGeom>
          <a:noFill/>
        </p:spPr>
        <p:txBody>
          <a:bodyPr wrap="none" lIns="0" tIns="0" rIns="0" bIns="0">
            <a:noAutofit/>
          </a:bodyPr>
          <a:lstStyle/>
          <a:p>
            <a:pPr algn="l"/>
            <a:r>
              <a:rPr sz="2000" dirty="0">
                <a:solidFill>
                  <a:srgbClr val="000000"/>
                </a:solidFill>
                <a:latin typeface="Helvetica Neue Light"/>
              </a:rPr>
              <a:t>and find specific functions or features. This </a:t>
            </a:r>
          </a:p>
        </p:txBody>
      </p:sp>
      <p:sp>
        <p:nvSpPr>
          <p:cNvPr id="13" name="TextBox 12"/>
          <p:cNvSpPr txBox="1"/>
          <p:nvPr/>
        </p:nvSpPr>
        <p:spPr>
          <a:xfrm>
            <a:off x="1071281" y="7828278"/>
            <a:ext cx="5351759" cy="309372"/>
          </a:xfrm>
          <a:prstGeom prst="rect">
            <a:avLst/>
          </a:prstGeom>
          <a:noFill/>
        </p:spPr>
        <p:txBody>
          <a:bodyPr wrap="none" lIns="0" tIns="0" rIns="0" bIns="0">
            <a:noAutofit/>
          </a:bodyPr>
          <a:lstStyle/>
          <a:p>
            <a:pPr algn="l"/>
            <a:r>
              <a:rPr sz="2000" dirty="0">
                <a:solidFill>
                  <a:srgbClr val="000000"/>
                </a:solidFill>
                <a:latin typeface="Helvetica Neue Light"/>
              </a:rPr>
              <a:t>extends to both basic banking functions and </a:t>
            </a:r>
          </a:p>
        </p:txBody>
      </p:sp>
      <p:sp>
        <p:nvSpPr>
          <p:cNvPr id="14" name="TextBox 13"/>
          <p:cNvSpPr txBox="1"/>
          <p:nvPr/>
        </p:nvSpPr>
        <p:spPr>
          <a:xfrm>
            <a:off x="1886997" y="8221978"/>
            <a:ext cx="3518753" cy="309372"/>
          </a:xfrm>
          <a:prstGeom prst="rect">
            <a:avLst/>
          </a:prstGeom>
          <a:noFill/>
        </p:spPr>
        <p:txBody>
          <a:bodyPr wrap="none" lIns="0" tIns="0" rIns="0" bIns="0">
            <a:noAutofit/>
          </a:bodyPr>
          <a:lstStyle/>
          <a:p>
            <a:pPr algn="l"/>
            <a:r>
              <a:rPr sz="2000" dirty="0">
                <a:solidFill>
                  <a:srgbClr val="000000"/>
                </a:solidFill>
                <a:latin typeface="Helvetica Neue Light"/>
              </a:rPr>
              <a:t>the stock trading capabilities.”</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5504178"/>
            <a:ext cx="1763653" cy="309371"/>
          </a:xfrm>
          <a:prstGeom prst="rect">
            <a:avLst/>
          </a:prstGeom>
          <a:noFill/>
        </p:spPr>
        <p:txBody>
          <a:bodyPr wrap="none" lIns="0" tIns="0" rIns="0" bIns="0">
            <a:noAutofit/>
          </a:bodyPr>
          <a:lstStyle/>
          <a:p>
            <a:pPr algn="l"/>
            <a:r>
              <a:rPr sz="2000" dirty="0">
                <a:solidFill>
                  <a:srgbClr val="000000"/>
                </a:solidFill>
                <a:latin typeface="Helvetica Neue Light"/>
              </a:rPr>
              <a:t>The problems </a:t>
            </a:r>
          </a:p>
        </p:txBody>
      </p:sp>
      <p:sp>
        <p:nvSpPr>
          <p:cNvPr id="4" name="TextBox 3"/>
          <p:cNvSpPr txBox="1"/>
          <p:nvPr/>
        </p:nvSpPr>
        <p:spPr>
          <a:xfrm>
            <a:off x="457200" y="5911746"/>
            <a:ext cx="6542719" cy="266090"/>
          </a:xfrm>
          <a:prstGeom prst="rect">
            <a:avLst/>
          </a:prstGeom>
          <a:noFill/>
        </p:spPr>
        <p:txBody>
          <a:bodyPr wrap="none" lIns="0" tIns="0" rIns="0" bIns="0">
            <a:noAutofit/>
          </a:bodyPr>
          <a:lstStyle/>
          <a:p>
            <a:pPr algn="l"/>
            <a:r>
              <a:rPr sz="1800" dirty="0">
                <a:solidFill>
                  <a:srgbClr val="000000"/>
                </a:solidFill>
                <a:latin typeface="Helvetica Neue Thin"/>
              </a:rPr>
              <a:t>• WIM investors don’t have a way to trade in both shares and </a:t>
            </a:r>
          </a:p>
        </p:txBody>
      </p:sp>
      <p:sp>
        <p:nvSpPr>
          <p:cNvPr id="5" name="TextBox 4"/>
          <p:cNvSpPr txBox="1"/>
          <p:nvPr/>
        </p:nvSpPr>
        <p:spPr>
          <a:xfrm>
            <a:off x="685800" y="6292746"/>
            <a:ext cx="745049" cy="266090"/>
          </a:xfrm>
          <a:prstGeom prst="rect">
            <a:avLst/>
          </a:prstGeom>
          <a:noFill/>
        </p:spPr>
        <p:txBody>
          <a:bodyPr wrap="none" lIns="0" tIns="0" rIns="0" bIns="0">
            <a:noAutofit/>
          </a:bodyPr>
          <a:lstStyle/>
          <a:p>
            <a:pPr algn="l"/>
            <a:r>
              <a:rPr sz="1800" dirty="0">
                <a:solidFill>
                  <a:srgbClr val="000000"/>
                </a:solidFill>
                <a:latin typeface="Helvetica Neue Thin"/>
              </a:rPr>
              <a:t>dollars</a:t>
            </a:r>
          </a:p>
        </p:txBody>
      </p:sp>
      <p:sp>
        <p:nvSpPr>
          <p:cNvPr id="6" name="TextBox 5"/>
          <p:cNvSpPr txBox="1"/>
          <p:nvPr/>
        </p:nvSpPr>
        <p:spPr>
          <a:xfrm>
            <a:off x="457200" y="6607707"/>
            <a:ext cx="5943322" cy="713129"/>
          </a:xfrm>
          <a:prstGeom prst="rect">
            <a:avLst/>
          </a:prstGeom>
          <a:noFill/>
        </p:spPr>
        <p:txBody>
          <a:bodyPr wrap="square" lIns="0" tIns="0" rIns="0" bIns="0">
            <a:noAutofit/>
          </a:bodyPr>
          <a:lstStyle/>
          <a:p>
            <a:pPr marL="228600" indent="-228600" algn="l">
              <a:lnSpc>
                <a:spcPts val="3000"/>
              </a:lnSpc>
            </a:pPr>
            <a:r>
              <a:rPr sz="1800" dirty="0">
                <a:solidFill>
                  <a:srgbClr val="000000"/>
                </a:solidFill>
                <a:latin typeface="Helvetica Neue Thin"/>
              </a:rPr>
              <a:t>•	Needing a trade ticket that simplifies the current trading pro</a:t>
            </a:r>
            <a:r>
              <a:rPr sz="1800" dirty="0" err="1">
                <a:solidFill>
                  <a:srgbClr val="000000"/>
                </a:solidFill>
                <a:latin typeface="Helvetica Neue Thin"/>
              </a:rPr>
              <a:t>cess in the native mobile app</a:t>
            </a:r>
          </a:p>
        </p:txBody>
      </p:sp>
      <p:sp>
        <p:nvSpPr>
          <p:cNvPr id="8" name="TextBox 7"/>
          <p:cNvSpPr txBox="1"/>
          <p:nvPr/>
        </p:nvSpPr>
        <p:spPr>
          <a:xfrm>
            <a:off x="457200" y="7435747"/>
            <a:ext cx="2332045" cy="266089"/>
          </a:xfrm>
          <a:prstGeom prst="rect">
            <a:avLst/>
          </a:prstGeom>
          <a:noFill/>
        </p:spPr>
        <p:txBody>
          <a:bodyPr wrap="none" lIns="0" tIns="0" rIns="0" bIns="0">
            <a:noAutofit/>
          </a:bodyPr>
          <a:lstStyle/>
          <a:p>
            <a:pPr algn="l"/>
            <a:r>
              <a:rPr sz="1800" dirty="0">
                <a:solidFill>
                  <a:srgbClr val="000000"/>
                </a:solidFill>
                <a:latin typeface="Helvetica Neue Thin"/>
              </a:rPr>
              <a:t>• Confusing Interface</a:t>
            </a:r>
          </a:p>
        </p:txBody>
      </p:sp>
      <p:sp>
        <p:nvSpPr>
          <p:cNvPr id="9" name="TextBox 8"/>
          <p:cNvSpPr txBox="1"/>
          <p:nvPr/>
        </p:nvSpPr>
        <p:spPr>
          <a:xfrm>
            <a:off x="457200" y="7816747"/>
            <a:ext cx="2423147" cy="266089"/>
          </a:xfrm>
          <a:prstGeom prst="rect">
            <a:avLst/>
          </a:prstGeom>
          <a:noFill/>
        </p:spPr>
        <p:txBody>
          <a:bodyPr wrap="none" lIns="0" tIns="0" rIns="0" bIns="0">
            <a:noAutofit/>
          </a:bodyPr>
          <a:lstStyle/>
          <a:p>
            <a:pPr algn="l"/>
            <a:r>
              <a:rPr sz="1800" dirty="0">
                <a:solidFill>
                  <a:srgbClr val="000000"/>
                </a:solidFill>
                <a:latin typeface="Helvetica Neue Thin"/>
              </a:rPr>
              <a:t>• Limited Functionality</a:t>
            </a:r>
          </a:p>
        </p:txBody>
      </p:sp>
      <p:sp>
        <p:nvSpPr>
          <p:cNvPr id="10" name="TextBox 9"/>
          <p:cNvSpPr txBox="1"/>
          <p:nvPr/>
        </p:nvSpPr>
        <p:spPr>
          <a:xfrm>
            <a:off x="457200" y="8197747"/>
            <a:ext cx="1998499" cy="266089"/>
          </a:xfrm>
          <a:prstGeom prst="rect">
            <a:avLst/>
          </a:prstGeom>
          <a:noFill/>
        </p:spPr>
        <p:txBody>
          <a:bodyPr wrap="none" lIns="0" tIns="0" rIns="0" bIns="0">
            <a:noAutofit/>
          </a:bodyPr>
          <a:lstStyle/>
          <a:p>
            <a:pPr algn="l"/>
            <a:r>
              <a:rPr sz="1800" dirty="0">
                <a:solidFill>
                  <a:srgbClr val="000000"/>
                </a:solidFill>
                <a:latin typeface="Helvetica Neue Thin"/>
              </a:rPr>
              <a:t>• Technical Issues</a:t>
            </a:r>
          </a:p>
        </p:txBody>
      </p:sp>
      <p:sp>
        <p:nvSpPr>
          <p:cNvPr id="11" name="TextBox 10"/>
          <p:cNvSpPr txBox="1"/>
          <p:nvPr/>
        </p:nvSpPr>
        <p:spPr>
          <a:xfrm>
            <a:off x="457200" y="8578747"/>
            <a:ext cx="3114902" cy="266089"/>
          </a:xfrm>
          <a:prstGeom prst="rect">
            <a:avLst/>
          </a:prstGeom>
          <a:noFill/>
        </p:spPr>
        <p:txBody>
          <a:bodyPr wrap="none" lIns="0" tIns="0" rIns="0" bIns="0">
            <a:noAutofit/>
          </a:bodyPr>
          <a:lstStyle/>
          <a:p>
            <a:pPr algn="l"/>
            <a:r>
              <a:rPr sz="1800" dirty="0">
                <a:solidFill>
                  <a:srgbClr val="000000"/>
                </a:solidFill>
                <a:latin typeface="Helvetica Neue Thin"/>
              </a:rPr>
              <a:t>• Lack of Real-Time Updates</a:t>
            </a:r>
          </a:p>
        </p:txBody>
      </p:sp>
      <p:sp>
        <p:nvSpPr>
          <p:cNvPr id="12" name="TextBox 11"/>
          <p:cNvSpPr txBox="1"/>
          <p:nvPr/>
        </p:nvSpPr>
        <p:spPr>
          <a:xfrm>
            <a:off x="457200" y="8959747"/>
            <a:ext cx="2763111" cy="266089"/>
          </a:xfrm>
          <a:prstGeom prst="rect">
            <a:avLst/>
          </a:prstGeom>
          <a:noFill/>
        </p:spPr>
        <p:txBody>
          <a:bodyPr wrap="none" lIns="0" tIns="0" rIns="0" bIns="0">
            <a:noAutofit/>
          </a:bodyPr>
          <a:lstStyle/>
          <a:p>
            <a:pPr algn="l"/>
            <a:r>
              <a:rPr sz="1800" dirty="0">
                <a:solidFill>
                  <a:srgbClr val="000000"/>
                </a:solidFill>
                <a:latin typeface="Helvetica Neue Thin"/>
              </a:rPr>
              <a:t>• Poor Customer Support</a:t>
            </a:r>
          </a:p>
        </p:txBody>
      </p:sp>
      <p:sp>
        <p:nvSpPr>
          <p:cNvPr id="13" name="TextBox 12"/>
          <p:cNvSpPr txBox="1"/>
          <p:nvPr/>
        </p:nvSpPr>
        <p:spPr>
          <a:xfrm>
            <a:off x="457200" y="2046476"/>
            <a:ext cx="4722766" cy="340309"/>
          </a:xfrm>
          <a:prstGeom prst="rect">
            <a:avLst/>
          </a:prstGeom>
          <a:noFill/>
        </p:spPr>
        <p:txBody>
          <a:bodyPr wrap="none" lIns="0" tIns="0" rIns="0" bIns="0">
            <a:noAutofit/>
          </a:bodyPr>
          <a:lstStyle/>
          <a:p>
            <a:pPr algn="l"/>
            <a:r>
              <a:rPr sz="2200" dirty="0">
                <a:solidFill>
                  <a:srgbClr val="000000"/>
                </a:solidFill>
                <a:latin typeface="Helvetica Neue Light"/>
              </a:rPr>
              <a:t>What’s the Integrated Trade Ticket? </a:t>
            </a:r>
          </a:p>
        </p:txBody>
      </p:sp>
      <p:sp>
        <p:nvSpPr>
          <p:cNvPr id="14" name="TextBox 13"/>
          <p:cNvSpPr txBox="1"/>
          <p:nvPr/>
        </p:nvSpPr>
        <p:spPr>
          <a:xfrm>
            <a:off x="457200" y="2492500"/>
            <a:ext cx="6339037" cy="295655"/>
          </a:xfrm>
          <a:prstGeom prst="rect">
            <a:avLst/>
          </a:prstGeom>
          <a:noFill/>
        </p:spPr>
        <p:txBody>
          <a:bodyPr wrap="none" lIns="0" tIns="0" rIns="0" bIns="0">
            <a:noAutofit/>
          </a:bodyPr>
          <a:lstStyle/>
          <a:p>
            <a:pPr algn="l"/>
            <a:r>
              <a:rPr sz="2000" dirty="0">
                <a:solidFill>
                  <a:srgbClr val="000000"/>
                </a:solidFill>
                <a:latin typeface="Helvetica Neue Thin"/>
              </a:rPr>
              <a:t>An integrated trade platform that simplifies the trading </a:t>
            </a:r>
          </a:p>
        </p:txBody>
      </p:sp>
      <p:sp>
        <p:nvSpPr>
          <p:cNvPr id="15" name="TextBox 14"/>
          <p:cNvSpPr txBox="1"/>
          <p:nvPr/>
        </p:nvSpPr>
        <p:spPr>
          <a:xfrm>
            <a:off x="457200" y="2911600"/>
            <a:ext cx="6627073" cy="295655"/>
          </a:xfrm>
          <a:prstGeom prst="rect">
            <a:avLst/>
          </a:prstGeom>
          <a:noFill/>
        </p:spPr>
        <p:txBody>
          <a:bodyPr wrap="none" lIns="0" tIns="0" rIns="0" bIns="0">
            <a:noAutofit/>
          </a:bodyPr>
          <a:lstStyle/>
          <a:p>
            <a:pPr algn="l"/>
            <a:r>
              <a:rPr sz="2000" dirty="0">
                <a:solidFill>
                  <a:srgbClr val="000000"/>
                </a:solidFill>
                <a:latin typeface="Helvetica Neue Thin"/>
              </a:rPr>
              <a:t>process, reduces the likelihood of errors, and enhances </a:t>
            </a:r>
          </a:p>
        </p:txBody>
      </p:sp>
      <p:sp>
        <p:nvSpPr>
          <p:cNvPr id="16" name="TextBox 15"/>
          <p:cNvSpPr txBox="1"/>
          <p:nvPr/>
        </p:nvSpPr>
        <p:spPr>
          <a:xfrm>
            <a:off x="457200" y="3330700"/>
            <a:ext cx="6687397" cy="295655"/>
          </a:xfrm>
          <a:prstGeom prst="rect">
            <a:avLst/>
          </a:prstGeom>
          <a:noFill/>
        </p:spPr>
        <p:txBody>
          <a:bodyPr wrap="none" lIns="0" tIns="0" rIns="0" bIns="0">
            <a:noAutofit/>
          </a:bodyPr>
          <a:lstStyle/>
          <a:p>
            <a:pPr algn="l"/>
            <a:r>
              <a:rPr sz="2000" dirty="0">
                <a:solidFill>
                  <a:srgbClr val="000000"/>
                </a:solidFill>
                <a:latin typeface="Helvetica Neue Thin"/>
              </a:rPr>
              <a:t>overall </a:t>
            </a:r>
            <a:r>
              <a:rPr lang="en-US" sz="2000" dirty="0">
                <a:solidFill>
                  <a:srgbClr val="000000"/>
                </a:solidFill>
                <a:latin typeface="Helvetica Neue Thin"/>
              </a:rPr>
              <a:t>efficiency</a:t>
            </a:r>
            <a:r>
              <a:rPr sz="2000" dirty="0">
                <a:solidFill>
                  <a:srgbClr val="000000"/>
                </a:solidFill>
                <a:latin typeface="Helvetica Neue Thin"/>
              </a:rPr>
              <a:t>, while giving users the ability to trade in </a:t>
            </a:r>
          </a:p>
        </p:txBody>
      </p:sp>
      <p:sp>
        <p:nvSpPr>
          <p:cNvPr id="17" name="TextBox 16"/>
          <p:cNvSpPr txBox="1"/>
          <p:nvPr/>
        </p:nvSpPr>
        <p:spPr>
          <a:xfrm>
            <a:off x="457200" y="3749800"/>
            <a:ext cx="6672337" cy="295655"/>
          </a:xfrm>
          <a:prstGeom prst="rect">
            <a:avLst/>
          </a:prstGeom>
          <a:noFill/>
        </p:spPr>
        <p:txBody>
          <a:bodyPr wrap="none" lIns="0" tIns="0" rIns="0" bIns="0">
            <a:noAutofit/>
          </a:bodyPr>
          <a:lstStyle/>
          <a:p>
            <a:pPr algn="l"/>
            <a:r>
              <a:rPr sz="2000" dirty="0">
                <a:solidFill>
                  <a:srgbClr val="000000"/>
                </a:solidFill>
                <a:latin typeface="Helvetica Neue Thin"/>
              </a:rPr>
              <a:t>shares or dollar amounts and all the needs they have for </a:t>
            </a:r>
          </a:p>
        </p:txBody>
      </p:sp>
      <p:sp>
        <p:nvSpPr>
          <p:cNvPr id="18" name="TextBox 17"/>
          <p:cNvSpPr txBox="1"/>
          <p:nvPr/>
        </p:nvSpPr>
        <p:spPr>
          <a:xfrm>
            <a:off x="457200" y="4168900"/>
            <a:ext cx="2499380" cy="295655"/>
          </a:xfrm>
          <a:prstGeom prst="rect">
            <a:avLst/>
          </a:prstGeom>
          <a:noFill/>
        </p:spPr>
        <p:txBody>
          <a:bodyPr wrap="none" lIns="0" tIns="0" rIns="0" bIns="0">
            <a:noAutofit/>
          </a:bodyPr>
          <a:lstStyle/>
          <a:p>
            <a:pPr algn="l"/>
            <a:r>
              <a:rPr sz="2000" dirty="0">
                <a:solidFill>
                  <a:srgbClr val="000000"/>
                </a:solidFill>
                <a:latin typeface="Helvetica Neue Thin"/>
              </a:rPr>
              <a:t>self-directed trading. </a:t>
            </a:r>
          </a:p>
        </p:txBody>
      </p:sp>
      <p:sp>
        <p:nvSpPr>
          <p:cNvPr id="19" name="TextBox 18"/>
          <p:cNvSpPr txBox="1"/>
          <p:nvPr/>
        </p:nvSpPr>
        <p:spPr>
          <a:xfrm>
            <a:off x="8851900" y="2116579"/>
            <a:ext cx="1775064" cy="278434"/>
          </a:xfrm>
          <a:prstGeom prst="rect">
            <a:avLst/>
          </a:prstGeom>
          <a:noFill/>
        </p:spPr>
        <p:txBody>
          <a:bodyPr wrap="none" lIns="0" tIns="0" rIns="0" bIns="0">
            <a:noAutofit/>
          </a:bodyPr>
          <a:lstStyle/>
          <a:p>
            <a:pPr algn="l"/>
            <a:r>
              <a:rPr sz="1800" dirty="0">
                <a:solidFill>
                  <a:srgbClr val="FFFFFF"/>
                </a:solidFill>
                <a:latin typeface="Helvetica Neue Light"/>
              </a:rPr>
              <a:t>Target audience</a:t>
            </a:r>
          </a:p>
        </p:txBody>
      </p:sp>
      <p:sp>
        <p:nvSpPr>
          <p:cNvPr id="20" name="TextBox 19"/>
          <p:cNvSpPr txBox="1"/>
          <p:nvPr/>
        </p:nvSpPr>
        <p:spPr>
          <a:xfrm>
            <a:off x="8763000" y="2526179"/>
            <a:ext cx="2800146" cy="266090"/>
          </a:xfrm>
          <a:prstGeom prst="rect">
            <a:avLst/>
          </a:prstGeom>
          <a:noFill/>
        </p:spPr>
        <p:txBody>
          <a:bodyPr wrap="none" lIns="0" tIns="0" rIns="0" bIns="0">
            <a:noAutofit/>
          </a:bodyPr>
          <a:lstStyle/>
          <a:p>
            <a:pPr algn="l"/>
            <a:r>
              <a:rPr sz="1800" dirty="0">
                <a:solidFill>
                  <a:srgbClr val="FFFFFF"/>
                </a:solidFill>
                <a:latin typeface="Helvetica Neue Thin"/>
              </a:rPr>
              <a:t>•  Experienced consumer </a:t>
            </a:r>
          </a:p>
        </p:txBody>
      </p:sp>
      <p:sp>
        <p:nvSpPr>
          <p:cNvPr id="21" name="TextBox 20"/>
          <p:cNvSpPr txBox="1"/>
          <p:nvPr/>
        </p:nvSpPr>
        <p:spPr>
          <a:xfrm>
            <a:off x="8991600" y="2907179"/>
            <a:ext cx="783809" cy="266090"/>
          </a:xfrm>
          <a:prstGeom prst="rect">
            <a:avLst/>
          </a:prstGeom>
          <a:noFill/>
        </p:spPr>
        <p:txBody>
          <a:bodyPr wrap="none" lIns="0" tIns="0" rIns="0" bIns="0">
            <a:noAutofit/>
          </a:bodyPr>
          <a:lstStyle/>
          <a:p>
            <a:pPr algn="l"/>
            <a:r>
              <a:rPr sz="1800" dirty="0">
                <a:solidFill>
                  <a:srgbClr val="FFFFFF"/>
                </a:solidFill>
                <a:latin typeface="Helvetica Neue Thin"/>
              </a:rPr>
              <a:t>traders</a:t>
            </a:r>
          </a:p>
        </p:txBody>
      </p:sp>
      <p:sp>
        <p:nvSpPr>
          <p:cNvPr id="22" name="TextBox 21"/>
          <p:cNvSpPr txBox="1"/>
          <p:nvPr/>
        </p:nvSpPr>
        <p:spPr>
          <a:xfrm>
            <a:off x="8763000" y="3288181"/>
            <a:ext cx="2271535" cy="266090"/>
          </a:xfrm>
          <a:prstGeom prst="rect">
            <a:avLst/>
          </a:prstGeom>
          <a:noFill/>
        </p:spPr>
        <p:txBody>
          <a:bodyPr wrap="none" lIns="0" tIns="0" rIns="0" bIns="0">
            <a:noAutofit/>
          </a:bodyPr>
          <a:lstStyle/>
          <a:p>
            <a:pPr algn="l"/>
            <a:r>
              <a:rPr sz="1800" dirty="0">
                <a:solidFill>
                  <a:srgbClr val="FFFFFF"/>
                </a:solidFill>
                <a:latin typeface="Helvetica Neue Thin"/>
              </a:rPr>
              <a:t>• Novice consumer  </a:t>
            </a:r>
          </a:p>
        </p:txBody>
      </p:sp>
      <p:sp>
        <p:nvSpPr>
          <p:cNvPr id="23" name="TextBox 22"/>
          <p:cNvSpPr txBox="1"/>
          <p:nvPr/>
        </p:nvSpPr>
        <p:spPr>
          <a:xfrm>
            <a:off x="8991600" y="3669181"/>
            <a:ext cx="783809" cy="266090"/>
          </a:xfrm>
          <a:prstGeom prst="rect">
            <a:avLst/>
          </a:prstGeom>
          <a:noFill/>
        </p:spPr>
        <p:txBody>
          <a:bodyPr wrap="none" lIns="0" tIns="0" rIns="0" bIns="0">
            <a:noAutofit/>
          </a:bodyPr>
          <a:lstStyle/>
          <a:p>
            <a:pPr algn="l"/>
            <a:r>
              <a:rPr sz="1800" dirty="0">
                <a:solidFill>
                  <a:srgbClr val="FFFFFF"/>
                </a:solidFill>
                <a:latin typeface="Helvetica Neue Thin"/>
              </a:rPr>
              <a:t>traders</a:t>
            </a:r>
          </a:p>
        </p:txBody>
      </p:sp>
      <p:sp>
        <p:nvSpPr>
          <p:cNvPr id="24" name="TextBox 23"/>
          <p:cNvSpPr txBox="1"/>
          <p:nvPr/>
        </p:nvSpPr>
        <p:spPr>
          <a:xfrm>
            <a:off x="457200" y="660400"/>
            <a:ext cx="10160000" cy="228600"/>
          </a:xfrm>
          <a:prstGeom prst="rect">
            <a:avLst/>
          </a:prstGeom>
          <a:noFill/>
        </p:spPr>
        <p:txBody>
          <a:bodyPr wrap="none" lIns="0" tIns="0" rIns="0" bIns="0">
            <a:noAutofit/>
          </a:bodyPr>
          <a:lstStyle/>
          <a:p>
            <a:pPr algn="l"/>
            <a:r>
              <a:rPr sz="1400" dirty="0">
                <a:solidFill>
                  <a:srgbClr val="1F1F1F"/>
                </a:solidFill>
                <a:latin typeface="Helvetica Neue"/>
              </a:rPr>
              <a:t>Introduction   Wells Fargo Integrated Trade Ticket</a:t>
            </a:r>
          </a:p>
        </p:txBody>
      </p:sp>
      <p:sp>
        <p:nvSpPr>
          <p:cNvPr id="25" name="TextBox 24"/>
          <p:cNvSpPr txBox="1"/>
          <p:nvPr/>
        </p:nvSpPr>
        <p:spPr>
          <a:xfrm>
            <a:off x="7950201" y="5526275"/>
            <a:ext cx="807046" cy="247497"/>
          </a:xfrm>
          <a:prstGeom prst="rect">
            <a:avLst/>
          </a:prstGeom>
          <a:noFill/>
        </p:spPr>
        <p:txBody>
          <a:bodyPr wrap="none" lIns="0" tIns="0" rIns="0" bIns="0">
            <a:noAutofit/>
          </a:bodyPr>
          <a:lstStyle/>
          <a:p>
            <a:pPr algn="l"/>
            <a:r>
              <a:rPr sz="1600" dirty="0">
                <a:solidFill>
                  <a:srgbClr val="000000"/>
                </a:solidFill>
                <a:latin typeface="Helvetica Neue Light"/>
              </a:rPr>
              <a:t>My Role</a:t>
            </a:r>
          </a:p>
        </p:txBody>
      </p:sp>
      <p:sp>
        <p:nvSpPr>
          <p:cNvPr id="26" name="TextBox 25"/>
          <p:cNvSpPr txBox="1"/>
          <p:nvPr/>
        </p:nvSpPr>
        <p:spPr>
          <a:xfrm>
            <a:off x="7950201" y="5856932"/>
            <a:ext cx="4131784" cy="206959"/>
          </a:xfrm>
          <a:prstGeom prst="rect">
            <a:avLst/>
          </a:prstGeom>
          <a:noFill/>
        </p:spPr>
        <p:txBody>
          <a:bodyPr wrap="none" lIns="0" tIns="0" rIns="0" bIns="0">
            <a:noAutofit/>
          </a:bodyPr>
          <a:lstStyle/>
          <a:p>
            <a:pPr algn="l"/>
            <a:r>
              <a:rPr sz="1400" dirty="0">
                <a:solidFill>
                  <a:srgbClr val="000000"/>
                </a:solidFill>
                <a:latin typeface="Helvetica Neue Thin"/>
              </a:rPr>
              <a:t>• I led the project team utilizing the support of 2  </a:t>
            </a:r>
          </a:p>
        </p:txBody>
      </p:sp>
      <p:sp>
        <p:nvSpPr>
          <p:cNvPr id="27" name="TextBox 26"/>
          <p:cNvSpPr txBox="1"/>
          <p:nvPr/>
        </p:nvSpPr>
        <p:spPr>
          <a:xfrm>
            <a:off x="8178801" y="6161732"/>
            <a:ext cx="1201793" cy="206959"/>
          </a:xfrm>
          <a:prstGeom prst="rect">
            <a:avLst/>
          </a:prstGeom>
          <a:noFill/>
        </p:spPr>
        <p:txBody>
          <a:bodyPr wrap="none" lIns="0" tIns="0" rIns="0" bIns="0">
            <a:noAutofit/>
          </a:bodyPr>
          <a:lstStyle/>
          <a:p>
            <a:pPr algn="l"/>
            <a:r>
              <a:rPr sz="1400" dirty="0">
                <a:solidFill>
                  <a:srgbClr val="000000"/>
                </a:solidFill>
                <a:latin typeface="Helvetica Neue Thin"/>
              </a:rPr>
              <a:t>UX designers.</a:t>
            </a:r>
          </a:p>
        </p:txBody>
      </p:sp>
      <p:sp>
        <p:nvSpPr>
          <p:cNvPr id="28" name="TextBox 27"/>
          <p:cNvSpPr txBox="1"/>
          <p:nvPr/>
        </p:nvSpPr>
        <p:spPr>
          <a:xfrm>
            <a:off x="7950201" y="6410652"/>
            <a:ext cx="4057689" cy="1177239"/>
          </a:xfrm>
          <a:prstGeom prst="rect">
            <a:avLst/>
          </a:prstGeom>
          <a:noFill/>
        </p:spPr>
        <p:txBody>
          <a:bodyPr wrap="square" lIns="0" tIns="0" rIns="0" bIns="0">
            <a:noAutofit/>
          </a:bodyPr>
          <a:lstStyle/>
          <a:p>
            <a:pPr marL="228600" indent="-228600" algn="l">
              <a:lnSpc>
                <a:spcPts val="2400"/>
              </a:lnSpc>
            </a:pPr>
            <a:r>
              <a:rPr sz="1400" dirty="0">
                <a:solidFill>
                  <a:srgbClr val="000000"/>
                </a:solidFill>
                <a:latin typeface="Helvetica Neue Thin"/>
              </a:rPr>
              <a:t>•	I was responsible for managing the discovery process, including research, strategy and overall hands-on design of the material and artifacts, supported by AI applications.</a:t>
            </a:r>
          </a:p>
        </p:txBody>
      </p:sp>
      <p:sp>
        <p:nvSpPr>
          <p:cNvPr id="32" name="TextBox 31"/>
          <p:cNvSpPr txBox="1"/>
          <p:nvPr/>
        </p:nvSpPr>
        <p:spPr>
          <a:xfrm>
            <a:off x="7950201" y="7629852"/>
            <a:ext cx="4212451" cy="872439"/>
          </a:xfrm>
          <a:prstGeom prst="rect">
            <a:avLst/>
          </a:prstGeom>
          <a:noFill/>
        </p:spPr>
        <p:txBody>
          <a:bodyPr wrap="square" lIns="0" tIns="0" rIns="0" bIns="0">
            <a:noAutofit/>
          </a:bodyPr>
          <a:lstStyle/>
          <a:p>
            <a:pPr marL="228600" indent="-228600" algn="l">
              <a:lnSpc>
                <a:spcPts val="2400"/>
              </a:lnSpc>
            </a:pPr>
            <a:r>
              <a:rPr sz="1400" dirty="0">
                <a:solidFill>
                  <a:srgbClr val="000000"/>
                </a:solidFill>
                <a:latin typeface="Helvetica Neue Thin"/>
              </a:rPr>
              <a:t>•	I led the work on all deliverables and artifacts in Figma using Lean UX and usability testing, presenting these to the client and key stakeholders.</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47460"/>
            <a:ext cx="13004800" cy="9753600"/>
          </a:xfrm>
          <a:prstGeom prst="rect">
            <a:avLst/>
          </a:prstGeom>
        </p:spPr>
      </p:pic>
      <p:sp>
        <p:nvSpPr>
          <p:cNvPr id="3" name="TextBox 2"/>
          <p:cNvSpPr txBox="1"/>
          <p:nvPr/>
        </p:nvSpPr>
        <p:spPr>
          <a:xfrm>
            <a:off x="457200" y="939800"/>
            <a:ext cx="5626100" cy="476250"/>
          </a:xfrm>
          <a:prstGeom prst="rect">
            <a:avLst/>
          </a:prstGeom>
          <a:noFill/>
        </p:spPr>
        <p:txBody>
          <a:bodyPr wrap="none" lIns="0" tIns="0" rIns="0" bIns="0">
            <a:noAutofit/>
          </a:bodyPr>
          <a:lstStyle/>
          <a:p>
            <a:pPr algn="l"/>
            <a:r>
              <a:rPr sz="3000" dirty="0">
                <a:solidFill>
                  <a:srgbClr val="1F1F1F"/>
                </a:solidFill>
                <a:latin typeface="Helvetica Neue Light"/>
              </a:rPr>
              <a:t>Why redesign the Trade Ticket?</a:t>
            </a:r>
          </a:p>
        </p:txBody>
      </p:sp>
      <p:sp>
        <p:nvSpPr>
          <p:cNvPr id="4" name="TextBox 3"/>
          <p:cNvSpPr txBox="1"/>
          <p:nvPr/>
        </p:nvSpPr>
        <p:spPr>
          <a:xfrm>
            <a:off x="947054" y="2573417"/>
            <a:ext cx="3910695" cy="432674"/>
          </a:xfrm>
          <a:prstGeom prst="rect">
            <a:avLst/>
          </a:prstGeom>
          <a:noFill/>
        </p:spPr>
        <p:txBody>
          <a:bodyPr wrap="square" lIns="0" tIns="0" rIns="0" bIns="0">
            <a:noAutofit/>
          </a:bodyPr>
          <a:lstStyle/>
          <a:p>
            <a:pPr algn="l">
              <a:lnSpc>
                <a:spcPts val="2800"/>
              </a:lnSpc>
            </a:pPr>
            <a:r>
              <a:rPr sz="9200" dirty="0">
                <a:solidFill>
                  <a:srgbClr val="1059FF"/>
                </a:solidFill>
                <a:latin typeface="Helvetica Neue Light"/>
              </a:rPr>
              <a:t>18.3%</a:t>
            </a:r>
          </a:p>
        </p:txBody>
      </p:sp>
      <p:sp>
        <p:nvSpPr>
          <p:cNvPr id="5" name="TextBox 4"/>
          <p:cNvSpPr txBox="1"/>
          <p:nvPr/>
        </p:nvSpPr>
        <p:spPr>
          <a:xfrm>
            <a:off x="6612836" y="3710165"/>
            <a:ext cx="4180786" cy="349260"/>
          </a:xfrm>
          <a:prstGeom prst="rect">
            <a:avLst/>
          </a:prstGeom>
          <a:noFill/>
        </p:spPr>
        <p:txBody>
          <a:bodyPr wrap="square" lIns="0" tIns="0" rIns="0" bIns="0">
            <a:noAutofit/>
          </a:bodyPr>
          <a:lstStyle/>
          <a:p>
            <a:pPr marL="177800" algn="l">
              <a:lnSpc>
                <a:spcPts val="1919"/>
              </a:lnSpc>
            </a:pPr>
            <a:r>
              <a:rPr sz="8600" dirty="0">
                <a:solidFill>
                  <a:srgbClr val="AF00EF"/>
                </a:solidFill>
                <a:latin typeface="Helvetica Neue Light"/>
              </a:rPr>
              <a:t>8.2 </a:t>
            </a:r>
            <a:r>
              <a:rPr sz="5200" dirty="0">
                <a:solidFill>
                  <a:srgbClr val="AF00EF"/>
                </a:solidFill>
                <a:latin typeface="Helvetica Neue Light"/>
              </a:rPr>
              <a:t>mins</a:t>
            </a:r>
          </a:p>
        </p:txBody>
      </p:sp>
      <p:sp>
        <p:nvSpPr>
          <p:cNvPr id="6" name="TextBox 5"/>
          <p:cNvSpPr txBox="1"/>
          <p:nvPr/>
        </p:nvSpPr>
        <p:spPr>
          <a:xfrm>
            <a:off x="2142719" y="5125872"/>
            <a:ext cx="1914639" cy="1175613"/>
          </a:xfrm>
          <a:prstGeom prst="rect">
            <a:avLst/>
          </a:prstGeom>
          <a:noFill/>
        </p:spPr>
        <p:txBody>
          <a:bodyPr wrap="none" lIns="0" tIns="0" rIns="0" bIns="0">
            <a:noAutofit/>
          </a:bodyPr>
          <a:lstStyle/>
          <a:p>
            <a:pPr algn="l"/>
            <a:r>
              <a:rPr sz="7600" dirty="0">
                <a:solidFill>
                  <a:srgbClr val="00BCD9"/>
                </a:solidFill>
                <a:latin typeface="Helvetica Neue Light"/>
              </a:rPr>
              <a:t>1.4%</a:t>
            </a:r>
          </a:p>
        </p:txBody>
      </p:sp>
      <p:sp>
        <p:nvSpPr>
          <p:cNvPr id="7" name="TextBox 6"/>
          <p:cNvSpPr txBox="1"/>
          <p:nvPr/>
        </p:nvSpPr>
        <p:spPr>
          <a:xfrm>
            <a:off x="2209800" y="6140189"/>
            <a:ext cx="2866428" cy="1893875"/>
          </a:xfrm>
          <a:prstGeom prst="rect">
            <a:avLst/>
          </a:prstGeom>
          <a:noFill/>
        </p:spPr>
        <p:txBody>
          <a:bodyPr wrap="square" lIns="0" tIns="0" rIns="0" bIns="0">
            <a:noAutofit/>
          </a:bodyPr>
          <a:lstStyle/>
          <a:p>
            <a:pPr algn="l">
              <a:lnSpc>
                <a:spcPts val="2160"/>
              </a:lnSpc>
            </a:pPr>
            <a:r>
              <a:rPr sz="1800" dirty="0">
                <a:solidFill>
                  <a:srgbClr val="000000"/>
                </a:solidFill>
                <a:latin typeface="Helvetica Neue Light"/>
              </a:rPr>
              <a:t>Error rate on submissions</a:t>
            </a:r>
          </a:p>
          <a:p>
            <a:pPr algn="l">
              <a:lnSpc>
                <a:spcPts val="2160"/>
              </a:lnSpc>
              <a:spcBef>
                <a:spcPts val="6239"/>
              </a:spcBef>
            </a:pPr>
            <a:r>
              <a:rPr sz="7600" dirty="0">
                <a:solidFill>
                  <a:srgbClr val="FF40F4"/>
                </a:solidFill>
                <a:latin typeface="Helvetica Neue Light"/>
              </a:rPr>
              <a:t>6.1%</a:t>
            </a:r>
          </a:p>
          <a:p>
            <a:pPr algn="l">
              <a:lnSpc>
                <a:spcPts val="2160"/>
              </a:lnSpc>
            </a:pPr>
            <a:r>
              <a:rPr sz="1800" dirty="0">
                <a:solidFill>
                  <a:srgbClr val="000000"/>
                </a:solidFill>
                <a:latin typeface="Helvetica Neue Light"/>
              </a:rPr>
              <a:t>drop-off on trades executed through the mobile app</a:t>
            </a:r>
          </a:p>
        </p:txBody>
      </p:sp>
      <p:sp>
        <p:nvSpPr>
          <p:cNvPr id="8" name="TextBox 7"/>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Integrated Trade Ticket </a:t>
            </a:r>
          </a:p>
        </p:txBody>
      </p:sp>
      <p:sp>
        <p:nvSpPr>
          <p:cNvPr id="9" name="TextBox 8"/>
          <p:cNvSpPr txBox="1"/>
          <p:nvPr/>
        </p:nvSpPr>
        <p:spPr>
          <a:xfrm>
            <a:off x="6690517" y="6321804"/>
            <a:ext cx="5117941" cy="884936"/>
          </a:xfrm>
          <a:prstGeom prst="rect">
            <a:avLst/>
          </a:prstGeom>
          <a:noFill/>
        </p:spPr>
        <p:txBody>
          <a:bodyPr wrap="square" lIns="0" tIns="0" rIns="0" bIns="0">
            <a:noAutofit/>
          </a:bodyPr>
          <a:lstStyle/>
          <a:p>
            <a:pPr algn="l">
              <a:lnSpc>
                <a:spcPts val="2400"/>
              </a:lnSpc>
            </a:pPr>
            <a:r>
              <a:rPr sz="2000" dirty="0">
                <a:solidFill>
                  <a:srgbClr val="000000"/>
                </a:solidFill>
                <a:latin typeface="Helvetica Neue Thin"/>
              </a:rPr>
              <a:t>“The app lacks advanced features like drawing tools or technical indicators. Customer support options are limited, with no chat </a:t>
            </a:r>
          </a:p>
        </p:txBody>
      </p:sp>
      <p:sp>
        <p:nvSpPr>
          <p:cNvPr id="12" name="TextBox 11"/>
          <p:cNvSpPr txBox="1"/>
          <p:nvPr/>
        </p:nvSpPr>
        <p:spPr>
          <a:xfrm>
            <a:off x="8069464" y="7215885"/>
            <a:ext cx="2237376" cy="295655"/>
          </a:xfrm>
          <a:prstGeom prst="rect">
            <a:avLst/>
          </a:prstGeom>
          <a:noFill/>
        </p:spPr>
        <p:txBody>
          <a:bodyPr wrap="none" lIns="0" tIns="0" rIns="0" bIns="0">
            <a:noAutofit/>
          </a:bodyPr>
          <a:lstStyle/>
          <a:p>
            <a:pPr algn="l"/>
            <a:r>
              <a:rPr sz="2000" dirty="0">
                <a:solidFill>
                  <a:srgbClr val="000000"/>
                </a:solidFill>
                <a:latin typeface="Helvetica Neue Thin"/>
              </a:rPr>
              <a:t>support available.” </a:t>
            </a:r>
          </a:p>
        </p:txBody>
      </p:sp>
      <p:sp>
        <p:nvSpPr>
          <p:cNvPr id="14" name="TextBox 13">
            <a:extLst>
              <a:ext uri="{FF2B5EF4-FFF2-40B4-BE49-F238E27FC236}">
                <a16:creationId xmlns:a16="http://schemas.microsoft.com/office/drawing/2014/main" id="{F2783627-EC6A-E917-3B5B-7530C9A316FC}"/>
              </a:ext>
            </a:extLst>
          </p:cNvPr>
          <p:cNvSpPr txBox="1"/>
          <p:nvPr/>
        </p:nvSpPr>
        <p:spPr>
          <a:xfrm>
            <a:off x="7016007" y="4121632"/>
            <a:ext cx="2722353" cy="823302"/>
          </a:xfrm>
          <a:prstGeom prst="rect">
            <a:avLst/>
          </a:prstGeom>
          <a:noFill/>
        </p:spPr>
        <p:txBody>
          <a:bodyPr wrap="square">
            <a:spAutoFit/>
          </a:bodyPr>
          <a:lstStyle/>
          <a:p>
            <a:pPr algn="l">
              <a:lnSpc>
                <a:spcPts val="1919"/>
              </a:lnSpc>
            </a:pPr>
            <a:r>
              <a:rPr lang="en-US" sz="1600" dirty="0">
                <a:solidFill>
                  <a:srgbClr val="000000"/>
                </a:solidFill>
                <a:latin typeface="Helvetica Neue Light"/>
              </a:rPr>
              <a:t>Transaction Time: The time taken for a new user to complete their first trade.</a:t>
            </a:r>
          </a:p>
        </p:txBody>
      </p:sp>
      <p:sp>
        <p:nvSpPr>
          <p:cNvPr id="16" name="TextBox 15">
            <a:extLst>
              <a:ext uri="{FF2B5EF4-FFF2-40B4-BE49-F238E27FC236}">
                <a16:creationId xmlns:a16="http://schemas.microsoft.com/office/drawing/2014/main" id="{F33138EB-F50D-4280-847A-3422735C221F}"/>
              </a:ext>
            </a:extLst>
          </p:cNvPr>
          <p:cNvSpPr txBox="1"/>
          <p:nvPr/>
        </p:nvSpPr>
        <p:spPr>
          <a:xfrm>
            <a:off x="1340167" y="2974048"/>
            <a:ext cx="3286125" cy="1169551"/>
          </a:xfrm>
          <a:prstGeom prst="rect">
            <a:avLst/>
          </a:prstGeom>
          <a:noFill/>
        </p:spPr>
        <p:txBody>
          <a:bodyPr wrap="square">
            <a:spAutoFit/>
          </a:bodyPr>
          <a:lstStyle/>
          <a:p>
            <a:pPr algn="l">
              <a:lnSpc>
                <a:spcPts val="2800"/>
              </a:lnSpc>
            </a:pPr>
            <a:r>
              <a:rPr lang="en-US" sz="2400" dirty="0">
                <a:solidFill>
                  <a:srgbClr val="000000"/>
                </a:solidFill>
                <a:latin typeface="Helvetica Neue Light"/>
              </a:rPr>
              <a:t>of users request   </a:t>
            </a:r>
          </a:p>
          <a:p>
            <a:pPr algn="l">
              <a:lnSpc>
                <a:spcPts val="2800"/>
              </a:lnSpc>
            </a:pPr>
            <a:r>
              <a:rPr lang="en-US" sz="2400" dirty="0">
                <a:solidFill>
                  <a:srgbClr val="000000"/>
                </a:solidFill>
                <a:latin typeface="Helvetica Neue Light"/>
              </a:rPr>
              <a:t>trading both shares and dollars</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1066800" y="863850"/>
            <a:ext cx="2748682" cy="711555"/>
          </a:xfrm>
          <a:prstGeom prst="rect">
            <a:avLst/>
          </a:prstGeom>
          <a:noFill/>
        </p:spPr>
        <p:txBody>
          <a:bodyPr wrap="none" lIns="0" tIns="0" rIns="0" bIns="0">
            <a:noAutofit/>
          </a:bodyPr>
          <a:lstStyle/>
          <a:p>
            <a:pPr algn="l"/>
            <a:r>
              <a:rPr sz="4600" dirty="0">
                <a:solidFill>
                  <a:srgbClr val="FFFFFF"/>
                </a:solidFill>
                <a:latin typeface="Helvetica Neue Light"/>
              </a:rPr>
              <a:t>Discovery</a:t>
            </a:r>
          </a:p>
        </p:txBody>
      </p:sp>
      <p:sp>
        <p:nvSpPr>
          <p:cNvPr id="4" name="TextBox 3"/>
          <p:cNvSpPr txBox="1"/>
          <p:nvPr/>
        </p:nvSpPr>
        <p:spPr>
          <a:xfrm>
            <a:off x="1066800" y="3638038"/>
            <a:ext cx="5735478" cy="371246"/>
          </a:xfrm>
          <a:prstGeom prst="rect">
            <a:avLst/>
          </a:prstGeom>
          <a:noFill/>
        </p:spPr>
        <p:txBody>
          <a:bodyPr wrap="none" lIns="0" tIns="0" rIns="0" bIns="0">
            <a:noAutofit/>
          </a:bodyPr>
          <a:lstStyle/>
          <a:p>
            <a:pPr algn="l"/>
            <a:r>
              <a:rPr sz="2400" dirty="0">
                <a:solidFill>
                  <a:srgbClr val="FFFFFF"/>
                </a:solidFill>
                <a:latin typeface="Helvetica Neue Light"/>
              </a:rPr>
              <a:t>• Interviews with primary external users, </a:t>
            </a:r>
          </a:p>
        </p:txBody>
      </p:sp>
      <p:sp>
        <p:nvSpPr>
          <p:cNvPr id="5" name="TextBox 4"/>
          <p:cNvSpPr txBox="1"/>
          <p:nvPr/>
        </p:nvSpPr>
        <p:spPr>
          <a:xfrm>
            <a:off x="1254854" y="4120638"/>
            <a:ext cx="4585277" cy="371246"/>
          </a:xfrm>
          <a:prstGeom prst="rect">
            <a:avLst/>
          </a:prstGeom>
          <a:noFill/>
        </p:spPr>
        <p:txBody>
          <a:bodyPr wrap="none" lIns="0" tIns="0" rIns="0" bIns="0">
            <a:noAutofit/>
          </a:bodyPr>
          <a:lstStyle/>
          <a:p>
            <a:pPr algn="l"/>
            <a:r>
              <a:rPr sz="2400" dirty="0">
                <a:solidFill>
                  <a:srgbClr val="FFFFFF"/>
                </a:solidFill>
                <a:latin typeface="Helvetica Neue Light"/>
              </a:rPr>
              <a:t>internal stakeholders, and SMEs</a:t>
            </a:r>
          </a:p>
        </p:txBody>
      </p:sp>
      <p:sp>
        <p:nvSpPr>
          <p:cNvPr id="6" name="TextBox 5"/>
          <p:cNvSpPr txBox="1"/>
          <p:nvPr/>
        </p:nvSpPr>
        <p:spPr>
          <a:xfrm>
            <a:off x="1511289" y="4603238"/>
            <a:ext cx="3377402" cy="371246"/>
          </a:xfrm>
          <a:prstGeom prst="rect">
            <a:avLst/>
          </a:prstGeom>
          <a:noFill/>
        </p:spPr>
        <p:txBody>
          <a:bodyPr wrap="none" lIns="0" tIns="0" rIns="0" bIns="0">
            <a:noAutofit/>
          </a:bodyPr>
          <a:lstStyle/>
          <a:p>
            <a:pPr algn="l"/>
            <a:r>
              <a:rPr sz="2400" dirty="0">
                <a:solidFill>
                  <a:srgbClr val="FFFFFF"/>
                </a:solidFill>
                <a:latin typeface="Helvetica Neue Light"/>
              </a:rPr>
              <a:t> • Experienced Traders  </a:t>
            </a:r>
          </a:p>
        </p:txBody>
      </p:sp>
      <p:sp>
        <p:nvSpPr>
          <p:cNvPr id="7" name="TextBox 6"/>
          <p:cNvSpPr txBox="1"/>
          <p:nvPr/>
        </p:nvSpPr>
        <p:spPr>
          <a:xfrm>
            <a:off x="1524000" y="5085838"/>
            <a:ext cx="2396202" cy="371246"/>
          </a:xfrm>
          <a:prstGeom prst="rect">
            <a:avLst/>
          </a:prstGeom>
          <a:noFill/>
        </p:spPr>
        <p:txBody>
          <a:bodyPr wrap="none" lIns="0" tIns="0" rIns="0" bIns="0">
            <a:noAutofit/>
          </a:bodyPr>
          <a:lstStyle/>
          <a:p>
            <a:pPr algn="l"/>
            <a:r>
              <a:rPr sz="2400" dirty="0">
                <a:solidFill>
                  <a:srgbClr val="FFFFFF"/>
                </a:solidFill>
                <a:latin typeface="Helvetica Neue Light"/>
              </a:rPr>
              <a:t>• Novice Traders</a:t>
            </a:r>
          </a:p>
        </p:txBody>
      </p:sp>
      <p:sp>
        <p:nvSpPr>
          <p:cNvPr id="8" name="TextBox 7"/>
          <p:cNvSpPr txBox="1"/>
          <p:nvPr/>
        </p:nvSpPr>
        <p:spPr>
          <a:xfrm>
            <a:off x="1066800" y="5568438"/>
            <a:ext cx="3467012" cy="371246"/>
          </a:xfrm>
          <a:prstGeom prst="rect">
            <a:avLst/>
          </a:prstGeom>
          <a:noFill/>
        </p:spPr>
        <p:txBody>
          <a:bodyPr wrap="none" lIns="0" tIns="0" rIns="0" bIns="0">
            <a:noAutofit/>
          </a:bodyPr>
          <a:lstStyle/>
          <a:p>
            <a:pPr algn="l"/>
            <a:r>
              <a:rPr sz="2400" dirty="0">
                <a:solidFill>
                  <a:srgbClr val="FFFFFF"/>
                </a:solidFill>
                <a:latin typeface="Helvetica Neue Light"/>
              </a:rPr>
              <a:t>• Persona development </a:t>
            </a:r>
          </a:p>
        </p:txBody>
      </p:sp>
      <p:sp>
        <p:nvSpPr>
          <p:cNvPr id="9" name="TextBox 8"/>
          <p:cNvSpPr txBox="1"/>
          <p:nvPr/>
        </p:nvSpPr>
        <p:spPr>
          <a:xfrm>
            <a:off x="1066800" y="6051038"/>
            <a:ext cx="5122808" cy="371246"/>
          </a:xfrm>
          <a:prstGeom prst="rect">
            <a:avLst/>
          </a:prstGeom>
          <a:noFill/>
        </p:spPr>
        <p:txBody>
          <a:bodyPr wrap="none" lIns="0" tIns="0" rIns="0" bIns="0">
            <a:noAutofit/>
          </a:bodyPr>
          <a:lstStyle/>
          <a:p>
            <a:pPr algn="l"/>
            <a:r>
              <a:rPr sz="2400" dirty="0">
                <a:solidFill>
                  <a:srgbClr val="FFFFFF"/>
                </a:solidFill>
                <a:latin typeface="Helvetica Neue Light"/>
              </a:rPr>
              <a:t>• Google Design Thinking Exercises</a:t>
            </a:r>
          </a:p>
        </p:txBody>
      </p:sp>
      <p:sp>
        <p:nvSpPr>
          <p:cNvPr id="10" name="TextBox 9"/>
          <p:cNvSpPr txBox="1"/>
          <p:nvPr/>
        </p:nvSpPr>
        <p:spPr>
          <a:xfrm>
            <a:off x="1066800" y="6533637"/>
            <a:ext cx="3211953" cy="371246"/>
          </a:xfrm>
          <a:prstGeom prst="rect">
            <a:avLst/>
          </a:prstGeom>
          <a:noFill/>
        </p:spPr>
        <p:txBody>
          <a:bodyPr wrap="none" lIns="0" tIns="0" rIns="0" bIns="0">
            <a:noAutofit/>
          </a:bodyPr>
          <a:lstStyle/>
          <a:p>
            <a:pPr algn="l"/>
            <a:r>
              <a:rPr sz="2400" dirty="0">
                <a:solidFill>
                  <a:srgbClr val="FFFFFF"/>
                </a:solidFill>
                <a:latin typeface="Helvetica Neue Light"/>
              </a:rPr>
              <a:t>• Competitive Analysis</a:t>
            </a:r>
          </a:p>
        </p:txBody>
      </p:sp>
      <p:sp>
        <p:nvSpPr>
          <p:cNvPr id="11" name="TextBox 10"/>
          <p:cNvSpPr txBox="1"/>
          <p:nvPr/>
        </p:nvSpPr>
        <p:spPr>
          <a:xfrm>
            <a:off x="7671394" y="3700778"/>
            <a:ext cx="2280200" cy="309371"/>
          </a:xfrm>
          <a:prstGeom prst="rect">
            <a:avLst/>
          </a:prstGeom>
          <a:noFill/>
        </p:spPr>
        <p:txBody>
          <a:bodyPr wrap="none" lIns="0" tIns="0" rIns="0" bIns="0">
            <a:noAutofit/>
          </a:bodyPr>
          <a:lstStyle/>
          <a:p>
            <a:pPr algn="l"/>
            <a:r>
              <a:rPr sz="2000" dirty="0">
                <a:solidFill>
                  <a:srgbClr val="FFFFFF"/>
                </a:solidFill>
                <a:latin typeface="Helvetica Neue Light"/>
              </a:rPr>
              <a:t>Problem statement</a:t>
            </a:r>
          </a:p>
        </p:txBody>
      </p:sp>
      <p:sp>
        <p:nvSpPr>
          <p:cNvPr id="12" name="TextBox 11"/>
          <p:cNvSpPr txBox="1"/>
          <p:nvPr/>
        </p:nvSpPr>
        <p:spPr>
          <a:xfrm>
            <a:off x="7671394" y="4052314"/>
            <a:ext cx="4651851" cy="2881376"/>
          </a:xfrm>
          <a:prstGeom prst="rect">
            <a:avLst/>
          </a:prstGeom>
          <a:noFill/>
        </p:spPr>
        <p:txBody>
          <a:bodyPr wrap="square" lIns="0" tIns="0" rIns="0" bIns="0">
            <a:noAutofit/>
          </a:bodyPr>
          <a:lstStyle/>
          <a:p>
            <a:pPr algn="l">
              <a:lnSpc>
                <a:spcPts val="3300"/>
              </a:lnSpc>
            </a:pPr>
            <a:r>
              <a:rPr sz="2000" dirty="0">
                <a:solidFill>
                  <a:srgbClr val="FFFFFF"/>
                </a:solidFill>
                <a:latin typeface="Helvetica Neue Thin"/>
              </a:rPr>
              <a:t>As the most important part of the trading experience, experienced and novice users need an integrated trade ticket that simplifies the trading process, reduces the likelihood of errors, and enhances overall efficiency, while giving users the ability to trade in shares or dollar amounts.</a:t>
            </a:r>
          </a:p>
        </p:txBody>
      </p:sp>
      <p:sp>
        <p:nvSpPr>
          <p:cNvPr id="19" name="TextBox 18"/>
          <p:cNvSpPr txBox="1"/>
          <p:nvPr/>
        </p:nvSpPr>
        <p:spPr>
          <a:xfrm>
            <a:off x="5130800" y="608479"/>
            <a:ext cx="7344949" cy="1294790"/>
          </a:xfrm>
          <a:prstGeom prst="rect">
            <a:avLst/>
          </a:prstGeom>
          <a:noFill/>
        </p:spPr>
        <p:txBody>
          <a:bodyPr wrap="square" lIns="0" tIns="0" rIns="0" bIns="0">
            <a:noAutofit/>
          </a:bodyPr>
          <a:lstStyle/>
          <a:p>
            <a:pPr algn="l">
              <a:lnSpc>
                <a:spcPts val="2700"/>
              </a:lnSpc>
            </a:pPr>
            <a:r>
              <a:rPr sz="1800" dirty="0">
                <a:solidFill>
                  <a:srgbClr val="FFFFFF"/>
                </a:solidFill>
                <a:latin typeface="Helvetica Neue Thin"/>
              </a:rPr>
              <a:t>Because of the KPIs assembled, the assumptions of the business partners, and feedback from users based on help requests we determined we needed to use methods to identify user needs, validate existing assumptions, and generate new ideas.</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1092200" y="1011931"/>
            <a:ext cx="5465084" cy="897178"/>
          </a:xfrm>
          <a:prstGeom prst="rect">
            <a:avLst/>
          </a:prstGeom>
          <a:noFill/>
        </p:spPr>
        <p:txBody>
          <a:bodyPr wrap="none" lIns="0" tIns="0" rIns="0" bIns="0">
            <a:noAutofit/>
          </a:bodyPr>
          <a:lstStyle/>
          <a:p>
            <a:pPr algn="l"/>
            <a:r>
              <a:rPr sz="5800" dirty="0">
                <a:solidFill>
                  <a:srgbClr val="FFFFFF"/>
                </a:solidFill>
                <a:latin typeface="Helvetica Neue Light"/>
              </a:rPr>
              <a:t>Design Patterns</a:t>
            </a:r>
          </a:p>
        </p:txBody>
      </p:sp>
      <p:sp>
        <p:nvSpPr>
          <p:cNvPr id="4" name="TextBox 3"/>
          <p:cNvSpPr txBox="1"/>
          <p:nvPr/>
        </p:nvSpPr>
        <p:spPr>
          <a:xfrm>
            <a:off x="1092200" y="2684267"/>
            <a:ext cx="5212608"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Education and NUX: Effective onboarding through upfront and contextual education, using examples like Duolingo and DOT.</a:t>
            </a:r>
          </a:p>
        </p:txBody>
      </p:sp>
      <p:sp>
        <p:nvSpPr>
          <p:cNvPr id="5" name="TextBox 4"/>
          <p:cNvSpPr txBox="1"/>
          <p:nvPr/>
        </p:nvSpPr>
        <p:spPr>
          <a:xfrm>
            <a:off x="1092200" y="3598666"/>
            <a:ext cx="5166682"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Contextual UI: Strategies like inline actions, side panels, and quick actions to offer users more control.</a:t>
            </a:r>
          </a:p>
        </p:txBody>
      </p:sp>
      <p:sp>
        <p:nvSpPr>
          <p:cNvPr id="6" name="TextBox 5"/>
          <p:cNvSpPr txBox="1"/>
          <p:nvPr/>
        </p:nvSpPr>
        <p:spPr>
          <a:xfrm>
            <a:off x="1092200" y="4513066"/>
            <a:ext cx="5211158"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Addressing the Cold Start Problem: Solutions like icebreakers, templates, and guided input to help users get started.</a:t>
            </a:r>
          </a:p>
        </p:txBody>
      </p:sp>
      <p:sp>
        <p:nvSpPr>
          <p:cNvPr id="7" name="TextBox 6"/>
          <p:cNvSpPr txBox="1"/>
          <p:nvPr/>
        </p:nvSpPr>
        <p:spPr>
          <a:xfrm>
            <a:off x="1092200" y="5427466"/>
            <a:ext cx="5225978"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Continued Guidance: Providing suggested prompts and contextual assistance to keep users engaged.</a:t>
            </a:r>
          </a:p>
        </p:txBody>
      </p:sp>
      <p:sp>
        <p:nvSpPr>
          <p:cNvPr id="8" name="TextBox 7"/>
          <p:cNvSpPr txBox="1"/>
          <p:nvPr/>
        </p:nvSpPr>
        <p:spPr>
          <a:xfrm>
            <a:off x="1092200" y="6341867"/>
            <a:ext cx="5368647"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Personalization: Customizing user experiences through memory, suggestions, and personal input options.</a:t>
            </a:r>
          </a:p>
        </p:txBody>
      </p:sp>
      <p:sp>
        <p:nvSpPr>
          <p:cNvPr id="9" name="TextBox 8"/>
          <p:cNvSpPr txBox="1"/>
          <p:nvPr/>
        </p:nvSpPr>
        <p:spPr>
          <a:xfrm>
            <a:off x="6680200" y="2593084"/>
            <a:ext cx="5571928"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Enabling Experimentation: Allowing users to preview, undo, and retrace steps for enhanced control.</a:t>
            </a:r>
          </a:p>
        </p:txBody>
      </p:sp>
      <p:sp>
        <p:nvSpPr>
          <p:cNvPr id="10" name="TextBox 9"/>
          <p:cNvSpPr txBox="1"/>
          <p:nvPr/>
        </p:nvSpPr>
        <p:spPr>
          <a:xfrm>
            <a:off x="6680200" y="3507484"/>
            <a:ext cx="5770360"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Feedback Mechanisms: Implementing thumbs-up/down ratings and regeneration options for better AI refinement.</a:t>
            </a:r>
          </a:p>
        </p:txBody>
      </p:sp>
      <p:sp>
        <p:nvSpPr>
          <p:cNvPr id="11" name="TextBox 10"/>
          <p:cNvSpPr txBox="1"/>
          <p:nvPr/>
        </p:nvSpPr>
        <p:spPr>
          <a:xfrm>
            <a:off x="6680200" y="4421884"/>
            <a:ext cx="5785793"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Providing Controls: Offering users tools like source verification, image editing, and content manipulation for more control over AI outputs.</a:t>
            </a:r>
          </a:p>
        </p:txBody>
      </p:sp>
      <p:sp>
        <p:nvSpPr>
          <p:cNvPr id="12" name="TextBox 11"/>
          <p:cNvSpPr txBox="1"/>
          <p:nvPr/>
        </p:nvSpPr>
        <p:spPr>
          <a:xfrm>
            <a:off x="6680200" y="5336284"/>
            <a:ext cx="5972836"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Transparency: Ensuring trust by watermarking AI content, labeling generated text, and clarifying data usage.</a:t>
            </a:r>
          </a:p>
        </p:txBody>
      </p:sp>
      <p:sp>
        <p:nvSpPr>
          <p:cNvPr id="13" name="TextBox 12"/>
          <p:cNvSpPr txBox="1"/>
          <p:nvPr/>
        </p:nvSpPr>
        <p:spPr>
          <a:xfrm>
            <a:off x="6680200" y="6250684"/>
            <a:ext cx="5796294"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Voice and Streaming: Exploring voice interactions and message streaming patterns to create seamless experiences.</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1717447"/>
            <a:ext cx="12316482" cy="278434"/>
          </a:xfrm>
          <a:prstGeom prst="rect">
            <a:avLst/>
          </a:prstGeom>
          <a:noFill/>
        </p:spPr>
        <p:txBody>
          <a:bodyPr wrap="none" lIns="0" tIns="0" rIns="0" bIns="0">
            <a:noAutofit/>
          </a:bodyPr>
          <a:lstStyle/>
          <a:p>
            <a:pPr algn="l"/>
            <a:r>
              <a:rPr sz="1800" dirty="0">
                <a:solidFill>
                  <a:srgbClr val="000000"/>
                </a:solidFill>
                <a:latin typeface="Helvetica Neue Light"/>
              </a:rPr>
              <a:t>I led the interviews of users with more experience trading and less experienced traders. Experienced investors can </a:t>
            </a:r>
          </a:p>
        </p:txBody>
      </p:sp>
      <p:sp>
        <p:nvSpPr>
          <p:cNvPr id="4" name="TextBox 3"/>
          <p:cNvSpPr txBox="1"/>
          <p:nvPr/>
        </p:nvSpPr>
        <p:spPr>
          <a:xfrm>
            <a:off x="457200" y="2085747"/>
            <a:ext cx="12273406" cy="278434"/>
          </a:xfrm>
          <a:prstGeom prst="rect">
            <a:avLst/>
          </a:prstGeom>
          <a:noFill/>
        </p:spPr>
        <p:txBody>
          <a:bodyPr wrap="none" lIns="0" tIns="0" rIns="0" bIns="0">
            <a:noAutofit/>
          </a:bodyPr>
          <a:lstStyle/>
          <a:p>
            <a:pPr algn="l"/>
            <a:r>
              <a:rPr sz="1800" dirty="0">
                <a:solidFill>
                  <a:srgbClr val="000000"/>
                </a:solidFill>
                <a:latin typeface="Helvetica Neue Light"/>
              </a:rPr>
              <a:t>average anywhere from 20 to over 1,000 trades per year depending on their trading style; inexperienced investors </a:t>
            </a:r>
          </a:p>
        </p:txBody>
      </p:sp>
      <p:sp>
        <p:nvSpPr>
          <p:cNvPr id="5" name="TextBox 4"/>
          <p:cNvSpPr txBox="1"/>
          <p:nvPr/>
        </p:nvSpPr>
        <p:spPr>
          <a:xfrm>
            <a:off x="457200" y="2454047"/>
            <a:ext cx="6412977" cy="278434"/>
          </a:xfrm>
          <a:prstGeom prst="rect">
            <a:avLst/>
          </a:prstGeom>
          <a:noFill/>
        </p:spPr>
        <p:txBody>
          <a:bodyPr wrap="none" lIns="0" tIns="0" rIns="0" bIns="0">
            <a:noAutofit/>
          </a:bodyPr>
          <a:lstStyle/>
          <a:p>
            <a:pPr algn="l"/>
            <a:r>
              <a:rPr sz="1800" dirty="0">
                <a:solidFill>
                  <a:srgbClr val="000000"/>
                </a:solidFill>
                <a:latin typeface="Helvetica Neue Light"/>
              </a:rPr>
              <a:t>typically make fewer trades, ranging from 10 to 100 per year.</a:t>
            </a:r>
          </a:p>
        </p:txBody>
      </p:sp>
      <p:sp>
        <p:nvSpPr>
          <p:cNvPr id="6" name="TextBox 5"/>
          <p:cNvSpPr txBox="1"/>
          <p:nvPr/>
        </p:nvSpPr>
        <p:spPr>
          <a:xfrm>
            <a:off x="457200" y="3393063"/>
            <a:ext cx="3351856" cy="247497"/>
          </a:xfrm>
          <a:prstGeom prst="rect">
            <a:avLst/>
          </a:prstGeom>
          <a:noFill/>
        </p:spPr>
        <p:txBody>
          <a:bodyPr wrap="none" lIns="0" tIns="0" rIns="0" bIns="0">
            <a:noAutofit/>
          </a:bodyPr>
          <a:lstStyle/>
          <a:p>
            <a:pPr algn="l"/>
            <a:r>
              <a:rPr sz="1600" dirty="0">
                <a:solidFill>
                  <a:srgbClr val="000000"/>
                </a:solidFill>
                <a:latin typeface="Helvetica Neue Light"/>
              </a:rPr>
              <a:t>Some common complaints include:</a:t>
            </a:r>
          </a:p>
        </p:txBody>
      </p:sp>
      <p:sp>
        <p:nvSpPr>
          <p:cNvPr id="7" name="TextBox 6"/>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Integrated Trade Ticket </a:t>
            </a:r>
          </a:p>
        </p:txBody>
      </p:sp>
      <p:sp>
        <p:nvSpPr>
          <p:cNvPr id="8" name="TextBox 7"/>
          <p:cNvSpPr txBox="1"/>
          <p:nvPr/>
        </p:nvSpPr>
        <p:spPr>
          <a:xfrm>
            <a:off x="806616" y="3864332"/>
            <a:ext cx="5221813" cy="717448"/>
          </a:xfrm>
          <a:prstGeom prst="rect">
            <a:avLst/>
          </a:prstGeom>
          <a:noFill/>
        </p:spPr>
        <p:txBody>
          <a:bodyPr wrap="square" lIns="0" tIns="0" rIns="0" bIns="0">
            <a:noAutofit/>
          </a:bodyPr>
          <a:lstStyle/>
          <a:p>
            <a:pPr algn="l">
              <a:lnSpc>
                <a:spcPts val="2000"/>
              </a:lnSpc>
            </a:pPr>
            <a:r>
              <a:rPr sz="1400" dirty="0">
                <a:solidFill>
                  <a:srgbClr val="000000"/>
                </a:solidFill>
                <a:latin typeface="Helvetica Neue Light"/>
              </a:rPr>
              <a:t>Confusing Interface</a:t>
            </a:r>
          </a:p>
          <a:p>
            <a:pPr algn="l">
              <a:lnSpc>
                <a:spcPts val="2000"/>
              </a:lnSpc>
            </a:pPr>
            <a:r>
              <a:rPr sz="1400" dirty="0">
                <a:solidFill>
                  <a:srgbClr val="000000"/>
                </a:solidFill>
                <a:latin typeface="Helvetica Neue Thin"/>
              </a:rPr>
              <a:t>Many users find the app’s interface non-intuitive, making it </a:t>
            </a:r>
            <a:r>
              <a:rPr sz="1400" dirty="0" err="1">
                <a:solidFill>
                  <a:srgbClr val="000000"/>
                </a:solidFill>
                <a:latin typeface="Helvetica Neue Thin"/>
              </a:rPr>
              <a:t>difficult</a:t>
            </a:r>
            <a:r>
              <a:rPr sz="1400" dirty="0">
                <a:solidFill>
                  <a:srgbClr val="000000"/>
                </a:solidFill>
                <a:latin typeface="Helvetica Neue Thin"/>
              </a:rPr>
              <a:t> to navigate and find specific functions or features.</a:t>
            </a:r>
          </a:p>
        </p:txBody>
      </p:sp>
      <p:sp>
        <p:nvSpPr>
          <p:cNvPr id="9" name="TextBox 8"/>
          <p:cNvSpPr txBox="1"/>
          <p:nvPr/>
        </p:nvSpPr>
        <p:spPr>
          <a:xfrm>
            <a:off x="806616" y="5134332"/>
            <a:ext cx="5288833" cy="1479448"/>
          </a:xfrm>
          <a:prstGeom prst="rect">
            <a:avLst/>
          </a:prstGeom>
          <a:noFill/>
        </p:spPr>
        <p:txBody>
          <a:bodyPr wrap="square" lIns="0" tIns="0" rIns="0" bIns="0">
            <a:noAutofit/>
          </a:bodyPr>
          <a:lstStyle/>
          <a:p>
            <a:pPr algn="l">
              <a:lnSpc>
                <a:spcPts val="2000"/>
              </a:lnSpc>
            </a:pPr>
            <a:r>
              <a:rPr sz="1400">
                <a:solidFill>
                  <a:srgbClr val="000000"/>
                </a:solidFill>
                <a:latin typeface="Helvetica Neue Light"/>
              </a:rPr>
              <a:t>Limited Functionality</a:t>
            </a:r>
          </a:p>
          <a:p>
            <a:pPr algn="l">
              <a:lnSpc>
                <a:spcPts val="2000"/>
              </a:lnSpc>
            </a:pPr>
            <a:r>
              <a:rPr sz="1400">
                <a:solidFill>
                  <a:srgbClr val="000000"/>
                </a:solidFill>
                <a:latin typeface="Helvetica Neue Thin"/>
              </a:rPr>
              <a:t>Several users have expressed frustration with the limited features available in the trading section of the app. For example, some noted that important functionalities like detailed transaction histories or useful budgeting and spending tools are either buried under unclear tabs or entirely absent.</a:t>
            </a:r>
          </a:p>
        </p:txBody>
      </p:sp>
      <p:sp>
        <p:nvSpPr>
          <p:cNvPr id="10" name="TextBox 9"/>
          <p:cNvSpPr txBox="1"/>
          <p:nvPr/>
        </p:nvSpPr>
        <p:spPr>
          <a:xfrm>
            <a:off x="806616" y="7166332"/>
            <a:ext cx="5305354" cy="1225448"/>
          </a:xfrm>
          <a:prstGeom prst="rect">
            <a:avLst/>
          </a:prstGeom>
          <a:noFill/>
        </p:spPr>
        <p:txBody>
          <a:bodyPr wrap="square" lIns="0" tIns="0" rIns="0" bIns="0">
            <a:noAutofit/>
          </a:bodyPr>
          <a:lstStyle/>
          <a:p>
            <a:pPr algn="l">
              <a:lnSpc>
                <a:spcPts val="2000"/>
              </a:lnSpc>
            </a:pPr>
            <a:r>
              <a:rPr sz="1400">
                <a:solidFill>
                  <a:srgbClr val="000000"/>
                </a:solidFill>
                <a:latin typeface="Helvetica Neue Light"/>
              </a:rPr>
              <a:t>Technical Issues</a:t>
            </a:r>
          </a:p>
          <a:p>
            <a:pPr algn="l">
              <a:lnSpc>
                <a:spcPts val="2000"/>
              </a:lnSpc>
            </a:pPr>
            <a:r>
              <a:rPr sz="1400">
                <a:solidFill>
                  <a:srgbClr val="000000"/>
                </a:solidFill>
                <a:latin typeface="Helvetica Neue Thin"/>
              </a:rPr>
              <a:t>There are reports of the app experiencing technical problems during peak trading times, which can delay access and execution of trades. This unreliability during high-demand periods is a significant drawback for active traders. </a:t>
            </a:r>
          </a:p>
        </p:txBody>
      </p:sp>
      <p:sp>
        <p:nvSpPr>
          <p:cNvPr id="11" name="TextBox 10"/>
          <p:cNvSpPr txBox="1"/>
          <p:nvPr/>
        </p:nvSpPr>
        <p:spPr>
          <a:xfrm>
            <a:off x="6413666" y="3864332"/>
            <a:ext cx="5172469" cy="971448"/>
          </a:xfrm>
          <a:prstGeom prst="rect">
            <a:avLst/>
          </a:prstGeom>
          <a:noFill/>
        </p:spPr>
        <p:txBody>
          <a:bodyPr wrap="square" lIns="0" tIns="0" rIns="0" bIns="0">
            <a:noAutofit/>
          </a:bodyPr>
          <a:lstStyle/>
          <a:p>
            <a:pPr algn="l">
              <a:lnSpc>
                <a:spcPts val="2000"/>
              </a:lnSpc>
            </a:pPr>
            <a:r>
              <a:rPr sz="1400">
                <a:solidFill>
                  <a:srgbClr val="000000"/>
                </a:solidFill>
                <a:latin typeface="Helvetica Neue Light"/>
              </a:rPr>
              <a:t>Lack of Real-Time Updates</a:t>
            </a:r>
          </a:p>
          <a:p>
            <a:pPr algn="l">
              <a:lnSpc>
                <a:spcPts val="2000"/>
              </a:lnSpc>
            </a:pPr>
            <a:r>
              <a:rPr sz="1400">
                <a:solidFill>
                  <a:srgbClr val="000000"/>
                </a:solidFill>
                <a:latin typeface="Helvetica Neue Thin"/>
              </a:rPr>
              <a:t>Some users have complained about delays in real-time updates for stock prices and portfolio values, which can be critical for making timely trading decisions.</a:t>
            </a:r>
          </a:p>
        </p:txBody>
      </p:sp>
      <p:sp>
        <p:nvSpPr>
          <p:cNvPr id="12" name="TextBox 11"/>
          <p:cNvSpPr txBox="1"/>
          <p:nvPr/>
        </p:nvSpPr>
        <p:spPr>
          <a:xfrm>
            <a:off x="6413666" y="5388332"/>
            <a:ext cx="5258788" cy="971448"/>
          </a:xfrm>
          <a:prstGeom prst="rect">
            <a:avLst/>
          </a:prstGeom>
          <a:noFill/>
        </p:spPr>
        <p:txBody>
          <a:bodyPr wrap="square" lIns="0" tIns="0" rIns="0" bIns="0">
            <a:noAutofit/>
          </a:bodyPr>
          <a:lstStyle/>
          <a:p>
            <a:pPr algn="l">
              <a:lnSpc>
                <a:spcPts val="2000"/>
              </a:lnSpc>
            </a:pPr>
            <a:r>
              <a:rPr sz="1400">
                <a:solidFill>
                  <a:srgbClr val="000000"/>
                </a:solidFill>
                <a:latin typeface="Helvetica Neue Light"/>
              </a:rPr>
              <a:t>Poor Customer Support</a:t>
            </a:r>
          </a:p>
          <a:p>
            <a:pPr algn="l">
              <a:lnSpc>
                <a:spcPts val="2000"/>
              </a:lnSpc>
            </a:pPr>
            <a:r>
              <a:rPr sz="1400">
                <a:solidFill>
                  <a:srgbClr val="000000"/>
                </a:solidFill>
                <a:latin typeface="Helvetica Neue Thin"/>
              </a:rPr>
              <a:t>Dissatisfaction with customer service is another common theme. Users have mentioned that getting support through the app is challenging, and responses to issues are often slow or unhelpful.</a:t>
            </a:r>
          </a:p>
        </p:txBody>
      </p:sp>
      <p:sp>
        <p:nvSpPr>
          <p:cNvPr id="13" name="TextBox 12"/>
          <p:cNvSpPr txBox="1"/>
          <p:nvPr/>
        </p:nvSpPr>
        <p:spPr>
          <a:xfrm>
            <a:off x="457200" y="939800"/>
            <a:ext cx="11430000" cy="482600"/>
          </a:xfrm>
          <a:prstGeom prst="rect">
            <a:avLst/>
          </a:prstGeom>
          <a:noFill/>
        </p:spPr>
        <p:txBody>
          <a:bodyPr wrap="none" lIns="0" tIns="0" rIns="0" bIns="0">
            <a:noAutofit/>
          </a:bodyPr>
          <a:lstStyle/>
          <a:p>
            <a:r>
              <a:rPr sz="3000">
                <a:solidFill>
                  <a:srgbClr val="1F1F1F"/>
                </a:solidFill>
                <a:latin typeface="Helvetica Neue Light"/>
              </a:rPr>
              <a:t>Interviews: Experienced and novice traders</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939800"/>
            <a:ext cx="7416800" cy="476250"/>
          </a:xfrm>
          <a:prstGeom prst="rect">
            <a:avLst/>
          </a:prstGeom>
          <a:noFill/>
        </p:spPr>
        <p:txBody>
          <a:bodyPr wrap="none" lIns="0" tIns="0" rIns="0" bIns="0">
            <a:noAutofit/>
          </a:bodyPr>
          <a:lstStyle/>
          <a:p>
            <a:pPr algn="l"/>
            <a:r>
              <a:rPr sz="3000" dirty="0">
                <a:solidFill>
                  <a:srgbClr val="1F1F1F"/>
                </a:solidFill>
                <a:latin typeface="Helvetica Neue Light"/>
              </a:rPr>
              <a:t>Pain points we heard from the interviews</a:t>
            </a:r>
          </a:p>
        </p:txBody>
      </p:sp>
      <p:sp>
        <p:nvSpPr>
          <p:cNvPr id="4" name="TextBox 3"/>
          <p:cNvSpPr txBox="1"/>
          <p:nvPr/>
        </p:nvSpPr>
        <p:spPr>
          <a:xfrm>
            <a:off x="1066800" y="2078479"/>
            <a:ext cx="7790614" cy="278434"/>
          </a:xfrm>
          <a:prstGeom prst="rect">
            <a:avLst/>
          </a:prstGeom>
          <a:noFill/>
        </p:spPr>
        <p:txBody>
          <a:bodyPr wrap="none" lIns="0" tIns="0" rIns="0" bIns="0">
            <a:noAutofit/>
          </a:bodyPr>
          <a:lstStyle/>
          <a:p>
            <a:pPr algn="l"/>
            <a:r>
              <a:rPr sz="1800" dirty="0">
                <a:solidFill>
                  <a:srgbClr val="000000"/>
                </a:solidFill>
                <a:latin typeface="Helvetica Neue Light"/>
              </a:rPr>
              <a:t>1 Can’t trade in both shares and dollar amounts using the mobile platform</a:t>
            </a:r>
          </a:p>
        </p:txBody>
      </p:sp>
      <p:sp>
        <p:nvSpPr>
          <p:cNvPr id="5" name="TextBox 4"/>
          <p:cNvSpPr txBox="1"/>
          <p:nvPr/>
        </p:nvSpPr>
        <p:spPr>
          <a:xfrm>
            <a:off x="1066800" y="2688079"/>
            <a:ext cx="3714815" cy="278434"/>
          </a:xfrm>
          <a:prstGeom prst="rect">
            <a:avLst/>
          </a:prstGeom>
          <a:noFill/>
        </p:spPr>
        <p:txBody>
          <a:bodyPr wrap="none" lIns="0" tIns="0" rIns="0" bIns="0">
            <a:noAutofit/>
          </a:bodyPr>
          <a:lstStyle/>
          <a:p>
            <a:pPr algn="l"/>
            <a:r>
              <a:rPr sz="1800" dirty="0">
                <a:solidFill>
                  <a:srgbClr val="000000"/>
                </a:solidFill>
                <a:latin typeface="Helvetica Neue Light"/>
              </a:rPr>
              <a:t>2 Several interfaces aren’t intuitive</a:t>
            </a:r>
          </a:p>
        </p:txBody>
      </p:sp>
      <p:sp>
        <p:nvSpPr>
          <p:cNvPr id="6" name="TextBox 5"/>
          <p:cNvSpPr txBox="1"/>
          <p:nvPr/>
        </p:nvSpPr>
        <p:spPr>
          <a:xfrm>
            <a:off x="1066800" y="3297680"/>
            <a:ext cx="5473941" cy="278434"/>
          </a:xfrm>
          <a:prstGeom prst="rect">
            <a:avLst/>
          </a:prstGeom>
          <a:noFill/>
        </p:spPr>
        <p:txBody>
          <a:bodyPr wrap="none" lIns="0" tIns="0" rIns="0" bIns="0">
            <a:noAutofit/>
          </a:bodyPr>
          <a:lstStyle/>
          <a:p>
            <a:pPr algn="l"/>
            <a:r>
              <a:rPr sz="1800" dirty="0">
                <a:solidFill>
                  <a:srgbClr val="000000"/>
                </a:solidFill>
                <a:latin typeface="Helvetica Neue Light"/>
              </a:rPr>
              <a:t>3 Need more of the right detailed trade information</a:t>
            </a:r>
          </a:p>
        </p:txBody>
      </p:sp>
      <p:sp>
        <p:nvSpPr>
          <p:cNvPr id="7" name="TextBox 6"/>
          <p:cNvSpPr txBox="1"/>
          <p:nvPr/>
        </p:nvSpPr>
        <p:spPr>
          <a:xfrm>
            <a:off x="1066800" y="3907280"/>
            <a:ext cx="3715851" cy="278434"/>
          </a:xfrm>
          <a:prstGeom prst="rect">
            <a:avLst/>
          </a:prstGeom>
          <a:noFill/>
        </p:spPr>
        <p:txBody>
          <a:bodyPr wrap="none" lIns="0" tIns="0" rIns="0" bIns="0">
            <a:noAutofit/>
          </a:bodyPr>
          <a:lstStyle/>
          <a:p>
            <a:pPr algn="l"/>
            <a:r>
              <a:rPr sz="1800" dirty="0">
                <a:solidFill>
                  <a:srgbClr val="000000"/>
                </a:solidFill>
                <a:latin typeface="Helvetica Neue Light"/>
              </a:rPr>
              <a:t>4 Flexibility needs to be improved </a:t>
            </a:r>
          </a:p>
        </p:txBody>
      </p:sp>
      <p:sp>
        <p:nvSpPr>
          <p:cNvPr id="8" name="TextBox 7"/>
          <p:cNvSpPr txBox="1"/>
          <p:nvPr/>
        </p:nvSpPr>
        <p:spPr>
          <a:xfrm>
            <a:off x="1066800" y="4516880"/>
            <a:ext cx="2472524" cy="278434"/>
          </a:xfrm>
          <a:prstGeom prst="rect">
            <a:avLst/>
          </a:prstGeom>
          <a:noFill/>
        </p:spPr>
        <p:txBody>
          <a:bodyPr wrap="none" lIns="0" tIns="0" rIns="0" bIns="0">
            <a:noAutofit/>
          </a:bodyPr>
          <a:lstStyle/>
          <a:p>
            <a:pPr algn="l"/>
            <a:r>
              <a:rPr sz="1800" dirty="0">
                <a:solidFill>
                  <a:srgbClr val="000000"/>
                </a:solidFill>
                <a:latin typeface="Helvetica Neue Light"/>
              </a:rPr>
              <a:t>5 More trading options</a:t>
            </a:r>
          </a:p>
        </p:txBody>
      </p:sp>
      <p:sp>
        <p:nvSpPr>
          <p:cNvPr id="9" name="TextBox 8"/>
          <p:cNvSpPr txBox="1"/>
          <p:nvPr/>
        </p:nvSpPr>
        <p:spPr>
          <a:xfrm>
            <a:off x="1066800" y="5126480"/>
            <a:ext cx="963298" cy="278434"/>
          </a:xfrm>
          <a:prstGeom prst="rect">
            <a:avLst/>
          </a:prstGeom>
          <a:noFill/>
        </p:spPr>
        <p:txBody>
          <a:bodyPr wrap="none" lIns="0" tIns="0" rIns="0" bIns="0">
            <a:noAutofit/>
          </a:bodyPr>
          <a:lstStyle/>
          <a:p>
            <a:pPr algn="l"/>
            <a:r>
              <a:rPr sz="1800" dirty="0">
                <a:solidFill>
                  <a:srgbClr val="000000"/>
                </a:solidFill>
                <a:latin typeface="Helvetica Neue Light"/>
              </a:rPr>
              <a:t>6 Speed</a:t>
            </a:r>
          </a:p>
        </p:txBody>
      </p:sp>
      <p:sp>
        <p:nvSpPr>
          <p:cNvPr id="10" name="TextBox 9"/>
          <p:cNvSpPr txBox="1"/>
          <p:nvPr/>
        </p:nvSpPr>
        <p:spPr>
          <a:xfrm>
            <a:off x="1066800" y="5736080"/>
            <a:ext cx="1666682" cy="278434"/>
          </a:xfrm>
          <a:prstGeom prst="rect">
            <a:avLst/>
          </a:prstGeom>
          <a:noFill/>
        </p:spPr>
        <p:txBody>
          <a:bodyPr wrap="none" lIns="0" tIns="0" rIns="0" bIns="0">
            <a:noAutofit/>
          </a:bodyPr>
          <a:lstStyle/>
          <a:p>
            <a:pPr algn="l"/>
            <a:r>
              <a:rPr sz="1800" dirty="0">
                <a:solidFill>
                  <a:srgbClr val="000000"/>
                </a:solidFill>
                <a:latin typeface="Helvetica Neue Light"/>
              </a:rPr>
              <a:t>7 Mobile native</a:t>
            </a:r>
          </a:p>
        </p:txBody>
      </p:sp>
      <p:sp>
        <p:nvSpPr>
          <p:cNvPr id="11" name="TextBox 10"/>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Integrated Trade Ticket </a:t>
            </a:r>
          </a:p>
        </p:txBody>
      </p:sp>
      <p:sp>
        <p:nvSpPr>
          <p:cNvPr id="12" name="TextBox 11"/>
          <p:cNvSpPr txBox="1"/>
          <p:nvPr/>
        </p:nvSpPr>
        <p:spPr>
          <a:xfrm>
            <a:off x="6512844" y="7171435"/>
            <a:ext cx="5681984" cy="295655"/>
          </a:xfrm>
          <a:prstGeom prst="rect">
            <a:avLst/>
          </a:prstGeom>
          <a:noFill/>
        </p:spPr>
        <p:txBody>
          <a:bodyPr wrap="none" lIns="0" tIns="0" rIns="0" bIns="0">
            <a:noAutofit/>
          </a:bodyPr>
          <a:lstStyle/>
          <a:p>
            <a:pPr algn="l"/>
            <a:r>
              <a:rPr sz="2000" dirty="0">
                <a:solidFill>
                  <a:srgbClr val="000000"/>
                </a:solidFill>
                <a:latin typeface="Helvetica Neue Thin"/>
              </a:rPr>
              <a:t>“...the app’s interface is so non-intuitive, it makes </a:t>
            </a:r>
          </a:p>
        </p:txBody>
      </p:sp>
      <p:sp>
        <p:nvSpPr>
          <p:cNvPr id="13" name="TextBox 12"/>
          <p:cNvSpPr txBox="1"/>
          <p:nvPr/>
        </p:nvSpPr>
        <p:spPr>
          <a:xfrm>
            <a:off x="6672098" y="7476235"/>
            <a:ext cx="5338017" cy="295655"/>
          </a:xfrm>
          <a:prstGeom prst="rect">
            <a:avLst/>
          </a:prstGeom>
          <a:noFill/>
        </p:spPr>
        <p:txBody>
          <a:bodyPr wrap="none" lIns="0" tIns="0" rIns="0" bIns="0">
            <a:noAutofit/>
          </a:bodyPr>
          <a:lstStyle/>
          <a:p>
            <a:pPr algn="l"/>
            <a:r>
              <a:rPr sz="2000" dirty="0">
                <a:solidFill>
                  <a:srgbClr val="000000"/>
                </a:solidFill>
                <a:latin typeface="Helvetica Neue Thin"/>
              </a:rPr>
              <a:t>it hard to navigate, find specific functions and </a:t>
            </a:r>
          </a:p>
        </p:txBody>
      </p:sp>
      <p:sp>
        <p:nvSpPr>
          <p:cNvPr id="14" name="TextBox 13"/>
          <p:cNvSpPr txBox="1"/>
          <p:nvPr/>
        </p:nvSpPr>
        <p:spPr>
          <a:xfrm>
            <a:off x="7795531" y="7781035"/>
            <a:ext cx="2840086" cy="295655"/>
          </a:xfrm>
          <a:prstGeom prst="rect">
            <a:avLst/>
          </a:prstGeom>
          <a:noFill/>
        </p:spPr>
        <p:txBody>
          <a:bodyPr wrap="none" lIns="0" tIns="0" rIns="0" bIns="0">
            <a:noAutofit/>
          </a:bodyPr>
          <a:lstStyle/>
          <a:p>
            <a:pPr algn="l"/>
            <a:r>
              <a:rPr sz="2000" dirty="0">
                <a:solidFill>
                  <a:srgbClr val="000000"/>
                </a:solidFill>
                <a:latin typeface="Helvetica Neue Thin"/>
              </a:rPr>
              <a:t>just make a quick trade”</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444478" y="1829795"/>
            <a:ext cx="2351825" cy="1409842"/>
          </a:xfrm>
          <a:prstGeom prst="rect">
            <a:avLst/>
          </a:prstGeom>
        </p:spPr>
      </p:pic>
      <p:pic>
        <p:nvPicPr>
          <p:cNvPr id="4" name="Picture 2" descr="image.png"/>
          <p:cNvPicPr>
            <a:picLocks noChangeAspect="1"/>
          </p:cNvPicPr>
          <p:nvPr/>
        </p:nvPicPr>
        <p:blipFill>
          <a:blip r:embed="rId4"/>
          <a:stretch>
            <a:fillRect/>
          </a:stretch>
        </p:blipFill>
        <p:spPr>
          <a:xfrm>
            <a:off x="6041468" y="5022599"/>
            <a:ext cx="2075680" cy="1381271"/>
          </a:xfrm>
          <a:prstGeom prst="rect">
            <a:avLst/>
          </a:prstGeom>
        </p:spPr>
      </p:pic>
      <p:sp>
        <p:nvSpPr>
          <p:cNvPr id="5" name="TextBox 4"/>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Integrated Trade Ticket </a:t>
            </a:r>
          </a:p>
        </p:txBody>
      </p:sp>
      <p:sp>
        <p:nvSpPr>
          <p:cNvPr id="6" name="TextBox 5"/>
          <p:cNvSpPr txBox="1"/>
          <p:nvPr/>
        </p:nvSpPr>
        <p:spPr>
          <a:xfrm>
            <a:off x="4820493" y="1786543"/>
            <a:ext cx="702144" cy="152812"/>
          </a:xfrm>
          <a:prstGeom prst="rect">
            <a:avLst/>
          </a:prstGeom>
          <a:noFill/>
        </p:spPr>
        <p:txBody>
          <a:bodyPr wrap="none" lIns="0" tIns="0" rIns="0" bIns="0">
            <a:noAutofit/>
          </a:bodyPr>
          <a:lstStyle/>
          <a:p>
            <a:pPr algn="l"/>
            <a:r>
              <a:rPr sz="1000" dirty="0">
                <a:solidFill>
                  <a:srgbClr val="000000"/>
                </a:solidFill>
                <a:latin typeface="Helvetica Neue Light"/>
              </a:rPr>
              <a:t>Sentiments</a:t>
            </a:r>
          </a:p>
        </p:txBody>
      </p:sp>
      <p:sp>
        <p:nvSpPr>
          <p:cNvPr id="7" name="TextBox 6"/>
          <p:cNvSpPr txBox="1"/>
          <p:nvPr/>
        </p:nvSpPr>
        <p:spPr>
          <a:xfrm>
            <a:off x="4820493" y="2859941"/>
            <a:ext cx="954442" cy="152812"/>
          </a:xfrm>
          <a:prstGeom prst="rect">
            <a:avLst/>
          </a:prstGeom>
          <a:noFill/>
        </p:spPr>
        <p:txBody>
          <a:bodyPr wrap="none" lIns="0" tIns="0" rIns="0" bIns="0">
            <a:noAutofit/>
          </a:bodyPr>
          <a:lstStyle/>
          <a:p>
            <a:pPr algn="l"/>
            <a:r>
              <a:rPr sz="1000" dirty="0">
                <a:solidFill>
                  <a:srgbClr val="000000"/>
                </a:solidFill>
                <a:latin typeface="Helvetica Neue Light"/>
              </a:rPr>
              <a:t>Responsibilities</a:t>
            </a:r>
          </a:p>
        </p:txBody>
      </p:sp>
      <p:sp>
        <p:nvSpPr>
          <p:cNvPr id="8" name="TextBox 7"/>
          <p:cNvSpPr txBox="1"/>
          <p:nvPr/>
        </p:nvSpPr>
        <p:spPr>
          <a:xfrm>
            <a:off x="4820493" y="3779996"/>
            <a:ext cx="2277860" cy="152812"/>
          </a:xfrm>
          <a:prstGeom prst="rect">
            <a:avLst/>
          </a:prstGeom>
          <a:noFill/>
        </p:spPr>
        <p:txBody>
          <a:bodyPr wrap="none" lIns="0" tIns="0" rIns="0" bIns="0">
            <a:noAutofit/>
          </a:bodyPr>
          <a:lstStyle/>
          <a:p>
            <a:pPr algn="l"/>
            <a:r>
              <a:rPr sz="1000" dirty="0">
                <a:solidFill>
                  <a:srgbClr val="000000"/>
                </a:solidFill>
                <a:latin typeface="Helvetica Neue Light"/>
              </a:rPr>
              <a:t>Key Challenges and Areas of Concern</a:t>
            </a:r>
          </a:p>
        </p:txBody>
      </p:sp>
      <p:sp>
        <p:nvSpPr>
          <p:cNvPr id="9" name="TextBox 8"/>
          <p:cNvSpPr txBox="1"/>
          <p:nvPr/>
        </p:nvSpPr>
        <p:spPr>
          <a:xfrm>
            <a:off x="4820494" y="4853395"/>
            <a:ext cx="1186823" cy="152812"/>
          </a:xfrm>
          <a:prstGeom prst="rect">
            <a:avLst/>
          </a:prstGeom>
          <a:noFill/>
        </p:spPr>
        <p:txBody>
          <a:bodyPr wrap="none" lIns="0" tIns="0" rIns="0" bIns="0">
            <a:noAutofit/>
          </a:bodyPr>
          <a:lstStyle/>
          <a:p>
            <a:pPr algn="l"/>
            <a:r>
              <a:rPr sz="1000" dirty="0">
                <a:solidFill>
                  <a:srgbClr val="000000"/>
                </a:solidFill>
                <a:latin typeface="Helvetica Neue Light"/>
              </a:rPr>
              <a:t>Wishlist of Features</a:t>
            </a:r>
          </a:p>
        </p:txBody>
      </p:sp>
      <p:sp>
        <p:nvSpPr>
          <p:cNvPr id="10" name="TextBox 9"/>
          <p:cNvSpPr txBox="1"/>
          <p:nvPr/>
        </p:nvSpPr>
        <p:spPr>
          <a:xfrm>
            <a:off x="708124" y="1270475"/>
            <a:ext cx="1839489" cy="396432"/>
          </a:xfrm>
          <a:prstGeom prst="rect">
            <a:avLst/>
          </a:prstGeom>
          <a:noFill/>
        </p:spPr>
        <p:txBody>
          <a:bodyPr wrap="none" lIns="0" tIns="0" rIns="0" bIns="0">
            <a:noAutofit/>
          </a:bodyPr>
          <a:lstStyle/>
          <a:p>
            <a:pPr algn="l">
              <a:lnSpc>
                <a:spcPts val="1448"/>
              </a:lnSpc>
            </a:pPr>
            <a:r>
              <a:rPr sz="1450" dirty="0">
                <a:solidFill>
                  <a:srgbClr val="000000"/>
                </a:solidFill>
                <a:latin typeface="Helvetica Neue Light"/>
              </a:rPr>
              <a:t>Experienced Investor</a:t>
            </a:r>
          </a:p>
          <a:p>
            <a:pPr algn="l">
              <a:lnSpc>
                <a:spcPts val="1448"/>
              </a:lnSpc>
            </a:pPr>
            <a:r>
              <a:rPr sz="1200" dirty="0">
                <a:solidFill>
                  <a:srgbClr val="000000"/>
                </a:solidFill>
                <a:latin typeface="Helvetica Neue Light"/>
              </a:rPr>
              <a:t>Jordan </a:t>
            </a:r>
          </a:p>
        </p:txBody>
      </p:sp>
      <p:sp>
        <p:nvSpPr>
          <p:cNvPr id="11" name="TextBox 10"/>
          <p:cNvSpPr txBox="1"/>
          <p:nvPr/>
        </p:nvSpPr>
        <p:spPr>
          <a:xfrm>
            <a:off x="708124" y="4023254"/>
            <a:ext cx="1863419" cy="203750"/>
          </a:xfrm>
          <a:prstGeom prst="rect">
            <a:avLst/>
          </a:prstGeom>
          <a:noFill/>
        </p:spPr>
        <p:txBody>
          <a:bodyPr wrap="none" lIns="0" tIns="0" rIns="0" bIns="0">
            <a:noAutofit/>
          </a:bodyPr>
          <a:lstStyle/>
          <a:p>
            <a:pPr algn="l"/>
            <a:r>
              <a:rPr sz="1300" dirty="0">
                <a:solidFill>
                  <a:srgbClr val="000000"/>
                </a:solidFill>
                <a:latin typeface="Helvetica Neue Light"/>
              </a:rPr>
              <a:t>20 to over 1,000 trades</a:t>
            </a:r>
          </a:p>
        </p:txBody>
      </p:sp>
      <p:sp>
        <p:nvSpPr>
          <p:cNvPr id="12" name="TextBox 11"/>
          <p:cNvSpPr txBox="1"/>
          <p:nvPr/>
        </p:nvSpPr>
        <p:spPr>
          <a:xfrm>
            <a:off x="10079934" y="5104272"/>
            <a:ext cx="653657" cy="141437"/>
          </a:xfrm>
          <a:prstGeom prst="rect">
            <a:avLst/>
          </a:prstGeom>
          <a:noFill/>
        </p:spPr>
        <p:txBody>
          <a:bodyPr wrap="none" lIns="0" tIns="0" rIns="0" bIns="0">
            <a:noAutofit/>
          </a:bodyPr>
          <a:lstStyle/>
          <a:p>
            <a:pPr algn="l"/>
            <a:r>
              <a:rPr sz="900" dirty="0">
                <a:solidFill>
                  <a:srgbClr val="000000"/>
                </a:solidFill>
                <a:latin typeface="Helvetica Neue Light"/>
              </a:rPr>
              <a:t>Sentiments</a:t>
            </a:r>
          </a:p>
        </p:txBody>
      </p:sp>
      <p:sp>
        <p:nvSpPr>
          <p:cNvPr id="13" name="TextBox 12"/>
          <p:cNvSpPr txBox="1"/>
          <p:nvPr/>
        </p:nvSpPr>
        <p:spPr>
          <a:xfrm>
            <a:off x="10079934" y="6097759"/>
            <a:ext cx="887175" cy="141437"/>
          </a:xfrm>
          <a:prstGeom prst="rect">
            <a:avLst/>
          </a:prstGeom>
          <a:noFill/>
        </p:spPr>
        <p:txBody>
          <a:bodyPr wrap="none" lIns="0" tIns="0" rIns="0" bIns="0">
            <a:noAutofit/>
          </a:bodyPr>
          <a:lstStyle/>
          <a:p>
            <a:pPr algn="l"/>
            <a:r>
              <a:rPr sz="900" dirty="0">
                <a:solidFill>
                  <a:srgbClr val="000000"/>
                </a:solidFill>
                <a:latin typeface="Helvetica Neue Light"/>
              </a:rPr>
              <a:t>Responsibilities</a:t>
            </a:r>
          </a:p>
        </p:txBody>
      </p:sp>
      <p:sp>
        <p:nvSpPr>
          <p:cNvPr id="14" name="TextBox 13"/>
          <p:cNvSpPr txBox="1"/>
          <p:nvPr/>
        </p:nvSpPr>
        <p:spPr>
          <a:xfrm>
            <a:off x="10079934" y="6949321"/>
            <a:ext cx="2112078" cy="141437"/>
          </a:xfrm>
          <a:prstGeom prst="rect">
            <a:avLst/>
          </a:prstGeom>
          <a:noFill/>
        </p:spPr>
        <p:txBody>
          <a:bodyPr wrap="none" lIns="0" tIns="0" rIns="0" bIns="0">
            <a:noAutofit/>
          </a:bodyPr>
          <a:lstStyle/>
          <a:p>
            <a:pPr algn="l"/>
            <a:r>
              <a:rPr sz="900" dirty="0">
                <a:solidFill>
                  <a:srgbClr val="000000"/>
                </a:solidFill>
                <a:latin typeface="Helvetica Neue Light"/>
              </a:rPr>
              <a:t>Key Challenges and Areas of Concern</a:t>
            </a:r>
          </a:p>
        </p:txBody>
      </p:sp>
      <p:sp>
        <p:nvSpPr>
          <p:cNvPr id="15" name="TextBox 14"/>
          <p:cNvSpPr txBox="1"/>
          <p:nvPr/>
        </p:nvSpPr>
        <p:spPr>
          <a:xfrm>
            <a:off x="10079934" y="7800882"/>
            <a:ext cx="1102257" cy="141437"/>
          </a:xfrm>
          <a:prstGeom prst="rect">
            <a:avLst/>
          </a:prstGeom>
          <a:noFill/>
        </p:spPr>
        <p:txBody>
          <a:bodyPr wrap="none" lIns="0" tIns="0" rIns="0" bIns="0">
            <a:noAutofit/>
          </a:bodyPr>
          <a:lstStyle/>
          <a:p>
            <a:pPr algn="l"/>
            <a:r>
              <a:rPr sz="900" dirty="0">
                <a:solidFill>
                  <a:srgbClr val="000000"/>
                </a:solidFill>
                <a:latin typeface="Helvetica Neue Light"/>
              </a:rPr>
              <a:t>Wishlist of Features</a:t>
            </a:r>
          </a:p>
        </p:txBody>
      </p:sp>
      <p:sp>
        <p:nvSpPr>
          <p:cNvPr id="16" name="TextBox 15"/>
          <p:cNvSpPr txBox="1"/>
          <p:nvPr/>
        </p:nvSpPr>
        <p:spPr>
          <a:xfrm>
            <a:off x="6273713" y="4523404"/>
            <a:ext cx="1267765" cy="366919"/>
          </a:xfrm>
          <a:prstGeom prst="rect">
            <a:avLst/>
          </a:prstGeom>
          <a:noFill/>
        </p:spPr>
        <p:txBody>
          <a:bodyPr wrap="none" lIns="0" tIns="0" rIns="0" bIns="0">
            <a:noAutofit/>
          </a:bodyPr>
          <a:lstStyle/>
          <a:p>
            <a:pPr algn="l">
              <a:lnSpc>
                <a:spcPts val="1341"/>
              </a:lnSpc>
            </a:pPr>
            <a:r>
              <a:rPr sz="1300" dirty="0">
                <a:solidFill>
                  <a:srgbClr val="000000"/>
                </a:solidFill>
                <a:latin typeface="Helvetica Neue Light"/>
              </a:rPr>
              <a:t>Novice Investor</a:t>
            </a:r>
          </a:p>
          <a:p>
            <a:pPr algn="l">
              <a:lnSpc>
                <a:spcPts val="1341"/>
              </a:lnSpc>
            </a:pPr>
            <a:r>
              <a:rPr sz="1100" dirty="0">
                <a:solidFill>
                  <a:srgbClr val="000000"/>
                </a:solidFill>
                <a:latin typeface="Helvetica Neue Light"/>
              </a:rPr>
              <a:t>Taylor </a:t>
            </a:r>
          </a:p>
        </p:txBody>
      </p:sp>
      <p:sp>
        <p:nvSpPr>
          <p:cNvPr id="17" name="TextBox 16"/>
          <p:cNvSpPr txBox="1"/>
          <p:nvPr/>
        </p:nvSpPr>
        <p:spPr>
          <a:xfrm>
            <a:off x="6273712" y="7061056"/>
            <a:ext cx="686888" cy="188582"/>
          </a:xfrm>
          <a:prstGeom prst="rect">
            <a:avLst/>
          </a:prstGeom>
          <a:noFill/>
        </p:spPr>
        <p:txBody>
          <a:bodyPr wrap="none" lIns="0" tIns="0" rIns="0" bIns="0">
            <a:noAutofit/>
          </a:bodyPr>
          <a:lstStyle/>
          <a:p>
            <a:pPr algn="l"/>
            <a:r>
              <a:rPr sz="1200" dirty="0">
                <a:solidFill>
                  <a:srgbClr val="000000"/>
                </a:solidFill>
                <a:latin typeface="Helvetica Neue Light"/>
              </a:rPr>
              <a:t>10 to 100</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Integrated Trade Ticket </a:t>
            </a:r>
          </a:p>
        </p:txBody>
      </p:sp>
      <p:sp>
        <p:nvSpPr>
          <p:cNvPr id="4" name="TextBox 3"/>
          <p:cNvSpPr txBox="1"/>
          <p:nvPr/>
        </p:nvSpPr>
        <p:spPr>
          <a:xfrm>
            <a:off x="457200" y="939800"/>
            <a:ext cx="10281919" cy="476250"/>
          </a:xfrm>
          <a:prstGeom prst="rect">
            <a:avLst/>
          </a:prstGeom>
          <a:noFill/>
        </p:spPr>
        <p:txBody>
          <a:bodyPr wrap="none" lIns="0" tIns="0" rIns="0" bIns="0">
            <a:noAutofit/>
          </a:bodyPr>
          <a:lstStyle/>
          <a:p>
            <a:pPr algn="l"/>
            <a:r>
              <a:rPr sz="3000" dirty="0">
                <a:solidFill>
                  <a:srgbClr val="1F1F1F"/>
                </a:solidFill>
                <a:latin typeface="Helvetica Neue Light"/>
              </a:rPr>
              <a:t>Pain Points + Business Goals + UX Strategy = Feature Set</a:t>
            </a:r>
          </a:p>
        </p:txBody>
      </p:sp>
      <p:sp>
        <p:nvSpPr>
          <p:cNvPr id="5" name="TextBox 4"/>
          <p:cNvSpPr txBox="1"/>
          <p:nvPr/>
        </p:nvSpPr>
        <p:spPr>
          <a:xfrm>
            <a:off x="659853" y="2464380"/>
            <a:ext cx="1285451" cy="296068"/>
          </a:xfrm>
          <a:prstGeom prst="rect">
            <a:avLst/>
          </a:prstGeom>
          <a:noFill/>
        </p:spPr>
        <p:txBody>
          <a:bodyPr wrap="none" lIns="0" tIns="0" rIns="0" bIns="0">
            <a:noAutofit/>
          </a:bodyPr>
          <a:lstStyle/>
          <a:p>
            <a:pPr algn="l"/>
            <a:r>
              <a:rPr sz="1900" dirty="0">
                <a:solidFill>
                  <a:srgbClr val="FFFFFF"/>
                </a:solidFill>
                <a:latin typeface="Helvetica Neue Light"/>
              </a:rPr>
              <a:t>Pain Points</a:t>
            </a:r>
          </a:p>
        </p:txBody>
      </p:sp>
      <p:sp>
        <p:nvSpPr>
          <p:cNvPr id="6" name="TextBox 5"/>
          <p:cNvSpPr txBox="1"/>
          <p:nvPr/>
        </p:nvSpPr>
        <p:spPr>
          <a:xfrm>
            <a:off x="642848" y="2931890"/>
            <a:ext cx="2476008" cy="216560"/>
          </a:xfrm>
          <a:prstGeom prst="rect">
            <a:avLst/>
          </a:prstGeom>
          <a:noFill/>
        </p:spPr>
        <p:txBody>
          <a:bodyPr wrap="none" lIns="0" tIns="0" rIns="0" bIns="0">
            <a:noAutofit/>
          </a:bodyPr>
          <a:lstStyle/>
          <a:p>
            <a:pPr algn="l"/>
            <a:r>
              <a:rPr sz="1400" dirty="0">
                <a:solidFill>
                  <a:srgbClr val="FFFFFF"/>
                </a:solidFill>
                <a:latin typeface="Helvetica Neue Light"/>
              </a:rPr>
              <a:t>• Can’t trade in both shares </a:t>
            </a:r>
          </a:p>
        </p:txBody>
      </p:sp>
      <p:sp>
        <p:nvSpPr>
          <p:cNvPr id="7" name="TextBox 6"/>
          <p:cNvSpPr txBox="1"/>
          <p:nvPr/>
        </p:nvSpPr>
        <p:spPr>
          <a:xfrm>
            <a:off x="871448" y="3287490"/>
            <a:ext cx="926045" cy="216560"/>
          </a:xfrm>
          <a:prstGeom prst="rect">
            <a:avLst/>
          </a:prstGeom>
          <a:noFill/>
        </p:spPr>
        <p:txBody>
          <a:bodyPr wrap="none" lIns="0" tIns="0" rIns="0" bIns="0">
            <a:noAutofit/>
          </a:bodyPr>
          <a:lstStyle/>
          <a:p>
            <a:pPr algn="l"/>
            <a:r>
              <a:rPr sz="1400" dirty="0">
                <a:solidFill>
                  <a:srgbClr val="FFFFFF"/>
                </a:solidFill>
                <a:latin typeface="Helvetica Neue Light"/>
              </a:rPr>
              <a:t>and dollar </a:t>
            </a:r>
          </a:p>
        </p:txBody>
      </p:sp>
      <p:sp>
        <p:nvSpPr>
          <p:cNvPr id="8" name="TextBox 7"/>
          <p:cNvSpPr txBox="1"/>
          <p:nvPr/>
        </p:nvSpPr>
        <p:spPr>
          <a:xfrm>
            <a:off x="642848" y="3643090"/>
            <a:ext cx="2314305" cy="216560"/>
          </a:xfrm>
          <a:prstGeom prst="rect">
            <a:avLst/>
          </a:prstGeom>
          <a:noFill/>
        </p:spPr>
        <p:txBody>
          <a:bodyPr wrap="none" lIns="0" tIns="0" rIns="0" bIns="0">
            <a:noAutofit/>
          </a:bodyPr>
          <a:lstStyle/>
          <a:p>
            <a:pPr algn="l"/>
            <a:r>
              <a:rPr sz="1400" dirty="0">
                <a:solidFill>
                  <a:srgbClr val="FFFFFF"/>
                </a:solidFill>
                <a:latin typeface="Helvetica Neue Light"/>
              </a:rPr>
              <a:t>• Interfaces aren’t intuitive</a:t>
            </a:r>
          </a:p>
        </p:txBody>
      </p:sp>
      <p:sp>
        <p:nvSpPr>
          <p:cNvPr id="9" name="TextBox 8"/>
          <p:cNvSpPr txBox="1"/>
          <p:nvPr/>
        </p:nvSpPr>
        <p:spPr>
          <a:xfrm>
            <a:off x="642848" y="3902170"/>
            <a:ext cx="2277050" cy="668680"/>
          </a:xfrm>
          <a:prstGeom prst="rect">
            <a:avLst/>
          </a:prstGeom>
          <a:noFill/>
        </p:spPr>
        <p:txBody>
          <a:bodyPr wrap="square" lIns="0" tIns="0" rIns="0" bIns="0">
            <a:noAutofit/>
          </a:bodyPr>
          <a:lstStyle/>
          <a:p>
            <a:pPr marL="228600" indent="-228600" algn="l">
              <a:lnSpc>
                <a:spcPts val="2800"/>
              </a:lnSpc>
            </a:pPr>
            <a:r>
              <a:rPr sz="1400" dirty="0">
                <a:solidFill>
                  <a:srgbClr val="FFFFFF"/>
                </a:solidFill>
                <a:latin typeface="Helvetica Neue Light"/>
              </a:rPr>
              <a:t>•	Need more of the right detailed trade information</a:t>
            </a:r>
          </a:p>
        </p:txBody>
      </p:sp>
      <p:sp>
        <p:nvSpPr>
          <p:cNvPr id="11" name="TextBox 10"/>
          <p:cNvSpPr txBox="1"/>
          <p:nvPr/>
        </p:nvSpPr>
        <p:spPr>
          <a:xfrm>
            <a:off x="642848" y="4709890"/>
            <a:ext cx="1112638" cy="216560"/>
          </a:xfrm>
          <a:prstGeom prst="rect">
            <a:avLst/>
          </a:prstGeom>
          <a:noFill/>
        </p:spPr>
        <p:txBody>
          <a:bodyPr wrap="none" lIns="0" tIns="0" rIns="0" bIns="0">
            <a:noAutofit/>
          </a:bodyPr>
          <a:lstStyle/>
          <a:p>
            <a:pPr algn="l"/>
            <a:r>
              <a:rPr sz="1400" dirty="0">
                <a:solidFill>
                  <a:srgbClr val="FFFFFF"/>
                </a:solidFill>
                <a:latin typeface="Helvetica Neue Light"/>
              </a:rPr>
              <a:t>• Flexibility </a:t>
            </a:r>
          </a:p>
        </p:txBody>
      </p:sp>
      <p:sp>
        <p:nvSpPr>
          <p:cNvPr id="12" name="TextBox 11"/>
          <p:cNvSpPr txBox="1"/>
          <p:nvPr/>
        </p:nvSpPr>
        <p:spPr>
          <a:xfrm>
            <a:off x="642848" y="5065490"/>
            <a:ext cx="2019759" cy="216560"/>
          </a:xfrm>
          <a:prstGeom prst="rect">
            <a:avLst/>
          </a:prstGeom>
          <a:noFill/>
        </p:spPr>
        <p:txBody>
          <a:bodyPr wrap="none" lIns="0" tIns="0" rIns="0" bIns="0">
            <a:noAutofit/>
          </a:bodyPr>
          <a:lstStyle/>
          <a:p>
            <a:pPr algn="l"/>
            <a:r>
              <a:rPr sz="1400" dirty="0">
                <a:solidFill>
                  <a:srgbClr val="FFFFFF"/>
                </a:solidFill>
                <a:latin typeface="Helvetica Neue Light"/>
              </a:rPr>
              <a:t>• More trading options</a:t>
            </a:r>
          </a:p>
        </p:txBody>
      </p:sp>
      <p:sp>
        <p:nvSpPr>
          <p:cNvPr id="13" name="TextBox 12"/>
          <p:cNvSpPr txBox="1"/>
          <p:nvPr/>
        </p:nvSpPr>
        <p:spPr>
          <a:xfrm>
            <a:off x="642848" y="5421090"/>
            <a:ext cx="1817174" cy="216560"/>
          </a:xfrm>
          <a:prstGeom prst="rect">
            <a:avLst/>
          </a:prstGeom>
          <a:noFill/>
        </p:spPr>
        <p:txBody>
          <a:bodyPr wrap="none" lIns="0" tIns="0" rIns="0" bIns="0">
            <a:noAutofit/>
          </a:bodyPr>
          <a:lstStyle/>
          <a:p>
            <a:pPr algn="l"/>
            <a:r>
              <a:rPr sz="1400" dirty="0">
                <a:solidFill>
                  <a:srgbClr val="FFFFFF"/>
                </a:solidFill>
                <a:latin typeface="Helvetica Neue Light"/>
              </a:rPr>
              <a:t>• Transaction speed</a:t>
            </a:r>
          </a:p>
        </p:txBody>
      </p:sp>
      <p:sp>
        <p:nvSpPr>
          <p:cNvPr id="14" name="TextBox 13"/>
          <p:cNvSpPr txBox="1"/>
          <p:nvPr/>
        </p:nvSpPr>
        <p:spPr>
          <a:xfrm>
            <a:off x="642848" y="5776690"/>
            <a:ext cx="1408354" cy="216560"/>
          </a:xfrm>
          <a:prstGeom prst="rect">
            <a:avLst/>
          </a:prstGeom>
          <a:noFill/>
        </p:spPr>
        <p:txBody>
          <a:bodyPr wrap="none" lIns="0" tIns="0" rIns="0" bIns="0">
            <a:noAutofit/>
          </a:bodyPr>
          <a:lstStyle/>
          <a:p>
            <a:pPr algn="l"/>
            <a:r>
              <a:rPr sz="1400" dirty="0">
                <a:solidFill>
                  <a:srgbClr val="FFFFFF"/>
                </a:solidFill>
                <a:latin typeface="Helvetica Neue Light"/>
              </a:rPr>
              <a:t>• Mobile native</a:t>
            </a:r>
          </a:p>
        </p:txBody>
      </p:sp>
      <p:sp>
        <p:nvSpPr>
          <p:cNvPr id="15" name="TextBox 14"/>
          <p:cNvSpPr txBox="1"/>
          <p:nvPr/>
        </p:nvSpPr>
        <p:spPr>
          <a:xfrm>
            <a:off x="3997043" y="2416525"/>
            <a:ext cx="7999164" cy="322388"/>
          </a:xfrm>
          <a:prstGeom prst="rect">
            <a:avLst/>
          </a:prstGeom>
          <a:noFill/>
        </p:spPr>
        <p:txBody>
          <a:bodyPr wrap="none" lIns="0" tIns="0" rIns="0" bIns="0">
            <a:noAutofit/>
          </a:bodyPr>
          <a:lstStyle/>
          <a:p>
            <a:pPr algn="l">
              <a:lnSpc>
                <a:spcPts val="207"/>
              </a:lnSpc>
            </a:pPr>
            <a:r>
              <a:rPr sz="1900" dirty="0">
                <a:solidFill>
                  <a:srgbClr val="000000"/>
                </a:solidFill>
                <a:latin typeface="Helvetica Neue Light"/>
              </a:rPr>
              <a:t>Business Goals</a:t>
            </a:r>
          </a:p>
          <a:p>
            <a:pPr marL="6141534" algn="l">
              <a:lnSpc>
                <a:spcPts val="207"/>
              </a:lnSpc>
            </a:pPr>
            <a:r>
              <a:rPr sz="1900" dirty="0">
                <a:solidFill>
                  <a:srgbClr val="FFFFFF"/>
                </a:solidFill>
                <a:latin typeface="Helvetica Neue Light"/>
              </a:rPr>
              <a:t>Feature Set</a:t>
            </a:r>
          </a:p>
        </p:txBody>
      </p:sp>
      <p:sp>
        <p:nvSpPr>
          <p:cNvPr id="16" name="TextBox 15"/>
          <p:cNvSpPr txBox="1"/>
          <p:nvPr/>
        </p:nvSpPr>
        <p:spPr>
          <a:xfrm>
            <a:off x="10121901" y="2931890"/>
            <a:ext cx="1252430" cy="216560"/>
          </a:xfrm>
          <a:prstGeom prst="rect">
            <a:avLst/>
          </a:prstGeom>
          <a:noFill/>
        </p:spPr>
        <p:txBody>
          <a:bodyPr wrap="none" lIns="0" tIns="0" rIns="0" bIns="0">
            <a:noAutofit/>
          </a:bodyPr>
          <a:lstStyle/>
          <a:p>
            <a:pPr algn="l"/>
            <a:r>
              <a:rPr sz="1400" dirty="0">
                <a:solidFill>
                  <a:srgbClr val="FFFFFF"/>
                </a:solidFill>
                <a:latin typeface="Helvetica Neue Light"/>
              </a:rPr>
              <a:t>• Order Entry</a:t>
            </a:r>
          </a:p>
        </p:txBody>
      </p:sp>
      <p:sp>
        <p:nvSpPr>
          <p:cNvPr id="17" name="TextBox 16"/>
          <p:cNvSpPr txBox="1"/>
          <p:nvPr/>
        </p:nvSpPr>
        <p:spPr>
          <a:xfrm>
            <a:off x="10121901" y="3236690"/>
            <a:ext cx="2245577" cy="216560"/>
          </a:xfrm>
          <a:prstGeom prst="rect">
            <a:avLst/>
          </a:prstGeom>
          <a:noFill/>
        </p:spPr>
        <p:txBody>
          <a:bodyPr wrap="none" lIns="0" tIns="0" rIns="0" bIns="0">
            <a:noAutofit/>
          </a:bodyPr>
          <a:lstStyle/>
          <a:p>
            <a:pPr algn="l"/>
            <a:r>
              <a:rPr sz="1400" dirty="0">
                <a:solidFill>
                  <a:srgbClr val="FFFFFF"/>
                </a:solidFill>
                <a:latin typeface="Helvetica Neue Light"/>
              </a:rPr>
              <a:t>• Execution Management</a:t>
            </a:r>
          </a:p>
        </p:txBody>
      </p:sp>
      <p:sp>
        <p:nvSpPr>
          <p:cNvPr id="18" name="TextBox 17"/>
          <p:cNvSpPr txBox="1"/>
          <p:nvPr/>
        </p:nvSpPr>
        <p:spPr>
          <a:xfrm>
            <a:off x="10121901" y="3541490"/>
            <a:ext cx="2001322" cy="216560"/>
          </a:xfrm>
          <a:prstGeom prst="rect">
            <a:avLst/>
          </a:prstGeom>
          <a:noFill/>
        </p:spPr>
        <p:txBody>
          <a:bodyPr wrap="none" lIns="0" tIns="0" rIns="0" bIns="0">
            <a:noAutofit/>
          </a:bodyPr>
          <a:lstStyle/>
          <a:p>
            <a:pPr algn="l"/>
            <a:r>
              <a:rPr sz="1400" dirty="0">
                <a:solidFill>
                  <a:srgbClr val="FFFFFF"/>
                </a:solidFill>
                <a:latin typeface="Helvetica Neue Light"/>
              </a:rPr>
              <a:t>• Real-time Monitoring</a:t>
            </a:r>
          </a:p>
        </p:txBody>
      </p:sp>
      <p:sp>
        <p:nvSpPr>
          <p:cNvPr id="19" name="TextBox 18"/>
          <p:cNvSpPr txBox="1"/>
          <p:nvPr/>
        </p:nvSpPr>
        <p:spPr>
          <a:xfrm>
            <a:off x="10121901" y="3846290"/>
            <a:ext cx="1778383" cy="216560"/>
          </a:xfrm>
          <a:prstGeom prst="rect">
            <a:avLst/>
          </a:prstGeom>
          <a:noFill/>
        </p:spPr>
        <p:txBody>
          <a:bodyPr wrap="none" lIns="0" tIns="0" rIns="0" bIns="0">
            <a:noAutofit/>
          </a:bodyPr>
          <a:lstStyle/>
          <a:p>
            <a:pPr algn="l"/>
            <a:r>
              <a:rPr sz="1400" dirty="0">
                <a:solidFill>
                  <a:srgbClr val="FFFFFF"/>
                </a:solidFill>
                <a:latin typeface="Helvetica Neue Light"/>
              </a:rPr>
              <a:t>• Risk Management</a:t>
            </a:r>
          </a:p>
        </p:txBody>
      </p:sp>
      <p:sp>
        <p:nvSpPr>
          <p:cNvPr id="20" name="TextBox 19"/>
          <p:cNvSpPr txBox="1"/>
          <p:nvPr/>
        </p:nvSpPr>
        <p:spPr>
          <a:xfrm>
            <a:off x="10121901" y="4151090"/>
            <a:ext cx="2109626" cy="216560"/>
          </a:xfrm>
          <a:prstGeom prst="rect">
            <a:avLst/>
          </a:prstGeom>
          <a:noFill/>
        </p:spPr>
        <p:txBody>
          <a:bodyPr wrap="none" lIns="0" tIns="0" rIns="0" bIns="0">
            <a:noAutofit/>
          </a:bodyPr>
          <a:lstStyle/>
          <a:p>
            <a:pPr algn="l"/>
            <a:r>
              <a:rPr sz="1400" dirty="0">
                <a:solidFill>
                  <a:srgbClr val="FFFFFF"/>
                </a:solidFill>
                <a:latin typeface="Helvetica Neue Light"/>
              </a:rPr>
              <a:t>• Post-trade Processing</a:t>
            </a:r>
          </a:p>
        </p:txBody>
      </p:sp>
      <p:sp>
        <p:nvSpPr>
          <p:cNvPr id="21" name="TextBox 20"/>
          <p:cNvSpPr txBox="1"/>
          <p:nvPr/>
        </p:nvSpPr>
        <p:spPr>
          <a:xfrm>
            <a:off x="10121901" y="4455890"/>
            <a:ext cx="2141306" cy="216560"/>
          </a:xfrm>
          <a:prstGeom prst="rect">
            <a:avLst/>
          </a:prstGeom>
          <a:noFill/>
        </p:spPr>
        <p:txBody>
          <a:bodyPr wrap="none" lIns="0" tIns="0" rIns="0" bIns="0">
            <a:noAutofit/>
          </a:bodyPr>
          <a:lstStyle/>
          <a:p>
            <a:pPr algn="l"/>
            <a:r>
              <a:rPr sz="1400" dirty="0">
                <a:solidFill>
                  <a:srgbClr val="FFFFFF"/>
                </a:solidFill>
                <a:latin typeface="Helvetica Neue Light"/>
              </a:rPr>
              <a:t>• Integration with Other </a:t>
            </a:r>
          </a:p>
        </p:txBody>
      </p:sp>
      <p:sp>
        <p:nvSpPr>
          <p:cNvPr id="22" name="TextBox 21"/>
          <p:cNvSpPr txBox="1"/>
          <p:nvPr/>
        </p:nvSpPr>
        <p:spPr>
          <a:xfrm>
            <a:off x="10350501" y="4760690"/>
            <a:ext cx="743622" cy="216560"/>
          </a:xfrm>
          <a:prstGeom prst="rect">
            <a:avLst/>
          </a:prstGeom>
          <a:noFill/>
        </p:spPr>
        <p:txBody>
          <a:bodyPr wrap="none" lIns="0" tIns="0" rIns="0" bIns="0">
            <a:noAutofit/>
          </a:bodyPr>
          <a:lstStyle/>
          <a:p>
            <a:pPr algn="l"/>
            <a:r>
              <a:rPr sz="1400" dirty="0">
                <a:solidFill>
                  <a:srgbClr val="FFFFFF"/>
                </a:solidFill>
                <a:latin typeface="Helvetica Neue Light"/>
              </a:rPr>
              <a:t>Systems</a:t>
            </a:r>
          </a:p>
        </p:txBody>
      </p:sp>
      <p:sp>
        <p:nvSpPr>
          <p:cNvPr id="23" name="TextBox 22"/>
          <p:cNvSpPr txBox="1"/>
          <p:nvPr/>
        </p:nvSpPr>
        <p:spPr>
          <a:xfrm>
            <a:off x="10121901" y="5065490"/>
            <a:ext cx="1743435" cy="216560"/>
          </a:xfrm>
          <a:prstGeom prst="rect">
            <a:avLst/>
          </a:prstGeom>
          <a:noFill/>
        </p:spPr>
        <p:txBody>
          <a:bodyPr wrap="none" lIns="0" tIns="0" rIns="0" bIns="0">
            <a:noAutofit/>
          </a:bodyPr>
          <a:lstStyle/>
          <a:p>
            <a:pPr algn="l"/>
            <a:r>
              <a:rPr sz="1400" dirty="0">
                <a:solidFill>
                  <a:srgbClr val="FFFFFF"/>
                </a:solidFill>
                <a:latin typeface="Helvetica Neue Light"/>
              </a:rPr>
              <a:t>• Shares vs. dollars</a:t>
            </a:r>
          </a:p>
        </p:txBody>
      </p:sp>
      <p:sp>
        <p:nvSpPr>
          <p:cNvPr id="24" name="TextBox 23"/>
          <p:cNvSpPr txBox="1"/>
          <p:nvPr/>
        </p:nvSpPr>
        <p:spPr>
          <a:xfrm>
            <a:off x="10121901" y="5370290"/>
            <a:ext cx="2252470" cy="216560"/>
          </a:xfrm>
          <a:prstGeom prst="rect">
            <a:avLst/>
          </a:prstGeom>
          <a:noFill/>
        </p:spPr>
        <p:txBody>
          <a:bodyPr wrap="none" lIns="0" tIns="0" rIns="0" bIns="0">
            <a:noAutofit/>
          </a:bodyPr>
          <a:lstStyle/>
          <a:p>
            <a:pPr algn="l"/>
            <a:r>
              <a:rPr sz="1400" dirty="0">
                <a:solidFill>
                  <a:srgbClr val="FFFFFF"/>
                </a:solidFill>
                <a:latin typeface="Helvetica Neue Light"/>
              </a:rPr>
              <a:t>• Analytics and Reporting</a:t>
            </a:r>
          </a:p>
        </p:txBody>
      </p:sp>
      <p:sp>
        <p:nvSpPr>
          <p:cNvPr id="25" name="TextBox 24"/>
          <p:cNvSpPr txBox="1"/>
          <p:nvPr/>
        </p:nvSpPr>
        <p:spPr>
          <a:xfrm>
            <a:off x="3932148" y="2934379"/>
            <a:ext cx="843996" cy="206959"/>
          </a:xfrm>
          <a:prstGeom prst="rect">
            <a:avLst/>
          </a:prstGeom>
          <a:noFill/>
        </p:spPr>
        <p:txBody>
          <a:bodyPr wrap="none" lIns="0" tIns="0" rIns="0" bIns="0">
            <a:noAutofit/>
          </a:bodyPr>
          <a:lstStyle/>
          <a:p>
            <a:pPr algn="l"/>
            <a:r>
              <a:rPr sz="1400" dirty="0">
                <a:solidFill>
                  <a:srgbClr val="000000"/>
                </a:solidFill>
                <a:latin typeface="Helvetica Neue Thin"/>
              </a:rPr>
              <a:t>• Speed</a:t>
            </a:r>
          </a:p>
        </p:txBody>
      </p:sp>
      <p:sp>
        <p:nvSpPr>
          <p:cNvPr id="26" name="TextBox 25"/>
          <p:cNvSpPr txBox="1"/>
          <p:nvPr/>
        </p:nvSpPr>
        <p:spPr>
          <a:xfrm>
            <a:off x="3932148" y="3251879"/>
            <a:ext cx="1107070" cy="206959"/>
          </a:xfrm>
          <a:prstGeom prst="rect">
            <a:avLst/>
          </a:prstGeom>
          <a:noFill/>
        </p:spPr>
        <p:txBody>
          <a:bodyPr wrap="none" lIns="0" tIns="0" rIns="0" bIns="0">
            <a:noAutofit/>
          </a:bodyPr>
          <a:lstStyle/>
          <a:p>
            <a:pPr algn="l"/>
            <a:r>
              <a:rPr sz="1400" dirty="0">
                <a:solidFill>
                  <a:srgbClr val="000000"/>
                </a:solidFill>
                <a:latin typeface="Helvetica Neue Thin"/>
              </a:rPr>
              <a:t>• Education</a:t>
            </a:r>
          </a:p>
        </p:txBody>
      </p:sp>
      <p:sp>
        <p:nvSpPr>
          <p:cNvPr id="27" name="TextBox 26"/>
          <p:cNvSpPr txBox="1"/>
          <p:nvPr/>
        </p:nvSpPr>
        <p:spPr>
          <a:xfrm>
            <a:off x="3932148" y="3569379"/>
            <a:ext cx="1497071" cy="206959"/>
          </a:xfrm>
          <a:prstGeom prst="rect">
            <a:avLst/>
          </a:prstGeom>
          <a:noFill/>
        </p:spPr>
        <p:txBody>
          <a:bodyPr wrap="none" lIns="0" tIns="0" rIns="0" bIns="0">
            <a:noAutofit/>
          </a:bodyPr>
          <a:lstStyle/>
          <a:p>
            <a:pPr algn="l"/>
            <a:r>
              <a:rPr sz="1400" dirty="0">
                <a:solidFill>
                  <a:srgbClr val="000000"/>
                </a:solidFill>
                <a:latin typeface="Helvetica Neue Thin"/>
              </a:rPr>
              <a:t>• Platform parity </a:t>
            </a:r>
          </a:p>
        </p:txBody>
      </p:sp>
      <p:sp>
        <p:nvSpPr>
          <p:cNvPr id="28" name="TextBox 27"/>
          <p:cNvSpPr txBox="1"/>
          <p:nvPr/>
        </p:nvSpPr>
        <p:spPr>
          <a:xfrm>
            <a:off x="3932148" y="3886879"/>
            <a:ext cx="1889567" cy="206959"/>
          </a:xfrm>
          <a:prstGeom prst="rect">
            <a:avLst/>
          </a:prstGeom>
          <a:noFill/>
        </p:spPr>
        <p:txBody>
          <a:bodyPr wrap="none" lIns="0" tIns="0" rIns="0" bIns="0">
            <a:noAutofit/>
          </a:bodyPr>
          <a:lstStyle/>
          <a:p>
            <a:pPr algn="l"/>
            <a:r>
              <a:rPr sz="1400" dirty="0">
                <a:solidFill>
                  <a:srgbClr val="000000"/>
                </a:solidFill>
                <a:latin typeface="Helvetica Neue Thin"/>
              </a:rPr>
              <a:t>• Integrated systems </a:t>
            </a:r>
          </a:p>
        </p:txBody>
      </p:sp>
      <p:sp>
        <p:nvSpPr>
          <p:cNvPr id="29" name="TextBox 28"/>
          <p:cNvSpPr txBox="1"/>
          <p:nvPr/>
        </p:nvSpPr>
        <p:spPr>
          <a:xfrm>
            <a:off x="3275991" y="4102315"/>
            <a:ext cx="6898392" cy="695162"/>
          </a:xfrm>
          <a:prstGeom prst="rect">
            <a:avLst/>
          </a:prstGeom>
          <a:noFill/>
        </p:spPr>
        <p:txBody>
          <a:bodyPr wrap="none" lIns="0" tIns="0" rIns="0" bIns="0">
            <a:noAutofit/>
          </a:bodyPr>
          <a:lstStyle/>
          <a:p>
            <a:pPr marL="656157" algn="l">
              <a:lnSpc>
                <a:spcPts val="1052"/>
              </a:lnSpc>
            </a:pPr>
            <a:r>
              <a:rPr sz="1400" dirty="0">
                <a:solidFill>
                  <a:srgbClr val="000000"/>
                </a:solidFill>
                <a:latin typeface="Helvetica Neue Thin"/>
              </a:rPr>
              <a:t/>
            </a:r>
          </a:p>
          <a:p>
            <a:pPr marL="6066348" algn="l">
              <a:lnSpc>
                <a:spcPts val="1052"/>
              </a:lnSpc>
              <a:spcBef>
                <a:spcPts val="877"/>
              </a:spcBef>
            </a:pPr>
            <a:r>
              <a:rPr sz="4350" dirty="0">
                <a:solidFill>
                  <a:srgbClr val="000000"/>
                </a:solidFill>
                <a:latin typeface="Helvetica Neue Light"/>
              </a:rPr>
              <a:t>=</a:t>
            </a:r>
          </a:p>
          <a:p>
            <a:pPr algn="l">
              <a:lnSpc>
                <a:spcPts val="1052"/>
              </a:lnSpc>
            </a:pPr>
            <a:r>
              <a:rPr sz="4350" dirty="0">
                <a:solidFill>
                  <a:srgbClr val="000000"/>
                </a:solidFill>
                <a:latin typeface="Helvetica Neue Light"/>
              </a:rPr>
              <a:t>+</a:t>
            </a:r>
          </a:p>
        </p:txBody>
      </p:sp>
      <p:sp>
        <p:nvSpPr>
          <p:cNvPr id="30" name="TextBox 29"/>
          <p:cNvSpPr txBox="1"/>
          <p:nvPr/>
        </p:nvSpPr>
        <p:spPr>
          <a:xfrm>
            <a:off x="7025657" y="2402562"/>
            <a:ext cx="1404900" cy="296068"/>
          </a:xfrm>
          <a:prstGeom prst="rect">
            <a:avLst/>
          </a:prstGeom>
          <a:noFill/>
        </p:spPr>
        <p:txBody>
          <a:bodyPr wrap="none" lIns="0" tIns="0" rIns="0" bIns="0">
            <a:noAutofit/>
          </a:bodyPr>
          <a:lstStyle/>
          <a:p>
            <a:pPr algn="l"/>
            <a:r>
              <a:rPr sz="1900" dirty="0">
                <a:solidFill>
                  <a:srgbClr val="FFFFFF"/>
                </a:solidFill>
                <a:latin typeface="Helvetica Neue Light"/>
              </a:rPr>
              <a:t>UX Strategy</a:t>
            </a:r>
          </a:p>
        </p:txBody>
      </p:sp>
      <p:sp>
        <p:nvSpPr>
          <p:cNvPr id="31" name="TextBox 30"/>
          <p:cNvSpPr txBox="1"/>
          <p:nvPr/>
        </p:nvSpPr>
        <p:spPr>
          <a:xfrm>
            <a:off x="6934200" y="2931890"/>
            <a:ext cx="1876699" cy="216560"/>
          </a:xfrm>
          <a:prstGeom prst="rect">
            <a:avLst/>
          </a:prstGeom>
          <a:noFill/>
        </p:spPr>
        <p:txBody>
          <a:bodyPr wrap="none" lIns="0" tIns="0" rIns="0" bIns="0">
            <a:noAutofit/>
          </a:bodyPr>
          <a:lstStyle/>
          <a:p>
            <a:pPr algn="l"/>
            <a:r>
              <a:rPr sz="1400" dirty="0">
                <a:solidFill>
                  <a:srgbClr val="FFFFFF"/>
                </a:solidFill>
                <a:latin typeface="Helvetica Neue Light"/>
              </a:rPr>
              <a:t>• Simplified Interface</a:t>
            </a:r>
          </a:p>
        </p:txBody>
      </p:sp>
      <p:sp>
        <p:nvSpPr>
          <p:cNvPr id="32" name="TextBox 31"/>
          <p:cNvSpPr txBox="1"/>
          <p:nvPr/>
        </p:nvSpPr>
        <p:spPr>
          <a:xfrm>
            <a:off x="6934200" y="3287490"/>
            <a:ext cx="2104824" cy="216560"/>
          </a:xfrm>
          <a:prstGeom prst="rect">
            <a:avLst/>
          </a:prstGeom>
          <a:noFill/>
        </p:spPr>
        <p:txBody>
          <a:bodyPr wrap="none" lIns="0" tIns="0" rIns="0" bIns="0">
            <a:noAutofit/>
          </a:bodyPr>
          <a:lstStyle/>
          <a:p>
            <a:pPr algn="l"/>
            <a:r>
              <a:rPr sz="1400" dirty="0">
                <a:solidFill>
                  <a:srgbClr val="FFFFFF"/>
                </a:solidFill>
                <a:latin typeface="Helvetica Neue Light"/>
              </a:rPr>
              <a:t>• Dynamic Functionality</a:t>
            </a:r>
          </a:p>
        </p:txBody>
      </p:sp>
      <p:sp>
        <p:nvSpPr>
          <p:cNvPr id="33" name="TextBox 32"/>
          <p:cNvSpPr txBox="1"/>
          <p:nvPr/>
        </p:nvSpPr>
        <p:spPr>
          <a:xfrm>
            <a:off x="6934200" y="3643090"/>
            <a:ext cx="1341722" cy="216560"/>
          </a:xfrm>
          <a:prstGeom prst="rect">
            <a:avLst/>
          </a:prstGeom>
          <a:noFill/>
        </p:spPr>
        <p:txBody>
          <a:bodyPr wrap="none" lIns="0" tIns="0" rIns="0" bIns="0">
            <a:noAutofit/>
          </a:bodyPr>
          <a:lstStyle/>
          <a:p>
            <a:pPr algn="l"/>
            <a:r>
              <a:rPr sz="1400" dirty="0">
                <a:solidFill>
                  <a:srgbClr val="FFFFFF"/>
                </a:solidFill>
                <a:latin typeface="Helvetica Neue Light"/>
              </a:rPr>
              <a:t>• Trade speed</a:t>
            </a:r>
          </a:p>
        </p:txBody>
      </p:sp>
      <p:sp>
        <p:nvSpPr>
          <p:cNvPr id="34" name="TextBox 33"/>
          <p:cNvSpPr txBox="1"/>
          <p:nvPr/>
        </p:nvSpPr>
        <p:spPr>
          <a:xfrm>
            <a:off x="6145603" y="3998690"/>
            <a:ext cx="2724928" cy="776509"/>
          </a:xfrm>
          <a:prstGeom prst="rect">
            <a:avLst/>
          </a:prstGeom>
          <a:noFill/>
        </p:spPr>
        <p:txBody>
          <a:bodyPr wrap="none" lIns="0" tIns="0" rIns="0" bIns="0">
            <a:noAutofit/>
          </a:bodyPr>
          <a:lstStyle/>
          <a:p>
            <a:pPr marL="788596" algn="l">
              <a:lnSpc>
                <a:spcPts val="3529"/>
              </a:lnSpc>
            </a:pPr>
            <a:r>
              <a:rPr sz="1400" dirty="0">
                <a:solidFill>
                  <a:srgbClr val="FFFFFF"/>
                </a:solidFill>
                <a:latin typeface="Helvetica Neue Light"/>
              </a:rPr>
              <a:t>• Real-Time Updates</a:t>
            </a:r>
          </a:p>
          <a:p>
            <a:pPr algn="l">
              <a:lnSpc>
                <a:spcPts val="3529"/>
              </a:lnSpc>
            </a:pPr>
            <a:r>
              <a:rPr sz="4350" dirty="0">
                <a:solidFill>
                  <a:srgbClr val="000000"/>
                </a:solidFill>
                <a:latin typeface="Helvetica Neue Light"/>
              </a:rPr>
              <a:t>+</a:t>
            </a:r>
          </a:p>
        </p:txBody>
      </p:sp>
      <p:sp>
        <p:nvSpPr>
          <p:cNvPr id="35" name="TextBox Data"/>
          <p:cNvSpPr txBox="1"/>
          <p:nvPr/>
        </p:nvSpPr>
        <p:spPr>
          <a:xfrm>
            <a:off x="3932148" y="4204379"/>
            <a:ext cx="843996" cy="206959"/>
          </a:xfrm>
          <a:prstGeom prst="rect">
            <a:avLst/>
          </a:prstGeom>
          <a:noFill/>
        </p:spPr>
        <p:txBody>
          <a:bodyPr wrap="none" lIns="0" tIns="0" rIns="0" bIns="0">
            <a:noAutofit/>
          </a:bodyPr>
          <a:lstStyle/>
          <a:p>
            <a:pPr algn="l"/>
            <a:r>
              <a:rPr sz="1400" dirty="0">
                <a:solidFill>
                  <a:srgbClr val="000000"/>
                </a:solidFill>
                <a:latin typeface="Helvetica Neue Thin"/>
              </a:rPr>
              <a:t>• Data</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7921225" y="1849489"/>
            <a:ext cx="1086529" cy="2030704"/>
          </a:xfrm>
          <a:prstGeom prst="rect">
            <a:avLst/>
          </a:prstGeom>
        </p:spPr>
      </p:pic>
      <p:pic>
        <p:nvPicPr>
          <p:cNvPr id="4" name="Picture 2" descr="image.png"/>
          <p:cNvPicPr>
            <a:picLocks noChangeAspect="1"/>
          </p:cNvPicPr>
          <p:nvPr/>
        </p:nvPicPr>
        <p:blipFill>
          <a:blip r:embed="rId4"/>
          <a:stretch>
            <a:fillRect/>
          </a:stretch>
        </p:blipFill>
        <p:spPr>
          <a:xfrm>
            <a:off x="6766352" y="1849489"/>
            <a:ext cx="1095244" cy="2203561"/>
          </a:xfrm>
          <a:prstGeom prst="rect">
            <a:avLst/>
          </a:prstGeom>
        </p:spPr>
      </p:pic>
      <p:pic>
        <p:nvPicPr>
          <p:cNvPr id="5" name="Picture 3" descr="image.png"/>
          <p:cNvPicPr>
            <a:picLocks noChangeAspect="1"/>
          </p:cNvPicPr>
          <p:nvPr/>
        </p:nvPicPr>
        <p:blipFill>
          <a:blip r:embed="rId5"/>
          <a:stretch>
            <a:fillRect/>
          </a:stretch>
        </p:blipFill>
        <p:spPr>
          <a:xfrm>
            <a:off x="9067380" y="1849488"/>
            <a:ext cx="1086529" cy="2183226"/>
          </a:xfrm>
          <a:prstGeom prst="rect">
            <a:avLst/>
          </a:prstGeom>
        </p:spPr>
      </p:pic>
      <p:pic>
        <p:nvPicPr>
          <p:cNvPr id="6" name="Picture 4" descr="image.png"/>
          <p:cNvPicPr>
            <a:picLocks noChangeAspect="1"/>
          </p:cNvPicPr>
          <p:nvPr/>
        </p:nvPicPr>
        <p:blipFill>
          <a:blip r:embed="rId6"/>
          <a:stretch>
            <a:fillRect/>
          </a:stretch>
        </p:blipFill>
        <p:spPr>
          <a:xfrm>
            <a:off x="10220828" y="1841500"/>
            <a:ext cx="1082171" cy="2219540"/>
          </a:xfrm>
          <a:prstGeom prst="rect">
            <a:avLst/>
          </a:prstGeom>
        </p:spPr>
      </p:pic>
      <p:pic>
        <p:nvPicPr>
          <p:cNvPr id="7" name="Picture 5" descr="image.png"/>
          <p:cNvPicPr>
            <a:picLocks noChangeAspect="1"/>
          </p:cNvPicPr>
          <p:nvPr/>
        </p:nvPicPr>
        <p:blipFill>
          <a:blip r:embed="rId7"/>
          <a:stretch>
            <a:fillRect/>
          </a:stretch>
        </p:blipFill>
        <p:spPr>
          <a:xfrm>
            <a:off x="9156582" y="7193869"/>
            <a:ext cx="1087632" cy="1839021"/>
          </a:xfrm>
          <a:prstGeom prst="rect">
            <a:avLst/>
          </a:prstGeom>
        </p:spPr>
      </p:pic>
      <p:pic>
        <p:nvPicPr>
          <p:cNvPr id="8" name="Picture 6" descr="image.png"/>
          <p:cNvPicPr>
            <a:picLocks noChangeAspect="1"/>
          </p:cNvPicPr>
          <p:nvPr/>
        </p:nvPicPr>
        <p:blipFill>
          <a:blip r:embed="rId8"/>
          <a:stretch>
            <a:fillRect/>
          </a:stretch>
        </p:blipFill>
        <p:spPr>
          <a:xfrm>
            <a:off x="10335242" y="7193870"/>
            <a:ext cx="1075493" cy="1846304"/>
          </a:xfrm>
          <a:prstGeom prst="rect">
            <a:avLst/>
          </a:prstGeom>
        </p:spPr>
      </p:pic>
      <p:pic>
        <p:nvPicPr>
          <p:cNvPr id="9" name="Picture 7" descr="image.png"/>
          <p:cNvPicPr>
            <a:picLocks noChangeAspect="1"/>
          </p:cNvPicPr>
          <p:nvPr/>
        </p:nvPicPr>
        <p:blipFill>
          <a:blip r:embed="rId9"/>
          <a:stretch>
            <a:fillRect/>
          </a:stretch>
        </p:blipFill>
        <p:spPr>
          <a:xfrm>
            <a:off x="6841497" y="7193870"/>
            <a:ext cx="1099480" cy="1865300"/>
          </a:xfrm>
          <a:prstGeom prst="rect">
            <a:avLst/>
          </a:prstGeom>
        </p:spPr>
      </p:pic>
      <p:pic>
        <p:nvPicPr>
          <p:cNvPr id="10" name="Picture 8" descr="image.png"/>
          <p:cNvPicPr>
            <a:picLocks noChangeAspect="1"/>
          </p:cNvPicPr>
          <p:nvPr/>
        </p:nvPicPr>
        <p:blipFill>
          <a:blip r:embed="rId10"/>
          <a:stretch>
            <a:fillRect/>
          </a:stretch>
        </p:blipFill>
        <p:spPr>
          <a:xfrm>
            <a:off x="8039754" y="7193870"/>
            <a:ext cx="1048456" cy="1766003"/>
          </a:xfrm>
          <a:prstGeom prst="rect">
            <a:avLst/>
          </a:prstGeom>
        </p:spPr>
      </p:pic>
      <p:pic>
        <p:nvPicPr>
          <p:cNvPr id="11" name="Picture 9" descr="image.png"/>
          <p:cNvPicPr>
            <a:picLocks noChangeAspect="1"/>
          </p:cNvPicPr>
          <p:nvPr/>
        </p:nvPicPr>
        <p:blipFill>
          <a:blip r:embed="rId11"/>
          <a:stretch>
            <a:fillRect/>
          </a:stretch>
        </p:blipFill>
        <p:spPr>
          <a:xfrm>
            <a:off x="4113515" y="4443628"/>
            <a:ext cx="1087632" cy="1756848"/>
          </a:xfrm>
          <a:prstGeom prst="rect">
            <a:avLst/>
          </a:prstGeom>
        </p:spPr>
      </p:pic>
      <p:pic>
        <p:nvPicPr>
          <p:cNvPr id="12" name="Picture 10" descr="image.png"/>
          <p:cNvPicPr>
            <a:picLocks noChangeAspect="1"/>
          </p:cNvPicPr>
          <p:nvPr/>
        </p:nvPicPr>
        <p:blipFill>
          <a:blip r:embed="rId12"/>
          <a:stretch>
            <a:fillRect/>
          </a:stretch>
        </p:blipFill>
        <p:spPr>
          <a:xfrm>
            <a:off x="5254075" y="4456328"/>
            <a:ext cx="1075493" cy="1859681"/>
          </a:xfrm>
          <a:prstGeom prst="rect">
            <a:avLst/>
          </a:prstGeom>
        </p:spPr>
      </p:pic>
      <p:pic>
        <p:nvPicPr>
          <p:cNvPr id="13" name="Picture 11" descr="image.png"/>
          <p:cNvPicPr>
            <a:picLocks noChangeAspect="1"/>
          </p:cNvPicPr>
          <p:nvPr/>
        </p:nvPicPr>
        <p:blipFill>
          <a:blip r:embed="rId13"/>
          <a:stretch>
            <a:fillRect/>
          </a:stretch>
        </p:blipFill>
        <p:spPr>
          <a:xfrm>
            <a:off x="1798430" y="4456328"/>
            <a:ext cx="1099480" cy="1878383"/>
          </a:xfrm>
          <a:prstGeom prst="rect">
            <a:avLst/>
          </a:prstGeom>
        </p:spPr>
      </p:pic>
      <p:pic>
        <p:nvPicPr>
          <p:cNvPr id="14" name="Picture 12" descr="image.png"/>
          <p:cNvPicPr>
            <a:picLocks noChangeAspect="1"/>
          </p:cNvPicPr>
          <p:nvPr/>
        </p:nvPicPr>
        <p:blipFill>
          <a:blip r:embed="rId14"/>
          <a:stretch>
            <a:fillRect/>
          </a:stretch>
        </p:blipFill>
        <p:spPr>
          <a:xfrm>
            <a:off x="2996688" y="4456328"/>
            <a:ext cx="1048455" cy="1779378"/>
          </a:xfrm>
          <a:prstGeom prst="rect">
            <a:avLst/>
          </a:prstGeom>
        </p:spPr>
      </p:pic>
      <p:sp>
        <p:nvSpPr>
          <p:cNvPr id="15" name="TextBox 14"/>
          <p:cNvSpPr txBox="1"/>
          <p:nvPr/>
        </p:nvSpPr>
        <p:spPr>
          <a:xfrm>
            <a:off x="457200" y="1551684"/>
            <a:ext cx="6169999" cy="2336495"/>
          </a:xfrm>
          <a:prstGeom prst="rect">
            <a:avLst/>
          </a:prstGeom>
          <a:noFill/>
        </p:spPr>
        <p:txBody>
          <a:bodyPr wrap="square" lIns="0" tIns="0" rIns="0" bIns="0">
            <a:noAutofit/>
          </a:bodyPr>
          <a:lstStyle/>
          <a:p>
            <a:pPr algn="l">
              <a:lnSpc>
                <a:spcPts val="1679"/>
              </a:lnSpc>
            </a:pPr>
            <a:r>
              <a:rPr sz="1400" dirty="0">
                <a:solidFill>
                  <a:srgbClr val="000000"/>
                </a:solidFill>
                <a:latin typeface="Helvetica Neue Light"/>
              </a:rPr>
              <a:t>Robinhood</a:t>
            </a:r>
          </a:p>
          <a:p>
            <a:pPr marL="228600" indent="-228600" algn="l">
              <a:lnSpc>
                <a:spcPts val="1679"/>
              </a:lnSpc>
            </a:pPr>
            <a:r>
              <a:rPr sz="1200" dirty="0">
                <a:solidFill>
                  <a:srgbClr val="000000"/>
                </a:solidFill>
                <a:latin typeface="Helvetica Neue Thin"/>
              </a:rPr>
              <a:t>•	Shares and Dollar-Based Trading </a:t>
            </a:r>
          </a:p>
          <a:p>
            <a:pPr marL="228600" algn="l">
              <a:lnSpc>
                <a:spcPts val="1679"/>
              </a:lnSpc>
            </a:pPr>
            <a:r>
              <a:rPr sz="1200" dirty="0">
                <a:solidFill>
                  <a:srgbClr val="000000"/>
                </a:solidFill>
                <a:latin typeface="Helvetica Neue Thin"/>
              </a:rPr>
              <a:t>Robinhood allows users to trade both whole shares and fractional shares in dollar amounts, making it accessible for investors with varying budget sizes.</a:t>
            </a:r>
          </a:p>
          <a:p>
            <a:pPr marL="228600" indent="-228600" algn="l">
              <a:lnSpc>
                <a:spcPts val="1679"/>
              </a:lnSpc>
            </a:pPr>
            <a:r>
              <a:rPr sz="1200" dirty="0">
                <a:solidFill>
                  <a:srgbClr val="000000"/>
                </a:solidFill>
                <a:latin typeface="Helvetica Neue Thin"/>
              </a:rPr>
              <a:t>•	User-Friendly Interface </a:t>
            </a:r>
          </a:p>
          <a:p>
            <a:pPr marL="228600" algn="l">
              <a:lnSpc>
                <a:spcPts val="1679"/>
              </a:lnSpc>
            </a:pPr>
            <a:r>
              <a:rPr sz="1200" dirty="0">
                <a:solidFill>
                  <a:srgbClr val="000000"/>
                </a:solidFill>
                <a:latin typeface="Helvetica Neue Thin"/>
              </a:rPr>
              <a:t>The app’s interface is simple and intuitive, making it easy to switch between trading shares and dollar amounts. Trade tickets display all necessary details, including stock name, order type, quantity, and estimated cost.</a:t>
            </a:r>
          </a:p>
          <a:p>
            <a:pPr marL="228600" indent="-228600" algn="l">
              <a:lnSpc>
                <a:spcPts val="1679"/>
              </a:lnSpc>
            </a:pPr>
            <a:r>
              <a:rPr sz="1200" dirty="0">
                <a:solidFill>
                  <a:srgbClr val="000000"/>
                </a:solidFill>
                <a:latin typeface="Helvetica Neue Thin"/>
              </a:rPr>
              <a:t>•	Instant Notifications </a:t>
            </a:r>
          </a:p>
          <a:p>
            <a:pPr marL="228600" algn="l">
              <a:lnSpc>
                <a:spcPts val="1679"/>
              </a:lnSpc>
            </a:pPr>
            <a:r>
              <a:rPr sz="1200" dirty="0">
                <a:solidFill>
                  <a:srgbClr val="000000"/>
                </a:solidFill>
                <a:latin typeface="Helvetica Neue Thin"/>
              </a:rPr>
              <a:t>Users receive immediate in-app notifications once a trade is executed, providing details of the trade.</a:t>
            </a:r>
          </a:p>
        </p:txBody>
      </p:sp>
      <p:sp>
        <p:nvSpPr>
          <p:cNvPr id="16" name="TextBox 15"/>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Integrated Trade Ticket </a:t>
            </a:r>
          </a:p>
        </p:txBody>
      </p:sp>
      <p:sp>
        <p:nvSpPr>
          <p:cNvPr id="17" name="TextBox 16"/>
          <p:cNvSpPr txBox="1"/>
          <p:nvPr/>
        </p:nvSpPr>
        <p:spPr>
          <a:xfrm>
            <a:off x="457200" y="939800"/>
            <a:ext cx="3835400" cy="476250"/>
          </a:xfrm>
          <a:prstGeom prst="rect">
            <a:avLst/>
          </a:prstGeom>
          <a:noFill/>
        </p:spPr>
        <p:txBody>
          <a:bodyPr wrap="none" lIns="0" tIns="0" rIns="0" bIns="0">
            <a:noAutofit/>
          </a:bodyPr>
          <a:lstStyle/>
          <a:p>
            <a:pPr algn="l"/>
            <a:r>
              <a:rPr sz="3000" dirty="0">
                <a:solidFill>
                  <a:srgbClr val="1F1F1F"/>
                </a:solidFill>
                <a:latin typeface="Helvetica Neue Light"/>
              </a:rPr>
              <a:t>Competitive Analysis</a:t>
            </a:r>
          </a:p>
        </p:txBody>
      </p:sp>
      <p:sp>
        <p:nvSpPr>
          <p:cNvPr id="18" name="TextBox 17"/>
          <p:cNvSpPr txBox="1"/>
          <p:nvPr/>
        </p:nvSpPr>
        <p:spPr>
          <a:xfrm>
            <a:off x="457200" y="7143767"/>
            <a:ext cx="6062420" cy="2123135"/>
          </a:xfrm>
          <a:prstGeom prst="rect">
            <a:avLst/>
          </a:prstGeom>
          <a:noFill/>
        </p:spPr>
        <p:txBody>
          <a:bodyPr wrap="square" lIns="0" tIns="0" rIns="0" bIns="0">
            <a:noAutofit/>
          </a:bodyPr>
          <a:lstStyle/>
          <a:p>
            <a:pPr algn="l">
              <a:lnSpc>
                <a:spcPts val="1679"/>
              </a:lnSpc>
            </a:pPr>
            <a:r>
              <a:rPr sz="1400" dirty="0">
                <a:solidFill>
                  <a:srgbClr val="000000"/>
                </a:solidFill>
                <a:latin typeface="Helvetica Neue Light"/>
              </a:rPr>
              <a:t>Charles Schwab Mobile</a:t>
            </a:r>
          </a:p>
          <a:p>
            <a:pPr marL="228600" indent="-228600" algn="l">
              <a:lnSpc>
                <a:spcPts val="1679"/>
              </a:lnSpc>
            </a:pPr>
            <a:r>
              <a:rPr sz="1200" dirty="0">
                <a:solidFill>
                  <a:srgbClr val="000000"/>
                </a:solidFill>
                <a:latin typeface="Helvetica Neue Thin"/>
              </a:rPr>
              <a:t>•	Fractional Shares </a:t>
            </a:r>
          </a:p>
          <a:p>
            <a:pPr marL="228600" algn="l">
              <a:lnSpc>
                <a:spcPts val="1679"/>
              </a:lnSpc>
            </a:pPr>
            <a:r>
              <a:rPr sz="1200" dirty="0">
                <a:solidFill>
                  <a:srgbClr val="000000"/>
                </a:solidFill>
                <a:latin typeface="Helvetica Neue Thin"/>
              </a:rPr>
              <a:t>Charles Schwab’s mobile app allows users to trade fractional shares through its Stock Slices feature, enabling investments in dollar amounts as low as $5.</a:t>
            </a:r>
          </a:p>
          <a:p>
            <a:pPr marL="228600" indent="-228600" algn="l">
              <a:lnSpc>
                <a:spcPts val="1679"/>
              </a:lnSpc>
            </a:pPr>
            <a:r>
              <a:rPr sz="1200" dirty="0">
                <a:solidFill>
                  <a:srgbClr val="000000"/>
                </a:solidFill>
                <a:latin typeface="Helvetica Neue Thin"/>
              </a:rPr>
              <a:t>•	Detailed Trade Tickets </a:t>
            </a:r>
          </a:p>
          <a:p>
            <a:pPr marL="228600" algn="l">
              <a:lnSpc>
                <a:spcPts val="1679"/>
              </a:lnSpc>
            </a:pPr>
            <a:r>
              <a:rPr sz="1200" dirty="0">
                <a:solidFill>
                  <a:srgbClr val="000000"/>
                </a:solidFill>
                <a:latin typeface="Helvetica Neue Thin"/>
              </a:rPr>
              <a:t>The app provides clear and comprehensive trade tickets, showing all necessary information such as stock symbol, order type, quantity, and price.</a:t>
            </a:r>
          </a:p>
          <a:p>
            <a:pPr marL="228600" indent="-228600" algn="l">
              <a:lnSpc>
                <a:spcPts val="1679"/>
              </a:lnSpc>
            </a:pPr>
            <a:r>
              <a:rPr sz="1200" dirty="0">
                <a:solidFill>
                  <a:srgbClr val="000000"/>
                </a:solidFill>
                <a:latin typeface="Helvetica Neue Thin"/>
              </a:rPr>
              <a:t>•	Intuitive Design </a:t>
            </a:r>
          </a:p>
          <a:p>
            <a:pPr marL="228600" algn="l">
              <a:lnSpc>
                <a:spcPts val="1679"/>
              </a:lnSpc>
            </a:pPr>
            <a:r>
              <a:rPr sz="1200" dirty="0">
                <a:solidFill>
                  <a:srgbClr val="000000"/>
                </a:solidFill>
                <a:latin typeface="Helvetica Neue Thin"/>
              </a:rPr>
              <a:t>The app’s interface is user-friendly, making it easy to place trades and review transaction history.</a:t>
            </a:r>
          </a:p>
        </p:txBody>
      </p:sp>
      <p:sp>
        <p:nvSpPr>
          <p:cNvPr id="19" name="TextBox 18"/>
          <p:cNvSpPr txBox="1"/>
          <p:nvPr/>
        </p:nvSpPr>
        <p:spPr>
          <a:xfrm>
            <a:off x="6677866" y="4431625"/>
            <a:ext cx="5861570" cy="2336495"/>
          </a:xfrm>
          <a:prstGeom prst="rect">
            <a:avLst/>
          </a:prstGeom>
          <a:noFill/>
        </p:spPr>
        <p:txBody>
          <a:bodyPr wrap="square" lIns="0" tIns="0" rIns="0" bIns="0">
            <a:noAutofit/>
          </a:bodyPr>
          <a:lstStyle/>
          <a:p>
            <a:pPr algn="l">
              <a:lnSpc>
                <a:spcPts val="1679"/>
              </a:lnSpc>
            </a:pPr>
            <a:r>
              <a:rPr sz="1400" dirty="0">
                <a:solidFill>
                  <a:srgbClr val="000000"/>
                </a:solidFill>
                <a:latin typeface="Helvetica Neue Light"/>
              </a:rPr>
              <a:t>Fidelity Mobile App</a:t>
            </a:r>
          </a:p>
          <a:p>
            <a:pPr marL="228600" indent="-228600" algn="l">
              <a:lnSpc>
                <a:spcPts val="1679"/>
              </a:lnSpc>
            </a:pPr>
            <a:r>
              <a:rPr sz="1200" dirty="0">
                <a:solidFill>
                  <a:srgbClr val="000000"/>
                </a:solidFill>
                <a:latin typeface="Helvetica Neue Thin"/>
              </a:rPr>
              <a:t>•	Flexible Trading Options </a:t>
            </a:r>
          </a:p>
          <a:p>
            <a:pPr marL="228600" algn="l">
              <a:lnSpc>
                <a:spcPts val="1679"/>
              </a:lnSpc>
            </a:pPr>
            <a:r>
              <a:rPr sz="1200" dirty="0">
                <a:solidFill>
                  <a:srgbClr val="000000"/>
                </a:solidFill>
                <a:latin typeface="Helvetica Neue Thin"/>
              </a:rPr>
              <a:t>Fidelity’s mobile app supports trading in both shares and dollar amounts, offering fractional shares for a wide range of stocks and ETFs.</a:t>
            </a:r>
          </a:p>
          <a:p>
            <a:pPr marL="228600" indent="-228600" algn="l">
              <a:lnSpc>
                <a:spcPts val="1679"/>
              </a:lnSpc>
            </a:pPr>
            <a:r>
              <a:rPr sz="1200" dirty="0">
                <a:solidFill>
                  <a:srgbClr val="000000"/>
                </a:solidFill>
                <a:latin typeface="Helvetica Neue Thin"/>
              </a:rPr>
              <a:t>•	Comprehensive Trade Tickets </a:t>
            </a:r>
          </a:p>
          <a:p>
            <a:pPr marL="228600" algn="l">
              <a:lnSpc>
                <a:spcPts val="1679"/>
              </a:lnSpc>
            </a:pPr>
            <a:r>
              <a:rPr sz="1200" dirty="0">
                <a:solidFill>
                  <a:srgbClr val="000000"/>
                </a:solidFill>
                <a:latin typeface="Helvetica Neue Thin"/>
              </a:rPr>
              <a:t>The app provides detailed trade tickets that include the stock symbol, order type, quantity, price, and execution time. Users can easily switch between dollar-based and share-based trades.</a:t>
            </a:r>
          </a:p>
          <a:p>
            <a:pPr marL="228600" indent="-228600" algn="l">
              <a:lnSpc>
                <a:spcPts val="1679"/>
              </a:lnSpc>
            </a:pPr>
            <a:r>
              <a:rPr sz="1200" dirty="0">
                <a:solidFill>
                  <a:srgbClr val="000000"/>
                </a:solidFill>
                <a:latin typeface="Helvetica Neue Thin"/>
              </a:rPr>
              <a:t>•	Easy Navigation </a:t>
            </a:r>
          </a:p>
          <a:p>
            <a:pPr marL="228600" algn="l">
              <a:lnSpc>
                <a:spcPts val="1679"/>
              </a:lnSpc>
            </a:pPr>
            <a:r>
              <a:rPr sz="1200" dirty="0">
                <a:solidFill>
                  <a:srgbClr val="000000"/>
                </a:solidFill>
                <a:latin typeface="Helvetica Neue Thin"/>
              </a:rPr>
              <a:t>The app is designed for ease of use, ensuring that placing trades and reviewing tickets is straightforward.</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3004800" cy="9753600"/>
          </a:xfrm>
          <a:prstGeom prst="rect">
            <a:avLst/>
          </a:prstGeom>
        </p:spPr>
      </p:pic>
      <p:sp>
        <p:nvSpPr>
          <p:cNvPr id="3" name="TextBox 2"/>
          <p:cNvSpPr txBox="1"/>
          <p:nvPr/>
        </p:nvSpPr>
        <p:spPr>
          <a:xfrm>
            <a:off x="1244600" y="1063239"/>
            <a:ext cx="2586284" cy="866241"/>
          </a:xfrm>
          <a:prstGeom prst="rect">
            <a:avLst/>
          </a:prstGeom>
          <a:noFill/>
        </p:spPr>
        <p:txBody>
          <a:bodyPr wrap="none" lIns="0" tIns="0" rIns="0" bIns="0">
            <a:noAutofit/>
          </a:bodyPr>
          <a:lstStyle/>
          <a:p>
            <a:pPr algn="l"/>
            <a:r>
              <a:rPr sz="5600" dirty="0">
                <a:solidFill>
                  <a:srgbClr val="FFFFFF"/>
                </a:solidFill>
                <a:latin typeface="Helvetica Neue Light"/>
              </a:rPr>
              <a:t>Design </a:t>
            </a:r>
          </a:p>
        </p:txBody>
      </p:sp>
      <p:sp>
        <p:nvSpPr>
          <p:cNvPr id="4" name="TextBox 3"/>
          <p:cNvSpPr txBox="1"/>
          <p:nvPr/>
        </p:nvSpPr>
        <p:spPr>
          <a:xfrm>
            <a:off x="1244600" y="2705399"/>
            <a:ext cx="4865609" cy="532180"/>
          </a:xfrm>
          <a:prstGeom prst="rect">
            <a:avLst/>
          </a:prstGeom>
          <a:noFill/>
        </p:spPr>
        <p:txBody>
          <a:bodyPr wrap="none" lIns="0" tIns="0" rIns="0" bIns="0">
            <a:noAutofit/>
          </a:bodyPr>
          <a:lstStyle/>
          <a:p>
            <a:pPr algn="l"/>
            <a:r>
              <a:rPr sz="3600" dirty="0">
                <a:solidFill>
                  <a:srgbClr val="FFFFFF"/>
                </a:solidFill>
                <a:latin typeface="Helvetica Neue Thin"/>
              </a:rPr>
              <a:t>The Delivered Solution</a:t>
            </a:r>
          </a:p>
        </p:txBody>
      </p:sp>
      <p:sp>
        <p:nvSpPr>
          <p:cNvPr id="5" name="TextBox 4"/>
          <p:cNvSpPr txBox="1"/>
          <p:nvPr/>
        </p:nvSpPr>
        <p:spPr>
          <a:xfrm>
            <a:off x="7620000" y="1218079"/>
            <a:ext cx="2426602" cy="266090"/>
          </a:xfrm>
          <a:prstGeom prst="rect">
            <a:avLst/>
          </a:prstGeom>
          <a:noFill/>
        </p:spPr>
        <p:txBody>
          <a:bodyPr wrap="none" lIns="0" tIns="0" rIns="0" bIns="0">
            <a:noAutofit/>
          </a:bodyPr>
          <a:lstStyle/>
          <a:p>
            <a:pPr algn="l"/>
            <a:r>
              <a:rPr sz="1800" dirty="0">
                <a:solidFill>
                  <a:srgbClr val="FFFFFF"/>
                </a:solidFill>
                <a:latin typeface="Helvetica Neue Thin"/>
              </a:rPr>
              <a:t>• 6 Agile-based sprints</a:t>
            </a:r>
          </a:p>
        </p:txBody>
      </p:sp>
      <p:sp>
        <p:nvSpPr>
          <p:cNvPr id="6" name="TextBox 5"/>
          <p:cNvSpPr txBox="1"/>
          <p:nvPr/>
        </p:nvSpPr>
        <p:spPr>
          <a:xfrm>
            <a:off x="7620000" y="1573679"/>
            <a:ext cx="3971134" cy="266090"/>
          </a:xfrm>
          <a:prstGeom prst="rect">
            <a:avLst/>
          </a:prstGeom>
          <a:noFill/>
        </p:spPr>
        <p:txBody>
          <a:bodyPr wrap="none" lIns="0" tIns="0" rIns="0" bIns="0">
            <a:noAutofit/>
          </a:bodyPr>
          <a:lstStyle/>
          <a:p>
            <a:pPr algn="l"/>
            <a:r>
              <a:rPr sz="1800" dirty="0">
                <a:solidFill>
                  <a:srgbClr val="FFFFFF"/>
                </a:solidFill>
                <a:latin typeface="Helvetica Neue Thin"/>
              </a:rPr>
              <a:t>• Usability testing on weekly cadence</a:t>
            </a:r>
          </a:p>
        </p:txBody>
      </p:sp>
      <p:sp>
        <p:nvSpPr>
          <p:cNvPr id="7" name="TextBox 6"/>
          <p:cNvSpPr txBox="1"/>
          <p:nvPr/>
        </p:nvSpPr>
        <p:spPr>
          <a:xfrm>
            <a:off x="7620000" y="1929279"/>
            <a:ext cx="1817259" cy="266090"/>
          </a:xfrm>
          <a:prstGeom prst="rect">
            <a:avLst/>
          </a:prstGeom>
          <a:noFill/>
        </p:spPr>
        <p:txBody>
          <a:bodyPr wrap="none" lIns="0" tIns="0" rIns="0" bIns="0">
            <a:noAutofit/>
          </a:bodyPr>
          <a:lstStyle/>
          <a:p>
            <a:pPr algn="l"/>
            <a:r>
              <a:rPr sz="1800" dirty="0">
                <a:solidFill>
                  <a:srgbClr val="FFFFFF"/>
                </a:solidFill>
                <a:latin typeface="Helvetica Neue Thin"/>
              </a:rPr>
              <a:t>• Demos and QA</a:t>
            </a:r>
          </a:p>
        </p:txBody>
      </p:sp>
      <p:sp>
        <p:nvSpPr>
          <p:cNvPr id="8" name="TextBox 7"/>
          <p:cNvSpPr txBox="1"/>
          <p:nvPr/>
        </p:nvSpPr>
        <p:spPr>
          <a:xfrm>
            <a:off x="1244600" y="3681982"/>
            <a:ext cx="2672668" cy="1458569"/>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Order Entry</a:t>
            </a:r>
          </a:p>
          <a:p>
            <a:pPr algn="l">
              <a:lnSpc>
                <a:spcPts val="1920"/>
              </a:lnSpc>
            </a:pPr>
            <a:r>
              <a:rPr sz="1600" dirty="0">
                <a:solidFill>
                  <a:srgbClr val="FFFFFF"/>
                </a:solidFill>
                <a:latin typeface="Helvetica Neue Thin"/>
              </a:rPr>
              <a:t>Allows traders to enter orders quickly and </a:t>
            </a:r>
            <a:r>
              <a:rPr lang="en-US" sz="1600" dirty="0">
                <a:solidFill>
                  <a:srgbClr val="FFFFFF"/>
                </a:solidFill>
                <a:latin typeface="Helvetica Neue Thin"/>
              </a:rPr>
              <a:t>efficiently</a:t>
            </a:r>
            <a:r>
              <a:rPr sz="1600" dirty="0">
                <a:solidFill>
                  <a:srgbClr val="FFFFFF"/>
                </a:solidFill>
                <a:latin typeface="Helvetica Neue Thin"/>
              </a:rPr>
              <a:t>, specifying details such as asset type, quantity, price, and order type (market, limit, stop, etc.).</a:t>
            </a:r>
          </a:p>
        </p:txBody>
      </p:sp>
      <p:sp>
        <p:nvSpPr>
          <p:cNvPr id="9" name="TextBox 8"/>
          <p:cNvSpPr txBox="1"/>
          <p:nvPr/>
        </p:nvSpPr>
        <p:spPr>
          <a:xfrm>
            <a:off x="1244600" y="5388862"/>
            <a:ext cx="2712892" cy="1702409"/>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Execution Management</a:t>
            </a:r>
          </a:p>
          <a:p>
            <a:pPr algn="l">
              <a:lnSpc>
                <a:spcPts val="1920"/>
              </a:lnSpc>
            </a:pPr>
            <a:r>
              <a:rPr sz="1600" dirty="0">
                <a:solidFill>
                  <a:srgbClr val="FFFFFF"/>
                </a:solidFill>
                <a:latin typeface="Helvetica Neue Thin"/>
              </a:rPr>
              <a:t>Facilitates the execution of trades across various exchanges and trading venues. It ensures that orders are routed correctly and executed at the best possible prices.</a:t>
            </a:r>
          </a:p>
        </p:txBody>
      </p:sp>
      <p:sp>
        <p:nvSpPr>
          <p:cNvPr id="10" name="TextBox 9"/>
          <p:cNvSpPr txBox="1"/>
          <p:nvPr/>
        </p:nvSpPr>
        <p:spPr>
          <a:xfrm>
            <a:off x="4140200" y="3681982"/>
            <a:ext cx="2687669" cy="1702409"/>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Real-time Monitoring</a:t>
            </a:r>
          </a:p>
          <a:p>
            <a:pPr algn="l">
              <a:lnSpc>
                <a:spcPts val="1920"/>
              </a:lnSpc>
            </a:pPr>
            <a:r>
              <a:rPr sz="1600" dirty="0">
                <a:solidFill>
                  <a:srgbClr val="FFFFFF"/>
                </a:solidFill>
                <a:latin typeface="Helvetica Neue Thin"/>
              </a:rPr>
              <a:t>Provides real-time updates on market conditions, order status, and trade confirmations. This helps traders to make informed decisions and adjust their strategies as needed.</a:t>
            </a:r>
          </a:p>
        </p:txBody>
      </p:sp>
      <p:sp>
        <p:nvSpPr>
          <p:cNvPr id="11" name="TextBox 10"/>
          <p:cNvSpPr txBox="1"/>
          <p:nvPr/>
        </p:nvSpPr>
        <p:spPr>
          <a:xfrm>
            <a:off x="4140200" y="5632702"/>
            <a:ext cx="2681717" cy="1946249"/>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Risk Management</a:t>
            </a:r>
          </a:p>
          <a:p>
            <a:pPr algn="l">
              <a:lnSpc>
                <a:spcPts val="1920"/>
              </a:lnSpc>
            </a:pPr>
            <a:r>
              <a:rPr sz="1600" dirty="0">
                <a:solidFill>
                  <a:srgbClr val="FFFFFF"/>
                </a:solidFill>
                <a:latin typeface="Helvetica Neue Thin"/>
              </a:rPr>
              <a:t>Includes tools to assess and manage the risk associated with trades. This might involve setting limits on positions, </a:t>
            </a:r>
          </a:p>
          <a:p>
            <a:pPr algn="l">
              <a:lnSpc>
                <a:spcPts val="1920"/>
              </a:lnSpc>
            </a:pPr>
            <a:r>
              <a:rPr sz="1600" dirty="0">
                <a:solidFill>
                  <a:srgbClr val="FFFFFF"/>
                </a:solidFill>
                <a:latin typeface="Helvetica Neue Thin"/>
              </a:rPr>
              <a:t>monitoring exposure, and ensuring compliance with regulatory requirements.</a:t>
            </a:r>
          </a:p>
        </p:txBody>
      </p:sp>
      <p:sp>
        <p:nvSpPr>
          <p:cNvPr id="12" name="TextBox 11"/>
          <p:cNvSpPr txBox="1"/>
          <p:nvPr/>
        </p:nvSpPr>
        <p:spPr>
          <a:xfrm>
            <a:off x="7035800" y="3681982"/>
            <a:ext cx="2629353" cy="1702409"/>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Post-trade Processing</a:t>
            </a:r>
          </a:p>
          <a:p>
            <a:pPr algn="l">
              <a:lnSpc>
                <a:spcPts val="1920"/>
              </a:lnSpc>
            </a:pPr>
            <a:r>
              <a:rPr sz="1600" dirty="0">
                <a:solidFill>
                  <a:srgbClr val="FFFFFF"/>
                </a:solidFill>
                <a:latin typeface="Helvetica Neue Thin"/>
              </a:rPr>
              <a:t>Streamlines the post-trade process by handling settlement, clearing, and reconciliation. This ensures that trades are correctly recorded and settled in a timely manner.</a:t>
            </a:r>
          </a:p>
        </p:txBody>
      </p:sp>
      <p:sp>
        <p:nvSpPr>
          <p:cNvPr id="13" name="TextBox 12"/>
          <p:cNvSpPr txBox="1"/>
          <p:nvPr/>
        </p:nvSpPr>
        <p:spPr>
          <a:xfrm>
            <a:off x="7035800" y="5877351"/>
            <a:ext cx="2710037" cy="2433120"/>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Integration with Other Systems</a:t>
            </a:r>
          </a:p>
          <a:p>
            <a:pPr algn="l">
              <a:lnSpc>
                <a:spcPts val="1920"/>
              </a:lnSpc>
            </a:pPr>
            <a:r>
              <a:rPr sz="1600" dirty="0">
                <a:solidFill>
                  <a:srgbClr val="FFFFFF"/>
                </a:solidFill>
                <a:latin typeface="Helvetica Neue Thin"/>
              </a:rPr>
              <a:t>Connects with other trad</a:t>
            </a:r>
            <a:r>
              <a:rPr sz="1600" dirty="0" err="1">
                <a:solidFill>
                  <a:srgbClr val="FFFFFF"/>
                </a:solidFill>
                <a:latin typeface="Helvetica Neue Thin"/>
              </a:rPr>
              <a:t>ing</a:t>
            </a:r>
            <a:r>
              <a:rPr sz="1600" dirty="0">
                <a:solidFill>
                  <a:srgbClr val="FFFFFF"/>
                </a:solidFill>
                <a:latin typeface="Helvetica Neue Thin"/>
              </a:rPr>
              <a:t> and back-o</a:t>
            </a:r>
            <a:r>
              <a:rPr lang="en-US" sz="1600" dirty="0">
                <a:solidFill>
                  <a:srgbClr val="FFFFFF"/>
                </a:solidFill>
                <a:latin typeface="Helvetica Neue Thin"/>
              </a:rPr>
              <a:t>ffi</a:t>
            </a:r>
            <a:r>
              <a:rPr sz="1600" dirty="0">
                <a:solidFill>
                  <a:srgbClr val="FFFFFF"/>
                </a:solidFill>
                <a:latin typeface="Helvetica Neue Thin"/>
              </a:rPr>
              <a:t>ce systems, such as portfolio management systems, compliance tools, and accounting systems. This integration helps in maintaining consistency and accuracy across all stages of the trading process.</a:t>
            </a:r>
          </a:p>
        </p:txBody>
      </p:sp>
      <p:sp>
        <p:nvSpPr>
          <p:cNvPr id="14" name="TextBox 13"/>
          <p:cNvSpPr txBox="1"/>
          <p:nvPr/>
        </p:nvSpPr>
        <p:spPr>
          <a:xfrm>
            <a:off x="9931400" y="3681982"/>
            <a:ext cx="2628151" cy="1702409"/>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Analytics and Reporting</a:t>
            </a:r>
          </a:p>
          <a:p>
            <a:pPr algn="l">
              <a:lnSpc>
                <a:spcPts val="1920"/>
              </a:lnSpc>
            </a:pPr>
            <a:r>
              <a:rPr sz="1600" dirty="0">
                <a:solidFill>
                  <a:srgbClr val="FFFFFF"/>
                </a:solidFill>
                <a:latin typeface="Helvetica Neue Thin"/>
              </a:rPr>
              <a:t>Provides analytical tools and reporting features to help </a:t>
            </a:r>
          </a:p>
          <a:p>
            <a:pPr algn="l">
              <a:lnSpc>
                <a:spcPts val="1920"/>
              </a:lnSpc>
            </a:pPr>
            <a:r>
              <a:rPr sz="1600" dirty="0">
                <a:solidFill>
                  <a:srgbClr val="FFFFFF"/>
                </a:solidFill>
                <a:latin typeface="Helvetica Neue Thin"/>
              </a:rPr>
              <a:t>traders review performance, analyze trends, and generate reports for regulatory or internal purposes.</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8412312" y="894816"/>
            <a:ext cx="3341273" cy="6491617"/>
          </a:xfrm>
          <a:prstGeom prst="rect">
            <a:avLst/>
          </a:prstGeom>
        </p:spPr>
      </p:pic>
      <p:pic>
        <p:nvPicPr>
          <p:cNvPr id="4" name="Picture 2" descr="image.png"/>
          <p:cNvPicPr>
            <a:picLocks noChangeAspect="1"/>
          </p:cNvPicPr>
          <p:nvPr/>
        </p:nvPicPr>
        <p:blipFill>
          <a:blip r:embed="rId4"/>
          <a:stretch>
            <a:fillRect/>
          </a:stretch>
        </p:blipFill>
        <p:spPr>
          <a:xfrm>
            <a:off x="1818932" y="5090452"/>
            <a:ext cx="2006334" cy="4154570"/>
          </a:xfrm>
          <a:prstGeom prst="rect">
            <a:avLst/>
          </a:prstGeom>
        </p:spPr>
      </p:pic>
      <p:pic>
        <p:nvPicPr>
          <p:cNvPr id="5" name="Picture 3" descr="image.png"/>
          <p:cNvPicPr>
            <a:picLocks noChangeAspect="1"/>
          </p:cNvPicPr>
          <p:nvPr/>
        </p:nvPicPr>
        <p:blipFill>
          <a:blip r:embed="rId5"/>
          <a:stretch>
            <a:fillRect/>
          </a:stretch>
        </p:blipFill>
        <p:spPr>
          <a:xfrm>
            <a:off x="4100897" y="5092860"/>
            <a:ext cx="2007318" cy="4031884"/>
          </a:xfrm>
          <a:prstGeom prst="rect">
            <a:avLst/>
          </a:prstGeom>
        </p:spPr>
      </p:pic>
      <p:sp>
        <p:nvSpPr>
          <p:cNvPr id="6" name="TextBox 5"/>
          <p:cNvSpPr txBox="1"/>
          <p:nvPr/>
        </p:nvSpPr>
        <p:spPr>
          <a:xfrm>
            <a:off x="1181100" y="2259329"/>
            <a:ext cx="6761764" cy="614172"/>
          </a:xfrm>
          <a:prstGeom prst="rect">
            <a:avLst/>
          </a:prstGeom>
          <a:noFill/>
        </p:spPr>
        <p:txBody>
          <a:bodyPr wrap="none" lIns="0" tIns="0" rIns="0" bIns="0">
            <a:noAutofit/>
          </a:bodyPr>
          <a:lstStyle/>
          <a:p>
            <a:pPr algn="l">
              <a:lnSpc>
                <a:spcPts val="2400"/>
              </a:lnSpc>
            </a:pPr>
            <a:r>
              <a:rPr sz="2000" dirty="0">
                <a:solidFill>
                  <a:srgbClr val="FFFFFF"/>
                </a:solidFill>
                <a:latin typeface="Helvetica Neue Light"/>
              </a:rPr>
              <a:t>•  Users can switch accounts</a:t>
            </a:r>
          </a:p>
          <a:p>
            <a:pPr algn="l">
              <a:lnSpc>
                <a:spcPts val="2400"/>
              </a:lnSpc>
            </a:pPr>
            <a:r>
              <a:rPr sz="2000" dirty="0">
                <a:solidFill>
                  <a:srgbClr val="FFFFFF"/>
                </a:solidFill>
                <a:latin typeface="Helvetica Neue Light"/>
              </a:rPr>
              <a:t>•  Users have view of balances and the stock details in a </a:t>
            </a:r>
          </a:p>
        </p:txBody>
      </p:sp>
      <p:sp>
        <p:nvSpPr>
          <p:cNvPr id="7" name="TextBox 6"/>
          <p:cNvSpPr txBox="1"/>
          <p:nvPr/>
        </p:nvSpPr>
        <p:spPr>
          <a:xfrm>
            <a:off x="1181100" y="2868929"/>
            <a:ext cx="6945630" cy="1592667"/>
          </a:xfrm>
          <a:prstGeom prst="rect">
            <a:avLst/>
          </a:prstGeom>
          <a:noFill/>
        </p:spPr>
        <p:txBody>
          <a:bodyPr wrap="none" lIns="0" tIns="0" rIns="0" bIns="0">
            <a:noAutofit/>
          </a:bodyPr>
          <a:lstStyle/>
          <a:p>
            <a:pPr marL="228600" algn="l">
              <a:lnSpc>
                <a:spcPts val="2399"/>
              </a:lnSpc>
            </a:pPr>
            <a:r>
              <a:rPr sz="2000" dirty="0">
                <a:solidFill>
                  <a:srgbClr val="FFFFFF"/>
                </a:solidFill>
                <a:latin typeface="Helvetica Neue Light"/>
              </a:rPr>
              <a:t>concise configuration</a:t>
            </a:r>
          </a:p>
          <a:p>
            <a:pPr algn="l">
              <a:lnSpc>
                <a:spcPts val="2399"/>
              </a:lnSpc>
            </a:pPr>
            <a:r>
              <a:rPr sz="2000" dirty="0">
                <a:solidFill>
                  <a:srgbClr val="FFFFFF"/>
                </a:solidFill>
                <a:latin typeface="Helvetica Neue Light"/>
              </a:rPr>
              <a:t>• If they have a position the system provides their holdings</a:t>
            </a:r>
          </a:p>
          <a:p>
            <a:pPr>
              <a:lnSpc>
                <a:spcPts val="2399"/>
              </a:lnSpc>
            </a:pPr>
            <a:r>
              <a:rPr sz="2000" dirty="0">
                <a:solidFill>
                  <a:srgbClr val="FFFFFF"/>
                </a:solidFill>
                <a:latin typeface="Helvetica Neue Light"/>
              </a:rPr>
              <a:t>• Users can switch between shares and dollars </a:t>
            </a:r>
            <a:br>
              <a:rPr lang="en-US" sz="2000" dirty="0">
                <a:solidFill>
                  <a:srgbClr val="FFFFFF"/>
                </a:solidFill>
                <a:latin typeface="Helvetica Neue Light"/>
              </a:rPr>
            </a:br>
            <a:r>
              <a:rPr sz="2000" dirty="0">
                <a:solidFill>
                  <a:srgbClr val="FFFFFF"/>
                </a:solidFill>
                <a:latin typeface="Helvetica Neue Light"/>
              </a:rPr>
              <a:t>in a centralized place</a:t>
            </a:r>
          </a:p>
          <a:p>
            <a:pPr algn="l">
              <a:lnSpc>
                <a:spcPts val="2399"/>
              </a:lnSpc>
            </a:pPr>
            <a:endParaRPr sz="2000" dirty="0">
              <a:solidFill>
                <a:srgbClr val="FFFFFF"/>
              </a:solidFill>
              <a:latin typeface="Helvetica Neue Light"/>
            </a:endParaRPr>
          </a:p>
        </p:txBody>
      </p:sp>
      <p:sp>
        <p:nvSpPr>
          <p:cNvPr id="9" name="TextBox 8"/>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Integrated Trade Ticket </a:t>
            </a:r>
          </a:p>
        </p:txBody>
      </p:sp>
      <p:sp>
        <p:nvSpPr>
          <p:cNvPr id="10" name="TextBox 9"/>
          <p:cNvSpPr txBox="1"/>
          <p:nvPr/>
        </p:nvSpPr>
        <p:spPr>
          <a:xfrm>
            <a:off x="457200" y="939800"/>
            <a:ext cx="6879589" cy="476250"/>
          </a:xfrm>
          <a:prstGeom prst="rect">
            <a:avLst/>
          </a:prstGeom>
          <a:noFill/>
        </p:spPr>
        <p:txBody>
          <a:bodyPr wrap="none" lIns="0" tIns="0" rIns="0" bIns="0">
            <a:noAutofit/>
          </a:bodyPr>
          <a:lstStyle/>
          <a:p>
            <a:pPr algn="l"/>
            <a:r>
              <a:rPr sz="3000" dirty="0">
                <a:solidFill>
                  <a:srgbClr val="1F1F1F"/>
                </a:solidFill>
                <a:latin typeface="Helvetica Neue Light"/>
              </a:rPr>
              <a:t>Trade Ticket Experience Design Sprint</a:t>
            </a:r>
          </a:p>
        </p:txBody>
      </p:sp>
      <p:sp>
        <p:nvSpPr>
          <p:cNvPr id="11" name="TextBox 10"/>
          <p:cNvSpPr txBox="1"/>
          <p:nvPr/>
        </p:nvSpPr>
        <p:spPr>
          <a:xfrm>
            <a:off x="6855138" y="7781035"/>
            <a:ext cx="5228033" cy="600455"/>
          </a:xfrm>
          <a:prstGeom prst="rect">
            <a:avLst/>
          </a:prstGeom>
          <a:noFill/>
        </p:spPr>
        <p:txBody>
          <a:bodyPr wrap="square" lIns="0" tIns="0" rIns="0" bIns="0">
            <a:noAutofit/>
          </a:bodyPr>
          <a:lstStyle/>
          <a:p>
            <a:pPr algn="ctr">
              <a:lnSpc>
                <a:spcPts val="2400"/>
              </a:lnSpc>
            </a:pPr>
            <a:r>
              <a:rPr sz="2000" dirty="0">
                <a:solidFill>
                  <a:srgbClr val="000000"/>
                </a:solidFill>
                <a:latin typeface="Helvetica Neue Thin"/>
              </a:rPr>
              <a:t>“While the app is functional for basic trading, it falls short for those seeking more sophisticated </a:t>
            </a:r>
          </a:p>
        </p:txBody>
      </p:sp>
      <p:sp>
        <p:nvSpPr>
          <p:cNvPr id="12" name="TextBox 11"/>
          <p:cNvSpPr txBox="1"/>
          <p:nvPr/>
        </p:nvSpPr>
        <p:spPr>
          <a:xfrm>
            <a:off x="7920246" y="8390635"/>
            <a:ext cx="3325083" cy="295655"/>
          </a:xfrm>
          <a:prstGeom prst="rect">
            <a:avLst/>
          </a:prstGeom>
          <a:noFill/>
        </p:spPr>
        <p:txBody>
          <a:bodyPr wrap="none" lIns="0" tIns="0" rIns="0" bIns="0">
            <a:noAutofit/>
          </a:bodyPr>
          <a:lstStyle/>
          <a:p>
            <a:pPr algn="l"/>
            <a:r>
              <a:rPr sz="2000" dirty="0">
                <a:solidFill>
                  <a:srgbClr val="000000"/>
                </a:solidFill>
                <a:latin typeface="Helvetica Neue Thin"/>
              </a:rPr>
              <a:t>trading tools and resources.”</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6630654" y="1461754"/>
            <a:ext cx="2782899" cy="5889391"/>
          </a:xfrm>
          <a:prstGeom prst="rect">
            <a:avLst/>
          </a:prstGeom>
        </p:spPr>
      </p:pic>
      <p:pic>
        <p:nvPicPr>
          <p:cNvPr id="4" name="Picture 2" descr="image.png"/>
          <p:cNvPicPr>
            <a:picLocks noChangeAspect="1"/>
          </p:cNvPicPr>
          <p:nvPr/>
        </p:nvPicPr>
        <p:blipFill>
          <a:blip r:embed="rId4"/>
          <a:stretch>
            <a:fillRect/>
          </a:stretch>
        </p:blipFill>
        <p:spPr>
          <a:xfrm>
            <a:off x="2012764" y="5296846"/>
            <a:ext cx="2101088" cy="4446490"/>
          </a:xfrm>
          <a:prstGeom prst="rect">
            <a:avLst/>
          </a:prstGeom>
        </p:spPr>
      </p:pic>
      <p:pic>
        <p:nvPicPr>
          <p:cNvPr id="5" name="Picture 3" descr="image.png"/>
          <p:cNvPicPr>
            <a:picLocks noChangeAspect="1"/>
          </p:cNvPicPr>
          <p:nvPr/>
        </p:nvPicPr>
        <p:blipFill>
          <a:blip r:embed="rId5"/>
          <a:stretch>
            <a:fillRect/>
          </a:stretch>
        </p:blipFill>
        <p:spPr>
          <a:xfrm>
            <a:off x="8643197" y="1412951"/>
            <a:ext cx="3352386" cy="7266101"/>
          </a:xfrm>
          <a:prstGeom prst="rect">
            <a:avLst/>
          </a:prstGeom>
        </p:spPr>
      </p:pic>
      <p:sp>
        <p:nvSpPr>
          <p:cNvPr id="6" name="TextBox 5"/>
          <p:cNvSpPr txBox="1"/>
          <p:nvPr/>
        </p:nvSpPr>
        <p:spPr>
          <a:xfrm>
            <a:off x="457200" y="939800"/>
            <a:ext cx="6879589" cy="476250"/>
          </a:xfrm>
          <a:prstGeom prst="rect">
            <a:avLst/>
          </a:prstGeom>
          <a:noFill/>
        </p:spPr>
        <p:txBody>
          <a:bodyPr wrap="none" lIns="0" tIns="0" rIns="0" bIns="0">
            <a:noAutofit/>
          </a:bodyPr>
          <a:lstStyle/>
          <a:p>
            <a:pPr algn="l"/>
            <a:r>
              <a:rPr sz="3000" dirty="0">
                <a:solidFill>
                  <a:srgbClr val="1F1F1F"/>
                </a:solidFill>
                <a:latin typeface="Helvetica Neue Light"/>
              </a:rPr>
              <a:t>Trade Ticket Experience Design Sprint</a:t>
            </a:r>
          </a:p>
        </p:txBody>
      </p:sp>
      <p:sp>
        <p:nvSpPr>
          <p:cNvPr id="7" name="TextBox 6"/>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Integrated Trade Ticket </a:t>
            </a:r>
          </a:p>
        </p:txBody>
      </p:sp>
      <p:sp>
        <p:nvSpPr>
          <p:cNvPr id="8" name="TextBox 7"/>
          <p:cNvSpPr txBox="1"/>
          <p:nvPr/>
        </p:nvSpPr>
        <p:spPr>
          <a:xfrm>
            <a:off x="647700" y="2037079"/>
            <a:ext cx="4963537" cy="1010411"/>
          </a:xfrm>
          <a:prstGeom prst="rect">
            <a:avLst/>
          </a:prstGeom>
          <a:noFill/>
        </p:spPr>
        <p:txBody>
          <a:bodyPr wrap="square" lIns="0" tIns="0" rIns="0" bIns="0">
            <a:noAutofit/>
          </a:bodyPr>
          <a:lstStyle/>
          <a:p>
            <a:pPr algn="l">
              <a:lnSpc>
                <a:spcPts val="2800"/>
              </a:lnSpc>
            </a:pPr>
            <a:r>
              <a:rPr sz="2000" dirty="0">
                <a:solidFill>
                  <a:srgbClr val="FFFFFF"/>
                </a:solidFill>
                <a:latin typeface="Helvetica Neue Light"/>
              </a:rPr>
              <a:t>What we learned from discovery and design thinking</a:t>
            </a:r>
          </a:p>
          <a:p>
            <a:pPr algn="l">
              <a:lnSpc>
                <a:spcPts val="2800"/>
              </a:lnSpc>
            </a:pPr>
            <a:r>
              <a:rPr sz="2000" dirty="0">
                <a:solidFill>
                  <a:srgbClr val="FFFFFF"/>
                </a:solidFill>
                <a:latin typeface="Helvetica Neue Thin"/>
              </a:rPr>
              <a:t>• Ability to switch accounts would support the </a:t>
            </a:r>
          </a:p>
        </p:txBody>
      </p:sp>
      <p:sp>
        <p:nvSpPr>
          <p:cNvPr id="9" name="TextBox 8"/>
          <p:cNvSpPr txBox="1"/>
          <p:nvPr/>
        </p:nvSpPr>
        <p:spPr>
          <a:xfrm>
            <a:off x="647700" y="3107434"/>
            <a:ext cx="5152095" cy="1362455"/>
          </a:xfrm>
          <a:prstGeom prst="rect">
            <a:avLst/>
          </a:prstGeom>
          <a:noFill/>
        </p:spPr>
        <p:txBody>
          <a:bodyPr wrap="square" lIns="0" tIns="0" rIns="0" bIns="0">
            <a:noAutofit/>
          </a:bodyPr>
          <a:lstStyle/>
          <a:p>
            <a:pPr marL="228600" algn="l">
              <a:lnSpc>
                <a:spcPts val="2800"/>
              </a:lnSpc>
            </a:pPr>
            <a:r>
              <a:rPr sz="2000" dirty="0">
                <a:solidFill>
                  <a:srgbClr val="FFFFFF"/>
                </a:solidFill>
                <a:latin typeface="Helvetica Neue Thin"/>
              </a:rPr>
              <a:t>majority of experienced traders and 60% of novice users and support new navigation for mobile native</a:t>
            </a:r>
          </a:p>
          <a:p>
            <a:pPr algn="l">
              <a:lnSpc>
                <a:spcPts val="2800"/>
              </a:lnSpc>
            </a:pPr>
            <a:r>
              <a:rPr sz="2000" dirty="0">
                <a:solidFill>
                  <a:srgbClr val="FFFFFF"/>
                </a:solidFill>
                <a:latin typeface="Helvetica Neue Thin"/>
              </a:rPr>
              <a:t>• Dark mode is important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7189707" y="2517499"/>
            <a:ext cx="5188409" cy="7236100"/>
          </a:xfrm>
          <a:prstGeom prst="rect">
            <a:avLst/>
          </a:prstGeom>
        </p:spPr>
      </p:pic>
      <p:pic>
        <p:nvPicPr>
          <p:cNvPr id="4" name="Picture 2" descr="image.png"/>
          <p:cNvPicPr>
            <a:picLocks noChangeAspect="1"/>
          </p:cNvPicPr>
          <p:nvPr/>
        </p:nvPicPr>
        <p:blipFill>
          <a:blip r:embed="rId4"/>
          <a:stretch>
            <a:fillRect/>
          </a:stretch>
        </p:blipFill>
        <p:spPr>
          <a:xfrm>
            <a:off x="611187" y="4062158"/>
            <a:ext cx="2733805" cy="5217618"/>
          </a:xfrm>
          <a:prstGeom prst="rect">
            <a:avLst/>
          </a:prstGeom>
        </p:spPr>
      </p:pic>
      <p:sp>
        <p:nvSpPr>
          <p:cNvPr id="5" name="TextBox 4"/>
          <p:cNvSpPr txBox="1"/>
          <p:nvPr/>
        </p:nvSpPr>
        <p:spPr>
          <a:xfrm>
            <a:off x="675154" y="3723384"/>
            <a:ext cx="1118453" cy="216560"/>
          </a:xfrm>
          <a:prstGeom prst="rect">
            <a:avLst/>
          </a:prstGeom>
          <a:noFill/>
        </p:spPr>
        <p:txBody>
          <a:bodyPr wrap="none" lIns="0" tIns="0" rIns="0" bIns="0">
            <a:noAutofit/>
          </a:bodyPr>
          <a:lstStyle/>
          <a:p>
            <a:pPr algn="l"/>
            <a:r>
              <a:rPr sz="1400" dirty="0">
                <a:solidFill>
                  <a:srgbClr val="000000"/>
                </a:solidFill>
                <a:latin typeface="Helvetica Neue Light"/>
              </a:rPr>
              <a:t>First iteration</a:t>
            </a:r>
          </a:p>
        </p:txBody>
      </p:sp>
      <p:sp>
        <p:nvSpPr>
          <p:cNvPr id="6" name="TextBox 5"/>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Integrated Trade Ticket </a:t>
            </a:r>
          </a:p>
        </p:txBody>
      </p:sp>
      <p:sp>
        <p:nvSpPr>
          <p:cNvPr id="7" name="TextBox 6"/>
          <p:cNvSpPr txBox="1"/>
          <p:nvPr/>
        </p:nvSpPr>
        <p:spPr>
          <a:xfrm>
            <a:off x="457200" y="939800"/>
            <a:ext cx="6879589" cy="476250"/>
          </a:xfrm>
          <a:prstGeom prst="rect">
            <a:avLst/>
          </a:prstGeom>
          <a:noFill/>
        </p:spPr>
        <p:txBody>
          <a:bodyPr wrap="none" lIns="0" tIns="0" rIns="0" bIns="0">
            <a:noAutofit/>
          </a:bodyPr>
          <a:lstStyle/>
          <a:p>
            <a:pPr algn="l"/>
            <a:r>
              <a:rPr sz="3000" dirty="0">
                <a:solidFill>
                  <a:srgbClr val="1F1F1F"/>
                </a:solidFill>
                <a:latin typeface="Helvetica Neue Light"/>
              </a:rPr>
              <a:t>Trade Ticket Experience Design Sprint</a:t>
            </a:r>
          </a:p>
        </p:txBody>
      </p:sp>
      <p:sp>
        <p:nvSpPr>
          <p:cNvPr id="8" name="TextBox 7"/>
          <p:cNvSpPr txBox="1"/>
          <p:nvPr/>
        </p:nvSpPr>
        <p:spPr>
          <a:xfrm>
            <a:off x="1136650" y="1871979"/>
            <a:ext cx="5917898" cy="309372"/>
          </a:xfrm>
          <a:prstGeom prst="rect">
            <a:avLst/>
          </a:prstGeom>
          <a:noFill/>
        </p:spPr>
        <p:txBody>
          <a:bodyPr wrap="none" lIns="0" tIns="0" rIns="0" bIns="0">
            <a:noAutofit/>
          </a:bodyPr>
          <a:lstStyle/>
          <a:p>
            <a:pPr algn="l"/>
            <a:r>
              <a:rPr sz="2000" dirty="0">
                <a:solidFill>
                  <a:srgbClr val="FFFFFF"/>
                </a:solidFill>
                <a:latin typeface="Helvetica Neue Light"/>
              </a:rPr>
              <a:t>• Asset is held already, so the user is driven right </a:t>
            </a:r>
          </a:p>
        </p:txBody>
      </p:sp>
      <p:sp>
        <p:nvSpPr>
          <p:cNvPr id="9" name="TextBox 8"/>
          <p:cNvSpPr txBox="1"/>
          <p:nvPr/>
        </p:nvSpPr>
        <p:spPr>
          <a:xfrm>
            <a:off x="1136650" y="2176779"/>
            <a:ext cx="5699321" cy="614172"/>
          </a:xfrm>
          <a:prstGeom prst="rect">
            <a:avLst/>
          </a:prstGeom>
          <a:noFill/>
        </p:spPr>
        <p:txBody>
          <a:bodyPr wrap="none" lIns="0" tIns="0" rIns="0" bIns="0">
            <a:noAutofit/>
          </a:bodyPr>
          <a:lstStyle/>
          <a:p>
            <a:pPr marL="228600" algn="l">
              <a:lnSpc>
                <a:spcPts val="2400"/>
              </a:lnSpc>
            </a:pPr>
            <a:r>
              <a:rPr sz="2000" dirty="0">
                <a:solidFill>
                  <a:srgbClr val="FFFFFF"/>
                </a:solidFill>
                <a:latin typeface="Helvetica Neue Light"/>
              </a:rPr>
              <a:t>into the funnel</a:t>
            </a:r>
          </a:p>
          <a:p>
            <a:pPr algn="l">
              <a:lnSpc>
                <a:spcPts val="2400"/>
              </a:lnSpc>
            </a:pPr>
            <a:r>
              <a:rPr sz="2000" dirty="0">
                <a:solidFill>
                  <a:srgbClr val="FFFFFF"/>
                </a:solidFill>
                <a:latin typeface="Helvetica Neue Light"/>
              </a:rPr>
              <a:t>• User can immediately toggle between selling </a:t>
            </a:r>
          </a:p>
        </p:txBody>
      </p:sp>
      <p:sp>
        <p:nvSpPr>
          <p:cNvPr id="10" name="TextBox 9"/>
          <p:cNvSpPr txBox="1"/>
          <p:nvPr/>
        </p:nvSpPr>
        <p:spPr>
          <a:xfrm>
            <a:off x="1365250" y="2786379"/>
            <a:ext cx="3275156" cy="309372"/>
          </a:xfrm>
          <a:prstGeom prst="rect">
            <a:avLst/>
          </a:prstGeom>
          <a:noFill/>
        </p:spPr>
        <p:txBody>
          <a:bodyPr wrap="none" lIns="0" tIns="0" rIns="0" bIns="0">
            <a:noAutofit/>
          </a:bodyPr>
          <a:lstStyle/>
          <a:p>
            <a:pPr algn="l"/>
            <a:r>
              <a:rPr sz="2000" dirty="0">
                <a:solidFill>
                  <a:srgbClr val="FFFFFF"/>
                </a:solidFill>
                <a:latin typeface="Helvetica Neue Light"/>
              </a:rPr>
              <a:t>by dollar amount vs. shares</a:t>
            </a:r>
          </a:p>
        </p:txBody>
      </p:sp>
      <p:sp>
        <p:nvSpPr>
          <p:cNvPr id="11" name="TextBox 10"/>
          <p:cNvSpPr txBox="1"/>
          <p:nvPr/>
        </p:nvSpPr>
        <p:spPr>
          <a:xfrm>
            <a:off x="3657600" y="4443982"/>
            <a:ext cx="2865981" cy="247497"/>
          </a:xfrm>
          <a:prstGeom prst="rect">
            <a:avLst/>
          </a:prstGeom>
          <a:noFill/>
        </p:spPr>
        <p:txBody>
          <a:bodyPr wrap="none" lIns="0" tIns="0" rIns="0" bIns="0">
            <a:noAutofit/>
          </a:bodyPr>
          <a:lstStyle/>
          <a:p>
            <a:pPr algn="l"/>
            <a:r>
              <a:rPr sz="1600" dirty="0">
                <a:solidFill>
                  <a:srgbClr val="000000"/>
                </a:solidFill>
                <a:latin typeface="Helvetica Neue Light"/>
              </a:rPr>
              <a:t>If a user holds an asset they’re </a:t>
            </a:r>
          </a:p>
        </p:txBody>
      </p:sp>
      <p:sp>
        <p:nvSpPr>
          <p:cNvPr id="12" name="TextBox 11"/>
          <p:cNvSpPr txBox="1"/>
          <p:nvPr/>
        </p:nvSpPr>
        <p:spPr>
          <a:xfrm>
            <a:off x="3657600" y="4850382"/>
            <a:ext cx="3285143" cy="247497"/>
          </a:xfrm>
          <a:prstGeom prst="rect">
            <a:avLst/>
          </a:prstGeom>
          <a:noFill/>
        </p:spPr>
        <p:txBody>
          <a:bodyPr wrap="none" lIns="0" tIns="0" rIns="0" bIns="0">
            <a:noAutofit/>
          </a:bodyPr>
          <a:lstStyle/>
          <a:p>
            <a:pPr algn="l"/>
            <a:r>
              <a:rPr sz="1600" dirty="0">
                <a:solidFill>
                  <a:srgbClr val="000000"/>
                </a:solidFill>
                <a:latin typeface="Helvetica Neue Light"/>
              </a:rPr>
              <a:t>driven right into an interface to buy </a:t>
            </a:r>
          </a:p>
        </p:txBody>
      </p:sp>
      <p:sp>
        <p:nvSpPr>
          <p:cNvPr id="13" name="TextBox 12"/>
          <p:cNvSpPr txBox="1"/>
          <p:nvPr/>
        </p:nvSpPr>
        <p:spPr>
          <a:xfrm>
            <a:off x="3657600" y="5256782"/>
            <a:ext cx="3248931" cy="247497"/>
          </a:xfrm>
          <a:prstGeom prst="rect">
            <a:avLst/>
          </a:prstGeom>
          <a:noFill/>
        </p:spPr>
        <p:txBody>
          <a:bodyPr wrap="none" lIns="0" tIns="0" rIns="0" bIns="0">
            <a:noAutofit/>
          </a:bodyPr>
          <a:lstStyle/>
          <a:p>
            <a:pPr algn="l"/>
            <a:r>
              <a:rPr sz="1600" dirty="0">
                <a:solidFill>
                  <a:srgbClr val="000000"/>
                </a:solidFill>
                <a:latin typeface="Helvetica Neue Light"/>
              </a:rPr>
              <a:t>or sell. Next to Actions is the icon </a:t>
            </a:r>
          </a:p>
        </p:txBody>
      </p:sp>
      <p:sp>
        <p:nvSpPr>
          <p:cNvPr id="14" name="TextBox 13"/>
          <p:cNvSpPr txBox="1"/>
          <p:nvPr/>
        </p:nvSpPr>
        <p:spPr>
          <a:xfrm>
            <a:off x="3657600" y="5663182"/>
            <a:ext cx="3089387" cy="247497"/>
          </a:xfrm>
          <a:prstGeom prst="rect">
            <a:avLst/>
          </a:prstGeom>
          <a:noFill/>
        </p:spPr>
        <p:txBody>
          <a:bodyPr wrap="none" lIns="0" tIns="0" rIns="0" bIns="0">
            <a:noAutofit/>
          </a:bodyPr>
          <a:lstStyle/>
          <a:p>
            <a:pPr algn="l"/>
            <a:r>
              <a:rPr sz="1600" dirty="0">
                <a:solidFill>
                  <a:srgbClr val="000000"/>
                </a:solidFill>
                <a:latin typeface="Helvetica Neue Light"/>
              </a:rPr>
              <a:t>to change shares vs. dollars. As </a:t>
            </a:r>
          </a:p>
        </p:txBody>
      </p:sp>
      <p:sp>
        <p:nvSpPr>
          <p:cNvPr id="15" name="TextBox 14"/>
          <p:cNvSpPr txBox="1"/>
          <p:nvPr/>
        </p:nvSpPr>
        <p:spPr>
          <a:xfrm>
            <a:off x="3657600" y="6069582"/>
            <a:ext cx="3079248" cy="247497"/>
          </a:xfrm>
          <a:prstGeom prst="rect">
            <a:avLst/>
          </a:prstGeom>
          <a:noFill/>
        </p:spPr>
        <p:txBody>
          <a:bodyPr wrap="none" lIns="0" tIns="0" rIns="0" bIns="0">
            <a:noAutofit/>
          </a:bodyPr>
          <a:lstStyle/>
          <a:p>
            <a:pPr algn="l"/>
            <a:r>
              <a:rPr sz="1600" dirty="0">
                <a:solidFill>
                  <a:srgbClr val="000000"/>
                </a:solidFill>
                <a:latin typeface="Helvetica Neue Light"/>
              </a:rPr>
              <a:t>a predictive interface, users are </a:t>
            </a:r>
          </a:p>
        </p:txBody>
      </p:sp>
      <p:sp>
        <p:nvSpPr>
          <p:cNvPr id="16" name="TextBox 15"/>
          <p:cNvSpPr txBox="1"/>
          <p:nvPr/>
        </p:nvSpPr>
        <p:spPr>
          <a:xfrm>
            <a:off x="3657600" y="6475982"/>
            <a:ext cx="2889683" cy="247497"/>
          </a:xfrm>
          <a:prstGeom prst="rect">
            <a:avLst/>
          </a:prstGeom>
          <a:noFill/>
        </p:spPr>
        <p:txBody>
          <a:bodyPr wrap="none" lIns="0" tIns="0" rIns="0" bIns="0">
            <a:noAutofit/>
          </a:bodyPr>
          <a:lstStyle/>
          <a:p>
            <a:pPr algn="l"/>
            <a:r>
              <a:rPr sz="1600" dirty="0">
                <a:solidFill>
                  <a:srgbClr val="000000"/>
                </a:solidFill>
                <a:latin typeface="Helvetica Neue Light"/>
              </a:rPr>
              <a:t>never burdened with too many </a:t>
            </a:r>
          </a:p>
        </p:txBody>
      </p:sp>
      <p:sp>
        <p:nvSpPr>
          <p:cNvPr id="17" name="TextBox 16"/>
          <p:cNvSpPr txBox="1"/>
          <p:nvPr/>
        </p:nvSpPr>
        <p:spPr>
          <a:xfrm>
            <a:off x="3657600" y="6882383"/>
            <a:ext cx="2856764" cy="247497"/>
          </a:xfrm>
          <a:prstGeom prst="rect">
            <a:avLst/>
          </a:prstGeom>
          <a:noFill/>
        </p:spPr>
        <p:txBody>
          <a:bodyPr wrap="none" lIns="0" tIns="0" rIns="0" bIns="0">
            <a:noAutofit/>
          </a:bodyPr>
          <a:lstStyle/>
          <a:p>
            <a:pPr algn="l"/>
            <a:r>
              <a:rPr sz="1600" dirty="0">
                <a:solidFill>
                  <a:srgbClr val="000000"/>
                </a:solidFill>
                <a:latin typeface="Helvetica Neue Light"/>
              </a:rPr>
              <a:t>choices, only the appropriate </a:t>
            </a:r>
          </a:p>
        </p:txBody>
      </p:sp>
      <p:sp>
        <p:nvSpPr>
          <p:cNvPr id="18" name="TextBox 17"/>
          <p:cNvSpPr txBox="1"/>
          <p:nvPr/>
        </p:nvSpPr>
        <p:spPr>
          <a:xfrm>
            <a:off x="3657600" y="7288783"/>
            <a:ext cx="567838" cy="247497"/>
          </a:xfrm>
          <a:prstGeom prst="rect">
            <a:avLst/>
          </a:prstGeom>
          <a:noFill/>
        </p:spPr>
        <p:txBody>
          <a:bodyPr wrap="none" lIns="0" tIns="0" rIns="0" bIns="0">
            <a:noAutofit/>
          </a:bodyPr>
          <a:lstStyle/>
          <a:p>
            <a:pPr algn="l"/>
            <a:r>
              <a:rPr sz="1600" dirty="0">
                <a:solidFill>
                  <a:srgbClr val="000000"/>
                </a:solidFill>
                <a:latin typeface="Helvetica Neue Light"/>
              </a:rPr>
              <a:t>ones.</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24382"/>
            <a:ext cx="13004800" cy="9753600"/>
          </a:xfrm>
          <a:prstGeom prst="rect">
            <a:avLst/>
          </a:prstGeom>
        </p:spPr>
      </p:pic>
      <p:pic>
        <p:nvPicPr>
          <p:cNvPr id="3" name="Picture 1" descr="image.png"/>
          <p:cNvPicPr>
            <a:picLocks noChangeAspect="1"/>
          </p:cNvPicPr>
          <p:nvPr/>
        </p:nvPicPr>
        <p:blipFill>
          <a:blip r:embed="rId3"/>
          <a:stretch>
            <a:fillRect/>
          </a:stretch>
        </p:blipFill>
        <p:spPr>
          <a:xfrm>
            <a:off x="7685549" y="1194904"/>
            <a:ext cx="4547269" cy="8558695"/>
          </a:xfrm>
          <a:prstGeom prst="rect">
            <a:avLst/>
          </a:prstGeom>
        </p:spPr>
      </p:pic>
      <p:pic>
        <p:nvPicPr>
          <p:cNvPr id="4" name="Picture 2" descr="image.png"/>
          <p:cNvPicPr>
            <a:picLocks noChangeAspect="1"/>
          </p:cNvPicPr>
          <p:nvPr/>
        </p:nvPicPr>
        <p:blipFill>
          <a:blip r:embed="rId4"/>
          <a:stretch>
            <a:fillRect/>
          </a:stretch>
        </p:blipFill>
        <p:spPr>
          <a:xfrm>
            <a:off x="608520" y="3988167"/>
            <a:ext cx="2425192" cy="5038140"/>
          </a:xfrm>
          <a:prstGeom prst="rect">
            <a:avLst/>
          </a:prstGeom>
        </p:spPr>
      </p:pic>
      <p:sp>
        <p:nvSpPr>
          <p:cNvPr id="5" name="TextBox 4"/>
          <p:cNvSpPr txBox="1"/>
          <p:nvPr/>
        </p:nvSpPr>
        <p:spPr>
          <a:xfrm>
            <a:off x="1054100" y="1871979"/>
            <a:ext cx="5032177" cy="604011"/>
          </a:xfrm>
          <a:prstGeom prst="rect">
            <a:avLst/>
          </a:prstGeom>
          <a:noFill/>
        </p:spPr>
        <p:txBody>
          <a:bodyPr wrap="none" lIns="0" tIns="0" rIns="0" bIns="0">
            <a:noAutofit/>
          </a:bodyPr>
          <a:lstStyle/>
          <a:p>
            <a:pPr algn="l">
              <a:lnSpc>
                <a:spcPts val="2400"/>
              </a:lnSpc>
            </a:pPr>
            <a:r>
              <a:rPr sz="2000" dirty="0">
                <a:solidFill>
                  <a:srgbClr val="FFFFFF"/>
                </a:solidFill>
                <a:latin typeface="Helvetica Neue Light"/>
              </a:rPr>
              <a:t>What we learned in the testing</a:t>
            </a:r>
          </a:p>
          <a:p>
            <a:pPr algn="l">
              <a:lnSpc>
                <a:spcPts val="2400"/>
              </a:lnSpc>
            </a:pPr>
            <a:r>
              <a:rPr sz="2000" dirty="0">
                <a:solidFill>
                  <a:srgbClr val="FFFFFF"/>
                </a:solidFill>
                <a:latin typeface="Helvetica Neue Thin"/>
              </a:rPr>
              <a:t>• Education was a priority for all users, but </a:t>
            </a:r>
          </a:p>
        </p:txBody>
      </p:sp>
      <p:sp>
        <p:nvSpPr>
          <p:cNvPr id="6" name="TextBox 5"/>
          <p:cNvSpPr txBox="1"/>
          <p:nvPr/>
        </p:nvSpPr>
        <p:spPr>
          <a:xfrm>
            <a:off x="1054100" y="2485135"/>
            <a:ext cx="5432959" cy="905255"/>
          </a:xfrm>
          <a:prstGeom prst="rect">
            <a:avLst/>
          </a:prstGeom>
          <a:noFill/>
        </p:spPr>
        <p:txBody>
          <a:bodyPr wrap="none" lIns="0" tIns="0" rIns="0" bIns="0">
            <a:noAutofit/>
          </a:bodyPr>
          <a:lstStyle/>
          <a:p>
            <a:pPr marL="228600" algn="l">
              <a:lnSpc>
                <a:spcPts val="2399"/>
              </a:lnSpc>
            </a:pPr>
            <a:r>
              <a:rPr sz="2000" dirty="0">
                <a:solidFill>
                  <a:srgbClr val="FFFFFF"/>
                </a:solidFill>
                <a:latin typeface="Helvetica Neue Thin"/>
              </a:rPr>
              <a:t>shouldn’t distract nor impede progress</a:t>
            </a:r>
          </a:p>
          <a:p>
            <a:pPr algn="l">
              <a:lnSpc>
                <a:spcPts val="2399"/>
              </a:lnSpc>
            </a:pPr>
            <a:r>
              <a:rPr sz="2000" dirty="0">
                <a:solidFill>
                  <a:srgbClr val="FFFFFF"/>
                </a:solidFill>
                <a:latin typeface="Helvetica Neue Thin"/>
              </a:rPr>
              <a:t>• Trading in quick amounts is good</a:t>
            </a:r>
          </a:p>
          <a:p>
            <a:pPr algn="l">
              <a:lnSpc>
                <a:spcPts val="2399"/>
              </a:lnSpc>
            </a:pPr>
            <a:r>
              <a:rPr sz="2000" dirty="0">
                <a:solidFill>
                  <a:srgbClr val="FFFFFF"/>
                </a:solidFill>
                <a:latin typeface="Helvetica Neue Thin"/>
              </a:rPr>
              <a:t>• Feedback on share amount valuable as well</a:t>
            </a:r>
          </a:p>
        </p:txBody>
      </p:sp>
      <p:sp>
        <p:nvSpPr>
          <p:cNvPr id="7" name="TextBox 6"/>
          <p:cNvSpPr txBox="1"/>
          <p:nvPr/>
        </p:nvSpPr>
        <p:spPr>
          <a:xfrm>
            <a:off x="1777032" y="9041509"/>
            <a:ext cx="1409754" cy="216560"/>
          </a:xfrm>
          <a:prstGeom prst="rect">
            <a:avLst/>
          </a:prstGeom>
          <a:noFill/>
        </p:spPr>
        <p:txBody>
          <a:bodyPr wrap="none" lIns="0" tIns="0" rIns="0" bIns="0">
            <a:noAutofit/>
          </a:bodyPr>
          <a:lstStyle/>
          <a:p>
            <a:pPr algn="l"/>
            <a:r>
              <a:rPr sz="1400" dirty="0">
                <a:solidFill>
                  <a:srgbClr val="000000"/>
                </a:solidFill>
                <a:latin typeface="Helvetica Neue Light"/>
              </a:rPr>
              <a:t>Second iteration</a:t>
            </a:r>
          </a:p>
        </p:txBody>
      </p:sp>
      <p:sp>
        <p:nvSpPr>
          <p:cNvPr id="8" name="TextBox 7"/>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Integrated Trade Ticket </a:t>
            </a:r>
          </a:p>
        </p:txBody>
      </p:sp>
      <p:sp>
        <p:nvSpPr>
          <p:cNvPr id="9" name="TextBox 8"/>
          <p:cNvSpPr txBox="1"/>
          <p:nvPr/>
        </p:nvSpPr>
        <p:spPr>
          <a:xfrm>
            <a:off x="457200" y="939800"/>
            <a:ext cx="6879589" cy="476250"/>
          </a:xfrm>
          <a:prstGeom prst="rect">
            <a:avLst/>
          </a:prstGeom>
          <a:noFill/>
        </p:spPr>
        <p:txBody>
          <a:bodyPr wrap="none" lIns="0" tIns="0" rIns="0" bIns="0">
            <a:noAutofit/>
          </a:bodyPr>
          <a:lstStyle/>
          <a:p>
            <a:pPr algn="l"/>
            <a:r>
              <a:rPr sz="3000" dirty="0">
                <a:solidFill>
                  <a:srgbClr val="1F1F1F"/>
                </a:solidFill>
                <a:latin typeface="Helvetica Neue Light"/>
              </a:rPr>
              <a:t>Trade Ticket Experience Design Sprint</a:t>
            </a:r>
          </a:p>
        </p:txBody>
      </p:sp>
      <p:sp>
        <p:nvSpPr>
          <p:cNvPr id="10" name="TextBox 9"/>
          <p:cNvSpPr txBox="1"/>
          <p:nvPr/>
        </p:nvSpPr>
        <p:spPr>
          <a:xfrm>
            <a:off x="6458911" y="8984359"/>
            <a:ext cx="1195069" cy="216560"/>
          </a:xfrm>
          <a:prstGeom prst="rect">
            <a:avLst/>
          </a:prstGeom>
          <a:noFill/>
        </p:spPr>
        <p:txBody>
          <a:bodyPr wrap="none" lIns="0" tIns="0" rIns="0" bIns="0">
            <a:noAutofit/>
          </a:bodyPr>
          <a:lstStyle/>
          <a:p>
            <a:pPr algn="l"/>
            <a:r>
              <a:rPr sz="1400" dirty="0">
                <a:solidFill>
                  <a:srgbClr val="000000"/>
                </a:solidFill>
                <a:latin typeface="Helvetica Neue Light"/>
              </a:rPr>
              <a:t>Third iteration</a:t>
            </a:r>
          </a:p>
        </p:txBody>
      </p:sp>
      <p:sp>
        <p:nvSpPr>
          <p:cNvPr id="11" name="TextBox 10"/>
          <p:cNvSpPr txBox="1"/>
          <p:nvPr/>
        </p:nvSpPr>
        <p:spPr>
          <a:xfrm>
            <a:off x="3451733" y="4494782"/>
            <a:ext cx="4035397" cy="247497"/>
          </a:xfrm>
          <a:prstGeom prst="rect">
            <a:avLst/>
          </a:prstGeom>
          <a:noFill/>
        </p:spPr>
        <p:txBody>
          <a:bodyPr wrap="none" lIns="0" tIns="0" rIns="0" bIns="0">
            <a:noAutofit/>
          </a:bodyPr>
          <a:lstStyle/>
          <a:p>
            <a:pPr algn="l"/>
            <a:r>
              <a:rPr sz="1600" dirty="0">
                <a:solidFill>
                  <a:srgbClr val="000000"/>
                </a:solidFill>
                <a:latin typeface="Helvetica Neue Light"/>
              </a:rPr>
              <a:t>We designed an interface that was flexible, </a:t>
            </a:r>
          </a:p>
        </p:txBody>
      </p:sp>
      <p:sp>
        <p:nvSpPr>
          <p:cNvPr id="12" name="TextBox 11"/>
          <p:cNvSpPr txBox="1"/>
          <p:nvPr/>
        </p:nvSpPr>
        <p:spPr>
          <a:xfrm>
            <a:off x="3451733" y="4901182"/>
            <a:ext cx="3922442" cy="247497"/>
          </a:xfrm>
          <a:prstGeom prst="rect">
            <a:avLst/>
          </a:prstGeom>
          <a:noFill/>
        </p:spPr>
        <p:txBody>
          <a:bodyPr wrap="none" lIns="0" tIns="0" rIns="0" bIns="0">
            <a:noAutofit/>
          </a:bodyPr>
          <a:lstStyle/>
          <a:p>
            <a:pPr algn="l"/>
            <a:r>
              <a:rPr sz="1600" dirty="0">
                <a:solidFill>
                  <a:srgbClr val="000000"/>
                </a:solidFill>
                <a:latin typeface="Helvetica Neue Light"/>
              </a:rPr>
              <a:t>allowed vision into details of a stock and </a:t>
            </a:r>
          </a:p>
        </p:txBody>
      </p:sp>
      <p:sp>
        <p:nvSpPr>
          <p:cNvPr id="13" name="TextBox 12"/>
          <p:cNvSpPr txBox="1"/>
          <p:nvPr/>
        </p:nvSpPr>
        <p:spPr>
          <a:xfrm>
            <a:off x="3451733" y="5307582"/>
            <a:ext cx="3172716" cy="247497"/>
          </a:xfrm>
          <a:prstGeom prst="rect">
            <a:avLst/>
          </a:prstGeom>
          <a:noFill/>
        </p:spPr>
        <p:txBody>
          <a:bodyPr wrap="none" lIns="0" tIns="0" rIns="0" bIns="0">
            <a:noAutofit/>
          </a:bodyPr>
          <a:lstStyle/>
          <a:p>
            <a:pPr algn="l"/>
            <a:r>
              <a:rPr sz="1600" dirty="0">
                <a:solidFill>
                  <a:srgbClr val="000000"/>
                </a:solidFill>
                <a:latin typeface="Helvetica Neue Light"/>
              </a:rPr>
              <a:t>information into the holding itself.</a:t>
            </a:r>
          </a:p>
        </p:txBody>
      </p:sp>
      <p:sp>
        <p:nvSpPr>
          <p:cNvPr id="14" name="TextBox 13"/>
          <p:cNvSpPr txBox="1"/>
          <p:nvPr/>
        </p:nvSpPr>
        <p:spPr>
          <a:xfrm>
            <a:off x="3451733" y="6008622"/>
            <a:ext cx="3803590" cy="1172058"/>
          </a:xfrm>
          <a:prstGeom prst="rect">
            <a:avLst/>
          </a:prstGeom>
          <a:noFill/>
        </p:spPr>
        <p:txBody>
          <a:bodyPr wrap="square" lIns="0" tIns="0" rIns="0" bIns="0">
            <a:noAutofit/>
          </a:bodyPr>
          <a:lstStyle/>
          <a:p>
            <a:pPr algn="l">
              <a:lnSpc>
                <a:spcPts val="3200"/>
              </a:lnSpc>
            </a:pPr>
            <a:r>
              <a:rPr sz="1600" dirty="0">
                <a:solidFill>
                  <a:srgbClr val="000000"/>
                </a:solidFill>
                <a:latin typeface="Helvetica Neue Light"/>
              </a:rPr>
              <a:t>Using a custom keyboard was part of sev</a:t>
            </a:r>
            <a:r>
              <a:rPr sz="1600" dirty="0" err="1">
                <a:solidFill>
                  <a:srgbClr val="000000"/>
                </a:solidFill>
                <a:latin typeface="Helvetica Neue Light"/>
              </a:rPr>
              <a:t>eral</a:t>
            </a:r>
            <a:r>
              <a:rPr sz="1600" dirty="0">
                <a:solidFill>
                  <a:srgbClr val="000000"/>
                </a:solidFill>
                <a:latin typeface="Helvetica Neue Light"/>
              </a:rPr>
              <a:t> iterations, but was replaced by the system keyboard.</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6173318" y="696704"/>
            <a:ext cx="1709760" cy="3419520"/>
          </a:xfrm>
          <a:prstGeom prst="rect">
            <a:avLst/>
          </a:prstGeom>
        </p:spPr>
      </p:pic>
      <p:pic>
        <p:nvPicPr>
          <p:cNvPr id="4" name="Picture 2" descr="image.png"/>
          <p:cNvPicPr>
            <a:picLocks noChangeAspect="1"/>
          </p:cNvPicPr>
          <p:nvPr/>
        </p:nvPicPr>
        <p:blipFill>
          <a:blip r:embed="rId4"/>
          <a:stretch>
            <a:fillRect/>
          </a:stretch>
        </p:blipFill>
        <p:spPr>
          <a:xfrm>
            <a:off x="8134135" y="698565"/>
            <a:ext cx="1709759" cy="3419520"/>
          </a:xfrm>
          <a:prstGeom prst="rect">
            <a:avLst/>
          </a:prstGeom>
        </p:spPr>
      </p:pic>
      <p:pic>
        <p:nvPicPr>
          <p:cNvPr id="5" name="Picture 3" descr="image.png"/>
          <p:cNvPicPr>
            <a:picLocks noChangeAspect="1"/>
          </p:cNvPicPr>
          <p:nvPr/>
        </p:nvPicPr>
        <p:blipFill>
          <a:blip r:embed="rId5"/>
          <a:stretch>
            <a:fillRect/>
          </a:stretch>
        </p:blipFill>
        <p:spPr>
          <a:xfrm>
            <a:off x="916495" y="4269020"/>
            <a:ext cx="3440951" cy="5484579"/>
          </a:xfrm>
          <a:prstGeom prst="rect">
            <a:avLst/>
          </a:prstGeom>
        </p:spPr>
      </p:pic>
      <p:pic>
        <p:nvPicPr>
          <p:cNvPr id="6" name="Picture 4" descr="image.png"/>
          <p:cNvPicPr>
            <a:picLocks noChangeAspect="1"/>
          </p:cNvPicPr>
          <p:nvPr/>
        </p:nvPicPr>
        <p:blipFill>
          <a:blip r:embed="rId6"/>
          <a:stretch>
            <a:fillRect/>
          </a:stretch>
        </p:blipFill>
        <p:spPr>
          <a:xfrm>
            <a:off x="8762822" y="2860958"/>
            <a:ext cx="1638786" cy="3551975"/>
          </a:xfrm>
          <a:prstGeom prst="rect">
            <a:avLst/>
          </a:prstGeom>
        </p:spPr>
      </p:pic>
      <p:pic>
        <p:nvPicPr>
          <p:cNvPr id="7" name="Picture 5" descr="image.png"/>
          <p:cNvPicPr>
            <a:picLocks noChangeAspect="1"/>
          </p:cNvPicPr>
          <p:nvPr/>
        </p:nvPicPr>
        <p:blipFill>
          <a:blip r:embed="rId7"/>
          <a:stretch>
            <a:fillRect/>
          </a:stretch>
        </p:blipFill>
        <p:spPr>
          <a:xfrm>
            <a:off x="10631082" y="2860958"/>
            <a:ext cx="1638786" cy="3551975"/>
          </a:xfrm>
          <a:prstGeom prst="rect">
            <a:avLst/>
          </a:prstGeom>
        </p:spPr>
      </p:pic>
      <p:sp>
        <p:nvSpPr>
          <p:cNvPr id="8" name="TextBox 7"/>
          <p:cNvSpPr txBox="1"/>
          <p:nvPr/>
        </p:nvSpPr>
        <p:spPr>
          <a:xfrm>
            <a:off x="7494620" y="6098284"/>
            <a:ext cx="1201215" cy="216560"/>
          </a:xfrm>
          <a:prstGeom prst="rect">
            <a:avLst/>
          </a:prstGeom>
          <a:noFill/>
        </p:spPr>
        <p:txBody>
          <a:bodyPr wrap="none" lIns="0" tIns="0" rIns="0" bIns="0">
            <a:noAutofit/>
          </a:bodyPr>
          <a:lstStyle/>
          <a:p>
            <a:pPr algn="l"/>
            <a:r>
              <a:rPr sz="1400" dirty="0">
                <a:solidFill>
                  <a:srgbClr val="000000"/>
                </a:solidFill>
                <a:latin typeface="Helvetica Neue Light"/>
              </a:rPr>
              <a:t>Test version 2</a:t>
            </a:r>
          </a:p>
        </p:txBody>
      </p:sp>
      <p:sp>
        <p:nvSpPr>
          <p:cNvPr id="9" name="TextBox 8"/>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Integrated Trade Ticket </a:t>
            </a:r>
          </a:p>
        </p:txBody>
      </p:sp>
      <p:sp>
        <p:nvSpPr>
          <p:cNvPr id="10" name="TextBox 9"/>
          <p:cNvSpPr txBox="1"/>
          <p:nvPr/>
        </p:nvSpPr>
        <p:spPr>
          <a:xfrm>
            <a:off x="457200" y="939800"/>
            <a:ext cx="5775325" cy="396875"/>
          </a:xfrm>
          <a:prstGeom prst="rect">
            <a:avLst/>
          </a:prstGeom>
          <a:noFill/>
        </p:spPr>
        <p:txBody>
          <a:bodyPr wrap="none" lIns="0" tIns="0" rIns="0" bIns="0">
            <a:noAutofit/>
          </a:bodyPr>
          <a:lstStyle/>
          <a:p>
            <a:pPr algn="l"/>
            <a:r>
              <a:rPr sz="2500" dirty="0">
                <a:solidFill>
                  <a:srgbClr val="1F1F1F"/>
                </a:solidFill>
                <a:latin typeface="Helvetica Neue Light"/>
              </a:rPr>
              <a:t>Trade Ticket Experience Design Sprint</a:t>
            </a:r>
          </a:p>
        </p:txBody>
      </p:sp>
      <p:sp>
        <p:nvSpPr>
          <p:cNvPr id="11" name="TextBox 10"/>
          <p:cNvSpPr txBox="1"/>
          <p:nvPr/>
        </p:nvSpPr>
        <p:spPr>
          <a:xfrm>
            <a:off x="5157978" y="6901178"/>
            <a:ext cx="6619120" cy="1366011"/>
          </a:xfrm>
          <a:prstGeom prst="rect">
            <a:avLst/>
          </a:prstGeom>
          <a:noFill/>
        </p:spPr>
        <p:txBody>
          <a:bodyPr wrap="none" lIns="0" tIns="0" rIns="0" bIns="0">
            <a:noAutofit/>
          </a:bodyPr>
          <a:lstStyle/>
          <a:p>
            <a:pPr algn="l">
              <a:lnSpc>
                <a:spcPts val="2800"/>
              </a:lnSpc>
            </a:pPr>
            <a:r>
              <a:rPr sz="2000" dirty="0">
                <a:solidFill>
                  <a:srgbClr val="FFFFFF"/>
                </a:solidFill>
                <a:latin typeface="Helvetica Neue Light"/>
              </a:rPr>
              <a:t>What we learned in testing</a:t>
            </a:r>
          </a:p>
          <a:p>
            <a:pPr algn="l">
              <a:lnSpc>
                <a:spcPts val="2800"/>
              </a:lnSpc>
            </a:pPr>
            <a:r>
              <a:rPr sz="2000" dirty="0">
                <a:solidFill>
                  <a:srgbClr val="FFFFFF"/>
                </a:solidFill>
                <a:latin typeface="Helvetica Neue Thin"/>
              </a:rPr>
              <a:t>• Tabs vs. list view: people preferred “list view”</a:t>
            </a:r>
          </a:p>
          <a:p>
            <a:pPr algn="l">
              <a:lnSpc>
                <a:spcPts val="2800"/>
              </a:lnSpc>
            </a:pPr>
            <a:r>
              <a:rPr sz="2000" dirty="0">
                <a:solidFill>
                  <a:srgbClr val="FFFFFF"/>
                </a:solidFill>
                <a:latin typeface="Helvetica Neue Thin"/>
              </a:rPr>
              <a:t>• The icon position next to “Action” scored high</a:t>
            </a:r>
          </a:p>
          <a:p>
            <a:pPr algn="l">
              <a:lnSpc>
                <a:spcPts val="2800"/>
              </a:lnSpc>
            </a:pPr>
            <a:r>
              <a:rPr sz="2000" dirty="0">
                <a:solidFill>
                  <a:srgbClr val="FFFFFF"/>
                </a:solidFill>
                <a:latin typeface="Helvetica Neue Thin"/>
              </a:rPr>
              <a:t>• Conditional appearance of Quantity and Order sheets </a:t>
            </a:r>
          </a:p>
        </p:txBody>
      </p:sp>
      <p:sp>
        <p:nvSpPr>
          <p:cNvPr id="12" name="TextBox 11"/>
          <p:cNvSpPr txBox="1"/>
          <p:nvPr/>
        </p:nvSpPr>
        <p:spPr>
          <a:xfrm>
            <a:off x="5386578" y="8327135"/>
            <a:ext cx="2594296" cy="295655"/>
          </a:xfrm>
          <a:prstGeom prst="rect">
            <a:avLst/>
          </a:prstGeom>
          <a:noFill/>
        </p:spPr>
        <p:txBody>
          <a:bodyPr wrap="none" lIns="0" tIns="0" rIns="0" bIns="0">
            <a:noAutofit/>
          </a:bodyPr>
          <a:lstStyle/>
          <a:p>
            <a:pPr algn="l"/>
            <a:r>
              <a:rPr sz="2000" dirty="0">
                <a:solidFill>
                  <a:srgbClr val="FFFFFF"/>
                </a:solidFill>
                <a:latin typeface="Helvetica Neue Thin"/>
              </a:rPr>
              <a:t>makes sense to many</a:t>
            </a:r>
          </a:p>
        </p:txBody>
      </p:sp>
      <p:sp>
        <p:nvSpPr>
          <p:cNvPr id="13" name="TextBox 12"/>
          <p:cNvSpPr txBox="1"/>
          <p:nvPr/>
        </p:nvSpPr>
        <p:spPr>
          <a:xfrm>
            <a:off x="939335" y="3913884"/>
            <a:ext cx="1148601" cy="216560"/>
          </a:xfrm>
          <a:prstGeom prst="rect">
            <a:avLst/>
          </a:prstGeom>
          <a:noFill/>
        </p:spPr>
        <p:txBody>
          <a:bodyPr wrap="none" lIns="0" tIns="0" rIns="0" bIns="0">
            <a:noAutofit/>
          </a:bodyPr>
          <a:lstStyle/>
          <a:p>
            <a:pPr algn="l"/>
            <a:r>
              <a:rPr sz="1400" dirty="0">
                <a:solidFill>
                  <a:srgbClr val="000000"/>
                </a:solidFill>
                <a:latin typeface="Helvetica Neue Light"/>
              </a:rPr>
              <a:t>Test version 1</a:t>
            </a:r>
          </a:p>
        </p:txBody>
      </p:sp>
      <p:sp>
        <p:nvSpPr>
          <p:cNvPr id="14" name="TextBox 13"/>
          <p:cNvSpPr txBox="1"/>
          <p:nvPr/>
        </p:nvSpPr>
        <p:spPr>
          <a:xfrm>
            <a:off x="457200" y="1716529"/>
            <a:ext cx="6011910" cy="278434"/>
          </a:xfrm>
          <a:prstGeom prst="rect">
            <a:avLst/>
          </a:prstGeom>
          <a:noFill/>
        </p:spPr>
        <p:txBody>
          <a:bodyPr wrap="none" lIns="0" tIns="0" rIns="0" bIns="0">
            <a:noAutofit/>
          </a:bodyPr>
          <a:lstStyle/>
          <a:p>
            <a:pPr algn="l"/>
            <a:r>
              <a:rPr sz="1800" dirty="0">
                <a:solidFill>
                  <a:srgbClr val="000000"/>
                </a:solidFill>
                <a:latin typeface="Helvetica Neue Light"/>
              </a:rPr>
              <a:t>We designed an interface that drove users to be allowed </a:t>
            </a:r>
          </a:p>
        </p:txBody>
      </p:sp>
      <p:sp>
        <p:nvSpPr>
          <p:cNvPr id="15" name="TextBox 14"/>
          <p:cNvSpPr txBox="1"/>
          <p:nvPr/>
        </p:nvSpPr>
        <p:spPr>
          <a:xfrm>
            <a:off x="457200" y="2161029"/>
            <a:ext cx="5695818" cy="278434"/>
          </a:xfrm>
          <a:prstGeom prst="rect">
            <a:avLst/>
          </a:prstGeom>
          <a:noFill/>
        </p:spPr>
        <p:txBody>
          <a:bodyPr wrap="none" lIns="0" tIns="0" rIns="0" bIns="0">
            <a:noAutofit/>
          </a:bodyPr>
          <a:lstStyle/>
          <a:p>
            <a:pPr algn="l"/>
            <a:r>
              <a:rPr sz="1800" dirty="0">
                <a:solidFill>
                  <a:srgbClr val="000000"/>
                </a:solidFill>
                <a:latin typeface="Helvetica Neue Light"/>
              </a:rPr>
              <a:t>to see all the variations or Order Types regardless of </a:t>
            </a:r>
          </a:p>
        </p:txBody>
      </p:sp>
      <p:sp>
        <p:nvSpPr>
          <p:cNvPr id="16" name="TextBox 15"/>
          <p:cNvSpPr txBox="1"/>
          <p:nvPr/>
        </p:nvSpPr>
        <p:spPr>
          <a:xfrm>
            <a:off x="457200" y="2605529"/>
            <a:ext cx="5808176" cy="278434"/>
          </a:xfrm>
          <a:prstGeom prst="rect">
            <a:avLst/>
          </a:prstGeom>
          <a:noFill/>
        </p:spPr>
        <p:txBody>
          <a:bodyPr wrap="none" lIns="0" tIns="0" rIns="0" bIns="0">
            <a:noAutofit/>
          </a:bodyPr>
          <a:lstStyle/>
          <a:p>
            <a:pPr algn="l"/>
            <a:r>
              <a:rPr sz="1800" dirty="0">
                <a:solidFill>
                  <a:srgbClr val="000000"/>
                </a:solidFill>
                <a:latin typeface="Helvetica Neue Light"/>
              </a:rPr>
              <a:t>shares vs. dollars. We tested 2 variations, one as a list </a:t>
            </a:r>
          </a:p>
        </p:txBody>
      </p:sp>
      <p:sp>
        <p:nvSpPr>
          <p:cNvPr id="17" name="TextBox 16"/>
          <p:cNvSpPr txBox="1"/>
          <p:nvPr/>
        </p:nvSpPr>
        <p:spPr>
          <a:xfrm>
            <a:off x="457200" y="3050030"/>
            <a:ext cx="3021356" cy="278434"/>
          </a:xfrm>
          <a:prstGeom prst="rect">
            <a:avLst/>
          </a:prstGeom>
          <a:noFill/>
        </p:spPr>
        <p:txBody>
          <a:bodyPr wrap="none" lIns="0" tIns="0" rIns="0" bIns="0">
            <a:noAutofit/>
          </a:bodyPr>
          <a:lstStyle/>
          <a:p>
            <a:pPr algn="l"/>
            <a:r>
              <a:rPr sz="1800" dirty="0">
                <a:solidFill>
                  <a:srgbClr val="000000"/>
                </a:solidFill>
                <a:latin typeface="Helvetica Neue Light"/>
              </a:rPr>
              <a:t>view and another with tabs. </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5615495" y="2308797"/>
            <a:ext cx="3440951" cy="7444802"/>
          </a:xfrm>
          <a:prstGeom prst="rect">
            <a:avLst/>
          </a:prstGeom>
        </p:spPr>
      </p:pic>
      <p:pic>
        <p:nvPicPr>
          <p:cNvPr id="4" name="Picture 2" descr="image.png"/>
          <p:cNvPicPr>
            <a:picLocks noChangeAspect="1"/>
          </p:cNvPicPr>
          <p:nvPr/>
        </p:nvPicPr>
        <p:blipFill>
          <a:blip r:embed="rId4"/>
          <a:stretch>
            <a:fillRect/>
          </a:stretch>
        </p:blipFill>
        <p:spPr>
          <a:xfrm>
            <a:off x="9171499" y="1145184"/>
            <a:ext cx="3446802" cy="7470743"/>
          </a:xfrm>
          <a:prstGeom prst="rect">
            <a:avLst/>
          </a:prstGeom>
        </p:spPr>
      </p:pic>
      <p:sp>
        <p:nvSpPr>
          <p:cNvPr id="5" name="TextBox 4"/>
          <p:cNvSpPr txBox="1"/>
          <p:nvPr/>
        </p:nvSpPr>
        <p:spPr>
          <a:xfrm>
            <a:off x="3602362" y="8594002"/>
            <a:ext cx="1971423" cy="216560"/>
          </a:xfrm>
          <a:prstGeom prst="rect">
            <a:avLst/>
          </a:prstGeom>
          <a:noFill/>
        </p:spPr>
        <p:txBody>
          <a:bodyPr wrap="none" lIns="0" tIns="0" rIns="0" bIns="0">
            <a:noAutofit/>
          </a:bodyPr>
          <a:lstStyle/>
          <a:p>
            <a:pPr algn="l"/>
            <a:r>
              <a:rPr sz="1400" dirty="0">
                <a:solidFill>
                  <a:srgbClr val="000000"/>
                </a:solidFill>
                <a:latin typeface="Helvetica Neue Light"/>
              </a:rPr>
              <a:t>Final delivered solution</a:t>
            </a:r>
          </a:p>
        </p:txBody>
      </p:sp>
      <p:sp>
        <p:nvSpPr>
          <p:cNvPr id="6" name="TextBox 5"/>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Integrated Trade Ticket </a:t>
            </a:r>
          </a:p>
        </p:txBody>
      </p:sp>
      <p:sp>
        <p:nvSpPr>
          <p:cNvPr id="7" name="TextBox 6"/>
          <p:cNvSpPr txBox="1"/>
          <p:nvPr/>
        </p:nvSpPr>
        <p:spPr>
          <a:xfrm>
            <a:off x="457200" y="939800"/>
            <a:ext cx="6879589" cy="476250"/>
          </a:xfrm>
          <a:prstGeom prst="rect">
            <a:avLst/>
          </a:prstGeom>
          <a:noFill/>
        </p:spPr>
        <p:txBody>
          <a:bodyPr wrap="none" lIns="0" tIns="0" rIns="0" bIns="0">
            <a:noAutofit/>
          </a:bodyPr>
          <a:lstStyle/>
          <a:p>
            <a:pPr algn="l"/>
            <a:r>
              <a:rPr sz="3000" dirty="0">
                <a:solidFill>
                  <a:srgbClr val="1F1F1F"/>
                </a:solidFill>
                <a:latin typeface="Helvetica Neue Light"/>
              </a:rPr>
              <a:t>Trade Ticket Experience Design Sprint</a:t>
            </a:r>
          </a:p>
        </p:txBody>
      </p:sp>
      <p:sp>
        <p:nvSpPr>
          <p:cNvPr id="8" name="TextBox 7"/>
          <p:cNvSpPr txBox="1"/>
          <p:nvPr/>
        </p:nvSpPr>
        <p:spPr>
          <a:xfrm>
            <a:off x="1057349" y="4962522"/>
            <a:ext cx="4081779" cy="2737611"/>
          </a:xfrm>
          <a:prstGeom prst="rect">
            <a:avLst/>
          </a:prstGeom>
          <a:noFill/>
        </p:spPr>
        <p:txBody>
          <a:bodyPr wrap="square" lIns="0" tIns="0" rIns="0" bIns="0">
            <a:noAutofit/>
          </a:bodyPr>
          <a:lstStyle/>
          <a:p>
            <a:pPr algn="l">
              <a:lnSpc>
                <a:spcPts val="2400"/>
              </a:lnSpc>
            </a:pPr>
            <a:r>
              <a:rPr sz="2000" dirty="0">
                <a:solidFill>
                  <a:srgbClr val="FFFFFF"/>
                </a:solidFill>
                <a:latin typeface="Helvetica Neue Light"/>
              </a:rPr>
              <a:t>What we learned in the testing</a:t>
            </a:r>
          </a:p>
          <a:p>
            <a:pPr algn="l">
              <a:lnSpc>
                <a:spcPts val="2400"/>
              </a:lnSpc>
            </a:pPr>
            <a:r>
              <a:rPr sz="2000" dirty="0">
                <a:solidFill>
                  <a:srgbClr val="FFFFFF"/>
                </a:solidFill>
                <a:latin typeface="Helvetica Neue Thin"/>
              </a:rPr>
              <a:t>• Order types are variable</a:t>
            </a:r>
          </a:p>
          <a:p>
            <a:pPr algn="l">
              <a:lnSpc>
                <a:spcPts val="2400"/>
              </a:lnSpc>
            </a:pPr>
            <a:r>
              <a:rPr sz="2000" dirty="0">
                <a:solidFill>
                  <a:srgbClr val="FFFFFF"/>
                </a:solidFill>
                <a:latin typeface="Helvetica Neue Thin"/>
              </a:rPr>
              <a:t>• Change of color and status give users idea of change in status and process</a:t>
            </a:r>
          </a:p>
        </p:txBody>
      </p:sp>
      <p:sp>
        <p:nvSpPr>
          <p:cNvPr id="9" name="TextBox 8"/>
          <p:cNvSpPr txBox="1"/>
          <p:nvPr/>
        </p:nvSpPr>
        <p:spPr>
          <a:xfrm>
            <a:off x="1057349" y="6490078"/>
            <a:ext cx="3801155" cy="1819655"/>
          </a:xfrm>
          <a:prstGeom prst="rect">
            <a:avLst/>
          </a:prstGeom>
          <a:noFill/>
        </p:spPr>
        <p:txBody>
          <a:bodyPr wrap="square" lIns="0" tIns="0" rIns="0" bIns="0">
            <a:noAutofit/>
          </a:bodyPr>
          <a:lstStyle/>
          <a:p>
            <a:pPr algn="l">
              <a:lnSpc>
                <a:spcPts val="2400"/>
              </a:lnSpc>
            </a:pPr>
            <a:r>
              <a:rPr sz="2000" dirty="0">
                <a:solidFill>
                  <a:srgbClr val="FFFFFF"/>
                </a:solidFill>
                <a:latin typeface="Helvetica Neue Thin"/>
              </a:rPr>
              <a:t>• Status immediacy is vital</a:t>
            </a:r>
          </a:p>
          <a:p>
            <a:pPr algn="l">
              <a:lnSpc>
                <a:spcPts val="2400"/>
              </a:lnSpc>
            </a:pPr>
            <a:r>
              <a:rPr sz="2000" dirty="0">
                <a:solidFill>
                  <a:srgbClr val="FFFFFF"/>
                </a:solidFill>
                <a:latin typeface="Helvetica Neue Thin"/>
              </a:rPr>
              <a:t>• Cleaner interface </a:t>
            </a:r>
          </a:p>
          <a:p>
            <a:pPr algn="l">
              <a:lnSpc>
                <a:spcPts val="2400"/>
              </a:lnSpc>
            </a:pPr>
            <a:r>
              <a:rPr sz="2000" dirty="0">
                <a:solidFill>
                  <a:srgbClr val="FFFFFF"/>
                </a:solidFill>
                <a:latin typeface="Helvetica Neue Thin"/>
              </a:rPr>
              <a:t>• Ability to quickly transact</a:t>
            </a:r>
          </a:p>
          <a:p>
            <a:pPr algn="l">
              <a:lnSpc>
                <a:spcPts val="2400"/>
              </a:lnSpc>
            </a:pPr>
            <a:r>
              <a:rPr sz="2000" dirty="0">
                <a:solidFill>
                  <a:srgbClr val="FFFFFF"/>
                </a:solidFill>
                <a:latin typeface="Helvetica Neue Thin"/>
              </a:rPr>
              <a:t>• Watchlist alerts actionable</a:t>
            </a:r>
          </a:p>
        </p:txBody>
      </p:sp>
      <p:sp>
        <p:nvSpPr>
          <p:cNvPr id="10" name="TextBox 9"/>
          <p:cNvSpPr txBox="1"/>
          <p:nvPr/>
        </p:nvSpPr>
        <p:spPr>
          <a:xfrm>
            <a:off x="887804" y="2929379"/>
            <a:ext cx="4411260" cy="278434"/>
          </a:xfrm>
          <a:prstGeom prst="rect">
            <a:avLst/>
          </a:prstGeom>
          <a:noFill/>
        </p:spPr>
        <p:txBody>
          <a:bodyPr wrap="none" lIns="0" tIns="0" rIns="0" bIns="0">
            <a:noAutofit/>
          </a:bodyPr>
          <a:lstStyle/>
          <a:p>
            <a:pPr algn="l"/>
            <a:r>
              <a:rPr sz="1800" dirty="0">
                <a:solidFill>
                  <a:srgbClr val="000000"/>
                </a:solidFill>
                <a:latin typeface="Helvetica Neue Light"/>
              </a:rPr>
              <a:t>If a user needs to edit the order ticket all </a:t>
            </a:r>
          </a:p>
        </p:txBody>
      </p:sp>
      <p:sp>
        <p:nvSpPr>
          <p:cNvPr id="11" name="TextBox 10"/>
          <p:cNvSpPr txBox="1"/>
          <p:nvPr/>
        </p:nvSpPr>
        <p:spPr>
          <a:xfrm>
            <a:off x="887804" y="3373880"/>
            <a:ext cx="3635120" cy="278434"/>
          </a:xfrm>
          <a:prstGeom prst="rect">
            <a:avLst/>
          </a:prstGeom>
          <a:noFill/>
        </p:spPr>
        <p:txBody>
          <a:bodyPr wrap="none" lIns="0" tIns="0" rIns="0" bIns="0">
            <a:noAutofit/>
          </a:bodyPr>
          <a:lstStyle/>
          <a:p>
            <a:pPr algn="l"/>
            <a:r>
              <a:rPr sz="1800" dirty="0">
                <a:solidFill>
                  <a:srgbClr val="000000"/>
                </a:solidFill>
                <a:latin typeface="Helvetica Neue Light"/>
              </a:rPr>
              <a:t>the fields are available for editing.</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8065580" y="3386094"/>
            <a:ext cx="3581113" cy="6366423"/>
          </a:xfrm>
          <a:prstGeom prst="rect">
            <a:avLst/>
          </a:prstGeom>
        </p:spPr>
      </p:pic>
      <p:sp>
        <p:nvSpPr>
          <p:cNvPr id="4" name="TextBox 3"/>
          <p:cNvSpPr txBox="1"/>
          <p:nvPr/>
        </p:nvSpPr>
        <p:spPr>
          <a:xfrm>
            <a:off x="457200" y="738884"/>
            <a:ext cx="9479618" cy="216560"/>
          </a:xfrm>
          <a:prstGeom prst="rect">
            <a:avLst/>
          </a:prstGeom>
          <a:noFill/>
        </p:spPr>
        <p:txBody>
          <a:bodyPr wrap="none" lIns="0" tIns="0" rIns="0" bIns="0">
            <a:noAutofit/>
          </a:bodyPr>
          <a:lstStyle/>
          <a:p>
            <a:pPr algn="l"/>
            <a:r>
              <a:rPr sz="1400" dirty="0">
                <a:solidFill>
                  <a:srgbClr val="000000"/>
                </a:solidFill>
                <a:latin typeface="Helvetica Neue Light"/>
              </a:rPr>
              <a:t>End-to-end design process, including Design Thinking for a B2B small business management mobile application</a:t>
            </a:r>
          </a:p>
        </p:txBody>
      </p:sp>
      <p:sp>
        <p:nvSpPr>
          <p:cNvPr id="5" name="TextBox 4"/>
          <p:cNvSpPr txBox="1"/>
          <p:nvPr/>
        </p:nvSpPr>
        <p:spPr>
          <a:xfrm>
            <a:off x="457200" y="1357628"/>
            <a:ext cx="3382800" cy="742492"/>
          </a:xfrm>
          <a:prstGeom prst="rect">
            <a:avLst/>
          </a:prstGeom>
          <a:noFill/>
        </p:spPr>
        <p:txBody>
          <a:bodyPr wrap="none" lIns="0" tIns="0" rIns="0" bIns="0">
            <a:noAutofit/>
          </a:bodyPr>
          <a:lstStyle/>
          <a:p>
            <a:pPr algn="l"/>
            <a:r>
              <a:rPr sz="4800" dirty="0">
                <a:solidFill>
                  <a:srgbClr val="000000"/>
                </a:solidFill>
                <a:latin typeface="Helvetica Neue Light"/>
              </a:rPr>
              <a:t>Wells Fargo</a:t>
            </a:r>
          </a:p>
        </p:txBody>
      </p:sp>
      <p:sp>
        <p:nvSpPr>
          <p:cNvPr id="6" name="TextBox 5"/>
          <p:cNvSpPr txBox="1"/>
          <p:nvPr/>
        </p:nvSpPr>
        <p:spPr>
          <a:xfrm>
            <a:off x="457200" y="2336544"/>
            <a:ext cx="2955848" cy="371246"/>
          </a:xfrm>
          <a:prstGeom prst="rect">
            <a:avLst/>
          </a:prstGeom>
          <a:noFill/>
        </p:spPr>
        <p:txBody>
          <a:bodyPr wrap="none" lIns="0" tIns="0" rIns="0" bIns="0">
            <a:noAutofit/>
          </a:bodyPr>
          <a:lstStyle/>
          <a:p>
            <a:pPr algn="l"/>
            <a:r>
              <a:rPr sz="2400" dirty="0">
                <a:solidFill>
                  <a:srgbClr val="000000"/>
                </a:solidFill>
                <a:latin typeface="Helvetica Neue Light"/>
              </a:rPr>
              <a:t>mySMALLBUSINESS</a:t>
            </a:r>
          </a:p>
        </p:txBody>
      </p:sp>
      <p:sp>
        <p:nvSpPr>
          <p:cNvPr id="7" name="TextBox 6"/>
          <p:cNvSpPr txBox="1"/>
          <p:nvPr/>
        </p:nvSpPr>
        <p:spPr>
          <a:xfrm>
            <a:off x="457200" y="4323841"/>
            <a:ext cx="6376550" cy="1284273"/>
          </a:xfrm>
          <a:prstGeom prst="rect">
            <a:avLst/>
          </a:prstGeom>
          <a:noFill/>
        </p:spPr>
        <p:txBody>
          <a:bodyPr wrap="square" lIns="0" tIns="0" rIns="0" bIns="0">
            <a:noAutofit/>
          </a:bodyPr>
          <a:lstStyle/>
          <a:p>
            <a:pPr algn="l">
              <a:lnSpc>
                <a:spcPts val="3500"/>
              </a:lnSpc>
            </a:pPr>
            <a:r>
              <a:rPr sz="1800" dirty="0">
                <a:solidFill>
                  <a:srgbClr val="000000"/>
                </a:solidFill>
                <a:latin typeface="Helvetica Neue Light"/>
              </a:rPr>
              <a:t>Helping Wells Fargo small business owners save money by reducing inefficiency, educating themselves on optimizing their businesses and removing risk vulnerability in their operations</a:t>
            </a:r>
          </a:p>
        </p:txBody>
      </p:sp>
      <p:sp>
        <p:nvSpPr>
          <p:cNvPr id="10" name="TextBox 9"/>
          <p:cNvSpPr txBox="1"/>
          <p:nvPr/>
        </p:nvSpPr>
        <p:spPr>
          <a:xfrm>
            <a:off x="1800152" y="7044435"/>
            <a:ext cx="4123858" cy="600455"/>
          </a:xfrm>
          <a:prstGeom prst="rect">
            <a:avLst/>
          </a:prstGeom>
          <a:noFill/>
        </p:spPr>
        <p:txBody>
          <a:bodyPr wrap="square" lIns="0" tIns="0" rIns="0" bIns="0">
            <a:noAutofit/>
          </a:bodyPr>
          <a:lstStyle/>
          <a:p>
            <a:pPr algn="ctr">
              <a:lnSpc>
                <a:spcPts val="2400"/>
              </a:lnSpc>
            </a:pPr>
            <a:r>
              <a:rPr sz="2000" dirty="0">
                <a:solidFill>
                  <a:srgbClr val="000000"/>
                </a:solidFill>
                <a:latin typeface="Helvetica Neue Thin"/>
              </a:rPr>
              <a:t>“I have too much to do, and I’m on the road all the time, so a mobile app </a:t>
            </a:r>
          </a:p>
        </p:txBody>
      </p:sp>
      <p:sp>
        <p:nvSpPr>
          <p:cNvPr id="11" name="TextBox 10"/>
          <p:cNvSpPr txBox="1"/>
          <p:nvPr/>
        </p:nvSpPr>
        <p:spPr>
          <a:xfrm>
            <a:off x="2722637" y="7654035"/>
            <a:ext cx="2511999" cy="295655"/>
          </a:xfrm>
          <a:prstGeom prst="rect">
            <a:avLst/>
          </a:prstGeom>
          <a:noFill/>
        </p:spPr>
        <p:txBody>
          <a:bodyPr wrap="none" lIns="0" tIns="0" rIns="0" bIns="0">
            <a:noAutofit/>
          </a:bodyPr>
          <a:lstStyle/>
          <a:p>
            <a:pPr algn="l"/>
            <a:r>
              <a:rPr sz="2000" dirty="0">
                <a:solidFill>
                  <a:srgbClr val="000000"/>
                </a:solidFill>
                <a:latin typeface="Helvetica Neue Thin"/>
              </a:rPr>
              <a:t>would be awesome” </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660400"/>
            <a:ext cx="10160000" cy="228600"/>
          </a:xfrm>
          <a:prstGeom prst="rect">
            <a:avLst/>
          </a:prstGeom>
          <a:noFill/>
        </p:spPr>
        <p:txBody>
          <a:bodyPr wrap="none" lIns="0" tIns="0" rIns="0" bIns="0">
            <a:noAutofit/>
          </a:bodyPr>
          <a:lstStyle/>
          <a:p>
            <a:pPr algn="l"/>
            <a:r>
              <a:rPr sz="1400" dirty="0">
                <a:solidFill>
                  <a:srgbClr val="1F1F1F"/>
                </a:solidFill>
                <a:latin typeface="Helvetica Neue"/>
              </a:rPr>
              <a:t>Introduction   Wells Fargo mySMALLBUSINESS</a:t>
            </a:r>
          </a:p>
        </p:txBody>
      </p:sp>
      <p:sp>
        <p:nvSpPr>
          <p:cNvPr id="4" name="TextBox 3"/>
          <p:cNvSpPr txBox="1"/>
          <p:nvPr/>
        </p:nvSpPr>
        <p:spPr>
          <a:xfrm>
            <a:off x="457200" y="5570980"/>
            <a:ext cx="1592368" cy="278434"/>
          </a:xfrm>
          <a:prstGeom prst="rect">
            <a:avLst/>
          </a:prstGeom>
          <a:noFill/>
        </p:spPr>
        <p:txBody>
          <a:bodyPr wrap="none" lIns="0" tIns="0" rIns="0" bIns="0">
            <a:noAutofit/>
          </a:bodyPr>
          <a:lstStyle/>
          <a:p>
            <a:pPr algn="l"/>
            <a:r>
              <a:rPr sz="1800" dirty="0">
                <a:solidFill>
                  <a:srgbClr val="000000"/>
                </a:solidFill>
                <a:latin typeface="Helvetica Neue Light"/>
              </a:rPr>
              <a:t>The problems </a:t>
            </a:r>
          </a:p>
        </p:txBody>
      </p:sp>
      <p:sp>
        <p:nvSpPr>
          <p:cNvPr id="5" name="TextBox 4"/>
          <p:cNvSpPr txBox="1"/>
          <p:nvPr/>
        </p:nvSpPr>
        <p:spPr>
          <a:xfrm>
            <a:off x="457200" y="5886753"/>
            <a:ext cx="6594971" cy="1434388"/>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Small business owners who are also bank customers don’t have a dedicated integrated mobile application to better understand their business finances. They need to account for their spending, track business expenses, set budgetary plans and goals, and view their quarterly budgets. </a:t>
            </a:r>
          </a:p>
        </p:txBody>
      </p:sp>
      <p:sp>
        <p:nvSpPr>
          <p:cNvPr id="9" name="TextBox 8"/>
          <p:cNvSpPr txBox="1"/>
          <p:nvPr/>
        </p:nvSpPr>
        <p:spPr>
          <a:xfrm>
            <a:off x="457200" y="2795776"/>
            <a:ext cx="3652210" cy="340309"/>
          </a:xfrm>
          <a:prstGeom prst="rect">
            <a:avLst/>
          </a:prstGeom>
          <a:noFill/>
        </p:spPr>
        <p:txBody>
          <a:bodyPr wrap="none" lIns="0" tIns="0" rIns="0" bIns="0">
            <a:noAutofit/>
          </a:bodyPr>
          <a:lstStyle/>
          <a:p>
            <a:pPr algn="l"/>
            <a:r>
              <a:rPr sz="2200" dirty="0">
                <a:solidFill>
                  <a:srgbClr val="000000"/>
                </a:solidFill>
                <a:latin typeface="Helvetica Neue Light"/>
              </a:rPr>
              <a:t>What’s mySMALLBUSINESS?</a:t>
            </a:r>
          </a:p>
        </p:txBody>
      </p:sp>
      <p:sp>
        <p:nvSpPr>
          <p:cNvPr id="10" name="TextBox 9"/>
          <p:cNvSpPr txBox="1"/>
          <p:nvPr/>
        </p:nvSpPr>
        <p:spPr>
          <a:xfrm>
            <a:off x="457200" y="3168140"/>
            <a:ext cx="6302890" cy="1982215"/>
          </a:xfrm>
          <a:prstGeom prst="rect">
            <a:avLst/>
          </a:prstGeom>
          <a:noFill/>
        </p:spPr>
        <p:txBody>
          <a:bodyPr wrap="square" lIns="0" tIns="0" rIns="0" bIns="0">
            <a:noAutofit/>
          </a:bodyPr>
          <a:lstStyle/>
          <a:p>
            <a:pPr algn="l">
              <a:lnSpc>
                <a:spcPts val="3200"/>
              </a:lnSpc>
            </a:pPr>
            <a:r>
              <a:rPr sz="2000" dirty="0">
                <a:solidFill>
                  <a:srgbClr val="000000"/>
                </a:solidFill>
                <a:latin typeface="Helvetica Neue Thin"/>
              </a:rPr>
              <a:t>An AI-supported guidance-based application that allows small business owners to monitor and track spending and expenses, optimize business plans and if needed, be educated on the subject of small business finances and business operation. </a:t>
            </a:r>
          </a:p>
        </p:txBody>
      </p:sp>
      <p:sp>
        <p:nvSpPr>
          <p:cNvPr id="15" name="TextBox 14"/>
          <p:cNvSpPr txBox="1"/>
          <p:nvPr/>
        </p:nvSpPr>
        <p:spPr>
          <a:xfrm>
            <a:off x="8978900" y="2218179"/>
            <a:ext cx="1775064" cy="278434"/>
          </a:xfrm>
          <a:prstGeom prst="rect">
            <a:avLst/>
          </a:prstGeom>
          <a:noFill/>
        </p:spPr>
        <p:txBody>
          <a:bodyPr wrap="none" lIns="0" tIns="0" rIns="0" bIns="0">
            <a:noAutofit/>
          </a:bodyPr>
          <a:lstStyle/>
          <a:p>
            <a:pPr algn="l"/>
            <a:r>
              <a:rPr sz="1800" dirty="0">
                <a:solidFill>
                  <a:srgbClr val="FFFFFF"/>
                </a:solidFill>
                <a:latin typeface="Helvetica Neue Light"/>
              </a:rPr>
              <a:t>Target audience</a:t>
            </a:r>
          </a:p>
        </p:txBody>
      </p:sp>
      <p:sp>
        <p:nvSpPr>
          <p:cNvPr id="16" name="TextBox 15"/>
          <p:cNvSpPr txBox="1"/>
          <p:nvPr/>
        </p:nvSpPr>
        <p:spPr>
          <a:xfrm>
            <a:off x="8978900" y="2627779"/>
            <a:ext cx="1826410" cy="266090"/>
          </a:xfrm>
          <a:prstGeom prst="rect">
            <a:avLst/>
          </a:prstGeom>
          <a:noFill/>
        </p:spPr>
        <p:txBody>
          <a:bodyPr wrap="none" lIns="0" tIns="0" rIns="0" bIns="0">
            <a:noAutofit/>
          </a:bodyPr>
          <a:lstStyle/>
          <a:p>
            <a:pPr algn="l"/>
            <a:r>
              <a:rPr sz="1800" dirty="0">
                <a:solidFill>
                  <a:srgbClr val="FFFFFF"/>
                </a:solidFill>
                <a:latin typeface="Helvetica Neue Thin"/>
              </a:rPr>
              <a:t>•  Small Business </a:t>
            </a:r>
          </a:p>
        </p:txBody>
      </p:sp>
      <p:sp>
        <p:nvSpPr>
          <p:cNvPr id="17" name="TextBox 16"/>
          <p:cNvSpPr txBox="1"/>
          <p:nvPr/>
        </p:nvSpPr>
        <p:spPr>
          <a:xfrm>
            <a:off x="9120171" y="2907179"/>
            <a:ext cx="871703" cy="266090"/>
          </a:xfrm>
          <a:prstGeom prst="rect">
            <a:avLst/>
          </a:prstGeom>
          <a:noFill/>
        </p:spPr>
        <p:txBody>
          <a:bodyPr wrap="none" lIns="0" tIns="0" rIns="0" bIns="0">
            <a:noAutofit/>
          </a:bodyPr>
          <a:lstStyle/>
          <a:p>
            <a:pPr algn="l"/>
            <a:r>
              <a:rPr sz="1800" dirty="0">
                <a:solidFill>
                  <a:srgbClr val="FFFFFF"/>
                </a:solidFill>
                <a:latin typeface="Helvetica Neue Thin"/>
              </a:rPr>
              <a:t>Owners</a:t>
            </a:r>
          </a:p>
        </p:txBody>
      </p:sp>
      <p:sp>
        <p:nvSpPr>
          <p:cNvPr id="18" name="TextBox 17"/>
          <p:cNvSpPr txBox="1"/>
          <p:nvPr/>
        </p:nvSpPr>
        <p:spPr>
          <a:xfrm>
            <a:off x="8978900" y="3288181"/>
            <a:ext cx="1733585" cy="266090"/>
          </a:xfrm>
          <a:prstGeom prst="rect">
            <a:avLst/>
          </a:prstGeom>
          <a:noFill/>
        </p:spPr>
        <p:txBody>
          <a:bodyPr wrap="none" lIns="0" tIns="0" rIns="0" bIns="0">
            <a:noAutofit/>
          </a:bodyPr>
          <a:lstStyle/>
          <a:p>
            <a:pPr algn="l"/>
            <a:r>
              <a:rPr sz="1800" dirty="0">
                <a:solidFill>
                  <a:srgbClr val="FFFFFF"/>
                </a:solidFill>
                <a:latin typeface="Helvetica Neue Thin"/>
              </a:rPr>
              <a:t>•  Admin support</a:t>
            </a:r>
          </a:p>
        </p:txBody>
      </p:sp>
      <p:sp>
        <p:nvSpPr>
          <p:cNvPr id="19" name="TextBox 18"/>
          <p:cNvSpPr txBox="1"/>
          <p:nvPr/>
        </p:nvSpPr>
        <p:spPr>
          <a:xfrm>
            <a:off x="7874001" y="5589775"/>
            <a:ext cx="807046" cy="247497"/>
          </a:xfrm>
          <a:prstGeom prst="rect">
            <a:avLst/>
          </a:prstGeom>
          <a:noFill/>
        </p:spPr>
        <p:txBody>
          <a:bodyPr wrap="none" lIns="0" tIns="0" rIns="0" bIns="0">
            <a:noAutofit/>
          </a:bodyPr>
          <a:lstStyle/>
          <a:p>
            <a:pPr algn="l"/>
            <a:r>
              <a:rPr sz="1600" dirty="0">
                <a:solidFill>
                  <a:srgbClr val="000000"/>
                </a:solidFill>
                <a:latin typeface="Helvetica Neue Light"/>
              </a:rPr>
              <a:t>My Role</a:t>
            </a:r>
          </a:p>
        </p:txBody>
      </p:sp>
      <p:sp>
        <p:nvSpPr>
          <p:cNvPr id="20" name="TextBox 19"/>
          <p:cNvSpPr txBox="1"/>
          <p:nvPr/>
        </p:nvSpPr>
        <p:spPr>
          <a:xfrm>
            <a:off x="7874001" y="5920432"/>
            <a:ext cx="4131784" cy="206959"/>
          </a:xfrm>
          <a:prstGeom prst="rect">
            <a:avLst/>
          </a:prstGeom>
          <a:noFill/>
        </p:spPr>
        <p:txBody>
          <a:bodyPr wrap="none" lIns="0" tIns="0" rIns="0" bIns="0">
            <a:noAutofit/>
          </a:bodyPr>
          <a:lstStyle/>
          <a:p>
            <a:pPr algn="l"/>
            <a:r>
              <a:rPr sz="1400" dirty="0">
                <a:solidFill>
                  <a:srgbClr val="000000"/>
                </a:solidFill>
                <a:latin typeface="Helvetica Neue Thin"/>
              </a:rPr>
              <a:t>• I led the project team utilizing the support of 2  </a:t>
            </a:r>
          </a:p>
        </p:txBody>
      </p:sp>
      <p:sp>
        <p:nvSpPr>
          <p:cNvPr id="21" name="TextBox 20"/>
          <p:cNvSpPr txBox="1"/>
          <p:nvPr/>
        </p:nvSpPr>
        <p:spPr>
          <a:xfrm>
            <a:off x="8102601" y="6225232"/>
            <a:ext cx="1201793" cy="206959"/>
          </a:xfrm>
          <a:prstGeom prst="rect">
            <a:avLst/>
          </a:prstGeom>
          <a:noFill/>
        </p:spPr>
        <p:txBody>
          <a:bodyPr wrap="none" lIns="0" tIns="0" rIns="0" bIns="0">
            <a:noAutofit/>
          </a:bodyPr>
          <a:lstStyle/>
          <a:p>
            <a:pPr algn="l"/>
            <a:r>
              <a:rPr sz="1400" dirty="0">
                <a:solidFill>
                  <a:srgbClr val="000000"/>
                </a:solidFill>
                <a:latin typeface="Helvetica Neue Thin"/>
              </a:rPr>
              <a:t>UX designers.</a:t>
            </a:r>
          </a:p>
        </p:txBody>
      </p:sp>
      <p:sp>
        <p:nvSpPr>
          <p:cNvPr id="22" name="TextBox 21"/>
          <p:cNvSpPr txBox="1"/>
          <p:nvPr/>
        </p:nvSpPr>
        <p:spPr>
          <a:xfrm>
            <a:off x="7874001" y="6530032"/>
            <a:ext cx="4776650" cy="206959"/>
          </a:xfrm>
          <a:prstGeom prst="rect">
            <a:avLst/>
          </a:prstGeom>
          <a:noFill/>
        </p:spPr>
        <p:txBody>
          <a:bodyPr wrap="none" lIns="0" tIns="0" rIns="0" bIns="0">
            <a:noAutofit/>
          </a:bodyPr>
          <a:lstStyle/>
          <a:p>
            <a:pPr algn="l"/>
            <a:r>
              <a:rPr sz="1400" dirty="0">
                <a:solidFill>
                  <a:srgbClr val="000000"/>
                </a:solidFill>
                <a:latin typeface="Helvetica Neue Thin"/>
              </a:rPr>
              <a:t>• I was responsible for managing the discovery process, </a:t>
            </a:r>
          </a:p>
        </p:txBody>
      </p:sp>
      <p:sp>
        <p:nvSpPr>
          <p:cNvPr id="23" name="TextBox 22"/>
          <p:cNvSpPr txBox="1"/>
          <p:nvPr/>
        </p:nvSpPr>
        <p:spPr>
          <a:xfrm>
            <a:off x="8102601" y="6834832"/>
            <a:ext cx="4715259" cy="206959"/>
          </a:xfrm>
          <a:prstGeom prst="rect">
            <a:avLst/>
          </a:prstGeom>
          <a:noFill/>
        </p:spPr>
        <p:txBody>
          <a:bodyPr wrap="none" lIns="0" tIns="0" rIns="0" bIns="0">
            <a:noAutofit/>
          </a:bodyPr>
          <a:lstStyle/>
          <a:p>
            <a:pPr algn="l"/>
            <a:r>
              <a:rPr sz="1400" dirty="0">
                <a:solidFill>
                  <a:srgbClr val="000000"/>
                </a:solidFill>
                <a:latin typeface="Helvetica Neue Thin"/>
              </a:rPr>
              <a:t>including research, strategy and overall hands-on design </a:t>
            </a:r>
          </a:p>
        </p:txBody>
      </p:sp>
      <p:sp>
        <p:nvSpPr>
          <p:cNvPr id="24" name="TextBox 23"/>
          <p:cNvSpPr txBox="1"/>
          <p:nvPr/>
        </p:nvSpPr>
        <p:spPr>
          <a:xfrm>
            <a:off x="8102601" y="7139632"/>
            <a:ext cx="2328011" cy="206959"/>
          </a:xfrm>
          <a:prstGeom prst="rect">
            <a:avLst/>
          </a:prstGeom>
          <a:noFill/>
        </p:spPr>
        <p:txBody>
          <a:bodyPr wrap="none" lIns="0" tIns="0" rIns="0" bIns="0">
            <a:noAutofit/>
          </a:bodyPr>
          <a:lstStyle/>
          <a:p>
            <a:pPr algn="l"/>
            <a:r>
              <a:rPr sz="1400" dirty="0">
                <a:solidFill>
                  <a:srgbClr val="000000"/>
                </a:solidFill>
                <a:latin typeface="Helvetica Neue Thin"/>
              </a:rPr>
              <a:t>of the material and artifacts. </a:t>
            </a:r>
          </a:p>
        </p:txBody>
      </p:sp>
      <p:sp>
        <p:nvSpPr>
          <p:cNvPr id="25" name="TextBox 24"/>
          <p:cNvSpPr txBox="1"/>
          <p:nvPr/>
        </p:nvSpPr>
        <p:spPr>
          <a:xfrm>
            <a:off x="7874001" y="7444432"/>
            <a:ext cx="4754184" cy="206959"/>
          </a:xfrm>
          <a:prstGeom prst="rect">
            <a:avLst/>
          </a:prstGeom>
          <a:noFill/>
        </p:spPr>
        <p:txBody>
          <a:bodyPr wrap="none" lIns="0" tIns="0" rIns="0" bIns="0">
            <a:noAutofit/>
          </a:bodyPr>
          <a:lstStyle/>
          <a:p>
            <a:pPr algn="l"/>
            <a:r>
              <a:rPr sz="1400" dirty="0">
                <a:solidFill>
                  <a:srgbClr val="000000"/>
                </a:solidFill>
                <a:latin typeface="Helvetica Neue Thin"/>
              </a:rPr>
              <a:t>• I led the work on all deliverables and artifacts in Figma </a:t>
            </a:r>
          </a:p>
        </p:txBody>
      </p:sp>
      <p:sp>
        <p:nvSpPr>
          <p:cNvPr id="26" name="TextBox 25"/>
          <p:cNvSpPr txBox="1"/>
          <p:nvPr/>
        </p:nvSpPr>
        <p:spPr>
          <a:xfrm>
            <a:off x="8102601" y="7749232"/>
            <a:ext cx="4621362" cy="206959"/>
          </a:xfrm>
          <a:prstGeom prst="rect">
            <a:avLst/>
          </a:prstGeom>
          <a:noFill/>
        </p:spPr>
        <p:txBody>
          <a:bodyPr wrap="none" lIns="0" tIns="0" rIns="0" bIns="0">
            <a:noAutofit/>
          </a:bodyPr>
          <a:lstStyle/>
          <a:p>
            <a:pPr algn="l"/>
            <a:r>
              <a:rPr sz="1400" dirty="0">
                <a:solidFill>
                  <a:srgbClr val="000000"/>
                </a:solidFill>
                <a:latin typeface="Helvetica Neue Thin"/>
              </a:rPr>
              <a:t>using Lean UX and usability testing, presenting these to </a:t>
            </a:r>
          </a:p>
        </p:txBody>
      </p:sp>
      <p:sp>
        <p:nvSpPr>
          <p:cNvPr id="27" name="TextBox 26"/>
          <p:cNvSpPr txBox="1"/>
          <p:nvPr/>
        </p:nvSpPr>
        <p:spPr>
          <a:xfrm>
            <a:off x="8102601" y="8054032"/>
            <a:ext cx="2640630" cy="206959"/>
          </a:xfrm>
          <a:prstGeom prst="rect">
            <a:avLst/>
          </a:prstGeom>
          <a:noFill/>
        </p:spPr>
        <p:txBody>
          <a:bodyPr wrap="none" lIns="0" tIns="0" rIns="0" bIns="0">
            <a:noAutofit/>
          </a:bodyPr>
          <a:lstStyle/>
          <a:p>
            <a:pPr algn="l"/>
            <a:r>
              <a:rPr sz="1400" dirty="0">
                <a:solidFill>
                  <a:srgbClr val="000000"/>
                </a:solidFill>
                <a:latin typeface="Helvetica Neue Thin"/>
              </a:rPr>
              <a:t>the client and key stakeholders.</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762000" y="633474"/>
            <a:ext cx="6534704" cy="371246"/>
          </a:xfrm>
          <a:prstGeom prst="rect">
            <a:avLst/>
          </a:prstGeom>
          <a:noFill/>
        </p:spPr>
        <p:txBody>
          <a:bodyPr wrap="none" lIns="0" tIns="0" rIns="0" bIns="0">
            <a:noAutofit/>
          </a:bodyPr>
          <a:lstStyle/>
          <a:p>
            <a:pPr algn="l"/>
            <a:r>
              <a:rPr sz="2400" dirty="0">
                <a:solidFill>
                  <a:srgbClr val="FFFFFF"/>
                </a:solidFill>
                <a:latin typeface="Helvetica Neue"/>
              </a:rPr>
              <a:t>How we worked with data scientists using AI </a:t>
            </a:r>
          </a:p>
        </p:txBody>
      </p:sp>
      <p:sp>
        <p:nvSpPr>
          <p:cNvPr id="4" name="TextBox 3"/>
          <p:cNvSpPr txBox="1"/>
          <p:nvPr/>
        </p:nvSpPr>
        <p:spPr>
          <a:xfrm>
            <a:off x="736600" y="1468879"/>
            <a:ext cx="4019524" cy="278434"/>
          </a:xfrm>
          <a:prstGeom prst="rect">
            <a:avLst/>
          </a:prstGeom>
          <a:noFill/>
        </p:spPr>
        <p:txBody>
          <a:bodyPr wrap="none" lIns="0" tIns="0" rIns="0" bIns="0">
            <a:noAutofit/>
          </a:bodyPr>
          <a:lstStyle/>
          <a:p>
            <a:pPr algn="l"/>
            <a:r>
              <a:rPr sz="1800" dirty="0">
                <a:solidFill>
                  <a:srgbClr val="FFFFFF"/>
                </a:solidFill>
                <a:latin typeface="Helvetica Neue"/>
              </a:rPr>
              <a:t>Identifying User Needs and Behavior</a:t>
            </a:r>
          </a:p>
        </p:txBody>
      </p:sp>
      <p:sp>
        <p:nvSpPr>
          <p:cNvPr id="5" name="TextBox 4"/>
          <p:cNvSpPr txBox="1"/>
          <p:nvPr/>
        </p:nvSpPr>
        <p:spPr>
          <a:xfrm>
            <a:off x="736600" y="1891179"/>
            <a:ext cx="5685944" cy="266090"/>
          </a:xfrm>
          <a:prstGeom prst="rect">
            <a:avLst/>
          </a:prstGeom>
          <a:noFill/>
        </p:spPr>
        <p:txBody>
          <a:bodyPr wrap="none" lIns="0" tIns="0" rIns="0" bIns="0">
            <a:noAutofit/>
          </a:bodyPr>
          <a:lstStyle/>
          <a:p>
            <a:pPr algn="l"/>
            <a:r>
              <a:rPr sz="1800" dirty="0">
                <a:solidFill>
                  <a:srgbClr val="FFFFFF"/>
                </a:solidFill>
                <a:latin typeface="Helvetica Neue Thin"/>
              </a:rPr>
              <a:t>• UX Designers: Used AI tools to analyze user behavior, </a:t>
            </a:r>
          </a:p>
        </p:txBody>
      </p:sp>
      <p:sp>
        <p:nvSpPr>
          <p:cNvPr id="6" name="TextBox 5"/>
          <p:cNvSpPr txBox="1"/>
          <p:nvPr/>
        </p:nvSpPr>
        <p:spPr>
          <a:xfrm>
            <a:off x="965200" y="2183279"/>
            <a:ext cx="5576591" cy="8502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preferences, and feedback. AI-driven sentiment analysis on user reviews provided insights into user satisfaction and pain points.</a:t>
            </a:r>
          </a:p>
        </p:txBody>
      </p:sp>
      <p:sp>
        <p:nvSpPr>
          <p:cNvPr id="7" name="TextBox 6"/>
          <p:cNvSpPr txBox="1"/>
          <p:nvPr/>
        </p:nvSpPr>
        <p:spPr>
          <a:xfrm>
            <a:off x="736600" y="3186581"/>
            <a:ext cx="6099801" cy="266090"/>
          </a:xfrm>
          <a:prstGeom prst="rect">
            <a:avLst/>
          </a:prstGeom>
          <a:noFill/>
        </p:spPr>
        <p:txBody>
          <a:bodyPr wrap="none" lIns="0" tIns="0" rIns="0" bIns="0">
            <a:noAutofit/>
          </a:bodyPr>
          <a:lstStyle/>
          <a:p>
            <a:pPr algn="l"/>
            <a:r>
              <a:rPr sz="1800" dirty="0">
                <a:solidFill>
                  <a:srgbClr val="FFFFFF"/>
                </a:solidFill>
                <a:latin typeface="Helvetica Neue Thin"/>
              </a:rPr>
              <a:t>• Data Scientists: Applied machine learning algorithms to </a:t>
            </a:r>
          </a:p>
        </p:txBody>
      </p:sp>
      <p:sp>
        <p:nvSpPr>
          <p:cNvPr id="8" name="TextBox 7"/>
          <p:cNvSpPr txBox="1"/>
          <p:nvPr/>
        </p:nvSpPr>
        <p:spPr>
          <a:xfrm>
            <a:off x="965200" y="3478681"/>
            <a:ext cx="5372489" cy="5581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analyze large datasets and uncover patterns or trends that informed UX design. </a:t>
            </a:r>
          </a:p>
        </p:txBody>
      </p:sp>
      <p:sp>
        <p:nvSpPr>
          <p:cNvPr id="9" name="TextBox 8"/>
          <p:cNvSpPr txBox="1"/>
          <p:nvPr/>
        </p:nvSpPr>
        <p:spPr>
          <a:xfrm>
            <a:off x="736600" y="4770880"/>
            <a:ext cx="3993082" cy="278434"/>
          </a:xfrm>
          <a:prstGeom prst="rect">
            <a:avLst/>
          </a:prstGeom>
          <a:noFill/>
        </p:spPr>
        <p:txBody>
          <a:bodyPr wrap="none" lIns="0" tIns="0" rIns="0" bIns="0">
            <a:noAutofit/>
          </a:bodyPr>
          <a:lstStyle/>
          <a:p>
            <a:pPr algn="l"/>
            <a:r>
              <a:rPr sz="1800" dirty="0">
                <a:solidFill>
                  <a:srgbClr val="FFFFFF"/>
                </a:solidFill>
                <a:latin typeface="Helvetica Neue"/>
              </a:rPr>
              <a:t>Designing Personalized Experiences</a:t>
            </a:r>
          </a:p>
        </p:txBody>
      </p:sp>
      <p:sp>
        <p:nvSpPr>
          <p:cNvPr id="10" name="TextBox 9"/>
          <p:cNvSpPr txBox="1"/>
          <p:nvPr/>
        </p:nvSpPr>
        <p:spPr>
          <a:xfrm>
            <a:off x="736600" y="5193181"/>
            <a:ext cx="5934116" cy="266090"/>
          </a:xfrm>
          <a:prstGeom prst="rect">
            <a:avLst/>
          </a:prstGeom>
          <a:noFill/>
        </p:spPr>
        <p:txBody>
          <a:bodyPr wrap="none" lIns="0" tIns="0" rIns="0" bIns="0">
            <a:noAutofit/>
          </a:bodyPr>
          <a:lstStyle/>
          <a:p>
            <a:pPr algn="l"/>
            <a:r>
              <a:rPr sz="1800" dirty="0">
                <a:solidFill>
                  <a:srgbClr val="FFFFFF"/>
                </a:solidFill>
                <a:latin typeface="Helvetica Neue Thin"/>
              </a:rPr>
              <a:t>• UX Designers: Worked with AI to create personalized </a:t>
            </a:r>
          </a:p>
        </p:txBody>
      </p:sp>
      <p:sp>
        <p:nvSpPr>
          <p:cNvPr id="11" name="TextBox 10"/>
          <p:cNvSpPr txBox="1"/>
          <p:nvPr/>
        </p:nvSpPr>
        <p:spPr>
          <a:xfrm>
            <a:off x="965200" y="5485281"/>
            <a:ext cx="5377567" cy="8502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user experiences. Used AI to tailor content, </a:t>
            </a:r>
          </a:p>
          <a:p>
            <a:pPr algn="l">
              <a:lnSpc>
                <a:spcPts val="2300"/>
              </a:lnSpc>
            </a:pPr>
            <a:r>
              <a:rPr sz="1800" dirty="0">
                <a:solidFill>
                  <a:srgbClr val="FFFFFF"/>
                </a:solidFill>
                <a:latin typeface="Helvetica Neue Thin"/>
              </a:rPr>
              <a:t>recommendations, interfaces based on individual user preferences.</a:t>
            </a:r>
          </a:p>
        </p:txBody>
      </p:sp>
      <p:sp>
        <p:nvSpPr>
          <p:cNvPr id="12" name="TextBox 11"/>
          <p:cNvSpPr txBox="1"/>
          <p:nvPr/>
        </p:nvSpPr>
        <p:spPr>
          <a:xfrm>
            <a:off x="736600" y="6488581"/>
            <a:ext cx="5682562" cy="266090"/>
          </a:xfrm>
          <a:prstGeom prst="rect">
            <a:avLst/>
          </a:prstGeom>
          <a:noFill/>
        </p:spPr>
        <p:txBody>
          <a:bodyPr wrap="none" lIns="0" tIns="0" rIns="0" bIns="0">
            <a:noAutofit/>
          </a:bodyPr>
          <a:lstStyle/>
          <a:p>
            <a:pPr algn="l"/>
            <a:r>
              <a:rPr sz="1800" dirty="0">
                <a:solidFill>
                  <a:srgbClr val="FFFFFF"/>
                </a:solidFill>
                <a:latin typeface="Helvetica Neue Thin"/>
              </a:rPr>
              <a:t>• Data Scientists: Developed personalization models </a:t>
            </a:r>
          </a:p>
        </p:txBody>
      </p:sp>
      <p:sp>
        <p:nvSpPr>
          <p:cNvPr id="13" name="TextBox 12"/>
          <p:cNvSpPr txBox="1"/>
          <p:nvPr/>
        </p:nvSpPr>
        <p:spPr>
          <a:xfrm>
            <a:off x="965200" y="6780681"/>
            <a:ext cx="5294911" cy="850289"/>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that feed into UX design. They provided the data and insights necessary for creating these personalized experiences. </a:t>
            </a:r>
          </a:p>
        </p:txBody>
      </p:sp>
      <p:sp>
        <p:nvSpPr>
          <p:cNvPr id="14" name="TextBox 13"/>
          <p:cNvSpPr txBox="1"/>
          <p:nvPr/>
        </p:nvSpPr>
        <p:spPr>
          <a:xfrm>
            <a:off x="6692900" y="1468879"/>
            <a:ext cx="3180352" cy="278434"/>
          </a:xfrm>
          <a:prstGeom prst="rect">
            <a:avLst/>
          </a:prstGeom>
          <a:noFill/>
        </p:spPr>
        <p:txBody>
          <a:bodyPr wrap="none" lIns="0" tIns="0" rIns="0" bIns="0">
            <a:noAutofit/>
          </a:bodyPr>
          <a:lstStyle/>
          <a:p>
            <a:pPr algn="l"/>
            <a:r>
              <a:rPr sz="1800" dirty="0">
                <a:solidFill>
                  <a:srgbClr val="FFFFFF"/>
                </a:solidFill>
                <a:latin typeface="Helvetica Neue"/>
              </a:rPr>
              <a:t>Enhancing Data Visualization</a:t>
            </a:r>
          </a:p>
        </p:txBody>
      </p:sp>
      <p:sp>
        <p:nvSpPr>
          <p:cNvPr id="15" name="TextBox 14"/>
          <p:cNvSpPr txBox="1"/>
          <p:nvPr/>
        </p:nvSpPr>
        <p:spPr>
          <a:xfrm>
            <a:off x="6692900" y="1891179"/>
            <a:ext cx="5963275" cy="266090"/>
          </a:xfrm>
          <a:prstGeom prst="rect">
            <a:avLst/>
          </a:prstGeom>
          <a:noFill/>
        </p:spPr>
        <p:txBody>
          <a:bodyPr wrap="none" lIns="0" tIns="0" rIns="0" bIns="0">
            <a:noAutofit/>
          </a:bodyPr>
          <a:lstStyle/>
          <a:p>
            <a:pPr algn="l"/>
            <a:r>
              <a:rPr sz="1800" dirty="0">
                <a:solidFill>
                  <a:srgbClr val="FFFFFF"/>
                </a:solidFill>
                <a:latin typeface="Helvetica Neue Thin"/>
              </a:rPr>
              <a:t>• UX Designers: Focused on the usability and aesthetic </a:t>
            </a:r>
          </a:p>
        </p:txBody>
      </p:sp>
      <p:sp>
        <p:nvSpPr>
          <p:cNvPr id="16" name="TextBox 15"/>
          <p:cNvSpPr txBox="1"/>
          <p:nvPr/>
        </p:nvSpPr>
        <p:spPr>
          <a:xfrm>
            <a:off x="6921500" y="2183279"/>
            <a:ext cx="4924340" cy="5581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aspects of data visualizations, ensuring they were intuitive and engaging for users.</a:t>
            </a:r>
          </a:p>
        </p:txBody>
      </p:sp>
      <p:sp>
        <p:nvSpPr>
          <p:cNvPr id="17" name="TextBox 16"/>
          <p:cNvSpPr txBox="1"/>
          <p:nvPr/>
        </p:nvSpPr>
        <p:spPr>
          <a:xfrm>
            <a:off x="6692900" y="2894479"/>
            <a:ext cx="5534923" cy="266090"/>
          </a:xfrm>
          <a:prstGeom prst="rect">
            <a:avLst/>
          </a:prstGeom>
          <a:noFill/>
        </p:spPr>
        <p:txBody>
          <a:bodyPr wrap="none" lIns="0" tIns="0" rIns="0" bIns="0">
            <a:noAutofit/>
          </a:bodyPr>
          <a:lstStyle/>
          <a:p>
            <a:pPr algn="l"/>
            <a:r>
              <a:rPr sz="1800" dirty="0">
                <a:solidFill>
                  <a:srgbClr val="FFFFFF"/>
                </a:solidFill>
                <a:latin typeface="Helvetica Neue Thin"/>
              </a:rPr>
              <a:t>• Data Scientists: Used AI to generate dynamic and </a:t>
            </a:r>
          </a:p>
        </p:txBody>
      </p:sp>
      <p:sp>
        <p:nvSpPr>
          <p:cNvPr id="18" name="TextBox 17"/>
          <p:cNvSpPr txBox="1"/>
          <p:nvPr/>
        </p:nvSpPr>
        <p:spPr>
          <a:xfrm>
            <a:off x="6921500" y="3186581"/>
            <a:ext cx="2746535" cy="266090"/>
          </a:xfrm>
          <a:prstGeom prst="rect">
            <a:avLst/>
          </a:prstGeom>
          <a:noFill/>
        </p:spPr>
        <p:txBody>
          <a:bodyPr wrap="none" lIns="0" tIns="0" rIns="0" bIns="0">
            <a:noAutofit/>
          </a:bodyPr>
          <a:lstStyle/>
          <a:p>
            <a:pPr algn="l"/>
            <a:r>
              <a:rPr sz="1800" dirty="0">
                <a:solidFill>
                  <a:srgbClr val="FFFFFF"/>
                </a:solidFill>
                <a:latin typeface="Helvetica Neue Thin"/>
              </a:rPr>
              <a:t>interactive visualizations.  </a:t>
            </a:r>
          </a:p>
        </p:txBody>
      </p:sp>
      <p:sp>
        <p:nvSpPr>
          <p:cNvPr id="19" name="TextBox 18"/>
          <p:cNvSpPr txBox="1"/>
          <p:nvPr/>
        </p:nvSpPr>
        <p:spPr>
          <a:xfrm>
            <a:off x="6692900" y="4186680"/>
            <a:ext cx="3023578" cy="278434"/>
          </a:xfrm>
          <a:prstGeom prst="rect">
            <a:avLst/>
          </a:prstGeom>
          <a:noFill/>
        </p:spPr>
        <p:txBody>
          <a:bodyPr wrap="none" lIns="0" tIns="0" rIns="0" bIns="0">
            <a:noAutofit/>
          </a:bodyPr>
          <a:lstStyle/>
          <a:p>
            <a:pPr algn="l"/>
            <a:r>
              <a:rPr sz="1800" dirty="0">
                <a:solidFill>
                  <a:srgbClr val="FFFFFF"/>
                </a:solidFill>
                <a:latin typeface="Helvetica Neue"/>
              </a:rPr>
              <a:t>Improving User Interactions</a:t>
            </a:r>
          </a:p>
        </p:txBody>
      </p:sp>
      <p:sp>
        <p:nvSpPr>
          <p:cNvPr id="20" name="TextBox 19"/>
          <p:cNvSpPr txBox="1"/>
          <p:nvPr/>
        </p:nvSpPr>
        <p:spPr>
          <a:xfrm>
            <a:off x="6692900" y="4608981"/>
            <a:ext cx="6059067" cy="266090"/>
          </a:xfrm>
          <a:prstGeom prst="rect">
            <a:avLst/>
          </a:prstGeom>
          <a:noFill/>
        </p:spPr>
        <p:txBody>
          <a:bodyPr wrap="none" lIns="0" tIns="0" rIns="0" bIns="0">
            <a:noAutofit/>
          </a:bodyPr>
          <a:lstStyle/>
          <a:p>
            <a:pPr algn="l"/>
            <a:r>
              <a:rPr sz="1800" dirty="0">
                <a:solidFill>
                  <a:srgbClr val="FFFFFF"/>
                </a:solidFill>
                <a:latin typeface="Helvetica Neue Thin"/>
              </a:rPr>
              <a:t>• UX Designers: Implemented AI-driven virtual assistants </a:t>
            </a:r>
          </a:p>
        </p:txBody>
      </p:sp>
      <p:sp>
        <p:nvSpPr>
          <p:cNvPr id="21" name="TextBox 20"/>
          <p:cNvSpPr txBox="1"/>
          <p:nvPr/>
        </p:nvSpPr>
        <p:spPr>
          <a:xfrm>
            <a:off x="6921500" y="4901081"/>
            <a:ext cx="4471579" cy="266090"/>
          </a:xfrm>
          <a:prstGeom prst="rect">
            <a:avLst/>
          </a:prstGeom>
          <a:noFill/>
        </p:spPr>
        <p:txBody>
          <a:bodyPr wrap="none" lIns="0" tIns="0" rIns="0" bIns="0">
            <a:noAutofit/>
          </a:bodyPr>
          <a:lstStyle/>
          <a:p>
            <a:pPr algn="l"/>
            <a:r>
              <a:rPr sz="1800" dirty="0">
                <a:solidFill>
                  <a:srgbClr val="FFFFFF"/>
                </a:solidFill>
                <a:latin typeface="Helvetica Neue Thin"/>
              </a:rPr>
              <a:t>to enhance user interactions and support. </a:t>
            </a:r>
          </a:p>
        </p:txBody>
      </p:sp>
      <p:sp>
        <p:nvSpPr>
          <p:cNvPr id="22" name="TextBox 21"/>
          <p:cNvSpPr txBox="1"/>
          <p:nvPr/>
        </p:nvSpPr>
        <p:spPr>
          <a:xfrm>
            <a:off x="6692900" y="5320181"/>
            <a:ext cx="5892417" cy="266090"/>
          </a:xfrm>
          <a:prstGeom prst="rect">
            <a:avLst/>
          </a:prstGeom>
          <a:noFill/>
        </p:spPr>
        <p:txBody>
          <a:bodyPr wrap="none" lIns="0" tIns="0" rIns="0" bIns="0">
            <a:noAutofit/>
          </a:bodyPr>
          <a:lstStyle/>
          <a:p>
            <a:pPr algn="l"/>
            <a:r>
              <a:rPr sz="1800" dirty="0">
                <a:solidFill>
                  <a:srgbClr val="FFFFFF"/>
                </a:solidFill>
                <a:latin typeface="Helvetica Neue Thin"/>
              </a:rPr>
              <a:t>• Data Scientists: Developed and trained AI models for </a:t>
            </a:r>
          </a:p>
        </p:txBody>
      </p:sp>
      <p:sp>
        <p:nvSpPr>
          <p:cNvPr id="23" name="TextBox 22"/>
          <p:cNvSpPr txBox="1"/>
          <p:nvPr/>
        </p:nvSpPr>
        <p:spPr>
          <a:xfrm>
            <a:off x="6921500" y="5612281"/>
            <a:ext cx="4992222" cy="5581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natural language processing, and other interactive features.</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1168400" y="3032756"/>
            <a:ext cx="3729430" cy="618744"/>
          </a:xfrm>
          <a:prstGeom prst="rect">
            <a:avLst/>
          </a:prstGeom>
          <a:noFill/>
        </p:spPr>
        <p:txBody>
          <a:bodyPr wrap="none" lIns="0" tIns="0" rIns="0" bIns="0">
            <a:noAutofit/>
          </a:bodyPr>
          <a:lstStyle/>
          <a:p>
            <a:pPr algn="l"/>
            <a:r>
              <a:rPr sz="4000" dirty="0">
                <a:solidFill>
                  <a:srgbClr val="FFFFFF"/>
                </a:solidFill>
                <a:latin typeface="Helvetica Neue Light"/>
              </a:rPr>
              <a:t>Business goals </a:t>
            </a:r>
          </a:p>
        </p:txBody>
      </p:sp>
      <p:sp>
        <p:nvSpPr>
          <p:cNvPr id="4" name="TextBox 3"/>
          <p:cNvSpPr txBox="1"/>
          <p:nvPr/>
        </p:nvSpPr>
        <p:spPr>
          <a:xfrm>
            <a:off x="1168400" y="3633212"/>
            <a:ext cx="5349240" cy="4390135"/>
          </a:xfrm>
          <a:prstGeom prst="rect">
            <a:avLst/>
          </a:prstGeom>
          <a:noFill/>
        </p:spPr>
        <p:txBody>
          <a:bodyPr wrap="square" lIns="0" tIns="0" rIns="0" bIns="0">
            <a:noAutofit/>
          </a:bodyPr>
          <a:lstStyle/>
          <a:p>
            <a:pPr algn="l">
              <a:lnSpc>
                <a:spcPts val="3900"/>
              </a:lnSpc>
            </a:pPr>
            <a:r>
              <a:rPr sz="2000" dirty="0">
                <a:solidFill>
                  <a:srgbClr val="FFFFFF"/>
                </a:solidFill>
                <a:latin typeface="Helvetica Neue Thin"/>
              </a:rPr>
              <a:t>The small business application will see an increase in adoption, use, e</a:t>
            </a:r>
            <a:r>
              <a:rPr lang="en-US" sz="2000" dirty="0">
                <a:solidFill>
                  <a:srgbClr val="FFFFFF"/>
                </a:solidFill>
                <a:latin typeface="Helvetica Neue Thin"/>
              </a:rPr>
              <a:t>fficiency </a:t>
            </a:r>
            <a:r>
              <a:rPr sz="2000" dirty="0">
                <a:solidFill>
                  <a:srgbClr val="FFFFFF"/>
                </a:solidFill>
                <a:latin typeface="Helvetica Neue Thin"/>
              </a:rPr>
              <a:t>of users actions, speed in planning and setting goals, as well as the continual improvement in sales of Wells Fargo for Business products. The increase in usage, education regarding business budgetary planning, increase in sales of supplemental Wells Fargo for Business Products will all add to the net income for the company.</a:t>
            </a:r>
          </a:p>
        </p:txBody>
      </p:sp>
      <p:sp>
        <p:nvSpPr>
          <p:cNvPr id="13" name="TextBox 12"/>
          <p:cNvSpPr txBox="1"/>
          <p:nvPr/>
        </p:nvSpPr>
        <p:spPr>
          <a:xfrm>
            <a:off x="7518400" y="3043316"/>
            <a:ext cx="898418" cy="519807"/>
          </a:xfrm>
          <a:prstGeom prst="rect">
            <a:avLst/>
          </a:prstGeom>
          <a:noFill/>
        </p:spPr>
        <p:txBody>
          <a:bodyPr wrap="none" lIns="0" tIns="0" rIns="0" bIns="0">
            <a:noAutofit/>
          </a:bodyPr>
          <a:lstStyle/>
          <a:p>
            <a:pPr algn="l"/>
            <a:r>
              <a:rPr sz="3350" dirty="0">
                <a:solidFill>
                  <a:srgbClr val="FFFFFF"/>
                </a:solidFill>
                <a:latin typeface="Helvetica Neue Light"/>
              </a:rPr>
              <a:t>KPIs</a:t>
            </a:r>
          </a:p>
        </p:txBody>
      </p:sp>
      <p:sp>
        <p:nvSpPr>
          <p:cNvPr id="14" name="TextBox 13"/>
          <p:cNvSpPr txBox="1"/>
          <p:nvPr/>
        </p:nvSpPr>
        <p:spPr>
          <a:xfrm>
            <a:off x="7518400" y="3608112"/>
            <a:ext cx="1745529" cy="263456"/>
          </a:xfrm>
          <a:prstGeom prst="rect">
            <a:avLst/>
          </a:prstGeom>
          <a:noFill/>
        </p:spPr>
        <p:txBody>
          <a:bodyPr wrap="none" lIns="0" tIns="0" rIns="0" bIns="0">
            <a:noAutofit/>
          </a:bodyPr>
          <a:lstStyle/>
          <a:p>
            <a:pPr algn="l"/>
            <a:r>
              <a:rPr sz="1800" dirty="0">
                <a:solidFill>
                  <a:srgbClr val="FFFFFF"/>
                </a:solidFill>
                <a:latin typeface="Helvetica Neue Thin"/>
              </a:rPr>
              <a:t>• adoption rate </a:t>
            </a:r>
          </a:p>
        </p:txBody>
      </p:sp>
      <p:sp>
        <p:nvSpPr>
          <p:cNvPr id="15" name="TextBox 14"/>
          <p:cNvSpPr txBox="1"/>
          <p:nvPr/>
        </p:nvSpPr>
        <p:spPr>
          <a:xfrm>
            <a:off x="7518400" y="3985340"/>
            <a:ext cx="1505729" cy="263456"/>
          </a:xfrm>
          <a:prstGeom prst="rect">
            <a:avLst/>
          </a:prstGeom>
          <a:noFill/>
        </p:spPr>
        <p:txBody>
          <a:bodyPr wrap="none" lIns="0" tIns="0" rIns="0" bIns="0">
            <a:noAutofit/>
          </a:bodyPr>
          <a:lstStyle/>
          <a:p>
            <a:pPr algn="l"/>
            <a:r>
              <a:rPr sz="1800" dirty="0">
                <a:solidFill>
                  <a:srgbClr val="FFFFFF"/>
                </a:solidFill>
                <a:latin typeface="Helvetica Neue Thin"/>
              </a:rPr>
              <a:t>• usage time </a:t>
            </a:r>
          </a:p>
        </p:txBody>
      </p:sp>
      <p:sp>
        <p:nvSpPr>
          <p:cNvPr id="16" name="TextBox 15"/>
          <p:cNvSpPr txBox="1"/>
          <p:nvPr/>
        </p:nvSpPr>
        <p:spPr>
          <a:xfrm>
            <a:off x="7518400" y="4362567"/>
            <a:ext cx="4074344" cy="263456"/>
          </a:xfrm>
          <a:prstGeom prst="rect">
            <a:avLst/>
          </a:prstGeom>
          <a:noFill/>
        </p:spPr>
        <p:txBody>
          <a:bodyPr wrap="none" lIns="0" tIns="0" rIns="0" bIns="0">
            <a:noAutofit/>
          </a:bodyPr>
          <a:lstStyle/>
          <a:p>
            <a:pPr algn="l"/>
            <a:r>
              <a:rPr sz="1800" dirty="0">
                <a:solidFill>
                  <a:srgbClr val="FFFFFF"/>
                </a:solidFill>
                <a:latin typeface="Helvetica Neue Thin"/>
              </a:rPr>
              <a:t>• time on task especially primary tasks</a:t>
            </a:r>
          </a:p>
        </p:txBody>
      </p:sp>
      <p:sp>
        <p:nvSpPr>
          <p:cNvPr id="17" name="TextBox 16"/>
          <p:cNvSpPr txBox="1"/>
          <p:nvPr/>
        </p:nvSpPr>
        <p:spPr>
          <a:xfrm>
            <a:off x="7518400" y="4739795"/>
            <a:ext cx="3497701" cy="263456"/>
          </a:xfrm>
          <a:prstGeom prst="rect">
            <a:avLst/>
          </a:prstGeom>
          <a:noFill/>
        </p:spPr>
        <p:txBody>
          <a:bodyPr wrap="none" lIns="0" tIns="0" rIns="0" bIns="0">
            <a:noAutofit/>
          </a:bodyPr>
          <a:lstStyle/>
          <a:p>
            <a:pPr algn="l"/>
            <a:r>
              <a:rPr sz="1800" dirty="0">
                <a:solidFill>
                  <a:srgbClr val="FFFFFF"/>
                </a:solidFill>
                <a:latin typeface="Helvetica Neue Thin"/>
              </a:rPr>
              <a:t>• continual improvement in sales</a:t>
            </a:r>
          </a:p>
        </p:txBody>
      </p:sp>
      <p:sp>
        <p:nvSpPr>
          <p:cNvPr id="18" name="TextBox 17"/>
          <p:cNvSpPr txBox="1"/>
          <p:nvPr/>
        </p:nvSpPr>
        <p:spPr>
          <a:xfrm>
            <a:off x="7518400" y="5054002"/>
            <a:ext cx="4437260" cy="703704"/>
          </a:xfrm>
          <a:prstGeom prst="rect">
            <a:avLst/>
          </a:prstGeom>
          <a:noFill/>
        </p:spPr>
        <p:txBody>
          <a:bodyPr wrap="square" lIns="0" tIns="0" rIns="0" bIns="0">
            <a:noAutofit/>
          </a:bodyPr>
          <a:lstStyle/>
          <a:p>
            <a:pPr marL="226336" indent="-226336" algn="l">
              <a:lnSpc>
                <a:spcPts val="2970"/>
              </a:lnSpc>
            </a:pPr>
            <a:r>
              <a:rPr sz="1800" dirty="0">
                <a:solidFill>
                  <a:srgbClr val="FFFFFF"/>
                </a:solidFill>
                <a:latin typeface="Helvetica Neue Thin"/>
              </a:rPr>
              <a:t>•	increase in use of education regarding business budgetary planning </a:t>
            </a:r>
          </a:p>
        </p:txBody>
      </p:sp>
      <p:sp>
        <p:nvSpPr>
          <p:cNvPr id="20" name="TextBox 19"/>
          <p:cNvSpPr txBox="1"/>
          <p:nvPr/>
        </p:nvSpPr>
        <p:spPr>
          <a:xfrm>
            <a:off x="7518400" y="5808456"/>
            <a:ext cx="4707987" cy="1080933"/>
          </a:xfrm>
          <a:prstGeom prst="rect">
            <a:avLst/>
          </a:prstGeom>
          <a:noFill/>
        </p:spPr>
        <p:txBody>
          <a:bodyPr wrap="square" lIns="0" tIns="0" rIns="0" bIns="0">
            <a:noAutofit/>
          </a:bodyPr>
          <a:lstStyle/>
          <a:p>
            <a:pPr marL="226336" indent="-226336" algn="l">
              <a:lnSpc>
                <a:spcPts val="2970"/>
              </a:lnSpc>
            </a:pPr>
            <a:r>
              <a:rPr sz="1800" dirty="0">
                <a:solidFill>
                  <a:srgbClr val="FFFFFF"/>
                </a:solidFill>
                <a:latin typeface="Helvetica Neue Thin"/>
              </a:rPr>
              <a:t>•	increase in sales of supplemental Wells Fargo for Business Products will all add to the net income for the company.</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1536598" y="3393640"/>
            <a:ext cx="4358501" cy="2183586"/>
          </a:xfrm>
          <a:prstGeom prst="rect">
            <a:avLst/>
          </a:prstGeom>
          <a:noFill/>
        </p:spPr>
        <p:txBody>
          <a:bodyPr wrap="none" lIns="0" tIns="0" rIns="0" bIns="0">
            <a:noAutofit/>
          </a:bodyPr>
          <a:lstStyle/>
          <a:p>
            <a:pPr algn="l">
              <a:lnSpc>
                <a:spcPts val="3600"/>
              </a:lnSpc>
            </a:pPr>
            <a:r>
              <a:rPr sz="2400" dirty="0">
                <a:solidFill>
                  <a:srgbClr val="FFFFFF"/>
                </a:solidFill>
                <a:latin typeface="Helvetica Neue Thin"/>
              </a:rPr>
              <a:t>•  Interviews with external users</a:t>
            </a:r>
          </a:p>
          <a:p>
            <a:pPr marL="470001" algn="l">
              <a:lnSpc>
                <a:spcPts val="3600"/>
              </a:lnSpc>
            </a:pPr>
            <a:r>
              <a:rPr sz="2400" dirty="0">
                <a:solidFill>
                  <a:srgbClr val="FFFFFF"/>
                </a:solidFill>
                <a:latin typeface="Helvetica Neue Thin"/>
              </a:rPr>
              <a:t>• Small business owners </a:t>
            </a:r>
          </a:p>
          <a:p>
            <a:pPr marL="470001" algn="l">
              <a:lnSpc>
                <a:spcPts val="3600"/>
              </a:lnSpc>
            </a:pPr>
            <a:r>
              <a:rPr sz="2400" dirty="0">
                <a:solidFill>
                  <a:srgbClr val="FFFFFF"/>
                </a:solidFill>
                <a:latin typeface="Helvetica Neue Thin"/>
              </a:rPr>
              <a:t>• Support staff</a:t>
            </a:r>
          </a:p>
          <a:p>
            <a:pPr marL="12801" algn="l">
              <a:lnSpc>
                <a:spcPts val="3600"/>
              </a:lnSpc>
            </a:pPr>
            <a:r>
              <a:rPr sz="2400" dirty="0">
                <a:solidFill>
                  <a:srgbClr val="FFFFFF"/>
                </a:solidFill>
                <a:latin typeface="Helvetica Neue Thin"/>
              </a:rPr>
              <a:t>• Persona development</a:t>
            </a:r>
          </a:p>
          <a:p>
            <a:pPr marL="12801" algn="l">
              <a:lnSpc>
                <a:spcPts val="3600"/>
              </a:lnSpc>
            </a:pPr>
            <a:r>
              <a:rPr sz="2400" dirty="0">
                <a:solidFill>
                  <a:srgbClr val="FFFFFF"/>
                </a:solidFill>
                <a:latin typeface="Helvetica Neue Thin"/>
              </a:rPr>
              <a:t>• Design Thinking Exercises</a:t>
            </a:r>
          </a:p>
        </p:txBody>
      </p:sp>
      <p:sp>
        <p:nvSpPr>
          <p:cNvPr id="4" name="TextBox 3"/>
          <p:cNvSpPr txBox="1"/>
          <p:nvPr/>
        </p:nvSpPr>
        <p:spPr>
          <a:xfrm>
            <a:off x="6756400" y="3341249"/>
            <a:ext cx="2544269" cy="346187"/>
          </a:xfrm>
          <a:prstGeom prst="rect">
            <a:avLst/>
          </a:prstGeom>
          <a:noFill/>
        </p:spPr>
        <p:txBody>
          <a:bodyPr wrap="none" lIns="0" tIns="0" rIns="0" bIns="0">
            <a:noAutofit/>
          </a:bodyPr>
          <a:lstStyle/>
          <a:p>
            <a:pPr algn="l"/>
            <a:r>
              <a:rPr sz="2250" dirty="0">
                <a:solidFill>
                  <a:srgbClr val="FFFFFF"/>
                </a:solidFill>
                <a:latin typeface="Helvetica Neue Light"/>
              </a:rPr>
              <a:t>Problem statement</a:t>
            </a:r>
          </a:p>
        </p:txBody>
      </p:sp>
      <p:sp>
        <p:nvSpPr>
          <p:cNvPr id="5" name="TextBox 4"/>
          <p:cNvSpPr txBox="1"/>
          <p:nvPr/>
        </p:nvSpPr>
        <p:spPr>
          <a:xfrm>
            <a:off x="6756400" y="3737658"/>
            <a:ext cx="5965209" cy="2834009"/>
          </a:xfrm>
          <a:prstGeom prst="rect">
            <a:avLst/>
          </a:prstGeom>
          <a:noFill/>
        </p:spPr>
        <p:txBody>
          <a:bodyPr wrap="square" lIns="0" tIns="0" rIns="0" bIns="0">
            <a:noAutofit/>
          </a:bodyPr>
          <a:lstStyle/>
          <a:p>
            <a:pPr algn="l">
              <a:lnSpc>
                <a:spcPts val="3800"/>
              </a:lnSpc>
            </a:pPr>
            <a:r>
              <a:rPr sz="2250" dirty="0">
                <a:solidFill>
                  <a:srgbClr val="FFFFFF"/>
                </a:solidFill>
                <a:latin typeface="Helvetica Neue Thin"/>
              </a:rPr>
              <a:t>Small business owners don’t have a place to monitor their spending, track expenses, set budgetary goals, and view their current budget plans. They will achieve their goal of better understanding of their small business finances through use of this mobile application.</a:t>
            </a:r>
          </a:p>
        </p:txBody>
      </p:sp>
      <p:sp>
        <p:nvSpPr>
          <p:cNvPr id="11" name="TextBox 10"/>
          <p:cNvSpPr txBox="1"/>
          <p:nvPr/>
        </p:nvSpPr>
        <p:spPr>
          <a:xfrm>
            <a:off x="1219200" y="978150"/>
            <a:ext cx="2748682" cy="711555"/>
          </a:xfrm>
          <a:prstGeom prst="rect">
            <a:avLst/>
          </a:prstGeom>
          <a:noFill/>
        </p:spPr>
        <p:txBody>
          <a:bodyPr wrap="none" lIns="0" tIns="0" rIns="0" bIns="0">
            <a:noAutofit/>
          </a:bodyPr>
          <a:lstStyle/>
          <a:p>
            <a:pPr algn="l"/>
            <a:r>
              <a:rPr sz="4600" dirty="0">
                <a:solidFill>
                  <a:srgbClr val="FFFFFF"/>
                </a:solidFill>
                <a:latin typeface="Helvetica Neue Light"/>
              </a:rPr>
              <a:t>Discovery</a:t>
            </a:r>
          </a:p>
        </p:txBody>
      </p:sp>
      <p:sp>
        <p:nvSpPr>
          <p:cNvPr id="12" name="TextBox 11"/>
          <p:cNvSpPr txBox="1"/>
          <p:nvPr/>
        </p:nvSpPr>
        <p:spPr>
          <a:xfrm>
            <a:off x="5130800" y="608479"/>
            <a:ext cx="7358964" cy="1294790"/>
          </a:xfrm>
          <a:prstGeom prst="rect">
            <a:avLst/>
          </a:prstGeom>
          <a:noFill/>
        </p:spPr>
        <p:txBody>
          <a:bodyPr wrap="square" lIns="0" tIns="0" rIns="0" bIns="0">
            <a:noAutofit/>
          </a:bodyPr>
          <a:lstStyle/>
          <a:p>
            <a:pPr algn="l">
              <a:lnSpc>
                <a:spcPts val="2700"/>
              </a:lnSpc>
            </a:pPr>
            <a:r>
              <a:rPr sz="1800" dirty="0">
                <a:solidFill>
                  <a:srgbClr val="FFFFFF"/>
                </a:solidFill>
                <a:latin typeface="Helvetica Neue Thin"/>
              </a:rPr>
              <a:t>Because of the KPIs assembled, the assumptions of the business partners, and feedback from users based on help requests we determined we needed to use methods to identify user needs, explore new opportunities, validate existing assumptions, and generate new ideas.</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939800"/>
            <a:ext cx="7416800" cy="476250"/>
          </a:xfrm>
          <a:prstGeom prst="rect">
            <a:avLst/>
          </a:prstGeom>
          <a:noFill/>
        </p:spPr>
        <p:txBody>
          <a:bodyPr wrap="none" lIns="0" tIns="0" rIns="0" bIns="0">
            <a:noAutofit/>
          </a:bodyPr>
          <a:lstStyle/>
          <a:p>
            <a:pPr algn="l"/>
            <a:r>
              <a:rPr sz="3000" dirty="0">
                <a:solidFill>
                  <a:srgbClr val="1F1F1F"/>
                </a:solidFill>
                <a:latin typeface="Helvetica Neue Light"/>
              </a:rPr>
              <a:t>Pain points we heard from the interviews</a:t>
            </a:r>
          </a:p>
        </p:txBody>
      </p:sp>
      <p:sp>
        <p:nvSpPr>
          <p:cNvPr id="4" name="TextBox 3"/>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5" name="TextBox 4"/>
          <p:cNvSpPr txBox="1"/>
          <p:nvPr/>
        </p:nvSpPr>
        <p:spPr>
          <a:xfrm>
            <a:off x="812800" y="2100579"/>
            <a:ext cx="2691404" cy="309372"/>
          </a:xfrm>
          <a:prstGeom prst="rect">
            <a:avLst/>
          </a:prstGeom>
          <a:noFill/>
        </p:spPr>
        <p:txBody>
          <a:bodyPr wrap="none" lIns="0" tIns="0" rIns="0" bIns="0">
            <a:noAutofit/>
          </a:bodyPr>
          <a:lstStyle/>
          <a:p>
            <a:pPr algn="l"/>
            <a:r>
              <a:rPr sz="2000" dirty="0">
                <a:solidFill>
                  <a:srgbClr val="000000"/>
                </a:solidFill>
                <a:latin typeface="Helvetica Neue Light"/>
              </a:rPr>
              <a:t>1 Can’t track expenses</a:t>
            </a:r>
          </a:p>
        </p:txBody>
      </p:sp>
      <p:sp>
        <p:nvSpPr>
          <p:cNvPr id="6" name="TextBox 5"/>
          <p:cNvSpPr txBox="1"/>
          <p:nvPr/>
        </p:nvSpPr>
        <p:spPr>
          <a:xfrm>
            <a:off x="812800" y="2633979"/>
            <a:ext cx="3335782" cy="309372"/>
          </a:xfrm>
          <a:prstGeom prst="rect">
            <a:avLst/>
          </a:prstGeom>
          <a:noFill/>
        </p:spPr>
        <p:txBody>
          <a:bodyPr wrap="none" lIns="0" tIns="0" rIns="0" bIns="0">
            <a:noAutofit/>
          </a:bodyPr>
          <a:lstStyle/>
          <a:p>
            <a:pPr algn="l"/>
            <a:r>
              <a:rPr sz="2000" dirty="0">
                <a:solidFill>
                  <a:srgbClr val="000000"/>
                </a:solidFill>
                <a:latin typeface="Helvetica Neue Light"/>
              </a:rPr>
              <a:t>2 Limited planning methods</a:t>
            </a:r>
          </a:p>
        </p:txBody>
      </p:sp>
      <p:sp>
        <p:nvSpPr>
          <p:cNvPr id="7" name="TextBox 6"/>
          <p:cNvSpPr txBox="1"/>
          <p:nvPr/>
        </p:nvSpPr>
        <p:spPr>
          <a:xfrm>
            <a:off x="812800" y="3167378"/>
            <a:ext cx="6582057" cy="309371"/>
          </a:xfrm>
          <a:prstGeom prst="rect">
            <a:avLst/>
          </a:prstGeom>
          <a:noFill/>
        </p:spPr>
        <p:txBody>
          <a:bodyPr wrap="none" lIns="0" tIns="0" rIns="0" bIns="0">
            <a:noAutofit/>
          </a:bodyPr>
          <a:lstStyle/>
          <a:p>
            <a:pPr algn="l"/>
            <a:r>
              <a:rPr sz="2000" dirty="0">
                <a:solidFill>
                  <a:srgbClr val="000000"/>
                </a:solidFill>
                <a:latin typeface="Helvetica Neue Light"/>
              </a:rPr>
              <a:t>3 Need Photo Receipt and Check Capture functionality</a:t>
            </a:r>
          </a:p>
        </p:txBody>
      </p:sp>
      <p:sp>
        <p:nvSpPr>
          <p:cNvPr id="8" name="TextBox 7"/>
          <p:cNvSpPr txBox="1"/>
          <p:nvPr/>
        </p:nvSpPr>
        <p:spPr>
          <a:xfrm>
            <a:off x="812800" y="3700778"/>
            <a:ext cx="8588433" cy="309371"/>
          </a:xfrm>
          <a:prstGeom prst="rect">
            <a:avLst/>
          </a:prstGeom>
          <a:noFill/>
        </p:spPr>
        <p:txBody>
          <a:bodyPr wrap="none" lIns="0" tIns="0" rIns="0" bIns="0">
            <a:noAutofit/>
          </a:bodyPr>
          <a:lstStyle/>
          <a:p>
            <a:pPr algn="l"/>
            <a:r>
              <a:rPr sz="2000" dirty="0">
                <a:solidFill>
                  <a:srgbClr val="000000"/>
                </a:solidFill>
                <a:latin typeface="Helvetica Neue Light"/>
              </a:rPr>
              <a:t>4 Auto bill pay, expense and spending overrun alerts and contingencies</a:t>
            </a:r>
          </a:p>
        </p:txBody>
      </p:sp>
      <p:sp>
        <p:nvSpPr>
          <p:cNvPr id="9" name="TextBox 8"/>
          <p:cNvSpPr txBox="1"/>
          <p:nvPr/>
        </p:nvSpPr>
        <p:spPr>
          <a:xfrm>
            <a:off x="812800" y="4234178"/>
            <a:ext cx="3617233" cy="309371"/>
          </a:xfrm>
          <a:prstGeom prst="rect">
            <a:avLst/>
          </a:prstGeom>
          <a:noFill/>
        </p:spPr>
        <p:txBody>
          <a:bodyPr wrap="none" lIns="0" tIns="0" rIns="0" bIns="0">
            <a:noAutofit/>
          </a:bodyPr>
          <a:lstStyle/>
          <a:p>
            <a:pPr algn="l"/>
            <a:r>
              <a:rPr sz="2000" dirty="0">
                <a:solidFill>
                  <a:srgbClr val="000000"/>
                </a:solidFill>
                <a:latin typeface="Helvetica Neue Light"/>
              </a:rPr>
              <a:t>5 No automation of processes</a:t>
            </a:r>
          </a:p>
        </p:txBody>
      </p:sp>
      <p:sp>
        <p:nvSpPr>
          <p:cNvPr id="10" name="TextBox 9"/>
          <p:cNvSpPr txBox="1"/>
          <p:nvPr/>
        </p:nvSpPr>
        <p:spPr>
          <a:xfrm>
            <a:off x="812800" y="4767578"/>
            <a:ext cx="2965971" cy="309371"/>
          </a:xfrm>
          <a:prstGeom prst="rect">
            <a:avLst/>
          </a:prstGeom>
          <a:noFill/>
        </p:spPr>
        <p:txBody>
          <a:bodyPr wrap="none" lIns="0" tIns="0" rIns="0" bIns="0">
            <a:noAutofit/>
          </a:bodyPr>
          <a:lstStyle/>
          <a:p>
            <a:pPr algn="l"/>
            <a:r>
              <a:rPr sz="2000" dirty="0">
                <a:solidFill>
                  <a:srgbClr val="000000"/>
                </a:solidFill>
                <a:latin typeface="Helvetica Neue Light"/>
              </a:rPr>
              <a:t>6 Limited status updates</a:t>
            </a:r>
          </a:p>
        </p:txBody>
      </p:sp>
      <p:sp>
        <p:nvSpPr>
          <p:cNvPr id="11" name="TextBox 10"/>
          <p:cNvSpPr txBox="1"/>
          <p:nvPr/>
        </p:nvSpPr>
        <p:spPr>
          <a:xfrm>
            <a:off x="812800" y="5300978"/>
            <a:ext cx="5421381" cy="309371"/>
          </a:xfrm>
          <a:prstGeom prst="rect">
            <a:avLst/>
          </a:prstGeom>
          <a:noFill/>
        </p:spPr>
        <p:txBody>
          <a:bodyPr wrap="none" lIns="0" tIns="0" rIns="0" bIns="0">
            <a:noAutofit/>
          </a:bodyPr>
          <a:lstStyle/>
          <a:p>
            <a:pPr algn="l"/>
            <a:r>
              <a:rPr sz="2000" dirty="0">
                <a:solidFill>
                  <a:srgbClr val="000000"/>
                </a:solidFill>
                <a:latin typeface="Helvetica Neue Light"/>
              </a:rPr>
              <a:t>7 Limited up-sell to new Wells Fargo products</a:t>
            </a:r>
          </a:p>
        </p:txBody>
      </p:sp>
      <p:sp>
        <p:nvSpPr>
          <p:cNvPr id="12" name="TextBox 11"/>
          <p:cNvSpPr txBox="1"/>
          <p:nvPr/>
        </p:nvSpPr>
        <p:spPr>
          <a:xfrm>
            <a:off x="6644671" y="6619902"/>
            <a:ext cx="5328717" cy="295655"/>
          </a:xfrm>
          <a:prstGeom prst="rect">
            <a:avLst/>
          </a:prstGeom>
          <a:noFill/>
        </p:spPr>
        <p:txBody>
          <a:bodyPr wrap="none" lIns="0" tIns="0" rIns="0" bIns="0">
            <a:noAutofit/>
          </a:bodyPr>
          <a:lstStyle/>
          <a:p>
            <a:pPr algn="l"/>
            <a:r>
              <a:rPr sz="2000" dirty="0">
                <a:solidFill>
                  <a:srgbClr val="000000"/>
                </a:solidFill>
                <a:latin typeface="Helvetica Neue Thin"/>
              </a:rPr>
              <a:t>“I’d like to have a better understanding of my </a:t>
            </a:r>
          </a:p>
        </p:txBody>
      </p:sp>
      <p:sp>
        <p:nvSpPr>
          <p:cNvPr id="13" name="TextBox 12"/>
          <p:cNvSpPr txBox="1"/>
          <p:nvPr/>
        </p:nvSpPr>
        <p:spPr>
          <a:xfrm>
            <a:off x="6475540" y="6924702"/>
            <a:ext cx="5225210" cy="600455"/>
          </a:xfrm>
          <a:prstGeom prst="rect">
            <a:avLst/>
          </a:prstGeom>
          <a:noFill/>
        </p:spPr>
        <p:txBody>
          <a:bodyPr wrap="square" lIns="0" tIns="0" rIns="0" bIns="0">
            <a:noAutofit/>
          </a:bodyPr>
          <a:lstStyle/>
          <a:p>
            <a:pPr algn="ctr">
              <a:lnSpc>
                <a:spcPts val="2400"/>
              </a:lnSpc>
            </a:pPr>
            <a:r>
              <a:rPr sz="2000" dirty="0">
                <a:solidFill>
                  <a:srgbClr val="000000"/>
                </a:solidFill>
                <a:latin typeface="Helvetica Neue Thin"/>
              </a:rPr>
              <a:t>spending, and easily be able to track my expenses. Being able to set goals would be even </a:t>
            </a:r>
          </a:p>
        </p:txBody>
      </p:sp>
      <p:sp>
        <p:nvSpPr>
          <p:cNvPr id="14" name="TextBox 13"/>
          <p:cNvSpPr txBox="1"/>
          <p:nvPr/>
        </p:nvSpPr>
        <p:spPr>
          <a:xfrm>
            <a:off x="7019691" y="7534302"/>
            <a:ext cx="4447271" cy="295655"/>
          </a:xfrm>
          <a:prstGeom prst="rect">
            <a:avLst/>
          </a:prstGeom>
          <a:noFill/>
        </p:spPr>
        <p:txBody>
          <a:bodyPr wrap="none" lIns="0" tIns="0" rIns="0" bIns="0">
            <a:noAutofit/>
          </a:bodyPr>
          <a:lstStyle/>
          <a:p>
            <a:pPr algn="l"/>
            <a:r>
              <a:rPr sz="2000" dirty="0">
                <a:solidFill>
                  <a:srgbClr val="000000"/>
                </a:solidFill>
                <a:latin typeface="Helvetica Neue Thin"/>
              </a:rPr>
              <a:t>better, and view my budgets anytime.”</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9661527" y="5407527"/>
            <a:ext cx="2423882" cy="2168484"/>
          </a:xfrm>
          <a:prstGeom prst="rect">
            <a:avLst/>
          </a:prstGeom>
        </p:spPr>
      </p:pic>
      <p:pic>
        <p:nvPicPr>
          <p:cNvPr id="4" name="Picture 2" descr="image.png"/>
          <p:cNvPicPr>
            <a:picLocks noChangeAspect="1"/>
          </p:cNvPicPr>
          <p:nvPr/>
        </p:nvPicPr>
        <p:blipFill>
          <a:blip r:embed="rId4"/>
          <a:stretch>
            <a:fillRect/>
          </a:stretch>
        </p:blipFill>
        <p:spPr>
          <a:xfrm>
            <a:off x="9675655" y="1866882"/>
            <a:ext cx="2437060" cy="2020643"/>
          </a:xfrm>
          <a:prstGeom prst="rect">
            <a:avLst/>
          </a:prstGeom>
        </p:spPr>
      </p:pic>
      <p:pic>
        <p:nvPicPr>
          <p:cNvPr id="5" name="Picture 3" descr="image.png"/>
          <p:cNvPicPr>
            <a:picLocks noChangeAspect="1"/>
          </p:cNvPicPr>
          <p:nvPr/>
        </p:nvPicPr>
        <p:blipFill>
          <a:blip r:embed="rId5"/>
          <a:stretch>
            <a:fillRect/>
          </a:stretch>
        </p:blipFill>
        <p:spPr>
          <a:xfrm>
            <a:off x="530708" y="3186216"/>
            <a:ext cx="1316008" cy="940005"/>
          </a:xfrm>
          <a:prstGeom prst="rect">
            <a:avLst/>
          </a:prstGeom>
        </p:spPr>
      </p:pic>
      <p:pic>
        <p:nvPicPr>
          <p:cNvPr id="6" name="Picture 4" descr="image.png"/>
          <p:cNvPicPr>
            <a:picLocks noChangeAspect="1"/>
          </p:cNvPicPr>
          <p:nvPr/>
        </p:nvPicPr>
        <p:blipFill>
          <a:blip r:embed="rId6"/>
          <a:stretch>
            <a:fillRect/>
          </a:stretch>
        </p:blipFill>
        <p:spPr>
          <a:xfrm>
            <a:off x="9661525" y="7559695"/>
            <a:ext cx="2433840" cy="1086536"/>
          </a:xfrm>
          <a:prstGeom prst="rect">
            <a:avLst/>
          </a:prstGeom>
        </p:spPr>
      </p:pic>
      <p:pic>
        <p:nvPicPr>
          <p:cNvPr id="7" name="Picture 5" descr="image.png"/>
          <p:cNvPicPr>
            <a:picLocks noChangeAspect="1"/>
          </p:cNvPicPr>
          <p:nvPr/>
        </p:nvPicPr>
        <p:blipFill>
          <a:blip r:embed="rId7"/>
          <a:stretch>
            <a:fillRect/>
          </a:stretch>
        </p:blipFill>
        <p:spPr>
          <a:xfrm>
            <a:off x="9664172" y="3551211"/>
            <a:ext cx="2436304" cy="1866900"/>
          </a:xfrm>
          <a:prstGeom prst="rect">
            <a:avLst/>
          </a:prstGeom>
        </p:spPr>
      </p:pic>
      <p:sp>
        <p:nvSpPr>
          <p:cNvPr id="8" name="TextBox 7"/>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9" name="TextBox 8"/>
          <p:cNvSpPr txBox="1"/>
          <p:nvPr/>
        </p:nvSpPr>
        <p:spPr>
          <a:xfrm>
            <a:off x="704783" y="2732500"/>
            <a:ext cx="2959393" cy="271948"/>
          </a:xfrm>
          <a:prstGeom prst="rect">
            <a:avLst/>
          </a:prstGeom>
          <a:noFill/>
        </p:spPr>
        <p:txBody>
          <a:bodyPr wrap="none" lIns="0" tIns="0" rIns="0" bIns="0">
            <a:noAutofit/>
          </a:bodyPr>
          <a:lstStyle/>
          <a:p>
            <a:pPr algn="l"/>
            <a:r>
              <a:rPr sz="1750" dirty="0">
                <a:solidFill>
                  <a:srgbClr val="000000"/>
                </a:solidFill>
                <a:latin typeface="Helvetica Neue Light"/>
              </a:rPr>
              <a:t>Small BizOwner Power User</a:t>
            </a:r>
          </a:p>
        </p:txBody>
      </p:sp>
      <p:sp>
        <p:nvSpPr>
          <p:cNvPr id="10" name="TextBox 9"/>
          <p:cNvSpPr txBox="1"/>
          <p:nvPr/>
        </p:nvSpPr>
        <p:spPr>
          <a:xfrm>
            <a:off x="1009989" y="4395899"/>
            <a:ext cx="2082698"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Pain points in current system</a:t>
            </a:r>
          </a:p>
          <a:p>
            <a:pPr algn="l">
              <a:lnSpc>
                <a:spcPts val="1763"/>
              </a:lnSpc>
            </a:pPr>
            <a:r>
              <a:rPr sz="1200" dirty="0">
                <a:solidFill>
                  <a:srgbClr val="000000"/>
                </a:solidFill>
                <a:latin typeface="Helvetica Neue Light"/>
              </a:rPr>
              <a:t>• No spending tracking</a:t>
            </a:r>
          </a:p>
        </p:txBody>
      </p:sp>
      <p:sp>
        <p:nvSpPr>
          <p:cNvPr id="11" name="TextBox 10"/>
          <p:cNvSpPr txBox="1"/>
          <p:nvPr/>
        </p:nvSpPr>
        <p:spPr>
          <a:xfrm>
            <a:off x="1009989" y="4843955"/>
            <a:ext cx="4036686"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 No single place to see current business plans and goals</a:t>
            </a:r>
          </a:p>
          <a:p>
            <a:pPr algn="l">
              <a:lnSpc>
                <a:spcPts val="1763"/>
              </a:lnSpc>
            </a:pPr>
            <a:r>
              <a:rPr sz="1200" dirty="0">
                <a:solidFill>
                  <a:srgbClr val="000000"/>
                </a:solidFill>
                <a:latin typeface="Helvetica Neue Light"/>
              </a:rPr>
              <a:t>• No alerts system when a bill is past due or not paid</a:t>
            </a:r>
          </a:p>
        </p:txBody>
      </p:sp>
      <p:sp>
        <p:nvSpPr>
          <p:cNvPr id="12" name="TextBox 11"/>
          <p:cNvSpPr txBox="1"/>
          <p:nvPr/>
        </p:nvSpPr>
        <p:spPr>
          <a:xfrm>
            <a:off x="1009989" y="5292011"/>
            <a:ext cx="3125342" cy="181910"/>
          </a:xfrm>
          <a:prstGeom prst="rect">
            <a:avLst/>
          </a:prstGeom>
          <a:noFill/>
        </p:spPr>
        <p:txBody>
          <a:bodyPr wrap="none" lIns="0" tIns="0" rIns="0" bIns="0">
            <a:noAutofit/>
          </a:bodyPr>
          <a:lstStyle/>
          <a:p>
            <a:pPr algn="l"/>
            <a:r>
              <a:rPr sz="1200" dirty="0">
                <a:solidFill>
                  <a:srgbClr val="000000"/>
                </a:solidFill>
                <a:latin typeface="Helvetica Neue Light"/>
              </a:rPr>
              <a:t>• No place to optimize business budget plan</a:t>
            </a:r>
          </a:p>
        </p:txBody>
      </p:sp>
      <p:sp>
        <p:nvSpPr>
          <p:cNvPr id="13" name="TextBox 12"/>
          <p:cNvSpPr txBox="1"/>
          <p:nvPr/>
        </p:nvSpPr>
        <p:spPr>
          <a:xfrm>
            <a:off x="1009989" y="5516039"/>
            <a:ext cx="3966521"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 No place for planning and monitoring budgets </a:t>
            </a:r>
          </a:p>
          <a:p>
            <a:pPr algn="l">
              <a:lnSpc>
                <a:spcPts val="1763"/>
              </a:lnSpc>
            </a:pPr>
            <a:r>
              <a:rPr sz="1200" dirty="0">
                <a:solidFill>
                  <a:srgbClr val="000000"/>
                </a:solidFill>
                <a:latin typeface="Helvetica Neue Light"/>
              </a:rPr>
              <a:t>• No way to understand and build business for the future</a:t>
            </a:r>
          </a:p>
        </p:txBody>
      </p:sp>
      <p:sp>
        <p:nvSpPr>
          <p:cNvPr id="14" name="TextBox 13"/>
          <p:cNvSpPr txBox="1"/>
          <p:nvPr/>
        </p:nvSpPr>
        <p:spPr>
          <a:xfrm>
            <a:off x="1009989" y="5964095"/>
            <a:ext cx="3953779" cy="181910"/>
          </a:xfrm>
          <a:prstGeom prst="rect">
            <a:avLst/>
          </a:prstGeom>
          <a:noFill/>
        </p:spPr>
        <p:txBody>
          <a:bodyPr wrap="none" lIns="0" tIns="0" rIns="0" bIns="0">
            <a:noAutofit/>
          </a:bodyPr>
          <a:lstStyle/>
          <a:p>
            <a:pPr algn="l"/>
            <a:r>
              <a:rPr sz="1200" dirty="0">
                <a:solidFill>
                  <a:srgbClr val="000000"/>
                </a:solidFill>
                <a:latin typeface="Helvetica Neue Light"/>
              </a:rPr>
              <a:t>• Fractured touch points, no single space for all activities</a:t>
            </a:r>
          </a:p>
        </p:txBody>
      </p:sp>
      <p:sp>
        <p:nvSpPr>
          <p:cNvPr id="15" name="TextBox 14"/>
          <p:cNvSpPr txBox="1"/>
          <p:nvPr/>
        </p:nvSpPr>
        <p:spPr>
          <a:xfrm>
            <a:off x="1758782" y="3284846"/>
            <a:ext cx="2749489" cy="737375"/>
          </a:xfrm>
          <a:prstGeom prst="rect">
            <a:avLst/>
          </a:prstGeom>
          <a:noFill/>
        </p:spPr>
        <p:txBody>
          <a:bodyPr wrap="square" lIns="0" tIns="0" rIns="0" bIns="0">
            <a:noAutofit/>
          </a:bodyPr>
          <a:lstStyle/>
          <a:p>
            <a:pPr algn="l">
              <a:lnSpc>
                <a:spcPts val="1405"/>
              </a:lnSpc>
            </a:pPr>
            <a:r>
              <a:rPr sz="1400" dirty="0">
                <a:solidFill>
                  <a:srgbClr val="000000"/>
                </a:solidFill>
                <a:latin typeface="Helvetica Neue Light"/>
              </a:rPr>
              <a:t>Kunal Power User</a:t>
            </a:r>
          </a:p>
          <a:p>
            <a:pPr algn="l">
              <a:lnSpc>
                <a:spcPts val="1405"/>
              </a:lnSpc>
            </a:pPr>
            <a:r>
              <a:rPr sz="1000" dirty="0">
                <a:solidFill>
                  <a:srgbClr val="000000"/>
                </a:solidFill>
                <a:latin typeface="Helvetica Neue Light"/>
              </a:rPr>
              <a:t>General Contractor and Technophile  </a:t>
            </a:r>
          </a:p>
          <a:p>
            <a:pPr algn="l">
              <a:lnSpc>
                <a:spcPts val="1405"/>
              </a:lnSpc>
            </a:pPr>
            <a:r>
              <a:rPr sz="1000" dirty="0">
                <a:solidFill>
                  <a:srgbClr val="000000"/>
                </a:solidFill>
                <a:latin typeface="Helvetica Neue Light"/>
              </a:rPr>
              <a:t>12 years as a General Contracting small business  owner, wants to grow and expand HI-TECH, INC</a:t>
            </a:r>
          </a:p>
        </p:txBody>
      </p:sp>
      <p:sp>
        <p:nvSpPr>
          <p:cNvPr id="16" name="TextBox 15"/>
          <p:cNvSpPr txBox="1"/>
          <p:nvPr/>
        </p:nvSpPr>
        <p:spPr>
          <a:xfrm>
            <a:off x="5845995" y="3352989"/>
            <a:ext cx="3494987" cy="869694"/>
          </a:xfrm>
          <a:prstGeom prst="rect">
            <a:avLst/>
          </a:prstGeom>
          <a:noFill/>
        </p:spPr>
        <p:txBody>
          <a:bodyPr wrap="square" lIns="0" tIns="0" rIns="0" bIns="0">
            <a:noAutofit/>
          </a:bodyPr>
          <a:lstStyle/>
          <a:p>
            <a:pPr algn="l">
              <a:lnSpc>
                <a:spcPts val="1411"/>
              </a:lnSpc>
            </a:pPr>
            <a:r>
              <a:rPr sz="1000" dirty="0">
                <a:solidFill>
                  <a:srgbClr val="000000"/>
                </a:solidFill>
                <a:latin typeface="Helvetica Neue Light"/>
              </a:rPr>
              <a:t>I spend most of my time trying to understand my finances, trying to track my expenses, I don’t have enough time to plan, or even put out the financial fires, let alone find new ways to save, or connect with other owners and find new products to help me expand.</a:t>
            </a:r>
          </a:p>
        </p:txBody>
      </p:sp>
      <p:sp>
        <p:nvSpPr>
          <p:cNvPr id="17" name="TextBox 16"/>
          <p:cNvSpPr txBox="1"/>
          <p:nvPr/>
        </p:nvSpPr>
        <p:spPr>
          <a:xfrm>
            <a:off x="5473937" y="6637523"/>
            <a:ext cx="1072135" cy="181910"/>
          </a:xfrm>
          <a:prstGeom prst="rect">
            <a:avLst/>
          </a:prstGeom>
          <a:noFill/>
        </p:spPr>
        <p:txBody>
          <a:bodyPr wrap="none" lIns="0" tIns="0" rIns="0" bIns="0">
            <a:noAutofit/>
          </a:bodyPr>
          <a:lstStyle/>
          <a:p>
            <a:pPr algn="l"/>
            <a:r>
              <a:rPr sz="1200" dirty="0">
                <a:solidFill>
                  <a:srgbClr val="000000"/>
                </a:solidFill>
                <a:latin typeface="Helvetica Neue Light"/>
              </a:rPr>
              <a:t>Tools for Tasks</a:t>
            </a:r>
          </a:p>
        </p:txBody>
      </p:sp>
      <p:sp>
        <p:nvSpPr>
          <p:cNvPr id="18" name="TextBox 17"/>
          <p:cNvSpPr txBox="1"/>
          <p:nvPr/>
        </p:nvSpPr>
        <p:spPr>
          <a:xfrm>
            <a:off x="5473937" y="6861551"/>
            <a:ext cx="973275" cy="181910"/>
          </a:xfrm>
          <a:prstGeom prst="rect">
            <a:avLst/>
          </a:prstGeom>
          <a:noFill/>
        </p:spPr>
        <p:txBody>
          <a:bodyPr wrap="none" lIns="0" tIns="0" rIns="0" bIns="0">
            <a:noAutofit/>
          </a:bodyPr>
          <a:lstStyle/>
          <a:p>
            <a:pPr algn="l"/>
            <a:r>
              <a:rPr sz="1200" dirty="0">
                <a:solidFill>
                  <a:srgbClr val="000000"/>
                </a:solidFill>
                <a:latin typeface="Helvetica Neue Light"/>
              </a:rPr>
              <a:t>• Freshbooks</a:t>
            </a:r>
          </a:p>
        </p:txBody>
      </p:sp>
      <p:sp>
        <p:nvSpPr>
          <p:cNvPr id="19" name="TextBox 18"/>
          <p:cNvSpPr txBox="1"/>
          <p:nvPr/>
        </p:nvSpPr>
        <p:spPr>
          <a:xfrm>
            <a:off x="5473937" y="7085579"/>
            <a:ext cx="1073281" cy="181910"/>
          </a:xfrm>
          <a:prstGeom prst="rect">
            <a:avLst/>
          </a:prstGeom>
          <a:noFill/>
        </p:spPr>
        <p:txBody>
          <a:bodyPr wrap="none" lIns="0" tIns="0" rIns="0" bIns="0">
            <a:noAutofit/>
          </a:bodyPr>
          <a:lstStyle/>
          <a:p>
            <a:pPr algn="l"/>
            <a:r>
              <a:rPr sz="1200" dirty="0">
                <a:solidFill>
                  <a:srgbClr val="000000"/>
                </a:solidFill>
                <a:latin typeface="Helvetica Neue Light"/>
              </a:rPr>
              <a:t>• Square (POS)</a:t>
            </a:r>
          </a:p>
        </p:txBody>
      </p:sp>
      <p:sp>
        <p:nvSpPr>
          <p:cNvPr id="20" name="TextBox 19"/>
          <p:cNvSpPr txBox="1"/>
          <p:nvPr/>
        </p:nvSpPr>
        <p:spPr>
          <a:xfrm>
            <a:off x="5473937" y="7309608"/>
            <a:ext cx="1990755" cy="181910"/>
          </a:xfrm>
          <a:prstGeom prst="rect">
            <a:avLst/>
          </a:prstGeom>
          <a:noFill/>
        </p:spPr>
        <p:txBody>
          <a:bodyPr wrap="none" lIns="0" tIns="0" rIns="0" bIns="0">
            <a:noAutofit/>
          </a:bodyPr>
          <a:lstStyle/>
          <a:p>
            <a:pPr algn="l"/>
            <a:r>
              <a:rPr sz="1200" dirty="0">
                <a:solidFill>
                  <a:srgbClr val="000000"/>
                </a:solidFill>
                <a:latin typeface="Helvetica Neue Light"/>
              </a:rPr>
              <a:t>• MailChimp, SurveyMonkey</a:t>
            </a:r>
          </a:p>
        </p:txBody>
      </p:sp>
      <p:sp>
        <p:nvSpPr>
          <p:cNvPr id="21" name="TextBox 20"/>
          <p:cNvSpPr txBox="1"/>
          <p:nvPr/>
        </p:nvSpPr>
        <p:spPr>
          <a:xfrm>
            <a:off x="5473937" y="7533636"/>
            <a:ext cx="991824" cy="181910"/>
          </a:xfrm>
          <a:prstGeom prst="rect">
            <a:avLst/>
          </a:prstGeom>
          <a:noFill/>
        </p:spPr>
        <p:txBody>
          <a:bodyPr wrap="none" lIns="0" tIns="0" rIns="0" bIns="0">
            <a:noAutofit/>
          </a:bodyPr>
          <a:lstStyle/>
          <a:p>
            <a:pPr algn="l"/>
            <a:r>
              <a:rPr sz="1200" dirty="0">
                <a:solidFill>
                  <a:srgbClr val="000000"/>
                </a:solidFill>
                <a:latin typeface="Helvetica Neue Light"/>
              </a:rPr>
              <a:t>• ZipRecruiter</a:t>
            </a:r>
          </a:p>
        </p:txBody>
      </p:sp>
      <p:sp>
        <p:nvSpPr>
          <p:cNvPr id="22" name="TextBox 21"/>
          <p:cNvSpPr txBox="1"/>
          <p:nvPr/>
        </p:nvSpPr>
        <p:spPr>
          <a:xfrm>
            <a:off x="5473937" y="7757664"/>
            <a:ext cx="3950876"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 LegalZoom </a:t>
            </a:r>
          </a:p>
          <a:p>
            <a:pPr algn="l">
              <a:lnSpc>
                <a:spcPts val="1763"/>
              </a:lnSpc>
            </a:pPr>
            <a:r>
              <a:rPr sz="1200" dirty="0">
                <a:solidFill>
                  <a:srgbClr val="000000"/>
                </a:solidFill>
                <a:latin typeface="Helvetica Neue Light"/>
              </a:rPr>
              <a:t>• Social Networking sites, i.e., Instagram, Yelp, Facebook</a:t>
            </a:r>
          </a:p>
        </p:txBody>
      </p:sp>
      <p:sp>
        <p:nvSpPr>
          <p:cNvPr id="23" name="TextBox 22"/>
          <p:cNvSpPr txBox="1"/>
          <p:nvPr/>
        </p:nvSpPr>
        <p:spPr>
          <a:xfrm>
            <a:off x="5473937" y="8205720"/>
            <a:ext cx="1069893" cy="181910"/>
          </a:xfrm>
          <a:prstGeom prst="rect">
            <a:avLst/>
          </a:prstGeom>
          <a:noFill/>
        </p:spPr>
        <p:txBody>
          <a:bodyPr wrap="none" lIns="0" tIns="0" rIns="0" bIns="0">
            <a:noAutofit/>
          </a:bodyPr>
          <a:lstStyle/>
          <a:p>
            <a:pPr algn="l"/>
            <a:r>
              <a:rPr sz="1200" dirty="0">
                <a:solidFill>
                  <a:srgbClr val="000000"/>
                </a:solidFill>
                <a:latin typeface="Helvetica Neue Light"/>
              </a:rPr>
              <a:t>• Squarespace</a:t>
            </a:r>
          </a:p>
        </p:txBody>
      </p:sp>
      <p:sp>
        <p:nvSpPr>
          <p:cNvPr id="24" name="TextBox 23"/>
          <p:cNvSpPr txBox="1"/>
          <p:nvPr/>
        </p:nvSpPr>
        <p:spPr>
          <a:xfrm>
            <a:off x="5473937" y="4395899"/>
            <a:ext cx="1718965"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Tasks in role</a:t>
            </a:r>
          </a:p>
          <a:p>
            <a:pPr algn="l">
              <a:lnSpc>
                <a:spcPts val="1763"/>
              </a:lnSpc>
            </a:pPr>
            <a:r>
              <a:rPr sz="1200" dirty="0">
                <a:solidFill>
                  <a:srgbClr val="000000"/>
                </a:solidFill>
                <a:latin typeface="Helvetica Neue Light"/>
              </a:rPr>
              <a:t>• Find leads, meet leads</a:t>
            </a:r>
          </a:p>
        </p:txBody>
      </p:sp>
      <p:sp>
        <p:nvSpPr>
          <p:cNvPr id="25" name="TextBox 24"/>
          <p:cNvSpPr txBox="1"/>
          <p:nvPr/>
        </p:nvSpPr>
        <p:spPr>
          <a:xfrm>
            <a:off x="5473937" y="4843955"/>
            <a:ext cx="2159798"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 Make proposals for new jobs</a:t>
            </a:r>
          </a:p>
          <a:p>
            <a:pPr algn="l">
              <a:lnSpc>
                <a:spcPts val="1763"/>
              </a:lnSpc>
            </a:pPr>
            <a:r>
              <a:rPr sz="1200" dirty="0">
                <a:solidFill>
                  <a:srgbClr val="000000"/>
                </a:solidFill>
                <a:latin typeface="Helvetica Neue Light"/>
              </a:rPr>
              <a:t>• Manage crews on jobs</a:t>
            </a:r>
          </a:p>
        </p:txBody>
      </p:sp>
      <p:sp>
        <p:nvSpPr>
          <p:cNvPr id="26" name="TextBox 25"/>
          <p:cNvSpPr txBox="1"/>
          <p:nvPr/>
        </p:nvSpPr>
        <p:spPr>
          <a:xfrm>
            <a:off x="5473937" y="5292011"/>
            <a:ext cx="2028661" cy="181910"/>
          </a:xfrm>
          <a:prstGeom prst="rect">
            <a:avLst/>
          </a:prstGeom>
          <a:noFill/>
        </p:spPr>
        <p:txBody>
          <a:bodyPr wrap="none" lIns="0" tIns="0" rIns="0" bIns="0">
            <a:noAutofit/>
          </a:bodyPr>
          <a:lstStyle/>
          <a:p>
            <a:pPr algn="l"/>
            <a:r>
              <a:rPr sz="1200" dirty="0">
                <a:solidFill>
                  <a:srgbClr val="000000"/>
                </a:solidFill>
                <a:latin typeface="Helvetica Neue Light"/>
              </a:rPr>
              <a:t>• Build timelines for projects</a:t>
            </a:r>
          </a:p>
        </p:txBody>
      </p:sp>
      <p:sp>
        <p:nvSpPr>
          <p:cNvPr id="27" name="TextBox 26"/>
          <p:cNvSpPr txBox="1"/>
          <p:nvPr/>
        </p:nvSpPr>
        <p:spPr>
          <a:xfrm>
            <a:off x="5473937" y="5516039"/>
            <a:ext cx="2718217"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 Budget expenses for work</a:t>
            </a:r>
          </a:p>
          <a:p>
            <a:pPr algn="l">
              <a:lnSpc>
                <a:spcPts val="1763"/>
              </a:lnSpc>
            </a:pPr>
            <a:r>
              <a:rPr sz="1200" dirty="0">
                <a:solidFill>
                  <a:srgbClr val="000000"/>
                </a:solidFill>
                <a:latin typeface="Helvetica Neue Light"/>
              </a:rPr>
              <a:t>• Business expenses, general upkeep</a:t>
            </a:r>
          </a:p>
        </p:txBody>
      </p:sp>
      <p:sp>
        <p:nvSpPr>
          <p:cNvPr id="28" name="TextBox 27"/>
          <p:cNvSpPr txBox="1"/>
          <p:nvPr/>
        </p:nvSpPr>
        <p:spPr>
          <a:xfrm>
            <a:off x="1009989" y="5964095"/>
            <a:ext cx="7136034" cy="814694"/>
          </a:xfrm>
          <a:prstGeom prst="rect">
            <a:avLst/>
          </a:prstGeom>
          <a:noFill/>
        </p:spPr>
        <p:txBody>
          <a:bodyPr wrap="none" lIns="0" tIns="0" rIns="0" bIns="0">
            <a:noAutofit/>
          </a:bodyPr>
          <a:lstStyle/>
          <a:p>
            <a:pPr marL="4463948" algn="l">
              <a:lnSpc>
                <a:spcPts val="1763"/>
              </a:lnSpc>
            </a:pPr>
            <a:r>
              <a:rPr sz="1200" dirty="0">
                <a:solidFill>
                  <a:srgbClr val="000000"/>
                </a:solidFill>
                <a:latin typeface="Helvetica Neue Light"/>
              </a:rPr>
              <a:t>• Promotion of business </a:t>
            </a:r>
          </a:p>
          <a:p>
            <a:pPr marL="4463948" algn="l">
              <a:lnSpc>
                <a:spcPts val="1763"/>
              </a:lnSpc>
            </a:pPr>
            <a:r>
              <a:rPr sz="1200" dirty="0">
                <a:solidFill>
                  <a:srgbClr val="000000"/>
                </a:solidFill>
                <a:latin typeface="Helvetica Neue Light"/>
              </a:rPr>
              <a:t>• Research on new opportunities</a:t>
            </a:r>
          </a:p>
          <a:p>
            <a:pPr algn="l">
              <a:lnSpc>
                <a:spcPts val="1763"/>
              </a:lnSpc>
            </a:pPr>
            <a:r>
              <a:rPr sz="1200" dirty="0">
                <a:solidFill>
                  <a:srgbClr val="000000"/>
                </a:solidFill>
                <a:latin typeface="Helvetica Neue Light"/>
              </a:rPr>
              <a:t>Expectations of System</a:t>
            </a:r>
          </a:p>
          <a:p>
            <a:pPr algn="l">
              <a:lnSpc>
                <a:spcPts val="1763"/>
              </a:lnSpc>
            </a:pPr>
            <a:r>
              <a:rPr sz="1200" dirty="0">
                <a:solidFill>
                  <a:srgbClr val="000000"/>
                </a:solidFill>
                <a:latin typeface="Helvetica Neue Light"/>
              </a:rPr>
              <a:t>• Be able to monitor specific spending</a:t>
            </a:r>
          </a:p>
        </p:txBody>
      </p:sp>
      <p:sp>
        <p:nvSpPr>
          <p:cNvPr id="29" name="TextBox 28"/>
          <p:cNvSpPr txBox="1"/>
          <p:nvPr/>
        </p:nvSpPr>
        <p:spPr>
          <a:xfrm>
            <a:off x="1009989" y="6820906"/>
            <a:ext cx="3154698" cy="181910"/>
          </a:xfrm>
          <a:prstGeom prst="rect">
            <a:avLst/>
          </a:prstGeom>
          <a:noFill/>
        </p:spPr>
        <p:txBody>
          <a:bodyPr wrap="none" lIns="0" tIns="0" rIns="0" bIns="0">
            <a:noAutofit/>
          </a:bodyPr>
          <a:lstStyle/>
          <a:p>
            <a:pPr algn="l"/>
            <a:r>
              <a:rPr sz="1200" dirty="0">
                <a:solidFill>
                  <a:srgbClr val="000000"/>
                </a:solidFill>
                <a:latin typeface="Helvetica Neue Light"/>
              </a:rPr>
              <a:t>• Get predictive recommendations and alerts</a:t>
            </a:r>
          </a:p>
        </p:txBody>
      </p:sp>
      <p:sp>
        <p:nvSpPr>
          <p:cNvPr id="30" name="TextBox 29"/>
          <p:cNvSpPr txBox="1"/>
          <p:nvPr/>
        </p:nvSpPr>
        <p:spPr>
          <a:xfrm>
            <a:off x="1009989" y="7044935"/>
            <a:ext cx="2016242"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  Optimize current Budgets</a:t>
            </a:r>
          </a:p>
          <a:p>
            <a:pPr algn="l">
              <a:lnSpc>
                <a:spcPts val="1763"/>
              </a:lnSpc>
            </a:pPr>
            <a:r>
              <a:rPr sz="1200" dirty="0">
                <a:solidFill>
                  <a:srgbClr val="000000"/>
                </a:solidFill>
                <a:latin typeface="Helvetica Neue Light"/>
              </a:rPr>
              <a:t>•  Aid Expansion of business </a:t>
            </a:r>
          </a:p>
        </p:txBody>
      </p:sp>
      <p:sp>
        <p:nvSpPr>
          <p:cNvPr id="31" name="TextBox 30"/>
          <p:cNvSpPr txBox="1"/>
          <p:nvPr/>
        </p:nvSpPr>
        <p:spPr>
          <a:xfrm>
            <a:off x="1009989" y="7492990"/>
            <a:ext cx="4194760" cy="181910"/>
          </a:xfrm>
          <a:prstGeom prst="rect">
            <a:avLst/>
          </a:prstGeom>
          <a:noFill/>
        </p:spPr>
        <p:txBody>
          <a:bodyPr wrap="none" lIns="0" tIns="0" rIns="0" bIns="0">
            <a:noAutofit/>
          </a:bodyPr>
          <a:lstStyle/>
          <a:p>
            <a:pPr algn="l"/>
            <a:r>
              <a:rPr sz="1200" dirty="0">
                <a:solidFill>
                  <a:srgbClr val="000000"/>
                </a:solidFill>
                <a:latin typeface="Helvetica Neue Light"/>
              </a:rPr>
              <a:t>•  Share, socialize, communicate about the Small Businesses</a:t>
            </a:r>
          </a:p>
        </p:txBody>
      </p:sp>
      <p:sp>
        <p:nvSpPr>
          <p:cNvPr id="32" name="TextBox 31"/>
          <p:cNvSpPr txBox="1"/>
          <p:nvPr/>
        </p:nvSpPr>
        <p:spPr>
          <a:xfrm>
            <a:off x="457200" y="939800"/>
            <a:ext cx="5267959" cy="476250"/>
          </a:xfrm>
          <a:prstGeom prst="rect">
            <a:avLst/>
          </a:prstGeom>
          <a:noFill/>
        </p:spPr>
        <p:txBody>
          <a:bodyPr wrap="none" lIns="0" tIns="0" rIns="0" bIns="0">
            <a:noAutofit/>
          </a:bodyPr>
          <a:lstStyle/>
          <a:p>
            <a:pPr algn="l"/>
            <a:r>
              <a:rPr sz="3000" dirty="0">
                <a:solidFill>
                  <a:srgbClr val="1F1F1F"/>
                </a:solidFill>
                <a:latin typeface="Helvetica Neue Light"/>
              </a:rPr>
              <a:t>Small Business Owner Persona</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440264" y="2625611"/>
            <a:ext cx="5344370" cy="3536716"/>
          </a:xfrm>
          <a:prstGeom prst="rect">
            <a:avLst/>
          </a:prstGeom>
        </p:spPr>
      </p:pic>
      <p:pic>
        <p:nvPicPr>
          <p:cNvPr id="4" name="Picture 2" descr="image.png"/>
          <p:cNvPicPr>
            <a:picLocks noChangeAspect="1"/>
          </p:cNvPicPr>
          <p:nvPr/>
        </p:nvPicPr>
        <p:blipFill>
          <a:blip r:embed="rId4"/>
          <a:stretch>
            <a:fillRect/>
          </a:stretch>
        </p:blipFill>
        <p:spPr>
          <a:xfrm>
            <a:off x="6622588" y="2645849"/>
            <a:ext cx="2356916" cy="3815189"/>
          </a:xfrm>
          <a:prstGeom prst="rect">
            <a:avLst/>
          </a:prstGeom>
        </p:spPr>
      </p:pic>
      <p:pic>
        <p:nvPicPr>
          <p:cNvPr id="5" name="Picture 3" descr="image.png"/>
          <p:cNvPicPr>
            <a:picLocks noChangeAspect="1"/>
          </p:cNvPicPr>
          <p:nvPr/>
        </p:nvPicPr>
        <p:blipFill>
          <a:blip r:embed="rId5"/>
          <a:stretch>
            <a:fillRect/>
          </a:stretch>
        </p:blipFill>
        <p:spPr>
          <a:xfrm>
            <a:off x="9659865" y="2646117"/>
            <a:ext cx="2505774" cy="4265639"/>
          </a:xfrm>
          <a:prstGeom prst="rect">
            <a:avLst/>
          </a:prstGeom>
        </p:spPr>
      </p:pic>
      <p:pic>
        <p:nvPicPr>
          <p:cNvPr id="6" name="Picture 4" descr="image.png"/>
          <p:cNvPicPr>
            <a:picLocks noChangeAspect="1"/>
          </p:cNvPicPr>
          <p:nvPr/>
        </p:nvPicPr>
        <p:blipFill>
          <a:blip r:embed="rId6"/>
          <a:stretch>
            <a:fillRect/>
          </a:stretch>
        </p:blipFill>
        <p:spPr>
          <a:xfrm>
            <a:off x="2271240" y="5707558"/>
            <a:ext cx="2079698" cy="3766296"/>
          </a:xfrm>
          <a:prstGeom prst="rect">
            <a:avLst/>
          </a:prstGeom>
        </p:spPr>
      </p:pic>
      <p:pic>
        <p:nvPicPr>
          <p:cNvPr id="7" name="Picture 5" descr="image.png"/>
          <p:cNvPicPr>
            <a:picLocks noChangeAspect="1"/>
          </p:cNvPicPr>
          <p:nvPr/>
        </p:nvPicPr>
        <p:blipFill>
          <a:blip r:embed="rId7"/>
          <a:stretch>
            <a:fillRect/>
          </a:stretch>
        </p:blipFill>
        <p:spPr>
          <a:xfrm>
            <a:off x="4594824" y="5180031"/>
            <a:ext cx="2400157" cy="4333933"/>
          </a:xfrm>
          <a:prstGeom prst="rect">
            <a:avLst/>
          </a:prstGeom>
        </p:spPr>
      </p:pic>
      <p:pic>
        <p:nvPicPr>
          <p:cNvPr id="8" name="Picture 6" descr="image.png"/>
          <p:cNvPicPr>
            <a:picLocks noChangeAspect="1"/>
          </p:cNvPicPr>
          <p:nvPr/>
        </p:nvPicPr>
        <p:blipFill>
          <a:blip r:embed="rId8"/>
          <a:stretch>
            <a:fillRect/>
          </a:stretch>
        </p:blipFill>
        <p:spPr>
          <a:xfrm>
            <a:off x="7941986" y="3539611"/>
            <a:ext cx="2285398" cy="3920540"/>
          </a:xfrm>
          <a:prstGeom prst="rect">
            <a:avLst/>
          </a:prstGeom>
        </p:spPr>
      </p:pic>
      <p:pic>
        <p:nvPicPr>
          <p:cNvPr id="9" name="Picture 7" descr="image.png"/>
          <p:cNvPicPr>
            <a:picLocks noChangeAspect="1"/>
          </p:cNvPicPr>
          <p:nvPr/>
        </p:nvPicPr>
        <p:blipFill>
          <a:blip r:embed="rId9"/>
          <a:stretch>
            <a:fillRect/>
          </a:stretch>
        </p:blipFill>
        <p:spPr>
          <a:xfrm>
            <a:off x="8818480" y="4744433"/>
            <a:ext cx="2481174" cy="4427193"/>
          </a:xfrm>
          <a:prstGeom prst="rect">
            <a:avLst/>
          </a:prstGeom>
        </p:spPr>
      </p:pic>
      <p:sp>
        <p:nvSpPr>
          <p:cNvPr id="10" name="TextBox 9"/>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11" name="TextBox 10"/>
          <p:cNvSpPr txBox="1"/>
          <p:nvPr/>
        </p:nvSpPr>
        <p:spPr>
          <a:xfrm>
            <a:off x="457200" y="939800"/>
            <a:ext cx="12090400" cy="1238250"/>
          </a:xfrm>
          <a:prstGeom prst="rect">
            <a:avLst/>
          </a:prstGeom>
          <a:noFill/>
        </p:spPr>
        <p:txBody>
          <a:bodyPr wrap="square" lIns="0" tIns="0" rIns="0" bIns="0">
            <a:noAutofit/>
          </a:bodyPr>
          <a:lstStyle/>
          <a:p>
            <a:pPr algn="l">
              <a:lnSpc>
                <a:spcPts val="2400"/>
              </a:lnSpc>
            </a:pPr>
            <a:r>
              <a:rPr sz="3000" dirty="0">
                <a:solidFill>
                  <a:srgbClr val="1F1F1F"/>
                </a:solidFill>
                <a:latin typeface="Helvetica Neue Light"/>
              </a:rPr>
              <a:t>Design Thinking Exercises </a:t>
            </a:r>
          </a:p>
          <a:p>
            <a:pPr algn="l">
              <a:lnSpc>
                <a:spcPts val="2400"/>
              </a:lnSpc>
            </a:pPr>
            <a:r>
              <a:rPr sz="2000" dirty="0">
                <a:solidFill>
                  <a:srgbClr val="000000"/>
                </a:solidFill>
                <a:latin typeface="Helvetica Neue Thin"/>
              </a:rPr>
              <a:t>Generated concepts for interfaces with 6 participants with 5 concepts for mobile native account views, reporting features and planning processes</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4" name="TextBox 3"/>
          <p:cNvSpPr txBox="1"/>
          <p:nvPr/>
        </p:nvSpPr>
        <p:spPr>
          <a:xfrm>
            <a:off x="457200" y="939800"/>
            <a:ext cx="10281919" cy="476250"/>
          </a:xfrm>
          <a:prstGeom prst="rect">
            <a:avLst/>
          </a:prstGeom>
          <a:noFill/>
        </p:spPr>
        <p:txBody>
          <a:bodyPr wrap="none" lIns="0" tIns="0" rIns="0" bIns="0">
            <a:noAutofit/>
          </a:bodyPr>
          <a:lstStyle/>
          <a:p>
            <a:pPr algn="l"/>
            <a:r>
              <a:rPr sz="3000" dirty="0">
                <a:solidFill>
                  <a:srgbClr val="1F1F1F"/>
                </a:solidFill>
                <a:latin typeface="Helvetica Neue Light"/>
              </a:rPr>
              <a:t>Pain Points + Business Goals + UX Strategy = Feature Set</a:t>
            </a:r>
          </a:p>
        </p:txBody>
      </p:sp>
      <p:sp>
        <p:nvSpPr>
          <p:cNvPr id="5" name="TextBox 4"/>
          <p:cNvSpPr txBox="1"/>
          <p:nvPr/>
        </p:nvSpPr>
        <p:spPr>
          <a:xfrm>
            <a:off x="659853" y="2464380"/>
            <a:ext cx="1285451" cy="296068"/>
          </a:xfrm>
          <a:prstGeom prst="rect">
            <a:avLst/>
          </a:prstGeom>
          <a:noFill/>
        </p:spPr>
        <p:txBody>
          <a:bodyPr wrap="none" lIns="0" tIns="0" rIns="0" bIns="0">
            <a:noAutofit/>
          </a:bodyPr>
          <a:lstStyle/>
          <a:p>
            <a:pPr algn="l"/>
            <a:r>
              <a:rPr sz="1900" dirty="0">
                <a:solidFill>
                  <a:srgbClr val="FFFFFF"/>
                </a:solidFill>
                <a:latin typeface="Helvetica Neue Light"/>
              </a:rPr>
              <a:t>Pain Points</a:t>
            </a:r>
          </a:p>
        </p:txBody>
      </p:sp>
      <p:sp>
        <p:nvSpPr>
          <p:cNvPr id="6" name="TextBox 5"/>
          <p:cNvSpPr txBox="1"/>
          <p:nvPr/>
        </p:nvSpPr>
        <p:spPr>
          <a:xfrm>
            <a:off x="685800" y="2931890"/>
            <a:ext cx="2412448" cy="216560"/>
          </a:xfrm>
          <a:prstGeom prst="rect">
            <a:avLst/>
          </a:prstGeom>
          <a:noFill/>
        </p:spPr>
        <p:txBody>
          <a:bodyPr wrap="none" lIns="0" tIns="0" rIns="0" bIns="0">
            <a:noAutofit/>
          </a:bodyPr>
          <a:lstStyle/>
          <a:p>
            <a:pPr algn="l"/>
            <a:r>
              <a:rPr sz="1400" dirty="0">
                <a:solidFill>
                  <a:srgbClr val="FFFFFF"/>
                </a:solidFill>
                <a:latin typeface="Helvetica Neue Light"/>
              </a:rPr>
              <a:t>• No way to track spending</a:t>
            </a:r>
          </a:p>
        </p:txBody>
      </p:sp>
      <p:sp>
        <p:nvSpPr>
          <p:cNvPr id="7" name="TextBox 6"/>
          <p:cNvSpPr txBox="1"/>
          <p:nvPr/>
        </p:nvSpPr>
        <p:spPr>
          <a:xfrm>
            <a:off x="685800" y="3180810"/>
            <a:ext cx="2556351" cy="577240"/>
          </a:xfrm>
          <a:prstGeom prst="rect">
            <a:avLst/>
          </a:prstGeom>
          <a:noFill/>
        </p:spPr>
        <p:txBody>
          <a:bodyPr wrap="square" lIns="0" tIns="0" rIns="0" bIns="0">
            <a:noAutofit/>
          </a:bodyPr>
          <a:lstStyle/>
          <a:p>
            <a:pPr marL="228600" indent="-228600" algn="l">
              <a:lnSpc>
                <a:spcPts val="2400"/>
              </a:lnSpc>
            </a:pPr>
            <a:r>
              <a:rPr sz="1400" dirty="0">
                <a:solidFill>
                  <a:srgbClr val="FFFFFF"/>
                </a:solidFill>
                <a:latin typeface="Helvetica Neue Light"/>
              </a:rPr>
              <a:t>•	No workspace for monitoring budgets and planning</a:t>
            </a:r>
          </a:p>
        </p:txBody>
      </p:sp>
      <p:sp>
        <p:nvSpPr>
          <p:cNvPr id="9" name="TextBox 8"/>
          <p:cNvSpPr txBox="1"/>
          <p:nvPr/>
        </p:nvSpPr>
        <p:spPr>
          <a:xfrm>
            <a:off x="685800" y="3790410"/>
            <a:ext cx="2279491" cy="577240"/>
          </a:xfrm>
          <a:prstGeom prst="rect">
            <a:avLst/>
          </a:prstGeom>
          <a:noFill/>
        </p:spPr>
        <p:txBody>
          <a:bodyPr wrap="square" lIns="0" tIns="0" rIns="0" bIns="0">
            <a:noAutofit/>
          </a:bodyPr>
          <a:lstStyle/>
          <a:p>
            <a:pPr marL="228600" indent="-228600" algn="l">
              <a:lnSpc>
                <a:spcPts val="2400"/>
              </a:lnSpc>
            </a:pPr>
            <a:r>
              <a:rPr sz="1400" dirty="0">
                <a:solidFill>
                  <a:srgbClr val="FFFFFF"/>
                </a:solidFill>
                <a:latin typeface="Helvetica Neue Light"/>
              </a:rPr>
              <a:t>•	No place to optimize current business finances</a:t>
            </a:r>
          </a:p>
        </p:txBody>
      </p:sp>
      <p:sp>
        <p:nvSpPr>
          <p:cNvPr id="11" name="TextBox 10"/>
          <p:cNvSpPr txBox="1"/>
          <p:nvPr/>
        </p:nvSpPr>
        <p:spPr>
          <a:xfrm>
            <a:off x="685800" y="4455890"/>
            <a:ext cx="2537648" cy="216560"/>
          </a:xfrm>
          <a:prstGeom prst="rect">
            <a:avLst/>
          </a:prstGeom>
          <a:noFill/>
        </p:spPr>
        <p:txBody>
          <a:bodyPr wrap="none" lIns="0" tIns="0" rIns="0" bIns="0">
            <a:noAutofit/>
          </a:bodyPr>
          <a:lstStyle/>
          <a:p>
            <a:pPr algn="l"/>
            <a:r>
              <a:rPr sz="1400" dirty="0">
                <a:solidFill>
                  <a:srgbClr val="FFFFFF"/>
                </a:solidFill>
                <a:latin typeface="Helvetica Neue Light"/>
              </a:rPr>
              <a:t>•  No way to understand and </a:t>
            </a:r>
          </a:p>
        </p:txBody>
      </p:sp>
      <p:sp>
        <p:nvSpPr>
          <p:cNvPr id="12" name="TextBox 11"/>
          <p:cNvSpPr txBox="1"/>
          <p:nvPr/>
        </p:nvSpPr>
        <p:spPr>
          <a:xfrm>
            <a:off x="914400" y="4760690"/>
            <a:ext cx="2353936" cy="216560"/>
          </a:xfrm>
          <a:prstGeom prst="rect">
            <a:avLst/>
          </a:prstGeom>
          <a:noFill/>
        </p:spPr>
        <p:txBody>
          <a:bodyPr wrap="none" lIns="0" tIns="0" rIns="0" bIns="0">
            <a:noAutofit/>
          </a:bodyPr>
          <a:lstStyle/>
          <a:p>
            <a:pPr algn="l"/>
            <a:r>
              <a:rPr sz="1400" dirty="0">
                <a:solidFill>
                  <a:srgbClr val="FFFFFF"/>
                </a:solidFill>
                <a:latin typeface="Helvetica Neue Light"/>
              </a:rPr>
              <a:t>build business for the future</a:t>
            </a:r>
          </a:p>
        </p:txBody>
      </p:sp>
      <p:sp>
        <p:nvSpPr>
          <p:cNvPr id="13" name="TextBox 12"/>
          <p:cNvSpPr txBox="1"/>
          <p:nvPr/>
        </p:nvSpPr>
        <p:spPr>
          <a:xfrm>
            <a:off x="685800" y="5065490"/>
            <a:ext cx="2161857" cy="216560"/>
          </a:xfrm>
          <a:prstGeom prst="rect">
            <a:avLst/>
          </a:prstGeom>
          <a:noFill/>
        </p:spPr>
        <p:txBody>
          <a:bodyPr wrap="none" lIns="0" tIns="0" rIns="0" bIns="0">
            <a:noAutofit/>
          </a:bodyPr>
          <a:lstStyle/>
          <a:p>
            <a:pPr algn="l"/>
            <a:r>
              <a:rPr sz="1400" dirty="0">
                <a:solidFill>
                  <a:srgbClr val="FFFFFF"/>
                </a:solidFill>
                <a:latin typeface="Helvetica Neue Light"/>
              </a:rPr>
              <a:t>• Fractured touch points</a:t>
            </a:r>
          </a:p>
        </p:txBody>
      </p:sp>
      <p:sp>
        <p:nvSpPr>
          <p:cNvPr id="14" name="TextBox 13"/>
          <p:cNvSpPr txBox="1"/>
          <p:nvPr/>
        </p:nvSpPr>
        <p:spPr>
          <a:xfrm>
            <a:off x="685800" y="5370290"/>
            <a:ext cx="1724426" cy="216560"/>
          </a:xfrm>
          <a:prstGeom prst="rect">
            <a:avLst/>
          </a:prstGeom>
          <a:noFill/>
        </p:spPr>
        <p:txBody>
          <a:bodyPr wrap="none" lIns="0" tIns="0" rIns="0" bIns="0">
            <a:noAutofit/>
          </a:bodyPr>
          <a:lstStyle/>
          <a:p>
            <a:pPr algn="l"/>
            <a:r>
              <a:rPr sz="1400" dirty="0">
                <a:solidFill>
                  <a:srgbClr val="FFFFFF"/>
                </a:solidFill>
                <a:latin typeface="Helvetica Neue Light"/>
              </a:rPr>
              <a:t>• No alerts system </a:t>
            </a:r>
          </a:p>
        </p:txBody>
      </p:sp>
      <p:sp>
        <p:nvSpPr>
          <p:cNvPr id="15" name="TextBox 14"/>
          <p:cNvSpPr txBox="1"/>
          <p:nvPr/>
        </p:nvSpPr>
        <p:spPr>
          <a:xfrm>
            <a:off x="3997043" y="2416525"/>
            <a:ext cx="7999164" cy="322388"/>
          </a:xfrm>
          <a:prstGeom prst="rect">
            <a:avLst/>
          </a:prstGeom>
          <a:noFill/>
        </p:spPr>
        <p:txBody>
          <a:bodyPr wrap="none" lIns="0" tIns="0" rIns="0" bIns="0">
            <a:noAutofit/>
          </a:bodyPr>
          <a:lstStyle/>
          <a:p>
            <a:pPr algn="l">
              <a:lnSpc>
                <a:spcPts val="207"/>
              </a:lnSpc>
            </a:pPr>
            <a:r>
              <a:rPr sz="1900" dirty="0">
                <a:solidFill>
                  <a:srgbClr val="000000"/>
                </a:solidFill>
                <a:latin typeface="Helvetica Neue Light"/>
              </a:rPr>
              <a:t>Business Goals</a:t>
            </a:r>
          </a:p>
          <a:p>
            <a:pPr marL="6141534" algn="l">
              <a:lnSpc>
                <a:spcPts val="207"/>
              </a:lnSpc>
            </a:pPr>
            <a:r>
              <a:rPr sz="1900" dirty="0">
                <a:solidFill>
                  <a:srgbClr val="FFFFFF"/>
                </a:solidFill>
                <a:latin typeface="Helvetica Neue Light"/>
              </a:rPr>
              <a:t>Feature Set</a:t>
            </a:r>
          </a:p>
        </p:txBody>
      </p:sp>
      <p:sp>
        <p:nvSpPr>
          <p:cNvPr id="16" name="TextBox 15"/>
          <p:cNvSpPr txBox="1"/>
          <p:nvPr/>
        </p:nvSpPr>
        <p:spPr>
          <a:xfrm>
            <a:off x="10121900" y="2931890"/>
            <a:ext cx="2268338" cy="216560"/>
          </a:xfrm>
          <a:prstGeom prst="rect">
            <a:avLst/>
          </a:prstGeom>
          <a:noFill/>
        </p:spPr>
        <p:txBody>
          <a:bodyPr wrap="none" lIns="0" tIns="0" rIns="0" bIns="0">
            <a:noAutofit/>
          </a:bodyPr>
          <a:lstStyle/>
          <a:p>
            <a:pPr algn="l"/>
            <a:r>
              <a:rPr sz="1450" dirty="0">
                <a:solidFill>
                  <a:srgbClr val="FFFFFF"/>
                </a:solidFill>
                <a:latin typeface="Helvetica Neue Light"/>
              </a:rPr>
              <a:t>• Expense &amp; Spending </a:t>
            </a:r>
          </a:p>
        </p:txBody>
      </p:sp>
      <p:sp>
        <p:nvSpPr>
          <p:cNvPr id="17" name="TextBox 16"/>
          <p:cNvSpPr txBox="1"/>
          <p:nvPr/>
        </p:nvSpPr>
        <p:spPr>
          <a:xfrm>
            <a:off x="10371073" y="3236690"/>
            <a:ext cx="772905" cy="216560"/>
          </a:xfrm>
          <a:prstGeom prst="rect">
            <a:avLst/>
          </a:prstGeom>
          <a:noFill/>
        </p:spPr>
        <p:txBody>
          <a:bodyPr wrap="none" lIns="0" tIns="0" rIns="0" bIns="0">
            <a:noAutofit/>
          </a:bodyPr>
          <a:lstStyle/>
          <a:p>
            <a:pPr algn="l"/>
            <a:r>
              <a:rPr sz="1450" dirty="0">
                <a:solidFill>
                  <a:srgbClr val="FFFFFF"/>
                </a:solidFill>
                <a:latin typeface="Helvetica Neue Light"/>
              </a:rPr>
              <a:t>Tracker </a:t>
            </a:r>
          </a:p>
        </p:txBody>
      </p:sp>
      <p:sp>
        <p:nvSpPr>
          <p:cNvPr id="18" name="TextBox 17"/>
          <p:cNvSpPr txBox="1"/>
          <p:nvPr/>
        </p:nvSpPr>
        <p:spPr>
          <a:xfrm>
            <a:off x="10121900" y="3491960"/>
            <a:ext cx="2174433" cy="875690"/>
          </a:xfrm>
          <a:prstGeom prst="rect">
            <a:avLst/>
          </a:prstGeom>
          <a:noFill/>
        </p:spPr>
        <p:txBody>
          <a:bodyPr wrap="square" lIns="0" tIns="0" rIns="0" bIns="0">
            <a:noAutofit/>
          </a:bodyPr>
          <a:lstStyle/>
          <a:p>
            <a:pPr marL="249173" indent="-249173" algn="l">
              <a:lnSpc>
                <a:spcPts val="2400"/>
              </a:lnSpc>
            </a:pPr>
            <a:r>
              <a:rPr sz="1450" dirty="0">
                <a:solidFill>
                  <a:srgbClr val="FFFFFF"/>
                </a:solidFill>
                <a:latin typeface="Helvetica Neue Light"/>
              </a:rPr>
              <a:t>•	Budget and Goal Planning Wizard and Workspace</a:t>
            </a:r>
          </a:p>
        </p:txBody>
      </p:sp>
      <p:sp>
        <p:nvSpPr>
          <p:cNvPr id="21" name="TextBox 20"/>
          <p:cNvSpPr txBox="1"/>
          <p:nvPr/>
        </p:nvSpPr>
        <p:spPr>
          <a:xfrm>
            <a:off x="10121900" y="4406360"/>
            <a:ext cx="2250712" cy="875690"/>
          </a:xfrm>
          <a:prstGeom prst="rect">
            <a:avLst/>
          </a:prstGeom>
          <a:noFill/>
        </p:spPr>
        <p:txBody>
          <a:bodyPr wrap="square" lIns="0" tIns="0" rIns="0" bIns="0">
            <a:noAutofit/>
          </a:bodyPr>
          <a:lstStyle/>
          <a:p>
            <a:pPr marL="249173" indent="-249173" algn="l">
              <a:lnSpc>
                <a:spcPts val="2400"/>
              </a:lnSpc>
            </a:pPr>
            <a:r>
              <a:rPr sz="1450" dirty="0">
                <a:solidFill>
                  <a:srgbClr val="FFFFFF"/>
                </a:solidFill>
                <a:latin typeface="Helvetica Neue Light"/>
              </a:rPr>
              <a:t>•	Business Optimizer and Data Visualization Functionality</a:t>
            </a:r>
          </a:p>
        </p:txBody>
      </p:sp>
      <p:sp>
        <p:nvSpPr>
          <p:cNvPr id="24" name="TextBox 23"/>
          <p:cNvSpPr txBox="1"/>
          <p:nvPr/>
        </p:nvSpPr>
        <p:spPr>
          <a:xfrm>
            <a:off x="10121900" y="5370290"/>
            <a:ext cx="2033075" cy="216560"/>
          </a:xfrm>
          <a:prstGeom prst="rect">
            <a:avLst/>
          </a:prstGeom>
          <a:noFill/>
        </p:spPr>
        <p:txBody>
          <a:bodyPr wrap="none" lIns="0" tIns="0" rIns="0" bIns="0">
            <a:noAutofit/>
          </a:bodyPr>
          <a:lstStyle/>
          <a:p>
            <a:pPr algn="l"/>
            <a:r>
              <a:rPr sz="1450" dirty="0">
                <a:solidFill>
                  <a:srgbClr val="FFFFFF"/>
                </a:solidFill>
                <a:latin typeface="Helvetica Neue Light"/>
              </a:rPr>
              <a:t>• Photo Receipt and </a:t>
            </a:r>
          </a:p>
        </p:txBody>
      </p:sp>
      <p:sp>
        <p:nvSpPr>
          <p:cNvPr id="25" name="TextBox 24"/>
          <p:cNvSpPr txBox="1"/>
          <p:nvPr/>
        </p:nvSpPr>
        <p:spPr>
          <a:xfrm>
            <a:off x="10371073" y="5675090"/>
            <a:ext cx="1464661" cy="216560"/>
          </a:xfrm>
          <a:prstGeom prst="rect">
            <a:avLst/>
          </a:prstGeom>
          <a:noFill/>
        </p:spPr>
        <p:txBody>
          <a:bodyPr wrap="none" lIns="0" tIns="0" rIns="0" bIns="0">
            <a:noAutofit/>
          </a:bodyPr>
          <a:lstStyle/>
          <a:p>
            <a:pPr algn="l"/>
            <a:r>
              <a:rPr sz="1450" dirty="0">
                <a:solidFill>
                  <a:srgbClr val="FFFFFF"/>
                </a:solidFill>
                <a:latin typeface="Helvetica Neue Light"/>
              </a:rPr>
              <a:t>Check Capture </a:t>
            </a:r>
          </a:p>
        </p:txBody>
      </p:sp>
      <p:sp>
        <p:nvSpPr>
          <p:cNvPr id="26" name="TextBox 25"/>
          <p:cNvSpPr txBox="1"/>
          <p:nvPr/>
        </p:nvSpPr>
        <p:spPr>
          <a:xfrm>
            <a:off x="10121900" y="5979890"/>
            <a:ext cx="2086658" cy="216560"/>
          </a:xfrm>
          <a:prstGeom prst="rect">
            <a:avLst/>
          </a:prstGeom>
          <a:noFill/>
        </p:spPr>
        <p:txBody>
          <a:bodyPr wrap="none" lIns="0" tIns="0" rIns="0" bIns="0">
            <a:noAutofit/>
          </a:bodyPr>
          <a:lstStyle/>
          <a:p>
            <a:pPr algn="l"/>
            <a:r>
              <a:rPr sz="1450" dirty="0">
                <a:solidFill>
                  <a:srgbClr val="FFFFFF"/>
                </a:solidFill>
                <a:latin typeface="Helvetica Neue Light"/>
              </a:rPr>
              <a:t>• Alert and Predictive</a:t>
            </a:r>
          </a:p>
        </p:txBody>
      </p:sp>
      <p:sp>
        <p:nvSpPr>
          <p:cNvPr id="27" name="TextBox 26"/>
          <p:cNvSpPr txBox="1"/>
          <p:nvPr/>
        </p:nvSpPr>
        <p:spPr>
          <a:xfrm>
            <a:off x="10121900" y="6284690"/>
            <a:ext cx="1368970" cy="216560"/>
          </a:xfrm>
          <a:prstGeom prst="rect">
            <a:avLst/>
          </a:prstGeom>
          <a:noFill/>
        </p:spPr>
        <p:txBody>
          <a:bodyPr wrap="none" lIns="0" tIns="0" rIns="0" bIns="0">
            <a:noAutofit/>
          </a:bodyPr>
          <a:lstStyle/>
          <a:p>
            <a:pPr algn="l"/>
            <a:r>
              <a:rPr sz="1450" dirty="0">
                <a:solidFill>
                  <a:srgbClr val="FFFFFF"/>
                </a:solidFill>
                <a:latin typeface="Helvetica Neue Light"/>
              </a:rPr>
              <a:t>• Tip System </a:t>
            </a:r>
          </a:p>
        </p:txBody>
      </p:sp>
      <p:sp>
        <p:nvSpPr>
          <p:cNvPr id="28" name="TextBox 27"/>
          <p:cNvSpPr txBox="1"/>
          <p:nvPr/>
        </p:nvSpPr>
        <p:spPr>
          <a:xfrm>
            <a:off x="10121900" y="6589490"/>
            <a:ext cx="2320035" cy="216560"/>
          </a:xfrm>
          <a:prstGeom prst="rect">
            <a:avLst/>
          </a:prstGeom>
          <a:noFill/>
        </p:spPr>
        <p:txBody>
          <a:bodyPr wrap="none" lIns="0" tIns="0" rIns="0" bIns="0">
            <a:noAutofit/>
          </a:bodyPr>
          <a:lstStyle/>
          <a:p>
            <a:pPr algn="l"/>
            <a:r>
              <a:rPr sz="1450" dirty="0">
                <a:solidFill>
                  <a:srgbClr val="FFFFFF"/>
                </a:solidFill>
                <a:latin typeface="Helvetica Neue Light"/>
              </a:rPr>
              <a:t>• Multiple Form Factors </a:t>
            </a:r>
          </a:p>
        </p:txBody>
      </p:sp>
      <p:sp>
        <p:nvSpPr>
          <p:cNvPr id="29" name="TextBox 28"/>
          <p:cNvSpPr txBox="1"/>
          <p:nvPr/>
        </p:nvSpPr>
        <p:spPr>
          <a:xfrm>
            <a:off x="10121900" y="6844760"/>
            <a:ext cx="1878270" cy="570890"/>
          </a:xfrm>
          <a:prstGeom prst="rect">
            <a:avLst/>
          </a:prstGeom>
          <a:noFill/>
        </p:spPr>
        <p:txBody>
          <a:bodyPr wrap="square" lIns="0" tIns="0" rIns="0" bIns="0">
            <a:noAutofit/>
          </a:bodyPr>
          <a:lstStyle/>
          <a:p>
            <a:pPr marL="249173" indent="-249173" algn="l">
              <a:lnSpc>
                <a:spcPts val="2400"/>
              </a:lnSpc>
            </a:pPr>
            <a:r>
              <a:rPr sz="1450" dirty="0">
                <a:solidFill>
                  <a:srgbClr val="FFFFFF"/>
                </a:solidFill>
                <a:latin typeface="Helvetica Neue Light"/>
              </a:rPr>
              <a:t>•	Geared to Users lifestyle</a:t>
            </a:r>
          </a:p>
        </p:txBody>
      </p:sp>
      <p:sp>
        <p:nvSpPr>
          <p:cNvPr id="31" name="TextBox 30"/>
          <p:cNvSpPr txBox="1"/>
          <p:nvPr/>
        </p:nvSpPr>
        <p:spPr>
          <a:xfrm>
            <a:off x="10121900" y="7503890"/>
            <a:ext cx="2187753" cy="216560"/>
          </a:xfrm>
          <a:prstGeom prst="rect">
            <a:avLst/>
          </a:prstGeom>
          <a:noFill/>
        </p:spPr>
        <p:txBody>
          <a:bodyPr wrap="none" lIns="0" tIns="0" rIns="0" bIns="0">
            <a:noAutofit/>
          </a:bodyPr>
          <a:lstStyle/>
          <a:p>
            <a:pPr algn="l"/>
            <a:r>
              <a:rPr sz="1400" dirty="0">
                <a:solidFill>
                  <a:srgbClr val="FFFFFF"/>
                </a:solidFill>
                <a:latin typeface="Helvetica Neue Light"/>
              </a:rPr>
              <a:t>• Chatbot, Voice-based  </a:t>
            </a:r>
          </a:p>
        </p:txBody>
      </p:sp>
      <p:sp>
        <p:nvSpPr>
          <p:cNvPr id="32" name="TextBox 31"/>
          <p:cNvSpPr txBox="1"/>
          <p:nvPr/>
        </p:nvSpPr>
        <p:spPr>
          <a:xfrm>
            <a:off x="10350500" y="7808690"/>
            <a:ext cx="1561451" cy="216560"/>
          </a:xfrm>
          <a:prstGeom prst="rect">
            <a:avLst/>
          </a:prstGeom>
          <a:noFill/>
        </p:spPr>
        <p:txBody>
          <a:bodyPr wrap="none" lIns="0" tIns="0" rIns="0" bIns="0">
            <a:noAutofit/>
          </a:bodyPr>
          <a:lstStyle/>
          <a:p>
            <a:pPr algn="l"/>
            <a:r>
              <a:rPr sz="1400" dirty="0">
                <a:solidFill>
                  <a:srgbClr val="FFFFFF"/>
                </a:solidFill>
                <a:latin typeface="Helvetica Neue Light"/>
              </a:rPr>
              <a:t>Customer Support</a:t>
            </a:r>
          </a:p>
        </p:txBody>
      </p:sp>
      <p:sp>
        <p:nvSpPr>
          <p:cNvPr id="33" name="TextBox 32"/>
          <p:cNvSpPr txBox="1"/>
          <p:nvPr/>
        </p:nvSpPr>
        <p:spPr>
          <a:xfrm>
            <a:off x="3937000" y="2931890"/>
            <a:ext cx="2187587" cy="216560"/>
          </a:xfrm>
          <a:prstGeom prst="rect">
            <a:avLst/>
          </a:prstGeom>
          <a:noFill/>
        </p:spPr>
        <p:txBody>
          <a:bodyPr wrap="none" lIns="0" tIns="0" rIns="0" bIns="0">
            <a:noAutofit/>
          </a:bodyPr>
          <a:lstStyle/>
          <a:p>
            <a:pPr algn="l"/>
            <a:r>
              <a:rPr sz="1400" dirty="0">
                <a:solidFill>
                  <a:srgbClr val="000000"/>
                </a:solidFill>
                <a:latin typeface="Helvetica Neue Light"/>
              </a:rPr>
              <a:t>• Integrated applications</a:t>
            </a:r>
          </a:p>
        </p:txBody>
      </p:sp>
      <p:sp>
        <p:nvSpPr>
          <p:cNvPr id="34" name="TextBox 33"/>
          <p:cNvSpPr txBox="1"/>
          <p:nvPr/>
        </p:nvSpPr>
        <p:spPr>
          <a:xfrm>
            <a:off x="3937000" y="3236690"/>
            <a:ext cx="859741" cy="216560"/>
          </a:xfrm>
          <a:prstGeom prst="rect">
            <a:avLst/>
          </a:prstGeom>
          <a:noFill/>
        </p:spPr>
        <p:txBody>
          <a:bodyPr wrap="none" lIns="0" tIns="0" rIns="0" bIns="0">
            <a:noAutofit/>
          </a:bodyPr>
          <a:lstStyle/>
          <a:p>
            <a:pPr algn="l"/>
            <a:r>
              <a:rPr sz="1400" dirty="0">
                <a:solidFill>
                  <a:srgbClr val="000000"/>
                </a:solidFill>
                <a:latin typeface="Helvetica Neue Light"/>
              </a:rPr>
              <a:t>• Mobile</a:t>
            </a:r>
          </a:p>
        </p:txBody>
      </p:sp>
      <p:sp>
        <p:nvSpPr>
          <p:cNvPr id="35" name="TextBox 34"/>
          <p:cNvSpPr txBox="1"/>
          <p:nvPr/>
        </p:nvSpPr>
        <p:spPr>
          <a:xfrm>
            <a:off x="3937000" y="3541490"/>
            <a:ext cx="1841350" cy="216560"/>
          </a:xfrm>
          <a:prstGeom prst="rect">
            <a:avLst/>
          </a:prstGeom>
          <a:noFill/>
        </p:spPr>
        <p:txBody>
          <a:bodyPr wrap="none" lIns="0" tIns="0" rIns="0" bIns="0">
            <a:noAutofit/>
          </a:bodyPr>
          <a:lstStyle/>
          <a:p>
            <a:pPr algn="l"/>
            <a:r>
              <a:rPr sz="1400" dirty="0">
                <a:solidFill>
                  <a:srgbClr val="000000"/>
                </a:solidFill>
                <a:latin typeface="Helvetica Neue Light"/>
              </a:rPr>
              <a:t>• Functionality Parity</a:t>
            </a:r>
          </a:p>
        </p:txBody>
      </p:sp>
      <p:sp>
        <p:nvSpPr>
          <p:cNvPr id="36" name="TextBox 35"/>
          <p:cNvSpPr txBox="1"/>
          <p:nvPr/>
        </p:nvSpPr>
        <p:spPr>
          <a:xfrm>
            <a:off x="3937000" y="3846290"/>
            <a:ext cx="1908576" cy="216560"/>
          </a:xfrm>
          <a:prstGeom prst="rect">
            <a:avLst/>
          </a:prstGeom>
          <a:noFill/>
        </p:spPr>
        <p:txBody>
          <a:bodyPr wrap="none" lIns="0" tIns="0" rIns="0" bIns="0">
            <a:noAutofit/>
          </a:bodyPr>
          <a:lstStyle/>
          <a:p>
            <a:pPr algn="l"/>
            <a:r>
              <a:rPr sz="1400" dirty="0">
                <a:solidFill>
                  <a:srgbClr val="000000"/>
                </a:solidFill>
                <a:latin typeface="Helvetica Neue Light"/>
              </a:rPr>
              <a:t>• Optimize customer </a:t>
            </a:r>
          </a:p>
        </p:txBody>
      </p:sp>
      <p:sp>
        <p:nvSpPr>
          <p:cNvPr id="37" name="TextBox 36"/>
          <p:cNvSpPr txBox="1"/>
          <p:nvPr/>
        </p:nvSpPr>
        <p:spPr>
          <a:xfrm>
            <a:off x="3275991" y="4102315"/>
            <a:ext cx="6898392" cy="695162"/>
          </a:xfrm>
          <a:prstGeom prst="rect">
            <a:avLst/>
          </a:prstGeom>
          <a:noFill/>
        </p:spPr>
        <p:txBody>
          <a:bodyPr wrap="none" lIns="0" tIns="0" rIns="0" bIns="0">
            <a:noAutofit/>
          </a:bodyPr>
          <a:lstStyle/>
          <a:p>
            <a:pPr marL="889608" algn="l">
              <a:lnSpc>
                <a:spcPts val="1202"/>
              </a:lnSpc>
            </a:pPr>
            <a:r>
              <a:rPr sz="1400" dirty="0">
                <a:solidFill>
                  <a:srgbClr val="000000"/>
                </a:solidFill>
                <a:latin typeface="Helvetica Neue Light"/>
              </a:rPr>
              <a:t>service experience</a:t>
            </a:r>
          </a:p>
          <a:p>
            <a:pPr marL="6066348" algn="l">
              <a:lnSpc>
                <a:spcPts val="1202"/>
              </a:lnSpc>
              <a:spcBef>
                <a:spcPts val="1027"/>
              </a:spcBef>
            </a:pPr>
            <a:r>
              <a:rPr sz="4350" dirty="0">
                <a:solidFill>
                  <a:srgbClr val="000000"/>
                </a:solidFill>
                <a:latin typeface="Helvetica Neue Light"/>
              </a:rPr>
              <a:t>=</a:t>
            </a:r>
          </a:p>
          <a:p>
            <a:pPr algn="l">
              <a:lnSpc>
                <a:spcPts val="1202"/>
              </a:lnSpc>
            </a:pPr>
            <a:r>
              <a:rPr sz="4350" dirty="0">
                <a:solidFill>
                  <a:srgbClr val="000000"/>
                </a:solidFill>
                <a:latin typeface="Helvetica Neue Light"/>
              </a:rPr>
              <a:t>+</a:t>
            </a:r>
          </a:p>
        </p:txBody>
      </p:sp>
      <p:sp>
        <p:nvSpPr>
          <p:cNvPr id="38" name="TextBox 37"/>
          <p:cNvSpPr txBox="1"/>
          <p:nvPr/>
        </p:nvSpPr>
        <p:spPr>
          <a:xfrm>
            <a:off x="7025657" y="2402562"/>
            <a:ext cx="1404900" cy="296068"/>
          </a:xfrm>
          <a:prstGeom prst="rect">
            <a:avLst/>
          </a:prstGeom>
          <a:noFill/>
        </p:spPr>
        <p:txBody>
          <a:bodyPr wrap="none" lIns="0" tIns="0" rIns="0" bIns="0">
            <a:noAutofit/>
          </a:bodyPr>
          <a:lstStyle/>
          <a:p>
            <a:pPr algn="l"/>
            <a:r>
              <a:rPr sz="1900" dirty="0">
                <a:solidFill>
                  <a:srgbClr val="FFFFFF"/>
                </a:solidFill>
                <a:latin typeface="Helvetica Neue Light"/>
              </a:rPr>
              <a:t>UX Strategy</a:t>
            </a:r>
          </a:p>
        </p:txBody>
      </p:sp>
      <p:sp>
        <p:nvSpPr>
          <p:cNvPr id="39" name="TextBox 38"/>
          <p:cNvSpPr txBox="1"/>
          <p:nvPr/>
        </p:nvSpPr>
        <p:spPr>
          <a:xfrm>
            <a:off x="6934200" y="2931890"/>
            <a:ext cx="797525" cy="216560"/>
          </a:xfrm>
          <a:prstGeom prst="rect">
            <a:avLst/>
          </a:prstGeom>
          <a:noFill/>
        </p:spPr>
        <p:txBody>
          <a:bodyPr wrap="none" lIns="0" tIns="0" rIns="0" bIns="0">
            <a:noAutofit/>
          </a:bodyPr>
          <a:lstStyle/>
          <a:p>
            <a:pPr algn="l"/>
            <a:r>
              <a:rPr sz="1400" dirty="0">
                <a:solidFill>
                  <a:srgbClr val="FFFFFF"/>
                </a:solidFill>
                <a:latin typeface="Helvetica Neue Light"/>
              </a:rPr>
              <a:t>• Guide</a:t>
            </a:r>
          </a:p>
        </p:txBody>
      </p:sp>
      <p:sp>
        <p:nvSpPr>
          <p:cNvPr id="40" name="TextBox 39"/>
          <p:cNvSpPr txBox="1"/>
          <p:nvPr/>
        </p:nvSpPr>
        <p:spPr>
          <a:xfrm>
            <a:off x="6934200" y="3236690"/>
            <a:ext cx="975916" cy="216560"/>
          </a:xfrm>
          <a:prstGeom prst="rect">
            <a:avLst/>
          </a:prstGeom>
          <a:noFill/>
        </p:spPr>
        <p:txBody>
          <a:bodyPr wrap="none" lIns="0" tIns="0" rIns="0" bIns="0">
            <a:noAutofit/>
          </a:bodyPr>
          <a:lstStyle/>
          <a:p>
            <a:pPr algn="l"/>
            <a:r>
              <a:rPr sz="1400" dirty="0">
                <a:solidFill>
                  <a:srgbClr val="FFFFFF"/>
                </a:solidFill>
                <a:latin typeface="Helvetica Neue Light"/>
              </a:rPr>
              <a:t>• Educate</a:t>
            </a:r>
          </a:p>
        </p:txBody>
      </p:sp>
      <p:sp>
        <p:nvSpPr>
          <p:cNvPr id="41" name="TextBox 40"/>
          <p:cNvSpPr txBox="1"/>
          <p:nvPr/>
        </p:nvSpPr>
        <p:spPr>
          <a:xfrm>
            <a:off x="6934200" y="3541490"/>
            <a:ext cx="1038706" cy="216560"/>
          </a:xfrm>
          <a:prstGeom prst="rect">
            <a:avLst/>
          </a:prstGeom>
          <a:noFill/>
        </p:spPr>
        <p:txBody>
          <a:bodyPr wrap="none" lIns="0" tIns="0" rIns="0" bIns="0">
            <a:noAutofit/>
          </a:bodyPr>
          <a:lstStyle/>
          <a:p>
            <a:pPr algn="l"/>
            <a:r>
              <a:rPr sz="1400" dirty="0">
                <a:solidFill>
                  <a:srgbClr val="FFFFFF"/>
                </a:solidFill>
                <a:latin typeface="Helvetica Neue Light"/>
              </a:rPr>
              <a:t>• Optimize</a:t>
            </a:r>
          </a:p>
        </p:txBody>
      </p:sp>
      <p:sp>
        <p:nvSpPr>
          <p:cNvPr id="42" name="TextBox 41"/>
          <p:cNvSpPr txBox="1"/>
          <p:nvPr/>
        </p:nvSpPr>
        <p:spPr>
          <a:xfrm>
            <a:off x="6934200" y="3846290"/>
            <a:ext cx="875487" cy="216560"/>
          </a:xfrm>
          <a:prstGeom prst="rect">
            <a:avLst/>
          </a:prstGeom>
          <a:noFill/>
        </p:spPr>
        <p:txBody>
          <a:bodyPr wrap="none" lIns="0" tIns="0" rIns="0" bIns="0">
            <a:noAutofit/>
          </a:bodyPr>
          <a:lstStyle/>
          <a:p>
            <a:pPr algn="l"/>
            <a:r>
              <a:rPr sz="1400" dirty="0">
                <a:solidFill>
                  <a:srgbClr val="FFFFFF"/>
                </a:solidFill>
                <a:latin typeface="Helvetica Neue Light"/>
              </a:rPr>
              <a:t>• Predict</a:t>
            </a:r>
          </a:p>
        </p:txBody>
      </p:sp>
      <p:sp>
        <p:nvSpPr>
          <p:cNvPr id="43" name="TextBox 42"/>
          <p:cNvSpPr txBox="1"/>
          <p:nvPr/>
        </p:nvSpPr>
        <p:spPr>
          <a:xfrm>
            <a:off x="6934200" y="4151090"/>
            <a:ext cx="1444455" cy="216560"/>
          </a:xfrm>
          <a:prstGeom prst="rect">
            <a:avLst/>
          </a:prstGeom>
          <a:noFill/>
        </p:spPr>
        <p:txBody>
          <a:bodyPr wrap="none" lIns="0" tIns="0" rIns="0" bIns="0">
            <a:noAutofit/>
          </a:bodyPr>
          <a:lstStyle/>
          <a:p>
            <a:pPr algn="l"/>
            <a:r>
              <a:rPr sz="1400" dirty="0">
                <a:solidFill>
                  <a:srgbClr val="FFFFFF"/>
                </a:solidFill>
                <a:latin typeface="Helvetica Neue Light"/>
              </a:rPr>
              <a:t>• Communicate</a:t>
            </a:r>
          </a:p>
        </p:txBody>
      </p:sp>
      <p:sp>
        <p:nvSpPr>
          <p:cNvPr id="44" name="TextBox 43"/>
          <p:cNvSpPr txBox="1"/>
          <p:nvPr/>
        </p:nvSpPr>
        <p:spPr>
          <a:xfrm>
            <a:off x="6934200" y="4455890"/>
            <a:ext cx="1099195" cy="216560"/>
          </a:xfrm>
          <a:prstGeom prst="rect">
            <a:avLst/>
          </a:prstGeom>
          <a:noFill/>
        </p:spPr>
        <p:txBody>
          <a:bodyPr wrap="none" lIns="0" tIns="0" rIns="0" bIns="0">
            <a:noAutofit/>
          </a:bodyPr>
          <a:lstStyle/>
          <a:p>
            <a:pPr algn="l"/>
            <a:r>
              <a:rPr sz="1400" dirty="0">
                <a:solidFill>
                  <a:srgbClr val="FFFFFF"/>
                </a:solidFill>
                <a:latin typeface="Helvetica Neue Light"/>
              </a:rPr>
              <a:t>• Automate</a:t>
            </a:r>
          </a:p>
        </p:txBody>
      </p:sp>
      <p:sp>
        <p:nvSpPr>
          <p:cNvPr id="45" name="TextBox 44"/>
          <p:cNvSpPr txBox="1"/>
          <p:nvPr/>
        </p:nvSpPr>
        <p:spPr>
          <a:xfrm>
            <a:off x="6934200" y="4760690"/>
            <a:ext cx="1255695" cy="216560"/>
          </a:xfrm>
          <a:prstGeom prst="rect">
            <a:avLst/>
          </a:prstGeom>
          <a:noFill/>
        </p:spPr>
        <p:txBody>
          <a:bodyPr wrap="none" lIns="0" tIns="0" rIns="0" bIns="0">
            <a:noAutofit/>
          </a:bodyPr>
          <a:lstStyle/>
          <a:p>
            <a:pPr algn="l"/>
            <a:r>
              <a:rPr sz="1400" dirty="0">
                <a:solidFill>
                  <a:srgbClr val="FFFFFF"/>
                </a:solidFill>
                <a:latin typeface="Helvetica Neue Light"/>
              </a:rPr>
              <a:t>• Technology</a:t>
            </a:r>
          </a:p>
        </p:txBody>
      </p:sp>
      <p:sp>
        <p:nvSpPr>
          <p:cNvPr id="46" name="TextBox 45"/>
          <p:cNvSpPr txBox="1"/>
          <p:nvPr/>
        </p:nvSpPr>
        <p:spPr>
          <a:xfrm>
            <a:off x="6934200" y="5065490"/>
            <a:ext cx="1977319" cy="216560"/>
          </a:xfrm>
          <a:prstGeom prst="rect">
            <a:avLst/>
          </a:prstGeom>
          <a:noFill/>
        </p:spPr>
        <p:txBody>
          <a:bodyPr wrap="none" lIns="0" tIns="0" rIns="0" bIns="0">
            <a:noAutofit/>
          </a:bodyPr>
          <a:lstStyle/>
          <a:p>
            <a:pPr algn="l"/>
            <a:r>
              <a:rPr sz="1400" dirty="0">
                <a:solidFill>
                  <a:srgbClr val="FFFFFF"/>
                </a:solidFill>
                <a:latin typeface="Helvetica Neue Light"/>
              </a:rPr>
              <a:t>• Always available  to </a:t>
            </a:r>
          </a:p>
        </p:txBody>
      </p:sp>
      <p:sp>
        <p:nvSpPr>
          <p:cNvPr id="47" name="TextBox 46"/>
          <p:cNvSpPr txBox="1"/>
          <p:nvPr/>
        </p:nvSpPr>
        <p:spPr>
          <a:xfrm>
            <a:off x="7162800" y="5370290"/>
            <a:ext cx="413340" cy="216560"/>
          </a:xfrm>
          <a:prstGeom prst="rect">
            <a:avLst/>
          </a:prstGeom>
          <a:noFill/>
        </p:spPr>
        <p:txBody>
          <a:bodyPr wrap="none" lIns="0" tIns="0" rIns="0" bIns="0">
            <a:noAutofit/>
          </a:bodyPr>
          <a:lstStyle/>
          <a:p>
            <a:pPr algn="l"/>
            <a:r>
              <a:rPr sz="1400" dirty="0">
                <a:solidFill>
                  <a:srgbClr val="FFFFFF"/>
                </a:solidFill>
                <a:latin typeface="Helvetica Neue Light"/>
              </a:rPr>
              <a:t>help</a:t>
            </a:r>
          </a:p>
        </p:txBody>
      </p:sp>
      <p:sp>
        <p:nvSpPr>
          <p:cNvPr id="48" name="TextBox 47"/>
          <p:cNvSpPr txBox="1"/>
          <p:nvPr/>
        </p:nvSpPr>
        <p:spPr>
          <a:xfrm>
            <a:off x="6171003" y="4102315"/>
            <a:ext cx="346736" cy="672884"/>
          </a:xfrm>
          <a:prstGeom prst="rect">
            <a:avLst/>
          </a:prstGeom>
          <a:noFill/>
        </p:spPr>
        <p:txBody>
          <a:bodyPr wrap="none" lIns="0" tIns="0" rIns="0" bIns="0">
            <a:noAutofit/>
          </a:bodyPr>
          <a:lstStyle/>
          <a:p>
            <a:pPr algn="l"/>
            <a:r>
              <a:rPr sz="4350" dirty="0">
                <a:solidFill>
                  <a:srgbClr val="000000"/>
                </a:solidFill>
                <a:latin typeface="Helvetica Neue Light"/>
              </a:rPr>
              <a:t>+</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939800" y="1050539"/>
            <a:ext cx="2586284" cy="866241"/>
          </a:xfrm>
          <a:prstGeom prst="rect">
            <a:avLst/>
          </a:prstGeom>
          <a:noFill/>
        </p:spPr>
        <p:txBody>
          <a:bodyPr wrap="none" lIns="0" tIns="0" rIns="0" bIns="0">
            <a:noAutofit/>
          </a:bodyPr>
          <a:lstStyle/>
          <a:p>
            <a:pPr algn="l"/>
            <a:r>
              <a:rPr sz="5600" dirty="0">
                <a:solidFill>
                  <a:srgbClr val="FFFFFF"/>
                </a:solidFill>
                <a:latin typeface="Helvetica Neue Light"/>
              </a:rPr>
              <a:t>Design </a:t>
            </a:r>
          </a:p>
        </p:txBody>
      </p:sp>
      <p:sp>
        <p:nvSpPr>
          <p:cNvPr id="4" name="TextBox 3"/>
          <p:cNvSpPr txBox="1"/>
          <p:nvPr/>
        </p:nvSpPr>
        <p:spPr>
          <a:xfrm>
            <a:off x="939800" y="2692699"/>
            <a:ext cx="4865609" cy="532180"/>
          </a:xfrm>
          <a:prstGeom prst="rect">
            <a:avLst/>
          </a:prstGeom>
          <a:noFill/>
        </p:spPr>
        <p:txBody>
          <a:bodyPr wrap="none" lIns="0" tIns="0" rIns="0" bIns="0">
            <a:noAutofit/>
          </a:bodyPr>
          <a:lstStyle/>
          <a:p>
            <a:pPr algn="l"/>
            <a:r>
              <a:rPr sz="3600" dirty="0">
                <a:solidFill>
                  <a:srgbClr val="FFFFFF"/>
                </a:solidFill>
                <a:latin typeface="Helvetica Neue Thin"/>
              </a:rPr>
              <a:t>The Delivered Solution</a:t>
            </a:r>
          </a:p>
        </p:txBody>
      </p:sp>
      <p:sp>
        <p:nvSpPr>
          <p:cNvPr id="5" name="TextBox 4"/>
          <p:cNvSpPr txBox="1"/>
          <p:nvPr/>
        </p:nvSpPr>
        <p:spPr>
          <a:xfrm>
            <a:off x="6724650" y="808735"/>
            <a:ext cx="4406725" cy="1362456"/>
          </a:xfrm>
          <a:prstGeom prst="rect">
            <a:avLst/>
          </a:prstGeom>
          <a:noFill/>
        </p:spPr>
        <p:txBody>
          <a:bodyPr wrap="none" lIns="0" tIns="0" rIns="0" bIns="0">
            <a:noAutofit/>
          </a:bodyPr>
          <a:lstStyle/>
          <a:p>
            <a:pPr algn="l">
              <a:lnSpc>
                <a:spcPts val="2800"/>
              </a:lnSpc>
            </a:pPr>
            <a:r>
              <a:rPr sz="2000" dirty="0">
                <a:solidFill>
                  <a:srgbClr val="FFFFFF"/>
                </a:solidFill>
                <a:latin typeface="Helvetica Neue Thin"/>
              </a:rPr>
              <a:t>• Feature refinement and road map </a:t>
            </a:r>
          </a:p>
          <a:p>
            <a:pPr algn="l">
              <a:lnSpc>
                <a:spcPts val="2800"/>
              </a:lnSpc>
            </a:pPr>
            <a:r>
              <a:rPr sz="2000" dirty="0">
                <a:solidFill>
                  <a:srgbClr val="FFFFFF"/>
                </a:solidFill>
                <a:latin typeface="Helvetica Neue Thin"/>
              </a:rPr>
              <a:t>• 22 projected Agile-based sprints</a:t>
            </a:r>
          </a:p>
          <a:p>
            <a:pPr algn="l">
              <a:lnSpc>
                <a:spcPts val="2800"/>
              </a:lnSpc>
            </a:pPr>
            <a:r>
              <a:rPr sz="2000" dirty="0">
                <a:solidFill>
                  <a:srgbClr val="FFFFFF"/>
                </a:solidFill>
                <a:latin typeface="Helvetica Neue Thin"/>
              </a:rPr>
              <a:t>• Usability testing on weekly cadence</a:t>
            </a:r>
          </a:p>
          <a:p>
            <a:pPr algn="l">
              <a:lnSpc>
                <a:spcPts val="2800"/>
              </a:lnSpc>
            </a:pPr>
            <a:r>
              <a:rPr sz="2000" dirty="0">
                <a:solidFill>
                  <a:srgbClr val="FFFFFF"/>
                </a:solidFill>
                <a:latin typeface="Helvetica Neue Thin"/>
              </a:rPr>
              <a:t>• Demos and QA</a:t>
            </a:r>
          </a:p>
        </p:txBody>
      </p:sp>
      <p:sp>
        <p:nvSpPr>
          <p:cNvPr id="6" name="TextBox 5"/>
          <p:cNvSpPr txBox="1"/>
          <p:nvPr/>
        </p:nvSpPr>
        <p:spPr>
          <a:xfrm>
            <a:off x="1028700" y="3344467"/>
            <a:ext cx="10938351" cy="1161084"/>
          </a:xfrm>
          <a:prstGeom prst="rect">
            <a:avLst/>
          </a:prstGeom>
          <a:noFill/>
        </p:spPr>
        <p:txBody>
          <a:bodyPr wrap="square" lIns="0" tIns="0" rIns="0" bIns="0">
            <a:noAutofit/>
          </a:bodyPr>
          <a:lstStyle/>
          <a:p>
            <a:pPr algn="l">
              <a:lnSpc>
                <a:spcPts val="3200"/>
              </a:lnSpc>
            </a:pPr>
            <a:r>
              <a:rPr sz="1600" dirty="0">
                <a:solidFill>
                  <a:srgbClr val="FFFFFF"/>
                </a:solidFill>
                <a:latin typeface="Helvetica Neue Thin"/>
              </a:rPr>
              <a:t>A predictive, guidance-based application that allows small business owners to monitor and track spending and expenses, optimize Financial Plans and if needed, be educated on the subject of small business finances and business operation. Users will be given guided work-flows when they want to:</a:t>
            </a:r>
          </a:p>
        </p:txBody>
      </p:sp>
      <p:sp>
        <p:nvSpPr>
          <p:cNvPr id="9" name="TextBox 8"/>
          <p:cNvSpPr txBox="1"/>
          <p:nvPr/>
        </p:nvSpPr>
        <p:spPr>
          <a:xfrm>
            <a:off x="1403350" y="4961177"/>
            <a:ext cx="2470961" cy="236524"/>
          </a:xfrm>
          <a:prstGeom prst="rect">
            <a:avLst/>
          </a:prstGeom>
          <a:noFill/>
        </p:spPr>
        <p:txBody>
          <a:bodyPr wrap="none" lIns="0" tIns="0" rIns="0" bIns="0">
            <a:noAutofit/>
          </a:bodyPr>
          <a:lstStyle/>
          <a:p>
            <a:pPr algn="l"/>
            <a:r>
              <a:rPr sz="1600" dirty="0">
                <a:solidFill>
                  <a:srgbClr val="FFFFFF"/>
                </a:solidFill>
                <a:latin typeface="Helvetica Neue Thin"/>
              </a:rPr>
              <a:t>• Plan a business budget</a:t>
            </a:r>
          </a:p>
        </p:txBody>
      </p:sp>
      <p:sp>
        <p:nvSpPr>
          <p:cNvPr id="10" name="TextBox 9"/>
          <p:cNvSpPr txBox="1"/>
          <p:nvPr/>
        </p:nvSpPr>
        <p:spPr>
          <a:xfrm>
            <a:off x="1403350" y="5367577"/>
            <a:ext cx="3109797" cy="236524"/>
          </a:xfrm>
          <a:prstGeom prst="rect">
            <a:avLst/>
          </a:prstGeom>
          <a:noFill/>
        </p:spPr>
        <p:txBody>
          <a:bodyPr wrap="none" lIns="0" tIns="0" rIns="0" bIns="0">
            <a:noAutofit/>
          </a:bodyPr>
          <a:lstStyle/>
          <a:p>
            <a:pPr algn="l"/>
            <a:r>
              <a:rPr sz="1600" dirty="0">
                <a:solidFill>
                  <a:srgbClr val="FFFFFF"/>
                </a:solidFill>
                <a:latin typeface="Helvetica Neue Thin"/>
              </a:rPr>
              <a:t>• Track expenses and spending</a:t>
            </a:r>
          </a:p>
        </p:txBody>
      </p:sp>
      <p:sp>
        <p:nvSpPr>
          <p:cNvPr id="11" name="TextBox 10"/>
          <p:cNvSpPr txBox="1"/>
          <p:nvPr/>
        </p:nvSpPr>
        <p:spPr>
          <a:xfrm>
            <a:off x="1403350" y="5773977"/>
            <a:ext cx="4996022" cy="236524"/>
          </a:xfrm>
          <a:prstGeom prst="rect">
            <a:avLst/>
          </a:prstGeom>
          <a:noFill/>
        </p:spPr>
        <p:txBody>
          <a:bodyPr wrap="none" lIns="0" tIns="0" rIns="0" bIns="0">
            <a:noAutofit/>
          </a:bodyPr>
          <a:lstStyle/>
          <a:p>
            <a:pPr algn="l"/>
            <a:r>
              <a:rPr sz="1600" dirty="0">
                <a:solidFill>
                  <a:srgbClr val="FFFFFF"/>
                </a:solidFill>
                <a:latin typeface="Helvetica Neue Thin"/>
              </a:rPr>
              <a:t>•  Get recommendations and tips for optimizing their </a:t>
            </a:r>
          </a:p>
        </p:txBody>
      </p:sp>
      <p:sp>
        <p:nvSpPr>
          <p:cNvPr id="12" name="TextBox 11"/>
          <p:cNvSpPr txBox="1"/>
          <p:nvPr/>
        </p:nvSpPr>
        <p:spPr>
          <a:xfrm>
            <a:off x="1631950" y="6180377"/>
            <a:ext cx="875296" cy="236524"/>
          </a:xfrm>
          <a:prstGeom prst="rect">
            <a:avLst/>
          </a:prstGeom>
          <a:noFill/>
        </p:spPr>
        <p:txBody>
          <a:bodyPr wrap="none" lIns="0" tIns="0" rIns="0" bIns="0">
            <a:noAutofit/>
          </a:bodyPr>
          <a:lstStyle/>
          <a:p>
            <a:pPr algn="l"/>
            <a:r>
              <a:rPr sz="1600" dirty="0">
                <a:solidFill>
                  <a:srgbClr val="FFFFFF"/>
                </a:solidFill>
                <a:latin typeface="Helvetica Neue Thin"/>
              </a:rPr>
              <a:t>business</a:t>
            </a:r>
          </a:p>
        </p:txBody>
      </p:sp>
      <p:sp>
        <p:nvSpPr>
          <p:cNvPr id="13" name="TextBox 12"/>
          <p:cNvSpPr txBox="1"/>
          <p:nvPr/>
        </p:nvSpPr>
        <p:spPr>
          <a:xfrm>
            <a:off x="1403350" y="6586777"/>
            <a:ext cx="3819956" cy="236524"/>
          </a:xfrm>
          <a:prstGeom prst="rect">
            <a:avLst/>
          </a:prstGeom>
          <a:noFill/>
        </p:spPr>
        <p:txBody>
          <a:bodyPr wrap="none" lIns="0" tIns="0" rIns="0" bIns="0">
            <a:noAutofit/>
          </a:bodyPr>
          <a:lstStyle/>
          <a:p>
            <a:pPr algn="l"/>
            <a:r>
              <a:rPr sz="1600" dirty="0">
                <a:solidFill>
                  <a:srgbClr val="FFFFFF"/>
                </a:solidFill>
                <a:latin typeface="Helvetica Neue Thin"/>
              </a:rPr>
              <a:t>• Automate regular business processes</a:t>
            </a:r>
          </a:p>
        </p:txBody>
      </p:sp>
      <p:sp>
        <p:nvSpPr>
          <p:cNvPr id="14" name="TextBox 13"/>
          <p:cNvSpPr txBox="1"/>
          <p:nvPr/>
        </p:nvSpPr>
        <p:spPr>
          <a:xfrm>
            <a:off x="1403350" y="6993177"/>
            <a:ext cx="5293165" cy="236524"/>
          </a:xfrm>
          <a:prstGeom prst="rect">
            <a:avLst/>
          </a:prstGeom>
          <a:noFill/>
        </p:spPr>
        <p:txBody>
          <a:bodyPr wrap="none" lIns="0" tIns="0" rIns="0" bIns="0">
            <a:noAutofit/>
          </a:bodyPr>
          <a:lstStyle/>
          <a:p>
            <a:pPr algn="l"/>
            <a:r>
              <a:rPr sz="1600" dirty="0">
                <a:solidFill>
                  <a:srgbClr val="FFFFFF"/>
                </a:solidFill>
                <a:latin typeface="Helvetica Neue Thin"/>
              </a:rPr>
              <a:t>• Optimize business procedures through analytics, and </a:t>
            </a:r>
          </a:p>
        </p:txBody>
      </p:sp>
      <p:sp>
        <p:nvSpPr>
          <p:cNvPr id="15" name="TextBox 14"/>
          <p:cNvSpPr txBox="1"/>
          <p:nvPr/>
        </p:nvSpPr>
        <p:spPr>
          <a:xfrm>
            <a:off x="1631950" y="7399577"/>
            <a:ext cx="1635052" cy="236524"/>
          </a:xfrm>
          <a:prstGeom prst="rect">
            <a:avLst/>
          </a:prstGeom>
          <a:noFill/>
        </p:spPr>
        <p:txBody>
          <a:bodyPr wrap="none" lIns="0" tIns="0" rIns="0" bIns="0">
            <a:noAutofit/>
          </a:bodyPr>
          <a:lstStyle/>
          <a:p>
            <a:pPr algn="l"/>
            <a:r>
              <a:rPr sz="1600" dirty="0">
                <a:solidFill>
                  <a:srgbClr val="FFFFFF"/>
                </a:solidFill>
                <a:latin typeface="Helvetica Neue Thin"/>
              </a:rPr>
              <a:t>data visualization</a:t>
            </a:r>
          </a:p>
        </p:txBody>
      </p:sp>
      <p:sp>
        <p:nvSpPr>
          <p:cNvPr id="16" name="TextBox 15"/>
          <p:cNvSpPr txBox="1"/>
          <p:nvPr/>
        </p:nvSpPr>
        <p:spPr>
          <a:xfrm>
            <a:off x="1403350" y="7805977"/>
            <a:ext cx="5364224" cy="236524"/>
          </a:xfrm>
          <a:prstGeom prst="rect">
            <a:avLst/>
          </a:prstGeom>
          <a:noFill/>
        </p:spPr>
        <p:txBody>
          <a:bodyPr wrap="none" lIns="0" tIns="0" rIns="0" bIns="0">
            <a:noAutofit/>
          </a:bodyPr>
          <a:lstStyle/>
          <a:p>
            <a:pPr algn="l"/>
            <a:r>
              <a:rPr sz="1600" dirty="0">
                <a:solidFill>
                  <a:srgbClr val="FFFFFF"/>
                </a:solidFill>
                <a:latin typeface="Helvetica Neue Thin"/>
              </a:rPr>
              <a:t>• Set automated procedures, i.e. bill pay, spending overrun </a:t>
            </a:r>
          </a:p>
        </p:txBody>
      </p:sp>
      <p:sp>
        <p:nvSpPr>
          <p:cNvPr id="17" name="TextBox 16"/>
          <p:cNvSpPr txBox="1"/>
          <p:nvPr/>
        </p:nvSpPr>
        <p:spPr>
          <a:xfrm>
            <a:off x="1631950" y="8212377"/>
            <a:ext cx="2511779" cy="236524"/>
          </a:xfrm>
          <a:prstGeom prst="rect">
            <a:avLst/>
          </a:prstGeom>
          <a:noFill/>
        </p:spPr>
        <p:txBody>
          <a:bodyPr wrap="none" lIns="0" tIns="0" rIns="0" bIns="0">
            <a:noAutofit/>
          </a:bodyPr>
          <a:lstStyle/>
          <a:p>
            <a:pPr algn="l"/>
            <a:r>
              <a:rPr sz="1600" dirty="0">
                <a:solidFill>
                  <a:srgbClr val="FFFFFF"/>
                </a:solidFill>
                <a:latin typeface="Helvetica Neue Thin"/>
              </a:rPr>
              <a:t>and contingency plans</a:t>
            </a:r>
          </a:p>
        </p:txBody>
      </p:sp>
      <p:sp>
        <p:nvSpPr>
          <p:cNvPr id="18" name="TextBox 17"/>
          <p:cNvSpPr txBox="1"/>
          <p:nvPr/>
        </p:nvSpPr>
        <p:spPr>
          <a:xfrm>
            <a:off x="6680200" y="4961177"/>
            <a:ext cx="5304575" cy="236524"/>
          </a:xfrm>
          <a:prstGeom prst="rect">
            <a:avLst/>
          </a:prstGeom>
          <a:noFill/>
        </p:spPr>
        <p:txBody>
          <a:bodyPr wrap="none" lIns="0" tIns="0" rIns="0" bIns="0">
            <a:noAutofit/>
          </a:bodyPr>
          <a:lstStyle/>
          <a:p>
            <a:pPr algn="l"/>
            <a:r>
              <a:rPr sz="1600" dirty="0">
                <a:solidFill>
                  <a:srgbClr val="FFFFFF"/>
                </a:solidFill>
                <a:latin typeface="Helvetica Neue Thin"/>
              </a:rPr>
              <a:t>•  Get status updates, badging and gamification to work </a:t>
            </a:r>
          </a:p>
        </p:txBody>
      </p:sp>
      <p:sp>
        <p:nvSpPr>
          <p:cNvPr id="19" name="TextBox 18"/>
          <p:cNvSpPr txBox="1"/>
          <p:nvPr/>
        </p:nvSpPr>
        <p:spPr>
          <a:xfrm>
            <a:off x="6908800" y="5367577"/>
            <a:ext cx="4527458" cy="236524"/>
          </a:xfrm>
          <a:prstGeom prst="rect">
            <a:avLst/>
          </a:prstGeom>
          <a:noFill/>
        </p:spPr>
        <p:txBody>
          <a:bodyPr wrap="none" lIns="0" tIns="0" rIns="0" bIns="0">
            <a:noAutofit/>
          </a:bodyPr>
          <a:lstStyle/>
          <a:p>
            <a:pPr algn="l"/>
            <a:r>
              <a:rPr lang="en-US" sz="1600" dirty="0">
                <a:solidFill>
                  <a:srgbClr val="FFFFFF"/>
                </a:solidFill>
                <a:latin typeface="Helvetica Neue Thin"/>
              </a:rPr>
              <a:t>efficiency </a:t>
            </a:r>
            <a:r>
              <a:rPr sz="1600" dirty="0">
                <a:solidFill>
                  <a:srgbClr val="FFFFFF"/>
                </a:solidFill>
                <a:latin typeface="Helvetica Neue Thin"/>
              </a:rPr>
              <a:t>and access new Wells Fargo products</a:t>
            </a:r>
          </a:p>
        </p:txBody>
      </p:sp>
      <p:sp>
        <p:nvSpPr>
          <p:cNvPr id="20" name="TextBox 19"/>
          <p:cNvSpPr txBox="1"/>
          <p:nvPr/>
        </p:nvSpPr>
        <p:spPr>
          <a:xfrm>
            <a:off x="6680200" y="5773977"/>
            <a:ext cx="5411230" cy="236524"/>
          </a:xfrm>
          <a:prstGeom prst="rect">
            <a:avLst/>
          </a:prstGeom>
          <a:noFill/>
        </p:spPr>
        <p:txBody>
          <a:bodyPr wrap="none" lIns="0" tIns="0" rIns="0" bIns="0">
            <a:noAutofit/>
          </a:bodyPr>
          <a:lstStyle/>
          <a:p>
            <a:pPr algn="l"/>
            <a:r>
              <a:rPr sz="1600" dirty="0">
                <a:solidFill>
                  <a:srgbClr val="FFFFFF"/>
                </a:solidFill>
                <a:latin typeface="Helvetica Neue Thin"/>
              </a:rPr>
              <a:t>•  Automatically be matched with small business buddies </a:t>
            </a:r>
          </a:p>
        </p:txBody>
      </p:sp>
      <p:sp>
        <p:nvSpPr>
          <p:cNvPr id="21" name="TextBox 20"/>
          <p:cNvSpPr txBox="1"/>
          <p:nvPr/>
        </p:nvSpPr>
        <p:spPr>
          <a:xfrm>
            <a:off x="6908800" y="6180377"/>
            <a:ext cx="3083021" cy="236524"/>
          </a:xfrm>
          <a:prstGeom prst="rect">
            <a:avLst/>
          </a:prstGeom>
          <a:noFill/>
        </p:spPr>
        <p:txBody>
          <a:bodyPr wrap="none" lIns="0" tIns="0" rIns="0" bIns="0">
            <a:noAutofit/>
          </a:bodyPr>
          <a:lstStyle/>
          <a:p>
            <a:pPr algn="l"/>
            <a:r>
              <a:rPr sz="1600" dirty="0">
                <a:solidFill>
                  <a:srgbClr val="FFFFFF"/>
                </a:solidFill>
                <a:latin typeface="Helvetica Neue Thin"/>
              </a:rPr>
              <a:t>and social network opportunities</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961908" y="5535154"/>
            <a:ext cx="2433186" cy="1875824"/>
          </a:xfrm>
          <a:prstGeom prst="rect">
            <a:avLst/>
          </a:prstGeom>
        </p:spPr>
      </p:pic>
      <p:pic>
        <p:nvPicPr>
          <p:cNvPr id="4" name="Picture 2" descr="image.png"/>
          <p:cNvPicPr>
            <a:picLocks noChangeAspect="1"/>
          </p:cNvPicPr>
          <p:nvPr/>
        </p:nvPicPr>
        <p:blipFill>
          <a:blip r:embed="rId4"/>
          <a:stretch>
            <a:fillRect/>
          </a:stretch>
        </p:blipFill>
        <p:spPr>
          <a:xfrm>
            <a:off x="5316833" y="5485569"/>
            <a:ext cx="2428556" cy="1884503"/>
          </a:xfrm>
          <a:prstGeom prst="rect">
            <a:avLst/>
          </a:prstGeom>
        </p:spPr>
      </p:pic>
      <p:pic>
        <p:nvPicPr>
          <p:cNvPr id="5" name="Picture 3" descr="image.png"/>
          <p:cNvPicPr>
            <a:picLocks noChangeAspect="1"/>
          </p:cNvPicPr>
          <p:nvPr/>
        </p:nvPicPr>
        <p:blipFill>
          <a:blip r:embed="rId5"/>
          <a:stretch>
            <a:fillRect/>
          </a:stretch>
        </p:blipFill>
        <p:spPr>
          <a:xfrm>
            <a:off x="6715414" y="2064109"/>
            <a:ext cx="2420404" cy="1958285"/>
          </a:xfrm>
          <a:prstGeom prst="rect">
            <a:avLst/>
          </a:prstGeom>
        </p:spPr>
      </p:pic>
      <p:pic>
        <p:nvPicPr>
          <p:cNvPr id="6" name="Picture 4" descr="image.png"/>
          <p:cNvPicPr>
            <a:picLocks noChangeAspect="1"/>
          </p:cNvPicPr>
          <p:nvPr/>
        </p:nvPicPr>
        <p:blipFill>
          <a:blip r:embed="rId6"/>
          <a:stretch>
            <a:fillRect/>
          </a:stretch>
        </p:blipFill>
        <p:spPr>
          <a:xfrm>
            <a:off x="9243891" y="5438968"/>
            <a:ext cx="2753647" cy="1903153"/>
          </a:xfrm>
          <a:prstGeom prst="rect">
            <a:avLst/>
          </a:prstGeom>
        </p:spPr>
      </p:pic>
      <p:pic>
        <p:nvPicPr>
          <p:cNvPr id="7" name="Picture 5" descr="image.png"/>
          <p:cNvPicPr>
            <a:picLocks noChangeAspect="1"/>
          </p:cNvPicPr>
          <p:nvPr/>
        </p:nvPicPr>
        <p:blipFill>
          <a:blip r:embed="rId7"/>
          <a:stretch>
            <a:fillRect/>
          </a:stretch>
        </p:blipFill>
        <p:spPr>
          <a:xfrm>
            <a:off x="524800" y="2148726"/>
            <a:ext cx="2425078" cy="1864597"/>
          </a:xfrm>
          <a:prstGeom prst="rect">
            <a:avLst/>
          </a:prstGeom>
        </p:spPr>
      </p:pic>
      <p:sp>
        <p:nvSpPr>
          <p:cNvPr id="8" name="TextBox 7"/>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9" name="TextBox 8"/>
          <p:cNvSpPr txBox="1"/>
          <p:nvPr/>
        </p:nvSpPr>
        <p:spPr>
          <a:xfrm>
            <a:off x="541127" y="4125969"/>
            <a:ext cx="2677205" cy="1145176"/>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Kunal Power User is having breakfast at home with his 2 children Preeti and Aziz. While he helps them make their breakfast he gets a notification on his mobile phone that he has an expense that is scheduled to be automatically paid this morning, through his mySMALLBUSINESS application, but that the company’s account is running low on capital. </a:t>
            </a:r>
          </a:p>
        </p:txBody>
      </p:sp>
      <p:sp>
        <p:nvSpPr>
          <p:cNvPr id="10" name="TextBox 9"/>
          <p:cNvSpPr txBox="1"/>
          <p:nvPr/>
        </p:nvSpPr>
        <p:spPr>
          <a:xfrm>
            <a:off x="457200" y="939800"/>
            <a:ext cx="8491219" cy="476250"/>
          </a:xfrm>
          <a:prstGeom prst="rect">
            <a:avLst/>
          </a:prstGeom>
          <a:noFill/>
        </p:spPr>
        <p:txBody>
          <a:bodyPr wrap="none" lIns="0" tIns="0" rIns="0" bIns="0">
            <a:noAutofit/>
          </a:bodyPr>
          <a:lstStyle/>
          <a:p>
            <a:pPr algn="l"/>
            <a:r>
              <a:rPr sz="3000" dirty="0">
                <a:solidFill>
                  <a:srgbClr val="1F1F1F"/>
                </a:solidFill>
                <a:latin typeface="Helvetica Neue Light"/>
              </a:rPr>
              <a:t>mySMALLBUSINESS Financial Hub Concept Scenario</a:t>
            </a:r>
          </a:p>
        </p:txBody>
      </p:sp>
      <p:sp>
        <p:nvSpPr>
          <p:cNvPr id="11" name="TextBox 10"/>
          <p:cNvSpPr txBox="1"/>
          <p:nvPr/>
        </p:nvSpPr>
        <p:spPr>
          <a:xfrm>
            <a:off x="3920168" y="2309129"/>
            <a:ext cx="1913739" cy="1145175"/>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About an hour later while he is working at a job site, he receives another notification on his mobile phone that his budget goals are in jeopardy. Because he is interested in this plan, he goes on the application and sees the account dashboard. </a:t>
            </a:r>
          </a:p>
        </p:txBody>
      </p:sp>
      <p:sp>
        <p:nvSpPr>
          <p:cNvPr id="12" name="TextBox 11"/>
          <p:cNvSpPr txBox="1"/>
          <p:nvPr/>
        </p:nvSpPr>
        <p:spPr>
          <a:xfrm>
            <a:off x="6683712" y="4293456"/>
            <a:ext cx="2600013" cy="475225"/>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On the dashboard he gets a visualization of his current  mySMALLBUSINESS Financial Plan, the goals, expenses, debts and assets.  </a:t>
            </a:r>
          </a:p>
        </p:txBody>
      </p:sp>
      <p:sp>
        <p:nvSpPr>
          <p:cNvPr id="13" name="TextBox 12"/>
          <p:cNvSpPr txBox="1"/>
          <p:nvPr/>
        </p:nvSpPr>
        <p:spPr>
          <a:xfrm>
            <a:off x="9829800" y="3035417"/>
            <a:ext cx="2661765" cy="642713"/>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He needs to investigate deeper into a specific expense. He can view an expense and then see its relationship to a Project and the details the expense was part of. </a:t>
            </a:r>
          </a:p>
        </p:txBody>
      </p:sp>
      <p:sp>
        <p:nvSpPr>
          <p:cNvPr id="14" name="TextBox 13"/>
          <p:cNvSpPr txBox="1"/>
          <p:nvPr/>
        </p:nvSpPr>
        <p:spPr>
          <a:xfrm>
            <a:off x="916161" y="7490394"/>
            <a:ext cx="2676193" cy="642711"/>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He sees the expense and knows it is valid, but he wants to monitor it over time, it is a recurring debt. He goes into the monitoring wizard to set up the preferences to monitor the expense.</a:t>
            </a:r>
          </a:p>
        </p:txBody>
      </p:sp>
      <p:sp>
        <p:nvSpPr>
          <p:cNvPr id="15" name="TextBox 14"/>
          <p:cNvSpPr txBox="1"/>
          <p:nvPr/>
        </p:nvSpPr>
        <p:spPr>
          <a:xfrm>
            <a:off x="5236880" y="7490394"/>
            <a:ext cx="2869384" cy="642711"/>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During lunch, after overseeing a project, he gets an alert that his yearly budget has issues with employee pay for this quarter. On his mobile he accesses the quarterly view of his current yearly budget for 2023. </a:t>
            </a:r>
          </a:p>
        </p:txBody>
      </p:sp>
      <p:sp>
        <p:nvSpPr>
          <p:cNvPr id="16" name="TextBox 15"/>
          <p:cNvSpPr txBox="1"/>
          <p:nvPr/>
        </p:nvSpPr>
        <p:spPr>
          <a:xfrm>
            <a:off x="9120747" y="7490393"/>
            <a:ext cx="3202400" cy="810200"/>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When he built his original plan, he used a business budget template that gave him an optimized plan based on his profile and past usage of the application. However, due to an unforeseen increase in business for the quarter, not only did his workload increase, but his expenses did too. </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4861371" y="1929343"/>
            <a:ext cx="2964482" cy="1925596"/>
          </a:xfrm>
          <a:prstGeom prst="rect">
            <a:avLst/>
          </a:prstGeom>
        </p:spPr>
      </p:pic>
      <p:pic>
        <p:nvPicPr>
          <p:cNvPr id="4" name="Picture 2" descr="image.png"/>
          <p:cNvPicPr>
            <a:picLocks noChangeAspect="1"/>
          </p:cNvPicPr>
          <p:nvPr/>
        </p:nvPicPr>
        <p:blipFill>
          <a:blip r:embed="rId4"/>
          <a:stretch>
            <a:fillRect/>
          </a:stretch>
        </p:blipFill>
        <p:spPr>
          <a:xfrm>
            <a:off x="2415158" y="5380152"/>
            <a:ext cx="2952393" cy="1866997"/>
          </a:xfrm>
          <a:prstGeom prst="rect">
            <a:avLst/>
          </a:prstGeom>
        </p:spPr>
      </p:pic>
      <p:pic>
        <p:nvPicPr>
          <p:cNvPr id="5" name="Picture 3" descr="image.png"/>
          <p:cNvPicPr>
            <a:picLocks noChangeAspect="1"/>
          </p:cNvPicPr>
          <p:nvPr/>
        </p:nvPicPr>
        <p:blipFill>
          <a:blip r:embed="rId5"/>
          <a:stretch>
            <a:fillRect/>
          </a:stretch>
        </p:blipFill>
        <p:spPr>
          <a:xfrm>
            <a:off x="7635192" y="5252908"/>
            <a:ext cx="2990736" cy="2019241"/>
          </a:xfrm>
          <a:prstGeom prst="rect">
            <a:avLst/>
          </a:prstGeom>
        </p:spPr>
      </p:pic>
      <p:pic>
        <p:nvPicPr>
          <p:cNvPr id="6" name="Picture 4" descr="image.png"/>
          <p:cNvPicPr>
            <a:picLocks noChangeAspect="1"/>
          </p:cNvPicPr>
          <p:nvPr/>
        </p:nvPicPr>
        <p:blipFill>
          <a:blip r:embed="rId6"/>
          <a:stretch>
            <a:fillRect/>
          </a:stretch>
        </p:blipFill>
        <p:spPr>
          <a:xfrm>
            <a:off x="9062315" y="1867182"/>
            <a:ext cx="2842460" cy="2030729"/>
          </a:xfrm>
          <a:prstGeom prst="rect">
            <a:avLst/>
          </a:prstGeom>
        </p:spPr>
      </p:pic>
      <p:sp>
        <p:nvSpPr>
          <p:cNvPr id="7" name="TextBox 6"/>
          <p:cNvSpPr txBox="1"/>
          <p:nvPr/>
        </p:nvSpPr>
        <p:spPr>
          <a:xfrm>
            <a:off x="825500" y="2175239"/>
            <a:ext cx="2609016" cy="1424004"/>
          </a:xfrm>
          <a:prstGeom prst="rect">
            <a:avLst/>
          </a:prstGeom>
          <a:noFill/>
        </p:spPr>
        <p:txBody>
          <a:bodyPr wrap="square" lIns="0" tIns="0" rIns="0" bIns="0">
            <a:noAutofit/>
          </a:bodyPr>
          <a:lstStyle/>
          <a:p>
            <a:pPr algn="l">
              <a:lnSpc>
                <a:spcPts val="1600"/>
              </a:lnSpc>
            </a:pPr>
            <a:r>
              <a:rPr sz="1300" dirty="0">
                <a:solidFill>
                  <a:srgbClr val="000000"/>
                </a:solidFill>
                <a:latin typeface="Helvetica Neue Light"/>
              </a:rPr>
              <a:t>The data visualization feature of the app gives him insight into the increase in activity, expenses and lack of revenue received. The plan gives him real time suggestions and tips to help him run his business better and stay on budget. </a:t>
            </a:r>
          </a:p>
        </p:txBody>
      </p:sp>
      <p:sp>
        <p:nvSpPr>
          <p:cNvPr id="8" name="TextBox 7"/>
          <p:cNvSpPr txBox="1"/>
          <p:nvPr/>
        </p:nvSpPr>
        <p:spPr>
          <a:xfrm>
            <a:off x="4347852" y="3966170"/>
            <a:ext cx="3871067" cy="996369"/>
          </a:xfrm>
          <a:prstGeom prst="rect">
            <a:avLst/>
          </a:prstGeom>
          <a:noFill/>
        </p:spPr>
        <p:txBody>
          <a:bodyPr wrap="square" lIns="0" tIns="0" rIns="0" bIns="0">
            <a:noAutofit/>
          </a:bodyPr>
          <a:lstStyle/>
          <a:p>
            <a:pPr algn="l">
              <a:lnSpc>
                <a:spcPts val="1344"/>
              </a:lnSpc>
            </a:pPr>
            <a:r>
              <a:rPr sz="900" dirty="0">
                <a:solidFill>
                  <a:srgbClr val="000000"/>
                </a:solidFill>
                <a:latin typeface="Helvetica Neue Light"/>
              </a:rPr>
              <a:t>Because this has happened several times the app upsells relevant Wells Fargo Small Business products to Kunal, through the Tips and Recommendation engine. Since the quarter is almost ending, he is encouraged to build a new Business Financial Plan. He can use the existing one as a base and adjust, use a suggested Small Business Plan template auto suggested to him, or start from scratch.</a:t>
            </a:r>
          </a:p>
        </p:txBody>
      </p:sp>
      <p:sp>
        <p:nvSpPr>
          <p:cNvPr id="9" name="TextBox 8"/>
          <p:cNvSpPr txBox="1"/>
          <p:nvPr/>
        </p:nvSpPr>
        <p:spPr>
          <a:xfrm>
            <a:off x="8819760" y="3966170"/>
            <a:ext cx="3430884" cy="825681"/>
          </a:xfrm>
          <a:prstGeom prst="rect">
            <a:avLst/>
          </a:prstGeom>
          <a:noFill/>
        </p:spPr>
        <p:txBody>
          <a:bodyPr wrap="square" lIns="0" tIns="0" rIns="0" bIns="0">
            <a:noAutofit/>
          </a:bodyPr>
          <a:lstStyle/>
          <a:p>
            <a:pPr algn="l">
              <a:lnSpc>
                <a:spcPts val="1344"/>
              </a:lnSpc>
            </a:pPr>
            <a:r>
              <a:rPr sz="900" dirty="0">
                <a:solidFill>
                  <a:srgbClr val="000000"/>
                </a:solidFill>
                <a:latin typeface="Helvetica Neue Light"/>
              </a:rPr>
              <a:t> By using a Planning Wizard, he decides to use his current plan as a base. The wizard guides him through the process, asking him simple plain-language questions; he could even build it using Siri or other voice-activated technology. He adjusts his plan projecting an increase of 12% in revenue over the next year. </a:t>
            </a:r>
          </a:p>
        </p:txBody>
      </p:sp>
      <p:sp>
        <p:nvSpPr>
          <p:cNvPr id="10" name="TextBox 9"/>
          <p:cNvSpPr txBox="1"/>
          <p:nvPr/>
        </p:nvSpPr>
        <p:spPr>
          <a:xfrm>
            <a:off x="2427254" y="7349669"/>
            <a:ext cx="3152111" cy="825682"/>
          </a:xfrm>
          <a:prstGeom prst="rect">
            <a:avLst/>
          </a:prstGeom>
          <a:noFill/>
        </p:spPr>
        <p:txBody>
          <a:bodyPr wrap="square" lIns="0" tIns="0" rIns="0" bIns="0">
            <a:noAutofit/>
          </a:bodyPr>
          <a:lstStyle/>
          <a:p>
            <a:pPr algn="l">
              <a:lnSpc>
                <a:spcPts val="1344"/>
              </a:lnSpc>
            </a:pPr>
            <a:r>
              <a:rPr sz="900" dirty="0">
                <a:solidFill>
                  <a:srgbClr val="000000"/>
                </a:solidFill>
                <a:latin typeface="Helvetica Neue Light"/>
              </a:rPr>
              <a:t>The Wizard algorithmically projects and allocates speculative information and constructs the Plan. He has a new plan to guide him in the new fiscal year. He can also compare past plans to help understand the trends of expenses, debts, spending and revenue. </a:t>
            </a:r>
          </a:p>
        </p:txBody>
      </p:sp>
      <p:sp>
        <p:nvSpPr>
          <p:cNvPr id="11" name="TextBox 10"/>
          <p:cNvSpPr txBox="1"/>
          <p:nvPr/>
        </p:nvSpPr>
        <p:spPr>
          <a:xfrm>
            <a:off x="7523051" y="7349669"/>
            <a:ext cx="3327890" cy="825682"/>
          </a:xfrm>
          <a:prstGeom prst="rect">
            <a:avLst/>
          </a:prstGeom>
          <a:noFill/>
        </p:spPr>
        <p:txBody>
          <a:bodyPr wrap="square" lIns="0" tIns="0" rIns="0" bIns="0">
            <a:noAutofit/>
          </a:bodyPr>
          <a:lstStyle/>
          <a:p>
            <a:pPr algn="l">
              <a:lnSpc>
                <a:spcPts val="1344"/>
              </a:lnSpc>
            </a:pPr>
            <a:r>
              <a:rPr sz="900" dirty="0">
                <a:solidFill>
                  <a:srgbClr val="000000"/>
                </a:solidFill>
                <a:latin typeface="Helvetica Neue Light"/>
              </a:rPr>
              <a:t>The interactive data visualizations allow deeper insight of past activity, and help him with his plans for business expansion. He decides to approach Wells Fargo for a new small business loan product, the one that was auto suggested when he was building his budget.</a:t>
            </a:r>
          </a:p>
        </p:txBody>
      </p:sp>
      <p:sp>
        <p:nvSpPr>
          <p:cNvPr id="12" name="TextBox 11"/>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13" name="TextBox 12"/>
          <p:cNvSpPr txBox="1"/>
          <p:nvPr/>
        </p:nvSpPr>
        <p:spPr>
          <a:xfrm>
            <a:off x="457200" y="939800"/>
            <a:ext cx="8491219" cy="476250"/>
          </a:xfrm>
          <a:prstGeom prst="rect">
            <a:avLst/>
          </a:prstGeom>
          <a:noFill/>
        </p:spPr>
        <p:txBody>
          <a:bodyPr wrap="none" lIns="0" tIns="0" rIns="0" bIns="0">
            <a:noAutofit/>
          </a:bodyPr>
          <a:lstStyle/>
          <a:p>
            <a:pPr algn="l"/>
            <a:r>
              <a:rPr sz="3000" dirty="0">
                <a:solidFill>
                  <a:srgbClr val="1F1F1F"/>
                </a:solidFill>
                <a:latin typeface="Helvetica Neue Light"/>
              </a:rPr>
              <a:t>mySMALLBUSINESS Financial Hub Concept Scenario</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4" name="TextBox 3"/>
          <p:cNvSpPr txBox="1"/>
          <p:nvPr/>
        </p:nvSpPr>
        <p:spPr>
          <a:xfrm>
            <a:off x="457200" y="939800"/>
            <a:ext cx="7416800" cy="476250"/>
          </a:xfrm>
          <a:prstGeom prst="rect">
            <a:avLst/>
          </a:prstGeom>
          <a:noFill/>
        </p:spPr>
        <p:txBody>
          <a:bodyPr wrap="none" lIns="0" tIns="0" rIns="0" bIns="0">
            <a:noAutofit/>
          </a:bodyPr>
          <a:lstStyle/>
          <a:p>
            <a:pPr algn="l"/>
            <a:r>
              <a:rPr sz="3000" dirty="0">
                <a:solidFill>
                  <a:srgbClr val="1F1F1F"/>
                </a:solidFill>
                <a:latin typeface="Helvetica Neue Light"/>
              </a:rPr>
              <a:t>mySMALLBUSINESS Information Architecture</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361488" y="4982649"/>
            <a:ext cx="2356916" cy="3815189"/>
          </a:xfrm>
          <a:prstGeom prst="rect">
            <a:avLst/>
          </a:prstGeom>
        </p:spPr>
      </p:pic>
      <p:pic>
        <p:nvPicPr>
          <p:cNvPr id="4" name="Picture 2" descr="image.png"/>
          <p:cNvPicPr>
            <a:picLocks noChangeAspect="1"/>
          </p:cNvPicPr>
          <p:nvPr/>
        </p:nvPicPr>
        <p:blipFill>
          <a:blip r:embed="rId4"/>
          <a:stretch>
            <a:fillRect/>
          </a:stretch>
        </p:blipFill>
        <p:spPr>
          <a:xfrm>
            <a:off x="10645358" y="381582"/>
            <a:ext cx="1927059" cy="3425884"/>
          </a:xfrm>
          <a:prstGeom prst="rect">
            <a:avLst/>
          </a:prstGeom>
        </p:spPr>
      </p:pic>
      <p:pic>
        <p:nvPicPr>
          <p:cNvPr id="5" name="Picture 3" descr="image.png"/>
          <p:cNvPicPr>
            <a:picLocks noChangeAspect="1"/>
          </p:cNvPicPr>
          <p:nvPr/>
        </p:nvPicPr>
        <p:blipFill>
          <a:blip r:embed="rId5"/>
          <a:stretch>
            <a:fillRect/>
          </a:stretch>
        </p:blipFill>
        <p:spPr>
          <a:xfrm>
            <a:off x="7801028" y="2898841"/>
            <a:ext cx="3483734" cy="6193306"/>
          </a:xfrm>
          <a:prstGeom prst="rect">
            <a:avLst/>
          </a:prstGeom>
        </p:spPr>
      </p:pic>
      <p:sp>
        <p:nvSpPr>
          <p:cNvPr id="6" name="TextBox 5"/>
          <p:cNvSpPr txBox="1"/>
          <p:nvPr/>
        </p:nvSpPr>
        <p:spPr>
          <a:xfrm>
            <a:off x="3099887" y="1678227"/>
            <a:ext cx="3099704" cy="236524"/>
          </a:xfrm>
          <a:prstGeom prst="rect">
            <a:avLst/>
          </a:prstGeom>
          <a:noFill/>
        </p:spPr>
        <p:txBody>
          <a:bodyPr wrap="none" lIns="0" tIns="0" rIns="0" bIns="0">
            <a:noAutofit/>
          </a:bodyPr>
          <a:lstStyle/>
          <a:p>
            <a:pPr algn="l"/>
            <a:r>
              <a:rPr sz="1600" dirty="0">
                <a:solidFill>
                  <a:srgbClr val="000000"/>
                </a:solidFill>
                <a:latin typeface="Helvetica Neue Thin"/>
              </a:rPr>
              <a:t>mySMALLBUSINESS Dashboard </a:t>
            </a:r>
          </a:p>
        </p:txBody>
      </p:sp>
      <p:sp>
        <p:nvSpPr>
          <p:cNvPr id="7" name="TextBox 6"/>
          <p:cNvSpPr txBox="1"/>
          <p:nvPr/>
        </p:nvSpPr>
        <p:spPr>
          <a:xfrm>
            <a:off x="3099887" y="1967787"/>
            <a:ext cx="4381182" cy="2232964"/>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On the dashboard he gets an AT A GLANCE understanding of his business. From this dashboard he can see his most important and urgent DEBTS and SPENDING. He’d see any INCOME to be expected. A snapshot of TAXES would be seen from a STATE and FEDERAL level. </a:t>
            </a:r>
          </a:p>
        </p:txBody>
      </p:sp>
      <p:sp>
        <p:nvSpPr>
          <p:cNvPr id="13" name="TextBox 12"/>
          <p:cNvSpPr txBox="1"/>
          <p:nvPr/>
        </p:nvSpPr>
        <p:spPr>
          <a:xfrm>
            <a:off x="3099887" y="4634787"/>
            <a:ext cx="4737060" cy="708964"/>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He can access visualizations of his current FINANCIAL PLANS, the GOALS, EXPENSES, DEBTS, </a:t>
            </a:r>
          </a:p>
        </p:txBody>
      </p:sp>
      <p:sp>
        <p:nvSpPr>
          <p:cNvPr id="15" name="TextBox 14"/>
          <p:cNvSpPr txBox="1"/>
          <p:nvPr/>
        </p:nvSpPr>
        <p:spPr>
          <a:xfrm>
            <a:off x="3099887" y="5488227"/>
            <a:ext cx="4340025" cy="236524"/>
          </a:xfrm>
          <a:prstGeom prst="rect">
            <a:avLst/>
          </a:prstGeom>
          <a:noFill/>
        </p:spPr>
        <p:txBody>
          <a:bodyPr wrap="none" lIns="0" tIns="0" rIns="0" bIns="0">
            <a:noAutofit/>
          </a:bodyPr>
          <a:lstStyle/>
          <a:p>
            <a:pPr algn="l"/>
            <a:r>
              <a:rPr sz="1600" dirty="0">
                <a:solidFill>
                  <a:srgbClr val="000000"/>
                </a:solidFill>
                <a:latin typeface="Helvetica Neue Thin"/>
              </a:rPr>
              <a:t>SPENDING, PAYROLL, and ASSETS. He could </a:t>
            </a:r>
          </a:p>
        </p:txBody>
      </p:sp>
      <p:sp>
        <p:nvSpPr>
          <p:cNvPr id="16" name="TextBox 15"/>
          <p:cNvSpPr txBox="1"/>
          <p:nvPr/>
        </p:nvSpPr>
        <p:spPr>
          <a:xfrm>
            <a:off x="3099887" y="5869227"/>
            <a:ext cx="4394272" cy="236524"/>
          </a:xfrm>
          <a:prstGeom prst="rect">
            <a:avLst/>
          </a:prstGeom>
          <a:noFill/>
        </p:spPr>
        <p:txBody>
          <a:bodyPr wrap="none" lIns="0" tIns="0" rIns="0" bIns="0">
            <a:noAutofit/>
          </a:bodyPr>
          <a:lstStyle/>
          <a:p>
            <a:pPr algn="l"/>
            <a:r>
              <a:rPr sz="1600" dirty="0">
                <a:solidFill>
                  <a:srgbClr val="000000"/>
                </a:solidFill>
                <a:latin typeface="Helvetica Neue Thin"/>
              </a:rPr>
              <a:t>capture any checks for his business as well as </a:t>
            </a:r>
          </a:p>
        </p:txBody>
      </p:sp>
      <p:sp>
        <p:nvSpPr>
          <p:cNvPr id="17" name="TextBox 16"/>
          <p:cNvSpPr txBox="1"/>
          <p:nvPr/>
        </p:nvSpPr>
        <p:spPr>
          <a:xfrm>
            <a:off x="3099887" y="6250227"/>
            <a:ext cx="2280231" cy="236524"/>
          </a:xfrm>
          <a:prstGeom prst="rect">
            <a:avLst/>
          </a:prstGeom>
          <a:noFill/>
        </p:spPr>
        <p:txBody>
          <a:bodyPr wrap="none" lIns="0" tIns="0" rIns="0" bIns="0">
            <a:noAutofit/>
          </a:bodyPr>
          <a:lstStyle/>
          <a:p>
            <a:pPr algn="l"/>
            <a:r>
              <a:rPr sz="1600" dirty="0">
                <a:solidFill>
                  <a:srgbClr val="000000"/>
                </a:solidFill>
                <a:latin typeface="Helvetica Neue Thin"/>
              </a:rPr>
              <a:t>transfer any monies too.</a:t>
            </a:r>
          </a:p>
        </p:txBody>
      </p:sp>
      <p:sp>
        <p:nvSpPr>
          <p:cNvPr id="18" name="TextBox 17"/>
          <p:cNvSpPr txBox="1"/>
          <p:nvPr/>
        </p:nvSpPr>
        <p:spPr>
          <a:xfrm>
            <a:off x="3099887" y="7012227"/>
            <a:ext cx="4631942" cy="236524"/>
          </a:xfrm>
          <a:prstGeom prst="rect">
            <a:avLst/>
          </a:prstGeom>
          <a:noFill/>
        </p:spPr>
        <p:txBody>
          <a:bodyPr wrap="none" lIns="0" tIns="0" rIns="0" bIns="0">
            <a:noAutofit/>
          </a:bodyPr>
          <a:lstStyle/>
          <a:p>
            <a:pPr algn="l"/>
            <a:r>
              <a:rPr sz="1600" dirty="0">
                <a:solidFill>
                  <a:srgbClr val="000000"/>
                </a:solidFill>
                <a:latin typeface="Helvetica Neue Thin"/>
              </a:rPr>
              <a:t>From this dash a user could dive deeper into the </a:t>
            </a:r>
          </a:p>
        </p:txBody>
      </p:sp>
      <p:sp>
        <p:nvSpPr>
          <p:cNvPr id="19" name="TextBox 18"/>
          <p:cNvSpPr txBox="1"/>
          <p:nvPr/>
        </p:nvSpPr>
        <p:spPr>
          <a:xfrm>
            <a:off x="3099887" y="7393227"/>
            <a:ext cx="4331904" cy="236524"/>
          </a:xfrm>
          <a:prstGeom prst="rect">
            <a:avLst/>
          </a:prstGeom>
          <a:noFill/>
        </p:spPr>
        <p:txBody>
          <a:bodyPr wrap="none" lIns="0" tIns="0" rIns="0" bIns="0">
            <a:noAutofit/>
          </a:bodyPr>
          <a:lstStyle/>
          <a:p>
            <a:pPr algn="l"/>
            <a:r>
              <a:rPr sz="1600" dirty="0">
                <a:solidFill>
                  <a:srgbClr val="000000"/>
                </a:solidFill>
                <a:latin typeface="Helvetica Neue Thin"/>
              </a:rPr>
              <a:t>users’ profile, preferences, accounts, security. </a:t>
            </a:r>
          </a:p>
        </p:txBody>
      </p:sp>
      <p:sp>
        <p:nvSpPr>
          <p:cNvPr id="20" name="TextBox 19"/>
          <p:cNvSpPr txBox="1"/>
          <p:nvPr/>
        </p:nvSpPr>
        <p:spPr>
          <a:xfrm>
            <a:off x="3099887" y="7774227"/>
            <a:ext cx="4732673" cy="236524"/>
          </a:xfrm>
          <a:prstGeom prst="rect">
            <a:avLst/>
          </a:prstGeom>
          <a:noFill/>
        </p:spPr>
        <p:txBody>
          <a:bodyPr wrap="none" lIns="0" tIns="0" rIns="0" bIns="0">
            <a:noAutofit/>
          </a:bodyPr>
          <a:lstStyle/>
          <a:p>
            <a:pPr algn="l"/>
            <a:r>
              <a:rPr sz="1600" dirty="0">
                <a:solidFill>
                  <a:srgbClr val="000000"/>
                </a:solidFill>
                <a:latin typeface="Helvetica Neue Thin"/>
              </a:rPr>
              <a:t>They’d be able to set any alerts and monitoring of </a:t>
            </a:r>
          </a:p>
        </p:txBody>
      </p:sp>
      <p:sp>
        <p:nvSpPr>
          <p:cNvPr id="21" name="TextBox 20"/>
          <p:cNvSpPr txBox="1"/>
          <p:nvPr/>
        </p:nvSpPr>
        <p:spPr>
          <a:xfrm>
            <a:off x="3099887" y="8155227"/>
            <a:ext cx="4631285" cy="236524"/>
          </a:xfrm>
          <a:prstGeom prst="rect">
            <a:avLst/>
          </a:prstGeom>
          <a:noFill/>
        </p:spPr>
        <p:txBody>
          <a:bodyPr wrap="none" lIns="0" tIns="0" rIns="0" bIns="0">
            <a:noAutofit/>
          </a:bodyPr>
          <a:lstStyle/>
          <a:p>
            <a:pPr algn="l"/>
            <a:r>
              <a:rPr sz="1600" dirty="0">
                <a:solidFill>
                  <a:srgbClr val="000000"/>
                </a:solidFill>
                <a:latin typeface="Helvetica Neue Thin"/>
              </a:rPr>
              <a:t>spending, accounts, projects, employees, payroll.</a:t>
            </a:r>
          </a:p>
        </p:txBody>
      </p:sp>
      <p:sp>
        <p:nvSpPr>
          <p:cNvPr id="22" name="TextBox 21"/>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mySMALLBUSINESS</a:t>
            </a:r>
          </a:p>
        </p:txBody>
      </p:sp>
      <p:sp>
        <p:nvSpPr>
          <p:cNvPr id="23" name="TextBox 22"/>
          <p:cNvSpPr txBox="1"/>
          <p:nvPr/>
        </p:nvSpPr>
        <p:spPr>
          <a:xfrm>
            <a:off x="457200" y="939800"/>
            <a:ext cx="4730750" cy="476250"/>
          </a:xfrm>
          <a:prstGeom prst="rect">
            <a:avLst/>
          </a:prstGeom>
          <a:noFill/>
        </p:spPr>
        <p:txBody>
          <a:bodyPr wrap="none" lIns="0" tIns="0" rIns="0" bIns="0">
            <a:noAutofit/>
          </a:bodyPr>
          <a:lstStyle/>
          <a:p>
            <a:pPr algn="l"/>
            <a:r>
              <a:rPr sz="3000" dirty="0">
                <a:solidFill>
                  <a:srgbClr val="1F1F1F"/>
                </a:solidFill>
                <a:latin typeface="Helvetica Neue Light"/>
              </a:rPr>
              <a:t>Proof of Concept Design 5</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7958065" y="1172917"/>
            <a:ext cx="2505774" cy="4265639"/>
          </a:xfrm>
          <a:prstGeom prst="rect">
            <a:avLst/>
          </a:prstGeom>
        </p:spPr>
      </p:pic>
      <p:pic>
        <p:nvPicPr>
          <p:cNvPr id="4" name="Picture 2" descr="image.png"/>
          <p:cNvPicPr>
            <a:picLocks noChangeAspect="1"/>
          </p:cNvPicPr>
          <p:nvPr/>
        </p:nvPicPr>
        <p:blipFill>
          <a:blip r:embed="rId4"/>
          <a:stretch>
            <a:fillRect/>
          </a:stretch>
        </p:blipFill>
        <p:spPr>
          <a:xfrm>
            <a:off x="1474344" y="1791844"/>
            <a:ext cx="3790956" cy="6739478"/>
          </a:xfrm>
          <a:prstGeom prst="rect">
            <a:avLst/>
          </a:prstGeom>
        </p:spPr>
      </p:pic>
      <p:sp>
        <p:nvSpPr>
          <p:cNvPr id="5" name="TextBox 4"/>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mySMALLBUSINESS</a:t>
            </a:r>
          </a:p>
        </p:txBody>
      </p:sp>
      <p:sp>
        <p:nvSpPr>
          <p:cNvPr id="6" name="TextBox 5"/>
          <p:cNvSpPr txBox="1"/>
          <p:nvPr/>
        </p:nvSpPr>
        <p:spPr>
          <a:xfrm>
            <a:off x="5994400" y="6171182"/>
            <a:ext cx="2167212" cy="247497"/>
          </a:xfrm>
          <a:prstGeom prst="rect">
            <a:avLst/>
          </a:prstGeom>
          <a:noFill/>
        </p:spPr>
        <p:txBody>
          <a:bodyPr wrap="none" lIns="0" tIns="0" rIns="0" bIns="0">
            <a:noAutofit/>
          </a:bodyPr>
          <a:lstStyle/>
          <a:p>
            <a:pPr algn="l"/>
            <a:r>
              <a:rPr sz="1600" dirty="0">
                <a:solidFill>
                  <a:srgbClr val="000000"/>
                </a:solidFill>
                <a:latin typeface="Helvetica Neue Light"/>
              </a:rPr>
              <a:t>Expenses Breakdown </a:t>
            </a:r>
          </a:p>
        </p:txBody>
      </p:sp>
      <p:sp>
        <p:nvSpPr>
          <p:cNvPr id="7" name="TextBox 6"/>
          <p:cNvSpPr txBox="1"/>
          <p:nvPr/>
        </p:nvSpPr>
        <p:spPr>
          <a:xfrm>
            <a:off x="5994400" y="6555027"/>
            <a:ext cx="6813548" cy="236524"/>
          </a:xfrm>
          <a:prstGeom prst="rect">
            <a:avLst/>
          </a:prstGeom>
          <a:noFill/>
        </p:spPr>
        <p:txBody>
          <a:bodyPr wrap="none" lIns="0" tIns="0" rIns="0" bIns="0">
            <a:noAutofit/>
          </a:bodyPr>
          <a:lstStyle/>
          <a:p>
            <a:pPr algn="l"/>
            <a:r>
              <a:rPr sz="1600" dirty="0">
                <a:solidFill>
                  <a:srgbClr val="000000"/>
                </a:solidFill>
                <a:latin typeface="Helvetica Neue Thin"/>
              </a:rPr>
              <a:t>Kunal can view all his SPENDING, then investigate deeper into a specific </a:t>
            </a:r>
          </a:p>
        </p:txBody>
      </p:sp>
      <p:sp>
        <p:nvSpPr>
          <p:cNvPr id="8" name="TextBox 7"/>
          <p:cNvSpPr txBox="1"/>
          <p:nvPr/>
        </p:nvSpPr>
        <p:spPr>
          <a:xfrm>
            <a:off x="5994400" y="6936027"/>
            <a:ext cx="6518590" cy="236524"/>
          </a:xfrm>
          <a:prstGeom prst="rect">
            <a:avLst/>
          </a:prstGeom>
          <a:noFill/>
        </p:spPr>
        <p:txBody>
          <a:bodyPr wrap="none" lIns="0" tIns="0" rIns="0" bIns="0">
            <a:noAutofit/>
          </a:bodyPr>
          <a:lstStyle/>
          <a:p>
            <a:pPr algn="l"/>
            <a:r>
              <a:rPr sz="1600" dirty="0">
                <a:solidFill>
                  <a:srgbClr val="000000"/>
                </a:solidFill>
                <a:latin typeface="Helvetica Neue Thin"/>
              </a:rPr>
              <a:t>EXPENSE. He can view an expense and then see its relationship to a </a:t>
            </a:r>
          </a:p>
        </p:txBody>
      </p:sp>
      <p:sp>
        <p:nvSpPr>
          <p:cNvPr id="9" name="TextBox 8"/>
          <p:cNvSpPr txBox="1"/>
          <p:nvPr/>
        </p:nvSpPr>
        <p:spPr>
          <a:xfrm>
            <a:off x="5994400" y="7317027"/>
            <a:ext cx="6617090" cy="236524"/>
          </a:xfrm>
          <a:prstGeom prst="rect">
            <a:avLst/>
          </a:prstGeom>
          <a:noFill/>
        </p:spPr>
        <p:txBody>
          <a:bodyPr wrap="none" lIns="0" tIns="0" rIns="0" bIns="0">
            <a:noAutofit/>
          </a:bodyPr>
          <a:lstStyle/>
          <a:p>
            <a:pPr algn="l"/>
            <a:r>
              <a:rPr sz="1600" dirty="0">
                <a:solidFill>
                  <a:srgbClr val="000000"/>
                </a:solidFill>
                <a:latin typeface="Helvetica Neue Thin"/>
              </a:rPr>
              <a:t>job and the time frame the expense was part of. He sees the expense </a:t>
            </a:r>
          </a:p>
        </p:txBody>
      </p:sp>
      <p:sp>
        <p:nvSpPr>
          <p:cNvPr id="10" name="TextBox 9"/>
          <p:cNvSpPr txBox="1"/>
          <p:nvPr/>
        </p:nvSpPr>
        <p:spPr>
          <a:xfrm>
            <a:off x="5994400" y="7698027"/>
            <a:ext cx="6443466" cy="236524"/>
          </a:xfrm>
          <a:prstGeom prst="rect">
            <a:avLst/>
          </a:prstGeom>
          <a:noFill/>
        </p:spPr>
        <p:txBody>
          <a:bodyPr wrap="none" lIns="0" tIns="0" rIns="0" bIns="0">
            <a:noAutofit/>
          </a:bodyPr>
          <a:lstStyle/>
          <a:p>
            <a:pPr algn="l"/>
            <a:r>
              <a:rPr sz="1600" dirty="0">
                <a:solidFill>
                  <a:srgbClr val="000000"/>
                </a:solidFill>
                <a:latin typeface="Helvetica Neue Thin"/>
              </a:rPr>
              <a:t>and knows it is valid, but he wants to monitor it over time, as it is a</a:t>
            </a:r>
          </a:p>
        </p:txBody>
      </p:sp>
      <p:sp>
        <p:nvSpPr>
          <p:cNvPr id="11" name="TextBox 10"/>
          <p:cNvSpPr txBox="1"/>
          <p:nvPr/>
        </p:nvSpPr>
        <p:spPr>
          <a:xfrm>
            <a:off x="5994400" y="8079027"/>
            <a:ext cx="6578690" cy="236524"/>
          </a:xfrm>
          <a:prstGeom prst="rect">
            <a:avLst/>
          </a:prstGeom>
          <a:noFill/>
        </p:spPr>
        <p:txBody>
          <a:bodyPr wrap="none" lIns="0" tIns="0" rIns="0" bIns="0">
            <a:noAutofit/>
          </a:bodyPr>
          <a:lstStyle/>
          <a:p>
            <a:pPr algn="l"/>
            <a:r>
              <a:rPr sz="1600" dirty="0">
                <a:solidFill>
                  <a:srgbClr val="000000"/>
                </a:solidFill>
                <a:latin typeface="Helvetica Neue Thin"/>
              </a:rPr>
              <a:t>recurring debt that varies according to the PROJECT it is used on. He </a:t>
            </a:r>
          </a:p>
        </p:txBody>
      </p:sp>
      <p:sp>
        <p:nvSpPr>
          <p:cNvPr id="12" name="TextBox 11"/>
          <p:cNvSpPr txBox="1"/>
          <p:nvPr/>
        </p:nvSpPr>
        <p:spPr>
          <a:xfrm>
            <a:off x="5994400" y="8460027"/>
            <a:ext cx="6812673" cy="236524"/>
          </a:xfrm>
          <a:prstGeom prst="rect">
            <a:avLst/>
          </a:prstGeom>
          <a:noFill/>
        </p:spPr>
        <p:txBody>
          <a:bodyPr wrap="none" lIns="0" tIns="0" rIns="0" bIns="0">
            <a:noAutofit/>
          </a:bodyPr>
          <a:lstStyle/>
          <a:p>
            <a:pPr algn="l"/>
            <a:r>
              <a:rPr sz="1600" dirty="0">
                <a:solidFill>
                  <a:srgbClr val="000000"/>
                </a:solidFill>
                <a:latin typeface="Helvetica Neue Thin"/>
              </a:rPr>
              <a:t>goes into the monitoring wizard to set up the preferences to monitor the </a:t>
            </a:r>
          </a:p>
        </p:txBody>
      </p:sp>
      <p:sp>
        <p:nvSpPr>
          <p:cNvPr id="13" name="TextBox 12"/>
          <p:cNvSpPr txBox="1"/>
          <p:nvPr/>
        </p:nvSpPr>
        <p:spPr>
          <a:xfrm>
            <a:off x="5994400" y="8841027"/>
            <a:ext cx="969661" cy="236524"/>
          </a:xfrm>
          <a:prstGeom prst="rect">
            <a:avLst/>
          </a:prstGeom>
          <a:noFill/>
        </p:spPr>
        <p:txBody>
          <a:bodyPr wrap="none" lIns="0" tIns="0" rIns="0" bIns="0">
            <a:noAutofit/>
          </a:bodyPr>
          <a:lstStyle/>
          <a:p>
            <a:pPr algn="l"/>
            <a:r>
              <a:rPr sz="1600" dirty="0">
                <a:solidFill>
                  <a:srgbClr val="000000"/>
                </a:solidFill>
                <a:latin typeface="Helvetica Neue Thin"/>
              </a:rPr>
              <a:t>expense. </a:t>
            </a:r>
          </a:p>
        </p:txBody>
      </p:sp>
      <p:sp>
        <p:nvSpPr>
          <p:cNvPr id="14" name="TextBox 13"/>
          <p:cNvSpPr txBox="1"/>
          <p:nvPr/>
        </p:nvSpPr>
        <p:spPr>
          <a:xfrm>
            <a:off x="457200" y="939800"/>
            <a:ext cx="4730750" cy="476250"/>
          </a:xfrm>
          <a:prstGeom prst="rect">
            <a:avLst/>
          </a:prstGeom>
          <a:noFill/>
        </p:spPr>
        <p:txBody>
          <a:bodyPr wrap="none" lIns="0" tIns="0" rIns="0" bIns="0">
            <a:noAutofit/>
          </a:bodyPr>
          <a:lstStyle/>
          <a:p>
            <a:pPr algn="l"/>
            <a:r>
              <a:rPr sz="3000" dirty="0">
                <a:solidFill>
                  <a:srgbClr val="1F1F1F"/>
                </a:solidFill>
                <a:latin typeface="Helvetica Neue Light"/>
              </a:rPr>
              <a:t>Proof of Concept Design 1</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4331511" y="1498600"/>
            <a:ext cx="2079698" cy="3766296"/>
          </a:xfrm>
          <a:prstGeom prst="rect">
            <a:avLst/>
          </a:prstGeom>
        </p:spPr>
      </p:pic>
      <p:pic>
        <p:nvPicPr>
          <p:cNvPr id="4" name="Picture 2" descr="image.png"/>
          <p:cNvPicPr>
            <a:picLocks noChangeAspect="1"/>
          </p:cNvPicPr>
          <p:nvPr/>
        </p:nvPicPr>
        <p:blipFill>
          <a:blip r:embed="rId4"/>
          <a:stretch>
            <a:fillRect/>
          </a:stretch>
        </p:blipFill>
        <p:spPr>
          <a:xfrm>
            <a:off x="6706703" y="236772"/>
            <a:ext cx="3652381" cy="6493123"/>
          </a:xfrm>
          <a:prstGeom prst="rect">
            <a:avLst/>
          </a:prstGeom>
        </p:spPr>
      </p:pic>
      <p:pic>
        <p:nvPicPr>
          <p:cNvPr id="5" name="Picture 3" descr="image.png"/>
          <p:cNvPicPr>
            <a:picLocks noChangeAspect="1"/>
          </p:cNvPicPr>
          <p:nvPr/>
        </p:nvPicPr>
        <p:blipFill>
          <a:blip r:embed="rId5"/>
          <a:stretch>
            <a:fillRect/>
          </a:stretch>
        </p:blipFill>
        <p:spPr>
          <a:xfrm>
            <a:off x="10562094" y="5102783"/>
            <a:ext cx="2264222" cy="4025282"/>
          </a:xfrm>
          <a:prstGeom prst="rect">
            <a:avLst/>
          </a:prstGeom>
        </p:spPr>
      </p:pic>
      <p:pic>
        <p:nvPicPr>
          <p:cNvPr id="6" name="Picture 4" descr="image.png"/>
          <p:cNvPicPr>
            <a:picLocks noChangeAspect="1"/>
          </p:cNvPicPr>
          <p:nvPr/>
        </p:nvPicPr>
        <p:blipFill>
          <a:blip r:embed="rId6"/>
          <a:stretch>
            <a:fillRect/>
          </a:stretch>
        </p:blipFill>
        <p:spPr>
          <a:xfrm>
            <a:off x="4222998" y="5588710"/>
            <a:ext cx="2354889" cy="4164889"/>
          </a:xfrm>
          <a:prstGeom prst="rect">
            <a:avLst/>
          </a:prstGeom>
        </p:spPr>
      </p:pic>
      <p:sp>
        <p:nvSpPr>
          <p:cNvPr id="7" name="TextBox 6"/>
          <p:cNvSpPr txBox="1"/>
          <p:nvPr/>
        </p:nvSpPr>
        <p:spPr>
          <a:xfrm>
            <a:off x="457200" y="1712481"/>
            <a:ext cx="1907397" cy="247497"/>
          </a:xfrm>
          <a:prstGeom prst="rect">
            <a:avLst/>
          </a:prstGeom>
          <a:noFill/>
        </p:spPr>
        <p:txBody>
          <a:bodyPr wrap="none" lIns="0" tIns="0" rIns="0" bIns="0">
            <a:noAutofit/>
          </a:bodyPr>
          <a:lstStyle/>
          <a:p>
            <a:pPr algn="l"/>
            <a:r>
              <a:rPr sz="1600" dirty="0">
                <a:solidFill>
                  <a:srgbClr val="000000"/>
                </a:solidFill>
                <a:latin typeface="Helvetica Neue Light"/>
              </a:rPr>
              <a:t>Budget Plan Wizard</a:t>
            </a:r>
          </a:p>
        </p:txBody>
      </p:sp>
      <p:sp>
        <p:nvSpPr>
          <p:cNvPr id="8" name="TextBox 7"/>
          <p:cNvSpPr txBox="1"/>
          <p:nvPr/>
        </p:nvSpPr>
        <p:spPr>
          <a:xfrm>
            <a:off x="457200" y="2096326"/>
            <a:ext cx="3544298" cy="236524"/>
          </a:xfrm>
          <a:prstGeom prst="rect">
            <a:avLst/>
          </a:prstGeom>
          <a:noFill/>
        </p:spPr>
        <p:txBody>
          <a:bodyPr wrap="none" lIns="0" tIns="0" rIns="0" bIns="0">
            <a:noAutofit/>
          </a:bodyPr>
          <a:lstStyle/>
          <a:p>
            <a:pPr algn="l"/>
            <a:r>
              <a:rPr sz="1600" dirty="0">
                <a:solidFill>
                  <a:srgbClr val="000000"/>
                </a:solidFill>
                <a:latin typeface="Helvetica Neue Thin"/>
              </a:rPr>
              <a:t>Using his current plan as a base, the </a:t>
            </a:r>
          </a:p>
        </p:txBody>
      </p:sp>
      <p:sp>
        <p:nvSpPr>
          <p:cNvPr id="9" name="TextBox 8"/>
          <p:cNvSpPr txBox="1"/>
          <p:nvPr/>
        </p:nvSpPr>
        <p:spPr>
          <a:xfrm>
            <a:off x="457200" y="2477326"/>
            <a:ext cx="3771457" cy="236524"/>
          </a:xfrm>
          <a:prstGeom prst="rect">
            <a:avLst/>
          </a:prstGeom>
          <a:noFill/>
        </p:spPr>
        <p:txBody>
          <a:bodyPr wrap="none" lIns="0" tIns="0" rIns="0" bIns="0">
            <a:noAutofit/>
          </a:bodyPr>
          <a:lstStyle/>
          <a:p>
            <a:pPr algn="l"/>
            <a:r>
              <a:rPr sz="1600" dirty="0">
                <a:solidFill>
                  <a:srgbClr val="000000"/>
                </a:solidFill>
                <a:latin typeface="Helvetica Neue Thin"/>
              </a:rPr>
              <a:t>wizard guides him through the process, </a:t>
            </a:r>
          </a:p>
        </p:txBody>
      </p:sp>
      <p:sp>
        <p:nvSpPr>
          <p:cNvPr id="10" name="TextBox 9"/>
          <p:cNvSpPr txBox="1"/>
          <p:nvPr/>
        </p:nvSpPr>
        <p:spPr>
          <a:xfrm>
            <a:off x="457200" y="2858326"/>
            <a:ext cx="3604428" cy="236524"/>
          </a:xfrm>
          <a:prstGeom prst="rect">
            <a:avLst/>
          </a:prstGeom>
          <a:noFill/>
        </p:spPr>
        <p:txBody>
          <a:bodyPr wrap="none" lIns="0" tIns="0" rIns="0" bIns="0">
            <a:noAutofit/>
          </a:bodyPr>
          <a:lstStyle/>
          <a:p>
            <a:pPr algn="l"/>
            <a:r>
              <a:rPr sz="1600" dirty="0">
                <a:solidFill>
                  <a:srgbClr val="000000"/>
                </a:solidFill>
                <a:latin typeface="Helvetica Neue Thin"/>
              </a:rPr>
              <a:t>asking him simple plain-language</a:t>
            </a:r>
          </a:p>
        </p:txBody>
      </p:sp>
      <p:sp>
        <p:nvSpPr>
          <p:cNvPr id="11" name="TextBox 10"/>
          <p:cNvSpPr txBox="1"/>
          <p:nvPr/>
        </p:nvSpPr>
        <p:spPr>
          <a:xfrm>
            <a:off x="457200" y="3239326"/>
            <a:ext cx="3714398" cy="236524"/>
          </a:xfrm>
          <a:prstGeom prst="rect">
            <a:avLst/>
          </a:prstGeom>
          <a:noFill/>
        </p:spPr>
        <p:txBody>
          <a:bodyPr wrap="none" lIns="0" tIns="0" rIns="0" bIns="0">
            <a:noAutofit/>
          </a:bodyPr>
          <a:lstStyle/>
          <a:p>
            <a:pPr algn="l"/>
            <a:r>
              <a:rPr sz="1600" dirty="0">
                <a:solidFill>
                  <a:srgbClr val="000000"/>
                </a:solidFill>
                <a:latin typeface="Helvetica Neue Thin"/>
              </a:rPr>
              <a:t>questions. He could even build </a:t>
            </a:r>
          </a:p>
        </p:txBody>
      </p:sp>
      <p:sp>
        <p:nvSpPr>
          <p:cNvPr id="12" name="TextBox 11"/>
          <p:cNvSpPr txBox="1"/>
          <p:nvPr/>
        </p:nvSpPr>
        <p:spPr>
          <a:xfrm>
            <a:off x="457200" y="3528886"/>
            <a:ext cx="3680221" cy="4518965"/>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it using AI or other voice-activated technology. He adjusts his plan projecting an increase of 12% in revenue over the next year. The Wizard algorithmically projects and allocates speculative information and constructs the Plan. He has a new plan to guide him in the new fiscal year. He can also compare past plans to help understand the trends of expenses, debts, spending and revenue. The interactive data visualizations allow deeper insight of past activity.</a:t>
            </a:r>
          </a:p>
        </p:txBody>
      </p:sp>
      <p:sp>
        <p:nvSpPr>
          <p:cNvPr id="24" name="TextBox 23"/>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mySMALLBUSINESS</a:t>
            </a:r>
          </a:p>
        </p:txBody>
      </p:sp>
      <p:sp>
        <p:nvSpPr>
          <p:cNvPr id="25" name="TextBox 24"/>
          <p:cNvSpPr txBox="1"/>
          <p:nvPr/>
        </p:nvSpPr>
        <p:spPr>
          <a:xfrm>
            <a:off x="457200" y="939800"/>
            <a:ext cx="4730750" cy="476250"/>
          </a:xfrm>
          <a:prstGeom prst="rect">
            <a:avLst/>
          </a:prstGeom>
          <a:noFill/>
        </p:spPr>
        <p:txBody>
          <a:bodyPr wrap="none" lIns="0" tIns="0" rIns="0" bIns="0">
            <a:noAutofit/>
          </a:bodyPr>
          <a:lstStyle/>
          <a:p>
            <a:pPr algn="l"/>
            <a:r>
              <a:rPr sz="3000" dirty="0">
                <a:solidFill>
                  <a:srgbClr val="1F1F1F"/>
                </a:solidFill>
                <a:latin typeface="Helvetica Neue Light"/>
              </a:rPr>
              <a:t>Proof of Concept Design 4</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10158621" y="4457593"/>
            <a:ext cx="2400158" cy="4333933"/>
          </a:xfrm>
          <a:prstGeom prst="rect">
            <a:avLst/>
          </a:prstGeom>
        </p:spPr>
      </p:pic>
      <p:pic>
        <p:nvPicPr>
          <p:cNvPr id="4" name="Picture 2" descr="image.png"/>
          <p:cNvPicPr>
            <a:picLocks noChangeAspect="1"/>
          </p:cNvPicPr>
          <p:nvPr/>
        </p:nvPicPr>
        <p:blipFill>
          <a:blip r:embed="rId4"/>
          <a:stretch>
            <a:fillRect/>
          </a:stretch>
        </p:blipFill>
        <p:spPr>
          <a:xfrm>
            <a:off x="458422" y="1728423"/>
            <a:ext cx="4050188" cy="7200334"/>
          </a:xfrm>
          <a:prstGeom prst="rect">
            <a:avLst/>
          </a:prstGeom>
        </p:spPr>
      </p:pic>
      <p:sp>
        <p:nvSpPr>
          <p:cNvPr id="5" name="TextBox 4"/>
          <p:cNvSpPr txBox="1"/>
          <p:nvPr/>
        </p:nvSpPr>
        <p:spPr>
          <a:xfrm>
            <a:off x="4889500" y="1573782"/>
            <a:ext cx="2085157" cy="247497"/>
          </a:xfrm>
          <a:prstGeom prst="rect">
            <a:avLst/>
          </a:prstGeom>
          <a:noFill/>
        </p:spPr>
        <p:txBody>
          <a:bodyPr wrap="none" lIns="0" tIns="0" rIns="0" bIns="0">
            <a:noAutofit/>
          </a:bodyPr>
          <a:lstStyle/>
          <a:p>
            <a:pPr algn="l"/>
            <a:r>
              <a:rPr sz="1600" dirty="0">
                <a:solidFill>
                  <a:srgbClr val="000000"/>
                </a:solidFill>
                <a:latin typeface="Helvetica Neue Light"/>
              </a:rPr>
              <a:t>Spending Monitoring </a:t>
            </a:r>
          </a:p>
        </p:txBody>
      </p:sp>
      <p:sp>
        <p:nvSpPr>
          <p:cNvPr id="6" name="TextBox 5"/>
          <p:cNvSpPr txBox="1"/>
          <p:nvPr/>
        </p:nvSpPr>
        <p:spPr>
          <a:xfrm>
            <a:off x="4889500" y="1866187"/>
            <a:ext cx="5131891" cy="2232964"/>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When he built his original plan, he used a business budget template that gave him an optimized plan based on his profile and past usage of the application. However, due to an unforeseen increase in business for the quarter, not only did his work load increase, but his expenses did too. The data visualization feature of the app gives him insight.</a:t>
            </a:r>
          </a:p>
        </p:txBody>
      </p:sp>
      <p:sp>
        <p:nvSpPr>
          <p:cNvPr id="12" name="TextBox 11"/>
          <p:cNvSpPr txBox="1"/>
          <p:nvPr/>
        </p:nvSpPr>
        <p:spPr>
          <a:xfrm>
            <a:off x="4889500" y="4624627"/>
            <a:ext cx="4395370" cy="236524"/>
          </a:xfrm>
          <a:prstGeom prst="rect">
            <a:avLst/>
          </a:prstGeom>
          <a:noFill/>
        </p:spPr>
        <p:txBody>
          <a:bodyPr wrap="none" lIns="0" tIns="0" rIns="0" bIns="0">
            <a:noAutofit/>
          </a:bodyPr>
          <a:lstStyle/>
          <a:p>
            <a:pPr algn="l"/>
            <a:r>
              <a:rPr sz="1600" dirty="0">
                <a:solidFill>
                  <a:srgbClr val="000000"/>
                </a:solidFill>
                <a:latin typeface="Helvetica Neue Thin"/>
              </a:rPr>
              <a:t>Year to Date Plan Data vs... Quarterly Plan Data</a:t>
            </a:r>
          </a:p>
        </p:txBody>
      </p:sp>
      <p:sp>
        <p:nvSpPr>
          <p:cNvPr id="13" name="TextBox 12"/>
          <p:cNvSpPr txBox="1"/>
          <p:nvPr/>
        </p:nvSpPr>
        <p:spPr>
          <a:xfrm>
            <a:off x="4889500" y="4914187"/>
            <a:ext cx="5190529" cy="3756964"/>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A BUDGET PLAN gives Kunal real vision to help him run his business better and stay on budget. On a couple occasions he has received alerts and tips. Because this has happened several times the app upsells relevant Wells Fargo Small Business products to Kunal, through the Tips and Recommendation engine. Since the quarter is almost ending, he is encouraged to build a new Business Financial Plan. He can use the existing one as a base and adjust, use a suggested mySMALLBUSINESS Plan template auto suggested to him, or start from scratch. </a:t>
            </a:r>
          </a:p>
        </p:txBody>
      </p:sp>
      <p:sp>
        <p:nvSpPr>
          <p:cNvPr id="23" name="TextBox 22"/>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mySMALLBUSINESS</a:t>
            </a:r>
          </a:p>
        </p:txBody>
      </p:sp>
      <p:sp>
        <p:nvSpPr>
          <p:cNvPr id="24" name="TextBox 23"/>
          <p:cNvSpPr txBox="1"/>
          <p:nvPr/>
        </p:nvSpPr>
        <p:spPr>
          <a:xfrm>
            <a:off x="457200" y="939800"/>
            <a:ext cx="4730750" cy="476250"/>
          </a:xfrm>
          <a:prstGeom prst="rect">
            <a:avLst/>
          </a:prstGeom>
          <a:noFill/>
        </p:spPr>
        <p:txBody>
          <a:bodyPr wrap="none" lIns="0" tIns="0" rIns="0" bIns="0">
            <a:noAutofit/>
          </a:bodyPr>
          <a:lstStyle/>
          <a:p>
            <a:pPr algn="l"/>
            <a:r>
              <a:rPr sz="3000" dirty="0">
                <a:solidFill>
                  <a:srgbClr val="1F1F1F"/>
                </a:solidFill>
                <a:latin typeface="Helvetica Neue Light"/>
              </a:rPr>
              <a:t>Proof of Concept Design 2</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5119473" y="453170"/>
            <a:ext cx="2285398" cy="3920540"/>
          </a:xfrm>
          <a:prstGeom prst="rect">
            <a:avLst/>
          </a:prstGeom>
        </p:spPr>
      </p:pic>
      <p:pic>
        <p:nvPicPr>
          <p:cNvPr id="4" name="Picture 2" descr="image.png"/>
          <p:cNvPicPr>
            <a:picLocks noChangeAspect="1"/>
          </p:cNvPicPr>
          <p:nvPr/>
        </p:nvPicPr>
        <p:blipFill>
          <a:blip r:embed="rId4"/>
          <a:stretch>
            <a:fillRect/>
          </a:stretch>
        </p:blipFill>
        <p:spPr>
          <a:xfrm>
            <a:off x="8283543" y="1245741"/>
            <a:ext cx="3791474" cy="6740397"/>
          </a:xfrm>
          <a:prstGeom prst="rect">
            <a:avLst/>
          </a:prstGeom>
        </p:spPr>
      </p:pic>
      <p:pic>
        <p:nvPicPr>
          <p:cNvPr id="5" name="Picture 3" descr="image.png"/>
          <p:cNvPicPr>
            <a:picLocks noChangeAspect="1"/>
          </p:cNvPicPr>
          <p:nvPr/>
        </p:nvPicPr>
        <p:blipFill>
          <a:blip r:embed="rId5"/>
          <a:stretch>
            <a:fillRect/>
          </a:stretch>
        </p:blipFill>
        <p:spPr>
          <a:xfrm>
            <a:off x="5487967" y="1657992"/>
            <a:ext cx="2481174" cy="4427193"/>
          </a:xfrm>
          <a:prstGeom prst="rect">
            <a:avLst/>
          </a:prstGeom>
        </p:spPr>
      </p:pic>
      <p:pic>
        <p:nvPicPr>
          <p:cNvPr id="6" name="Picture 4" descr="image.png"/>
          <p:cNvPicPr>
            <a:picLocks noChangeAspect="1"/>
          </p:cNvPicPr>
          <p:nvPr/>
        </p:nvPicPr>
        <p:blipFill>
          <a:blip r:embed="rId6"/>
          <a:stretch>
            <a:fillRect/>
          </a:stretch>
        </p:blipFill>
        <p:spPr>
          <a:xfrm>
            <a:off x="1459687" y="5847404"/>
            <a:ext cx="2530406" cy="3906195"/>
          </a:xfrm>
          <a:prstGeom prst="rect">
            <a:avLst/>
          </a:prstGeom>
        </p:spPr>
      </p:pic>
      <p:pic>
        <p:nvPicPr>
          <p:cNvPr id="7" name="Picture 5" descr="image.png"/>
          <p:cNvPicPr>
            <a:picLocks noChangeAspect="1"/>
          </p:cNvPicPr>
          <p:nvPr/>
        </p:nvPicPr>
        <p:blipFill>
          <a:blip r:embed="rId7"/>
          <a:stretch>
            <a:fillRect/>
          </a:stretch>
        </p:blipFill>
        <p:spPr>
          <a:xfrm>
            <a:off x="4344325" y="5080926"/>
            <a:ext cx="3068911" cy="4672673"/>
          </a:xfrm>
          <a:prstGeom prst="rect">
            <a:avLst/>
          </a:prstGeom>
        </p:spPr>
      </p:pic>
      <p:sp>
        <p:nvSpPr>
          <p:cNvPr id="8" name="TextBox 7"/>
          <p:cNvSpPr txBox="1"/>
          <p:nvPr/>
        </p:nvSpPr>
        <p:spPr>
          <a:xfrm>
            <a:off x="457200" y="1764282"/>
            <a:ext cx="2085157" cy="247497"/>
          </a:xfrm>
          <a:prstGeom prst="rect">
            <a:avLst/>
          </a:prstGeom>
          <a:noFill/>
        </p:spPr>
        <p:txBody>
          <a:bodyPr wrap="none" lIns="0" tIns="0" rIns="0" bIns="0">
            <a:noAutofit/>
          </a:bodyPr>
          <a:lstStyle/>
          <a:p>
            <a:pPr algn="l"/>
            <a:r>
              <a:rPr sz="1600" dirty="0">
                <a:solidFill>
                  <a:srgbClr val="000000"/>
                </a:solidFill>
                <a:latin typeface="Helvetica Neue Light"/>
              </a:rPr>
              <a:t>Spending Monitoring </a:t>
            </a:r>
          </a:p>
        </p:txBody>
      </p:sp>
      <p:sp>
        <p:nvSpPr>
          <p:cNvPr id="9" name="TextBox 8"/>
          <p:cNvSpPr txBox="1"/>
          <p:nvPr/>
        </p:nvSpPr>
        <p:spPr>
          <a:xfrm>
            <a:off x="457200" y="2056687"/>
            <a:ext cx="3667660" cy="3375964"/>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When he built his original plan, he used a business budget template that gave him an optimized plan based on his profile and past usage of the application. However, due to an unforeseen increase in business for the quarter, not only did his work load increase, but his expenses did too. The data visualization feature of the app gives him insight.</a:t>
            </a:r>
          </a:p>
        </p:txBody>
      </p:sp>
      <p:sp>
        <p:nvSpPr>
          <p:cNvPr id="18" name="TextBox 17"/>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mySMALLBUSINESS</a:t>
            </a:r>
          </a:p>
        </p:txBody>
      </p:sp>
      <p:sp>
        <p:nvSpPr>
          <p:cNvPr id="19" name="TextBox 18"/>
          <p:cNvSpPr txBox="1"/>
          <p:nvPr/>
        </p:nvSpPr>
        <p:spPr>
          <a:xfrm>
            <a:off x="457200" y="939800"/>
            <a:ext cx="4730750" cy="476250"/>
          </a:xfrm>
          <a:prstGeom prst="rect">
            <a:avLst/>
          </a:prstGeom>
          <a:noFill/>
        </p:spPr>
        <p:txBody>
          <a:bodyPr wrap="none" lIns="0" tIns="0" rIns="0" bIns="0">
            <a:noAutofit/>
          </a:bodyPr>
          <a:lstStyle/>
          <a:p>
            <a:pPr algn="l"/>
            <a:r>
              <a:rPr sz="3000" dirty="0">
                <a:solidFill>
                  <a:srgbClr val="1F1F1F"/>
                </a:solidFill>
                <a:latin typeface="Helvetica Neue Light"/>
              </a:rPr>
              <a:t>Proof of Concept Design 3</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5747863" y="4638007"/>
            <a:ext cx="6695630" cy="5115592"/>
          </a:xfrm>
          <a:prstGeom prst="rect">
            <a:avLst/>
          </a:prstGeom>
        </p:spPr>
      </p:pic>
      <p:sp>
        <p:nvSpPr>
          <p:cNvPr id="4" name="TextBox 3"/>
          <p:cNvSpPr txBox="1"/>
          <p:nvPr/>
        </p:nvSpPr>
        <p:spPr>
          <a:xfrm>
            <a:off x="457200" y="4669280"/>
            <a:ext cx="4958583" cy="278434"/>
          </a:xfrm>
          <a:prstGeom prst="rect">
            <a:avLst/>
          </a:prstGeom>
          <a:noFill/>
        </p:spPr>
        <p:txBody>
          <a:bodyPr wrap="none" lIns="0" tIns="0" rIns="0" bIns="0">
            <a:noAutofit/>
          </a:bodyPr>
          <a:lstStyle/>
          <a:p>
            <a:pPr algn="l"/>
            <a:r>
              <a:rPr sz="1800" dirty="0">
                <a:solidFill>
                  <a:srgbClr val="404040"/>
                </a:solidFill>
                <a:latin typeface="Helvetica Neue Light"/>
              </a:rPr>
              <a:t>Helping AMEX to increase revenue by aiding  </a:t>
            </a:r>
          </a:p>
        </p:txBody>
      </p:sp>
      <p:sp>
        <p:nvSpPr>
          <p:cNvPr id="5" name="TextBox 4"/>
          <p:cNvSpPr txBox="1"/>
          <p:nvPr/>
        </p:nvSpPr>
        <p:spPr>
          <a:xfrm>
            <a:off x="457200" y="5050280"/>
            <a:ext cx="4743102" cy="278434"/>
          </a:xfrm>
          <a:prstGeom prst="rect">
            <a:avLst/>
          </a:prstGeom>
          <a:noFill/>
        </p:spPr>
        <p:txBody>
          <a:bodyPr wrap="none" lIns="0" tIns="0" rIns="0" bIns="0">
            <a:noAutofit/>
          </a:bodyPr>
          <a:lstStyle/>
          <a:p>
            <a:pPr algn="l"/>
            <a:r>
              <a:rPr sz="1800" dirty="0">
                <a:solidFill>
                  <a:srgbClr val="404040"/>
                </a:solidFill>
                <a:latin typeface="Helvetica Neue Light"/>
              </a:rPr>
              <a:t>advertisers and marketers in their decisions </a:t>
            </a:r>
          </a:p>
        </p:txBody>
      </p:sp>
      <p:sp>
        <p:nvSpPr>
          <p:cNvPr id="6" name="TextBox 5"/>
          <p:cNvSpPr txBox="1"/>
          <p:nvPr/>
        </p:nvSpPr>
        <p:spPr>
          <a:xfrm>
            <a:off x="457200" y="5431280"/>
            <a:ext cx="2939340" cy="278434"/>
          </a:xfrm>
          <a:prstGeom prst="rect">
            <a:avLst/>
          </a:prstGeom>
          <a:noFill/>
        </p:spPr>
        <p:txBody>
          <a:bodyPr wrap="none" lIns="0" tIns="0" rIns="0" bIns="0">
            <a:noAutofit/>
          </a:bodyPr>
          <a:lstStyle/>
          <a:p>
            <a:pPr algn="l"/>
            <a:r>
              <a:rPr sz="1800" dirty="0">
                <a:solidFill>
                  <a:srgbClr val="404040"/>
                </a:solidFill>
                <a:latin typeface="Helvetica Neue Light"/>
              </a:rPr>
              <a:t>about advertising budgets</a:t>
            </a:r>
          </a:p>
        </p:txBody>
      </p:sp>
      <p:sp>
        <p:nvSpPr>
          <p:cNvPr id="7" name="TextBox 6"/>
          <p:cNvSpPr txBox="1"/>
          <p:nvPr/>
        </p:nvSpPr>
        <p:spPr>
          <a:xfrm>
            <a:off x="457200" y="735582"/>
            <a:ext cx="6145091" cy="247497"/>
          </a:xfrm>
          <a:prstGeom prst="rect">
            <a:avLst/>
          </a:prstGeom>
          <a:noFill/>
        </p:spPr>
        <p:txBody>
          <a:bodyPr wrap="none" lIns="0" tIns="0" rIns="0" bIns="0">
            <a:noAutofit/>
          </a:bodyPr>
          <a:lstStyle/>
          <a:p>
            <a:pPr algn="l"/>
            <a:r>
              <a:rPr sz="1600" dirty="0">
                <a:solidFill>
                  <a:srgbClr val="000000"/>
                </a:solidFill>
                <a:latin typeface="Helvetica Neue Light"/>
              </a:rPr>
              <a:t>Redesign and UX strategy process for a desktop-based application</a:t>
            </a:r>
          </a:p>
        </p:txBody>
      </p:sp>
      <p:sp>
        <p:nvSpPr>
          <p:cNvPr id="8" name="TextBox 7"/>
          <p:cNvSpPr txBox="1"/>
          <p:nvPr/>
        </p:nvSpPr>
        <p:spPr>
          <a:xfrm>
            <a:off x="457200" y="1758694"/>
            <a:ext cx="1792841" cy="742492"/>
          </a:xfrm>
          <a:prstGeom prst="rect">
            <a:avLst/>
          </a:prstGeom>
          <a:noFill/>
        </p:spPr>
        <p:txBody>
          <a:bodyPr wrap="none" lIns="0" tIns="0" rIns="0" bIns="0">
            <a:noAutofit/>
          </a:bodyPr>
          <a:lstStyle/>
          <a:p>
            <a:pPr algn="l"/>
            <a:r>
              <a:rPr sz="4800" dirty="0">
                <a:solidFill>
                  <a:srgbClr val="000000"/>
                </a:solidFill>
                <a:latin typeface="Helvetica Neue Light"/>
              </a:rPr>
              <a:t>AMEX</a:t>
            </a:r>
          </a:p>
        </p:txBody>
      </p:sp>
      <p:sp>
        <p:nvSpPr>
          <p:cNvPr id="9" name="TextBox 8"/>
          <p:cNvSpPr txBox="1"/>
          <p:nvPr/>
        </p:nvSpPr>
        <p:spPr>
          <a:xfrm>
            <a:off x="457200" y="2737610"/>
            <a:ext cx="995887" cy="371246"/>
          </a:xfrm>
          <a:prstGeom prst="rect">
            <a:avLst/>
          </a:prstGeom>
          <a:noFill/>
        </p:spPr>
        <p:txBody>
          <a:bodyPr wrap="none" lIns="0" tIns="0" rIns="0" bIns="0">
            <a:noAutofit/>
          </a:bodyPr>
          <a:lstStyle/>
          <a:p>
            <a:pPr algn="l"/>
            <a:r>
              <a:rPr sz="2400" dirty="0">
                <a:solidFill>
                  <a:srgbClr val="000000"/>
                </a:solidFill>
                <a:latin typeface="Helvetica Neue Light"/>
              </a:rPr>
              <a:t>MOCA</a:t>
            </a:r>
          </a:p>
        </p:txBody>
      </p:sp>
      <p:sp>
        <p:nvSpPr>
          <p:cNvPr id="10" name="TextBox 9"/>
          <p:cNvSpPr txBox="1"/>
          <p:nvPr/>
        </p:nvSpPr>
        <p:spPr>
          <a:xfrm>
            <a:off x="804947" y="7349235"/>
            <a:ext cx="4676938" cy="600455"/>
          </a:xfrm>
          <a:prstGeom prst="rect">
            <a:avLst/>
          </a:prstGeom>
          <a:noFill/>
        </p:spPr>
        <p:txBody>
          <a:bodyPr wrap="square" lIns="0" tIns="0" rIns="0" bIns="0">
            <a:noAutofit/>
          </a:bodyPr>
          <a:lstStyle/>
          <a:p>
            <a:pPr marL="29974" algn="l">
              <a:lnSpc>
                <a:spcPts val="2400"/>
              </a:lnSpc>
            </a:pPr>
            <a:r>
              <a:rPr sz="2000" dirty="0">
                <a:solidFill>
                  <a:srgbClr val="000000"/>
                </a:solidFill>
                <a:latin typeface="Helvetica Neue Thin"/>
              </a:rPr>
              <a:t>“Comparing budgets and then optimizing it would allow me to have the confidence,  </a:t>
            </a:r>
          </a:p>
        </p:txBody>
      </p:sp>
      <p:sp>
        <p:nvSpPr>
          <p:cNvPr id="11" name="TextBox 10"/>
          <p:cNvSpPr txBox="1"/>
          <p:nvPr/>
        </p:nvSpPr>
        <p:spPr>
          <a:xfrm>
            <a:off x="1773948" y="7958835"/>
            <a:ext cx="2789062" cy="295655"/>
          </a:xfrm>
          <a:prstGeom prst="rect">
            <a:avLst/>
          </a:prstGeom>
          <a:noFill/>
        </p:spPr>
        <p:txBody>
          <a:bodyPr wrap="none" lIns="0" tIns="0" rIns="0" bIns="0">
            <a:noAutofit/>
          </a:bodyPr>
          <a:lstStyle/>
          <a:p>
            <a:pPr algn="l"/>
            <a:r>
              <a:rPr sz="2000" dirty="0">
                <a:solidFill>
                  <a:srgbClr val="000000"/>
                </a:solidFill>
                <a:latin typeface="Helvetica Neue Thin"/>
              </a:rPr>
              <a:t>to increase the budget”</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660400"/>
            <a:ext cx="10160000" cy="228600"/>
          </a:xfrm>
          <a:prstGeom prst="rect">
            <a:avLst/>
          </a:prstGeom>
          <a:noFill/>
        </p:spPr>
        <p:txBody>
          <a:bodyPr wrap="none" lIns="0" tIns="0" rIns="0" bIns="0">
            <a:noAutofit/>
          </a:bodyPr>
          <a:lstStyle/>
          <a:p>
            <a:pPr algn="l"/>
            <a:r>
              <a:rPr sz="1400" dirty="0">
                <a:solidFill>
                  <a:srgbClr val="1F1F1F"/>
                </a:solidFill>
                <a:latin typeface="Helvetica Neue"/>
              </a:rPr>
              <a:t>Introduction   AMEX MOCA</a:t>
            </a:r>
          </a:p>
        </p:txBody>
      </p:sp>
      <p:sp>
        <p:nvSpPr>
          <p:cNvPr id="4" name="TextBox 3"/>
          <p:cNvSpPr txBox="1"/>
          <p:nvPr/>
        </p:nvSpPr>
        <p:spPr>
          <a:xfrm>
            <a:off x="457200" y="4770880"/>
            <a:ext cx="1592368" cy="278434"/>
          </a:xfrm>
          <a:prstGeom prst="rect">
            <a:avLst/>
          </a:prstGeom>
          <a:noFill/>
        </p:spPr>
        <p:txBody>
          <a:bodyPr wrap="none" lIns="0" tIns="0" rIns="0" bIns="0">
            <a:noAutofit/>
          </a:bodyPr>
          <a:lstStyle/>
          <a:p>
            <a:pPr algn="l"/>
            <a:r>
              <a:rPr sz="1800" dirty="0">
                <a:solidFill>
                  <a:srgbClr val="000000"/>
                </a:solidFill>
                <a:latin typeface="Helvetica Neue Light"/>
              </a:rPr>
              <a:t>The problems </a:t>
            </a:r>
          </a:p>
        </p:txBody>
      </p:sp>
      <p:sp>
        <p:nvSpPr>
          <p:cNvPr id="5" name="TextBox 4"/>
          <p:cNvSpPr txBox="1"/>
          <p:nvPr/>
        </p:nvSpPr>
        <p:spPr>
          <a:xfrm>
            <a:off x="457200" y="5089041"/>
            <a:ext cx="5730240" cy="713130"/>
          </a:xfrm>
          <a:prstGeom prst="rect">
            <a:avLst/>
          </a:prstGeom>
          <a:noFill/>
        </p:spPr>
        <p:txBody>
          <a:bodyPr wrap="square" lIns="0" tIns="0" rIns="0" bIns="0">
            <a:noAutofit/>
          </a:bodyPr>
          <a:lstStyle/>
          <a:p>
            <a:pPr marL="228600" indent="-228600" algn="l">
              <a:lnSpc>
                <a:spcPts val="3000"/>
              </a:lnSpc>
            </a:pPr>
            <a:r>
              <a:rPr sz="1800" dirty="0">
                <a:solidFill>
                  <a:srgbClr val="000000"/>
                </a:solidFill>
                <a:latin typeface="Helvetica Neue Thin"/>
              </a:rPr>
              <a:t>•	AMEX Sales partners don’t have an effective tool for external clients to budget their AMEX Advertising dollars</a:t>
            </a:r>
          </a:p>
        </p:txBody>
      </p:sp>
      <p:sp>
        <p:nvSpPr>
          <p:cNvPr id="7" name="TextBox 6"/>
          <p:cNvSpPr txBox="1"/>
          <p:nvPr/>
        </p:nvSpPr>
        <p:spPr>
          <a:xfrm>
            <a:off x="457200" y="5917081"/>
            <a:ext cx="3430449" cy="266090"/>
          </a:xfrm>
          <a:prstGeom prst="rect">
            <a:avLst/>
          </a:prstGeom>
          <a:noFill/>
        </p:spPr>
        <p:txBody>
          <a:bodyPr wrap="none" lIns="0" tIns="0" rIns="0" bIns="0">
            <a:noAutofit/>
          </a:bodyPr>
          <a:lstStyle/>
          <a:p>
            <a:pPr algn="l"/>
            <a:r>
              <a:rPr sz="1800" dirty="0">
                <a:solidFill>
                  <a:srgbClr val="000000"/>
                </a:solidFill>
                <a:latin typeface="Helvetica Neue Thin"/>
              </a:rPr>
              <a:t>• No way to compare scenarios</a:t>
            </a:r>
          </a:p>
        </p:txBody>
      </p:sp>
      <p:sp>
        <p:nvSpPr>
          <p:cNvPr id="8" name="TextBox 7"/>
          <p:cNvSpPr txBox="1"/>
          <p:nvPr/>
        </p:nvSpPr>
        <p:spPr>
          <a:xfrm>
            <a:off x="457200" y="6298081"/>
            <a:ext cx="5853408" cy="266090"/>
          </a:xfrm>
          <a:prstGeom prst="rect">
            <a:avLst/>
          </a:prstGeom>
          <a:noFill/>
        </p:spPr>
        <p:txBody>
          <a:bodyPr wrap="none" lIns="0" tIns="0" rIns="0" bIns="0">
            <a:noAutofit/>
          </a:bodyPr>
          <a:lstStyle/>
          <a:p>
            <a:pPr algn="l"/>
            <a:r>
              <a:rPr sz="1800" dirty="0">
                <a:solidFill>
                  <a:srgbClr val="000000"/>
                </a:solidFill>
                <a:latin typeface="Helvetica Neue Thin"/>
              </a:rPr>
              <a:t>• No way to understand effectiveness of investment</a:t>
            </a:r>
          </a:p>
        </p:txBody>
      </p:sp>
      <p:sp>
        <p:nvSpPr>
          <p:cNvPr id="9" name="TextBox 8"/>
          <p:cNvSpPr txBox="1"/>
          <p:nvPr/>
        </p:nvSpPr>
        <p:spPr>
          <a:xfrm>
            <a:off x="457200" y="6679081"/>
            <a:ext cx="5963766" cy="266089"/>
          </a:xfrm>
          <a:prstGeom prst="rect">
            <a:avLst/>
          </a:prstGeom>
          <a:noFill/>
        </p:spPr>
        <p:txBody>
          <a:bodyPr wrap="none" lIns="0" tIns="0" rIns="0" bIns="0">
            <a:noAutofit/>
          </a:bodyPr>
          <a:lstStyle/>
          <a:p>
            <a:pPr algn="l"/>
            <a:r>
              <a:rPr sz="1800" dirty="0">
                <a:solidFill>
                  <a:srgbClr val="000000"/>
                </a:solidFill>
                <a:latin typeface="Helvetica Neue Thin"/>
              </a:rPr>
              <a:t>• Need a more customizable and predictive application </a:t>
            </a:r>
          </a:p>
        </p:txBody>
      </p:sp>
      <p:sp>
        <p:nvSpPr>
          <p:cNvPr id="10" name="TextBox 9"/>
          <p:cNvSpPr txBox="1"/>
          <p:nvPr/>
        </p:nvSpPr>
        <p:spPr>
          <a:xfrm>
            <a:off x="685800" y="7060081"/>
            <a:ext cx="3050217" cy="266089"/>
          </a:xfrm>
          <a:prstGeom prst="rect">
            <a:avLst/>
          </a:prstGeom>
          <a:noFill/>
        </p:spPr>
        <p:txBody>
          <a:bodyPr wrap="none" lIns="0" tIns="0" rIns="0" bIns="0">
            <a:noAutofit/>
          </a:bodyPr>
          <a:lstStyle/>
          <a:p>
            <a:pPr algn="l"/>
            <a:r>
              <a:rPr sz="1800" dirty="0">
                <a:solidFill>
                  <a:srgbClr val="000000"/>
                </a:solidFill>
                <a:latin typeface="Helvetica Neue Thin"/>
              </a:rPr>
              <a:t>using nascent AI technology.</a:t>
            </a:r>
          </a:p>
        </p:txBody>
      </p:sp>
      <p:sp>
        <p:nvSpPr>
          <p:cNvPr id="11" name="TextBox 10"/>
          <p:cNvSpPr txBox="1"/>
          <p:nvPr/>
        </p:nvSpPr>
        <p:spPr>
          <a:xfrm>
            <a:off x="457200" y="2363976"/>
            <a:ext cx="6263181" cy="1846579"/>
          </a:xfrm>
          <a:prstGeom prst="rect">
            <a:avLst/>
          </a:prstGeom>
          <a:noFill/>
        </p:spPr>
        <p:txBody>
          <a:bodyPr wrap="square" lIns="0" tIns="0" rIns="0" bIns="0">
            <a:noAutofit/>
          </a:bodyPr>
          <a:lstStyle/>
          <a:p>
            <a:pPr algn="l">
              <a:lnSpc>
                <a:spcPts val="3000"/>
              </a:lnSpc>
            </a:pPr>
            <a:r>
              <a:rPr sz="2200" dirty="0">
                <a:solidFill>
                  <a:srgbClr val="000000"/>
                </a:solidFill>
                <a:latin typeface="Helvetica Neue Light"/>
              </a:rPr>
              <a:t>What’s MOCA? </a:t>
            </a:r>
          </a:p>
          <a:p>
            <a:pPr algn="l">
              <a:lnSpc>
                <a:spcPts val="3000"/>
              </a:lnSpc>
            </a:pPr>
            <a:r>
              <a:rPr sz="2000" dirty="0">
                <a:solidFill>
                  <a:srgbClr val="000000"/>
                </a:solidFill>
                <a:latin typeface="Helvetica Neue Thin"/>
              </a:rPr>
              <a:t>Desktop-based budgeting application that uses algorithmic engines to project a marketer’s potential budget, as well as compare the constructed and optimized budget scenarios.</a:t>
            </a:r>
          </a:p>
        </p:txBody>
      </p:sp>
      <p:sp>
        <p:nvSpPr>
          <p:cNvPr id="13" name="TextBox 12"/>
          <p:cNvSpPr txBox="1"/>
          <p:nvPr/>
        </p:nvSpPr>
        <p:spPr>
          <a:xfrm>
            <a:off x="9055100" y="1799079"/>
            <a:ext cx="1775064" cy="278434"/>
          </a:xfrm>
          <a:prstGeom prst="rect">
            <a:avLst/>
          </a:prstGeom>
          <a:noFill/>
        </p:spPr>
        <p:txBody>
          <a:bodyPr wrap="none" lIns="0" tIns="0" rIns="0" bIns="0">
            <a:noAutofit/>
          </a:bodyPr>
          <a:lstStyle/>
          <a:p>
            <a:pPr algn="l"/>
            <a:r>
              <a:rPr sz="1800" dirty="0">
                <a:solidFill>
                  <a:srgbClr val="FFFFFF"/>
                </a:solidFill>
                <a:latin typeface="Helvetica Neue Light"/>
              </a:rPr>
              <a:t>Target audience</a:t>
            </a:r>
          </a:p>
        </p:txBody>
      </p:sp>
      <p:sp>
        <p:nvSpPr>
          <p:cNvPr id="14" name="TextBox 13"/>
          <p:cNvSpPr txBox="1"/>
          <p:nvPr/>
        </p:nvSpPr>
        <p:spPr>
          <a:xfrm>
            <a:off x="9055100" y="2183279"/>
            <a:ext cx="2221161" cy="266090"/>
          </a:xfrm>
          <a:prstGeom prst="rect">
            <a:avLst/>
          </a:prstGeom>
          <a:noFill/>
        </p:spPr>
        <p:txBody>
          <a:bodyPr wrap="none" lIns="0" tIns="0" rIns="0" bIns="0">
            <a:noAutofit/>
          </a:bodyPr>
          <a:lstStyle/>
          <a:p>
            <a:pPr algn="l"/>
            <a:r>
              <a:rPr sz="1800" dirty="0">
                <a:solidFill>
                  <a:srgbClr val="FFFFFF"/>
                </a:solidFill>
                <a:latin typeface="Helvetica Neue Thin"/>
              </a:rPr>
              <a:t>•  American Express  </a:t>
            </a:r>
          </a:p>
        </p:txBody>
      </p:sp>
      <p:sp>
        <p:nvSpPr>
          <p:cNvPr id="15" name="TextBox 14"/>
          <p:cNvSpPr txBox="1"/>
          <p:nvPr/>
        </p:nvSpPr>
        <p:spPr>
          <a:xfrm>
            <a:off x="9196371" y="2564279"/>
            <a:ext cx="1793088" cy="266090"/>
          </a:xfrm>
          <a:prstGeom prst="rect">
            <a:avLst/>
          </a:prstGeom>
          <a:noFill/>
        </p:spPr>
        <p:txBody>
          <a:bodyPr wrap="none" lIns="0" tIns="0" rIns="0" bIns="0">
            <a:noAutofit/>
          </a:bodyPr>
          <a:lstStyle/>
          <a:p>
            <a:pPr algn="l"/>
            <a:r>
              <a:rPr sz="1800" dirty="0">
                <a:solidFill>
                  <a:srgbClr val="FFFFFF"/>
                </a:solidFill>
                <a:latin typeface="Helvetica Neue Thin"/>
              </a:rPr>
              <a:t>Sales Managers </a:t>
            </a:r>
          </a:p>
        </p:txBody>
      </p:sp>
      <p:sp>
        <p:nvSpPr>
          <p:cNvPr id="16" name="TextBox 15"/>
          <p:cNvSpPr txBox="1"/>
          <p:nvPr/>
        </p:nvSpPr>
        <p:spPr>
          <a:xfrm>
            <a:off x="9055100" y="2945279"/>
            <a:ext cx="2221161" cy="266090"/>
          </a:xfrm>
          <a:prstGeom prst="rect">
            <a:avLst/>
          </a:prstGeom>
          <a:noFill/>
        </p:spPr>
        <p:txBody>
          <a:bodyPr wrap="none" lIns="0" tIns="0" rIns="0" bIns="0">
            <a:noAutofit/>
          </a:bodyPr>
          <a:lstStyle/>
          <a:p>
            <a:pPr algn="l"/>
            <a:r>
              <a:rPr sz="1800" dirty="0">
                <a:solidFill>
                  <a:srgbClr val="FFFFFF"/>
                </a:solidFill>
                <a:latin typeface="Helvetica Neue Thin"/>
              </a:rPr>
              <a:t>•  American Express  </a:t>
            </a:r>
          </a:p>
        </p:txBody>
      </p:sp>
      <p:sp>
        <p:nvSpPr>
          <p:cNvPr id="17" name="TextBox 16"/>
          <p:cNvSpPr txBox="1"/>
          <p:nvPr/>
        </p:nvSpPr>
        <p:spPr>
          <a:xfrm>
            <a:off x="9196371" y="3326281"/>
            <a:ext cx="1589652" cy="266090"/>
          </a:xfrm>
          <a:prstGeom prst="rect">
            <a:avLst/>
          </a:prstGeom>
          <a:noFill/>
        </p:spPr>
        <p:txBody>
          <a:bodyPr wrap="none" lIns="0" tIns="0" rIns="0" bIns="0">
            <a:noAutofit/>
          </a:bodyPr>
          <a:lstStyle/>
          <a:p>
            <a:pPr algn="l"/>
            <a:r>
              <a:rPr sz="1800" dirty="0">
                <a:solidFill>
                  <a:srgbClr val="FFFFFF"/>
                </a:solidFill>
                <a:latin typeface="Helvetica Neue Thin"/>
              </a:rPr>
              <a:t>Sales Advisors</a:t>
            </a:r>
          </a:p>
        </p:txBody>
      </p:sp>
      <p:sp>
        <p:nvSpPr>
          <p:cNvPr id="18" name="TextBox 17"/>
          <p:cNvSpPr txBox="1"/>
          <p:nvPr/>
        </p:nvSpPr>
        <p:spPr>
          <a:xfrm>
            <a:off x="7924801" y="4774182"/>
            <a:ext cx="807046" cy="247497"/>
          </a:xfrm>
          <a:prstGeom prst="rect">
            <a:avLst/>
          </a:prstGeom>
          <a:noFill/>
        </p:spPr>
        <p:txBody>
          <a:bodyPr wrap="none" lIns="0" tIns="0" rIns="0" bIns="0">
            <a:noAutofit/>
          </a:bodyPr>
          <a:lstStyle/>
          <a:p>
            <a:pPr algn="l"/>
            <a:r>
              <a:rPr sz="1600" dirty="0">
                <a:solidFill>
                  <a:srgbClr val="000000"/>
                </a:solidFill>
                <a:latin typeface="Helvetica Neue Light"/>
              </a:rPr>
              <a:t>My Role</a:t>
            </a:r>
          </a:p>
        </p:txBody>
      </p:sp>
      <p:sp>
        <p:nvSpPr>
          <p:cNvPr id="19" name="TextBox 18"/>
          <p:cNvSpPr txBox="1"/>
          <p:nvPr/>
        </p:nvSpPr>
        <p:spPr>
          <a:xfrm>
            <a:off x="7924801" y="5168339"/>
            <a:ext cx="4271820" cy="206959"/>
          </a:xfrm>
          <a:prstGeom prst="rect">
            <a:avLst/>
          </a:prstGeom>
          <a:noFill/>
        </p:spPr>
        <p:txBody>
          <a:bodyPr wrap="none" lIns="0" tIns="0" rIns="0" bIns="0">
            <a:noAutofit/>
          </a:bodyPr>
          <a:lstStyle/>
          <a:p>
            <a:pPr algn="l"/>
            <a:r>
              <a:rPr sz="1400" dirty="0">
                <a:solidFill>
                  <a:srgbClr val="000000"/>
                </a:solidFill>
                <a:latin typeface="Helvetica Neue Thin"/>
              </a:rPr>
              <a:t>• By working with data scientists we created more </a:t>
            </a:r>
          </a:p>
        </p:txBody>
      </p:sp>
      <p:sp>
        <p:nvSpPr>
          <p:cNvPr id="20" name="TextBox 19"/>
          <p:cNvSpPr txBox="1"/>
          <p:nvPr/>
        </p:nvSpPr>
        <p:spPr>
          <a:xfrm>
            <a:off x="8153401" y="5473139"/>
            <a:ext cx="4213460" cy="206959"/>
          </a:xfrm>
          <a:prstGeom prst="rect">
            <a:avLst/>
          </a:prstGeom>
          <a:noFill/>
        </p:spPr>
        <p:txBody>
          <a:bodyPr wrap="none" lIns="0" tIns="0" rIns="0" bIns="0">
            <a:noAutofit/>
          </a:bodyPr>
          <a:lstStyle/>
          <a:p>
            <a:pPr algn="l"/>
            <a:r>
              <a:rPr sz="1400" dirty="0">
                <a:solidFill>
                  <a:srgbClr val="000000"/>
                </a:solidFill>
                <a:latin typeface="Helvetica Neue Thin"/>
              </a:rPr>
              <a:t>effective and engaging user experiences. Working </a:t>
            </a:r>
          </a:p>
        </p:txBody>
      </p:sp>
      <p:sp>
        <p:nvSpPr>
          <p:cNvPr id="21" name="TextBox 20"/>
          <p:cNvSpPr txBox="1"/>
          <p:nvPr/>
        </p:nvSpPr>
        <p:spPr>
          <a:xfrm>
            <a:off x="8153401" y="5777939"/>
            <a:ext cx="4291462" cy="206959"/>
          </a:xfrm>
          <a:prstGeom prst="rect">
            <a:avLst/>
          </a:prstGeom>
          <a:noFill/>
        </p:spPr>
        <p:txBody>
          <a:bodyPr wrap="none" lIns="0" tIns="0" rIns="0" bIns="0">
            <a:noAutofit/>
          </a:bodyPr>
          <a:lstStyle/>
          <a:p>
            <a:pPr algn="l"/>
            <a:r>
              <a:rPr sz="1400" dirty="0">
                <a:solidFill>
                  <a:srgbClr val="000000"/>
                </a:solidFill>
                <a:latin typeface="Helvetica Neue Thin"/>
              </a:rPr>
              <a:t>together we understood and predicted user needs, </a:t>
            </a:r>
          </a:p>
        </p:txBody>
      </p:sp>
      <p:sp>
        <p:nvSpPr>
          <p:cNvPr id="22" name="TextBox 21"/>
          <p:cNvSpPr txBox="1"/>
          <p:nvPr/>
        </p:nvSpPr>
        <p:spPr>
          <a:xfrm>
            <a:off x="8153401" y="6082739"/>
            <a:ext cx="4505566" cy="206959"/>
          </a:xfrm>
          <a:prstGeom prst="rect">
            <a:avLst/>
          </a:prstGeom>
          <a:noFill/>
        </p:spPr>
        <p:txBody>
          <a:bodyPr wrap="none" lIns="0" tIns="0" rIns="0" bIns="0">
            <a:noAutofit/>
          </a:bodyPr>
          <a:lstStyle/>
          <a:p>
            <a:pPr algn="l"/>
            <a:r>
              <a:rPr sz="1400" dirty="0">
                <a:solidFill>
                  <a:srgbClr val="000000"/>
                </a:solidFill>
                <a:latin typeface="Helvetica Neue Thin"/>
              </a:rPr>
              <a:t>optimizing various aspects of design and data analysis.</a:t>
            </a:r>
          </a:p>
        </p:txBody>
      </p:sp>
      <p:sp>
        <p:nvSpPr>
          <p:cNvPr id="23" name="TextBox 22"/>
          <p:cNvSpPr txBox="1"/>
          <p:nvPr/>
        </p:nvSpPr>
        <p:spPr>
          <a:xfrm>
            <a:off x="7924801" y="6395159"/>
            <a:ext cx="4268231" cy="872439"/>
          </a:xfrm>
          <a:prstGeom prst="rect">
            <a:avLst/>
          </a:prstGeom>
          <a:noFill/>
        </p:spPr>
        <p:txBody>
          <a:bodyPr wrap="square" lIns="0" tIns="0" rIns="0" bIns="0">
            <a:noAutofit/>
          </a:bodyPr>
          <a:lstStyle/>
          <a:p>
            <a:pPr marL="228600" indent="-228600" algn="l">
              <a:lnSpc>
                <a:spcPts val="2400"/>
              </a:lnSpc>
            </a:pPr>
            <a:r>
              <a:rPr sz="1400" dirty="0">
                <a:solidFill>
                  <a:srgbClr val="000000"/>
                </a:solidFill>
                <a:latin typeface="Helvetica Neue Thin"/>
              </a:rPr>
              <a:t>•	I was responsible for managing the discovery process, including research, strategy and overall hands-on design of the material and artifacts. </a:t>
            </a:r>
          </a:p>
        </p:txBody>
      </p:sp>
      <p:sp>
        <p:nvSpPr>
          <p:cNvPr id="26" name="TextBox 25"/>
          <p:cNvSpPr txBox="1"/>
          <p:nvPr/>
        </p:nvSpPr>
        <p:spPr>
          <a:xfrm>
            <a:off x="7924801" y="7309559"/>
            <a:ext cx="4450060" cy="872439"/>
          </a:xfrm>
          <a:prstGeom prst="rect">
            <a:avLst/>
          </a:prstGeom>
          <a:noFill/>
        </p:spPr>
        <p:txBody>
          <a:bodyPr wrap="square" lIns="0" tIns="0" rIns="0" bIns="0">
            <a:noAutofit/>
          </a:bodyPr>
          <a:lstStyle/>
          <a:p>
            <a:pPr marL="228600" indent="-228600" algn="l">
              <a:lnSpc>
                <a:spcPts val="2400"/>
              </a:lnSpc>
            </a:pPr>
            <a:r>
              <a:rPr sz="1400" dirty="0">
                <a:solidFill>
                  <a:srgbClr val="000000"/>
                </a:solidFill>
                <a:latin typeface="Helvetica Neue Thin"/>
              </a:rPr>
              <a:t>•	I led the work on all deliverables and artifacts in Sketch and Figma using Lean UX and usability testing, presenting these to the client and key stakeholders.</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939800"/>
            <a:ext cx="3119120" cy="476250"/>
          </a:xfrm>
          <a:prstGeom prst="rect">
            <a:avLst/>
          </a:prstGeom>
          <a:noFill/>
        </p:spPr>
        <p:txBody>
          <a:bodyPr wrap="none" lIns="0" tIns="0" rIns="0" bIns="0">
            <a:noAutofit/>
          </a:bodyPr>
          <a:lstStyle/>
          <a:p>
            <a:pPr algn="l"/>
            <a:r>
              <a:rPr sz="3000" dirty="0">
                <a:solidFill>
                  <a:srgbClr val="1F1F1F"/>
                </a:solidFill>
                <a:latin typeface="Helvetica Neue Light"/>
              </a:rPr>
              <a:t>Why design MOCA?</a:t>
            </a:r>
          </a:p>
        </p:txBody>
      </p:sp>
      <p:sp>
        <p:nvSpPr>
          <p:cNvPr id="4" name="TextBox 3"/>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AMEX MOCA</a:t>
            </a:r>
          </a:p>
        </p:txBody>
      </p:sp>
      <p:sp>
        <p:nvSpPr>
          <p:cNvPr id="5" name="TextBox 4"/>
          <p:cNvSpPr txBox="1"/>
          <p:nvPr/>
        </p:nvSpPr>
        <p:spPr>
          <a:xfrm>
            <a:off x="762000" y="2032000"/>
            <a:ext cx="5334000" cy="2540000"/>
          </a:xfrm>
          <a:prstGeom prst="rect">
            <a:avLst/>
          </a:prstGeom>
          <a:noFill/>
        </p:spPr>
        <p:txBody>
          <a:bodyPr wrap="square" lIns="0" tIns="0" rIns="0" bIns="0">
            <a:noAutofit/>
          </a:bodyPr>
          <a:lstStyle/>
          <a:p>
            <a:r>
              <a:rPr sz="6400">
                <a:solidFill>
                  <a:srgbClr val="00BC48"/>
                </a:solidFill>
                <a:latin typeface="Helvetica Neue Light"/>
              </a:rPr>
              <a:t>$1.34 mil</a:t>
            </a:r>
          </a:p>
          <a:p>
            <a:pPr>
              <a:spcBef>
                <a:spcPts val="400"/>
              </a:spcBef>
            </a:pPr>
            <a:r>
              <a:rPr sz="1700">
                <a:solidFill>
                  <a:srgbClr val="1F1F1F"/>
                </a:solidFill>
                <a:latin typeface="Helvetica Neue Light"/>
              </a:rPr>
              <a:t>Average client budget</a:t>
            </a:r>
          </a:p>
        </p:txBody>
      </p:sp>
      <p:sp>
        <p:nvSpPr>
          <p:cNvPr id="6" name="TextBox 5"/>
          <p:cNvSpPr txBox="1"/>
          <p:nvPr/>
        </p:nvSpPr>
        <p:spPr>
          <a:xfrm>
            <a:off x="6858000" y="2032000"/>
            <a:ext cx="5334000" cy="2540000"/>
          </a:xfrm>
          <a:prstGeom prst="rect">
            <a:avLst/>
          </a:prstGeom>
          <a:noFill/>
        </p:spPr>
        <p:txBody>
          <a:bodyPr wrap="square" lIns="0" tIns="0" rIns="0" bIns="0">
            <a:noAutofit/>
          </a:bodyPr>
          <a:lstStyle/>
          <a:p>
            <a:r>
              <a:rPr sz="6400">
                <a:solidFill>
                  <a:srgbClr val="098791"/>
                </a:solidFill>
                <a:latin typeface="Helvetica Neue Light"/>
              </a:rPr>
              <a:t>5.4%</a:t>
            </a:r>
          </a:p>
          <a:p>
            <a:pPr>
              <a:spcBef>
                <a:spcPts val="400"/>
              </a:spcBef>
            </a:pPr>
            <a:r>
              <a:rPr sz="1700">
                <a:solidFill>
                  <a:srgbClr val="1F1F1F"/>
                </a:solidFill>
                <a:latin typeface="Helvetica Neue Light"/>
              </a:rPr>
              <a:t>Drop-off rate on the current budget process</a:t>
            </a:r>
          </a:p>
        </p:txBody>
      </p:sp>
      <p:sp>
        <p:nvSpPr>
          <p:cNvPr id="7" name="TextBox 6"/>
          <p:cNvSpPr txBox="1"/>
          <p:nvPr/>
        </p:nvSpPr>
        <p:spPr>
          <a:xfrm>
            <a:off x="762000" y="5334000"/>
            <a:ext cx="5334000" cy="2540000"/>
          </a:xfrm>
          <a:prstGeom prst="rect">
            <a:avLst/>
          </a:prstGeom>
          <a:noFill/>
        </p:spPr>
        <p:txBody>
          <a:bodyPr wrap="square" lIns="0" tIns="0" rIns="0" bIns="0">
            <a:noAutofit/>
          </a:bodyPr>
          <a:lstStyle/>
          <a:p>
            <a:r>
              <a:rPr sz="6400">
                <a:solidFill>
                  <a:srgbClr val="AF00EF"/>
                </a:solidFill>
                <a:latin typeface="Helvetica Neue Light"/>
              </a:rPr>
              <a:t>12 mins</a:t>
            </a:r>
          </a:p>
          <a:p>
            <a:pPr>
              <a:spcBef>
                <a:spcPts val="400"/>
              </a:spcBef>
            </a:pPr>
            <a:r>
              <a:rPr sz="1700">
                <a:solidFill>
                  <a:srgbClr val="1F1F1F"/>
                </a:solidFill>
                <a:latin typeface="Helvetica Neue Light"/>
              </a:rPr>
              <a:t>Average time partners need to complete a budget</a:t>
            </a:r>
          </a:p>
        </p:txBody>
      </p:sp>
      <p:sp>
        <p:nvSpPr>
          <p:cNvPr id="8" name="TextBox 7"/>
          <p:cNvSpPr txBox="1"/>
          <p:nvPr/>
        </p:nvSpPr>
        <p:spPr>
          <a:xfrm>
            <a:off x="6858000" y="5334000"/>
            <a:ext cx="5334000" cy="2540000"/>
          </a:xfrm>
          <a:prstGeom prst="rect">
            <a:avLst/>
          </a:prstGeom>
          <a:noFill/>
        </p:spPr>
        <p:txBody>
          <a:bodyPr wrap="square" lIns="0" tIns="0" rIns="0" bIns="0">
            <a:noAutofit/>
          </a:bodyPr>
          <a:lstStyle/>
          <a:p>
            <a:r>
              <a:rPr sz="6400">
                <a:solidFill>
                  <a:srgbClr val="1059FF"/>
                </a:solidFill>
                <a:latin typeface="Helvetica Neue Light"/>
              </a:rPr>
              <a:t>58%</a:t>
            </a:r>
          </a:p>
          <a:p>
            <a:pPr>
              <a:spcBef>
                <a:spcPts val="400"/>
              </a:spcBef>
            </a:pPr>
            <a:r>
              <a:rPr sz="1700">
                <a:solidFill>
                  <a:srgbClr val="1F1F1F"/>
                </a:solidFill>
                <a:latin typeface="Helvetica Neue Light"/>
              </a:rPr>
              <a:t>Approval rating from internal business partners</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762000" y="633474"/>
            <a:ext cx="6534704" cy="371246"/>
          </a:xfrm>
          <a:prstGeom prst="rect">
            <a:avLst/>
          </a:prstGeom>
          <a:noFill/>
        </p:spPr>
        <p:txBody>
          <a:bodyPr wrap="none" lIns="0" tIns="0" rIns="0" bIns="0">
            <a:noAutofit/>
          </a:bodyPr>
          <a:lstStyle/>
          <a:p>
            <a:pPr algn="l"/>
            <a:r>
              <a:rPr sz="2400" dirty="0">
                <a:solidFill>
                  <a:srgbClr val="FFFFFF"/>
                </a:solidFill>
                <a:latin typeface="Helvetica Neue"/>
              </a:rPr>
              <a:t>How we worked with data scientists using AI </a:t>
            </a:r>
          </a:p>
        </p:txBody>
      </p:sp>
      <p:sp>
        <p:nvSpPr>
          <p:cNvPr id="4" name="TextBox 3"/>
          <p:cNvSpPr txBox="1"/>
          <p:nvPr/>
        </p:nvSpPr>
        <p:spPr>
          <a:xfrm>
            <a:off x="736600" y="1468879"/>
            <a:ext cx="4019524" cy="278434"/>
          </a:xfrm>
          <a:prstGeom prst="rect">
            <a:avLst/>
          </a:prstGeom>
          <a:noFill/>
        </p:spPr>
        <p:txBody>
          <a:bodyPr wrap="none" lIns="0" tIns="0" rIns="0" bIns="0">
            <a:noAutofit/>
          </a:bodyPr>
          <a:lstStyle/>
          <a:p>
            <a:pPr algn="l"/>
            <a:r>
              <a:rPr sz="1800" dirty="0">
                <a:solidFill>
                  <a:srgbClr val="FFFFFF"/>
                </a:solidFill>
                <a:latin typeface="Helvetica Neue"/>
              </a:rPr>
              <a:t>Identifying User Needs and Behavior</a:t>
            </a:r>
          </a:p>
        </p:txBody>
      </p:sp>
      <p:sp>
        <p:nvSpPr>
          <p:cNvPr id="5" name="TextBox 4"/>
          <p:cNvSpPr txBox="1"/>
          <p:nvPr/>
        </p:nvSpPr>
        <p:spPr>
          <a:xfrm>
            <a:off x="736600" y="1891179"/>
            <a:ext cx="5874320" cy="266090"/>
          </a:xfrm>
          <a:prstGeom prst="rect">
            <a:avLst/>
          </a:prstGeom>
          <a:noFill/>
        </p:spPr>
        <p:txBody>
          <a:bodyPr wrap="none" lIns="0" tIns="0" rIns="0" bIns="0">
            <a:noAutofit/>
          </a:bodyPr>
          <a:lstStyle/>
          <a:p>
            <a:pPr algn="l"/>
            <a:r>
              <a:rPr sz="1800" dirty="0">
                <a:solidFill>
                  <a:srgbClr val="FFFFFF"/>
                </a:solidFill>
                <a:latin typeface="Helvetica Neue Thin"/>
              </a:rPr>
              <a:t>• UX Designers: Use AI tools to analyze user behavior, </a:t>
            </a:r>
          </a:p>
        </p:txBody>
      </p:sp>
      <p:sp>
        <p:nvSpPr>
          <p:cNvPr id="6" name="TextBox 5"/>
          <p:cNvSpPr txBox="1"/>
          <p:nvPr/>
        </p:nvSpPr>
        <p:spPr>
          <a:xfrm>
            <a:off x="965200" y="2183279"/>
            <a:ext cx="5454452" cy="8502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preferences, and feedback. For example, AI-driven sentiment analysis on user reviews or social media can provide insights into user satisfaction and pain points.</a:t>
            </a:r>
          </a:p>
        </p:txBody>
      </p:sp>
      <p:sp>
        <p:nvSpPr>
          <p:cNvPr id="7" name="TextBox 6"/>
          <p:cNvSpPr txBox="1"/>
          <p:nvPr/>
        </p:nvSpPr>
        <p:spPr>
          <a:xfrm>
            <a:off x="736600" y="3186581"/>
            <a:ext cx="5885503" cy="266090"/>
          </a:xfrm>
          <a:prstGeom prst="rect">
            <a:avLst/>
          </a:prstGeom>
          <a:noFill/>
        </p:spPr>
        <p:txBody>
          <a:bodyPr wrap="none" lIns="0" tIns="0" rIns="0" bIns="0">
            <a:noAutofit/>
          </a:bodyPr>
          <a:lstStyle/>
          <a:p>
            <a:pPr algn="l"/>
            <a:r>
              <a:rPr sz="1800" dirty="0">
                <a:solidFill>
                  <a:srgbClr val="FFFFFF"/>
                </a:solidFill>
                <a:latin typeface="Helvetica Neue Thin"/>
              </a:rPr>
              <a:t>• Data Scientists: Apply machine learning algorithms to </a:t>
            </a:r>
          </a:p>
        </p:txBody>
      </p:sp>
      <p:sp>
        <p:nvSpPr>
          <p:cNvPr id="8" name="TextBox 7"/>
          <p:cNvSpPr txBox="1"/>
          <p:nvPr/>
        </p:nvSpPr>
        <p:spPr>
          <a:xfrm>
            <a:off x="965200" y="3478681"/>
            <a:ext cx="5450065" cy="11423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analyze large datasets and uncover patterns or trends that inform UX design. This might include clustering users into segments or predicting user behavior based on historical data.</a:t>
            </a:r>
          </a:p>
        </p:txBody>
      </p:sp>
      <p:sp>
        <p:nvSpPr>
          <p:cNvPr id="9" name="TextBox 8"/>
          <p:cNvSpPr txBox="1"/>
          <p:nvPr/>
        </p:nvSpPr>
        <p:spPr>
          <a:xfrm>
            <a:off x="736600" y="5355080"/>
            <a:ext cx="3993082" cy="278434"/>
          </a:xfrm>
          <a:prstGeom prst="rect">
            <a:avLst/>
          </a:prstGeom>
          <a:noFill/>
        </p:spPr>
        <p:txBody>
          <a:bodyPr wrap="none" lIns="0" tIns="0" rIns="0" bIns="0">
            <a:noAutofit/>
          </a:bodyPr>
          <a:lstStyle/>
          <a:p>
            <a:pPr algn="l"/>
            <a:r>
              <a:rPr sz="1800" dirty="0">
                <a:solidFill>
                  <a:srgbClr val="FFFFFF"/>
                </a:solidFill>
                <a:latin typeface="Helvetica Neue"/>
              </a:rPr>
              <a:t>Designing Personalized Experiences</a:t>
            </a:r>
          </a:p>
        </p:txBody>
      </p:sp>
      <p:sp>
        <p:nvSpPr>
          <p:cNvPr id="10" name="TextBox 9"/>
          <p:cNvSpPr txBox="1"/>
          <p:nvPr/>
        </p:nvSpPr>
        <p:spPr>
          <a:xfrm>
            <a:off x="736600" y="5777381"/>
            <a:ext cx="6176066" cy="266090"/>
          </a:xfrm>
          <a:prstGeom prst="rect">
            <a:avLst/>
          </a:prstGeom>
          <a:noFill/>
        </p:spPr>
        <p:txBody>
          <a:bodyPr wrap="none" lIns="0" tIns="0" rIns="0" bIns="0">
            <a:noAutofit/>
          </a:bodyPr>
          <a:lstStyle/>
          <a:p>
            <a:pPr algn="l"/>
            <a:r>
              <a:rPr sz="1800" dirty="0">
                <a:solidFill>
                  <a:srgbClr val="FFFFFF"/>
                </a:solidFill>
                <a:latin typeface="Helvetica Neue Thin"/>
              </a:rPr>
              <a:t>• UX Designers: Work with AI to create personalized user </a:t>
            </a:r>
          </a:p>
        </p:txBody>
      </p:sp>
      <p:sp>
        <p:nvSpPr>
          <p:cNvPr id="11" name="TextBox 10"/>
          <p:cNvSpPr txBox="1"/>
          <p:nvPr/>
        </p:nvSpPr>
        <p:spPr>
          <a:xfrm>
            <a:off x="965200" y="6069481"/>
            <a:ext cx="5639392" cy="8502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experiences. For instance, using AI to tailor content, recommendations, or interfaces based on individual user preferences or behavior.</a:t>
            </a:r>
          </a:p>
        </p:txBody>
      </p:sp>
      <p:sp>
        <p:nvSpPr>
          <p:cNvPr id="12" name="TextBox 11"/>
          <p:cNvSpPr txBox="1"/>
          <p:nvPr/>
        </p:nvSpPr>
        <p:spPr>
          <a:xfrm>
            <a:off x="736600" y="7072781"/>
            <a:ext cx="6200533" cy="266089"/>
          </a:xfrm>
          <a:prstGeom prst="rect">
            <a:avLst/>
          </a:prstGeom>
          <a:noFill/>
        </p:spPr>
        <p:txBody>
          <a:bodyPr wrap="none" lIns="0" tIns="0" rIns="0" bIns="0">
            <a:noAutofit/>
          </a:bodyPr>
          <a:lstStyle/>
          <a:p>
            <a:pPr algn="l"/>
            <a:r>
              <a:rPr sz="1800" dirty="0">
                <a:solidFill>
                  <a:srgbClr val="FFFFFF"/>
                </a:solidFill>
                <a:latin typeface="Helvetica Neue Thin"/>
              </a:rPr>
              <a:t>• Data Scientists: Develop and fine-tune recommendation </a:t>
            </a:r>
          </a:p>
        </p:txBody>
      </p:sp>
      <p:sp>
        <p:nvSpPr>
          <p:cNvPr id="13" name="TextBox 12"/>
          <p:cNvSpPr txBox="1"/>
          <p:nvPr/>
        </p:nvSpPr>
        <p:spPr>
          <a:xfrm>
            <a:off x="965200" y="7364881"/>
            <a:ext cx="5634313" cy="850288"/>
          </a:xfrm>
          <a:prstGeom prst="rect">
            <a:avLst/>
          </a:prstGeom>
          <a:noFill/>
        </p:spPr>
        <p:txBody>
          <a:bodyPr wrap="square" lIns="0" tIns="0" rIns="0" bIns="0">
            <a:noAutofit/>
          </a:bodyPr>
          <a:lstStyle/>
          <a:p>
            <a:pPr algn="l">
              <a:lnSpc>
                <a:spcPts val="2299"/>
              </a:lnSpc>
            </a:pPr>
            <a:r>
              <a:rPr sz="1800" dirty="0">
                <a:solidFill>
                  <a:srgbClr val="FFFFFF"/>
                </a:solidFill>
                <a:latin typeface="Helvetica Neue Thin"/>
              </a:rPr>
              <a:t>algorithms or personalization models that feed into UX design. They provide the data and insights necessary for creating these personalized experiences.</a:t>
            </a:r>
          </a:p>
        </p:txBody>
      </p:sp>
      <p:sp>
        <p:nvSpPr>
          <p:cNvPr id="14" name="TextBox 13"/>
          <p:cNvSpPr txBox="1"/>
          <p:nvPr/>
        </p:nvSpPr>
        <p:spPr>
          <a:xfrm>
            <a:off x="6692900" y="1468879"/>
            <a:ext cx="3180352" cy="278434"/>
          </a:xfrm>
          <a:prstGeom prst="rect">
            <a:avLst/>
          </a:prstGeom>
          <a:noFill/>
        </p:spPr>
        <p:txBody>
          <a:bodyPr wrap="none" lIns="0" tIns="0" rIns="0" bIns="0">
            <a:noAutofit/>
          </a:bodyPr>
          <a:lstStyle/>
          <a:p>
            <a:pPr algn="l"/>
            <a:r>
              <a:rPr sz="1800" dirty="0">
                <a:solidFill>
                  <a:srgbClr val="FFFFFF"/>
                </a:solidFill>
                <a:latin typeface="Helvetica Neue"/>
              </a:rPr>
              <a:t>Enhancing Data Visualization</a:t>
            </a:r>
          </a:p>
        </p:txBody>
      </p:sp>
      <p:sp>
        <p:nvSpPr>
          <p:cNvPr id="15" name="TextBox 14"/>
          <p:cNvSpPr txBox="1"/>
          <p:nvPr/>
        </p:nvSpPr>
        <p:spPr>
          <a:xfrm>
            <a:off x="6692900" y="1891179"/>
            <a:ext cx="5682564" cy="266090"/>
          </a:xfrm>
          <a:prstGeom prst="rect">
            <a:avLst/>
          </a:prstGeom>
          <a:noFill/>
        </p:spPr>
        <p:txBody>
          <a:bodyPr wrap="none" lIns="0" tIns="0" rIns="0" bIns="0">
            <a:noAutofit/>
          </a:bodyPr>
          <a:lstStyle/>
          <a:p>
            <a:pPr algn="l"/>
            <a:r>
              <a:rPr sz="1800" dirty="0">
                <a:solidFill>
                  <a:srgbClr val="FFFFFF"/>
                </a:solidFill>
                <a:latin typeface="Helvetica Neue Thin"/>
              </a:rPr>
              <a:t>• UX Designers: Focus on the usability and aesthetic </a:t>
            </a:r>
          </a:p>
        </p:txBody>
      </p:sp>
      <p:sp>
        <p:nvSpPr>
          <p:cNvPr id="16" name="TextBox 15"/>
          <p:cNvSpPr txBox="1"/>
          <p:nvPr/>
        </p:nvSpPr>
        <p:spPr>
          <a:xfrm>
            <a:off x="6921500" y="2183279"/>
            <a:ext cx="5551196" cy="5581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aspects of data visualizations, ensuring they are intuitive and engaging for users.</a:t>
            </a:r>
          </a:p>
        </p:txBody>
      </p:sp>
      <p:sp>
        <p:nvSpPr>
          <p:cNvPr id="17" name="TextBox 16"/>
          <p:cNvSpPr txBox="1"/>
          <p:nvPr/>
        </p:nvSpPr>
        <p:spPr>
          <a:xfrm>
            <a:off x="6692900" y="2894479"/>
            <a:ext cx="5395185" cy="266090"/>
          </a:xfrm>
          <a:prstGeom prst="rect">
            <a:avLst/>
          </a:prstGeom>
          <a:noFill/>
        </p:spPr>
        <p:txBody>
          <a:bodyPr wrap="none" lIns="0" tIns="0" rIns="0" bIns="0">
            <a:noAutofit/>
          </a:bodyPr>
          <a:lstStyle/>
          <a:p>
            <a:pPr algn="l"/>
            <a:r>
              <a:rPr sz="1800" dirty="0">
                <a:solidFill>
                  <a:srgbClr val="FFFFFF"/>
                </a:solidFill>
                <a:latin typeface="Helvetica Neue Thin"/>
              </a:rPr>
              <a:t>• Data Scientists: Use AI to generate dynamic and </a:t>
            </a:r>
          </a:p>
        </p:txBody>
      </p:sp>
      <p:sp>
        <p:nvSpPr>
          <p:cNvPr id="18" name="TextBox 17"/>
          <p:cNvSpPr txBox="1"/>
          <p:nvPr/>
        </p:nvSpPr>
        <p:spPr>
          <a:xfrm>
            <a:off x="6921500" y="3186581"/>
            <a:ext cx="5592525" cy="8502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interactive visualizations. For example, AI can automate the creation of charts and graphs based on user queries or highlight important trends and anomalies in the data. </a:t>
            </a:r>
          </a:p>
        </p:txBody>
      </p:sp>
      <p:sp>
        <p:nvSpPr>
          <p:cNvPr id="19" name="TextBox 18"/>
          <p:cNvSpPr txBox="1"/>
          <p:nvPr/>
        </p:nvSpPr>
        <p:spPr>
          <a:xfrm>
            <a:off x="6692900" y="4770880"/>
            <a:ext cx="3023578" cy="278434"/>
          </a:xfrm>
          <a:prstGeom prst="rect">
            <a:avLst/>
          </a:prstGeom>
          <a:noFill/>
        </p:spPr>
        <p:txBody>
          <a:bodyPr wrap="none" lIns="0" tIns="0" rIns="0" bIns="0">
            <a:noAutofit/>
          </a:bodyPr>
          <a:lstStyle/>
          <a:p>
            <a:pPr algn="l"/>
            <a:r>
              <a:rPr sz="1800" dirty="0">
                <a:solidFill>
                  <a:srgbClr val="FFFFFF"/>
                </a:solidFill>
                <a:latin typeface="Helvetica Neue"/>
              </a:rPr>
              <a:t>Improving User Interactions</a:t>
            </a:r>
          </a:p>
        </p:txBody>
      </p:sp>
      <p:sp>
        <p:nvSpPr>
          <p:cNvPr id="20" name="TextBox 19"/>
          <p:cNvSpPr txBox="1"/>
          <p:nvPr/>
        </p:nvSpPr>
        <p:spPr>
          <a:xfrm>
            <a:off x="6692900" y="5193181"/>
            <a:ext cx="5371484" cy="266090"/>
          </a:xfrm>
          <a:prstGeom prst="rect">
            <a:avLst/>
          </a:prstGeom>
          <a:noFill/>
        </p:spPr>
        <p:txBody>
          <a:bodyPr wrap="none" lIns="0" tIns="0" rIns="0" bIns="0">
            <a:noAutofit/>
          </a:bodyPr>
          <a:lstStyle/>
          <a:p>
            <a:pPr algn="l"/>
            <a:r>
              <a:rPr sz="1800" dirty="0">
                <a:solidFill>
                  <a:srgbClr val="FFFFFF"/>
                </a:solidFill>
                <a:latin typeface="Helvetica Neue Thin"/>
              </a:rPr>
              <a:t>• UX Designers: Implement AI-driven features like </a:t>
            </a:r>
          </a:p>
        </p:txBody>
      </p:sp>
      <p:sp>
        <p:nvSpPr>
          <p:cNvPr id="21" name="TextBox 20"/>
          <p:cNvSpPr txBox="1"/>
          <p:nvPr/>
        </p:nvSpPr>
        <p:spPr>
          <a:xfrm>
            <a:off x="6921500" y="5485281"/>
            <a:ext cx="5210870" cy="8502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chatbots or virtual assistants to enhance user </a:t>
            </a:r>
          </a:p>
          <a:p>
            <a:pPr algn="l">
              <a:lnSpc>
                <a:spcPts val="2300"/>
              </a:lnSpc>
            </a:pPr>
            <a:r>
              <a:rPr sz="1800" dirty="0">
                <a:solidFill>
                  <a:srgbClr val="FFFFFF"/>
                </a:solidFill>
                <a:latin typeface="Helvetica Neue Thin"/>
              </a:rPr>
              <a:t>interactions and support. They design interfaces that integrate these AI tools seamlessly.</a:t>
            </a:r>
          </a:p>
        </p:txBody>
      </p:sp>
      <p:sp>
        <p:nvSpPr>
          <p:cNvPr id="22" name="TextBox 21"/>
          <p:cNvSpPr txBox="1"/>
          <p:nvPr/>
        </p:nvSpPr>
        <p:spPr>
          <a:xfrm>
            <a:off x="6692900" y="6488581"/>
            <a:ext cx="6097828" cy="266090"/>
          </a:xfrm>
          <a:prstGeom prst="rect">
            <a:avLst/>
          </a:prstGeom>
          <a:noFill/>
        </p:spPr>
        <p:txBody>
          <a:bodyPr wrap="none" lIns="0" tIns="0" rIns="0" bIns="0">
            <a:noAutofit/>
          </a:bodyPr>
          <a:lstStyle/>
          <a:p>
            <a:pPr algn="l"/>
            <a:r>
              <a:rPr sz="1800" dirty="0">
                <a:solidFill>
                  <a:srgbClr val="FFFFFF"/>
                </a:solidFill>
                <a:latin typeface="Helvetica Neue Thin"/>
              </a:rPr>
              <a:t>• Data Scientists: Develop and train AI models for natural </a:t>
            </a:r>
          </a:p>
        </p:txBody>
      </p:sp>
      <p:sp>
        <p:nvSpPr>
          <p:cNvPr id="23" name="TextBox 22"/>
          <p:cNvSpPr txBox="1"/>
          <p:nvPr/>
        </p:nvSpPr>
        <p:spPr>
          <a:xfrm>
            <a:off x="6921500" y="6780681"/>
            <a:ext cx="5064950" cy="850289"/>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language processing, speech recognition, or other interactive features. They ensure these models are accurate and effective in real-world applications.</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1066800" y="889250"/>
            <a:ext cx="2748682" cy="711555"/>
          </a:xfrm>
          <a:prstGeom prst="rect">
            <a:avLst/>
          </a:prstGeom>
          <a:noFill/>
        </p:spPr>
        <p:txBody>
          <a:bodyPr wrap="none" lIns="0" tIns="0" rIns="0" bIns="0">
            <a:noAutofit/>
          </a:bodyPr>
          <a:lstStyle/>
          <a:p>
            <a:pPr algn="l"/>
            <a:r>
              <a:rPr sz="4600" dirty="0">
                <a:solidFill>
                  <a:srgbClr val="FFFFFF"/>
                </a:solidFill>
                <a:latin typeface="Helvetica Neue Light"/>
              </a:rPr>
              <a:t>Discovery</a:t>
            </a:r>
          </a:p>
        </p:txBody>
      </p:sp>
      <p:sp>
        <p:nvSpPr>
          <p:cNvPr id="4" name="TextBox 3"/>
          <p:cNvSpPr txBox="1"/>
          <p:nvPr/>
        </p:nvSpPr>
        <p:spPr>
          <a:xfrm>
            <a:off x="1066800" y="3185257"/>
            <a:ext cx="5064766" cy="325221"/>
          </a:xfrm>
          <a:prstGeom prst="rect">
            <a:avLst/>
          </a:prstGeom>
          <a:noFill/>
        </p:spPr>
        <p:txBody>
          <a:bodyPr wrap="none" lIns="0" tIns="0" rIns="0" bIns="0">
            <a:noAutofit/>
          </a:bodyPr>
          <a:lstStyle/>
          <a:p>
            <a:pPr algn="l"/>
            <a:r>
              <a:rPr sz="2200" dirty="0">
                <a:solidFill>
                  <a:srgbClr val="FFFFFF"/>
                </a:solidFill>
                <a:latin typeface="Helvetica Neue Thin"/>
              </a:rPr>
              <a:t>• Interviews with internal stakeholders, </a:t>
            </a:r>
          </a:p>
        </p:txBody>
      </p:sp>
      <p:sp>
        <p:nvSpPr>
          <p:cNvPr id="5" name="TextBox 4"/>
          <p:cNvSpPr txBox="1"/>
          <p:nvPr/>
        </p:nvSpPr>
        <p:spPr>
          <a:xfrm>
            <a:off x="1295400" y="3794857"/>
            <a:ext cx="2164271" cy="325221"/>
          </a:xfrm>
          <a:prstGeom prst="rect">
            <a:avLst/>
          </a:prstGeom>
          <a:noFill/>
        </p:spPr>
        <p:txBody>
          <a:bodyPr wrap="none" lIns="0" tIns="0" rIns="0" bIns="0">
            <a:noAutofit/>
          </a:bodyPr>
          <a:lstStyle/>
          <a:p>
            <a:pPr algn="l"/>
            <a:r>
              <a:rPr sz="2200" dirty="0">
                <a:solidFill>
                  <a:srgbClr val="FFFFFF"/>
                </a:solidFill>
                <a:latin typeface="Helvetica Neue Thin"/>
              </a:rPr>
              <a:t>SMEs, and users</a:t>
            </a:r>
          </a:p>
        </p:txBody>
      </p:sp>
      <p:sp>
        <p:nvSpPr>
          <p:cNvPr id="6" name="TextBox 5"/>
          <p:cNvSpPr txBox="1"/>
          <p:nvPr/>
        </p:nvSpPr>
        <p:spPr>
          <a:xfrm>
            <a:off x="1295400" y="4404457"/>
            <a:ext cx="2427150" cy="325221"/>
          </a:xfrm>
          <a:prstGeom prst="rect">
            <a:avLst/>
          </a:prstGeom>
          <a:noFill/>
        </p:spPr>
        <p:txBody>
          <a:bodyPr wrap="none" lIns="0" tIns="0" rIns="0" bIns="0">
            <a:noAutofit/>
          </a:bodyPr>
          <a:lstStyle/>
          <a:p>
            <a:pPr algn="l"/>
            <a:r>
              <a:rPr sz="2200" dirty="0">
                <a:solidFill>
                  <a:srgbClr val="FFFFFF"/>
                </a:solidFill>
                <a:latin typeface="Helvetica Neue Thin"/>
              </a:rPr>
              <a:t>•  Sales Managers</a:t>
            </a:r>
          </a:p>
        </p:txBody>
      </p:sp>
      <p:sp>
        <p:nvSpPr>
          <p:cNvPr id="7" name="TextBox 6"/>
          <p:cNvSpPr txBox="1"/>
          <p:nvPr/>
        </p:nvSpPr>
        <p:spPr>
          <a:xfrm>
            <a:off x="1295400" y="4963257"/>
            <a:ext cx="2256963" cy="325221"/>
          </a:xfrm>
          <a:prstGeom prst="rect">
            <a:avLst/>
          </a:prstGeom>
          <a:noFill/>
        </p:spPr>
        <p:txBody>
          <a:bodyPr wrap="none" lIns="0" tIns="0" rIns="0" bIns="0">
            <a:noAutofit/>
          </a:bodyPr>
          <a:lstStyle/>
          <a:p>
            <a:pPr algn="l"/>
            <a:r>
              <a:rPr sz="2200" dirty="0">
                <a:solidFill>
                  <a:srgbClr val="FFFFFF"/>
                </a:solidFill>
                <a:latin typeface="Helvetica Neue Thin"/>
              </a:rPr>
              <a:t>•  Sales Advisors</a:t>
            </a:r>
          </a:p>
        </p:txBody>
      </p:sp>
      <p:sp>
        <p:nvSpPr>
          <p:cNvPr id="8" name="TextBox 7"/>
          <p:cNvSpPr txBox="1"/>
          <p:nvPr/>
        </p:nvSpPr>
        <p:spPr>
          <a:xfrm>
            <a:off x="1066800" y="5572857"/>
            <a:ext cx="3196619" cy="325221"/>
          </a:xfrm>
          <a:prstGeom prst="rect">
            <a:avLst/>
          </a:prstGeom>
          <a:noFill/>
        </p:spPr>
        <p:txBody>
          <a:bodyPr wrap="none" lIns="0" tIns="0" rIns="0" bIns="0">
            <a:noAutofit/>
          </a:bodyPr>
          <a:lstStyle/>
          <a:p>
            <a:pPr algn="l"/>
            <a:r>
              <a:rPr sz="2200" dirty="0">
                <a:solidFill>
                  <a:srgbClr val="FFFFFF"/>
                </a:solidFill>
                <a:latin typeface="Helvetica Neue Thin"/>
              </a:rPr>
              <a:t>• Contextual interviews  </a:t>
            </a:r>
          </a:p>
        </p:txBody>
      </p:sp>
      <p:sp>
        <p:nvSpPr>
          <p:cNvPr id="9" name="TextBox 8"/>
          <p:cNvSpPr txBox="1"/>
          <p:nvPr/>
        </p:nvSpPr>
        <p:spPr>
          <a:xfrm>
            <a:off x="1066800" y="6182457"/>
            <a:ext cx="3129328" cy="325222"/>
          </a:xfrm>
          <a:prstGeom prst="rect">
            <a:avLst/>
          </a:prstGeom>
          <a:noFill/>
        </p:spPr>
        <p:txBody>
          <a:bodyPr wrap="none" lIns="0" tIns="0" rIns="0" bIns="0">
            <a:noAutofit/>
          </a:bodyPr>
          <a:lstStyle/>
          <a:p>
            <a:pPr algn="l"/>
            <a:r>
              <a:rPr sz="2200" dirty="0">
                <a:solidFill>
                  <a:srgbClr val="FFFFFF"/>
                </a:solidFill>
                <a:latin typeface="Helvetica Neue Thin"/>
              </a:rPr>
              <a:t>• Persona development</a:t>
            </a:r>
          </a:p>
        </p:txBody>
      </p:sp>
      <p:sp>
        <p:nvSpPr>
          <p:cNvPr id="10" name="TextBox 9"/>
          <p:cNvSpPr txBox="1"/>
          <p:nvPr/>
        </p:nvSpPr>
        <p:spPr>
          <a:xfrm>
            <a:off x="1066800" y="6792057"/>
            <a:ext cx="5204477" cy="325222"/>
          </a:xfrm>
          <a:prstGeom prst="rect">
            <a:avLst/>
          </a:prstGeom>
          <a:noFill/>
        </p:spPr>
        <p:txBody>
          <a:bodyPr wrap="none" lIns="0" tIns="0" rIns="0" bIns="0">
            <a:noAutofit/>
          </a:bodyPr>
          <a:lstStyle/>
          <a:p>
            <a:pPr algn="l"/>
            <a:r>
              <a:rPr sz="2200" dirty="0">
                <a:solidFill>
                  <a:srgbClr val="FFFFFF"/>
                </a:solidFill>
                <a:latin typeface="Helvetica Neue Thin"/>
              </a:rPr>
              <a:t>• Codesign sessions with data scientists</a:t>
            </a:r>
          </a:p>
        </p:txBody>
      </p:sp>
      <p:sp>
        <p:nvSpPr>
          <p:cNvPr id="11" name="TextBox 10"/>
          <p:cNvSpPr txBox="1"/>
          <p:nvPr/>
        </p:nvSpPr>
        <p:spPr>
          <a:xfrm>
            <a:off x="7442200" y="3265677"/>
            <a:ext cx="2503138" cy="340309"/>
          </a:xfrm>
          <a:prstGeom prst="rect">
            <a:avLst/>
          </a:prstGeom>
          <a:noFill/>
        </p:spPr>
        <p:txBody>
          <a:bodyPr wrap="none" lIns="0" tIns="0" rIns="0" bIns="0">
            <a:noAutofit/>
          </a:bodyPr>
          <a:lstStyle/>
          <a:p>
            <a:pPr algn="l"/>
            <a:r>
              <a:rPr sz="2200" dirty="0">
                <a:solidFill>
                  <a:srgbClr val="FFFFFF"/>
                </a:solidFill>
                <a:latin typeface="Helvetica Neue Light"/>
              </a:rPr>
              <a:t>Problem statement</a:t>
            </a:r>
          </a:p>
        </p:txBody>
      </p:sp>
      <p:sp>
        <p:nvSpPr>
          <p:cNvPr id="12" name="TextBox 11"/>
          <p:cNvSpPr txBox="1"/>
          <p:nvPr/>
        </p:nvSpPr>
        <p:spPr>
          <a:xfrm>
            <a:off x="7442200" y="3653128"/>
            <a:ext cx="4887952" cy="2761081"/>
          </a:xfrm>
          <a:prstGeom prst="rect">
            <a:avLst/>
          </a:prstGeom>
          <a:noFill/>
        </p:spPr>
        <p:txBody>
          <a:bodyPr wrap="square" lIns="0" tIns="0" rIns="0" bIns="0">
            <a:noAutofit/>
          </a:bodyPr>
          <a:lstStyle/>
          <a:p>
            <a:pPr algn="l">
              <a:lnSpc>
                <a:spcPts val="3700"/>
              </a:lnSpc>
            </a:pPr>
            <a:r>
              <a:rPr sz="2200" dirty="0">
                <a:solidFill>
                  <a:srgbClr val="FFFFFF"/>
                </a:solidFill>
                <a:latin typeface="Helvetica Neue Thin"/>
              </a:rPr>
              <a:t>Internal business partners don’t have a tool to help their external clients to budget their AMEX Advertising dollars effectively. Users need an application to effectively allocate marketing budgets through the various AMEX product lines.</a:t>
            </a:r>
          </a:p>
        </p:txBody>
      </p:sp>
      <p:sp>
        <p:nvSpPr>
          <p:cNvPr id="18" name="TextBox 17"/>
          <p:cNvSpPr txBox="1"/>
          <p:nvPr/>
        </p:nvSpPr>
        <p:spPr>
          <a:xfrm>
            <a:off x="5130800" y="608479"/>
            <a:ext cx="7344949" cy="1294790"/>
          </a:xfrm>
          <a:prstGeom prst="rect">
            <a:avLst/>
          </a:prstGeom>
          <a:noFill/>
        </p:spPr>
        <p:txBody>
          <a:bodyPr wrap="square" lIns="0" tIns="0" rIns="0" bIns="0">
            <a:noAutofit/>
          </a:bodyPr>
          <a:lstStyle/>
          <a:p>
            <a:pPr algn="l">
              <a:lnSpc>
                <a:spcPts val="2700"/>
              </a:lnSpc>
            </a:pPr>
            <a:r>
              <a:rPr sz="1800" dirty="0">
                <a:solidFill>
                  <a:srgbClr val="FFFFFF"/>
                </a:solidFill>
                <a:latin typeface="Helvetica Neue Thin"/>
              </a:rPr>
              <a:t>Because of the KPIs assembled, the assumptions of the business partners, and feedback from users based on help requests we determined we needed to use methods to identify user needs, validate existing assumptions, and generate new ideas.</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1700273"/>
            <a:ext cx="7403453" cy="371246"/>
          </a:xfrm>
          <a:prstGeom prst="rect">
            <a:avLst/>
          </a:prstGeom>
          <a:noFill/>
        </p:spPr>
        <p:txBody>
          <a:bodyPr wrap="none" lIns="0" tIns="0" rIns="0" bIns="0">
            <a:noAutofit/>
          </a:bodyPr>
          <a:lstStyle/>
          <a:p>
            <a:pPr algn="l"/>
            <a:r>
              <a:rPr sz="2400" dirty="0">
                <a:solidFill>
                  <a:srgbClr val="000000"/>
                </a:solidFill>
                <a:latin typeface="Helvetica Neue Light"/>
              </a:rPr>
              <a:t>• Users want to compare different budget scenarios</a:t>
            </a:r>
          </a:p>
        </p:txBody>
      </p:sp>
      <p:sp>
        <p:nvSpPr>
          <p:cNvPr id="4" name="TextBox 3"/>
          <p:cNvSpPr txBox="1"/>
          <p:nvPr/>
        </p:nvSpPr>
        <p:spPr>
          <a:xfrm>
            <a:off x="457200" y="2271773"/>
            <a:ext cx="10273277" cy="371246"/>
          </a:xfrm>
          <a:prstGeom prst="rect">
            <a:avLst/>
          </a:prstGeom>
          <a:noFill/>
        </p:spPr>
        <p:txBody>
          <a:bodyPr wrap="none" lIns="0" tIns="0" rIns="0" bIns="0">
            <a:noAutofit/>
          </a:bodyPr>
          <a:lstStyle/>
          <a:p>
            <a:pPr algn="l"/>
            <a:r>
              <a:rPr sz="2400" dirty="0">
                <a:solidFill>
                  <a:srgbClr val="000000"/>
                </a:solidFill>
                <a:latin typeface="Helvetica Neue Light"/>
              </a:rPr>
              <a:t>• Determine through data visualizations the effectiveness between each</a:t>
            </a:r>
          </a:p>
        </p:txBody>
      </p:sp>
      <p:sp>
        <p:nvSpPr>
          <p:cNvPr id="5" name="TextBox 4"/>
          <p:cNvSpPr txBox="1"/>
          <p:nvPr/>
        </p:nvSpPr>
        <p:spPr>
          <a:xfrm>
            <a:off x="457200" y="2843273"/>
            <a:ext cx="10888192" cy="371246"/>
          </a:xfrm>
          <a:prstGeom prst="rect">
            <a:avLst/>
          </a:prstGeom>
          <a:noFill/>
        </p:spPr>
        <p:txBody>
          <a:bodyPr wrap="none" lIns="0" tIns="0" rIns="0" bIns="0">
            <a:noAutofit/>
          </a:bodyPr>
          <a:lstStyle/>
          <a:p>
            <a:pPr algn="l"/>
            <a:r>
              <a:rPr sz="2400" dirty="0">
                <a:solidFill>
                  <a:srgbClr val="000000"/>
                </a:solidFill>
                <a:latin typeface="Helvetica Neue Light"/>
              </a:rPr>
              <a:t>• For a deeper understanding of their allocations, users wanted to modulate </a:t>
            </a:r>
          </a:p>
        </p:txBody>
      </p:sp>
      <p:sp>
        <p:nvSpPr>
          <p:cNvPr id="6" name="TextBox 5"/>
          <p:cNvSpPr txBox="1"/>
          <p:nvPr/>
        </p:nvSpPr>
        <p:spPr>
          <a:xfrm>
            <a:off x="685800" y="3414773"/>
            <a:ext cx="7692380" cy="371246"/>
          </a:xfrm>
          <a:prstGeom prst="rect">
            <a:avLst/>
          </a:prstGeom>
          <a:noFill/>
        </p:spPr>
        <p:txBody>
          <a:bodyPr wrap="none" lIns="0" tIns="0" rIns="0" bIns="0">
            <a:noAutofit/>
          </a:bodyPr>
          <a:lstStyle/>
          <a:p>
            <a:pPr algn="l"/>
            <a:r>
              <a:rPr sz="2400" dirty="0">
                <a:solidFill>
                  <a:srgbClr val="000000"/>
                </a:solidFill>
                <a:latin typeface="Helvetica Neue Light"/>
              </a:rPr>
              <a:t>each channel and product that make up each channel</a:t>
            </a:r>
          </a:p>
        </p:txBody>
      </p:sp>
      <p:sp>
        <p:nvSpPr>
          <p:cNvPr id="7" name="TextBox 6"/>
          <p:cNvSpPr txBox="1"/>
          <p:nvPr/>
        </p:nvSpPr>
        <p:spPr>
          <a:xfrm>
            <a:off x="457200" y="3986273"/>
            <a:ext cx="3432836" cy="371246"/>
          </a:xfrm>
          <a:prstGeom prst="rect">
            <a:avLst/>
          </a:prstGeom>
          <a:noFill/>
        </p:spPr>
        <p:txBody>
          <a:bodyPr wrap="none" lIns="0" tIns="0" rIns="0" bIns="0">
            <a:noAutofit/>
          </a:bodyPr>
          <a:lstStyle/>
          <a:p>
            <a:pPr algn="l"/>
            <a:r>
              <a:rPr sz="2400" dirty="0">
                <a:solidFill>
                  <a:srgbClr val="000000"/>
                </a:solidFill>
                <a:latin typeface="Helvetica Neue Light"/>
              </a:rPr>
              <a:t>• Channels vs. products</a:t>
            </a:r>
          </a:p>
        </p:txBody>
      </p:sp>
      <p:sp>
        <p:nvSpPr>
          <p:cNvPr id="8" name="TextBox 7"/>
          <p:cNvSpPr txBox="1"/>
          <p:nvPr/>
        </p:nvSpPr>
        <p:spPr>
          <a:xfrm>
            <a:off x="457200" y="4557773"/>
            <a:ext cx="4479971" cy="371246"/>
          </a:xfrm>
          <a:prstGeom prst="rect">
            <a:avLst/>
          </a:prstGeom>
          <a:noFill/>
        </p:spPr>
        <p:txBody>
          <a:bodyPr wrap="none" lIns="0" tIns="0" rIns="0" bIns="0">
            <a:noAutofit/>
          </a:bodyPr>
          <a:lstStyle/>
          <a:p>
            <a:pPr algn="l"/>
            <a:r>
              <a:rPr sz="2400" dirty="0">
                <a:solidFill>
                  <a:srgbClr val="000000"/>
                </a:solidFill>
                <a:latin typeface="Helvetica Neue Light"/>
              </a:rPr>
              <a:t>• See the effects and modulate</a:t>
            </a:r>
          </a:p>
        </p:txBody>
      </p:sp>
      <p:sp>
        <p:nvSpPr>
          <p:cNvPr id="9" name="TextBox 8"/>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AMEX MOCA</a:t>
            </a:r>
          </a:p>
        </p:txBody>
      </p:sp>
      <p:sp>
        <p:nvSpPr>
          <p:cNvPr id="10" name="TextBox 9"/>
          <p:cNvSpPr txBox="1"/>
          <p:nvPr/>
        </p:nvSpPr>
        <p:spPr>
          <a:xfrm>
            <a:off x="457200" y="939800"/>
            <a:ext cx="5805170" cy="476250"/>
          </a:xfrm>
          <a:prstGeom prst="rect">
            <a:avLst/>
          </a:prstGeom>
          <a:noFill/>
        </p:spPr>
        <p:txBody>
          <a:bodyPr wrap="none" lIns="0" tIns="0" rIns="0" bIns="0">
            <a:noAutofit/>
          </a:bodyPr>
          <a:lstStyle/>
          <a:p>
            <a:pPr algn="l"/>
            <a:r>
              <a:rPr sz="3000" dirty="0">
                <a:solidFill>
                  <a:srgbClr val="1F1F1F"/>
                </a:solidFill>
                <a:latin typeface="Helvetica Neue Light"/>
              </a:rPr>
              <a:t>What we learned from interviews</a:t>
            </a:r>
          </a:p>
        </p:txBody>
      </p:sp>
      <p:sp>
        <p:nvSpPr>
          <p:cNvPr id="11" name="TextBox 10"/>
          <p:cNvSpPr txBox="1"/>
          <p:nvPr/>
        </p:nvSpPr>
        <p:spPr>
          <a:xfrm>
            <a:off x="6229125" y="6892035"/>
            <a:ext cx="5622759" cy="600455"/>
          </a:xfrm>
          <a:prstGeom prst="rect">
            <a:avLst/>
          </a:prstGeom>
          <a:noFill/>
        </p:spPr>
        <p:txBody>
          <a:bodyPr wrap="none" lIns="0" tIns="0" rIns="0" bIns="0">
            <a:noAutofit/>
          </a:bodyPr>
          <a:lstStyle/>
          <a:p>
            <a:pPr marL="48896" algn="l">
              <a:lnSpc>
                <a:spcPts val="2400"/>
              </a:lnSpc>
            </a:pPr>
            <a:r>
              <a:rPr sz="2000" dirty="0">
                <a:solidFill>
                  <a:srgbClr val="000000"/>
                </a:solidFill>
                <a:latin typeface="Helvetica Neue Thin"/>
              </a:rPr>
              <a:t>“If I could build a plan down to the product line </a:t>
            </a:r>
          </a:p>
          <a:p>
            <a:pPr algn="l">
              <a:lnSpc>
                <a:spcPts val="2400"/>
              </a:lnSpc>
            </a:pPr>
            <a:r>
              <a:rPr sz="2000" dirty="0">
                <a:solidFill>
                  <a:srgbClr val="000000"/>
                </a:solidFill>
                <a:latin typeface="Helvetica Neue Thin"/>
              </a:rPr>
              <a:t>and channel, I’d be super happy, but I’d also be </a:t>
            </a:r>
          </a:p>
        </p:txBody>
      </p:sp>
      <p:sp>
        <p:nvSpPr>
          <p:cNvPr id="12" name="TextBox 11"/>
          <p:cNvSpPr txBox="1"/>
          <p:nvPr/>
        </p:nvSpPr>
        <p:spPr>
          <a:xfrm>
            <a:off x="6988704" y="7501635"/>
            <a:ext cx="3982081" cy="295655"/>
          </a:xfrm>
          <a:prstGeom prst="rect">
            <a:avLst/>
          </a:prstGeom>
          <a:noFill/>
        </p:spPr>
        <p:txBody>
          <a:bodyPr wrap="none" lIns="0" tIns="0" rIns="0" bIns="0">
            <a:noAutofit/>
          </a:bodyPr>
          <a:lstStyle/>
          <a:p>
            <a:pPr algn="l"/>
            <a:r>
              <a:rPr sz="2000" dirty="0">
                <a:solidFill>
                  <a:srgbClr val="000000"/>
                </a:solidFill>
                <a:latin typeface="Helvetica Neue Thin"/>
              </a:rPr>
              <a:t>able to customize each quarter” </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AMEX MOCA</a:t>
            </a:r>
          </a:p>
        </p:txBody>
      </p:sp>
      <p:sp>
        <p:nvSpPr>
          <p:cNvPr id="4" name="TextBox 3"/>
          <p:cNvSpPr txBox="1"/>
          <p:nvPr/>
        </p:nvSpPr>
        <p:spPr>
          <a:xfrm>
            <a:off x="457200" y="939800"/>
            <a:ext cx="10281919" cy="476250"/>
          </a:xfrm>
          <a:prstGeom prst="rect">
            <a:avLst/>
          </a:prstGeom>
          <a:noFill/>
        </p:spPr>
        <p:txBody>
          <a:bodyPr wrap="none" lIns="0" tIns="0" rIns="0" bIns="0">
            <a:noAutofit/>
          </a:bodyPr>
          <a:lstStyle/>
          <a:p>
            <a:pPr algn="l"/>
            <a:r>
              <a:rPr sz="3000" dirty="0">
                <a:solidFill>
                  <a:srgbClr val="1F1F1F"/>
                </a:solidFill>
                <a:latin typeface="Helvetica Neue Light"/>
              </a:rPr>
              <a:t>Pain Points + Business Goals + UX Strategy = Feature Set</a:t>
            </a:r>
          </a:p>
        </p:txBody>
      </p:sp>
      <p:sp>
        <p:nvSpPr>
          <p:cNvPr id="5" name="TextBox 4"/>
          <p:cNvSpPr txBox="1"/>
          <p:nvPr/>
        </p:nvSpPr>
        <p:spPr>
          <a:xfrm>
            <a:off x="659853" y="2464380"/>
            <a:ext cx="1285451" cy="296068"/>
          </a:xfrm>
          <a:prstGeom prst="rect">
            <a:avLst/>
          </a:prstGeom>
          <a:noFill/>
        </p:spPr>
        <p:txBody>
          <a:bodyPr wrap="none" lIns="0" tIns="0" rIns="0" bIns="0">
            <a:noAutofit/>
          </a:bodyPr>
          <a:lstStyle/>
          <a:p>
            <a:pPr algn="l"/>
            <a:r>
              <a:rPr sz="1900" dirty="0">
                <a:solidFill>
                  <a:srgbClr val="FFFFFF"/>
                </a:solidFill>
                <a:latin typeface="Helvetica Neue Light"/>
              </a:rPr>
              <a:t>Pain Points</a:t>
            </a:r>
          </a:p>
        </p:txBody>
      </p:sp>
      <p:sp>
        <p:nvSpPr>
          <p:cNvPr id="6" name="TextBox 5"/>
          <p:cNvSpPr txBox="1"/>
          <p:nvPr/>
        </p:nvSpPr>
        <p:spPr>
          <a:xfrm>
            <a:off x="642848" y="2931890"/>
            <a:ext cx="1652974" cy="216560"/>
          </a:xfrm>
          <a:prstGeom prst="rect">
            <a:avLst/>
          </a:prstGeom>
          <a:noFill/>
        </p:spPr>
        <p:txBody>
          <a:bodyPr wrap="none" lIns="0" tIns="0" rIns="0" bIns="0">
            <a:noAutofit/>
          </a:bodyPr>
          <a:lstStyle/>
          <a:p>
            <a:pPr algn="l"/>
            <a:r>
              <a:rPr sz="1400" dirty="0">
                <a:solidFill>
                  <a:srgbClr val="FFFFFF"/>
                </a:solidFill>
                <a:latin typeface="Helvetica Neue Light"/>
              </a:rPr>
              <a:t>•  Scenario builder</a:t>
            </a:r>
          </a:p>
        </p:txBody>
      </p:sp>
      <p:sp>
        <p:nvSpPr>
          <p:cNvPr id="7" name="TextBox 6"/>
          <p:cNvSpPr txBox="1"/>
          <p:nvPr/>
        </p:nvSpPr>
        <p:spPr>
          <a:xfrm>
            <a:off x="642848" y="3236690"/>
            <a:ext cx="1532402" cy="216560"/>
          </a:xfrm>
          <a:prstGeom prst="rect">
            <a:avLst/>
          </a:prstGeom>
          <a:noFill/>
        </p:spPr>
        <p:txBody>
          <a:bodyPr wrap="none" lIns="0" tIns="0" rIns="0" bIns="0">
            <a:noAutofit/>
          </a:bodyPr>
          <a:lstStyle/>
          <a:p>
            <a:pPr algn="l"/>
            <a:r>
              <a:rPr sz="1400" dirty="0">
                <a:solidFill>
                  <a:srgbClr val="FFFFFF"/>
                </a:solidFill>
                <a:latin typeface="Helvetica Neue Light"/>
              </a:rPr>
              <a:t>• Data Visualizer</a:t>
            </a:r>
          </a:p>
        </p:txBody>
      </p:sp>
      <p:sp>
        <p:nvSpPr>
          <p:cNvPr id="8" name="TextBox 7"/>
          <p:cNvSpPr txBox="1"/>
          <p:nvPr/>
        </p:nvSpPr>
        <p:spPr>
          <a:xfrm>
            <a:off x="642848" y="3541490"/>
            <a:ext cx="2337751" cy="216560"/>
          </a:xfrm>
          <a:prstGeom prst="rect">
            <a:avLst/>
          </a:prstGeom>
          <a:noFill/>
        </p:spPr>
        <p:txBody>
          <a:bodyPr wrap="none" lIns="0" tIns="0" rIns="0" bIns="0">
            <a:noAutofit/>
          </a:bodyPr>
          <a:lstStyle/>
          <a:p>
            <a:pPr algn="l"/>
            <a:r>
              <a:rPr sz="1400" dirty="0">
                <a:solidFill>
                  <a:srgbClr val="FFFFFF"/>
                </a:solidFill>
                <a:latin typeface="Helvetica Neue Light"/>
              </a:rPr>
              <a:t>• Comparison functionality</a:t>
            </a:r>
          </a:p>
        </p:txBody>
      </p:sp>
      <p:sp>
        <p:nvSpPr>
          <p:cNvPr id="9" name="TextBox 8"/>
          <p:cNvSpPr txBox="1"/>
          <p:nvPr/>
        </p:nvSpPr>
        <p:spPr>
          <a:xfrm>
            <a:off x="642848" y="3846290"/>
            <a:ext cx="2367515" cy="216560"/>
          </a:xfrm>
          <a:prstGeom prst="rect">
            <a:avLst/>
          </a:prstGeom>
          <a:noFill/>
        </p:spPr>
        <p:txBody>
          <a:bodyPr wrap="none" lIns="0" tIns="0" rIns="0" bIns="0">
            <a:noAutofit/>
          </a:bodyPr>
          <a:lstStyle/>
          <a:p>
            <a:pPr algn="l"/>
            <a:r>
              <a:rPr sz="1400" dirty="0">
                <a:solidFill>
                  <a:srgbClr val="FFFFFF"/>
                </a:solidFill>
                <a:latin typeface="Helvetica Neue Light"/>
              </a:rPr>
              <a:t>• Import data sets through </a:t>
            </a:r>
          </a:p>
        </p:txBody>
      </p:sp>
      <p:sp>
        <p:nvSpPr>
          <p:cNvPr id="10" name="TextBox 9"/>
          <p:cNvSpPr txBox="1"/>
          <p:nvPr/>
        </p:nvSpPr>
        <p:spPr>
          <a:xfrm>
            <a:off x="871448" y="4151090"/>
            <a:ext cx="1088689" cy="216560"/>
          </a:xfrm>
          <a:prstGeom prst="rect">
            <a:avLst/>
          </a:prstGeom>
          <a:noFill/>
        </p:spPr>
        <p:txBody>
          <a:bodyPr wrap="none" lIns="0" tIns="0" rIns="0" bIns="0">
            <a:noAutofit/>
          </a:bodyPr>
          <a:lstStyle/>
          <a:p>
            <a:pPr algn="l"/>
            <a:r>
              <a:rPr sz="1400" dirty="0">
                <a:solidFill>
                  <a:srgbClr val="FFFFFF"/>
                </a:solidFill>
                <a:latin typeface="Helvetica Neue Light"/>
              </a:rPr>
              <a:t>Excel sheets</a:t>
            </a:r>
          </a:p>
        </p:txBody>
      </p:sp>
      <p:sp>
        <p:nvSpPr>
          <p:cNvPr id="11" name="TextBox 10"/>
          <p:cNvSpPr txBox="1"/>
          <p:nvPr/>
        </p:nvSpPr>
        <p:spPr>
          <a:xfrm>
            <a:off x="642848" y="4455890"/>
            <a:ext cx="2532080" cy="216560"/>
          </a:xfrm>
          <a:prstGeom prst="rect">
            <a:avLst/>
          </a:prstGeom>
          <a:noFill/>
        </p:spPr>
        <p:txBody>
          <a:bodyPr wrap="none" lIns="0" tIns="0" rIns="0" bIns="0">
            <a:noAutofit/>
          </a:bodyPr>
          <a:lstStyle/>
          <a:p>
            <a:pPr algn="l"/>
            <a:r>
              <a:rPr sz="1400" dirty="0">
                <a:solidFill>
                  <a:srgbClr val="FFFFFF"/>
                </a:solidFill>
                <a:latin typeface="Helvetica Neue Light"/>
              </a:rPr>
              <a:t>• Modify each allocation per </a:t>
            </a:r>
          </a:p>
        </p:txBody>
      </p:sp>
      <p:sp>
        <p:nvSpPr>
          <p:cNvPr id="12" name="TextBox 11"/>
          <p:cNvSpPr txBox="1"/>
          <p:nvPr/>
        </p:nvSpPr>
        <p:spPr>
          <a:xfrm>
            <a:off x="871448" y="4760690"/>
            <a:ext cx="1851985" cy="216560"/>
          </a:xfrm>
          <a:prstGeom prst="rect">
            <a:avLst/>
          </a:prstGeom>
          <a:noFill/>
        </p:spPr>
        <p:txBody>
          <a:bodyPr wrap="none" lIns="0" tIns="0" rIns="0" bIns="0">
            <a:noAutofit/>
          </a:bodyPr>
          <a:lstStyle/>
          <a:p>
            <a:pPr algn="l"/>
            <a:r>
              <a:rPr sz="1400" dirty="0">
                <a:solidFill>
                  <a:srgbClr val="FFFFFF"/>
                </a:solidFill>
                <a:latin typeface="Helvetica Neue Light"/>
              </a:rPr>
              <a:t>channel / by product  </a:t>
            </a:r>
          </a:p>
        </p:txBody>
      </p:sp>
      <p:sp>
        <p:nvSpPr>
          <p:cNvPr id="13" name="TextBox 12"/>
          <p:cNvSpPr txBox="1"/>
          <p:nvPr/>
        </p:nvSpPr>
        <p:spPr>
          <a:xfrm>
            <a:off x="4085941" y="2416525"/>
            <a:ext cx="8026598" cy="322388"/>
          </a:xfrm>
          <a:prstGeom prst="rect">
            <a:avLst/>
          </a:prstGeom>
          <a:noFill/>
        </p:spPr>
        <p:txBody>
          <a:bodyPr wrap="none" lIns="0" tIns="0" rIns="0" bIns="0">
            <a:noAutofit/>
          </a:bodyPr>
          <a:lstStyle/>
          <a:p>
            <a:pPr algn="l">
              <a:lnSpc>
                <a:spcPts val="207"/>
              </a:lnSpc>
            </a:pPr>
            <a:r>
              <a:rPr sz="1900" dirty="0">
                <a:solidFill>
                  <a:srgbClr val="000000"/>
                </a:solidFill>
                <a:latin typeface="Helvetica Neue Light"/>
              </a:rPr>
              <a:t>Business Goals</a:t>
            </a:r>
          </a:p>
          <a:p>
            <a:pPr marL="6166935" algn="l">
              <a:lnSpc>
                <a:spcPts val="207"/>
              </a:lnSpc>
            </a:pPr>
            <a:r>
              <a:rPr sz="1900" dirty="0">
                <a:solidFill>
                  <a:srgbClr val="FFFFFF"/>
                </a:solidFill>
                <a:latin typeface="Helvetica Neue Light"/>
              </a:rPr>
              <a:t>Feature Set</a:t>
            </a:r>
          </a:p>
        </p:txBody>
      </p:sp>
      <p:sp>
        <p:nvSpPr>
          <p:cNvPr id="14" name="TextBox 13"/>
          <p:cNvSpPr txBox="1"/>
          <p:nvPr/>
        </p:nvSpPr>
        <p:spPr>
          <a:xfrm>
            <a:off x="10256480" y="2931890"/>
            <a:ext cx="2055857" cy="216560"/>
          </a:xfrm>
          <a:prstGeom prst="rect">
            <a:avLst/>
          </a:prstGeom>
          <a:noFill/>
        </p:spPr>
        <p:txBody>
          <a:bodyPr wrap="none" lIns="0" tIns="0" rIns="0" bIns="0">
            <a:noAutofit/>
          </a:bodyPr>
          <a:lstStyle/>
          <a:p>
            <a:pPr algn="l"/>
            <a:r>
              <a:rPr sz="1400" dirty="0">
                <a:solidFill>
                  <a:srgbClr val="FFFFFF"/>
                </a:solidFill>
                <a:latin typeface="Helvetica Neue Light"/>
              </a:rPr>
              <a:t>• Walk through Wizard </a:t>
            </a:r>
          </a:p>
        </p:txBody>
      </p:sp>
      <p:sp>
        <p:nvSpPr>
          <p:cNvPr id="15" name="TextBox 14"/>
          <p:cNvSpPr txBox="1"/>
          <p:nvPr/>
        </p:nvSpPr>
        <p:spPr>
          <a:xfrm>
            <a:off x="10256480" y="3236690"/>
            <a:ext cx="1652972" cy="216560"/>
          </a:xfrm>
          <a:prstGeom prst="rect">
            <a:avLst/>
          </a:prstGeom>
          <a:noFill/>
        </p:spPr>
        <p:txBody>
          <a:bodyPr wrap="none" lIns="0" tIns="0" rIns="0" bIns="0">
            <a:noAutofit/>
          </a:bodyPr>
          <a:lstStyle/>
          <a:p>
            <a:pPr algn="l"/>
            <a:r>
              <a:rPr sz="1400" dirty="0">
                <a:solidFill>
                  <a:srgbClr val="FFFFFF"/>
                </a:solidFill>
                <a:latin typeface="Helvetica Neue Light"/>
              </a:rPr>
              <a:t>•  Scenario builder</a:t>
            </a:r>
          </a:p>
        </p:txBody>
      </p:sp>
      <p:sp>
        <p:nvSpPr>
          <p:cNvPr id="16" name="TextBox 15"/>
          <p:cNvSpPr txBox="1"/>
          <p:nvPr/>
        </p:nvSpPr>
        <p:spPr>
          <a:xfrm>
            <a:off x="10256480" y="3541490"/>
            <a:ext cx="1532400" cy="216560"/>
          </a:xfrm>
          <a:prstGeom prst="rect">
            <a:avLst/>
          </a:prstGeom>
          <a:noFill/>
        </p:spPr>
        <p:txBody>
          <a:bodyPr wrap="none" lIns="0" tIns="0" rIns="0" bIns="0">
            <a:noAutofit/>
          </a:bodyPr>
          <a:lstStyle/>
          <a:p>
            <a:pPr algn="l"/>
            <a:r>
              <a:rPr sz="1400" dirty="0">
                <a:solidFill>
                  <a:srgbClr val="FFFFFF"/>
                </a:solidFill>
                <a:latin typeface="Helvetica Neue Light"/>
              </a:rPr>
              <a:t>• Data Visualizer</a:t>
            </a:r>
          </a:p>
        </p:txBody>
      </p:sp>
      <p:sp>
        <p:nvSpPr>
          <p:cNvPr id="17" name="TextBox 16"/>
          <p:cNvSpPr txBox="1"/>
          <p:nvPr/>
        </p:nvSpPr>
        <p:spPr>
          <a:xfrm>
            <a:off x="10256480" y="3846290"/>
            <a:ext cx="2337750" cy="216560"/>
          </a:xfrm>
          <a:prstGeom prst="rect">
            <a:avLst/>
          </a:prstGeom>
          <a:noFill/>
        </p:spPr>
        <p:txBody>
          <a:bodyPr wrap="none" lIns="0" tIns="0" rIns="0" bIns="0">
            <a:noAutofit/>
          </a:bodyPr>
          <a:lstStyle/>
          <a:p>
            <a:pPr algn="l"/>
            <a:r>
              <a:rPr sz="1400" dirty="0">
                <a:solidFill>
                  <a:srgbClr val="FFFFFF"/>
                </a:solidFill>
                <a:latin typeface="Helvetica Neue Light"/>
              </a:rPr>
              <a:t>• Comparison functionality</a:t>
            </a:r>
          </a:p>
        </p:txBody>
      </p:sp>
      <p:sp>
        <p:nvSpPr>
          <p:cNvPr id="18" name="TextBox 17"/>
          <p:cNvSpPr txBox="1"/>
          <p:nvPr/>
        </p:nvSpPr>
        <p:spPr>
          <a:xfrm>
            <a:off x="10256480" y="4151090"/>
            <a:ext cx="1624189" cy="216560"/>
          </a:xfrm>
          <a:prstGeom prst="rect">
            <a:avLst/>
          </a:prstGeom>
          <a:noFill/>
        </p:spPr>
        <p:txBody>
          <a:bodyPr wrap="none" lIns="0" tIns="0" rIns="0" bIns="0">
            <a:noAutofit/>
          </a:bodyPr>
          <a:lstStyle/>
          <a:p>
            <a:pPr algn="l"/>
            <a:r>
              <a:rPr sz="1400" dirty="0">
                <a:solidFill>
                  <a:srgbClr val="FFFFFF"/>
                </a:solidFill>
                <a:latin typeface="Helvetica Neue Light"/>
              </a:rPr>
              <a:t>• Import data sets</a:t>
            </a:r>
          </a:p>
        </p:txBody>
      </p:sp>
      <p:sp>
        <p:nvSpPr>
          <p:cNvPr id="19" name="TextBox 18"/>
          <p:cNvSpPr txBox="1"/>
          <p:nvPr/>
        </p:nvSpPr>
        <p:spPr>
          <a:xfrm>
            <a:off x="10256480" y="4455890"/>
            <a:ext cx="1985167" cy="216560"/>
          </a:xfrm>
          <a:prstGeom prst="rect">
            <a:avLst/>
          </a:prstGeom>
          <a:noFill/>
        </p:spPr>
        <p:txBody>
          <a:bodyPr wrap="none" lIns="0" tIns="0" rIns="0" bIns="0">
            <a:noAutofit/>
          </a:bodyPr>
          <a:lstStyle/>
          <a:p>
            <a:pPr algn="l"/>
            <a:r>
              <a:rPr sz="1400" dirty="0">
                <a:solidFill>
                  <a:srgbClr val="FFFFFF"/>
                </a:solidFill>
                <a:latin typeface="Helvetica Neue Light"/>
              </a:rPr>
              <a:t>• Channel allocation / </a:t>
            </a:r>
          </a:p>
        </p:txBody>
      </p:sp>
      <p:sp>
        <p:nvSpPr>
          <p:cNvPr id="20" name="TextBox 19"/>
          <p:cNvSpPr txBox="1"/>
          <p:nvPr/>
        </p:nvSpPr>
        <p:spPr>
          <a:xfrm>
            <a:off x="10485080" y="4760690"/>
            <a:ext cx="1634420" cy="216560"/>
          </a:xfrm>
          <a:prstGeom prst="rect">
            <a:avLst/>
          </a:prstGeom>
          <a:noFill/>
        </p:spPr>
        <p:txBody>
          <a:bodyPr wrap="none" lIns="0" tIns="0" rIns="0" bIns="0">
            <a:noAutofit/>
          </a:bodyPr>
          <a:lstStyle/>
          <a:p>
            <a:pPr algn="l"/>
            <a:r>
              <a:rPr sz="1400" dirty="0">
                <a:solidFill>
                  <a:srgbClr val="FFFFFF"/>
                </a:solidFill>
                <a:latin typeface="Helvetica Neue Light"/>
              </a:rPr>
              <a:t>product allocation  </a:t>
            </a:r>
          </a:p>
        </p:txBody>
      </p:sp>
      <p:sp>
        <p:nvSpPr>
          <p:cNvPr id="21" name="TextBox 20"/>
          <p:cNvSpPr txBox="1"/>
          <p:nvPr/>
        </p:nvSpPr>
        <p:spPr>
          <a:xfrm>
            <a:off x="10256480" y="5065490"/>
            <a:ext cx="2343892" cy="216560"/>
          </a:xfrm>
          <a:prstGeom prst="rect">
            <a:avLst/>
          </a:prstGeom>
          <a:noFill/>
        </p:spPr>
        <p:txBody>
          <a:bodyPr wrap="none" lIns="0" tIns="0" rIns="0" bIns="0">
            <a:noAutofit/>
          </a:bodyPr>
          <a:lstStyle/>
          <a:p>
            <a:pPr algn="l"/>
            <a:r>
              <a:rPr sz="1400" dirty="0">
                <a:solidFill>
                  <a:srgbClr val="FFFFFF"/>
                </a:solidFill>
                <a:latin typeface="Helvetica Neue Light"/>
              </a:rPr>
              <a:t>• Optimization budget tool</a:t>
            </a:r>
          </a:p>
        </p:txBody>
      </p:sp>
      <p:sp>
        <p:nvSpPr>
          <p:cNvPr id="22" name="TextBox 21"/>
          <p:cNvSpPr txBox="1"/>
          <p:nvPr/>
        </p:nvSpPr>
        <p:spPr>
          <a:xfrm>
            <a:off x="10256480" y="5370290"/>
            <a:ext cx="2280523" cy="216560"/>
          </a:xfrm>
          <a:prstGeom prst="rect">
            <a:avLst/>
          </a:prstGeom>
          <a:noFill/>
        </p:spPr>
        <p:txBody>
          <a:bodyPr wrap="none" lIns="0" tIns="0" rIns="0" bIns="0">
            <a:noAutofit/>
          </a:bodyPr>
          <a:lstStyle/>
          <a:p>
            <a:pPr algn="l"/>
            <a:r>
              <a:rPr sz="1400" dirty="0">
                <a:solidFill>
                  <a:srgbClr val="FFFFFF"/>
                </a:solidFill>
                <a:latin typeface="Helvetica Neue Light"/>
              </a:rPr>
              <a:t>• Integration with internal </a:t>
            </a:r>
          </a:p>
        </p:txBody>
      </p:sp>
      <p:sp>
        <p:nvSpPr>
          <p:cNvPr id="23" name="TextBox 22"/>
          <p:cNvSpPr txBox="1"/>
          <p:nvPr/>
        </p:nvSpPr>
        <p:spPr>
          <a:xfrm>
            <a:off x="10485080" y="5675090"/>
            <a:ext cx="720772" cy="216560"/>
          </a:xfrm>
          <a:prstGeom prst="rect">
            <a:avLst/>
          </a:prstGeom>
          <a:noFill/>
        </p:spPr>
        <p:txBody>
          <a:bodyPr wrap="none" lIns="0" tIns="0" rIns="0" bIns="0">
            <a:noAutofit/>
          </a:bodyPr>
          <a:lstStyle/>
          <a:p>
            <a:pPr algn="l"/>
            <a:r>
              <a:rPr sz="1400" dirty="0">
                <a:solidFill>
                  <a:srgbClr val="FFFFFF"/>
                </a:solidFill>
                <a:latin typeface="Helvetica Neue Light"/>
              </a:rPr>
              <a:t>systems</a:t>
            </a:r>
          </a:p>
        </p:txBody>
      </p:sp>
      <p:sp>
        <p:nvSpPr>
          <p:cNvPr id="24" name="TextBox 23"/>
          <p:cNvSpPr txBox="1"/>
          <p:nvPr/>
        </p:nvSpPr>
        <p:spPr>
          <a:xfrm>
            <a:off x="4021048" y="2934379"/>
            <a:ext cx="1107070" cy="206959"/>
          </a:xfrm>
          <a:prstGeom prst="rect">
            <a:avLst/>
          </a:prstGeom>
          <a:noFill/>
        </p:spPr>
        <p:txBody>
          <a:bodyPr wrap="none" lIns="0" tIns="0" rIns="0" bIns="0">
            <a:noAutofit/>
          </a:bodyPr>
          <a:lstStyle/>
          <a:p>
            <a:pPr algn="l"/>
            <a:r>
              <a:rPr sz="1400" dirty="0">
                <a:solidFill>
                  <a:srgbClr val="000000"/>
                </a:solidFill>
                <a:latin typeface="Helvetica Neue Thin"/>
              </a:rPr>
              <a:t>• Education</a:t>
            </a:r>
          </a:p>
        </p:txBody>
      </p:sp>
      <p:sp>
        <p:nvSpPr>
          <p:cNvPr id="25" name="TextBox 24"/>
          <p:cNvSpPr txBox="1"/>
          <p:nvPr/>
        </p:nvSpPr>
        <p:spPr>
          <a:xfrm>
            <a:off x="4021048" y="3251879"/>
            <a:ext cx="1497071" cy="206959"/>
          </a:xfrm>
          <a:prstGeom prst="rect">
            <a:avLst/>
          </a:prstGeom>
          <a:noFill/>
        </p:spPr>
        <p:txBody>
          <a:bodyPr wrap="none" lIns="0" tIns="0" rIns="0" bIns="0">
            <a:noAutofit/>
          </a:bodyPr>
          <a:lstStyle/>
          <a:p>
            <a:pPr algn="l"/>
            <a:r>
              <a:rPr sz="1400" dirty="0">
                <a:solidFill>
                  <a:srgbClr val="000000"/>
                </a:solidFill>
                <a:latin typeface="Helvetica Neue Thin"/>
              </a:rPr>
              <a:t>• Platform parity </a:t>
            </a:r>
          </a:p>
        </p:txBody>
      </p:sp>
      <p:sp>
        <p:nvSpPr>
          <p:cNvPr id="26" name="TextBox 25"/>
          <p:cNvSpPr txBox="1"/>
          <p:nvPr/>
        </p:nvSpPr>
        <p:spPr>
          <a:xfrm>
            <a:off x="4021048" y="3569379"/>
            <a:ext cx="1889567" cy="206959"/>
          </a:xfrm>
          <a:prstGeom prst="rect">
            <a:avLst/>
          </a:prstGeom>
          <a:noFill/>
        </p:spPr>
        <p:txBody>
          <a:bodyPr wrap="none" lIns="0" tIns="0" rIns="0" bIns="0">
            <a:noAutofit/>
          </a:bodyPr>
          <a:lstStyle/>
          <a:p>
            <a:pPr algn="l"/>
            <a:r>
              <a:rPr sz="1400" dirty="0">
                <a:solidFill>
                  <a:srgbClr val="000000"/>
                </a:solidFill>
                <a:latin typeface="Helvetica Neue Thin"/>
              </a:rPr>
              <a:t>• Integrated systems </a:t>
            </a:r>
          </a:p>
        </p:txBody>
      </p:sp>
      <p:sp>
        <p:nvSpPr>
          <p:cNvPr id="27" name="TextBox 26"/>
          <p:cNvSpPr txBox="1"/>
          <p:nvPr/>
        </p:nvSpPr>
        <p:spPr>
          <a:xfrm>
            <a:off x="3288691" y="3886879"/>
            <a:ext cx="7008120" cy="910599"/>
          </a:xfrm>
          <a:prstGeom prst="rect">
            <a:avLst/>
          </a:prstGeom>
          <a:noFill/>
        </p:spPr>
        <p:txBody>
          <a:bodyPr wrap="none" lIns="0" tIns="0" rIns="0" bIns="0">
            <a:noAutofit/>
          </a:bodyPr>
          <a:lstStyle/>
          <a:p>
            <a:pPr marL="732357" algn="l">
              <a:lnSpc>
                <a:spcPts val="2302"/>
              </a:lnSpc>
            </a:pPr>
            <a:r>
              <a:rPr sz="1400" dirty="0">
                <a:solidFill>
                  <a:srgbClr val="000000"/>
                </a:solidFill>
                <a:latin typeface="Helvetica Neue Thin"/>
              </a:rPr>
              <a:t>• Data</a:t>
            </a:r>
          </a:p>
          <a:p>
            <a:pPr marL="6167948" algn="l">
              <a:lnSpc>
                <a:spcPts val="2302"/>
              </a:lnSpc>
              <a:spcBef>
                <a:spcPts val="2127"/>
              </a:spcBef>
            </a:pPr>
            <a:r>
              <a:rPr sz="4350" dirty="0">
                <a:solidFill>
                  <a:srgbClr val="000000"/>
                </a:solidFill>
                <a:latin typeface="Helvetica Neue Light"/>
              </a:rPr>
              <a:t>=</a:t>
            </a:r>
          </a:p>
          <a:p>
            <a:pPr algn="l">
              <a:lnSpc>
                <a:spcPts val="2302"/>
              </a:lnSpc>
            </a:pPr>
            <a:r>
              <a:rPr sz="4350" dirty="0">
                <a:solidFill>
                  <a:srgbClr val="000000"/>
                </a:solidFill>
                <a:latin typeface="Helvetica Neue Light"/>
              </a:rPr>
              <a:t>+</a:t>
            </a:r>
          </a:p>
        </p:txBody>
      </p:sp>
      <p:sp>
        <p:nvSpPr>
          <p:cNvPr id="28" name="TextBox 27"/>
          <p:cNvSpPr txBox="1"/>
          <p:nvPr/>
        </p:nvSpPr>
        <p:spPr>
          <a:xfrm>
            <a:off x="7114557" y="2402562"/>
            <a:ext cx="1404900" cy="296068"/>
          </a:xfrm>
          <a:prstGeom prst="rect">
            <a:avLst/>
          </a:prstGeom>
          <a:noFill/>
        </p:spPr>
        <p:txBody>
          <a:bodyPr wrap="none" lIns="0" tIns="0" rIns="0" bIns="0">
            <a:noAutofit/>
          </a:bodyPr>
          <a:lstStyle/>
          <a:p>
            <a:pPr algn="l"/>
            <a:r>
              <a:rPr sz="1900" dirty="0">
                <a:solidFill>
                  <a:srgbClr val="FFFFFF"/>
                </a:solidFill>
                <a:latin typeface="Helvetica Neue Light"/>
              </a:rPr>
              <a:t>UX Strategy</a:t>
            </a:r>
          </a:p>
        </p:txBody>
      </p:sp>
      <p:sp>
        <p:nvSpPr>
          <p:cNvPr id="29" name="TextBox 28"/>
          <p:cNvSpPr txBox="1"/>
          <p:nvPr/>
        </p:nvSpPr>
        <p:spPr>
          <a:xfrm>
            <a:off x="6908800" y="2931890"/>
            <a:ext cx="2055857" cy="216560"/>
          </a:xfrm>
          <a:prstGeom prst="rect">
            <a:avLst/>
          </a:prstGeom>
          <a:noFill/>
        </p:spPr>
        <p:txBody>
          <a:bodyPr wrap="none" lIns="0" tIns="0" rIns="0" bIns="0">
            <a:noAutofit/>
          </a:bodyPr>
          <a:lstStyle/>
          <a:p>
            <a:pPr algn="l"/>
            <a:r>
              <a:rPr sz="1400" dirty="0">
                <a:solidFill>
                  <a:srgbClr val="FFFFFF"/>
                </a:solidFill>
                <a:latin typeface="Helvetica Neue Light"/>
              </a:rPr>
              <a:t>• Walk through Wizard </a:t>
            </a:r>
          </a:p>
        </p:txBody>
      </p:sp>
      <p:sp>
        <p:nvSpPr>
          <p:cNvPr id="30" name="TextBox 29"/>
          <p:cNvSpPr txBox="1"/>
          <p:nvPr/>
        </p:nvSpPr>
        <p:spPr>
          <a:xfrm>
            <a:off x="6908800" y="3236690"/>
            <a:ext cx="1652972" cy="216560"/>
          </a:xfrm>
          <a:prstGeom prst="rect">
            <a:avLst/>
          </a:prstGeom>
          <a:noFill/>
        </p:spPr>
        <p:txBody>
          <a:bodyPr wrap="none" lIns="0" tIns="0" rIns="0" bIns="0">
            <a:noAutofit/>
          </a:bodyPr>
          <a:lstStyle/>
          <a:p>
            <a:pPr algn="l"/>
            <a:r>
              <a:rPr sz="1400" dirty="0">
                <a:solidFill>
                  <a:srgbClr val="FFFFFF"/>
                </a:solidFill>
                <a:latin typeface="Helvetica Neue Light"/>
              </a:rPr>
              <a:t>•  Scenario builder</a:t>
            </a:r>
          </a:p>
        </p:txBody>
      </p:sp>
      <p:sp>
        <p:nvSpPr>
          <p:cNvPr id="31" name="TextBox 30"/>
          <p:cNvSpPr txBox="1"/>
          <p:nvPr/>
        </p:nvSpPr>
        <p:spPr>
          <a:xfrm>
            <a:off x="6908800" y="3541490"/>
            <a:ext cx="1532400" cy="216560"/>
          </a:xfrm>
          <a:prstGeom prst="rect">
            <a:avLst/>
          </a:prstGeom>
          <a:noFill/>
        </p:spPr>
        <p:txBody>
          <a:bodyPr wrap="none" lIns="0" tIns="0" rIns="0" bIns="0">
            <a:noAutofit/>
          </a:bodyPr>
          <a:lstStyle/>
          <a:p>
            <a:pPr algn="l"/>
            <a:r>
              <a:rPr sz="1400" dirty="0">
                <a:solidFill>
                  <a:srgbClr val="FFFFFF"/>
                </a:solidFill>
                <a:latin typeface="Helvetica Neue Light"/>
              </a:rPr>
              <a:t>• Data Visualizer</a:t>
            </a:r>
          </a:p>
        </p:txBody>
      </p:sp>
      <p:sp>
        <p:nvSpPr>
          <p:cNvPr id="32" name="TextBox 31"/>
          <p:cNvSpPr txBox="1"/>
          <p:nvPr/>
        </p:nvSpPr>
        <p:spPr>
          <a:xfrm>
            <a:off x="6908800" y="3846290"/>
            <a:ext cx="1624189" cy="216560"/>
          </a:xfrm>
          <a:prstGeom prst="rect">
            <a:avLst/>
          </a:prstGeom>
          <a:noFill/>
        </p:spPr>
        <p:txBody>
          <a:bodyPr wrap="none" lIns="0" tIns="0" rIns="0" bIns="0">
            <a:noAutofit/>
          </a:bodyPr>
          <a:lstStyle/>
          <a:p>
            <a:pPr algn="l"/>
            <a:r>
              <a:rPr sz="1400" dirty="0">
                <a:solidFill>
                  <a:srgbClr val="FFFFFF"/>
                </a:solidFill>
                <a:latin typeface="Helvetica Neue Light"/>
              </a:rPr>
              <a:t>• Import data sets</a:t>
            </a:r>
          </a:p>
        </p:txBody>
      </p:sp>
      <p:sp>
        <p:nvSpPr>
          <p:cNvPr id="33" name="TextBox 32"/>
          <p:cNvSpPr txBox="1"/>
          <p:nvPr/>
        </p:nvSpPr>
        <p:spPr>
          <a:xfrm>
            <a:off x="6908800" y="4151090"/>
            <a:ext cx="1985165" cy="216560"/>
          </a:xfrm>
          <a:prstGeom prst="rect">
            <a:avLst/>
          </a:prstGeom>
          <a:noFill/>
        </p:spPr>
        <p:txBody>
          <a:bodyPr wrap="none" lIns="0" tIns="0" rIns="0" bIns="0">
            <a:noAutofit/>
          </a:bodyPr>
          <a:lstStyle/>
          <a:p>
            <a:pPr algn="l"/>
            <a:r>
              <a:rPr sz="1400" dirty="0">
                <a:solidFill>
                  <a:srgbClr val="FFFFFF"/>
                </a:solidFill>
                <a:latin typeface="Helvetica Neue Light"/>
              </a:rPr>
              <a:t>• Channel allocation / </a:t>
            </a:r>
          </a:p>
        </p:txBody>
      </p:sp>
      <p:sp>
        <p:nvSpPr>
          <p:cNvPr id="34" name="TextBox 33"/>
          <p:cNvSpPr txBox="1"/>
          <p:nvPr/>
        </p:nvSpPr>
        <p:spPr>
          <a:xfrm>
            <a:off x="7137400" y="4455890"/>
            <a:ext cx="1634420" cy="216560"/>
          </a:xfrm>
          <a:prstGeom prst="rect">
            <a:avLst/>
          </a:prstGeom>
          <a:noFill/>
        </p:spPr>
        <p:txBody>
          <a:bodyPr wrap="none" lIns="0" tIns="0" rIns="0" bIns="0">
            <a:noAutofit/>
          </a:bodyPr>
          <a:lstStyle/>
          <a:p>
            <a:pPr algn="l"/>
            <a:r>
              <a:rPr sz="1400" dirty="0">
                <a:solidFill>
                  <a:srgbClr val="FFFFFF"/>
                </a:solidFill>
                <a:latin typeface="Helvetica Neue Light"/>
              </a:rPr>
              <a:t>product allocation  </a:t>
            </a:r>
          </a:p>
        </p:txBody>
      </p:sp>
      <p:sp>
        <p:nvSpPr>
          <p:cNvPr id="35" name="TextBox 34"/>
          <p:cNvSpPr txBox="1"/>
          <p:nvPr/>
        </p:nvSpPr>
        <p:spPr>
          <a:xfrm>
            <a:off x="6272603" y="4102315"/>
            <a:ext cx="3030984" cy="874934"/>
          </a:xfrm>
          <a:prstGeom prst="rect">
            <a:avLst/>
          </a:prstGeom>
          <a:noFill/>
        </p:spPr>
        <p:txBody>
          <a:bodyPr wrap="none" lIns="0" tIns="0" rIns="0" bIns="0">
            <a:noAutofit/>
          </a:bodyPr>
          <a:lstStyle/>
          <a:p>
            <a:pPr algn="l">
              <a:lnSpc>
                <a:spcPts val="2470"/>
              </a:lnSpc>
            </a:pPr>
            <a:r>
              <a:rPr sz="4350" dirty="0">
                <a:solidFill>
                  <a:srgbClr val="000000"/>
                </a:solidFill>
                <a:latin typeface="Helvetica Neue Light"/>
              </a:rPr>
              <a:t>+</a:t>
            </a:r>
          </a:p>
        </p:txBody>
      </p:sp>
      <p:sp>
        <p:nvSpPr>
          <p:cNvPr id="36" name="TextBox 31"/>
          <p:cNvSpPr txBox="1"/>
          <p:nvPr/>
        </p:nvSpPr>
        <p:spPr>
          <a:xfrm>
            <a:off x="6908800" y="4762500"/>
            <a:ext cx="2349500" cy="216560"/>
          </a:xfrm>
          <a:prstGeom prst="rect">
            <a:avLst/>
          </a:prstGeom>
          <a:noFill/>
        </p:spPr>
        <p:txBody>
          <a:bodyPr wrap="none" lIns="0" tIns="0" rIns="0" bIns="0">
            <a:noAutofit/>
          </a:bodyPr>
          <a:lstStyle/>
          <a:p>
            <a:pPr algn="l"/>
            <a:r>
              <a:rPr sz="1400" dirty="0">
                <a:solidFill>
                  <a:srgbClr val="FFFFFF"/>
                </a:solidFill>
                <a:latin typeface="Helvetica Neue Light"/>
              </a:rPr>
              <a:t>• Optimization budget tool</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1904395" y="3911592"/>
            <a:ext cx="9397900" cy="4561494"/>
          </a:xfrm>
          <a:prstGeom prst="rect">
            <a:avLst/>
          </a:prstGeom>
        </p:spPr>
      </p:pic>
      <p:sp>
        <p:nvSpPr>
          <p:cNvPr id="4" name="TextBox 3"/>
          <p:cNvSpPr txBox="1"/>
          <p:nvPr/>
        </p:nvSpPr>
        <p:spPr>
          <a:xfrm>
            <a:off x="457200" y="1858135"/>
            <a:ext cx="3782800" cy="1108887"/>
          </a:xfrm>
          <a:prstGeom prst="rect">
            <a:avLst/>
          </a:prstGeom>
          <a:noFill/>
        </p:spPr>
        <p:txBody>
          <a:bodyPr wrap="square" lIns="0" tIns="0" rIns="0" bIns="0">
            <a:noAutofit/>
          </a:bodyPr>
          <a:lstStyle/>
          <a:p>
            <a:pPr algn="l">
              <a:lnSpc>
                <a:spcPts val="1800"/>
              </a:lnSpc>
            </a:pPr>
            <a:r>
              <a:rPr sz="1300" dirty="0">
                <a:solidFill>
                  <a:srgbClr val="000000"/>
                </a:solidFill>
                <a:latin typeface="Helvetica Neue Light"/>
              </a:rPr>
              <a:t>1 WALK THROUGH WIZARD </a:t>
            </a:r>
          </a:p>
          <a:p>
            <a:pPr algn="l">
              <a:lnSpc>
                <a:spcPts val="1800"/>
              </a:lnSpc>
            </a:pPr>
            <a:r>
              <a:rPr sz="1300" dirty="0">
                <a:solidFill>
                  <a:srgbClr val="000000"/>
                </a:solidFill>
                <a:latin typeface="Helvetica Neue Thin"/>
              </a:rPr>
              <a:t>The Walk Through Wizard guides users through the process of entering parameters for the budget plan projection. Users import data, set dates, and can manipulate each allocation per channel and by product. </a:t>
            </a:r>
          </a:p>
        </p:txBody>
      </p:sp>
      <p:sp>
        <p:nvSpPr>
          <p:cNvPr id="5" name="TextBox 4"/>
          <p:cNvSpPr txBox="1"/>
          <p:nvPr/>
        </p:nvSpPr>
        <p:spPr>
          <a:xfrm>
            <a:off x="4614333" y="1858135"/>
            <a:ext cx="3810814" cy="1108887"/>
          </a:xfrm>
          <a:prstGeom prst="rect">
            <a:avLst/>
          </a:prstGeom>
          <a:noFill/>
        </p:spPr>
        <p:txBody>
          <a:bodyPr wrap="square" lIns="0" tIns="0" rIns="0" bIns="0">
            <a:noAutofit/>
          </a:bodyPr>
          <a:lstStyle/>
          <a:p>
            <a:pPr algn="l">
              <a:lnSpc>
                <a:spcPts val="1800"/>
              </a:lnSpc>
            </a:pPr>
            <a:r>
              <a:rPr sz="1300" dirty="0">
                <a:solidFill>
                  <a:srgbClr val="000000"/>
                </a:solidFill>
                <a:latin typeface="Helvetica Neue Light"/>
              </a:rPr>
              <a:t>2 SCENARIO BUILDER</a:t>
            </a:r>
          </a:p>
          <a:p>
            <a:pPr algn="l">
              <a:lnSpc>
                <a:spcPts val="1800"/>
              </a:lnSpc>
            </a:pPr>
            <a:r>
              <a:rPr sz="1300" dirty="0">
                <a:solidFill>
                  <a:srgbClr val="000000"/>
                </a:solidFill>
                <a:latin typeface="Helvetica Neue Thin"/>
              </a:rPr>
              <a:t>A user can build separate scenarios and compare. They will also be able to optimize a selected budget utilizing the tools’ business intelligence and access to big data, to build the most optimal allocated funds.</a:t>
            </a:r>
          </a:p>
        </p:txBody>
      </p:sp>
      <p:sp>
        <p:nvSpPr>
          <p:cNvPr id="6" name="TextBox 5"/>
          <p:cNvSpPr txBox="1"/>
          <p:nvPr/>
        </p:nvSpPr>
        <p:spPr>
          <a:xfrm>
            <a:off x="8771466" y="1858135"/>
            <a:ext cx="3877676" cy="880287"/>
          </a:xfrm>
          <a:prstGeom prst="rect">
            <a:avLst/>
          </a:prstGeom>
          <a:noFill/>
        </p:spPr>
        <p:txBody>
          <a:bodyPr wrap="square" lIns="0" tIns="0" rIns="0" bIns="0">
            <a:noAutofit/>
          </a:bodyPr>
          <a:lstStyle/>
          <a:p>
            <a:pPr algn="l">
              <a:lnSpc>
                <a:spcPts val="1800"/>
              </a:lnSpc>
            </a:pPr>
            <a:r>
              <a:rPr sz="1300" dirty="0">
                <a:solidFill>
                  <a:srgbClr val="000000"/>
                </a:solidFill>
                <a:latin typeface="Helvetica Neue Light"/>
              </a:rPr>
              <a:t>3 DATA VISUALIZER / SCENARIO COMPARISON</a:t>
            </a:r>
          </a:p>
          <a:p>
            <a:pPr algn="l">
              <a:lnSpc>
                <a:spcPts val="1800"/>
              </a:lnSpc>
            </a:pPr>
            <a:r>
              <a:rPr sz="1300" dirty="0">
                <a:solidFill>
                  <a:srgbClr val="000000"/>
                </a:solidFill>
                <a:latin typeface="Helvetica Neue Thin"/>
              </a:rPr>
              <a:t>A user can then understand through the data visualizations, how each individual plan is broken down and how they compare to one another.</a:t>
            </a:r>
          </a:p>
        </p:txBody>
      </p:sp>
      <p:sp>
        <p:nvSpPr>
          <p:cNvPr id="7" name="TextBox 6"/>
          <p:cNvSpPr txBox="1"/>
          <p:nvPr/>
        </p:nvSpPr>
        <p:spPr>
          <a:xfrm>
            <a:off x="457200" y="1138679"/>
            <a:ext cx="8753946" cy="278434"/>
          </a:xfrm>
          <a:prstGeom prst="rect">
            <a:avLst/>
          </a:prstGeom>
          <a:noFill/>
        </p:spPr>
        <p:txBody>
          <a:bodyPr wrap="none" lIns="0" tIns="0" rIns="0" bIns="0">
            <a:noAutofit/>
          </a:bodyPr>
          <a:lstStyle/>
          <a:p>
            <a:pPr algn="l"/>
            <a:r>
              <a:rPr sz="1800" dirty="0">
                <a:solidFill>
                  <a:srgbClr val="000000"/>
                </a:solidFill>
                <a:latin typeface="Helvetica Neue Light"/>
              </a:rPr>
              <a:t>The user journey was distilled into a 3-step process to build their investment plans</a:t>
            </a:r>
          </a:p>
        </p:txBody>
      </p:sp>
      <p:sp>
        <p:nvSpPr>
          <p:cNvPr id="8" name="TextBox 7"/>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AMEX MOCA</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459807" y="1894907"/>
            <a:ext cx="9234469" cy="5774621"/>
          </a:xfrm>
          <a:prstGeom prst="rect">
            <a:avLst/>
          </a:prstGeom>
        </p:spPr>
      </p:pic>
      <p:pic>
        <p:nvPicPr>
          <p:cNvPr id="4" name="Picture 2" descr="image.png"/>
          <p:cNvPicPr>
            <a:picLocks noChangeAspect="1"/>
          </p:cNvPicPr>
          <p:nvPr/>
        </p:nvPicPr>
        <p:blipFill>
          <a:blip r:embed="rId4"/>
          <a:stretch>
            <a:fillRect/>
          </a:stretch>
        </p:blipFill>
        <p:spPr>
          <a:xfrm>
            <a:off x="5564747" y="5983847"/>
            <a:ext cx="7191813" cy="3769752"/>
          </a:xfrm>
          <a:prstGeom prst="rect">
            <a:avLst/>
          </a:prstGeom>
        </p:spPr>
      </p:pic>
      <p:pic>
        <p:nvPicPr>
          <p:cNvPr id="5" name="Picture 3" descr="image.png"/>
          <p:cNvPicPr>
            <a:picLocks noChangeAspect="1"/>
          </p:cNvPicPr>
          <p:nvPr/>
        </p:nvPicPr>
        <p:blipFill>
          <a:blip r:embed="rId5"/>
          <a:stretch>
            <a:fillRect/>
          </a:stretch>
        </p:blipFill>
        <p:spPr>
          <a:xfrm>
            <a:off x="6876568" y="179570"/>
            <a:ext cx="5878328" cy="3135665"/>
          </a:xfrm>
          <a:prstGeom prst="rect">
            <a:avLst/>
          </a:prstGeom>
        </p:spPr>
      </p:pic>
      <p:sp>
        <p:nvSpPr>
          <p:cNvPr id="6" name="TextBox 5"/>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AMEX MOCA</a:t>
            </a:r>
          </a:p>
        </p:txBody>
      </p:sp>
      <p:sp>
        <p:nvSpPr>
          <p:cNvPr id="7" name="TextBox 6"/>
          <p:cNvSpPr txBox="1"/>
          <p:nvPr/>
        </p:nvSpPr>
        <p:spPr>
          <a:xfrm>
            <a:off x="457200" y="939800"/>
            <a:ext cx="5267959" cy="476250"/>
          </a:xfrm>
          <a:prstGeom prst="rect">
            <a:avLst/>
          </a:prstGeom>
          <a:noFill/>
        </p:spPr>
        <p:txBody>
          <a:bodyPr wrap="none" lIns="0" tIns="0" rIns="0" bIns="0">
            <a:noAutofit/>
          </a:bodyPr>
          <a:lstStyle/>
          <a:p>
            <a:pPr algn="l"/>
            <a:r>
              <a:rPr sz="3000" dirty="0">
                <a:solidFill>
                  <a:srgbClr val="1F1F1F"/>
                </a:solidFill>
                <a:latin typeface="Helvetica Neue Light"/>
              </a:rPr>
              <a:t>User flows for feature sets </a:t>
            </a:r>
          </a:p>
        </p:txBody>
      </p:sp>
      <p:sp>
        <p:nvSpPr>
          <p:cNvPr id="8" name="TextBox 7"/>
          <p:cNvSpPr txBox="1"/>
          <p:nvPr/>
        </p:nvSpPr>
        <p:spPr>
          <a:xfrm>
            <a:off x="457200" y="7926627"/>
            <a:ext cx="4758405" cy="1112824"/>
          </a:xfrm>
          <a:prstGeom prst="rect">
            <a:avLst/>
          </a:prstGeom>
          <a:noFill/>
        </p:spPr>
        <p:txBody>
          <a:bodyPr wrap="square" lIns="0" tIns="0" rIns="0" bIns="0">
            <a:noAutofit/>
          </a:bodyPr>
          <a:lstStyle/>
          <a:p>
            <a:pPr algn="l">
              <a:lnSpc>
                <a:spcPts val="2300"/>
              </a:lnSpc>
            </a:pPr>
            <a:r>
              <a:rPr sz="1600" dirty="0">
                <a:solidFill>
                  <a:srgbClr val="000000"/>
                </a:solidFill>
                <a:latin typeface="Helvetica Neue Thin"/>
              </a:rPr>
              <a:t>Understanding the usage contexts of the application helped us develop a clear vision of the interactive expectations of the users. We developed a set of experience principles woven through the application. </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962607" y="5078982"/>
            <a:ext cx="3649797" cy="2068169"/>
          </a:xfrm>
          <a:prstGeom prst="rect">
            <a:avLst/>
          </a:prstGeom>
          <a:noFill/>
        </p:spPr>
        <p:txBody>
          <a:bodyPr wrap="square" lIns="0" tIns="0" rIns="0" bIns="0">
            <a:noAutofit/>
          </a:bodyPr>
          <a:lstStyle/>
          <a:p>
            <a:pPr algn="l">
              <a:lnSpc>
                <a:spcPts val="2400"/>
              </a:lnSpc>
            </a:pPr>
            <a:r>
              <a:rPr sz="1600" dirty="0">
                <a:solidFill>
                  <a:srgbClr val="FFFFFF"/>
                </a:solidFill>
                <a:latin typeface="Helvetica Neue Light"/>
              </a:rPr>
              <a:t>1 WALK THROUGH WIZARD </a:t>
            </a:r>
          </a:p>
          <a:p>
            <a:pPr algn="l">
              <a:lnSpc>
                <a:spcPts val="2400"/>
              </a:lnSpc>
            </a:pPr>
            <a:r>
              <a:rPr sz="1600" dirty="0">
                <a:solidFill>
                  <a:srgbClr val="FFFFFF"/>
                </a:solidFill>
                <a:latin typeface="Helvetica Neue Thin"/>
              </a:rPr>
              <a:t>The Walk Through Wizard guides users through the process of entering parameters for the budget plan projection. Users import data, set dates, and can manipulate each allocation per channel and by product. </a:t>
            </a:r>
          </a:p>
        </p:txBody>
      </p:sp>
      <p:sp>
        <p:nvSpPr>
          <p:cNvPr id="4" name="TextBox 3"/>
          <p:cNvSpPr txBox="1"/>
          <p:nvPr/>
        </p:nvSpPr>
        <p:spPr>
          <a:xfrm>
            <a:off x="4925871" y="5078982"/>
            <a:ext cx="3645485" cy="2068169"/>
          </a:xfrm>
          <a:prstGeom prst="rect">
            <a:avLst/>
          </a:prstGeom>
          <a:noFill/>
        </p:spPr>
        <p:txBody>
          <a:bodyPr wrap="square" lIns="0" tIns="0" rIns="0" bIns="0">
            <a:noAutofit/>
          </a:bodyPr>
          <a:lstStyle/>
          <a:p>
            <a:pPr algn="l">
              <a:lnSpc>
                <a:spcPts val="2400"/>
              </a:lnSpc>
            </a:pPr>
            <a:r>
              <a:rPr sz="1600" dirty="0">
                <a:solidFill>
                  <a:srgbClr val="FFFFFF"/>
                </a:solidFill>
                <a:latin typeface="Helvetica Neue Light"/>
              </a:rPr>
              <a:t>2 SCENARIO BUILDER</a:t>
            </a:r>
          </a:p>
          <a:p>
            <a:pPr algn="l">
              <a:lnSpc>
                <a:spcPts val="2400"/>
              </a:lnSpc>
            </a:pPr>
            <a:r>
              <a:rPr sz="1600" dirty="0">
                <a:solidFill>
                  <a:srgbClr val="FFFFFF"/>
                </a:solidFill>
                <a:latin typeface="Helvetica Neue Thin"/>
              </a:rPr>
              <a:t>A user can build separate scenarios and compare. They will also be able to optimize a selected budget utilizing the tools’ business intelligence and access to big data, to build the most optimal allocated funds.</a:t>
            </a:r>
          </a:p>
        </p:txBody>
      </p:sp>
      <p:sp>
        <p:nvSpPr>
          <p:cNvPr id="5" name="TextBox 4"/>
          <p:cNvSpPr txBox="1"/>
          <p:nvPr/>
        </p:nvSpPr>
        <p:spPr>
          <a:xfrm>
            <a:off x="8889134" y="5078982"/>
            <a:ext cx="3551489" cy="1763369"/>
          </a:xfrm>
          <a:prstGeom prst="rect">
            <a:avLst/>
          </a:prstGeom>
          <a:noFill/>
        </p:spPr>
        <p:txBody>
          <a:bodyPr wrap="square" lIns="0" tIns="0" rIns="0" bIns="0">
            <a:noAutofit/>
          </a:bodyPr>
          <a:lstStyle/>
          <a:p>
            <a:pPr algn="l">
              <a:lnSpc>
                <a:spcPts val="2400"/>
              </a:lnSpc>
            </a:pPr>
            <a:r>
              <a:rPr sz="1600" dirty="0">
                <a:solidFill>
                  <a:srgbClr val="FFFFFF"/>
                </a:solidFill>
                <a:latin typeface="Helvetica Neue Light"/>
              </a:rPr>
              <a:t>3 DATA VISUALIZER / SCENARIO </a:t>
            </a:r>
          </a:p>
          <a:p>
            <a:pPr algn="l">
              <a:lnSpc>
                <a:spcPts val="2400"/>
              </a:lnSpc>
            </a:pPr>
            <a:r>
              <a:rPr sz="1600" dirty="0">
                <a:solidFill>
                  <a:srgbClr val="FFFFFF"/>
                </a:solidFill>
                <a:latin typeface="Helvetica Neue Light"/>
              </a:rPr>
              <a:t>COMPARISON</a:t>
            </a:r>
          </a:p>
          <a:p>
            <a:pPr algn="l">
              <a:lnSpc>
                <a:spcPts val="2400"/>
              </a:lnSpc>
            </a:pPr>
            <a:r>
              <a:rPr sz="1600" dirty="0">
                <a:solidFill>
                  <a:srgbClr val="FFFFFF"/>
                </a:solidFill>
                <a:latin typeface="Helvetica Neue Thin"/>
              </a:rPr>
              <a:t>A user can then understand through the data visualizations, how each individual plan is broken down and how they compare to one another.</a:t>
            </a:r>
          </a:p>
        </p:txBody>
      </p:sp>
      <p:sp>
        <p:nvSpPr>
          <p:cNvPr id="6" name="TextBox 5"/>
          <p:cNvSpPr txBox="1"/>
          <p:nvPr/>
        </p:nvSpPr>
        <p:spPr>
          <a:xfrm>
            <a:off x="939800" y="1050539"/>
            <a:ext cx="2586284" cy="866241"/>
          </a:xfrm>
          <a:prstGeom prst="rect">
            <a:avLst/>
          </a:prstGeom>
          <a:noFill/>
        </p:spPr>
        <p:txBody>
          <a:bodyPr wrap="none" lIns="0" tIns="0" rIns="0" bIns="0">
            <a:noAutofit/>
          </a:bodyPr>
          <a:lstStyle/>
          <a:p>
            <a:pPr algn="l"/>
            <a:r>
              <a:rPr sz="5600" dirty="0">
                <a:solidFill>
                  <a:srgbClr val="FFFFFF"/>
                </a:solidFill>
                <a:latin typeface="Helvetica Neue Light"/>
              </a:rPr>
              <a:t>Design </a:t>
            </a:r>
          </a:p>
        </p:txBody>
      </p:sp>
      <p:sp>
        <p:nvSpPr>
          <p:cNvPr id="7" name="TextBox 6"/>
          <p:cNvSpPr txBox="1"/>
          <p:nvPr/>
        </p:nvSpPr>
        <p:spPr>
          <a:xfrm>
            <a:off x="939800" y="2692699"/>
            <a:ext cx="4865609" cy="532180"/>
          </a:xfrm>
          <a:prstGeom prst="rect">
            <a:avLst/>
          </a:prstGeom>
          <a:noFill/>
        </p:spPr>
        <p:txBody>
          <a:bodyPr wrap="none" lIns="0" tIns="0" rIns="0" bIns="0">
            <a:noAutofit/>
          </a:bodyPr>
          <a:lstStyle/>
          <a:p>
            <a:pPr algn="l"/>
            <a:r>
              <a:rPr sz="3600" dirty="0">
                <a:solidFill>
                  <a:srgbClr val="FFFFFF"/>
                </a:solidFill>
                <a:latin typeface="Helvetica Neue Thin"/>
              </a:rPr>
              <a:t>The Delivered Solution</a:t>
            </a:r>
          </a:p>
        </p:txBody>
      </p:sp>
      <p:sp>
        <p:nvSpPr>
          <p:cNvPr id="8" name="TextBox 7"/>
          <p:cNvSpPr txBox="1"/>
          <p:nvPr/>
        </p:nvSpPr>
        <p:spPr>
          <a:xfrm>
            <a:off x="8051800" y="1243479"/>
            <a:ext cx="3964715" cy="1180490"/>
          </a:xfrm>
          <a:prstGeom prst="rect">
            <a:avLst/>
          </a:prstGeom>
          <a:noFill/>
        </p:spPr>
        <p:txBody>
          <a:bodyPr wrap="none" lIns="0" tIns="0" rIns="0" bIns="0">
            <a:noAutofit/>
          </a:bodyPr>
          <a:lstStyle/>
          <a:p>
            <a:pPr algn="l">
              <a:lnSpc>
                <a:spcPts val="2400"/>
              </a:lnSpc>
            </a:pPr>
            <a:r>
              <a:rPr sz="1800" dirty="0">
                <a:solidFill>
                  <a:srgbClr val="FFFFFF"/>
                </a:solidFill>
                <a:latin typeface="Helvetica Neue Thin"/>
              </a:rPr>
              <a:t>• Feature refinement and road map </a:t>
            </a:r>
          </a:p>
          <a:p>
            <a:pPr algn="l">
              <a:lnSpc>
                <a:spcPts val="2400"/>
              </a:lnSpc>
            </a:pPr>
            <a:r>
              <a:rPr sz="1800" dirty="0">
                <a:solidFill>
                  <a:srgbClr val="FFFFFF"/>
                </a:solidFill>
                <a:latin typeface="Helvetica Neue Thin"/>
              </a:rPr>
              <a:t>• 12 Agile-based sprints</a:t>
            </a:r>
          </a:p>
          <a:p>
            <a:pPr algn="l">
              <a:lnSpc>
                <a:spcPts val="2400"/>
              </a:lnSpc>
            </a:pPr>
            <a:r>
              <a:rPr sz="1800" dirty="0">
                <a:solidFill>
                  <a:srgbClr val="FFFFFF"/>
                </a:solidFill>
                <a:latin typeface="Helvetica Neue Thin"/>
              </a:rPr>
              <a:t>• Usability testing on regular cadence</a:t>
            </a:r>
          </a:p>
          <a:p>
            <a:pPr algn="l">
              <a:lnSpc>
                <a:spcPts val="2400"/>
              </a:lnSpc>
            </a:pPr>
            <a:r>
              <a:rPr sz="1800" dirty="0">
                <a:solidFill>
                  <a:srgbClr val="FFFFFF"/>
                </a:solidFill>
                <a:latin typeface="Helvetica Neue Thin"/>
              </a:rPr>
              <a:t>• Demos and QA</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4428467" y="4371975"/>
            <a:ext cx="8065156" cy="5381624"/>
          </a:xfrm>
          <a:prstGeom prst="rect">
            <a:avLst/>
          </a:prstGeom>
        </p:spPr>
      </p:pic>
      <p:sp>
        <p:nvSpPr>
          <p:cNvPr id="4" name="TextBox 3"/>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AMEX MOCA</a:t>
            </a:r>
          </a:p>
        </p:txBody>
      </p:sp>
      <p:sp>
        <p:nvSpPr>
          <p:cNvPr id="5" name="TextBox 4"/>
          <p:cNvSpPr txBox="1"/>
          <p:nvPr/>
        </p:nvSpPr>
        <p:spPr>
          <a:xfrm>
            <a:off x="457200" y="939800"/>
            <a:ext cx="5447030" cy="476250"/>
          </a:xfrm>
          <a:prstGeom prst="rect">
            <a:avLst/>
          </a:prstGeom>
          <a:noFill/>
        </p:spPr>
        <p:txBody>
          <a:bodyPr wrap="none" lIns="0" tIns="0" rIns="0" bIns="0">
            <a:noAutofit/>
          </a:bodyPr>
          <a:lstStyle/>
          <a:p>
            <a:pPr algn="l"/>
            <a:r>
              <a:rPr sz="3000" dirty="0">
                <a:solidFill>
                  <a:srgbClr val="1F1F1F"/>
                </a:solidFill>
                <a:latin typeface="Helvetica Neue Light"/>
              </a:rPr>
              <a:t>MOCA Experience Design Sprint</a:t>
            </a:r>
          </a:p>
        </p:txBody>
      </p:sp>
      <p:sp>
        <p:nvSpPr>
          <p:cNvPr id="6" name="TextBox 5"/>
          <p:cNvSpPr txBox="1"/>
          <p:nvPr/>
        </p:nvSpPr>
        <p:spPr>
          <a:xfrm>
            <a:off x="1269998" y="2151379"/>
            <a:ext cx="7865265" cy="1213611"/>
          </a:xfrm>
          <a:prstGeom prst="rect">
            <a:avLst/>
          </a:prstGeom>
          <a:noFill/>
        </p:spPr>
        <p:txBody>
          <a:bodyPr wrap="square" lIns="0" tIns="0" rIns="0" bIns="0">
            <a:noAutofit/>
          </a:bodyPr>
          <a:lstStyle/>
          <a:p>
            <a:pPr algn="l">
              <a:lnSpc>
                <a:spcPts val="2400"/>
              </a:lnSpc>
            </a:pPr>
            <a:r>
              <a:rPr sz="2000" dirty="0">
                <a:solidFill>
                  <a:srgbClr val="FFFFFF"/>
                </a:solidFill>
                <a:latin typeface="Helvetica Neue Light"/>
              </a:rPr>
              <a:t>What we learned from discovery </a:t>
            </a:r>
          </a:p>
          <a:p>
            <a:pPr algn="l">
              <a:lnSpc>
                <a:spcPts val="2400"/>
              </a:lnSpc>
            </a:pPr>
            <a:r>
              <a:rPr sz="2000" dirty="0">
                <a:solidFill>
                  <a:srgbClr val="FFFFFF"/>
                </a:solidFill>
                <a:latin typeface="Helvetica Neue Thin"/>
              </a:rPr>
              <a:t>Users wanted to import one budget and keep it as a template to build a second budget. Therefore, we built functionality to allow a user to base a new budget on an existing imported budget by duplicating it.</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7850996" y="4268730"/>
            <a:ext cx="3349739" cy="2237625"/>
          </a:xfrm>
          <a:prstGeom prst="rect">
            <a:avLst/>
          </a:prstGeom>
        </p:spPr>
      </p:pic>
      <p:pic>
        <p:nvPicPr>
          <p:cNvPr id="4" name="Picture 2" descr="image.png"/>
          <p:cNvPicPr>
            <a:picLocks noChangeAspect="1"/>
          </p:cNvPicPr>
          <p:nvPr/>
        </p:nvPicPr>
        <p:blipFill>
          <a:blip r:embed="rId4"/>
          <a:stretch>
            <a:fillRect/>
          </a:stretch>
        </p:blipFill>
        <p:spPr>
          <a:xfrm>
            <a:off x="7780591" y="1043435"/>
            <a:ext cx="4455750" cy="2976440"/>
          </a:xfrm>
          <a:prstGeom prst="rect">
            <a:avLst/>
          </a:prstGeom>
        </p:spPr>
      </p:pic>
      <p:pic>
        <p:nvPicPr>
          <p:cNvPr id="5" name="Picture 3" descr="image.png"/>
          <p:cNvPicPr>
            <a:picLocks noChangeAspect="1"/>
          </p:cNvPicPr>
          <p:nvPr/>
        </p:nvPicPr>
        <p:blipFill>
          <a:blip r:embed="rId5"/>
          <a:stretch>
            <a:fillRect/>
          </a:stretch>
        </p:blipFill>
        <p:spPr>
          <a:xfrm>
            <a:off x="638224" y="3055037"/>
            <a:ext cx="7057012" cy="4714083"/>
          </a:xfrm>
          <a:prstGeom prst="rect">
            <a:avLst/>
          </a:prstGeom>
        </p:spPr>
      </p:pic>
      <p:sp>
        <p:nvSpPr>
          <p:cNvPr id="6" name="TextBox 5"/>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AMEX MOCA</a:t>
            </a:r>
          </a:p>
        </p:txBody>
      </p:sp>
      <p:sp>
        <p:nvSpPr>
          <p:cNvPr id="7" name="TextBox 6"/>
          <p:cNvSpPr txBox="1"/>
          <p:nvPr/>
        </p:nvSpPr>
        <p:spPr>
          <a:xfrm>
            <a:off x="1237614" y="1166492"/>
            <a:ext cx="5368101" cy="1213612"/>
          </a:xfrm>
          <a:prstGeom prst="rect">
            <a:avLst/>
          </a:prstGeom>
          <a:noFill/>
        </p:spPr>
        <p:txBody>
          <a:bodyPr wrap="square" lIns="0" tIns="0" rIns="0" bIns="0">
            <a:noAutofit/>
          </a:bodyPr>
          <a:lstStyle/>
          <a:p>
            <a:pPr algn="l">
              <a:lnSpc>
                <a:spcPts val="2400"/>
              </a:lnSpc>
            </a:pPr>
            <a:r>
              <a:rPr sz="2000" dirty="0">
                <a:solidFill>
                  <a:srgbClr val="FFFFFF"/>
                </a:solidFill>
                <a:latin typeface="Helvetica Neue Light"/>
              </a:rPr>
              <a:t>Unexpected Challenge </a:t>
            </a:r>
          </a:p>
          <a:p>
            <a:pPr algn="l">
              <a:lnSpc>
                <a:spcPts val="2400"/>
              </a:lnSpc>
            </a:pPr>
            <a:r>
              <a:rPr sz="2000" dirty="0">
                <a:solidFill>
                  <a:srgbClr val="FFFFFF"/>
                </a:solidFill>
                <a:latin typeface="Helvetica Neue Thin"/>
              </a:rPr>
              <a:t>As a desktop app, we needed to account for other applications that sat on the desktop and factor in how this app would connect to them through APIs</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738187" y="6376987"/>
            <a:ext cx="3692743" cy="2639635"/>
          </a:xfrm>
          <a:prstGeom prst="rect">
            <a:avLst/>
          </a:prstGeom>
        </p:spPr>
      </p:pic>
      <p:pic>
        <p:nvPicPr>
          <p:cNvPr id="4" name="Picture 2" descr="image.png"/>
          <p:cNvPicPr>
            <a:picLocks noChangeAspect="1"/>
          </p:cNvPicPr>
          <p:nvPr/>
        </p:nvPicPr>
        <p:blipFill>
          <a:blip r:embed="rId4"/>
          <a:stretch>
            <a:fillRect/>
          </a:stretch>
        </p:blipFill>
        <p:spPr>
          <a:xfrm>
            <a:off x="671874" y="1824892"/>
            <a:ext cx="5663643" cy="4060325"/>
          </a:xfrm>
          <a:prstGeom prst="rect">
            <a:avLst/>
          </a:prstGeom>
        </p:spPr>
      </p:pic>
      <p:pic>
        <p:nvPicPr>
          <p:cNvPr id="5" name="Picture 3" descr="image.png"/>
          <p:cNvPicPr>
            <a:picLocks noChangeAspect="1"/>
          </p:cNvPicPr>
          <p:nvPr/>
        </p:nvPicPr>
        <p:blipFill>
          <a:blip r:embed="rId5"/>
          <a:stretch>
            <a:fillRect/>
          </a:stretch>
        </p:blipFill>
        <p:spPr>
          <a:xfrm>
            <a:off x="5425126" y="3778893"/>
            <a:ext cx="6956166" cy="5193012"/>
          </a:xfrm>
          <a:prstGeom prst="rect">
            <a:avLst/>
          </a:prstGeom>
        </p:spPr>
      </p:pic>
      <p:sp>
        <p:nvSpPr>
          <p:cNvPr id="6" name="TextBox 5"/>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AMEX MOCA</a:t>
            </a:r>
          </a:p>
        </p:txBody>
      </p:sp>
      <p:sp>
        <p:nvSpPr>
          <p:cNvPr id="7" name="TextBox 6"/>
          <p:cNvSpPr txBox="1"/>
          <p:nvPr/>
        </p:nvSpPr>
        <p:spPr>
          <a:xfrm>
            <a:off x="6985000" y="1433829"/>
            <a:ext cx="5269740" cy="908812"/>
          </a:xfrm>
          <a:prstGeom prst="rect">
            <a:avLst/>
          </a:prstGeom>
          <a:noFill/>
        </p:spPr>
        <p:txBody>
          <a:bodyPr wrap="none" lIns="0" tIns="0" rIns="0" bIns="0">
            <a:noAutofit/>
          </a:bodyPr>
          <a:lstStyle/>
          <a:p>
            <a:pPr algn="l">
              <a:lnSpc>
                <a:spcPts val="2400"/>
              </a:lnSpc>
            </a:pPr>
            <a:r>
              <a:rPr sz="2000" dirty="0">
                <a:solidFill>
                  <a:srgbClr val="FFFFFF"/>
                </a:solidFill>
                <a:latin typeface="Helvetica Neue Light"/>
              </a:rPr>
              <a:t>What we learned from research</a:t>
            </a:r>
          </a:p>
          <a:p>
            <a:pPr algn="l">
              <a:lnSpc>
                <a:spcPts val="2400"/>
              </a:lnSpc>
            </a:pPr>
            <a:r>
              <a:rPr sz="2000" dirty="0">
                <a:solidFill>
                  <a:srgbClr val="FFFFFF"/>
                </a:solidFill>
                <a:latin typeface="Helvetica Neue Thin"/>
              </a:rPr>
              <a:t>• The navigation bar with tool bar scored high</a:t>
            </a:r>
          </a:p>
          <a:p>
            <a:pPr algn="l">
              <a:lnSpc>
                <a:spcPts val="2400"/>
              </a:lnSpc>
            </a:pPr>
            <a:r>
              <a:rPr sz="2000" dirty="0">
                <a:solidFill>
                  <a:srgbClr val="FFFFFF"/>
                </a:solidFill>
                <a:latin typeface="Helvetica Neue Thin"/>
              </a:rPr>
              <a:t>•  Users wanted to see the reset icon as a </a:t>
            </a:r>
          </a:p>
        </p:txBody>
      </p:sp>
      <p:sp>
        <p:nvSpPr>
          <p:cNvPr id="8" name="TextBox 7"/>
          <p:cNvSpPr txBox="1"/>
          <p:nvPr/>
        </p:nvSpPr>
        <p:spPr>
          <a:xfrm>
            <a:off x="7141967" y="2351785"/>
            <a:ext cx="1645148" cy="295655"/>
          </a:xfrm>
          <a:prstGeom prst="rect">
            <a:avLst/>
          </a:prstGeom>
          <a:noFill/>
        </p:spPr>
        <p:txBody>
          <a:bodyPr wrap="none" lIns="0" tIns="0" rIns="0" bIns="0">
            <a:noAutofit/>
          </a:bodyPr>
          <a:lstStyle/>
          <a:p>
            <a:pPr algn="l"/>
            <a:r>
              <a:rPr sz="2000" dirty="0">
                <a:solidFill>
                  <a:srgbClr val="FFFFFF"/>
                </a:solidFill>
                <a:latin typeface="Helvetica Neue Thin"/>
              </a:rPr>
              <a:t>separate tool.</a:t>
            </a:r>
          </a:p>
        </p:txBody>
      </p:sp>
      <p:sp>
        <p:nvSpPr>
          <p:cNvPr id="9" name="TextBox 8"/>
          <p:cNvSpPr txBox="1"/>
          <p:nvPr/>
        </p:nvSpPr>
        <p:spPr>
          <a:xfrm>
            <a:off x="457200" y="939800"/>
            <a:ext cx="4909820" cy="476250"/>
          </a:xfrm>
          <a:prstGeom prst="rect">
            <a:avLst/>
          </a:prstGeom>
          <a:noFill/>
        </p:spPr>
        <p:txBody>
          <a:bodyPr wrap="none" lIns="0" tIns="0" rIns="0" bIns="0">
            <a:noAutofit/>
          </a:bodyPr>
          <a:lstStyle/>
          <a:p>
            <a:pPr algn="l"/>
            <a:r>
              <a:rPr sz="3000" dirty="0">
                <a:solidFill>
                  <a:srgbClr val="1F1F1F"/>
                </a:solidFill>
                <a:latin typeface="Helvetica Neue Light"/>
              </a:rPr>
              <a:t>Plan Builder Design Sprint</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461819" y="1744520"/>
            <a:ext cx="5362705" cy="3681307"/>
          </a:xfrm>
          <a:prstGeom prst="rect">
            <a:avLst/>
          </a:prstGeom>
        </p:spPr>
      </p:pic>
      <p:pic>
        <p:nvPicPr>
          <p:cNvPr id="4" name="Picture 2" descr="image.png"/>
          <p:cNvPicPr>
            <a:picLocks noChangeAspect="1"/>
          </p:cNvPicPr>
          <p:nvPr/>
        </p:nvPicPr>
        <p:blipFill>
          <a:blip r:embed="rId4"/>
          <a:stretch>
            <a:fillRect/>
          </a:stretch>
        </p:blipFill>
        <p:spPr>
          <a:xfrm>
            <a:off x="663575" y="6149975"/>
            <a:ext cx="3690317" cy="2534716"/>
          </a:xfrm>
          <a:prstGeom prst="rect">
            <a:avLst/>
          </a:prstGeom>
        </p:spPr>
      </p:pic>
      <p:pic>
        <p:nvPicPr>
          <p:cNvPr id="5" name="Picture 3" descr="image.png"/>
          <p:cNvPicPr>
            <a:picLocks noChangeAspect="1"/>
          </p:cNvPicPr>
          <p:nvPr/>
        </p:nvPicPr>
        <p:blipFill>
          <a:blip r:embed="rId5"/>
          <a:stretch>
            <a:fillRect/>
          </a:stretch>
        </p:blipFill>
        <p:spPr>
          <a:xfrm>
            <a:off x="4651375" y="3965575"/>
            <a:ext cx="7692961" cy="5127824"/>
          </a:xfrm>
          <a:prstGeom prst="rect">
            <a:avLst/>
          </a:prstGeom>
        </p:spPr>
      </p:pic>
      <p:sp>
        <p:nvSpPr>
          <p:cNvPr id="6" name="TextBox 5"/>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AMEX MOCA</a:t>
            </a:r>
          </a:p>
        </p:txBody>
      </p:sp>
      <p:sp>
        <p:nvSpPr>
          <p:cNvPr id="7" name="TextBox 6"/>
          <p:cNvSpPr txBox="1"/>
          <p:nvPr/>
        </p:nvSpPr>
        <p:spPr>
          <a:xfrm>
            <a:off x="6692901" y="1617979"/>
            <a:ext cx="5498221" cy="604012"/>
          </a:xfrm>
          <a:prstGeom prst="rect">
            <a:avLst/>
          </a:prstGeom>
          <a:noFill/>
        </p:spPr>
        <p:txBody>
          <a:bodyPr wrap="none" lIns="0" tIns="0" rIns="0" bIns="0">
            <a:noAutofit/>
          </a:bodyPr>
          <a:lstStyle/>
          <a:p>
            <a:pPr algn="l">
              <a:lnSpc>
                <a:spcPts val="2400"/>
              </a:lnSpc>
            </a:pPr>
            <a:r>
              <a:rPr sz="2000" dirty="0">
                <a:solidFill>
                  <a:srgbClr val="FFFFFF"/>
                </a:solidFill>
                <a:latin typeface="Helvetica Neue Light"/>
              </a:rPr>
              <a:t>What we learned from research</a:t>
            </a:r>
          </a:p>
          <a:p>
            <a:pPr algn="l">
              <a:lnSpc>
                <a:spcPts val="2400"/>
              </a:lnSpc>
            </a:pPr>
            <a:r>
              <a:rPr sz="2000" dirty="0">
                <a:solidFill>
                  <a:srgbClr val="FFFFFF"/>
                </a:solidFill>
                <a:latin typeface="Helvetica Neue Thin"/>
              </a:rPr>
              <a:t>•  Short term vs. long term was seen as a vital </a:t>
            </a:r>
          </a:p>
        </p:txBody>
      </p:sp>
      <p:sp>
        <p:nvSpPr>
          <p:cNvPr id="8" name="TextBox 7"/>
          <p:cNvSpPr txBox="1"/>
          <p:nvPr/>
        </p:nvSpPr>
        <p:spPr>
          <a:xfrm>
            <a:off x="6692901" y="2231135"/>
            <a:ext cx="5282081" cy="600455"/>
          </a:xfrm>
          <a:prstGeom prst="rect">
            <a:avLst/>
          </a:prstGeom>
          <a:noFill/>
        </p:spPr>
        <p:txBody>
          <a:bodyPr wrap="none" lIns="0" tIns="0" rIns="0" bIns="0">
            <a:noAutofit/>
          </a:bodyPr>
          <a:lstStyle/>
          <a:p>
            <a:pPr marL="156966" algn="l">
              <a:lnSpc>
                <a:spcPts val="2400"/>
              </a:lnSpc>
            </a:pPr>
            <a:r>
              <a:rPr sz="2000" dirty="0">
                <a:solidFill>
                  <a:srgbClr val="FFFFFF"/>
                </a:solidFill>
                <a:latin typeface="Helvetica Neue Thin"/>
              </a:rPr>
              <a:t>dynamic</a:t>
            </a:r>
          </a:p>
          <a:p>
            <a:pPr algn="l">
              <a:lnSpc>
                <a:spcPts val="2400"/>
              </a:lnSpc>
            </a:pPr>
            <a:r>
              <a:rPr sz="2000" dirty="0">
                <a:solidFill>
                  <a:srgbClr val="FFFFFF"/>
                </a:solidFill>
                <a:latin typeface="Helvetica Neue Thin"/>
              </a:rPr>
              <a:t>•  Selecting a scenario to optimize tested well</a:t>
            </a:r>
          </a:p>
        </p:txBody>
      </p:sp>
      <p:sp>
        <p:nvSpPr>
          <p:cNvPr id="9" name="TextBox 8"/>
          <p:cNvSpPr txBox="1"/>
          <p:nvPr/>
        </p:nvSpPr>
        <p:spPr>
          <a:xfrm>
            <a:off x="457200" y="939800"/>
            <a:ext cx="6163309" cy="476250"/>
          </a:xfrm>
          <a:prstGeom prst="rect">
            <a:avLst/>
          </a:prstGeom>
          <a:noFill/>
        </p:spPr>
        <p:txBody>
          <a:bodyPr wrap="none" lIns="0" tIns="0" rIns="0" bIns="0">
            <a:noAutofit/>
          </a:bodyPr>
          <a:lstStyle/>
          <a:p>
            <a:pPr algn="l"/>
            <a:r>
              <a:rPr sz="3000" dirty="0">
                <a:solidFill>
                  <a:srgbClr val="1F1F1F"/>
                </a:solidFill>
                <a:latin typeface="Helvetica Neue Light"/>
              </a:rPr>
              <a:t>Scenario Comparison Design Sprint</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1663700" y="1346450"/>
            <a:ext cx="6971537" cy="711555"/>
          </a:xfrm>
          <a:prstGeom prst="rect">
            <a:avLst/>
          </a:prstGeom>
          <a:noFill/>
        </p:spPr>
        <p:txBody>
          <a:bodyPr wrap="none" lIns="0" tIns="0" rIns="0" bIns="0">
            <a:noAutofit/>
          </a:bodyPr>
          <a:lstStyle/>
          <a:p>
            <a:pPr algn="l"/>
            <a:r>
              <a:rPr sz="4600" dirty="0">
                <a:solidFill>
                  <a:srgbClr val="FFFFFF"/>
                </a:solidFill>
                <a:latin typeface="Helvetica Neue Light"/>
              </a:rPr>
              <a:t>Budget Plan Construction</a:t>
            </a:r>
          </a:p>
        </p:txBody>
      </p:sp>
      <p:sp>
        <p:nvSpPr>
          <p:cNvPr id="4" name="TextBox 3"/>
          <p:cNvSpPr txBox="1"/>
          <p:nvPr/>
        </p:nvSpPr>
        <p:spPr>
          <a:xfrm>
            <a:off x="1663700" y="4275959"/>
            <a:ext cx="8069401" cy="2361665"/>
          </a:xfrm>
          <a:prstGeom prst="rect">
            <a:avLst/>
          </a:prstGeom>
          <a:noFill/>
        </p:spPr>
        <p:txBody>
          <a:bodyPr wrap="square" lIns="0" tIns="0" rIns="0" bIns="0">
            <a:noAutofit/>
          </a:bodyPr>
          <a:lstStyle/>
          <a:p>
            <a:pPr algn="l">
              <a:lnSpc>
                <a:spcPts val="3800"/>
              </a:lnSpc>
            </a:pPr>
            <a:r>
              <a:rPr sz="2500" dirty="0">
                <a:solidFill>
                  <a:srgbClr val="FFFFFF"/>
                </a:solidFill>
                <a:latin typeface="Helvetica Neue Thin"/>
              </a:rPr>
              <a:t>Users want to compare different budget scenarios, and determine, through data visualizations, the differences between each. For a deeper understanding of their allocations, users want to modulate each channel and product that make up each channel</a:t>
            </a:r>
            <a:r>
              <a:rPr sz="2600" dirty="0">
                <a:solidFill>
                  <a:srgbClr val="FFFFFF"/>
                </a:solidFill>
                <a:latin typeface="Helvetica Neue Thin"/>
              </a:rPr>
              <a:t>.</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5807075" y="765175"/>
            <a:ext cx="6079993" cy="3785809"/>
          </a:xfrm>
          <a:prstGeom prst="rect">
            <a:avLst/>
          </a:prstGeom>
        </p:spPr>
      </p:pic>
      <p:pic>
        <p:nvPicPr>
          <p:cNvPr id="4" name="Picture 2" descr="image.png"/>
          <p:cNvPicPr>
            <a:picLocks noChangeAspect="1"/>
          </p:cNvPicPr>
          <p:nvPr/>
        </p:nvPicPr>
        <p:blipFill>
          <a:blip r:embed="rId4"/>
          <a:stretch>
            <a:fillRect/>
          </a:stretch>
        </p:blipFill>
        <p:spPr>
          <a:xfrm>
            <a:off x="4137140" y="3794267"/>
            <a:ext cx="8177589" cy="4950168"/>
          </a:xfrm>
          <a:prstGeom prst="rect">
            <a:avLst/>
          </a:prstGeom>
        </p:spPr>
      </p:pic>
      <p:sp>
        <p:nvSpPr>
          <p:cNvPr id="5" name="TextBox 4"/>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AMEX MOCA</a:t>
            </a:r>
          </a:p>
        </p:txBody>
      </p:sp>
      <p:sp>
        <p:nvSpPr>
          <p:cNvPr id="6" name="TextBox 5"/>
          <p:cNvSpPr txBox="1"/>
          <p:nvPr/>
        </p:nvSpPr>
        <p:spPr>
          <a:xfrm>
            <a:off x="850900" y="6971283"/>
            <a:ext cx="3023551" cy="247497"/>
          </a:xfrm>
          <a:prstGeom prst="rect">
            <a:avLst/>
          </a:prstGeom>
          <a:noFill/>
        </p:spPr>
        <p:txBody>
          <a:bodyPr wrap="none" lIns="0" tIns="0" rIns="0" bIns="0">
            <a:noAutofit/>
          </a:bodyPr>
          <a:lstStyle/>
          <a:p>
            <a:pPr algn="l"/>
            <a:r>
              <a:rPr sz="1600" dirty="0">
                <a:solidFill>
                  <a:srgbClr val="FFFFFF"/>
                </a:solidFill>
                <a:latin typeface="Helvetica Neue Light"/>
              </a:rPr>
              <a:t>What we learned from research</a:t>
            </a:r>
          </a:p>
        </p:txBody>
      </p:sp>
      <p:sp>
        <p:nvSpPr>
          <p:cNvPr id="7" name="TextBox 6"/>
          <p:cNvSpPr txBox="1"/>
          <p:nvPr/>
        </p:nvSpPr>
        <p:spPr>
          <a:xfrm>
            <a:off x="850900" y="7255763"/>
            <a:ext cx="4166870" cy="1385417"/>
          </a:xfrm>
          <a:prstGeom prst="rect">
            <a:avLst/>
          </a:prstGeom>
          <a:noFill/>
        </p:spPr>
        <p:txBody>
          <a:bodyPr wrap="square" lIns="0" tIns="0" rIns="0" bIns="0">
            <a:noAutofit/>
          </a:bodyPr>
          <a:lstStyle/>
          <a:p>
            <a:pPr algn="l">
              <a:lnSpc>
                <a:spcPts val="2800"/>
              </a:lnSpc>
            </a:pPr>
            <a:r>
              <a:rPr sz="1600" dirty="0">
                <a:solidFill>
                  <a:srgbClr val="FFFFFF"/>
                </a:solidFill>
                <a:latin typeface="Helvetica Neue Light"/>
              </a:rPr>
              <a:t> Through our discussion, we learned that because they only use the application once every 6-12 months, many users needed more structured guidance and hand-holding.</a:t>
            </a:r>
          </a:p>
        </p:txBody>
      </p:sp>
      <p:sp>
        <p:nvSpPr>
          <p:cNvPr id="11" name="TextBox 10"/>
          <p:cNvSpPr txBox="1"/>
          <p:nvPr/>
        </p:nvSpPr>
        <p:spPr>
          <a:xfrm>
            <a:off x="457200" y="939800"/>
            <a:ext cx="3835400" cy="476250"/>
          </a:xfrm>
          <a:prstGeom prst="rect">
            <a:avLst/>
          </a:prstGeom>
          <a:noFill/>
        </p:spPr>
        <p:txBody>
          <a:bodyPr wrap="none" lIns="0" tIns="0" rIns="0" bIns="0">
            <a:noAutofit/>
          </a:bodyPr>
          <a:lstStyle/>
          <a:p>
            <a:pPr algn="l"/>
            <a:r>
              <a:rPr sz="3000" dirty="0">
                <a:solidFill>
                  <a:srgbClr val="1F1F1F"/>
                </a:solidFill>
                <a:latin typeface="Helvetica Neue Light"/>
              </a:rPr>
              <a:t>Wizard Design Sprint</a:t>
            </a:r>
          </a:p>
        </p:txBody>
      </p:sp>
      <p:sp>
        <p:nvSpPr>
          <p:cNvPr id="12" name="TextBox 11"/>
          <p:cNvSpPr txBox="1"/>
          <p:nvPr/>
        </p:nvSpPr>
        <p:spPr>
          <a:xfrm>
            <a:off x="495300" y="1795779"/>
            <a:ext cx="4756432" cy="1731771"/>
          </a:xfrm>
          <a:prstGeom prst="rect">
            <a:avLst/>
          </a:prstGeom>
          <a:noFill/>
        </p:spPr>
        <p:txBody>
          <a:bodyPr wrap="square" lIns="0" tIns="0" rIns="0" bIns="0">
            <a:noAutofit/>
          </a:bodyPr>
          <a:lstStyle/>
          <a:p>
            <a:pPr algn="l">
              <a:lnSpc>
                <a:spcPts val="2800"/>
              </a:lnSpc>
            </a:pPr>
            <a:r>
              <a:rPr sz="2000" dirty="0">
                <a:solidFill>
                  <a:srgbClr val="000000"/>
                </a:solidFill>
                <a:latin typeface="Helvetica Neue Light"/>
              </a:rPr>
              <a:t>As a first-time user experience, users want a friction-free way to get started. Users needed a concise and efficient Wizard to start the process, entering budget details and time frame.</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2982959" y="2746374"/>
            <a:ext cx="9129665" cy="7007225"/>
          </a:xfrm>
          <a:prstGeom prst="rect">
            <a:avLst/>
          </a:prstGeom>
        </p:spPr>
      </p:pic>
      <p:sp>
        <p:nvSpPr>
          <p:cNvPr id="4" name="TextBox 3"/>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AMEX MOCA</a:t>
            </a:r>
          </a:p>
        </p:txBody>
      </p:sp>
      <p:sp>
        <p:nvSpPr>
          <p:cNvPr id="5" name="TextBox 4"/>
          <p:cNvSpPr txBox="1"/>
          <p:nvPr/>
        </p:nvSpPr>
        <p:spPr>
          <a:xfrm>
            <a:off x="7327901" y="900682"/>
            <a:ext cx="4878276" cy="1161897"/>
          </a:xfrm>
          <a:prstGeom prst="rect">
            <a:avLst/>
          </a:prstGeom>
          <a:noFill/>
        </p:spPr>
        <p:txBody>
          <a:bodyPr wrap="square" lIns="0" tIns="0" rIns="0" bIns="0">
            <a:noAutofit/>
          </a:bodyPr>
          <a:lstStyle/>
          <a:p>
            <a:pPr algn="l">
              <a:lnSpc>
                <a:spcPts val="2400"/>
              </a:lnSpc>
            </a:pPr>
            <a:r>
              <a:rPr sz="1600" dirty="0">
                <a:solidFill>
                  <a:srgbClr val="FFFFFF"/>
                </a:solidFill>
                <a:latin typeface="Helvetica Neue Light"/>
              </a:rPr>
              <a:t>What we learned from research</a:t>
            </a:r>
          </a:p>
          <a:p>
            <a:pPr algn="l">
              <a:lnSpc>
                <a:spcPts val="2400"/>
              </a:lnSpc>
            </a:pPr>
            <a:r>
              <a:rPr sz="1600" dirty="0">
                <a:solidFill>
                  <a:srgbClr val="FFFFFF"/>
                </a:solidFill>
                <a:latin typeface="Helvetica Neue Light"/>
              </a:rPr>
              <a:t>Users want to be able to allocate, down to the product line OR channel, in order to fine-tune their allocations to see effectiveness.</a:t>
            </a:r>
          </a:p>
        </p:txBody>
      </p:sp>
      <p:sp>
        <p:nvSpPr>
          <p:cNvPr id="6" name="TextBox 5"/>
          <p:cNvSpPr txBox="1"/>
          <p:nvPr/>
        </p:nvSpPr>
        <p:spPr>
          <a:xfrm>
            <a:off x="457200" y="939800"/>
            <a:ext cx="4909820" cy="476250"/>
          </a:xfrm>
          <a:prstGeom prst="rect">
            <a:avLst/>
          </a:prstGeom>
          <a:noFill/>
        </p:spPr>
        <p:txBody>
          <a:bodyPr wrap="none" lIns="0" tIns="0" rIns="0" bIns="0">
            <a:noAutofit/>
          </a:bodyPr>
          <a:lstStyle/>
          <a:p>
            <a:pPr algn="l"/>
            <a:r>
              <a:rPr sz="3000" dirty="0">
                <a:solidFill>
                  <a:srgbClr val="1F1F1F"/>
                </a:solidFill>
                <a:latin typeface="Helvetica Neue Light"/>
              </a:rPr>
              <a:t>Plan Builder Design Sprint</a:t>
            </a:r>
          </a:p>
        </p:txBody>
      </p:sp>
      <p:sp>
        <p:nvSpPr>
          <p:cNvPr id="7" name="TextBox 6"/>
          <p:cNvSpPr txBox="1"/>
          <p:nvPr/>
        </p:nvSpPr>
        <p:spPr>
          <a:xfrm>
            <a:off x="647700" y="7911083"/>
            <a:ext cx="3491088" cy="857097"/>
          </a:xfrm>
          <a:prstGeom prst="rect">
            <a:avLst/>
          </a:prstGeom>
          <a:noFill/>
        </p:spPr>
        <p:txBody>
          <a:bodyPr wrap="square" lIns="0" tIns="0" rIns="0" bIns="0">
            <a:noAutofit/>
          </a:bodyPr>
          <a:lstStyle/>
          <a:p>
            <a:pPr algn="l">
              <a:lnSpc>
                <a:spcPts val="2400"/>
              </a:lnSpc>
            </a:pPr>
            <a:r>
              <a:rPr sz="1600" dirty="0">
                <a:solidFill>
                  <a:srgbClr val="FFFFFF"/>
                </a:solidFill>
                <a:latin typeface="Helvetica Neue Light"/>
              </a:rPr>
              <a:t>What we learned from research</a:t>
            </a:r>
          </a:p>
          <a:p>
            <a:pPr algn="l">
              <a:lnSpc>
                <a:spcPts val="2400"/>
              </a:lnSpc>
            </a:pPr>
            <a:r>
              <a:rPr sz="1600" dirty="0">
                <a:solidFill>
                  <a:srgbClr val="FFFFFF"/>
                </a:solidFill>
                <a:latin typeface="Helvetica Neue Light"/>
              </a:rPr>
              <a:t>Exporting, duplicating and saving functionality seen as vital feedback</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2492375" y="1920875"/>
            <a:ext cx="10174158" cy="7832724"/>
          </a:xfrm>
          <a:prstGeom prst="rect">
            <a:avLst/>
          </a:prstGeom>
        </p:spPr>
      </p:pic>
      <p:sp>
        <p:nvSpPr>
          <p:cNvPr id="4" name="TextBox 3"/>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AMEX MOCA</a:t>
            </a:r>
          </a:p>
        </p:txBody>
      </p:sp>
      <p:sp>
        <p:nvSpPr>
          <p:cNvPr id="5" name="TextBox 4"/>
          <p:cNvSpPr txBox="1"/>
          <p:nvPr/>
        </p:nvSpPr>
        <p:spPr>
          <a:xfrm>
            <a:off x="774700" y="6856983"/>
            <a:ext cx="3023551" cy="247497"/>
          </a:xfrm>
          <a:prstGeom prst="rect">
            <a:avLst/>
          </a:prstGeom>
          <a:noFill/>
        </p:spPr>
        <p:txBody>
          <a:bodyPr wrap="none" lIns="0" tIns="0" rIns="0" bIns="0">
            <a:noAutofit/>
          </a:bodyPr>
          <a:lstStyle/>
          <a:p>
            <a:pPr algn="l"/>
            <a:r>
              <a:rPr sz="1600" dirty="0">
                <a:solidFill>
                  <a:srgbClr val="FFFFFF"/>
                </a:solidFill>
                <a:latin typeface="Helvetica Neue Light"/>
              </a:rPr>
              <a:t>What we learned from research</a:t>
            </a:r>
          </a:p>
        </p:txBody>
      </p:sp>
      <p:sp>
        <p:nvSpPr>
          <p:cNvPr id="6" name="TextBox 5"/>
          <p:cNvSpPr txBox="1"/>
          <p:nvPr/>
        </p:nvSpPr>
        <p:spPr>
          <a:xfrm>
            <a:off x="774700" y="7144307"/>
            <a:ext cx="3079593" cy="1730044"/>
          </a:xfrm>
          <a:prstGeom prst="rect">
            <a:avLst/>
          </a:prstGeom>
          <a:noFill/>
        </p:spPr>
        <p:txBody>
          <a:bodyPr wrap="square" lIns="0" tIns="0" rIns="0" bIns="0">
            <a:noAutofit/>
          </a:bodyPr>
          <a:lstStyle/>
          <a:p>
            <a:pPr marL="125573" indent="-125573" algn="l">
              <a:lnSpc>
                <a:spcPts val="2800"/>
              </a:lnSpc>
            </a:pPr>
            <a:r>
              <a:rPr sz="1600" dirty="0">
                <a:solidFill>
                  <a:srgbClr val="FFFFFF"/>
                </a:solidFill>
                <a:latin typeface="Helvetica Neue Thin"/>
              </a:rPr>
              <a:t>•	They like to see the data visualizations comparing plans and the optimization features to help them finish their planning by offering the “best” plan.</a:t>
            </a:r>
          </a:p>
        </p:txBody>
      </p:sp>
      <p:sp>
        <p:nvSpPr>
          <p:cNvPr id="11" name="TextBox 10"/>
          <p:cNvSpPr txBox="1"/>
          <p:nvPr/>
        </p:nvSpPr>
        <p:spPr>
          <a:xfrm>
            <a:off x="457200" y="939800"/>
            <a:ext cx="4909820" cy="476250"/>
          </a:xfrm>
          <a:prstGeom prst="rect">
            <a:avLst/>
          </a:prstGeom>
          <a:noFill/>
        </p:spPr>
        <p:txBody>
          <a:bodyPr wrap="none" lIns="0" tIns="0" rIns="0" bIns="0">
            <a:noAutofit/>
          </a:bodyPr>
          <a:lstStyle/>
          <a:p>
            <a:pPr algn="l"/>
            <a:r>
              <a:rPr sz="3000" dirty="0">
                <a:solidFill>
                  <a:srgbClr val="1F1F1F"/>
                </a:solidFill>
                <a:latin typeface="Helvetica Neue Light"/>
              </a:rPr>
              <a:t>Plan Builder Design Sprint</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460375" y="1743075"/>
            <a:ext cx="11500181" cy="7452117"/>
          </a:xfrm>
          <a:prstGeom prst="rect">
            <a:avLst/>
          </a:prstGeom>
        </p:spPr>
      </p:pic>
      <p:sp>
        <p:nvSpPr>
          <p:cNvPr id="4" name="TextBox 3"/>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AMEX MOCA</a:t>
            </a:r>
          </a:p>
        </p:txBody>
      </p:sp>
      <p:sp>
        <p:nvSpPr>
          <p:cNvPr id="5" name="TextBox 4"/>
          <p:cNvSpPr txBox="1"/>
          <p:nvPr/>
        </p:nvSpPr>
        <p:spPr>
          <a:xfrm>
            <a:off x="457200" y="939800"/>
            <a:ext cx="6163309" cy="476250"/>
          </a:xfrm>
          <a:prstGeom prst="rect">
            <a:avLst/>
          </a:prstGeom>
          <a:noFill/>
        </p:spPr>
        <p:txBody>
          <a:bodyPr wrap="none" lIns="0" tIns="0" rIns="0" bIns="0">
            <a:noAutofit/>
          </a:bodyPr>
          <a:lstStyle/>
          <a:p>
            <a:pPr algn="l"/>
            <a:r>
              <a:rPr sz="3000" dirty="0">
                <a:solidFill>
                  <a:srgbClr val="1F1F1F"/>
                </a:solidFill>
                <a:latin typeface="Helvetica Neue Light"/>
              </a:rPr>
              <a:t>Scenario Comparison Design Sprint</a:t>
            </a:r>
          </a:p>
        </p:txBody>
      </p:sp>
      <p:sp>
        <p:nvSpPr>
          <p:cNvPr id="6" name="TextBox 5"/>
          <p:cNvSpPr txBox="1"/>
          <p:nvPr/>
        </p:nvSpPr>
        <p:spPr>
          <a:xfrm>
            <a:off x="6870701" y="900682"/>
            <a:ext cx="4081983" cy="544169"/>
          </a:xfrm>
          <a:prstGeom prst="rect">
            <a:avLst/>
          </a:prstGeom>
          <a:noFill/>
        </p:spPr>
        <p:txBody>
          <a:bodyPr wrap="none" lIns="0" tIns="0" rIns="0" bIns="0">
            <a:noAutofit/>
          </a:bodyPr>
          <a:lstStyle/>
          <a:p>
            <a:pPr algn="l">
              <a:lnSpc>
                <a:spcPts val="2400"/>
              </a:lnSpc>
            </a:pPr>
            <a:r>
              <a:rPr sz="1600" dirty="0">
                <a:solidFill>
                  <a:srgbClr val="FFFFFF"/>
                </a:solidFill>
                <a:latin typeface="Helvetica Neue Light"/>
              </a:rPr>
              <a:t>What we learned from research</a:t>
            </a:r>
          </a:p>
          <a:p>
            <a:pPr algn="l">
              <a:lnSpc>
                <a:spcPts val="2400"/>
              </a:lnSpc>
            </a:pPr>
            <a:r>
              <a:rPr sz="1600" dirty="0">
                <a:solidFill>
                  <a:srgbClr val="FFFFFF"/>
                </a:solidFill>
                <a:latin typeface="Helvetica Neue Thin"/>
              </a:rPr>
              <a:t>• Channel breakdown seen as vital, and a </a:t>
            </a:r>
          </a:p>
        </p:txBody>
      </p:sp>
      <p:sp>
        <p:nvSpPr>
          <p:cNvPr id="7" name="TextBox 6"/>
          <p:cNvSpPr txBox="1"/>
          <p:nvPr/>
        </p:nvSpPr>
        <p:spPr>
          <a:xfrm>
            <a:off x="7099301" y="1513127"/>
            <a:ext cx="1408135" cy="236524"/>
          </a:xfrm>
          <a:prstGeom prst="rect">
            <a:avLst/>
          </a:prstGeom>
          <a:noFill/>
        </p:spPr>
        <p:txBody>
          <a:bodyPr wrap="none" lIns="0" tIns="0" rIns="0" bIns="0">
            <a:noAutofit/>
          </a:bodyPr>
          <a:lstStyle/>
          <a:p>
            <a:pPr algn="l"/>
            <a:r>
              <a:rPr sz="1600" dirty="0">
                <a:solidFill>
                  <a:srgbClr val="FFFFFF"/>
                </a:solidFill>
                <a:latin typeface="Helvetica Neue Thin"/>
              </a:rPr>
              <a:t>game changer</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574675" y="1857374"/>
            <a:ext cx="10411712" cy="7315963"/>
          </a:xfrm>
          <a:prstGeom prst="rect">
            <a:avLst/>
          </a:prstGeom>
        </p:spPr>
      </p:pic>
      <p:sp>
        <p:nvSpPr>
          <p:cNvPr id="4" name="TextBox 3"/>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AMEX MOCA</a:t>
            </a:r>
          </a:p>
        </p:txBody>
      </p:sp>
      <p:sp>
        <p:nvSpPr>
          <p:cNvPr id="5" name="TextBox 4"/>
          <p:cNvSpPr txBox="1"/>
          <p:nvPr/>
        </p:nvSpPr>
        <p:spPr>
          <a:xfrm>
            <a:off x="457200" y="939800"/>
            <a:ext cx="6163309" cy="476250"/>
          </a:xfrm>
          <a:prstGeom prst="rect">
            <a:avLst/>
          </a:prstGeom>
          <a:noFill/>
        </p:spPr>
        <p:txBody>
          <a:bodyPr wrap="none" lIns="0" tIns="0" rIns="0" bIns="0">
            <a:noAutofit/>
          </a:bodyPr>
          <a:lstStyle/>
          <a:p>
            <a:pPr algn="l"/>
            <a:r>
              <a:rPr sz="3000" dirty="0">
                <a:solidFill>
                  <a:srgbClr val="1F1F1F"/>
                </a:solidFill>
                <a:latin typeface="Helvetica Neue Light"/>
              </a:rPr>
              <a:t>Scenario Comparison Design Sprint</a:t>
            </a:r>
          </a:p>
        </p:txBody>
      </p:sp>
      <p:sp>
        <p:nvSpPr>
          <p:cNvPr id="6" name="TextBox 5"/>
          <p:cNvSpPr txBox="1"/>
          <p:nvPr/>
        </p:nvSpPr>
        <p:spPr>
          <a:xfrm>
            <a:off x="7416800" y="735582"/>
            <a:ext cx="3023553" cy="247497"/>
          </a:xfrm>
          <a:prstGeom prst="rect">
            <a:avLst/>
          </a:prstGeom>
          <a:noFill/>
        </p:spPr>
        <p:txBody>
          <a:bodyPr wrap="none" lIns="0" tIns="0" rIns="0" bIns="0">
            <a:noAutofit/>
          </a:bodyPr>
          <a:lstStyle/>
          <a:p>
            <a:pPr algn="l"/>
            <a:r>
              <a:rPr sz="1600" dirty="0">
                <a:solidFill>
                  <a:srgbClr val="FFFFFF"/>
                </a:solidFill>
                <a:latin typeface="Helvetica Neue Light"/>
              </a:rPr>
              <a:t>What we learned from research</a:t>
            </a:r>
          </a:p>
        </p:txBody>
      </p:sp>
      <p:sp>
        <p:nvSpPr>
          <p:cNvPr id="7" name="TextBox 6"/>
          <p:cNvSpPr txBox="1"/>
          <p:nvPr/>
        </p:nvSpPr>
        <p:spPr>
          <a:xfrm>
            <a:off x="7416800" y="1094027"/>
            <a:ext cx="4788630" cy="236524"/>
          </a:xfrm>
          <a:prstGeom prst="rect">
            <a:avLst/>
          </a:prstGeom>
          <a:noFill/>
        </p:spPr>
        <p:txBody>
          <a:bodyPr wrap="none" lIns="0" tIns="0" rIns="0" bIns="0">
            <a:noAutofit/>
          </a:bodyPr>
          <a:lstStyle/>
          <a:p>
            <a:pPr algn="l"/>
            <a:r>
              <a:rPr sz="1600" dirty="0">
                <a:solidFill>
                  <a:srgbClr val="FFFFFF"/>
                </a:solidFill>
                <a:latin typeface="Helvetica Neue Thin"/>
              </a:rPr>
              <a:t>• Toggling between chart types was seen as useful</a:t>
            </a:r>
          </a:p>
        </p:txBody>
      </p:sp>
      <p:sp>
        <p:nvSpPr>
          <p:cNvPr id="8" name="TextBox 7"/>
          <p:cNvSpPr txBox="1"/>
          <p:nvPr/>
        </p:nvSpPr>
        <p:spPr>
          <a:xfrm>
            <a:off x="7416800" y="1378507"/>
            <a:ext cx="4830980" cy="663244"/>
          </a:xfrm>
          <a:prstGeom prst="rect">
            <a:avLst/>
          </a:prstGeom>
          <a:noFill/>
        </p:spPr>
        <p:txBody>
          <a:bodyPr wrap="square" lIns="0" tIns="0" rIns="0" bIns="0">
            <a:noAutofit/>
          </a:bodyPr>
          <a:lstStyle/>
          <a:p>
            <a:pPr marL="228600" indent="-228600" algn="l">
              <a:lnSpc>
                <a:spcPts val="2800"/>
              </a:lnSpc>
            </a:pPr>
            <a:r>
              <a:rPr sz="1600" dirty="0">
                <a:solidFill>
                  <a:srgbClr val="FFFFFF"/>
                </a:solidFill>
                <a:latin typeface="Helvetica Neue Thin"/>
              </a:rPr>
              <a:t>•	Visualizing scenarios seen as a vital aspect of the tool, with the correct data metrics</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13" name="TextBox 12"/>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Results   AMEX MOCA</a:t>
            </a:r>
          </a:p>
        </p:txBody>
      </p:sp>
      <p:sp>
        <p:nvSpPr>
          <p:cNvPr id="14" name="TextBox 13"/>
          <p:cNvSpPr txBox="1"/>
          <p:nvPr/>
        </p:nvSpPr>
        <p:spPr>
          <a:xfrm>
            <a:off x="457200" y="939800"/>
            <a:ext cx="4014469" cy="476250"/>
          </a:xfrm>
          <a:prstGeom prst="rect">
            <a:avLst/>
          </a:prstGeom>
          <a:noFill/>
        </p:spPr>
        <p:txBody>
          <a:bodyPr wrap="none" lIns="0" tIns="0" rIns="0" bIns="0">
            <a:noAutofit/>
          </a:bodyPr>
          <a:lstStyle/>
          <a:p>
            <a:pPr algn="l"/>
            <a:r>
              <a:rPr sz="3000" dirty="0">
                <a:solidFill>
                  <a:srgbClr val="1F1F1F"/>
                </a:solidFill>
                <a:latin typeface="Helvetica Neue Light"/>
              </a:rPr>
              <a:t>Results of the design</a:t>
            </a:r>
          </a:p>
        </p:txBody>
      </p:sp>
      <p:sp>
        <p:nvSpPr>
          <p:cNvPr id="15" name="TextBox 14"/>
          <p:cNvSpPr txBox="1"/>
          <p:nvPr/>
        </p:nvSpPr>
        <p:spPr>
          <a:xfrm>
            <a:off x="762000" y="1905000"/>
            <a:ext cx="3683000" cy="2540000"/>
          </a:xfrm>
          <a:prstGeom prst="rect">
            <a:avLst/>
          </a:prstGeom>
          <a:noFill/>
        </p:spPr>
        <p:txBody>
          <a:bodyPr wrap="square" lIns="0" tIns="0" rIns="0" bIns="0">
            <a:noAutofit/>
          </a:bodyPr>
          <a:lstStyle/>
          <a:p>
            <a:r>
              <a:rPr sz="1800">
                <a:solidFill>
                  <a:srgbClr val="1F1F1F"/>
                </a:solidFill>
                <a:latin typeface="Helvetica Neue Light"/>
              </a:rPr>
              <a:t>Increased approval ratings</a:t>
            </a:r>
          </a:p>
          <a:p>
            <a:pPr>
              <a:spcBef>
                <a:spcPts val="600"/>
              </a:spcBef>
            </a:pPr>
            <a:r>
              <a:rPr sz="6400">
                <a:solidFill>
                  <a:srgbClr val="1059FF"/>
                </a:solidFill>
                <a:latin typeface="Helvetica Neue Light"/>
              </a:rPr>
              <a:t>88%</a:t>
            </a:r>
          </a:p>
          <a:p>
            <a:pPr>
              <a:spcBef>
                <a:spcPts val="400"/>
              </a:spcBef>
            </a:pPr>
            <a:r>
              <a:rPr sz="1700">
                <a:solidFill>
                  <a:srgbClr val="1F1F1F"/>
                </a:solidFill>
                <a:latin typeface="Helvetica Neue Light"/>
              </a:rPr>
              <a:t>Approval rating from internal business partners</a:t>
            </a:r>
          </a:p>
        </p:txBody>
      </p:sp>
      <p:sp>
        <p:nvSpPr>
          <p:cNvPr id="16" name="TextBox 15"/>
          <p:cNvSpPr txBox="1"/>
          <p:nvPr/>
        </p:nvSpPr>
        <p:spPr>
          <a:xfrm>
            <a:off x="4826000" y="1905000"/>
            <a:ext cx="3683000" cy="2540000"/>
          </a:xfrm>
          <a:prstGeom prst="rect">
            <a:avLst/>
          </a:prstGeom>
          <a:noFill/>
        </p:spPr>
        <p:txBody>
          <a:bodyPr wrap="square" lIns="0" tIns="0" rIns="0" bIns="0">
            <a:noAutofit/>
          </a:bodyPr>
          <a:lstStyle/>
          <a:p>
            <a:r>
              <a:rPr sz="1800">
                <a:solidFill>
                  <a:srgbClr val="1F1F1F"/>
                </a:solidFill>
                <a:latin typeface="Helvetica Neue Light"/>
              </a:rPr>
              <a:t>Lower submission drop-off</a:t>
            </a:r>
          </a:p>
          <a:p>
            <a:pPr>
              <a:spcBef>
                <a:spcPts val="600"/>
              </a:spcBef>
            </a:pPr>
            <a:r>
              <a:rPr sz="6400">
                <a:solidFill>
                  <a:srgbClr val="098791"/>
                </a:solidFill>
                <a:latin typeface="Helvetica Neue Light"/>
              </a:rPr>
              <a:t>3.4%</a:t>
            </a:r>
          </a:p>
          <a:p>
            <a:pPr>
              <a:spcBef>
                <a:spcPts val="400"/>
              </a:spcBef>
            </a:pPr>
            <a:r>
              <a:rPr sz="1700">
                <a:solidFill>
                  <a:srgbClr val="1F1F1F"/>
                </a:solidFill>
                <a:latin typeface="Helvetica Neue Light"/>
              </a:rPr>
              <a:t>Drop-off rate on the new budget tool</a:t>
            </a:r>
          </a:p>
        </p:txBody>
      </p:sp>
      <p:sp>
        <p:nvSpPr>
          <p:cNvPr id="17" name="TextBox 16"/>
          <p:cNvSpPr txBox="1"/>
          <p:nvPr/>
        </p:nvSpPr>
        <p:spPr>
          <a:xfrm>
            <a:off x="8890000" y="1905000"/>
            <a:ext cx="3683000" cy="2540000"/>
          </a:xfrm>
          <a:prstGeom prst="rect">
            <a:avLst/>
          </a:prstGeom>
          <a:noFill/>
        </p:spPr>
        <p:txBody>
          <a:bodyPr wrap="square" lIns="0" tIns="0" rIns="0" bIns="0">
            <a:noAutofit/>
          </a:bodyPr>
          <a:lstStyle/>
          <a:p>
            <a:r>
              <a:rPr sz="1800">
                <a:solidFill>
                  <a:srgbClr val="1F1F1F"/>
                </a:solidFill>
                <a:latin typeface="Helvetica Neue Light"/>
              </a:rPr>
              <a:t>Faster comparison</a:t>
            </a:r>
          </a:p>
          <a:p>
            <a:pPr>
              <a:spcBef>
                <a:spcPts val="600"/>
              </a:spcBef>
            </a:pPr>
            <a:r>
              <a:rPr sz="6400">
                <a:solidFill>
                  <a:srgbClr val="AF00EF"/>
                </a:solidFill>
                <a:latin typeface="Helvetica Neue Light"/>
              </a:rPr>
              <a:t>5 mins</a:t>
            </a:r>
          </a:p>
          <a:p>
            <a:pPr>
              <a:spcBef>
                <a:spcPts val="400"/>
              </a:spcBef>
            </a:pPr>
            <a:r>
              <a:rPr sz="1700">
                <a:solidFill>
                  <a:srgbClr val="1F1F1F"/>
                </a:solidFill>
                <a:latin typeface="Helvetica Neue Light"/>
              </a:rPr>
              <a:t>Average time spent comparing budgets</a:t>
            </a:r>
          </a:p>
        </p:txBody>
      </p:sp>
      <p:sp>
        <p:nvSpPr>
          <p:cNvPr id="18" name="TextBox 17"/>
          <p:cNvSpPr txBox="1"/>
          <p:nvPr/>
        </p:nvSpPr>
        <p:spPr>
          <a:xfrm>
            <a:off x="762000" y="5588000"/>
            <a:ext cx="3683000" cy="2540000"/>
          </a:xfrm>
          <a:prstGeom prst="rect">
            <a:avLst/>
          </a:prstGeom>
          <a:noFill/>
        </p:spPr>
        <p:txBody>
          <a:bodyPr wrap="square" lIns="0" tIns="0" rIns="0" bIns="0">
            <a:noAutofit/>
          </a:bodyPr>
          <a:lstStyle/>
          <a:p>
            <a:r>
              <a:rPr sz="1800">
                <a:solidFill>
                  <a:srgbClr val="1F1F1F"/>
                </a:solidFill>
                <a:latin typeface="Helvetica Neue Light"/>
              </a:rPr>
              <a:t>Shorter submission time</a:t>
            </a:r>
          </a:p>
          <a:p>
            <a:pPr>
              <a:spcBef>
                <a:spcPts val="600"/>
              </a:spcBef>
            </a:pPr>
            <a:r>
              <a:rPr sz="6400">
                <a:solidFill>
                  <a:srgbClr val="AF00EF"/>
                </a:solidFill>
                <a:latin typeface="Helvetica Neue Light"/>
              </a:rPr>
              <a:t>10 mins</a:t>
            </a:r>
          </a:p>
          <a:p>
            <a:pPr>
              <a:spcBef>
                <a:spcPts val="400"/>
              </a:spcBef>
            </a:pPr>
            <a:r>
              <a:rPr sz="1700">
                <a:solidFill>
                  <a:srgbClr val="1F1F1F"/>
                </a:solidFill>
                <a:latin typeface="Helvetica Neue Light"/>
              </a:rPr>
              <a:t>Average time partners need to complete a budget</a:t>
            </a:r>
          </a:p>
        </p:txBody>
      </p:sp>
      <p:sp>
        <p:nvSpPr>
          <p:cNvPr id="19" name="TextBox 18"/>
          <p:cNvSpPr txBox="1"/>
          <p:nvPr/>
        </p:nvSpPr>
        <p:spPr>
          <a:xfrm>
            <a:off x="4826000" y="5588000"/>
            <a:ext cx="3683000" cy="2540000"/>
          </a:xfrm>
          <a:prstGeom prst="rect">
            <a:avLst/>
          </a:prstGeom>
          <a:noFill/>
        </p:spPr>
        <p:txBody>
          <a:bodyPr wrap="square" lIns="0" tIns="0" rIns="0" bIns="0">
            <a:noAutofit/>
          </a:bodyPr>
          <a:lstStyle/>
          <a:p>
            <a:r>
              <a:rPr sz="1800">
                <a:solidFill>
                  <a:srgbClr val="1F1F1F"/>
                </a:solidFill>
                <a:latin typeface="Helvetica Neue Light"/>
              </a:rPr>
              <a:t>Higher budget spending</a:t>
            </a:r>
          </a:p>
          <a:p>
            <a:pPr>
              <a:spcBef>
                <a:spcPts val="600"/>
              </a:spcBef>
            </a:pPr>
            <a:r>
              <a:rPr sz="6400">
                <a:solidFill>
                  <a:srgbClr val="00BC48"/>
                </a:solidFill>
                <a:latin typeface="Helvetica Neue Light"/>
              </a:rPr>
              <a:t>$1.8 mil</a:t>
            </a:r>
          </a:p>
          <a:p>
            <a:pPr>
              <a:spcBef>
                <a:spcPts val="400"/>
              </a:spcBef>
            </a:pPr>
            <a:r>
              <a:rPr sz="1700">
                <a:solidFill>
                  <a:srgbClr val="1F1F1F"/>
                </a:solidFill>
                <a:latin typeface="Helvetica Neue Light"/>
              </a:rPr>
              <a:t>Average client budget</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9729851" y="764330"/>
            <a:ext cx="2645072" cy="391219"/>
          </a:xfrm>
          <a:prstGeom prst="rect">
            <a:avLst/>
          </a:prstGeom>
          <a:noFill/>
        </p:spPr>
        <p:txBody>
          <a:bodyPr wrap="none" lIns="0" tIns="0" rIns="0" bIns="0">
            <a:noAutofit/>
          </a:bodyPr>
          <a:lstStyle/>
          <a:p>
            <a:pPr algn="l"/>
            <a:r>
              <a:rPr sz="1400" dirty="0">
                <a:solidFill>
                  <a:srgbClr val="404040"/>
                </a:solidFill>
                <a:latin typeface="Helvetica Neue Light"/>
              </a:rPr>
              <a:t>michael</a:t>
            </a:r>
            <a:r>
              <a:rPr sz="2550" dirty="0">
                <a:solidFill>
                  <a:srgbClr val="404040"/>
                </a:solidFill>
                <a:latin typeface="Helvetica Neue Light"/>
              </a:rPr>
              <a:t>thibodea(UX)</a:t>
            </a:r>
          </a:p>
        </p:txBody>
      </p:sp>
      <p:sp>
        <p:nvSpPr>
          <p:cNvPr id="4" name="TextBox 3"/>
          <p:cNvSpPr txBox="1"/>
          <p:nvPr/>
        </p:nvSpPr>
        <p:spPr>
          <a:xfrm>
            <a:off x="10098646" y="1168080"/>
            <a:ext cx="1984157" cy="459653"/>
          </a:xfrm>
          <a:prstGeom prst="rect">
            <a:avLst/>
          </a:prstGeom>
          <a:noFill/>
        </p:spPr>
        <p:txBody>
          <a:bodyPr wrap="square" lIns="0" tIns="0" rIns="0" bIns="0">
            <a:noAutofit/>
          </a:bodyPr>
          <a:lstStyle/>
          <a:p>
            <a:pPr algn="r">
              <a:lnSpc>
                <a:spcPts val="1900"/>
              </a:lnSpc>
            </a:pPr>
            <a:r>
              <a:rPr sz="1400" dirty="0">
                <a:solidFill>
                  <a:srgbClr val="404040"/>
                </a:solidFill>
                <a:latin typeface="Helvetica Neue Light"/>
              </a:rPr>
              <a:t>646 436 2876 michaelthbd@yahoo.com</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pic>
        <p:nvPicPr>
          <p:cNvPr id="2" name="Image 0" descr="/tmp/meridian-deck/img/band-header.png">    </p:cNvPr>
          <p:cNvPicPr>
            <a:picLocks noChangeAspect="1"/>
          </p:cNvPicPr>
          <p:nvPr/>
        </p:nvPicPr>
        <p:blipFill>
          <a:blip r:embed="rId2"/>
          <a:stretch>
            <a:fillRect/>
          </a:stretch>
        </p:blipFill>
        <p:spPr>
          <a:xfrm>
            <a:off x="0" y="0"/>
            <a:ext cx="13004597" cy="438912"/>
          </a:xfrm>
          <a:prstGeom prst="rect">
            <a:avLst/>
          </a:prstGeom>
        </p:spPr>
      </p:pic>
      <p:sp>
        <p:nvSpPr>
          <p:cNvPr id="3" name="Text 0"/>
          <p:cNvSpPr txBox="1"/>
          <p:nvPr/>
        </p:nvSpPr>
        <p:spPr>
          <a:xfrm>
            <a:off x="457200" y="914400"/>
            <a:ext cx="64008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CASE STUDY · AI-ASSISTED TRADING PROTOTYPE</a:t>
            </a:r>
            <a:endParaRPr lang="en-US" sz="1280" dirty="0"/>
          </a:p>
        </p:txBody>
      </p:sp>
      <p:sp>
        <p:nvSpPr>
          <p:cNvPr id="4" name="Text 1"/>
          <p:cNvSpPr txBox="1"/>
          <p:nvPr/>
        </p:nvSpPr>
        <p:spPr>
          <a:xfrm>
            <a:off x="457200" y="1371600"/>
            <a:ext cx="6400800" cy="2377440"/>
          </a:xfrm>
          <a:prstGeom prst="rect">
            <a:avLst/>
          </a:prstGeom>
          <a:noFill/>
          <a:ln/>
        </p:spPr>
        <p:txBody>
          <a:bodyPr wrap="square" lIns="0" tIns="0" rIns="0" bIns="0" rtlCol="0" anchor="t"/>
          <a:lstStyle/>
          <a:p>
            <a:pPr indent="0" marL="0">
              <a:buNone/>
            </a:pPr>
            <a:r>
              <a:rPr lang="en-US" sz="7200" dirty="0">
                <a:solidFill>
                  <a:srgbClr val="1F1F1F"/>
                </a:solidFill>
                <a:latin typeface="Helvetica Neue Light" pitchFamily="34" charset="0"/>
                <a:ea typeface="Helvetica Neue Light" pitchFamily="34" charset="-122"/>
                <a:cs typeface="Helvetica Neue Light" pitchFamily="34" charset="-120"/>
              </a:rPr>
              <a:t>Meridian</a:t>
            </a:r>
            <a:endParaRPr lang="en-US" sz="7200" dirty="0"/>
          </a:p>
          <a:p>
            <a:pPr indent="0" marL="0">
              <a:buNone/>
            </a:pPr>
            <a:r>
              <a:rPr lang="en-US" sz="7200" dirty="0">
                <a:solidFill>
                  <a:srgbClr val="1F1F1F"/>
                </a:solidFill>
                <a:latin typeface="Helvetica Neue Light" pitchFamily="34" charset="0"/>
                <a:ea typeface="Helvetica Neue Light" pitchFamily="34" charset="-122"/>
                <a:cs typeface="Helvetica Neue Light" pitchFamily="34" charset="-120"/>
              </a:rPr>
              <a:t>Navigator</a:t>
            </a:r>
            <a:endParaRPr lang="en-US" sz="7200" dirty="0"/>
          </a:p>
        </p:txBody>
      </p:sp>
      <p:sp>
        <p:nvSpPr>
          <p:cNvPr id="5" name="Text 2"/>
          <p:cNvSpPr txBox="1"/>
          <p:nvPr/>
        </p:nvSpPr>
        <p:spPr>
          <a:xfrm>
            <a:off x="457200" y="4114800"/>
            <a:ext cx="6035040" cy="109728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Retail investors juggle research, orders and monitoring across separate tools. Does AI insight beside the trade help them decide?</a:t>
            </a:r>
            <a:endParaRPr lang="en-US" sz="2200" dirty="0"/>
          </a:p>
        </p:txBody>
      </p:sp>
      <p:sp>
        <p:nvSpPr>
          <p:cNvPr id="6" name="Text 3"/>
          <p:cNvSpPr txBox="1"/>
          <p:nvPr/>
        </p:nvSpPr>
        <p:spPr>
          <a:xfrm>
            <a:off x="457200" y="5486400"/>
            <a:ext cx="5852160" cy="914400"/>
          </a:xfrm>
          <a:prstGeom prst="rect">
            <a:avLst/>
          </a:prstGeom>
          <a:noFill/>
          <a:ln/>
        </p:spPr>
        <p:txBody>
          <a:bodyPr wrap="square" lIns="0" tIns="0" rIns="0" bIns="0" rtlCol="0" anchor="t"/>
          <a:lstStyle/>
          <a:p>
            <a:pPr indent="0" marL="0">
              <a:buNone/>
            </a:pPr>
            <a:r>
              <a:rPr lang="en-US" sz="1700" dirty="0">
                <a:solidFill>
                  <a:srgbClr val="6E6E6E"/>
                </a:solidFill>
                <a:latin typeface="Helvetica Neue Light" pitchFamily="34" charset="0"/>
                <a:ea typeface="Helvetica Neue Light" pitchFamily="34" charset="-122"/>
                <a:cs typeface="Helvetica Neue Light" pitchFamily="34" charset="-120"/>
              </a:rPr>
              <a:t>A mobile trading prototype: five AI and trading screens, built in SwiftUI and designed in Figma.</a:t>
            </a:r>
            <a:endParaRPr lang="en-US" sz="1700" dirty="0"/>
          </a:p>
        </p:txBody>
      </p:sp>
      <p:sp>
        <p:nvSpPr>
          <p:cNvPr id="7" name="Shape 4"/>
          <p:cNvSpPr/>
          <p:nvPr/>
        </p:nvSpPr>
        <p:spPr>
          <a:xfrm>
            <a:off x="7223760" y="1280160"/>
            <a:ext cx="5303520" cy="7406640"/>
          </a:xfrm>
          <a:prstGeom prst="rect">
            <a:avLst/>
          </a:prstGeom>
          <a:solidFill>
            <a:srgbClr val="14161D"/>
          </a:solidFill>
          <a:ln w="12700">
            <a:solidFill>
              <a:srgbClr val="14161D"/>
            </a:solidFill>
            <a:prstDash val="solid"/>
          </a:ln>
        </p:spPr>
      </p:sp>
      <p:sp>
        <p:nvSpPr>
          <p:cNvPr id="8" name="Shape 5"/>
          <p:cNvSpPr/>
          <p:nvPr/>
        </p:nvSpPr>
        <p:spPr>
          <a:xfrm>
            <a:off x="8092440" y="1737360"/>
            <a:ext cx="3043123" cy="6583680"/>
          </a:xfrm>
          <a:prstGeom prst="rect">
            <a:avLst/>
          </a:prstGeom>
          <a:solidFill>
            <a:srgbClr val="14161D"/>
          </a:solidFill>
          <a:ln w="12700">
            <a:solidFill>
              <a:srgbClr val="14161D"/>
            </a:solidFill>
            <a:prstDash val="solid"/>
          </a:ln>
        </p:spPr>
      </p:sp>
      <p:pic>
        <p:nvPicPr>
          <p:cNvPr id="9" name="Image 1" descr="/tmp/meridian-deck/img/insight.png">    </p:cNvPr>
          <p:cNvPicPr>
            <a:picLocks noChangeAspect="1"/>
          </p:cNvPicPr>
          <p:nvPr/>
        </p:nvPicPr>
        <p:blipFill>
          <a:blip r:embed="rId3"/>
          <a:stretch>
            <a:fillRect/>
          </a:stretch>
        </p:blipFill>
        <p:spPr>
          <a:xfrm>
            <a:off x="8092440" y="1737360"/>
            <a:ext cx="3043123" cy="6583680"/>
          </a:xfrm>
          <a:prstGeom prst="rect">
            <a:avLst/>
          </a:prstGeom>
        </p:spPr>
      </p:pic>
      <p:pic>
        <p:nvPicPr>
          <p:cNvPr id="10" name="Image 2" descr="/tmp/meridian-deck/img/band-footer.png">    </p:cNvPr>
          <p:cNvPicPr>
            <a:picLocks noChangeAspect="1"/>
          </p:cNvPicPr>
          <p:nvPr/>
        </p:nvPicPr>
        <p:blipFill>
          <a:blip r:embed="rId4"/>
          <a:stretch>
            <a:fillRect/>
          </a:stretch>
        </p:blipFill>
        <p:spPr>
          <a:xfrm>
            <a:off x="0" y="9281160"/>
            <a:ext cx="13004597" cy="466344"/>
          </a:xfrm>
          <a:prstGeom prst="rect">
            <a:avLst/>
          </a:prstGeom>
        </p:spPr>
      </p:pic>
      <p:sp>
        <p:nvSpPr>
          <p:cNvPr id="11" name="Text 6"/>
          <p:cNvSpPr txBox="1"/>
          <p:nvPr/>
        </p:nvSpPr>
        <p:spPr>
          <a:xfrm>
            <a:off x="457200" y="8686800"/>
            <a:ext cx="5486400" cy="274320"/>
          </a:xfrm>
          <a:prstGeom prst="rect">
            <a:avLst/>
          </a:prstGeom>
          <a:noFill/>
          <a:ln/>
        </p:spPr>
        <p:txBody>
          <a:bodyPr wrap="square" lIns="0" tIns="0" rIns="0" bIns="0" rtlCol="0" anchor="t"/>
          <a:lstStyle/>
          <a:p>
            <a:pPr indent="0" marL="0">
              <a:buNone/>
            </a:pPr>
            <a:r>
              <a:rPr lang="en-US" sz="1350" dirty="0">
                <a:solidFill>
                  <a:srgbClr val="6E6E6E"/>
                </a:solidFill>
                <a:latin typeface="Helvetica Neue Light" pitchFamily="34" charset="0"/>
                <a:ea typeface="Helvetica Neue Light" pitchFamily="34" charset="-122"/>
                <a:cs typeface="Helvetica Neue Light" pitchFamily="34" charset="-120"/>
              </a:rPr>
              <a:t>Working draft · 2026</a:t>
            </a:r>
            <a:endParaRPr lang="en-US" sz="1350" dirty="0"/>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How this case study is organized</a:t>
            </a:r>
            <a:endParaRPr lang="en-US" sz="3200" dirty="0"/>
          </a:p>
        </p:txBody>
      </p:sp>
      <p:sp>
        <p:nvSpPr>
          <p:cNvPr id="3" name="Text 1"/>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The final experience first, then the reasoning behind it.</a:t>
            </a:r>
            <a:endParaRPr lang="en-US" sz="1636"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Shape 2"/>
          <p:cNvSpPr/>
          <p:nvPr/>
        </p:nvSpPr>
        <p:spPr>
          <a:xfrm>
            <a:off x="457200" y="2651760"/>
            <a:ext cx="2286000" cy="2743200"/>
          </a:xfrm>
          <a:prstGeom prst="rect">
            <a:avLst/>
          </a:prstGeom>
          <a:solidFill>
            <a:srgbClr val="C45A35"/>
          </a:solidFill>
          <a:ln w="12700">
            <a:solidFill>
              <a:srgbClr val="C45A35"/>
            </a:solidFill>
            <a:prstDash val="solid"/>
          </a:ln>
        </p:spPr>
      </p:sp>
      <p:sp>
        <p:nvSpPr>
          <p:cNvPr id="6" name="Text 3"/>
          <p:cNvSpPr txBox="1"/>
          <p:nvPr/>
        </p:nvSpPr>
        <p:spPr>
          <a:xfrm>
            <a:off x="731520" y="292608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01</a:t>
            </a:r>
            <a:endParaRPr lang="en-US" sz="3100" dirty="0"/>
          </a:p>
        </p:txBody>
      </p:sp>
      <p:sp>
        <p:nvSpPr>
          <p:cNvPr id="7" name="Text 4"/>
          <p:cNvSpPr txBox="1"/>
          <p:nvPr/>
        </p:nvSpPr>
        <p:spPr>
          <a:xfrm>
            <a:off x="731520" y="374904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Overview</a:t>
            </a:r>
            <a:endParaRPr lang="en-US" sz="1778" dirty="0"/>
          </a:p>
        </p:txBody>
      </p:sp>
      <p:sp>
        <p:nvSpPr>
          <p:cNvPr id="8" name="Shape 5"/>
          <p:cNvSpPr/>
          <p:nvPr/>
        </p:nvSpPr>
        <p:spPr>
          <a:xfrm>
            <a:off x="2926080" y="2651760"/>
            <a:ext cx="2286000" cy="2743200"/>
          </a:xfrm>
          <a:prstGeom prst="rect">
            <a:avLst/>
          </a:prstGeom>
          <a:solidFill>
            <a:srgbClr val="5B3F96"/>
          </a:solidFill>
          <a:ln w="12700">
            <a:solidFill>
              <a:srgbClr val="5B3F96"/>
            </a:solidFill>
            <a:prstDash val="solid"/>
          </a:ln>
        </p:spPr>
      </p:sp>
      <p:sp>
        <p:nvSpPr>
          <p:cNvPr id="9" name="Text 6"/>
          <p:cNvSpPr txBox="1"/>
          <p:nvPr/>
        </p:nvSpPr>
        <p:spPr>
          <a:xfrm>
            <a:off x="3200400" y="292608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02</a:t>
            </a:r>
            <a:endParaRPr lang="en-US" sz="3100" dirty="0"/>
          </a:p>
        </p:txBody>
      </p:sp>
      <p:sp>
        <p:nvSpPr>
          <p:cNvPr id="10" name="Text 7"/>
          <p:cNvSpPr txBox="1"/>
          <p:nvPr/>
        </p:nvSpPr>
        <p:spPr>
          <a:xfrm>
            <a:off x="3200400" y="374904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Context &amp; constraints</a:t>
            </a:r>
            <a:endParaRPr lang="en-US" sz="1778" dirty="0"/>
          </a:p>
        </p:txBody>
      </p:sp>
      <p:sp>
        <p:nvSpPr>
          <p:cNvPr id="11" name="Shape 8"/>
          <p:cNvSpPr/>
          <p:nvPr/>
        </p:nvSpPr>
        <p:spPr>
          <a:xfrm>
            <a:off x="5394960" y="2651760"/>
            <a:ext cx="2286000" cy="2743200"/>
          </a:xfrm>
          <a:prstGeom prst="rect">
            <a:avLst/>
          </a:prstGeom>
          <a:solidFill>
            <a:srgbClr val="00868B"/>
          </a:solidFill>
          <a:ln w="12700">
            <a:solidFill>
              <a:srgbClr val="00868B"/>
            </a:solidFill>
            <a:prstDash val="solid"/>
          </a:ln>
        </p:spPr>
      </p:sp>
      <p:sp>
        <p:nvSpPr>
          <p:cNvPr id="12" name="Text 9"/>
          <p:cNvSpPr txBox="1"/>
          <p:nvPr/>
        </p:nvSpPr>
        <p:spPr>
          <a:xfrm>
            <a:off x="5669280" y="292608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03</a:t>
            </a:r>
            <a:endParaRPr lang="en-US" sz="3100" dirty="0"/>
          </a:p>
        </p:txBody>
      </p:sp>
      <p:sp>
        <p:nvSpPr>
          <p:cNvPr id="13" name="Text 10"/>
          <p:cNvSpPr txBox="1"/>
          <p:nvPr/>
        </p:nvSpPr>
        <p:spPr>
          <a:xfrm>
            <a:off x="5669280" y="374904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Problem: user and AI</a:t>
            </a:r>
            <a:endParaRPr lang="en-US" sz="1778" dirty="0"/>
          </a:p>
        </p:txBody>
      </p:sp>
      <p:sp>
        <p:nvSpPr>
          <p:cNvPr id="14" name="Shape 11"/>
          <p:cNvSpPr/>
          <p:nvPr/>
        </p:nvSpPr>
        <p:spPr>
          <a:xfrm>
            <a:off x="7863840" y="2651760"/>
            <a:ext cx="2286000" cy="2743200"/>
          </a:xfrm>
          <a:prstGeom prst="rect">
            <a:avLst/>
          </a:prstGeom>
          <a:solidFill>
            <a:srgbClr val="3A7D55"/>
          </a:solidFill>
          <a:ln w="12700">
            <a:solidFill>
              <a:srgbClr val="3A7D55"/>
            </a:solidFill>
            <a:prstDash val="solid"/>
          </a:ln>
        </p:spPr>
      </p:sp>
      <p:sp>
        <p:nvSpPr>
          <p:cNvPr id="15" name="Text 12"/>
          <p:cNvSpPr txBox="1"/>
          <p:nvPr/>
        </p:nvSpPr>
        <p:spPr>
          <a:xfrm>
            <a:off x="8138160" y="292608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04</a:t>
            </a:r>
            <a:endParaRPr lang="en-US" sz="3100" dirty="0"/>
          </a:p>
        </p:txBody>
      </p:sp>
      <p:sp>
        <p:nvSpPr>
          <p:cNvPr id="16" name="Text 13"/>
          <p:cNvSpPr txBox="1"/>
          <p:nvPr/>
        </p:nvSpPr>
        <p:spPr>
          <a:xfrm>
            <a:off x="8138160" y="374904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Users</a:t>
            </a:r>
            <a:endParaRPr lang="en-US" sz="1778" dirty="0"/>
          </a:p>
        </p:txBody>
      </p:sp>
      <p:sp>
        <p:nvSpPr>
          <p:cNvPr id="17" name="Shape 14"/>
          <p:cNvSpPr/>
          <p:nvPr/>
        </p:nvSpPr>
        <p:spPr>
          <a:xfrm>
            <a:off x="10332720" y="2651760"/>
            <a:ext cx="2286000" cy="2743200"/>
          </a:xfrm>
          <a:prstGeom prst="rect">
            <a:avLst/>
          </a:prstGeom>
          <a:solidFill>
            <a:srgbClr val="A12A37"/>
          </a:solidFill>
          <a:ln w="12700">
            <a:solidFill>
              <a:srgbClr val="A12A37"/>
            </a:solidFill>
            <a:prstDash val="solid"/>
          </a:ln>
        </p:spPr>
      </p:sp>
      <p:sp>
        <p:nvSpPr>
          <p:cNvPr id="18" name="Text 15"/>
          <p:cNvSpPr txBox="1"/>
          <p:nvPr/>
        </p:nvSpPr>
        <p:spPr>
          <a:xfrm>
            <a:off x="10607040" y="292608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05</a:t>
            </a:r>
            <a:endParaRPr lang="en-US" sz="3100" dirty="0"/>
          </a:p>
        </p:txBody>
      </p:sp>
      <p:sp>
        <p:nvSpPr>
          <p:cNvPr id="19" name="Text 16"/>
          <p:cNvSpPr txBox="1"/>
          <p:nvPr/>
        </p:nvSpPr>
        <p:spPr>
          <a:xfrm>
            <a:off x="10607040" y="374904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The solution, hi-fi</a:t>
            </a:r>
            <a:endParaRPr lang="en-US" sz="1778" dirty="0"/>
          </a:p>
        </p:txBody>
      </p:sp>
      <p:sp>
        <p:nvSpPr>
          <p:cNvPr id="20" name="Shape 17"/>
          <p:cNvSpPr/>
          <p:nvPr/>
        </p:nvSpPr>
        <p:spPr>
          <a:xfrm>
            <a:off x="457200" y="5760720"/>
            <a:ext cx="2286000" cy="2743200"/>
          </a:xfrm>
          <a:prstGeom prst="rect">
            <a:avLst/>
          </a:prstGeom>
          <a:solidFill>
            <a:srgbClr val="1F1F1F"/>
          </a:solidFill>
          <a:ln w="12700">
            <a:solidFill>
              <a:srgbClr val="1F1F1F"/>
            </a:solidFill>
            <a:prstDash val="solid"/>
          </a:ln>
        </p:spPr>
      </p:sp>
      <p:sp>
        <p:nvSpPr>
          <p:cNvPr id="21" name="Text 18"/>
          <p:cNvSpPr txBox="1"/>
          <p:nvPr/>
        </p:nvSpPr>
        <p:spPr>
          <a:xfrm>
            <a:off x="731520" y="603504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06</a:t>
            </a:r>
            <a:endParaRPr lang="en-US" sz="3100" dirty="0"/>
          </a:p>
        </p:txBody>
      </p:sp>
      <p:sp>
        <p:nvSpPr>
          <p:cNvPr id="22" name="Text 19"/>
          <p:cNvSpPr txBox="1"/>
          <p:nvPr/>
        </p:nvSpPr>
        <p:spPr>
          <a:xfrm>
            <a:off x="731520" y="685800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Reasoning &amp; trade-offs</a:t>
            </a:r>
            <a:endParaRPr lang="en-US" sz="1778" dirty="0"/>
          </a:p>
        </p:txBody>
      </p:sp>
      <p:sp>
        <p:nvSpPr>
          <p:cNvPr id="23" name="Shape 20"/>
          <p:cNvSpPr/>
          <p:nvPr/>
        </p:nvSpPr>
        <p:spPr>
          <a:xfrm>
            <a:off x="2926080" y="5760720"/>
            <a:ext cx="2286000" cy="2743200"/>
          </a:xfrm>
          <a:prstGeom prst="rect">
            <a:avLst/>
          </a:prstGeom>
          <a:solidFill>
            <a:srgbClr val="595959"/>
          </a:solidFill>
          <a:ln w="12700">
            <a:solidFill>
              <a:srgbClr val="595959"/>
            </a:solidFill>
            <a:prstDash val="solid"/>
          </a:ln>
        </p:spPr>
      </p:sp>
      <p:sp>
        <p:nvSpPr>
          <p:cNvPr id="24" name="Text 21"/>
          <p:cNvSpPr txBox="1"/>
          <p:nvPr/>
        </p:nvSpPr>
        <p:spPr>
          <a:xfrm>
            <a:off x="3200400" y="603504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07</a:t>
            </a:r>
            <a:endParaRPr lang="en-US" sz="3100" dirty="0"/>
          </a:p>
        </p:txBody>
      </p:sp>
      <p:sp>
        <p:nvSpPr>
          <p:cNvPr id="25" name="Text 22"/>
          <p:cNvSpPr txBox="1"/>
          <p:nvPr/>
        </p:nvSpPr>
        <p:spPr>
          <a:xfrm>
            <a:off x="3200400" y="685800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Methodology</a:t>
            </a:r>
            <a:endParaRPr lang="en-US" sz="1778" dirty="0"/>
          </a:p>
        </p:txBody>
      </p:sp>
      <p:sp>
        <p:nvSpPr>
          <p:cNvPr id="26" name="Shape 23"/>
          <p:cNvSpPr/>
          <p:nvPr/>
        </p:nvSpPr>
        <p:spPr>
          <a:xfrm>
            <a:off x="5394960" y="5760720"/>
            <a:ext cx="2286000" cy="2743200"/>
          </a:xfrm>
          <a:prstGeom prst="rect">
            <a:avLst/>
          </a:prstGeom>
          <a:solidFill>
            <a:srgbClr val="744A6C"/>
          </a:solidFill>
          <a:ln w="12700">
            <a:solidFill>
              <a:srgbClr val="744A6C"/>
            </a:solidFill>
            <a:prstDash val="solid"/>
          </a:ln>
        </p:spPr>
      </p:sp>
      <p:sp>
        <p:nvSpPr>
          <p:cNvPr id="27" name="Text 24"/>
          <p:cNvSpPr txBox="1"/>
          <p:nvPr/>
        </p:nvSpPr>
        <p:spPr>
          <a:xfrm>
            <a:off x="5669280" y="603504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08</a:t>
            </a:r>
            <a:endParaRPr lang="en-US" sz="3100" dirty="0"/>
          </a:p>
        </p:txBody>
      </p:sp>
      <p:sp>
        <p:nvSpPr>
          <p:cNvPr id="28" name="Text 25"/>
          <p:cNvSpPr txBox="1"/>
          <p:nvPr/>
        </p:nvSpPr>
        <p:spPr>
          <a:xfrm>
            <a:off x="5669280" y="685800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Implementation</a:t>
            </a:r>
            <a:endParaRPr lang="en-US" sz="1778" dirty="0"/>
          </a:p>
        </p:txBody>
      </p:sp>
      <p:sp>
        <p:nvSpPr>
          <p:cNvPr id="29" name="Shape 26"/>
          <p:cNvSpPr/>
          <p:nvPr/>
        </p:nvSpPr>
        <p:spPr>
          <a:xfrm>
            <a:off x="7863840" y="5760720"/>
            <a:ext cx="2286000" cy="2743200"/>
          </a:xfrm>
          <a:prstGeom prst="rect">
            <a:avLst/>
          </a:prstGeom>
          <a:solidFill>
            <a:srgbClr val="C45A35"/>
          </a:solidFill>
          <a:ln w="12700">
            <a:solidFill>
              <a:srgbClr val="C45A35"/>
            </a:solidFill>
            <a:prstDash val="solid"/>
          </a:ln>
        </p:spPr>
      </p:sp>
      <p:sp>
        <p:nvSpPr>
          <p:cNvPr id="30" name="Text 27"/>
          <p:cNvSpPr txBox="1"/>
          <p:nvPr/>
        </p:nvSpPr>
        <p:spPr>
          <a:xfrm>
            <a:off x="8138160" y="603504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09</a:t>
            </a:r>
            <a:endParaRPr lang="en-US" sz="3100" dirty="0"/>
          </a:p>
        </p:txBody>
      </p:sp>
      <p:sp>
        <p:nvSpPr>
          <p:cNvPr id="31" name="Text 28"/>
          <p:cNvSpPr txBox="1"/>
          <p:nvPr/>
        </p:nvSpPr>
        <p:spPr>
          <a:xfrm>
            <a:off x="8138160" y="685800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Results &amp; impact</a:t>
            </a:r>
            <a:endParaRPr lang="en-US" sz="1778" dirty="0"/>
          </a:p>
        </p:txBody>
      </p:sp>
      <p:sp>
        <p:nvSpPr>
          <p:cNvPr id="32" name="Shape 29"/>
          <p:cNvSpPr/>
          <p:nvPr/>
        </p:nvSpPr>
        <p:spPr>
          <a:xfrm>
            <a:off x="10332720" y="5760720"/>
            <a:ext cx="2286000" cy="2743200"/>
          </a:xfrm>
          <a:prstGeom prst="rect">
            <a:avLst/>
          </a:prstGeom>
          <a:solidFill>
            <a:srgbClr val="5B3F96"/>
          </a:solidFill>
          <a:ln w="12700">
            <a:solidFill>
              <a:srgbClr val="5B3F96"/>
            </a:solidFill>
            <a:prstDash val="solid"/>
          </a:ln>
        </p:spPr>
      </p:sp>
      <p:sp>
        <p:nvSpPr>
          <p:cNvPr id="33" name="Text 30"/>
          <p:cNvSpPr txBox="1"/>
          <p:nvPr/>
        </p:nvSpPr>
        <p:spPr>
          <a:xfrm>
            <a:off x="10607040" y="603504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10</a:t>
            </a:r>
            <a:endParaRPr lang="en-US" sz="3100" dirty="0"/>
          </a:p>
        </p:txBody>
      </p:sp>
      <p:sp>
        <p:nvSpPr>
          <p:cNvPr id="34" name="Text 31"/>
          <p:cNvSpPr txBox="1"/>
          <p:nvPr/>
        </p:nvSpPr>
        <p:spPr>
          <a:xfrm>
            <a:off x="10607040" y="685800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Learnings &amp; next steps</a:t>
            </a:r>
            <a:endParaRPr lang="en-US" sz="1778" dirty="0"/>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01 · Overview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Five screens, one trade, one place for AI</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A mobile trading prototype with AI screens beside the order flow.</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6" name="Shape 3"/>
          <p:cNvSpPr/>
          <p:nvPr/>
        </p:nvSpPr>
        <p:spPr>
          <a:xfrm>
            <a:off x="457200" y="2286000"/>
            <a:ext cx="6309360" cy="6766560"/>
          </a:xfrm>
          <a:prstGeom prst="rect">
            <a:avLst/>
          </a:prstGeom>
          <a:solidFill>
            <a:srgbClr val="14161D"/>
          </a:solidFill>
          <a:ln w="12700">
            <a:solidFill>
              <a:srgbClr val="14161D"/>
            </a:solidFill>
            <a:prstDash val="solid"/>
          </a:ln>
        </p:spPr>
      </p:sp>
      <p:sp>
        <p:nvSpPr>
          <p:cNvPr id="7" name="Shape 4"/>
          <p:cNvSpPr/>
          <p:nvPr/>
        </p:nvSpPr>
        <p:spPr>
          <a:xfrm>
            <a:off x="2286000" y="2651760"/>
            <a:ext cx="2789530" cy="6035040"/>
          </a:xfrm>
          <a:prstGeom prst="rect">
            <a:avLst/>
          </a:prstGeom>
          <a:solidFill>
            <a:srgbClr val="14161D"/>
          </a:solidFill>
          <a:ln w="12700">
            <a:solidFill>
              <a:srgbClr val="14161D"/>
            </a:solidFill>
            <a:prstDash val="solid"/>
          </a:ln>
        </p:spPr>
      </p:sp>
      <p:pic>
        <p:nvPicPr>
          <p:cNvPr id="8" name="Image 1" descr="/tmp/meridian-deck/img/dash.png">    </p:cNvPr>
          <p:cNvPicPr>
            <a:picLocks noChangeAspect="1"/>
          </p:cNvPicPr>
          <p:nvPr/>
        </p:nvPicPr>
        <p:blipFill>
          <a:blip r:embed="rId3"/>
          <a:stretch>
            <a:fillRect/>
          </a:stretch>
        </p:blipFill>
        <p:spPr>
          <a:xfrm>
            <a:off x="2286000" y="2651760"/>
            <a:ext cx="2789530" cy="6035040"/>
          </a:xfrm>
          <a:prstGeom prst="rect">
            <a:avLst/>
          </a:prstGeom>
        </p:spPr>
      </p:pic>
      <p:sp>
        <p:nvSpPr>
          <p:cNvPr id="9" name="Text 5"/>
          <p:cNvSpPr txBox="1"/>
          <p:nvPr/>
        </p:nvSpPr>
        <p:spPr>
          <a:xfrm>
            <a:off x="7223760" y="2377440"/>
            <a:ext cx="50292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PRODUCT</a:t>
            </a:r>
            <a:endParaRPr lang="en-US" sz="1280" dirty="0"/>
          </a:p>
        </p:txBody>
      </p:sp>
      <p:sp>
        <p:nvSpPr>
          <p:cNvPr id="10" name="Text 6"/>
          <p:cNvSpPr txBox="1"/>
          <p:nvPr/>
        </p:nvSpPr>
        <p:spPr>
          <a:xfrm>
            <a:off x="7223760" y="2743200"/>
            <a:ext cx="5303520" cy="2926080"/>
          </a:xfrm>
          <a:prstGeom prst="rect">
            <a:avLst/>
          </a:prstGeom>
          <a:noFill/>
          <a:ln/>
        </p:spPr>
        <p:txBody>
          <a:bodyPr wrap="square" lIns="0" tIns="0" rIns="0" bIns="0" rtlCol="0" anchor="t"/>
          <a:lstStyle/>
          <a:p>
            <a:pPr indent="0" marL="0">
              <a:buNone/>
            </a:pPr>
            <a:r>
              <a:rPr lang="en-US" sz="1849" dirty="0">
                <a:solidFill>
                  <a:srgbClr val="1F1F1F"/>
                </a:solidFill>
                <a:latin typeface="Helvetica Neue Light" pitchFamily="34" charset="0"/>
                <a:ea typeface="Helvetica Neue Light" pitchFamily="34" charset="-122"/>
                <a:cs typeface="Helvetica Neue Light" pitchFamily="34" charset="-120"/>
              </a:rPr>
              <a:t>An AI layer on a trading app. Users see what needs attention (Insight, Guard), what might fit their plan (Prospect), and whether their mix should change (Adapt), next to the order flow.</a:t>
            </a:r>
            <a:endParaRPr lang="en-US" sz="1849" dirty="0"/>
          </a:p>
        </p:txBody>
      </p:sp>
      <p:sp>
        <p:nvSpPr>
          <p:cNvPr id="11" name="Text 7"/>
          <p:cNvSpPr txBox="1"/>
          <p:nvPr/>
        </p:nvSpPr>
        <p:spPr>
          <a:xfrm>
            <a:off x="7223760" y="6035040"/>
            <a:ext cx="5029200" cy="274320"/>
          </a:xfrm>
          <a:prstGeom prst="rect">
            <a:avLst/>
          </a:prstGeom>
          <a:noFill/>
          <a:ln/>
        </p:spPr>
        <p:txBody>
          <a:bodyPr wrap="square" lIns="0" tIns="0" rIns="0" bIns="0" rtlCol="0" anchor="t"/>
          <a:lstStyle/>
          <a:p>
            <a:pPr indent="0" marL="0">
              <a:buNone/>
            </a:pPr>
            <a:r>
              <a:rPr lang="en-US" sz="1350" dirty="0">
                <a:solidFill>
                  <a:srgbClr val="5B3F96"/>
                </a:solidFill>
                <a:latin typeface="Helvetica Neue" pitchFamily="34" charset="0"/>
                <a:ea typeface="Helvetica Neue" pitchFamily="34" charset="-122"/>
                <a:cs typeface="Helvetica Neue" pitchFamily="34" charset="-120"/>
              </a:rPr>
              <a:t>Scope</a:t>
            </a:r>
            <a:endParaRPr lang="en-US" sz="1350" dirty="0"/>
          </a:p>
        </p:txBody>
      </p:sp>
      <p:sp>
        <p:nvSpPr>
          <p:cNvPr id="12" name="Text 8"/>
          <p:cNvSpPr txBox="1"/>
          <p:nvPr/>
        </p:nvSpPr>
        <p:spPr>
          <a:xfrm>
            <a:off x="7223760" y="6400800"/>
            <a:ext cx="5303520" cy="548640"/>
          </a:xfrm>
          <a:prstGeom prst="rect">
            <a:avLst/>
          </a:prstGeom>
          <a:noFill/>
          <a:ln/>
        </p:spPr>
        <p:txBody>
          <a:bodyPr wrap="square" lIns="0" tIns="0" rIns="0" bIns="0" rtlCol="0" anchor="t"/>
          <a:lstStyle/>
          <a:p>
            <a:pPr indent="0" marL="0">
              <a:buNone/>
            </a:pPr>
            <a:r>
              <a:rPr lang="en-US" sz="1350" dirty="0">
                <a:solidFill>
                  <a:srgbClr val="6E6E6E"/>
                </a:solidFill>
                <a:latin typeface="Helvetica Neue Light" pitchFamily="34" charset="0"/>
                <a:ea typeface="Helvetica Neue Light" pitchFamily="34" charset="-122"/>
                <a:cs typeface="Helvetica Neue Light" pitchFamily="34" charset="-120"/>
              </a:rPr>
              <a:t>5 core screens · 2 trade flows of 8 steps each · mock data only</a:t>
            </a:r>
            <a:endParaRPr lang="en-US" sz="1350" dirty="0"/>
          </a:p>
        </p:txBody>
      </p:sp>
      <p:sp>
        <p:nvSpPr>
          <p:cNvPr id="13" name="Text 9"/>
          <p:cNvSpPr txBox="1"/>
          <p:nvPr/>
        </p:nvSpPr>
        <p:spPr>
          <a:xfrm>
            <a:off x="7223760" y="7223760"/>
            <a:ext cx="5029200" cy="274320"/>
          </a:xfrm>
          <a:prstGeom prst="rect">
            <a:avLst/>
          </a:prstGeom>
          <a:noFill/>
          <a:ln/>
        </p:spPr>
        <p:txBody>
          <a:bodyPr wrap="square" lIns="0" tIns="0" rIns="0" bIns="0" rtlCol="0" anchor="t"/>
          <a:lstStyle/>
          <a:p>
            <a:pPr indent="0" marL="0">
              <a:buNone/>
            </a:pPr>
            <a:r>
              <a:rPr lang="en-US" sz="1350" dirty="0">
                <a:solidFill>
                  <a:srgbClr val="C45A35"/>
                </a:solidFill>
                <a:latin typeface="Helvetica Neue" pitchFamily="34" charset="0"/>
                <a:ea typeface="Helvetica Neue" pitchFamily="34" charset="-122"/>
                <a:cs typeface="Helvetica Neue" pitchFamily="34" charset="-120"/>
              </a:rPr>
              <a:t>My role</a:t>
            </a:r>
            <a:endParaRPr lang="en-US" sz="1350" dirty="0"/>
          </a:p>
        </p:txBody>
      </p:sp>
      <p:sp>
        <p:nvSpPr>
          <p:cNvPr id="14" name="Text 10"/>
          <p:cNvSpPr txBox="1"/>
          <p:nvPr/>
        </p:nvSpPr>
        <p:spPr>
          <a:xfrm>
            <a:off x="7223760" y="7589520"/>
            <a:ext cx="5303520" cy="1097280"/>
          </a:xfrm>
          <a:prstGeom prst="rect">
            <a:avLst/>
          </a:prstGeom>
          <a:noFill/>
          <a:ln/>
        </p:spPr>
        <p:txBody>
          <a:bodyPr wrap="square" lIns="0" tIns="0" rIns="0" bIns="0" rtlCol="0" anchor="t"/>
          <a:lstStyle/>
          <a:p>
            <a:pPr indent="0" marL="0">
              <a:buNone/>
            </a:pPr>
            <a:r>
              <a:rPr lang="en-US" sz="1500" dirty="0">
                <a:solidFill>
                  <a:srgbClr val="1F1F1F"/>
                </a:solidFill>
                <a:latin typeface="Helvetica Neue Light" pitchFamily="34" charset="0"/>
                <a:ea typeface="Helvetica Neue Light" pitchFamily="34" charset="-122"/>
                <a:cs typeface="Helvetica Neue Light" pitchFamily="34" charset="-120"/>
              </a:rPr>
              <a:t>Lead UX designer. I framed the problem, designed the trade and AI flows, built the Figma design system, and produced the SwiftUI prototype. AI agents helped with drafting.</a:t>
            </a:r>
            <a:endParaRPr lang="en-US" sz="1500" dirty="0"/>
          </a:p>
        </p:txBody>
      </p:sp>
      <p:pic>
        <p:nvPicPr>
          <p:cNvPr id="15" name="Image 2"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02 · Context &amp; constraints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Context and constraints</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What the prototype has to prove, and what it cannot yet.</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6" name="Text 3"/>
          <p:cNvSpPr txBox="1"/>
          <p:nvPr/>
        </p:nvSpPr>
        <p:spPr>
          <a:xfrm>
            <a:off x="457200" y="2468880"/>
            <a:ext cx="5669280" cy="32004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BUSINESS CHALLENGE</a:t>
            </a:r>
            <a:endParaRPr lang="en-US" sz="1280" dirty="0"/>
          </a:p>
        </p:txBody>
      </p:sp>
      <p:sp>
        <p:nvSpPr>
          <p:cNvPr id="7" name="Text 4"/>
          <p:cNvSpPr txBox="1"/>
          <p:nvPr/>
        </p:nvSpPr>
        <p:spPr>
          <a:xfrm>
            <a:off x="457200" y="2971800"/>
            <a:ext cx="5669280" cy="173736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Show one complete loop, from noticing a change to placing an order, in a prototype stakeholders can test.</a:t>
            </a:r>
            <a:endParaRPr lang="en-US" sz="2200" dirty="0"/>
          </a:p>
        </p:txBody>
      </p:sp>
      <p:sp>
        <p:nvSpPr>
          <p:cNvPr id="8" name="Text 5"/>
          <p:cNvSpPr txBox="1"/>
          <p:nvPr/>
        </p:nvSpPr>
        <p:spPr>
          <a:xfrm>
            <a:off x="6766560" y="2468880"/>
            <a:ext cx="5669280" cy="32004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STAKEHOLDERS</a:t>
            </a:r>
            <a:endParaRPr lang="en-US" sz="1280" dirty="0"/>
          </a:p>
        </p:txBody>
      </p:sp>
      <p:sp>
        <p:nvSpPr>
          <p:cNvPr id="9" name="Text 6"/>
          <p:cNvSpPr txBox="1"/>
          <p:nvPr/>
        </p:nvSpPr>
        <p:spPr>
          <a:xfrm>
            <a:off x="6766560" y="2971800"/>
            <a:ext cx="5669280" cy="173736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Active traders, busy investors and first-time investors (draft personas), plus product, design, engineering and compliance.</a:t>
            </a:r>
            <a:endParaRPr lang="en-US" sz="2200" dirty="0"/>
          </a:p>
        </p:txBody>
      </p:sp>
      <p:sp>
        <p:nvSpPr>
          <p:cNvPr id="10" name="Text 7"/>
          <p:cNvSpPr txBox="1"/>
          <p:nvPr/>
        </p:nvSpPr>
        <p:spPr>
          <a:xfrm>
            <a:off x="457200" y="5760720"/>
            <a:ext cx="5669280" cy="320040"/>
          </a:xfrm>
          <a:prstGeom prst="rect">
            <a:avLst/>
          </a:prstGeom>
          <a:noFill/>
          <a:ln/>
        </p:spPr>
        <p:txBody>
          <a:bodyPr wrap="square" lIns="0" tIns="0" rIns="0" bIns="0" rtlCol="0" anchor="t"/>
          <a:lstStyle/>
          <a:p>
            <a:pPr indent="0" marL="0">
              <a:buNone/>
            </a:pPr>
            <a:r>
              <a:rPr lang="en-US" sz="1280" spc="100" kern="0" dirty="0">
                <a:solidFill>
                  <a:srgbClr val="00868B"/>
                </a:solidFill>
                <a:latin typeface="Helvetica Neue" pitchFamily="34" charset="0"/>
                <a:ea typeface="Helvetica Neue" pitchFamily="34" charset="-122"/>
                <a:cs typeface="Helvetica Neue" pitchFamily="34" charset="-120"/>
              </a:rPr>
              <a:t>SUCCESS</a:t>
            </a:r>
            <a:endParaRPr lang="en-US" sz="1280" dirty="0"/>
          </a:p>
        </p:txBody>
      </p:sp>
      <p:sp>
        <p:nvSpPr>
          <p:cNvPr id="11" name="Text 8"/>
          <p:cNvSpPr txBox="1"/>
          <p:nvPr/>
        </p:nvSpPr>
        <p:spPr>
          <a:xfrm>
            <a:off x="457200" y="6263640"/>
            <a:ext cx="5669280" cy="173736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Stakeholders complete a trade and read the AI output without help. Targets are planned, to be set with stakeholders.</a:t>
            </a:r>
            <a:endParaRPr lang="en-US" sz="2200" dirty="0"/>
          </a:p>
        </p:txBody>
      </p:sp>
      <p:sp>
        <p:nvSpPr>
          <p:cNvPr id="12" name="Text 9"/>
          <p:cNvSpPr txBox="1"/>
          <p:nvPr/>
        </p:nvSpPr>
        <p:spPr>
          <a:xfrm>
            <a:off x="6766560" y="5760720"/>
            <a:ext cx="5669280" cy="320040"/>
          </a:xfrm>
          <a:prstGeom prst="rect">
            <a:avLst/>
          </a:prstGeom>
          <a:noFill/>
          <a:ln/>
        </p:spPr>
        <p:txBody>
          <a:bodyPr wrap="square" lIns="0" tIns="0" rIns="0" bIns="0" rtlCol="0" anchor="t"/>
          <a:lstStyle/>
          <a:p>
            <a:pPr indent="0" marL="0">
              <a:buNone/>
            </a:pPr>
            <a:r>
              <a:rPr lang="en-US" sz="1280" spc="100" kern="0" dirty="0">
                <a:solidFill>
                  <a:srgbClr val="A12A37"/>
                </a:solidFill>
                <a:latin typeface="Helvetica Neue" pitchFamily="34" charset="0"/>
                <a:ea typeface="Helvetica Neue" pitchFamily="34" charset="-122"/>
                <a:cs typeface="Helvetica Neue" pitchFamily="34" charset="-120"/>
              </a:rPr>
              <a:t>CONSTRAINTS</a:t>
            </a:r>
            <a:endParaRPr lang="en-US" sz="1280" dirty="0"/>
          </a:p>
        </p:txBody>
      </p:sp>
      <p:sp>
        <p:nvSpPr>
          <p:cNvPr id="13" name="Text 10"/>
          <p:cNvSpPr txBox="1"/>
          <p:nvPr/>
        </p:nvSpPr>
        <p:spPr>
          <a:xfrm>
            <a:off x="6766560" y="6263640"/>
            <a:ext cx="5669280" cy="173736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Mock data and a mock API only. No live brokerage or market data. Trade and AI copy need compliance review.</a:t>
            </a:r>
            <a:endParaRPr lang="en-US" sz="2200" dirty="0"/>
          </a:p>
        </p:txBody>
      </p:sp>
      <p:pic>
        <p:nvPicPr>
          <p:cNvPr id="14"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02 · Context &amp; constraints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How the work was done, and what is still open</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Shape 2"/>
          <p:cNvSpPr/>
          <p:nvPr/>
        </p:nvSpPr>
        <p:spPr>
          <a:xfrm>
            <a:off x="457200" y="2468880"/>
            <a:ext cx="420624" cy="420624"/>
          </a:xfrm>
          <a:prstGeom prst="ellipse">
            <a:avLst/>
          </a:prstGeom>
          <a:solidFill>
            <a:srgbClr val="3A7D55"/>
          </a:solidFill>
          <a:ln w="12700">
            <a:solidFill>
              <a:srgbClr val="3A7D55"/>
            </a:solidFill>
            <a:prstDash val="solid"/>
          </a:ln>
        </p:spPr>
      </p:sp>
      <p:sp>
        <p:nvSpPr>
          <p:cNvPr id="6" name="Text 3"/>
          <p:cNvSpPr txBox="1"/>
          <p:nvPr/>
        </p:nvSpPr>
        <p:spPr>
          <a:xfrm>
            <a:off x="457200"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1</a:t>
            </a:r>
            <a:endParaRPr lang="en-US" sz="1564" dirty="0"/>
          </a:p>
        </p:txBody>
      </p:sp>
      <p:sp>
        <p:nvSpPr>
          <p:cNvPr id="7" name="Text 4"/>
          <p:cNvSpPr txBox="1"/>
          <p:nvPr/>
        </p:nvSpPr>
        <p:spPr>
          <a:xfrm>
            <a:off x="457200" y="310896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Frame</a:t>
            </a:r>
            <a:endParaRPr lang="en-US" sz="2000" dirty="0"/>
          </a:p>
        </p:txBody>
      </p:sp>
      <p:sp>
        <p:nvSpPr>
          <p:cNvPr id="8" name="Text 5"/>
          <p:cNvSpPr txBox="1"/>
          <p:nvPr/>
        </p:nvSpPr>
        <p:spPr>
          <a:xfrm>
            <a:off x="457200" y="3657600"/>
            <a:ext cx="1828800" cy="274320"/>
          </a:xfrm>
          <a:prstGeom prst="rect">
            <a:avLst/>
          </a:prstGeom>
          <a:noFill/>
          <a:ln/>
        </p:spPr>
        <p:txBody>
          <a:bodyPr wrap="square" lIns="0" tIns="0" rIns="0" bIns="0" rtlCol="0" anchor="t"/>
          <a:lstStyle/>
          <a:p>
            <a:pPr indent="0" marL="0">
              <a:buNone/>
            </a:pPr>
            <a:r>
              <a:rPr lang="en-US" sz="1280" spc="100" kern="0" dirty="0">
                <a:solidFill>
                  <a:srgbClr val="3A7D55"/>
                </a:solidFill>
                <a:latin typeface="Helvetica Neue" pitchFamily="34" charset="0"/>
                <a:ea typeface="Helvetica Neue" pitchFamily="34" charset="-122"/>
                <a:cs typeface="Helvetica Neue" pitchFamily="34" charset="-120"/>
              </a:rPr>
              <a:t>DONE</a:t>
            </a:r>
            <a:endParaRPr lang="en-US" sz="1280" dirty="0"/>
          </a:p>
        </p:txBody>
      </p:sp>
      <p:sp>
        <p:nvSpPr>
          <p:cNvPr id="9" name="Text 6"/>
          <p:cNvSpPr txBox="1"/>
          <p:nvPr/>
        </p:nvSpPr>
        <p:spPr>
          <a:xfrm>
            <a:off x="457200" y="406908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Problem, scope and assumptions recorded on the FigJam board.</a:t>
            </a:r>
            <a:endParaRPr lang="en-US" sz="1500" dirty="0"/>
          </a:p>
        </p:txBody>
      </p:sp>
      <p:sp>
        <p:nvSpPr>
          <p:cNvPr id="10" name="Shape 7"/>
          <p:cNvSpPr/>
          <p:nvPr/>
        </p:nvSpPr>
        <p:spPr>
          <a:xfrm>
            <a:off x="2509479" y="2468880"/>
            <a:ext cx="420624" cy="420624"/>
          </a:xfrm>
          <a:prstGeom prst="ellipse">
            <a:avLst/>
          </a:prstGeom>
          <a:solidFill>
            <a:srgbClr val="C45A35"/>
          </a:solidFill>
          <a:ln w="12700">
            <a:solidFill>
              <a:srgbClr val="C45A35"/>
            </a:solidFill>
            <a:prstDash val="solid"/>
          </a:ln>
        </p:spPr>
      </p:sp>
      <p:sp>
        <p:nvSpPr>
          <p:cNvPr id="11" name="Text 8"/>
          <p:cNvSpPr txBox="1"/>
          <p:nvPr/>
        </p:nvSpPr>
        <p:spPr>
          <a:xfrm>
            <a:off x="2509479"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2</a:t>
            </a:r>
            <a:endParaRPr lang="en-US" sz="1564" dirty="0"/>
          </a:p>
        </p:txBody>
      </p:sp>
      <p:sp>
        <p:nvSpPr>
          <p:cNvPr id="12" name="Text 9"/>
          <p:cNvSpPr txBox="1"/>
          <p:nvPr/>
        </p:nvSpPr>
        <p:spPr>
          <a:xfrm>
            <a:off x="2509479" y="310896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Hypothesize</a:t>
            </a:r>
            <a:endParaRPr lang="en-US" sz="2000" dirty="0"/>
          </a:p>
        </p:txBody>
      </p:sp>
      <p:sp>
        <p:nvSpPr>
          <p:cNvPr id="13" name="Text 10"/>
          <p:cNvSpPr txBox="1"/>
          <p:nvPr/>
        </p:nvSpPr>
        <p:spPr>
          <a:xfrm>
            <a:off x="2509479" y="3657600"/>
            <a:ext cx="18288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DRAFTED</a:t>
            </a:r>
            <a:endParaRPr lang="en-US" sz="1280" dirty="0"/>
          </a:p>
        </p:txBody>
      </p:sp>
      <p:sp>
        <p:nvSpPr>
          <p:cNvPr id="14" name="Text 11"/>
          <p:cNvSpPr txBox="1"/>
          <p:nvPr/>
        </p:nvSpPr>
        <p:spPr>
          <a:xfrm>
            <a:off x="2509479" y="406908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Three draft personas, marked untested.</a:t>
            </a:r>
            <a:endParaRPr lang="en-US" sz="1500" dirty="0"/>
          </a:p>
        </p:txBody>
      </p:sp>
      <p:sp>
        <p:nvSpPr>
          <p:cNvPr id="15" name="Shape 12"/>
          <p:cNvSpPr/>
          <p:nvPr/>
        </p:nvSpPr>
        <p:spPr>
          <a:xfrm>
            <a:off x="4561759" y="2468880"/>
            <a:ext cx="420624" cy="420624"/>
          </a:xfrm>
          <a:prstGeom prst="ellipse">
            <a:avLst/>
          </a:prstGeom>
          <a:solidFill>
            <a:srgbClr val="C45A35"/>
          </a:solidFill>
          <a:ln w="12700">
            <a:solidFill>
              <a:srgbClr val="C45A35"/>
            </a:solidFill>
            <a:prstDash val="solid"/>
          </a:ln>
        </p:spPr>
      </p:sp>
      <p:sp>
        <p:nvSpPr>
          <p:cNvPr id="16" name="Text 13"/>
          <p:cNvSpPr txBox="1"/>
          <p:nvPr/>
        </p:nvSpPr>
        <p:spPr>
          <a:xfrm>
            <a:off x="4561759"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3</a:t>
            </a:r>
            <a:endParaRPr lang="en-US" sz="1564" dirty="0"/>
          </a:p>
        </p:txBody>
      </p:sp>
      <p:sp>
        <p:nvSpPr>
          <p:cNvPr id="17" name="Text 14"/>
          <p:cNvSpPr txBox="1"/>
          <p:nvPr/>
        </p:nvSpPr>
        <p:spPr>
          <a:xfrm>
            <a:off x="4561759" y="310896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Map flows</a:t>
            </a:r>
            <a:endParaRPr lang="en-US" sz="2000" dirty="0"/>
          </a:p>
        </p:txBody>
      </p:sp>
      <p:sp>
        <p:nvSpPr>
          <p:cNvPr id="18" name="Text 15"/>
          <p:cNvSpPr txBox="1"/>
          <p:nvPr/>
        </p:nvSpPr>
        <p:spPr>
          <a:xfrm>
            <a:off x="4561759" y="3657600"/>
            <a:ext cx="18288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DRAFTED</a:t>
            </a:r>
            <a:endParaRPr lang="en-US" sz="1280" dirty="0"/>
          </a:p>
        </p:txBody>
      </p:sp>
      <p:sp>
        <p:nvSpPr>
          <p:cNvPr id="19" name="Text 16"/>
          <p:cNvSpPr txBox="1"/>
          <p:nvPr/>
        </p:nvSpPr>
        <p:spPr>
          <a:xfrm>
            <a:off x="4561759" y="406908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Share and dollar trade flows, and the AI feature flow, drafted in Figma.</a:t>
            </a:r>
            <a:endParaRPr lang="en-US" sz="1500" dirty="0"/>
          </a:p>
        </p:txBody>
      </p:sp>
      <p:sp>
        <p:nvSpPr>
          <p:cNvPr id="20" name="Shape 17"/>
          <p:cNvSpPr/>
          <p:nvPr/>
        </p:nvSpPr>
        <p:spPr>
          <a:xfrm>
            <a:off x="6614038" y="2468880"/>
            <a:ext cx="420624" cy="420624"/>
          </a:xfrm>
          <a:prstGeom prst="ellipse">
            <a:avLst/>
          </a:prstGeom>
          <a:solidFill>
            <a:srgbClr val="5B3F96"/>
          </a:solidFill>
          <a:ln w="12700">
            <a:solidFill>
              <a:srgbClr val="5B3F96"/>
            </a:solidFill>
            <a:prstDash val="solid"/>
          </a:ln>
        </p:spPr>
      </p:sp>
      <p:sp>
        <p:nvSpPr>
          <p:cNvPr id="21" name="Text 18"/>
          <p:cNvSpPr txBox="1"/>
          <p:nvPr/>
        </p:nvSpPr>
        <p:spPr>
          <a:xfrm>
            <a:off x="6614038"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4</a:t>
            </a:r>
            <a:endParaRPr lang="en-US" sz="1564" dirty="0"/>
          </a:p>
        </p:txBody>
      </p:sp>
      <p:sp>
        <p:nvSpPr>
          <p:cNvPr id="22" name="Text 19"/>
          <p:cNvSpPr txBox="1"/>
          <p:nvPr/>
        </p:nvSpPr>
        <p:spPr>
          <a:xfrm>
            <a:off x="6614038" y="310896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Design system</a:t>
            </a:r>
            <a:endParaRPr lang="en-US" sz="2000" dirty="0"/>
          </a:p>
        </p:txBody>
      </p:sp>
      <p:sp>
        <p:nvSpPr>
          <p:cNvPr id="23" name="Text 20"/>
          <p:cNvSpPr txBox="1"/>
          <p:nvPr/>
        </p:nvSpPr>
        <p:spPr>
          <a:xfrm>
            <a:off x="6614038" y="3657600"/>
            <a:ext cx="182880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IN PROGRESS</a:t>
            </a:r>
            <a:endParaRPr lang="en-US" sz="1280" dirty="0"/>
          </a:p>
        </p:txBody>
      </p:sp>
      <p:sp>
        <p:nvSpPr>
          <p:cNvPr id="24" name="Text 21"/>
          <p:cNvSpPr txBox="1"/>
          <p:nvPr/>
        </p:nvSpPr>
        <p:spPr>
          <a:xfrm>
            <a:off x="6614038" y="406908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Tokens shared between Figma and SwiftUI. Component library not yet audited.</a:t>
            </a:r>
            <a:endParaRPr lang="en-US" sz="1500" dirty="0"/>
          </a:p>
        </p:txBody>
      </p:sp>
      <p:sp>
        <p:nvSpPr>
          <p:cNvPr id="25" name="Shape 22"/>
          <p:cNvSpPr/>
          <p:nvPr/>
        </p:nvSpPr>
        <p:spPr>
          <a:xfrm>
            <a:off x="8666317" y="2468880"/>
            <a:ext cx="420624" cy="420624"/>
          </a:xfrm>
          <a:prstGeom prst="ellipse">
            <a:avLst/>
          </a:prstGeom>
          <a:solidFill>
            <a:srgbClr val="C45A35"/>
          </a:solidFill>
          <a:ln w="12700">
            <a:solidFill>
              <a:srgbClr val="C45A35"/>
            </a:solidFill>
            <a:prstDash val="solid"/>
          </a:ln>
        </p:spPr>
      </p:sp>
      <p:sp>
        <p:nvSpPr>
          <p:cNvPr id="26" name="Text 23"/>
          <p:cNvSpPr txBox="1"/>
          <p:nvPr/>
        </p:nvSpPr>
        <p:spPr>
          <a:xfrm>
            <a:off x="8666317"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5</a:t>
            </a:r>
            <a:endParaRPr lang="en-US" sz="1564" dirty="0"/>
          </a:p>
        </p:txBody>
      </p:sp>
      <p:sp>
        <p:nvSpPr>
          <p:cNvPr id="27" name="Text 24"/>
          <p:cNvSpPr txBox="1"/>
          <p:nvPr/>
        </p:nvSpPr>
        <p:spPr>
          <a:xfrm>
            <a:off x="8666317" y="310896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Design states</a:t>
            </a:r>
            <a:endParaRPr lang="en-US" sz="2000" dirty="0"/>
          </a:p>
        </p:txBody>
      </p:sp>
      <p:sp>
        <p:nvSpPr>
          <p:cNvPr id="28" name="Text 25"/>
          <p:cNvSpPr txBox="1"/>
          <p:nvPr/>
        </p:nvSpPr>
        <p:spPr>
          <a:xfrm>
            <a:off x="8666317" y="3657600"/>
            <a:ext cx="18288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DRAFTED</a:t>
            </a:r>
            <a:endParaRPr lang="en-US" sz="1280" dirty="0"/>
          </a:p>
        </p:txBody>
      </p:sp>
      <p:sp>
        <p:nvSpPr>
          <p:cNvPr id="29" name="Text 26"/>
          <p:cNvSpPr txBox="1"/>
          <p:nvPr/>
        </p:nvSpPr>
        <p:spPr>
          <a:xfrm>
            <a:off x="8666317" y="406908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Empty, loading, error and offline states on 06- Wireframes.</a:t>
            </a:r>
            <a:endParaRPr lang="en-US" sz="1500" dirty="0"/>
          </a:p>
        </p:txBody>
      </p:sp>
      <p:sp>
        <p:nvSpPr>
          <p:cNvPr id="30" name="Shape 27"/>
          <p:cNvSpPr/>
          <p:nvPr/>
        </p:nvSpPr>
        <p:spPr>
          <a:xfrm>
            <a:off x="10718597" y="2468880"/>
            <a:ext cx="420624" cy="420624"/>
          </a:xfrm>
          <a:prstGeom prst="ellipse">
            <a:avLst/>
          </a:prstGeom>
          <a:solidFill>
            <a:srgbClr val="6E6E6E"/>
          </a:solidFill>
          <a:ln w="12700">
            <a:solidFill>
              <a:srgbClr val="6E6E6E"/>
            </a:solidFill>
            <a:prstDash val="solid"/>
          </a:ln>
        </p:spPr>
      </p:sp>
      <p:sp>
        <p:nvSpPr>
          <p:cNvPr id="31" name="Text 28"/>
          <p:cNvSpPr txBox="1"/>
          <p:nvPr/>
        </p:nvSpPr>
        <p:spPr>
          <a:xfrm>
            <a:off x="10718597"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6</a:t>
            </a:r>
            <a:endParaRPr lang="en-US" sz="1564" dirty="0"/>
          </a:p>
        </p:txBody>
      </p:sp>
      <p:sp>
        <p:nvSpPr>
          <p:cNvPr id="32" name="Text 29"/>
          <p:cNvSpPr txBox="1"/>
          <p:nvPr/>
        </p:nvSpPr>
        <p:spPr>
          <a:xfrm>
            <a:off x="10718597" y="310896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Validate</a:t>
            </a:r>
            <a:endParaRPr lang="en-US" sz="2000" dirty="0"/>
          </a:p>
        </p:txBody>
      </p:sp>
      <p:sp>
        <p:nvSpPr>
          <p:cNvPr id="33" name="Text 30"/>
          <p:cNvSpPr txBox="1"/>
          <p:nvPr/>
        </p:nvSpPr>
        <p:spPr>
          <a:xfrm>
            <a:off x="10718597" y="3657600"/>
            <a:ext cx="1828800" cy="274320"/>
          </a:xfrm>
          <a:prstGeom prst="rect">
            <a:avLst/>
          </a:prstGeom>
          <a:noFill/>
          <a:ln/>
        </p:spPr>
        <p:txBody>
          <a:bodyPr wrap="square" lIns="0" tIns="0" rIns="0" bIns="0" rtlCol="0" anchor="t"/>
          <a:lstStyle/>
          <a:p>
            <a:pPr indent="0" marL="0">
              <a:buNone/>
            </a:pPr>
            <a:r>
              <a:rPr lang="en-US" sz="1280" spc="100" kern="0" dirty="0">
                <a:solidFill>
                  <a:srgbClr val="6E6E6E"/>
                </a:solidFill>
                <a:latin typeface="Helvetica Neue" pitchFamily="34" charset="0"/>
                <a:ea typeface="Helvetica Neue" pitchFamily="34" charset="-122"/>
                <a:cs typeface="Helvetica Neue" pitchFamily="34" charset="-120"/>
              </a:rPr>
              <a:t>PLANNED</a:t>
            </a:r>
            <a:endParaRPr lang="en-US" sz="1280" dirty="0"/>
          </a:p>
        </p:txBody>
      </p:sp>
      <p:sp>
        <p:nvSpPr>
          <p:cNvPr id="34" name="Text 31"/>
          <p:cNvSpPr txBox="1"/>
          <p:nvPr/>
        </p:nvSpPr>
        <p:spPr>
          <a:xfrm>
            <a:off x="10718597" y="406908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Interviews, usability tests and compliance review. Not started.</a:t>
            </a:r>
            <a:endParaRPr lang="en-US" sz="1500" dirty="0"/>
          </a:p>
        </p:txBody>
      </p:sp>
      <p:sp>
        <p:nvSpPr>
          <p:cNvPr id="35" name="Text 32"/>
          <p:cNvSpPr txBox="1"/>
          <p:nvPr/>
        </p:nvSpPr>
        <p:spPr>
          <a:xfrm>
            <a:off x="457200" y="6949440"/>
            <a:ext cx="12070080" cy="365760"/>
          </a:xfrm>
          <a:prstGeom prst="rect">
            <a:avLst/>
          </a:prstGeom>
          <a:noFill/>
          <a:ln/>
        </p:spPr>
        <p:txBody>
          <a:bodyPr wrap="square" lIns="0" tIns="0" rIns="0" bIns="0" rtlCol="0" anchor="t"/>
          <a:lstStyle/>
          <a:p>
            <a:pPr indent="0" marL="0">
              <a:buNone/>
            </a:pPr>
            <a:r>
              <a:rPr lang="en-US" sz="1500" dirty="0">
                <a:solidFill>
                  <a:srgbClr val="6E6E6E"/>
                </a:solidFill>
                <a:latin typeface="Helvetica Neue Light" pitchFamily="34" charset="0"/>
                <a:ea typeface="Helvetica Neue Light" pitchFamily="34" charset="-122"/>
                <a:cs typeface="Helvetica Neue Light" pitchFamily="34" charset="-120"/>
              </a:rPr>
              <a:t>Status is a designer’s self-assessment. No interviews or usability tests have run yet.</a:t>
            </a:r>
            <a:endParaRPr lang="en-US" sz="1500" dirty="0"/>
          </a:p>
        </p:txBody>
      </p:sp>
      <p:pic>
        <p:nvPicPr>
          <p:cNvPr id="36"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03 · Problem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The user problem and the AI problem, defined separately</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Shape 2"/>
          <p:cNvSpPr/>
          <p:nvPr/>
        </p:nvSpPr>
        <p:spPr>
          <a:xfrm>
            <a:off x="457200" y="2468880"/>
            <a:ext cx="420624" cy="420624"/>
          </a:xfrm>
          <a:prstGeom prst="ellipse">
            <a:avLst/>
          </a:prstGeom>
          <a:solidFill>
            <a:srgbClr val="C45A35"/>
          </a:solidFill>
          <a:ln w="12700">
            <a:solidFill>
              <a:srgbClr val="C45A35"/>
            </a:solidFill>
            <a:prstDash val="solid"/>
          </a:ln>
        </p:spPr>
      </p:sp>
      <p:sp>
        <p:nvSpPr>
          <p:cNvPr id="6" name="Text 3"/>
          <p:cNvSpPr txBox="1"/>
          <p:nvPr/>
        </p:nvSpPr>
        <p:spPr>
          <a:xfrm>
            <a:off x="457200"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1</a:t>
            </a:r>
            <a:endParaRPr lang="en-US" sz="1564" dirty="0"/>
          </a:p>
        </p:txBody>
      </p:sp>
      <p:sp>
        <p:nvSpPr>
          <p:cNvPr id="7" name="Text 4"/>
          <p:cNvSpPr txBox="1"/>
          <p:nvPr/>
        </p:nvSpPr>
        <p:spPr>
          <a:xfrm>
            <a:off x="457200" y="3154680"/>
            <a:ext cx="384048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User problem</a:t>
            </a:r>
            <a:endParaRPr lang="en-US" sz="2200" dirty="0"/>
          </a:p>
        </p:txBody>
      </p:sp>
      <p:sp>
        <p:nvSpPr>
          <p:cNvPr id="8" name="Text 5"/>
          <p:cNvSpPr txBox="1"/>
          <p:nvPr/>
        </p:nvSpPr>
        <p:spPr>
          <a:xfrm>
            <a:off x="457200" y="3749040"/>
            <a:ext cx="3749040" cy="329184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Research, order entry, watching positions and rebalancing live in different places. The hold-or-exit call gets made in the user’s head.</a:t>
            </a:r>
            <a:endParaRPr lang="en-US" sz="1700" dirty="0"/>
          </a:p>
        </p:txBody>
      </p:sp>
      <p:sp>
        <p:nvSpPr>
          <p:cNvPr id="9" name="Shape 6"/>
          <p:cNvSpPr/>
          <p:nvPr/>
        </p:nvSpPr>
        <p:spPr>
          <a:xfrm>
            <a:off x="4663440" y="2468880"/>
            <a:ext cx="420624" cy="420624"/>
          </a:xfrm>
          <a:prstGeom prst="ellipse">
            <a:avLst/>
          </a:prstGeom>
          <a:solidFill>
            <a:srgbClr val="5B3F96"/>
          </a:solidFill>
          <a:ln w="12700">
            <a:solidFill>
              <a:srgbClr val="5B3F96"/>
            </a:solidFill>
            <a:prstDash val="solid"/>
          </a:ln>
        </p:spPr>
      </p:sp>
      <p:sp>
        <p:nvSpPr>
          <p:cNvPr id="10" name="Text 7"/>
          <p:cNvSpPr txBox="1"/>
          <p:nvPr/>
        </p:nvSpPr>
        <p:spPr>
          <a:xfrm>
            <a:off x="4663440"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2</a:t>
            </a:r>
            <a:endParaRPr lang="en-US" sz="1564" dirty="0"/>
          </a:p>
        </p:txBody>
      </p:sp>
      <p:sp>
        <p:nvSpPr>
          <p:cNvPr id="11" name="Text 8"/>
          <p:cNvSpPr txBox="1"/>
          <p:nvPr/>
        </p:nvSpPr>
        <p:spPr>
          <a:xfrm>
            <a:off x="4663440" y="3154680"/>
            <a:ext cx="384048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AI problem</a:t>
            </a:r>
            <a:endParaRPr lang="en-US" sz="2200" dirty="0"/>
          </a:p>
        </p:txBody>
      </p:sp>
      <p:sp>
        <p:nvSpPr>
          <p:cNvPr id="12" name="Text 9"/>
          <p:cNvSpPr txBox="1"/>
          <p:nvPr/>
        </p:nvSpPr>
        <p:spPr>
          <a:xfrm>
            <a:off x="4663440" y="3749040"/>
            <a:ext cx="3749040" cy="329184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Summarize what moved and why, with the source. Rank alerts by severity. Show prospects with upside and downside. Propose a rebalance the user reviews first.</a:t>
            </a:r>
            <a:endParaRPr lang="en-US" sz="1700" dirty="0"/>
          </a:p>
        </p:txBody>
      </p:sp>
      <p:sp>
        <p:nvSpPr>
          <p:cNvPr id="13" name="Shape 10"/>
          <p:cNvSpPr/>
          <p:nvPr/>
        </p:nvSpPr>
        <p:spPr>
          <a:xfrm>
            <a:off x="8869680" y="2468880"/>
            <a:ext cx="420624" cy="420624"/>
          </a:xfrm>
          <a:prstGeom prst="ellipse">
            <a:avLst/>
          </a:prstGeom>
          <a:solidFill>
            <a:srgbClr val="00868B"/>
          </a:solidFill>
          <a:ln w="12700">
            <a:solidFill>
              <a:srgbClr val="00868B"/>
            </a:solidFill>
            <a:prstDash val="solid"/>
          </a:ln>
        </p:spPr>
      </p:sp>
      <p:sp>
        <p:nvSpPr>
          <p:cNvPr id="14" name="Text 11"/>
          <p:cNvSpPr txBox="1"/>
          <p:nvPr/>
        </p:nvSpPr>
        <p:spPr>
          <a:xfrm>
            <a:off x="8869680"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3</a:t>
            </a:r>
            <a:endParaRPr lang="en-US" sz="1564" dirty="0"/>
          </a:p>
        </p:txBody>
      </p:sp>
      <p:sp>
        <p:nvSpPr>
          <p:cNvPr id="15" name="Text 12"/>
          <p:cNvSpPr txBox="1"/>
          <p:nvPr/>
        </p:nvSpPr>
        <p:spPr>
          <a:xfrm>
            <a:off x="8869680" y="3154680"/>
            <a:ext cx="384048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Why AI</a:t>
            </a:r>
            <a:endParaRPr lang="en-US" sz="2200" dirty="0"/>
          </a:p>
        </p:txBody>
      </p:sp>
      <p:sp>
        <p:nvSpPr>
          <p:cNvPr id="16" name="Text 13"/>
          <p:cNvSpPr txBox="1"/>
          <p:nvPr/>
        </p:nvSpPr>
        <p:spPr>
          <a:xfrm>
            <a:off x="8869680" y="3749040"/>
            <a:ext cx="3749040" cy="329184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Summarizing news and research is a language task. Watching many positions is repetitive. Where a simple rule works, such as sorting or thresholds, the design uses a rule.</a:t>
            </a:r>
            <a:endParaRPr lang="en-US" sz="1700" dirty="0"/>
          </a:p>
        </p:txBody>
      </p:sp>
      <p:pic>
        <p:nvPicPr>
          <p:cNvPr id="17"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24160" cy="274320"/>
          </a:xfrm>
          <a:prstGeom prst="rect">
            <a:avLst/>
          </a:prstGeom>
          <a:noFill/>
        </p:spPr>
        <p:txBody>
          <a:bodyPr wrap="square">
            <a:spAutoFit/>
          </a:bodyPr>
          <a:lstStyle/>
          <a:p>
            <a:r>
              <a:rPr sz="1400" b="0">
                <a:solidFill>
                  <a:srgbClr val="1F1F1F"/>
                </a:solidFill>
                <a:latin typeface="Helvetica Neue"/>
              </a:rPr>
              <a:t>Competitive landscape</a:t>
            </a:r>
          </a:p>
        </p:txBody>
      </p:sp>
      <p:sp>
        <p:nvSpPr>
          <p:cNvPr id="3" name="TextBox 2"/>
          <p:cNvSpPr txBox="1"/>
          <p:nvPr/>
        </p:nvSpPr>
        <p:spPr>
          <a:xfrm>
            <a:off x="457200" y="914400"/>
            <a:ext cx="12070080" cy="594360"/>
          </a:xfrm>
          <a:prstGeom prst="rect">
            <a:avLst/>
          </a:prstGeom>
          <a:noFill/>
        </p:spPr>
        <p:txBody>
          <a:bodyPr wrap="square">
            <a:spAutoFit/>
          </a:bodyPr>
          <a:lstStyle/>
          <a:p>
            <a:r>
              <a:rPr sz="2800" b="0">
                <a:solidFill>
                  <a:srgbClr val="1F1F1F"/>
                </a:solidFill>
                <a:latin typeface="Helvetica Neue Light"/>
              </a:rPr>
              <a:t>Competitive landscape: trading apps today, and the gap</a:t>
            </a:r>
          </a:p>
        </p:txBody>
      </p:sp>
      <p:sp>
        <p:nvSpPr>
          <p:cNvPr id="4" name="TextBox 3"/>
          <p:cNvSpPr txBox="1"/>
          <p:nvPr/>
        </p:nvSpPr>
        <p:spPr>
          <a:xfrm>
            <a:off x="457200" y="1554480"/>
            <a:ext cx="12070080" cy="365760"/>
          </a:xfrm>
          <a:prstGeom prst="rect">
            <a:avLst/>
          </a:prstGeom>
          <a:noFill/>
        </p:spPr>
        <p:txBody>
          <a:bodyPr wrap="square">
            <a:spAutoFit/>
          </a:bodyPr>
          <a:lstStyle/>
          <a:p>
            <a:r>
              <a:rPr sz="1600" b="0">
                <a:solidFill>
                  <a:srgbClr val="595959"/>
                </a:solidFill>
                <a:latin typeface="Helvetica Neue Light"/>
              </a:rPr>
              <a:t>From the August 2026 competitive audit. Re-check features before publishing.</a:t>
            </a:r>
          </a:p>
        </p:txBody>
      </p:sp>
      <p:graphicFrame>
        <p:nvGraphicFramePr>
          <p:cNvPr id="5" name="Table 4"/>
          <p:cNvGraphicFramePr>
            <a:graphicFrameLocks noGrp="1"/>
          </p:cNvGraphicFramePr>
          <p:nvPr/>
        </p:nvGraphicFramePr>
        <p:xfrm>
          <a:off x="457200" y="2377440"/>
          <a:ext cx="12070080" cy="4114800"/>
        </p:xfrm>
        <a:graphic>
          <a:graphicData uri="http://schemas.openxmlformats.org/drawingml/2006/table">
            <a:tbl>
              <a:tblPr firstRow="1" bandRow="1">
                <a:tableStyleId>{5C22544A-7EE6-4342-B048-85BDC9FD1C3A}</a:tableStyleId>
              </a:tblPr>
              <a:tblGrid>
                <a:gridCol w="2743200"/>
                <a:gridCol w="4572000"/>
                <a:gridCol w="4754880"/>
              </a:tblGrid>
              <a:tr h="822960">
                <a:tc>
                  <a:txBody>
                    <a:bodyPr/>
                    <a:lstStyle/>
                    <a:p>
                      <a:r>
                        <a:rPr sz="1500" b="1">
                          <a:solidFill>
                            <a:srgbClr val="C45A35"/>
                          </a:solidFill>
                          <a:latin typeface="Helvetica Neue"/>
                        </a:rPr>
                        <a:t>Product</a:t>
                      </a:r>
                    </a:p>
                  </a:txBody>
                  <a:tcPr/>
                </a:tc>
                <a:tc>
                  <a:txBody>
                    <a:bodyPr/>
                    <a:lstStyle/>
                    <a:p>
                      <a:r>
                        <a:rPr sz="1500" b="1">
                          <a:solidFill>
                            <a:srgbClr val="C45A35"/>
                          </a:solidFill>
                          <a:latin typeface="Helvetica Neue"/>
                        </a:rPr>
                        <a:t>Feature today</a:t>
                      </a:r>
                    </a:p>
                  </a:txBody>
                  <a:tcPr/>
                </a:tc>
                <a:tc>
                  <a:txBody>
                    <a:bodyPr/>
                    <a:lstStyle/>
                    <a:p>
                      <a:r>
                        <a:rPr sz="1500" b="1">
                          <a:solidFill>
                            <a:srgbClr val="C45A35"/>
                          </a:solidFill>
                          <a:latin typeface="Helvetica Neue"/>
                        </a:rPr>
                        <a:t>Limitation</a:t>
                      </a:r>
                    </a:p>
                  </a:txBody>
                  <a:tcPr/>
                </a:tc>
              </a:tr>
              <a:tr h="822960">
                <a:tc>
                  <a:txBody>
                    <a:bodyPr/>
                    <a:lstStyle/>
                    <a:p>
                      <a:r>
                        <a:rPr sz="1600" b="1">
                          <a:solidFill>
                            <a:srgbClr val="1F1F1F"/>
                          </a:solidFill>
                          <a:latin typeface="Helvetica Neue"/>
                        </a:rPr>
                        <a:t>Robinhood</a:t>
                      </a:r>
                    </a:p>
                  </a:txBody>
                  <a:tcPr/>
                </a:tc>
                <a:tc>
                  <a:txBody>
                    <a:bodyPr/>
                    <a:lstStyle/>
                    <a:p>
                      <a:r>
                        <a:rPr sz="1600" b="0">
                          <a:solidFill>
                            <a:srgbClr val="1F1F1F"/>
                          </a:solidFill>
                          <a:latin typeface="Helvetica Neue Light"/>
                        </a:rPr>
                        <a:t>Price alerts that notify when a stock moves.</a:t>
                      </a:r>
                    </a:p>
                  </a:txBody>
                  <a:tcPr/>
                </a:tc>
                <a:tc>
                  <a:txBody>
                    <a:bodyPr/>
                    <a:lstStyle/>
                    <a:p>
                      <a:r>
                        <a:rPr sz="1600" b="0">
                          <a:solidFill>
                            <a:srgbClr val="1F1F1F"/>
                          </a:solidFill>
                          <a:latin typeface="Helvetica Neue Light"/>
                        </a:rPr>
                        <a:t>Passive and user-initiated. No pattern-based guidance.</a:t>
                      </a:r>
                    </a:p>
                  </a:txBody>
                  <a:tcPr/>
                </a:tc>
              </a:tr>
              <a:tr h="822960">
                <a:tc>
                  <a:txBody>
                    <a:bodyPr/>
                    <a:lstStyle/>
                    <a:p>
                      <a:r>
                        <a:rPr sz="1600" b="1">
                          <a:solidFill>
                            <a:srgbClr val="1F1F1F"/>
                          </a:solidFill>
                          <a:latin typeface="Helvetica Neue"/>
                        </a:rPr>
                        <a:t>Schwab</a:t>
                      </a:r>
                    </a:p>
                  </a:txBody>
                  <a:tcPr/>
                </a:tc>
                <a:tc>
                  <a:txBody>
                    <a:bodyPr/>
                    <a:lstStyle/>
                    <a:p>
                      <a:r>
                        <a:rPr sz="1600" b="0">
                          <a:solidFill>
                            <a:srgbClr val="1F1F1F"/>
                          </a:solidFill>
                          <a:latin typeface="Helvetica Neue Light"/>
                        </a:rPr>
                        <a:t>Suitability checks that warn when an order breaks a risk profile.</a:t>
                      </a:r>
                    </a:p>
                  </a:txBody>
                  <a:tcPr/>
                </a:tc>
                <a:tc>
                  <a:txBody>
                    <a:bodyPr/>
                    <a:lstStyle/>
                    <a:p>
                      <a:r>
                        <a:rPr sz="1600" b="0">
                          <a:solidFill>
                            <a:srgbClr val="1F1F1F"/>
                          </a:solidFill>
                          <a:latin typeface="Helvetica Neue Light"/>
                        </a:rPr>
                        <a:t>Compliance-driven. Does not learn from the user.</a:t>
                      </a:r>
                    </a:p>
                  </a:txBody>
                  <a:tcPr/>
                </a:tc>
              </a:tr>
              <a:tr h="822960">
                <a:tc>
                  <a:txBody>
                    <a:bodyPr/>
                    <a:lstStyle/>
                    <a:p>
                      <a:r>
                        <a:rPr sz="1600" b="1">
                          <a:solidFill>
                            <a:srgbClr val="1F1F1F"/>
                          </a:solidFill>
                          <a:latin typeface="Helvetica Neue"/>
                        </a:rPr>
                        <a:t>Wealthfront</a:t>
                      </a:r>
                    </a:p>
                  </a:txBody>
                  <a:tcPr/>
                </a:tc>
                <a:tc>
                  <a:txBody>
                    <a:bodyPr/>
                    <a:lstStyle/>
                    <a:p>
                      <a:r>
                        <a:rPr sz="1600" b="0">
                          <a:solidFill>
                            <a:srgbClr val="1F1F1F"/>
                          </a:solidFill>
                          <a:latin typeface="Helvetica Neue Light"/>
                        </a:rPr>
                        <a:t>Volatility score on positions.</a:t>
                      </a:r>
                    </a:p>
                  </a:txBody>
                  <a:tcPr/>
                </a:tc>
                <a:tc>
                  <a:txBody>
                    <a:bodyPr/>
                    <a:lstStyle/>
                    <a:p>
                      <a:r>
                        <a:rPr sz="1600" b="0">
                          <a:solidFill>
                            <a:srgbClr val="1F1F1F"/>
                          </a:solidFill>
                          <a:latin typeface="Helvetica Neue Light"/>
                        </a:rPr>
                        <a:t>Generic, not based on the user’s own pattern.</a:t>
                      </a:r>
                    </a:p>
                  </a:txBody>
                  <a:tcPr/>
                </a:tc>
              </a:tr>
              <a:tr h="822960">
                <a:tc>
                  <a:txBody>
                    <a:bodyPr/>
                    <a:lstStyle/>
                    <a:p>
                      <a:r>
                        <a:rPr sz="1600" b="1">
                          <a:solidFill>
                            <a:srgbClr val="1F1F1F"/>
                          </a:solidFill>
                          <a:latin typeface="Helvetica Neue"/>
                        </a:rPr>
                        <a:t>Vanguard</a:t>
                      </a:r>
                    </a:p>
                  </a:txBody>
                  <a:tcPr/>
                </a:tc>
                <a:tc>
                  <a:txBody>
                    <a:bodyPr/>
                    <a:lstStyle/>
                    <a:p>
                      <a:r>
                        <a:rPr sz="1600" b="0">
                          <a:solidFill>
                            <a:srgbClr val="1F1F1F"/>
                          </a:solidFill>
                          <a:latin typeface="Helvetica Neue Light"/>
                        </a:rPr>
                        <a:t>Time-based rebalancing reminders.</a:t>
                      </a:r>
                    </a:p>
                  </a:txBody>
                  <a:tcPr/>
                </a:tc>
                <a:tc>
                  <a:txBody>
                    <a:bodyPr/>
                    <a:lstStyle/>
                    <a:p>
                      <a:r>
                        <a:rPr sz="1600" b="0">
                          <a:solidFill>
                            <a:srgbClr val="1F1F1F"/>
                          </a:solidFill>
                          <a:latin typeface="Helvetica Neue Light"/>
                        </a:rPr>
                        <a:t>Tied to the calendar, not to the user’s behavior.</a:t>
                      </a:r>
                    </a:p>
                  </a:txBody>
                  <a:tcPr/>
                </a:tc>
              </a:tr>
            </a:tbl>
          </a:graphicData>
        </a:graphic>
      </p:graphicFrame>
      <p:sp>
        <p:nvSpPr>
          <p:cNvPr id="6" name="TextBox 5"/>
          <p:cNvSpPr txBox="1"/>
          <p:nvPr/>
        </p:nvSpPr>
        <p:spPr>
          <a:xfrm>
            <a:off x="457200" y="7955279"/>
            <a:ext cx="12070080" cy="822960"/>
          </a:xfrm>
          <a:prstGeom prst="rect">
            <a:avLst/>
          </a:prstGeom>
          <a:noFill/>
        </p:spPr>
        <p:txBody>
          <a:bodyPr wrap="square">
            <a:spAutoFit/>
          </a:bodyPr>
          <a:lstStyle/>
          <a:p>
            <a:r>
              <a:rPr sz="1500" b="0">
                <a:solidFill>
                  <a:srgbClr val="6E6E6E"/>
                </a:solidFill>
                <a:latin typeface="Helvetica Neue Light"/>
              </a:rPr>
              <a:t>Meridian’s bet: nudges built from the user’s own history, shown next to the order. The audit found no platform doing this.</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04 · Users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Three draft personas to validate before we rely on them</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Text 2"/>
          <p:cNvSpPr txBox="1"/>
          <p:nvPr/>
        </p:nvSpPr>
        <p:spPr>
          <a:xfrm>
            <a:off x="457200" y="2468880"/>
            <a:ext cx="384048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DRAFT PERSONA</a:t>
            </a:r>
            <a:endParaRPr lang="en-US" sz="1280" dirty="0"/>
          </a:p>
        </p:txBody>
      </p:sp>
      <p:sp>
        <p:nvSpPr>
          <p:cNvPr id="6" name="Text 3"/>
          <p:cNvSpPr txBox="1"/>
          <p:nvPr/>
        </p:nvSpPr>
        <p:spPr>
          <a:xfrm>
            <a:off x="457200" y="2834640"/>
            <a:ext cx="3840480" cy="640080"/>
          </a:xfrm>
          <a:prstGeom prst="rect">
            <a:avLst/>
          </a:prstGeom>
          <a:noFill/>
          <a:ln/>
        </p:spPr>
        <p:txBody>
          <a:bodyPr wrap="square" lIns="0" tIns="0" rIns="0" bIns="0" rtlCol="0" anchor="t"/>
          <a:lstStyle/>
          <a:p>
            <a:pPr indent="0" marL="0">
              <a:buNone/>
            </a:pPr>
            <a:r>
              <a:rPr lang="en-US" sz="3600" dirty="0">
                <a:solidFill>
                  <a:srgbClr val="1F1F1F"/>
                </a:solidFill>
                <a:latin typeface="Helvetica Neue Light" pitchFamily="34" charset="0"/>
                <a:ea typeface="Helvetica Neue Light" pitchFamily="34" charset="-122"/>
                <a:cs typeface="Helvetica Neue Light" pitchFamily="34" charset="-120"/>
              </a:rPr>
              <a:t>Maya</a:t>
            </a:r>
            <a:endParaRPr lang="en-US" sz="3600" dirty="0"/>
          </a:p>
        </p:txBody>
      </p:sp>
      <p:sp>
        <p:nvSpPr>
          <p:cNvPr id="7" name="Text 4"/>
          <p:cNvSpPr txBox="1"/>
          <p:nvPr/>
        </p:nvSpPr>
        <p:spPr>
          <a:xfrm>
            <a:off x="457200" y="3566160"/>
            <a:ext cx="3840480" cy="365760"/>
          </a:xfrm>
          <a:prstGeom prst="rect">
            <a:avLst/>
          </a:prstGeom>
          <a:noFill/>
          <a:ln/>
        </p:spPr>
        <p:txBody>
          <a:bodyPr wrap="square" lIns="0" tIns="0" rIns="0" bIns="0" rtlCol="0" anchor="t"/>
          <a:lstStyle/>
          <a:p>
            <a:pPr indent="0" marL="0">
              <a:buNone/>
            </a:pPr>
            <a:r>
              <a:rPr lang="en-US" sz="1500" dirty="0">
                <a:solidFill>
                  <a:srgbClr val="C45A35"/>
                </a:solidFill>
                <a:latin typeface="Helvetica Neue" pitchFamily="34" charset="0"/>
                <a:ea typeface="Helvetica Neue" pitchFamily="34" charset="-122"/>
                <a:cs typeface="Helvetica Neue" pitchFamily="34" charset="-120"/>
              </a:rPr>
              <a:t>Active self-directed trader</a:t>
            </a:r>
            <a:endParaRPr lang="en-US" sz="1500" dirty="0"/>
          </a:p>
        </p:txBody>
      </p:sp>
      <p:sp>
        <p:nvSpPr>
          <p:cNvPr id="8" name="Text 5"/>
          <p:cNvSpPr txBox="1"/>
          <p:nvPr/>
        </p:nvSpPr>
        <p:spPr>
          <a:xfrm>
            <a:off x="457200" y="4069080"/>
            <a:ext cx="3749040" cy="109728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Trades several times a week from her phone. Uses a brokerage app and a separate news source.</a:t>
            </a:r>
            <a:endParaRPr lang="en-US" sz="1700" dirty="0"/>
          </a:p>
        </p:txBody>
      </p:sp>
      <p:sp>
        <p:nvSpPr>
          <p:cNvPr id="9" name="Text 6"/>
          <p:cNvSpPr txBox="1"/>
          <p:nvPr/>
        </p:nvSpPr>
        <p:spPr>
          <a:xfrm>
            <a:off x="457200" y="5257800"/>
            <a:ext cx="3749040" cy="2377440"/>
          </a:xfrm>
          <a:prstGeom prst="rect">
            <a:avLst/>
          </a:prstGeom>
          <a:noFill/>
          <a:ln/>
        </p:spPr>
        <p:txBody>
          <a:bodyPr wrap="square" lIns="0" tIns="0" rIns="0" bIns="0" rtlCol="0" anchor="t"/>
          <a:lstStyle/>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Get in and out quickly; spot momentum early</a:t>
            </a:r>
            <a:endParaRPr lang="en-US" sz="1636" dirty="0"/>
          </a:p>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Pain: research is scattered; order entry takes too many taps</a:t>
            </a:r>
            <a:endParaRPr lang="en-US" sz="1636" dirty="0"/>
          </a:p>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Features: Insight, Prospect, Share flow</a:t>
            </a:r>
            <a:endParaRPr lang="en-US" sz="1636" dirty="0"/>
          </a:p>
        </p:txBody>
      </p:sp>
      <p:sp>
        <p:nvSpPr>
          <p:cNvPr id="10" name="Text 7"/>
          <p:cNvSpPr txBox="1"/>
          <p:nvPr/>
        </p:nvSpPr>
        <p:spPr>
          <a:xfrm>
            <a:off x="4663440" y="2468880"/>
            <a:ext cx="384048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DRAFT PERSONA</a:t>
            </a:r>
            <a:endParaRPr lang="en-US" sz="1280" dirty="0"/>
          </a:p>
        </p:txBody>
      </p:sp>
      <p:sp>
        <p:nvSpPr>
          <p:cNvPr id="11" name="Text 8"/>
          <p:cNvSpPr txBox="1"/>
          <p:nvPr/>
        </p:nvSpPr>
        <p:spPr>
          <a:xfrm>
            <a:off x="4663440" y="2834640"/>
            <a:ext cx="3840480" cy="640080"/>
          </a:xfrm>
          <a:prstGeom prst="rect">
            <a:avLst/>
          </a:prstGeom>
          <a:noFill/>
          <a:ln/>
        </p:spPr>
        <p:txBody>
          <a:bodyPr wrap="square" lIns="0" tIns="0" rIns="0" bIns="0" rtlCol="0" anchor="t"/>
          <a:lstStyle/>
          <a:p>
            <a:pPr indent="0" marL="0">
              <a:buNone/>
            </a:pPr>
            <a:r>
              <a:rPr lang="en-US" sz="3600" dirty="0">
                <a:solidFill>
                  <a:srgbClr val="1F1F1F"/>
                </a:solidFill>
                <a:latin typeface="Helvetica Neue Light" pitchFamily="34" charset="0"/>
                <a:ea typeface="Helvetica Neue Light" pitchFamily="34" charset="-122"/>
                <a:cs typeface="Helvetica Neue Light" pitchFamily="34" charset="-120"/>
              </a:rPr>
              <a:t>Daniel</a:t>
            </a:r>
            <a:endParaRPr lang="en-US" sz="3600" dirty="0"/>
          </a:p>
        </p:txBody>
      </p:sp>
      <p:sp>
        <p:nvSpPr>
          <p:cNvPr id="12" name="Text 9"/>
          <p:cNvSpPr txBox="1"/>
          <p:nvPr/>
        </p:nvSpPr>
        <p:spPr>
          <a:xfrm>
            <a:off x="4663440" y="3566160"/>
            <a:ext cx="3840480" cy="365760"/>
          </a:xfrm>
          <a:prstGeom prst="rect">
            <a:avLst/>
          </a:prstGeom>
          <a:noFill/>
          <a:ln/>
        </p:spPr>
        <p:txBody>
          <a:bodyPr wrap="square" lIns="0" tIns="0" rIns="0" bIns="0" rtlCol="0" anchor="t"/>
          <a:lstStyle/>
          <a:p>
            <a:pPr indent="0" marL="0">
              <a:buNone/>
            </a:pPr>
            <a:r>
              <a:rPr lang="en-US" sz="1500" dirty="0">
                <a:solidFill>
                  <a:srgbClr val="5B3F96"/>
                </a:solidFill>
                <a:latin typeface="Helvetica Neue" pitchFamily="34" charset="0"/>
                <a:ea typeface="Helvetica Neue" pitchFamily="34" charset="-122"/>
                <a:cs typeface="Helvetica Neue" pitchFamily="34" charset="-120"/>
              </a:rPr>
              <a:t>Busy professional investor</a:t>
            </a:r>
            <a:endParaRPr lang="en-US" sz="1500" dirty="0"/>
          </a:p>
        </p:txBody>
      </p:sp>
      <p:sp>
        <p:nvSpPr>
          <p:cNvPr id="13" name="Text 10"/>
          <p:cNvSpPr txBox="1"/>
          <p:nvPr/>
        </p:nvSpPr>
        <p:spPr>
          <a:xfrm>
            <a:off x="4663440" y="4069080"/>
            <a:ext cx="3749040" cy="109728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Invests a fixed amount each month and checks his portfolio weekly.</a:t>
            </a:r>
            <a:endParaRPr lang="en-US" sz="1700" dirty="0"/>
          </a:p>
        </p:txBody>
      </p:sp>
      <p:sp>
        <p:nvSpPr>
          <p:cNvPr id="14" name="Text 11"/>
          <p:cNvSpPr txBox="1"/>
          <p:nvPr/>
        </p:nvSpPr>
        <p:spPr>
          <a:xfrm>
            <a:off x="4663440" y="5257800"/>
            <a:ext cx="3749040" cy="2377440"/>
          </a:xfrm>
          <a:prstGeom prst="rect">
            <a:avLst/>
          </a:prstGeom>
          <a:noFill/>
          <a:ln/>
        </p:spPr>
        <p:txBody>
          <a:bodyPr wrap="square" lIns="0" tIns="0" rIns="0" bIns="0" rtlCol="0" anchor="t"/>
          <a:lstStyle/>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Grow long-term savings without big mistakes</a:t>
            </a:r>
            <a:endParaRPr lang="en-US" sz="1636" dirty="0"/>
          </a:p>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Pain: no time to research; unsure when to rebalance</a:t>
            </a:r>
            <a:endParaRPr lang="en-US" sz="1636" dirty="0"/>
          </a:p>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Features: Guard, Adapt, Dashboard</a:t>
            </a:r>
            <a:endParaRPr lang="en-US" sz="1636" dirty="0"/>
          </a:p>
        </p:txBody>
      </p:sp>
      <p:sp>
        <p:nvSpPr>
          <p:cNvPr id="15" name="Text 12"/>
          <p:cNvSpPr txBox="1"/>
          <p:nvPr/>
        </p:nvSpPr>
        <p:spPr>
          <a:xfrm>
            <a:off x="8869680" y="2468880"/>
            <a:ext cx="3840480" cy="274320"/>
          </a:xfrm>
          <a:prstGeom prst="rect">
            <a:avLst/>
          </a:prstGeom>
          <a:noFill/>
          <a:ln/>
        </p:spPr>
        <p:txBody>
          <a:bodyPr wrap="square" lIns="0" tIns="0" rIns="0" bIns="0" rtlCol="0" anchor="t"/>
          <a:lstStyle/>
          <a:p>
            <a:pPr indent="0" marL="0">
              <a:buNone/>
            </a:pPr>
            <a:r>
              <a:rPr lang="en-US" sz="1280" spc="100" kern="0" dirty="0">
                <a:solidFill>
                  <a:srgbClr val="00868B"/>
                </a:solidFill>
                <a:latin typeface="Helvetica Neue" pitchFamily="34" charset="0"/>
                <a:ea typeface="Helvetica Neue" pitchFamily="34" charset="-122"/>
                <a:cs typeface="Helvetica Neue" pitchFamily="34" charset="-120"/>
              </a:rPr>
              <a:t>DRAFT PERSONA</a:t>
            </a:r>
            <a:endParaRPr lang="en-US" sz="1280" dirty="0"/>
          </a:p>
        </p:txBody>
      </p:sp>
      <p:sp>
        <p:nvSpPr>
          <p:cNvPr id="16" name="Text 13"/>
          <p:cNvSpPr txBox="1"/>
          <p:nvPr/>
        </p:nvSpPr>
        <p:spPr>
          <a:xfrm>
            <a:off x="8869680" y="2834640"/>
            <a:ext cx="3840480" cy="640080"/>
          </a:xfrm>
          <a:prstGeom prst="rect">
            <a:avLst/>
          </a:prstGeom>
          <a:noFill/>
          <a:ln/>
        </p:spPr>
        <p:txBody>
          <a:bodyPr wrap="square" lIns="0" tIns="0" rIns="0" bIns="0" rtlCol="0" anchor="t"/>
          <a:lstStyle/>
          <a:p>
            <a:pPr indent="0" marL="0">
              <a:buNone/>
            </a:pPr>
            <a:r>
              <a:rPr lang="en-US" sz="3600" dirty="0">
                <a:solidFill>
                  <a:srgbClr val="1F1F1F"/>
                </a:solidFill>
                <a:latin typeface="Helvetica Neue Light" pitchFamily="34" charset="0"/>
                <a:ea typeface="Helvetica Neue Light" pitchFamily="34" charset="-122"/>
                <a:cs typeface="Helvetica Neue Light" pitchFamily="34" charset="-120"/>
              </a:rPr>
              <a:t>Priya</a:t>
            </a:r>
            <a:endParaRPr lang="en-US" sz="3600" dirty="0"/>
          </a:p>
        </p:txBody>
      </p:sp>
      <p:sp>
        <p:nvSpPr>
          <p:cNvPr id="17" name="Text 14"/>
          <p:cNvSpPr txBox="1"/>
          <p:nvPr/>
        </p:nvSpPr>
        <p:spPr>
          <a:xfrm>
            <a:off x="8869680" y="3566160"/>
            <a:ext cx="3840480" cy="365760"/>
          </a:xfrm>
          <a:prstGeom prst="rect">
            <a:avLst/>
          </a:prstGeom>
          <a:noFill/>
          <a:ln/>
        </p:spPr>
        <p:txBody>
          <a:bodyPr wrap="square" lIns="0" tIns="0" rIns="0" bIns="0" rtlCol="0" anchor="t"/>
          <a:lstStyle/>
          <a:p>
            <a:pPr indent="0" marL="0">
              <a:buNone/>
            </a:pPr>
            <a:r>
              <a:rPr lang="en-US" sz="1500" dirty="0">
                <a:solidFill>
                  <a:srgbClr val="00868B"/>
                </a:solidFill>
                <a:latin typeface="Helvetica Neue" pitchFamily="34" charset="0"/>
                <a:ea typeface="Helvetica Neue" pitchFamily="34" charset="-122"/>
                <a:cs typeface="Helvetica Neue" pitchFamily="34" charset="-120"/>
              </a:rPr>
              <a:t>First-time investor</a:t>
            </a:r>
            <a:endParaRPr lang="en-US" sz="1500" dirty="0"/>
          </a:p>
        </p:txBody>
      </p:sp>
      <p:sp>
        <p:nvSpPr>
          <p:cNvPr id="18" name="Text 15"/>
          <p:cNvSpPr txBox="1"/>
          <p:nvPr/>
        </p:nvSpPr>
        <p:spPr>
          <a:xfrm>
            <a:off x="8869680" y="4069080"/>
            <a:ext cx="3749040" cy="109728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New to investing. Wants to start small and learn while she invests.</a:t>
            </a:r>
            <a:endParaRPr lang="en-US" sz="1700" dirty="0"/>
          </a:p>
        </p:txBody>
      </p:sp>
      <p:sp>
        <p:nvSpPr>
          <p:cNvPr id="19" name="Text 16"/>
          <p:cNvSpPr txBox="1"/>
          <p:nvPr/>
        </p:nvSpPr>
        <p:spPr>
          <a:xfrm>
            <a:off x="8869680" y="5257800"/>
            <a:ext cx="3749040" cy="2377440"/>
          </a:xfrm>
          <a:prstGeom prst="rect">
            <a:avLst/>
          </a:prstGeom>
          <a:noFill/>
          <a:ln/>
        </p:spPr>
        <p:txBody>
          <a:bodyPr wrap="square" lIns="0" tIns="0" rIns="0" bIns="0" rtlCol="0" anchor="t"/>
          <a:lstStyle/>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Learn by doing; avoid a wrong trade</a:t>
            </a:r>
            <a:endParaRPr lang="en-US" sz="1636" dirty="0"/>
          </a:p>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Pain: jargon; fear of ordering the wrong amount</a:t>
            </a:r>
            <a:endParaRPr lang="en-US" sz="1636" dirty="0"/>
          </a:p>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Features: Dollar flow, Insight explanations</a:t>
            </a:r>
            <a:endParaRPr lang="en-US" sz="1636" dirty="0"/>
          </a:p>
        </p:txBody>
      </p:sp>
      <p:sp>
        <p:nvSpPr>
          <p:cNvPr id="20" name="Text 17"/>
          <p:cNvSpPr txBox="1"/>
          <p:nvPr/>
        </p:nvSpPr>
        <p:spPr>
          <a:xfrm>
            <a:off x="457200" y="8549640"/>
            <a:ext cx="12070080" cy="320040"/>
          </a:xfrm>
          <a:prstGeom prst="rect">
            <a:avLst/>
          </a:prstGeom>
          <a:noFill/>
          <a:ln/>
        </p:spPr>
        <p:txBody>
          <a:bodyPr wrap="square" lIns="0" tIns="0" rIns="0" bIns="0" rtlCol="0" anchor="t"/>
          <a:lstStyle/>
          <a:p>
            <a:pPr indent="0" marL="0">
              <a:buNone/>
            </a:pPr>
            <a:r>
              <a:rPr lang="en-US" sz="1400" dirty="0">
                <a:solidFill>
                  <a:srgbClr val="6E6E6E"/>
                </a:solidFill>
                <a:latin typeface="Helvetica Neue Light" pitchFamily="34" charset="0"/>
                <a:ea typeface="Helvetica Neue Light" pitchFamily="34" charset="-122"/>
                <a:cs typeface="Helvetica Neue Light" pitchFamily="34" charset="-120"/>
              </a:rPr>
              <a:t>Hypotheses from the FigJam board. Interviews come before any decision rests on them.</a:t>
            </a:r>
            <a:endParaRPr lang="en-US" sz="1400" dirty="0"/>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C45A35"/>
        </a:solidFill>
      </p:bgPr>
    </p:bg>
    <p:spTree>
      <p:nvGrpSpPr>
        <p:cNvPr id="1" name=""/>
        <p:cNvGrpSpPr/>
        <p:nvPr/>
      </p:nvGrpSpPr>
      <p:grpSpPr/>
      <p:sp>
        <p:nvSpPr>
          <p:cNvPr id="2" name="Text 0"/>
          <p:cNvSpPr txBox="1"/>
          <p:nvPr/>
        </p:nvSpPr>
        <p:spPr>
          <a:xfrm>
            <a:off x="978408" y="978408"/>
            <a:ext cx="10515600" cy="1097280"/>
          </a:xfrm>
          <a:prstGeom prst="rect">
            <a:avLst/>
          </a:prstGeom>
          <a:noFill/>
          <a:ln/>
        </p:spPr>
        <p:txBody>
          <a:bodyPr wrap="square" lIns="0" tIns="0" rIns="0" bIns="0" rtlCol="0" anchor="t"/>
          <a:lstStyle/>
          <a:p>
            <a:pPr indent="0" marL="0">
              <a:buNone/>
            </a:pPr>
            <a:r>
              <a:rPr lang="en-US" sz="5700" dirty="0">
                <a:solidFill>
                  <a:srgbClr val="FFFFFF"/>
                </a:solidFill>
                <a:latin typeface="Helvetica Neue Light" pitchFamily="34" charset="0"/>
                <a:ea typeface="Helvetica Neue Light" pitchFamily="34" charset="-122"/>
                <a:cs typeface="Helvetica Neue Light" pitchFamily="34" charset="-120"/>
              </a:rPr>
              <a:t>The solution</a:t>
            </a:r>
            <a:endParaRPr lang="en-US" sz="5700" dirty="0"/>
          </a:p>
        </p:txBody>
      </p:sp>
      <p:sp>
        <p:nvSpPr>
          <p:cNvPr id="3" name="Text 1"/>
          <p:cNvSpPr txBox="1"/>
          <p:nvPr/>
        </p:nvSpPr>
        <p:spPr>
          <a:xfrm>
            <a:off x="1078992" y="2286000"/>
            <a:ext cx="9601200" cy="822960"/>
          </a:xfrm>
          <a:prstGeom prst="rect">
            <a:avLst/>
          </a:prstGeom>
          <a:noFill/>
          <a:ln/>
        </p:spPr>
        <p:txBody>
          <a:bodyPr wrap="square" lIns="0" tIns="0" rIns="0" bIns="0" rtlCol="0" anchor="t"/>
          <a:lstStyle/>
          <a:p>
            <a:pPr indent="0" marL="0">
              <a:buNone/>
            </a:pPr>
            <a:r>
              <a:rPr lang="en-US" sz="1900" dirty="0">
                <a:solidFill>
                  <a:srgbClr val="FFE9DF"/>
                </a:solidFill>
                <a:latin typeface="Helvetica Neue Light" pitchFamily="34" charset="0"/>
                <a:ea typeface="Helvetica Neue Light" pitchFamily="34" charset="-122"/>
                <a:cs typeface="Helvetica Neue Light" pitchFamily="34" charset="-120"/>
              </a:rPr>
              <a:t>Hi-fi first: one trade through the app, then the AI screens that inform it.</a:t>
            </a:r>
            <a:endParaRPr lang="en-US" sz="19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05 · Solution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Five screens, each answering one question</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Shape 2"/>
          <p:cNvSpPr/>
          <p:nvPr/>
        </p:nvSpPr>
        <p:spPr>
          <a:xfrm>
            <a:off x="457200" y="2468880"/>
            <a:ext cx="2282342" cy="4937760"/>
          </a:xfrm>
          <a:prstGeom prst="rect">
            <a:avLst/>
          </a:prstGeom>
          <a:solidFill>
            <a:srgbClr val="14161D"/>
          </a:solidFill>
          <a:ln w="12700">
            <a:solidFill>
              <a:srgbClr val="14161D"/>
            </a:solidFill>
            <a:prstDash val="solid"/>
          </a:ln>
        </p:spPr>
      </p:sp>
      <p:pic>
        <p:nvPicPr>
          <p:cNvPr id="6" name="Image 1" descr="/tmp/meridian-deck/img/dash.png">    </p:cNvPr>
          <p:cNvPicPr>
            <a:picLocks noChangeAspect="1"/>
          </p:cNvPicPr>
          <p:nvPr/>
        </p:nvPicPr>
        <p:blipFill>
          <a:blip r:embed="rId3"/>
          <a:stretch>
            <a:fillRect/>
          </a:stretch>
        </p:blipFill>
        <p:spPr>
          <a:xfrm>
            <a:off x="457200" y="2468880"/>
            <a:ext cx="2282342" cy="4937760"/>
          </a:xfrm>
          <a:prstGeom prst="rect">
            <a:avLst/>
          </a:prstGeom>
        </p:spPr>
      </p:pic>
      <p:sp>
        <p:nvSpPr>
          <p:cNvPr id="7" name="Text 3"/>
          <p:cNvSpPr txBox="1"/>
          <p:nvPr/>
        </p:nvSpPr>
        <p:spPr>
          <a:xfrm>
            <a:off x="457200" y="7680960"/>
            <a:ext cx="2282342" cy="320040"/>
          </a:xfrm>
          <a:prstGeom prst="rect">
            <a:avLst/>
          </a:prstGeom>
          <a:noFill/>
          <a:ln/>
        </p:spPr>
        <p:txBody>
          <a:bodyPr wrap="square" lIns="0" tIns="0" rIns="0" bIns="0" rtlCol="0" anchor="t"/>
          <a:lstStyle/>
          <a:p>
            <a:pPr indent="0" marL="0">
              <a:buNone/>
            </a:pPr>
            <a:r>
              <a:rPr lang="en-US" sz="1500" dirty="0">
                <a:solidFill>
                  <a:srgbClr val="1F1F1F"/>
                </a:solidFill>
                <a:latin typeface="Helvetica Neue" pitchFamily="34" charset="0"/>
                <a:ea typeface="Helvetica Neue" pitchFamily="34" charset="-122"/>
                <a:cs typeface="Helvetica Neue" pitchFamily="34" charset="-120"/>
              </a:rPr>
              <a:t>Dashboard</a:t>
            </a:r>
            <a:endParaRPr lang="en-US" sz="1500" dirty="0"/>
          </a:p>
        </p:txBody>
      </p:sp>
      <p:sp>
        <p:nvSpPr>
          <p:cNvPr id="8" name="Text 4"/>
          <p:cNvSpPr txBox="1"/>
          <p:nvPr/>
        </p:nvSpPr>
        <p:spPr>
          <a:xfrm>
            <a:off x="457200" y="8046720"/>
            <a:ext cx="2282342" cy="457200"/>
          </a:xfrm>
          <a:prstGeom prst="rect">
            <a:avLst/>
          </a:prstGeom>
          <a:noFill/>
          <a:ln/>
        </p:spPr>
        <p:txBody>
          <a:bodyPr wrap="square" lIns="0" tIns="0" rIns="0" bIns="0" rtlCol="0" anchor="t"/>
          <a:lstStyle/>
          <a:p>
            <a:pPr indent="0" marL="0">
              <a:buNone/>
            </a:pPr>
            <a:r>
              <a:rPr lang="en-US" sz="1636" dirty="0">
                <a:solidFill>
                  <a:srgbClr val="1F1F1F"/>
                </a:solidFill>
                <a:latin typeface="Helvetica Neue Light" pitchFamily="34" charset="0"/>
                <a:ea typeface="Helvetica Neue Light" pitchFamily="34" charset="-122"/>
                <a:cs typeface="Helvetica Neue Light" pitchFamily="34" charset="-120"/>
              </a:rPr>
              <a:t>What do I own today?</a:t>
            </a:r>
            <a:endParaRPr lang="en-US" sz="1636" dirty="0"/>
          </a:p>
        </p:txBody>
      </p:sp>
      <p:sp>
        <p:nvSpPr>
          <p:cNvPr id="9" name="Shape 5"/>
          <p:cNvSpPr/>
          <p:nvPr/>
        </p:nvSpPr>
        <p:spPr>
          <a:xfrm>
            <a:off x="2909164" y="2468880"/>
            <a:ext cx="2282342" cy="4937760"/>
          </a:xfrm>
          <a:prstGeom prst="rect">
            <a:avLst/>
          </a:prstGeom>
          <a:solidFill>
            <a:srgbClr val="14161D"/>
          </a:solidFill>
          <a:ln w="12700">
            <a:solidFill>
              <a:srgbClr val="14161D"/>
            </a:solidFill>
            <a:prstDash val="solid"/>
          </a:ln>
        </p:spPr>
      </p:sp>
      <p:pic>
        <p:nvPicPr>
          <p:cNvPr id="10" name="Image 2" descr="/tmp/meridian-deck/img/insight.png">    </p:cNvPr>
          <p:cNvPicPr>
            <a:picLocks noChangeAspect="1"/>
          </p:cNvPicPr>
          <p:nvPr/>
        </p:nvPicPr>
        <p:blipFill>
          <a:blip r:embed="rId4"/>
          <a:stretch>
            <a:fillRect/>
          </a:stretch>
        </p:blipFill>
        <p:spPr>
          <a:xfrm>
            <a:off x="2909164" y="2468880"/>
            <a:ext cx="2282342" cy="4937760"/>
          </a:xfrm>
          <a:prstGeom prst="rect">
            <a:avLst/>
          </a:prstGeom>
        </p:spPr>
      </p:pic>
      <p:sp>
        <p:nvSpPr>
          <p:cNvPr id="11" name="Text 6"/>
          <p:cNvSpPr txBox="1"/>
          <p:nvPr/>
        </p:nvSpPr>
        <p:spPr>
          <a:xfrm>
            <a:off x="2909164" y="7680960"/>
            <a:ext cx="2282342" cy="320040"/>
          </a:xfrm>
          <a:prstGeom prst="rect">
            <a:avLst/>
          </a:prstGeom>
          <a:noFill/>
          <a:ln/>
        </p:spPr>
        <p:txBody>
          <a:bodyPr wrap="square" lIns="0" tIns="0" rIns="0" bIns="0" rtlCol="0" anchor="t"/>
          <a:lstStyle/>
          <a:p>
            <a:pPr indent="0" marL="0">
              <a:buNone/>
            </a:pPr>
            <a:r>
              <a:rPr lang="en-US" sz="1500" dirty="0">
                <a:solidFill>
                  <a:srgbClr val="00868B"/>
                </a:solidFill>
                <a:latin typeface="Helvetica Neue" pitchFamily="34" charset="0"/>
                <a:ea typeface="Helvetica Neue" pitchFamily="34" charset="-122"/>
                <a:cs typeface="Helvetica Neue" pitchFamily="34" charset="-120"/>
              </a:rPr>
              <a:t>Insight</a:t>
            </a:r>
            <a:endParaRPr lang="en-US" sz="1500" dirty="0"/>
          </a:p>
        </p:txBody>
      </p:sp>
      <p:sp>
        <p:nvSpPr>
          <p:cNvPr id="12" name="Text 7"/>
          <p:cNvSpPr txBox="1"/>
          <p:nvPr/>
        </p:nvSpPr>
        <p:spPr>
          <a:xfrm>
            <a:off x="2909164" y="8046720"/>
            <a:ext cx="2282342" cy="457200"/>
          </a:xfrm>
          <a:prstGeom prst="rect">
            <a:avLst/>
          </a:prstGeom>
          <a:noFill/>
          <a:ln/>
        </p:spPr>
        <p:txBody>
          <a:bodyPr wrap="square" lIns="0" tIns="0" rIns="0" bIns="0" rtlCol="0" anchor="t"/>
          <a:lstStyle/>
          <a:p>
            <a:pPr indent="0" marL="0">
              <a:buNone/>
            </a:pPr>
            <a:r>
              <a:rPr lang="en-US" sz="1636" dirty="0">
                <a:solidFill>
                  <a:srgbClr val="1F1F1F"/>
                </a:solidFill>
                <a:latin typeface="Helvetica Neue Light" pitchFamily="34" charset="0"/>
                <a:ea typeface="Helvetica Neue Light" pitchFamily="34" charset="-122"/>
                <a:cs typeface="Helvetica Neue Light" pitchFamily="34" charset="-120"/>
              </a:rPr>
              <a:t>What moved, and why?</a:t>
            </a:r>
            <a:endParaRPr lang="en-US" sz="1636" dirty="0"/>
          </a:p>
        </p:txBody>
      </p:sp>
      <p:sp>
        <p:nvSpPr>
          <p:cNvPr id="13" name="Shape 8"/>
          <p:cNvSpPr/>
          <p:nvPr/>
        </p:nvSpPr>
        <p:spPr>
          <a:xfrm>
            <a:off x="5361127" y="2468880"/>
            <a:ext cx="2282342" cy="4937760"/>
          </a:xfrm>
          <a:prstGeom prst="rect">
            <a:avLst/>
          </a:prstGeom>
          <a:solidFill>
            <a:srgbClr val="14161D"/>
          </a:solidFill>
          <a:ln w="12700">
            <a:solidFill>
              <a:srgbClr val="14161D"/>
            </a:solidFill>
            <a:prstDash val="solid"/>
          </a:ln>
        </p:spPr>
      </p:sp>
      <p:pic>
        <p:nvPicPr>
          <p:cNvPr id="14" name="Image 3" descr="/tmp/meridian-deck/img/prospect.png">    </p:cNvPr>
          <p:cNvPicPr>
            <a:picLocks noChangeAspect="1"/>
          </p:cNvPicPr>
          <p:nvPr/>
        </p:nvPicPr>
        <p:blipFill>
          <a:blip r:embed="rId5"/>
          <a:stretch>
            <a:fillRect/>
          </a:stretch>
        </p:blipFill>
        <p:spPr>
          <a:xfrm>
            <a:off x="5361127" y="2468880"/>
            <a:ext cx="2282342" cy="4937760"/>
          </a:xfrm>
          <a:prstGeom prst="rect">
            <a:avLst/>
          </a:prstGeom>
        </p:spPr>
      </p:pic>
      <p:sp>
        <p:nvSpPr>
          <p:cNvPr id="15" name="Text 9"/>
          <p:cNvSpPr txBox="1"/>
          <p:nvPr/>
        </p:nvSpPr>
        <p:spPr>
          <a:xfrm>
            <a:off x="5361127" y="7680960"/>
            <a:ext cx="2282342" cy="320040"/>
          </a:xfrm>
          <a:prstGeom prst="rect">
            <a:avLst/>
          </a:prstGeom>
          <a:noFill/>
          <a:ln/>
        </p:spPr>
        <p:txBody>
          <a:bodyPr wrap="square" lIns="0" tIns="0" rIns="0" bIns="0" rtlCol="0" anchor="t"/>
          <a:lstStyle/>
          <a:p>
            <a:pPr indent="0" marL="0">
              <a:buNone/>
            </a:pPr>
            <a:r>
              <a:rPr lang="en-US" sz="1500" dirty="0">
                <a:solidFill>
                  <a:srgbClr val="5B3F96"/>
                </a:solidFill>
                <a:latin typeface="Helvetica Neue" pitchFamily="34" charset="0"/>
                <a:ea typeface="Helvetica Neue" pitchFamily="34" charset="-122"/>
                <a:cs typeface="Helvetica Neue" pitchFamily="34" charset="-120"/>
              </a:rPr>
              <a:t>Prospect</a:t>
            </a:r>
            <a:endParaRPr lang="en-US" sz="1500" dirty="0"/>
          </a:p>
        </p:txBody>
      </p:sp>
      <p:sp>
        <p:nvSpPr>
          <p:cNvPr id="16" name="Text 10"/>
          <p:cNvSpPr txBox="1"/>
          <p:nvPr/>
        </p:nvSpPr>
        <p:spPr>
          <a:xfrm>
            <a:off x="5361127" y="8046720"/>
            <a:ext cx="2282342" cy="457200"/>
          </a:xfrm>
          <a:prstGeom prst="rect">
            <a:avLst/>
          </a:prstGeom>
          <a:noFill/>
          <a:ln/>
        </p:spPr>
        <p:txBody>
          <a:bodyPr wrap="square" lIns="0" tIns="0" rIns="0" bIns="0" rtlCol="0" anchor="t"/>
          <a:lstStyle/>
          <a:p>
            <a:pPr indent="0" marL="0">
              <a:buNone/>
            </a:pPr>
            <a:r>
              <a:rPr lang="en-US" sz="1636" dirty="0">
                <a:solidFill>
                  <a:srgbClr val="1F1F1F"/>
                </a:solidFill>
                <a:latin typeface="Helvetica Neue Light" pitchFamily="34" charset="0"/>
                <a:ea typeface="Helvetica Neue Light" pitchFamily="34" charset="-122"/>
                <a:cs typeface="Helvetica Neue Light" pitchFamily="34" charset="-120"/>
              </a:rPr>
              <a:t>What might fit my plan?</a:t>
            </a:r>
            <a:endParaRPr lang="en-US" sz="1636" dirty="0"/>
          </a:p>
        </p:txBody>
      </p:sp>
      <p:sp>
        <p:nvSpPr>
          <p:cNvPr id="17" name="Shape 11"/>
          <p:cNvSpPr/>
          <p:nvPr/>
        </p:nvSpPr>
        <p:spPr>
          <a:xfrm>
            <a:off x="7813091" y="2468880"/>
            <a:ext cx="2282342" cy="4937760"/>
          </a:xfrm>
          <a:prstGeom prst="rect">
            <a:avLst/>
          </a:prstGeom>
          <a:solidFill>
            <a:srgbClr val="14161D"/>
          </a:solidFill>
          <a:ln w="12700">
            <a:solidFill>
              <a:srgbClr val="14161D"/>
            </a:solidFill>
            <a:prstDash val="solid"/>
          </a:ln>
        </p:spPr>
      </p:sp>
      <p:pic>
        <p:nvPicPr>
          <p:cNvPr id="18" name="Image 4" descr="/tmp/meridian-deck/img/guard.png">    </p:cNvPr>
          <p:cNvPicPr>
            <a:picLocks noChangeAspect="1"/>
          </p:cNvPicPr>
          <p:nvPr/>
        </p:nvPicPr>
        <p:blipFill>
          <a:blip r:embed="rId6"/>
          <a:stretch>
            <a:fillRect/>
          </a:stretch>
        </p:blipFill>
        <p:spPr>
          <a:xfrm>
            <a:off x="7813091" y="2468880"/>
            <a:ext cx="2282342" cy="4937760"/>
          </a:xfrm>
          <a:prstGeom prst="rect">
            <a:avLst/>
          </a:prstGeom>
        </p:spPr>
      </p:pic>
      <p:sp>
        <p:nvSpPr>
          <p:cNvPr id="19" name="Text 12"/>
          <p:cNvSpPr txBox="1"/>
          <p:nvPr/>
        </p:nvSpPr>
        <p:spPr>
          <a:xfrm>
            <a:off x="7813091" y="7680960"/>
            <a:ext cx="2282342" cy="320040"/>
          </a:xfrm>
          <a:prstGeom prst="rect">
            <a:avLst/>
          </a:prstGeom>
          <a:noFill/>
          <a:ln/>
        </p:spPr>
        <p:txBody>
          <a:bodyPr wrap="square" lIns="0" tIns="0" rIns="0" bIns="0" rtlCol="0" anchor="t"/>
          <a:lstStyle/>
          <a:p>
            <a:pPr indent="0" marL="0">
              <a:buNone/>
            </a:pPr>
            <a:r>
              <a:rPr lang="en-US" sz="1500" dirty="0">
                <a:solidFill>
                  <a:srgbClr val="A12A37"/>
                </a:solidFill>
                <a:latin typeface="Helvetica Neue" pitchFamily="34" charset="0"/>
                <a:ea typeface="Helvetica Neue" pitchFamily="34" charset="-122"/>
                <a:cs typeface="Helvetica Neue" pitchFamily="34" charset="-120"/>
              </a:rPr>
              <a:t>Guard</a:t>
            </a:r>
            <a:endParaRPr lang="en-US" sz="1500" dirty="0"/>
          </a:p>
        </p:txBody>
      </p:sp>
      <p:sp>
        <p:nvSpPr>
          <p:cNvPr id="20" name="Text 13"/>
          <p:cNvSpPr txBox="1"/>
          <p:nvPr/>
        </p:nvSpPr>
        <p:spPr>
          <a:xfrm>
            <a:off x="7813091" y="8046720"/>
            <a:ext cx="2282342" cy="457200"/>
          </a:xfrm>
          <a:prstGeom prst="rect">
            <a:avLst/>
          </a:prstGeom>
          <a:noFill/>
          <a:ln/>
        </p:spPr>
        <p:txBody>
          <a:bodyPr wrap="square" lIns="0" tIns="0" rIns="0" bIns="0" rtlCol="0" anchor="t"/>
          <a:lstStyle/>
          <a:p>
            <a:pPr indent="0" marL="0">
              <a:buNone/>
            </a:pPr>
            <a:r>
              <a:rPr lang="en-US" sz="1636" dirty="0">
                <a:solidFill>
                  <a:srgbClr val="1F1F1F"/>
                </a:solidFill>
                <a:latin typeface="Helvetica Neue Light" pitchFamily="34" charset="0"/>
                <a:ea typeface="Helvetica Neue Light" pitchFamily="34" charset="-122"/>
                <a:cs typeface="Helvetica Neue Light" pitchFamily="34" charset="-120"/>
              </a:rPr>
              <a:t>What needs my attention?</a:t>
            </a:r>
            <a:endParaRPr lang="en-US" sz="1636" dirty="0"/>
          </a:p>
        </p:txBody>
      </p:sp>
      <p:sp>
        <p:nvSpPr>
          <p:cNvPr id="21" name="Shape 14"/>
          <p:cNvSpPr/>
          <p:nvPr/>
        </p:nvSpPr>
        <p:spPr>
          <a:xfrm>
            <a:off x="10265054" y="2468880"/>
            <a:ext cx="2282342" cy="4937760"/>
          </a:xfrm>
          <a:prstGeom prst="rect">
            <a:avLst/>
          </a:prstGeom>
          <a:solidFill>
            <a:srgbClr val="14161D"/>
          </a:solidFill>
          <a:ln w="12700">
            <a:solidFill>
              <a:srgbClr val="14161D"/>
            </a:solidFill>
            <a:prstDash val="solid"/>
          </a:ln>
        </p:spPr>
      </p:sp>
      <p:pic>
        <p:nvPicPr>
          <p:cNvPr id="22" name="Image 5" descr="/tmp/meridian-deck/img/adapt.png">    </p:cNvPr>
          <p:cNvPicPr>
            <a:picLocks noChangeAspect="1"/>
          </p:cNvPicPr>
          <p:nvPr/>
        </p:nvPicPr>
        <p:blipFill>
          <a:blip r:embed="rId7"/>
          <a:stretch>
            <a:fillRect/>
          </a:stretch>
        </p:blipFill>
        <p:spPr>
          <a:xfrm>
            <a:off x="10265054" y="2468880"/>
            <a:ext cx="2282342" cy="4937760"/>
          </a:xfrm>
          <a:prstGeom prst="rect">
            <a:avLst/>
          </a:prstGeom>
        </p:spPr>
      </p:pic>
      <p:sp>
        <p:nvSpPr>
          <p:cNvPr id="23" name="Text 15"/>
          <p:cNvSpPr txBox="1"/>
          <p:nvPr/>
        </p:nvSpPr>
        <p:spPr>
          <a:xfrm>
            <a:off x="10265054" y="7680960"/>
            <a:ext cx="2282342" cy="320040"/>
          </a:xfrm>
          <a:prstGeom prst="rect">
            <a:avLst/>
          </a:prstGeom>
          <a:noFill/>
          <a:ln/>
        </p:spPr>
        <p:txBody>
          <a:bodyPr wrap="square" lIns="0" tIns="0" rIns="0" bIns="0" rtlCol="0" anchor="t"/>
          <a:lstStyle/>
          <a:p>
            <a:pPr indent="0" marL="0">
              <a:buNone/>
            </a:pPr>
            <a:r>
              <a:rPr lang="en-US" sz="1500" dirty="0">
                <a:solidFill>
                  <a:srgbClr val="C45A35"/>
                </a:solidFill>
                <a:latin typeface="Helvetica Neue" pitchFamily="34" charset="0"/>
                <a:ea typeface="Helvetica Neue" pitchFamily="34" charset="-122"/>
                <a:cs typeface="Helvetica Neue" pitchFamily="34" charset="-120"/>
              </a:rPr>
              <a:t>Adapt</a:t>
            </a:r>
            <a:endParaRPr lang="en-US" sz="1500" dirty="0"/>
          </a:p>
        </p:txBody>
      </p:sp>
      <p:sp>
        <p:nvSpPr>
          <p:cNvPr id="24" name="Text 16"/>
          <p:cNvSpPr txBox="1"/>
          <p:nvPr/>
        </p:nvSpPr>
        <p:spPr>
          <a:xfrm>
            <a:off x="10265054" y="8046720"/>
            <a:ext cx="2282342" cy="457200"/>
          </a:xfrm>
          <a:prstGeom prst="rect">
            <a:avLst/>
          </a:prstGeom>
          <a:noFill/>
          <a:ln/>
        </p:spPr>
        <p:txBody>
          <a:bodyPr wrap="square" lIns="0" tIns="0" rIns="0" bIns="0" rtlCol="0" anchor="t"/>
          <a:lstStyle/>
          <a:p>
            <a:pPr indent="0" marL="0">
              <a:buNone/>
            </a:pPr>
            <a:r>
              <a:rPr lang="en-US" sz="1636" dirty="0">
                <a:solidFill>
                  <a:srgbClr val="1F1F1F"/>
                </a:solidFill>
                <a:latin typeface="Helvetica Neue Light" pitchFamily="34" charset="0"/>
                <a:ea typeface="Helvetica Neue Light" pitchFamily="34" charset="-122"/>
                <a:cs typeface="Helvetica Neue Light" pitchFamily="34" charset="-120"/>
              </a:rPr>
              <a:t>Should my mix change?</a:t>
            </a:r>
            <a:endParaRPr lang="en-US" sz="1636" dirty="0"/>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05 · Solution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One trade in eight steps, by share quantity or dollar amount</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Text 2"/>
          <p:cNvSpPr txBox="1"/>
          <p:nvPr/>
        </p:nvSpPr>
        <p:spPr>
          <a:xfrm>
            <a:off x="457200" y="2468880"/>
            <a:ext cx="45720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SHARE FLOW</a:t>
            </a:r>
            <a:endParaRPr lang="en-US" sz="1280" dirty="0"/>
          </a:p>
        </p:txBody>
      </p:sp>
      <p:sp>
        <p:nvSpPr>
          <p:cNvPr id="6" name="Text 3"/>
          <p:cNvSpPr txBox="1"/>
          <p:nvPr/>
        </p:nvSpPr>
        <p:spPr>
          <a:xfrm>
            <a:off x="457200" y="2926080"/>
            <a:ext cx="4754880" cy="4389120"/>
          </a:xfrm>
          <a:prstGeom prst="rect">
            <a:avLst/>
          </a:prstGeom>
          <a:noFill/>
          <a:ln/>
        </p:spPr>
        <p:txBody>
          <a:bodyPr wrap="square" lIns="0" tIns="0" rIns="0" bIns="0" rtlCol="0" anchor="t"/>
          <a:lstStyle/>
          <a:p>
            <a:pPr indent="0" marL="0">
              <a:buNone/>
            </a:pPr>
            <a:r>
              <a:rPr lang="en-US" sz="1700" b="1" dirty="0">
                <a:solidFill>
                  <a:srgbClr val="C45A35"/>
                </a:solidFill>
                <a:latin typeface="Helvetica Neue" pitchFamily="34" charset="0"/>
                <a:ea typeface="Helvetica Neue" pitchFamily="34" charset="-122"/>
                <a:cs typeface="Helvetica Neue" pitchFamily="34" charset="-120"/>
              </a:rPr>
              <a:t>1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Trade Setup</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2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Choose Action</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3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Enter Share Quantity</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4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Confirm Share Quantity</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5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Choose Order Type</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6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Review and Approve</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7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Submission Outcome</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8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Return to Dashboard</a:t>
            </a:r>
            <a:endParaRPr lang="en-US" sz="1700" dirty="0"/>
          </a:p>
        </p:txBody>
      </p:sp>
      <p:sp>
        <p:nvSpPr>
          <p:cNvPr id="7" name="Text 4"/>
          <p:cNvSpPr txBox="1"/>
          <p:nvPr/>
        </p:nvSpPr>
        <p:spPr>
          <a:xfrm>
            <a:off x="457200" y="7498080"/>
            <a:ext cx="4754880" cy="91440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The dollar flow runs the same eight steps, with Enter Dollar Amount and Confirm Dollar Amount in place of the share steps.</a:t>
            </a:r>
            <a:endParaRPr lang="en-US" sz="1500" dirty="0"/>
          </a:p>
        </p:txBody>
      </p:sp>
      <p:sp>
        <p:nvSpPr>
          <p:cNvPr id="8" name="Shape 5"/>
          <p:cNvSpPr/>
          <p:nvPr/>
        </p:nvSpPr>
        <p:spPr>
          <a:xfrm>
            <a:off x="5517032" y="2468880"/>
            <a:ext cx="1543304" cy="4480560"/>
          </a:xfrm>
          <a:prstGeom prst="rect">
            <a:avLst/>
          </a:prstGeom>
          <a:solidFill>
            <a:srgbClr val="14161D"/>
          </a:solidFill>
          <a:ln w="12700">
            <a:solidFill>
              <a:srgbClr val="14161D"/>
            </a:solidFill>
            <a:prstDash val="solid"/>
          </a:ln>
        </p:spPr>
      </p:sp>
      <p:pic>
        <p:nvPicPr>
          <p:cNvPr id="9" name="Image 1" descr="/tmp/meridian-deck/img/share-setup.png">    </p:cNvPr>
          <p:cNvPicPr>
            <a:picLocks noChangeAspect="1"/>
          </p:cNvPicPr>
          <p:nvPr/>
        </p:nvPicPr>
        <p:blipFill>
          <a:blip r:embed="rId3"/>
          <a:stretch>
            <a:fillRect/>
          </a:stretch>
        </p:blipFill>
        <p:spPr>
          <a:xfrm>
            <a:off x="5517032" y="2468880"/>
            <a:ext cx="1543304" cy="4480560"/>
          </a:xfrm>
          <a:prstGeom prst="rect">
            <a:avLst/>
          </a:prstGeom>
        </p:spPr>
      </p:pic>
      <p:sp>
        <p:nvSpPr>
          <p:cNvPr id="10" name="Shape 6"/>
          <p:cNvSpPr/>
          <p:nvPr/>
        </p:nvSpPr>
        <p:spPr>
          <a:xfrm>
            <a:off x="7288936" y="2468880"/>
            <a:ext cx="2071014" cy="4480560"/>
          </a:xfrm>
          <a:prstGeom prst="rect">
            <a:avLst/>
          </a:prstGeom>
          <a:solidFill>
            <a:srgbClr val="14161D"/>
          </a:solidFill>
          <a:ln w="12700">
            <a:solidFill>
              <a:srgbClr val="14161D"/>
            </a:solidFill>
            <a:prstDash val="solid"/>
          </a:ln>
        </p:spPr>
      </p:sp>
      <p:pic>
        <p:nvPicPr>
          <p:cNvPr id="11" name="Image 2" descr="/tmp/meridian-deck/img/share-quantity.png">    </p:cNvPr>
          <p:cNvPicPr>
            <a:picLocks noChangeAspect="1"/>
          </p:cNvPicPr>
          <p:nvPr/>
        </p:nvPicPr>
        <p:blipFill>
          <a:blip r:embed="rId4"/>
          <a:stretch>
            <a:fillRect/>
          </a:stretch>
        </p:blipFill>
        <p:spPr>
          <a:xfrm>
            <a:off x="7288936" y="2468880"/>
            <a:ext cx="2071014" cy="4480560"/>
          </a:xfrm>
          <a:prstGeom prst="rect">
            <a:avLst/>
          </a:prstGeom>
        </p:spPr>
      </p:pic>
      <p:sp>
        <p:nvSpPr>
          <p:cNvPr id="12" name="Shape 7"/>
          <p:cNvSpPr/>
          <p:nvPr/>
        </p:nvSpPr>
        <p:spPr>
          <a:xfrm>
            <a:off x="9588551" y="2468880"/>
            <a:ext cx="1130097" cy="4480560"/>
          </a:xfrm>
          <a:prstGeom prst="rect">
            <a:avLst/>
          </a:prstGeom>
          <a:solidFill>
            <a:srgbClr val="14161D"/>
          </a:solidFill>
          <a:ln w="12700">
            <a:solidFill>
              <a:srgbClr val="14161D"/>
            </a:solidFill>
            <a:prstDash val="solid"/>
          </a:ln>
        </p:spPr>
      </p:sp>
      <p:pic>
        <p:nvPicPr>
          <p:cNvPr id="13" name="Image 3" descr="/tmp/meridian-deck/img/share-review.png">    </p:cNvPr>
          <p:cNvPicPr>
            <a:picLocks noChangeAspect="1"/>
          </p:cNvPicPr>
          <p:nvPr/>
        </p:nvPicPr>
        <p:blipFill>
          <a:blip r:embed="rId5"/>
          <a:stretch>
            <a:fillRect/>
          </a:stretch>
        </p:blipFill>
        <p:spPr>
          <a:xfrm>
            <a:off x="9588551" y="2468880"/>
            <a:ext cx="1130097" cy="4480560"/>
          </a:xfrm>
          <a:prstGeom prst="rect">
            <a:avLst/>
          </a:prstGeom>
        </p:spPr>
      </p:pic>
      <p:sp>
        <p:nvSpPr>
          <p:cNvPr id="14" name="Shape 8"/>
          <p:cNvSpPr/>
          <p:nvPr/>
        </p:nvSpPr>
        <p:spPr>
          <a:xfrm>
            <a:off x="10947248" y="2468880"/>
            <a:ext cx="1752397" cy="4480560"/>
          </a:xfrm>
          <a:prstGeom prst="rect">
            <a:avLst/>
          </a:prstGeom>
          <a:solidFill>
            <a:srgbClr val="14161D"/>
          </a:solidFill>
          <a:ln w="12700">
            <a:solidFill>
              <a:srgbClr val="14161D"/>
            </a:solidFill>
            <a:prstDash val="solid"/>
          </a:ln>
        </p:spPr>
      </p:sp>
      <p:pic>
        <p:nvPicPr>
          <p:cNvPr id="15" name="Image 4" descr="/tmp/meridian-deck/img/share-outcome.png">    </p:cNvPr>
          <p:cNvPicPr>
            <a:picLocks noChangeAspect="1"/>
          </p:cNvPicPr>
          <p:nvPr/>
        </p:nvPicPr>
        <p:blipFill>
          <a:blip r:embed="rId6"/>
          <a:stretch>
            <a:fillRect/>
          </a:stretch>
        </p:blipFill>
        <p:spPr>
          <a:xfrm>
            <a:off x="10947248" y="2468880"/>
            <a:ext cx="1752397" cy="4480560"/>
          </a:xfrm>
          <a:prstGeom prst="rect">
            <a:avLst/>
          </a:prstGeom>
        </p:spPr>
      </p:pic>
      <p:sp>
        <p:nvSpPr>
          <p:cNvPr id="16" name="Text 9"/>
          <p:cNvSpPr txBox="1"/>
          <p:nvPr/>
        </p:nvSpPr>
        <p:spPr>
          <a:xfrm>
            <a:off x="5669280" y="7223760"/>
            <a:ext cx="6878117" cy="274320"/>
          </a:xfrm>
          <a:prstGeom prst="rect">
            <a:avLst/>
          </a:prstGeom>
          <a:noFill/>
          <a:ln/>
        </p:spPr>
        <p:txBody>
          <a:bodyPr wrap="square" lIns="0" tIns="0" rIns="0" bIns="0" rtlCol="0" anchor="t"/>
          <a:lstStyle/>
          <a:p>
            <a:pPr algn="ctr" indent="0" marL="0">
              <a:buNone/>
            </a:pPr>
            <a:r>
              <a:rPr lang="en-US" sz="1400" dirty="0">
                <a:solidFill>
                  <a:srgbClr val="6E6E6E"/>
                </a:solidFill>
                <a:latin typeface="Helvetica Neue Light" pitchFamily="34" charset="0"/>
                <a:ea typeface="Helvetica Neue Light" pitchFamily="34" charset="-122"/>
                <a:cs typeface="Helvetica Neue Light" pitchFamily="34" charset="-120"/>
              </a:rPr>
              <a:t>Setup  ·  Quantity  ·  Review  ·  Outcome</a:t>
            </a:r>
            <a:endParaRPr lang="en-US" sz="1400" dirty="0"/>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05 · Solution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Designing for the states that mocked data hides</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Dashboard in four states. The other four screens follow the same pattern.</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6" name="Shape 3"/>
          <p:cNvSpPr/>
          <p:nvPr/>
        </p:nvSpPr>
        <p:spPr>
          <a:xfrm>
            <a:off x="457200" y="2468880"/>
            <a:ext cx="2366874" cy="5120640"/>
          </a:xfrm>
          <a:prstGeom prst="rect">
            <a:avLst/>
          </a:prstGeom>
          <a:solidFill>
            <a:srgbClr val="14161D"/>
          </a:solidFill>
          <a:ln w="12700">
            <a:solidFill>
              <a:srgbClr val="14161D"/>
            </a:solidFill>
            <a:prstDash val="solid"/>
          </a:ln>
        </p:spPr>
      </p:sp>
      <p:pic>
        <p:nvPicPr>
          <p:cNvPr id="7" name="Image 1" descr="/tmp/meridian-deck/img/wf-dash-empty.png">    </p:cNvPr>
          <p:cNvPicPr>
            <a:picLocks noChangeAspect="1"/>
          </p:cNvPicPr>
          <p:nvPr/>
        </p:nvPicPr>
        <p:blipFill>
          <a:blip r:embed="rId3"/>
          <a:stretch>
            <a:fillRect/>
          </a:stretch>
        </p:blipFill>
        <p:spPr>
          <a:xfrm>
            <a:off x="457200" y="2468880"/>
            <a:ext cx="2366874" cy="5120640"/>
          </a:xfrm>
          <a:prstGeom prst="rect">
            <a:avLst/>
          </a:prstGeom>
        </p:spPr>
      </p:pic>
      <p:sp>
        <p:nvSpPr>
          <p:cNvPr id="8" name="Text 4"/>
          <p:cNvSpPr txBox="1"/>
          <p:nvPr/>
        </p:nvSpPr>
        <p:spPr>
          <a:xfrm>
            <a:off x="457200" y="7772400"/>
            <a:ext cx="2366874" cy="320040"/>
          </a:xfrm>
          <a:prstGeom prst="rect">
            <a:avLst/>
          </a:prstGeom>
          <a:noFill/>
          <a:ln/>
        </p:spPr>
        <p:txBody>
          <a:bodyPr wrap="square" lIns="0" tIns="0" rIns="0" bIns="0" rtlCol="0" anchor="t"/>
          <a:lstStyle/>
          <a:p>
            <a:pPr indent="0" marL="0">
              <a:buNone/>
            </a:pPr>
            <a:r>
              <a:rPr lang="en-US" sz="1500" dirty="0">
                <a:solidFill>
                  <a:srgbClr val="1F1F1F"/>
                </a:solidFill>
                <a:latin typeface="Helvetica Neue" pitchFamily="34" charset="0"/>
                <a:ea typeface="Helvetica Neue" pitchFamily="34" charset="-122"/>
                <a:cs typeface="Helvetica Neue" pitchFamily="34" charset="-120"/>
              </a:rPr>
              <a:t>Empty</a:t>
            </a:r>
            <a:endParaRPr lang="en-US" sz="1500" dirty="0"/>
          </a:p>
        </p:txBody>
      </p:sp>
      <p:sp>
        <p:nvSpPr>
          <p:cNvPr id="9" name="Text 5"/>
          <p:cNvSpPr txBox="1"/>
          <p:nvPr/>
        </p:nvSpPr>
        <p:spPr>
          <a:xfrm>
            <a:off x="457200" y="8138160"/>
            <a:ext cx="2366874" cy="64008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No holdings yet. One clear next step.</a:t>
            </a:r>
            <a:endParaRPr lang="en-US" sz="1600" dirty="0"/>
          </a:p>
        </p:txBody>
      </p:sp>
      <p:sp>
        <p:nvSpPr>
          <p:cNvPr id="10" name="Shape 6"/>
          <p:cNvSpPr/>
          <p:nvPr/>
        </p:nvSpPr>
        <p:spPr>
          <a:xfrm>
            <a:off x="3698308" y="2468880"/>
            <a:ext cx="2366874" cy="5120640"/>
          </a:xfrm>
          <a:prstGeom prst="rect">
            <a:avLst/>
          </a:prstGeom>
          <a:solidFill>
            <a:srgbClr val="14161D"/>
          </a:solidFill>
          <a:ln w="12700">
            <a:solidFill>
              <a:srgbClr val="14161D"/>
            </a:solidFill>
            <a:prstDash val="solid"/>
          </a:ln>
        </p:spPr>
      </p:sp>
      <p:pic>
        <p:nvPicPr>
          <p:cNvPr id="11" name="Image 2" descr="/tmp/meridian-deck/img/wf-dash-loading.png">    </p:cNvPr>
          <p:cNvPicPr>
            <a:picLocks noChangeAspect="1"/>
          </p:cNvPicPr>
          <p:nvPr/>
        </p:nvPicPr>
        <p:blipFill>
          <a:blip r:embed="rId4"/>
          <a:stretch>
            <a:fillRect/>
          </a:stretch>
        </p:blipFill>
        <p:spPr>
          <a:xfrm>
            <a:off x="3698308" y="2468880"/>
            <a:ext cx="2366874" cy="5120640"/>
          </a:xfrm>
          <a:prstGeom prst="rect">
            <a:avLst/>
          </a:prstGeom>
        </p:spPr>
      </p:pic>
      <p:sp>
        <p:nvSpPr>
          <p:cNvPr id="12" name="Text 7"/>
          <p:cNvSpPr txBox="1"/>
          <p:nvPr/>
        </p:nvSpPr>
        <p:spPr>
          <a:xfrm>
            <a:off x="3698308" y="7772400"/>
            <a:ext cx="2366874" cy="320040"/>
          </a:xfrm>
          <a:prstGeom prst="rect">
            <a:avLst/>
          </a:prstGeom>
          <a:noFill/>
          <a:ln/>
        </p:spPr>
        <p:txBody>
          <a:bodyPr wrap="square" lIns="0" tIns="0" rIns="0" bIns="0" rtlCol="0" anchor="t"/>
          <a:lstStyle/>
          <a:p>
            <a:pPr indent="0" marL="0">
              <a:buNone/>
            </a:pPr>
            <a:r>
              <a:rPr lang="en-US" sz="1500" dirty="0">
                <a:solidFill>
                  <a:srgbClr val="00868B"/>
                </a:solidFill>
                <a:latin typeface="Helvetica Neue" pitchFamily="34" charset="0"/>
                <a:ea typeface="Helvetica Neue" pitchFamily="34" charset="-122"/>
                <a:cs typeface="Helvetica Neue" pitchFamily="34" charset="-120"/>
              </a:rPr>
              <a:t>Loading</a:t>
            </a:r>
            <a:endParaRPr lang="en-US" sz="1500" dirty="0"/>
          </a:p>
        </p:txBody>
      </p:sp>
      <p:sp>
        <p:nvSpPr>
          <p:cNvPr id="13" name="Text 8"/>
          <p:cNvSpPr txBox="1"/>
          <p:nvPr/>
        </p:nvSpPr>
        <p:spPr>
          <a:xfrm>
            <a:off x="3698308" y="8138160"/>
            <a:ext cx="2366874" cy="64008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Skeleton cards hold the layout while data loads.</a:t>
            </a:r>
            <a:endParaRPr lang="en-US" sz="1600" dirty="0"/>
          </a:p>
        </p:txBody>
      </p:sp>
      <p:sp>
        <p:nvSpPr>
          <p:cNvPr id="14" name="Shape 9"/>
          <p:cNvSpPr/>
          <p:nvPr/>
        </p:nvSpPr>
        <p:spPr>
          <a:xfrm>
            <a:off x="6939415" y="2468880"/>
            <a:ext cx="2366874" cy="5120640"/>
          </a:xfrm>
          <a:prstGeom prst="rect">
            <a:avLst/>
          </a:prstGeom>
          <a:solidFill>
            <a:srgbClr val="14161D"/>
          </a:solidFill>
          <a:ln w="12700">
            <a:solidFill>
              <a:srgbClr val="14161D"/>
            </a:solidFill>
            <a:prstDash val="solid"/>
          </a:ln>
        </p:spPr>
      </p:sp>
      <p:pic>
        <p:nvPicPr>
          <p:cNvPr id="15" name="Image 3" descr="/tmp/meridian-deck/img/wf-dash-error.png">    </p:cNvPr>
          <p:cNvPicPr>
            <a:picLocks noChangeAspect="1"/>
          </p:cNvPicPr>
          <p:nvPr/>
        </p:nvPicPr>
        <p:blipFill>
          <a:blip r:embed="rId5"/>
          <a:stretch>
            <a:fillRect/>
          </a:stretch>
        </p:blipFill>
        <p:spPr>
          <a:xfrm>
            <a:off x="6939415" y="2468880"/>
            <a:ext cx="2366874" cy="5120640"/>
          </a:xfrm>
          <a:prstGeom prst="rect">
            <a:avLst/>
          </a:prstGeom>
        </p:spPr>
      </p:pic>
      <p:sp>
        <p:nvSpPr>
          <p:cNvPr id="16" name="Text 10"/>
          <p:cNvSpPr txBox="1"/>
          <p:nvPr/>
        </p:nvSpPr>
        <p:spPr>
          <a:xfrm>
            <a:off x="6939415" y="7772400"/>
            <a:ext cx="2366874" cy="320040"/>
          </a:xfrm>
          <a:prstGeom prst="rect">
            <a:avLst/>
          </a:prstGeom>
          <a:noFill/>
          <a:ln/>
        </p:spPr>
        <p:txBody>
          <a:bodyPr wrap="square" lIns="0" tIns="0" rIns="0" bIns="0" rtlCol="0" anchor="t"/>
          <a:lstStyle/>
          <a:p>
            <a:pPr indent="0" marL="0">
              <a:buNone/>
            </a:pPr>
            <a:r>
              <a:rPr lang="en-US" sz="1500" dirty="0">
                <a:solidFill>
                  <a:srgbClr val="A12A37"/>
                </a:solidFill>
                <a:latin typeface="Helvetica Neue" pitchFamily="34" charset="0"/>
                <a:ea typeface="Helvetica Neue" pitchFamily="34" charset="-122"/>
                <a:cs typeface="Helvetica Neue" pitchFamily="34" charset="-120"/>
              </a:rPr>
              <a:t>Error</a:t>
            </a:r>
            <a:endParaRPr lang="en-US" sz="1500" dirty="0"/>
          </a:p>
        </p:txBody>
      </p:sp>
      <p:sp>
        <p:nvSpPr>
          <p:cNvPr id="17" name="Text 11"/>
          <p:cNvSpPr txBox="1"/>
          <p:nvPr/>
        </p:nvSpPr>
        <p:spPr>
          <a:xfrm>
            <a:off x="6939415" y="8138160"/>
            <a:ext cx="2366874" cy="64008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Says what failed and offers a retry.</a:t>
            </a:r>
            <a:endParaRPr lang="en-US" sz="1600" dirty="0"/>
          </a:p>
        </p:txBody>
      </p:sp>
      <p:sp>
        <p:nvSpPr>
          <p:cNvPr id="18" name="Shape 12"/>
          <p:cNvSpPr/>
          <p:nvPr/>
        </p:nvSpPr>
        <p:spPr>
          <a:xfrm>
            <a:off x="10180523" y="2468880"/>
            <a:ext cx="2366874" cy="5120640"/>
          </a:xfrm>
          <a:prstGeom prst="rect">
            <a:avLst/>
          </a:prstGeom>
          <a:solidFill>
            <a:srgbClr val="14161D"/>
          </a:solidFill>
          <a:ln w="12700">
            <a:solidFill>
              <a:srgbClr val="14161D"/>
            </a:solidFill>
            <a:prstDash val="solid"/>
          </a:ln>
        </p:spPr>
      </p:sp>
      <p:pic>
        <p:nvPicPr>
          <p:cNvPr id="19" name="Image 4" descr="/tmp/meridian-deck/img/wf-dash-offline.png">    </p:cNvPr>
          <p:cNvPicPr>
            <a:picLocks noChangeAspect="1"/>
          </p:cNvPicPr>
          <p:nvPr/>
        </p:nvPicPr>
        <p:blipFill>
          <a:blip r:embed="rId6"/>
          <a:stretch>
            <a:fillRect/>
          </a:stretch>
        </p:blipFill>
        <p:spPr>
          <a:xfrm>
            <a:off x="10180523" y="2468880"/>
            <a:ext cx="2366874" cy="5120640"/>
          </a:xfrm>
          <a:prstGeom prst="rect">
            <a:avLst/>
          </a:prstGeom>
        </p:spPr>
      </p:pic>
      <p:sp>
        <p:nvSpPr>
          <p:cNvPr id="20" name="Text 13"/>
          <p:cNvSpPr txBox="1"/>
          <p:nvPr/>
        </p:nvSpPr>
        <p:spPr>
          <a:xfrm>
            <a:off x="10180523" y="7772400"/>
            <a:ext cx="2366874" cy="320040"/>
          </a:xfrm>
          <a:prstGeom prst="rect">
            <a:avLst/>
          </a:prstGeom>
          <a:noFill/>
          <a:ln/>
        </p:spPr>
        <p:txBody>
          <a:bodyPr wrap="square" lIns="0" tIns="0" rIns="0" bIns="0" rtlCol="0" anchor="t"/>
          <a:lstStyle/>
          <a:p>
            <a:pPr indent="0" marL="0">
              <a:buNone/>
            </a:pPr>
            <a:r>
              <a:rPr lang="en-US" sz="1500" dirty="0">
                <a:solidFill>
                  <a:srgbClr val="C45A35"/>
                </a:solidFill>
                <a:latin typeface="Helvetica Neue" pitchFamily="34" charset="0"/>
                <a:ea typeface="Helvetica Neue" pitchFamily="34" charset="-122"/>
                <a:cs typeface="Helvetica Neue" pitchFamily="34" charset="-120"/>
              </a:rPr>
              <a:t>Offline</a:t>
            </a:r>
            <a:endParaRPr lang="en-US" sz="1500" dirty="0"/>
          </a:p>
        </p:txBody>
      </p:sp>
      <p:sp>
        <p:nvSpPr>
          <p:cNvPr id="21" name="Text 14"/>
          <p:cNvSpPr txBox="1"/>
          <p:nvPr/>
        </p:nvSpPr>
        <p:spPr>
          <a:xfrm>
            <a:off x="10180523" y="8138160"/>
            <a:ext cx="2366874" cy="64008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Warns that data is stale and shows the last update.</a:t>
            </a:r>
            <a:endParaRPr lang="en-US" sz="1600" dirty="0"/>
          </a:p>
        </p:txBody>
      </p:sp>
      <p:pic>
        <p:nvPicPr>
          <p:cNvPr id="22" name="Image 5"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06 · Reasoning &amp; trade-offs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Four calls, and what each one costs</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Text 2"/>
          <p:cNvSpPr txBox="1"/>
          <p:nvPr/>
        </p:nvSpPr>
        <p:spPr>
          <a:xfrm>
            <a:off x="457200" y="2468880"/>
            <a:ext cx="566928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DECISION 1</a:t>
            </a:r>
            <a:endParaRPr lang="en-US" sz="1280" dirty="0"/>
          </a:p>
        </p:txBody>
      </p:sp>
      <p:sp>
        <p:nvSpPr>
          <p:cNvPr id="6" name="Text 3"/>
          <p:cNvSpPr txBox="1"/>
          <p:nvPr/>
        </p:nvSpPr>
        <p:spPr>
          <a:xfrm>
            <a:off x="457200" y="288036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Keep both share and dollar entry</a:t>
            </a:r>
            <a:endParaRPr lang="en-US" sz="2400" dirty="0"/>
          </a:p>
        </p:txBody>
      </p:sp>
      <p:sp>
        <p:nvSpPr>
          <p:cNvPr id="7" name="Text 4"/>
          <p:cNvSpPr txBox="1"/>
          <p:nvPr/>
        </p:nvSpPr>
        <p:spPr>
          <a:xfrm>
            <a:off x="457200" y="3566160"/>
            <a:ext cx="5669280" cy="1828800"/>
          </a:xfrm>
          <a:prstGeom prst="rect">
            <a:avLst/>
          </a:prstGeom>
          <a:noFill/>
          <a:ln/>
        </p:spPr>
        <p:txBody>
          <a:bodyPr wrap="square" lIns="0" tIns="0" rIns="0" bIns="0" rtlCol="0" anchor="t"/>
          <a:lstStyle/>
          <a:p>
            <a:pPr indent="0" marL="0">
              <a:buNone/>
            </a:pPr>
            <a:r>
              <a:rPr lang="en-US" sz="1700" b="1" dirty="0">
                <a:solidFill>
                  <a:srgbClr val="595959"/>
                </a:solidFill>
                <a:latin typeface="Helvetica Neue" pitchFamily="34" charset="0"/>
                <a:ea typeface="Helvetica Neue" pitchFamily="34" charset="-122"/>
                <a:cs typeface="Helvetica Neue" pitchFamily="34" charset="-120"/>
              </a:rPr>
              <a:t>Why: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Unclear which entry model new investors prefer.</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Trade-off: </a:t>
            </a:r>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Two flows to maintain. Open question for testing.</a:t>
            </a:r>
            <a:endParaRPr lang="en-US" sz="1700" dirty="0"/>
          </a:p>
        </p:txBody>
      </p:sp>
      <p:sp>
        <p:nvSpPr>
          <p:cNvPr id="8" name="Text 5"/>
          <p:cNvSpPr txBox="1"/>
          <p:nvPr/>
        </p:nvSpPr>
        <p:spPr>
          <a:xfrm>
            <a:off x="6766560" y="2468880"/>
            <a:ext cx="566928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DECISION 2</a:t>
            </a:r>
            <a:endParaRPr lang="en-US" sz="1280" dirty="0"/>
          </a:p>
        </p:txBody>
      </p:sp>
      <p:sp>
        <p:nvSpPr>
          <p:cNvPr id="9" name="Text 6"/>
          <p:cNvSpPr txBox="1"/>
          <p:nvPr/>
        </p:nvSpPr>
        <p:spPr>
          <a:xfrm>
            <a:off x="6766560" y="288036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Use a mock API with a 0.8-second delay</a:t>
            </a:r>
            <a:endParaRPr lang="en-US" sz="2400" dirty="0"/>
          </a:p>
        </p:txBody>
      </p:sp>
      <p:sp>
        <p:nvSpPr>
          <p:cNvPr id="10" name="Text 7"/>
          <p:cNvSpPr txBox="1"/>
          <p:nvPr/>
        </p:nvSpPr>
        <p:spPr>
          <a:xfrm>
            <a:off x="6766560" y="3566160"/>
            <a:ext cx="5669280" cy="1828800"/>
          </a:xfrm>
          <a:prstGeom prst="rect">
            <a:avLst/>
          </a:prstGeom>
          <a:noFill/>
          <a:ln/>
        </p:spPr>
        <p:txBody>
          <a:bodyPr wrap="square" lIns="0" tIns="0" rIns="0" bIns="0" rtlCol="0" anchor="t"/>
          <a:lstStyle/>
          <a:p>
            <a:pPr indent="0" marL="0">
              <a:buNone/>
            </a:pPr>
            <a:r>
              <a:rPr lang="en-US" sz="1700" b="1" dirty="0">
                <a:solidFill>
                  <a:srgbClr val="595959"/>
                </a:solidFill>
                <a:latin typeface="Helvetica Neue" pitchFamily="34" charset="0"/>
                <a:ea typeface="Helvetica Neue" pitchFamily="34" charset="-122"/>
                <a:cs typeface="Helvetica Neue" pitchFamily="34" charset="-120"/>
              </a:rPr>
              <a:t>Why: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Lets us test flows and loading states without a backend.</a:t>
            </a:r>
            <a:endParaRPr lang="en-US" sz="1700" dirty="0"/>
          </a:p>
          <a:p>
            <a:pPr indent="0" marL="0">
              <a:buNone/>
            </a:pPr>
            <a:r>
              <a:rPr lang="en-US" sz="1700" b="1" dirty="0">
                <a:solidFill>
                  <a:srgbClr val="5B3F96"/>
                </a:solidFill>
                <a:latin typeface="Helvetica Neue" pitchFamily="34" charset="0"/>
                <a:ea typeface="Helvetica Neue" pitchFamily="34" charset="-122"/>
                <a:cs typeface="Helvetica Neue" pitchFamily="34" charset="-120"/>
              </a:rPr>
              <a:t>Trade-off: </a:t>
            </a:r>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Real timing, errors and data limits stay untested.</a:t>
            </a:r>
            <a:endParaRPr lang="en-US" sz="1700" dirty="0"/>
          </a:p>
        </p:txBody>
      </p:sp>
      <p:sp>
        <p:nvSpPr>
          <p:cNvPr id="11" name="Text 8"/>
          <p:cNvSpPr txBox="1"/>
          <p:nvPr/>
        </p:nvSpPr>
        <p:spPr>
          <a:xfrm>
            <a:off x="457200" y="5852160"/>
            <a:ext cx="5669280" cy="274320"/>
          </a:xfrm>
          <a:prstGeom prst="rect">
            <a:avLst/>
          </a:prstGeom>
          <a:noFill/>
          <a:ln/>
        </p:spPr>
        <p:txBody>
          <a:bodyPr wrap="square" lIns="0" tIns="0" rIns="0" bIns="0" rtlCol="0" anchor="t"/>
          <a:lstStyle/>
          <a:p>
            <a:pPr indent="0" marL="0">
              <a:buNone/>
            </a:pPr>
            <a:r>
              <a:rPr lang="en-US" sz="1280" spc="100" kern="0" dirty="0">
                <a:solidFill>
                  <a:srgbClr val="A12A37"/>
                </a:solidFill>
                <a:latin typeface="Helvetica Neue" pitchFamily="34" charset="0"/>
                <a:ea typeface="Helvetica Neue" pitchFamily="34" charset="-122"/>
                <a:cs typeface="Helvetica Neue" pitchFamily="34" charset="-120"/>
              </a:rPr>
              <a:t>DECISION 3</a:t>
            </a:r>
            <a:endParaRPr lang="en-US" sz="1280" dirty="0"/>
          </a:p>
        </p:txBody>
      </p:sp>
      <p:sp>
        <p:nvSpPr>
          <p:cNvPr id="12" name="Text 9"/>
          <p:cNvSpPr txBox="1"/>
          <p:nvPr/>
        </p:nvSpPr>
        <p:spPr>
          <a:xfrm>
            <a:off x="457200" y="626364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Adapt suggests buys and sells</a:t>
            </a:r>
            <a:endParaRPr lang="en-US" sz="2400" dirty="0"/>
          </a:p>
        </p:txBody>
      </p:sp>
      <p:sp>
        <p:nvSpPr>
          <p:cNvPr id="13" name="Text 10"/>
          <p:cNvSpPr txBox="1"/>
          <p:nvPr/>
        </p:nvSpPr>
        <p:spPr>
          <a:xfrm>
            <a:off x="457200" y="6949440"/>
            <a:ext cx="5669280" cy="1828800"/>
          </a:xfrm>
          <a:prstGeom prst="rect">
            <a:avLst/>
          </a:prstGeom>
          <a:noFill/>
          <a:ln/>
        </p:spPr>
        <p:txBody>
          <a:bodyPr wrap="square" lIns="0" tIns="0" rIns="0" bIns="0" rtlCol="0" anchor="t"/>
          <a:lstStyle/>
          <a:p>
            <a:pPr indent="0" marL="0">
              <a:buNone/>
            </a:pPr>
            <a:r>
              <a:rPr lang="en-US" sz="1700" b="1" dirty="0">
                <a:solidFill>
                  <a:srgbClr val="595959"/>
                </a:solidFill>
                <a:latin typeface="Helvetica Neue" pitchFamily="34" charset="0"/>
                <a:ea typeface="Helvetica Neue" pitchFamily="34" charset="-122"/>
                <a:cs typeface="Helvetica Neue" pitchFamily="34" charset="-120"/>
              </a:rPr>
              <a:t>Why: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It is the screen’s job: a rebalance the user can review.</a:t>
            </a:r>
            <a:endParaRPr lang="en-US" sz="1700" dirty="0"/>
          </a:p>
          <a:p>
            <a:pPr indent="0" marL="0">
              <a:buNone/>
            </a:pPr>
            <a:r>
              <a:rPr lang="en-US" sz="1700" b="1" dirty="0">
                <a:solidFill>
                  <a:srgbClr val="A12A37"/>
                </a:solidFill>
                <a:latin typeface="Helvetica Neue" pitchFamily="34" charset="0"/>
                <a:ea typeface="Helvetica Neue" pitchFamily="34" charset="-122"/>
                <a:cs typeface="Helvetica Neue" pitchFamily="34" charset="-120"/>
              </a:rPr>
              <a:t>Trade-off: </a:t>
            </a:r>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Buy and sell language needs compliance review. It may need to become explanation only.</a:t>
            </a:r>
            <a:endParaRPr lang="en-US" sz="1700" dirty="0"/>
          </a:p>
        </p:txBody>
      </p:sp>
      <p:sp>
        <p:nvSpPr>
          <p:cNvPr id="14" name="Text 11"/>
          <p:cNvSpPr txBox="1"/>
          <p:nvPr/>
        </p:nvSpPr>
        <p:spPr>
          <a:xfrm>
            <a:off x="6766560" y="5852160"/>
            <a:ext cx="5669280" cy="274320"/>
          </a:xfrm>
          <a:prstGeom prst="rect">
            <a:avLst/>
          </a:prstGeom>
          <a:noFill/>
          <a:ln/>
        </p:spPr>
        <p:txBody>
          <a:bodyPr wrap="square" lIns="0" tIns="0" rIns="0" bIns="0" rtlCol="0" anchor="t"/>
          <a:lstStyle/>
          <a:p>
            <a:pPr indent="0" marL="0">
              <a:buNone/>
            </a:pPr>
            <a:r>
              <a:rPr lang="en-US" sz="1280" spc="100" kern="0" dirty="0">
                <a:solidFill>
                  <a:srgbClr val="00868B"/>
                </a:solidFill>
                <a:latin typeface="Helvetica Neue" pitchFamily="34" charset="0"/>
                <a:ea typeface="Helvetica Neue" pitchFamily="34" charset="-122"/>
                <a:cs typeface="Helvetica Neue" pitchFamily="34" charset="-120"/>
              </a:rPr>
              <a:t>DECISION 4</a:t>
            </a:r>
            <a:endParaRPr lang="en-US" sz="1280" dirty="0"/>
          </a:p>
        </p:txBody>
      </p:sp>
      <p:sp>
        <p:nvSpPr>
          <p:cNvPr id="15" name="Text 12"/>
          <p:cNvSpPr txBox="1"/>
          <p:nvPr/>
        </p:nvSpPr>
        <p:spPr>
          <a:xfrm>
            <a:off x="6766560" y="626364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Five tabs, one home screen</a:t>
            </a:r>
            <a:endParaRPr lang="en-US" sz="2400" dirty="0"/>
          </a:p>
        </p:txBody>
      </p:sp>
      <p:sp>
        <p:nvSpPr>
          <p:cNvPr id="16" name="Text 13"/>
          <p:cNvSpPr txBox="1"/>
          <p:nvPr/>
        </p:nvSpPr>
        <p:spPr>
          <a:xfrm>
            <a:off x="6766560" y="6949440"/>
            <a:ext cx="5669280" cy="1828800"/>
          </a:xfrm>
          <a:prstGeom prst="rect">
            <a:avLst/>
          </a:prstGeom>
          <a:noFill/>
          <a:ln/>
        </p:spPr>
        <p:txBody>
          <a:bodyPr wrap="square" lIns="0" tIns="0" rIns="0" bIns="0" rtlCol="0" anchor="t"/>
          <a:lstStyle/>
          <a:p>
            <a:pPr indent="0" marL="0">
              <a:buNone/>
            </a:pPr>
            <a:r>
              <a:rPr lang="en-US" sz="1700" b="1" dirty="0">
                <a:solidFill>
                  <a:srgbClr val="595959"/>
                </a:solidFill>
                <a:latin typeface="Helvetica Neue" pitchFamily="34" charset="0"/>
                <a:ea typeface="Helvetica Neue" pitchFamily="34" charset="-122"/>
                <a:cs typeface="Helvetica Neue" pitchFamily="34" charset="-120"/>
              </a:rPr>
              <a:t>Why: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A scannable set of areas, with trading one tap away.</a:t>
            </a:r>
            <a:endParaRPr lang="en-US" sz="1700" dirty="0"/>
          </a:p>
          <a:p>
            <a:pPr indent="0" marL="0">
              <a:buNone/>
            </a:pPr>
            <a:r>
              <a:rPr lang="en-US" sz="1700" b="1" dirty="0">
                <a:solidFill>
                  <a:srgbClr val="00868B"/>
                </a:solidFill>
                <a:latin typeface="Helvetica Neue" pitchFamily="34" charset="0"/>
                <a:ea typeface="Helvetica Neue" pitchFamily="34" charset="-122"/>
                <a:cs typeface="Helvetica Neue" pitchFamily="34" charset="-120"/>
              </a:rPr>
              <a:t>Trade-off: </a:t>
            </a:r>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AI screens compete with trade entry for attention. Test it.</a:t>
            </a:r>
            <a:endParaRPr lang="en-US" sz="1700" dirty="0"/>
          </a:p>
        </p:txBody>
      </p:sp>
      <p:pic>
        <p:nvPicPr>
          <p:cNvPr id="17"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C45A35"/>
        </a:solidFill>
      </p:bgPr>
    </p:bg>
    <p:spTree>
      <p:nvGrpSpPr>
        <p:cNvPr id="1" name=""/>
        <p:cNvGrpSpPr/>
        <p:nvPr/>
      </p:nvGrpSpPr>
      <p:grpSpPr/>
      <p:sp>
        <p:nvSpPr>
          <p:cNvPr id="2" name="Text 0"/>
          <p:cNvSpPr txBox="1"/>
          <p:nvPr/>
        </p:nvSpPr>
        <p:spPr>
          <a:xfrm>
            <a:off x="978408" y="978408"/>
            <a:ext cx="10515600" cy="1097280"/>
          </a:xfrm>
          <a:prstGeom prst="rect">
            <a:avLst/>
          </a:prstGeom>
          <a:noFill/>
          <a:ln/>
        </p:spPr>
        <p:txBody>
          <a:bodyPr wrap="square" lIns="0" tIns="0" rIns="0" bIns="0" rtlCol="0" anchor="t"/>
          <a:lstStyle/>
          <a:p>
            <a:pPr indent="0" marL="0">
              <a:buNone/>
            </a:pPr>
            <a:r>
              <a:rPr lang="en-US" sz="5700" dirty="0">
                <a:solidFill>
                  <a:srgbClr val="FFFFFF"/>
                </a:solidFill>
                <a:latin typeface="Helvetica Neue Light" pitchFamily="34" charset="0"/>
                <a:ea typeface="Helvetica Neue Light" pitchFamily="34" charset="-122"/>
                <a:cs typeface="Helvetica Neue Light" pitchFamily="34" charset="-120"/>
              </a:rPr>
              <a:t>The agent experience</a:t>
            </a:r>
            <a:endParaRPr lang="en-US" sz="5700" dirty="0"/>
          </a:p>
        </p:txBody>
      </p:sp>
      <p:sp>
        <p:nvSpPr>
          <p:cNvPr id="3" name="Text 1"/>
          <p:cNvSpPr txBox="1"/>
          <p:nvPr/>
        </p:nvSpPr>
        <p:spPr>
          <a:xfrm>
            <a:off x="1078992" y="2286000"/>
            <a:ext cx="9601200" cy="822960"/>
          </a:xfrm>
          <a:prstGeom prst="rect">
            <a:avLst/>
          </a:prstGeom>
          <a:noFill/>
          <a:ln/>
        </p:spPr>
        <p:txBody>
          <a:bodyPr wrap="square" lIns="0" tIns="0" rIns="0" bIns="0" rtlCol="0" anchor="t"/>
          <a:lstStyle/>
          <a:p>
            <a:pPr indent="0" marL="0">
              <a:buNone/>
            </a:pPr>
            <a:r>
              <a:rPr lang="en-US" sz="1900" dirty="0">
                <a:solidFill>
                  <a:srgbClr val="FFE9DF"/>
                </a:solidFill>
                <a:latin typeface="Helvetica Neue Light" pitchFamily="34" charset="0"/>
                <a:ea typeface="Helvetica Neue Light" pitchFamily="34" charset="-122"/>
                <a:cs typeface="Helvetica Neue Light" pitchFamily="34" charset="-120"/>
              </a:rPr>
              <a:t>Reconceptualizing the AI from static cards to a bounded agent the user can see and steer.</a:t>
            </a:r>
            <a:endParaRPr lang="en-US" sz="19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06 · Agent experience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Where the AI experience breaks down today</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Five problems, from the current prototype and the competitive audit. Mock data throughout.</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6" name="Shape 3"/>
          <p:cNvSpPr/>
          <p:nvPr/>
        </p:nvSpPr>
        <p:spPr>
          <a:xfrm>
            <a:off x="457200" y="2468880"/>
            <a:ext cx="420624" cy="420624"/>
          </a:xfrm>
          <a:prstGeom prst="ellipse">
            <a:avLst/>
          </a:prstGeom>
          <a:solidFill>
            <a:srgbClr val="C45A35"/>
          </a:solidFill>
          <a:ln w="12700">
            <a:solidFill>
              <a:srgbClr val="C45A35"/>
            </a:solidFill>
            <a:prstDash val="solid"/>
          </a:ln>
        </p:spPr>
      </p:sp>
      <p:sp>
        <p:nvSpPr>
          <p:cNvPr id="7" name="Text 4"/>
          <p:cNvSpPr txBox="1"/>
          <p:nvPr/>
        </p:nvSpPr>
        <p:spPr>
          <a:xfrm>
            <a:off x="457200"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1</a:t>
            </a:r>
            <a:endParaRPr lang="en-US" sz="1564" dirty="0"/>
          </a:p>
        </p:txBody>
      </p:sp>
      <p:sp>
        <p:nvSpPr>
          <p:cNvPr id="8" name="Text 5"/>
          <p:cNvSpPr txBox="1"/>
          <p:nvPr/>
        </p:nvSpPr>
        <p:spPr>
          <a:xfrm>
            <a:off x="1188720" y="2487168"/>
            <a:ext cx="457200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Outputs without reasoning</a:t>
            </a:r>
            <a:endParaRPr lang="en-US" sz="2200" dirty="0"/>
          </a:p>
        </p:txBody>
      </p:sp>
      <p:sp>
        <p:nvSpPr>
          <p:cNvPr id="9" name="Text 6"/>
          <p:cNvSpPr txBox="1"/>
          <p:nvPr/>
        </p:nvSpPr>
        <p:spPr>
          <a:xfrm>
            <a:off x="5943600" y="2505456"/>
            <a:ext cx="6126480" cy="109728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Insight shows sentiment with no source, date, or data behind it.</a:t>
            </a:r>
            <a:endParaRPr lang="en-US" sz="1700" dirty="0"/>
          </a:p>
        </p:txBody>
      </p:sp>
      <p:sp>
        <p:nvSpPr>
          <p:cNvPr id="10" name="Shape 7"/>
          <p:cNvSpPr/>
          <p:nvPr/>
        </p:nvSpPr>
        <p:spPr>
          <a:xfrm>
            <a:off x="457200" y="3794760"/>
            <a:ext cx="420624" cy="420624"/>
          </a:xfrm>
          <a:prstGeom prst="ellipse">
            <a:avLst/>
          </a:prstGeom>
          <a:solidFill>
            <a:srgbClr val="C45A35"/>
          </a:solidFill>
          <a:ln w="12700">
            <a:solidFill>
              <a:srgbClr val="C45A35"/>
            </a:solidFill>
            <a:prstDash val="solid"/>
          </a:ln>
        </p:spPr>
      </p:sp>
      <p:sp>
        <p:nvSpPr>
          <p:cNvPr id="11" name="Text 8"/>
          <p:cNvSpPr txBox="1"/>
          <p:nvPr/>
        </p:nvSpPr>
        <p:spPr>
          <a:xfrm>
            <a:off x="457200" y="385876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2</a:t>
            </a:r>
            <a:endParaRPr lang="en-US" sz="1564" dirty="0"/>
          </a:p>
        </p:txBody>
      </p:sp>
      <p:sp>
        <p:nvSpPr>
          <p:cNvPr id="12" name="Text 9"/>
          <p:cNvSpPr txBox="1"/>
          <p:nvPr/>
        </p:nvSpPr>
        <p:spPr>
          <a:xfrm>
            <a:off x="1188720" y="3813048"/>
            <a:ext cx="457200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All or nothing</a:t>
            </a:r>
            <a:endParaRPr lang="en-US" sz="2200" dirty="0"/>
          </a:p>
        </p:txBody>
      </p:sp>
      <p:sp>
        <p:nvSpPr>
          <p:cNvPr id="13" name="Text 10"/>
          <p:cNvSpPr txBox="1"/>
          <p:nvPr/>
        </p:nvSpPr>
        <p:spPr>
          <a:xfrm>
            <a:off x="5943600" y="3831336"/>
            <a:ext cx="6126480" cy="109728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Adapt proposes 5 buys and 3 sells. The user can approve or dismiss the batch, nothing else.</a:t>
            </a:r>
            <a:endParaRPr lang="en-US" sz="1700" dirty="0"/>
          </a:p>
        </p:txBody>
      </p:sp>
      <p:sp>
        <p:nvSpPr>
          <p:cNvPr id="14" name="Shape 11"/>
          <p:cNvSpPr/>
          <p:nvPr/>
        </p:nvSpPr>
        <p:spPr>
          <a:xfrm>
            <a:off x="457200" y="5120640"/>
            <a:ext cx="420624" cy="420624"/>
          </a:xfrm>
          <a:prstGeom prst="ellipse">
            <a:avLst/>
          </a:prstGeom>
          <a:solidFill>
            <a:srgbClr val="C45A35"/>
          </a:solidFill>
          <a:ln w="12700">
            <a:solidFill>
              <a:srgbClr val="C45A35"/>
            </a:solidFill>
            <a:prstDash val="solid"/>
          </a:ln>
        </p:spPr>
      </p:sp>
      <p:sp>
        <p:nvSpPr>
          <p:cNvPr id="15" name="Text 12"/>
          <p:cNvSpPr txBox="1"/>
          <p:nvPr/>
        </p:nvSpPr>
        <p:spPr>
          <a:xfrm>
            <a:off x="457200" y="518464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3</a:t>
            </a:r>
            <a:endParaRPr lang="en-US" sz="1564" dirty="0"/>
          </a:p>
        </p:txBody>
      </p:sp>
      <p:sp>
        <p:nvSpPr>
          <p:cNvPr id="16" name="Text 13"/>
          <p:cNvSpPr txBox="1"/>
          <p:nvPr/>
        </p:nvSpPr>
        <p:spPr>
          <a:xfrm>
            <a:off x="1188720" y="5138928"/>
            <a:ext cx="457200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No learning loop</a:t>
            </a:r>
            <a:endParaRPr lang="en-US" sz="2200" dirty="0"/>
          </a:p>
        </p:txBody>
      </p:sp>
      <p:sp>
        <p:nvSpPr>
          <p:cNvPr id="17" name="Text 14"/>
          <p:cNvSpPr txBox="1"/>
          <p:nvPr/>
        </p:nvSpPr>
        <p:spPr>
          <a:xfrm>
            <a:off x="5943600" y="5157216"/>
            <a:ext cx="6126480" cy="109728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Dismissing or correcting an insight does not change future output.</a:t>
            </a:r>
            <a:endParaRPr lang="en-US" sz="1700" dirty="0"/>
          </a:p>
        </p:txBody>
      </p:sp>
      <p:sp>
        <p:nvSpPr>
          <p:cNvPr id="18" name="Shape 15"/>
          <p:cNvSpPr/>
          <p:nvPr/>
        </p:nvSpPr>
        <p:spPr>
          <a:xfrm>
            <a:off x="457200" y="6446520"/>
            <a:ext cx="420624" cy="420624"/>
          </a:xfrm>
          <a:prstGeom prst="ellipse">
            <a:avLst/>
          </a:prstGeom>
          <a:solidFill>
            <a:srgbClr val="C45A35"/>
          </a:solidFill>
          <a:ln w="12700">
            <a:solidFill>
              <a:srgbClr val="C45A35"/>
            </a:solidFill>
            <a:prstDash val="solid"/>
          </a:ln>
        </p:spPr>
      </p:sp>
      <p:sp>
        <p:nvSpPr>
          <p:cNvPr id="19" name="Text 16"/>
          <p:cNvSpPr txBox="1"/>
          <p:nvPr/>
        </p:nvSpPr>
        <p:spPr>
          <a:xfrm>
            <a:off x="457200" y="65105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4</a:t>
            </a:r>
            <a:endParaRPr lang="en-US" sz="1564" dirty="0"/>
          </a:p>
        </p:txBody>
      </p:sp>
      <p:sp>
        <p:nvSpPr>
          <p:cNvPr id="20" name="Text 17"/>
          <p:cNvSpPr txBox="1"/>
          <p:nvPr/>
        </p:nvSpPr>
        <p:spPr>
          <a:xfrm>
            <a:off x="1188720" y="6464808"/>
            <a:ext cx="457200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Advice line in conflict</a:t>
            </a:r>
            <a:endParaRPr lang="en-US" sz="2200" dirty="0"/>
          </a:p>
        </p:txBody>
      </p:sp>
      <p:sp>
        <p:nvSpPr>
          <p:cNvPr id="21" name="Text 18"/>
          <p:cNvSpPr txBox="1"/>
          <p:nvPr/>
        </p:nvSpPr>
        <p:spPr>
          <a:xfrm>
            <a:off x="5943600" y="6483096"/>
            <a:ext cx="6126480" cy="109728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The design rule says the AI never originates buy or sell advice. Adapt wording does. Compliance review is open.</a:t>
            </a:r>
            <a:endParaRPr lang="en-US" sz="1700" dirty="0"/>
          </a:p>
        </p:txBody>
      </p:sp>
      <p:sp>
        <p:nvSpPr>
          <p:cNvPr id="22" name="Shape 19"/>
          <p:cNvSpPr/>
          <p:nvPr/>
        </p:nvSpPr>
        <p:spPr>
          <a:xfrm>
            <a:off x="457200" y="7772400"/>
            <a:ext cx="420624" cy="420624"/>
          </a:xfrm>
          <a:prstGeom prst="ellipse">
            <a:avLst/>
          </a:prstGeom>
          <a:solidFill>
            <a:srgbClr val="C45A35"/>
          </a:solidFill>
          <a:ln w="12700">
            <a:solidFill>
              <a:srgbClr val="C45A35"/>
            </a:solidFill>
            <a:prstDash val="solid"/>
          </a:ln>
        </p:spPr>
      </p:sp>
      <p:sp>
        <p:nvSpPr>
          <p:cNvPr id="23" name="Text 20"/>
          <p:cNvSpPr txBox="1"/>
          <p:nvPr/>
        </p:nvSpPr>
        <p:spPr>
          <a:xfrm>
            <a:off x="457200" y="783640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5</a:t>
            </a:r>
            <a:endParaRPr lang="en-US" sz="1564" dirty="0"/>
          </a:p>
        </p:txBody>
      </p:sp>
      <p:sp>
        <p:nvSpPr>
          <p:cNvPr id="24" name="Text 21"/>
          <p:cNvSpPr txBox="1"/>
          <p:nvPr/>
        </p:nvSpPr>
        <p:spPr>
          <a:xfrm>
            <a:off x="1188720" y="7790688"/>
            <a:ext cx="457200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Context lost between screens</a:t>
            </a:r>
            <a:endParaRPr lang="en-US" sz="2200" dirty="0"/>
          </a:p>
        </p:txBody>
      </p:sp>
      <p:sp>
        <p:nvSpPr>
          <p:cNvPr id="25" name="Text 22"/>
          <p:cNvSpPr txBox="1"/>
          <p:nvPr/>
        </p:nvSpPr>
        <p:spPr>
          <a:xfrm>
            <a:off x="5943600" y="7808976"/>
            <a:ext cx="6126480" cy="109728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Moving from an insight to an order drops the reason, so the user re-enters it.</a:t>
            </a:r>
            <a:endParaRPr lang="en-US" sz="1700" dirty="0"/>
          </a:p>
        </p:txBody>
      </p:sp>
      <p:pic>
        <p:nvPicPr>
          <p:cNvPr id="26"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06 · Agent experience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Four concepts for a bounded agent</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Each concept answers one of the breakdowns above.</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6" name="Text 3"/>
          <p:cNvSpPr txBox="1"/>
          <p:nvPr/>
        </p:nvSpPr>
        <p:spPr>
          <a:xfrm>
            <a:off x="457200" y="2560320"/>
            <a:ext cx="566928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CONCEPT 1</a:t>
            </a:r>
            <a:endParaRPr lang="en-US" sz="1280" dirty="0"/>
          </a:p>
        </p:txBody>
      </p:sp>
      <p:sp>
        <p:nvSpPr>
          <p:cNvPr id="7" name="Text 4"/>
          <p:cNvSpPr txBox="1"/>
          <p:nvPr/>
        </p:nvSpPr>
        <p:spPr>
          <a:xfrm>
            <a:off x="457200" y="297180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Goal to plan</a:t>
            </a:r>
            <a:endParaRPr lang="en-US" sz="2400" dirty="0"/>
          </a:p>
        </p:txBody>
      </p:sp>
      <p:sp>
        <p:nvSpPr>
          <p:cNvPr id="8" name="Text 5"/>
          <p:cNvSpPr txBox="1"/>
          <p:nvPr/>
        </p:nvSpPr>
        <p:spPr>
          <a:xfrm>
            <a:off x="457200" y="3657600"/>
            <a:ext cx="5669280" cy="182880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The user states a target, such as "keep technology under 40%." The agent drafts editable steps and shows the impact of each one.</a:t>
            </a:r>
            <a:endParaRPr lang="en-US" sz="1700" dirty="0"/>
          </a:p>
        </p:txBody>
      </p:sp>
      <p:sp>
        <p:nvSpPr>
          <p:cNvPr id="9" name="Text 6"/>
          <p:cNvSpPr txBox="1"/>
          <p:nvPr/>
        </p:nvSpPr>
        <p:spPr>
          <a:xfrm>
            <a:off x="6766560" y="2560320"/>
            <a:ext cx="566928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CONCEPT 2</a:t>
            </a:r>
            <a:endParaRPr lang="en-US" sz="1280" dirty="0"/>
          </a:p>
        </p:txBody>
      </p:sp>
      <p:sp>
        <p:nvSpPr>
          <p:cNvPr id="10" name="Text 7"/>
          <p:cNvSpPr txBox="1"/>
          <p:nvPr/>
        </p:nvSpPr>
        <p:spPr>
          <a:xfrm>
            <a:off x="6766560" y="297180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Autonomy levels</a:t>
            </a:r>
            <a:endParaRPr lang="en-US" sz="2400" dirty="0"/>
          </a:p>
        </p:txBody>
      </p:sp>
      <p:sp>
        <p:nvSpPr>
          <p:cNvPr id="11" name="Text 8"/>
          <p:cNvSpPr txBox="1"/>
          <p:nvPr/>
        </p:nvSpPr>
        <p:spPr>
          <a:xfrm>
            <a:off x="6766560" y="3657600"/>
            <a:ext cx="5669280" cy="182880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Observe, Suggest, or Act within limits. The current level is always visible, with the user-set limits beside it.</a:t>
            </a:r>
            <a:endParaRPr lang="en-US" sz="1700" dirty="0"/>
          </a:p>
        </p:txBody>
      </p:sp>
      <p:sp>
        <p:nvSpPr>
          <p:cNvPr id="12" name="Text 9"/>
          <p:cNvSpPr txBox="1"/>
          <p:nvPr/>
        </p:nvSpPr>
        <p:spPr>
          <a:xfrm>
            <a:off x="457200" y="5943600"/>
            <a:ext cx="5669280" cy="274320"/>
          </a:xfrm>
          <a:prstGeom prst="rect">
            <a:avLst/>
          </a:prstGeom>
          <a:noFill/>
          <a:ln/>
        </p:spPr>
        <p:txBody>
          <a:bodyPr wrap="square" lIns="0" tIns="0" rIns="0" bIns="0" rtlCol="0" anchor="t"/>
          <a:lstStyle/>
          <a:p>
            <a:pPr indent="0" marL="0">
              <a:buNone/>
            </a:pPr>
            <a:r>
              <a:rPr lang="en-US" sz="1280" spc="100" kern="0" dirty="0">
                <a:solidFill>
                  <a:srgbClr val="00868B"/>
                </a:solidFill>
                <a:latin typeface="Helvetica Neue" pitchFamily="34" charset="0"/>
                <a:ea typeface="Helvetica Neue" pitchFamily="34" charset="-122"/>
                <a:cs typeface="Helvetica Neue" pitchFamily="34" charset="-120"/>
              </a:rPr>
              <a:t>CONCEPT 3</a:t>
            </a:r>
            <a:endParaRPr lang="en-US" sz="1280" dirty="0"/>
          </a:p>
        </p:txBody>
      </p:sp>
      <p:sp>
        <p:nvSpPr>
          <p:cNvPr id="13" name="Text 10"/>
          <p:cNvSpPr txBox="1"/>
          <p:nvPr/>
        </p:nvSpPr>
        <p:spPr>
          <a:xfrm>
            <a:off x="457200" y="635508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Evidence on every output</a:t>
            </a:r>
            <a:endParaRPr lang="en-US" sz="2400" dirty="0"/>
          </a:p>
        </p:txBody>
      </p:sp>
      <p:sp>
        <p:nvSpPr>
          <p:cNvPr id="14" name="Text 11"/>
          <p:cNvSpPr txBox="1"/>
          <p:nvPr/>
        </p:nvSpPr>
        <p:spPr>
          <a:xfrm>
            <a:off x="457200" y="7040880"/>
            <a:ext cx="5669280" cy="182880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Each insight links to its source, date, and data. No model-generated confidence percentage.</a:t>
            </a:r>
            <a:endParaRPr lang="en-US" sz="1700" dirty="0"/>
          </a:p>
        </p:txBody>
      </p:sp>
      <p:sp>
        <p:nvSpPr>
          <p:cNvPr id="15" name="Text 12"/>
          <p:cNvSpPr txBox="1"/>
          <p:nvPr/>
        </p:nvSpPr>
        <p:spPr>
          <a:xfrm>
            <a:off x="6766560" y="5943600"/>
            <a:ext cx="5669280" cy="274320"/>
          </a:xfrm>
          <a:prstGeom prst="rect">
            <a:avLst/>
          </a:prstGeom>
          <a:noFill/>
          <a:ln/>
        </p:spPr>
        <p:txBody>
          <a:bodyPr wrap="square" lIns="0" tIns="0" rIns="0" bIns="0" rtlCol="0" anchor="t"/>
          <a:lstStyle/>
          <a:p>
            <a:pPr indent="0" marL="0">
              <a:buNone/>
            </a:pPr>
            <a:r>
              <a:rPr lang="en-US" sz="1280" spc="100" kern="0" dirty="0">
                <a:solidFill>
                  <a:srgbClr val="3A7D55"/>
                </a:solidFill>
                <a:latin typeface="Helvetica Neue" pitchFamily="34" charset="0"/>
                <a:ea typeface="Helvetica Neue" pitchFamily="34" charset="-122"/>
                <a:cs typeface="Helvetica Neue" pitchFamily="34" charset="-120"/>
              </a:rPr>
              <a:t>CONCEPT 4</a:t>
            </a:r>
            <a:endParaRPr lang="en-US" sz="1280" dirty="0"/>
          </a:p>
        </p:txBody>
      </p:sp>
      <p:sp>
        <p:nvSpPr>
          <p:cNvPr id="16" name="Text 13"/>
          <p:cNvSpPr txBox="1"/>
          <p:nvPr/>
        </p:nvSpPr>
        <p:spPr>
          <a:xfrm>
            <a:off x="6766560" y="635508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Orders with their reason</a:t>
            </a:r>
            <a:endParaRPr lang="en-US" sz="2400" dirty="0"/>
          </a:p>
        </p:txBody>
      </p:sp>
      <p:sp>
        <p:nvSpPr>
          <p:cNvPr id="17" name="Text 14"/>
          <p:cNvSpPr txBox="1"/>
          <p:nvPr/>
        </p:nvSpPr>
        <p:spPr>
          <a:xfrm>
            <a:off x="6766560" y="7040880"/>
            <a:ext cx="5669280" cy="182880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A trade started from an insight opens with its reason and the user’s own history, and offers a 48-hour pause.</a:t>
            </a:r>
            <a:endParaRPr lang="en-US" sz="1700" dirty="0"/>
          </a:p>
        </p:txBody>
      </p:sp>
      <p:pic>
        <p:nvPicPr>
          <p:cNvPr id="18"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06 · Agent experience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Adapt as a plan, not a batch</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Set a goal, review the plan, then approve each trade. Nothing runs without approval.</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6" name="Shape 3"/>
          <p:cNvSpPr/>
          <p:nvPr/>
        </p:nvSpPr>
        <p:spPr>
          <a:xfrm>
            <a:off x="457200" y="2286000"/>
            <a:ext cx="2366874" cy="5120640"/>
          </a:xfrm>
          <a:prstGeom prst="rect">
            <a:avLst/>
          </a:prstGeom>
          <a:solidFill>
            <a:srgbClr val="14161D"/>
          </a:solidFill>
          <a:ln w="12700">
            <a:solidFill>
              <a:srgbClr val="14161D"/>
            </a:solidFill>
            <a:prstDash val="solid"/>
          </a:ln>
        </p:spPr>
      </p:sp>
      <p:pic>
        <p:nvPicPr>
          <p:cNvPr id="7" name="Image 1" descr="/tmp/meridian-deck/img/ag-goal.png">    </p:cNvPr>
          <p:cNvPicPr>
            <a:picLocks noChangeAspect="1"/>
          </p:cNvPicPr>
          <p:nvPr/>
        </p:nvPicPr>
        <p:blipFill>
          <a:blip r:embed="rId3"/>
          <a:stretch>
            <a:fillRect/>
          </a:stretch>
        </p:blipFill>
        <p:spPr>
          <a:xfrm>
            <a:off x="457200" y="2286000"/>
            <a:ext cx="2366874" cy="5120640"/>
          </a:xfrm>
          <a:prstGeom prst="rect">
            <a:avLst/>
          </a:prstGeom>
        </p:spPr>
      </p:pic>
      <p:sp>
        <p:nvSpPr>
          <p:cNvPr id="8" name="Text 4"/>
          <p:cNvSpPr txBox="1"/>
          <p:nvPr/>
        </p:nvSpPr>
        <p:spPr>
          <a:xfrm>
            <a:off x="457200" y="7680960"/>
            <a:ext cx="2366874" cy="320040"/>
          </a:xfrm>
          <a:prstGeom prst="rect">
            <a:avLst/>
          </a:prstGeom>
          <a:noFill/>
          <a:ln/>
        </p:spPr>
        <p:txBody>
          <a:bodyPr wrap="square" lIns="0" tIns="0" rIns="0" bIns="0" rtlCol="0" anchor="t"/>
          <a:lstStyle/>
          <a:p>
            <a:pPr indent="0" marL="0">
              <a:buNone/>
            </a:pPr>
            <a:r>
              <a:rPr lang="en-US" sz="1500" dirty="0">
                <a:solidFill>
                  <a:srgbClr val="C45A35"/>
                </a:solidFill>
                <a:latin typeface="Helvetica Neue" pitchFamily="34" charset="0"/>
                <a:ea typeface="Helvetica Neue" pitchFamily="34" charset="-122"/>
                <a:cs typeface="Helvetica Neue" pitchFamily="34" charset="-120"/>
              </a:rPr>
              <a:t>Set a goal</a:t>
            </a:r>
            <a:endParaRPr lang="en-US" sz="1500" dirty="0"/>
          </a:p>
        </p:txBody>
      </p:sp>
      <p:sp>
        <p:nvSpPr>
          <p:cNvPr id="9" name="Text 5"/>
          <p:cNvSpPr txBox="1"/>
          <p:nvPr/>
        </p:nvSpPr>
        <p:spPr>
          <a:xfrm>
            <a:off x="457200" y="8046720"/>
            <a:ext cx="2366874" cy="82296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The user states a target. The agent drafts a plan.</a:t>
            </a:r>
            <a:endParaRPr lang="en-US" sz="1600" dirty="0"/>
          </a:p>
        </p:txBody>
      </p:sp>
      <p:sp>
        <p:nvSpPr>
          <p:cNvPr id="10" name="Shape 6"/>
          <p:cNvSpPr/>
          <p:nvPr/>
        </p:nvSpPr>
        <p:spPr>
          <a:xfrm>
            <a:off x="5318862" y="2286000"/>
            <a:ext cx="2366874" cy="5120640"/>
          </a:xfrm>
          <a:prstGeom prst="rect">
            <a:avLst/>
          </a:prstGeom>
          <a:solidFill>
            <a:srgbClr val="14161D"/>
          </a:solidFill>
          <a:ln w="12700">
            <a:solidFill>
              <a:srgbClr val="14161D"/>
            </a:solidFill>
            <a:prstDash val="solid"/>
          </a:ln>
        </p:spPr>
      </p:sp>
      <p:pic>
        <p:nvPicPr>
          <p:cNvPr id="11" name="Image 2" descr="/tmp/meridian-deck/img/ag-plan.png">    </p:cNvPr>
          <p:cNvPicPr>
            <a:picLocks noChangeAspect="1"/>
          </p:cNvPicPr>
          <p:nvPr/>
        </p:nvPicPr>
        <p:blipFill>
          <a:blip r:embed="rId4"/>
          <a:stretch>
            <a:fillRect/>
          </a:stretch>
        </p:blipFill>
        <p:spPr>
          <a:xfrm>
            <a:off x="5318862" y="2286000"/>
            <a:ext cx="2366874" cy="5120640"/>
          </a:xfrm>
          <a:prstGeom prst="rect">
            <a:avLst/>
          </a:prstGeom>
        </p:spPr>
      </p:pic>
      <p:sp>
        <p:nvSpPr>
          <p:cNvPr id="12" name="Text 7"/>
          <p:cNvSpPr txBox="1"/>
          <p:nvPr/>
        </p:nvSpPr>
        <p:spPr>
          <a:xfrm>
            <a:off x="5318862" y="7680960"/>
            <a:ext cx="2366874" cy="320040"/>
          </a:xfrm>
          <a:prstGeom prst="rect">
            <a:avLst/>
          </a:prstGeom>
          <a:noFill/>
          <a:ln/>
        </p:spPr>
        <p:txBody>
          <a:bodyPr wrap="square" lIns="0" tIns="0" rIns="0" bIns="0" rtlCol="0" anchor="t"/>
          <a:lstStyle/>
          <a:p>
            <a:pPr indent="0" marL="0">
              <a:buNone/>
            </a:pPr>
            <a:r>
              <a:rPr lang="en-US" sz="1500" dirty="0">
                <a:solidFill>
                  <a:srgbClr val="C45A35"/>
                </a:solidFill>
                <a:latin typeface="Helvetica Neue" pitchFamily="34" charset="0"/>
                <a:ea typeface="Helvetica Neue" pitchFamily="34" charset="-122"/>
                <a:cs typeface="Helvetica Neue" pitchFamily="34" charset="-120"/>
              </a:rPr>
              <a:t>Plan preview</a:t>
            </a:r>
            <a:endParaRPr lang="en-US" sz="1500" dirty="0"/>
          </a:p>
        </p:txBody>
      </p:sp>
      <p:sp>
        <p:nvSpPr>
          <p:cNvPr id="13" name="Text 8"/>
          <p:cNvSpPr txBox="1"/>
          <p:nvPr/>
        </p:nvSpPr>
        <p:spPr>
          <a:xfrm>
            <a:off x="5318862" y="8046720"/>
            <a:ext cx="2366874" cy="82296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Each step shows its effect on the allocation.</a:t>
            </a:r>
            <a:endParaRPr lang="en-US" sz="1600" dirty="0"/>
          </a:p>
        </p:txBody>
      </p:sp>
      <p:sp>
        <p:nvSpPr>
          <p:cNvPr id="14" name="Shape 9"/>
          <p:cNvSpPr/>
          <p:nvPr/>
        </p:nvSpPr>
        <p:spPr>
          <a:xfrm>
            <a:off x="10180523" y="2286000"/>
            <a:ext cx="2366874" cy="5120640"/>
          </a:xfrm>
          <a:prstGeom prst="rect">
            <a:avLst/>
          </a:prstGeom>
          <a:solidFill>
            <a:srgbClr val="14161D"/>
          </a:solidFill>
          <a:ln w="12700">
            <a:solidFill>
              <a:srgbClr val="14161D"/>
            </a:solidFill>
            <a:prstDash val="solid"/>
          </a:ln>
        </p:spPr>
      </p:sp>
      <p:pic>
        <p:nvPicPr>
          <p:cNvPr id="15" name="Image 3" descr="/tmp/meridian-deck/img/ag-review.png">    </p:cNvPr>
          <p:cNvPicPr>
            <a:picLocks noChangeAspect="1"/>
          </p:cNvPicPr>
          <p:nvPr/>
        </p:nvPicPr>
        <p:blipFill>
          <a:blip r:embed="rId5"/>
          <a:stretch>
            <a:fillRect/>
          </a:stretch>
        </p:blipFill>
        <p:spPr>
          <a:xfrm>
            <a:off x="10180523" y="2286000"/>
            <a:ext cx="2366874" cy="5120640"/>
          </a:xfrm>
          <a:prstGeom prst="rect">
            <a:avLst/>
          </a:prstGeom>
        </p:spPr>
      </p:pic>
      <p:sp>
        <p:nvSpPr>
          <p:cNvPr id="16" name="Text 10"/>
          <p:cNvSpPr txBox="1"/>
          <p:nvPr/>
        </p:nvSpPr>
        <p:spPr>
          <a:xfrm>
            <a:off x="10180523" y="7680960"/>
            <a:ext cx="2366874" cy="320040"/>
          </a:xfrm>
          <a:prstGeom prst="rect">
            <a:avLst/>
          </a:prstGeom>
          <a:noFill/>
          <a:ln/>
        </p:spPr>
        <p:txBody>
          <a:bodyPr wrap="square" lIns="0" tIns="0" rIns="0" bIns="0" rtlCol="0" anchor="t"/>
          <a:lstStyle/>
          <a:p>
            <a:pPr indent="0" marL="0">
              <a:buNone/>
            </a:pPr>
            <a:r>
              <a:rPr lang="en-US" sz="1500" dirty="0">
                <a:solidFill>
                  <a:srgbClr val="C45A35"/>
                </a:solidFill>
                <a:latin typeface="Helvetica Neue" pitchFamily="34" charset="0"/>
                <a:ea typeface="Helvetica Neue" pitchFamily="34" charset="-122"/>
                <a:cs typeface="Helvetica Neue" pitchFamily="34" charset="-120"/>
              </a:rPr>
              <a:t>Trade review</a:t>
            </a:r>
            <a:endParaRPr lang="en-US" sz="1500" dirty="0"/>
          </a:p>
        </p:txBody>
      </p:sp>
      <p:sp>
        <p:nvSpPr>
          <p:cNvPr id="17" name="Text 11"/>
          <p:cNvSpPr txBox="1"/>
          <p:nvPr/>
        </p:nvSpPr>
        <p:spPr>
          <a:xfrm>
            <a:off x="10180523" y="8046720"/>
            <a:ext cx="2366874" cy="82296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Each trade shows its reason and source. The user approves, edits, or skips.</a:t>
            </a:r>
            <a:endParaRPr lang="en-US" sz="1600" dirty="0"/>
          </a:p>
        </p:txBody>
      </p:sp>
      <p:pic>
        <p:nvPicPr>
          <p:cNvPr id="18" name="Image 4"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06 · Agent experience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Evidence on every insight, and orders that carry their reason</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The reason travels with the order. Learned rules stay visible and reversible.</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6" name="Shape 3"/>
          <p:cNvSpPr/>
          <p:nvPr/>
        </p:nvSpPr>
        <p:spPr>
          <a:xfrm>
            <a:off x="3769665" y="2286000"/>
            <a:ext cx="2366874" cy="5120640"/>
          </a:xfrm>
          <a:prstGeom prst="rect">
            <a:avLst/>
          </a:prstGeom>
          <a:solidFill>
            <a:srgbClr val="14161D"/>
          </a:solidFill>
          <a:ln w="12700">
            <a:solidFill>
              <a:srgbClr val="14161D"/>
            </a:solidFill>
            <a:prstDash val="solid"/>
          </a:ln>
        </p:spPr>
      </p:sp>
      <p:pic>
        <p:nvPicPr>
          <p:cNvPr id="7" name="Image 1" descr="/tmp/meridian-deck/img/ag-evidence.png">    </p:cNvPr>
          <p:cNvPicPr>
            <a:picLocks noChangeAspect="1"/>
          </p:cNvPicPr>
          <p:nvPr/>
        </p:nvPicPr>
        <p:blipFill>
          <a:blip r:embed="rId3"/>
          <a:stretch>
            <a:fillRect/>
          </a:stretch>
        </p:blipFill>
        <p:spPr>
          <a:xfrm>
            <a:off x="3769665" y="2286000"/>
            <a:ext cx="2366874" cy="5120640"/>
          </a:xfrm>
          <a:prstGeom prst="rect">
            <a:avLst/>
          </a:prstGeom>
        </p:spPr>
      </p:pic>
      <p:sp>
        <p:nvSpPr>
          <p:cNvPr id="8" name="Text 4"/>
          <p:cNvSpPr txBox="1"/>
          <p:nvPr/>
        </p:nvSpPr>
        <p:spPr>
          <a:xfrm>
            <a:off x="3769665" y="7680960"/>
            <a:ext cx="2366874" cy="320040"/>
          </a:xfrm>
          <a:prstGeom prst="rect">
            <a:avLst/>
          </a:prstGeom>
          <a:noFill/>
          <a:ln/>
        </p:spPr>
        <p:txBody>
          <a:bodyPr wrap="square" lIns="0" tIns="0" rIns="0" bIns="0" rtlCol="0" anchor="t"/>
          <a:lstStyle/>
          <a:p>
            <a:pPr indent="0" marL="0">
              <a:buNone/>
            </a:pPr>
            <a:r>
              <a:rPr lang="en-US" sz="1500" dirty="0">
                <a:solidFill>
                  <a:srgbClr val="00868B"/>
                </a:solidFill>
                <a:latin typeface="Helvetica Neue" pitchFamily="34" charset="0"/>
                <a:ea typeface="Helvetica Neue" pitchFamily="34" charset="-122"/>
                <a:cs typeface="Helvetica Neue" pitchFamily="34" charset="-120"/>
              </a:rPr>
              <a:t>Insight with evidence</a:t>
            </a:r>
            <a:endParaRPr lang="en-US" sz="1500" dirty="0"/>
          </a:p>
        </p:txBody>
      </p:sp>
      <p:sp>
        <p:nvSpPr>
          <p:cNvPr id="9" name="Text 5"/>
          <p:cNvSpPr txBox="1"/>
          <p:nvPr/>
        </p:nvSpPr>
        <p:spPr>
          <a:xfrm>
            <a:off x="3769665" y="8046720"/>
            <a:ext cx="2366874" cy="82296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Source, date, and the data behind the claim. "What would change this view" is stated.</a:t>
            </a:r>
            <a:endParaRPr lang="en-US" sz="1600" dirty="0"/>
          </a:p>
        </p:txBody>
      </p:sp>
      <p:sp>
        <p:nvSpPr>
          <p:cNvPr id="10" name="Shape 6"/>
          <p:cNvSpPr/>
          <p:nvPr/>
        </p:nvSpPr>
        <p:spPr>
          <a:xfrm>
            <a:off x="6868058" y="2286000"/>
            <a:ext cx="2366874" cy="5120640"/>
          </a:xfrm>
          <a:prstGeom prst="rect">
            <a:avLst/>
          </a:prstGeom>
          <a:solidFill>
            <a:srgbClr val="14161D"/>
          </a:solidFill>
          <a:ln w="12700">
            <a:solidFill>
              <a:srgbClr val="14161D"/>
            </a:solidFill>
            <a:prstDash val="solid"/>
          </a:ln>
        </p:spPr>
      </p:sp>
      <p:pic>
        <p:nvPicPr>
          <p:cNvPr id="11" name="Image 2" descr="/tmp/meridian-deck/img/ag-prefilled.png">    </p:cNvPr>
          <p:cNvPicPr>
            <a:picLocks noChangeAspect="1"/>
          </p:cNvPicPr>
          <p:nvPr/>
        </p:nvPicPr>
        <p:blipFill>
          <a:blip r:embed="rId4"/>
          <a:stretch>
            <a:fillRect/>
          </a:stretch>
        </p:blipFill>
        <p:spPr>
          <a:xfrm>
            <a:off x="6868058" y="2286000"/>
            <a:ext cx="2366874" cy="5120640"/>
          </a:xfrm>
          <a:prstGeom prst="rect">
            <a:avLst/>
          </a:prstGeom>
        </p:spPr>
      </p:pic>
      <p:sp>
        <p:nvSpPr>
          <p:cNvPr id="12" name="Text 7"/>
          <p:cNvSpPr txBox="1"/>
          <p:nvPr/>
        </p:nvSpPr>
        <p:spPr>
          <a:xfrm>
            <a:off x="6868058" y="7680960"/>
            <a:ext cx="2366874" cy="320040"/>
          </a:xfrm>
          <a:prstGeom prst="rect">
            <a:avLst/>
          </a:prstGeom>
          <a:noFill/>
          <a:ln/>
        </p:spPr>
        <p:txBody>
          <a:bodyPr wrap="square" lIns="0" tIns="0" rIns="0" bIns="0" rtlCol="0" anchor="t"/>
          <a:lstStyle/>
          <a:p>
            <a:pPr indent="0" marL="0">
              <a:buNone/>
            </a:pPr>
            <a:r>
              <a:rPr lang="en-US" sz="1500" dirty="0">
                <a:solidFill>
                  <a:srgbClr val="00868B"/>
                </a:solidFill>
                <a:latin typeface="Helvetica Neue" pitchFamily="34" charset="0"/>
                <a:ea typeface="Helvetica Neue" pitchFamily="34" charset="-122"/>
                <a:cs typeface="Helvetica Neue" pitchFamily="34" charset="-120"/>
              </a:rPr>
              <a:t>Order with its reason</a:t>
            </a:r>
            <a:endParaRPr lang="en-US" sz="1500" dirty="0"/>
          </a:p>
        </p:txBody>
      </p:sp>
      <p:sp>
        <p:nvSpPr>
          <p:cNvPr id="13" name="Text 8"/>
          <p:cNvSpPr txBox="1"/>
          <p:nvPr/>
        </p:nvSpPr>
        <p:spPr>
          <a:xfrm>
            <a:off x="6868058" y="8046720"/>
            <a:ext cx="2366874" cy="82296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Opened from Adapt with the reason, and a 48-hour option drawn from the user’s own history (example, mock data).</a:t>
            </a:r>
            <a:endParaRPr lang="en-US" sz="1600" dirty="0"/>
          </a:p>
        </p:txBody>
      </p:sp>
      <p:pic>
        <p:nvPicPr>
          <p:cNvPr id="14" name="Image 3"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06 · Agent experience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What we would measure (planned, not run)</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Hypotheses to test before any claim about the agent. None of these has data yet.</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6" name="Shape 3"/>
          <p:cNvSpPr/>
          <p:nvPr/>
        </p:nvSpPr>
        <p:spPr>
          <a:xfrm>
            <a:off x="457200" y="2560320"/>
            <a:ext cx="420624" cy="420624"/>
          </a:xfrm>
          <a:prstGeom prst="ellipse">
            <a:avLst/>
          </a:prstGeom>
          <a:solidFill>
            <a:srgbClr val="5B3F96"/>
          </a:solidFill>
          <a:ln w="12700">
            <a:solidFill>
              <a:srgbClr val="5B3F96"/>
            </a:solidFill>
            <a:prstDash val="solid"/>
          </a:ln>
        </p:spPr>
      </p:sp>
      <p:sp>
        <p:nvSpPr>
          <p:cNvPr id="7" name="Text 4"/>
          <p:cNvSpPr txBox="1"/>
          <p:nvPr/>
        </p:nvSpPr>
        <p:spPr>
          <a:xfrm>
            <a:off x="457200" y="26243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1</a:t>
            </a:r>
            <a:endParaRPr lang="en-US" sz="1564" dirty="0"/>
          </a:p>
        </p:txBody>
      </p:sp>
      <p:sp>
        <p:nvSpPr>
          <p:cNvPr id="8" name="Text 5"/>
          <p:cNvSpPr txBox="1"/>
          <p:nvPr/>
        </p:nvSpPr>
        <p:spPr>
          <a:xfrm>
            <a:off x="1188720" y="2578608"/>
            <a:ext cx="512064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Time from insight to decision</a:t>
            </a:r>
            <a:endParaRPr lang="en-US" sz="2200" dirty="0"/>
          </a:p>
        </p:txBody>
      </p:sp>
      <p:sp>
        <p:nvSpPr>
          <p:cNvPr id="9" name="Text 6"/>
          <p:cNvSpPr txBox="1"/>
          <p:nvPr/>
        </p:nvSpPr>
        <p:spPr>
          <a:xfrm>
            <a:off x="6492240" y="2596896"/>
            <a:ext cx="5760720" cy="91440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Does evidence on the card shorten the decision?</a:t>
            </a:r>
            <a:endParaRPr lang="en-US" sz="1700" dirty="0"/>
          </a:p>
        </p:txBody>
      </p:sp>
      <p:sp>
        <p:nvSpPr>
          <p:cNvPr id="10" name="Shape 7"/>
          <p:cNvSpPr/>
          <p:nvPr/>
        </p:nvSpPr>
        <p:spPr>
          <a:xfrm>
            <a:off x="457200" y="4023360"/>
            <a:ext cx="420624" cy="420624"/>
          </a:xfrm>
          <a:prstGeom prst="ellipse">
            <a:avLst/>
          </a:prstGeom>
          <a:solidFill>
            <a:srgbClr val="5B3F96"/>
          </a:solidFill>
          <a:ln w="12700">
            <a:solidFill>
              <a:srgbClr val="5B3F96"/>
            </a:solidFill>
            <a:prstDash val="solid"/>
          </a:ln>
        </p:spPr>
      </p:sp>
      <p:sp>
        <p:nvSpPr>
          <p:cNvPr id="11" name="Text 8"/>
          <p:cNvSpPr txBox="1"/>
          <p:nvPr/>
        </p:nvSpPr>
        <p:spPr>
          <a:xfrm>
            <a:off x="457200" y="408736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2</a:t>
            </a:r>
            <a:endParaRPr lang="en-US" sz="1564" dirty="0"/>
          </a:p>
        </p:txBody>
      </p:sp>
      <p:sp>
        <p:nvSpPr>
          <p:cNvPr id="12" name="Text 9"/>
          <p:cNvSpPr txBox="1"/>
          <p:nvPr/>
        </p:nvSpPr>
        <p:spPr>
          <a:xfrm>
            <a:off x="1188720" y="4041648"/>
            <a:ext cx="512064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Edit and reject rate on plan steps</a:t>
            </a:r>
            <a:endParaRPr lang="en-US" sz="2200" dirty="0"/>
          </a:p>
        </p:txBody>
      </p:sp>
      <p:sp>
        <p:nvSpPr>
          <p:cNvPr id="13" name="Text 10"/>
          <p:cNvSpPr txBox="1"/>
          <p:nvPr/>
        </p:nvSpPr>
        <p:spPr>
          <a:xfrm>
            <a:off x="6492240" y="4059936"/>
            <a:ext cx="5760720" cy="91440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Do users trust the plan enough to approve it as drafted?</a:t>
            </a:r>
            <a:endParaRPr lang="en-US" sz="1700" dirty="0"/>
          </a:p>
        </p:txBody>
      </p:sp>
      <p:sp>
        <p:nvSpPr>
          <p:cNvPr id="14" name="Shape 11"/>
          <p:cNvSpPr/>
          <p:nvPr/>
        </p:nvSpPr>
        <p:spPr>
          <a:xfrm>
            <a:off x="457200" y="5486400"/>
            <a:ext cx="420624" cy="420624"/>
          </a:xfrm>
          <a:prstGeom prst="ellipse">
            <a:avLst/>
          </a:prstGeom>
          <a:solidFill>
            <a:srgbClr val="5B3F96"/>
          </a:solidFill>
          <a:ln w="12700">
            <a:solidFill>
              <a:srgbClr val="5B3F96"/>
            </a:solidFill>
            <a:prstDash val="solid"/>
          </a:ln>
        </p:spPr>
      </p:sp>
      <p:sp>
        <p:nvSpPr>
          <p:cNvPr id="15" name="Text 12"/>
          <p:cNvSpPr txBox="1"/>
          <p:nvPr/>
        </p:nvSpPr>
        <p:spPr>
          <a:xfrm>
            <a:off x="457200" y="555040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3</a:t>
            </a:r>
            <a:endParaRPr lang="en-US" sz="1564" dirty="0"/>
          </a:p>
        </p:txBody>
      </p:sp>
      <p:sp>
        <p:nvSpPr>
          <p:cNvPr id="16" name="Text 13"/>
          <p:cNvSpPr txBox="1"/>
          <p:nvPr/>
        </p:nvSpPr>
        <p:spPr>
          <a:xfrm>
            <a:off x="1188720" y="5504688"/>
            <a:ext cx="512064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Reversal rate of agent actions</a:t>
            </a:r>
            <a:endParaRPr lang="en-US" sz="2200" dirty="0"/>
          </a:p>
        </p:txBody>
      </p:sp>
      <p:sp>
        <p:nvSpPr>
          <p:cNvPr id="17" name="Text 14"/>
          <p:cNvSpPr txBox="1"/>
          <p:nvPr/>
        </p:nvSpPr>
        <p:spPr>
          <a:xfrm>
            <a:off x="6492240" y="5522976"/>
            <a:ext cx="5760720" cy="91440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Does Act within limits create regret, or stay trusted?</a:t>
            </a:r>
            <a:endParaRPr lang="en-US" sz="1700" dirty="0"/>
          </a:p>
        </p:txBody>
      </p:sp>
      <p:sp>
        <p:nvSpPr>
          <p:cNvPr id="18" name="Shape 15"/>
          <p:cNvSpPr/>
          <p:nvPr/>
        </p:nvSpPr>
        <p:spPr>
          <a:xfrm>
            <a:off x="457200" y="6949440"/>
            <a:ext cx="420624" cy="420624"/>
          </a:xfrm>
          <a:prstGeom prst="ellipse">
            <a:avLst/>
          </a:prstGeom>
          <a:solidFill>
            <a:srgbClr val="5B3F96"/>
          </a:solidFill>
          <a:ln w="12700">
            <a:solidFill>
              <a:srgbClr val="5B3F96"/>
            </a:solidFill>
            <a:prstDash val="solid"/>
          </a:ln>
        </p:spPr>
      </p:sp>
      <p:sp>
        <p:nvSpPr>
          <p:cNvPr id="19" name="Text 16"/>
          <p:cNvSpPr txBox="1"/>
          <p:nvPr/>
        </p:nvSpPr>
        <p:spPr>
          <a:xfrm>
            <a:off x="457200" y="701344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4</a:t>
            </a:r>
            <a:endParaRPr lang="en-US" sz="1564" dirty="0"/>
          </a:p>
        </p:txBody>
      </p:sp>
      <p:sp>
        <p:nvSpPr>
          <p:cNvPr id="20" name="Text 17"/>
          <p:cNvSpPr txBox="1"/>
          <p:nvPr/>
        </p:nvSpPr>
        <p:spPr>
          <a:xfrm>
            <a:off x="1188720" y="6967728"/>
            <a:ext cx="512064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Learned rules kept or reversed</a:t>
            </a:r>
            <a:endParaRPr lang="en-US" sz="2200" dirty="0"/>
          </a:p>
        </p:txBody>
      </p:sp>
      <p:sp>
        <p:nvSpPr>
          <p:cNvPr id="21" name="Text 18"/>
          <p:cNvSpPr txBox="1"/>
          <p:nvPr/>
        </p:nvSpPr>
        <p:spPr>
          <a:xfrm>
            <a:off x="6492240" y="6986016"/>
            <a:ext cx="5760720" cy="91440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Do users value the learning loop, or do they switch it off?</a:t>
            </a:r>
            <a:endParaRPr lang="en-US" sz="1700" dirty="0"/>
          </a:p>
        </p:txBody>
      </p:sp>
      <p:pic>
        <p:nvPicPr>
          <p:cNvPr id="22"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06 · Agent experience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The whole experience, end to end</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Entry, the five tabs, monitoring, Adapt, the trade flow, the learning loop, and the states. Proposal, mock data.</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pic>
        <p:nvPicPr>
          <p:cNvPr id="6" name="Image 1" descr="/tmp/meridian-deck/img/full-experience.png">    </p:cNvPr>
          <p:cNvPicPr>
            <a:picLocks noChangeAspect="1"/>
          </p:cNvPicPr>
          <p:nvPr/>
        </p:nvPicPr>
        <p:blipFill>
          <a:blip r:embed="rId3"/>
          <a:stretch>
            <a:fillRect/>
          </a:stretch>
        </p:blipFill>
        <p:spPr>
          <a:xfrm>
            <a:off x="457200" y="2194560"/>
            <a:ext cx="12070080" cy="5956663"/>
          </a:xfrm>
          <a:prstGeom prst="rect">
            <a:avLst/>
          </a:prstGeom>
        </p:spPr>
      </p:pic>
      <p:sp>
        <p:nvSpPr>
          <p:cNvPr id="7" name="Text 3"/>
          <p:cNvSpPr txBox="1"/>
          <p:nvPr/>
        </p:nvSpPr>
        <p:spPr>
          <a:xfrm>
            <a:off x="457200" y="8425543"/>
            <a:ext cx="12070080" cy="45720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Nothing trades unless the user approves, or has set Act within limits. Learned rules are visible and reversible.</a:t>
            </a:r>
            <a:endParaRPr lang="en-US" sz="1500" dirty="0"/>
          </a:p>
        </p:txBody>
      </p:sp>
      <p:pic>
        <p:nvPicPr>
          <p:cNvPr id="8" name="Image 2"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C45A35"/>
        </a:solidFill>
      </p:bgPr>
    </p:bg>
    <p:spTree>
      <p:nvGrpSpPr>
        <p:cNvPr id="1" name=""/>
        <p:cNvGrpSpPr/>
        <p:nvPr/>
      </p:nvGrpSpPr>
      <p:grpSpPr/>
      <p:sp>
        <p:nvSpPr>
          <p:cNvPr id="2" name="Text 0"/>
          <p:cNvSpPr txBox="1"/>
          <p:nvPr/>
        </p:nvSpPr>
        <p:spPr>
          <a:xfrm>
            <a:off x="978408" y="978408"/>
            <a:ext cx="10515600" cy="1097280"/>
          </a:xfrm>
          <a:prstGeom prst="rect">
            <a:avLst/>
          </a:prstGeom>
          <a:noFill/>
          <a:ln/>
        </p:spPr>
        <p:txBody>
          <a:bodyPr wrap="square" lIns="0" tIns="0" rIns="0" bIns="0" rtlCol="0" anchor="t"/>
          <a:lstStyle/>
          <a:p>
            <a:pPr indent="0" marL="0">
              <a:buNone/>
            </a:pPr>
            <a:r>
              <a:rPr lang="en-US" sz="5700" dirty="0">
                <a:solidFill>
                  <a:srgbClr val="FFFFFF"/>
                </a:solidFill>
                <a:latin typeface="Helvetica Neue Light" pitchFamily="34" charset="0"/>
                <a:ea typeface="Helvetica Neue Light" pitchFamily="34" charset="-122"/>
                <a:cs typeface="Helvetica Neue Light" pitchFamily="34" charset="-120"/>
              </a:rPr>
              <a:t>Build and test</a:t>
            </a:r>
            <a:endParaRPr lang="en-US" sz="5700" dirty="0"/>
          </a:p>
        </p:txBody>
      </p:sp>
      <p:sp>
        <p:nvSpPr>
          <p:cNvPr id="3" name="Text 1"/>
          <p:cNvSpPr txBox="1"/>
          <p:nvPr/>
        </p:nvSpPr>
        <p:spPr>
          <a:xfrm>
            <a:off x="1078992" y="2286000"/>
            <a:ext cx="9601200" cy="822960"/>
          </a:xfrm>
          <a:prstGeom prst="rect">
            <a:avLst/>
          </a:prstGeom>
          <a:noFill/>
          <a:ln/>
        </p:spPr>
        <p:txBody>
          <a:bodyPr wrap="square" lIns="0" tIns="0" rIns="0" bIns="0" rtlCol="0" anchor="t"/>
          <a:lstStyle/>
          <a:p>
            <a:pPr indent="0" marL="0">
              <a:buNone/>
            </a:pPr>
            <a:r>
              <a:rPr lang="en-US" sz="1900" dirty="0">
                <a:solidFill>
                  <a:srgbClr val="FFE9DF"/>
                </a:solidFill>
                <a:latin typeface="Helvetica Neue Light" pitchFamily="34" charset="0"/>
                <a:ea typeface="Helvetica Neue Light" pitchFamily="34" charset="-122"/>
                <a:cs typeface="Helvetica Neue Light" pitchFamily="34" charset="-120"/>
              </a:rPr>
              <a:t>How the AI behaves, how it is built, and how we will check it.</a:t>
            </a:r>
            <a:endParaRPr lang="en-US" sz="19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07 · Methodology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How the AI behaves, and how we will test it</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Text 2"/>
          <p:cNvSpPr txBox="1"/>
          <p:nvPr/>
        </p:nvSpPr>
        <p:spPr>
          <a:xfrm>
            <a:off x="457200" y="2468880"/>
            <a:ext cx="566928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AI BEHAVIOR · DESIGNED, MOCK DATA</a:t>
            </a:r>
            <a:endParaRPr lang="en-US" sz="1280" dirty="0"/>
          </a:p>
        </p:txBody>
      </p:sp>
      <p:sp>
        <p:nvSpPr>
          <p:cNvPr id="6" name="Text 3"/>
          <p:cNvSpPr txBox="1"/>
          <p:nvPr/>
        </p:nvSpPr>
        <p:spPr>
          <a:xfrm>
            <a:off x="457200" y="2926080"/>
            <a:ext cx="5669280" cy="411480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Insight: sentiment summaries, with the screen as the source</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Prospect: opportunity cards with upside and downside</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Guard: alerts ranked by severity; mark as read</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Adapt: before and after allocation, and a reviewable buy and sell list</a:t>
            </a:r>
            <a:endParaRPr lang="en-US" sz="1800" dirty="0"/>
          </a:p>
        </p:txBody>
      </p:sp>
      <p:sp>
        <p:nvSpPr>
          <p:cNvPr id="7" name="Text 4"/>
          <p:cNvSpPr txBox="1"/>
          <p:nvPr/>
        </p:nvSpPr>
        <p:spPr>
          <a:xfrm>
            <a:off x="6583680" y="2468880"/>
            <a:ext cx="5669280" cy="274320"/>
          </a:xfrm>
          <a:prstGeom prst="rect">
            <a:avLst/>
          </a:prstGeom>
          <a:noFill/>
          <a:ln/>
        </p:spPr>
        <p:txBody>
          <a:bodyPr wrap="square" lIns="0" tIns="0" rIns="0" bIns="0" rtlCol="0" anchor="t"/>
          <a:lstStyle/>
          <a:p>
            <a:pPr indent="0" marL="0">
              <a:buNone/>
            </a:pPr>
            <a:r>
              <a:rPr lang="en-US" sz="1280" spc="100" kern="0" dirty="0">
                <a:solidFill>
                  <a:srgbClr val="00868B"/>
                </a:solidFill>
                <a:latin typeface="Helvetica Neue" pitchFamily="34" charset="0"/>
                <a:ea typeface="Helvetica Neue" pitchFamily="34" charset="-122"/>
                <a:cs typeface="Helvetica Neue" pitchFamily="34" charset="-120"/>
              </a:rPr>
              <a:t>VALIDATION · PLANNED</a:t>
            </a:r>
            <a:endParaRPr lang="en-US" sz="1280" dirty="0"/>
          </a:p>
        </p:txBody>
      </p:sp>
      <p:sp>
        <p:nvSpPr>
          <p:cNvPr id="8" name="Text 5"/>
          <p:cNvSpPr txBox="1"/>
          <p:nvPr/>
        </p:nvSpPr>
        <p:spPr>
          <a:xfrm>
            <a:off x="6583680" y="2926080"/>
            <a:ext cx="5669280" cy="411480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Five-person think-aloud on the share and dollar flows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Comprehension check on Insight, Prospect, Guard and Adapt labels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Card sort on the five tabs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Compliance review of trade and AI copy</a:t>
            </a:r>
            <a:endParaRPr lang="en-US" sz="1800" dirty="0"/>
          </a:p>
        </p:txBody>
      </p:sp>
      <p:pic>
        <p:nvPicPr>
          <p:cNvPr id="9"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08 · Implementation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Built on SwiftUI, with tokens shared with Figma</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Text 2"/>
          <p:cNvSpPr txBox="1"/>
          <p:nvPr/>
        </p:nvSpPr>
        <p:spPr>
          <a:xfrm>
            <a:off x="457200" y="2468880"/>
            <a:ext cx="566928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WHAT IS BUILT</a:t>
            </a:r>
            <a:endParaRPr lang="en-US" sz="1280" dirty="0"/>
          </a:p>
        </p:txBody>
      </p:sp>
      <p:sp>
        <p:nvSpPr>
          <p:cNvPr id="6" name="Text 3"/>
          <p:cNvSpPr txBox="1"/>
          <p:nvPr/>
        </p:nvSpPr>
        <p:spPr>
          <a:xfrm>
            <a:off x="457200" y="2926080"/>
            <a:ext cx="5669280" cy="411480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MVVM: one ViewModel per screen</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MockAPIService with realistic data and a delay</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DesignTokens.swift: colors, type and spacing</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AuthManager: Face ID and Touch ID, Keychain storage</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Figma library mirrors the same tokens</a:t>
            </a:r>
            <a:endParaRPr lang="en-US" sz="1800" dirty="0"/>
          </a:p>
        </p:txBody>
      </p:sp>
      <p:sp>
        <p:nvSpPr>
          <p:cNvPr id="7" name="Text 4"/>
          <p:cNvSpPr txBox="1"/>
          <p:nvPr/>
        </p:nvSpPr>
        <p:spPr>
          <a:xfrm>
            <a:off x="6583680" y="2468880"/>
            <a:ext cx="5669280" cy="274320"/>
          </a:xfrm>
          <a:prstGeom prst="rect">
            <a:avLst/>
          </a:prstGeom>
          <a:noFill/>
          <a:ln/>
        </p:spPr>
        <p:txBody>
          <a:bodyPr wrap="square" lIns="0" tIns="0" rIns="0" bIns="0" rtlCol="0" anchor="t"/>
          <a:lstStyle/>
          <a:p>
            <a:pPr indent="0" marL="0">
              <a:buNone/>
            </a:pPr>
            <a:r>
              <a:rPr lang="en-US" sz="1280" spc="100" kern="0" dirty="0">
                <a:solidFill>
                  <a:srgbClr val="744A6C"/>
                </a:solidFill>
                <a:latin typeface="Helvetica Neue" pitchFamily="34" charset="0"/>
                <a:ea typeface="Helvetica Neue" pitchFamily="34" charset="-122"/>
                <a:cs typeface="Helvetica Neue" pitchFamily="34" charset="-120"/>
              </a:rPr>
              <a:t>NEXT TO BUILD · PROPOSED</a:t>
            </a:r>
            <a:endParaRPr lang="en-US" sz="1280" dirty="0"/>
          </a:p>
        </p:txBody>
      </p:sp>
      <p:sp>
        <p:nvSpPr>
          <p:cNvPr id="8" name="Text 5"/>
          <p:cNvSpPr txBox="1"/>
          <p:nvPr/>
        </p:nvSpPr>
        <p:spPr>
          <a:xfrm>
            <a:off x="6583680" y="2926080"/>
            <a:ext cx="5669280" cy="411480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Real market data and quotes behind the mock service</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Brokerage connection for order placement</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Session and authentication with a real backend</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Audit log for trade and AI actions</a:t>
            </a:r>
            <a:endParaRPr lang="en-US" sz="1800" dirty="0"/>
          </a:p>
        </p:txBody>
      </p:sp>
      <p:pic>
        <p:nvPicPr>
          <p:cNvPr id="9"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09 · Results &amp; impact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What exists today, and what we still need to measure</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Shape 2"/>
          <p:cNvSpPr/>
          <p:nvPr/>
        </p:nvSpPr>
        <p:spPr>
          <a:xfrm>
            <a:off x="457200" y="2468880"/>
            <a:ext cx="2851099" cy="2926080"/>
          </a:xfrm>
          <a:prstGeom prst="rect">
            <a:avLst/>
          </a:prstGeom>
          <a:solidFill>
            <a:srgbClr val="C45A35"/>
          </a:solidFill>
          <a:ln w="12700">
            <a:solidFill>
              <a:srgbClr val="C45A35"/>
            </a:solidFill>
            <a:prstDash val="solid"/>
          </a:ln>
        </p:spPr>
      </p:sp>
      <p:sp>
        <p:nvSpPr>
          <p:cNvPr id="6" name="Text 3"/>
          <p:cNvSpPr txBox="1"/>
          <p:nvPr/>
        </p:nvSpPr>
        <p:spPr>
          <a:xfrm>
            <a:off x="777240" y="2743200"/>
            <a:ext cx="2211019" cy="1371600"/>
          </a:xfrm>
          <a:prstGeom prst="rect">
            <a:avLst/>
          </a:prstGeom>
          <a:noFill/>
          <a:ln/>
        </p:spPr>
        <p:txBody>
          <a:bodyPr wrap="square" lIns="0" tIns="0" rIns="0" bIns="0" rtlCol="0" anchor="t"/>
          <a:lstStyle/>
          <a:p>
            <a:pPr indent="0" marL="0">
              <a:buNone/>
            </a:pPr>
            <a:r>
              <a:rPr lang="en-US" sz="8000" b="1" dirty="0">
                <a:solidFill>
                  <a:srgbClr val="FFFFFF"/>
                </a:solidFill>
                <a:latin typeface="Helvetica Neue" pitchFamily="34" charset="0"/>
                <a:ea typeface="Helvetica Neue" pitchFamily="34" charset="-122"/>
                <a:cs typeface="Helvetica Neue" pitchFamily="34" charset="-120"/>
              </a:rPr>
              <a:t>5</a:t>
            </a:r>
            <a:endParaRPr lang="en-US" sz="8000" dirty="0"/>
          </a:p>
        </p:txBody>
      </p:sp>
      <p:sp>
        <p:nvSpPr>
          <p:cNvPr id="7" name="Text 4"/>
          <p:cNvSpPr txBox="1"/>
          <p:nvPr/>
        </p:nvSpPr>
        <p:spPr>
          <a:xfrm>
            <a:off x="777240" y="4297680"/>
            <a:ext cx="2211019" cy="914400"/>
          </a:xfrm>
          <a:prstGeom prst="rect">
            <a:avLst/>
          </a:prstGeom>
          <a:noFill/>
          <a:ln/>
        </p:spPr>
        <p:txBody>
          <a:bodyPr wrap="square" lIns="0" tIns="0" rIns="0" bIns="0" rtlCol="0" anchor="t"/>
          <a:lstStyle/>
          <a:p>
            <a:pPr indent="0" marL="0">
              <a:buNone/>
            </a:pPr>
            <a:r>
              <a:rPr lang="en-US" sz="1700" dirty="0">
                <a:solidFill>
                  <a:srgbClr val="FFFFFF"/>
                </a:solidFill>
                <a:latin typeface="Helvetica Neue Light" pitchFamily="34" charset="0"/>
                <a:ea typeface="Helvetica Neue Light" pitchFamily="34" charset="-122"/>
                <a:cs typeface="Helvetica Neue Light" pitchFamily="34" charset="-120"/>
              </a:rPr>
              <a:t>core iOS screens, each with a ViewModel</a:t>
            </a:r>
            <a:endParaRPr lang="en-US" sz="1700" dirty="0"/>
          </a:p>
        </p:txBody>
      </p:sp>
      <p:sp>
        <p:nvSpPr>
          <p:cNvPr id="8" name="Shape 5"/>
          <p:cNvSpPr/>
          <p:nvPr/>
        </p:nvSpPr>
        <p:spPr>
          <a:xfrm>
            <a:off x="3536899" y="2468880"/>
            <a:ext cx="2851099" cy="2926080"/>
          </a:xfrm>
          <a:prstGeom prst="rect">
            <a:avLst/>
          </a:prstGeom>
          <a:solidFill>
            <a:srgbClr val="5B3F96"/>
          </a:solidFill>
          <a:ln w="12700">
            <a:solidFill>
              <a:srgbClr val="5B3F96"/>
            </a:solidFill>
            <a:prstDash val="solid"/>
          </a:ln>
        </p:spPr>
      </p:sp>
      <p:sp>
        <p:nvSpPr>
          <p:cNvPr id="9" name="Text 6"/>
          <p:cNvSpPr txBox="1"/>
          <p:nvPr/>
        </p:nvSpPr>
        <p:spPr>
          <a:xfrm>
            <a:off x="3856939" y="2743200"/>
            <a:ext cx="2211019" cy="1371600"/>
          </a:xfrm>
          <a:prstGeom prst="rect">
            <a:avLst/>
          </a:prstGeom>
          <a:noFill/>
          <a:ln/>
        </p:spPr>
        <p:txBody>
          <a:bodyPr wrap="square" lIns="0" tIns="0" rIns="0" bIns="0" rtlCol="0" anchor="t"/>
          <a:lstStyle/>
          <a:p>
            <a:pPr indent="0" marL="0">
              <a:buNone/>
            </a:pPr>
            <a:r>
              <a:rPr lang="en-US" sz="8000" b="1" dirty="0">
                <a:solidFill>
                  <a:srgbClr val="FFFFFF"/>
                </a:solidFill>
                <a:latin typeface="Helvetica Neue" pitchFamily="34" charset="0"/>
                <a:ea typeface="Helvetica Neue" pitchFamily="34" charset="-122"/>
                <a:cs typeface="Helvetica Neue" pitchFamily="34" charset="-120"/>
              </a:rPr>
              <a:t>8</a:t>
            </a:r>
            <a:endParaRPr lang="en-US" sz="8000" dirty="0"/>
          </a:p>
        </p:txBody>
      </p:sp>
      <p:sp>
        <p:nvSpPr>
          <p:cNvPr id="10" name="Text 7"/>
          <p:cNvSpPr txBox="1"/>
          <p:nvPr/>
        </p:nvSpPr>
        <p:spPr>
          <a:xfrm>
            <a:off x="3856939" y="4297680"/>
            <a:ext cx="2211019" cy="914400"/>
          </a:xfrm>
          <a:prstGeom prst="rect">
            <a:avLst/>
          </a:prstGeom>
          <a:noFill/>
          <a:ln/>
        </p:spPr>
        <p:txBody>
          <a:bodyPr wrap="square" lIns="0" tIns="0" rIns="0" bIns="0" rtlCol="0" anchor="t"/>
          <a:lstStyle/>
          <a:p>
            <a:pPr indent="0" marL="0">
              <a:buNone/>
            </a:pPr>
            <a:r>
              <a:rPr lang="en-US" sz="1700" dirty="0">
                <a:solidFill>
                  <a:srgbClr val="FFFFFF"/>
                </a:solidFill>
                <a:latin typeface="Helvetica Neue Light" pitchFamily="34" charset="0"/>
                <a:ea typeface="Helvetica Neue Light" pitchFamily="34" charset="-122"/>
                <a:cs typeface="Helvetica Neue Light" pitchFamily="34" charset="-120"/>
              </a:rPr>
              <a:t>steps in each trade flow: share and dollar</a:t>
            </a:r>
            <a:endParaRPr lang="en-US" sz="1700" dirty="0"/>
          </a:p>
        </p:txBody>
      </p:sp>
      <p:sp>
        <p:nvSpPr>
          <p:cNvPr id="11" name="Shape 8"/>
          <p:cNvSpPr/>
          <p:nvPr/>
        </p:nvSpPr>
        <p:spPr>
          <a:xfrm>
            <a:off x="6616598" y="2468880"/>
            <a:ext cx="2851099" cy="2926080"/>
          </a:xfrm>
          <a:prstGeom prst="rect">
            <a:avLst/>
          </a:prstGeom>
          <a:solidFill>
            <a:srgbClr val="00868B"/>
          </a:solidFill>
          <a:ln w="12700">
            <a:solidFill>
              <a:srgbClr val="00868B"/>
            </a:solidFill>
            <a:prstDash val="solid"/>
          </a:ln>
        </p:spPr>
      </p:sp>
      <p:sp>
        <p:nvSpPr>
          <p:cNvPr id="12" name="Text 9"/>
          <p:cNvSpPr txBox="1"/>
          <p:nvPr/>
        </p:nvSpPr>
        <p:spPr>
          <a:xfrm>
            <a:off x="6936638" y="2743200"/>
            <a:ext cx="2211019" cy="1371600"/>
          </a:xfrm>
          <a:prstGeom prst="rect">
            <a:avLst/>
          </a:prstGeom>
          <a:noFill/>
          <a:ln/>
        </p:spPr>
        <p:txBody>
          <a:bodyPr wrap="square" lIns="0" tIns="0" rIns="0" bIns="0" rtlCol="0" anchor="t"/>
          <a:lstStyle/>
          <a:p>
            <a:pPr indent="0" marL="0">
              <a:buNone/>
            </a:pPr>
            <a:r>
              <a:rPr lang="en-US" sz="8000" b="1" dirty="0">
                <a:solidFill>
                  <a:srgbClr val="FFFFFF"/>
                </a:solidFill>
                <a:latin typeface="Helvetica Neue" pitchFamily="34" charset="0"/>
                <a:ea typeface="Helvetica Neue" pitchFamily="34" charset="-122"/>
                <a:cs typeface="Helvetica Neue" pitchFamily="34" charset="-120"/>
              </a:rPr>
              <a:t>3</a:t>
            </a:r>
            <a:endParaRPr lang="en-US" sz="8000" dirty="0"/>
          </a:p>
        </p:txBody>
      </p:sp>
      <p:sp>
        <p:nvSpPr>
          <p:cNvPr id="13" name="Text 10"/>
          <p:cNvSpPr txBox="1"/>
          <p:nvPr/>
        </p:nvSpPr>
        <p:spPr>
          <a:xfrm>
            <a:off x="6936638" y="4297680"/>
            <a:ext cx="2211019" cy="914400"/>
          </a:xfrm>
          <a:prstGeom prst="rect">
            <a:avLst/>
          </a:prstGeom>
          <a:noFill/>
          <a:ln/>
        </p:spPr>
        <p:txBody>
          <a:bodyPr wrap="square" lIns="0" tIns="0" rIns="0" bIns="0" rtlCol="0" anchor="t"/>
          <a:lstStyle/>
          <a:p>
            <a:pPr indent="0" marL="0">
              <a:buNone/>
            </a:pPr>
            <a:r>
              <a:rPr lang="en-US" sz="1700" dirty="0">
                <a:solidFill>
                  <a:srgbClr val="FFFFFF"/>
                </a:solidFill>
                <a:latin typeface="Helvetica Neue Light" pitchFamily="34" charset="0"/>
                <a:ea typeface="Helvetica Neue Light" pitchFamily="34" charset="-122"/>
                <a:cs typeface="Helvetica Neue Light" pitchFamily="34" charset="-120"/>
              </a:rPr>
              <a:t>interactive prototypes published, plus this deck</a:t>
            </a:r>
            <a:endParaRPr lang="en-US" sz="1700" dirty="0"/>
          </a:p>
        </p:txBody>
      </p:sp>
      <p:sp>
        <p:nvSpPr>
          <p:cNvPr id="14" name="Shape 11"/>
          <p:cNvSpPr/>
          <p:nvPr/>
        </p:nvSpPr>
        <p:spPr>
          <a:xfrm>
            <a:off x="9696298" y="2468880"/>
            <a:ext cx="2851099" cy="2926080"/>
          </a:xfrm>
          <a:prstGeom prst="rect">
            <a:avLst/>
          </a:prstGeom>
          <a:solidFill>
            <a:srgbClr val="3A7D55"/>
          </a:solidFill>
          <a:ln w="12700">
            <a:solidFill>
              <a:srgbClr val="3A7D55"/>
            </a:solidFill>
            <a:prstDash val="solid"/>
          </a:ln>
        </p:spPr>
      </p:sp>
      <p:sp>
        <p:nvSpPr>
          <p:cNvPr id="15" name="Text 12"/>
          <p:cNvSpPr txBox="1"/>
          <p:nvPr/>
        </p:nvSpPr>
        <p:spPr>
          <a:xfrm>
            <a:off x="10016338" y="2743200"/>
            <a:ext cx="2211019" cy="1371600"/>
          </a:xfrm>
          <a:prstGeom prst="rect">
            <a:avLst/>
          </a:prstGeom>
          <a:noFill/>
          <a:ln/>
        </p:spPr>
        <p:txBody>
          <a:bodyPr wrap="square" lIns="0" tIns="0" rIns="0" bIns="0" rtlCol="0" anchor="t"/>
          <a:lstStyle/>
          <a:p>
            <a:pPr indent="0" marL="0">
              <a:buNone/>
            </a:pPr>
            <a:r>
              <a:rPr lang="en-US" sz="8000" b="1" dirty="0">
                <a:solidFill>
                  <a:srgbClr val="FFFFFF"/>
                </a:solidFill>
                <a:latin typeface="Helvetica Neue" pitchFamily="34" charset="0"/>
                <a:ea typeface="Helvetica Neue" pitchFamily="34" charset="-122"/>
                <a:cs typeface="Helvetica Neue" pitchFamily="34" charset="-120"/>
              </a:rPr>
              <a:t>20</a:t>
            </a:r>
            <a:endParaRPr lang="en-US" sz="8000" dirty="0"/>
          </a:p>
        </p:txBody>
      </p:sp>
      <p:sp>
        <p:nvSpPr>
          <p:cNvPr id="16" name="Text 13"/>
          <p:cNvSpPr txBox="1"/>
          <p:nvPr/>
        </p:nvSpPr>
        <p:spPr>
          <a:xfrm>
            <a:off x="10016338" y="4297680"/>
            <a:ext cx="2211019" cy="914400"/>
          </a:xfrm>
          <a:prstGeom prst="rect">
            <a:avLst/>
          </a:prstGeom>
          <a:noFill/>
          <a:ln/>
        </p:spPr>
        <p:txBody>
          <a:bodyPr wrap="square" lIns="0" tIns="0" rIns="0" bIns="0" rtlCol="0" anchor="t"/>
          <a:lstStyle/>
          <a:p>
            <a:pPr indent="0" marL="0">
              <a:buNone/>
            </a:pPr>
            <a:r>
              <a:rPr lang="en-US" sz="1700" dirty="0">
                <a:solidFill>
                  <a:srgbClr val="FFFFFF"/>
                </a:solidFill>
                <a:latin typeface="Helvetica Neue Light" pitchFamily="34" charset="0"/>
                <a:ea typeface="Helvetica Neue Light" pitchFamily="34" charset="-122"/>
                <a:cs typeface="Helvetica Neue Light" pitchFamily="34" charset="-120"/>
              </a:rPr>
              <a:t>hi-fi wireframe states on 06- Wireframes</a:t>
            </a:r>
            <a:endParaRPr lang="en-US" sz="1700" dirty="0"/>
          </a:p>
        </p:txBody>
      </p:sp>
      <p:sp>
        <p:nvSpPr>
          <p:cNvPr id="17" name="Text 14"/>
          <p:cNvSpPr txBox="1"/>
          <p:nvPr/>
        </p:nvSpPr>
        <p:spPr>
          <a:xfrm>
            <a:off x="457200" y="6035040"/>
            <a:ext cx="12070080" cy="274320"/>
          </a:xfrm>
          <a:prstGeom prst="rect">
            <a:avLst/>
          </a:prstGeom>
          <a:noFill/>
          <a:ln/>
        </p:spPr>
        <p:txBody>
          <a:bodyPr wrap="square" lIns="0" tIns="0" rIns="0" bIns="0" rtlCol="0" anchor="t"/>
          <a:lstStyle/>
          <a:p>
            <a:pPr indent="0" marL="0">
              <a:buNone/>
            </a:pPr>
            <a:r>
              <a:rPr lang="en-US" sz="1280" spc="100" kern="0" dirty="0">
                <a:solidFill>
                  <a:srgbClr val="A12A37"/>
                </a:solidFill>
                <a:latin typeface="Helvetica Neue" pitchFamily="34" charset="0"/>
                <a:ea typeface="Helvetica Neue" pitchFamily="34" charset="-122"/>
                <a:cs typeface="Helvetica Neue" pitchFamily="34" charset="-120"/>
              </a:rPr>
              <a:t>OUTCOMES · NOT YET MEASURED</a:t>
            </a:r>
            <a:endParaRPr lang="en-US" sz="1280" dirty="0"/>
          </a:p>
        </p:txBody>
      </p:sp>
      <p:sp>
        <p:nvSpPr>
          <p:cNvPr id="18" name="Text 15"/>
          <p:cNvSpPr txBox="1"/>
          <p:nvPr/>
        </p:nvSpPr>
        <p:spPr>
          <a:xfrm>
            <a:off x="457200" y="6400800"/>
            <a:ext cx="12070080" cy="146304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Time to complete a trade, task success, the share of users who open an AI screen in week one, and a usability score. Targets are planned and will be set with stakeholders before the first test.</a:t>
            </a:r>
            <a:endParaRPr lang="en-US" sz="2000" dirty="0"/>
          </a:p>
        </p:txBody>
      </p:sp>
      <p:pic>
        <p:nvPicPr>
          <p:cNvPr id="19"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10 · Learnings &amp; next steps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What building this taught me, and what comes next</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Text 2"/>
          <p:cNvSpPr txBox="1"/>
          <p:nvPr/>
        </p:nvSpPr>
        <p:spPr>
          <a:xfrm>
            <a:off x="457200" y="2468880"/>
            <a:ext cx="566928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LEARNINGS</a:t>
            </a:r>
            <a:endParaRPr lang="en-US" sz="1280" dirty="0"/>
          </a:p>
        </p:txBody>
      </p:sp>
      <p:sp>
        <p:nvSpPr>
          <p:cNvPr id="6" name="Shape 3"/>
          <p:cNvSpPr/>
          <p:nvPr/>
        </p:nvSpPr>
        <p:spPr>
          <a:xfrm>
            <a:off x="457200" y="3017520"/>
            <a:ext cx="420624" cy="420624"/>
          </a:xfrm>
          <a:prstGeom prst="ellipse">
            <a:avLst/>
          </a:prstGeom>
          <a:solidFill>
            <a:srgbClr val="C45A35"/>
          </a:solidFill>
          <a:ln w="12700">
            <a:solidFill>
              <a:srgbClr val="C45A35"/>
            </a:solidFill>
            <a:prstDash val="solid"/>
          </a:ln>
        </p:spPr>
      </p:sp>
      <p:sp>
        <p:nvSpPr>
          <p:cNvPr id="7" name="Text 4"/>
          <p:cNvSpPr txBox="1"/>
          <p:nvPr/>
        </p:nvSpPr>
        <p:spPr>
          <a:xfrm>
            <a:off x="457200" y="30815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1</a:t>
            </a:r>
            <a:endParaRPr lang="en-US" sz="1564" dirty="0"/>
          </a:p>
        </p:txBody>
      </p:sp>
      <p:sp>
        <p:nvSpPr>
          <p:cNvPr id="8" name="Text 5"/>
          <p:cNvSpPr txBox="1"/>
          <p:nvPr/>
        </p:nvSpPr>
        <p:spPr>
          <a:xfrm>
            <a:off x="1097280" y="3035808"/>
            <a:ext cx="5120640" cy="1097280"/>
          </a:xfrm>
          <a:prstGeom prst="rect">
            <a:avLst/>
          </a:prstGeom>
          <a:noFill/>
          <a:ln/>
        </p:spPr>
        <p:txBody>
          <a:bodyPr wrap="square" lIns="0" tIns="0" rIns="0" bIns="0" rtlCol="0" anchor="t"/>
          <a:lstStyle/>
          <a:p>
            <a:pPr indent="0" marL="0">
              <a:buNone/>
            </a:pPr>
            <a:r>
              <a:rPr lang="en-US" sz="1800" dirty="0">
                <a:solidFill>
                  <a:srgbClr val="1F1F1F"/>
                </a:solidFill>
                <a:latin typeface="Helvetica Neue Light" pitchFamily="34" charset="0"/>
                <a:ea typeface="Helvetica Neue Light" pitchFamily="34" charset="-122"/>
                <a:cs typeface="Helvetica Neue Light" pitchFamily="34" charset="-120"/>
              </a:rPr>
              <a:t>One token source for Figma and Swift keeps the two in step.</a:t>
            </a:r>
            <a:endParaRPr lang="en-US" sz="1800" dirty="0"/>
          </a:p>
        </p:txBody>
      </p:sp>
      <p:sp>
        <p:nvSpPr>
          <p:cNvPr id="9" name="Shape 6"/>
          <p:cNvSpPr/>
          <p:nvPr/>
        </p:nvSpPr>
        <p:spPr>
          <a:xfrm>
            <a:off x="457200" y="4389120"/>
            <a:ext cx="420624" cy="420624"/>
          </a:xfrm>
          <a:prstGeom prst="ellipse">
            <a:avLst/>
          </a:prstGeom>
          <a:solidFill>
            <a:srgbClr val="C45A35"/>
          </a:solidFill>
          <a:ln w="12700">
            <a:solidFill>
              <a:srgbClr val="C45A35"/>
            </a:solidFill>
            <a:prstDash val="solid"/>
          </a:ln>
        </p:spPr>
      </p:sp>
      <p:sp>
        <p:nvSpPr>
          <p:cNvPr id="10" name="Text 7"/>
          <p:cNvSpPr txBox="1"/>
          <p:nvPr/>
        </p:nvSpPr>
        <p:spPr>
          <a:xfrm>
            <a:off x="457200" y="44531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2</a:t>
            </a:r>
            <a:endParaRPr lang="en-US" sz="1564" dirty="0"/>
          </a:p>
        </p:txBody>
      </p:sp>
      <p:sp>
        <p:nvSpPr>
          <p:cNvPr id="11" name="Text 8"/>
          <p:cNvSpPr txBox="1"/>
          <p:nvPr/>
        </p:nvSpPr>
        <p:spPr>
          <a:xfrm>
            <a:off x="1097280" y="4407408"/>
            <a:ext cx="5120640" cy="1097280"/>
          </a:xfrm>
          <a:prstGeom prst="rect">
            <a:avLst/>
          </a:prstGeom>
          <a:noFill/>
          <a:ln/>
        </p:spPr>
        <p:txBody>
          <a:bodyPr wrap="square" lIns="0" tIns="0" rIns="0" bIns="0" rtlCol="0" anchor="t"/>
          <a:lstStyle/>
          <a:p>
            <a:pPr indent="0" marL="0">
              <a:buNone/>
            </a:pPr>
            <a:r>
              <a:rPr lang="en-US" sz="1800" dirty="0">
                <a:solidFill>
                  <a:srgbClr val="1F1F1F"/>
                </a:solidFill>
                <a:latin typeface="Helvetica Neue Light" pitchFamily="34" charset="0"/>
                <a:ea typeface="Helvetica Neue Light" pitchFamily="34" charset="-122"/>
                <a:cs typeface="Helvetica Neue Light" pitchFamily="34" charset="-120"/>
              </a:rPr>
              <a:t>Settle AI boundaries before more screens. Adapt’s buy and sell wording needs compliance first.</a:t>
            </a:r>
            <a:endParaRPr lang="en-US" sz="1800" dirty="0"/>
          </a:p>
        </p:txBody>
      </p:sp>
      <p:sp>
        <p:nvSpPr>
          <p:cNvPr id="12" name="Shape 9"/>
          <p:cNvSpPr/>
          <p:nvPr/>
        </p:nvSpPr>
        <p:spPr>
          <a:xfrm>
            <a:off x="457200" y="5760720"/>
            <a:ext cx="420624" cy="420624"/>
          </a:xfrm>
          <a:prstGeom prst="ellipse">
            <a:avLst/>
          </a:prstGeom>
          <a:solidFill>
            <a:srgbClr val="C45A35"/>
          </a:solidFill>
          <a:ln w="12700">
            <a:solidFill>
              <a:srgbClr val="C45A35"/>
            </a:solidFill>
            <a:prstDash val="solid"/>
          </a:ln>
        </p:spPr>
      </p:sp>
      <p:sp>
        <p:nvSpPr>
          <p:cNvPr id="13" name="Text 10"/>
          <p:cNvSpPr txBox="1"/>
          <p:nvPr/>
        </p:nvSpPr>
        <p:spPr>
          <a:xfrm>
            <a:off x="457200" y="58247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3</a:t>
            </a:r>
            <a:endParaRPr lang="en-US" sz="1564" dirty="0"/>
          </a:p>
        </p:txBody>
      </p:sp>
      <p:sp>
        <p:nvSpPr>
          <p:cNvPr id="14" name="Text 11"/>
          <p:cNvSpPr txBox="1"/>
          <p:nvPr/>
        </p:nvSpPr>
        <p:spPr>
          <a:xfrm>
            <a:off x="1097280" y="5779008"/>
            <a:ext cx="5120640" cy="1097280"/>
          </a:xfrm>
          <a:prstGeom prst="rect">
            <a:avLst/>
          </a:prstGeom>
          <a:noFill/>
          <a:ln/>
        </p:spPr>
        <p:txBody>
          <a:bodyPr wrap="square" lIns="0" tIns="0" rIns="0" bIns="0" rtlCol="0" anchor="t"/>
          <a:lstStyle/>
          <a:p>
            <a:pPr indent="0" marL="0">
              <a:buNone/>
            </a:pPr>
            <a:r>
              <a:rPr lang="en-US" sz="1800" dirty="0">
                <a:solidFill>
                  <a:srgbClr val="1F1F1F"/>
                </a:solidFill>
                <a:latin typeface="Helvetica Neue Light" pitchFamily="34" charset="0"/>
                <a:ea typeface="Helvetica Neue Light" pitchFamily="34" charset="-122"/>
                <a:cs typeface="Helvetica Neue Light" pitchFamily="34" charset="-120"/>
              </a:rPr>
              <a:t>Mock data hides timing and error states, so design them explicitly.</a:t>
            </a:r>
            <a:endParaRPr lang="en-US" sz="1800" dirty="0"/>
          </a:p>
        </p:txBody>
      </p:sp>
      <p:sp>
        <p:nvSpPr>
          <p:cNvPr id="15" name="Shape 12"/>
          <p:cNvSpPr/>
          <p:nvPr/>
        </p:nvSpPr>
        <p:spPr>
          <a:xfrm>
            <a:off x="457200" y="7132320"/>
            <a:ext cx="420624" cy="420624"/>
          </a:xfrm>
          <a:prstGeom prst="ellipse">
            <a:avLst/>
          </a:prstGeom>
          <a:solidFill>
            <a:srgbClr val="C45A35"/>
          </a:solidFill>
          <a:ln w="12700">
            <a:solidFill>
              <a:srgbClr val="C45A35"/>
            </a:solidFill>
            <a:prstDash val="solid"/>
          </a:ln>
        </p:spPr>
      </p:sp>
      <p:sp>
        <p:nvSpPr>
          <p:cNvPr id="16" name="Text 13"/>
          <p:cNvSpPr txBox="1"/>
          <p:nvPr/>
        </p:nvSpPr>
        <p:spPr>
          <a:xfrm>
            <a:off x="457200" y="71963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4</a:t>
            </a:r>
            <a:endParaRPr lang="en-US" sz="1564" dirty="0"/>
          </a:p>
        </p:txBody>
      </p:sp>
      <p:sp>
        <p:nvSpPr>
          <p:cNvPr id="17" name="Text 14"/>
          <p:cNvSpPr txBox="1"/>
          <p:nvPr/>
        </p:nvSpPr>
        <p:spPr>
          <a:xfrm>
            <a:off x="1097280" y="7150608"/>
            <a:ext cx="5120640" cy="1097280"/>
          </a:xfrm>
          <a:prstGeom prst="rect">
            <a:avLst/>
          </a:prstGeom>
          <a:noFill/>
          <a:ln/>
        </p:spPr>
        <p:txBody>
          <a:bodyPr wrap="square" lIns="0" tIns="0" rIns="0" bIns="0" rtlCol="0" anchor="t"/>
          <a:lstStyle/>
          <a:p>
            <a:pPr indent="0" marL="0">
              <a:buNone/>
            </a:pPr>
            <a:r>
              <a:rPr lang="en-US" sz="1800" dirty="0">
                <a:solidFill>
                  <a:srgbClr val="1F1F1F"/>
                </a:solidFill>
                <a:latin typeface="Helvetica Neue Light" pitchFamily="34" charset="0"/>
                <a:ea typeface="Helvetica Neue Light" pitchFamily="34" charset="-122"/>
                <a:cs typeface="Helvetica Neue Light" pitchFamily="34" charset="-120"/>
              </a:rPr>
              <a:t>Keep working documents in one place: the FigJam board.</a:t>
            </a:r>
            <a:endParaRPr lang="en-US" sz="1800" dirty="0"/>
          </a:p>
        </p:txBody>
      </p:sp>
      <p:sp>
        <p:nvSpPr>
          <p:cNvPr id="18" name="Text 15"/>
          <p:cNvSpPr txBox="1"/>
          <p:nvPr/>
        </p:nvSpPr>
        <p:spPr>
          <a:xfrm>
            <a:off x="6583680" y="2468880"/>
            <a:ext cx="566928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NEXT STEPS</a:t>
            </a:r>
            <a:endParaRPr lang="en-US" sz="1280" dirty="0"/>
          </a:p>
        </p:txBody>
      </p:sp>
      <p:sp>
        <p:nvSpPr>
          <p:cNvPr id="19" name="Text 16"/>
          <p:cNvSpPr txBox="1"/>
          <p:nvPr/>
        </p:nvSpPr>
        <p:spPr>
          <a:xfrm>
            <a:off x="6583680" y="3017520"/>
            <a:ext cx="5669280" cy="502920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Validate the three personas with five to eight interviews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Usability-test the share and dollar flows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Review the 20 wireframe states with stakeholders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Resolve the open questions on the FigJam board</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Set metric targets with stakeholders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Schedule the compliance review</a:t>
            </a:r>
            <a:endParaRPr lang="en-US" sz="1800" dirty="0"/>
          </a:p>
        </p:txBody>
      </p:sp>
      <p:pic>
        <p:nvPicPr>
          <p:cNvPr id="20"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C45A35"/>
        </a:solidFill>
      </p:bgPr>
    </p:bg>
    <p:spTree>
      <p:nvGrpSpPr>
        <p:cNvPr id="1" name=""/>
        <p:cNvGrpSpPr/>
        <p:nvPr/>
      </p:nvGrpSpPr>
      <p:grpSpPr/>
      <p:sp>
        <p:nvSpPr>
          <p:cNvPr id="2" name="Text 0"/>
          <p:cNvSpPr txBox="1"/>
          <p:nvPr/>
        </p:nvSpPr>
        <p:spPr>
          <a:xfrm>
            <a:off x="978408" y="978408"/>
            <a:ext cx="10515600" cy="1097280"/>
          </a:xfrm>
          <a:prstGeom prst="rect">
            <a:avLst/>
          </a:prstGeom>
          <a:noFill/>
          <a:ln/>
        </p:spPr>
        <p:txBody>
          <a:bodyPr wrap="square" lIns="0" tIns="0" rIns="0" bIns="0" rtlCol="0" anchor="t"/>
          <a:lstStyle/>
          <a:p>
            <a:pPr indent="0" marL="0">
              <a:buNone/>
            </a:pPr>
            <a:r>
              <a:rPr lang="en-US" sz="5700" dirty="0">
                <a:solidFill>
                  <a:srgbClr val="FFFFFF"/>
                </a:solidFill>
                <a:latin typeface="Helvetica Neue Light" pitchFamily="34" charset="0"/>
                <a:ea typeface="Helvetica Neue Light" pitchFamily="34" charset="-122"/>
                <a:cs typeface="Helvetica Neue Light" pitchFamily="34" charset="-120"/>
              </a:rPr>
              <a:t>Working documents and links</a:t>
            </a:r>
            <a:endParaRPr lang="en-US" sz="5700" dirty="0"/>
          </a:p>
        </p:txBody>
      </p:sp>
      <p:sp>
        <p:nvSpPr>
          <p:cNvPr id="3" name="Text 1"/>
          <p:cNvSpPr txBox="1"/>
          <p:nvPr/>
        </p:nvSpPr>
        <p:spPr>
          <a:xfrm>
            <a:off x="978408" y="292608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FigJam board (working documents)</a:t>
            </a:r>
            <a:endParaRPr lang="en-US" sz="1800" dirty="0"/>
          </a:p>
        </p:txBody>
      </p:sp>
      <p:sp>
        <p:nvSpPr>
          <p:cNvPr id="4" name="Text 2">
            <a:hlinkClick r:id="rId2" tooltip=""/>
          </p:cNvPr>
          <p:cNvSpPr txBox="1"/>
          <p:nvPr/>
        </p:nvSpPr>
        <p:spPr>
          <a:xfrm>
            <a:off x="6309360" y="296265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https://www.figma.com/board/OXpFHEhHcr2ZReOXKKPVxb</a:t>
            </a:r>
            <a:endParaRPr lang="en-US" sz="1500" dirty="0"/>
          </a:p>
        </p:txBody>
      </p:sp>
      <p:sp>
        <p:nvSpPr>
          <p:cNvPr id="5" name="Text 3"/>
          <p:cNvSpPr txBox="1"/>
          <p:nvPr/>
        </p:nvSpPr>
        <p:spPr>
          <a:xfrm>
            <a:off x="978408" y="370332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Meridian Wires (Figma)</a:t>
            </a:r>
            <a:endParaRPr lang="en-US" sz="1800" dirty="0"/>
          </a:p>
        </p:txBody>
      </p:sp>
      <p:sp>
        <p:nvSpPr>
          <p:cNvPr id="6" name="Text 4">
            <a:hlinkClick r:id="rId3" tooltip=""/>
          </p:cNvPr>
          <p:cNvSpPr txBox="1"/>
          <p:nvPr/>
        </p:nvSpPr>
        <p:spPr>
          <a:xfrm>
            <a:off x="6309360" y="373989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https://www.figma.com/design/W9SuJ8HpznQuY6Fb3H442w</a:t>
            </a:r>
            <a:endParaRPr lang="en-US" sz="1500" dirty="0"/>
          </a:p>
        </p:txBody>
      </p:sp>
      <p:sp>
        <p:nvSpPr>
          <p:cNvPr id="7" name="Text 5"/>
          <p:cNvSpPr txBox="1"/>
          <p:nvPr/>
        </p:nvSpPr>
        <p:spPr>
          <a:xfrm>
            <a:off x="978408" y="448056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06- Wireframes (hi-fi states)</a:t>
            </a:r>
            <a:endParaRPr lang="en-US" sz="1800" dirty="0"/>
          </a:p>
        </p:txBody>
      </p:sp>
      <p:sp>
        <p:nvSpPr>
          <p:cNvPr id="8" name="Text 6">
            <a:hlinkClick r:id="rId4" tooltip=""/>
          </p:cNvPr>
          <p:cNvSpPr txBox="1"/>
          <p:nvPr/>
        </p:nvSpPr>
        <p:spPr>
          <a:xfrm>
            <a:off x="6309360" y="451713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https://www.figma.com/design/W9SuJ8HpznQuY6Fb3H442w?node-id=5123-3942</a:t>
            </a:r>
            <a:endParaRPr lang="en-US" sz="1500" dirty="0"/>
          </a:p>
        </p:txBody>
      </p:sp>
      <p:sp>
        <p:nvSpPr>
          <p:cNvPr id="9" name="Text 7"/>
          <p:cNvSpPr txBox="1"/>
          <p:nvPr/>
        </p:nvSpPr>
        <p:spPr>
          <a:xfrm>
            <a:off x="978408" y="525780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New Trading Desk (Figma)</a:t>
            </a:r>
            <a:endParaRPr lang="en-US" sz="1800" dirty="0"/>
          </a:p>
        </p:txBody>
      </p:sp>
      <p:sp>
        <p:nvSpPr>
          <p:cNvPr id="10" name="Text 8">
            <a:hlinkClick r:id="rId5" tooltip=""/>
          </p:cNvPr>
          <p:cNvSpPr txBox="1"/>
          <p:nvPr/>
        </p:nvSpPr>
        <p:spPr>
          <a:xfrm>
            <a:off x="6309360" y="529437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https://www.figma.com/design/w9xAlgyQeXToR54UPbv7wG</a:t>
            </a:r>
            <a:endParaRPr lang="en-US" sz="1500" dirty="0"/>
          </a:p>
        </p:txBody>
      </p:sp>
      <p:sp>
        <p:nvSpPr>
          <p:cNvPr id="11" name="Text 9"/>
          <p:cNvSpPr txBox="1"/>
          <p:nvPr/>
        </p:nvSpPr>
        <p:spPr>
          <a:xfrm>
            <a:off x="978408" y="603504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Case study deck (web)</a:t>
            </a:r>
            <a:endParaRPr lang="en-US" sz="1800" dirty="0"/>
          </a:p>
        </p:txBody>
      </p:sp>
      <p:sp>
        <p:nvSpPr>
          <p:cNvPr id="12" name="Text 10">
            <a:hlinkClick r:id="rId6" tooltip=""/>
          </p:cNvPr>
          <p:cNvSpPr txBox="1"/>
          <p:nvPr/>
        </p:nvSpPr>
        <p:spPr>
          <a:xfrm>
            <a:off x="6309360" y="607161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https://claude.ai/artifact/TwRA3JxYaMduyLo1MfpcZe</a:t>
            </a:r>
            <a:endParaRPr lang="en-US" sz="1500" dirty="0"/>
          </a:p>
        </p:txBody>
      </p:sp>
      <p:sp>
        <p:nvSpPr>
          <p:cNvPr id="13" name="Text 11"/>
          <p:cNvSpPr txBox="1"/>
          <p:nvPr/>
        </p:nvSpPr>
        <p:spPr>
          <a:xfrm>
            <a:off x="978408" y="681228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Meridian HTML prototype</a:t>
            </a:r>
            <a:endParaRPr lang="en-US" sz="1800" dirty="0"/>
          </a:p>
        </p:txBody>
      </p:sp>
      <p:sp>
        <p:nvSpPr>
          <p:cNvPr id="14" name="Text 12">
            <a:hlinkClick r:id="rId7" tooltip=""/>
          </p:cNvPr>
          <p:cNvSpPr txBox="1"/>
          <p:nvPr/>
        </p:nvSpPr>
        <p:spPr>
          <a:xfrm>
            <a:off x="6309360" y="684885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https://claude.ai/artifact/QKAHav3ku5fRX5UTnohzsZ</a:t>
            </a:r>
            <a:endParaRPr lang="en-US" sz="1500" dirty="0"/>
          </a:p>
        </p:txBody>
      </p:sp>
      <p:sp>
        <p:nvSpPr>
          <p:cNvPr id="15" name="Text 13"/>
          <p:cNvSpPr txBox="1"/>
          <p:nvPr/>
        </p:nvSpPr>
        <p:spPr>
          <a:xfrm>
            <a:off x="978408" y="758952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Code and docs (GitHub)</a:t>
            </a:r>
            <a:endParaRPr lang="en-US" sz="1800" dirty="0"/>
          </a:p>
        </p:txBody>
      </p:sp>
      <p:sp>
        <p:nvSpPr>
          <p:cNvPr id="16" name="Text 14">
            <a:hlinkClick r:id="rId8" tooltip=""/>
          </p:cNvPr>
          <p:cNvSpPr txBox="1"/>
          <p:nvPr/>
        </p:nvSpPr>
        <p:spPr>
          <a:xfrm>
            <a:off x="6309360" y="762609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https://github.com/CHUNKY21/trading-platform</a:t>
            </a:r>
            <a:endParaRPr lang="en-US" sz="1500" dirty="0"/>
          </a:p>
        </p:txBody>
      </p:sp>
      <p:sp>
        <p:nvSpPr>
          <p:cNvPr id="17" name="Text 15"/>
          <p:cNvSpPr txBox="1"/>
          <p:nvPr/>
        </p:nvSpPr>
        <p:spPr>
          <a:xfrm>
            <a:off x="978408" y="8229600"/>
            <a:ext cx="10515600" cy="365760"/>
          </a:xfrm>
          <a:prstGeom prst="rect">
            <a:avLst/>
          </a:prstGeom>
          <a:noFill/>
          <a:ln/>
        </p:spPr>
        <p:txBody>
          <a:bodyPr wrap="square" lIns="0" tIns="0" rIns="0" bIns="0" rtlCol="0" anchor="t"/>
          <a:lstStyle/>
          <a:p>
            <a:pPr indent="0" marL="0">
              <a:buNone/>
            </a:pPr>
            <a:r>
              <a:rPr lang="en-US" sz="1400" dirty="0">
                <a:solidFill>
                  <a:srgbClr val="FFE9DF"/>
                </a:solidFill>
                <a:latin typeface="Helvetica Neue Light" pitchFamily="34" charset="0"/>
                <a:ea typeface="Helvetica Neue Light" pitchFamily="34" charset="-122"/>
                <a:cs typeface="Helvetica Neue Light" pitchFamily="34" charset="-120"/>
              </a:rPr>
              <a:t>Some links need access. Share the FigJam board and prototypes from each tool’s share menu.</a:t>
            </a:r>
            <a:endParaRPr lang="en-US" sz="1400" dirty="0"/>
          </a:p>
        </p:txBody>
      </p:sp>
      <p:pic>
        <p:nvPicPr>
          <p:cNvPr id="18" name="Image 0" descr="/tmp/meridian-deck/img/band-footer.png">    </p:cNvPr>
          <p:cNvPicPr>
            <a:picLocks noChangeAspect="1"/>
          </p:cNvPicPr>
          <p:nvPr/>
        </p:nvPicPr>
        <p:blipFill>
          <a:blip r:embed="rId9"/>
          <a:stretch>
            <a:fillRect/>
          </a:stretch>
        </p:blipFill>
        <p:spPr>
          <a:xfrm>
            <a:off x="0" y="9281160"/>
            <a:ext cx="13004597" cy="466344"/>
          </a:xfrm>
          <a:prstGeom prst="rect">
            <a:avLst/>
          </a:prstGeom>
        </p:spPr>
      </p:pic>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24160" cy="274320"/>
          </a:xfrm>
          <a:prstGeom prst="rect">
            <a:avLst/>
          </a:prstGeom>
          <a:noFill/>
        </p:spPr>
        <p:txBody>
          <a:bodyPr wrap="square">
            <a:spAutoFit/>
          </a:bodyPr>
          <a:lstStyle/>
          <a:p>
            <a:r>
              <a:rPr sz="1400" b="0">
                <a:solidFill>
                  <a:srgbClr val="1F1F1F"/>
                </a:solidFill>
                <a:latin typeface="Helvetica Neue"/>
              </a:rPr>
              <a:t>Competitive landscape</a:t>
            </a:r>
          </a:p>
        </p:txBody>
      </p:sp>
      <p:sp>
        <p:nvSpPr>
          <p:cNvPr id="3" name="TextBox 2"/>
          <p:cNvSpPr txBox="1"/>
          <p:nvPr/>
        </p:nvSpPr>
        <p:spPr>
          <a:xfrm>
            <a:off x="457200" y="914400"/>
            <a:ext cx="12070080" cy="594360"/>
          </a:xfrm>
          <a:prstGeom prst="rect">
            <a:avLst/>
          </a:prstGeom>
          <a:noFill/>
        </p:spPr>
        <p:txBody>
          <a:bodyPr wrap="square">
            <a:spAutoFit/>
          </a:bodyPr>
          <a:lstStyle/>
          <a:p>
            <a:r>
              <a:rPr sz="2800" b="0">
                <a:solidFill>
                  <a:srgbClr val="1F1F1F"/>
                </a:solidFill>
                <a:latin typeface="Helvetica Neue Light"/>
              </a:rPr>
              <a:t>Competitive landscape: where FinViz is strong, and where the AI layer fits</a:t>
            </a:r>
          </a:p>
        </p:txBody>
      </p:sp>
      <p:sp>
        <p:nvSpPr>
          <p:cNvPr id="4" name="TextBox 3"/>
          <p:cNvSpPr txBox="1"/>
          <p:nvPr/>
        </p:nvSpPr>
        <p:spPr>
          <a:xfrm>
            <a:off x="457200" y="1554480"/>
            <a:ext cx="12070080" cy="365760"/>
          </a:xfrm>
          <a:prstGeom prst="rect">
            <a:avLst/>
          </a:prstGeom>
          <a:noFill/>
        </p:spPr>
        <p:txBody>
          <a:bodyPr wrap="square">
            <a:spAutoFit/>
          </a:bodyPr>
          <a:lstStyle/>
          <a:p>
            <a:r>
              <a:rPr sz="1600" b="0">
                <a:solidFill>
                  <a:srgbClr val="595959"/>
                </a:solidFill>
                <a:latin typeface="Helvetica Neue Light"/>
              </a:rPr>
              <a:t>Examples from the FinViz research notes, as of September 2026.</a:t>
            </a:r>
          </a:p>
        </p:txBody>
      </p:sp>
      <p:graphicFrame>
        <p:nvGraphicFramePr>
          <p:cNvPr id="5" name="Table 4"/>
          <p:cNvGraphicFramePr>
            <a:graphicFrameLocks noGrp="1"/>
          </p:cNvGraphicFramePr>
          <p:nvPr/>
        </p:nvGraphicFramePr>
        <p:xfrm>
          <a:off x="457200" y="2377440"/>
          <a:ext cx="12070080" cy="3291840"/>
        </p:xfrm>
        <a:graphic>
          <a:graphicData uri="http://schemas.openxmlformats.org/drawingml/2006/table">
            <a:tbl>
              <a:tblPr firstRow="1" bandRow="1">
                <a:tableStyleId>{5C22544A-7EE6-4342-B048-85BDC9FD1C3A}</a:tableStyleId>
              </a:tblPr>
              <a:tblGrid>
                <a:gridCol w="2743200"/>
                <a:gridCol w="4572000"/>
                <a:gridCol w="4754880"/>
              </a:tblGrid>
              <a:tr h="822960">
                <a:tc>
                  <a:txBody>
                    <a:bodyPr/>
                    <a:lstStyle/>
                    <a:p>
                      <a:r>
                        <a:rPr sz="1500" b="1">
                          <a:solidFill>
                            <a:srgbClr val="C45A35"/>
                          </a:solidFill>
                          <a:latin typeface="Helvetica Neue"/>
                        </a:rPr>
                        <a:t>Product</a:t>
                      </a:r>
                    </a:p>
                  </a:txBody>
                  <a:tcPr/>
                </a:tc>
                <a:tc>
                  <a:txBody>
                    <a:bodyPr/>
                    <a:lstStyle/>
                    <a:p>
                      <a:r>
                        <a:rPr sz="1500" b="1">
                          <a:solidFill>
                            <a:srgbClr val="C45A35"/>
                          </a:solidFill>
                          <a:latin typeface="Helvetica Neue"/>
                        </a:rPr>
                        <a:t>Where it is strong</a:t>
                      </a:r>
                    </a:p>
                  </a:txBody>
                  <a:tcPr/>
                </a:tc>
                <a:tc>
                  <a:txBody>
                    <a:bodyPr/>
                    <a:lstStyle/>
                    <a:p>
                      <a:r>
                        <a:rPr sz="1500" b="1">
                          <a:solidFill>
                            <a:srgbClr val="C45A35"/>
                          </a:solidFill>
                          <a:latin typeface="Helvetica Neue"/>
                        </a:rPr>
                        <a:t>Where the AI layer fits</a:t>
                      </a:r>
                    </a:p>
                  </a:txBody>
                  <a:tcPr/>
                </a:tc>
              </a:tr>
              <a:tr h="822960">
                <a:tc>
                  <a:txBody>
                    <a:bodyPr/>
                    <a:lstStyle/>
                    <a:p>
                      <a:r>
                        <a:rPr sz="1600" b="1">
                          <a:solidFill>
                            <a:srgbClr val="1F1F1F"/>
                          </a:solidFill>
                          <a:latin typeface="Helvetica Neue"/>
                        </a:rPr>
                        <a:t>TradingView</a:t>
                      </a:r>
                    </a:p>
                  </a:txBody>
                  <a:tcPr/>
                </a:tc>
                <a:tc>
                  <a:txBody>
                    <a:bodyPr/>
                    <a:lstStyle/>
                    <a:p>
                      <a:r>
                        <a:rPr sz="1600" b="0">
                          <a:solidFill>
                            <a:srgbClr val="1F1F1F"/>
                          </a:solidFill>
                          <a:latin typeface="Helvetica Neue Light"/>
                        </a:rPr>
                        <a:t>Charting and community. Ships AI chart analysis and document summaries.</a:t>
                      </a:r>
                    </a:p>
                  </a:txBody>
                  <a:tcPr/>
                </a:tc>
                <a:tc>
                  <a:txBody>
                    <a:bodyPr/>
                    <a:lstStyle/>
                    <a:p>
                      <a:r>
                        <a:rPr sz="1600" b="0">
                          <a:solidFill>
                            <a:srgbClr val="1F1F1F"/>
                          </a:solidFill>
                          <a:latin typeface="Helvetica Neue Light"/>
                        </a:rPr>
                        <a:t>Explains the trader’s own screen. FinViz stays the fastest place to find ideas.</a:t>
                      </a:r>
                    </a:p>
                  </a:txBody>
                  <a:tcPr/>
                </a:tc>
              </a:tr>
              <a:tr h="822960">
                <a:tc>
                  <a:txBody>
                    <a:bodyPr/>
                    <a:lstStyle/>
                    <a:p>
                      <a:r>
                        <a:rPr sz="1600" b="1">
                          <a:solidFill>
                            <a:srgbClr val="1F1F1F"/>
                          </a:solidFill>
                          <a:latin typeface="Helvetica Neue"/>
                        </a:rPr>
                        <a:t>Trade Ideas</a:t>
                      </a:r>
                    </a:p>
                  </a:txBody>
                  <a:tcPr/>
                </a:tc>
                <a:tc>
                  <a:txBody>
                    <a:bodyPr/>
                    <a:lstStyle/>
                    <a:p>
                      <a:r>
                        <a:rPr sz="1600" b="0">
                          <a:solidFill>
                            <a:srgbClr val="1F1F1F"/>
                          </a:solidFill>
                          <a:latin typeface="Helvetica Neue Light"/>
                        </a:rPr>
                        <a:t>Real-time scanning and alerts at tick speed.</a:t>
                      </a:r>
                    </a:p>
                  </a:txBody>
                  <a:tcPr/>
                </a:tc>
                <a:tc>
                  <a:txBody>
                    <a:bodyPr/>
                    <a:lstStyle/>
                    <a:p>
                      <a:r>
                        <a:rPr sz="1600" b="0">
                          <a:solidFill>
                            <a:srgbClr val="1F1F1F"/>
                          </a:solidFill>
                          <a:latin typeface="Helvetica Neue Light"/>
                        </a:rPr>
                        <a:t>FinViz does not compete on tick speed. Push alerts on a saved screen matter more to this user.</a:t>
                      </a:r>
                    </a:p>
                  </a:txBody>
                  <a:tcPr/>
                </a:tc>
              </a:tr>
              <a:tr h="822960">
                <a:tc>
                  <a:txBody>
                    <a:bodyPr/>
                    <a:lstStyle/>
                    <a:p>
                      <a:r>
                        <a:rPr sz="1600" b="1">
                          <a:solidFill>
                            <a:srgbClr val="1F1F1F"/>
                          </a:solidFill>
                          <a:latin typeface="Helvetica Neue"/>
                        </a:rPr>
                        <a:t>Bloomberg Terminal</a:t>
                      </a:r>
                    </a:p>
                  </a:txBody>
                  <a:tcPr/>
                </a:tc>
                <a:tc>
                  <a:txBody>
                    <a:bodyPr/>
                    <a:lstStyle/>
                    <a:p>
                      <a:r>
                        <a:rPr sz="1600" b="0">
                          <a:solidFill>
                            <a:srgbClr val="1F1F1F"/>
                          </a:solidFill>
                          <a:latin typeface="Helvetica Neue Light"/>
                        </a:rPr>
                        <a:t>Market data and news flow for professionals.</a:t>
                      </a:r>
                    </a:p>
                  </a:txBody>
                  <a:tcPr/>
                </a:tc>
                <a:tc>
                  <a:txBody>
                    <a:bodyPr/>
                    <a:lstStyle/>
                    <a:p>
                      <a:r>
                        <a:rPr sz="1600" b="0">
                          <a:solidFill>
                            <a:srgbClr val="1F1F1F"/>
                          </a:solidFill>
                          <a:latin typeface="Helvetica Neue Light"/>
                        </a:rPr>
                        <a:t>Cost and complexity. FinViz’s job is discovery for individual traders.</a:t>
                      </a:r>
                    </a:p>
                  </a:txBody>
                  <a:tcPr/>
                </a:tc>
              </a:tr>
            </a:tbl>
          </a:graphicData>
        </a:graphic>
      </p:graphicFrame>
      <p:sp>
        <p:nvSpPr>
          <p:cNvPr id="6" name="TextBox 5"/>
          <p:cNvSpPr txBox="1"/>
          <p:nvPr/>
        </p:nvSpPr>
        <p:spPr>
          <a:xfrm>
            <a:off x="457200" y="7955279"/>
            <a:ext cx="12070080" cy="822960"/>
          </a:xfrm>
          <a:prstGeom prst="rect">
            <a:avLst/>
          </a:prstGeom>
          <a:noFill/>
        </p:spPr>
        <p:txBody>
          <a:bodyPr wrap="square">
            <a:spAutoFit/>
          </a:bodyPr>
          <a:lstStyle/>
          <a:p>
            <a:r>
              <a:rPr sz="1500" b="0">
                <a:solidFill>
                  <a:srgbClr val="6E6E6E"/>
                </a:solidFill>
                <a:latin typeface="Helvetica Neue Light"/>
              </a:rPr>
              <a:t>Source: FinViz research notes. Competitor features change. Re-check before publishing.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24023</Words>
  <Application>Microsoft Macintosh PowerPoint</Application>
  <PresentationFormat>Custom</PresentationFormat>
  <Paragraphs>2417</Paragraphs>
  <Slides>161</Slides>
  <Notes>67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161</vt:i4>
      </vt:variant>
    </vt:vector>
  </HeadingPairs>
  <TitlesOfParts>
    <vt:vector size="170" baseType="lpstr">
      <vt:lpstr>Aptos</vt:lpstr>
      <vt:lpstr>Arial</vt:lpstr>
      <vt:lpstr>Calibri</vt:lpstr>
      <vt:lpstr>Helvetica</vt:lpstr>
      <vt:lpstr>Helvetica Neue</vt:lpstr>
      <vt:lpstr>HELVETICA NEUE LIGHT</vt:lpstr>
      <vt:lpstr>HELVETICA NEUE LIGHT</vt:lpstr>
      <vt:lpstr>Helvetica Neue Thin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Thibodeau</cp:lastModifiedBy>
  <cp:revision>19</cp:revision>
  <dcterms:created xsi:type="dcterms:W3CDTF">2013-01-27T09:14:16Z</dcterms:created>
  <dcterms:modified xsi:type="dcterms:W3CDTF">2026-10-08T01:28:10Z</dcterms:modified>
  <cp:category/>
</cp:coreProperties>
</file>